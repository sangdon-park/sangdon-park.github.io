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61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29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2.png"/><Relationship Id="rId4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10.png"/><Relationship Id="rId4" Type="http://schemas.openxmlformats.org/officeDocument/2006/relationships/image" Target="../media/image5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1.png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5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27.png"/><Relationship Id="rId4" Type="http://schemas.openxmlformats.org/officeDocument/2006/relationships/image" Target="../media/image2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27.png"/><Relationship Id="rId4" Type="http://schemas.openxmlformats.org/officeDocument/2006/relationships/image" Target="../media/image5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57.png"/><Relationship Id="rId4" Type="http://schemas.openxmlformats.org/officeDocument/2006/relationships/image" Target="../media/image2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21.png"/><Relationship Id="rId4" Type="http://schemas.openxmlformats.org/officeDocument/2006/relationships/image" Target="../media/image6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1.png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4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6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6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7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57.png"/><Relationship Id="rId4" Type="http://schemas.openxmlformats.org/officeDocument/2006/relationships/image" Target="../media/image7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7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Shape 4"/>
          <p:cNvSpPr/>
          <p:nvPr/>
        </p:nvSpPr>
        <p:spPr>
          <a:xfrm>
            <a:off x="11704320" y="50292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8" name="Shape 6"/>
          <p:cNvSpPr/>
          <p:nvPr/>
        </p:nvSpPr>
        <p:spPr>
          <a:xfrm>
            <a:off x="1088136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9" name="Shape 7"/>
          <p:cNvSpPr/>
          <p:nvPr/>
        </p:nvSpPr>
        <p:spPr>
          <a:xfrm>
            <a:off x="1115568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1" name="Shape 9"/>
          <p:cNvSpPr/>
          <p:nvPr/>
        </p:nvSpPr>
        <p:spPr>
          <a:xfrm>
            <a:off x="11704320" y="77724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88136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5568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04320" y="105156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0704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8" name="Shape 16"/>
          <p:cNvSpPr/>
          <p:nvPr/>
        </p:nvSpPr>
        <p:spPr>
          <a:xfrm>
            <a:off x="1088136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000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704320" y="1325880"/>
            <a:ext cx="64008" cy="64008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10515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ALGORITHMS · 그림으로 쉽게 설명하는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01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8680" y="1965960"/>
            <a:ext cx="5760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알고리즘과</a:t>
            </a:r>
            <a:endParaRPr lang="en-US" sz="5400" dirty="0"/>
          </a:p>
          <a:p>
            <a:pPr marL="0" indent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복잡도 분석</a:t>
            </a:r>
            <a:endParaRPr lang="en-US" sz="5400" dirty="0"/>
          </a:p>
        </p:txBody>
      </p:sp>
      <p:sp>
        <p:nvSpPr>
          <p:cNvPr id="25" name="Text 23"/>
          <p:cNvSpPr/>
          <p:nvPr/>
        </p:nvSpPr>
        <p:spPr>
          <a:xfrm>
            <a:off x="896112" y="411480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50" dirty="0">
                <a:solidFill>
                  <a:srgbClr val="C6C4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문제를 푸는 절차를 이해하고, 그 효율을 Big-O로 측정하는 법을 배웁니다.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537960" y="1600200"/>
            <a:ext cx="4937760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/>
          <a:effectLst>
            <a:outerShdw blurRad="254000" dist="101600" dir="5400000" algn="bl" rotWithShape="0">
              <a:srgbClr val="1A1836">
                <a:alpha val="40000"/>
              </a:srgbClr>
            </a:outerShdw>
          </a:effectLst>
        </p:spPr>
      </p:sp>
      <p:pic>
        <p:nvPicPr>
          <p:cNvPr id="27" name="Image 0" descr="/home/claude/assets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1965353"/>
            <a:ext cx="4608576" cy="251581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686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7A78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Algorithms &amp; Complexity Analysis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1828800"/>
            <a:ext cx="5208880" cy="1170432"/>
          </a:xfrm>
          <a:prstGeom prst="roundRect">
            <a:avLst>
              <a:gd name="adj" fmla="val 1093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84832"/>
            <a:ext cx="868680" cy="658368"/>
          </a:xfrm>
          <a:prstGeom prst="roundRect">
            <a:avLst>
              <a:gd name="adj" fmla="val 13889"/>
            </a:avLst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084832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984248" y="1828800"/>
            <a:ext cx="3060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117440" y="2157984"/>
            <a:ext cx="512064" cy="512064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9" name="Image 0" descr="/home/claude/icons/puzzle_indi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335" y="2280879"/>
            <a:ext cx="266273" cy="266273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24448" y="1828800"/>
            <a:ext cx="5208880" cy="1170432"/>
          </a:xfrm>
          <a:prstGeom prst="roundRect">
            <a:avLst>
              <a:gd name="adj" fmla="val 1093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0480" y="2084832"/>
            <a:ext cx="868680" cy="658368"/>
          </a:xfrm>
          <a:prstGeom prst="roundRect">
            <a:avLst>
              <a:gd name="adj" fmla="val 13889"/>
            </a:avLst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0480" y="2084832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50328" y="1828800"/>
            <a:ext cx="3060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기술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10783519" y="2157984"/>
            <a:ext cx="512064" cy="512064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15" name="Image 1" descr="/home/claude/icons/pen_vio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6415" y="2280879"/>
            <a:ext cx="266273" cy="266273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58368" y="3255264"/>
            <a:ext cx="5208880" cy="1170432"/>
          </a:xfrm>
          <a:prstGeom prst="roundRect">
            <a:avLst>
              <a:gd name="adj" fmla="val 1093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14400" y="3511296"/>
            <a:ext cx="868680" cy="658368"/>
          </a:xfrm>
          <a:prstGeom prst="roundRect">
            <a:avLst>
              <a:gd name="adj" fmla="val 13889"/>
            </a:avLst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914400" y="351129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1984248" y="3255264"/>
            <a:ext cx="3060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문제에 대한 여러 알고리즘</a:t>
            </a:r>
            <a:endParaRPr lang="en-US" sz="1650" dirty="0"/>
          </a:p>
        </p:txBody>
      </p:sp>
      <p:sp>
        <p:nvSpPr>
          <p:cNvPr id="20" name="Shape 16"/>
          <p:cNvSpPr/>
          <p:nvPr/>
        </p:nvSpPr>
        <p:spPr>
          <a:xfrm>
            <a:off x="5117440" y="3584448"/>
            <a:ext cx="512064" cy="512064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21" name="Image 2" descr="/home/claude/icons/route_s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0335" y="3707343"/>
            <a:ext cx="266273" cy="26627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324448" y="3255264"/>
            <a:ext cx="5208880" cy="1170432"/>
          </a:xfrm>
          <a:prstGeom prst="roundRect">
            <a:avLst>
              <a:gd name="adj" fmla="val 1093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580480" y="3511296"/>
            <a:ext cx="868680" cy="658368"/>
          </a:xfrm>
          <a:prstGeom prst="roundRect">
            <a:avLst>
              <a:gd name="adj" fmla="val 13889"/>
            </a:avLst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6580480" y="351129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7650328" y="3255264"/>
            <a:ext cx="3060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효율적인 알고리즘의 중요성</a:t>
            </a:r>
            <a:endParaRPr lang="en-US" sz="1650" dirty="0"/>
          </a:p>
        </p:txBody>
      </p:sp>
      <p:sp>
        <p:nvSpPr>
          <p:cNvPr id="26" name="Shape 21"/>
          <p:cNvSpPr/>
          <p:nvPr/>
        </p:nvSpPr>
        <p:spPr>
          <a:xfrm>
            <a:off x="10783519" y="3584448"/>
            <a:ext cx="512064" cy="512064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27" name="Image 3" descr="/home/claude/icons/bolt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06415" y="3707343"/>
            <a:ext cx="266273" cy="266273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58368" y="4681728"/>
            <a:ext cx="5208880" cy="1170432"/>
          </a:xfrm>
          <a:prstGeom prst="roundRect">
            <a:avLst>
              <a:gd name="adj" fmla="val 1093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914400" y="4937760"/>
            <a:ext cx="868680" cy="658368"/>
          </a:xfrm>
          <a:prstGeom prst="roundRect">
            <a:avLst>
              <a:gd name="adj" fmla="val 13889"/>
            </a:avLst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>
            <a:off x="914400" y="4937760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</a:t>
            </a:r>
            <a:endParaRPr lang="en-US" sz="2000" dirty="0"/>
          </a:p>
        </p:txBody>
      </p:sp>
      <p:sp>
        <p:nvSpPr>
          <p:cNvPr id="31" name="Text 25"/>
          <p:cNvSpPr/>
          <p:nvPr/>
        </p:nvSpPr>
        <p:spPr>
          <a:xfrm>
            <a:off x="1984248" y="4681728"/>
            <a:ext cx="3060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650" dirty="0"/>
          </a:p>
        </p:txBody>
      </p:sp>
      <p:sp>
        <p:nvSpPr>
          <p:cNvPr id="32" name="Shape 26"/>
          <p:cNvSpPr/>
          <p:nvPr/>
        </p:nvSpPr>
        <p:spPr>
          <a:xfrm>
            <a:off x="5117440" y="5010912"/>
            <a:ext cx="512064" cy="512064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33" name="Image 4" descr="/home/claude/icons/chart_cor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0335" y="5133807"/>
            <a:ext cx="266273" cy="26627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324448" y="4681728"/>
            <a:ext cx="5208880" cy="1170432"/>
          </a:xfrm>
          <a:prstGeom prst="roundRect">
            <a:avLst>
              <a:gd name="adj" fmla="val 1093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580480" y="4937760"/>
            <a:ext cx="868680" cy="658368"/>
          </a:xfrm>
          <a:prstGeom prst="roundRect">
            <a:avLst>
              <a:gd name="adj" fmla="val 13889"/>
            </a:avLst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36" name="Text 29"/>
          <p:cNvSpPr/>
          <p:nvPr/>
        </p:nvSpPr>
        <p:spPr>
          <a:xfrm>
            <a:off x="6580480" y="4937760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</a:t>
            </a:r>
            <a:endParaRPr lang="en-US" sz="2000" dirty="0"/>
          </a:p>
        </p:txBody>
      </p:sp>
      <p:sp>
        <p:nvSpPr>
          <p:cNvPr id="37" name="Text 30"/>
          <p:cNvSpPr/>
          <p:nvPr/>
        </p:nvSpPr>
        <p:spPr>
          <a:xfrm>
            <a:off x="7650328" y="4681728"/>
            <a:ext cx="3060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 (Big-O)</a:t>
            </a:r>
            <a:endParaRPr lang="en-US" sz="1650" dirty="0"/>
          </a:p>
        </p:txBody>
      </p:sp>
      <p:sp>
        <p:nvSpPr>
          <p:cNvPr id="38" name="Shape 31"/>
          <p:cNvSpPr/>
          <p:nvPr/>
        </p:nvSpPr>
        <p:spPr>
          <a:xfrm>
            <a:off x="10783519" y="5010912"/>
            <a:ext cx="512064" cy="512064"/>
          </a:xfrm>
          <a:prstGeom prst="ellipse">
            <a:avLst/>
          </a:prstGeom>
          <a:solidFill>
            <a:srgbClr val="E7E6FB"/>
          </a:solidFill>
          <a:ln/>
        </p:spPr>
      </p:sp>
      <p:pic>
        <p:nvPicPr>
          <p:cNvPr id="39" name="Image 5" descr="/home/claude/icons/infinity_em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06415" y="5133807"/>
            <a:ext cx="266273" cy="266273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목표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LEARNING OBJECTIVES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1847088"/>
            <a:ext cx="7589520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993392"/>
            <a:ext cx="457200" cy="45720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6" name="Image 0" descr="/home/claude/icons/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2107692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1847088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정의와 필요성</a:t>
            </a:r>
            <a:endParaRPr lang="en-US" sz="155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알고리즘이 필요한지 이해합니다.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58368" y="2743200"/>
            <a:ext cx="7589520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59536" y="2889504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pe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836" y="3003804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274320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표현 방법</a:t>
            </a:r>
            <a:endParaRPr lang="en-US" sz="155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자연어·순서도·유사코드·프로그래밍 언어로 표현합니다.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658368" y="3639312"/>
            <a:ext cx="7589520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9536" y="3785616"/>
            <a:ext cx="457200" cy="45720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clo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836" y="3899916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72768" y="3639312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· 공간 복잡도</a:t>
            </a:r>
            <a:endParaRPr lang="en-US" sz="155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시간과 메모리 사용량 개념을 익힙니다.</a:t>
            </a:r>
            <a:endParaRPr lang="en-US" sz="1550" dirty="0"/>
          </a:p>
        </p:txBody>
      </p:sp>
      <p:sp>
        <p:nvSpPr>
          <p:cNvPr id="16" name="Shape 11"/>
          <p:cNvSpPr/>
          <p:nvPr/>
        </p:nvSpPr>
        <p:spPr>
          <a:xfrm>
            <a:off x="658368" y="4535424"/>
            <a:ext cx="7589520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59536" y="4681728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3" descr="/home/claude/icons/infinit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" y="4796028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72768" y="4535424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빅오(Big-O) 표기법</a:t>
            </a:r>
            <a:endParaRPr lang="en-US" sz="155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성장률을 점근적으로 표기하는 법을 마스터합니다.</a:t>
            </a:r>
            <a:endParaRPr lang="en-US" sz="1550" dirty="0"/>
          </a:p>
        </p:txBody>
      </p:sp>
      <p:sp>
        <p:nvSpPr>
          <p:cNvPr id="20" name="Shape 14"/>
          <p:cNvSpPr/>
          <p:nvPr/>
        </p:nvSpPr>
        <p:spPr>
          <a:xfrm>
            <a:off x="658368" y="5431536"/>
            <a:ext cx="7589520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59536" y="557784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2" name="Image 4" descr="/home/claude/icon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836" y="5692140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72768" y="5431536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효율적인 알고리즘 설계</a:t>
            </a:r>
            <a:endParaRPr lang="en-US" sz="155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빠르고 좋은 알고리즘을 설계하는 감각을 기릅니다.</a:t>
            </a:r>
            <a:endParaRPr lang="en-US" sz="1550" dirty="0"/>
          </a:p>
        </p:txBody>
      </p:sp>
      <p:sp>
        <p:nvSpPr>
          <p:cNvPr id="24" name="Shape 17"/>
          <p:cNvSpPr/>
          <p:nvPr/>
        </p:nvSpPr>
        <p:spPr>
          <a:xfrm>
            <a:off x="8613648" y="1847088"/>
            <a:ext cx="2919679" cy="4334256"/>
          </a:xfrm>
          <a:prstGeom prst="roundRect">
            <a:avLst>
              <a:gd name="adj" fmla="val 5011"/>
            </a:avLst>
          </a:prstGeom>
          <a:solidFill>
            <a:srgbClr val="17163A"/>
          </a:solidFill>
          <a:ln/>
          <a:effectLst>
            <a:outerShdw blurRad="177800" dist="76200" dir="5400000" algn="bl" rotWithShape="0">
              <a:srgbClr val="1A1836">
                <a:alpha val="25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9570568" y="2670048"/>
            <a:ext cx="1005840" cy="10058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6" name="Image 5" descr="/home/claude/icons/gra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028" y="2921508"/>
            <a:ext cx="502920" cy="5029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613648" y="3904488"/>
            <a:ext cx="29196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01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887968" y="4315968"/>
            <a:ext cx="237103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35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장을 마치면</a:t>
            </a:r>
            <a:endParaRPr lang="en-US" sz="1350" dirty="0"/>
          </a:p>
          <a:p>
            <a:pPr marL="0" indent="0" algn="ctr">
              <a:lnSpc>
                <a:spcPts val="2200"/>
              </a:lnSpc>
              <a:buNone/>
            </a:pPr>
            <a:r>
              <a:rPr lang="en-US" sz="135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Big-O로 알고리즘의</a:t>
            </a:r>
            <a:endParaRPr lang="en-US" sz="1350" dirty="0"/>
          </a:p>
          <a:p>
            <a:pPr marL="0" indent="0" algn="ctr">
              <a:lnSpc>
                <a:spcPts val="2200"/>
              </a:lnSpc>
              <a:buNone/>
            </a:pPr>
            <a:r>
              <a:rPr lang="en-US" sz="135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효율을 말할 수 있어요.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1.1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문제(problem)와 알고리즘(algorithm)이 무엇인지, 그리고 좋은 알고리즘이 갖춰야 할 조건을 알아봅니다.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문제(Problem)란?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5806440" cy="1874520"/>
          </a:xfrm>
          <a:prstGeom prst="roundRect">
            <a:avLst>
              <a:gd name="adj" fmla="val 682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50976" y="2002536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생활 속의 문제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69264" y="2441448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“무엇을 먼저 입을까?”</a:t>
            </a:r>
            <a:endParaRPr lang="en-US" sz="1450" dirty="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“가장 빠른 길은?”</a:t>
            </a:r>
            <a:endParaRPr lang="en-US" sz="1450" dirty="0"/>
          </a:p>
          <a:p>
            <a:pPr marL="0" indent="0" algn="l">
              <a:lnSpc>
                <a:spcPts val="2175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“치킨이냐, 제육이냐?”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58368" y="3913632"/>
            <a:ext cx="5806440" cy="1874520"/>
          </a:xfrm>
          <a:prstGeom prst="roundRect">
            <a:avLst>
              <a:gd name="adj" fmla="val 6829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50976" y="4133088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 공학의 문제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969264" y="4590288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(Sorting) </a:t>
            </a: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일정한 규칙으로 배열</a:t>
            </a:r>
            <a:endParaRPr lang="en-US" sz="1350" dirty="0"/>
          </a:p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 (Searching) </a:t>
            </a: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값을 찾아내기</a:t>
            </a:r>
            <a:endParaRPr lang="en-US" sz="1350" dirty="0"/>
          </a:p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(Optimization) </a:t>
            </a:r>
            <a:r>
              <a:rPr lang="en-US" sz="13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조건을 만족하는 최적해 구하기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830568" y="1783080"/>
            <a:ext cx="4702759" cy="4005072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14" name="Image 1" descr="/home/claude/assets/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2623422"/>
            <a:ext cx="4410151" cy="23243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1.1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속 문제 — 컵 교환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83664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A컵의 물과 B컵의 주스를 서로 바꾸려면, 임시 컵(temp)이 하나 더 필요합니다.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078328" y="2331720"/>
            <a:ext cx="6035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10" name="Image 1" descr="/home/claude/assets/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7383" y="2514600"/>
            <a:ext cx="4816929" cy="1371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4297680"/>
            <a:ext cx="3381146" cy="1417320"/>
          </a:xfrm>
          <a:prstGeom prst="roundRect">
            <a:avLst>
              <a:gd name="adj" fmla="val 903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056333" y="4498848"/>
            <a:ext cx="585216" cy="585216"/>
          </a:xfrm>
          <a:prstGeom prst="ellipse">
            <a:avLst/>
          </a:prstGeom>
          <a:solidFill>
            <a:srgbClr val="4F46E5"/>
          </a:solidFill>
          <a:ln/>
          <a:effectLst>
            <a:outerShdw blurRad="762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2056333" y="44988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41248" y="5166360"/>
            <a:ext cx="301538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임시 컵(temp)에</a:t>
            </a:r>
            <a:endParaRPr lang="en-US" sz="135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A의 물을 붓는다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405274" y="4297680"/>
            <a:ext cx="3381146" cy="1417320"/>
          </a:xfrm>
          <a:prstGeom prst="roundRect">
            <a:avLst>
              <a:gd name="adj" fmla="val 903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803240" y="4498848"/>
            <a:ext cx="585216" cy="585216"/>
          </a:xfrm>
          <a:prstGeom prst="ellipse">
            <a:avLst/>
          </a:prstGeom>
          <a:solidFill>
            <a:srgbClr val="7C3AED"/>
          </a:solidFill>
          <a:ln/>
          <a:effectLst>
            <a:outerShdw blurRad="762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5803240" y="44988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4588154" y="5166360"/>
            <a:ext cx="301538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A에 B의</a:t>
            </a:r>
            <a:endParaRPr lang="en-US" sz="135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주스를 붓는다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152181" y="4297680"/>
            <a:ext cx="3381146" cy="1417320"/>
          </a:xfrm>
          <a:prstGeom prst="roundRect">
            <a:avLst>
              <a:gd name="adj" fmla="val 903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550146" y="4498848"/>
            <a:ext cx="585216" cy="585216"/>
          </a:xfrm>
          <a:prstGeom prst="ellipse">
            <a:avLst/>
          </a:prstGeom>
          <a:solidFill>
            <a:srgbClr val="F59E0B"/>
          </a:solidFill>
          <a:ln/>
          <a:effectLst>
            <a:outerShdw blurRad="76200" dist="254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9550146" y="44988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8"/>
          <p:cNvSpPr/>
          <p:nvPr/>
        </p:nvSpPr>
        <p:spPr>
          <a:xfrm>
            <a:off x="8335061" y="5166360"/>
            <a:ext cx="301538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B에 임시 컵(temp)의</a:t>
            </a:r>
            <a:endParaRPr lang="en-US" sz="1350" dirty="0"/>
          </a:p>
          <a:p>
            <a:pPr marL="0" indent="0" algn="ctr">
              <a:lnSpc>
                <a:spcPts val="17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물을 붓는다</a:t>
            </a:r>
            <a:endParaRPr lang="en-US" sz="1350" dirty="0"/>
          </a:p>
        </p:txBody>
      </p:sp>
      <p:sp>
        <p:nvSpPr>
          <p:cNvPr id="23" name="Text 1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1.2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문제 (Sorting Problem)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2011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S 안의 n개의 숫자를 비감소(nondecreasing) 순서로 정렬하라.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8368" y="2697480"/>
            <a:ext cx="6400800" cy="1051560"/>
          </a:xfrm>
          <a:prstGeom prst="roundRect">
            <a:avLst>
              <a:gd name="adj" fmla="val 12174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28346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 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075688" y="279806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075688" y="279806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825496" y="279806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825496" y="279806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575304" y="279806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575304" y="279806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325112" y="279806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325112" y="279806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074920" y="279806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74920" y="279806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824728" y="279806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824728" y="279806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58368" y="3931920"/>
            <a:ext cx="6400800" cy="1051560"/>
          </a:xfrm>
          <a:prstGeom prst="roundRect">
            <a:avLst>
              <a:gd name="adj" fmla="val 12174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914400" y="4069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 T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2075688" y="403250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2075688" y="403250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2825496" y="403250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2825496" y="403250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575304" y="403250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3575304" y="403250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4325112" y="403250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4325112" y="403250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5074920" y="403250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5074920" y="403250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5824728" y="4032504"/>
            <a:ext cx="65836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4F46E5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5824728" y="403250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58368" y="5166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75"/>
              </a:lnSpc>
              <a:buNone/>
            </a:pPr>
            <a:r>
              <a:rPr lang="en-US" sz="12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리스트의 요소들은 순서를 가지고 있습니다.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7424928" y="1874520"/>
            <a:ext cx="4108399" cy="402336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39" name="Image 1" descr="/home/claude/assets/imag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232" y="2844318"/>
            <a:ext cx="3815791" cy="2083763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1.3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 문제 (Searching Problem)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2011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S 안의 n개의 숫자 중에서 특정한 값 x를 찾아야 합니다. 정답은 값 x가 리스트의 몇 번째 위치(index)에 있는지를 나타냅니다.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8368" y="3246120"/>
            <a:ext cx="5669280" cy="960120"/>
          </a:xfrm>
          <a:prstGeom prst="roundRect">
            <a:avLst>
              <a:gd name="adj" fmla="val 1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336499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  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938528" y="3337560"/>
            <a:ext cx="56692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938528" y="333756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6896" y="3337560"/>
            <a:ext cx="56692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596896" y="333756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255264" y="3337560"/>
            <a:ext cx="56692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255264" y="333756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913632" y="3337560"/>
            <a:ext cx="566928" cy="502920"/>
          </a:xfrm>
          <a:prstGeom prst="roundRect">
            <a:avLst>
              <a:gd name="adj" fmla="val 14545"/>
            </a:avLst>
          </a:prstGeom>
          <a:solidFill>
            <a:srgbClr val="F59E0B"/>
          </a:solidFill>
          <a:ln w="15875">
            <a:solidFill>
              <a:srgbClr val="F59E0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913632" y="333756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72000" y="3337560"/>
            <a:ext cx="56692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572000" y="333756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230368" y="3337560"/>
            <a:ext cx="56692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E7E6FB"/>
            </a:solidFill>
            <a:prstDash val="solid"/>
          </a:ln>
          <a:effectLst>
            <a:outerShdw blurRad="63500" dist="1905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230368" y="333756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58368" y="443484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14400" y="466344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5" name="Image 1" descr="/home/claude/icons/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777740"/>
            <a:ext cx="228600" cy="22860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627632" y="4434840"/>
            <a:ext cx="4425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8 </a:t>
            </a: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네 번째 위치, 인덱스는 </a:t>
            </a:r>
            <a:r>
              <a:rPr lang="en-US" sz="16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en-US" sz="14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(0부터 시작)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693408" y="1965960"/>
            <a:ext cx="4839919" cy="3886200"/>
          </a:xfrm>
          <a:prstGeom prst="roundRect">
            <a:avLst>
              <a:gd name="adj" fmla="val 3294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28" name="Image 2" descr="/home/claude/assets/imag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9712" y="2667170"/>
            <a:ext cx="4547311" cy="248378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 무엇인가?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687007" y="1783080"/>
            <a:ext cx="484632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3311" y="2094628"/>
            <a:ext cx="4553712" cy="24858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8368" y="1783080"/>
            <a:ext cx="561715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리스트 </a:t>
            </a:r>
            <a:r>
              <a:rPr lang="en-US" sz="15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[9, 3, 2, 8, 10, 1]</a:t>
            </a: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한눈에 훑어보고 순서를 떠올려 바로 정렬할 수 있습니다.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3154680"/>
            <a:ext cx="5617159" cy="1005840"/>
          </a:xfrm>
          <a:prstGeom prst="roundRect">
            <a:avLst>
              <a:gd name="adj" fmla="val 10909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14400" y="3429000"/>
            <a:ext cx="457200" cy="45720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war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54330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27632" y="3154680"/>
            <a:ext cx="4373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10,000개라면?</a:t>
            </a:r>
            <a:endParaRPr lang="en-US" sz="1300" dirty="0"/>
          </a:p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머릿속에서 한눈에 정렬하는 것은 불가능해집니다.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58368" y="4389120"/>
            <a:ext cx="5617159" cy="1325880"/>
          </a:xfrm>
          <a:prstGeom prst="roundRect">
            <a:avLst>
              <a:gd name="adj" fmla="val 8276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914400" y="4823460"/>
            <a:ext cx="457200" cy="45720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6" name="Image 3" descr="/home/claude/icons/listol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" y="4937760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27632" y="4389120"/>
            <a:ext cx="437357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5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필요한 것</a:t>
            </a:r>
            <a:endParaRPr lang="en-US" sz="13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크기의 문제를 해결할 수 있는 정확하고 체계적인 단계별 절차 — 이것이 바로 알고리즘입니다.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1.1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 탐색 알고리즘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58368" y="18745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8"/>
              </a:lnSpc>
              <a:buNone/>
            </a:pPr>
            <a:r>
              <a:rPr lang="en-US" sz="14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1.3의 탐색 문제는 다음과 같이 파이썬으로 작성할 수 있습니다.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2377440"/>
            <a:ext cx="10874959" cy="3429000"/>
          </a:xfrm>
          <a:prstGeom prst="roundRect">
            <a:avLst>
              <a:gd name="adj" fmla="val 320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37744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63347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2" name="Shape 9"/>
          <p:cNvSpPr/>
          <p:nvPr/>
        </p:nvSpPr>
        <p:spPr>
          <a:xfrm>
            <a:off x="859536" y="250545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3" name="Shape 10"/>
          <p:cNvSpPr/>
          <p:nvPr/>
        </p:nvSpPr>
        <p:spPr>
          <a:xfrm>
            <a:off x="1060704" y="250545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4" name="Shape 11"/>
          <p:cNvSpPr/>
          <p:nvPr/>
        </p:nvSpPr>
        <p:spPr>
          <a:xfrm>
            <a:off x="1261872" y="250545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5" name="Text 12"/>
          <p:cNvSpPr/>
          <p:nvPr/>
        </p:nvSpPr>
        <p:spPr>
          <a:xfrm>
            <a:off x="1481328" y="237744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linear_search.py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2996946"/>
            <a:ext cx="10417759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문제: 리스트 S 안에서 target을 찾는다.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입력: 숫자들이 저장된 리스트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출력: S 안에서 target의 위치(없으면 -1)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linear_search(S, target):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4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4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4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(S)):     </a:t>
            </a: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처음부터 끝까지 순서대로 탐색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4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S[i] == target:      </a:t>
            </a: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값이 일치하면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4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           </a:t>
            </a: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해당 위치(인덱스) 반환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4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</a:t>
            </a:r>
            <a:r>
              <a:rPr lang="en-US" sz="14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</a:t>
            </a: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찾지 못하면 -1 반환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731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조건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600200"/>
            <a:ext cx="10874959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59536" y="1746504"/>
            <a:ext cx="457200" cy="45720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inpu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836" y="1860804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72768" y="1600200"/>
            <a:ext cx="96862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(Input)</a:t>
            </a:r>
            <a:endParaRPr lang="en-US" sz="15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외부에서 제공되는 0개 이상의 데이터. 입력이 없을 수도 있습니다.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658368" y="2496312"/>
            <a:ext cx="10874959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9536" y="2642616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3" name="Image 2" descr="/home/claude/icons/outpu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836" y="2756916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72768" y="2496312"/>
            <a:ext cx="96862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(Output)</a:t>
            </a:r>
            <a:endParaRPr lang="en-US" sz="15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최소한 하나 이상의 결과가 있어야 합니다. (결과가 없으면 알고리즘이 아님)</a:t>
            </a:r>
            <a:endParaRPr lang="en-US" sz="1550" dirty="0"/>
          </a:p>
        </p:txBody>
      </p:sp>
      <p:sp>
        <p:nvSpPr>
          <p:cNvPr id="15" name="Shape 10"/>
          <p:cNvSpPr/>
          <p:nvPr/>
        </p:nvSpPr>
        <p:spPr>
          <a:xfrm>
            <a:off x="658368" y="3392424"/>
            <a:ext cx="10874959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59536" y="3538728"/>
            <a:ext cx="457200" cy="45720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3" descr="/home/claude/icons/ey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" y="3653028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72768" y="3392424"/>
            <a:ext cx="96862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명백성 (Clarity)</a:t>
            </a:r>
            <a:endParaRPr lang="en-US" sz="15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명령어는 모호하지 않고 명확해야 합니다. (“적당히”는 없음)</a:t>
            </a:r>
            <a:endParaRPr lang="en-US" sz="1550" dirty="0"/>
          </a:p>
        </p:txBody>
      </p:sp>
      <p:sp>
        <p:nvSpPr>
          <p:cNvPr id="19" name="Shape 13"/>
          <p:cNvSpPr/>
          <p:nvPr/>
        </p:nvSpPr>
        <p:spPr>
          <a:xfrm>
            <a:off x="658368" y="4288536"/>
            <a:ext cx="10874959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59536" y="443484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1" name="Image 4" descr="/home/claude/icons/hourglass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836" y="4549140"/>
            <a:ext cx="228600" cy="2286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572768" y="4288536"/>
            <a:ext cx="96862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유한성 (Finiteness)</a:t>
            </a:r>
            <a:endParaRPr lang="en-US" sz="15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유한한 명령 실행 후 반드시 종료되어야 합니다. (무한 루프는 알고리즘이 아님)</a:t>
            </a:r>
            <a:endParaRPr lang="en-US" sz="1550" dirty="0"/>
          </a:p>
        </p:txBody>
      </p:sp>
      <p:sp>
        <p:nvSpPr>
          <p:cNvPr id="23" name="Shape 16"/>
          <p:cNvSpPr/>
          <p:nvPr/>
        </p:nvSpPr>
        <p:spPr>
          <a:xfrm>
            <a:off x="658368" y="5184648"/>
            <a:ext cx="10874959" cy="749808"/>
          </a:xfrm>
          <a:prstGeom prst="roundRect">
            <a:avLst>
              <a:gd name="adj" fmla="val 14634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859536" y="5330952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5" name="Image 5" descr="/home/claude/icons/check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836" y="5445252"/>
            <a:ext cx="228600" cy="2286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572768" y="5184648"/>
            <a:ext cx="96862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유효성 (Effectiveness)</a:t>
            </a:r>
            <a:endParaRPr lang="en-US" sz="15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명령은 실제로 수행 가능한 기본 연산이어야 합니다. (0으로 나누기는 불가)</a:t>
            </a:r>
            <a:endParaRPr lang="en-US" sz="1550" dirty="0"/>
          </a:p>
        </p:txBody>
      </p:sp>
      <p:sp>
        <p:nvSpPr>
          <p:cNvPr id="27" name="Text 1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역사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알고리즘은 컴퓨터보다 훨씬 오래된, 인간이 오랫동안 사용해온 문제 해결 방법입니다.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10874959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9" name="Image 1" descr="/home/claude/assets/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483" y="2414016"/>
            <a:ext cx="6000729" cy="1892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8368" y="4663440"/>
            <a:ext cx="5254600" cy="1234440"/>
          </a:xfrm>
          <a:prstGeom prst="roundRect">
            <a:avLst>
              <a:gd name="adj" fmla="val 1037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96112" y="5029200"/>
            <a:ext cx="502920" cy="50292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histor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842" y="515493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72768" y="4663440"/>
            <a:ext cx="415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기원전 300년경 · 유클리드</a:t>
            </a:r>
            <a:endParaRPr lang="en-US" sz="14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수의 최대공약수를 구하는 ‘유클리드 알고리즘’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278728" y="4663440"/>
            <a:ext cx="5254600" cy="1234440"/>
          </a:xfrm>
          <a:prstGeom prst="roundRect">
            <a:avLst>
              <a:gd name="adj" fmla="val 1037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516472" y="5029200"/>
            <a:ext cx="502920" cy="50292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6" name="Image 3" descr="/home/claude/icons/seedling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2202" y="5154930"/>
            <a:ext cx="251460" cy="2514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193128" y="4663440"/>
            <a:ext cx="415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기원전 200년경 · 에라토스테네스</a:t>
            </a:r>
            <a:endParaRPr lang="en-US" sz="14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소수를 찾는 ‘에라토스테네스의 체’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uzz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알고리즘이란?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알고리즘을 공부해야 하는 이유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874520"/>
            <a:ext cx="3381146" cy="3383280"/>
          </a:xfrm>
          <a:prstGeom prst="roundRect">
            <a:avLst>
              <a:gd name="adj" fmla="val 378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914601" y="2286000"/>
            <a:ext cx="868680" cy="86868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1771" y="2503170"/>
            <a:ext cx="434340" cy="4343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3337560"/>
            <a:ext cx="28690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효율적인 프로그램 개발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950976" y="4023360"/>
            <a:ext cx="27959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정렬·탐색·데이터 처리 등 핵심 알고리즘을 알면 더 좋은 프로그램을 만들 수 있습니다.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405274" y="1874520"/>
            <a:ext cx="3381146" cy="3383280"/>
          </a:xfrm>
          <a:prstGeom prst="roundRect">
            <a:avLst>
              <a:gd name="adj" fmla="val 378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661508" y="2286000"/>
            <a:ext cx="868680" cy="86868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brai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8" y="2503170"/>
            <a:ext cx="434340" cy="4343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61306" y="3337560"/>
            <a:ext cx="28690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분석적 사고력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4697882" y="4023360"/>
            <a:ext cx="27959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알고리즘은 특정 문제에 대한 특별한 해결 방법 — 논리적·분석적 사고를 키웁니다.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52181" y="1874520"/>
            <a:ext cx="3381146" cy="3383280"/>
          </a:xfrm>
          <a:prstGeom prst="roundRect">
            <a:avLst>
              <a:gd name="adj" fmla="val 378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408414" y="2286000"/>
            <a:ext cx="868680" cy="86868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9" name="Image 3" descr="/home/claude/icons/micr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5584" y="2503170"/>
            <a:ext cx="434340" cy="4343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408213" y="3337560"/>
            <a:ext cx="28690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 과학의 핵심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8444789" y="4023360"/>
            <a:ext cx="27959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알고리즘은 컴퓨터 과학의 일부가 아니라 그 자체이며, 과학·비즈니스·기술 전반에서 중요합니다.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1.2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p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기술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알고리즘도 자연어, 순서도, 유사코드, 프로그래밍 언어 등 다양한 방법으로 표현할 수 있습니다.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기술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알고리즘을 기술하는 방법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3381146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937461" y="2148840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la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201" y="235458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31089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58368" y="3520440"/>
            <a:ext cx="33811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영어·국어 같은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언어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405274" y="1783080"/>
            <a:ext cx="3381146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684368" y="214884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diagram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0108" y="23545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05274" y="31089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순서도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4405274" y="3520440"/>
            <a:ext cx="33811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flowchart로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 시각화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52181" y="1783080"/>
            <a:ext cx="3381146" cy="2286000"/>
          </a:xfrm>
          <a:prstGeom prst="roundRect">
            <a:avLst>
              <a:gd name="adj" fmla="val 56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431274" y="214884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9" name="Image 3" descr="/home/claude/icons/cod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7014" y="235458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152181" y="31089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 코드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8152181" y="3520440"/>
            <a:ext cx="33811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pseudo-code로</a:t>
            </a:r>
            <a:endParaRPr lang="en-US" sz="125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논리 표현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58368" y="4389120"/>
            <a:ext cx="10874959" cy="1051560"/>
          </a:xfrm>
          <a:prstGeom prst="roundRect">
            <a:avLst>
              <a:gd name="adj" fmla="val 10435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914400" y="468630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4" name="Image 4" descr="/home/claude/icons/targe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700" y="480060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27632" y="4389120"/>
            <a:ext cx="96313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5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문제  </a:t>
            </a: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크기순으로 정렬되지 않은 숫자 리스트가 있을 때, 그 중에서 </a:t>
            </a: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최대값을 찾는</a:t>
            </a: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것이 우리가 해결할 문제입니다.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기술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기술하는 방법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3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자연어는 아이디어를 표현하거나 절차를 구체화하는 초기 단계에 자주 쓰이지만, 단어가 모호하거나 여러 의미로 해석될 수 있습니다.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606040"/>
            <a:ext cx="10874959" cy="960120"/>
          </a:xfrm>
          <a:prstGeom prst="roundRect">
            <a:avLst>
              <a:gd name="adj" fmla="val 1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32688" y="2811780"/>
            <a:ext cx="548640" cy="5486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28117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709928" y="2606040"/>
            <a:ext cx="954907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리스트의 첫 번째 숫자가 가장 크다고 가정한다.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58368" y="3749040"/>
            <a:ext cx="10874959" cy="960120"/>
          </a:xfrm>
          <a:prstGeom prst="roundRect">
            <a:avLst>
              <a:gd name="adj" fmla="val 13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32688" y="395478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1"/>
          <p:cNvSpPr/>
          <p:nvPr/>
        </p:nvSpPr>
        <p:spPr>
          <a:xfrm>
            <a:off x="932688" y="39547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709928" y="3749040"/>
            <a:ext cx="954907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남아있는 숫자들을 하나씩 조사하여, 현재의 최대값보다 크면 노트에 적는다.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58368" y="4892040"/>
            <a:ext cx="10874959" cy="960120"/>
          </a:xfrm>
          <a:prstGeom prst="roundRect">
            <a:avLst>
              <a:gd name="adj" fmla="val 13333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32688" y="509778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932688" y="50977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709928" y="4892040"/>
            <a:ext cx="954907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숫자를 조사한 후, 노트에 가장 나중에 적힌 숫자가 최대값이 된다.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기술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순서도로 기술하는 방법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521208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084893"/>
            <a:ext cx="4846320" cy="35111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81928" y="2011680"/>
            <a:ext cx="52513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순서도(flowchart)는 알고리즘의 작업 순서와 논리의 흐름을 도형으로 시각화한 그림입니다.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81928" y="3200400"/>
            <a:ext cx="5251399" cy="1051560"/>
          </a:xfrm>
          <a:prstGeom prst="roundRect">
            <a:avLst>
              <a:gd name="adj" fmla="val 10435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83096" y="349758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ey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6" y="361188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96328" y="3200400"/>
            <a:ext cx="406267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파악</a:t>
            </a:r>
            <a:endParaRPr lang="en-US" sz="15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논리를 한눈에 파악할 수 있습니다.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6281928" y="4434840"/>
            <a:ext cx="5251399" cy="1051560"/>
          </a:xfrm>
          <a:prstGeom prst="roundRect">
            <a:avLst>
              <a:gd name="adj" fmla="val 10435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483096" y="4732020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6" name="Image 3" descr="/home/claude/icons/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7396" y="4846320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196328" y="4434840"/>
            <a:ext cx="406267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쉽게 발견</a:t>
            </a:r>
            <a:endParaRPr lang="en-US" sz="15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단계에서 오류를 쉽게 찾아냅니다.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기술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731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유사코드로 기술하는 방법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481328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 코드(pseudocode)는 자연어와 실제 코드의 중간 형태로, 특정 언어 문법에 구애받지 않고 핵심 논리만 간결하게 표현합니다.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286000"/>
            <a:ext cx="10874959" cy="3520440"/>
          </a:xfrm>
          <a:prstGeom prst="roundRect">
            <a:avLst>
              <a:gd name="adj" fmla="val 311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28600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54203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41401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41401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41401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28600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find_largest.pseudo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894076"/>
            <a:ext cx="10417759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5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문제: 리스트 arr 안에서 가장 큰 값을 찾는다.</a:t>
            </a:r>
            <a:endParaRPr lang="en-US" sz="15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5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입력: n개의 숫자가 저장된 리스트 arr</a:t>
            </a:r>
            <a:endParaRPr lang="en-US" sz="15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5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출력: 리스트 arr의 최대값</a:t>
            </a:r>
            <a:endParaRPr lang="en-US" sz="15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 ← arr[</a:t>
            </a:r>
            <a:r>
              <a:rPr lang="en-US" sz="15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5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5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← </a:t>
            </a:r>
            <a:r>
              <a:rPr lang="en-US" sz="15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5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</a:t>
            </a: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n-</a:t>
            </a:r>
            <a:r>
              <a:rPr lang="en-US" sz="15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5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</a:t>
            </a:r>
            <a:endParaRPr lang="en-US" sz="15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5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arr[i] &gt; largest </a:t>
            </a:r>
            <a:r>
              <a:rPr lang="en-US" sz="15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</a:t>
            </a:r>
            <a:endParaRPr lang="en-US" sz="15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largest ← arr[i]</a:t>
            </a:r>
            <a:endParaRPr lang="en-US" sz="15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5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5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largest        </a:t>
            </a:r>
            <a:r>
              <a:rPr lang="en-US" sz="15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리스트의 최대값 반환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p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알고리즘의 기술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731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프로그래밍 언어로 기술하는 방법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4813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구현할 언어의 문법대로 직접 코드로 작성하면, 실제 프로그램이 될 수 있어 구현에 가장 가깝습니다.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2148840"/>
            <a:ext cx="10874959" cy="3657600"/>
          </a:xfrm>
          <a:prstGeom prst="roundRect">
            <a:avLst>
              <a:gd name="adj" fmla="val 300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14884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40487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27685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27685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27685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214884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get_largest.py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41248" y="2752344"/>
            <a:ext cx="1041775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4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문제: 리스트 arr 안에서 가장 큰 값을 찾는다.</a:t>
            </a:r>
            <a:endParaRPr lang="en-US" sz="14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입력: n개의 숫자가 저장된 리스트 arr</a:t>
            </a:r>
            <a:endParaRPr lang="en-US" sz="14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출력: 리스트 arr의 최대값</a:t>
            </a:r>
            <a:endParaRPr lang="en-US" sz="14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get_largest(arr):</a:t>
            </a:r>
            <a:endParaRPr lang="en-US" sz="14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largest = arr[</a:t>
            </a:r>
            <a:r>
              <a:rPr lang="en-US" sz="14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                </a:t>
            </a:r>
            <a:r>
              <a:rPr lang="en-US" sz="14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첫 번째 값을 초기 최대값으로 설정</a:t>
            </a:r>
            <a:endParaRPr lang="en-US" sz="14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4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4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4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4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(arr)):    </a:t>
            </a:r>
            <a:r>
              <a:rPr lang="en-US" sz="14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번째 원소부터 끝까지 검사</a:t>
            </a:r>
            <a:endParaRPr lang="en-US" sz="14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4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arr[i] &gt; largest:        </a:t>
            </a:r>
            <a:r>
              <a:rPr lang="en-US" sz="14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현재 값이 기존 최대값보다 크면</a:t>
            </a:r>
            <a:endParaRPr lang="en-US" sz="14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largest = arr[i]        </a:t>
            </a:r>
            <a:r>
              <a:rPr lang="en-US" sz="14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최대값 갱신</a:t>
            </a:r>
            <a:endParaRPr lang="en-US" sz="14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4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largest                  </a:t>
            </a:r>
            <a:r>
              <a:rPr lang="en-US" sz="14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최대값 반환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1.3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rou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212848"/>
            <a:ext cx="8595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문제에 대한</a:t>
            </a:r>
            <a:endParaRPr lang="en-US" sz="33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알고리즘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896112" y="38404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문제라도 서로 다른 아이디어의 알고리즘이 존재하며, 그 속도는 크게 차이 날 수 있습니다.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u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알고리즘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문제, 여러 개의 알고리즘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3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문제를 해결하는 알고리즘은 서로 매우 다른 아이디어를 기반으로 할 수 있으며, 해결 속도도 크게 차이 날 수 있습니다. 최대공약수(GCD) 문제를 예로 살펴봅시다.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697480"/>
            <a:ext cx="5208880" cy="2606040"/>
          </a:xfrm>
          <a:prstGeom prst="roundRect">
            <a:avLst>
              <a:gd name="adj" fmla="val 4912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828468" y="3063240"/>
            <a:ext cx="868680" cy="86868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5638" y="3280410"/>
            <a:ext cx="434340" cy="4343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8368" y="4069080"/>
            <a:ext cx="520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방법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024128" y="4572000"/>
            <a:ext cx="447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모든 약수를 큰 값부터 차례로 검사하는 브루트 포스(brute force) 방식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324448" y="2697480"/>
            <a:ext cx="5208880" cy="2606040"/>
          </a:xfrm>
          <a:prstGeom prst="roundRect">
            <a:avLst>
              <a:gd name="adj" fmla="val 4912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94547" y="3063240"/>
            <a:ext cx="868680" cy="86868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5" name="Image 2" descr="/home/claude/icons/compas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1717" y="3280410"/>
            <a:ext cx="434340" cy="4343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24448" y="4069080"/>
            <a:ext cx="520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유클리드 알고리즘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6690208" y="4572000"/>
            <a:ext cx="447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나머지를 반복적으로 계산하는, 가장 오래되고 효율적인 방식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u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알고리즘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탐색 (Brute Force)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6766560" cy="3931920"/>
          </a:xfrm>
          <a:prstGeom prst="roundRect">
            <a:avLst>
              <a:gd name="adj" fmla="val 2791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gcd_brute_force.py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09444"/>
            <a:ext cx="6309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정수 a, b의 최대공약수(GCD)를 구한다.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gcd_brute_force(a, b):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t =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 b)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수 중 작은 값을 t로 설정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t &gt;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 % t ==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 % t ==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둘 다 나누어떨어지면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t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최대공약수 반환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t -=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t를 1 감소시키며 다음 값 검사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90688" y="2331720"/>
            <a:ext cx="3742639" cy="3063240"/>
          </a:xfrm>
          <a:prstGeom prst="roundRect">
            <a:avLst>
              <a:gd name="adj" fmla="val 4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341968" y="2606040"/>
            <a:ext cx="640080" cy="64008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1" descr="/home/claude/icons/war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1988" y="2766060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790688" y="3383280"/>
            <a:ext cx="3742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최악의 경우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7790688" y="3749040"/>
            <a:ext cx="3742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1,000,000</a:t>
            </a:r>
            <a:endParaRPr lang="en-US" sz="1350" dirty="0"/>
          </a:p>
          <a:p>
            <a:pPr marL="0" indent="0" algn="ctr">
              <a:lnSpc>
                <a:spcPts val="190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999,999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7790688" y="437083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7790688" y="4645152"/>
            <a:ext cx="3742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999,999회</a:t>
            </a:r>
            <a:endParaRPr lang="en-US" sz="2400" dirty="0"/>
          </a:p>
        </p:txBody>
      </p:sp>
      <p:sp>
        <p:nvSpPr>
          <p:cNvPr id="23" name="Text 19"/>
          <p:cNvSpPr/>
          <p:nvPr/>
        </p:nvSpPr>
        <p:spPr>
          <a:xfrm>
            <a:off x="7790688" y="507492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반복할 수도 있음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u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알고리즘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35"/>
              </a:lnSpc>
              <a:buNone/>
            </a:pPr>
            <a:r>
              <a:rPr lang="en-US" sz="2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유클리드 알고리즘 (Euclidean Algorithm)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58368" y="1828800"/>
            <a:ext cx="512064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537715"/>
            <a:ext cx="4754880" cy="25598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36208" y="2286000"/>
            <a:ext cx="529711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80"/>
              </a:lnSpc>
              <a:buNone/>
            </a:pPr>
            <a:r>
              <a:rPr lang="en-US" sz="16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유클리드 알고리즘은 두 수의 최대공약수를 구하는 가장 오래되고 효율적인 알고리즘 중 하나입니다.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6236208" y="3657600"/>
            <a:ext cx="5297119" cy="1737360"/>
          </a:xfrm>
          <a:prstGeom prst="roundRect">
            <a:avLst>
              <a:gd name="adj" fmla="val 6316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92240" y="429768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quot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6540" y="441198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205472" y="3657600"/>
            <a:ext cx="4053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아이디어</a:t>
            </a:r>
            <a:endParaRPr lang="en-US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수를 작은 수로 나눈 나머지와 작은 수의 최대공약수는, 원래 두 수의 최대공약수와 같다.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u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알고리즘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73152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유클리드 알고리즘 — 구현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481328"/>
            <a:ext cx="10874959" cy="868680"/>
          </a:xfrm>
          <a:prstGeom prst="roundRect">
            <a:avLst>
              <a:gd name="adj" fmla="val 12632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1687068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bul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1801368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27632" y="1481328"/>
            <a:ext cx="9631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450" i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“두 수의 최대공약수는, 큰 수를 작은 수로 나눈 나머지와 작은 수의 최대공약수와 같다.”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58368" y="2560320"/>
            <a:ext cx="10874959" cy="3246120"/>
          </a:xfrm>
          <a:prstGeom prst="roundRect">
            <a:avLst>
              <a:gd name="adj" fmla="val 338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8368" y="256032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3" name="Shape 9"/>
          <p:cNvSpPr/>
          <p:nvPr/>
        </p:nvSpPr>
        <p:spPr>
          <a:xfrm>
            <a:off x="658368" y="281635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4" name="Shape 10"/>
          <p:cNvSpPr/>
          <p:nvPr/>
        </p:nvSpPr>
        <p:spPr>
          <a:xfrm>
            <a:off x="859536" y="26883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5" name="Shape 11"/>
          <p:cNvSpPr/>
          <p:nvPr/>
        </p:nvSpPr>
        <p:spPr>
          <a:xfrm>
            <a:off x="1060704" y="26883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6" name="Shape 12"/>
          <p:cNvSpPr/>
          <p:nvPr/>
        </p:nvSpPr>
        <p:spPr>
          <a:xfrm>
            <a:off x="1261872" y="26883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7" name="Text 13"/>
          <p:cNvSpPr/>
          <p:nvPr/>
        </p:nvSpPr>
        <p:spPr>
          <a:xfrm>
            <a:off x="1481328" y="256032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gcd_euclidean.py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914400" y="3095244"/>
            <a:ext cx="10417759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정수 a, b의 최대공약수(GCD)를 구한다.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gcd_euclidean_iterative(a, b):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4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 != </a:t>
            </a:r>
            <a:r>
              <a:rPr lang="en-US" sz="14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temp = a          </a:t>
            </a: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기존 a 값을 저장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a = b             </a:t>
            </a: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a를 b로 업데이트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b = temp % b      </a:t>
            </a:r>
            <a:r>
              <a:rPr lang="en-US" sz="14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b를 a % b로 업데이트</a:t>
            </a:r>
            <a:endParaRPr lang="en-US" sz="14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4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rou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알고리즘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효율성 분석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1,000,000과 999,999의 최대공약수를 찾을 때, 두 방법의 효율은 비교할 수 없을 정도로 차이가 납니다.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240280"/>
            <a:ext cx="763524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9" name="Image 1" descr="/home/claude/assets/image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2501176"/>
            <a:ext cx="7232904" cy="277004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659368" y="2240280"/>
            <a:ext cx="2873959" cy="3291840"/>
          </a:xfrm>
          <a:prstGeom prst="roundRect">
            <a:avLst>
              <a:gd name="adj" fmla="val 5091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659368" y="2834640"/>
            <a:ext cx="2873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유클리드가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8659368" y="3154680"/>
            <a:ext cx="2873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압도적으로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659368" y="3474720"/>
            <a:ext cx="2873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빠름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659368" y="3977640"/>
            <a:ext cx="2873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999,999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8659368" y="4617720"/>
            <a:ext cx="2873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 적은 연산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1.4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효율적인 알고리즘의 중요성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아무리 빨라져도 효율성은 여전히 핵심입니다. 순차 탐색과 이진 탐색으로 그 차이를 느껴봅니다.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효율성의 중요성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효율적인 알고리즘의 중요성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10874959" cy="914400"/>
          </a:xfrm>
          <a:prstGeom prst="roundRect">
            <a:avLst>
              <a:gd name="adj" fmla="val 12000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011680"/>
            <a:ext cx="457200" cy="45720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questi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21259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27632" y="1783080"/>
            <a:ext cx="9631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00" i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“컴퓨터가 과거보다 훨씬 빨라졌으니, 어떤 알고리즘을 쓰든 상관없지 않을까?”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8368" y="29718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성능이 아무리 좋아지고 메모리가 싸져도, </a:t>
            </a:r>
            <a:r>
              <a:rPr lang="en-US" sz="15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효율성(efficiency)</a:t>
            </a: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여전히 알고리즘의 핵심입니다.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58368" y="3977640"/>
            <a:ext cx="5852160" cy="1463040"/>
          </a:xfrm>
          <a:prstGeom prst="roundRect">
            <a:avLst>
              <a:gd name="adj" fmla="val 75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4400" y="4480560"/>
            <a:ext cx="457200" cy="45720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phon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459486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27632" y="3977640"/>
            <a:ext cx="46085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느껴봅시다</a:t>
            </a:r>
            <a:endParaRPr lang="en-US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전화번호부에서 친구의 이름을 찾는 두 가지 방법을 비교하며 효율성의 차이를 확인해 봅니다.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876288" y="3017520"/>
            <a:ext cx="4657039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17" name="Image 3" descr="/home/claude/assets/image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2592" y="3477020"/>
            <a:ext cx="4364431" cy="15041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효율성의 중요성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 탐색 vs 이진 탐색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4846320" cy="402336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087474"/>
            <a:ext cx="4517136" cy="341457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916168" y="1828800"/>
            <a:ext cx="5617159" cy="1783080"/>
          </a:xfrm>
          <a:prstGeom prst="roundRect">
            <a:avLst>
              <a:gd name="adj" fmla="val 7179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172200" y="2048256"/>
            <a:ext cx="502920" cy="50292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1" name="Image 2" descr="/home/claude/icons/listo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930" y="2173986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830568" y="2048256"/>
            <a:ext cx="4519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 탐색 (Sequential Search)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6190488" y="2651760"/>
            <a:ext cx="5068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첫 페이지부터 한 줄씩 차근차근 내려가며 찾는 가장 단순한 방법.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5916168" y="3749040"/>
            <a:ext cx="5617159" cy="2057400"/>
          </a:xfrm>
          <a:prstGeom prst="roundRect">
            <a:avLst>
              <a:gd name="adj" fmla="val 6222"/>
            </a:avLst>
          </a:prstGeom>
          <a:solidFill>
            <a:srgbClr val="EEF0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172200" y="3968496"/>
            <a:ext cx="502920" cy="50292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6" name="Image 3" descr="/home/claude/icons/search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930" y="4094226"/>
            <a:ext cx="251460" cy="2514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30568" y="3968496"/>
            <a:ext cx="4519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탐색 (Binary Search)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6190488" y="4572000"/>
            <a:ext cx="506851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정렬되어 있음을 이용해 중간을 펼쳐 보고, 앞쪽·뒤쪽 절반으로 범위를 계속 좁혀가는 방법.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효율성의 중요성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탐색 알고리즘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10874959" cy="3931920"/>
          </a:xfrm>
          <a:prstGeom prst="roundRect">
            <a:avLst>
              <a:gd name="adj" fmla="val 2791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10874959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10874959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9869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binary_search.py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97836"/>
            <a:ext cx="10417759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정렬된 리스트 S 안에서 x를 찾는다.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binary_search(S, x):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low =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high =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(S) -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low &lt;= high: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mid = (low + high) //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가운데 위치 계산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S[mid] == x: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mid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찾으면 인덱스 반환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S[mid] &lt; x: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low = mid +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오른쪽 절반 탐색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high = mid -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왼쪽 절반 탐색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못 찾으면 -1 반환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효율성의 중요성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94792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 탐색 vs 이진 탐색 — 비교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84404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커질수록 순차 탐색은 선형으로 늘어나지만, 이진 탐색은 완만하게 증가합니다.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2163928" y="2392680"/>
            <a:ext cx="7863840" cy="35204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9" name="Image 1" descr="/home/claude/assets/image15.png"/>
          <p:cNvPicPr>
            <a:picLocks noChangeAspect="1"/>
          </p:cNvPicPr>
          <p:nvPr/>
        </p:nvPicPr>
        <p:blipFill>
          <a:blip r:embed="rId4"/>
          <a:srcRect b="30435"/>
          <a:stretch/>
        </p:blipFill>
        <p:spPr>
          <a:xfrm>
            <a:off x="2274567" y="2689860"/>
            <a:ext cx="7642562" cy="2926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404872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효율성의 중요성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8696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 탐색 vs 이진 탐색 — 비교표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600200"/>
            <a:ext cx="10874959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9764" y="1728216"/>
            <a:ext cx="3692168" cy="978408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387663"/>
              </p:ext>
            </p:extLst>
          </p:nvPr>
        </p:nvGraphicFramePr>
        <p:xfrm>
          <a:off x="658368" y="3063240"/>
          <a:ext cx="10908792" cy="3182112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2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개수 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순차 탐색 (최대)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이진 탐색 (최대)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비율 (순차 ÷ 이진)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5배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100배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10,000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10,000회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714배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1,000,000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1,000,000회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50,000배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1,000,000,000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10억 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3,300만 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1.5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시간과 메모리 사용량을 어떻게 평가할까요? 기본 연산의 횟수와 시간 복잡도 함수 T(n)을 배웁니다.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분석이란?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687007" y="1783080"/>
            <a:ext cx="48463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3311" y="2140348"/>
            <a:ext cx="4553712" cy="24858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8368" y="1874520"/>
            <a:ext cx="56171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분석이란, 주어진 알고리즘이 얼마나 효율적으로 동작하는지 평가하는 과정입니다.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58368" y="3108960"/>
            <a:ext cx="5617159" cy="960120"/>
          </a:xfrm>
          <a:prstGeom prst="roundRect">
            <a:avLst>
              <a:gd name="adj" fmla="val 11429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59536" y="3360420"/>
            <a:ext cx="457200" cy="45720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clo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836" y="347472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72768" y="3108960"/>
            <a:ext cx="44284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시간</a:t>
            </a:r>
            <a:endParaRPr lang="en-US" sz="15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빠르게 동작하는가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658368" y="4251960"/>
            <a:ext cx="5617159" cy="960120"/>
          </a:xfrm>
          <a:prstGeom prst="roundRect">
            <a:avLst>
              <a:gd name="adj" fmla="val 11429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59536" y="450342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6" name="Image 3" descr="/home/claude/icons/databas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" y="4617720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72768" y="4251960"/>
            <a:ext cx="44284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5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사용량</a:t>
            </a:r>
            <a:endParaRPr lang="en-US" sz="15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많은 공간을 쓰는가</a:t>
            </a:r>
            <a:endParaRPr lang="en-US" sz="1550" dirty="0"/>
          </a:p>
        </p:txBody>
      </p:sp>
      <p:sp>
        <p:nvSpPr>
          <p:cNvPr id="18" name="Text 1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 분석이란?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95567" y="1783080"/>
            <a:ext cx="493776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1" y="2127125"/>
            <a:ext cx="4645152" cy="23751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8368" y="1874520"/>
            <a:ext cx="552571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실행 시간은 측정하지 않습니다. 컴퓨터·언어·코딩 스타일마다 명령어 수가 달라지기 때문입니다.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3200400"/>
            <a:ext cx="5525719" cy="1463040"/>
          </a:xfrm>
          <a:prstGeom prst="roundRect">
            <a:avLst>
              <a:gd name="adj" fmla="val 75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14400" y="370332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calc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81762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27632" y="3200400"/>
            <a:ext cx="4282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관계없는 기준을 사용</a:t>
            </a:r>
            <a:endParaRPr lang="en-US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“기본 연산(basic operation)이 몇 번 일어나는가?” 를 세어 효율성을 평가합니다.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 함수 T(n)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3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연산의 횟수는 보통 입력의 개수(크기) n에 따라 변합니다. 이를 n의 함수로 나타낸 것이 시간 복잡도 함수입니다.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514600"/>
            <a:ext cx="3749040" cy="1371600"/>
          </a:xfrm>
          <a:prstGeom prst="roundRect">
            <a:avLst>
              <a:gd name="adj" fmla="val 10667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8368" y="26060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T(n)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58368" y="3383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복잡도 함수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73168" y="2514600"/>
            <a:ext cx="3242920" cy="640080"/>
          </a:xfrm>
          <a:prstGeom prst="roundRect">
            <a:avLst>
              <a:gd name="adj" fmla="val 14286"/>
            </a:avLst>
          </a:prstGeom>
          <a:solidFill>
            <a:srgbClr val="F5F4FC"/>
          </a:solidFill>
          <a:ln/>
          <a:effectLst>
            <a:outerShdw blurRad="76200" dist="25400" dir="5400000" algn="bl" rotWithShape="0">
              <a:srgbClr val="1A1836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19472" y="2633472"/>
            <a:ext cx="402336" cy="402336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3" name="Image 1" descr="/home/claude/icons/sor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6" y="2734056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31536" y="2514600"/>
            <a:ext cx="246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· 탐색  </a:t>
            </a: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리스트의 크기 n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290408" y="2514600"/>
            <a:ext cx="3242920" cy="640080"/>
          </a:xfrm>
          <a:prstGeom prst="roundRect">
            <a:avLst>
              <a:gd name="adj" fmla="val 14286"/>
            </a:avLst>
          </a:prstGeom>
          <a:solidFill>
            <a:srgbClr val="F5F4FC"/>
          </a:solidFill>
          <a:ln/>
          <a:effectLst>
            <a:outerShdw blurRad="76200" dist="25400" dir="5400000" algn="bl" rotWithShape="0">
              <a:srgbClr val="1A1836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36712" y="2633472"/>
            <a:ext cx="402336" cy="402336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2" descr="/home/claude/icons/calc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296" y="2734056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48776" y="2514600"/>
            <a:ext cx="246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다항식 계산  </a:t>
            </a: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다항식의 차수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773168" y="3429000"/>
            <a:ext cx="3242920" cy="640080"/>
          </a:xfrm>
          <a:prstGeom prst="roundRect">
            <a:avLst>
              <a:gd name="adj" fmla="val 14286"/>
            </a:avLst>
          </a:prstGeom>
          <a:solidFill>
            <a:srgbClr val="F5F4FC"/>
          </a:solidFill>
          <a:ln/>
          <a:effectLst>
            <a:outerShdw blurRad="76200" dist="25400" dir="5400000" algn="bl" rotWithShape="0">
              <a:srgbClr val="1A1836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9472" y="3547872"/>
            <a:ext cx="402336" cy="402336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1" name="Image 3" descr="/home/claude/icons/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0056" y="3648456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31536" y="3429000"/>
            <a:ext cx="246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행렬 곱셈  </a:t>
            </a: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행렬의 차원 n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8290408" y="3429000"/>
            <a:ext cx="3242920" cy="640080"/>
          </a:xfrm>
          <a:prstGeom prst="roundRect">
            <a:avLst>
              <a:gd name="adj" fmla="val 14286"/>
            </a:avLst>
          </a:prstGeom>
          <a:solidFill>
            <a:srgbClr val="F5F4FC"/>
          </a:solidFill>
          <a:ln/>
          <a:effectLst>
            <a:outerShdw blurRad="76200" dist="25400" dir="5400000" algn="bl" rotWithShape="0">
              <a:srgbClr val="1A1836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8436712" y="3547872"/>
            <a:ext cx="402336" cy="402336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5" name="Image 4" descr="/home/claude/icons/lang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7296" y="3648456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948776" y="3429000"/>
            <a:ext cx="246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처리  </a:t>
            </a: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문자의 개수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8368" y="416052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46"/>
              </a:lnSpc>
              <a:buNone/>
            </a:pPr>
            <a:r>
              <a:rPr lang="en-US" sz="130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크기 n이 커질 때 T(n)이 어떻게 증가하는지가 알고리즘의 효율을 결정합니다.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연산 (Basic Operation)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알고리즘이 하는 일 중에서 가장 핵심적인 명령 하나를 대표로 뽑은 것이 기본 연산입니다.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58368" y="2377440"/>
            <a:ext cx="10874959" cy="1234440"/>
          </a:xfrm>
          <a:prstGeom prst="roundRect">
            <a:avLst>
              <a:gd name="adj" fmla="val 8889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2766060"/>
            <a:ext cx="457200" cy="45720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searc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288036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27632" y="2377440"/>
            <a:ext cx="96313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탐색 알고리즘의 기본 연산 = 비교 연산</a:t>
            </a:r>
            <a:endParaRPr lang="en-US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 탐색·이진 탐색 모두 찾는 값 x를 리스트 값과 하나씩(또는 절반씩) 비교하기 때문입니다.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58368" y="3840480"/>
            <a:ext cx="5254600" cy="1371600"/>
          </a:xfrm>
          <a:prstGeom prst="roundRect">
            <a:avLst>
              <a:gd name="adj" fmla="val 9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4400" y="4274820"/>
            <a:ext cx="502920" cy="50292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bulb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130" y="4400550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72768" y="3840480"/>
            <a:ext cx="4157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없다</a:t>
            </a:r>
            <a:endParaRPr lang="en-US" sz="14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경험과 판단에 따라 기본 연산의 선택은 달라집니다.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278728" y="3840480"/>
            <a:ext cx="5254600" cy="1371600"/>
          </a:xfrm>
          <a:prstGeom prst="roundRect">
            <a:avLst>
              <a:gd name="adj" fmla="val 9333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534760" y="4274820"/>
            <a:ext cx="502920" cy="50292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3" descr="/home/claude/icons/targe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490" y="4400550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93128" y="3840480"/>
            <a:ext cx="4157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핵심적인 일을 고른다</a:t>
            </a:r>
            <a:endParaRPr lang="en-US" sz="14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제어 명령은 빼고, 실제 계산·비교 같은 핵심 동작을 고릅니다.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1.4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최대값 찾기 — 기본 연산의 개수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6766560" cy="3566160"/>
          </a:xfrm>
          <a:prstGeom prst="roundRect">
            <a:avLst>
              <a:gd name="adj" fmla="val 3077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get_largest.py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96312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리스트 A 안에서 가장 큰 값을 찾는다.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get_largest(A):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largest = A[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       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초기 최대값 설정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r>
              <a:rPr lang="en-US" sz="13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(A)):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두 번째 원소부터 검사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A[i] &gt; largest: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기본 연산: 비교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largest = A[i]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최대값 갱신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largest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790688" y="2651760"/>
            <a:ext cx="3742639" cy="2011680"/>
          </a:xfrm>
          <a:prstGeom prst="roundRect">
            <a:avLst>
              <a:gd name="adj" fmla="val 7273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90688" y="2926080"/>
            <a:ext cx="3742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연산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790688" y="3291840"/>
            <a:ext cx="3742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 &gt; largest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790688" y="379476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790688" y="4069080"/>
            <a:ext cx="37426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(n − 1)</a:t>
            </a:r>
            <a:r>
              <a:rPr lang="en-US" sz="2600" b="1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1.5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요소의 합 — 시간 복잡도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6766560" cy="3246120"/>
          </a:xfrm>
          <a:prstGeom prst="roundRect">
            <a:avLst>
              <a:gd name="adj" fmla="val 3380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sum_array.py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96312"/>
            <a:ext cx="6309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배열의 모든 원소를 더하여 합계를 구한다.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add_array_members(A):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total = </a:t>
            </a:r>
            <a:r>
              <a:rPr lang="en-US" sz="13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x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A:       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n번 순회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total = total + x   </a:t>
            </a:r>
            <a:r>
              <a:rPr lang="en-US" sz="13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기본 연산: 덧셈 1회</a:t>
            </a:r>
            <a:endParaRPr lang="en-US" sz="13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total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790688" y="2468880"/>
            <a:ext cx="3742639" cy="2194560"/>
          </a:xfrm>
          <a:prstGeom prst="roundRect">
            <a:avLst>
              <a:gd name="adj" fmla="val 6667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90688" y="2743200"/>
            <a:ext cx="3742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반복문은 정확히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790688" y="3063240"/>
            <a:ext cx="37426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CC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n번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7790688" y="3566160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실행되므로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790688" y="3886200"/>
            <a:ext cx="37426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T(n) = n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7790688" y="4407408"/>
            <a:ext cx="37426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선형적으로 증가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최선, 평균, 최악의 경우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412687" y="1783080"/>
            <a:ext cx="5120640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8991" y="2015252"/>
            <a:ext cx="4828032" cy="27817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8368" y="1874520"/>
            <a:ext cx="5342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똑같은 알고리즘도 주어지는 입력에 따라 다른 수행 시간을 보일 수 있습니다.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58368" y="3017520"/>
            <a:ext cx="5342839" cy="1737360"/>
          </a:xfrm>
          <a:prstGeom prst="roundRect">
            <a:avLst>
              <a:gd name="adj" fmla="val 6316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14400" y="365760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searc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7190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27632" y="3017520"/>
            <a:ext cx="40992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순차 탐색</a:t>
            </a:r>
            <a:endParaRPr lang="en-US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찾는 값이 리스트 맨 처음에 있으면 한 번에 끝나지만, 맨 끝에 있으면 끝까지 가야 발견할 수 있습니다.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최선 · 평균 · 최악의 경우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3381146" cy="3520440"/>
          </a:xfrm>
          <a:prstGeom prst="roundRect">
            <a:avLst>
              <a:gd name="adj" fmla="val 378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937461" y="2167128"/>
            <a:ext cx="822960" cy="82296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9" name="Image 1" descr="/home/claude/icons/war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201" y="2372868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31089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최악의 경우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58368" y="347472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Worst Case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32688" y="3886200"/>
            <a:ext cx="28325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가장 불리할 때 실행 시간이 가장 길다.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914400" y="4526280"/>
            <a:ext cx="286908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4" name="Text 10"/>
          <p:cNvSpPr/>
          <p:nvPr/>
        </p:nvSpPr>
        <p:spPr>
          <a:xfrm>
            <a:off x="987552" y="4526280"/>
            <a:ext cx="2722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찾는 값이 맨 마지막에 있는 경우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405274" y="1783080"/>
            <a:ext cx="3381146" cy="3520440"/>
          </a:xfrm>
          <a:prstGeom prst="roundRect">
            <a:avLst>
              <a:gd name="adj" fmla="val 378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84368" y="2167128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2" descr="/home/claude/icons/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0108" y="2372868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405274" y="31089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최선의 경우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4405274" y="347472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Case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679594" y="3886200"/>
            <a:ext cx="28325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가장 유리할 때 실행 시간이 가장 짧다.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661306" y="4526280"/>
            <a:ext cx="286908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22" name="Text 17"/>
          <p:cNvSpPr/>
          <p:nvPr/>
        </p:nvSpPr>
        <p:spPr>
          <a:xfrm>
            <a:off x="4734458" y="4526280"/>
            <a:ext cx="2722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찾는 값이 맨 처음에 있는 경우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152181" y="1783080"/>
            <a:ext cx="3381146" cy="3520440"/>
          </a:xfrm>
          <a:prstGeom prst="roundRect">
            <a:avLst>
              <a:gd name="adj" fmla="val 3786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431274" y="2167128"/>
            <a:ext cx="822960" cy="82296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5" name="Image 3" descr="/home/claude/icons/sca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7014" y="2372868"/>
            <a:ext cx="411480" cy="4114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152181" y="3108960"/>
            <a:ext cx="3381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평균적인 경우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8152181" y="3474720"/>
            <a:ext cx="33811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Average Case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8426501" y="3886200"/>
            <a:ext cx="28325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입력을 고려한 평균 실행 시간.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8408213" y="4526280"/>
            <a:ext cx="286908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30" name="Text 24"/>
          <p:cNvSpPr/>
          <p:nvPr/>
        </p:nvSpPr>
        <p:spPr>
          <a:xfrm>
            <a:off x="8481365" y="4526280"/>
            <a:ext cx="2722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실용적인 성능 평가 기준으로 사용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엘리베이터 기다리기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658368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1963317"/>
            <a:ext cx="6291072" cy="343428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653528" y="1920240"/>
            <a:ext cx="3879799" cy="1051560"/>
          </a:xfrm>
          <a:prstGeom prst="roundRect">
            <a:avLst>
              <a:gd name="adj" fmla="val 10435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854696" y="2217420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1" name="Image 2" descr="/home/claude/icons/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8996" y="233172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67928" y="1920240"/>
            <a:ext cx="269107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최선</a:t>
            </a:r>
            <a:endParaRPr lang="en-US" sz="160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문이 열리자마자 바로 탑승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7653528" y="3172968"/>
            <a:ext cx="3879799" cy="1051560"/>
          </a:xfrm>
          <a:prstGeom prst="roundRect">
            <a:avLst>
              <a:gd name="adj" fmla="val 10435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854696" y="3470148"/>
            <a:ext cx="457200" cy="45720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5" name="Image 3" descr="/home/claude/icons/sca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8996" y="3584448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67928" y="3172968"/>
            <a:ext cx="269107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</a:t>
            </a:r>
            <a:endParaRPr lang="en-US" sz="160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3층 정도 오면 도착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7653528" y="4425696"/>
            <a:ext cx="3879799" cy="1051560"/>
          </a:xfrm>
          <a:prstGeom prst="roundRect">
            <a:avLst>
              <a:gd name="adj" fmla="val 10435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854696" y="4722876"/>
            <a:ext cx="457200" cy="45720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9" name="Image 4" descr="/home/claude/icons/war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8996" y="4837176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67928" y="4425696"/>
            <a:ext cx="269107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6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</a:t>
            </a:r>
            <a:endParaRPr lang="en-US" sz="160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꼭대기부터 전 층을 다 거침</a:t>
            </a:r>
            <a:endParaRPr lang="en-US" sz="1600" dirty="0"/>
          </a:p>
        </p:txBody>
      </p:sp>
      <p:sp>
        <p:nvSpPr>
          <p:cNvPr id="21" name="Text 1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1.6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 탐색의 최악 · 최선 · 평균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6766560" cy="2514600"/>
          </a:xfrm>
          <a:prstGeom prst="roundRect">
            <a:avLst>
              <a:gd name="adj" fmla="val 4364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76656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76656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linear_search.py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87168"/>
            <a:ext cx="6309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linear_search(S, target):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(S)):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처음부터 끝까지 탐색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S[i] == target: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값이 일치하면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위치 반환</a:t>
            </a:r>
            <a:endParaRPr lang="en-US" sz="13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30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</a:t>
            </a:r>
            <a:r>
              <a:rPr lang="en-US" sz="130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</a:t>
            </a:r>
            <a:r>
              <a:rPr lang="en-US" sz="130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못 찾으면 -1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90688" y="1874520"/>
            <a:ext cx="3742639" cy="731520"/>
          </a:xfrm>
          <a:prstGeom prst="roundRect">
            <a:avLst>
              <a:gd name="adj" fmla="val 175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973568" y="2020824"/>
            <a:ext cx="438912" cy="438912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8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296" y="2130552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540496" y="18745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최선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9528048" y="1874520"/>
            <a:ext cx="182239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90688" y="2734056"/>
            <a:ext cx="3742639" cy="731520"/>
          </a:xfrm>
          <a:prstGeom prst="roundRect">
            <a:avLst>
              <a:gd name="adj" fmla="val 175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973568" y="2880360"/>
            <a:ext cx="438912" cy="438912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3" name="Image 2" descr="/home/claude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3296" y="299008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540496" y="2734056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9528048" y="2734056"/>
            <a:ext cx="182239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n/2회</a:t>
            </a:r>
            <a:endParaRPr lang="en-US" sz="1700" dirty="0"/>
          </a:p>
        </p:txBody>
      </p:sp>
      <p:sp>
        <p:nvSpPr>
          <p:cNvPr id="26" name="Shape 21"/>
          <p:cNvSpPr/>
          <p:nvPr/>
        </p:nvSpPr>
        <p:spPr>
          <a:xfrm>
            <a:off x="7790688" y="3593592"/>
            <a:ext cx="3742639" cy="731520"/>
          </a:xfrm>
          <a:prstGeom prst="roundRect">
            <a:avLst>
              <a:gd name="adj" fmla="val 17500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973568" y="3739896"/>
            <a:ext cx="438912" cy="438912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28" name="Image 3" descr="/home/claude/icons/warn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3296" y="384962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540496" y="359359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9528048" y="3593592"/>
            <a:ext cx="182239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n회</a:t>
            </a:r>
            <a:endParaRPr lang="en-US" sz="1700" dirty="0"/>
          </a:p>
        </p:txBody>
      </p:sp>
      <p:sp>
        <p:nvSpPr>
          <p:cNvPr id="31" name="Shape 25"/>
          <p:cNvSpPr/>
          <p:nvPr/>
        </p:nvSpPr>
        <p:spPr>
          <a:xfrm>
            <a:off x="658368" y="4617720"/>
            <a:ext cx="10874959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32" name="Image 4" descr="/home/claude/assets/image2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9197" y="4745736"/>
            <a:ext cx="4653302" cy="93268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평균적인 경우 시간 복잡도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658368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2032962"/>
            <a:ext cx="6291072" cy="347787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53528" y="1920240"/>
            <a:ext cx="38797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현실에서는 대부분 ‘평균적인 상황’이 일어나므로, 평균적인 경우 분석이 실용적입니다.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53528" y="3063240"/>
            <a:ext cx="3879799" cy="1234440"/>
          </a:xfrm>
          <a:prstGeom prst="roundRect">
            <a:avLst>
              <a:gd name="adj" fmla="val 8889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882128" y="3200400"/>
            <a:ext cx="34225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target이 리스트에 존재할 때</a:t>
            </a:r>
            <a:endParaRPr lang="en-US" sz="1200" dirty="0"/>
          </a:p>
        </p:txBody>
      </p:sp>
      <p:pic>
        <p:nvPicPr>
          <p:cNvPr id="12" name="Image 2" descr="/home/claude/assets/image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3538568"/>
            <a:ext cx="3422599" cy="6495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복잡도를 사용할 것인가?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04127" y="1783080"/>
            <a:ext cx="50292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431" y="2090431"/>
            <a:ext cx="4736592" cy="258569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8368" y="1874520"/>
            <a:ext cx="54342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 따라 실행 시간이 달라지므로, 보통 ‘최악’과 ‘평균’을 중심으로 분석합니다. ‘최선’은 현실에서 거의 일어나지 않아 잘 쓰이지 않습니다.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58368" y="3246120"/>
            <a:ext cx="5434279" cy="960120"/>
          </a:xfrm>
          <a:prstGeom prst="roundRect">
            <a:avLst>
              <a:gd name="adj" fmla="val 11429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59536" y="3497580"/>
            <a:ext cx="457200" cy="457200"/>
          </a:xfrm>
          <a:prstGeom prst="ellipse">
            <a:avLst/>
          </a:prstGeom>
          <a:solidFill>
            <a:srgbClr val="FB718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war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836" y="361188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72768" y="3246120"/>
            <a:ext cx="42455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안전한 설계 → 최악의 경우</a:t>
            </a:r>
            <a:endParaRPr lang="en-US" sz="145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최악에서도 문제없이 작동해야 할 때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58368" y="4389120"/>
            <a:ext cx="5434279" cy="960120"/>
          </a:xfrm>
          <a:prstGeom prst="roundRect">
            <a:avLst>
              <a:gd name="adj" fmla="val 11429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59536" y="4640580"/>
            <a:ext cx="457200" cy="457200"/>
          </a:xfrm>
          <a:prstGeom prst="ellipse">
            <a:avLst/>
          </a:prstGeom>
          <a:solidFill>
            <a:srgbClr val="38BDF8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6" name="Image 3" descr="/home/claude/icons/sca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" y="4754880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72768" y="4389120"/>
            <a:ext cx="42455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실용적 평가 → 평균의 경우</a:t>
            </a:r>
            <a:endParaRPr lang="en-US" sz="145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일반적인 상황의 성능을 볼 때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2253996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cha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분석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1.7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 탐색의 평균적인 경우 계산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10874959" cy="960120"/>
          </a:xfrm>
          <a:prstGeom prst="roundRect">
            <a:avLst>
              <a:gd name="adj" fmla="val 11429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212598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0" name="Image 1" descr="/home/claude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22402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27632" y="18745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 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target이 리스트에 존재하고, 모든 항목이 서로 다르며, 어느 위치에 있을 확률도 모두 동일하다. (위치 k에 있을 확률 = 1/n)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58368" y="3063240"/>
            <a:ext cx="10874959" cy="1234440"/>
          </a:xfrm>
          <a:prstGeom prst="roundRect">
            <a:avLst>
              <a:gd name="adj" fmla="val 8889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932688" y="3200400"/>
            <a:ext cx="103263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target이 리스트에 존재할 때 — 평균 비교 횟수</a:t>
            </a:r>
            <a:endParaRPr lang="en-US" sz="1300" dirty="0"/>
          </a:p>
        </p:txBody>
      </p:sp>
      <p:pic>
        <p:nvPicPr>
          <p:cNvPr id="14" name="Image 2" descr="/home/claude/assets/image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9028" y="3520440"/>
            <a:ext cx="3613638" cy="6858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58368" y="4480560"/>
            <a:ext cx="10874959" cy="1325880"/>
          </a:xfrm>
          <a:prstGeom prst="roundRect">
            <a:avLst>
              <a:gd name="adj" fmla="val 8276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932688" y="4617720"/>
            <a:ext cx="103263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존재 확률이 p일 때 — 존재하지 않는 경우까지 포함</a:t>
            </a:r>
            <a:endParaRPr lang="en-US" sz="1300" dirty="0"/>
          </a:p>
        </p:txBody>
      </p:sp>
      <p:pic>
        <p:nvPicPr>
          <p:cNvPr id="17" name="Image 3" descr="/home/claude/assets/image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0754" y="4937760"/>
            <a:ext cx="6150187" cy="7315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71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9320" y="182880"/>
            <a:ext cx="6199632" cy="658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5500" b="1" dirty="0">
                <a:solidFill>
                  <a:srgbClr val="201E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</a:t>
            </a:r>
            <a:endParaRPr lang="en-US" sz="255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5" name="Shape 3"/>
          <p:cNvSpPr/>
          <p:nvPr/>
        </p:nvSpPr>
        <p:spPr>
          <a:xfrm>
            <a:off x="1444752" y="1371600"/>
            <a:ext cx="128016" cy="128016"/>
          </a:xfrm>
          <a:prstGeom prst="ellipse">
            <a:avLst/>
          </a:prstGeom>
          <a:solidFill>
            <a:srgbClr val="2A286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1.6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8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6289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37744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 (Big-O)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96112" y="361188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커질 때 실행 시간이 어떻게 증가하는지, 그 성장률을 O · Ω · Θ 로 표현합니다.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6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35"/>
              </a:lnSpc>
              <a:buNone/>
            </a:pPr>
            <a:r>
              <a:rPr lang="en-US" sz="27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 표기법 (Asymptotic Notation)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687007" y="1783080"/>
            <a:ext cx="484632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3311" y="2173647"/>
            <a:ext cx="4553712" cy="301362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8368" y="1874520"/>
            <a:ext cx="561715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많을 때는 차수가 가장 큰 항이 가장 큰 영향을 미치고, 나머지 항들은 상대적으로 무시할 수 있습니다.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3063240"/>
            <a:ext cx="5617159" cy="1463040"/>
          </a:xfrm>
          <a:prstGeom prst="roundRect">
            <a:avLst>
              <a:gd name="adj" fmla="val 75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14400" y="3566160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percen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68046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27632" y="3063240"/>
            <a:ext cx="4373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= 1,000 일 때  T(n) = n² + n + 1</a:t>
            </a:r>
            <a:endParaRPr lang="en-US" sz="135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최고차항 </a:t>
            </a: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n²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전체의 약 </a:t>
            </a: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99%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차지합니다.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점근 표기법</a:t>
            </a:r>
            <a:endParaRPr lang="en-US" sz="29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10908792" cy="42062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표기법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알고리즘 관점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338C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빅오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338C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Big-O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(Upper Bound):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시간이 이보다 크지 않다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함수보다 빠르게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증가하지 않는다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6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“최대 이 정도까지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6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걸린다”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3A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빅오메가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3A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Big-Ω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하한 (Lower Bound):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시간이 이보다 작지 않다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함수보다 느리게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증가하지 않는다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6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“적어도 이 정도는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6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걸린다”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빅세타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Big-Θ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정확한 차수 (Tight Bound):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상·하한이 같은 정도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정확한 성장률을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표현한다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6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“이 정도 크기로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6B71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증가한다”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빅오 표기법 (Big-O)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0"/>
              </a:lnSpc>
              <a:buNone/>
            </a:pPr>
            <a:r>
              <a:rPr lang="en-US" sz="15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빅오 표기법은 연산의 횟수를 대략적(점근적)으로 표기한 것으로, 함수의 상한을 나타냅니다.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58368" y="2331720"/>
            <a:ext cx="6583680" cy="1828800"/>
          </a:xfrm>
          <a:prstGeom prst="roundRect">
            <a:avLst>
              <a:gd name="adj" fmla="val 8000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78408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78408" y="278892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함수 f(n), g(n)에 대해 모든 </a:t>
            </a:r>
            <a:r>
              <a:rPr lang="en-US" sz="1400" b="1" dirty="0">
                <a:solidFill>
                  <a:srgbClr val="9CC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≥ n₀</a:t>
            </a: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|f(n)| ≤ c·|g(n)|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만족하는 상수 c, n₀가 존재하면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f(n) = O(g(n))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07808" y="2331720"/>
            <a:ext cx="3925519" cy="1828800"/>
          </a:xfrm>
          <a:prstGeom prst="roundRect">
            <a:avLst>
              <a:gd name="adj" fmla="val 6000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863840" y="301752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3" name="Image 1" descr="/home/claude/icons/bul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8140" y="313182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577072" y="2331720"/>
            <a:ext cx="26819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</a:t>
            </a:r>
            <a:endParaRPr lang="en-US" sz="1400" dirty="0"/>
          </a:p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≥ 5 이면</a:t>
            </a:r>
            <a:endParaRPr lang="en-US" sz="1400" dirty="0"/>
          </a:p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2n + 1 &lt; 10n</a:t>
            </a:r>
            <a:endParaRPr lang="en-US" sz="1400" dirty="0"/>
          </a:p>
          <a:p>
            <a:pPr marL="0" indent="0" algn="ctr">
              <a:lnSpc>
                <a:spcPts val="1960"/>
              </a:lnSpc>
              <a:buNone/>
            </a:pPr>
            <a:r>
              <a:rPr lang="en-US" sz="12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이므로</a:t>
            </a:r>
            <a:endParaRPr lang="en-US" sz="1400" dirty="0"/>
          </a:p>
          <a:p>
            <a:pPr marL="0" indent="0" algn="ctr">
              <a:lnSpc>
                <a:spcPts val="1960"/>
              </a:lnSpc>
              <a:buNone/>
            </a:pPr>
            <a:r>
              <a:rPr lang="en-US" sz="17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2n + 1 = O(n)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58368" y="4389120"/>
            <a:ext cx="10874959" cy="1051560"/>
          </a:xfrm>
          <a:prstGeom prst="roundRect">
            <a:avLst>
              <a:gd name="adj" fmla="val 10435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68630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7" name="Image 2" descr="/home/claude/icons/arrow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48006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27632" y="4389120"/>
            <a:ext cx="96313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r>
              <a:rPr lang="en-US" sz="13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빅오는 “이 함수보다 빠르게 증가하지 않는다” 는 상한을 표시합니다. 실무에서는 최소 차수로 상한을 표현합니다.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빅오 표기법 — 상한 (Upper Bound)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640080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984631"/>
            <a:ext cx="6035040" cy="3574539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470648" y="2468880"/>
            <a:ext cx="4062679" cy="2468880"/>
          </a:xfrm>
          <a:prstGeom prst="roundRect">
            <a:avLst>
              <a:gd name="adj" fmla="val 4444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726680" y="3474720"/>
            <a:ext cx="457200" cy="45720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1" name="Image 2" descr="/home/claude/icons/char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0980" y="358902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439912" y="2468880"/>
            <a:ext cx="281909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5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≥ n₀ 이후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6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c·g(n)</a:t>
            </a: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항상 </a:t>
            </a:r>
            <a:r>
              <a:rPr lang="en-US" sz="16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f(n)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위에 있습니다.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3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g(n)이 f(n)의 상한이 되어 f(n) = O(g(n))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빅오 표기법의 예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≥ 5 이면 2n + 1 &lt; 10n 이므로, 2n + 1 = O(n) 입니다. 교차점 n₀ 이후로 상한이 유지됩니다.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2072488" y="2286000"/>
            <a:ext cx="8046720" cy="35204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9" name="Image 1" descr="/home/claude/assets/image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3823" y="2487168"/>
            <a:ext cx="6024048" cy="31181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빅오 표기법의 종류</a:t>
            </a:r>
            <a:endParaRPr lang="en-US" sz="2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908792" cy="438912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0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알고리즘 유형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빅오 표기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상수 시간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배열 원소 접근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시간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4B8A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O(log n)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이진 탐색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선형 시간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O(n)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선형 탐색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선형 로그 시간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log n)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퀵 정렬, 병합 정렬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이차 시간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O(n²)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버블 정렬, 삽입 정렬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시간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973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O(2ⁿ)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피보나치 (재귀)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팩토리얼 시간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O(n!)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3C3B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순열 생성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1.9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 알고리즘 — 버블 정렬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6949440" cy="3108960"/>
          </a:xfrm>
          <a:prstGeom prst="roundRect">
            <a:avLst>
              <a:gd name="adj" fmla="val 3529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94944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94944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bubble_sort.py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68880"/>
            <a:ext cx="6492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bubble_sort(arr):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n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 -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   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n-1번 반복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j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 - i -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(n-i-1)번 반복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arr[j] &gt; arr[j +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]: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기본 연산: 비교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arr[j], arr[j+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 = arr[j+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 arr[j]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973568" y="2514600"/>
            <a:ext cx="3559759" cy="1828800"/>
          </a:xfrm>
          <a:prstGeom prst="roundRect">
            <a:avLst>
              <a:gd name="adj" fmla="val 8000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73568" y="2788920"/>
            <a:ext cx="3559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C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루프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973568" y="3200400"/>
            <a:ext cx="35597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(n−1)(n−i−1)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973568" y="3703320"/>
            <a:ext cx="35597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9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함수이므로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973568" y="3977640"/>
            <a:ext cx="35597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예제 1.10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8368" y="1133856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탐색의 차수 — O(log n)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58368" y="1874520"/>
            <a:ext cx="6949440" cy="3931920"/>
          </a:xfrm>
          <a:prstGeom prst="roundRect">
            <a:avLst>
              <a:gd name="adj" fmla="val 2791"/>
            </a:avLst>
          </a:prstGeom>
          <a:solidFill>
            <a:srgbClr val="1D1C3D"/>
          </a:solidFill>
          <a:ln/>
          <a:effectLst>
            <a:outerShdw blurRad="203200" dist="76200" dir="5400000" algn="bl" rotWithShape="0">
              <a:srgbClr val="1A1836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1874520"/>
            <a:ext cx="6949440" cy="457200"/>
          </a:xfrm>
          <a:prstGeom prst="roundRect">
            <a:avLst>
              <a:gd name="adj" fmla="val 24000"/>
            </a:avLst>
          </a:prstGeom>
          <a:solidFill>
            <a:srgbClr val="2A2856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130552"/>
            <a:ext cx="6949440" cy="128016"/>
          </a:xfrm>
          <a:prstGeom prst="rect">
            <a:avLst/>
          </a:prstGeom>
          <a:solidFill>
            <a:srgbClr val="1D1C3D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2002536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9"/>
          <p:cNvSpPr/>
          <p:nvPr/>
        </p:nvSpPr>
        <p:spPr>
          <a:xfrm>
            <a:off x="1060704" y="2002536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0"/>
          <p:cNvSpPr/>
          <p:nvPr/>
        </p:nvSpPr>
        <p:spPr>
          <a:xfrm>
            <a:off x="1261872" y="2002536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1"/>
          <p:cNvSpPr/>
          <p:nvPr/>
        </p:nvSpPr>
        <p:spPr>
          <a:xfrm>
            <a:off x="1481328" y="1874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A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binary_search.py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14400" y="2441448"/>
            <a:ext cx="6492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binary_search(arr, target):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low =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high = </a:t>
            </a:r>
            <a:r>
              <a:rPr lang="en-US" sz="1250" dirty="0">
                <a:solidFill>
                  <a:srgbClr val="9C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(arr) -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low &lt;= high: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mid = (low + high) //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중앙 인덱스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arr[mid] == target: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mid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arr[mid] &lt; target: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low = mid +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오른쪽 절반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high = mid - 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r>
              <a:rPr lang="en-US" sz="1250" i="1" dirty="0">
                <a:solidFill>
                  <a:srgbClr val="8686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왼쪽 절반</a:t>
            </a:r>
            <a:endParaRPr lang="en-US" sz="12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r>
              <a:rPr lang="en-US" sz="1250" dirty="0">
                <a:solidFill>
                  <a:srgbClr val="C7A8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50" dirty="0">
                <a:solidFill>
                  <a:srgbClr val="DCDC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</a:t>
            </a:r>
            <a:r>
              <a:rPr lang="en-US" sz="1250" dirty="0">
                <a:solidFill>
                  <a:srgbClr val="F7C9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973568" y="2103120"/>
            <a:ext cx="3559759" cy="1691640"/>
          </a:xfrm>
          <a:prstGeom prst="roundRect">
            <a:avLst>
              <a:gd name="adj" fmla="val 7568"/>
            </a:avLst>
          </a:prstGeom>
          <a:solidFill>
            <a:srgbClr val="F5F4FC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202168" y="2286000"/>
            <a:ext cx="3102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 범위가 절반씩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8202168" y="2697480"/>
            <a:ext cx="3102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338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→ n/2 → n/4 → n/8 → …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02168" y="3200400"/>
            <a:ext cx="3102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log₂n 번의 비교 후 종료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973568" y="3977640"/>
            <a:ext cx="3559759" cy="914400"/>
          </a:xfrm>
          <a:prstGeom prst="roundRect">
            <a:avLst>
              <a:gd name="adj" fmla="val 14000"/>
            </a:avLst>
          </a:prstGeom>
          <a:solidFill>
            <a:srgbClr val="17163A"/>
          </a:solidFill>
          <a:ln/>
          <a:effectLst>
            <a:outerShdw blurRad="127000" dist="50800" dir="5400000" algn="bl" rotWithShape="0">
              <a:srgbClr val="1A1836">
                <a:alpha val="2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973568" y="3977640"/>
            <a:ext cx="35597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T(n) = O(log n)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빅오메가 표기법 (Big-Ω)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576072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047783"/>
            <a:ext cx="5394960" cy="344823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830568" y="2148840"/>
            <a:ext cx="4702759" cy="1645920"/>
          </a:xfrm>
          <a:prstGeom prst="roundRect">
            <a:avLst>
              <a:gd name="adj" fmla="val 8889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104888" y="2331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7104888" y="2697480"/>
            <a:ext cx="41541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n ≥ n₀ 에서  </a:t>
            </a:r>
            <a:r>
              <a:rPr lang="en-US" sz="13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|f(n)| ≥ c·|g(n)|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만족하는 c, n₀가 존재하면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f(n) = Ω(g(n))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830568" y="3977640"/>
            <a:ext cx="4702759" cy="1783080"/>
          </a:xfrm>
          <a:prstGeom prst="roundRect">
            <a:avLst>
              <a:gd name="adj" fmla="val 6154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086600" y="464058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arrow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900" y="47548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799832" y="3977640"/>
            <a:ext cx="345917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함수의 하한 (Lower Bound)</a:t>
            </a:r>
            <a:endParaRPr lang="en-US" sz="13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함수보다 느리게 증가하지 않는다” 는 뜻입니다.</a:t>
            </a:r>
            <a:endParaRPr lang="en-US" sz="1300" dirty="0"/>
          </a:p>
          <a:p>
            <a:pPr marL="0" indent="0" algn="l">
              <a:lnSpc>
                <a:spcPts val="1820"/>
              </a:lnSpc>
              <a:buNone/>
            </a:pPr>
            <a:endParaRPr lang="en-US" sz="13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30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n = Ω(n)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빅세타 표기법 (Big-Θ)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4023360" cy="402336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623" y="1965960"/>
            <a:ext cx="3176850" cy="3657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93208" y="1920240"/>
            <a:ext cx="6440119" cy="1874520"/>
          </a:xfrm>
          <a:prstGeom prst="roundRect">
            <a:avLst>
              <a:gd name="adj" fmla="val 7805"/>
            </a:avLst>
          </a:prstGeom>
          <a:solidFill>
            <a:srgbClr val="17163A"/>
          </a:solidFill>
          <a:ln/>
          <a:effectLst>
            <a:outerShdw blurRad="152400" dist="63500" dir="5400000" algn="bl" rotWithShape="0">
              <a:srgbClr val="1A1836">
                <a:alpha val="24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367528" y="2103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367528" y="2468880"/>
            <a:ext cx="589147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n ≥ n₀ 에서</a:t>
            </a:r>
            <a:endParaRPr lang="en-US" sz="13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c₁·|g(n)| ≤ |f(n)| ≤ c₂·|g(n)|</a:t>
            </a:r>
            <a:endParaRPr lang="en-US" sz="13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D9D7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만족하는 c₁, c₂, n₀가 존재하면</a:t>
            </a:r>
            <a:endParaRPr lang="en-US" sz="13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f(n) = Θ(g(n))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093208" y="3977640"/>
            <a:ext cx="6440119" cy="1783080"/>
          </a:xfrm>
          <a:prstGeom prst="roundRect">
            <a:avLst>
              <a:gd name="adj" fmla="val 6154"/>
            </a:avLst>
          </a:prstGeom>
          <a:solidFill>
            <a:srgbClr val="EEF0FF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349240" y="4640580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4" name="Image 2" descr="/home/claude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3540" y="47548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062472" y="3977640"/>
            <a:ext cx="519653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하한인 동시에 상한 (Tight Bound)</a:t>
            </a:r>
            <a:endParaRPr lang="en-US" sz="1250" dirty="0"/>
          </a:p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f(n) = O(g(n)) 이면서 f(n) = Ω(g(n)) 이면  f(n) = Θ(g(n))</a:t>
            </a:r>
            <a:endParaRPr lang="en-US" sz="1250" dirty="0"/>
          </a:p>
          <a:p>
            <a:pPr marL="0" indent="0" algn="l">
              <a:lnSpc>
                <a:spcPts val="1750"/>
              </a:lnSpc>
              <a:buNone/>
            </a:pPr>
            <a:endParaRPr lang="en-US" sz="1250" dirty="0"/>
          </a:p>
          <a:p>
            <a:pPr marL="0" indent="0" algn="l">
              <a:lnSpc>
                <a:spcPts val="1750"/>
              </a:lnSpc>
              <a:buNone/>
            </a:pPr>
            <a:r>
              <a:rPr lang="en-US" sz="1250" i="1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n ≥ 1 이면 n ≤ 2n+1 ≤ 3n 이므로  2n+1 = Θ(n)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표기법의 비교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58368" y="1783080"/>
            <a:ext cx="603504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8" name="Image 1" descr="/home/claude/assets/imag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079241"/>
            <a:ext cx="5669280" cy="338531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104888" y="1965960"/>
            <a:ext cx="44284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표기법 중 가장 정밀한 것은 빅세타(Θ)입니다. 그러나 현실에서는 최악의 경우를 대비해 빅오(O)를 주로 사용합니다.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7104888" y="3337560"/>
            <a:ext cx="4428439" cy="1005840"/>
          </a:xfrm>
          <a:prstGeom prst="roundRect">
            <a:avLst>
              <a:gd name="adj" fmla="val 10909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306056" y="3611880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372618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019288" y="3337560"/>
            <a:ext cx="32397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Θ — 가장 정밀</a:t>
            </a:r>
            <a:endParaRPr lang="en-US" sz="145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상·하한이 같은 정확한 차수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7104888" y="4526280"/>
            <a:ext cx="4428439" cy="1005840"/>
          </a:xfrm>
          <a:prstGeom prst="roundRect">
            <a:avLst>
              <a:gd name="adj" fmla="val 10909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306056" y="4800600"/>
            <a:ext cx="457200" cy="457200"/>
          </a:xfrm>
          <a:prstGeom prst="ellipse">
            <a:avLst/>
          </a:prstGeom>
          <a:solidFill>
            <a:srgbClr val="4F46E5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6" name="Image 3" descr="/home/claude/icons/arrow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4914900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19288" y="4526280"/>
            <a:ext cx="32397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36"/>
              </a:lnSpc>
              <a:buNone/>
            </a:pPr>
            <a:r>
              <a:rPr lang="en-US" sz="145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 — 실무에서 주로 사용</a:t>
            </a:r>
            <a:endParaRPr lang="en-US" sz="1450" dirty="0"/>
          </a:p>
          <a:p>
            <a:pPr marL="0" indent="0" algn="l">
              <a:lnSpc>
                <a:spcPts val="1536"/>
              </a:lnSpc>
              <a:buNone/>
            </a:pPr>
            <a:r>
              <a:rPr lang="en-US" sz="120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최악의 경우를 안전하게 대비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일반적인 시간 복잡도 — 성장률 비교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n이 커질수록 복잡도별 연산 횟수의 차이는 극적으로 벌어집니다.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2240280"/>
            <a:ext cx="10874959" cy="30175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9" name="Image 1" descr="/home/claude/assets/image3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315" y="2318369"/>
            <a:ext cx="6843066" cy="27851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8368" y="5372100"/>
            <a:ext cx="10874959" cy="685800"/>
          </a:xfrm>
          <a:prstGeom prst="roundRect">
            <a:avLst>
              <a:gd name="adj" fmla="val 16000"/>
            </a:avLst>
          </a:prstGeom>
          <a:solidFill>
            <a:srgbClr val="F5F4FC"/>
          </a:solidFill>
          <a:ln/>
          <a:effectLst>
            <a:outerShdw blurRad="101600" dist="25400" dir="5400000" algn="bl" rotWithShape="0">
              <a:srgbClr val="1A1836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14400" y="5486400"/>
            <a:ext cx="457200" cy="45720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38100" dir="5400000" algn="bl" rotWithShape="0">
              <a:srgbClr val="1A1836">
                <a:alpha val="16000"/>
              </a:srgbClr>
            </a:outerShdw>
          </a:effectLst>
        </p:spPr>
      </p:sp>
      <p:pic>
        <p:nvPicPr>
          <p:cNvPr id="12" name="Image 2" descr="/home/claude/icons/arrow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560070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27632" y="5372100"/>
            <a:ext cx="963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&lt; O(log n) &lt; O(n) &lt; O(n log n) &lt; O(n²) &lt; O(n³) &lt; O(2ⁿ) &lt; O(n!)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Big-O 복잡도 차트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‘좋음(Excellent)’에서 ‘나쁨(Horrible)’까지, 복잡도가 어느 영역에 속하는지 한눈에 볼 수 있습니다.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2460416" y="2095500"/>
            <a:ext cx="7270864" cy="43738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9" name="Image 1" descr="/home/claude/assets/imag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9030" y="2125980"/>
            <a:ext cx="6013636" cy="417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02336"/>
            <a:ext cx="1952244" cy="365760"/>
          </a:xfrm>
          <a:prstGeom prst="roundRect">
            <a:avLst>
              <a:gd name="adj" fmla="val 50000"/>
            </a:avLst>
          </a:prstGeom>
          <a:solidFill>
            <a:srgbClr val="EDECF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" y="45720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4" name="Image 0" descr="/home/claude/icons/infin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" y="516636"/>
            <a:ext cx="137160" cy="137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2416" y="402336"/>
            <a:ext cx="15864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1.6  </a:t>
            </a:r>
            <a:r>
              <a:rPr lang="en-US" sz="1150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점근표기법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58368" y="841248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900" b="1" dirty="0">
                <a:solidFill>
                  <a:srgbClr val="1E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복잡도 함수의 증가 — 수치 비교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658368" y="1737360"/>
            <a:ext cx="10874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9"/>
              </a:lnSpc>
              <a:buNone/>
            </a:pPr>
            <a:r>
              <a:rPr lang="en-US" sz="1450" dirty="0">
                <a:solidFill>
                  <a:srgbClr val="3C3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n이 증가할 때 각 복잡도 함수의 값이 얼마나 빠르게 커지는지를 표로 확인할 수 있습니다.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295248" y="2286000"/>
            <a:ext cx="9601200" cy="35204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A1836">
                <a:alpha val="18000"/>
              </a:srgbClr>
            </a:outerShdw>
          </a:effectLst>
        </p:spPr>
      </p:sp>
      <p:pic>
        <p:nvPicPr>
          <p:cNvPr id="9" name="Image 1" descr="/home/claude/assets/image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6915" y="2468880"/>
            <a:ext cx="6737865" cy="31546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710367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99FCA5C-C1F6-41AB-9096-2BF45FC1787B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8ead0496-c5ea-4531-b460-bce3820048e4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9CB8110-2CC9-4773-B373-D8D88F3B080B}">
  <we:reference id="wa200010725" version="1.0.0.1" store="ko-KR" storeType="OMEX"/>
  <we:alternateReferences>
    <we:reference id="wa200010725" version="1.0.0.1" store="ko-KR" storeType="OMEX"/>
  </we:alternateReferences>
  <we:properties>
    <we:property name="claude.fileId" value="&quot;137c8b92-7e7a-4727-ae75-f58d2ed13aa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3782</Words>
  <Application>Microsoft Office PowerPoint</Application>
  <PresentationFormat>와이드스크린</PresentationFormat>
  <Paragraphs>718</Paragraphs>
  <Slides>60</Slides>
  <Notes>60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4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1장 알고리즘과 복잡도 분석</dc:title>
  <dc:subject>PptxGenJS Presentation</dc:subject>
  <dc:creator>Algorithm Course</dc:creator>
  <cp:lastModifiedBy>상돈 박</cp:lastModifiedBy>
  <cp:revision>7</cp:revision>
  <dcterms:created xsi:type="dcterms:W3CDTF">2026-07-07T07:40:47Z</dcterms:created>
  <dcterms:modified xsi:type="dcterms:W3CDTF">2026-08-03T02:22:58Z</dcterms:modified>
</cp:coreProperties>
</file>