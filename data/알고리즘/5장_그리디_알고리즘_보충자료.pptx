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1"/>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 id="291" r:id="rIdS36"/>
    <p:sldId id="292" r:id="rIdS37"/>
    <p:sldId id="293" r:id="rIdS38"/>
    <p:sldId id="294" r:id="rIdS39"/>
    <p:sldId id="295" r:id="rIdS40"/>
    <p:sldId id="296" r:id="rIdS41"/>
    <p:sldId id="297" r:id="rIdS42"/>
    <p:sldId id="298" r:id="rIdS43"/>
    <p:sldId id="299" r:id="rIdS44"/>
    <p:sldId id="300" r:id="rIdS45"/>
    <p:sldId id="301" r:id="rIdS46"/>
    <p:sldId id="302" r:id="rIdS47"/>
    <p:sldId id="303" r:id="rIdS48"/>
    <p:sldId id="304" r:id="rIdS49"/>
    <p:sldId id="305" r:id="rIdS50"/>
    <p:sldId id="306" r:id="rIdS51"/>
    <p:sldId id="307" r:id="rIdS52"/>
    <p:sldId id="308" r:id="rIdS53"/>
    <p:sldId id="309" r:id="rIdS54"/>
    <p:sldId id="310" r:id="rIdS55"/>
    <p:sldId id="311" r:id="rIdS56"/>
    <p:sldId id="312" r:id="rIdS57"/>
    <p:sldId id="313" r:id="rIdS58"/>
    <p:sldId id="314" r:id="rIdS59"/>
    <p:sldId id="315" r:id="rIdS60"/>
    <p:sldId id="316" r:id="rIdS61"/>
    <p:sldId id="317" r:id="rIdS62"/>
    <p:sldId id="318" r:id="rIdS63"/>
    <p:sldId id="319" r:id="rIdS64"/>
    <p:sldId id="320" r:id="rIdS65"/>
    <p:sldId id="321" r:id="rIdS66"/>
    <p:sldId id="322" r:id="rIdS67"/>
    <p:sldId id="323" r:id="rIdS68"/>
    <p:sldId id="324" r:id="rIdS69"/>
    <p:sldId id="325" r:id="rIdS70"/>
    <p:sldId id="326" r:id="rIdS71"/>
    <p:sldId id="327" r:id="rIdS72"/>
    <p:sldId id="328" r:id="rIdS73"/>
    <p:sldId id="329" r:id="rIdS74"/>
    <p:sldId id="330" r:id="rIdS75"/>
    <p:sldId id="331" r:id="rIdS76"/>
    <p:sldId id="332" r:id="rIdS77"/>
    <p:sldId id="333" r:id="rIdS78"/>
    <p:sldId id="334" r:id="rIdS79"/>
    <p:sldId id="335" r:id="rIdS80"/>
    <p:sldId id="336" r:id="rIdS81"/>
    <p:sldId id="337" r:id="rIdS82"/>
    <p:sldId id="338" r:id="rIdS83"/>
    <p:sldId id="339" r:id="rIdS84"/>
    <p:sldId id="340" r:id="rIdS85"/>
    <p:sldId id="341" r:id="rIdS86"/>
    <p:sldId id="342" r:id="rIdS87"/>
    <p:sldId id="343" r:id="rIdS88"/>
    <p:sldId id="344" r:id="rIdS89"/>
    <p:sldId id="345" r:id="rIdS90"/>
    <p:sldId id="346" r:id="rIdS91"/>
    <p:sldId id="347" r:id="rIdS92"/>
    <p:sldId id="348" r:id="rIdS93"/>
    <p:sldId id="349" r:id="rIdS94"/>
    <p:sldId id="350" r:id="rIdS95"/>
    <p:sldId id="351" r:id="rIdS96"/>
    <p:sldId id="352" r:id="rIdS97"/>
    <p:sldId id="353" r:id="rIdS98"/>
    <p:sldId id="354" r:id="rIdS99"/>
    <p:sldId id="355" r:id="rIdS100"/>
    <p:sldId id="356" r:id="rIdS101"/>
    <p:sldId id="357" r:id="rIdS102"/>
    <p:sldId id="358" r:id="rIdS103"/>
    <p:sldId id="359" r:id="rIdS104"/>
    <p:sldId id="360" r:id="rIdS105"/>
    <p:sldId id="361" r:id="rIdS106"/>
    <p:sldId id="362" r:id="rIdS107"/>
    <p:sldId id="363" r:id="rIdS108"/>
    <p:sldId id="364" r:id="rIdS109"/>
    <p:sldId id="365" r:id="rIdS110"/>
    <p:sldId id="366" r:id="rIdS111"/>
    <p:sldId id="367" r:id="rIdS112"/>
    <p:sldId id="368" r:id="rIdS113"/>
    <p:sldId id="369" r:id="rIdS114"/>
    <p:sldId id="370" r:id="rIdS115"/>
    <p:sldId id="371" r:id="rIdS116"/>
    <p:sldId id="372" r:id="rIdS117"/>
    <p:sldId id="373" r:id="rIdS118"/>
    <p:sldId id="374" r:id="rIdS119"/>
    <p:sldId id="375" r:id="rIdS120"/>
    <p:sldId id="376" r:id="rIdS121"/>
    <p:sldId id="377" r:id="rIdS122"/>
    <p:sldId id="378" r:id="rIdS123"/>
    <p:sldId id="379" r:id="rIdS124"/>
    <p:sldId id="380" r:id="rIdS125"/>
    <p:sldId id="381" r:id="rIdS126"/>
    <p:sldId id="382" r:id="rIdS127"/>
    <p:sldId id="383" r:id="rIdS128"/>
    <p:sldId id="384" r:id="rIdS129"/>
    <p:sldId id="385" r:id="rIdS130"/>
    <p:sldId id="386" r:id="rIdS131"/>
    <p:sldId id="387" r:id="rIdS132"/>
    <p:sldId id="388" r:id="rIdS133"/>
    <p:sldId id="389" r:id="rIdS134"/>
    <p:sldId id="390" r:id="rIdS135"/>
    <p:sldId id="391" r:id="rIdS136"/>
    <p:sldId id="392" r:id="rIdS137"/>
    <p:sldId id="393" r:id="rIdS138"/>
    <p:sldId id="394" r:id="rIdS139"/>
    <p:sldId id="395" r:id="rIdS140"/>
    <p:sldId id="396" r:id="rIdS141"/>
    <p:sldId id="397" r:id="rIdS142"/>
    <p:sldId id="398" r:id="rIdS143"/>
    <p:sldId id="399" r:id="rIdS144"/>
    <p:sldId id="400" r:id="rIdS145"/>
    <p:sldId id="401" r:id="rIdS146"/>
    <p:sldId id="402" r:id="rIdS147"/>
    <p:sldId id="403" r:id="rIdS148"/>
    <p:sldId id="404" r:id="rIdS149"/>
    <p:sldId id="405" r:id="rIdS150"/>
    <p:sldId id="406" r:id="rIdS151"/>
    <p:sldId id="407" r:id="rIdS152"/>
    <p:sldId id="408" r:id="rIdS153"/>
    <p:sldId id="409" r:id="rIdS154"/>
    <p:sldId id="410" r:id="rIdS155"/>
    <p:sldId id="411" r:id="rIdS156"/>
    <p:sldId id="412" r:id="rIdS157"/>
    <p:sldId id="413" r:id="rIdS158"/>
    <p:sldId id="414" r:id="rIdS159"/>
    <p:sldId id="415" r:id="rIdS160"/>
    <p:sldId id="416" r:id="rIdS161"/>
    <p:sldId id="417" r:id="rIdS162"/>
    <p:sldId id="418" r:id="rIdS163"/>
    <p:sldId id="419" r:id="rIdS164"/>
    <p:sldId id="420" r:id="rIdS165"/>
    <p:sldId id="421" r:id="rIdS166"/>
    <p:sldId id="422" r:id="rIdS167"/>
    <p:sldId id="423" r:id="rIdS168"/>
    <p:sldId id="424" r:id="rIdS169"/>
    <p:sldId id="425" r:id="rIdS170"/>
    <p:sldId id="426" r:id="rIdS171"/>
    <p:sldId id="427" r:id="rIdS172"/>
    <p:sldId id="428" r:id="rIdS173"/>
    <p:sldId id="429" r:id="rIdS174"/>
    <p:sldId id="430" r:id="rIdS175"/>
    <p:sldId id="431" r:id="rIdS176"/>
    <p:sldId id="432" r:id="rIdS177"/>
    <p:sldId id="433" r:id="rIdS178"/>
    <p:sldId id="434" r:id="rIdS179"/>
    <p:sldId id="435" r:id="rIdS180"/>
    <p:sldId id="436" r:id="rIdS181"/>
    <p:sldId id="437" r:id="rIdS182"/>
    <p:sldId id="438" r:id="rIdS183"/>
    <p:sldId id="439" r:id="rIdS184"/>
    <p:sldId id="440" r:id="rIdS185"/>
    <p:sldId id="441" r:id="rIdS186"/>
    <p:sldId id="442" r:id="rIdS187"/>
    <p:sldId id="443" r:id="rIdS188"/>
    <p:sldId id="444" r:id="rIdS189"/>
    <p:sldId id="445" r:id="rIdS190"/>
    <p:sldId id="446" r:id="rIdS191"/>
    <p:sldId id="447" r:id="rIdS192"/>
    <p:sldId id="448" r:id="rIdS193"/>
    <p:sldId id="449" r:id="rIdS194"/>
    <p:sldId id="450" r:id="rIdS195"/>
    <p:sldId id="451" r:id="rIdS196"/>
    <p:sldId id="452" r:id="rIdS19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41" Type="http://schemas.openxmlformats.org/officeDocument/2006/relationships/notesMaster" Target="notesMasters/notesMaster1.xml"/><Relationship Id="rId242" Type="http://schemas.openxmlformats.org/officeDocument/2006/relationships/presProps" Target="presProps.xml"/><Relationship Id="rId243" Type="http://schemas.openxmlformats.org/officeDocument/2006/relationships/viewProps" Target="viewProps.xml"/><Relationship Id="rId1" Type="http://schemas.openxmlformats.org/officeDocument/2006/relationships/slideMaster" Target="slideMasters/slideMaster1.xml"/><Relationship Id="rId244" Type="http://schemas.openxmlformats.org/officeDocument/2006/relationships/theme" Target="theme/theme1.xml"/><Relationship Id="rId245"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 Id="rIdS37" Type="http://schemas.openxmlformats.org/officeDocument/2006/relationships/slide" Target="slides/slide37.xml"/><Relationship Id="rIdS38" Type="http://schemas.openxmlformats.org/officeDocument/2006/relationships/slide" Target="slides/slide38.xml"/><Relationship Id="rIdS39" Type="http://schemas.openxmlformats.org/officeDocument/2006/relationships/slide" Target="slides/slide39.xml"/><Relationship Id="rIdS40" Type="http://schemas.openxmlformats.org/officeDocument/2006/relationships/slide" Target="slides/slide40.xml"/><Relationship Id="rIdS41" Type="http://schemas.openxmlformats.org/officeDocument/2006/relationships/slide" Target="slides/slide41.xml"/><Relationship Id="rIdS42" Type="http://schemas.openxmlformats.org/officeDocument/2006/relationships/slide" Target="slides/slide42.xml"/><Relationship Id="rIdS43" Type="http://schemas.openxmlformats.org/officeDocument/2006/relationships/slide" Target="slides/slide43.xml"/><Relationship Id="rIdS44" Type="http://schemas.openxmlformats.org/officeDocument/2006/relationships/slide" Target="slides/slide44.xml"/><Relationship Id="rIdS45" Type="http://schemas.openxmlformats.org/officeDocument/2006/relationships/slide" Target="slides/slide45.xml"/><Relationship Id="rIdS46" Type="http://schemas.openxmlformats.org/officeDocument/2006/relationships/slide" Target="slides/slide46.xml"/><Relationship Id="rIdS47" Type="http://schemas.openxmlformats.org/officeDocument/2006/relationships/slide" Target="slides/slide47.xml"/><Relationship Id="rIdS48" Type="http://schemas.openxmlformats.org/officeDocument/2006/relationships/slide" Target="slides/slide48.xml"/><Relationship Id="rIdS49" Type="http://schemas.openxmlformats.org/officeDocument/2006/relationships/slide" Target="slides/slide49.xml"/><Relationship Id="rIdS50" Type="http://schemas.openxmlformats.org/officeDocument/2006/relationships/slide" Target="slides/slide50.xml"/><Relationship Id="rIdS51" Type="http://schemas.openxmlformats.org/officeDocument/2006/relationships/slide" Target="slides/slide51.xml"/><Relationship Id="rIdS52" Type="http://schemas.openxmlformats.org/officeDocument/2006/relationships/slide" Target="slides/slide52.xml"/><Relationship Id="rIdS53" Type="http://schemas.openxmlformats.org/officeDocument/2006/relationships/slide" Target="slides/slide53.xml"/><Relationship Id="rIdS54" Type="http://schemas.openxmlformats.org/officeDocument/2006/relationships/slide" Target="slides/slide54.xml"/><Relationship Id="rIdS55" Type="http://schemas.openxmlformats.org/officeDocument/2006/relationships/slide" Target="slides/slide55.xml"/><Relationship Id="rIdS56" Type="http://schemas.openxmlformats.org/officeDocument/2006/relationships/slide" Target="slides/slide56.xml"/><Relationship Id="rIdS57" Type="http://schemas.openxmlformats.org/officeDocument/2006/relationships/slide" Target="slides/slide57.xml"/><Relationship Id="rIdS58" Type="http://schemas.openxmlformats.org/officeDocument/2006/relationships/slide" Target="slides/slide58.xml"/><Relationship Id="rIdS59" Type="http://schemas.openxmlformats.org/officeDocument/2006/relationships/slide" Target="slides/slide59.xml"/><Relationship Id="rIdS60" Type="http://schemas.openxmlformats.org/officeDocument/2006/relationships/slide" Target="slides/slide60.xml"/><Relationship Id="rIdS61" Type="http://schemas.openxmlformats.org/officeDocument/2006/relationships/slide" Target="slides/slide61.xml"/><Relationship Id="rIdS62" Type="http://schemas.openxmlformats.org/officeDocument/2006/relationships/slide" Target="slides/slide62.xml"/><Relationship Id="rIdS63" Type="http://schemas.openxmlformats.org/officeDocument/2006/relationships/slide" Target="slides/slide63.xml"/><Relationship Id="rIdS64" Type="http://schemas.openxmlformats.org/officeDocument/2006/relationships/slide" Target="slides/slide64.xml"/><Relationship Id="rIdS65" Type="http://schemas.openxmlformats.org/officeDocument/2006/relationships/slide" Target="slides/slide65.xml"/><Relationship Id="rIdS66" Type="http://schemas.openxmlformats.org/officeDocument/2006/relationships/slide" Target="slides/slide66.xml"/><Relationship Id="rIdS67" Type="http://schemas.openxmlformats.org/officeDocument/2006/relationships/slide" Target="slides/slide67.xml"/><Relationship Id="rIdS68" Type="http://schemas.openxmlformats.org/officeDocument/2006/relationships/slide" Target="slides/slide68.xml"/><Relationship Id="rIdS69" Type="http://schemas.openxmlformats.org/officeDocument/2006/relationships/slide" Target="slides/slide69.xml"/><Relationship Id="rIdS70" Type="http://schemas.openxmlformats.org/officeDocument/2006/relationships/slide" Target="slides/slide70.xml"/><Relationship Id="rIdS71" Type="http://schemas.openxmlformats.org/officeDocument/2006/relationships/slide" Target="slides/slide71.xml"/><Relationship Id="rIdS72" Type="http://schemas.openxmlformats.org/officeDocument/2006/relationships/slide" Target="slides/slide72.xml"/><Relationship Id="rIdS73" Type="http://schemas.openxmlformats.org/officeDocument/2006/relationships/slide" Target="slides/slide73.xml"/><Relationship Id="rIdS74" Type="http://schemas.openxmlformats.org/officeDocument/2006/relationships/slide" Target="slides/slide74.xml"/><Relationship Id="rIdS75" Type="http://schemas.openxmlformats.org/officeDocument/2006/relationships/slide" Target="slides/slide75.xml"/><Relationship Id="rIdS76" Type="http://schemas.openxmlformats.org/officeDocument/2006/relationships/slide" Target="slides/slide76.xml"/><Relationship Id="rIdS77" Type="http://schemas.openxmlformats.org/officeDocument/2006/relationships/slide" Target="slides/slide77.xml"/><Relationship Id="rIdS78" Type="http://schemas.openxmlformats.org/officeDocument/2006/relationships/slide" Target="slides/slide78.xml"/><Relationship Id="rIdS79" Type="http://schemas.openxmlformats.org/officeDocument/2006/relationships/slide" Target="slides/slide79.xml"/><Relationship Id="rIdS80" Type="http://schemas.openxmlformats.org/officeDocument/2006/relationships/slide" Target="slides/slide80.xml"/><Relationship Id="rIdS81" Type="http://schemas.openxmlformats.org/officeDocument/2006/relationships/slide" Target="slides/slide81.xml"/><Relationship Id="rIdS82" Type="http://schemas.openxmlformats.org/officeDocument/2006/relationships/slide" Target="slides/slide82.xml"/><Relationship Id="rIdS83" Type="http://schemas.openxmlformats.org/officeDocument/2006/relationships/slide" Target="slides/slide83.xml"/><Relationship Id="rIdS84" Type="http://schemas.openxmlformats.org/officeDocument/2006/relationships/slide" Target="slides/slide84.xml"/><Relationship Id="rIdS85" Type="http://schemas.openxmlformats.org/officeDocument/2006/relationships/slide" Target="slides/slide85.xml"/><Relationship Id="rIdS86" Type="http://schemas.openxmlformats.org/officeDocument/2006/relationships/slide" Target="slides/slide86.xml"/><Relationship Id="rIdS87" Type="http://schemas.openxmlformats.org/officeDocument/2006/relationships/slide" Target="slides/slide87.xml"/><Relationship Id="rIdS88" Type="http://schemas.openxmlformats.org/officeDocument/2006/relationships/slide" Target="slides/slide88.xml"/><Relationship Id="rIdS89" Type="http://schemas.openxmlformats.org/officeDocument/2006/relationships/slide" Target="slides/slide89.xml"/><Relationship Id="rIdS90" Type="http://schemas.openxmlformats.org/officeDocument/2006/relationships/slide" Target="slides/slide90.xml"/><Relationship Id="rIdS91" Type="http://schemas.openxmlformats.org/officeDocument/2006/relationships/slide" Target="slides/slide91.xml"/><Relationship Id="rIdS92" Type="http://schemas.openxmlformats.org/officeDocument/2006/relationships/slide" Target="slides/slide92.xml"/><Relationship Id="rIdS93" Type="http://schemas.openxmlformats.org/officeDocument/2006/relationships/slide" Target="slides/slide93.xml"/><Relationship Id="rIdS94" Type="http://schemas.openxmlformats.org/officeDocument/2006/relationships/slide" Target="slides/slide94.xml"/><Relationship Id="rIdS95" Type="http://schemas.openxmlformats.org/officeDocument/2006/relationships/slide" Target="slides/slide95.xml"/><Relationship Id="rIdS96" Type="http://schemas.openxmlformats.org/officeDocument/2006/relationships/slide" Target="slides/slide96.xml"/><Relationship Id="rIdS97" Type="http://schemas.openxmlformats.org/officeDocument/2006/relationships/slide" Target="slides/slide97.xml"/><Relationship Id="rIdS98" Type="http://schemas.openxmlformats.org/officeDocument/2006/relationships/slide" Target="slides/slide98.xml"/><Relationship Id="rIdS99" Type="http://schemas.openxmlformats.org/officeDocument/2006/relationships/slide" Target="slides/slide99.xml"/><Relationship Id="rIdS100" Type="http://schemas.openxmlformats.org/officeDocument/2006/relationships/slide" Target="slides/slide100.xml"/><Relationship Id="rIdS101" Type="http://schemas.openxmlformats.org/officeDocument/2006/relationships/slide" Target="slides/slide101.xml"/><Relationship Id="rIdS102" Type="http://schemas.openxmlformats.org/officeDocument/2006/relationships/slide" Target="slides/slide102.xml"/><Relationship Id="rIdS103" Type="http://schemas.openxmlformats.org/officeDocument/2006/relationships/slide" Target="slides/slide103.xml"/><Relationship Id="rIdS104" Type="http://schemas.openxmlformats.org/officeDocument/2006/relationships/slide" Target="slides/slide104.xml"/><Relationship Id="rIdS105" Type="http://schemas.openxmlformats.org/officeDocument/2006/relationships/slide" Target="slides/slide105.xml"/><Relationship Id="rIdS106" Type="http://schemas.openxmlformats.org/officeDocument/2006/relationships/slide" Target="slides/slide106.xml"/><Relationship Id="rIdS107" Type="http://schemas.openxmlformats.org/officeDocument/2006/relationships/slide" Target="slides/slide107.xml"/><Relationship Id="rIdS108" Type="http://schemas.openxmlformats.org/officeDocument/2006/relationships/slide" Target="slides/slide108.xml"/><Relationship Id="rIdS109" Type="http://schemas.openxmlformats.org/officeDocument/2006/relationships/slide" Target="slides/slide109.xml"/><Relationship Id="rIdS110" Type="http://schemas.openxmlformats.org/officeDocument/2006/relationships/slide" Target="slides/slide110.xml"/><Relationship Id="rIdS111" Type="http://schemas.openxmlformats.org/officeDocument/2006/relationships/slide" Target="slides/slide111.xml"/><Relationship Id="rIdS112" Type="http://schemas.openxmlformats.org/officeDocument/2006/relationships/slide" Target="slides/slide112.xml"/><Relationship Id="rIdS113" Type="http://schemas.openxmlformats.org/officeDocument/2006/relationships/slide" Target="slides/slide113.xml"/><Relationship Id="rIdS114" Type="http://schemas.openxmlformats.org/officeDocument/2006/relationships/slide" Target="slides/slide114.xml"/><Relationship Id="rIdS115" Type="http://schemas.openxmlformats.org/officeDocument/2006/relationships/slide" Target="slides/slide115.xml"/><Relationship Id="rIdS116" Type="http://schemas.openxmlformats.org/officeDocument/2006/relationships/slide" Target="slides/slide116.xml"/><Relationship Id="rIdS117" Type="http://schemas.openxmlformats.org/officeDocument/2006/relationships/slide" Target="slides/slide117.xml"/><Relationship Id="rIdS118" Type="http://schemas.openxmlformats.org/officeDocument/2006/relationships/slide" Target="slides/slide118.xml"/><Relationship Id="rIdS119" Type="http://schemas.openxmlformats.org/officeDocument/2006/relationships/slide" Target="slides/slide119.xml"/><Relationship Id="rIdS120" Type="http://schemas.openxmlformats.org/officeDocument/2006/relationships/slide" Target="slides/slide120.xml"/><Relationship Id="rIdS121" Type="http://schemas.openxmlformats.org/officeDocument/2006/relationships/slide" Target="slides/slide121.xml"/><Relationship Id="rIdS122" Type="http://schemas.openxmlformats.org/officeDocument/2006/relationships/slide" Target="slides/slide122.xml"/><Relationship Id="rIdS123" Type="http://schemas.openxmlformats.org/officeDocument/2006/relationships/slide" Target="slides/slide123.xml"/><Relationship Id="rIdS124" Type="http://schemas.openxmlformats.org/officeDocument/2006/relationships/slide" Target="slides/slide124.xml"/><Relationship Id="rIdS125" Type="http://schemas.openxmlformats.org/officeDocument/2006/relationships/slide" Target="slides/slide125.xml"/><Relationship Id="rIdS126" Type="http://schemas.openxmlformats.org/officeDocument/2006/relationships/slide" Target="slides/slide126.xml"/><Relationship Id="rIdS127" Type="http://schemas.openxmlformats.org/officeDocument/2006/relationships/slide" Target="slides/slide127.xml"/><Relationship Id="rIdS128" Type="http://schemas.openxmlformats.org/officeDocument/2006/relationships/slide" Target="slides/slide128.xml"/><Relationship Id="rIdS129" Type="http://schemas.openxmlformats.org/officeDocument/2006/relationships/slide" Target="slides/slide129.xml"/><Relationship Id="rIdS130" Type="http://schemas.openxmlformats.org/officeDocument/2006/relationships/slide" Target="slides/slide130.xml"/><Relationship Id="rIdS131" Type="http://schemas.openxmlformats.org/officeDocument/2006/relationships/slide" Target="slides/slide131.xml"/><Relationship Id="rIdS132" Type="http://schemas.openxmlformats.org/officeDocument/2006/relationships/slide" Target="slides/slide132.xml"/><Relationship Id="rIdS133" Type="http://schemas.openxmlformats.org/officeDocument/2006/relationships/slide" Target="slides/slide133.xml"/><Relationship Id="rIdS134" Type="http://schemas.openxmlformats.org/officeDocument/2006/relationships/slide" Target="slides/slide134.xml"/><Relationship Id="rIdS135" Type="http://schemas.openxmlformats.org/officeDocument/2006/relationships/slide" Target="slides/slide135.xml"/><Relationship Id="rIdS136" Type="http://schemas.openxmlformats.org/officeDocument/2006/relationships/slide" Target="slides/slide136.xml"/><Relationship Id="rIdS137" Type="http://schemas.openxmlformats.org/officeDocument/2006/relationships/slide" Target="slides/slide137.xml"/><Relationship Id="rIdS138" Type="http://schemas.openxmlformats.org/officeDocument/2006/relationships/slide" Target="slides/slide138.xml"/><Relationship Id="rIdS139" Type="http://schemas.openxmlformats.org/officeDocument/2006/relationships/slide" Target="slides/slide139.xml"/><Relationship Id="rIdS140" Type="http://schemas.openxmlformats.org/officeDocument/2006/relationships/slide" Target="slides/slide140.xml"/><Relationship Id="rIdS141" Type="http://schemas.openxmlformats.org/officeDocument/2006/relationships/slide" Target="slides/slide141.xml"/><Relationship Id="rIdS142" Type="http://schemas.openxmlformats.org/officeDocument/2006/relationships/slide" Target="slides/slide142.xml"/><Relationship Id="rIdS143" Type="http://schemas.openxmlformats.org/officeDocument/2006/relationships/slide" Target="slides/slide143.xml"/><Relationship Id="rIdS144" Type="http://schemas.openxmlformats.org/officeDocument/2006/relationships/slide" Target="slides/slide144.xml"/><Relationship Id="rIdS145" Type="http://schemas.openxmlformats.org/officeDocument/2006/relationships/slide" Target="slides/slide145.xml"/><Relationship Id="rIdS146" Type="http://schemas.openxmlformats.org/officeDocument/2006/relationships/slide" Target="slides/slide146.xml"/><Relationship Id="rIdS147" Type="http://schemas.openxmlformats.org/officeDocument/2006/relationships/slide" Target="slides/slide147.xml"/><Relationship Id="rIdS148" Type="http://schemas.openxmlformats.org/officeDocument/2006/relationships/slide" Target="slides/slide148.xml"/><Relationship Id="rIdS149" Type="http://schemas.openxmlformats.org/officeDocument/2006/relationships/slide" Target="slides/slide149.xml"/><Relationship Id="rIdS150" Type="http://schemas.openxmlformats.org/officeDocument/2006/relationships/slide" Target="slides/slide150.xml"/><Relationship Id="rIdS151" Type="http://schemas.openxmlformats.org/officeDocument/2006/relationships/slide" Target="slides/slide151.xml"/><Relationship Id="rIdS152" Type="http://schemas.openxmlformats.org/officeDocument/2006/relationships/slide" Target="slides/slide152.xml"/><Relationship Id="rIdS153" Type="http://schemas.openxmlformats.org/officeDocument/2006/relationships/slide" Target="slides/slide153.xml"/><Relationship Id="rIdS154" Type="http://schemas.openxmlformats.org/officeDocument/2006/relationships/slide" Target="slides/slide154.xml"/><Relationship Id="rIdS155" Type="http://schemas.openxmlformats.org/officeDocument/2006/relationships/slide" Target="slides/slide155.xml"/><Relationship Id="rIdS156" Type="http://schemas.openxmlformats.org/officeDocument/2006/relationships/slide" Target="slides/slide156.xml"/><Relationship Id="rIdS157" Type="http://schemas.openxmlformats.org/officeDocument/2006/relationships/slide" Target="slides/slide157.xml"/><Relationship Id="rIdS158" Type="http://schemas.openxmlformats.org/officeDocument/2006/relationships/slide" Target="slides/slide158.xml"/><Relationship Id="rIdS159" Type="http://schemas.openxmlformats.org/officeDocument/2006/relationships/slide" Target="slides/slide159.xml"/><Relationship Id="rIdS160" Type="http://schemas.openxmlformats.org/officeDocument/2006/relationships/slide" Target="slides/slide160.xml"/><Relationship Id="rIdS161" Type="http://schemas.openxmlformats.org/officeDocument/2006/relationships/slide" Target="slides/slide161.xml"/><Relationship Id="rIdS162" Type="http://schemas.openxmlformats.org/officeDocument/2006/relationships/slide" Target="slides/slide162.xml"/><Relationship Id="rIdS163" Type="http://schemas.openxmlformats.org/officeDocument/2006/relationships/slide" Target="slides/slide163.xml"/><Relationship Id="rIdS164" Type="http://schemas.openxmlformats.org/officeDocument/2006/relationships/slide" Target="slides/slide164.xml"/><Relationship Id="rIdS165" Type="http://schemas.openxmlformats.org/officeDocument/2006/relationships/slide" Target="slides/slide165.xml"/><Relationship Id="rIdS166" Type="http://schemas.openxmlformats.org/officeDocument/2006/relationships/slide" Target="slides/slide166.xml"/><Relationship Id="rIdS167" Type="http://schemas.openxmlformats.org/officeDocument/2006/relationships/slide" Target="slides/slide167.xml"/><Relationship Id="rIdS168" Type="http://schemas.openxmlformats.org/officeDocument/2006/relationships/slide" Target="slides/slide168.xml"/><Relationship Id="rIdS169" Type="http://schemas.openxmlformats.org/officeDocument/2006/relationships/slide" Target="slides/slide169.xml"/><Relationship Id="rIdS170" Type="http://schemas.openxmlformats.org/officeDocument/2006/relationships/slide" Target="slides/slide170.xml"/><Relationship Id="rIdS171" Type="http://schemas.openxmlformats.org/officeDocument/2006/relationships/slide" Target="slides/slide171.xml"/><Relationship Id="rIdS172" Type="http://schemas.openxmlformats.org/officeDocument/2006/relationships/slide" Target="slides/slide172.xml"/><Relationship Id="rIdS173" Type="http://schemas.openxmlformats.org/officeDocument/2006/relationships/slide" Target="slides/slide173.xml"/><Relationship Id="rIdS174" Type="http://schemas.openxmlformats.org/officeDocument/2006/relationships/slide" Target="slides/slide174.xml"/><Relationship Id="rIdS175" Type="http://schemas.openxmlformats.org/officeDocument/2006/relationships/slide" Target="slides/slide175.xml"/><Relationship Id="rIdS176" Type="http://schemas.openxmlformats.org/officeDocument/2006/relationships/slide" Target="slides/slide176.xml"/><Relationship Id="rIdS177" Type="http://schemas.openxmlformats.org/officeDocument/2006/relationships/slide" Target="slides/slide177.xml"/><Relationship Id="rIdS178" Type="http://schemas.openxmlformats.org/officeDocument/2006/relationships/slide" Target="slides/slide178.xml"/><Relationship Id="rIdS179" Type="http://schemas.openxmlformats.org/officeDocument/2006/relationships/slide" Target="slides/slide179.xml"/><Relationship Id="rIdS180" Type="http://schemas.openxmlformats.org/officeDocument/2006/relationships/slide" Target="slides/slide180.xml"/><Relationship Id="rIdS181" Type="http://schemas.openxmlformats.org/officeDocument/2006/relationships/slide" Target="slides/slide181.xml"/><Relationship Id="rIdS182" Type="http://schemas.openxmlformats.org/officeDocument/2006/relationships/slide" Target="slides/slide182.xml"/><Relationship Id="rIdS183" Type="http://schemas.openxmlformats.org/officeDocument/2006/relationships/slide" Target="slides/slide183.xml"/><Relationship Id="rIdS184" Type="http://schemas.openxmlformats.org/officeDocument/2006/relationships/slide" Target="slides/slide184.xml"/><Relationship Id="rIdS185" Type="http://schemas.openxmlformats.org/officeDocument/2006/relationships/slide" Target="slides/slide185.xml"/><Relationship Id="rIdS186" Type="http://schemas.openxmlformats.org/officeDocument/2006/relationships/slide" Target="slides/slide186.xml"/><Relationship Id="rIdS187" Type="http://schemas.openxmlformats.org/officeDocument/2006/relationships/slide" Target="slides/slide187.xml"/><Relationship Id="rIdS188" Type="http://schemas.openxmlformats.org/officeDocument/2006/relationships/slide" Target="slides/slide188.xml"/><Relationship Id="rIdS189" Type="http://schemas.openxmlformats.org/officeDocument/2006/relationships/slide" Target="slides/slide189.xml"/><Relationship Id="rIdS190" Type="http://schemas.openxmlformats.org/officeDocument/2006/relationships/slide" Target="slides/slide190.xml"/><Relationship Id="rIdS191" Type="http://schemas.openxmlformats.org/officeDocument/2006/relationships/slide" Target="slides/slide191.xml"/><Relationship Id="rIdS192" Type="http://schemas.openxmlformats.org/officeDocument/2006/relationships/slide" Target="slides/slide192.xml"/><Relationship Id="rIdS193" Type="http://schemas.openxmlformats.org/officeDocument/2006/relationships/slide" Target="slides/slide193.xml"/><Relationship Id="rIdS194" Type="http://schemas.openxmlformats.org/officeDocument/2006/relationships/slide" Target="slides/slide194.xml"/><Relationship Id="rIdS195" Type="http://schemas.openxmlformats.org/officeDocument/2006/relationships/slide" Target="slides/slide195.xml"/><Relationship Id="rIdS196" Type="http://schemas.openxmlformats.org/officeDocument/2006/relationships/slide" Target="slides/slide196.xml"/><Relationship Id="rIdS197" Type="http://schemas.openxmlformats.org/officeDocument/2006/relationships/slide" Target="slides/slide19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일별 손익 변동</c:v>
          </c:tx>
          <c:spPr>
            <a:solidFill>
              <a:srgbClr val="7FA4AF"/>
            </a:solidFill>
          </c:spPr>
          <c:invertIfNegative val="0"/>
          <c:dPt>
            <c:idx val="0"/>
            <c:invertIfNegative val="0"/>
            <c:bubble3D val="0"/>
            <c:extLst>
              <c:ext xmlns:c16="http://schemas.microsoft.com/office/drawing/2014/chart" uri="{C3380CC4-5D6E-409C-BE32-E72D297353CC}">
                <c16:uniqueId val="{00000001-EE19-4021-ABEA-14E0BFC93215}"/>
              </c:ext>
            </c:extLst>
          </c:dPt>
          <c:dPt>
            <c:idx val="1"/>
            <c:invertIfNegative val="0"/>
            <c:bubble3D val="0"/>
            <c:extLst>
              <c:ext xmlns:c16="http://schemas.microsoft.com/office/drawing/2014/chart" uri="{C3380CC4-5D6E-409C-BE32-E72D297353CC}">
                <c16:uniqueId val="{00000003-EE19-4021-ABEA-14E0BFC93215}"/>
              </c:ext>
            </c:extLst>
          </c:dPt>
          <c:dPt>
            <c:idx val="2"/>
            <c:invertIfNegative val="0"/>
            <c:bubble3D val="0"/>
            <c:spPr>
              <a:solidFill>
                <a:srgbClr val="ED944A"/>
              </a:solidFill>
            </c:spPr>
            <c:extLst>
              <c:ext xmlns:c16="http://schemas.microsoft.com/office/drawing/2014/chart" uri="{C3380CC4-5D6E-409C-BE32-E72D297353CC}">
                <c16:uniqueId val="{00000005-EE19-4021-ABEA-14E0BFC93215}"/>
              </c:ext>
            </c:extLst>
          </c:dPt>
          <c:dPt>
            <c:idx val="3"/>
            <c:invertIfNegative val="0"/>
            <c:bubble3D val="0"/>
            <c:spPr>
              <a:solidFill>
                <a:srgbClr val="ED944A"/>
              </a:solidFill>
            </c:spPr>
            <c:extLst>
              <c:ext xmlns:c16="http://schemas.microsoft.com/office/drawing/2014/chart" uri="{C3380CC4-5D6E-409C-BE32-E72D297353CC}">
                <c16:uniqueId val="{00000007-EE19-4021-ABEA-14E0BFC93215}"/>
              </c:ext>
            </c:extLst>
          </c:dPt>
          <c:dPt>
            <c:idx val="4"/>
            <c:invertIfNegative val="0"/>
            <c:bubble3D val="0"/>
            <c:spPr>
              <a:solidFill>
                <a:srgbClr val="ED944A"/>
              </a:solidFill>
            </c:spPr>
            <c:extLst>
              <c:ext xmlns:c16="http://schemas.microsoft.com/office/drawing/2014/chart" uri="{C3380CC4-5D6E-409C-BE32-E72D297353CC}">
                <c16:uniqueId val="{00000009-EE19-4021-ABEA-14E0BFC93215}"/>
              </c:ext>
            </c:extLst>
          </c:dPt>
          <c:dPt>
            <c:idx val="5"/>
            <c:invertIfNegative val="0"/>
            <c:bubble3D val="0"/>
            <c:extLst>
              <c:ext xmlns:c16="http://schemas.microsoft.com/office/drawing/2014/chart" uri="{C3380CC4-5D6E-409C-BE32-E72D297353CC}">
                <c16:uniqueId val="{0000000B-EE19-4021-ABEA-14E0BFC93215}"/>
              </c:ext>
            </c:extLst>
          </c:dPt>
          <c:dPt>
            <c:idx val="6"/>
            <c:invertIfNegative val="0"/>
            <c:bubble3D val="0"/>
            <c:extLst>
              <c:ext xmlns:c16="http://schemas.microsoft.com/office/drawing/2014/chart" uri="{C3380CC4-5D6E-409C-BE32-E72D297353CC}">
                <c16:uniqueId val="{0000000D-EE19-4021-ABEA-14E0BFC93215}"/>
              </c:ext>
            </c:extLst>
          </c:dPt>
          <c:dPt>
            <c:idx val="7"/>
            <c:invertIfNegative val="0"/>
            <c:bubble3D val="0"/>
            <c:extLst>
              <c:ext xmlns:c16="http://schemas.microsoft.com/office/drawing/2014/chart" uri="{C3380CC4-5D6E-409C-BE32-E72D297353CC}">
                <c16:uniqueId val="{0000000F-EE19-4021-ABEA-14E0BFC93215}"/>
              </c:ext>
            </c:extLst>
          </c:dPt>
          <c:dLbls>
            <c:spPr>
              <a:noFill/>
              <a:ln>
                <a:noFill/>
              </a:ln>
              <a:effectLst/>
            </c:spPr>
            <c:txPr>
              <a:bodyPr anchorCtr="1"/>
              <a:lstStyle/>
              <a:p>
                <a:pPr>
                  <a:defRPr sz="1575" b="1">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Data'!$A$2:$A$9</c:f>
              <c:strCache>
                <c:ptCount val="8"/>
                <c:pt idx="0">
                  <c:v>1일</c:v>
                </c:pt>
                <c:pt idx="1">
                  <c:v>2일</c:v>
                </c:pt>
                <c:pt idx="2">
                  <c:v>3일</c:v>
                </c:pt>
                <c:pt idx="3">
                  <c:v>4일</c:v>
                </c:pt>
                <c:pt idx="4">
                  <c:v>5일</c:v>
                </c:pt>
                <c:pt idx="5">
                  <c:v>6일</c:v>
                </c:pt>
                <c:pt idx="6">
                  <c:v>7일</c:v>
                </c:pt>
                <c:pt idx="7">
                  <c:v>8일</c:v>
                </c:pt>
              </c:strCache>
            </c:strRef>
          </c:cat>
          <c:val>
            <c:numRef>
              <c:f>'Chart Data'!$B$2:$B$9</c:f>
              <c:numCache>
                <c:formatCode>General</c:formatCode>
                <c:ptCount val="8"/>
                <c:pt idx="0">
                  <c:v>3</c:v>
                </c:pt>
                <c:pt idx="1">
                  <c:v>-5</c:v>
                </c:pt>
                <c:pt idx="2">
                  <c:v>12</c:v>
                </c:pt>
                <c:pt idx="3">
                  <c:v>-2</c:v>
                </c:pt>
                <c:pt idx="4">
                  <c:v>7</c:v>
                </c:pt>
                <c:pt idx="5">
                  <c:v>-9</c:v>
                </c:pt>
                <c:pt idx="6">
                  <c:v>5</c:v>
                </c:pt>
                <c:pt idx="7">
                  <c:v>1</c:v>
                </c:pt>
              </c:numCache>
            </c:numRef>
          </c:val>
          <c:extLst>
            <c:ext xmlns:c16="http://schemas.microsoft.com/office/drawing/2014/chart" uri="{C3380CC4-5D6E-409C-BE32-E72D297353CC}">
              <c16:uniqueId val="{00000010-EE19-4021-ABEA-14E0BFC93215}"/>
            </c:ext>
          </c:extLst>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15"/>
          <c:min val="-15"/>
        </c:scaling>
        <c:delete val="0"/>
        <c:axPos val="l"/>
        <c:majorGridlines>
          <c:spPr>
            <a:ln w="9525">
              <a:solidFill>
                <a:srgbClr val="D9D9D9"/>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Malgun Gothic"/>
                <a:ea typeface="Malgun Gothic"/>
                <a:cs typeface="Malgun Gothic"/>
              </a:defRPr>
            </a:pPr>
            <a:endParaRPr lang="ko-KR"/>
          </a:p>
        </c:txPr>
        <c:crossAx val="48650112"/>
        <c:crosses val="autoZero"/>
        <c:crossBetween val="between"/>
        <c:majorUnit val="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장에서는 그리디 알고리즘을 배우겠습니다. 표지의 문장처럼, 그리디는 지금 이 순간 가장 좋아 보이는 것을 고르는 방법입니다. 한 번 고른 것은 다시 바꾸지 않습니다. 생각이 단순해서 코드도 짧고 실행도 빠릅니다.</a:t>
            </a:r>
          </a:p>
          <a:p>
            <a:endParaRPr lang="ko-KR"/>
          </a:p>
          <a:p>
            <a:r>
              <a:rPr lang="ko-KR" altLang="en-US" dirty="0"/>
              <a:t>그런데 이렇게 단순한 방법이 언제나 가장 좋은 답을 줄까요? 이번 장 전체의 질문이 바로 이것입니다. 어떤 문제에서는 그리디가 항상 최적해를 주고, 어떤 문제에서는 그럴듯한 답을 내놓고도 틀립니다.</a:t>
            </a:r>
          </a:p>
          <a:p>
            <a:endParaRPr lang="ko-KR"/>
          </a:p>
          <a:p>
            <a:r>
              <a:rPr lang="ko-KR" altLang="en-US" dirty="0"/>
              <a:t>거스름돈과 회의실 배정처럼 익숙한 예제부터 시작하겠습니다. 예제마다 그리디가 무엇을 고르는지 한 단계씩 따라가고, 맞는다면 왜 맞는지, 틀린다면 어떤 입력에서 틀리는지 확인하겠습니다. 먼저 이번 장의 목차를 보겠습니다.</a:t>
            </a:r>
          </a:p>
          <a:p>
            <a:endParaRPr lang="ko-K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장은 아홉 개의 절로 되어 있습니다. 오 점 일 절에서는 그리디가 무엇인지, 매 단계에서 어떤 일을 되풀이하는지 정리합니다. 오 점 이 절은 거스름돈 문제입니다. 가장 큰 동전부터 집는 방법이 언제 맞고 언제 틀리는지 봅니다. 오 점 삼 절은 활동 선택 문제로, 회의실 하나에 회의를 가장 많이 넣는 방법을 찾습니다.</a:t>
            </a:r>
          </a:p>
          <a:p>
            <a:endParaRPr lang="ko-KR"/>
          </a:p>
          <a:p>
            <a:r>
              <a:rPr lang="ko-KR" altLang="en-US" dirty="0"/>
              <a:t>오 점 사 절의 배낭 문제에서는 보물을 쪼갤 수 있느냐에 따라 결과가 갈립니다. 오 점 오 절에서는 앞의 예제들을 모아서 그리디가 통하는 조건을 정리합니다.</a:t>
            </a:r>
          </a:p>
          <a:p>
            <a:endParaRPr lang="ko-KR"/>
          </a:p>
          <a:p>
            <a:r>
              <a:rPr lang="ko-KR" altLang="en-US" dirty="0"/>
              <a:t>오 점 육 절부터는 그래프 문제입니다. 크루스칼 알고리즘으로 가장 싼 간선부터 이어 보고, 오 점 칠 절에서는 외판원 순회 문제, 줄여서 티에스피에 그리디를 적용해 봅니다. 오 점 팔 절에서는 최단 경로를 구하는 다익스트라 알고리즘을 봅니다. 마지막 오 점 구 절에서는 코딩 테스트 예제를 풉니다.</a:t>
            </a:r>
          </a:p>
          <a:p>
            <a:endParaRPr lang="ko-KR"/>
          </a:p>
          <a:p>
            <a:r>
              <a:rPr lang="ko-KR" altLang="en-US" dirty="0"/>
              <a:t>모든 절에 같은 질문이 이어집니다. 지금 가장 좋아 보이는 선택이 끝까지 가장 좋은 답으로 이어지는가. 그럼 오 점 일 절부터 시작하겠습니다.</a:t>
            </a:r>
          </a:p>
          <a:p>
            <a:endParaRPr 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마시멜로 실험 이야기를 들어 보셨을 겁니다. 아이 앞에 마시멜로를 하나 놓고, 지금 먹어도 되지만 십오 분을 기다리면 두 개를 주겠다고 말하는 실험이죠. 지금 하나를 먹는 것은 지금 이 순간만 보면 가장 좋은 선택입니다. 하지만 전체를 보면 기다렸다가 두 개를 받는 쪽이 더 좋습니다.</a:t>
            </a:r>
          </a:p>
          <a:p>
            <a:endParaRPr lang="ko-KR"/>
          </a:p>
          <a:p>
            <a:r>
              <a:rPr lang="ko-KR" altLang="en-US" dirty="0"/>
              <a:t>그리디 알고리즘은 언제나 지금 하나를 먹는 쪽을 고르는 방법입니다. 그 선택이 언제 괜찮고 언제 손해인지, 이 질문을 들고 오 점 일 절을 시작하겠습니다.</a:t>
            </a:r>
          </a:p>
          <a:p>
            <a:endParaRPr lang="ko-K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그리디는 영어 단어 그리디, 탐욕스러운이라는 뜻에서 온 이름입니다. 이름 그대로 매 단계에서 지금 기준으로 가장 좋아 보이는 것 하나를 덥석 고릅니다. 화면 왼쪽의 세 줄이 그리디의 성격입니다.</a:t>
            </a:r>
          </a:p>
          <a:p>
            <a:endParaRPr lang="ko-KR"/>
          </a:p>
          <a:p>
            <a:r>
              <a:rPr lang="ko-KR" altLang="en-US" dirty="0"/>
              <a:t>첫째, 후보를 다 알고 있어도 지금 기준 하나로 고릅니다. 오른쪽 만화의 손님은 뒤쪽 코너에 스테이크와 랍스터가 있는 줄 몰랐습니다. 하지만 그리디가 틀리는 이유는 앞을 못 봐서가 아닙니다. 모든 후보를 알고 있어도 정해 둔 기준, 예를 들어 지금 가장 맛있어 보이는 것이라는 기준으로만 고르기 때문입니다.</a:t>
            </a:r>
          </a:p>
          <a:p>
            <a:endParaRPr lang="ko-KR"/>
          </a:p>
          <a:p>
            <a:r>
              <a:rPr lang="ko-KR" altLang="en-US" dirty="0"/>
              <a:t>둘째, 고른 것은 확정하고 되돌리지 않습니다. 아래 문장처럼 손님은 지금 맛있어 보이는 것이라는 기준 하나로 접시를 채웠고, 담은 음식을 다시 내려놓지 않았습니다. 그래서 접시가 꽉 찬 뒤에 스테이크를 만나도 담을 자리가 없습니다.</a:t>
            </a:r>
          </a:p>
          <a:p>
            <a:endParaRPr lang="ko-KR"/>
          </a:p>
          <a:p>
            <a:r>
              <a:rPr lang="ko-KR" altLang="en-US" dirty="0"/>
              <a:t>셋째, 가능한 완성 해를 모두 만들어서 비교하지 않습니다. 모든 경우를 만들어 비교하는 것은 앞에서 배운 완전탐색의 방식입니다. 그리디는 완성된 답들을 견주지 않고, 한 단계씩 고르며 앞으로만 나아갑니다.</a:t>
            </a:r>
          </a:p>
          <a:p>
            <a:endParaRPr lang="ko-KR"/>
          </a:p>
          <a:p>
            <a:r>
              <a:rPr lang="ko-KR" altLang="en-US" dirty="0"/>
              <a:t>그래서 그리디는 빠릅니다. 되돌아보지 않으니까요. 그리고 같은 이유로 틀릴 수도 있습니다. 다음 화면에서 이 틀릴 수 있다는 말을 산의 그림으로 보겠습니다.</a:t>
            </a:r>
          </a:p>
          <a:p>
            <a:endParaRPr lang="ko-K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짙은 안개 속에서 산의 가장 높은 봉우리를 찾는다고 해 봅시다. 지도가 없고 멀리 보이지도 않습니다. 이때 가장 단순한 전략은 지금 서 있는 곳보다 높은 쪽으로 한 걸음씩 오르는 것입니다. 매 걸음 지금 기준의 최선을 고르는 셈이니 그리디와 같은 방식이죠.</a:t>
            </a:r>
          </a:p>
          <a:p>
            <a:endParaRPr lang="ko-KR"/>
          </a:p>
          <a:p>
            <a:r>
              <a:rPr lang="ko-KR" altLang="en-US" dirty="0"/>
              <a:t>이렇게 오르다 보면 어느 쪽으로 가도 내려가기만 하는 곳에 도착합니다. 주변 어디보다 높은 곳, 이것을 지역 최적해, 영어로 로컬 옵티멈이라고 합니다. 그런데 그곳이 산 전체에서 가장 높은 곳이라는 보장은 없습니다. 작은 언덕 꼭대기일 수도 있습니다.</a:t>
            </a:r>
          </a:p>
          <a:p>
            <a:endParaRPr lang="ko-KR"/>
          </a:p>
          <a:p>
            <a:r>
              <a:rPr lang="ko-KR" altLang="en-US" dirty="0"/>
              <a:t>산 전체에서 가장 높은 곳, 우리가 진짜 원하는 답은 전역 최적해, 글로벌 옵티멈입니다. 그림 오른쪽의 등산객은 작은 봉우리에 서 있고, 안개 너머에 더 높은 진짜 정상이 있습니다. 그림에 적힌 국소적 최적해, 로컬 맥시멈은 지역 최적해, 로컬 옵티멈과 같은 말입니다.</a:t>
            </a:r>
          </a:p>
          <a:p>
            <a:endParaRPr lang="ko-KR"/>
          </a:p>
          <a:p>
            <a:r>
              <a:rPr lang="ko-KR" altLang="en-US" dirty="0"/>
              <a:t>앞에서 본 마시멜로 질문도 같은 구조입니다. 지금 하나를 먹는 것은 지금만 보면 최선이지만, 기다렸다가 두 개를 받는 쪽이 전체로는 더 좋습니다. 매 걸음의 최선이 모여서 전체의 최선이 되는지는 문제마다 따로 확인해야 합니다. 그 확인 방법은 오 점 오 절에서 정리하겠습니다. 다음은 그리디가 매 단계에서 하는 일을 세 단계로 나눠 보겠습니다.</a:t>
            </a:r>
          </a:p>
          <a:p>
            <a:endParaRPr 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그리디 알고리즘은 세 단계를 되풀이합니다. 첫 번째는 선택, 영어로 셀렉션입니다. 남은 후보 중에서 지금 기준으로 가장 좋은 것 하나를 고릅니다.</a:t>
            </a:r>
          </a:p>
          <a:p>
            <a:endParaRPr lang="ko-KR"/>
          </a:p>
          <a:p>
            <a:r>
              <a:rPr lang="ko-KR" altLang="en-US" dirty="0"/>
              <a:t>두 번째는 적정성 검사, 피저빌리티입니다. 방금 고른 것을 넣어도 문제의 제약을 어기지 않는지 확인합니다. 어기면 그 후보는 버리고, 어기지 않으면 지금까지의 답에 넣어 확정합니다. 세 번째는 해답 검사, 솔루션입니다. 지금까지 모은 것이 완전한 해답인지 확인하고, 아직 아니면 다시 첫 번째 선택으로 돌아갑니다. 그래서 세 단계는 한 번으로 끝나지 않고 해답이 완성될 때까지 반복됩니다.</a:t>
            </a:r>
          </a:p>
          <a:p>
            <a:endParaRPr lang="ko-KR"/>
          </a:p>
          <a:p>
            <a:r>
              <a:rPr lang="ko-KR" altLang="en-US" dirty="0"/>
              <a:t>아래 의사코드를 보세요. 그리디 함수는 후보 집합 씨를 받습니다. 에스는 지금까지 확정한 선택이고 빈 집합에서 시작합니다. 와일 조건이 해답 검사입니다. 후보가 남아 있고 에스가 아직 해답이 아니면 반복합니다.</a:t>
            </a:r>
          </a:p>
          <a:p>
            <a:endParaRPr lang="ko-KR"/>
          </a:p>
          <a:p>
            <a:r>
              <a:rPr lang="ko-KR" altLang="en-US" dirty="0"/>
              <a:t>반복 안에서는 씨에서 지금 가장 좋은 후보 엑스를 꺼냅니다. 꺼낸 후보는 씨에서 빠집니다. 이것이 선택입니다. 이프에서 에스에 엑스를 더해도 제약을 지키는지 보고, 지키면 에스에 넣습니다. 이것이 적정성 검사입니다. 반복이 끝나면 에스가 해답일 때 돌려주고, 아니면 해가 없다고 알립니다.</a:t>
            </a:r>
          </a:p>
          <a:p>
            <a:endParaRPr lang="ko-KR"/>
          </a:p>
          <a:p>
            <a:r>
              <a:rPr lang="ko-KR" altLang="en-US" dirty="0"/>
              <a:t>이 코드에는 에스에서 원소를 빼는 줄이 없습니다. 한 번 넣은 것은 끝까지 그대로라는 뜻입니다. 이렇게 지금 기준의 최선을 확정하며 나아가고 되돌리지 않는 것이 그리디의 진행 방식입니다. 다음 화면에서 이 세 단계를 이번 장의 예제에 대응시켜 보겠습니다.</a:t>
            </a:r>
          </a:p>
          <a:p>
            <a:endParaRPr lang="ko-K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단계는 틀이고, 문제마다 그 칸에 들어가는 내용이 다릅니다. 표의 첫 줄은 오 점 이 절의 거스름돈입니다. 선택은 남은 돈 이하의 가장 큰 동전을 고르는 것이고, 적정성 검사는 그 동전을 써도 남은 돈을 넘지 않는지 보는 것입니다. 해답 검사는 남은 돈이 영 원이 되었는지 확인하는 것입니다.</a:t>
            </a:r>
          </a:p>
          <a:p>
            <a:endParaRPr lang="ko-KR"/>
          </a:p>
          <a:p>
            <a:r>
              <a:rPr lang="ko-KR" altLang="en-US" dirty="0"/>
              <a:t>둘째 줄은 오 점 삼 절의 회의 배정입니다. 지금 기준으로 가장 좋은 회의는 가장 먼저 끝나는 회의입니다. 적정성 검사는 그 회의의 시작 시각이 마지막으로 고른 회의의 종료 시각보다 크거나 같은지 보는 것입니다. 같아도 괜찮다는 점은 오 점 삼 절에서 자세히 보겠습니다. 더 볼 회의가 없으면 끝입니다.</a:t>
            </a:r>
          </a:p>
          <a:p>
            <a:endParaRPr lang="ko-KR"/>
          </a:p>
          <a:p>
            <a:r>
              <a:rPr lang="ko-KR" altLang="en-US" dirty="0"/>
              <a:t>셋째 줄은 오 점 사 절의 분할 배낭입니다. 무게당 가치가 가장 높은 보물을 고르고, 그 보물이 배낭의 남은 용량 안에 들어가는지 확인합니다. 배낭이 가득 찼거나 더 담을 보물이 남아 있지 않으면 해답이 완성됩니다. 담는 방법은 오 점 사 절에서 자세히 봅니다.</a:t>
            </a:r>
          </a:p>
          <a:p>
            <a:endParaRPr lang="ko-KR"/>
          </a:p>
          <a:p>
            <a:r>
              <a:rPr lang="ko-KR" altLang="en-US" dirty="0"/>
              <a:t>세 문제 모두 공통점이 있습니다. 한 번 고른 동전, 회의, 보물은 끝까지 그대로 둡니다. 각 절에서 이 표의 칸을 하나씩 다시 확인하겠습니다. 다음은 이번 장에서 만날 문제들을 그리디가 통하는 쪽과 통하지 않는 쪽으로 나눠 보겠습니다.</a:t>
            </a:r>
          </a:p>
          <a:p>
            <a:endParaRPr lang="ko-K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장에서 만날 문제들을 한 표로 모았습니다. 세 번째 열은 매 단계에서 무엇을 지금 가장 좋은 것으로 보는지, 네 번째 열은 그 그리디가 최적해를 보장하는지입니다.</a:t>
            </a:r>
          </a:p>
          <a:p>
            <a:endParaRPr lang="ko-KR"/>
          </a:p>
          <a:p>
            <a:r>
              <a:rPr lang="ko-KR" altLang="en-US" dirty="0"/>
              <a:t>거스름돈은 두 줄입니다. 오백, 백, 오십, 십 원 동전이면 가장 큰 동전부터 고르는 방법이 항상 최소 개수를 줍니다. 그런데 사백 원 동전이 하나 더 생기면 같은 방법이 틀리는 경우가 생깁니다. 동전 종류만 바뀌었는데 결과가 달라집니다. 배낭 문제도 보물을 쪼갤 수 있으면 보장되고, 쪼갤 수 없으면 보장되지 않습니다.</a:t>
            </a:r>
          </a:p>
          <a:p>
            <a:endParaRPr lang="ko-KR"/>
          </a:p>
          <a:p>
            <a:r>
              <a:rPr lang="ko-KR" altLang="en-US" dirty="0"/>
              <a:t>활동 선택에서는 가장 먼저 끝나는 회의를, 크루스칼에서는 사이클을 만들지 않는 가장 싼 간선을 고릅니다. 둘 다 최적해가 보장됩니다. 외판원 순회 문제에서 가장 가까운 미방문 도시로 가는 방법은 보장되지 않습니다. 다익스트라는 시작점에서 가장 가까운 미확정 정점을 확정하는데, 간선 비용이 영 이상일 때 보장됩니다.</a:t>
            </a:r>
          </a:p>
          <a:p>
            <a:endParaRPr lang="ko-KR"/>
          </a:p>
          <a:p>
            <a:r>
              <a:rPr lang="ko-KR" altLang="en-US" dirty="0"/>
              <a:t>표를 보면 지금 가장 좋은 것을 고른다는 모양은 모두 같습니다. 차이는 문제의 성질에 있습니다. 왜 어떤 문제에서는 통하고 어떤 문제에서는 통하지 않는지, 그 조건은 오 점 오 절에서 두 가지로 정리하겠습니다. 여기까지 내용을 확인 문제로 점검해 보겠습니다.</a:t>
            </a:r>
          </a:p>
          <a:p>
            <a:endParaRPr lang="ko-K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질문의 답입니다. 그리디는 매 단계에서 지금 기준으로 가장 좋은 선택을 하고, 그 선택을 확정하며 진행합니다. 한 번 확정한 선택은 되돌리지 않습니다. 선택, 적정성 검사, 해답 검사를 해답이 완성될 때까지 되풀이한다고 말해도 좋습니다.</a:t>
            </a:r>
          </a:p>
          <a:p>
            <a:endParaRPr lang="ko-KR"/>
          </a:p>
          <a:p>
            <a:r>
              <a:rPr lang="ko-KR" altLang="en-US" dirty="0"/>
              <a:t>두 번째 질문의 답은 아니요입니다. 남은 모든 완성 해를 만들어 비교한 뒤에 고르는 것은 완전탐색의 방식입니다. 그리디는 완성된 해를 비교하지 않고, 지금 단계의 후보 가운데 가장 좋아 보이는 것을 바로 확정합니다. 앞의 선택을 매번 철회하는 방법도 그리디가 아닙니다. 그리디에는 되돌리는 단계가 없습니다.</a:t>
            </a:r>
          </a:p>
          <a:p>
            <a:endParaRPr lang="ko-KR"/>
          </a:p>
          <a:p>
            <a:r>
              <a:rPr lang="ko-KR" altLang="en-US" dirty="0"/>
              <a:t>세 번째 질문의 답도 아니요입니다. 매 단계 지역적으로 가장 좋은 것을 골라도 전역 최적해가 된다는 보장은 없습니다. 안개 낀 산의 작은 봉우리처럼 지역 최적해에서 멈출 수 있습니다. 그래서 그리디를 쓸 때는 그 문제에서 정말 최적인지 따로 확인해야 합니다.</a:t>
            </a:r>
          </a:p>
          <a:p>
            <a:endParaRPr lang="ko-KR"/>
          </a:p>
          <a:p>
            <a:r>
              <a:rPr lang="ko-KR" altLang="en-US" dirty="0"/>
              <a:t>네 번째 질문은 앞의 대응표에 있습니다. 선택은 남은 돈 이하의 가장 큰 동전, 적정성 검사는 남은 돈을 넘지 않는지, 해답 검사는 남은 돈이 영 원인지입니다. 이제 그 거스름돈 문제를 한 단계씩 직접 풀어 보겠습니다.</a:t>
            </a:r>
          </a:p>
          <a:p>
            <a:endParaRPr lang="ko-K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이 절은 거스름돈 문제입니다. 오백 원, 백 원, 오십 원, 십 원짜리 동전으로 천이백육십 원을 거슬러 줄 때, 동전 개수를 가장 적게 하려면 어떻게 해야 할까요?</a:t>
            </a:r>
          </a:p>
          <a:p>
            <a:endParaRPr lang="ko-KR"/>
          </a:p>
          <a:p>
            <a:r>
              <a:rPr lang="ko-KR" altLang="en-US" dirty="0"/>
              <a:t>대부분 별생각 없이 큰 동전부터 집을 겁니다. 그 직관이 바로 그리디입니다. 이 직관이 왜 맞는지, 그리고 동전 종류가 바뀌면 어떻게 틀리는지까지 보겠습니다.</a:t>
            </a:r>
          </a:p>
          <a:p>
            <a:endParaRPr lang="ko-K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편의점 계산대를 떠올려 보세요. 손님에게 천이백육십 원을 거슬러 줘야 합니다. 계산대에는 오백 원, 백 원, 오십 원, 십 원 동전이 충분히 있습니다. 목표는 동전 개수를 최소로 하는 것입니다. 금액만 맞추면 되는 것이 아니라 가장 적은 개수로 맞춰야 합니다.</a:t>
            </a:r>
          </a:p>
          <a:p>
            <a:endParaRPr lang="ko-KR"/>
          </a:p>
          <a:p>
            <a:r>
              <a:rPr lang="ko-KR" altLang="en-US" dirty="0"/>
              <a:t>만화의 점원은 제일 큰 것부터 내겠다고 생각합니다. 이것이 그리디의 기준입니다. 남은 돈 이하의 동전 중에서 가장 큰 동전을 고릅니다. 남은 돈보다 큰 동전은 낼 수 없으니까요.</a:t>
            </a:r>
          </a:p>
          <a:p>
            <a:endParaRPr lang="ko-KR"/>
          </a:p>
          <a:p>
            <a:r>
              <a:rPr lang="ko-KR" altLang="en-US" dirty="0"/>
              <a:t>그리고 그 동전을 한 개씩 세지 않고 낼 수 있는 만큼 한꺼번에 냅니다. 천이백육십 원이면 오백 원은 두 개까지 낼 수 있습니다. 남은 돈은 다음으로 큰 동전에 넘겨 같은 일을 반복합니다.</a:t>
            </a:r>
          </a:p>
          <a:p>
            <a:endParaRPr lang="ko-KR"/>
          </a:p>
          <a:p>
            <a:r>
              <a:rPr lang="ko-KR" altLang="en-US" dirty="0"/>
              <a:t>만화의 결론은 동전 여섯 개입니다. 이 결과가 어떻게 나오는지 다음 화면에서 몫과 나머지로 정리하고, 이어서 한 단계씩 따라가 보겠습니다.</a:t>
            </a:r>
          </a:p>
          <a:p>
            <a:endParaRPr lang="ko-K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동전을 한 개씩 빼면서 세면 금액이 클수록 오래 걸립니다. 그래서 나눗셈을 한 번 써서 개수와 남은 돈을 함께 구합니다. 첫 표의 첫 줄을 보세요. 천이백육십을 오백으로 나눈 몫은 이입니다. 파이썬에서는 슬래시 두 개로 몫을 구합니다. 오백 원을 두 개 쓴다는 뜻입니다.</a:t>
            </a:r>
          </a:p>
          <a:p>
            <a:endParaRPr lang="ko-KR"/>
          </a:p>
          <a:p>
            <a:r>
              <a:rPr lang="ko-KR" altLang="en-US" dirty="0"/>
              <a:t>둘째 줄은 나머지입니다. 퍼센트 기호가 나머지 연산이고, 천이백육십을 오백으로 나눈 나머지는 이백육십입니다. 오백 원 두 개로 천 원을 내고 남은 돈이 이백육십 원이라는 뜻이죠. 이 이백육십 원이 다음 동전으로 넘어갑니다.</a:t>
            </a:r>
          </a:p>
          <a:p>
            <a:endParaRPr lang="ko-KR"/>
          </a:p>
          <a:p>
            <a:r>
              <a:rPr lang="ko-KR" altLang="en-US" dirty="0"/>
              <a:t>나누기 기호로 천이백육십 나누기 오백을 계산하면 이 점 오이가 나옵니다. 동전을 이 점 오이 개 쓸 수는 없습니다. 그래서 소수가 아니라 몫과 나머지로 생각합니다. 몫이 쓸 개수이고, 나머지가 남은 돈입니다.</a:t>
            </a:r>
          </a:p>
          <a:p>
            <a:endParaRPr lang="ko-KR"/>
          </a:p>
          <a:p>
            <a:r>
              <a:rPr lang="ko-KR" altLang="en-US" dirty="0"/>
              <a:t>아래 표는 그리디의 세 단계를 거스름돈에 대응한 것입니다. 선택은 남은 돈 이하의 가장 큰 동전입니다. 적정성 검사는 몫만큼 써도 남은 돈을 넘지 않는지인데, 몫으로 구한 개수는 처음부터 남은 돈을 넘지 않습니다. 해답 검사는 남은 돈이 영 원인지 확인하는 것입니다. 이제 천이백육십 원을 한 단계씩 따라가 보겠습니다.</a:t>
            </a:r>
          </a:p>
          <a:p>
            <a:endParaRPr lang="ko-K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단계입니다. 남은 돈은 천이백육십 원입니다. 위 줄은 동전 배열이고, 아래 줄은 동전마다 몇 개를 썼는지 적는 칸입니다. 파란 칸이 지금 보는 동전입니다. 아직 쓰지 않은 동전의 칸은 점으로 비워 두었습니다.</a:t>
            </a:r>
          </a:p>
          <a:p>
            <a:endParaRPr lang="ko-KR"/>
          </a:p>
          <a:p>
            <a:r>
              <a:rPr lang="ko-KR" altLang="en-US" dirty="0"/>
              <a:t>오른쪽 표의 선택부터 보겠습니다. 천이백육십 원 이하인 동전 가운데 가장 큰 것은 오백 원입니다. 천이백육십을 오백으로 나눈 몫은 이이므로 오백 원을 두 개 씁니다. 두 개면 천 원이고 천이백육십 원을 넘지 않으니 적정성 검사도 통과합니다.</a:t>
            </a:r>
          </a:p>
          <a:p>
            <a:endParaRPr lang="ko-KR"/>
          </a:p>
          <a:p>
            <a:r>
              <a:rPr lang="ko-KR" altLang="en-US" dirty="0"/>
              <a:t>나머지는 이백육십입니다. 해답 검사를 보면 남은 돈이 이백육십 원이라 아직 영이 아니므로 계속합니다. 아래 노란 상자의 남은 돈이 이백육십 원으로 바뀌었습니다.</a:t>
            </a:r>
          </a:p>
          <a:p>
            <a:endParaRPr lang="ko-KR"/>
          </a:p>
          <a:p>
            <a:r>
              <a:rPr lang="ko-KR" altLang="en-US" dirty="0"/>
              <a:t>여기서 오백 원 두 개는 확정입니다. 뒤에서 오백 원의 개수를 다시 고치는 일은 없습니다. 다음 단계에서는 이백육십 원을 백 원으로 나눠 보겠습니다.</a:t>
            </a:r>
          </a:p>
          <a:p>
            <a:endParaRPr lang="ko-K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단계입니다. 회색으로 바뀐 오백 원은 이미 처리한 동전입니다. 남은 이백육십 원은 오백 원보다 작아서 오백 원을 더 쓸 수 없습니다. 그래서 다음으로 큰 백 원을 봅니다.</a:t>
            </a:r>
          </a:p>
          <a:p>
            <a:endParaRPr lang="ko-KR"/>
          </a:p>
          <a:p>
            <a:r>
              <a:rPr lang="ko-KR" altLang="en-US" dirty="0"/>
              <a:t>이백육십을 백으로 나눈 몫은 이이고 나머지는 육십입니다. 백 원 두 개, 이백 원은 이백육십 원을 넘지 않으므로 적정성 검사를 통과합니다. 사용 개수 줄의 백 원 자리에 이를 적었습니다.</a:t>
            </a:r>
          </a:p>
          <a:p>
            <a:endParaRPr lang="ko-KR"/>
          </a:p>
          <a:p>
            <a:r>
              <a:rPr lang="ko-KR" altLang="en-US" dirty="0"/>
              <a:t>남은 돈은 육십 원입니다. 영이 아니므로 해답 검사에서 계속하기로 합니다. 오른쪽 아래를 보면 지금까지 확정한 동전은 오백 원 두 개와 백 원 두 개, 모두 네 개입니다.</a:t>
            </a:r>
          </a:p>
          <a:p>
            <a:endParaRPr lang="ko-KR"/>
          </a:p>
          <a:p>
            <a:r>
              <a:rPr lang="ko-KR" altLang="en-US" dirty="0"/>
              <a:t>몫과 나머지를 쓰기 때문에 백 원을 한 개 빼고, 또 한 개 빼는 과정을 거치지 않았습니다. 나눗셈 한 번으로 두 개를 정했습니다. 다음은 육십 원에서 오십 원을 보겠습니다.</a:t>
            </a:r>
          </a:p>
          <a:p>
            <a:endParaRPr lang="ko-K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 단계입니다. 남은 돈은 육십 원입니다. 오백 원에 이어 백 원도 이미 처리해서 회색이 되었습니다. 백 원은 육십 원보다 커서 더 쓸 수도 없습니다. 남은 동전 가운데 육십 원 이하로 가장 큰 것은 오십 원입니다.</a:t>
            </a:r>
          </a:p>
          <a:p>
            <a:endParaRPr lang="ko-KR"/>
          </a:p>
          <a:p>
            <a:r>
              <a:rPr lang="ko-KR" altLang="en-US" dirty="0"/>
              <a:t>육십을 오십으로 나눈 몫은 일, 나머지는 십입니다. 오십 원 한 개는 육십 원을 넘지 않으므로 적정성 검사를 통과하고, 사용 개수 줄의 오십 원 자리에 일을 적습니다. 몫이 일이라는 것은 오십 원을 두 개 쓰면 백 원이 되어 육십 원을 넘는다는 뜻이기도 합니다.</a:t>
            </a:r>
          </a:p>
          <a:p>
            <a:endParaRPr lang="ko-KR"/>
          </a:p>
          <a:p>
            <a:r>
              <a:rPr lang="ko-KR" altLang="en-US" dirty="0"/>
              <a:t>남은 돈은 십 원입니다. 아직 영이 아니므로 해답 검사에서 계속하기로 합니다. 지금까지 쓴 동전은 오백 원 두 개, 백 원 두 개, 오십 원 한 개로 모두 다섯 개입니다. 오른쪽 아래 굵은 글자가 지금까지 확정한 동전입니다.</a:t>
            </a:r>
          </a:p>
          <a:p>
            <a:endParaRPr lang="ko-KR"/>
          </a:p>
          <a:p>
            <a:r>
              <a:rPr lang="ko-KR" altLang="en-US" dirty="0"/>
              <a:t>앞의 두 단계에서 정한 개수는 그대로입니다. 그리디는 이렇게 앞에서 확정한 칸은 건드리지 않고 다음 칸만 채워 나갑니다. 다음은 마지막 동전인 십 원입니다.</a:t>
            </a:r>
          </a:p>
          <a:p>
            <a:endParaRPr lang="ko-K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 단계입니다. 남은 돈 십 원 이하의 가장 큰 동전은 십 원입니다. 십을 십으로 나눈 몫은 일, 나머지는 영입니다. 십 원 한 개를 쓰고 남은 돈은 영 원이 됩니다.</a:t>
            </a:r>
          </a:p>
          <a:p>
            <a:endParaRPr lang="ko-KR"/>
          </a:p>
          <a:p>
            <a:r>
              <a:rPr lang="ko-KR" altLang="en-US" dirty="0"/>
              <a:t>해답 검사를 보세요. 남은 돈이 영 원이므로 거스름돈이 완성되었습니다. 초록 상자가 남은 돈 영 원을 보여 줍니다. 쓴 동전은 오백 원 두 개, 백 원 두 개, 오십 원 한 개, 십 원 한 개입니다. 이 더하기 이 더하기 일 더하기 일, 모두 여섯 개입니다.</a:t>
            </a:r>
          </a:p>
          <a:p>
            <a:endParaRPr lang="ko-KR"/>
          </a:p>
          <a:p>
            <a:r>
              <a:rPr lang="ko-KR" altLang="en-US" dirty="0"/>
              <a:t>네 단계를 지나는 동안 앞의 선택을 다시 고친 적은 한 번도 없습니다. 오백 원을 두 개 쓴 것이 잘못이었는지 돌아가서 확인하지 않았습니다. 이것이 앞에서 말한 그리디의 진행 방식입니다.</a:t>
            </a:r>
          </a:p>
          <a:p>
            <a:endParaRPr lang="ko-KR"/>
          </a:p>
          <a:p>
            <a:r>
              <a:rPr lang="ko-KR" altLang="en-US" dirty="0"/>
              <a:t>이 여섯 개가 정말 최소인지는 오른쪽 아래 문장처럼 뒤에서 배수 조건으로 설명하겠습니다. 먼저 지금 손으로 한 과정을 파이썬 코드로 옮겨 보겠습니다.</a:t>
            </a:r>
          </a:p>
          <a:p>
            <a:endParaRPr lang="ko-K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앞에서 손으로 따라간 과정을 파이썬 코드로 읽어 보겠습니다. 첫 줄에서 엔에 천이백육십을 넣습니다. 거슬러 줘야 할 돈입니다. 카운트는 지금까지 쓴 동전 개수이고 영에서 시작합니다.</a:t>
            </a:r>
          </a:p>
          <a:p>
            <a:endParaRPr lang="ko-KR"/>
          </a:p>
          <a:p>
            <a:r>
              <a:rPr lang="ko-KR" altLang="en-US" dirty="0"/>
              <a:t>코인 타입스는 동전 목록입니다. 오백, 백, 오십, 십 순서로 큰 단위부터 적어 두었습니다. 코드 안에 정렬하는 줄은 없습니다. 목록을 처음부터 내림차순으로 적어 두었기 때문에 앞에서부터 보면 큰 동전부터 보게 됩니다. 프린트 두 줄은 시작 금액과 구분선을 출력합니다. 구분선은 빼기 기호 한 개를 서른 번 반복한 문자열입니다.</a:t>
            </a:r>
          </a:p>
          <a:p>
            <a:endParaRPr lang="ko-KR"/>
          </a:p>
          <a:p>
            <a:r>
              <a:rPr lang="ko-KR" altLang="en-US" dirty="0"/>
              <a:t>포 문에서 코인에 오백, 백, 오십, 십이 차례로 들어갑니다. 넘 코인스에는 엔을 코인으로 나눈 몫을 넣습니다. 처음에는 천이백육십을 오백으로 나눈 몫, 이입니다. 카운트에 이를 더하고, 엔 퍼센트 이퀄 코인으로 엔을 나머지 이백육십으로 바꿉니다. 그다음 줄에서 오백 원짜리 두 개 사용, 남은 돈 이백육십 원을 출력합니다.</a:t>
            </a:r>
          </a:p>
          <a:p>
            <a:endParaRPr lang="ko-KR"/>
          </a:p>
          <a:p>
            <a:r>
              <a:rPr lang="ko-KR" altLang="en-US" dirty="0"/>
              <a:t>같은 반복을 백, 오십, 십 원에 하면 남은 돈은 육십, 십, 영으로 줄고 카운트는 사, 오, 육이 됩니다. 남은 돈이 영이 되었다고 반복을 멈추는 브레이크는 없습니다. 십 원이 목록의 마지막이라 그때 반복이 끝날 뿐입니다. 마지막 줄에서 최소 동전 개수 여섯 개를 출력합니다.</a:t>
            </a:r>
          </a:p>
          <a:p>
            <a:endParaRPr lang="ko-KR"/>
          </a:p>
          <a:p>
            <a:r>
              <a:rPr lang="ko-KR" altLang="en-US" dirty="0"/>
              <a:t>아래 문장을 보세요. 목록을 십, 오십, 백, 오백 순서로 적으면 첫 반복에서 천이백육십을 십으로 나눈 몫, 백이십육 개를 한꺼번에 써 버립니다. 남은 돈이 영이 되어 큰 동전을 쓸 기회가 없습니다. 같은 코드라도 목록의 순서가 곧 그리디의 기준입니다. 다음은 같은 과정을 씨 언어로 보겠습니다.</a:t>
            </a:r>
          </a:p>
          <a:p>
            <a:endParaRPr lang="ko-K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언어 코드는 두 화면으로 나눴습니다. 이 화면은 반복에 들어가기 전에 준비하는 부분입니다. 맨 위의 인클루드 스탠다드 아이오는 프린트 에프를 쓰기 위한 줄입니다. 씨 프로그램은 메인 함수에서 시작하므로, 거스름돈 계산도 인트 메인 보이드 안에 씁니다.</a:t>
            </a:r>
          </a:p>
          <a:p>
            <a:endParaRPr lang="ko-KR"/>
          </a:p>
          <a:p>
            <a:r>
              <a:rPr lang="ko-KR" altLang="en-US" dirty="0"/>
              <a:t>엔은 거슬러 줘야 할 돈이고 천이백육십을 넣습니다. 카운트는 지금까지 쓴 동전 개수이고 영에서 시작합니다. 파이썬과 달리 씨에서는 변수를 처음 만들 때 인트처럼 자료형을 함께 적습니다. 빗금과 별표로 감싼 부분은 주석입니다.</a:t>
            </a:r>
          </a:p>
          <a:p>
            <a:endParaRPr lang="ko-KR"/>
          </a:p>
          <a:p>
            <a:r>
              <a:rPr lang="ko-KR" altLang="en-US" dirty="0"/>
              <a:t>코인 타입스는 정수 배열입니다. 대괄호 안에 크기를 적지 않았지만, 중괄호 안의 값이 네 개이므로 크기가 사인 배열이 됩니다. 코인 타입스의 영 번이 오백, 일 번이 백, 이 번이 오십, 삼 번이 십입니다. 파이썬의 리스트와 같은 역할입니다.</a:t>
            </a:r>
          </a:p>
          <a:p>
            <a:endParaRPr lang="ko-KR"/>
          </a:p>
          <a:p>
            <a:r>
              <a:rPr lang="ko-KR" altLang="en-US" dirty="0"/>
              <a:t>바로 위 주석처럼 반드시 큰 단위부터 적어야 합니다. 씨 코드에도 정렬하는 줄은 없으므로, 이 배열에 적은 순서가 곧 동전을 보는 순서입니다. 파이썬에서 본 것처럼 십 원부터 적으면 십 원만 백이십육 개를 쓰게 됩니다. 다음 화면에서 이 배열을 차례로 보는 반복문을 읽겠습니다.</a:t>
            </a:r>
          </a:p>
          <a:p>
            <a:endParaRPr lang="ko-K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반복문 부분입니다. 첫 프린트 에프는 거스름돈 천이백육십 원 시작을 출력합니다. 퍼센트 디는 정수를 끼워 넣을 자리이고, 쉼표 뒤의 엔이 그 자리에 들어갑니다. 둘째 프린트 에프는 빼기 기호 서른 개로 된 구분선입니다.</a:t>
            </a:r>
          </a:p>
          <a:p>
            <a:endParaRPr lang="ko-KR"/>
          </a:p>
          <a:p>
            <a:r>
              <a:rPr lang="ko-KR" altLang="en-US" dirty="0"/>
              <a:t>포 문은 아이를 영부터 삼까지 네 번 돌립니다. 조건의 사는 동전 종류의 개수입니다. 동전 종류를 늘리면 배열과 이 숫자를 함께 바꿔야 합니다. 반복 안에서 코인에 아이 번째 동전을 꺼냅니다.</a:t>
            </a:r>
          </a:p>
          <a:p>
            <a:endParaRPr lang="ko-KR"/>
          </a:p>
          <a:p>
            <a:r>
              <a:rPr lang="ko-KR" altLang="en-US" dirty="0"/>
              <a:t>넘 코인스에는 엔 나누기 코인을 넣습니다. 줄 끝의 주석처럼 이 값이 몫, 곧 이 동전을 몇 개 쓰는가입니다. 씨에서는 정수끼리 나누면 몫만 남기 때문입니다. 첫 반복에서 천이백육십 나누기 오백은 이 점 오이가 아니라 이입니다. 카운트에 이를 더하고, 엔 퍼센트 이퀄 코인으로 엔을 나머지 이백육십으로 바꿉니다.</a:t>
            </a:r>
          </a:p>
          <a:p>
            <a:endParaRPr lang="ko-KR"/>
          </a:p>
          <a:p>
            <a:r>
              <a:rPr lang="ko-KR" altLang="en-US" dirty="0"/>
              <a:t>그다음 프린트 에프는 줄이 길어서 두 줄로 나눠 썼습니다. 퍼센트 디 세 자리에 코인, 넘 코인스, 엔이 차례로 들어가 오백 원짜리 두 개 사용, 남은 돈 이백육십 원을 출력합니다. 같은 일을 백, 오십, 십 원에 되풀이하면 카운트는 육이 됩니다. 반복이 끝나면 구분선과 최소 동전 개수를 출력하고, 리턴 영으로 정상 종료를 알립니다.</a:t>
            </a:r>
          </a:p>
          <a:p>
            <a:endParaRPr lang="ko-KR"/>
          </a:p>
          <a:p>
            <a:r>
              <a:rPr lang="ko-KR" altLang="en-US" dirty="0"/>
              <a:t>자주 하는 실수는 몫과 나머지의 순서를 바꾸는 것입니다. 엔을 먼저 나머지로 바꾸면 그다음 몫은 이백육십을 오백으로 나눈 영이 되어 개수가 틀립니다. 다음 화면에서 실행 결과를 확인하겠습니다.</a:t>
            </a:r>
          </a:p>
          <a:p>
            <a:endParaRPr lang="ko-K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코드와 씨 코드를 실행한 결과입니다. 두 프로그램의 출력은 글자 하나까지 같습니다. 첫 줄은 거스름돈 천이백육십 원 시작이고, 그다음은 빼기 기호 서른 개로 된 구분선입니다.</a:t>
            </a:r>
          </a:p>
          <a:p>
            <a:endParaRPr lang="ko-KR"/>
          </a:p>
          <a:p>
            <a:r>
              <a:rPr lang="ko-KR" altLang="en-US" dirty="0"/>
              <a:t>그 아래 네 줄은 반복문이 한 번 돌 때마다 찍은 줄입니다. 오백 원짜리 두 개 사용, 남은 돈 이백육십 원. 백 원짜리 두 개 사용, 남은 돈 육십 원. 오십 원짜리 한 개 사용, 남은 돈 십 원. 십 원짜리 한 개 사용, 남은 돈 영 원입니다. 앞에서 단계 슬라이드로 따라간 숫자와 그대로 일치합니다.</a:t>
            </a:r>
          </a:p>
          <a:p>
            <a:endParaRPr lang="ko-KR"/>
          </a:p>
          <a:p>
            <a:r>
              <a:rPr lang="ko-KR" altLang="en-US" dirty="0"/>
              <a:t>마지막 줄은 최소 동전 개수 여섯 개입니다. 아래 문장처럼 남은 돈은 이백육십, 육십, 십, 영으로 줄었고, 개수는 이, 이, 일, 일을 더한 육입니다.</a:t>
            </a:r>
          </a:p>
          <a:p>
            <a:endParaRPr lang="ko-KR"/>
          </a:p>
          <a:p>
            <a:r>
              <a:rPr lang="ko-KR" altLang="en-US" dirty="0"/>
              <a:t>출력을 보면 반복이 네 번이었다는 것도 알 수 있습니다. 동전 종류가 네 개였기 때문입니다. 이 반복 횟수가 시간 복잡도와 어떻게 이어지는지 다음 화면에서 보겠습니다.</a:t>
            </a:r>
          </a:p>
          <a:p>
            <a:endParaRPr lang="ko-K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시간 복잡도를 볼 때는 무엇의 개수로 셀지가 중요합니다. 여기서는 동전 종류의 수를 케이라고 하겠습니다. 오백, 백, 오십, 십 원이면 케이는 사입니다.</a:t>
            </a:r>
          </a:p>
          <a:p>
            <a:endParaRPr lang="ko-KR"/>
          </a:p>
          <a:p>
            <a:r>
              <a:rPr lang="ko-KR" altLang="en-US" dirty="0"/>
              <a:t>표를 보세요. 천이백육십 원을 거슬러 줄 때 포 문은 네 번 돕니다. 금액을 천 배 늘려 백이십육만 원이 되어도 포 문은 여전히 네 번입니다. 반복 한 번에서 하는 일은 몫과 나머지 계산 한 번씩입니다. 금액이 커도 나눗셈 한 번이면 개수가 나오므로 반복 한 번은 오 일입니다.</a:t>
            </a:r>
          </a:p>
          <a:p>
            <a:endParaRPr lang="ko-KR"/>
          </a:p>
          <a:p>
            <a:r>
              <a:rPr lang="ko-KR" altLang="en-US" dirty="0"/>
              <a:t>오른쪽 열은 동전을 한 개씩 빼는 방법입니다. 천이백육십 원이면 여섯 번 빼면 되지만, 백이십육만 원이면 오백 원만 이천오백이십 번 빼야 합니다. 이 방법은 반복 횟수가 금액에 비례해서 늘어납니다. 몫과 나머지를 쓰면 반복 횟수가 금액이 아니라 동전 종류 수로 정해집니다.</a:t>
            </a:r>
          </a:p>
          <a:p>
            <a:endParaRPr lang="ko-KR"/>
          </a:p>
          <a:p>
            <a:r>
              <a:rPr lang="ko-KR" altLang="en-US" dirty="0"/>
              <a:t>그래서 전체 시간은 케이 곱하기 오 일, 오 케이입니다. 단, 이것은 목록이 이미 큰 단위부터 적혀 있을 때입니다. 동전 목록이 섞여서 주어져 먼저 정렬해야 한다면 정렬에 드는 오 케이 로그 케이가 더해집니다. 또 마지막 줄처럼, 지금처럼 동전 종류가 정해져 있으면 케이는 상수이므로 오 일이라고도 씁니다.</a:t>
            </a:r>
          </a:p>
          <a:p>
            <a:endParaRPr lang="ko-KR"/>
          </a:p>
          <a:p>
            <a:r>
              <a:rPr lang="ko-KR" altLang="en-US" dirty="0"/>
              <a:t>그런데 큰 동전부터 고른 결과가 왜 최소 개수일까요? 다음 화면에서 한국 동전의 배수 조건으로 설명하겠습니다.</a:t>
            </a:r>
          </a:p>
          <a:p>
            <a:endParaRPr lang="ko-K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한국 동전은 큰 단위가 바로 아래 단위의 배수입니다. 오백은 백의 다섯 배, 백은 오십의 두 배, 오십은 십의 다섯 배입니다. 표처럼 큰 동전 하나는 작은 동전 여러 개와 금액이 같습니다.</a:t>
            </a:r>
          </a:p>
          <a:p>
            <a:endParaRPr lang="ko-KR"/>
          </a:p>
          <a:p>
            <a:r>
              <a:rPr lang="ko-KR" altLang="en-US" dirty="0"/>
              <a:t>이 성질 때문에 작은 동전이 많이 쌓이면 큰 동전 하나로 바꿀 수 있습니다. 예를 들어 백 원 다섯 개를 쓴 해가 있다면, 그 다섯 개를 오백 원 한 개로 바꿔도 금액은 같고 개수는 다섯 개에서 한 개로 줄어듭니다. 그러니 개수가 최소인 해에는 이렇게 바꿀 수 있는 묶음이 남아 있지 않습니다.</a:t>
            </a:r>
          </a:p>
          <a:p>
            <a:endParaRPr lang="ko-KR"/>
          </a:p>
          <a:p>
            <a:r>
              <a:rPr lang="ko-KR" altLang="en-US" dirty="0"/>
              <a:t>반대로 큰 동전을 덜 쓰면 그만큼을 작은 동전으로 채워야 하고, 작은 동전은 개수만 늘립니다. 그래서 큰 동전을 낼 수 있는 만큼 최대한 쓰는 그리디의 선택이 손해가 되지 않습니다.</a:t>
            </a:r>
          </a:p>
          <a:p>
            <a:endParaRPr lang="ko-KR"/>
          </a:p>
          <a:p>
            <a:r>
              <a:rPr lang="ko-KR" altLang="en-US" dirty="0"/>
              <a:t>정리하면 배수 조건은 그리디가 최적이라는 충분조건입니다. 배수 조건을 만족하면 보장됩니다. 하지만 배수 조건이 깨지면 이 보장이 사라집니다. 늘 틀린다는 뜻은 아니고, 틀리는 입력이 생길 수 있다는 뜻입니다. 다음 화면에서 실제로 틀리는 예를 보겠습니다.</a:t>
            </a:r>
          </a:p>
          <a:p>
            <a:endParaRPr lang="ko-K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편의점에 사백 원짜리 동전이 새로 생겼다고 해 봅시다. 이제 동전은 오백, 사백, 백, 오십, 십 원 다섯 종류입니다. 이 상태에서 손님에게 팔백 원을 거슬러 줘야 합니다. 목표는 여전히 동전 개수를 최소로 하는 것입니다.</a:t>
            </a:r>
          </a:p>
          <a:p>
            <a:endParaRPr lang="ko-KR"/>
          </a:p>
          <a:p>
            <a:r>
              <a:rPr lang="ko-KR" altLang="en-US" dirty="0"/>
              <a:t>그리디는 앞에서와 똑같이 남은 돈 이하의 가장 큰 동전, 오백 원부터 집습니다. 만화 왼쪽의 점원이 그렇게 했습니다. 오백 원을 하나 내고 나머지를 백 원으로 채웠더니 결과는 네 개였습니다.</a:t>
            </a:r>
          </a:p>
          <a:p>
            <a:endParaRPr lang="ko-KR"/>
          </a:p>
          <a:p>
            <a:r>
              <a:rPr lang="ko-KR" altLang="en-US" dirty="0"/>
              <a:t>만화 오른쪽의 점원은 오백 원 욕심을 버리고 사백 원 두 개를 냈습니다. 결과는 두 개입니다. 같은 팔백 원인데 개수가 두 배 차이가 납니다.</a:t>
            </a:r>
          </a:p>
          <a:p>
            <a:endParaRPr lang="ko-KR"/>
          </a:p>
          <a:p>
            <a:r>
              <a:rPr lang="ko-KR" altLang="en-US" dirty="0"/>
              <a:t>왼쪽 아래 문장처럼 바뀐 것은 동전 종류 하나뿐이고 그리디의 규칙은 그대로입니다. 그런데도 결과가 달라졌습니다. 앞에서 본 배수 조건과 관계가 있겠죠. 다음 두 화면에서 그리디의 과정과 더 좋은 해를 한 단계씩 비교해 보겠습니다.</a:t>
            </a:r>
          </a:p>
          <a:p>
            <a:endParaRPr lang="ko-K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그리디의 과정을 따라가겠습니다. 팔백 원 이하의 가장 큰 동전은 오백 원입니다. 팔백을 오백으로 나눈 몫은 일, 나머지는 삼백입니다. 오백 원 한 개를 확정합니다.</a:t>
            </a:r>
          </a:p>
          <a:p>
            <a:endParaRPr lang="ko-KR"/>
          </a:p>
          <a:p>
            <a:r>
              <a:rPr lang="ko-KR" altLang="en-US" dirty="0"/>
              <a:t>다음은 사백 원입니다. 남은 삼백 원에 사백 원은 들어가지 않습니다. 삼백을 사백으로 나눈 몫은 영이므로 사백 원은 한 개도 쓰지 않습니다. 오른쪽 표의 둘째 줄이고, 동전 줄에서 사백을 빨간 글자로 표시했습니다.</a:t>
            </a:r>
          </a:p>
          <a:p>
            <a:endParaRPr lang="ko-KR"/>
          </a:p>
          <a:p>
            <a:r>
              <a:rPr lang="ko-KR" altLang="en-US" dirty="0"/>
              <a:t>다음 백 원에서는 삼백을 백으로 나눈 몫이 삼, 나머지가 영입니다. 백 원 세 개를 쓰고 남은 돈이 영 원이 됩니다. 오십 원과 십 원은 쓸 필요가 없습니다. 그리디의 답은 오백 더하기 백 더하기 백 더하기 백, 동전 네 개입니다.</a:t>
            </a:r>
          </a:p>
          <a:p>
            <a:endParaRPr lang="ko-KR"/>
          </a:p>
          <a:p>
            <a:r>
              <a:rPr lang="ko-KR" altLang="en-US" dirty="0"/>
              <a:t>문제는 첫 선택입니다. 오백 원을 고르는 순간 남은 돈이 삼백 원이 되었고, 사백 원을 쓸 기회가 사라졌습니다. 그리디는 이 선택을 되돌리지 않습니다. 다음 화면에서 더 좋은 해를 보겠습니다.</a:t>
            </a:r>
          </a:p>
          <a:p>
            <a:endParaRPr lang="ko-K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오백 원을 쓰지 않으면 어떻게 될까요? 팔백 원은 사백 원 두 개로 정확히 만들어집니다. 동전 두 개입니다. 맨 아래 줄의 초록 칸이 이 해에서 쓰는 동전입니다.</a:t>
            </a:r>
          </a:p>
          <a:p>
            <a:endParaRPr lang="ko-KR"/>
          </a:p>
          <a:p>
            <a:r>
              <a:rPr lang="ko-KR" altLang="en-US" dirty="0"/>
              <a:t>가운데 줄의 그리디는 네 개, 아래 줄의 최적은 두 개입니다. 두 개가 네 개보다 적으므로 이 입력에서 그리디의 답은 최소가 아닙니다.</a:t>
            </a:r>
          </a:p>
          <a:p>
            <a:endParaRPr lang="ko-KR"/>
          </a:p>
          <a:p>
            <a:r>
              <a:rPr lang="ko-KR" altLang="en-US" dirty="0"/>
              <a:t>왜 틀렸는지 배수 조건으로 보겠습니다. 표준 동전에서는 작은 동전 묶음을 큰 동전 하나로 바꿀 수 있었습니다. 백 원 다섯 개처럼 합이 오백 원인 묶음이 있었기 때문입니다. 하지만 사백 원 두 개 안에는 합이 오백 원인 묶음이 없어서 오백 원으로 바꿔 넣을 수 없습니다. 오백은 사백의 배수가 아니기 때문입니다. 배수 조건이 깨지자 큰 동전을 최대한 쓰는 선택이 손해가 되었습니다.</a:t>
            </a:r>
          </a:p>
          <a:p>
            <a:endParaRPr lang="ko-KR"/>
          </a:p>
          <a:p>
            <a:r>
              <a:rPr lang="ko-KR" altLang="en-US" dirty="0"/>
              <a:t>그리디의 성패는 이렇게 화폐 체계에 달려 있습니다. 다음은 연습문제 형태로 반례를 하나 더 풀어 보겠습니다. 이번에는 동전을 한 개씩 고르는 방식입니다.</a:t>
            </a:r>
          </a:p>
          <a:p>
            <a:endParaRPr lang="ko-K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연습문제 하나를 풀어 보겠습니다. 동전은 일 원, 삼 원, 사 원 세 종류이고 각각 무제한으로 쓸 수 있습니다. 목표는 정확히 육 원을 가장 적은 개수로 만드는 것입니다. 오른쪽에 이 조건을 적었습니다.</a:t>
            </a:r>
          </a:p>
          <a:p>
            <a:endParaRPr lang="ko-KR"/>
          </a:p>
          <a:p>
            <a:r>
              <a:rPr lang="ko-KR" altLang="en-US" dirty="0"/>
              <a:t>이번 그리디는 동전을 한 개씩 고릅니다. 남은 금액을 넘지 않는 동전 중 가장 큰 것을 하나 고르고, 남은 돈이 영 원이 될 때까지 반복합니다. 앞에서처럼 몫으로 한꺼번에 고르든 한 개씩 고르든 결과는 같습니다.</a:t>
            </a:r>
          </a:p>
          <a:p>
            <a:endParaRPr lang="ko-KR"/>
          </a:p>
          <a:p>
            <a:r>
              <a:rPr lang="ko-KR" altLang="en-US" dirty="0"/>
              <a:t>위의 문장이 반박할 주장입니다. 이 방법이 어떤 화폐 체계에서도 항상 동전 수를 최소로 만든다는 주장이죠. 이것을 반박하려면 무엇을 보이면 될까요?</a:t>
            </a:r>
          </a:p>
          <a:p>
            <a:endParaRPr lang="ko-KR"/>
          </a:p>
          <a:p>
            <a:r>
              <a:rPr lang="ko-KR" altLang="en-US" dirty="0"/>
              <a:t>지금은 아직 아무것도 고르지 않은 처음 상태입니다. 위 줄은 동전 사, 삼, 일을 큰 순서로 놓은 것이고, 아래 줄은 동전마다 쓴 개수입니다. 남은 돈은 육 원입니다. 먼저 그리디가 실제로 무엇을 고르는지 한 단계씩 따라가 보겠습니다.</a:t>
            </a:r>
          </a:p>
          <a:p>
            <a:endParaRPr lang="ko-K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선택입니다. 남은 돈 육 원 이하의 동전은 사 원, 삼 원, 일 원 모두입니다. 그중 가장 큰 사 원을 고릅니다. 사 원은 남은 돈을 가장 많이 줄여 주는 동전이므로, 지금 기준으로는 가장 좋은 선택입니다. 동전 줄의 파란 칸과 화살표가 이 선택입니다.</a:t>
            </a:r>
          </a:p>
          <a:p>
            <a:endParaRPr lang="ko-KR"/>
          </a:p>
          <a:p>
            <a:r>
              <a:rPr lang="ko-KR" altLang="en-US" dirty="0"/>
              <a:t>적정성 검사에서 사 원은 육 원을 넘지 않으므로 통과합니다. 사 원 하나를 확정하고, 남은 돈은 육 빼기 사, 이 원이 됩니다. 사용 개수 줄의 사 원 자리에 일을 적었습니다.</a:t>
            </a:r>
          </a:p>
          <a:p>
            <a:endParaRPr lang="ko-KR"/>
          </a:p>
          <a:p>
            <a:r>
              <a:rPr lang="ko-KR" altLang="en-US" dirty="0"/>
              <a:t>해답 검사에서는 남은 돈이 이 원이므로 아직 영이 아닙니다. 계속합니다. 이 사 원은 이제 되돌리지 않습니다. 이 선택이 좋았는지는 끝까지 가 봐야 알 수 있는데, 그리디는 끝까지 간 뒤에도 돌아와서 확인하지 않습니다.</a:t>
            </a:r>
          </a:p>
          <a:p>
            <a:endParaRPr lang="ko-KR"/>
          </a:p>
          <a:p>
            <a:r>
              <a:rPr lang="ko-KR" altLang="en-US" dirty="0"/>
              <a:t>다음 단계에서는 남은 이 원 이하의 동전 가운데 가장 큰 것을 찾겠습니다. 사 원과 삼 원을 아직 쓸 수 있는지 눈여겨보세요.</a:t>
            </a:r>
          </a:p>
          <a:p>
            <a:endParaRPr lang="ko-K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선택입니다. 남은 돈은 이 원입니다. 사 원과 삼 원은 이 원보다 커서 고를 수 없습니다. 동전 줄에서 회색으로 바꾼 두 칸이 지금 고를 수 없는 동전입니다. 동전을 다 써서가 아니라 남은 돈을 넘기 때문입니다.</a:t>
            </a:r>
          </a:p>
          <a:p>
            <a:endParaRPr lang="ko-KR"/>
          </a:p>
          <a:p>
            <a:r>
              <a:rPr lang="ko-KR" altLang="en-US" dirty="0"/>
              <a:t>남은 돈 이하의 동전은 일 원뿐이므로 일 원을 고릅니다. 일 원은 이 원을 넘지 않으니 적정성 검사를 통과합니다. 남은 돈은 이 빼기 일, 일 원이 됩니다.</a:t>
            </a:r>
          </a:p>
          <a:p>
            <a:endParaRPr lang="ko-KR"/>
          </a:p>
          <a:p>
            <a:r>
              <a:rPr lang="ko-KR" altLang="en-US" dirty="0"/>
              <a:t>아직 일 원이 남았으므로 해답이 아닙니다. 지금까지 고른 동전은 사 원 하나와 일 원 하나, 두 개입니다.</a:t>
            </a:r>
          </a:p>
          <a:p>
            <a:endParaRPr lang="ko-KR"/>
          </a:p>
          <a:p>
            <a:r>
              <a:rPr lang="ko-KR" altLang="en-US" dirty="0"/>
              <a:t>여기서 눈여겨볼 동전은 삼 원입니다. 첫 단계에서 사 원을 골랐기 때문에 남은 돈이 이 원이 되었고, 이제 삼 원은 쓸 수 없게 되었습니다. 사백 원 예에서 오백 원을 고르자 사백 원을 못 쓰게 된 것과 같은 모양입니다. 다음 단계에서 마지막 일 원을 고르겠습니다.</a:t>
            </a:r>
          </a:p>
          <a:p>
            <a:endParaRPr lang="ko-K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 선택입니다. 남은 돈 일 원 이하의 동전은 일 원뿐입니다. 일 원을 고르고 남은 돈은 영 원이 됩니다. 사용 개수 줄의 일 원 자리가 일에서 이로 바뀌었습니다.</a:t>
            </a:r>
          </a:p>
          <a:p>
            <a:endParaRPr lang="ko-KR"/>
          </a:p>
          <a:p>
            <a:r>
              <a:rPr lang="ko-KR" altLang="en-US" dirty="0"/>
              <a:t>해답 검사를 통과했습니다. 남은 돈이 영 원이므로 반복을 끝냅니다. 초록 상자가 남은 돈 영 원을 보여 줍니다. 그리디가 쓴 동전은 사 원 한 개와 일 원 두 개입니다.</a:t>
            </a:r>
          </a:p>
          <a:p>
            <a:endParaRPr lang="ko-KR"/>
          </a:p>
          <a:p>
            <a:r>
              <a:rPr lang="ko-KR" altLang="en-US" dirty="0"/>
              <a:t>그리디의 답은 사 더하기 일 더하기 일, 동전 세 개입니다. 매 단계 남은 돈 이하의 가장 큰 동전을 골랐고, 앞의 선택은 바꾸지 않았습니다. 규칙을 하나도 어기지 않고 정확히 진행한 결과입니다. 그러니 다음 화면에서 더 좋은 해가 나온다면, 잘못은 계산 실수가 아니라 규칙 자체에 있다는 뜻입니다.</a:t>
            </a:r>
          </a:p>
          <a:p>
            <a:endParaRPr lang="ko-KR"/>
          </a:p>
          <a:p>
            <a:r>
              <a:rPr lang="ko-KR" altLang="en-US" dirty="0"/>
              <a:t>그럼 세 개보다 적게 육 원을 만드는 방법은 정말 없을까요? 다음 화면에서 확인하겠습니다.</a:t>
            </a:r>
          </a:p>
          <a:p>
            <a:endParaRPr lang="ko-K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사 원을 처음에 쓰지 않으면 어떻게 될까요? 삼 원 두 개면 정확히 육 원입니다. 동전 두 개입니다. 맨 아래 줄의 초록 칸이 이 해입니다.</a:t>
            </a:r>
          </a:p>
          <a:p>
            <a:endParaRPr lang="ko-KR"/>
          </a:p>
          <a:p>
            <a:r>
              <a:rPr lang="ko-KR" altLang="en-US" dirty="0"/>
              <a:t>두 줄을 비교해 보세요. 그리디는 사, 일, 일로 세 개, 최적해는 삼, 삼으로 두 개입니다. 두 개가 세 개보다 적으므로 그리디의 답은 최소가 아닙니다.</a:t>
            </a:r>
          </a:p>
          <a:p>
            <a:endParaRPr lang="ko-KR"/>
          </a:p>
          <a:p>
            <a:r>
              <a:rPr lang="ko-KR" altLang="en-US" dirty="0"/>
              <a:t>이것으로 반박이 끝났습니다. 동전 일, 삼, 사 원으로 육 원을 만드는 입력 하나에서 그리디가 최소 개수를 내지 못했으니, 어떤 화폐 체계에서도 항상 최소라는 주장은 거짓입니다. 반박을 글로 쓸 때는 오른쪽 아래처럼 그리디의 결과, 더 좋은 해, 그리고 두 개수의 비교를 모두 적습니다.</a:t>
            </a:r>
          </a:p>
          <a:p>
            <a:endParaRPr lang="ko-KR"/>
          </a:p>
          <a:p>
            <a:r>
              <a:rPr lang="ko-KR" altLang="en-US" dirty="0"/>
              <a:t>사백 원 예와 모양이 같습니다. 첫 선택에서 가장 큰 사 원을 잡는 바람에 삼 원 두 개라는 더 좋은 조합이 막혔습니다. 다음 화면에서 반박이 성립하려면 무엇이 필요한지 정리하겠습니다.</a:t>
            </a:r>
          </a:p>
          <a:p>
            <a:endParaRPr lang="ko-K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그리디는 항상 최적이다라는 주장은 모든 입력에 대한 주장입니다. 그래서 맞지 않는 입력이 단 하나만 있어도 거짓이 됩니다. 이렇게 주장을 깨는 입력을 반례라고 합니다.</a:t>
            </a:r>
          </a:p>
          <a:p>
            <a:endParaRPr lang="ko-KR"/>
          </a:p>
          <a:p>
            <a:r>
              <a:rPr lang="ko-KR" altLang="en-US" dirty="0"/>
              <a:t>반례에는 조건이 있습니다. 첫째, 문제의 조건을 지키는 입력이어야 합니다. 동전 일, 삼, 사 원과 금액 육 원은 문제가 허용하는 입력입니다. 문제의 조건을 어긴 입력에서 틀리는 것은 반박이 되지 않습니다. 그런 입력은 처음부터 문제 밖이기 때문입니다.</a:t>
            </a:r>
          </a:p>
          <a:p>
            <a:endParaRPr lang="ko-KR"/>
          </a:p>
          <a:p>
            <a:r>
              <a:rPr lang="ko-KR" altLang="en-US" dirty="0"/>
              <a:t>둘째, 그리디의 결과보다 더 좋은 해를 보여야 합니다. 우리는 세 개보다 적은 두 개를 보였습니다. 그리디와 개수가 같은 다른 해를 찾는 것은 반례가 아닙니다. 답이 여러 개일 수 있을 뿐 그리디가 틀린 것은 아니니까요.</a:t>
            </a:r>
          </a:p>
          <a:p>
            <a:endParaRPr lang="ko-KR"/>
          </a:p>
          <a:p>
            <a:r>
              <a:rPr lang="ko-KR" altLang="en-US" dirty="0"/>
              <a:t>셋째, 하나면 충분합니다. 반례를 여러 개 모을 필요가 없습니다. 또 그리디가 느리게 도는 입력을 찾는 것은 최적성과 관계가 없습니다. 여기서 반박하는 것은 답이 가장 좋은가이지, 빠른가가 아닙니다.</a:t>
            </a:r>
          </a:p>
          <a:p>
            <a:endParaRPr lang="ko-KR"/>
          </a:p>
          <a:p>
            <a:r>
              <a:rPr lang="ko-KR" altLang="en-US" dirty="0"/>
              <a:t>반대 방향도 기억하세요. 예제 몇 개에서 그리디가 맞았다고 해서 항상 최적이 증명되지는 않습니다. 작은 입력을 여러 개 확인해도 다른 입력에서 틀릴 수 있습니다. 맞다는 것은 증명으로 보여야 하고, 그 방법은 오 점 삼 절 끝과 오 점 오 절에서 다룹니다. 다음은 일 원을 더한 다섯 종류 동전으로 개수를 세는 연습입니다.</a:t>
            </a:r>
          </a:p>
          <a:p>
            <a:endParaRPr lang="ko-K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이번에는 일 원 동전까지 다섯 종류로 최소 동전 수를 돌려주는 함수, 코인 카운트를 생각해 보겠습니다. 입력은 금액 어마운트 하나이고 출력은 동전 개수입니다. 오백, 백, 오십, 십, 일 원은 모두 바로 아래 단위의 배수이므로 큰 동전부터 고르는 그리디가 최소 개수를 줍니다.</a:t>
            </a:r>
          </a:p>
          <a:p>
            <a:endParaRPr lang="ko-KR"/>
          </a:p>
          <a:p>
            <a:r>
              <a:rPr lang="ko-KR" altLang="en-US" dirty="0"/>
              <a:t>오른쪽 의사코드를 보세요. 카운트를 영으로 놓고, 코인에 오백, 백, 오십, 십, 일을 차례로 넣으며 반복합니다. 카운트에는 어마운트를 코인으로 나눈 몫을 더하고, 어마운트는 어마운트를 코인으로 나눈 나머지로 바꿉니다. 반복이 끝나면 카운트를 돌려줍니다. 몫은 파이썬에서 슬래시 두 개, 씨에서 정수 나눗셈 슬래시 하나이고, 나머지는 퍼센트입니다. 앞의 체인지 점 파이에 일 원을 더하고 개수를 돌려주게 바꾼 모양입니다.</a:t>
            </a:r>
          </a:p>
          <a:p>
            <a:endParaRPr lang="ko-KR"/>
          </a:p>
          <a:p>
            <a:r>
              <a:rPr lang="ko-KR" altLang="en-US" dirty="0"/>
              <a:t>천이백육십삼 원으로 따라가겠습니다. 오백 원은 몫 이, 남은 돈 이백육십삼. 백 원은 몫 이, 남은 돈 육십삼. 오십 원은 몫 일, 남은 돈 십삼. 십 원은 몫 일, 남은 돈 삼. 마지막 일 원은 몫 삼, 남은 돈 영입니다. 아래 초록 상자처럼 코인 카운트 천이백육십삼은 이 더하기 이 더하기 일 더하기 일 더하기 삼, 아홉을 돌려줍니다.</a:t>
            </a:r>
          </a:p>
          <a:p>
            <a:endParaRPr lang="ko-KR"/>
          </a:p>
          <a:p>
            <a:r>
              <a:rPr lang="ko-KR" altLang="en-US" dirty="0"/>
              <a:t>시간 복잡도를 보겠습니다. 오른쪽 굵은 글자처럼 금액이 천이백육십삼 원이든 십억 원이든 반복은 동전 종류 수인 다섯 번입니다. 반복 횟수가 금액과 관계없이 일정하므로 오 일입니다. 앞에서처럼 동전 종류 수를 케이라고 두면 오 케이라고 써도 됩니다. 반대로 동전을 한 개씩 빼는 반복으로 짜면 반복 횟수가 금액에 비례하므로 오 어마운트이고, 오 일이 아닙니다.</a:t>
            </a:r>
          </a:p>
          <a:p>
            <a:endParaRPr lang="ko-KR"/>
          </a:p>
          <a:p>
            <a:r>
              <a:rPr lang="ko-KR" altLang="en-US" dirty="0"/>
              <a:t>금액이 영 원이면 모든 몫이 영이라 카운트는 영 그대로 돌아옵니다. 이것으로 거스름돈 문제를 마치고 확인 문제를 풀어 보겠습니다.</a:t>
            </a:r>
          </a:p>
          <a:p>
            <a:endParaRPr lang="ko-K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문제입니다. 이천삼백칠십을 오백으로 나누면 몫 사, 나머지 삼백칠십입니다. 백 원은 몫 삼, 나머지 칠십. 오십 원은 몫 일, 나머지 이십. 십 원은 몫 이, 나머지 영입니다. 모두 사 더하기 삼 더하기 일 더하기 이, 열 개입니다.</a:t>
            </a:r>
          </a:p>
          <a:p>
            <a:endParaRPr lang="ko-KR"/>
          </a:p>
          <a:p>
            <a:r>
              <a:rPr lang="ko-KR" altLang="en-US" dirty="0"/>
              <a:t>두 번째 문제입니다. 그리디는 십 원 이하의 가장 큰 육 원을 먼저 고릅니다. 남은 사 원에는 오 원과 육 원이 들어가지 않으므로 일 원을 네 번 고릅니다. 결과는 육 더하기 일 네 개, 다섯 개입니다. 그런데 오 원 두 개면 두 개로 십 원이 됩니다. 문제 조건을 지키는 입력 하나에서 그리디보다 더 적은 개수를 보였으므로 항상 최소라는 주장은 반박됩니다. 육은 오의 배수가 아니어서 배수 조건도 깨져 있습니다.</a:t>
            </a:r>
          </a:p>
          <a:p>
            <a:endParaRPr lang="ko-KR"/>
          </a:p>
          <a:p>
            <a:r>
              <a:rPr lang="ko-KR" altLang="en-US" dirty="0"/>
              <a:t>세 번째 문제입니다. 금액이 천 배가 되어도 포 반복은 동전 종류 수인 다섯 번 그대로입니다. 반복 한 번의 일도 몫과 나머지 계산 한 번씩이므로 시간 복잡도는 오 일입니다.</a:t>
            </a:r>
          </a:p>
          <a:p>
            <a:endParaRPr lang="ko-KR"/>
          </a:p>
          <a:p>
            <a:r>
              <a:rPr lang="ko-KR" altLang="en-US" dirty="0"/>
              <a:t>네 번째 문제입니다. 백 원부터 보게 되어 천이백육십을 백으로 나눈 몫 십이, 나머지 육십입니다. 오백 원은 육십 원에 들어가지 않아 영 개, 오십 원은 한 개, 남은 십 원은 십 원 한 개입니다. 모두 십이 더하기 일 더하기 일, 십사 개로 최소인 여섯 개보다 많습니다. 목록에 적은 순서가 곧 그리디의 기준이기 때문입니다. 다음 절에서는 회의실 배정 문제로 넘어가겠습니다. 이번에는 무엇을 기준으로 고르느냐가 훨씬 까다롭습니다.</a:t>
            </a:r>
          </a:p>
          <a:p>
            <a:endParaRPr lang="ko-K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삼 절은 활동 선택 문제입니다. 회의실은 하나인데 쓰겠다는 요청이 여러 건 들어왔습니다. 시간이 겹치지 않게 회의를 가장 많이 넣고 싶습니다. 오래 쓰게 하는 것이 아니라 회의의 개수를 최대로 하는 문제입니다.</a:t>
            </a:r>
          </a:p>
          <a:p>
            <a:endParaRPr lang="ko-KR"/>
          </a:p>
          <a:p>
            <a:r>
              <a:rPr lang="ko-KR" altLang="en-US" dirty="0"/>
              <a:t>무엇을 기준으로 골라야 할지, 그럴듯한 기준 몇 개를 시험해 보고 맞는 기준을 찾아보겠습니다.</a:t>
            </a:r>
          </a:p>
          <a:p>
            <a:endParaRPr lang="ko-K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회사에 회의실이 하나 있다고 해 봅시다. 오늘 하루 회의실을 쓰겠다는 요청이 여러 건 들어왔고, 요청마다 시작 시각과 종료 시각이 정해져 있습니다. 만화 왼쪽처럼 요청이 몰려 담당자가 곤란해하는 상황입니다. 그림 속 세미나실은 이 강의에서 말하는 회의실입니다.</a:t>
            </a:r>
          </a:p>
          <a:p>
            <a:endParaRPr lang="ko-KR"/>
          </a:p>
          <a:p>
            <a:r>
              <a:rPr lang="ko-KR" altLang="en-US" dirty="0"/>
              <a:t>회의 하나를 활동, 영어로 액티비티라고 부릅니다. 그래서 이 문제의 이름이 활동 선택 문제입니다. 회의실은 한 번에 한 회의만 쓸 수 있습니다. 시간이 겹치는 두 회의는 함께 넣을 수 없고, 회의를 도중에 끊을 수도 없습니다.</a:t>
            </a:r>
          </a:p>
          <a:p>
            <a:endParaRPr lang="ko-KR"/>
          </a:p>
          <a:p>
            <a:r>
              <a:rPr lang="ko-KR" altLang="en-US" dirty="0"/>
              <a:t>목표를 정확히 봐야 합니다. 만화 오른쪽에서 사장님이 말하듯 중요한 것은 얼마나 오래가 아니라 최대한 많은 팀입니다. 회의실을 쓰는 시간의 합을 늘리는 것이 아니라, 넣은 회의의 개수를 최대로 만드는 것이 목표입니다.</a:t>
            </a:r>
          </a:p>
          <a:p>
            <a:endParaRPr lang="ko-KR"/>
          </a:p>
          <a:p>
            <a:r>
              <a:rPr lang="ko-KR" altLang="en-US" dirty="0"/>
              <a:t>그럼 두 회의가 겹친다는 것은 정확히 무엇일까요? 한 회의가 끝나는 바로 그 시각에 다음 회의가 시작하면 겹치는 걸까요? 다음 화면에서 이 규칙을 먼저 정하겠습니다.</a:t>
            </a:r>
          </a:p>
          <a:p>
            <a:endParaRPr lang="ko-K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회의 시간은 대괄호와 소괄호를 섞어 씁니다. 화면 위의 문장을 보세요. 일 콤마 사 구간은 일시에 시작해서 사시에 끝나는 회의입니다. 왼쪽의 대괄호는 일시를 포함한다는 뜻이고, 오른쪽의 소괄호는 사시를 포함하지 않는다는 뜻입니다. 그래서 이 회의는 일시부터 사시 직전까지 회의실을 씁니다.</a:t>
            </a:r>
          </a:p>
          <a:p>
            <a:endParaRPr lang="ko-KR"/>
          </a:p>
          <a:p>
            <a:r>
              <a:rPr lang="ko-KR" altLang="en-US" dirty="0"/>
              <a:t>사시를 포함하지 않으므로 사시가 되는 순간 회의실은 비어 있습니다. 그러니 사시에 시작하는 사 콤마 육 구간의 회의는 바로 이어서 회의실을 쓸 수 있습니다. 타임라인의 주황 점선이 사시입니다. 첫 회의의 끝과 둘째 회의의 시작이 같은 선 위에 있지만 겹치지 않습니다. 일시에서 사시 회의와 사시에서 육시 회의는 함께 고를 수 있습니다.</a:t>
            </a:r>
          </a:p>
          <a:p>
            <a:endParaRPr lang="ko-KR"/>
          </a:p>
          <a:p>
            <a:r>
              <a:rPr lang="ko-KR" altLang="en-US" dirty="0"/>
              <a:t>규칙으로 쓰면 이렇습니다. 다음 회의가 시작하는 시각이 앞 회의가 끝나는 시각보다 크거나 같으면 두 회의는 겹치지 않습니다. 크다가 아니라 크거나 같다라는 점이 중요합니다. 사는 사 이상이므로 통과입니다.</a:t>
            </a:r>
          </a:p>
          <a:p>
            <a:endParaRPr lang="ko-KR"/>
          </a:p>
          <a:p>
            <a:r>
              <a:rPr lang="ko-KR" altLang="en-US" dirty="0"/>
              <a:t>셋째 줄의 삼시에서 오시 회의는 다릅니다. 사시 전인 삼시에 시작하므로 일시에서 사시 회의와 겹치고, 사시 뒤인 오시에 끝나므로 사시에 시작하는 회의와도 겹칩니다. 그래서 이 세 회의 중에서는 일시에서 사시, 사시에서 육시 회의 두 개를 고르는 것이 최대입니다.</a:t>
            </a:r>
          </a:p>
          <a:p>
            <a:endParaRPr lang="ko-KR"/>
          </a:p>
          <a:p>
            <a:r>
              <a:rPr lang="ko-KR" altLang="en-US" dirty="0"/>
              <a:t>이 규칙을 기억하고 어떤 기준으로 회의를 골라야 할지 생각해 보겠습니다. 먼저 가장 그럴듯한 기준, 일찍 시작하는 회의부터 고르기를 시험해 보겠습니다.</a:t>
            </a:r>
          </a:p>
          <a:p>
            <a:endParaRPr lang="ko-K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직관은 일찍 시작하는 회의부터 고르는 것입니다. 부지런한 새가 벌레를 잡는다는 말처럼 먼저 시작하는 회의를 먼저 넣는 방법이죠. 회의 세 개로 시험해 보겠습니다. 일시에서 십시, 이시에서 삼시, 사시에서 오시 회의를 시작이 빠른 순서로 위에서부터 놓았습니다.</a:t>
            </a:r>
          </a:p>
          <a:p>
            <a:endParaRPr lang="ko-KR"/>
          </a:p>
          <a:p>
            <a:r>
              <a:rPr lang="ko-KR" altLang="en-US" dirty="0"/>
              <a:t>첫 번째로 시작이 가장 빠른 일시에서 십시 회의를 봅니다. 아직 고른 회의가 없으니 겹칠 것도 없습니다. 이 회의를 고릅니다. 이제 회의실은 십시까지 사용 중입니다. 주황 점선이 십시를 표시합니다.</a:t>
            </a:r>
          </a:p>
          <a:p>
            <a:endParaRPr lang="ko-KR"/>
          </a:p>
          <a:p>
            <a:r>
              <a:rPr lang="ko-KR" altLang="en-US" dirty="0"/>
              <a:t>두 번째로 이시에서 삼시 회의를 봅니다. 이시에 시작하는데 회의실은 십시까지 쓰이고 있습니다. 이가 십보다 작으므로 겹칩니다. 건너뜁니다. 세 번째 사시에서 오시 회의도 사시에 시작해서 사가 십보다 작습니다. 역시 겹치므로 건너뜁니다.</a:t>
            </a:r>
          </a:p>
          <a:p>
            <a:endParaRPr lang="ko-KR"/>
          </a:p>
          <a:p>
            <a:r>
              <a:rPr lang="ko-KR" altLang="en-US" dirty="0"/>
              <a:t>결과는 회의 한 개입니다. 일찍 시작한 긴 회의 하나가 하루를 거의 다 차지해서, 그 안에 짧게 들어갈 수 있던 회의들이 모두 밀려났습니다. 그럼 실제로는 몇 개까지 넣을 수 있었을까요? 다음 화면에서 비교하겠습니다.</a:t>
            </a:r>
          </a:p>
          <a:p>
            <a:endParaRPr lang="ko-K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위의 타임라인은 시작 순 그리디의 결과, 아래는 더 좋은 선택입니다. 일시에서 십시 회의를 버리면 이시에서 삼시, 사시에서 오시 회의를 함께 넣을 수 있습니다. 앞의 회의가 삼시에 끝나고 뒤의 회의는 사시에 시작하므로 겹치지 않습니다.</a:t>
            </a:r>
          </a:p>
          <a:p>
            <a:endParaRPr lang="ko-KR"/>
          </a:p>
          <a:p>
            <a:r>
              <a:rPr lang="ko-KR" altLang="en-US" dirty="0"/>
              <a:t>그리디는 한 개, 더 좋은 선택은 두 개입니다. 문제의 조건을 지키는 활동 세 개짜리 입력 하나에서 그리디보다 많이 고르는 방법을 보였습니다. 그러니 시작이 빠른 순으로 고르는 방법은 최적해를 보장하지 않습니다. 거스름돈에서 본 것처럼 반례 하나로 충분합니다.</a:t>
            </a:r>
          </a:p>
          <a:p>
            <a:endParaRPr lang="ko-KR"/>
          </a:p>
          <a:p>
            <a:r>
              <a:rPr lang="ko-KR" altLang="en-US" dirty="0"/>
              <a:t>이 반례를 글로 쓸 때는 세 가지를 적으면 됩니다. 그리디가 고르는 활동은 일시에서 십시 회의 한 개, 실제로 가장 많이 고를 수 있는 활동은 이시에서 삼시와 사시에서 오시 회의 두 개, 그리고 한 개가 두 개보다 적다는 비교입니다.</a:t>
            </a:r>
          </a:p>
          <a:p>
            <a:endParaRPr lang="ko-KR"/>
          </a:p>
          <a:p>
            <a:r>
              <a:rPr lang="ko-KR" altLang="en-US" dirty="0"/>
              <a:t>이 기준이 틀린 이유는 시작 시각만 보고, 그 회의가 회의실을 얼마나 오래 붙잡는지는 보지 않았기 때문입니다. 그렇다면 짧은 회의부터 고르면 어떨까요? 다음 화면에서 시험해 보겠습니다.</a:t>
            </a:r>
          </a:p>
          <a:p>
            <a:endParaRPr lang="ko-K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직관은 짧은 회의부터 고르는 것입니다. 짧은 회의는 회의실을 조금만 쓰니까 많이 넣을 수 있을 것 같습니다. 회의 에이, 비, 씨로 시험해 보겠습니다. 에이는 일시에서 오시, 비는 사시에서 육시, 씨는 오시에서 구시입니다. 길이는 에이가 네 시간, 비가 두 시간, 씨가 네 시간입니다.</a:t>
            </a:r>
          </a:p>
          <a:p>
            <a:endParaRPr lang="ko-KR"/>
          </a:p>
          <a:p>
            <a:r>
              <a:rPr lang="ko-KR" altLang="en-US" dirty="0"/>
              <a:t>위의 타임라인을 보세요. 가장 짧은 비를 먼저 고릅니다. 그다음 에이를 보면, 에이는 오시에 끝나는데 비가 그보다 이른 사시에 시작하므로 겹칩니다. 씨는 오시에 시작하는데 비가 육시에 끝나므로 역시 겹칩니다. 결과는 비 하나뿐입니다.</a:t>
            </a:r>
          </a:p>
          <a:p>
            <a:endParaRPr lang="ko-KR"/>
          </a:p>
          <a:p>
            <a:r>
              <a:rPr lang="ko-KR" altLang="en-US" dirty="0"/>
              <a:t>아래 타임라인은 더 좋은 선택입니다. 에이는 오시에 끝나고 씨는 오시에 시작합니다. 앞에서 정한 규칙대로 다음 회의의 시작이 앞 회의의 종료와 같으면 겹치지 않습니다. 오는 오 이상이니까요. 그래서 에이와 씨를 함께 고를 수 있고, 두 개입니다.</a:t>
            </a:r>
          </a:p>
          <a:p>
            <a:endParaRPr lang="ko-KR"/>
          </a:p>
          <a:p>
            <a:r>
              <a:rPr lang="ko-KR" altLang="en-US" dirty="0"/>
              <a:t>짧은 비가 에이와 씨의 경계에 걸쳐 있어서, 한 개를 넣으려다 두 개를 잃었습니다. 짧은 순 그리디는 한 개, 최적은 두 개이므로 이 기준도 틀립니다. 역시 반례 하나로 반박이 끝났습니다. 그럼 어떤 기준이 맞을까요? 다음 화면에서 보겠습니다.</a:t>
            </a:r>
          </a:p>
          <a:p>
            <a:endParaRPr lang="ko-K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맞는 기준은 종료 시각입니다. 가장 먼저 끝나는 회의를 고릅니다. 가장 먼저 끝나는 회의는 회의실을 가장 빨리 비워 주는 회의입니다. 회의실이 일찍 비면 뒤에 남는 시간이 가장 길고, 그만큼 다른 회의를 넣을 여지가 큽니다.</a:t>
            </a:r>
          </a:p>
          <a:p>
            <a:endParaRPr lang="ko-KR"/>
          </a:p>
          <a:p>
            <a:r>
              <a:rPr lang="ko-KR" altLang="en-US" dirty="0"/>
              <a:t>알고리즘은 세 단계입니다. 먼저 회의를 종료 시각이 빠른 순으로 정렬합니다. 그다음 앞에서부터 보면서, 회의의 시작 시각이 라스트 엔드 이상이면 고르고 라스트 엔드를 그 회의의 종료 시각으로 옮깁니다. 라스트 엔드는 마지막으로 고른 회의의 종료 시각입니다. 이것을 끝까지 반복합니다.</a:t>
            </a:r>
          </a:p>
          <a:p>
            <a:endParaRPr lang="ko-KR"/>
          </a:p>
          <a:p>
            <a:r>
              <a:rPr lang="ko-KR" altLang="en-US" dirty="0"/>
              <a:t>그리디의 세 단계와 맞춰 보면, 선택은 가장 먼저 끝나는 회의, 적정성 검사는 시작 시각이 라스트 엔드 이상인지 보는 것입니다. 정렬되어 있으므로 앞에서부터 보다가 조건을 처음 만족하는 회의가 곧 겹치지 않는 회의 중 가장 먼저 끝나는 회의입니다.</a:t>
            </a:r>
          </a:p>
          <a:p>
            <a:endParaRPr lang="ko-KR"/>
          </a:p>
          <a:p>
            <a:r>
              <a:rPr lang="ko-KR" altLang="en-US" dirty="0"/>
              <a:t>아래 표는 앞의 두 반례에 세 기준을 모두 적용한 결과입니다. 첫 번째 입력에서는 시작 순이, 두 번째 입력에서는 짧은 순이 한 개로 틀렸습니다. 종료 순은 두 입력 모두에서 최적과 같은 두 개입니다. 첫 번째 입력을 종료 순으로 놓으면 이시에서 삼시, 사시에서 오시, 일시에서 십시 순서가 되어 앞의 두 회의를 고르게 되죠.</a:t>
            </a:r>
          </a:p>
          <a:p>
            <a:endParaRPr lang="ko-KR"/>
          </a:p>
          <a:p>
            <a:r>
              <a:rPr lang="ko-KR" altLang="en-US" dirty="0"/>
              <a:t>다만 두 예에서 맞았다고 해서 증명된 것은 아닙니다. 왜 항상 맞는지는 이 절 끝에서 확인합니다. 안전한 선택, 곧 그렇게 골라도 최적해를 놓치지 않는 선택의 정확한 뜻은 오 점 오 절에서 정의합니다. 이제 회의 여섯 건으로 이 방법을 한 단계씩 따라가 보겠습니다.</a:t>
            </a:r>
          </a:p>
          <a:p>
            <a:endParaRPr lang="ko-K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이제 회의 여섯 건으로 따라가겠습니다. 위 줄은 입력 순서입니다. 일번은 일시에서 삼시, 이번은 이시에서 오시, 삼번은 삼시에서 구시, 사번은 육시에서 팔시, 오번은 오시에서 칠시, 육번은 팔시에서 십일시입니다. 칸 아래의 작은 글자가 회의 번호입니다.</a:t>
            </a:r>
          </a:p>
          <a:p>
            <a:endParaRPr lang="ko-KR"/>
          </a:p>
          <a:p>
            <a:r>
              <a:rPr lang="ko-KR" altLang="en-US" dirty="0"/>
              <a:t>아래 줄은 종료 시각이 빠른 순으로 정렬한 결과입니다. 종료 시각은 삼, 오, 칠, 팔, 구, 십일 순서가 됩니다. 그래서 일번, 이번, 오번, 사번, 삼번, 육번 순서입니다. 노란 칸이 입력 순서와 자리가 바뀐 회의입니다. 오번은 칠시에 끝나서 세 번째로 올라왔고, 삼번은 삼시에 일찍 시작하지만 구시에 끝나서 다섯 번째로 내려갔습니다.</a:t>
            </a:r>
          </a:p>
          <a:p>
            <a:endParaRPr lang="ko-KR"/>
          </a:p>
          <a:p>
            <a:r>
              <a:rPr lang="ko-KR" altLang="en-US" dirty="0"/>
              <a:t>아래 상자를 보세요. 라스트 엔드는 음의 무한대에서 시작합니다. 아직 고른 회의가 없다는 뜻입니다. 어떤 회의의 시작 시각도 음의 무한대보다 크므로, 첫 번째로 보는 회의는 반드시 통과합니다.</a:t>
            </a:r>
          </a:p>
          <a:p>
            <a:endParaRPr lang="ko-KR"/>
          </a:p>
          <a:p>
            <a:r>
              <a:rPr lang="ko-KR" altLang="en-US" dirty="0"/>
              <a:t>회의 번호는 입력 순서로 붙인 것이고 정렬해도 바뀌지 않습니다. 실행 결과에 나오는 번호도 이 번호입니다. 이제 정렬된 순서대로 한 회의씩 보겠습니다.</a:t>
            </a:r>
          </a:p>
          <a:p>
            <a:endParaRPr lang="ko-K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단계입니다. 타임라인은 정렬된 순서대로 위에서부터 놓았습니다. 맨 위의 일번, 일시에서 삼시 회의가 가장 먼저 끝나는 회의입니다. 노란 막대가 지금 고른 회의입니다.</a:t>
            </a:r>
          </a:p>
          <a:p>
            <a:endParaRPr lang="ko-KR"/>
          </a:p>
          <a:p>
            <a:r>
              <a:rPr lang="ko-KR" altLang="en-US" dirty="0"/>
              <a:t>일번은 일시에 시작합니다. 라스트 엔드는 음의 무한대이므로 일이 음의 무한대 이상이라는 조건이 참입니다. 아직 고른 회의가 없으니 겹칠 회의도 없습니다. 일번을 고릅니다.</a:t>
            </a:r>
          </a:p>
          <a:p>
            <a:endParaRPr lang="ko-KR"/>
          </a:p>
          <a:p>
            <a:r>
              <a:rPr lang="ko-KR" altLang="en-US" dirty="0"/>
              <a:t>고른 뒤에는 라스트 엔드를 일번의 종료 시각 삼으로 옮깁니다. 주황 점선이 삼시에 그어졌습니다. 이제부터 삼시보다 먼저 시작하는 회의는 일번과 겹치므로 고를 수 없습니다. 오른쪽 열에는 판정과 그 근거를 함께 적었습니다. 선택, 일은 음의 무한대 이상입니다. 아직 보지 않은 회의는 회색 막대로 남아 있습니다.</a:t>
            </a:r>
          </a:p>
          <a:p>
            <a:endParaRPr lang="ko-KR"/>
          </a:p>
          <a:p>
            <a:r>
              <a:rPr lang="ko-KR" altLang="en-US" dirty="0"/>
              <a:t>가장 먼저 끝나는 회의를 고르는 것이 이 알고리즘의 첫 선택입니다. 일번은 회의실을 삼시에 비워 주므로 뒤에 남는 시간이 가장 깁니다. 다음은 두 번째로 끝나는 이번입니다.</a:t>
            </a:r>
          </a:p>
          <a:p>
            <a:endParaRPr lang="ko-K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단계입니다. 지금 보는 회의는 이번, 이시에서 오시 회의입니다. 이번은 이시에 시작합니다.</a:t>
            </a:r>
          </a:p>
          <a:p>
            <a:endParaRPr lang="ko-KR"/>
          </a:p>
          <a:p>
            <a:r>
              <a:rPr lang="ko-KR" altLang="en-US" dirty="0"/>
              <a:t>라스트 엔드는 삼입니다. 직전에 고른 일번이 삼시에 끝난다는 뜻입니다. 이가 삼 이상이라는 조건은 거짓입니다. 이번은 일번이 아직 진행 중인 이시에 시작하므로 겹칩니다. 조건을 만족하지 못했으므로 건너뜁니다. 막대를 빨간 점선으로 바꾸고, 오른쪽 열에 건너뜀과 그 근거, 이가 삼보다 작다를 적었습니다.</a:t>
            </a:r>
          </a:p>
          <a:p>
            <a:endParaRPr lang="ko-KR"/>
          </a:p>
          <a:p>
            <a:r>
              <a:rPr lang="ko-KR" altLang="en-US" dirty="0"/>
              <a:t>여기서 삼시라는 기준은 직전에 고른 회의가 끝나는 시각입니다. 그냥 삼시 이전에 시작하는 회의를 버린다는 고정된 규칙이 아니라, 라스트 엔드가 움직이면 기준도 함께 움직입니다.</a:t>
            </a:r>
          </a:p>
          <a:p>
            <a:endParaRPr lang="ko-KR"/>
          </a:p>
          <a:p>
            <a:r>
              <a:rPr lang="ko-KR" altLang="en-US" dirty="0"/>
              <a:t>건너뛸 때는 라스트 엔드를 바꾸지 않습니다. 주황 점선은 그대로 삼시에 있습니다. 라스트 엔드는 회의를 고를 때만 움직입니다. 다음 단계에서는 세 번째로 끝나는 오번을 보겠습니다.</a:t>
            </a:r>
          </a:p>
          <a:p>
            <a:endParaRPr lang="ko-K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 단계입니다. 지금 보는 회의는 오번, 오시에서 칠시 회의입니다. 입력에서는 다섯 번째였지만 칠시에 끝나서 정렬 순서로는 세 번째입니다.</a:t>
            </a:r>
          </a:p>
          <a:p>
            <a:endParaRPr lang="ko-KR"/>
          </a:p>
          <a:p>
            <a:r>
              <a:rPr lang="ko-KR" altLang="en-US" dirty="0"/>
              <a:t>오번은 오시에 시작하고 라스트 엔드는 삼입니다. 오가 삼 이상이므로 조건이 참입니다. 일번이 삼시에 끝난 뒤에 시작하므로 겹치지 않습니다. 오번을 고르고, 막대가 노란색이 되었습니다. 오른쪽 열에는 선택과 근거, 오는 삼 이상이라고 적었습니다. 앞에서 고른 일번은 파란 막대로 남아 있습니다.</a:t>
            </a:r>
          </a:p>
          <a:p>
            <a:endParaRPr lang="ko-KR"/>
          </a:p>
          <a:p>
            <a:r>
              <a:rPr lang="ko-KR" altLang="en-US" dirty="0"/>
              <a:t>라스트 엔드를 오번의 종료 시각 칠로 옮깁니다. 주황 점선이 삼시에서 칠시로 이동했습니다. 지금까지 고른 회의는 일번과 오번, 두 개입니다.</a:t>
            </a:r>
          </a:p>
          <a:p>
            <a:endParaRPr lang="ko-KR"/>
          </a:p>
          <a:p>
            <a:r>
              <a:rPr lang="ko-KR" altLang="en-US" dirty="0"/>
              <a:t>여기서 정렬의 효과를 볼 수 있습니다. 앞에서부터 보다가 조건을 처음 만족한 회의가 오번입니다. 정렬되어 있으므로 오번은 일번과 겹치지 않는 회의 가운데 가장 먼저 끝나는 회의입니다. 겹치지 않는 회의 중에서 다시 회의실을 가장 빨리 비워 주는 회의를 고른 셈이죠. 다음은 사번입니다.</a:t>
            </a:r>
          </a:p>
          <a:p>
            <a:endParaRPr lang="ko-K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번째 단계입니다. 지금 보는 회의는 사번, 육시에서 팔시 회의입니다. 사번은 육시에 시작합니다.</a:t>
            </a:r>
          </a:p>
          <a:p>
            <a:endParaRPr lang="ko-KR"/>
          </a:p>
          <a:p>
            <a:r>
              <a:rPr lang="ko-KR" altLang="en-US" dirty="0"/>
              <a:t>라스트 엔드는 칠입니다. 직전에 고른 오번이 칠시에 끝납니다. 육이 칠 이상이라는 조건은 거짓입니다. 사번은 오번이 진행 중인 육시에 시작하므로 겹칩니다. 조건을 만족하지 못했으므로 건너뜁니다.</a:t>
            </a:r>
          </a:p>
          <a:p>
            <a:endParaRPr lang="ko-KR"/>
          </a:p>
          <a:p>
            <a:r>
              <a:rPr lang="ko-KR" altLang="en-US" dirty="0"/>
              <a:t>라스트 엔드는 칠 그대로이고 주황 점선도 움직이지 않습니다. 오른쪽 열을 보면 지금까지의 판정이 선택, 건너뜀, 선택, 건너뜀입니다. 이번 줄에는 근거인 육이 칠보다 작다도 함께 적었습니다. 고른 회의는 여전히 두 개입니다.</a:t>
            </a:r>
          </a:p>
          <a:p>
            <a:endParaRPr lang="ko-KR"/>
          </a:p>
          <a:p>
            <a:r>
              <a:rPr lang="ko-KR" altLang="en-US" dirty="0"/>
              <a:t>여기서 비교하는 기준은 바로 직전에 고른 오번의 종료 시각입니다. 처음 고른 일번의 삼시와 비교하는 것이 아닙니다. 고른 회의들은 앞 회의가 끝난 뒤에 다음 회의가 시작하도록 이어져 있으므로, 마지막 회의의 종료 시각 하나만 보면 됩니다. 다음은 삼번입니다.</a:t>
            </a:r>
          </a:p>
          <a:p>
            <a:endParaRPr lang="ko-K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다섯 번째 단계입니다. 지금 보는 회의는 삼번, 삼시에서 구시 회의입니다. 삼번은 삼시에 일찍 시작하지만 구시에 늦게 끝나서 정렬 순서로는 다섯 번째가 되었습니다.</a:t>
            </a:r>
          </a:p>
          <a:p>
            <a:endParaRPr lang="ko-KR"/>
          </a:p>
          <a:p>
            <a:r>
              <a:rPr lang="ko-KR" altLang="en-US" dirty="0"/>
              <a:t>라스트 엔드는 칠입니다. 삼이 칠 이상이라는 조건은 거짓이므로 건너뜁니다. 실제로 삼번은 삼시부터 구시까지라서 오번 전체와 겹칩니다. 라스트 엔드는 칠 그대로입니다.</a:t>
            </a:r>
          </a:p>
          <a:p>
            <a:endParaRPr lang="ko-KR"/>
          </a:p>
          <a:p>
            <a:r>
              <a:rPr lang="ko-KR" altLang="en-US" dirty="0"/>
              <a:t>아래 문장을 보세요. 만약 시작 순으로 골랐다면 일번 다음에 삼시에 시작하는 삼번을 골랐을 것입니다. 일번이 삼시에 끝나므로 삼은 삼 이상이라 통과하거든요. 그러면 긴 삼번이 구시까지 회의실을 붙잡아서 두 개에 그칩니다.</a:t>
            </a:r>
          </a:p>
          <a:p>
            <a:endParaRPr lang="ko-KR"/>
          </a:p>
          <a:p>
            <a:r>
              <a:rPr lang="ko-KR" altLang="en-US" dirty="0"/>
              <a:t>종료 순으로 정렬했기 때문에 삼번을 볼 때는 이미 더 일찍 끝나는 회의들이 자리를 잡은 뒤입니다. 일찍 시작한다는 것만으로는 좋은 회의가 아니라는 것을 다시 확인할 수 있습니다. 다음은 마지막 회의인 육번입니다.</a:t>
            </a:r>
          </a:p>
          <a:p>
            <a:endParaRPr lang="ko-K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여섯 번째 단계입니다. 지금 보는 회의는 육번, 팔시에서 십일시 회의입니다. 정렬 순서로 마지막 회의이고, 팔시에 시작합니다.</a:t>
            </a:r>
          </a:p>
          <a:p>
            <a:endParaRPr lang="ko-KR"/>
          </a:p>
          <a:p>
            <a:r>
              <a:rPr lang="ko-KR" altLang="en-US" dirty="0"/>
              <a:t>라스트 엔드는 칠입니다. 팔이 칠 이상이므로 조건이 참입니다. 오번이 칠시에 끝난 뒤에 시작하므로 겹치지 않습니다. 앞에서 건너뛴 사번과 삼번은 고르지 않았으므로 육번과 겹치는지 따질 필요가 없습니다. 육번을 고릅니다.</a:t>
            </a:r>
          </a:p>
          <a:p>
            <a:endParaRPr lang="ko-KR"/>
          </a:p>
          <a:p>
            <a:r>
              <a:rPr lang="ko-KR" altLang="en-US" dirty="0"/>
              <a:t>라스트 엔드를 육번의 종료 시각 십일로 옮깁니다. 주황 점선이 십일시로 이동했습니다. 이것으로 정렬된 여섯 회의를 모두 보았습니다. 고른 회의는 일번, 오번, 육번, 세 개입니다.</a:t>
            </a:r>
          </a:p>
          <a:p>
            <a:endParaRPr lang="ko-KR"/>
          </a:p>
          <a:p>
            <a:r>
              <a:rPr lang="ko-KR" altLang="en-US" dirty="0"/>
              <a:t>반복은 남은 회의가 없으면 끝납니다. 회의마다 라스트 엔드와의 비교를 한 번씩, 모두 여섯 번 했습니다. 되돌아가서 다시 비교한 회의는 하나도 없습니다. 다음 화면에서 결과를 정리하겠습니다.</a:t>
            </a:r>
          </a:p>
          <a:p>
            <a:endParaRPr lang="ko-K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결과입니다. 파란 막대 세 개, 일번 일시에서 삼시, 오번 오시에서 칠시, 육번 팔시에서 십일시 회의를 골랐습니다. 회의 세 개입니다. 회색 막대는 건너뛴 이번, 사번, 삼번입니다. 주황 점선은 마지막으로 고른 육번이 끝나는 십일시에 있습니다.</a:t>
            </a:r>
          </a:p>
          <a:p>
            <a:endParaRPr lang="ko-KR"/>
          </a:p>
          <a:p>
            <a:r>
              <a:rPr lang="ko-KR" altLang="en-US" dirty="0"/>
              <a:t>여섯 단계 동안 앞의 판정을 바꾼 적은 한 번도 없습니다. 한 번 고른 회의는 끝까지 남았고, 건너뛴 회의를 다시 살펴보지도 않았습니다. 그리디의 진행 방식 그대로입니다. 선택은 가장 먼저 끝나는 회의, 적정성 검사는 시작이 라스트 엔드 이상인지, 해답 검사는 더 볼 회의가 남았는지였습니다.</a:t>
            </a:r>
          </a:p>
          <a:p>
            <a:endParaRPr lang="ko-KR"/>
          </a:p>
          <a:p>
            <a:r>
              <a:rPr lang="ko-KR" altLang="en-US" dirty="0"/>
              <a:t>그런데 이 세 개가 정말 최대일까요? 네 개를 넣는 방법은 없을까요? 눈으로 몇 가지 조합을 시도해 볼 수는 있지만, 그것만으로는 증명이 되지 않습니다. 아래 문장처럼 이 질문은 뒤의 왜 옳은가에서 답하겠습니다.</a:t>
            </a:r>
          </a:p>
          <a:p>
            <a:endParaRPr lang="ko-KR"/>
          </a:p>
          <a:p>
            <a:r>
              <a:rPr lang="ko-KR" altLang="en-US" dirty="0"/>
              <a:t>그 전에 지금 손으로 한 과정을 의사코드와 실제 코드로 옮겨 보겠습니다.</a:t>
            </a:r>
          </a:p>
          <a:p>
            <a:endParaRPr lang="ko-K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의사코드입니다. 함수 머리의 입력은 회의 목록 에이이고, 회의 하나는 시작 스타트와 종료 엔드를 가집니다. 함수 머리 다음 줄에서 회의 목록 에이를 엔드 오름차순으로 정렬합니다. 이 한 줄이 그리디의 기준을 정합니다. 엔드 대신 스타트로 정렬하면 앞의 반례처럼 틀린 답이 나옵니다.</a:t>
            </a:r>
          </a:p>
          <a:p>
            <a:endParaRPr lang="ko-KR"/>
          </a:p>
          <a:p>
            <a:r>
              <a:rPr lang="ko-KR" altLang="en-US" dirty="0"/>
              <a:t>에스는 고른 회의를 담을 빈 목록이고, 라스트 엔드는 음의 무한대에서 시작합니다. 아직 고른 회의가 없을 때도 첫 회의가 조건을 통과하게 하려는 것입니다. 어떤 시작 시각도 음의 무한대 이상이므로 첫 회의를 따로 처리하는 코드가 필요 없습니다.</a:t>
            </a:r>
          </a:p>
          <a:p>
            <a:endParaRPr lang="ko-KR"/>
          </a:p>
          <a:p>
            <a:r>
              <a:rPr lang="ko-KR" altLang="en-US" dirty="0"/>
              <a:t>포 문은 정렬된 순서대로 회의 하나씩을 봅니다. 그 회의의 스타트가 라스트 엔드 이상이면 에스에 그 회의를 추가하고, 라스트 엔드를 그 회의의 엔드로 옮깁니다. 크거나 같다를 쓰기 때문에 끝나는 시각에 바로 시작하는 회의도 고릅니다.</a:t>
            </a:r>
          </a:p>
          <a:p>
            <a:endParaRPr lang="ko-KR"/>
          </a:p>
          <a:p>
            <a:r>
              <a:rPr lang="ko-KR" altLang="en-US" dirty="0"/>
              <a:t>아래 세 줄을 보세요. 정렬 한 줄이 그리디의 기준이고, 라스트 엔드 하나만 기억하면 됩니다. 고른 회의들은 앞 회의가 끝난 뒤에 다음 회의가 시작하도록 이어져 있어서, 마지막으로 고른 회의의 종료 시각만 넘으면 앞의 모든 회의와도 겹치지 않습니다.</a:t>
            </a:r>
          </a:p>
          <a:p>
            <a:endParaRPr lang="ko-KR"/>
          </a:p>
          <a:p>
            <a:r>
              <a:rPr lang="ko-KR" altLang="en-US" dirty="0"/>
              <a:t>이 의사코드를 파이썬으로 옮기면 다음 화면의 코드가 됩니다. 변수 이름도 라스트 엔드로 같게 맞췄습니다.</a:t>
            </a:r>
          </a:p>
          <a:p>
            <a:endParaRPr lang="ko-K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코드는 두 화면으로 나눴습니다. 이 화면은 함수 부분입니다. 솔브 액티비티 셀렉션 함수는 미팅스를 받습니다. 둘째 줄 주석처럼 미팅스의 원소는 회의 아이디, 시작 시각, 종료 시각을 담은 튜플입니다. 예를 들어 일, 일, 삼은 일번 회의가 일시에 시작해 삼시에 끝난다는 뜻입니다.</a:t>
            </a:r>
          </a:p>
          <a:p>
            <a:endParaRPr lang="ko-KR"/>
          </a:p>
          <a:p>
            <a:r>
              <a:rPr lang="ko-KR" altLang="en-US" dirty="0"/>
              <a:t>미팅스 점 소트는 리스트를 정렬합니다. 키는 람다 엑스 콜론 엑스의 인덱스 이입니다. 람다는 이름 없는 짧은 함수이고, 여기서는 튜플을 받아 인덱스 이를 돌려줍니다. 아래 문장처럼 인덱스 이가 곧 종료 시각입니다. 인덱스는 영부터 세므로 영이 아이디, 일이 시작, 이가 종료입니다. 그래서 종료 시각이 빠른 순으로 정렬됩니다.</a:t>
            </a:r>
          </a:p>
          <a:p>
            <a:endParaRPr lang="ko-KR"/>
          </a:p>
          <a:p>
            <a:r>
              <a:rPr lang="ko-KR" altLang="en-US" dirty="0"/>
              <a:t>셀렉티드는 고른 회의를 담을 빈 리스트입니다. 라스트 엔드는 플로트 마이너스 인프, 곧 음의 무한대에서 시작합니다. 줄 끝의 주석처럼 첫 회의가 무조건 통과하도록 하려는 것이고, 의사코드의 라스트 엔드와 같은 이름입니다.</a:t>
            </a:r>
          </a:p>
          <a:p>
            <a:endParaRPr lang="ko-KR"/>
          </a:p>
          <a:p>
            <a:r>
              <a:rPr lang="ko-KR" altLang="en-US" dirty="0"/>
              <a:t>포 문에서 엠에 회의를 하나씩 꺼내고, 밑줄, 스타트, 엔드에 튜플의 세 값을 나눠 담습니다. 밑줄은 아이디를 여기서 쓰지 않겠다는 표시입니다. 이프에서 스타트가 라스트 엔드 이상이면 셀렉티드에 엠을 어펜드하고 라스트 엔드를 엔드로 바꿉니다. 정렬 뒤 첫 일번은 일이 음의 무한대 이상이라 고르고, 이번은 이가 삼보다 작아 건너뛰고, 오번은 오가 삼 이상이라 고릅니다. 반복이 끝나면 마지막 줄에서 셀렉티드를 돌려줍니다.</a:t>
            </a:r>
          </a:p>
          <a:p>
            <a:endParaRPr lang="ko-KR"/>
          </a:p>
          <a:p>
            <a:r>
              <a:rPr lang="ko-KR" altLang="en-US" dirty="0"/>
              <a:t>자주 하는 실수는 크거나 같다 대신 크다를 쓰는 것입니다. 그러면 끝나는 시각에 바로 시작하는 회의를 놓칩니다. 일시에서 사시와 사시에서 육시 같은 입력에서는 답이 틀립니다. 다음 화면에서 이 함수를 호출하고 결과를 출력하는 부분을 보겠습니다.</a:t>
            </a:r>
          </a:p>
          <a:p>
            <a:endParaRPr lang="ko-K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함수를 호출하는 부분입니다. 데이터에는 회의 여섯 개를 입력 순서대로 넣었습니다. 괄호 하나가 튜플 하나이고, 주석처럼 아이디, 시작 시각, 종료 시각 순서입니다. 일, 일, 삼부터 육, 팔, 십일까지 앞의 예제와 같은 여섯 회의입니다.</a:t>
            </a:r>
          </a:p>
          <a:p>
            <a:endParaRPr lang="ko-KR"/>
          </a:p>
          <a:p>
            <a:r>
              <a:rPr lang="ko-KR" altLang="en-US" dirty="0"/>
              <a:t>리절트에는 솔브 액티비티 셀렉션에 데이터를 넣고 돌려받은 목록을 저장합니다. 앞에서 따라간 대로 리절트에는 일번, 오번, 육번 회의 세 개가 들어 있습니다.</a:t>
            </a:r>
          </a:p>
          <a:p>
            <a:endParaRPr lang="ko-KR"/>
          </a:p>
          <a:p>
            <a:r>
              <a:rPr lang="ko-KR" altLang="en-US" dirty="0"/>
              <a:t>출력 부분입니다. 첫 프린트는 에프 스트링으로 총 배정된 회의 수를 찍습니다. 중괄호 안의 렌 리절트는 리절트의 길이, 곧 고른 회의 수 삼입니다. 둘째 프린트는 빼기 기호 한 개를 사십 번 반복한 구분선입니다.</a:t>
            </a:r>
          </a:p>
          <a:p>
            <a:endParaRPr lang="ko-KR"/>
          </a:p>
          <a:p>
            <a:r>
              <a:rPr lang="ko-KR" altLang="en-US" dirty="0"/>
              <a:t>마지막 포 문은 리절트의 회의를 하나씩 엠에 꺼내 출력합니다. 엠의 인덱스 영은 아이디, 일은 시작, 이는 종료입니다. 그래서 첫 줄은 대괄호 안의 일번 회의, 그리고 일시 물결 삼시가 됩니다.</a:t>
            </a:r>
          </a:p>
          <a:p>
            <a:endParaRPr lang="ko-KR"/>
          </a:p>
          <a:p>
            <a:r>
              <a:rPr lang="ko-KR" altLang="en-US" dirty="0"/>
              <a:t>자주 하는 실수는 함수를 호출만 하고 반환값을 받지 않는 것입니다. 리절트처럼 변수에 받아 두지 않으면 고른 회의 목록을 출력에 쓸 수 없습니다. 다음은 같은 일을 하는 씨 코드입니다.</a:t>
            </a:r>
          </a:p>
          <a:p>
            <a:endParaRPr lang="ko-K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코드는 세 화면으로 나눴습니다. 첫 화면은 준비 부분입니다. 인클루드 세 줄 가운데 리밋츠 헤더는 인트 민을, 스탠다드 아이오 헤더는 프린트 에프를, 스탠다드 립 헤더는 큐 소트를 쓰기 위해 넣었습니다. 인트 민과 큐 소트는 다음 화면의 함수에서 씁니다.</a:t>
            </a:r>
          </a:p>
          <a:p>
            <a:endParaRPr lang="ko-KR"/>
          </a:p>
          <a:p>
            <a:r>
              <a:rPr lang="ko-KR" altLang="en-US" dirty="0"/>
              <a:t>타입데프 스트럭트 줄은 회의 하나를 담는 구조체 미팅을 만듭니다. 아이디, 스타트, 엔드 세 정수를 한 묶음으로 다루는 것으로, 파이썬의 튜플 역할입니다. 이 줄 덕분에 뒤에서 미팅을 자료형 이름처럼 쓸 수 있습니다.</a:t>
            </a:r>
          </a:p>
          <a:p>
            <a:endParaRPr lang="ko-KR"/>
          </a:p>
          <a:p>
            <a:r>
              <a:rPr lang="ko-KR" altLang="en-US" dirty="0"/>
              <a:t>바이 엔드는 큐 소트에 넘기는 비교 함수입니다. 큐 소트는 원소의 자료형을 모르기 때문에 두 원소의 주소를 콘스트 보이드 포인터로 넘깁니다. 함수 첫 줄에서 이를 미팅 포인터 엑스와 와이로 바꾸고, 엑스 화살표 엔드에서 와이 화살표 엔드를 뺀 값을 돌려줍니다. 화살표는 포인터가 가리키는 구조체의 필드를 읽는 연산자입니다.</a:t>
            </a:r>
          </a:p>
          <a:p>
            <a:endParaRPr lang="ko-KR"/>
          </a:p>
          <a:p>
            <a:r>
              <a:rPr lang="ko-KR" altLang="en-US" dirty="0"/>
              <a:t>돌려준 값이 음수이면 엑스가 앞에, 양수이면 뒤에 놓입니다. 예를 들어 일번과 이번을 비교하면 삼 빼기 오, 음수이므로 일번이 앞에 옵니다. 그래서 종료 시각이 빠른 순으로 정렬됩니다.</a:t>
            </a:r>
          </a:p>
          <a:p>
            <a:endParaRPr lang="ko-KR"/>
          </a:p>
          <a:p>
            <a:r>
              <a:rPr lang="ko-KR" altLang="en-US" dirty="0"/>
              <a:t>자주 하는 실수는 엔드 대신 스타트를 빼는 것입니다. 그러면 시작 순으로 정렬되어 앞에서 본 반례처럼 틀립니다. 다음 화면에서 이 비교 함수로 정렬한 뒤 회의를 고르는 함수를 보겠습니다.</a:t>
            </a:r>
          </a:p>
          <a:p>
            <a:endParaRPr lang="ko-K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회의를 고르는 함수입니다. 맨 위 주석처럼 고른 회의를 셀에 담고 그 개수를 돌려줍니다. 솔브 액티비티 셀렉션은 회의 배열 엠, 개수 엔, 결과를 담을 배열 셀을 받습니다. 씨에서는 함수가 배열의 길이를 알 수 없으므로 개수 엔을 함께 넘깁니다.</a:t>
            </a:r>
          </a:p>
          <a:p>
            <a:endParaRPr lang="ko-KR"/>
          </a:p>
          <a:p>
            <a:r>
              <a:rPr lang="ko-KR" altLang="en-US" dirty="0"/>
              <a:t>첫 줄에서 큐 소트로 정렬합니다. 인자는 정렬할 배열 엠, 원소 개수 엔, 원소 하나의 크기인 사이즈오브 미팅, 그리고 비교 함수 바이 엔드입니다. 이 줄이 끝나면 엠은 종료 시각 순서입니다. 카운트는 영, 라스트 엔드는 인트 민입니다. 인트 민은 인트로 나타낼 수 있는 가장 작은 수로, 파이썬의 음의 무한대 역할을 합니다.</a:t>
            </a:r>
          </a:p>
          <a:p>
            <a:endParaRPr lang="ko-KR"/>
          </a:p>
          <a:p>
            <a:r>
              <a:rPr lang="ko-KR" altLang="en-US" dirty="0"/>
              <a:t>포 문은 아이를 영부터 엔 빼기 일까지 돌립니다. 엠의 아이 번째 회의의 스타트가 라스트 엔드 이상이면, 셀의 카운트 번째 자리에 그 회의를 넣고 카운트를 하나 늘립니다. 카운트 플러스 플러스는 지금 값을 자리로 쓴 다음 일을 더한다는 뜻입니다. 이어서 라스트 엔드를 그 회의의 엔드로 바꿉니다.</a:t>
            </a:r>
          </a:p>
          <a:p>
            <a:endParaRPr lang="ko-KR"/>
          </a:p>
          <a:p>
            <a:r>
              <a:rPr lang="ko-KR" altLang="en-US" dirty="0"/>
              <a:t>예제로 따라가면 정렬 뒤 첫 회의는 일번입니다. 일이 인트 민 이상이므로 셀의 영 번 자리에 일번을 넣고, 카운트는 일, 라스트 엔드는 삼이 됩니다. 다음 이번은 이가 삼보다 작아 건너뜁니다. 끝까지 보면 카운트는 삼이고, 마지막 줄에서 이 값을 돌려줍니다.</a:t>
            </a:r>
          </a:p>
          <a:p>
            <a:endParaRPr lang="ko-KR"/>
          </a:p>
          <a:p>
            <a:r>
              <a:rPr lang="ko-KR" altLang="en-US" dirty="0"/>
              <a:t>자주 하는 실수는 플러스 플러스를 카운트 앞에 붙이는 것입니다. 앞에 붙이면 일을 먼저 더한 뒤 그 값을 자리로 쓰므로 셀의 영 번 자리가 비고, 모든 회의를 고르는 입력에서는 배열 끝을 넘어서 씁니다. 다음 화면에서 메인 함수를 보겠습니다.</a:t>
            </a:r>
          </a:p>
          <a:p>
            <a:endParaRPr lang="ko-K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메인 함수입니다. 데이터 배열에 회의 여섯 개를 입력 순서대로 넣습니다. 중괄호 하나가 미팅 하나이고, 아이디, 시작, 종료 순서입니다. 일, 일, 삼은 일번 회의가 일시에 시작해 삼시에 끝난다는 뜻입니다.</a:t>
            </a:r>
          </a:p>
          <a:p>
            <a:endParaRPr lang="ko-KR"/>
          </a:p>
          <a:p>
            <a:r>
              <a:rPr lang="ko-KR" altLang="en-US" dirty="0"/>
              <a:t>리절트는 고른 회의를 받을 배열입니다. 최대 여섯 개를 고를 수 있으므로 크기를 육으로 잡았습니다. 솔브 함수에 데이터, 회의 수 육, 리절트를 넘기고, 반환값인 고른 회의 수를 케이에 받습니다.</a:t>
            </a:r>
          </a:p>
          <a:p>
            <a:endParaRPr lang="ko-KR"/>
          </a:p>
          <a:p>
            <a:r>
              <a:rPr lang="ko-KR" altLang="en-US" dirty="0"/>
              <a:t>출력 부분입니다. 첫 프린트 에프는 총 배정된 회의 수를, 둘째는 빼기 기호 사십 개짜리 구분선을 찍습니다. 포 문은 영부터 케이 빼기 일까지 돌며 리절트의 아이 번째 회의의 번호, 시작, 종료를 출력합니다. 포 문의 몸통이 프린트 에프 한 문장이라 중괄호 없이 썼고, 인자가 길어서 두 줄로 나눴습니다.</a:t>
            </a:r>
          </a:p>
          <a:p>
            <a:endParaRPr lang="ko-KR"/>
          </a:p>
          <a:p>
            <a:r>
              <a:rPr lang="ko-KR" altLang="en-US" dirty="0"/>
              <a:t>케이는 삼이므로 세 줄이 출력됩니다. 리턴 영으로 프로그램을 끝냅니다. 자주 하는 실수는 포 문을 케이가 아니라 육까지 돌리는 것입니다. 그러면 값을 넣지 않은 리절트의 자리까지 읽어서 엉뚱한 값이 찍힙니다. 다음 화면에서 실제 출력을 확인하겠습니다.</a:t>
            </a:r>
          </a:p>
          <a:p>
            <a:endParaRPr lang="ko-K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파이썬과 씨의 실행 결과입니다. 두 프로그램의 출력이 같습니다. 첫 줄은 총 배정된 회의 수 세 개, 둘째 줄은 빼기 기호 사십 개짜리 구분선입니다.</a:t>
            </a:r>
          </a:p>
          <a:p>
            <a:endParaRPr lang="ko-KR"/>
          </a:p>
          <a:p>
            <a:r>
              <a:rPr lang="ko-KR" altLang="en-US" dirty="0"/>
              <a:t>그 아래 세 줄이 고른 회의입니다. 일번 회의 일시에서 삼시, 오번 회의 오시에서 칠시, 육번 회의 팔시에서 십일시입니다. 앞에서 타임라인으로 따라간 결과와 그대로 같습니다.</a:t>
            </a:r>
          </a:p>
          <a:p>
            <a:endParaRPr lang="ko-KR"/>
          </a:p>
          <a:p>
            <a:r>
              <a:rPr lang="ko-KR" altLang="en-US" dirty="0"/>
              <a:t>출력 순서도 보세요. 일번, 오번, 육번 순서는 고른 순서이고, 고른 순서는 곧 종료 시각 순서입니다. 번호 오는 입력에서 다섯 번째로 넣은 오시에서 칠시 회의입니다. 정렬해도 번호는 회의를 따라다니므로 결과에 원래 번호가 그대로 나옵니다.</a:t>
            </a:r>
          </a:p>
          <a:p>
            <a:endParaRPr lang="ko-KR"/>
          </a:p>
          <a:p>
            <a:r>
              <a:rPr lang="ko-KR" altLang="en-US" dirty="0"/>
              <a:t>출력의 대괄호 안 번호와 시각을 앞의 타임라인 오른쪽 판정 열과 맞춰 보세요. 선택이라고 적힌 세 회의가 번호까지 그대로 출력되었습니다. 이제 이 알고리즘의 시간 복잡도를 보겠습니다.</a:t>
            </a:r>
          </a:p>
          <a:p>
            <a:endParaRPr lang="ko-K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회의 수를 엔이라고 하겠습니다. 알고리즘은 두 부분으로 나뉩니다. 첫째는 정렬입니다. 회의 엔 개를 종료 시각 순으로 정렬하는 데 오 엔 로그 엔이 걸립니다. 아래 첫 항목처럼 파이썬의 소트는 최악의 경우에도 오 엔 로그 엔이고, 씨의 큐 소트도 보통 오 엔 로그 엔입니다.</a:t>
            </a:r>
          </a:p>
          <a:p>
            <a:endParaRPr lang="ko-KR"/>
          </a:p>
          <a:p>
            <a:r>
              <a:rPr lang="ko-KR" altLang="en-US" dirty="0"/>
              <a:t>둘째는 훑기입니다. 정렬된 목록을 앞에서부터 한 번 지나가며 회의마다 비교를 한 번씩 합니다. 되돌아가서 다시 보는 일이 없으므로 오 엔입니다. 앞의 예에서도 비교는 여섯 번이었습니다.</a:t>
            </a:r>
          </a:p>
          <a:p>
            <a:endParaRPr lang="ko-KR"/>
          </a:p>
          <a:p>
            <a:r>
              <a:rPr lang="ko-KR" altLang="en-US" dirty="0"/>
              <a:t>둘을 더하면 오 엔 로그 엔 더하기 오 엔이고, 더 큰 쪽인 오 엔 로그 엔이 전체를 정합니다. 그리디로 고르는 부분보다 정렬이 더 비쌉니다. 공간은 고른 회의 목록을 담는 데 오 엔이 필요합니다.</a:t>
            </a:r>
          </a:p>
          <a:p>
            <a:endParaRPr lang="ko-KR"/>
          </a:p>
          <a:p>
            <a:r>
              <a:rPr lang="ko-KR" altLang="en-US" dirty="0"/>
              <a:t>만약 입력이 처음부터 종료 시각 순으로 정렬되어 주어진다면 정렬을 뺄 수 있습니다. 그러면 한 번 훑기만 하므로 오 엔입니다. 문제에서 입력이 정렬되어 있다고 했는지 꼭 확인하세요. 이제 이 그리디가 왜 항상 최대 개수를 주는지 확인해 보겠습니다.</a:t>
            </a:r>
          </a:p>
          <a:p>
            <a:endParaRPr lang="ko-K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앞에서 그리디는 일번, 오번, 육번을 골랐습니다. 이 세 개가 정말 최대인지 보려고 최적해를 하나 가져와 보겠습니다. 최적해는 하나만 있는 것이 아니므로, 예를 들어 이번, 사번, 육번이 최적해라고 해 봅시다. 위 타임라인이고, 서로 겹치지 않는 세 개입니다.</a:t>
            </a:r>
          </a:p>
          <a:p>
            <a:endParaRPr lang="ko-KR"/>
          </a:p>
          <a:p>
            <a:r>
              <a:rPr lang="ko-KR" altLang="en-US" dirty="0"/>
              <a:t>오른쪽 첫 항목을 보세요. 그리디의 첫 회의는 일번이고, 일번은 전체에서 가장 먼저 끝나는 회의입니다. 엑스는 최적해 안에서 가장 먼저 끝나는 회의, 여기서는 이번입니다. 그리디의 첫 회의는 전체에서 가장 먼저 끝나므로, 그 종료 시각은 엑스의 종료 시각보다 늦지 않습니다. 여기서는 삼과 오입니다.</a:t>
            </a:r>
          </a:p>
          <a:p>
            <a:endParaRPr lang="ko-KR"/>
          </a:p>
          <a:p>
            <a:r>
              <a:rPr lang="ko-KR" altLang="en-US" dirty="0"/>
              <a:t>이제 최적해에서 엑스를 빼고 그리디의 첫 회의를 넣습니다. 아래 타임라인이 이렇게 바꾼 해입니다. 최적해의 나머지 회의인 사번과 육번은 엑스가 끝난 오시 이후에 시작합니다. 그리디의 첫 회의는 그보다 이른 삼시에 끝나므로 나머지 회의와 겹치지 않습니다. 회의 수가 여전히 세 개이므로 바꾼 해도 최적해입니다.</a:t>
            </a:r>
          </a:p>
          <a:p>
            <a:endParaRPr lang="ko-KR"/>
          </a:p>
          <a:p>
            <a:r>
              <a:rPr lang="ko-KR" altLang="en-US" dirty="0"/>
              <a:t>어떤 최적해를 가져와도 이렇게 바꿀 수 있습니다. 그러니 그리디의 첫 회의를 포함하는 최적해가 적어도 하나 있습니다. 모든 최적해가 일번을 포함한다는 뜻은 아닙니다. 위의 최적해처럼 일번이 없는 최적해도 있으니까요. 셋째 항목처럼 첫 회의와 겹치지 않는 남은 회의들에 같은 논리를 되풀이하면, 그리디가 고른 전체도 최적해가 됩니다.</a:t>
            </a:r>
          </a:p>
          <a:p>
            <a:endParaRPr lang="ko-KR"/>
          </a:p>
          <a:p>
            <a:r>
              <a:rPr lang="ko-KR" altLang="en-US" dirty="0"/>
              <a:t>오른쪽 아래 문장이 이 방법의 이름입니다. 최적해의 일부를 탐욕 선택으로 바꿔도 여전히 최적해임을 보이는 방법, 이것을 교환 논증이라고 합니다. 오 점 오 절에서 다시 정리하겠습니다. 다음은 이 알고리즘으로 개수만 세는 연습문제입니다.</a:t>
            </a:r>
          </a:p>
          <a:p>
            <a:endParaRPr lang="ko-K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연습문제입니다. 액티비티 카운트는 활동 목록을 받아, 시간이 겹치지 않게 고를 수 있는 활동의 최대 개수를 돌려주는 함수입니다. 활동은 이미 종료 시각이 빠른 순으로 정렬되어 들어온다고 하겠습니다. 예로 일시에서 사시, 삼시에서 오시, 사시에서 육시 활동을 넣어 보겠습니다. 종료 시각이 사, 오, 육이므로 이미 정렬된 순서입니다.</a:t>
            </a:r>
          </a:p>
          <a:p>
            <a:endParaRPr lang="ko-KR"/>
          </a:p>
          <a:p>
            <a:r>
              <a:rPr lang="ko-KR" altLang="en-US" dirty="0"/>
              <a:t>처음에 카운트는 영, 라스트 엔드는 음의 무한대입니다. 아래 표의 첫 줄입니다. 첫 활동은 일이 음의 무한대 이상이므로 고릅니다. 카운트는 일, 라스트 엔드는 사가 됩니다.</a:t>
            </a:r>
          </a:p>
          <a:p>
            <a:endParaRPr lang="ko-KR"/>
          </a:p>
          <a:p>
            <a:r>
              <a:rPr lang="ko-KR" altLang="en-US" dirty="0"/>
              <a:t>둘째 활동은 삼시에 시작합니다. 삼이 사 이상이라는 조건이 거짓이므로 건너뜁니다. 카운트와 라스트 엔드는 그대로 일과 사입니다. 앞에서 본 것처럼 이 활동은 첫 활동이 끝나기 전에 시작합니다.</a:t>
            </a:r>
          </a:p>
          <a:p>
            <a:endParaRPr lang="ko-KR"/>
          </a:p>
          <a:p>
            <a:r>
              <a:rPr lang="ko-KR" altLang="en-US" dirty="0"/>
              <a:t>셋째 활동은 사시에 시작합니다. 사가 사 이상이라는 조건은 참입니다. 같아도 되니까요. 고르고 카운트는 이, 라스트 엔드는 육이 됩니다. 함수는 이를 돌려줍니다. 일시에서 사시, 사시에서 육시 활동 두 개입니다.</a:t>
            </a:r>
          </a:p>
          <a:p>
            <a:endParaRPr lang="ko-KR"/>
          </a:p>
          <a:p>
            <a:r>
              <a:rPr lang="ko-KR" altLang="en-US" dirty="0"/>
              <a:t>비교 기호를 크다로 쓰면 셋째 활동에서 사가 사보다 크지 않아 건너뛰게 되고, 답이 일로 틀립니다. 끝나는 시각에 바로 시작할 수 있다는 규칙이 크거나 같다에 들어 있습니다. 다음 화면에서 이 과정을 의사코드로 정리하겠습니다.</a:t>
            </a:r>
          </a:p>
          <a:p>
            <a:endParaRPr lang="ko-K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액티비티 카운트의 의사코드입니다. 앞의 활동 선택 코드에서 고른 활동을 목록에 담는 대신 개수만 세도록 바꾼 모양입니다. 첫 줄의 주석처럼 입력이 종료 시각 순으로 정렬되어 있다는 전제가 있습니다.</a:t>
            </a:r>
          </a:p>
          <a:p>
            <a:endParaRPr lang="ko-KR"/>
          </a:p>
          <a:p>
            <a:r>
              <a:rPr lang="ko-KR" altLang="en-US" dirty="0"/>
              <a:t>카운트를 영, 라스트 엔드를 음의 무한대로 놓습니다. 포 문에서 활동마다 시작과 종료를 꺼내, 시작이 라스트 엔드 이상이면 카운트를 하나 늘리고 라스트 엔드를 종료로 바꿉니다. 끝나면 카운트를 돌려줍니다.</a:t>
            </a:r>
          </a:p>
          <a:p>
            <a:endParaRPr lang="ko-KR"/>
          </a:p>
          <a:p>
            <a:r>
              <a:rPr lang="ko-KR" altLang="en-US" dirty="0"/>
              <a:t>빈 목록을 넣으면 어떻게 될까요? 포 문이 한 번도 돌지 않으므로 카운트는 처음 값 영 그대로 돌아옵니다. 빈 목록을 따로 검사하는 이프가 없어도 됩니다. 반대로 목록의 첫 원소를 미리 꺼내 넣고 시작하는 방식으로 짜면, 빈 목록에서는 꺼낼 원소가 없어 오류가 납니다.</a:t>
            </a:r>
          </a:p>
          <a:p>
            <a:endParaRPr lang="ko-KR"/>
          </a:p>
          <a:p>
            <a:r>
              <a:rPr lang="ko-KR" altLang="en-US" dirty="0"/>
              <a:t>시각이 영 이상이라고 주어진 문제라면 라스트 엔드를 영으로 시작해도 됩니다. 첫 활동의 시작이 영 이상이므로 조건을 통과하기 때문입니다.</a:t>
            </a:r>
          </a:p>
          <a:p>
            <a:endParaRPr lang="ko-KR"/>
          </a:p>
          <a:p>
            <a:r>
              <a:rPr lang="ko-KR" altLang="en-US" dirty="0"/>
              <a:t>시간 복잡도는 입력이 이미 정렬되어 있으므로 한 번 훑는 오 엔입니다. 입력이 정렬되어 있지 않아 직접 정렬부터 한다면 오 엔 로그 엔입니다. 자기 코드가 정렬을 하는지 안 하는지에 맞춰 써야 합니다. 이제 이 절의 확인 문제를 풀어 보겠습니다.</a:t>
            </a:r>
          </a:p>
          <a:p>
            <a:endParaRPr lang="ko-K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문제입니다. 종료 시각 순으로 정렬하면 이시에서 삼시, 일시에서 사시, 삼시에서 오시, 오시에서 육시 순서입니다. 이시에서 삼시 회의를 고르고 라스트 엔드는 삼. 일시에서 사시 회의는 일이 삼보다 작아 건너뜁니다. 삼시에서 오시 회의는 삼이 삼 이상이라 고르고 라스트 엔드는 오. 오시에서 육시 회의는 오가 오 이상이라 고릅니다. 모두 세 개입니다.</a:t>
            </a:r>
          </a:p>
          <a:p>
            <a:endParaRPr lang="ko-KR"/>
          </a:p>
          <a:p>
            <a:r>
              <a:rPr lang="ko-KR" altLang="en-US" dirty="0"/>
              <a:t>두 번째 문제는 답이 여러 개입니다. 핵심은 가장 일찍 시작하지만 아주 늦게 끝나는 활동 하나와, 그 안에 들어가는 서로 겹치지 않는 짧은 활동 두 개를 만드는 것입니다. 예를 들어 영시에서 십시, 일시에서 이시, 삼시에서 사시 활동이면 시작 순 그리디는 영시에서 십시 하나를 고르고 나머지 둘은 겹쳐서 버립니다. 실제로는 일시에서 이시와 삼시에서 사시, 두 개를 고를 수 있습니다. 그리디의 결과, 더 많은 선택, 개수 비교를 모두 써야 합니다.</a:t>
            </a:r>
          </a:p>
          <a:p>
            <a:endParaRPr lang="ko-KR"/>
          </a:p>
          <a:p>
            <a:r>
              <a:rPr lang="ko-KR" altLang="en-US" dirty="0"/>
              <a:t>세 번째 문제입니다. 이시에서 사시 활동은 사시를 포함하지 않으므로 사시에 시작하는 활동과 겹치지 않습니다. 시작 사가 앞 활동의 종료 사 이상이므로 함께 고를 수 있습니다.</a:t>
            </a:r>
          </a:p>
          <a:p>
            <a:endParaRPr lang="ko-KR"/>
          </a:p>
          <a:p>
            <a:r>
              <a:rPr lang="ko-KR" altLang="en-US" dirty="0"/>
              <a:t>네 번째 문제입니다. 빈 목록이면 포 문이 한 번도 돌지 않아 영을 돌려줍니다. 다음 절에서는 배낭 문제로 넘어가겠습니다.</a:t>
            </a:r>
          </a:p>
          <a:p>
            <a:endParaRPr lang="ko-K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사 절은 배낭 문제입니다. 무게 제한이 있는 배낭에 보물을 골라 담아서, 담은 가치의 합을 가장 크게 만드는 문제예요.</a:t>
            </a:r>
          </a:p>
          <a:p>
            <a:endParaRPr lang="ko-KR"/>
          </a:p>
          <a:p>
            <a:r>
              <a:rPr lang="ko-KR" altLang="en-US" dirty="0"/>
              <a:t>화면의 문장처럼 이 절의 핵심은 하나입니다. 보물을 원하는 만큼 덜어 담을 수 있으면 그리디가 최적해를 보장하고, 덜어 담을 수 없으면 같은 방식이 틀릴 수 있습니다. 먼저 쪼갤 수 있는 경우를 끝까지 본 다음, 같은 숫자로 쪼갤 수 없는 경우를 보겠습니다.</a:t>
            </a:r>
          </a:p>
          <a:p>
            <a:endParaRPr lang="ko-K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배낭 문제가 무엇인지부터 정리하겠습니다. 용량이 정해진 배낭 하나가 있고, 보물마다 무게와 가치가 정해져 있습니다. 담은 무게의 합이 용량을 넘으면 안 됩니다. 그 안에서 가치의 합을 가장 크게 만드는 것이 목표예요. 영어로는 냅색 프라블럼이라고 합니다.</a:t>
            </a:r>
          </a:p>
          <a:p>
            <a:endParaRPr lang="ko-KR"/>
          </a:p>
          <a:p>
            <a:r>
              <a:rPr lang="ko-KR" altLang="en-US" dirty="0"/>
              <a:t>표를 보세요. 보물은 에이, 비, 씨 세 개입니다. 에이는 무게 이십 킬로그램에 가치 만 사천 골드, 비와 씨는 둘 다 십오 킬로그램에 구천 골드입니다. 골드, 줄여서 지는 가치의 단위입니다. 배낭 용량은 삼십 킬로그램입니다. 세 개를 다 담으면 오십 킬로그램이라 들어가지 않으니, 무엇을 얼마나 담을지 골라야 합니다.</a:t>
            </a:r>
          </a:p>
          <a:p>
            <a:endParaRPr lang="ko-KR"/>
          </a:p>
          <a:p>
            <a:r>
              <a:rPr lang="ko-KR" altLang="en-US" dirty="0"/>
              <a:t>이 문제는 보물을 쪼갤 수 있느냐에 따라 두 가지로 나뉩니다. 보물이 금가루처럼 원하는 만큼 덜어 낼 수 있는 것이라면 분할 배낭, 영어로 프랙셔널 냅색입니다. 반대로 조각상처럼 통째로만 담을 수 있다면 영 일 배낭입니다. 담으면 일, 담지 않으면 영이라서 붙은 이름이에요.</a:t>
            </a:r>
          </a:p>
          <a:p>
            <a:endParaRPr lang="ko-KR"/>
          </a:p>
          <a:p>
            <a:r>
              <a:rPr lang="ko-KR" altLang="en-US" dirty="0"/>
              <a:t>두 문제는 표의 숫자가 같아도 답이 달라집니다. 이번 절에서는 먼저 분할 배낭을 문제, 단계, 코드, 실행 결과까지 끝까지 보고, 그다음에 똑같은 숫자로 영 일 배낭을 다시 보겠습니다. 다음 화면에서 분할 배낭의 기준부터 정하겠습니다.</a:t>
            </a:r>
          </a:p>
          <a:p>
            <a:endParaRPr lang="ko-K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분할 배낭에서 무엇을 기준으로 고를지 정하겠습니다. 보물을 일 킬로그램 단위로 덜어 낼 수 있으니, 배낭의 일 킬로그램 자리마다 무엇을 넣을지가 문제입니다. 그래서 기준은 총 가치가 아니라 일 킬로그램에 얼마인지, 즉 무게당 가치입니다. 흔히 가성비라고 부르고, 코드에서는 레이쇼라는 이름을 씁니다.</a:t>
            </a:r>
          </a:p>
          <a:p>
            <a:endParaRPr lang="ko-KR"/>
          </a:p>
          <a:p>
            <a:r>
              <a:rPr lang="ko-KR" altLang="en-US" dirty="0"/>
              <a:t>오른쪽 계산을 보세요. 무게당 가치는 가치를 무게로 나눈 값입니다. 에이는 만 사천을 이십으로 나눠 칠백, 비와 씨는 구천을 십오로 나눠 육백입니다. 단위를 붙여 읽으면 킬로그램당 칠백 골드, 킬로그램당 육백 골드예요. 표의 노란 열이 이 값입니다.</a:t>
            </a:r>
          </a:p>
          <a:p>
            <a:endParaRPr lang="ko-KR"/>
          </a:p>
          <a:p>
            <a:r>
              <a:rPr lang="ko-KR" altLang="en-US" dirty="0"/>
              <a:t>이 값이 큰 순서로 줄을 세우면 에이, 비, 씨입니다. 비와 씨는 육백으로 같은데, 이럴 때는 입력 순서대로 비를 먼저 봅니다. 둘은 무게와 가치까지 같아서 어느 쪽을 먼저 봐도 결과는 같습니다.</a:t>
            </a:r>
          </a:p>
          <a:p>
            <a:endParaRPr lang="ko-KR"/>
          </a:p>
          <a:p>
            <a:r>
              <a:rPr lang="ko-KR" altLang="en-US" dirty="0"/>
              <a:t>아래 회색 막대가 배낭입니다. 지금은 삼십 킬로그램이 모두 비어 있습니다. 그리디의 세 단계로 말하면, 선택은 이 줄의 맨 앞에 있는 보물을 고르는 것입니다. 다음 화면에서 첫 번째 보물 에이를 담아 보겠습니다.</a:t>
            </a:r>
          </a:p>
          <a:p>
            <a:endParaRPr lang="ko-K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줄의 맨 앞, 무게당 가치가 가장 높은 에이부터 봅니다. 에이의 무게는 이십 킬로그램이고 배낭에는 삼십 킬로그램이 남아 있습니다.</a:t>
            </a:r>
          </a:p>
          <a:p>
            <a:endParaRPr lang="ko-KR"/>
          </a:p>
          <a:p>
            <a:r>
              <a:rPr lang="ko-KR" altLang="en-US" dirty="0"/>
              <a:t>여기서 적정성 검사를 합니다. 이십이 삼십 이하이므로 에이는 통째로 들어갑니다. 쪼갤 필요가 없으니 에이 전부를 담습니다. 표의 에이 줄에 담은 무게 이십 킬로그램, 얻은 가치 만 사천 골드가 파랗게 채워졌습니다.</a:t>
            </a:r>
          </a:p>
          <a:p>
            <a:endParaRPr lang="ko-KR"/>
          </a:p>
          <a:p>
            <a:r>
              <a:rPr lang="ko-KR" altLang="en-US" dirty="0"/>
              <a:t>아래 막대를 보세요. 배낭의 삼십 킬로그램 중 이십 킬로그램을 에이가 차지했고, 빈 공간은 삼십 빼기 이십, 십 킬로그램입니다. 오른쪽에 남은 용량 십 킬로그램과 가치 합 만 사천 골드를 적었습니다.</a:t>
            </a:r>
          </a:p>
          <a:p>
            <a:endParaRPr lang="ko-KR"/>
          </a:p>
          <a:p>
            <a:r>
              <a:rPr lang="ko-KR" altLang="en-US" dirty="0"/>
              <a:t>에이를 먼저 담아도 손해가 없는 이유는 간단합니다. 배낭의 어느 일 킬로그램 자리에 넣든, 에이가 킬로그램당 칠백 골드로 무게당 가치가 가장 높습니다. 다음은 두 번째 보물 비입니다. 비는 십오 킬로그램인데 남은 공간은 십 킬로그램뿐입니다.</a:t>
            </a:r>
          </a:p>
          <a:p>
            <a:endParaRPr lang="ko-K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이번에는 비를 봅니다. 비의 무게는 십오 킬로그램이고 남은 용량은 십 킬로그램입니다. 적정성 검사를 하면 십오가 십보다 크므로 비는 통째로 들어가지 않습니다.</a:t>
            </a:r>
          </a:p>
          <a:p>
            <a:endParaRPr lang="ko-KR"/>
          </a:p>
          <a:p>
            <a:r>
              <a:rPr lang="ko-KR" altLang="en-US" dirty="0"/>
              <a:t>쪼갤 수 없는 배낭이라면 여기서 비를 건너뛰겠지만, 지금은 쪼갤 수 있습니다. 그래서 남은 공간만큼, 십 킬로그램만 덜어 담습니다. 비 전체 십오 킬로그램 중 십 킬로그램이므로 비율은 십을 십오로 나눈 삼분의 이입니다.</a:t>
            </a:r>
          </a:p>
          <a:p>
            <a:endParaRPr lang="ko-KR"/>
          </a:p>
          <a:p>
            <a:r>
              <a:rPr lang="ko-KR" altLang="en-US" dirty="0"/>
              <a:t>가치도 같은 비율만큼 들어옵니다. 비 전체의 가치 구천 골드에 삼분의 이를 곱하면 육천 골드입니다. 무게당 가치로 계산해도 같습니다. 십 킬로그램 곱하기 킬로그램당 육백 골드는 육천 골드예요. 코드에서는 이 두 번째 방법, 남은 공간 곱하기 레이쇼로 계산합니다.</a:t>
            </a:r>
          </a:p>
          <a:p>
            <a:endParaRPr lang="ko-KR"/>
          </a:p>
          <a:p>
            <a:r>
              <a:rPr lang="ko-KR" altLang="en-US" dirty="0"/>
              <a:t>표의 비 줄에는 십 킬로그램, 삼분의 이, 육천 골드가 초록으로 채워졌습니다. 초록은 일부만 덜어 담았다는 표시입니다. 아래 막대도 빈칸 없이 꽉 찼습니다. 다음 화면에서 이 상태를 정리하겠습니다.</a:t>
            </a:r>
          </a:p>
          <a:p>
            <a:endParaRPr lang="ko-K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비를 덜어 담는 순간 남은 용량이 영이 되었습니다. 해답 검사를 하면 배낭이 가득 찼으므로 반복을 끝냅니다. 씨는 아직 확인하지 않았지만 확인할 필요가 없습니다. 넣을 자리가 없으니까요. 표의 씨 줄에 확인하지 않음이라고 적었습니다.</a:t>
            </a:r>
          </a:p>
          <a:p>
            <a:endParaRPr lang="ko-KR"/>
          </a:p>
          <a:p>
            <a:r>
              <a:rPr lang="ko-KR" altLang="en-US" dirty="0"/>
              <a:t>결과를 더해 보겠습니다. 무게는 에이 이십 킬로그램과 비 십 킬로그램을 더해 삼십 킬로그램으로, 용량과 정확히 같습니다. 가치는 만 사천 골드와 육천 골드를 더해 이만 골드입니다.</a:t>
            </a:r>
          </a:p>
          <a:p>
            <a:endParaRPr lang="ko-KR"/>
          </a:p>
          <a:p>
            <a:r>
              <a:rPr lang="ko-KR" altLang="en-US" dirty="0"/>
              <a:t>과정을 다시 보면 그리디의 세 단계가 그대로 보입니다. 매번 무게당 가치가 가장 높은 보물을 선택하고, 남은 용량에 통째로 들어가는지 적정성을 검사하고, 남은 용량이 영인지로 해답을 검사했습니다. 덜어 담는 일은 마지막에 딱 한 번만 일어났습니다.</a:t>
            </a:r>
          </a:p>
          <a:p>
            <a:endParaRPr lang="ko-KR"/>
          </a:p>
          <a:p>
            <a:r>
              <a:rPr lang="ko-KR" altLang="en-US" dirty="0"/>
              <a:t>그런데 이만 골드가 정말 최대일까요? 다른 방법으로 담으면 더 많이 담을 수 있지 않을까요? 다음 화면에서 일 킬로그램씩 바꿔 보며 확인하겠습니다.</a:t>
            </a:r>
          </a:p>
          <a:p>
            <a:endParaRPr lang="ko-K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이만 골드가 최대인 이유를 일 킬로그램 단위로 바꿔 보며 확인하겠습니다. 그리디 배낭에는 에이 이십 킬로그램과 비 십 킬로그램이 들어 있습니다. 배낭 안의 일 킬로그램은 칠백 골드나 육백 골드짜리이고, 밖에 남은 비 오 킬로그램과 씨 십오 킬로그램은 모두 일 킬로그램에 육백 골드입니다.</a:t>
            </a:r>
          </a:p>
          <a:p>
            <a:endParaRPr lang="ko-KR"/>
          </a:p>
          <a:p>
            <a:r>
              <a:rPr lang="ko-KR" altLang="en-US" dirty="0"/>
              <a:t>표의 첫 줄처럼 안의 에이 일 킬로그램을 빼고 밖의 씨 일 킬로그램을 넣으면, 칠백을 잃고 육백을 얻어 백 골드 손해입니다. 둘째 줄처럼 안의 비 일 킬로그램을 씨 일 킬로그램으로 바꾸면 육백을 잃고 육백을 얻으니 그대로입니다. 셋째 줄처럼 에이를 빼고 비워 두면 칠백 골드를 그냥 잃습니다.</a:t>
            </a:r>
          </a:p>
          <a:p>
            <a:endParaRPr lang="ko-KR"/>
          </a:p>
          <a:p>
            <a:r>
              <a:rPr lang="ko-KR" altLang="en-US" dirty="0"/>
              <a:t>어떻게 바꿔도 가치가 늘지 않습니다. 그리디 배낭 안의 일 킬로그램은 모두, 밖에 있는 어떤 일 킬로그램보다 무게당 가치가 낮지 않기 때문입니다. 그리고 다른 어떤 배낭도 이 배낭에서 일 킬로그램씩 바꿔서 만들 수 있습니다. 바꿀 때마다 가치가 줄거나 그대로이니, 이만 골드보다 큰 배낭은 없습니다.</a:t>
            </a:r>
          </a:p>
          <a:p>
            <a:endParaRPr lang="ko-KR"/>
          </a:p>
          <a:p>
            <a:r>
              <a:rPr lang="ko-KR" altLang="en-US" dirty="0"/>
              <a:t>거꾸로 보면, 어떤 최적 배낭이든 그 안의 일 킬로그램을 그리디가 담은 일 킬로그램으로 바꿔도 가치가 줄지 않습니다. 최적해의 일부를 탐욕 선택으로 바꿔도 여전히 최적이라는 것, 오 점 삼 절에서 본 교환 논증입니다. 오 점 오 절에서 다시 정리합니다. 다음은 지금까지의 과정을 의사코드로 옮기겠습니다.</a:t>
            </a:r>
          </a:p>
          <a:p>
            <a:endParaRPr lang="ko-K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방금 따라간 과정을 의사코드로 적었습니다. 변수 이름은 뒤에 나올 코드와 맞췄고, 한 줄에 한 가지 일만 적었습니다.</a:t>
            </a:r>
          </a:p>
          <a:p>
            <a:endParaRPr lang="ko-KR"/>
          </a:p>
          <a:p>
            <a:r>
              <a:rPr lang="ko-KR" altLang="en-US" dirty="0"/>
              <a:t>함수 머리 다음 줄에서 아이템스를 레이쇼가 큰 순서로 정렬합니다. 레이쇼는 무게당 가치입니다. 다음 두 줄에서 토털 밸류, 즉 지금까지 담은 가치와 커런트 웨이트, 즉 지금까지 담은 무게를 각각 영으로 시작합니다.</a:t>
            </a:r>
          </a:p>
          <a:p>
            <a:endParaRPr lang="ko-KR"/>
          </a:p>
          <a:p>
            <a:r>
              <a:rPr lang="ko-KR" altLang="en-US" dirty="0"/>
              <a:t>포 문에서 보물을 정렬된 순서대로 하나씩 봅니다. 이프의 조건은, 지금 무게에 이 보물의 무게를 더해도 용량 커패시티 이하인가입니다. 그렇다면 통째로 담습니다. 아래 두 줄에서 무게와 가치를 각각 더합니다. 예제의 에이가 이 경우였습니다.</a:t>
            </a:r>
          </a:p>
          <a:p>
            <a:endParaRPr lang="ko-KR"/>
          </a:p>
          <a:p>
            <a:r>
              <a:rPr lang="ko-KR" altLang="en-US" dirty="0"/>
              <a:t>엘스는 통째로 들어가지 않을 때입니다. 룸에 남은 공간, 커패시티 빼기 커런트 웨이트를 구하고, 룸 곱하기 레이쇼만큼 가치를 더합니다. 예제의 비가 이 경우로, 십 곱하기 육백, 육천이었습니다. 덜어 담으면 배낭이 가득 차므로 다음 줄의 브레이크로 바로 빠져나옵니다.</a:t>
            </a:r>
          </a:p>
          <a:p>
            <a:endParaRPr lang="ko-KR"/>
          </a:p>
          <a:p>
            <a:r>
              <a:rPr lang="ko-KR" altLang="en-US" dirty="0"/>
              <a:t>아래 표는 그리디의 세 단계와의 대응입니다. 정렬된 순서대로 보는 것이 선택, 통째로 들어가는지 묻는 이프가 적정성 검사, 덜어 담은 뒤의 브레이크가 해답 검사입니다. 덜어 담기가 많아야 한 번이라는 점도 기억해 두세요. 다음은 파이썬 코드입니다.</a:t>
            </a:r>
          </a:p>
          <a:p>
            <a:endParaRPr lang="ko-K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코드입니다. 길이가 길어서 세 화면으로 나눴습니다. 첫 화면은 보물 하나를 나타내는 클래스 아이템입니다.</a:t>
            </a:r>
          </a:p>
          <a:p>
            <a:endParaRPr lang="ko-KR"/>
          </a:p>
          <a:p>
            <a:r>
              <a:rPr lang="ko-KR" altLang="en-US" dirty="0"/>
              <a:t>클래스는 여러 값을 하나로 묶은 틀입니다. 이닛은 보물을 만들 때 자동으로 불리는 함수이고, 이름, 무게, 가치를 받습니다. 셀프는 지금 만들어지는 그 보물 자신을 가리킵니다. 그래서 셀프 점 네임에 이름을, 셀프 점 웨이트에 무게를, 셀프 점 밸류에 가치를 저장합니다.</a:t>
            </a:r>
          </a:p>
          <a:p>
            <a:endParaRPr lang="ko-KR"/>
          </a:p>
          <a:p>
            <a:r>
              <a:rPr lang="ko-KR" altLang="en-US" dirty="0"/>
              <a:t>마지막 줄이 중요합니다. 가치를 무게로 나눈 레이쇼, 즉 무게당 가치를 만들 때 미리 계산해 둡니다. 에이는 만 사천 나누기 이십으로 칠백, 비와 씨는 구천 나누기 십오로 육백입니다. 이 값이 정렬의 기준이 되고, 덜어 담을 때 가치를 계산하는 데도 쓰입니다.</a:t>
            </a:r>
          </a:p>
          <a:p>
            <a:endParaRPr lang="ko-KR"/>
          </a:p>
          <a:p>
            <a:r>
              <a:rPr lang="ko-KR" altLang="en-US" dirty="0"/>
              <a:t>나눗셈 기호가 슬래시 하나라는 점을 보세요. 파이썬에서 슬래시 하나는 소수점까지 계산하는 나눗셈입니다. 슬래시 두 개, 몫 연산을 쓰면 소수점 아래가 버려져서 예를 들어 팔 나누기 삼이 이가 됩니다. 자주 하는 실수입니다. 다음 화면에서 배낭을 채우는 함수를 보겠습니다.</a:t>
            </a:r>
          </a:p>
          <a:p>
            <a:endParaRPr lang="ko-K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솔브 프랙셔널 냅색 함수는 용량 커패시티와 보물 목록 아이템스를 받습니다. 첫 줄의 소트가 그리디의 핵심입니다. 키는 람다 엑스 콜론 엑스 점 레이쇼, 즉 각 보물의 레이쇼 값으로 비교하라는 뜻이고, 리버스는 트루, 즉 큰 값부터 내림차순으로 세우라는 뜻입니다. 정렬하면 에이, 비, 씨 순서가 됩니다.</a:t>
            </a:r>
          </a:p>
          <a:p>
            <a:endParaRPr lang="ko-KR"/>
          </a:p>
          <a:p>
            <a:r>
              <a:rPr lang="ko-KR" altLang="en-US" dirty="0"/>
              <a:t>토털 밸류와 커런트 웨이트를 영으로 두고, 시작 메시지를 출력한 뒤 포 문으로 보물을 하나씩 봅니다. 이프는 지금 무게에 이 보물의 무게를 더해도 용량 이하인지 묻습니다. 에이는 영 더하기 이십이 삼십 이하라서 통째로 담고, 커런트 웨이트는 이십, 토털 밸류는 만 사천이 됩니다. 전체 추가를 출력하는 프린트는 에프 스트링 두 개를 쉼표로 넘기므로, 출력할 때 두 문자열 사이에 공백 한 칸이 들어갑니다.</a:t>
            </a:r>
          </a:p>
          <a:p>
            <a:endParaRPr lang="ko-KR"/>
          </a:p>
          <a:p>
            <a:r>
              <a:rPr lang="ko-KR" altLang="en-US" dirty="0"/>
              <a:t>비는 이십 더하기 십오가 삼십을 넘으니 엘스로 갑니다. 룸은 삼십 빼기 이십, 십입니다. 토털 밸류에 룸 곱하기 레이쇼, 십 곱하기 육백인 육천을 더해 이만이 됩니다. 메시지를 출력하고 브레이크로 반복을 끝내므로 씨는 보지 않습니다. 마지막 줄에서 토털 밸류를 돌려줍니다.</a:t>
            </a:r>
          </a:p>
          <a:p>
            <a:endParaRPr lang="ko-KR"/>
          </a:p>
          <a:p>
            <a:r>
              <a:rPr lang="ko-KR" altLang="en-US" dirty="0"/>
              <a:t>출력 서식의 콜론 지는 이십 점 영 대신 이십처럼 쓸데없는 소수점 없이 보여 주는 서식입니다. 자주 하는 실수는 리버스 트루를 빼는 것입니다. 그러면 무게당 가치가 낮은 보물부터 담게 됩니다. 다음 화면에서 이 함수를 실제로 호출하는 부분을 보겠습니다.</a:t>
            </a:r>
          </a:p>
          <a:p>
            <a:endParaRPr lang="ko-K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앞의 함수를 실제 보물로 호출하는 부분입니다. 아이템스 리스트에 보물 세 개를 만듭니다. 에이는 황금 가루, 무게 이십, 가치 만 사천입니다. 비는 은 가루, 씨는 보석 가루로, 둘 다 무게 십오, 가치 구천입니다. 앞에서 본 표와 같은 숫자예요. 아이템을 만들 때 이닛이 불리면서 레이쇼가 칠백, 육백, 육백으로 계산됩니다.</a:t>
            </a:r>
          </a:p>
          <a:p>
            <a:endParaRPr lang="ko-KR"/>
          </a:p>
          <a:p>
            <a:r>
              <a:rPr lang="ko-KR" altLang="en-US" dirty="0"/>
              <a:t>다음 줄에서 용량 삼십으로 솔브 프랙셔널 냅색을 부르고, 돌려받은 값을 베스트에 저장합니다. 함수 안에서 시작 메시지와 에이, 비에 대한 메시지가 출력됩니다.</a:t>
            </a:r>
          </a:p>
          <a:p>
            <a:endParaRPr lang="ko-KR"/>
          </a:p>
          <a:p>
            <a:r>
              <a:rPr lang="ko-KR" altLang="en-US" dirty="0"/>
              <a:t>그다음 프린트의 따옴표 안 빼기 기호 곱하기 삼십육은 빼기 기호 서른여섯 개를 이어 붙인 구분선입니다. 마지막 줄에서 베스트를 콜론 지 서식으로 출력합니다. 베스트는 실수 이만 점 영이지만, 콜론 지 덕분에 이만으로 보입니다.</a:t>
            </a:r>
          </a:p>
          <a:p>
            <a:endParaRPr lang="ko-KR"/>
          </a:p>
          <a:p>
            <a:r>
              <a:rPr lang="ko-KR" altLang="en-US" dirty="0"/>
              <a:t>이 함수가 아이템스 리스트 자체를 정렬해서 순서를 바꾼다는 점도 알아 두세요. 호출이 끝난 뒤 아이템스를 다시 쓰면 입력 순서가 아니라 정렬된 순서입니다. 순서가 중요한 곳에서 같은 리스트를 다시 쓰면 헷갈릴 수 있습니다. 다음은 같은 일을 하는 씨 언어 코드입니다.</a:t>
            </a:r>
          </a:p>
          <a:p>
            <a:endParaRPr lang="ko-K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언어 코드입니다. 네 화면으로 나눠 보겠습니다. 위의 세 줄은 헤더 파일입니다. 스탠다드 아이오는 프린트 에프, 스탠다드 립은 큐 소트, 스트링 헤더는 문자열 비교 함수 에스티알 씨엠피를 쓰기 위해 넣습니다.</a:t>
            </a:r>
          </a:p>
          <a:p>
            <a:endParaRPr lang="ko-KR"/>
          </a:p>
          <a:p>
            <a:r>
              <a:rPr lang="ko-KR" altLang="en-US" dirty="0"/>
              <a:t>타입데프 스트럭트는 파이썬의 클래스처럼 보물 하나의 값을 묶습니다. 이름은 문자열을 가리키는 콘스트 차 포인터, 무게와 가치는 정수, 레이쇼는 실수인 더블입니다. 끝의 아이템이 이 구조체의 이름입니다.</a:t>
            </a:r>
          </a:p>
          <a:p>
            <a:endParaRPr lang="ko-KR"/>
          </a:p>
          <a:p>
            <a:r>
              <a:rPr lang="ko-KR" altLang="en-US" dirty="0"/>
              <a:t>메이크 아이템 함수는 이름, 무게, 가치를 받아 구조체 하나를 만들어 돌려줍니다. 중괄호 안의 값이 순서대로 각 칸에 들어가고, 마지막 칸 레이쇼는 가치를 더블로 바꾼 뒤 무게로 나눈 값입니다. 파이썬의 이닛에서 레이쇼를 미리 계산한 것과 같은 일입니다.</a:t>
            </a:r>
          </a:p>
          <a:p>
            <a:endParaRPr lang="ko-KR"/>
          </a:p>
          <a:p>
            <a:r>
              <a:rPr lang="ko-KR" altLang="en-US" dirty="0"/>
              <a:t>앞의 괄호 더블이 중요합니다. 이것을 빼면 정수끼리의 나눗셈이 되어 소수점 아래가 버려집니다. 예제의 칠백과 육백은 나누어떨어져서 티가 나지 않지만, 팔을 삼으로 나누면 이 점 육육 대신 이가 됩니다. 자주 하는 실수입니다. 다음 화면에서 정렬 비교 함수를 보겠습니다.</a:t>
            </a:r>
          </a:p>
          <a:p>
            <a:endParaRPr lang="ko-K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바이 레이쇼는 큐 소트에 넘길 비교 함수입니다. 두 원소의 주소를 받아 아이템 포인터로 바꾼 뒤 비교합니다. 엑스의 레이쇼가 더 크면 마이너스 일을 돌려주어 엑스를 앞에 둡니다. 더 작으면 일을 돌려주어 뒤로 보냅니다. 그래서 내림차순이 됩니다.</a:t>
            </a:r>
          </a:p>
          <a:p>
            <a:endParaRPr lang="ko-KR"/>
          </a:p>
          <a:p>
            <a:r>
              <a:rPr lang="ko-KR" altLang="en-US" dirty="0"/>
              <a:t>레이쇼가 같을 때는 에스티알 씨엠피로 이름을 비교합니다. 위의 주석처럼, 비와 씨는 레이쇼가 같으니 이름순으로 비가 앞에 옵니다. 파이썬의 소트는 같은 값끼리 입력 순서를 지키지만, 씨의 큐 소트는 그것을 보장하지 않아서 이렇게 기준을 하나 더 둡니다.</a:t>
            </a:r>
          </a:p>
          <a:p>
            <a:endParaRPr lang="ko-KR"/>
          </a:p>
          <a:p>
            <a:r>
              <a:rPr lang="ko-KR" altLang="en-US" dirty="0"/>
              <a:t>아래는 배낭을 채우는 함수 솔브 프랙셔널 냅색의 앞부분입니다. 용량 커패시티, 보물 배열 아이템스, 보물 수 엔을 받습니다. 씨 언어의 배열은 자기 길이를 모르기 때문에 엔을 함께 넘깁니다. 첫 줄의 큐 소트가 그리디의 핵심입니다. 배열, 원소 수 엔, 원소 하나의 크기인 사이즈오브 아이템, 그리고 비교 함수 바이 레이쇼를 넘깁니다. 정렬이 끝나면 에이, 비, 씨 순서입니다.</a:t>
            </a:r>
          </a:p>
          <a:p>
            <a:endParaRPr lang="ko-KR"/>
          </a:p>
          <a:p>
            <a:r>
              <a:rPr lang="ko-KR" altLang="en-US" dirty="0"/>
              <a:t>토털 밸류와 커런트 웨이트는 더블로 영에서 시작하고, 시작 메시지를 출력합니다. 자주 하는 실수는 비교 함수의 마이너스 일과 일을 거꾸로 쓰는 것입니다. 그러면 오름차순이 되어 무게당 가치가 낮은 보물부터 담습니다. 다음 화면에서 배낭을 채우는 반복문을 보겠습니다.</a:t>
            </a:r>
          </a:p>
          <a:p>
            <a:endParaRPr lang="ko-K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앞 화면에 이어지는 반복문입니다. 포 문으로 아이를 영부터 엔 빼기 일까지 늘리며 보물을 하나씩 꺼내 잇에 담습니다. 이프의 조건은 파이썬과 같습니다. 지금 무게에 이 보물의 무게를 더해도 용량 이하인가입니다.</a:t>
            </a:r>
          </a:p>
          <a:p>
            <a:endParaRPr lang="ko-KR"/>
          </a:p>
          <a:p>
            <a:r>
              <a:rPr lang="ko-KR" altLang="en-US" dirty="0"/>
              <a:t>에이는 영 더하기 이십이 삼십 이하이므로 무게와 가치를 더하고, 현재 무게 이십을 퍼센트 지 서식으로 출력합니다. 퍼센트 지는 파이썬의 콜론 지처럼 이십 점 영을 이십으로 보여 줍니다.</a:t>
            </a:r>
          </a:p>
          <a:p>
            <a:endParaRPr lang="ko-KR"/>
          </a:p>
          <a:p>
            <a:r>
              <a:rPr lang="ko-KR" altLang="en-US" dirty="0"/>
              <a:t>비는 이십 더하기 십오가 삼십보다 크므로 엘스로 갑니다. 더블 룸은 삼십 빼기 이십, 십입니다. 룸 곱하기 레이쇼, 육천을 더해 토털 밸류가 이만이 되고, 쪼개서 추가했다는 메시지를 출력한 뒤 브레이크로 반복을 끝냅니다. 마지막에 토털 밸류를 돌려줍니다.</a:t>
            </a:r>
          </a:p>
          <a:p>
            <a:endParaRPr lang="ko-KR"/>
          </a:p>
          <a:p>
            <a:r>
              <a:rPr lang="ko-KR" altLang="en-US" dirty="0"/>
              <a:t>엘스 안의 브레이크를 빠뜨리면 어떻게 될까요? 엘스에서는 커런트 웨이트를 늘리지 않으므로, 씨를 볼 때도 엘스로 가서 룸이 다시 십으로 계산됩니다. 육천이 한 번 더 더해져 답이 이만 육천이 됩니다. 브레이크는 배낭이 가득 찼다는 해답 검사이니 꼭 필요합니다. 다음은 메인 함수입니다.</a:t>
            </a:r>
          </a:p>
          <a:p>
            <a:endParaRPr lang="ko-K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메인 함수입니다. 아이템스 배열에 메이크 아이템으로 보물 세 개를 만들어 넣습니다. 이름, 무게, 가치는 파이썬 코드와 같습니다. 에이 황금 가루는 이십과 만 사천, 비 은 가루와 씨 보석 가루는 십오와 구천입니다.</a:t>
            </a:r>
          </a:p>
          <a:p>
            <a:endParaRPr lang="ko-KR"/>
          </a:p>
          <a:p>
            <a:r>
              <a:rPr lang="ko-KR" altLang="en-US" dirty="0"/>
              <a:t>다음 줄에서 용량 삼십, 보물 배열, 보물 수 삼을 넘겨 함수를 부르고, 결과를 더블 베스트에 받습니다. 보물 수 삼을 직접 쓴 점을 보세요. 보물을 하나 더 넣고 이 숫자를 고치지 않으면 마지막 보물을 보지 않게 됩니다. 자주 하는 실수입니다.</a:t>
            </a:r>
          </a:p>
          <a:p>
            <a:endParaRPr lang="ko-KR"/>
          </a:p>
          <a:p>
            <a:r>
              <a:rPr lang="ko-KR" altLang="en-US" dirty="0"/>
              <a:t>그다음 빼기 기호 서른여섯 개짜리 구분선을 출력하고, 퍼센트 지 서식으로 최대 가치 합계를 출력합니다. 리턴 영은 프로그램이 정상으로 끝났다는 뜻입니다.</a:t>
            </a:r>
          </a:p>
          <a:p>
            <a:endParaRPr lang="ko-KR"/>
          </a:p>
          <a:p>
            <a:r>
              <a:rPr lang="ko-KR" altLang="en-US" dirty="0"/>
              <a:t>이제 파이썬과 씨 코드가 같은 입력, 같은 순서로 같은 계산을 합니다. 다음 화면에서 실행 결과를 확인하겠습니다.</a:t>
            </a:r>
          </a:p>
          <a:p>
            <a:endParaRPr lang="ko-K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결과입니다. 파이썬과 씨가 똑같이 이 다섯 줄을 출력합니다.</a:t>
            </a:r>
          </a:p>
          <a:p>
            <a:endParaRPr lang="ko-KR"/>
          </a:p>
          <a:p>
            <a:r>
              <a:rPr lang="ko-KR" altLang="en-US" dirty="0"/>
              <a:t>첫 줄은 용량 삼십 킬로그램으로 시작한다는 메시지입니다. 둘째 줄에서 에이 황금 가루를 통째로 담아 현재 무게가 이십 킬로그램이 되었습니다. 셋째 줄에서 비 은 가루를 십 킬로그램만 쪼개서 담았고 배낭이 가득 찼습니다. 씨 보석 가루에 대한 줄이 없는 것은 브레이크로 반복이 끝났기 때문입니다.</a:t>
            </a:r>
          </a:p>
          <a:p>
            <a:endParaRPr lang="ko-KR"/>
          </a:p>
          <a:p>
            <a:r>
              <a:rPr lang="ko-KR" altLang="en-US" dirty="0"/>
              <a:t>마지막 줄의 최대 가치 합계는 이만 골드입니다. 단계 화면에서 손으로 계산한 만 사천 더하기 육천과 같습니다. 이십 점 영이 아니라 이십, 이만 점 영이 아니라 이만으로 나온 것은 콜론 지와 퍼센트 지 서식 덕분입니다.</a:t>
            </a:r>
          </a:p>
          <a:p>
            <a:endParaRPr lang="ko-KR"/>
          </a:p>
          <a:p>
            <a:r>
              <a:rPr lang="ko-KR" altLang="en-US" dirty="0"/>
              <a:t>아래 회색 문장도 보세요. 파이썬 코드에서 리버스 트루를 빼면 오름차순이 되어, 무게당 가치가 낮은 비와 씨부터 담습니다. 비 십오와 씨 십오로 배낭이 차서 만 팔천 골드가 됩니다. 정렬 방향 하나로 답이 이천 골드 줄어듭니다. 다음은 이 알고리즘의 시간 복잡도입니다.</a:t>
            </a:r>
          </a:p>
          <a:p>
            <a:endParaRPr lang="ko-K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시간 복잡도를 보겠습니다. 엔은 보물의 개수입니다.</a:t>
            </a:r>
          </a:p>
          <a:p>
            <a:endParaRPr lang="ko-KR"/>
          </a:p>
          <a:p>
            <a:r>
              <a:rPr lang="ko-KR" altLang="en-US" dirty="0"/>
              <a:t>첫 단계는 정렬입니다. 보물 엔 개를 무게당 가치로 정렬하는 데 오 엔 로그 엔이 걸립니다.</a:t>
            </a:r>
          </a:p>
          <a:p>
            <a:endParaRPr lang="ko-KR"/>
          </a:p>
          <a:p>
            <a:r>
              <a:rPr lang="ko-KR" altLang="en-US" dirty="0"/>
              <a:t>둘째 단계는 한 번 훑기입니다. 정렬된 보물을 앞에서부터 한 번씩만 보고, 보물마다 덧셈과 비교 같은 몇 번의 연산만 합니다. 덜어 담기는 많아야 한 번이고, 그 순간 반복이 끝납니다. 그래서 오 엔입니다.</a:t>
            </a:r>
          </a:p>
          <a:p>
            <a:endParaRPr lang="ko-KR"/>
          </a:p>
          <a:p>
            <a:r>
              <a:rPr lang="ko-KR" altLang="en-US" dirty="0"/>
              <a:t>둘을 더하면 오 엔 로그 엔 더하기 오 엔이고, 엔이 커질수록 엔 로그 엔이 더 빨리 자라므로 전체는 오 엔 로그 엔입니다. 정렬이 비용을 결정하는 것이죠. 보물이 백만 개여도 정렬 한 번과 훑기 한 번이면 최적해가 나옵니다.</a:t>
            </a:r>
          </a:p>
          <a:p>
            <a:endParaRPr lang="ko-KR"/>
          </a:p>
          <a:p>
            <a:r>
              <a:rPr lang="ko-KR" altLang="en-US" dirty="0"/>
              <a:t>다만 여기까지는 쪼갤 수 있을 때의 이야기입니다. 쪼갤 수 없는 영 일 배낭으로 넘어가기 전에, 분할 배낭 연습 두 개를 먼저 풀어 보겠습니다.</a:t>
            </a:r>
          </a:p>
          <a:p>
            <a:endParaRPr lang="ko-K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연습문제입니다. 쪼갤 수 있는 배낭이고 용량은 칠입니다. 보물은 괄호 안에 무게, 가치 순서로 적었습니다. 에이가 무게 육, 가치 십팔이고, 비가 무게 사, 가치 이십입니다.</a:t>
            </a:r>
          </a:p>
          <a:p>
            <a:endParaRPr lang="ko-KR"/>
          </a:p>
          <a:p>
            <a:r>
              <a:rPr lang="ko-KR" altLang="en-US" dirty="0"/>
              <a:t>먼저 무게당 가치를 구합니다. 에이는 십팔을 육으로 나눠 삼, 비는 이십을 사로 나눠 오입니다. 그러니 비가 먼저입니다. 표도 비를 위에 두었습니다. 가치만 보면 에이 십팔보다 비 이십이 크지만, 기준은 어디까지나 무게당 가치라는 점을 기억하세요.</a:t>
            </a:r>
          </a:p>
          <a:p>
            <a:endParaRPr lang="ko-KR"/>
          </a:p>
          <a:p>
            <a:r>
              <a:rPr lang="ko-KR" altLang="en-US" dirty="0"/>
              <a:t>첫째, 비를 봅니다. 무게 사가 용량 칠 이하이므로 통째로 담습니다. 가치 이십을 얻고, 남은 용량은 칠 빼기 사, 삼입니다.</a:t>
            </a:r>
          </a:p>
          <a:p>
            <a:endParaRPr lang="ko-KR"/>
          </a:p>
          <a:p>
            <a:r>
              <a:rPr lang="ko-KR" altLang="en-US" dirty="0"/>
              <a:t>둘째, 에이를 봅니다. 무게 육이 남은 삼보다 크므로 통째로는 들어가지 않습니다. 쪼갤 수 있으니 삼만 덜어 담습니다. 비율은 삼을 육으로 나눈 이분의 일, 즉 절반입니다. 가치도 절반이니 십팔 곱하기 이분의 일, 구입니다. 무게당 가치로 계산해도 삼 곱하기 삼으로 똑같이 구입니다.</a:t>
            </a:r>
          </a:p>
          <a:p>
            <a:endParaRPr lang="ko-KR"/>
          </a:p>
          <a:p>
            <a:r>
              <a:rPr lang="ko-KR" altLang="en-US" dirty="0"/>
              <a:t>합계는 이십 더하기 구, 이십구입니다. 막대에서도 비 사와 에이 삼이 용량 칠을 꽉 채웠습니다. 다음 연습은 무게당 가치가 같은 경우입니다.</a:t>
            </a:r>
          </a:p>
          <a:p>
            <a:endParaRPr lang="ko-K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연습입니다. 용량은 오, 에이는 무게 이, 가치 팔, 비는 무게 사, 가치 십육입니다.</a:t>
            </a:r>
          </a:p>
          <a:p>
            <a:endParaRPr lang="ko-KR"/>
          </a:p>
          <a:p>
            <a:r>
              <a:rPr lang="ko-KR" altLang="en-US" dirty="0"/>
              <a:t>무게당 가치를 구하면 에이는 팔을 이로 나눠 사, 비는 십육을 사로 나눠 사입니다. 둘이 같습니다. 이럴 때는 앞에 있는 에이부터 봅니다.</a:t>
            </a:r>
          </a:p>
          <a:p>
            <a:endParaRPr lang="ko-KR"/>
          </a:p>
          <a:p>
            <a:r>
              <a:rPr lang="ko-KR" altLang="en-US" dirty="0"/>
              <a:t>첫째, 에이의 무게 이는 용량 오 이하이므로 통째로 담고 가치 팔을 얻습니다. 남은 용량은 오 빼기 이, 삼입니다.</a:t>
            </a:r>
          </a:p>
          <a:p>
            <a:endParaRPr lang="ko-KR"/>
          </a:p>
          <a:p>
            <a:r>
              <a:rPr lang="ko-KR" altLang="en-US" dirty="0"/>
              <a:t>둘째, 비의 무게 사는 남은 삼보다 크므로 삼만 덜어 담습니다. 비율은 삼을 사로 나눈 사분의 삼이고, 가치는 십육 곱하기 사분의 삼, 십이입니다. 합계는 팔 더하기 십이, 이십입니다.</a:t>
            </a:r>
          </a:p>
          <a:p>
            <a:endParaRPr lang="ko-KR"/>
          </a:p>
          <a:p>
            <a:r>
              <a:rPr lang="ko-KR" altLang="en-US" dirty="0"/>
              <a:t>오른쪽 아래 문장처럼 순서를 바꿔 비부터 담아도 답은 같습니다. 비 사를 통째로 담아 십육, 남은 일에 에이의 이분의 일을 담아 사, 합계 이십이죠. 무게당 가치가 모두 사이니 다섯 칸 어디에 무엇을 넣든 오 곱하기 사, 이십입니다. 무게당 가치가 같은 보물끼리는 순서가 답을 바꾸지 않습니다. 이제 쪼갤 수 없는 영 일 배낭으로 넘어가겠습니다.</a:t>
            </a:r>
          </a:p>
          <a:p>
            <a:endParaRPr lang="ko-K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이제 영 일 배낭입니다. 이번 보물은 조각상이나 갑옷처럼 덜어 낼 수 없습니다. 각 보물은 통째로 담거나, 아예 담지 않거나 둘 중 하나입니다. 담으면 일, 담지 않으면 영이라서 영 일 배낭이라고 부릅니다.</a:t>
            </a:r>
          </a:p>
          <a:p>
            <a:endParaRPr lang="ko-KR"/>
          </a:p>
          <a:p>
            <a:r>
              <a:rPr lang="ko-KR" altLang="en-US" dirty="0"/>
              <a:t>표를 보세요. 앞의 분할 배낭과 숫자가 똑같습니다. 에이 이십 킬로그램 만 사천 골드, 비와 씨 십오 킬로그램 구천 골드, 무게당 가치 칠백, 육백, 육백, 그리고 용량 삼십 킬로그램입니다. 일부러 같은 숫자를 썼습니다. 달라진 규칙은 쪼갤 수 없다는 것 하나뿐이니, 결과가 달라진다면 그 원인은 이 규칙입니다.</a:t>
            </a:r>
          </a:p>
          <a:p>
            <a:endParaRPr lang="ko-KR"/>
          </a:p>
          <a:p>
            <a:r>
              <a:rPr lang="ko-KR" altLang="en-US" dirty="0"/>
              <a:t>그리디 규칙도 앞과 거의 같습니다. 무게당 가치 순서로 보면서 남은 용량에 통째로 들어가면 담습니다. 다른 점은 들어가지 않을 때입니다. 덜어 담을 수 없으니 그 보물은 건너뛰고 다음 보물을 봅니다.</a:t>
            </a:r>
          </a:p>
          <a:p>
            <a:endParaRPr lang="ko-KR"/>
          </a:p>
          <a:p>
            <a:r>
              <a:rPr lang="ko-KR" altLang="en-US" dirty="0"/>
              <a:t>이 규칙으로 실제로 담아 보겠습니다.</a:t>
            </a:r>
          </a:p>
          <a:p>
            <a:endParaRPr lang="ko-K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무게당 가치 순서는 앞과 같이 에이, 비, 씨입니다. 첫째로 에이를 봅니다. 이십 킬로그램이 용량 삼십 이하이므로 통째로 담습니다. 여기까지는 분할 배낭과 같습니다. 남은 용량은 십 킬로그램입니다.</a:t>
            </a:r>
          </a:p>
          <a:p>
            <a:endParaRPr lang="ko-KR"/>
          </a:p>
          <a:p>
            <a:r>
              <a:rPr lang="ko-KR" altLang="en-US" dirty="0"/>
              <a:t>다음은 비입니다. 비는 십오 킬로그램인데 남은 공간은 십 킬로그램입니다. 분할 배낭에서는 십 킬로그램만 덜어 담았지만, 이번에는 쪼갤 수 없으니 건너뜁니다. 표에 빨간색으로 건너뜀이라고 적었습니다. 씨도 십오 킬로그램이라 같은 이유로 들어가지 않습니다. 보물을 다 봤으니 끝입니다.</a:t>
            </a:r>
          </a:p>
          <a:p>
            <a:endParaRPr lang="ko-KR"/>
          </a:p>
          <a:p>
            <a:r>
              <a:rPr lang="ko-KR" altLang="en-US" dirty="0"/>
              <a:t>결과는 에이 하나, 만 사천 골드입니다. 막대를 보면 십 킬로그램이 빈 채로 남았습니다. 분할 배낭에서는 이 빈자리를 비로 채워 육천 골드를 더 얻었는데, 이제는 그럴 수 없습니다.</a:t>
            </a:r>
          </a:p>
          <a:p>
            <a:endParaRPr lang="ko-KR"/>
          </a:p>
          <a:p>
            <a:r>
              <a:rPr lang="ko-KR" altLang="en-US" dirty="0"/>
              <a:t>그러면 만 사천 골드가 영 일 배낭의 최대일까요? 보물이 세 개뿐이니 가능한 조합을 전부 따져 보겠습니다.</a:t>
            </a:r>
          </a:p>
          <a:p>
            <a:endParaRPr lang="ko-K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보물마다 담거나 말거나 두 가지씩이니, 조합은 이 곱하기 이 곱하기 이, 여덟 가지입니다. 표에 모두 적었습니다.</a:t>
            </a:r>
          </a:p>
          <a:p>
            <a:endParaRPr lang="ko-KR"/>
          </a:p>
          <a:p>
            <a:r>
              <a:rPr lang="ko-KR" altLang="en-US" dirty="0"/>
              <a:t>아무것도 안 담으면 영입니다. 하나만 담는 경우는 에이 만 사천, 비 구천, 씨 구천입니다. 에이 하나가 그리디의 답입니다.</a:t>
            </a:r>
          </a:p>
          <a:p>
            <a:endParaRPr lang="ko-KR"/>
          </a:p>
          <a:p>
            <a:r>
              <a:rPr lang="ko-KR" altLang="en-US" dirty="0"/>
              <a:t>두 개를 담는 경우를 보세요. 에이와 비는 이십 더하기 십오, 삼십오 킬로그램이라 용량을 넘습니다. 에이와 씨도 삼십오 킬로그램이라 넘습니다. 비와 씨는 십오 더하기 십오, 정확히 삼십 킬로그램이라 들어가고, 가치는 구천 더하기 구천, 만 팔천 골드입니다. 세 개를 다 담으면 오십 킬로그램이라 넘습니다.</a:t>
            </a:r>
          </a:p>
          <a:p>
            <a:endParaRPr lang="ko-KR"/>
          </a:p>
          <a:p>
            <a:r>
              <a:rPr lang="ko-KR" altLang="en-US" dirty="0"/>
              <a:t>가능한 조합 중 최대는 초록 줄, 비와 씨의 만 팔천 골드입니다. 그리디의 만 사천 골드보다 사천 골드 많습니다. 무게당 가치 일등인 에이를 버려야 최적해가 나오는 것입니다. 숫자는 그대로인데 쪼갤 수 없다는 규칙 하나 때문에 그리디가 틀렸습니다.</a:t>
            </a:r>
          </a:p>
          <a:p>
            <a:endParaRPr lang="ko-KR"/>
          </a:p>
          <a:p>
            <a:r>
              <a:rPr lang="ko-KR" altLang="en-US" dirty="0"/>
              <a:t>다음은 영 일 배낭의 연습문제입니다. 같은 일이 다른 숫자에서도 일어나는지 보겠습니다.</a:t>
            </a:r>
          </a:p>
          <a:p>
            <a:endParaRPr lang="ko-K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영 일 배낭 연습입니다. 괄호 안은 무게, 가치 순서입니다. 용량은 오십, 보물은 에이가 무게 십 가치 육십, 비가 무게 이십 가치 백, 씨가 무게 삼십 가치 백이십입니다.</a:t>
            </a:r>
          </a:p>
          <a:p>
            <a:endParaRPr lang="ko-KR"/>
          </a:p>
          <a:p>
            <a:r>
              <a:rPr lang="ko-KR" altLang="en-US" dirty="0"/>
              <a:t>무게당 가치는 에이가 육십 나누기 십으로 육, 비가 백 나누기 이십으로 오, 씨가 백이십 나누기 삼십으로 사입니다. 그래서 에이, 비, 씨 순서로 봅니다.</a:t>
            </a:r>
          </a:p>
          <a:p>
            <a:endParaRPr lang="ko-KR"/>
          </a:p>
          <a:p>
            <a:r>
              <a:rPr lang="ko-KR" altLang="en-US" dirty="0"/>
              <a:t>첫째, 에이의 무게 십은 오십 이하이므로 담습니다. 남은 용량은 사십입니다. 둘째, 비의 무게 이십은 남은 사십 이하이므로 담습니다. 남은 용량은 이십입니다. 셋째, 씨의 무게 삼십은 남은 이십보다 크므로 건너뜁니다. 쪼갤 수 없으니까요.</a:t>
            </a:r>
          </a:p>
          <a:p>
            <a:endParaRPr lang="ko-KR"/>
          </a:p>
          <a:p>
            <a:r>
              <a:rPr lang="ko-KR" altLang="en-US" dirty="0"/>
              <a:t>그리디의 답은 에이와 비, 육십 더하기 백으로 백육십입니다.</a:t>
            </a:r>
          </a:p>
          <a:p>
            <a:endParaRPr lang="ko-KR"/>
          </a:p>
          <a:p>
            <a:r>
              <a:rPr lang="ko-KR" altLang="en-US" dirty="0"/>
              <a:t>표의 결정 열에서 파랑은 담은 보물, 빨강은 건너뛴 보물입니다. 아래 막대를 보면 에이 십과 비 이십을 채우고 빈 공간이 이십 남았습니다. 남은 이십이 씨의 무게 삼십보다 작아서 씨가 들어가지 못한 것이 한눈에 보입니다. 이번에도 조합을 모두 따져서 백육십이 정말 최대인지 확인해 보겠습니다.</a:t>
            </a:r>
          </a:p>
          <a:p>
            <a:endParaRPr lang="ko-K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조합을 모두 보겠습니다. 표의 첫 줄처럼 아무것도 담지 않으면 영입니다. 하나만 담으면 에이 육십, 비 백, 씨 백이십입니다.</a:t>
            </a:r>
          </a:p>
          <a:p>
            <a:endParaRPr lang="ko-KR"/>
          </a:p>
          <a:p>
            <a:r>
              <a:rPr lang="ko-KR" altLang="en-US" dirty="0"/>
              <a:t>두 개를 담으면, 에이와 비는 무게 삼십에 가치 백육십으로 그리디의 답입니다. 에이와 씨는 무게 사십에 가치 백팔십입니다. 비와 씨는 무게 오십으로 용량에 딱 맞고, 가치는 백 더하기 백이십, 이백이십입니다. 세 개를 다 담으면 무게 육십이라 용량을 넘습니다.</a:t>
            </a:r>
          </a:p>
          <a:p>
            <a:endParaRPr lang="ko-KR"/>
          </a:p>
          <a:p>
            <a:r>
              <a:rPr lang="ko-KR" altLang="en-US" dirty="0"/>
              <a:t>최대는 초록 줄, 비와 씨의 이백이십입니다. 그리디의 백육십보다 육십이 큽니다. 에이와 씨의 백팔십도 그리디보다 큽니다.</a:t>
            </a:r>
          </a:p>
          <a:p>
            <a:endParaRPr lang="ko-KR"/>
          </a:p>
          <a:p>
            <a:r>
              <a:rPr lang="ko-KR" altLang="en-US" dirty="0"/>
              <a:t>왜 이렇게 되었을까요? 그리디가 무게당 가치 일등 에이를 먼저 담는 순간, 남은 사십에는 비 이십과 씨 삼십을 함께 넣을 수 없습니다. 최적해 비 더하기 씨에는 에이가 없습니다. 첫 선택부터 최적해에서 벗어난 것입니다.</a:t>
            </a:r>
          </a:p>
          <a:p>
            <a:endParaRPr lang="ko-KR"/>
          </a:p>
          <a:p>
            <a:r>
              <a:rPr lang="ko-KR" altLang="en-US" dirty="0"/>
              <a:t>정리하면, 영 일 배낭에서 무게당 가치 그리디의 답은 백육십이고 실제 최대는 이백이십입니다. 다음 화면에서 이 실패의 이유를 정리하겠습니다.</a:t>
            </a:r>
          </a:p>
          <a:p>
            <a:endParaRPr lang="ko-K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영 일 배낭에서 그리디가 실패하는 이유를 네 가지로 정리하겠습니다.</a:t>
            </a:r>
          </a:p>
          <a:p>
            <a:endParaRPr lang="ko-KR"/>
          </a:p>
          <a:p>
            <a:r>
              <a:rPr lang="ko-KR" altLang="en-US" dirty="0"/>
              <a:t>첫째, 첫 선택이 최적해에 없습니다. 삼십 킬로그램 예제에서 에이를 담으면 남은 십 킬로그램에 비도 씨도 들어가지 않습니다. 최적해 비 더하기 씨에는 에이가 없습니다. 지금 가장 좋아 보이는 선택이 최적해로 가는 길을 막아 버렸습니다.</a:t>
            </a:r>
          </a:p>
          <a:p>
            <a:endParaRPr lang="ko-KR"/>
          </a:p>
          <a:p>
            <a:r>
              <a:rPr lang="ko-KR" altLang="en-US" dirty="0"/>
              <a:t>둘째, 분할 배낭과 비교해 보세요. 쪼갤 수 있으면 남은 십 킬로그램을 비로 채우니 빈 공간이 생기지 않습니다. 쪼갤 수 없으면 일 킬로그램 교환을 쓸 수 없습니다. 앞에서 본 일 킬로그램 교환은 일 킬로그램씩 덜어 낼 수 있을 때만 쓸 수 있는 논리였죠. 그래서 이 예처럼 빈 공간이 손해로 남습니다.</a:t>
            </a:r>
          </a:p>
          <a:p>
            <a:endParaRPr lang="ko-KR"/>
          </a:p>
          <a:p>
            <a:r>
              <a:rPr lang="ko-KR" altLang="en-US" dirty="0"/>
              <a:t>셋째, 정확한 답을 보장하려면 넣을 때와 넣지 않을 때를 모두 따져야 합니다. 모든 조합을 보면 보물 엔 개에 이의 엔 제곱 가지입니다. 보물이 서른 개만 되어도 십억 가지가 넘습니다.</a:t>
            </a:r>
          </a:p>
          <a:p>
            <a:endParaRPr lang="ko-KR"/>
          </a:p>
          <a:p>
            <a:r>
              <a:rPr lang="ko-KR" altLang="en-US" dirty="0"/>
              <a:t>넷째, 육 장의 동적 계획법은 같은 부분 문제의 답을 표에 저장해 두고 다시 계산하지 않는 방법으로 이 문제를 정확히 풉니다.</a:t>
            </a:r>
          </a:p>
          <a:p>
            <a:endParaRPr lang="ko-KR"/>
          </a:p>
          <a:p>
            <a:r>
              <a:rPr lang="ko-KR" altLang="en-US" dirty="0"/>
              <a:t>결론은 맨 아래 문장입니다. 영 일 배낭에서 무게당 가치 그리디는 최적해를 보장하지 못합니다. 이 차이는 다음 절에서 조건으로 정리합니다. 그 전에 확인 문제를 풀어 보겠습니다.</a:t>
            </a:r>
          </a:p>
          <a:p>
            <a:endParaRPr lang="ko-K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확인 문제입니다. 보물 엑스는 사 킬로그램 이십 골드, 와이는 삼 킬로그램 십팔 골드, 제트는 이 킬로그램 팔 골드이고, 배낭 용량은 육 킬로그램입니다.</a:t>
            </a:r>
          </a:p>
          <a:p>
            <a:endParaRPr lang="ko-KR"/>
          </a:p>
          <a:p>
            <a:r>
              <a:rPr lang="ko-KR" altLang="en-US" dirty="0"/>
              <a:t>첫 번째 질문, 쪼갤 수 있을 때입니다. 무게당 가치는 엑스가 오, 와이가 육, 제트가 사입니다. 그래서 와이, 엑스, 제트 순서로 봅니다. 와이 삼 킬로그램을 통째로 담아 십팔 골드, 남은 삼 킬로그램에 엑스의 사분의 삼을 덜어 담아 십오 골드를 더합니다. 최대는 삼십삼 골드입니다.</a:t>
            </a:r>
          </a:p>
          <a:p>
            <a:endParaRPr lang="ko-KR"/>
          </a:p>
          <a:p>
            <a:r>
              <a:rPr lang="ko-KR" altLang="en-US" dirty="0"/>
              <a:t>두 번째 질문, 쪼갤 수 없을 때입니다. 그리디는 와이를 담고, 엑스는 사 킬로그램이라 남은 삼 킬로그램에 들어가지 않으니 건너뛰고, 제트 이 킬로그램을 담습니다. 그리디의 답은 와이와 제트, 이십육 골드입니다. 그런데 엑스와 제트를 담으면 무게 육 킬로그램에 이십팔 골드입니다. 엑스와 와이는 칠 킬로그램이라 넘습니다. 그래서 실제 최대는 이십팔 골드이고, 그리디가 틀립니다.</a:t>
            </a:r>
          </a:p>
          <a:p>
            <a:endParaRPr lang="ko-KR"/>
          </a:p>
          <a:p>
            <a:r>
              <a:rPr lang="ko-KR" altLang="en-US" dirty="0"/>
              <a:t>세 번째 질문의 답은 일 킬로그램 교환입니다. 무게당 가치가 높은 순서로 꽉 채운 배낭은, 안의 어떤 일 킬로그램을 밖의 일 킬로그램으로 바꿔도 가치가 늘지 않습니다. 그래서 더 좋은 배낭이 없습니다.</a:t>
            </a:r>
          </a:p>
          <a:p>
            <a:endParaRPr lang="ko-KR"/>
          </a:p>
          <a:p>
            <a:r>
              <a:rPr lang="ko-KR" altLang="en-US" dirty="0"/>
              <a:t>다음 절에서는 그리디가 언제 통하는지를 두 가지 조건으로 정리하겠습니다.</a:t>
            </a:r>
          </a:p>
          <a:p>
            <a:endParaRPr lang="ko-K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오 절은 그리디가 통하는 조건입니다. 지금까지 표준 동전의 거스름돈, 활동 선택, 분할 배낭에서는 그리디가 최적해를 냈고, 사백 원 동전과 영 일 배낭에서는 틀렸습니다.</a:t>
            </a:r>
          </a:p>
          <a:p>
            <a:endParaRPr lang="ko-KR"/>
          </a:p>
          <a:p>
            <a:r>
              <a:rPr lang="ko-KR" altLang="en-US" dirty="0"/>
              <a:t>같은 방식인데 왜 어떤 문제에서는 맞고 어떤 문제에서는 틀릴까요? 지금의 최선을 확정해도 괜찮으려면 문제에 어떤 성질이 있어야 하는지, 두 가지 조건으로 정리하겠습니다.</a:t>
            </a:r>
          </a:p>
          <a:p>
            <a:endParaRPr lang="ko-K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그리디가 어떻게 진행되는지 다시 떠올려 보겠습니다. 매 단계 지금 기준으로 가장 좋아 보이는 것을 고르고, 그것을 확정한 뒤 되돌리지 않습니다. 그래서 그리디가 옳으려면 매번의 확정이 안전해야 하고, 확정한 뒤 남은 문제도 같은 방법으로 풀 수 있어야 합니다. 이것을 두 조건으로 씁니다.</a:t>
            </a:r>
          </a:p>
          <a:p>
            <a:endParaRPr lang="ko-KR"/>
          </a:p>
          <a:p>
            <a:r>
              <a:rPr lang="ko-KR" altLang="en-US" dirty="0"/>
              <a:t>첫째는 탐욕적 선택 속성, 영어로 그리디 초이스 프로퍼티입니다. 지금 가장 좋아 보이는 선택을 포함하는 최적해가 있다는 성질이에요. 이 성질이 있으면 첫 선택을 확정해도 최적해를 놓치지 않습니다.</a:t>
            </a:r>
          </a:p>
          <a:p>
            <a:endParaRPr lang="ko-KR"/>
          </a:p>
          <a:p>
            <a:r>
              <a:rPr lang="ko-KR" altLang="en-US" dirty="0"/>
              <a:t>둘째는 최적 부분 구조, 옵티멀 서브스트럭처입니다. 그 선택을 하고 남은 문제의 최적해가 전체 최적해의 나머지 부분이 된다는 성질입니다. 이 성질이 있으면 남은 문제를 처음 문제와 같은 방식으로 풀어도 됩니다.</a:t>
            </a:r>
          </a:p>
          <a:p>
            <a:endParaRPr lang="ko-KR"/>
          </a:p>
          <a:p>
            <a:r>
              <a:rPr lang="ko-KR" altLang="en-US" dirty="0"/>
              <a:t>청록 문장처럼 두 성질이 함께 있으면 첫 선택이 안전하고, 남은 문제도 같은 방법으로 풀 수 있습니다. 이것을 단계마다 반복하면 그리디의 답이 전체 최적해가 됩니다. 둘 중 하나라도 보이지 못하면 그리디가 최적이라고 말할 수 없습니다. 먼저 첫 번째 조건부터 자세히 보겠습니다.</a:t>
            </a:r>
          </a:p>
          <a:p>
            <a:endParaRPr lang="ko-K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탐욕적 선택 속성의 정의입니다. 지금 기준으로 가장 좋아 보이는 선택을 해도, 그 선택을 포함하는 최적해가 적어도 하나 있다는 성질입니다.</a:t>
            </a:r>
          </a:p>
          <a:p>
            <a:endParaRPr lang="ko-KR"/>
          </a:p>
          <a:p>
            <a:r>
              <a:rPr lang="ko-KR" altLang="en-US" dirty="0"/>
              <a:t>이 성질을 확인할 때는 청록색 판별 질문 하나를 기억하면 됩니다. 이 선택을 포함하는 최적해가 있는가. 그리디가 첫 번째로 고르는 것을 놓고 이 질문을 던져 보는 겁니다.</a:t>
            </a:r>
          </a:p>
          <a:p>
            <a:endParaRPr lang="ko-KR"/>
          </a:p>
          <a:p>
            <a:r>
              <a:rPr lang="ko-KR" altLang="en-US" dirty="0"/>
              <a:t>답이 예라면 그 선택을 확정하고 남은 문제로 넘어가도 최적해를 놓치지 않습니다. 그 선택을 포함하는 최적해가 어딘가에 있으니까요. 답이 아니오라면, 그 선택을 하는 순간 최적해로 가는 길이 모두 막힙니다. 어떤 최적해에도 그 선택이 들어 있지 않기 때문입니다.</a:t>
            </a:r>
          </a:p>
          <a:p>
            <a:endParaRPr lang="ko-KR"/>
          </a:p>
          <a:p>
            <a:r>
              <a:rPr lang="ko-KR" altLang="en-US" dirty="0"/>
              <a:t>아래 회색 문장도 중요합니다. 여기서 말하는 안전하다는 그 선택이 다른 선택보다 더 좋다는 뜻이 아닙니다. 그 선택을 해도 최적해로 가는 길이 남아 있다는 뜻입니다. 최적해가 여러 개라면 그중 하나만 그 선택을 포함해도 충분합니다.</a:t>
            </a:r>
          </a:p>
          <a:p>
            <a:endParaRPr lang="ko-KR"/>
          </a:p>
          <a:p>
            <a:r>
              <a:rPr lang="ko-KR" altLang="en-US" dirty="0"/>
              <a:t>다음 화면에서 이 판별 질문을 지금까지 본 예에 적용해 보겠습니다.</a:t>
            </a:r>
          </a:p>
          <a:p>
            <a:endParaRPr lang="ko-K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판별 질문을 세 가지 예에 적용해 보겠습니다. 오른쪽 그림의 왼쪽 칸이 표준 동전, 오른쪽 칸이 사백 원 동전입니다.</a:t>
            </a:r>
          </a:p>
          <a:p>
            <a:endParaRPr lang="ko-KR"/>
          </a:p>
          <a:p>
            <a:r>
              <a:rPr lang="ko-KR" altLang="en-US" dirty="0"/>
              <a:t>먼저 표준 동전입니다. 천이백육십 원을 거슬러 줄 때 그리디는 오백 원을 먼저 집습니다. 최적해는 오백 원 두 개, 백 원 두 개, 오십 원 하나, 십 원 하나로 여섯 개이고, 여기에 오백 원이 들어 있습니다. 그러니 답은 예입니다. 그림 왼쪽처럼 오백 원을 먼저 써도 안전합니다.</a:t>
            </a:r>
          </a:p>
          <a:p>
            <a:endParaRPr lang="ko-KR"/>
          </a:p>
          <a:p>
            <a:r>
              <a:rPr lang="ko-KR" altLang="en-US" dirty="0"/>
              <a:t>다음은 사백 원 동전입니다. 팔백 원을 거슬러 줄 때 최적해는 사백 원 두 개, 이것 하나뿐입니다. 동전 하나로는 팔백 원을 만들 수 없고, 두 개로 만드는 방법은 사백 더하기 사백밖에 없거든요. 그런데 그리디가 먼저 집는 오백 원은 이 최적해에 없습니다. 답은 아니오입니다. 그림 오른쪽처럼 오백 원을 잡는 순간 사백 더하기 사백으로 가는 길이 닫힙니다.</a:t>
            </a:r>
          </a:p>
          <a:p>
            <a:endParaRPr lang="ko-KR"/>
          </a:p>
          <a:p>
            <a:r>
              <a:rPr lang="ko-KR" altLang="en-US" dirty="0"/>
              <a:t>마지막으로 활동 선택입니다. 가장 먼저 끝나는 일번 회의, 일시부터 삼시까지의 회의를 포함하는 최적해가 있습니다. 그래서 답은 예입니다. 오 점 삼 절의 끝에서 최적해의 회의를 바꿔 보며 이미 확인했죠. 다음 화면에서 그 교환을 한 번 더 짚고, 이 방법을 일반 원리로 정리하겠습니다.</a:t>
            </a:r>
          </a:p>
          <a:p>
            <a:endParaRPr lang="ko-K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삼 절의 끝에서 본 교환을 한 번 더 짚겠습니다. 위쪽은 최적해, 이번, 사번, 육번 회의입니다. 그리디의 답과는 다르지만 회의가 세 개라 이것도 최적해입니다. 그리디가 처음 고르는 일번 회의는 여기에 없습니다.</a:t>
            </a:r>
          </a:p>
          <a:p>
            <a:endParaRPr lang="ko-KR"/>
          </a:p>
          <a:p>
            <a:r>
              <a:rPr lang="ko-KR" altLang="en-US" dirty="0"/>
              <a:t>최적해에서 가장 먼저 끝나는 노란색 이번 회의, 이시부터 오시까지를 전체에서 가장 먼저 끝나는 일번 회의, 일시부터 삼시까지로 바꾼 것이 아래쪽 바꾼 해입니다. 일번은 삼시에 끝나서 이번보다 일찍 끝납니다. 육시에 시작하는 사번과 팔시에 시작하는 육번은 원래 이번이 끝난 오시 이후에 시작했으니 일번과도 겹치지 않습니다.</a:t>
            </a:r>
          </a:p>
          <a:p>
            <a:endParaRPr lang="ko-KR"/>
          </a:p>
          <a:p>
            <a:r>
              <a:rPr lang="ko-KR" altLang="en-US" dirty="0"/>
              <a:t>하나를 빼고 하나를 넣었으니 개수는 그대로 세 개, 그래서 바꾼 해도 최적해입니다. 그리고 바꾼 해에는 그리디의 첫 회의 일번이 들어 있습니다. 판별 질문에 예라고 답한 것이죠. 다음 화면에서 이 방법을 일반 원리로 정리하겠습니다.</a:t>
            </a:r>
          </a:p>
          <a:p>
            <a:endParaRPr lang="ko-K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방금 본 방법을 교환 논증이라고 합니다. 핵심은 청록 문장입니다. 최적해의 일부를 탐욕 선택으로 바꿔도 여전히 최적해임을 보이는 것입니다. 그리디가 항상 최적이라고 증명할 때 쓰는 기본 도구입니다.</a:t>
            </a:r>
          </a:p>
          <a:p>
            <a:endParaRPr lang="ko-KR"/>
          </a:p>
          <a:p>
            <a:r>
              <a:rPr lang="ko-KR" altLang="en-US" dirty="0"/>
              <a:t>순서는 세 단계입니다. 첫째, 어떤 최적해에서 시작합니다. 그 최적해에 탐욕 선택이 없다고 가정합니다. 이미 있다면 증명할 것이 없으니까요. 둘째, 최적해의 일부를 탐욕 선택으로 바꿉니다. 이때 바꾼 해도 문제의 조건을 지켜야 합니다. 회의라면 겹치지 않아야 하고, 배낭이라면 용량을, 동전이라면 금액을 지켜야 합니다. 셋째, 바꾼 뒤 값이 나빠지지 않음을 보입니다. 그러면 바꾼 해도 최적해이고, 바꾼 해에는 탐욕 선택이 들어 있습니다.</a:t>
            </a:r>
          </a:p>
          <a:p>
            <a:endParaRPr lang="ko-KR"/>
          </a:p>
          <a:p>
            <a:r>
              <a:rPr lang="ko-KR" altLang="en-US" dirty="0"/>
              <a:t>표의 세 예를 보세요. 활동 선택에서는 최적해의 첫 회의를 일번 회의로 바꿨고, 일번이 더 일찍 끝나서 겹치지 않고 개수가 그대로였습니다. 분할 배낭에서는 배낭 안의 비나 씨 일 킬로그램을 밖에 남은 에이 일 킬로그램으로 바꿉니다. 일 킬로그램당 육백 골드가 칠백 골드로 바뀌니 가치가 오히려 늘어납니다. 그래서 에이를 다 담은 최적해가 있습니다. 오 점 사 절에서는 반대로 에이 일 킬로그램을 빼면 손해라는 것을 보였죠. 같은 논증을 방향만 바꿔 본 것입니다.</a:t>
            </a:r>
          </a:p>
          <a:p>
            <a:endParaRPr lang="ko-KR"/>
          </a:p>
          <a:p>
            <a:r>
              <a:rPr lang="ko-KR" altLang="en-US" dirty="0"/>
              <a:t>표준 동전에서는 백 원 다섯 개를 오백 원 하나로 바꿉니다. 같은 금액을 동전 네 개 적게 내니 나빠지지 않습니다. 이 예는 다음 화면에서 자세히 보겠습니다.</a:t>
            </a:r>
          </a:p>
          <a:p>
            <a:endParaRPr lang="ko-KR"/>
          </a:p>
          <a:p>
            <a:r>
              <a:rPr lang="ko-KR" altLang="en-US" dirty="0"/>
              <a:t>아래 회색 문장처럼, 어느 문제든 결론은 같습니다. 탐욕 선택을 포함하는 최적해가 있다, 즉 탐욕적 선택 속성이 성립한다는 것입니다.</a:t>
            </a:r>
          </a:p>
          <a:p>
            <a:endParaRPr lang="ko-K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교환 논증을 표준 동전, 오백 원, 백 원, 오십 원, 십 원에 적용해 보겠습니다. 보이고 싶은 것은 오백 원 이상을 거슬러 줄 때 오백 원을 먼저 골라도 안전하다는 것, 즉 최적해에 오백 원이 들어 있다는 것입니다.</a:t>
            </a:r>
          </a:p>
          <a:p>
            <a:endParaRPr lang="ko-KR"/>
          </a:p>
          <a:p>
            <a:r>
              <a:rPr lang="ko-KR" altLang="en-US" dirty="0"/>
              <a:t>첫 줄의 예부터 보겠습니다. 천이백육십 원을 백 원 열두 개, 오십 원 하나, 십 원 하나로 주면 열네 개입니다. 여기서 백 원 다섯 개를 오백 원 하나로 바꾸면 같은 금액인데 개수가 네 개 줍니다. 한 번 더 바꾸면 여섯 개가 됩니다. 그리디의 답과 같은 여섯 개입니다.</a:t>
            </a:r>
          </a:p>
          <a:p>
            <a:endParaRPr lang="ko-KR"/>
          </a:p>
          <a:p>
            <a:r>
              <a:rPr lang="ko-KR" altLang="en-US" dirty="0"/>
              <a:t>표처럼 바꿀 수 있는 묶음은 세 가지입니다. 백 원 다섯 개는 오백 원 하나로, 오십 원 두 개는 백 원 하나로, 십 원 다섯 개는 오십 원 하나로 바꿀 수 있고, 바꿀 때마다 개수가 줄어듭니다. 그러니 최적해에는 이런 묶음이 있을 수 없습니다. 있다면 바꿔서 더 적게 만들 수 있으니까요.</a:t>
            </a:r>
          </a:p>
          <a:p>
            <a:endParaRPr lang="ko-KR"/>
          </a:p>
          <a:p>
            <a:r>
              <a:rPr lang="ko-KR" altLang="en-US" dirty="0"/>
              <a:t>그래서 최적해의 백 원은 네 개 이하, 오십 원은 한 개 이하, 십 원은 네 개 이하입니다. 따라서 최적해에서 오백 원을 뺀 나머지 동전의 합은 많아야 사백 더하기 오십 더하기 사십, 사백구십 원입니다. 그러니 오백 원 이상을 거슬러 줘야 한다면 최적해에는 오백 원이 반드시 있습니다. 오백 원이 하나도 없다면 전체가 사백구십 원을 넘을 수 없으니까요. 오백 원을 먼저 고르는 그리디의 선택이 안전한 것입니다.</a:t>
            </a:r>
          </a:p>
          <a:p>
            <a:endParaRPr lang="ko-KR"/>
          </a:p>
          <a:p>
            <a:r>
              <a:rPr lang="ko-KR" altLang="en-US" dirty="0"/>
              <a:t>회색 문장처럼 사백 원 동전이 생기면 이 교환이 깨집니다. 팔백 원의 최적해 사백 더하기 사백에는 오백 원 하나로 바꿀 묶음이 없습니다. 교환이 안 되니 오백 원이 안전하다는 보장도 사라집니다. 다음은 두 번째 조건, 최적 부분 구조입니다.</a:t>
            </a:r>
          </a:p>
          <a:p>
            <a:endParaRPr lang="ko-K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조건은 최적 부분 구조입니다. 선택하고 남은 부분 문제의 최적해에 그 선택을 더하면 전체 최적해가 된다는 성질입니다. 거꾸로 말하면 전체 최적해 안에 부분 문제의 최적해가 들어 있습니다. 그림에서 작은 상자 하나하나가 부분 문제, 그림에서는 하위 문제라고 쓴 것의 최적해입니다. 이것들이 모여 가운데의 전체 최적해, 그림의 전역 최적해를 이룹니다.</a:t>
            </a:r>
          </a:p>
          <a:p>
            <a:endParaRPr lang="ko-KR"/>
          </a:p>
          <a:p>
            <a:r>
              <a:rPr lang="ko-KR" altLang="en-US" dirty="0"/>
              <a:t>활동 선택으로 보겠습니다. 첫 선택으로 일번 회의, 일시부터 삼시까지를 골랐다면, 남은 문제는 삼시 이후에 시작하는 회의 중에서 최대한 많이 고르는 것입니다. 처음 문제와 모양이 같고 크기만 작아졌습니다. 이 남은 문제의 최적해에 일번 회의를 더하면 전체 최적해가 됩니다.</a:t>
            </a:r>
          </a:p>
          <a:p>
            <a:endParaRPr lang="ko-KR"/>
          </a:p>
          <a:p>
            <a:r>
              <a:rPr lang="ko-KR" altLang="en-US" dirty="0"/>
              <a:t>그리디는 선택 하나를 확정한 뒤, 남은 문제를 처음과 같은 방법으로 풉니다. 남은 문제를 잘 푼 결과가 전체 답의 나머지가 된다는 보장이 있어야 이 방식이 맞습니다. 그래서 이 성질이 필요합니다.</a:t>
            </a:r>
          </a:p>
          <a:p>
            <a:endParaRPr lang="ko-KR"/>
          </a:p>
          <a:p>
            <a:r>
              <a:rPr lang="ko-KR" altLang="en-US" dirty="0"/>
              <a:t>마지막 문장처럼 이 성질은 그리디만의 것이 아닙니다. 사 장에서 본 최대 구간 합처럼 분할 정복으로 푸는 최적화 문제도, 육 장의 동적 계획법도 이 성질을 씁니다. 다음 화면에서는 최적 부분 구조가 성립하는 또 다른 예, 최단 경로를 보겠습니다.</a:t>
            </a:r>
          </a:p>
          <a:p>
            <a:endParaRPr lang="ko-K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최적 부분 구조가 성립하는 예로 최단 경로를 보겠습니다. 그림에서 에이부터 디까지 가는 길은 여러 개입니다. 에이, 비, 씨, 디를 차례로 지나면 이 더하기 삼 더하기 사로 구입니다. 오른쪽 맨 위처럼 에이에서 씨로 바로 간 뒤 디로 가면 육 더하기 사로 십, 에이, 비, 디로 가면 이 더하기 팔로 십입니다. 그래서 파란 길, 에이 비 씨 디가 최단 경로입니다.</a:t>
            </a:r>
          </a:p>
          <a:p>
            <a:endParaRPr lang="ko-KR"/>
          </a:p>
          <a:p>
            <a:r>
              <a:rPr lang="ko-KR" altLang="en-US" dirty="0"/>
              <a:t>이 최단 경로 안의 앞부분, 에이에서 비를 거쳐 씨까지를 떼어 보겠습니다. 길이는 이 더하기 삼, 오입니다. 에이에서 씨로 바로 가는 간선은 육이므로, 오가 에이에서 씨까지의 최단입니다. 부분 경로도 최단 경로인 것입니다.</a:t>
            </a:r>
          </a:p>
          <a:p>
            <a:endParaRPr lang="ko-KR"/>
          </a:p>
          <a:p>
            <a:r>
              <a:rPr lang="ko-KR" altLang="en-US" dirty="0"/>
              <a:t>이것은 우연이 아닙니다. 오른쪽 아래 문장을 보세요. 만약 에이에서 씨로 가는, 오보다 짧은 길이 있었다면, 전체 경로의 앞부분을 그 길로 바꿔 끼울 수 있습니다. 그러면 에이에서 디까지가 구보다 짧아집니다. 구가 최단이라는 사실과 모순이죠. 그래서 최단 경로의 부분 경로는 항상 최단 경로입니다.</a:t>
            </a:r>
          </a:p>
          <a:p>
            <a:endParaRPr lang="ko-KR"/>
          </a:p>
          <a:p>
            <a:r>
              <a:rPr lang="ko-KR" altLang="en-US" dirty="0"/>
              <a:t>다만 이 성질 하나만으로 최단 경로를 그리디로 정확히 구할 수 있는 것은 아닙니다. 그 이유는 잠시 뒤 표에서 정리하겠습니다. 다음은 이 성질이 그대로 통하지 않는 예, 외판원 순회입니다.</a:t>
            </a:r>
          </a:p>
          <a:p>
            <a:endParaRPr lang="ko-K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외판원 순회 문제, 줄여서 티에스피를 보겠습니다. 오른쪽 위에 정의를 적었습니다. 모든 도시를 한 번씩 들르고 출발지로 돌아오는 가장 짧은 순회를 찾는 문제입니다. 오 점 칠 절에서 자세히 다룹니다.</a:t>
            </a:r>
          </a:p>
          <a:p>
            <a:endParaRPr lang="ko-KR"/>
          </a:p>
          <a:p>
            <a:r>
              <a:rPr lang="ko-KR" altLang="en-US" dirty="0"/>
              <a:t>그림에는 도시 네 개가 있습니다. 에이에서 출발하는 순회는 방향을 따지지 않으면 세 가지인데, 파란 순회 에이, 비, 씨, 디, 에이가 사 더하기 사 더하기 삼 더하기 삼으로 십사이고, 다른 두 순회는 둘 다 십오입니다. 그래서 파란 순회가 최적입니다.</a:t>
            </a:r>
          </a:p>
          <a:p>
            <a:endParaRPr lang="ko-KR"/>
          </a:p>
          <a:p>
            <a:r>
              <a:rPr lang="ko-KR" altLang="en-US" dirty="0"/>
              <a:t>이 최적 순회 안의 에이에서 비를 거쳐 씨까지를 떼어 보겠습니다. 길이는 사 더하기 사, 팔입니다. 그런데 주황색 에이 씨 직행은 오로 더 짧습니다. 최단 경로였다면 짧은 쪽으로 바꿔 끼우면 됐지만, 여기서 바꾸면 에이, 씨, 디, 에이가 되어 비를 건너뜁니다. 모든 도시를 들러야 하는 순회가 아니게 되죠.</a:t>
            </a:r>
          </a:p>
          <a:p>
            <a:endParaRPr lang="ko-KR"/>
          </a:p>
          <a:p>
            <a:r>
              <a:rPr lang="ko-KR" altLang="en-US" dirty="0"/>
              <a:t>그러니까 티에스피는 두 도시 사이의 최단 경로라는 부분 문제로는 쪼갤 수 없습니다. 남은 도시를 모두 들러야 하기 때문입니다. 부분 문제에 어느 도시를 이미 들렀는지가 함께 들어가야 합니다. 현재 도시와 들른 도시 집합을 함께 기억하는 부분 문제로 잡으면 육 장의 동적 계획법으로 풀 수 있습니다.</a:t>
            </a:r>
          </a:p>
          <a:p>
            <a:endParaRPr lang="ko-KR"/>
          </a:p>
          <a:p>
            <a:r>
              <a:rPr lang="ko-KR" altLang="en-US" dirty="0"/>
              <a:t>정리하면, 최적 부분 구조를 쓰려면 부분 문제를 무엇으로 잡느냐가 중요합니다. 다음 화면에서는 지금까지 본 문제들을 두 조건으로 정리해 보겠습니다.</a:t>
            </a:r>
          </a:p>
          <a:p>
            <a:endParaRPr lang="ko-K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지금까지 본 문제들을 두 조건으로 정리한 표입니다.</a:t>
            </a:r>
          </a:p>
          <a:p>
            <a:endParaRPr lang="ko-KR"/>
          </a:p>
          <a:p>
            <a:r>
              <a:rPr lang="ko-KR" altLang="en-US" dirty="0"/>
              <a:t>위의 두 줄, 활동 선택과 분할 배낭은 두 조건이 모두 성립하고 그리디가 최적해를 냅니다. 셋째와 넷째 줄, 사백 원 동전과 영 일 배낭은 탐욕적 선택 속성이 깨졌습니다. 사백 원 동전에서는 오백 원을, 영 일 배낭에서는 에이를 포함하는 최적해가 없었죠. 하지만 최적 부분 구조는 성립합니다. 예를 들어 팔백 원의 최적해 사백 더하기 사백에서 사백 하나를 빼면, 남은 사백 원의 최적해인 사백 하나가 남습니다. 그래서 이 두 문제는 그리디로는 안 되지만 육 장의 동적 계획법으로 풀립니다.</a:t>
            </a:r>
          </a:p>
          <a:p>
            <a:endParaRPr lang="ko-KR"/>
          </a:p>
          <a:p>
            <a:r>
              <a:rPr lang="ko-KR" altLang="en-US" dirty="0"/>
              <a:t>아래 두 줄은 최단 경로입니다. 두 화면 앞에서 본 것처럼 최단 경로에는 최적 부분 구조가 성립하고, 이것은 음수 간선이 있어도, 한 바퀴 돌수록 짧아지는 순환이 없다면 마찬가지입니다. 그런데 다익스트라라는 그리디 알고리즘은 간선 비용이 모두 영 이상이면 옳다고 보장되지만, 음수 간선이 있으면 틀릴 수 있습니다. 최적 부분 구조만으로는 부족하다는 뜻입니다.</a:t>
            </a:r>
          </a:p>
          <a:p>
            <a:endParaRPr lang="ko-KR"/>
          </a:p>
          <a:p>
            <a:r>
              <a:rPr lang="ko-KR" altLang="en-US" dirty="0"/>
              <a:t>다익스트라가 옳으려면 탐욕적 선택 속성의 근거가 더 필요합니다. 회색 문장처럼, 간선 비용이 모두 영 이상이면 아직 확정하지 않은 곳 중 지금 가장 가까운 곳은 다른 곳을 거쳐도 더 가까워지지 않는다는 것입니다. 자세한 내용은 오 점 팔 절에서 봅니다. 그리디가 옳다고 말하려면 두 조건을 모두 보여야 한다는 점을 기억하세요. 다음 화면에서는 그리디가 항상 최적이라는 주장을 반박하는 방법을 정리하겠습니다.</a:t>
            </a:r>
          </a:p>
          <a:p>
            <a:endParaRPr lang="ko-K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이 절에서 본 것처럼, 이 그리디는 항상 최적해를 준다는 주장은 모든 입력에 대한 주장입니다. 그래서 반박은 쉽습니다. 청록 문장처럼, 문제의 조건을 지키는 입력 하나를 골라 그리디의 답보다 더 좋은 해를 보이면 충분합니다. 이런 입력을 반례라고 하죠. 여기서는 이 장에서 만난 반례를 한곳에 모아 보겠습니다.</a:t>
            </a:r>
          </a:p>
          <a:p>
            <a:endParaRPr lang="ko-KR"/>
          </a:p>
          <a:p>
            <a:r>
              <a:rPr lang="ko-KR" altLang="en-US" dirty="0"/>
              <a:t>표의 첫 줄은 동전 일, 삼, 사 원으로 육 원을 만드는 경우입니다. 큰 동전부터 고르면 사, 일, 일로 세 개인데, 삼 더하기 삼이면 두 개입니다. 반례 하나로 큰 동전부터 고르면 최적이라는 주장이 깨집니다.</a:t>
            </a:r>
          </a:p>
          <a:p>
            <a:endParaRPr lang="ko-KR"/>
          </a:p>
          <a:p>
            <a:r>
              <a:rPr lang="ko-KR" altLang="en-US" dirty="0"/>
              <a:t>둘째 줄은 오백, 사백, 백, 오십, 십 원 동전으로 팔백 원을 만드는 경우입니다. 그리디는 오백 원 하나와 백 원 세 개로 네 개, 최적은 사백 원 두 개입니다. 셋째 줄은 영 일 배낭으로, 그리디는 에이 하나로 만 사천 골드, 최적은 비와 씨로 만 팔천 골드였습니다.</a:t>
            </a:r>
          </a:p>
          <a:p>
            <a:endParaRPr lang="ko-KR"/>
          </a:p>
          <a:p>
            <a:r>
              <a:rPr lang="ko-KR" altLang="en-US" dirty="0"/>
              <a:t>넷째 줄은 오 점 삼 절에서 본, 일찍 시작하는 회의부터 고르는 규칙입니다. 일시부터 십시까지, 이시부터 삼시까지, 사시부터 오시까지 세 회의가 있으면, 시작이 가장 빠른 일시부터 십시까지의 회의를 고르는 순간 나머지 둘과 모두 겹쳐서 하나만 고르게 됩니다. 그런데 이시부터 삼시까지와 사시부터 오시까지를 고르면 두 개입니다.</a:t>
            </a:r>
          </a:p>
          <a:p>
            <a:endParaRPr lang="ko-KR"/>
          </a:p>
          <a:p>
            <a:r>
              <a:rPr lang="ko-KR" altLang="en-US" dirty="0"/>
              <a:t>반대로 항상 최적임을 보이려면 예를 아무리 많이 들어도 부족합니다. 백 개의 입력에서 맞아도 백한 번째에서 틀릴 수 있으니까요. 그때는 교환 논증처럼 모든 입력에 통하는 논증이 필요합니다. 이제 확인 문제를 풀어 보겠습니다.</a:t>
            </a:r>
          </a:p>
          <a:p>
            <a:endParaRPr lang="ko-K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확인 문제입니다.</a:t>
            </a:r>
          </a:p>
          <a:p>
            <a:endParaRPr lang="ko-KR"/>
          </a:p>
          <a:p>
            <a:r>
              <a:rPr lang="ko-KR" altLang="en-US" dirty="0"/>
              <a:t>첫 번째, 만족하지 않습니다. 육 원을 동전 두 개로 만드는 방법은 삼 더하기 삼뿐이라 최적해가 이것 하나이고, 여기에 사 원이 없습니다. 판별 질문, 이 선택을 포함하는 최적해가 있는가에 아니오라고 답하게 됩니다.</a:t>
            </a:r>
          </a:p>
          <a:p>
            <a:endParaRPr lang="ko-KR"/>
          </a:p>
          <a:p>
            <a:r>
              <a:rPr lang="ko-KR" altLang="en-US" dirty="0"/>
              <a:t>두 번째, 교환 논증의 핵심은 최적해의 일부를 탐욕 선택으로 바꿔도 여전히 최적해임을 보이는 것입니다. 표준 동전에서는 백 원 다섯 개를 오백 원 하나로 바꿉니다. 같은 금액을 동전 네 개 적게 내니 나빠지지 않습니다. 그래서 최적해에는 백 원이 다섯 개 이상 있을 수 없고, 최적해에서 오백 원을 뺀 나머지 동전의 합은 많아야 사백구십 원이니, 오백 원 이상이면 최적해에 오백 원이 있습니다.</a:t>
            </a:r>
          </a:p>
          <a:p>
            <a:endParaRPr lang="ko-KR"/>
          </a:p>
          <a:p>
            <a:r>
              <a:rPr lang="ko-KR" altLang="en-US" dirty="0"/>
              <a:t>세 번째, 반례 하나면 충분합니다. 예를 들어 용량 삼십 킬로그램 예제에서 그리디는 만 사천 골드인데 비와 씨를 담으면 만 팔천 골드입니다. 용량 오십 연습의 백육십과 이백이십도 반례입니다.</a:t>
            </a:r>
          </a:p>
          <a:p>
            <a:endParaRPr lang="ko-KR"/>
          </a:p>
          <a:p>
            <a:r>
              <a:rPr lang="ko-KR" altLang="en-US" dirty="0"/>
              <a:t>네 번째, 깨진 것은 탐욕적 선택 속성입니다. 최적 부분 구조는 성립하므로 육 장의 동적 계획법으로 정확히 풀 수 있습니다.</a:t>
            </a:r>
          </a:p>
          <a:p>
            <a:endParaRPr lang="ko-KR"/>
          </a:p>
          <a:p>
            <a:r>
              <a:rPr lang="ko-KR" altLang="en-US" dirty="0"/>
              <a:t>다음 절에서는 두 조건을 모두 만족하는 그리디 알고리즘, 크루스칼 알고리즘을 보겠습니다.</a:t>
            </a:r>
          </a:p>
          <a:p>
            <a:endParaRPr lang="ko-K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육 절은 크루스칼 알고리즘입니다. 여러 도시를 도로로 이어서 모든 도시가 서로 오갈 수 있게 하되, 전체 공사비는 가장 적게 만들고 싶습니다.</a:t>
            </a:r>
          </a:p>
          <a:p>
            <a:endParaRPr lang="ko-KR"/>
          </a:p>
          <a:p>
            <a:r>
              <a:rPr lang="ko-KR" altLang="en-US" dirty="0"/>
              <a:t>크루스칼의 방법은 화면의 문장처럼 간단합니다. 가장 싼 도로부터 하나씩 보면서, 필요 없는 도로는 버립니다. 먼저 이 절에서 쓸 그래프 용어부터 정리하겠습니다.</a:t>
            </a:r>
          </a:p>
          <a:p>
            <a:endParaRPr lang="ko-K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절부터는 그래프를 씁니다. 그래프는 점과 그 점들을 잇는 선으로 이루어진 그림입니다. 왼쪽 그림을 보면서 오른쪽 표의 용어를 하나씩 읽겠습니다.</a:t>
            </a:r>
          </a:p>
          <a:p>
            <a:endParaRPr lang="ko-KR"/>
          </a:p>
          <a:p>
            <a:r>
              <a:rPr lang="ko-KR" altLang="en-US" dirty="0"/>
              <a:t>정점, 영어로 버텍스는 점입니다. 도시라고 생각하면 됩니다. 이 그림에는 에이, 비, 씨, 디 네 개가 있습니다. 정점의 수를 대문자 브이로 쓰니, 여기서는 브이가 사입니다.</a:t>
            </a:r>
          </a:p>
          <a:p>
            <a:endParaRPr lang="ko-KR"/>
          </a:p>
          <a:p>
            <a:r>
              <a:rPr lang="ko-KR" altLang="en-US" dirty="0"/>
              <a:t>간선, 엣지는 두 정점을 잇는 선이고, 도로에 해당합니다. 간선의 수는 대문자 이로 씁니다. 이 그림의 간선은 다섯 개입니다. 가중치, 웨이트는 간선에 붙은 비용입니다. 에이 비 간선은 일, 씨 디 간선은 사입니다.</a:t>
            </a:r>
          </a:p>
          <a:p>
            <a:endParaRPr lang="ko-KR"/>
          </a:p>
          <a:p>
            <a:r>
              <a:rPr lang="ko-KR" altLang="en-US" dirty="0"/>
              <a:t>경로는 간선을 따라 이어진 길입니다. 예를 들어 에이에서 비를 거쳐 디로 가는 길이 있습니다. 사이클은 출발한 정점으로 되돌아오는 닫힌 길입니다. 에이에서 비, 씨를 거쳐 다시 에이로 돌아오면 사이클이에요.</a:t>
            </a:r>
          </a:p>
          <a:p>
            <a:endParaRPr lang="ko-KR"/>
          </a:p>
          <a:p>
            <a:r>
              <a:rPr lang="ko-KR" altLang="en-US" dirty="0"/>
              <a:t>마지막으로 신장, 스패닝은 모든 정점을 포함한다는 뜻입니다. 에이, 비, 씨, 디를 하나도 빠짐없이 포함해야 신장이라고 합니다. 다음 화면에서 이 용어들로 최소 신장 트리를 정의하겠습니다.</a:t>
            </a:r>
          </a:p>
          <a:p>
            <a:endParaRPr lang="ko-K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이제 이 절의 목표를 정의하겠습니다. 신장 트리는 모든 정점을 잇고, 사이클이 없는 간선 모음입니다. 최소 신장 트리는 그런 신장 트리 중에서 가중치 합이 가장 작은 것입니다. 영어로 미니멈 스패닝 트리, 줄여서 엠에스티라고 부릅니다.</a:t>
            </a:r>
          </a:p>
          <a:p>
            <a:endParaRPr lang="ko-KR"/>
          </a:p>
          <a:p>
            <a:r>
              <a:rPr lang="ko-KR" altLang="en-US" dirty="0"/>
              <a:t>조건 세 가지를 보세요. 첫째, 모두 연결되어야 합니다. 어느 정점 하나라도 떨어져 있으면 신장 트리가 아닙니다. 둘째, 사이클이 없어야 합니다. 사이클이 있으면 그중 간선 하나를 빼도 여전히 모든 정점이 연결됩니다. 모두 잇는 데 사이클은 필요 없고, 가중치가 양수라면 그 간선은 비용만 늘린 셈이죠. 셋째, 정점이 브이 개면 간선은 정확히 브이 빼기 일 개입니다. 이유는 다음 화면에서 보겠습니다.</a:t>
            </a:r>
          </a:p>
          <a:p>
            <a:endParaRPr lang="ko-KR"/>
          </a:p>
          <a:p>
            <a:r>
              <a:rPr lang="ko-KR" altLang="en-US" dirty="0"/>
              <a:t>오른쪽 그림은 집 열 채를 잇는 예입니다. 집이 정점, 선이 간선, 수가 가중치입니다. 굵은 선 아홉 개가 최소 신장 트리이고, 가중치를 더하면 삼십팔입니다. 맨 위의 짧은 굵은 선은 숫자가 가려졌는데, 가중치 일입니다. 정점 열 개에 간선 아홉 개, 브이 빼기 일 개가 맞습니다. 회색 선을 하나라도 더 넣으면 사이클이 생기고, 굵은 선을 하나라도 빼면 어떤 집이 떨어져 나갑니다.</a:t>
            </a:r>
          </a:p>
          <a:p>
            <a:endParaRPr lang="ko-K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신장 트리의 간선이 왜 브이 빼기 일 개인지 보겠습니다. 먼저 덩어리라는 말을 정합니다. 덩어리는 서로 경로로 이어진 정점들의 묶음입니다.</a:t>
            </a:r>
          </a:p>
          <a:p>
            <a:endParaRPr lang="ko-KR"/>
          </a:p>
          <a:p>
            <a:r>
              <a:rPr lang="ko-KR" altLang="en-US" dirty="0"/>
              <a:t>맨 왼쪽은 간선이 하나도 없는 상태입니다. 정점 네 개가 모두 따로 떨어져 있으니 덩어리가 네 개입니다. 여기에 에이 비 간선을 하나 넣으면 에이와 비가 한 덩어리가 되어 덩어리가 세 개로 줄어듭니다. 비 씨 간선을 넣으면 두 개, 씨 디 간선을 넣으면 한 개가 됩니다.</a:t>
            </a:r>
          </a:p>
          <a:p>
            <a:endParaRPr lang="ko-KR"/>
          </a:p>
          <a:p>
            <a:r>
              <a:rPr lang="ko-KR" altLang="en-US" dirty="0"/>
              <a:t>서로 다른 두 덩어리를 잇는 간선은 덩어리 수를 정확히 하나 줄입니다. 그러니 덩어리 네 개를 한 개로 만들려면 간선이 세 개, 즉 사 빼기 일 개 필요합니다. 정점이 브이 개면 처음 덩어리가 브이 개이므로, 한 덩어리가 되려면 간선 브이 빼기 일 개가 필요합니다.</a:t>
            </a:r>
          </a:p>
          <a:p>
            <a:endParaRPr lang="ko-KR"/>
          </a:p>
          <a:p>
            <a:r>
              <a:rPr lang="ko-KR" altLang="en-US" dirty="0"/>
              <a:t>맨 오른쪽은 간선을 하나 더 넣은 경우입니다. 에이 씨를 넣으면, 에이와 씨는 이미 같은 덩어리라서 덩어리 수가 줄지 않습니다. 대신 에이, 비, 씨, 에이로 도는 사이클이 생깁니다. 이미 길이 있는 두 정점을 또 이었기 때문입니다.</a:t>
            </a:r>
          </a:p>
          <a:p>
            <a:endParaRPr lang="ko-KR"/>
          </a:p>
          <a:p>
            <a:r>
              <a:rPr lang="ko-KR" altLang="en-US" dirty="0"/>
              <a:t>그래서 사이클 없이 모두 잇는 신장 트리의 간선은 정확히 브이 빼기 일 개입니다. 정점 네 개면 세 개, 여섯 개면 다섯 개입니다. 이 사실이 크루스칼이 언제 멈출지를 정해 줍니다.</a:t>
            </a:r>
          </a:p>
          <a:p>
            <a:endParaRPr lang="ko-K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크루스칼 알고리즘의 아이디어입니다. 세 단계로 정리할 수 있습니다.</a:t>
            </a:r>
          </a:p>
          <a:p>
            <a:endParaRPr lang="ko-KR"/>
          </a:p>
          <a:p>
            <a:r>
              <a:rPr lang="ko-KR" altLang="en-US" dirty="0"/>
              <a:t>첫째, 모든 간선을 가중치 오름차순으로 줄 세웁니다. 둘째, 싼 간선부터 하나씩 보면서, 사이클을 만들지 않으면 채택하고, 사이클을 만들면 버립니다. 셋째, 채택한 간선이 브이 빼기 일 개가 되면 멈춥니다. 앞에서 본 것처럼 신장 트리의 간선은 브이 빼기 일 개이니, 그 이상은 필요 없습니다.</a:t>
            </a:r>
          </a:p>
          <a:p>
            <a:endParaRPr lang="ko-KR"/>
          </a:p>
          <a:p>
            <a:r>
              <a:rPr lang="ko-KR" altLang="en-US" dirty="0"/>
              <a:t>오른쪽 그림의 왼쪽 칸이 가장 싼 간선부터 잇는 모습입니다. 오른쪽 칸은 버리는 경우입니다. 이미 이어진 두 곳을 또 이으면 빙글빙글 도는 사이클이 생기므로 버립니다.</a:t>
            </a:r>
          </a:p>
          <a:p>
            <a:endParaRPr lang="ko-KR"/>
          </a:p>
          <a:p>
            <a:r>
              <a:rPr lang="ko-KR" altLang="en-US" dirty="0"/>
              <a:t>사이클 판정은 앞 화면의 덩어리로 하면 됩니다. 간선의 두 끝이 이미 같은 덩어리에 있으면, 그 간선은 사이클을 만듭니다. 서로 다른 덩어리라면 채택하고, 두 덩어리는 하나로 합쳐집니다.</a:t>
            </a:r>
          </a:p>
          <a:p>
            <a:endParaRPr lang="ko-KR"/>
          </a:p>
          <a:p>
            <a:r>
              <a:rPr lang="ko-KR" altLang="en-US" dirty="0"/>
              <a:t>회색 문장은 그리디의 세 단계와의 대응입니다. 선택은 남은 간선 중 가장 싼 것, 적정성 검사는 사이클이 생기지 않는가, 해답 검사는 간선이 브이 빼기 일 개인가입니다. 다음 화면에서 예제 그래프로 직접 따라가 보겠습니다.</a:t>
            </a:r>
          </a:p>
          <a:p>
            <a:endParaRPr lang="ko-K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예제 그래프입니다. 정점은 에이부터 에프까지 여섯 개, 간선은 아홉 개입니다. 코드에서는 정점을 번호로 다루기 때문에 에이를 영번, 비를 일번, 이런 식으로 에프를 오번으로 씁니다.</a:t>
            </a:r>
          </a:p>
          <a:p>
            <a:endParaRPr lang="ko-KR"/>
          </a:p>
          <a:p>
            <a:r>
              <a:rPr lang="ko-KR" altLang="en-US" dirty="0"/>
              <a:t>오른쪽 표는 간선을 가중치 오름차순으로 정렬한 결과입니다. 에이 에프 십, 씨 디 십이, 비 에이 십오, 비 씨 십육, 디 에이 십팔, 디 이 이십이, 이 에이 이십오, 이 에프 이십칠, 씨 에프 이십구입니다. 간선 이름의 순서는 코드의 간선 목록과 맞췄습니다. 비 에이와 에이 비는 같은 간선입니다.</a:t>
            </a:r>
          </a:p>
          <a:p>
            <a:endParaRPr lang="ko-KR"/>
          </a:p>
          <a:p>
            <a:r>
              <a:rPr lang="ko-KR" altLang="en-US" dirty="0"/>
              <a:t>정점이 여섯 개이므로 브이 빼기 일, 간선 다섯 개를 채택하면 끝납니다. 처음에는 모든 정점이 각자 따로 떨어진 덩어리이고, 덩어리는 여섯 개입니다.</a:t>
            </a:r>
          </a:p>
          <a:p>
            <a:endParaRPr lang="ko-KR"/>
          </a:p>
          <a:p>
            <a:r>
              <a:rPr lang="ko-KR" altLang="en-US" dirty="0"/>
              <a:t>표의 위에서부터 한 줄씩, 한 화면에 간선 하나씩 보겠습니다. 첫 간선은 가장 싼 에이 에프, 십입니다.</a:t>
            </a:r>
          </a:p>
          <a:p>
            <a:endParaRPr lang="ko-K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간선은 가장 싼 에이 에프, 가중치 십입니다. 그래프의 주황 간선과 노란 정점 두 개가 지금 보는 간선과 그 두 끝이고, 오른쪽 표의 노란 줄도 같은 간선입니다.</a:t>
            </a:r>
          </a:p>
          <a:p>
            <a:endParaRPr lang="ko-KR"/>
          </a:p>
          <a:p>
            <a:r>
              <a:rPr lang="ko-KR" altLang="en-US" dirty="0"/>
              <a:t>에이와 에프는 지금 각자 따로 떨어진 덩어리입니다. 서로 다른 덩어리를 잇는 간선이므로 사이클이 생기지 않습니다. 그래서 채택합니다. 표의 첫 줄 결과에 채택이라고 적었습니다. 남은 간선 중 가장 싼 것을 고르는 것이 선택, 사이클이 생기지 않는지 보는 것이 적정성 검사입니다.</a:t>
            </a:r>
          </a:p>
          <a:p>
            <a:endParaRPr lang="ko-KR"/>
          </a:p>
          <a:p>
            <a:r>
              <a:rPr lang="ko-KR" altLang="en-US" dirty="0"/>
              <a:t>채택하면 에이와 에프가 한 덩어리가 됩니다. 제목 아래 둘째 줄처럼 덩어리는 에이 에프 묶음 하나와 혼자인 비, 씨, 디, 이 네 개로, 모두 다섯 개입니다. 덩어리가 여섯 개에서 다섯 개로 하나 줄었습니다. 채택한 간선은 한 개, 합계는 십입니다.</a:t>
            </a:r>
          </a:p>
          <a:p>
            <a:endParaRPr lang="ko-KR"/>
          </a:p>
          <a:p>
            <a:r>
              <a:rPr lang="ko-KR" altLang="en-US" dirty="0"/>
              <a:t>목표인 간선 다섯 개까지 네 개 남았습니다. 다음 간선은 씨 디, 십이입니다.</a:t>
            </a:r>
          </a:p>
          <a:p>
            <a:endParaRPr lang="ko-K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색을 보세요. 앞에서 채택한 에이 에프는 이제 청록색이고, 에이와 에프 정점은 채택한 간선에 닿은 정점이라 초록색입니다. 지금 보는 간선은 주황색 씨 디입니다.</a:t>
            </a:r>
          </a:p>
          <a:p>
            <a:endParaRPr lang="ko-KR"/>
          </a:p>
          <a:p>
            <a:r>
              <a:rPr lang="ko-KR" altLang="en-US" dirty="0"/>
              <a:t>두 번째 간선은 씨 디, 십이입니다. 씨와 디는 둘 다 아직 혼자인 덩어리입니다. 에이 에프 덩어리와도 상관이 없습니다. 서로 다른 덩어리이므로 채택합니다.</a:t>
            </a:r>
          </a:p>
          <a:p>
            <a:endParaRPr lang="ko-KR"/>
          </a:p>
          <a:p>
            <a:r>
              <a:rPr lang="ko-KR" altLang="en-US" dirty="0"/>
              <a:t>여기서 눈여겨볼 점이 있습니다. 씨 디는 앞에서 채택한 에이 에프와 이어져 있지 않습니다. 크루스칼은 나무 하나를 키워 가는 방식이 아니라 그래프 전체에서 가장 싼 간선을 고르는 방식이라서, 이렇게 떨어진 조각이 여러 개 생길 수 있습니다. 이 조각들이 나중에 합쳐집니다.</a:t>
            </a:r>
          </a:p>
          <a:p>
            <a:endParaRPr lang="ko-KR"/>
          </a:p>
          <a:p>
            <a:r>
              <a:rPr lang="ko-KR" altLang="en-US" dirty="0"/>
              <a:t>덩어리는 에이 에프, 씨 디, 그리고 혼자인 비와 이, 모두 네 개입니다. 채택한 간선은 두 개, 합계는 십 더하기 십이로 이십이입니다. 다음은 비 에이, 십오입니다.</a:t>
            </a:r>
          </a:p>
          <a:p>
            <a:endParaRPr lang="ko-K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 간선은 비 에이, 십오입니다. 비는 혼자이고, 에이는 에이 에프 덩어리에 있습니다. 비가 에이 에프 덩어리의 어느 정점과도 아직 이어져 있지 않으니, 서로 다른 덩어리입니다. 그래서 채택합니다.</a:t>
            </a:r>
          </a:p>
          <a:p>
            <a:endParaRPr lang="ko-KR"/>
          </a:p>
          <a:p>
            <a:r>
              <a:rPr lang="ko-KR" altLang="en-US" dirty="0"/>
              <a:t>채택하면 비가 에이 에프 덩어리에 들어가서 에이, 비, 에프가 한 덩어리가 됩니다. 덩어리는 에이 비 에프, 씨 디, 그리고 혼자인 이, 세 개입니다. 오른쪽 표를 보면 위의 세 줄이 모두 채택입니다.</a:t>
            </a:r>
          </a:p>
          <a:p>
            <a:endParaRPr lang="ko-KR"/>
          </a:p>
          <a:p>
            <a:r>
              <a:rPr lang="ko-KR" altLang="en-US" dirty="0"/>
              <a:t>간선 하나를 채택할 때마다 덩어리가 하나씩 줄어드는 것을 보세요. 여섯 개에서 다섯 개, 네 개, 세 개가 되었습니다. 앞에서 본 브이 빼기 일의 이유가 그대로 보입니다. 채택한 간선은 세 개, 합계는 이십이 더하기 십오로 삼십칠입니다. 남은 덩어리 세 개를 하나로 만들려면 간선이 두 개 더 필요합니다.</a:t>
            </a:r>
          </a:p>
          <a:p>
            <a:endParaRPr lang="ko-KR"/>
          </a:p>
          <a:p>
            <a:r>
              <a:rPr lang="ko-KR" altLang="en-US" dirty="0"/>
              <a:t>다음 간선 비 씨, 십육은 덩어리 두 개를 합치게 됩니다.</a:t>
            </a:r>
          </a:p>
          <a:p>
            <a:endParaRPr lang="ko-K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번째 간선은 비 씨, 십육입니다. 비는 에이 비 에프 덩어리에, 씨는 씨 디 덩어리에 있습니다. 이번에도 서로 다른 덩어리이므로 채택합니다.</a:t>
            </a:r>
          </a:p>
          <a:p>
            <a:endParaRPr lang="ko-KR"/>
          </a:p>
          <a:p>
            <a:r>
              <a:rPr lang="ko-KR" altLang="en-US" dirty="0"/>
              <a:t>이번 채택은 앞과 조금 다릅니다. 혼자인 정점을 붙인 것이 아니라, 정점이 여러 개인 두 덩어리를 하나로 합쳤습니다. 이제 에이, 비, 씨, 디, 에프가 한 덩어리이고, 정점 이만 혼자 남았습니다. 덩어리는 두 개입니다.</a:t>
            </a:r>
          </a:p>
          <a:p>
            <a:endParaRPr lang="ko-KR"/>
          </a:p>
          <a:p>
            <a:r>
              <a:rPr lang="ko-KR" altLang="en-US" dirty="0"/>
              <a:t>그림에서 청록 간선과 주황 간선을 따라가 보세요. 에프에서 에이, 에이에서 비, 비에서 씨, 씨에서 디까지 하나로 이어집니다. 정점 이만 아직 어느 간선에도 닿지 않았습니다. 채택한 간선은 네 개, 합계는 삼십칠 더하기 십육으로 오십삼입니다. 브이 빼기 일인 다섯 개까지 하나 남았습니다.</a:t>
            </a:r>
          </a:p>
          <a:p>
            <a:endParaRPr lang="ko-KR"/>
          </a:p>
          <a:p>
            <a:r>
              <a:rPr lang="ko-KR" altLang="en-US" dirty="0"/>
              <a:t>다음 간선은 디 에이, 십팔입니다. 넘어가기 전에, 디와 에이가 지금 어느 덩어리에 있는지 먼저 생각해 보세요.</a:t>
            </a:r>
          </a:p>
          <a:p>
            <a:endParaRPr lang="ko-K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다섯 번째 간선은 디 에이, 십팔입니다. 디와 에이는 어느 덩어리에 있을까요? 둘 다 에이 비 씨 디 에프 덩어리에 있습니다. 같은 덩어리입니다.</a:t>
            </a:r>
          </a:p>
          <a:p>
            <a:endParaRPr lang="ko-KR"/>
          </a:p>
          <a:p>
            <a:r>
              <a:rPr lang="ko-KR" altLang="en-US" dirty="0"/>
              <a:t>같은 덩어리라는 것은 두 정점 사이에 이미 길이 있다는 뜻입니다. 주황색 길을 보세요. 디에서 씨 디 간선 십이를 타고 씨로, 비 씨 간선 십육을 타고 비로, 비 에이 간선 십오를 타고 에이로 갈 수 있습니다. 디, 씨, 비, 에이로 이미 이어져 있습니다.</a:t>
            </a:r>
          </a:p>
          <a:p>
            <a:endParaRPr lang="ko-KR"/>
          </a:p>
          <a:p>
            <a:r>
              <a:rPr lang="ko-KR" altLang="en-US" dirty="0"/>
              <a:t>여기에 디 에이 간선을 더하면 에이, 비, 씨, 디, 에이로 도는 사이클이 생깁니다. 디에서 에이로 가는 길이 두 갈래가 되는 거죠. 그래서 빨간 점선처럼 버립니다. 디 에이를 넣지 않아도 디와 에이는 이미 연결되어 있으니 잃는 것이 없습니다.</a:t>
            </a:r>
          </a:p>
          <a:p>
            <a:endParaRPr lang="ko-KR"/>
          </a:p>
          <a:p>
            <a:r>
              <a:rPr lang="ko-KR" altLang="en-US" dirty="0"/>
              <a:t>채택한 간선은 그대로 네 개, 합계도 오십삼입니다. 덩어리 수도 변하지 않았습니다. 다음 간선은 디 이, 이십이입니다.</a:t>
            </a:r>
          </a:p>
          <a:p>
            <a:endParaRPr lang="ko-K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여섯 번째 간선은 디 이, 이십이입니다. 디는 큰 덩어리에 있고 정점 이는 혼자입니다. 서로 다른 덩어리이므로 채택합니다. 그래프에서 주황 간선이 지금 채택한 디 이이고, 빨간 점선 디 에이는 앞에서 사이클이라 버린 간선입니다.</a:t>
            </a:r>
          </a:p>
          <a:p>
            <a:endParaRPr lang="ko-KR"/>
          </a:p>
          <a:p>
            <a:r>
              <a:rPr lang="ko-KR" altLang="en-US" dirty="0"/>
              <a:t>이제 정점 이까지 들어와서 여섯 정점이 모두 한 덩어리가 되었습니다. 채택한 간선은 다섯 개입니다. 정점이 여섯 개이니 브이 빼기 일, 다섯 개가 모였습니다. 해답 검사를 통과했으니, 신장 트리가 완성되었고 여기서 멈춥니다.</a:t>
            </a:r>
          </a:p>
          <a:p>
            <a:endParaRPr lang="ko-KR"/>
          </a:p>
          <a:p>
            <a:r>
              <a:rPr lang="ko-KR" altLang="en-US" dirty="0"/>
              <a:t>합계는 오십삼 더하기 이십이로 칠십오입니다. 표의 아래 세 줄, 이 에이 이십오, 이 에프 이십칠, 씨 에프 이십구는 확인하지 않습니다. 확인할 필요가 없습니다. 모든 정점이 이미 한 덩어리라서 어느 간선을 더해도 사이클이 생기기 때문입니다.</a:t>
            </a:r>
          </a:p>
          <a:p>
            <a:endParaRPr lang="ko-KR"/>
          </a:p>
          <a:p>
            <a:r>
              <a:rPr lang="ko-KR" altLang="en-US" dirty="0"/>
              <a:t>다음 화면에서 완성된 결과를 정리하겠습니다.</a:t>
            </a:r>
          </a:p>
          <a:p>
            <a:endParaRPr lang="ko-K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크루스칼의 결과입니다. 청록색 간선 다섯 개가 최소 신장 트리입니다. 에이 에프 십, 씨 디 십이, 비 에이 십오, 비 씨 십육, 디 이 이십이를 더하면 칠십오입니다.</a:t>
            </a:r>
          </a:p>
          <a:p>
            <a:endParaRPr lang="ko-KR"/>
          </a:p>
          <a:p>
            <a:r>
              <a:rPr lang="ko-KR" altLang="en-US" dirty="0"/>
              <a:t>회색으로 흐리게 한 간선 세 개, 이 에이 이십오, 이 에프 이십칠, 씨 에프 이십구는 간선 다섯 개가 모인 뒤라 확인하지 않았습니다. 빨간 점선 디 에이 십팔은 사이클이라서 버렸습니다.</a:t>
            </a:r>
          </a:p>
          <a:p>
            <a:endParaRPr lang="ko-KR"/>
          </a:p>
          <a:p>
            <a:r>
              <a:rPr lang="ko-KR" altLang="en-US" dirty="0"/>
              <a:t>정리하면 간선 아홉 개 중 여섯 개만 확인하고 끝났습니다. 다섯 개는 채택했고, 하나는 사이클이라 버렸습니다. 매번 가장 싼 간선을 고르고 다시 고치지 않았으니 전형적인 그리디입니다.</a:t>
            </a:r>
          </a:p>
          <a:p>
            <a:endParaRPr lang="ko-KR"/>
          </a:p>
          <a:p>
            <a:r>
              <a:rPr lang="ko-KR" altLang="en-US" dirty="0"/>
              <a:t>이 과정에서 계속 같은 덩어리인가를 물었습니다. 사람은 그림을 보고 답하지만, 프로그램은 어떻게 빨리 답할까요? 다음 화면에서 이 질문에 답하는 자료구조, 서로소 집합을 보겠습니다.</a:t>
            </a:r>
          </a:p>
          <a:p>
            <a:endParaRPr lang="ko-K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서로소 집합은 서로 겹치지 않는 집합 여러 개를 관리하는 자료구조입니다. 크루스칼에서는 덩어리 하나가 집합 하나입니다. 영어로 디스조인트 셋, 또는 유니온 파인드라고 부릅니다.</a:t>
            </a:r>
          </a:p>
          <a:p>
            <a:endParaRPr lang="ko-KR"/>
          </a:p>
          <a:p>
            <a:r>
              <a:rPr lang="ko-KR" altLang="en-US" dirty="0"/>
              <a:t>핵심 아이디어는 덩어리 하나를 나무 하나로 저장하는 것입니다. 그림은 세 번째 간선 비 에이까지 채택한 직후의 모습입니다. 에이 비 에프 덩어리는 에이를 뿌리로 하는 나무, 씨 디 덩어리는 씨를 뿌리로 하는 나무, 정점 이는 혼자인 나무입니다. 화살표는 자식에서 부모로 향합니다.</a:t>
            </a:r>
          </a:p>
          <a:p>
            <a:endParaRPr lang="ko-KR"/>
          </a:p>
          <a:p>
            <a:r>
              <a:rPr lang="ko-KR" altLang="en-US" dirty="0"/>
              <a:t>이 나무들은 페어런트 배열 하나로 저장합니다. 페어런트의 엑스 번 칸에는 엑스의 부모 번호가 들어 있습니다. 아래 배열에서 비의 칸, 인덱스 일에는 영, 즉 에이가 있고, 디의 칸, 인덱스 삼에는 이, 즉 씨가 있습니다. 뿌리는 자기 자신을 가리킵니다. 파란 칸 세 개, 에이와 씨와 정점 이의 칸이 그렇습니다. 이 뿌리가 덩어리의 대표입니다.</a:t>
            </a:r>
          </a:p>
          <a:p>
            <a:endParaRPr lang="ko-KR"/>
          </a:p>
          <a:p>
            <a:r>
              <a:rPr lang="ko-KR" altLang="en-US" dirty="0"/>
              <a:t>오른쪽의 연산을 보세요. 파인드 엑스는 부모를 따라 뿌리까지 올라가서 대표를 찾습니다. 파인드 디는 디에서 씨로 올라가고, 씨는 자기 자신을 가리키니 씨에서 멈춥니다. 유니온 엑스 와이는 두 뿌리를 찾아 서로 다르면 한 뿌리를 다른 뿌리 밑에 붙여 두 나무를 합칩니다.</a:t>
            </a:r>
          </a:p>
          <a:p>
            <a:endParaRPr lang="ko-KR"/>
          </a:p>
          <a:p>
            <a:r>
              <a:rPr lang="ko-KR" altLang="en-US" dirty="0"/>
              <a:t>크루스칼의 사이클 판정은 이제 간단합니다. 간선의 두 끝에 파인드를 해서 뿌리가 같으면 이미 같은 덩어리, 즉 사이클입니다. 다음 화면에서 페어런트 배열이 실제로 어떻게 바뀌는지 따라가 보겠습니다.</a:t>
            </a:r>
          </a:p>
          <a:p>
            <a:endParaRPr lang="ko-K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예제의 간선을 채택할 때마다 페어런트 배열이 어떻게 바뀌는지 보겠습니다. 첫 줄 칸 아래의 번호와 글자는 정점 번호와 이름입니다. 처음에는 모든 칸이 자기 번호를 가리킵니다. 모두 각자 뿌리인 상태입니다.</a:t>
            </a:r>
          </a:p>
          <a:p>
            <a:endParaRPr lang="ko-KR"/>
          </a:p>
          <a:p>
            <a:r>
              <a:rPr lang="ko-KR" altLang="en-US" dirty="0"/>
              <a:t>여기서 랭크를 함께 씁니다. 랭크는 나무 높이의 상한입니다. 유니온은 랭크가 낮은 쪽 뿌리를 높은 쪽 뿌리 밑에 붙입니다. 그래야 나무가 쓸데없이 높아지지 않습니다. 랭크가 같으면 아무 쪽이나 붙이고, 붙인 뒤 위쪽 뿌리의 랭크를 하나 올립니다.</a:t>
            </a:r>
          </a:p>
          <a:p>
            <a:endParaRPr lang="ko-KR"/>
          </a:p>
          <a:p>
            <a:r>
              <a:rPr lang="ko-KR" altLang="en-US" dirty="0"/>
              <a:t>첫째 에이 에프는 영번과 오번입니다. 둘 다 랭크 영이라 같으므로 에프를 에이 밑에 붙입니다. 인덱스 오의 칸이 영이 되고 에이의 랭크는 일이 됩니다. 둘째 씨 디도 같은 방식으로 디를 씨 밑에 붙여 인덱스 삼의 칸이 이가 되고, 씨의 랭크가 일이 됩니다.</a:t>
            </a:r>
          </a:p>
          <a:p>
            <a:endParaRPr lang="ko-KR"/>
          </a:p>
          <a:p>
            <a:r>
              <a:rPr lang="ko-KR" altLang="en-US" dirty="0"/>
              <a:t>셋째 비 에이에서는 비의 랭크가 영, 에이의 랭크가 일입니다. 낮은 비를 에이 밑에 붙여 인덱스 일의 칸이 영이 됩니다. 랭크가 같지 않았으니 랭크는 그대로입니다.</a:t>
            </a:r>
          </a:p>
          <a:p>
            <a:endParaRPr lang="ko-KR"/>
          </a:p>
          <a:p>
            <a:r>
              <a:rPr lang="ko-KR" altLang="en-US" dirty="0"/>
              <a:t>넷째 비 씨에서는 먼저 뿌리를 찾습니다. 파인드 비는 에이, 파인드 씨는 씨입니다. 둘 다 랭크 일로 같으므로 씨를 에이 밑에 붙여 인덱스 이의 칸이 영이 되고, 에이의 랭크가 이가 됩니다. 아래 회색 문장처럼 비와 씨를 직접 잇는 것이 아니라, 두 뿌리를 잇는다는 점을 꼭 기억하세요. 다음은 사이클이 나오는 다섯 번째 간선입니다.</a:t>
            </a:r>
          </a:p>
          <a:p>
            <a:endParaRPr lang="ko-K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다섯 번째 간선 디 에이입니다. 왼쪽 나무는 네 번째 채택 뒤의 모습입니다. 에이가 뿌리이고, 에프, 비, 씨가 에이의 자식, 디는 씨의 자식입니다.</a:t>
            </a:r>
          </a:p>
          <a:p>
            <a:endParaRPr lang="ko-KR"/>
          </a:p>
          <a:p>
            <a:r>
              <a:rPr lang="ko-KR" altLang="en-US" dirty="0"/>
              <a:t>파인드 디를 따라가 보겠습니다. 디의 부모는 씨, 씨의 부모는 에이, 에이는 자기 자신을 가리키니 뿌리입니다. 주황색 화살표가 이 길입니다. 파인드 에이는 바로 에이입니다. 두 뿌리가 같으므로 디와 에이는 이미 같은 덩어리, 즉 사이클이고 이 간선은 버립니다.</a:t>
            </a:r>
          </a:p>
          <a:p>
            <a:endParaRPr lang="ko-KR"/>
          </a:p>
          <a:p>
            <a:r>
              <a:rPr lang="ko-KR" altLang="en-US" dirty="0"/>
              <a:t>그런데 오른쪽 배열에서 디의 칸, 인덱스 삼이 이에서 영으로 바뀌었습니다. 경로 압축 때문입니다. 파인드는 뿌리를 찾아 돌아오면서, 지나간 정점의 부모를 뿌리로 바로 바꿔 둡니다. 다음에 파인드 디를 하면 디에서 에이로 한 번에 갑니다. 사이클로 판정되어 버린 간선이어도, 판정하면서 파인드를 했으니 이 변화는 남습니다.</a:t>
            </a:r>
          </a:p>
          <a:p>
            <a:endParaRPr lang="ko-KR"/>
          </a:p>
          <a:p>
            <a:r>
              <a:rPr lang="ko-KR" altLang="en-US" dirty="0"/>
              <a:t>여섯 번째 간선 디 이에서는 파인드 디가 이제 한 번에 에이를 돌려주고, 파인드 이는 정점 이 자신입니다. 뿌리가 다르므로 합칩니다. 에이의 랭크가 이, 정점 이의 랭크가 영이라서 정점 이를 에이 밑에 붙이고, 인덱스 사의 칸이 영이 됩니다. 이제 모든 칸이 영입니다. 모든 정점의 대표가 에이, 덩어리가 하나가 되었습니다.</a:t>
            </a:r>
          </a:p>
          <a:p>
            <a:endParaRPr lang="ko-KR"/>
          </a:p>
          <a:p>
            <a:r>
              <a:rPr lang="ko-KR" altLang="en-US" dirty="0"/>
              <a:t>이 동작을 의사코드로 옮겨 보겠습니다.</a:t>
            </a:r>
          </a:p>
          <a:p>
            <a:endParaRPr lang="ko-K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크루스칼을 의사코드로 적었습니다. 머리줄의 주석처럼, 브이는 정점 수이고 엣지스는 간선 목록입니다.</a:t>
            </a:r>
          </a:p>
          <a:p>
            <a:endParaRPr lang="ko-KR"/>
          </a:p>
          <a:p>
            <a:r>
              <a:rPr lang="ko-KR" altLang="en-US" dirty="0"/>
              <a:t>머리줄 다음 줄에서 간선 목록 전체를 가중치 오름차순으로 정렬합니다. 다음 줄에서 모든 정점의 페어런트를 자기 자신으로 두어, 각자 한 덩어리로 시작합니다. 엠에스티는 채택한 간선을 모을 빈 목록입니다.</a:t>
            </a:r>
          </a:p>
          <a:p>
            <a:endParaRPr lang="ko-KR"/>
          </a:p>
          <a:p>
            <a:r>
              <a:rPr lang="ko-KR" altLang="en-US" dirty="0"/>
              <a:t>포 문은 정렬된 순서대로 엣지스에서 간선을 하나씩 꺼냅니다. 간선은 가중치 더블유와 두 끝 유, 브이로 이루어져 있습니다. 이프에서 파인드 유와 파인드 브이를 비교합니다. 다르면 서로 다른 덩어리이므로 엠에스티에 간선을 추가하고, 유니온으로 두 덩어리를 합칩니다. 같으면 사이클이니 아무것도 하지 않고 다음 간선으로 넘어갑니다.</a:t>
            </a:r>
          </a:p>
          <a:p>
            <a:endParaRPr lang="ko-KR"/>
          </a:p>
          <a:p>
            <a:r>
              <a:rPr lang="ko-KR" altLang="en-US" dirty="0"/>
              <a:t>아래 이프는 엠에스티의 간선 수가 정점 수 브이 빼기 일인지 확인합니다. 그렇다면 신장 트리가 완성되었으니 브레이크로 반복을 끝냅니다. 예제에서는 디 이를 채택한 직후 여기서 멈췄습니다.</a:t>
            </a:r>
          </a:p>
          <a:p>
            <a:endParaRPr lang="ko-KR"/>
          </a:p>
          <a:p>
            <a:r>
              <a:rPr lang="ko-KR" altLang="en-US" dirty="0"/>
              <a:t>아래 세 항목이 그리디의 세 단계입니다. 정렬된 순서에서 다음 간선을 꺼내는 것이 선택, 파인드 유와 파인드 브이가 다른지 묻는 것이 적정성 검사, 간선이 브이 빼기 일 개인지 묻는 것이 해답 검사입니다. 다음 화면부터 파이썬 코드입니다.</a:t>
            </a:r>
          </a:p>
          <a:p>
            <a:endParaRPr lang="ko-K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코드입니다. 네 화면으로 나눠 보겠습니다. 첫 화면은 서로소 집합 클래스 디스조인트 셋의 앞부분입니다.</a:t>
            </a:r>
          </a:p>
          <a:p>
            <a:endParaRPr lang="ko-KR"/>
          </a:p>
          <a:p>
            <a:r>
              <a:rPr lang="ko-KR" altLang="en-US" dirty="0"/>
              <a:t>이닛에서 페어런트를 리스트 레인지 엔으로 만듭니다. 영부터 엔 빼기 일까지의 리스트이니, 모든 정점이 자기 자신을 부모로 가져 각자 한 집합입니다. 랭크는 영을 엔 개 담은 리스트입니다. 주석처럼 랭크는 나무 높이의 상한입니다.</a:t>
            </a:r>
          </a:p>
          <a:p>
            <a:endParaRPr lang="ko-KR"/>
          </a:p>
          <a:p>
            <a:r>
              <a:rPr lang="ko-KR" altLang="en-US" dirty="0"/>
              <a:t>파인드 엑스는 엑스가 속한 집합의 대표, 즉 뿌리를 찾습니다. 페어런트 엑스가 엑스가 아니면 아직 뿌리가 아니므로, 부모에 대해 파인드를 다시 호출합니다. 재귀 호출이죠. 돌아온 뿌리를 페어런트 엑스에 바로 저장하는 것이 경로 압축입니다. 마지막에 페어런트 엑스, 즉 뿌리를 돌려줍니다. 예제의 다섯 번째 간선에서 파인드 삼이 삼, 이, 영을 따라 영을 찾고, 페어런트 삼을 영으로 바꿨던 바로 그 동작입니다.</a:t>
            </a:r>
          </a:p>
          <a:p>
            <a:endParaRPr lang="ko-KR"/>
          </a:p>
          <a:p>
            <a:r>
              <a:rPr lang="ko-KR" altLang="en-US" dirty="0"/>
              <a:t>자주 하는 실수는 경로 압축 줄에서 셀프 점 파인드만 호출하고 결과를 페어런트 엑스에 저장하지 않는 것입니다. 그러면 마지막 줄이 뿌리가 아니라 바로 위 부모를 돌려줍니다. 예제의 다섯 번째 간선에서 파인드 삼이 영이 아니라 이를 돌려주니, 사이클인 디 에이를 채택하는 틀린 답이 나옵니다. 간선 다섯 개가 그 자리에서 차서 멈추므로 합은 칠십일이 되고, 정점 이는 빠집니다. 다음 화면은 유니온입니다.</a:t>
            </a:r>
          </a:p>
          <a:p>
            <a:endParaRPr lang="ko-K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유니온 엑스 와이입니다. 먼저 두 뿌리 피엑스와 피와이를 구합니다. 같으면 이미 같은 집합이므로 폴스를 돌려줍니다. 사이클이라는 뜻입니다.</a:t>
            </a:r>
          </a:p>
          <a:p>
            <a:endParaRPr lang="ko-KR"/>
          </a:p>
          <a:p>
            <a:r>
              <a:rPr lang="ko-KR" altLang="en-US" dirty="0"/>
              <a:t>다르면 랭크를 비교합니다. 피엑스의 랭크가 더 작으면 피엑스와 피와이를 맞바꿔서, 피엑스가 항상 랭크가 높은 쪽이 되게 합니다. 그다음 페어런트 피와이에 피엑스를 넣어 낮은 나무를 높은 나무 밑에 붙입니다. 두 랭크가 같았다면 붙인 뒤 높이가 하나 늘 수 있으니 피엑스의 랭크를 하나 올립니다. 마지막으로 트루를 돌려줍니다. 합쳤다, 즉 채택해도 된다는 뜻입니다.</a:t>
            </a:r>
          </a:p>
          <a:p>
            <a:endParaRPr lang="ko-KR"/>
          </a:p>
          <a:p>
            <a:r>
              <a:rPr lang="ko-KR" altLang="en-US" dirty="0"/>
              <a:t>예제로 따라가 보겠습니다. 세 번째 간선 비 에이에서 피엑스는 비의 뿌리 일, 피와이는 에이의 뿌리 영입니다. 일의 랭크 영이 영의 랭크 일보다 작으니 둘을 맞바꿔, 피엑스가 영, 피와이가 일이 됩니다. 그래서 페어런트 일이 영, 비가 에이 밑에 붙습니다. 앞의 페어런트 배열 표와 같습니다.</a:t>
            </a:r>
          </a:p>
          <a:p>
            <a:endParaRPr lang="ko-KR"/>
          </a:p>
          <a:p>
            <a:r>
              <a:rPr lang="ko-KR" altLang="en-US" dirty="0"/>
              <a:t>자주 하는 실수는 뿌리가 아니라 원래 정점끼리 잇는 것입니다. 예를 들어 페어런트 와이에 엑스를 넣으면, 와이가 원래 속한 나무의 다른 정점들은 따라오지 않아 집합이 갈라집니다. 반드시 두 뿌리를 이어야 합니다. 다음은 크루스칼 함수입니다.</a:t>
            </a:r>
          </a:p>
          <a:p>
            <a:endParaRPr lang="ko-K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크루스칼 함수는 정점 수 엔과 간선 목록 엣지스를 받습니다. 간선 하나는 가중치, 유, 브이 순서의 튜플입니다.</a:t>
            </a:r>
          </a:p>
          <a:p>
            <a:endParaRPr lang="ko-KR"/>
          </a:p>
          <a:p>
            <a:r>
              <a:rPr lang="ko-KR" altLang="en-US" dirty="0"/>
              <a:t>함수 안 첫 줄의 엣지스 점 소트는 튜플들을 정렬합니다. 파이썬은 튜플을 첫 값부터 비교하므로 가중치 오름차순으로 정렬됩니다. 가중치를 맨 앞에 둔 덕분에 키를 따로 줄 필요가 없습니다. 다음 줄에서 서로소 집합 디에스를 만들고, 엠에스티를 빈 리스트로 둡니다.</a:t>
            </a:r>
          </a:p>
          <a:p>
            <a:endParaRPr lang="ko-KR"/>
          </a:p>
          <a:p>
            <a:r>
              <a:rPr lang="ko-KR" altLang="en-US" dirty="0"/>
              <a:t>포 문은 정렬된 간선을 하나씩 꺼내 웨이트, 유, 브이로 풉니다. 이프에서 디에스 점 유니온을 부릅니다. 유니온은 합쳤으면 트루, 이미 같은 집합이면 폴스를 돌려주므로, 그 값이 그대로 채택 여부가 됩니다. 트루이면 엠에스티에 유, 브이, 웨이트를 붙입니다. 아래 이프에서 엠에스티의 길이가 엔 빼기 일이면 브레이크로 멈춥니다. 의사코드의 세 단계가 그대로 들어 있습니다.</a:t>
            </a:r>
          </a:p>
          <a:p>
            <a:endParaRPr lang="ko-KR"/>
          </a:p>
          <a:p>
            <a:r>
              <a:rPr lang="ko-KR" altLang="en-US" dirty="0"/>
              <a:t>자주 하는 실수는 튜플을 유, 브이, 가중치 순서로 만드는 것입니다. 그러면 소트가 가중치가 아니라 정점 번호 순으로 정렬해서 틀린 답이 나옵니다. 다음 화면은 이 함수를 호출하는 부분입니다.</a:t>
            </a:r>
          </a:p>
          <a:p>
            <a:endParaRPr lang="ko-K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부분입니다. 네임스 문자열은 영번부터 오번 정점의 이름, 에이부터 에프입니다. 네임스 영이 에이, 네임스 오가 에프입니다.</a:t>
            </a:r>
          </a:p>
          <a:p>
            <a:endParaRPr lang="ko-KR"/>
          </a:p>
          <a:p>
            <a:r>
              <a:rPr lang="ko-KR" altLang="en-US" dirty="0"/>
              <a:t>엣지스에는 앞의 표와 같은 간선 아홉 개가 들어 있습니다. 튜플 하나는 가중치, 유, 브이입니다. 예를 들어 첫 튜플 십, 영, 오는 에이 에프 십이고, 마지막 튜플 이십구, 이, 오는 씨 에프 이십구입니다.</a:t>
            </a:r>
          </a:p>
          <a:p>
            <a:endParaRPr lang="ko-KR"/>
          </a:p>
          <a:p>
            <a:r>
              <a:rPr lang="ko-KR" altLang="en-US" dirty="0"/>
              <a:t>크루스칼 육, 엣지스로 정점 여섯 개를 넘겨 호출하고, 제목 줄을 출력한 뒤 결과를 한 줄씩 출력합니다. 에프 스트링 안의 네임스 유, 네임스 브이가 번호를 이름으로 바꿉니다. 그래서 영 대신 에이가 출력됩니다.</a:t>
            </a:r>
          </a:p>
          <a:p>
            <a:endParaRPr lang="ko-KR"/>
          </a:p>
          <a:p>
            <a:r>
              <a:rPr lang="ko-KR" altLang="en-US" dirty="0"/>
              <a:t>크루스칼 함수 안의 엣지스 점 소트는 이 리스트 자체를 정렬한다는 점도 알아 두세요. 호출이 끝난 뒤 엣지스를 다시 쓰면 입력 순서가 아니라 정렬된 순서입니다. 다음은 씨 언어 코드입니다.</a:t>
            </a:r>
          </a:p>
          <a:p>
            <a:endParaRPr lang="ko-K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언어 코드입니다. 이것도 네 화면으로 나눴습니다. 위의 두 줄은 헤더입니다. 스탠다드 아이오는 프린트 에프, 스탠다드 립은 큐 소트를 쓰기 위해 넣습니다.</a:t>
            </a:r>
          </a:p>
          <a:p>
            <a:endParaRPr lang="ko-KR"/>
          </a:p>
          <a:p>
            <a:r>
              <a:rPr lang="ko-KR" altLang="en-US" dirty="0"/>
              <a:t>엣지 구조체는 가중치 더블유와 두 끝 유, 브이를 묶습니다. 파이썬의 튜플 역할입니다. 순서도 튜플과 같은 가중치, 유, 브이입니다.</a:t>
            </a:r>
          </a:p>
          <a:p>
            <a:endParaRPr lang="ko-KR"/>
          </a:p>
          <a:p>
            <a:r>
              <a:rPr lang="ko-KR" altLang="en-US" dirty="0"/>
              <a:t>페어런트와 랭크는 크기 백인 전역 배열입니다. 주석처럼 정점 백 개까지 다룰 수 있습니다. 함수 밖에 선언했으니 모든 함수가 같은 배열을 씁니다.</a:t>
            </a:r>
          </a:p>
          <a:p>
            <a:endParaRPr lang="ko-KR"/>
          </a:p>
          <a:p>
            <a:r>
              <a:rPr lang="ko-KR" altLang="en-US" dirty="0"/>
              <a:t>메이크 셋츠는 정점 엔 개에 대해 페어런트 아이를 아이로, 랭크 아이를 영으로 둡니다. 모든 정점이 각자 집합인 처음 상태를 만드는 것이고, 파이썬의 이닛과 같은 일입니다. 정점이 백 개를 넘으면 배열 밖에 쓰게 되므로, 큰 입력에서는 배열 크기를 늘려야 합니다. 다음 화면은 파인드와 유니온입니다.</a:t>
            </a:r>
          </a:p>
          <a:p>
            <a:endParaRPr lang="ko-K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파인드는 파이썬과 똑같습니다. 페어런트 엑스가 엑스가 아니면 부모에 대해 파인드를 재귀 호출하고, 결과를 페어런트 엑스에 저장해 경로를 압축한 뒤 돌려줍니다.</a:t>
            </a:r>
          </a:p>
          <a:p>
            <a:endParaRPr lang="ko-KR"/>
          </a:p>
          <a:p>
            <a:r>
              <a:rPr lang="ko-KR" altLang="en-US" dirty="0"/>
              <a:t>유니온 셋츠라는 이름을 보세요. 주석처럼 씨에서 유니온은 예약어라서 함수 이름으로 쓸 수 없습니다. 그래서 이름을 바꿨습니다. 먼저 두 뿌리 피엑스, 피와이를 구하고, 같으면 영을 돌려줍니다. 이 코드는 씨의 관례대로 정수 일과 영을 돌려줍니다. 일은 합쳤다, 영은 이미 같은 집합이라는 뜻입니다.</a:t>
            </a:r>
          </a:p>
          <a:p>
            <a:endParaRPr lang="ko-KR"/>
          </a:p>
          <a:p>
            <a:r>
              <a:rPr lang="ko-KR" altLang="en-US" dirty="0"/>
              <a:t>피엑스의 랭크가 더 작으면 임시 변수 티를 써서 둘을 맞바꿉니다. 그러면 피엑스가 랭크가 높은 쪽이 됩니다. 그다음 페어런트 피와이에 피엑스를 넣어 낮은 나무를 높은 나무 밑에 붙이고, 랭크가 같았다면 피엑스의 랭크를 하나 올린 뒤 일을 돌려줍니다.</a:t>
            </a:r>
          </a:p>
          <a:p>
            <a:endParaRPr lang="ko-KR"/>
          </a:p>
          <a:p>
            <a:r>
              <a:rPr lang="ko-KR" altLang="en-US" dirty="0"/>
              <a:t>맞바꿀 때 임시 변수 없이 피엑스에 피와이를 넣고 이어서 피와이에 피엑스를 넣으면, 두 값이 모두 피와이가 되어 버립니다. 자주 하는 실수입니다. 다음 화면은 정렬 비교 함수와 크루스칼 함수입니다.</a:t>
            </a:r>
          </a:p>
          <a:p>
            <a:endParaRPr lang="ko-K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바이 웨이트는 큐 소트에 넘길 비교 함수입니다. 둘째 줄은 큐 소트가 넘겨주는 보이드 포인터를 엣지 포인터 엑스, 와이로 받아 읽는 줄입니다. 셋째 줄에서 두 간선의 가중치를 빼서 돌려줍니다. 앞 간선의 가중치가 작으면 음수가 되어 앞에 두므로 오름차순입니다. 가중치가 아주 큰 수라면 빼기에서 넘칠 수 있으니, 그때는 크기를 비교해 일, 영, 마이너스 일을 돌려주는 편이 안전합니다.</a:t>
            </a:r>
          </a:p>
          <a:p>
            <a:endParaRPr lang="ko-KR"/>
          </a:p>
          <a:p>
            <a:r>
              <a:rPr lang="ko-KR" altLang="en-US" dirty="0"/>
              <a:t>크루스칼 함수는 정점 수 엔, 간선 배열 엣지스, 간선 수 엠, 결과를 담을 배열 엠에스티를 받습니다. 큐 소트로 간선을 정렬하고, 메이크 셋츠로 모든 정점을 각자 집합으로 만듭니다. 카운트는 지금까지 채택한 간선 수입니다.</a:t>
            </a:r>
          </a:p>
          <a:p>
            <a:endParaRPr lang="ko-KR"/>
          </a:p>
          <a:p>
            <a:r>
              <a:rPr lang="ko-KR" altLang="en-US" dirty="0"/>
              <a:t>포 문에서 간선을 차례로 보며 유니온 셋츠가 일을 돌려주면, 엠에스티의 카운트 칸에 간선을 넣고 카운트를 하나 늘립니다. 카운트 플러스 플러스는 현재 칸에 먼저 넣고 나서 늘린다는 뜻입니다.</a:t>
            </a:r>
          </a:p>
          <a:p>
            <a:endParaRPr lang="ko-KR"/>
          </a:p>
          <a:p>
            <a:r>
              <a:rPr lang="ko-KR" altLang="en-US" dirty="0"/>
              <a:t>카운트가 엔 빼기 일이 되면 브레이크로 멈추고, 채택한 간선 수 카운트를 돌려줍니다. 파이썬처럼 결과 리스트의 길이를 쓸 수 없으니 개수를 따로 돌려주는 것입니다. 다음 화면은 메인 함수입니다.</a:t>
            </a:r>
          </a:p>
          <a:p>
            <a:endParaRPr lang="ko-K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메인 함수입니다. 네임스는 영번부터 오번 정점의 이름 에이부터 에프를 담은 문자열입니다. 간선 배열 아홉 개는 파이썬과 같은 순서, 같은 값입니다.</a:t>
            </a:r>
          </a:p>
          <a:p>
            <a:endParaRPr lang="ko-KR"/>
          </a:p>
          <a:p>
            <a:r>
              <a:rPr lang="ko-KR" altLang="en-US" dirty="0"/>
              <a:t>엠에스티 배열의 크기는 다섯입니다. 정점 여섯 개의 신장 트리는 간선이 브이 빼기 일, 다섯 개이기 때문입니다. 크루스칼 육, 엣지스, 구, 엠에스티를 호출하고, 돌려받은 간선 수를 케이에 저장합니다.</a:t>
            </a:r>
          </a:p>
          <a:p>
            <a:endParaRPr lang="ko-KR"/>
          </a:p>
          <a:p>
            <a:r>
              <a:rPr lang="ko-KR" altLang="en-US" dirty="0"/>
              <a:t>제목 줄을 출력한 뒤, 포 문으로 케이 개의 간선을 출력합니다. 퍼센트 씨는 문자 하나를 출력하는 서식입니다. 네임스에서 번호에 맞는 글자를 꺼내 에이, 에프처럼 보여 줍니다. 퍼센트 디는 가중치 정수입니다.</a:t>
            </a:r>
          </a:p>
          <a:p>
            <a:endParaRPr lang="ko-KR"/>
          </a:p>
          <a:p>
            <a:r>
              <a:rPr lang="ko-KR" altLang="en-US" dirty="0"/>
              <a:t>포 문의 끝을 다섯으로 직접 쓰지 않고 케이를 쓴 점을 보세요. 그래프가 여러 덩어리로 나뉘어 있어서 신장 트리를 만들 수 없으면 간선이 다섯 개보다 적게 나오는데, 그때도 채택한 만큼만 출력합니다. 다음 화면에서 실행 결과를 보겠습니다.</a:t>
            </a:r>
          </a:p>
          <a:p>
            <a:endParaRPr lang="ko-K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결과입니다. 파이썬과 씨가 똑같이 출력합니다.</a:t>
            </a:r>
          </a:p>
          <a:p>
            <a:endParaRPr lang="ko-KR"/>
          </a:p>
          <a:p>
            <a:r>
              <a:rPr lang="ko-KR" altLang="en-US" dirty="0"/>
              <a:t>첫 줄 최소 신장 트리 구성은 제목 줄이고, 그 아래 다섯 줄이 채택한 간선입니다. 각 줄은 코드 마지막의 출력 줄, 파이썬의 에프 스트링과 씨의 프린트 에프가 만든 것입니다. 네임스로 번호를 이름으로 바꿨기 때문에 영 대신 에이, 오 대신 에프가 나옵니다.</a:t>
            </a:r>
          </a:p>
          <a:p>
            <a:endParaRPr lang="ko-KR"/>
          </a:p>
          <a:p>
            <a:r>
              <a:rPr lang="ko-KR" altLang="en-US" dirty="0"/>
              <a:t>간선은 채택한 순서대로 나옵니다. 에이 에프 십, 씨 디 십이, 비 에이 십오, 비 씨 십육, 디 이 이십이입니다. 단계 화면에서 손으로 따라간 순서와 같습니다. 비 에이, 디 이처럼 나오는 것은 간선 튜플에 적은 순서 그대로 출력하기 때문입니다.</a:t>
            </a:r>
          </a:p>
          <a:p>
            <a:endParaRPr lang="ko-KR"/>
          </a:p>
          <a:p>
            <a:r>
              <a:rPr lang="ko-KR" altLang="en-US" dirty="0"/>
              <a:t>다섯 개의 가중치를 더하면 십 더하기 십이 더하기 십오 더하기 십육 더하기 이십이, 칠십오입니다. 디 에이 십팔은 사이클이라서 출력에 없습니다. 이 에이 이십오, 이 에프 이십칠, 씨 에프 이십구는 간선 다섯 개가 모인 뒤라 확인하지도 않았습니다.</a:t>
            </a:r>
          </a:p>
          <a:p>
            <a:endParaRPr lang="ko-KR"/>
          </a:p>
          <a:p>
            <a:r>
              <a:rPr lang="ko-KR" altLang="en-US" dirty="0"/>
              <a:t>간선 다섯 개는 정점 여섯 개의 브이 빼기 일과 같습니다. 다음은 시간 복잡도입니다.</a:t>
            </a:r>
          </a:p>
          <a:p>
            <a:endParaRPr lang="ko-K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크루스칼의 시간 복잡도입니다. 브이는 정점 수, 대문자 이는 간선 수입니다.</a:t>
            </a:r>
          </a:p>
          <a:p>
            <a:endParaRPr lang="ko-KR"/>
          </a:p>
          <a:p>
            <a:r>
              <a:rPr lang="ko-KR" altLang="en-US" dirty="0"/>
              <a:t>첫 단계는 정렬입니다. 간선 전체, 대문자 이 개를 가중치 순으로 정렬하므로 오 이 로그 이입니다.</a:t>
            </a:r>
          </a:p>
          <a:p>
            <a:endParaRPr lang="ko-KR"/>
          </a:p>
          <a:p>
            <a:r>
              <a:rPr lang="ko-KR" altLang="en-US" dirty="0"/>
              <a:t>둘째 단계에서는 간선마다 파인드와 유니온을 합니다. 경로 압축과 랭크를 함께 쓰면, 이 연산을 여러 번 할 때 한 번당 평균 비용이 오 알파 브이입니다. 어느 한 번은 조금 더 걸릴 수 있지만, 여러 번을 모아 나누면 이 정도라는 뜻입니다. 알파는 아주 느리게 자라는 함수로, 역 아커만 함수라고 부릅니다. 현실에서 다루는 어떤 크기의 브이에서도 사 이하라서 사실상 상수로 봅니다. 간선마다 한 번씩이니 이 곱하기 오 알파 브이입니다.</a:t>
            </a:r>
          </a:p>
          <a:p>
            <a:endParaRPr lang="ko-KR"/>
          </a:p>
          <a:p>
            <a:r>
              <a:rPr lang="ko-KR" altLang="en-US" dirty="0"/>
              <a:t>둘을 더하면 정렬이 더 크므로 전체는 오 이 로그 이입니다. 정렬이 비용을 결정합니다.</a:t>
            </a:r>
          </a:p>
          <a:p>
            <a:endParaRPr lang="ko-KR"/>
          </a:p>
          <a:p>
            <a:r>
              <a:rPr lang="ko-KR" altLang="en-US" dirty="0"/>
              <a:t>마지막 회색 문장처럼, 이 평균 보장은 경로 압축과 랭크를 함께 쓸 때 성립합니다. 랭크로 합치면 나무 높이가 로그 브이를 넘지 않아서 파인드가 길어지지 않습니다. 다음 화면에서 크루스칼이 왜 항상 최소 신장 트리를 주는지 확인하겠습니다.</a:t>
            </a:r>
          </a:p>
          <a:p>
            <a:endParaRPr lang="ko-K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크루스칼이 왜 항상 최소 신장 트리를 주는지 교환 논증으로 보겠습니다. 오 점 오 절에서 본 방법입니다.</a:t>
            </a:r>
          </a:p>
          <a:p>
            <a:endParaRPr lang="ko-KR"/>
          </a:p>
          <a:p>
            <a:r>
              <a:rPr lang="ko-KR" altLang="en-US" dirty="0"/>
              <a:t>크루스칼이 간선 지를 채택하는 순간을 생각합니다. 지는 서로 다른 덩어리를 잇는 간선 중 가장 쌉니다. 왜 그럴까요? 지보다 싼 간선은 이미 다 봤습니다. 그리고 이미 본 간선은 채택했든 사이클이라 버렸든, 지금은 모두 한 덩어리 안에 있습니다. 그러니 서로 다른 덩어리를 잇는 간선 가운데 지보다 싼 것은 남아 있지 않습니다.</a:t>
            </a:r>
          </a:p>
          <a:p>
            <a:endParaRPr lang="ko-KR"/>
          </a:p>
          <a:p>
            <a:r>
              <a:rPr lang="ko-KR" altLang="en-US" dirty="0"/>
              <a:t>이제 지금까지 고른 간선을 모두 포함하는 최소 신장 트리 티를 하나 생각합니다. 티에 지가 없다고 해 봅시다. 티에 지를 더하면 사이클이 생깁니다. 이 사이클은 지의 한쪽 덩어리를 나갔다가 다시 들어와야 하므로, 사이클 위에는 서로 다른 덩어리를 잇는 다른 간선 에이치가 있습니다.</a:t>
            </a:r>
          </a:p>
          <a:p>
            <a:endParaRPr lang="ko-KR"/>
          </a:p>
          <a:p>
            <a:r>
              <a:rPr lang="ko-KR" altLang="en-US" dirty="0"/>
              <a:t>서로 다른 덩어리를 잇는 간선은 아직 보지 않은 간선이므로, 에이치의 가중치는 지 이상입니다. 그러니 티에서 에이치를 빼고 지를 넣으면 여전히 신장 트리이고, 합은 늘지 않습니다. 에이치는 우리가 고른 간선이 아니니, 이 새 트리는 지금까지 고른 간선과 지를 모두 포함하는 최소 신장 트리입니다. 이것이 탐욕적 선택 속성입니다. 지를 고른 뒤 남은 문제도 같은 모양이니 최적 부분 구조도 성립합니다.</a:t>
            </a:r>
          </a:p>
          <a:p>
            <a:endParaRPr lang="ko-KR"/>
          </a:p>
          <a:p>
            <a:r>
              <a:rPr lang="ko-KR" altLang="en-US" dirty="0"/>
              <a:t>아래 예처럼 여섯 번째에 디 이 이십이를 고를 때, 서로 다른 덩어리를 잇는 다른 간선 이 에이 이십오와 이 에프 이십칠은 모두 이십이 이상입니다. 이제 연습문제를 풀어 보겠습니다.</a:t>
            </a:r>
          </a:p>
          <a:p>
            <a:endParaRPr lang="ko-K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연습문제입니다. 정점은 에이, 비, 씨, 디 네 개이고 간선은 다섯 개입니다. 그래프 용어를 정리할 때 본 바로 그 그래프예요. 가중치는 에이 비 일, 비 씨 이, 에이 씨 삼, 씨 디 사, 비 디 오입니다.</a:t>
            </a:r>
          </a:p>
          <a:p>
            <a:endParaRPr lang="ko-KR"/>
          </a:p>
          <a:p>
            <a:r>
              <a:rPr lang="ko-KR" altLang="en-US" dirty="0"/>
              <a:t>먼저 가중치 오름차순으로 정렬합니다. 오른쪽 표처럼 에이 비, 비 씨, 에이 씨, 씨 디, 비 디 순서입니다. 정점이 네 개이므로 간선 브이 빼기 일, 세 개를 채택하면 멈춥니다.</a:t>
            </a:r>
          </a:p>
          <a:p>
            <a:endParaRPr lang="ko-KR"/>
          </a:p>
          <a:p>
            <a:r>
              <a:rPr lang="ko-KR" altLang="en-US" dirty="0"/>
              <a:t>첫 간선은 에이 비, 일입니다. 그래프의 주황 간선과 노란 정점 에이, 비가 지금 보는 간선과 그 두 끝이고, 표의 노란 줄도 같은 간선입니다. 에이와 비는 각자 혼자인 서로 다른 덩어리이므로 채택합니다. 오른쪽 아래처럼 덩어리는 에이 비 묶음, 씨, 디로 세 개가 되고, 합계는 일입니다.</a:t>
            </a:r>
          </a:p>
          <a:p>
            <a:endParaRPr lang="ko-KR"/>
          </a:p>
          <a:p>
            <a:r>
              <a:rPr lang="ko-KR" altLang="en-US" dirty="0"/>
              <a:t>채택한 간선이 세 개가 되려면 아직 두 개가 더 필요합니다. 다음은 비 씨, 이입니다.</a:t>
            </a:r>
          </a:p>
          <a:p>
            <a:endParaRPr lang="ko-K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간선은 비 씨, 이입니다. 앞에서 채택한 에이 비는 이제 청록색이고, 지금 보는 비 씨가 주황색입니다. 비는 에이 비 덩어리에 있고, 씨는 혼자입니다. 서로 다른 덩어리이므로 채택합니다.</a:t>
            </a:r>
          </a:p>
          <a:p>
            <a:endParaRPr lang="ko-KR"/>
          </a:p>
          <a:p>
            <a:r>
              <a:rPr lang="ko-KR" altLang="en-US" dirty="0"/>
              <a:t>이제 에이, 비, 씨가 한 덩어리이고 디만 혼자 남았습니다. 제목 아래 둘째 줄처럼 덩어리는 두 개입니다. 표에는 위의 두 줄이 채택으로 적혀 있습니다.</a:t>
            </a:r>
          </a:p>
          <a:p>
            <a:endParaRPr lang="ko-KR"/>
          </a:p>
          <a:p>
            <a:r>
              <a:rPr lang="ko-KR" altLang="en-US" dirty="0"/>
              <a:t>오른쪽 아래처럼 채택한 간선은 두 개, 합계는 일 더하기 이로 삼입니다. 목표인 간선 세 개까지 하나 남았습니다. 남은 하나는 혼자 떨어진 디를 잇는 간선이어야 합니다.</a:t>
            </a:r>
          </a:p>
          <a:p>
            <a:endParaRPr lang="ko-KR"/>
          </a:p>
          <a:p>
            <a:r>
              <a:rPr lang="ko-KR" altLang="en-US" dirty="0"/>
              <a:t>에이와 씨 사이에 주목하세요. 에이에서 비를 거쳐 씨로 가는 길이 생겼습니다. 다음 간선이 바로 에이 씨입니다. 에이 씨를 채택할지, 넘어가기 전에 직접 판단해 보세요. 판단 기준은 가중치가 아니라, 에이와 씨가 이미 같은 덩어리인가입니다.</a:t>
            </a:r>
          </a:p>
          <a:p>
            <a:endParaRPr lang="ko-K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 간선은 에이 씨, 삼입니다. 에이와 씨는 이미 같은 덩어리입니다. 주황색 길처럼 에이에서 에이 비 간선을 타고 비로, 비 씨 간선을 타고 씨로 이미 이어져 있습니다.</a:t>
            </a:r>
          </a:p>
          <a:p>
            <a:endParaRPr lang="ko-KR"/>
          </a:p>
          <a:p>
            <a:r>
              <a:rPr lang="ko-KR" altLang="en-US" dirty="0"/>
              <a:t>여기에 에이 씨를 더하면 에이, 비, 씨, 에이로 도는 사이클이 생깁니다. 에이에서 씨로 가는 길이 두 갈래가 되는 거죠. 그래서 빨간 점선처럼 버립니다. 표의 셋째 줄 결과에 사이클이라고 적었습니다. 덩어리는 그대로 에이 비 씨 묶음과 디, 두 개입니다.</a:t>
            </a:r>
          </a:p>
          <a:p>
            <a:endParaRPr lang="ko-KR"/>
          </a:p>
          <a:p>
            <a:r>
              <a:rPr lang="ko-KR" altLang="en-US" dirty="0"/>
              <a:t>가중치 삼은 남은 씨 디나 비 디보다 작습니다. 그래도 버리는 이유는 가격이 아니라 사이클입니다. 크루스칼은 싼 간선이라도 사이클을 만들면 버립니다. 에이 씨를 넣지 않아도 에이와 씨는 이미 연결되어 있으니 잃는 것이 없습니다.</a:t>
            </a:r>
          </a:p>
          <a:p>
            <a:endParaRPr lang="ko-KR"/>
          </a:p>
          <a:p>
            <a:r>
              <a:rPr lang="ko-KR" altLang="en-US" dirty="0"/>
              <a:t>채택한 간선은 그대로 두 개, 합계도 삼입니다. 다음은 씨 디, 사입니다.</a:t>
            </a:r>
          </a:p>
          <a:p>
            <a:endParaRPr lang="ko-K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번째 간선은 씨 디, 사입니다. 씨는 에이 비 씨 덩어리에 있고 디는 혼자이므로 채택합니다.</a:t>
            </a:r>
          </a:p>
          <a:p>
            <a:endParaRPr lang="ko-KR"/>
          </a:p>
          <a:p>
            <a:r>
              <a:rPr lang="ko-KR" altLang="en-US" dirty="0"/>
              <a:t>이제 네 정점이 모두 한 덩어리가 되었고, 채택한 간선이 세 개입니다. 정점 네 개의 브이 빼기 일, 세 개가 모였으니 신장 트리가 완성되었습니다. 여기서 멈춥니다.</a:t>
            </a:r>
          </a:p>
          <a:p>
            <a:endParaRPr lang="ko-KR"/>
          </a:p>
          <a:p>
            <a:r>
              <a:rPr lang="ko-KR" altLang="en-US" dirty="0"/>
              <a:t>그래서 마지막 간선 비 디, 오는 확인하지 않습니다. 표에 확인하지 않음이라고 적었습니다. 확인했더라도 비와 디는 이미 같은 덩어리라서 사이클이 되었겠지만, 알고리즘은 간선이 브이 빼기 일 개가 되는 순간 멈추므로 비 디를 꺼내 보지도 않습니다.</a:t>
            </a:r>
          </a:p>
          <a:p>
            <a:endParaRPr lang="ko-KR"/>
          </a:p>
          <a:p>
            <a:r>
              <a:rPr lang="ko-KR" altLang="en-US" dirty="0"/>
              <a:t>최소 신장 트리는 에이 비, 비 씨, 씨 디이고, 합은 일 더하기 이 더하기 사, 칠입니다. 정리하면 에이 비 채택, 비 씨 채택, 에이 씨는 사이클이라 제외, 씨 디 채택, 그리고 비 디는 확인하지 않음입니다. 다음은 가중치가 음수인 경우입니다.</a:t>
            </a:r>
          </a:p>
          <a:p>
            <a:endParaRPr lang="ko-K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이번에는 가중치에 음수가 있는 그래프입니다. 정점은 에이, 비, 씨이고, 에이 비는 마이너스 삼, 비 씨는 일, 에이 씨는 사입니다.</a:t>
            </a:r>
          </a:p>
          <a:p>
            <a:endParaRPr lang="ko-KR"/>
          </a:p>
          <a:p>
            <a:r>
              <a:rPr lang="ko-KR" altLang="en-US" dirty="0"/>
              <a:t>크루스칼은 가중치를 정렬할 때 크기를 비교하는 데만 씁니다. 음수도 크기 비교는 똑같이 되니, 마이너스 삼이 가장 작아 맨 앞에 옵니다. 정렬 순서는 에이 비, 비 씨, 에이 씨입니다.</a:t>
            </a:r>
          </a:p>
          <a:p>
            <a:endParaRPr lang="ko-KR"/>
          </a:p>
          <a:p>
            <a:r>
              <a:rPr lang="ko-KR" altLang="en-US" dirty="0"/>
              <a:t>표의 결과 칸에 순서를 붙였습니다. 첫째, 에이 비, 마이너스 삼을 채택합니다. 둘째, 비 씨, 일을 채택합니다. 정점이 세 개이므로 브이 빼기 일, 간선 두 개가 모였고 여기서 멈춥니다. 에이 씨는 확인하지 않습니다.</a:t>
            </a:r>
          </a:p>
          <a:p>
            <a:endParaRPr lang="ko-KR"/>
          </a:p>
          <a:p>
            <a:r>
              <a:rPr lang="ko-KR" altLang="en-US" dirty="0"/>
              <a:t>합은 마이너스 삼 더하기 일, 마이너스 이입니다. 최소 신장 트리의 합이 음수여도 아무 문제가 없습니다. 앞에서 본 교환 논증도 가중치의 크기 비교만 썼지, 영 이상이라는 조건은 쓰지 않았습니다.</a:t>
            </a:r>
          </a:p>
          <a:p>
            <a:endParaRPr lang="ko-KR"/>
          </a:p>
          <a:p>
            <a:r>
              <a:rPr lang="ko-KR" altLang="en-US" dirty="0"/>
              <a:t>이 점이 다익스트라와 다릅니다. 오 점 팔 절의 다익스트라는 음수 간선이 있으면 틀릴 수 있지만, 크루스칼은 음수 가중치에서도 그대로 성립합니다. 다음 화면에서는 최소 신장 트리와 최단 경로의 차이를 보겠습니다.</a:t>
            </a:r>
          </a:p>
          <a:p>
            <a:endParaRPr lang="ko-K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최소 신장 트리와 최단 경로 트리를 비교해 보겠습니다. 둘 다 그래프에서 간선을 골라 만든 트리라서 헷갈리기 쉽습니다. 같은 에이부터 디 그래프로 비교합니다.</a:t>
            </a:r>
          </a:p>
          <a:p>
            <a:endParaRPr lang="ko-KR"/>
          </a:p>
          <a:p>
            <a:r>
              <a:rPr lang="ko-KR" altLang="en-US" dirty="0"/>
              <a:t>왼쪽은 방금 구한 최소 신장 트리입니다. 에이 비, 비 씨, 씨 디, 합은 칠입니다. 이 트리는 간선 가중치의 합을 가장 작게 만들 뿐이라, 시작점이라는 것이 없습니다. 그래서 범례처럼 검은 시작점은 오른쪽 그림에만 있습니다.</a:t>
            </a:r>
          </a:p>
          <a:p>
            <a:endParaRPr lang="ko-KR"/>
          </a:p>
          <a:p>
            <a:r>
              <a:rPr lang="ko-KR" altLang="en-US" dirty="0"/>
              <a:t>오른쪽은 시작점 에이에서의 최단 경로 트리입니다. 에이에서 각 정점까지 가장 짧은 길만 모은 트리입니다. 에이에서 비까지는 일, 씨까지는 에이, 비, 씨로 삼입니다. 디까지는 에이, 비, 디로 일 더하기 오, 육입니다. 그래서 비 디 간선이 들어가고, 합은 일 더하기 이 더하기 오, 팔입니다. 회색 문장처럼 씨까지는 에이 씨 직행도 삼이라, 비 씨 대신 에이 씨를 넣은 트리, 합 구도 최단 경로 트리입니다.</a:t>
            </a:r>
          </a:p>
          <a:p>
            <a:endParaRPr lang="ko-KR"/>
          </a:p>
          <a:p>
            <a:r>
              <a:rPr lang="ko-KR" altLang="en-US" dirty="0"/>
              <a:t>오른쪽 표를 보세요. 디까지의 거리가 다릅니다. 최소 신장 트리 안에서 에이에서 디로 가려면 에이, 비, 씨, 디를 지나 칠이지만, 실제 최단 거리는 육입니다. 최소 신장 트리 안의 길이 최단 경로라는 보장은 없습니다.</a:t>
            </a:r>
          </a:p>
          <a:p>
            <a:endParaRPr lang="ko-KR"/>
          </a:p>
          <a:p>
            <a:r>
              <a:rPr lang="ko-KR" altLang="en-US" dirty="0"/>
              <a:t>정리하면, 최소 신장 트리는 모든 정점을 잇는 간선 합이 최소이고, 최단 경로 트리는 시작점에서 각 정점까지의 거리가 최소입니다. 목표가 다르니 결과도 다를 수 있습니다. 최단 경로는 오 점 팔 절의 다익스트라에서 다룹니다. 이제 확인 문제를 풀어 보겠습니다.</a:t>
            </a:r>
          </a:p>
          <a:p>
            <a:endParaRPr lang="ko-K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확인 문제입니다.</a:t>
            </a:r>
          </a:p>
          <a:p>
            <a:endParaRPr lang="ko-KR"/>
          </a:p>
          <a:p>
            <a:r>
              <a:rPr lang="ko-KR" altLang="en-US" dirty="0"/>
              <a:t>첫 번째, 정점이 일곱 개인 그래프에서 신장 트리의 간선은 여섯 개입니다. 브이 빼기 일입니다.</a:t>
            </a:r>
          </a:p>
          <a:p>
            <a:endParaRPr lang="ko-KR"/>
          </a:p>
          <a:p>
            <a:r>
              <a:rPr lang="ko-KR" altLang="en-US" dirty="0"/>
              <a:t>두 번째, 정렬하면 알 에스 일, 피 큐 이, 큐 알 삼, 피 알 사, 큐 에스 오입니다. 알 에스를 채택하고, 피 큐를 채택합니다. 큐 알은 피 큐 덩어리와 알 에스 덩어리를 이으므로 채택합니다. 이제 간선이 세 개, 브이 빼기 일이 되어 멈춥니다. 채택한 간선은 알 에스, 피 큐, 큐 알이고 합은 일 더하기 이 더하기 삼, 육입니다. 피 알과 큐 에스는 확인하지 않습니다.</a:t>
            </a:r>
          </a:p>
          <a:p>
            <a:endParaRPr lang="ko-KR"/>
          </a:p>
          <a:p>
            <a:r>
              <a:rPr lang="ko-KR" altLang="en-US" dirty="0"/>
              <a:t>세 번째, 페어런트가 영, 영, 일, 이일 때 파인드 삼은 삼에서 이, 이에서 일, 일에서 영으로 올라가 영을 돌려줍니다. 경로 압축으로 지나간 정점 삼, 이, 일의 부모가 모두 영이 되므로 페어런트는 영, 영, 영, 영이 됩니다.</a:t>
            </a:r>
          </a:p>
          <a:p>
            <a:endParaRPr lang="ko-KR"/>
          </a:p>
          <a:p>
            <a:r>
              <a:rPr lang="ko-KR" altLang="en-US" dirty="0"/>
              <a:t>네 번째, 틀린 말입니다. 연습 그래프에서 에이에서 디까지 최소 신장 트리 안의 길은 칠이지만, 최단 경로는 에이, 비, 디로 육이었습니다. 최소 신장 트리는 간선 합이 최소일 뿐, 두 정점 사이의 길이 최단이라는 보장은 없습니다.</a:t>
            </a:r>
          </a:p>
          <a:p>
            <a:endParaRPr lang="ko-KR"/>
          </a:p>
          <a:p>
            <a:r>
              <a:rPr lang="ko-KR" altLang="en-US" dirty="0"/>
              <a:t>다음 절에서는 외판원 순회 문제에 그리디를 적용해 보겠습니다.</a:t>
            </a:r>
          </a:p>
          <a:p>
            <a:endParaRPr lang="ko-K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절에서는 외판원 순회 문제, 영어 약자로 티에스피를 다룹니다. 앞에서 본 활동 선택과 크루스칼은 그리디가 항상 최적해를 주는 문제였습니다.</a:t>
            </a:r>
          </a:p>
          <a:p>
            <a:endParaRPr lang="ko-KR"/>
          </a:p>
          <a:p>
            <a:r>
              <a:rPr lang="ko-KR" altLang="en-US" dirty="0"/>
              <a:t>이번에는 그리디로 빠르게 답을 낼 수는 있지만 최적해를 보장하지 못하는 문제를 봅니다. 기준은 아주 단순합니다. 지금 있는 도시에서 가장 가까운 도시로 가는 것입니다.</a:t>
            </a:r>
          </a:p>
          <a:p>
            <a:endParaRPr lang="ko-KR"/>
          </a:p>
          <a:p>
            <a:r>
              <a:rPr lang="ko-KR" altLang="en-US" dirty="0"/>
              <a:t>이 기준이 맞는 예와 틀리는 예를 하나씩 직접 따라가 보고, 틀리는 이유를 오 점 오 절의 탐욕적 선택 속성으로 설명하겠습니다. 먼저 문제를 정확히 정의하겠습니다.</a:t>
            </a:r>
          </a:p>
          <a:p>
            <a:endParaRPr lang="ko-K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외판원 순회 문제를 정의하겠습니다. 영어로 트래블링 세일즈맨 프라블럼, 줄여서 티에스피라고 부릅니다. 그림의 외판원은 서울 본사에서 출발해 파리, 로마, 시드니, 뉴욕 같은 도시를 모두 한 번씩 들른 뒤 다시 서울로 돌아와야 합니다. 이렇게 출발 도시로 돌아오는 닫힌 경로를 순회라고 합니다. 그림 제목의 최단 경로는 여기서 말하는 가장 짧은 순회입니다.</a:t>
            </a:r>
          </a:p>
          <a:p>
            <a:endParaRPr lang="ko-KR"/>
          </a:p>
          <a:p>
            <a:r>
              <a:rPr lang="ko-KR" altLang="en-US" dirty="0"/>
              <a:t>순회의 비용은 지나간 간선 거리의 합입니다. 이 절에서는 두 도시 사이 거리가 어느 방향으로 가든 같다고 둡니다. 목표는 모든 순회 가운데 비용이 가장 작은 순회를 찾는 것입니다.</a:t>
            </a:r>
          </a:p>
          <a:p>
            <a:endParaRPr lang="ko-KR"/>
          </a:p>
          <a:p>
            <a:r>
              <a:rPr lang="ko-KR" altLang="en-US" dirty="0"/>
              <a:t>경우의 수를 세어 보겠습니다. 출발 도시를 하나로 정해도 나머지 도시를 방문하는 순서가 엔 빼기 일 팩토리얼 가지입니다. 도시가 네 개면 삼 팩토리얼, 여섯 가지라서 손으로도 다 따져 볼 수 있습니다. 그런데 열한 개만 되어도 십 팩토리얼, 삼백육십이만 팔천팔백 가지로 늘어납니다.</a:t>
            </a:r>
          </a:p>
          <a:p>
            <a:endParaRPr lang="ko-KR"/>
          </a:p>
          <a:p>
            <a:r>
              <a:rPr lang="ko-KR" altLang="en-US" dirty="0"/>
              <a:t>경우의 수가 많다고 곧 어려운 문제인 것은 아닙니다. 정렬도 순서는 엔 팩토리얼 가지이지만 빠르게 풉니다. 티에스피는 엔피 난해 문제로 증명되어 있고, 다항 시간에 정확한 답을 내는 방법은 아직 아무도 찾지 못했습니다. 엔피 난해는 이 문제를 다항 시간에 풀 수 있다면 엔피에 속한 모든 문제를 다항 시간에 풀 수 있게 되는, 가장 어려운 부류의 문제라는 뜻입니다.</a:t>
            </a:r>
          </a:p>
          <a:p>
            <a:endParaRPr lang="ko-KR"/>
          </a:p>
          <a:p>
            <a:r>
              <a:rPr lang="ko-KR" altLang="en-US" dirty="0"/>
              <a:t>그래서 도시가 많으면 정확한 답 대신 빠르게 그럴듯한 답을 얻는 방법을 자주 씁니다. 그 대표가 다음 화면의 가장 가까운 이웃입니다.</a:t>
            </a:r>
          </a:p>
          <a:p>
            <a:endParaRPr lang="ko-K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절의 그리디 기준은 가장 가까운 이웃, 영어로 니어리스트 네이버입니다. 지금 있는 도시에서 아직 가지 않은 도시들 중 가장 가까운 곳으로 갑니다. 모든 도시를 돌았으면 출발 도시로 돌아옵니다.</a:t>
            </a:r>
          </a:p>
          <a:p>
            <a:endParaRPr lang="ko-KR"/>
          </a:p>
          <a:p>
            <a:r>
              <a:rPr lang="ko-KR" altLang="en-US" dirty="0"/>
              <a:t>오 점 일 절의 세 단계로 나눠 보겠습니다. 선택은 방문하지 않은 도시 중 지금 도시에서 거리가 가장 짧은 도시를 고르는 것입니다. 적정성 검사는 이미 방문한 도시를 다시 고르지 않는 것입니다. 해답 검사는 엔 개 도시를 모두 방문했는지 보는 것이고, 그렇다면 출발 도시로 돌아가 끝냅니다.</a:t>
            </a:r>
          </a:p>
          <a:p>
            <a:endParaRPr lang="ko-KR"/>
          </a:p>
          <a:p>
            <a:r>
              <a:rPr lang="ko-KR" altLang="en-US" dirty="0"/>
              <a:t>의사코드를 위에서부터 읽겠습니다. 애드제이는 두 도시 사이 거리를 담은 표, 인접 행렬입니다. 비지티드는 방문한 도시의 집합으로 처음에는 출발 도시만 들어 있습니다. 패스는 방문 순서를 적는 리스트, 커런트는 지금 있는 도시, 토털은 지금까지의 비용입니다. 출발 도시는 이미 방문했으므로 반복은 엔 빼기 일 번입니다.</a:t>
            </a:r>
          </a:p>
          <a:p>
            <a:endParaRPr lang="ko-KR"/>
          </a:p>
          <a:p>
            <a:r>
              <a:rPr lang="ko-KR" altLang="en-US" dirty="0"/>
              <a:t>반복마다 비지티드에 없는 도시 중 커런트와의 거리가 가장 작은 도시를 넥스트 시티로 고릅니다. 고른 도시를 비지티드와 패스에 넣고, 그 거리를 토털에 더한 뒤 커런트를 옮깁니다. 반복이 끝나면 패스 끝에 출발 도시를 붙이고, 마지막 도시에서 출발 도시로 가는 거리를 토털에 더해 함께 돌려줍니다.</a:t>
            </a:r>
          </a:p>
          <a:p>
            <a:endParaRPr lang="ko-KR"/>
          </a:p>
          <a:p>
            <a:r>
              <a:rPr lang="ko-KR" altLang="en-US" dirty="0"/>
              <a:t>눈여겨볼 점은 고를 때 지금 한 걸음의 거리만 본다는 것입니다. 그 선택 때문에 나중에 어떤 도시가 남는지, 마지막에 어떤 길을 가야 하는지는 따지지 않습니다. 이제 작은 그래프로 직접 따라가 보겠습니다.</a:t>
            </a:r>
          </a:p>
          <a:p>
            <a:endParaRPr lang="ko-K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가장 가까운 이웃이 잘 맞는 예입니다. 도시는 에이, 비, 씨, 디 네 개이고 에이에서 출발합니다. 바깥 네 변은 위쪽 에이와 비 사이가 십, 오른쪽 비와 씨 사이가 십오, 아래쪽 씨와 디 사이가 십, 왼쪽 디와 에이 사이가 십오입니다. 두 대각선은 이천으로 아주 멉니다.</a:t>
            </a:r>
          </a:p>
          <a:p>
            <a:endParaRPr lang="ko-KR"/>
          </a:p>
          <a:p>
            <a:r>
              <a:rPr lang="ko-KR" altLang="en-US" dirty="0"/>
              <a:t>에이에서 갈 수 있는 곳은 비 십, 씨 이천, 디 십오입니다. 가장 가까운 비로 갑니다. 비에서는 아직 안 간 씨와 디만 봅니다. 씨 십오가 디 이천보다 가까우니 씨로 갑니다. 씨에서 남은 도시는 디 하나뿐이라 십을 내고 디로 갑니다.</a:t>
            </a:r>
          </a:p>
          <a:p>
            <a:endParaRPr lang="ko-KR"/>
          </a:p>
          <a:p>
            <a:r>
              <a:rPr lang="ko-KR" altLang="en-US" dirty="0"/>
              <a:t>이제 모든 도시를 방문했으므로 디에서 출발 도시 에이로 돌아옵니다. 복귀 비용은 십오입니다. 합은 십 더하기 십오 더하기 십 더하기 십오, 오십입니다.</a:t>
            </a:r>
          </a:p>
          <a:p>
            <a:endParaRPr lang="ko-KR"/>
          </a:p>
          <a:p>
            <a:r>
              <a:rPr lang="ko-KR" altLang="en-US" dirty="0"/>
              <a:t>도시가 네 개면 방향만 다른 것을 하나로 셀 때 순회는 세 가지뿐입니다. 나머지 두 순회는 이천짜리 대각선을 두 번 지나서 사천이십과 사천삼십입니다. 그래서 이 그래프에서는 그리디의 오십이 최적입니다.</a:t>
            </a:r>
          </a:p>
          <a:p>
            <a:endParaRPr lang="ko-KR"/>
          </a:p>
          <a:p>
            <a:r>
              <a:rPr lang="ko-KR" altLang="en-US" dirty="0"/>
              <a:t>하지만 이것은 그래프가 운 좋게 생겨서 맞은 것이지, 보장된 결과가 아닙니다. 다음 화면부터 같은 기준이 틀리는 그래프를 한 단계씩 따라가 보겠습니다.</a:t>
            </a:r>
          </a:p>
          <a:p>
            <a:endParaRPr lang="ko-K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이번에는 가장 가까운 이웃이 틀리는 그래프입니다. 도시는 똑같이 에이, 비, 씨, 디 네 개이고 거리만 다릅니다. 위쪽 에이와 비 사이는 일, 오른쪽 비와 씨 사이는 이, 아래쪽 씨와 디 사이는 오, 왼쪽 디와 에이 사이는 삼입니다. 대각선은 에이와 씨 사이가 이, 비와 디 사이가 일입니다.</a:t>
            </a:r>
          </a:p>
          <a:p>
            <a:endParaRPr lang="ko-KR"/>
          </a:p>
          <a:p>
            <a:r>
              <a:rPr lang="ko-KR" altLang="en-US" dirty="0"/>
              <a:t>출발 도시는 에이입니다. 에이에서 갈 수 있는 도시는 비, 씨, 디이고 거리는 각각 일, 이, 삼입니다. 오른쪽 표에서 가장 작은 값은 비의 일입니다. 그래서 주황색 간선을 따라 비로 갑니다.</a:t>
            </a:r>
          </a:p>
          <a:p>
            <a:endParaRPr lang="ko-KR"/>
          </a:p>
          <a:p>
            <a:r>
              <a:rPr lang="ko-KR" altLang="en-US" dirty="0"/>
              <a:t>지금까지의 경로는 에이, 비이고 비용은 일입니다. 이 선택은 지금 보기에는 흠잡을 데가 없습니다. 가장 싼 간선을 골랐으니까요. 이 선택이 나중에 무엇을 남기는지가 이번 예의 핵심입니다.</a:t>
            </a:r>
          </a:p>
          <a:p>
            <a:endParaRPr lang="ko-KR"/>
          </a:p>
          <a:p>
            <a:r>
              <a:rPr lang="ko-KR" altLang="en-US" dirty="0"/>
              <a:t>비는 이제 방문한 도시입니다. 다음 화면에서 비에 서서 아직 가지 않은 씨와 디를 비교하겠습니다.</a:t>
            </a:r>
          </a:p>
          <a:p>
            <a:endParaRPr lang="ko-K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지금 비에 있습니다. 비와 연결된 도시는 에이, 씨, 디인데 에이는 이미 방문했으므로 후보에서 뺍니다. 이것이 적정성 검사입니다. 그래서 비교할 후보는 씨와 디 두 개입니다. 만약 에이를 빼지 않으면 비에서 에이로 가는 일도 후보가 되어, 같은 도시를 두 번 방문하는 잘못된 순회가 됩니다.</a:t>
            </a:r>
          </a:p>
          <a:p>
            <a:endParaRPr lang="ko-KR"/>
          </a:p>
          <a:p>
            <a:r>
              <a:rPr lang="ko-KR" altLang="en-US" dirty="0"/>
              <a:t>비에서 씨까지는 이, 비에서 디까지는 대각선으로 일입니다. 일이 더 작으므로 디로 갑니다. 화면에서 에이와 비 사이 간선은 지나온 길이라 파란 굵은 선으로, 이번에 고른 비와 디 사이 간선은 주황색으로 표시했습니다.</a:t>
            </a:r>
          </a:p>
          <a:p>
            <a:endParaRPr lang="ko-KR"/>
          </a:p>
          <a:p>
            <a:r>
              <a:rPr lang="ko-KR" altLang="en-US" dirty="0"/>
              <a:t>경로는 에이, 비, 디이고 비용은 일 더하기 일, 이입니다. 두 번 연속으로 가장 싼 간선을 골랐으니 여기까지는 아주 순조로워 보입니다.</a:t>
            </a:r>
          </a:p>
          <a:p>
            <a:endParaRPr lang="ko-KR"/>
          </a:p>
          <a:p>
            <a:r>
              <a:rPr lang="ko-KR" altLang="en-US" dirty="0"/>
              <a:t>그런데 남은 도시를 보세요. 씨 하나만 남았고, 디에서 씨로 가는 간선은 오로 이 그래프에서 가장 비쌉니다. 다음 화면에서 그 결과를 확인하겠습니다.</a:t>
            </a:r>
          </a:p>
          <a:p>
            <a:endParaRPr lang="ko-K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디에 도착했습니다. 아직 방문하지 않은 도시는 씨 하나뿐입니다. 후보가 하나이니 비교할 것도 없이 씨로 가야 하고, 그 비용은 오입니다. 이 그래프에서 가장 비싼 간선을 이렇게 쓰게 됩니다.</a:t>
            </a:r>
          </a:p>
          <a:p>
            <a:endParaRPr lang="ko-KR"/>
          </a:p>
          <a:p>
            <a:r>
              <a:rPr lang="ko-KR" altLang="en-US" dirty="0"/>
              <a:t>씨에서 모든 도시를 방문했으므로 출발 도시 에이로 돌아옵니다. 씨에서 에이까지는 대각선으로 이입니다. 복귀 비용 자체는 싼 편입니다. 문제는 복귀가 아니라 바로 앞의 디에서 씨로 가는 오입니다.</a:t>
            </a:r>
          </a:p>
          <a:p>
            <a:endParaRPr lang="ko-KR"/>
          </a:p>
          <a:p>
            <a:r>
              <a:rPr lang="ko-KR" altLang="en-US" dirty="0"/>
              <a:t>오른쪽 표로 합을 정리하면 일, 일, 오, 이를 더해 구입니다. 그리디는 매번 가장 가까운 도시를 골랐는데도, 앞의 두 선택이 마지막에 디와 씨라는 비싼 짝을 남겨 두었습니다. 디에서 씨로 가는 오는 고른 것이 아니라 남은 도시가 하나뿐이라 가야만 하는 길이었습니다.</a:t>
            </a:r>
          </a:p>
          <a:p>
            <a:endParaRPr lang="ko-KR"/>
          </a:p>
          <a:p>
            <a:r>
              <a:rPr lang="ko-KR" altLang="en-US" dirty="0"/>
              <a:t>그러면 구가 정말 최선일까요? 다음 화면에서 모든 순회를 따져 그리디의 결과와 나란히 비교해 보겠습니다.</a:t>
            </a:r>
          </a:p>
          <a:p>
            <a:endParaRPr lang="ko-K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도시가 네 개일 때 에이에서 출발하는 순회는 방향만 다른 것을 하나로 세면 세 가지입니다. 에이, 비, 씨, 디 순서는 일, 이, 오, 삼을 더해 십일입니다. 그리디가 만든 에이, 비, 디, 씨 순서는 구입니다. 마지막으로 에이, 씨, 비, 디 순서는 이, 이, 일, 삼을 더해 팔입니다.</a:t>
            </a:r>
          </a:p>
          <a:p>
            <a:endParaRPr lang="ko-KR"/>
          </a:p>
          <a:p>
            <a:r>
              <a:rPr lang="ko-KR" altLang="en-US" dirty="0"/>
              <a:t>오른쪽 그림이 최적 순회입니다. 에이에서 먼저 씨로 가고, 씨에서 비, 비에서 디로 간 다음 디에서 에이로 돌아옵니다. 첫걸음은 이로 그리디의 첫걸음 일보다 비싸지만, 대신 가장 비싼 씨와 디 사이의 오를 전혀 쓰지 않습니다.</a:t>
            </a:r>
          </a:p>
          <a:p>
            <a:endParaRPr lang="ko-KR"/>
          </a:p>
          <a:p>
            <a:r>
              <a:rPr lang="ko-KR" altLang="en-US" dirty="0"/>
              <a:t>왼쪽 그리디의 순회와 비교해 보세요. 그리디는 처음 두 걸음에서 일과 일로 아꼈지만 마지막에 주황색 오를 내야 했습니다. 한 걸음씩 보면 늘 가장 싼 길이었는데, 합치면 최적보다 일만큼 비쌉니다.</a:t>
            </a:r>
          </a:p>
          <a:p>
            <a:endParaRPr lang="ko-KR"/>
          </a:p>
          <a:p>
            <a:r>
              <a:rPr lang="ko-KR" altLang="en-US" dirty="0"/>
              <a:t>다음 화면에서 왜 이런 일이 생기는지 오 점 오 절의 조건으로 설명하겠습니다.</a:t>
            </a:r>
          </a:p>
          <a:p>
            <a:endParaRPr lang="ko-K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왜 틀렸는지 오 점 오 절의 조건으로 따져 보겠습니다. 먼저 조건 일, 탐욕적 선택 속성입니다. 판별 질문은 이것이었습니다. 지금 고른 선택을 포함하는 최적해가 있는가?</a:t>
            </a:r>
          </a:p>
          <a:p>
            <a:endParaRPr lang="ko-KR"/>
          </a:p>
          <a:p>
            <a:r>
              <a:rPr lang="ko-KR" altLang="en-US" dirty="0"/>
              <a:t>표를 보세요. 에이에서 출발하는 순회 세 개 가운데 첫 선택인 에이와 비 사이 간선을 쓰는 순회는 십일과 구 두 개뿐입니다. 비용 팔인 최적 순회는 에이와 비 사이 간선을 쓰지 않습니다. 따라서 에이에서 비를 고르는 순간 최적해로 가는 길이 사라집니다. 첫 선택부터 안전하지 않았던 것입니다.</a:t>
            </a:r>
          </a:p>
          <a:p>
            <a:endParaRPr lang="ko-KR"/>
          </a:p>
          <a:p>
            <a:r>
              <a:rPr lang="ko-KR" altLang="en-US" dirty="0"/>
              <a:t>두 번째 항목은 실패의 모습입니다. 비싼 디에서 씨로 가는 오는 마지막 선택이 잘못돼서가 아니라 앞의 두 선택이 남긴 결과입니다. 복귀 비용인 씨에서 에이로 가는 이는 오히려 쌉니다. 그러니 복귀 비용이 커져서 틀렸다고 설명하면 안 됩니다.</a:t>
            </a:r>
          </a:p>
          <a:p>
            <a:endParaRPr lang="ko-KR"/>
          </a:p>
          <a:p>
            <a:r>
              <a:rPr lang="ko-KR" altLang="en-US" dirty="0"/>
              <a:t>세 번째 항목은 정확한 답을 구하는 방법입니다. 티에스피의 경로 일부를 두 도시 사이 최단 경로로 바꿔 끼울 수는 없습니다. 남은 도시를 모두 들러야 하기 때문입니다. 대신 지금까지 방문한 도시 집합과 현재 도시를 함께 기억하면 육 장 동적 계획법으로 정확한 답을 구할 수 있습니다. 다만 그래도 도시 수에 대해 지수 시간이 걸린다는 점은 기억해 두세요.</a:t>
            </a:r>
          </a:p>
          <a:p>
            <a:endParaRPr lang="ko-KR"/>
          </a:p>
          <a:p>
            <a:r>
              <a:rPr lang="ko-KR" altLang="en-US" dirty="0"/>
              <a:t>정리하면 가장 가까운 이웃은 빠르지만 최적해를 보장하지 못하고, 이를 보이는 데는 지금 같은 반례 하나면 충분합니다. 이제 이 기준을 코드로 옮겨 보겠습니다.</a:t>
            </a:r>
          </a:p>
          <a:p>
            <a:endParaRPr lang="ko-K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티에스피 파이썬 코드는 길어서 세 화면으로 나눴습니다. 이번 화면은 함수의 준비 부분입니다. 첫 줄에서 인프를 플로트 인프, 즉 무한대로 정합니다. 가장 작은 거리를 찾을 때 처음 비교 기준으로 쓰기 위해서입니다.</a:t>
            </a:r>
          </a:p>
          <a:p>
            <a:endParaRPr lang="ko-KR"/>
          </a:p>
          <a:p>
            <a:r>
              <a:rPr lang="ko-KR" altLang="en-US" dirty="0"/>
              <a:t>함수 솔브 티에스피 니어리스트 네이버는 거리 표 애드제이와 출발 도시 번호 스타트를 받습니다. 스타트를 생략하면 기본값 영, 즉 첫 도시에서 출발합니다. 애드제이는 의사코드에서 본 인접 행렬로, 애드제이 아이 제이가 도시 아이에서 도시 제이까지의 거리입니다.</a:t>
            </a:r>
          </a:p>
          <a:p>
            <a:endParaRPr lang="ko-KR"/>
          </a:p>
          <a:p>
            <a:r>
              <a:rPr lang="ko-KR" altLang="en-US" dirty="0"/>
              <a:t>엔은 애드제이의 길이, 즉 도시 수입니다. 비지티드는 엔 칸짜리 리스트로 모두 폴스로 만들고, 출발 도시만 트루로 바꿉니다. 이미 방문한 도시를 다시 고르지 않게 하는 적정성 검사용 표입니다. 패스는 출발 도시 하나만 든 리스트로 시작합니다. 마지막 줄은 커런트와 토털을 한 번에 정합니다. 커런트는 지금 있는 도시로 출발 도시에서, 토털은 지금까지의 비용으로 영에서 시작합니다.</a:t>
            </a:r>
          </a:p>
          <a:p>
            <a:endParaRPr lang="ko-KR"/>
          </a:p>
          <a:p>
            <a:r>
              <a:rPr lang="ko-KR" altLang="en-US" dirty="0"/>
              <a:t>에이에서 출발하면 비지티드는 에이만 트루, 패스는 에이 하나, 토털은 영인 상태입니다. 자주 하는 실수는 비지티드 스타트를 트루로 바꾸는 줄을 빼는 것입니다. 그러면 자기 자신까지의 거리 영이 가장 작아서 첫 반복에서 출발 도시를 다시 고릅니다. 다음 화면에서 도시를 하나씩 고르는 반복을 보겠습니다.</a:t>
            </a:r>
          </a:p>
          <a:p>
            <a:endParaRPr lang="ko-K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도시를 고르는 반복입니다. 바깥 포 문은 엔 빼기 일 번 돕니다. 출발 도시는 이미 방문했으니 남은 도시 수만큼입니다. 반복 변수 자리의 밑줄은 그 값을 쓰지 않는다는 표시입니다.</a:t>
            </a:r>
          </a:p>
          <a:p>
            <a:endParaRPr lang="ko-KR"/>
          </a:p>
          <a:p>
            <a:r>
              <a:rPr lang="ko-KR" altLang="en-US" dirty="0"/>
              <a:t>반복마다 민 디스트를 인프로, 넥스트 시티를 마이너스 일로 놓습니다. 마이너스 일은 아직 아무 도시도 고르지 않았다는 표시입니다. 안쪽 포 문은 모든 도시 아이를 봅니다. 아이를 방문하지 않았고 커런트에서 아이까지의 거리가 민 디스트보다 작으면, 민 디스트와 넥스트 시티를 함께 바꿉니다. 커런트 자신은 비지티드가 트루라서 저절로 걸러집니다.</a:t>
            </a:r>
          </a:p>
          <a:p>
            <a:endParaRPr lang="ko-KR"/>
          </a:p>
          <a:p>
            <a:r>
              <a:rPr lang="ko-KR" altLang="en-US" dirty="0"/>
              <a:t>안쪽 반복이 끝나면 넥스트 시티가 가장 가까운 미방문 도시입니다. 방문 처리하고, 패스에 붙이고, 민 디스트를 토털에 더한 뒤 커런트를 옮깁니다. 앞의 실패 예 그래프를 넣었다고 하면, 첫 반복에서 에이의 일, 이, 삼 중 일인 비를, 둘째 반복에서 비의 씨 이와 디 일 중 디를, 셋째 반복에서 남은 씨를 고릅니다.</a:t>
            </a:r>
          </a:p>
          <a:p>
            <a:endParaRPr lang="ko-KR"/>
          </a:p>
          <a:p>
            <a:r>
              <a:rPr lang="ko-KR" altLang="en-US" dirty="0"/>
              <a:t>바깥 반복이 끝나면 커런트에서 스타트로 가는 거리를 토털에 더하고, 패스 끝에 스타트를 붙여 패스와 토털을 돌려줍니다. 실패 예 그래프라면 씨에서 에이로 가는 이를 더해 구가 됩니다. 다음 화면의 실행 부분은 이와 다른 거리 표를 씁니다. 자주 하는 실수는 이 복귀 두 줄을 빼먹는 것입니다. 그러면 출발 도시로 돌아오지 않는 경로의 비용이 나옵니다. 다음 화면에서 이 함수를 실행하는 부분을 보겠습니다.</a:t>
            </a:r>
          </a:p>
          <a:p>
            <a:endParaRPr lang="ko-K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실행 부분입니다. 네임즈는 문자열 에이비씨디로, 도시 번호 영, 일, 이, 삼을 이름으로 바꿀 때 씁니다. 매트릭스가 거리 표입니다. 화면 아래 적었듯이 앞의 실패 예와 다른 거리 표이고, 이 표의 순회는 방향을 무시하면 팔십, 구십오, 구십오 세 가지입니다. 행이 출발 도시, 열이 도착 도시이고 각 행 끝 주석에 도시 이름을 적어 두었습니다. 예를 들어 에이 행은 영, 십, 십오, 이십이므로 에이에서 비까지 십, 씨까지 십오, 디까지 이십입니다. 대각선의 영은 자기 자신까지의 거리입니다.</a:t>
            </a:r>
          </a:p>
          <a:p>
            <a:endParaRPr lang="ko-KR"/>
          </a:p>
          <a:p>
            <a:r>
              <a:rPr lang="ko-KR" altLang="en-US" dirty="0"/>
              <a:t>포 문은 출발 도시를 영과 삼, 즉 에이와 디로 바꿔 가며 함수를 두 번 부릅니다. 돌려받은 패스와 코스트를 출력합니다. 조인은 도시 이름들 사이에 화살표 문자열을 넣어 한 줄로 이어 붙입니다. 패스에는 이름이 아니라 번호가 들어 있으므로 네임즈에서 그 번호의 글자를 꺼내야 합니다. 번호를 그대로 조인에 넣으면 문자열이 아니라서 오류가 나는데, 자주 하는 실수입니다.</a:t>
            </a:r>
          </a:p>
          <a:p>
            <a:endParaRPr lang="ko-KR"/>
          </a:p>
          <a:p>
            <a:r>
              <a:rPr lang="ko-KR" altLang="en-US" dirty="0"/>
              <a:t>에이에서 출발하면 비 십, 씨 십오, 디 이십 중 비로 갑니다. 비에서는 씨 삼십오, 디 이십오 중 디, 디에서는 남은 씨로 삼십, 마지막으로 씨에서 에이로 십오를 더합니다. 합은 팔십입니다.</a:t>
            </a:r>
          </a:p>
          <a:p>
            <a:endParaRPr lang="ko-KR"/>
          </a:p>
          <a:p>
            <a:r>
              <a:rPr lang="ko-KR" altLang="en-US" dirty="0"/>
              <a:t>디에서 출발하면 에이 이십, 비 이십오, 씨 삼십 중 에이로 갑니다. 에이에서는 비 십, 씨 십오 중 비, 비에서 씨로 삼십오, 씨에서 디로 삼십을 더해 구십오가 나옵니다. 같은 그래프인데 출발 도시만 바꿨더니 결과가 달라졌습니다. 이제 같은 일을 씨 언어로 옮겨 보겠습니다.</a:t>
            </a:r>
          </a:p>
          <a:p>
            <a:endParaRPr lang="ko-K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언어 코드도 세 화면으로 나눴습니다. 먼저 함수의 준비 부분입니다. 리밋츠 점 에이치는 인트 맥스 때문에 포함합니다. 인트 맥스는 인트가 담을 수 있는 가장 큰 값으로, 파이썬의 인프 자리에 씁니다. 스탠다드 아이오 점 에이치는 출력 함수 프린트 에프 때문에 포함합니다. 디파인 엔 사는 도시 수를 사로 고정합니다.</a:t>
            </a:r>
          </a:p>
          <a:p>
            <a:endParaRPr lang="ko-KR"/>
          </a:p>
          <a:p>
            <a:r>
              <a:rPr lang="ko-KR" altLang="en-US" dirty="0"/>
              <a:t>함수 위의 주석처럼 이 함수는 방문 순서를 패스에 담고 총비용을 돌려줍니다. 씨 함수는 값을 하나만 돌려줄 수 있어서, 경로는 호출한 쪽이 만든 패스 배열에 채워 주고 비용만 리턴하는 것입니다. 매개변수는 거리 표 애드제이, 출발 도시 스타트, 배열 패스입니다.</a:t>
            </a:r>
          </a:p>
          <a:p>
            <a:endParaRPr lang="ko-KR"/>
          </a:p>
          <a:p>
            <a:r>
              <a:rPr lang="ko-KR" altLang="en-US" dirty="0"/>
              <a:t>본문의 비지티드는 영으로 초기화한 배열입니다. 영은 아직 안 감, 일은 방문함입니다. 출발 도시만 일로 바꾸고, 패스의 영 번 칸에 출발 도시를 적습니다. 마지막 줄에서 커런트는 출발 도시, 토털은 영으로 시작합니다. 파이썬은 패스 리스트 끝에 붙였지만, 씨는 칸 번호를 정해 적는다는 점이 다릅니다.</a:t>
            </a:r>
          </a:p>
          <a:p>
            <a:endParaRPr lang="ko-KR"/>
          </a:p>
          <a:p>
            <a:r>
              <a:rPr lang="ko-KR" altLang="en-US" dirty="0"/>
              <a:t>자주 하는 실수는 애드제이 매개변수에서 열의 크기를 빼는 것입니다. 이차원 배열을 받을 때는 열의 크기 엔을 꼭 적어야 컴파일됩니다. 다음 화면에서 칸 번호를 쓰며 도시를 고르는 반복을 보겠습니다.</a:t>
            </a:r>
          </a:p>
          <a:p>
            <a:endParaRPr lang="ko-K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반복과 복귀입니다. 바깥 포 문의 케이는 일부터 엔 빼기 일까지 돕니다. 케이는 반복 횟수이면서 패스에 쓸 칸 번호입니다. 패스의 영 번 칸에는 이미 출발 도시가 있기 때문입니다.</a:t>
            </a:r>
          </a:p>
          <a:p>
            <a:endParaRPr lang="ko-KR"/>
          </a:p>
          <a:p>
            <a:r>
              <a:rPr lang="ko-KR" altLang="en-US" dirty="0"/>
              <a:t>반복마다 민 디스트를 인트 맥스로, 넥스트 시티를 마이너스 일로 놓습니다. 안쪽 포 문은 모든 도시 아이를 보고, 방문하지 않았고 더 가까운 도시를 찾으면 민 디스트와 넥스트 시티를 바꿉니다. 조건 앞의 느낌표는 아니다, 앰퍼샌드 두 개는 그리고라는 뜻입니다. 안쪽 포 문의 몸체는 이프 문 하나라서 포 문에는 중괄호를 쓰지 않았습니다.</a:t>
            </a:r>
          </a:p>
          <a:p>
            <a:endParaRPr lang="ko-KR"/>
          </a:p>
          <a:p>
            <a:r>
              <a:rPr lang="ko-KR" altLang="en-US" dirty="0"/>
              <a:t>찾은 도시를 방문 처리하고 패스의 케이 번 칸에 적고, 거리를 토털에 더한 뒤 커런트를 옮깁니다. 앞의 실패 예 그래프라면 패스의 일, 이, 삼 번 칸에 비, 디, 씨가 차례로 들어갑니다. 실행 부분의 거리 표에서도 에이에서 출발하면 같은 순서입니다.</a:t>
            </a:r>
          </a:p>
          <a:p>
            <a:endParaRPr lang="ko-KR"/>
          </a:p>
          <a:p>
            <a:r>
              <a:rPr lang="ko-KR" altLang="en-US" dirty="0"/>
              <a:t>반복이 끝나면 출발 도시로 돌아가는 거리를 토털에 더하고, 패스의 엔 번 칸, 즉 다섯 번째 칸에 출발 도시를 적은 뒤 토털을 리턴합니다. 자주 하는 실수는 패스 배열의 크기입니다. 도시가 엔 개면 출발 도시가 끝에 한 번 더 들어가므로 엔 더하기 일 칸이 필요합니다. 다음 화면의 메인 함수가 그 크기로 배열을 만듭니다.</a:t>
            </a:r>
          </a:p>
          <a:p>
            <a:endParaRPr lang="ko-K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메인 함수입니다. 네임즈는 번호를 이름으로 바꾸는 문자열이고, 매트릭스는 파이썬과 같은 거리 표를 이차원 배열로 적은 것입니다. 스타츠 배열에 출발 도시 영과 삼, 즉 에이와 디를 넣고 포 문으로 두 번 실행합니다.</a:t>
            </a:r>
          </a:p>
          <a:p>
            <a:endParaRPr lang="ko-KR"/>
          </a:p>
          <a:p>
            <a:r>
              <a:rPr lang="ko-KR" altLang="en-US" dirty="0"/>
              <a:t>반복 안에서 스타트를 꺼내고 엔 더하기 일 칸짜리 패스 배열을 만듭니다. 함수를 부르면 패스에는 방문 순서가 채워지고 코스트에는 총비용이 들어옵니다.</a:t>
            </a:r>
          </a:p>
          <a:p>
            <a:endParaRPr lang="ko-KR"/>
          </a:p>
          <a:p>
            <a:r>
              <a:rPr lang="ko-KR" altLang="en-US" dirty="0"/>
              <a:t>출력은 세 부분으로 나뉩니다. 먼저 경로라는 글자와 첫 도시 이름을 찍습니다. 퍼센트 씨는 문자 하나를 찍는 형식입니다. 다음 포 문에서 아이가 일부터 엔까지 돌며 화살표와 도시 이름을 이어 찍습니다. 마지막으로 줄을 바꾸고 비용을 찍습니다. 퍼센트 디는 정수를 찍는 형식입니다.</a:t>
            </a:r>
          </a:p>
          <a:p>
            <a:endParaRPr lang="ko-KR"/>
          </a:p>
          <a:p>
            <a:r>
              <a:rPr lang="ko-KR" altLang="en-US" dirty="0"/>
              <a:t>첫 도시를 따로 찍었으므로 아래 반복은 일부터 시작해야 합니다. 아이를 영부터 돌리면 첫 도시가 두 번 찍히는데, 자주 하는 실수입니다. 결과는 파이썬과 똑같이 에이 출발 팔십, 디 출발 구십오입니다. 다음 화면에서 실행 결과와 이 숫자의 의미를 확인하겠습니다.</a:t>
            </a:r>
          </a:p>
          <a:p>
            <a:endParaRPr lang="ko-K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결과입니다. 파이썬과 씨 모두 같은 네 줄을 출력합니다. 에이에서 출발하면 에이, 비, 디, 씨, 에이 순서로 비용 팔십, 디에서 출발하면 디, 에이, 비, 씨, 디 순서로 비용 구십오입니다.</a:t>
            </a:r>
          </a:p>
          <a:p>
            <a:endParaRPr lang="ko-KR"/>
          </a:p>
          <a:p>
            <a:r>
              <a:rPr lang="ko-KR" altLang="en-US" dirty="0"/>
              <a:t>이 그래프의 순회는 방향을 무시하면 세 가지뿐이고 비용은 팔십, 구십오, 구십오입니다. 그러니 최적은 팔십입니다. 에이에서 출발했을 때는 우연히 최적을 찾았지만, 디에서 출발하면 같은 그래프에서도 십오만큼 긴 순회가 나옵니다. 가장 가까운 이웃의 결과는 출발 도시에 따라 달라지고, 어느 쪽이 최적일지 미리 알 수 없습니다.</a:t>
            </a:r>
          </a:p>
          <a:p>
            <a:endParaRPr lang="ko-KR"/>
          </a:p>
          <a:p>
            <a:r>
              <a:rPr lang="ko-KR" altLang="en-US" dirty="0"/>
              <a:t>시간 복잡도를 보겠습니다. 바깥 반복은 엔 빼기 일 번이고, 반복마다 안쪽에서 도시 엔 개를 모두 훑습니다. 그래서 대략 엔 곱하기 엔, 오 엔 제곱입니다. 모든 순회를 다 따지는 엔 빼기 일 팩토리얼과 비교하면 훨씬 빠릅니다.</a:t>
            </a:r>
          </a:p>
          <a:p>
            <a:endParaRPr lang="ko-KR"/>
          </a:p>
          <a:p>
            <a:r>
              <a:rPr lang="ko-KR" altLang="en-US" dirty="0"/>
              <a:t>정리하면 가장 가까운 이웃은 빠르게 그럴듯한 답을 내는 경험적 방법, 영어로 휴리스틱입니다. 최적해를 보장하지 못하고, 최적과 얼마나 차이 날지도 보장하지 못합니다. 확인 문제로 이 절을 마무리하겠습니다.</a:t>
            </a:r>
          </a:p>
          <a:p>
            <a:endParaRPr lang="ko-K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확인 문제입니다. 화면의 표는 실패 예의 거리를 인접 행렬로 적은 것입니다. 행이 출발 도시, 열이 도착 도시입니다.</a:t>
            </a:r>
          </a:p>
          <a:p>
            <a:endParaRPr lang="ko-KR"/>
          </a:p>
          <a:p>
            <a:r>
              <a:rPr lang="ko-KR" altLang="en-US" dirty="0"/>
              <a:t>첫 번째, 디에서 출발해 보겠습니다. 디 행을 보면 에이 삼, 비 일, 씨 오이므로 비로 갑니다. 비 행에서 아직 안 간 에이 일, 씨 이 중 에이로 갑니다. 에이에서 남은 도시는 씨뿐이라 이를 내고, 씨에서 디로 돌아오는 오를 더합니다. 일, 일, 이, 오를 더하면 구입니다. 최적 팔보다 크므로 디에서 출발해도 최적을 찾지 못합니다. 사실 이 순회는 방향만 반대일 뿐, 에이에서 출발한 그리디 순회와 같은 순회입니다.</a:t>
            </a:r>
          </a:p>
          <a:p>
            <a:endParaRPr lang="ko-KR"/>
          </a:p>
          <a:p>
            <a:r>
              <a:rPr lang="ko-KR" altLang="en-US" dirty="0"/>
              <a:t>두 번째, 판별 질문은 이 선택을 포함하는 최적해가 있는가였습니다. 세 순회 가운데 에이와 비 사이 간선을 쓰는 것은 비용 십일과 구뿐이고, 최적 팔은 이 간선을 쓰지 않습니다. 그래서 탐욕적 선택 속성이 깨졌다고 말할 수 있습니다.</a:t>
            </a:r>
          </a:p>
          <a:p>
            <a:endParaRPr lang="ko-KR"/>
          </a:p>
          <a:p>
            <a:r>
              <a:rPr lang="ko-KR" altLang="en-US" dirty="0"/>
              <a:t>세 번째, 반박에는 반례 하나면 충분합니다. 이 그래프에서 그리디가 구를 내는데 더 좋은 팔이 있다는 것을 보이면 됩니다.</a:t>
            </a:r>
          </a:p>
          <a:p>
            <a:endParaRPr lang="ko-KR"/>
          </a:p>
          <a:p>
            <a:r>
              <a:rPr lang="ko-KR" altLang="en-US" dirty="0"/>
              <a:t>네 번째, 바깥 반복 엔 빼기 일 번마다 엔 개를 훑으므로 오 엔 제곱입니다. 마지막에 따로 더하는 비용은 마지막 도시에서 출발 도시로 돌아가는 복귀 비용입니다. 이제 오 점 팔 절에서 시작점부터 누적한 거리로 고르는 다익스트라를 보겠습니다.</a:t>
            </a:r>
          </a:p>
          <a:p>
            <a:endParaRPr lang="ko-K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절은 다익스트라 알고리즘입니다. 한 시작점에서 다른 모든 정점까지의 최단 거리를 구합니다. 앞 절의 가장 가까운 이웃처럼 매번 가장 가까운 곳을 고르지만, 이번에는 그리디가 최적해를 보장합니다. 단, 화면 아래에 적은 조건, 간선 비용이 모두 영 이상이어야 합니다.</a:t>
            </a:r>
          </a:p>
          <a:p>
            <a:endParaRPr lang="ko-KR"/>
          </a:p>
          <a:p>
            <a:r>
              <a:rPr lang="ko-KR" altLang="en-US" dirty="0"/>
              <a:t>같은 가장 가까운 곳인데 왜 한쪽은 틀리고 한쪽은 맞는지, 그리고 조건이 깨지면 어떻게 틀리는지를 차례로 보겠습니다.</a:t>
            </a:r>
          </a:p>
          <a:p>
            <a:endParaRPr lang="ko-K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다익스트라가 푸는 문제부터 정의하겠습니다. 시작점이 하나 주어지면, 그 시작점에서 다른 모든 정점까지 가장 짧은 경로의 길이를 구합니다. 출발지 하나에 도착지가 여럿이라는 점이 특징입니다.</a:t>
            </a:r>
          </a:p>
          <a:p>
            <a:endParaRPr lang="ko-KR"/>
          </a:p>
          <a:p>
            <a:r>
              <a:rPr lang="ko-KR" altLang="en-US" dirty="0"/>
              <a:t>이 절 내내 쓰는 기호가 디스트입니다. 디스트 브이는 시작점에서 정점 브이까지 지금까지 찾은 가장 짧은 거리입니다. 처음에는 시작점만 영이고 나머지는 아직 길을 모르니 무한대입니다. 그리고 디스트 브이가 앞으로 더 줄어들지 않는다고 결론 내리는 것을 확정이라고 부르겠습니다.</a:t>
            </a:r>
          </a:p>
          <a:p>
            <a:endParaRPr lang="ko-KR"/>
          </a:p>
          <a:p>
            <a:r>
              <a:rPr lang="ko-KR" altLang="en-US" dirty="0"/>
              <a:t>그림을 보세요. 집에서 편의점까지 이 분, 학교까지 십 분, 병원까지 십오 분입니다. 아직 확정하지 않은 곳 중 가장 가까운 편의점을 먼저 확정합니다. 이것이 다익스트라의 그리디 선택입니다. 그림의 말풍선은 방문이라고 썼지만, 이 절에서는 확정이라고 부르고 코드의 비지티드가 바로 확정 표시입니다. 확정한 곳은 다시 바꾸지 않고, 그곳을 거쳐 가는 길로 다른 곳의 거리를 고쳐 나갑니다.</a:t>
            </a:r>
          </a:p>
          <a:p>
            <a:endParaRPr lang="ko-KR"/>
          </a:p>
          <a:p>
            <a:r>
              <a:rPr lang="ko-KR" altLang="en-US" dirty="0"/>
              <a:t>내비게이션의 길 찾기나 네트워크 라우팅에서 다익스트라나 그 변형이 쓰입니다. 다음 화면에서는 그래프를 코드에 어떻게 담는지부터 정리하겠습니다.</a:t>
            </a:r>
          </a:p>
          <a:p>
            <a:endParaRPr lang="ko-K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다익스트라 예제의 그래프는 방향 그래프입니다. 간선에 화살표가 있어서 에이에서 비로 가는 간선 팔은 에이에서 비 방향으로만 쓸 수 있습니다. 비에서 에이로 거꾸로 갈 수는 없습니다. 크루스칼과 티에스피의 그래프는 방향이 없어서 양쪽으로 다닐 수 있었던 것과 다릅니다.</a:t>
            </a:r>
          </a:p>
          <a:p>
            <a:endParaRPr lang="ko-KR"/>
          </a:p>
          <a:p>
            <a:r>
              <a:rPr lang="ko-KR" altLang="en-US" dirty="0"/>
              <a:t>그래프를 코드에 담는 방법도 정리해 두겠습니다. 이 장에서 세 가지를 썼습니다. 크루스칼은 간선 목록입니다. 가중치, 유, 브이를 묶은 튜플을 리스트에 모았고, 간선을 가중치 순으로 정렬해야 해서 이 모양이 편했습니다.</a:t>
            </a:r>
          </a:p>
          <a:p>
            <a:endParaRPr lang="ko-KR"/>
          </a:p>
          <a:p>
            <a:r>
              <a:rPr lang="ko-KR" altLang="en-US" dirty="0"/>
              <a:t>티에스피는 인접 행렬이었습니다. 애드제이 유 브이 칸에 유에서 브이까지의 거리를 적은 이차원 표입니다. 모든 도시 쌍의 거리가 필요할 때 편합니다.</a:t>
            </a:r>
          </a:p>
          <a:p>
            <a:endParaRPr lang="ko-KR"/>
          </a:p>
          <a:p>
            <a:r>
              <a:rPr lang="ko-KR" altLang="en-US" dirty="0"/>
              <a:t>다익스트라의 파이썬 코드는 인접 리스트를 딕셔너리로 만듭니다. 아래 마이 그래프를 보세요. 키 에이의 값은 에이에서 나가는 간선들로, 비 팔, 씨 일, 디 이입니다. 비는 나가는 간선이 없어서 빈 딕셔너리입니다. 정점마다 나가는 간선만 저장하므로 이웃을 훑을 때 실제 간선만 보게 됩니다.</a:t>
            </a:r>
          </a:p>
          <a:p>
            <a:endParaRPr lang="ko-KR"/>
          </a:p>
          <a:p>
            <a:r>
              <a:rPr lang="ko-KR" altLang="en-US" dirty="0"/>
              <a:t>씨 코드는 같은 그래프를 인접 행렬로 쓰고, 칸의 값이 영이면 간선이 없다는 뜻으로 정합니다. 이제 다익스트라의 기준이 앞 절의 가장 가까운 이웃과 무엇이 다른지 보겠습니다.</a:t>
            </a:r>
          </a:p>
          <a:p>
            <a:endParaRPr lang="ko-K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앞 절의 가장 가까운 이웃은 틀렸는데 다익스트라는 맞는다고 하니 헷갈릴 수 있습니다. 둘 다 가장 가까운 곳을 고르기 때문입니다. 표로 차이를 정리하겠습니다.</a:t>
            </a:r>
          </a:p>
          <a:p>
            <a:endParaRPr lang="ko-KR"/>
          </a:p>
          <a:p>
            <a:r>
              <a:rPr lang="ko-KR" altLang="en-US" dirty="0"/>
              <a:t>첫 줄이 핵심입니다. 가장 가까운 이웃은 지금 서 있는 도시에서 간선 하나의 거리만 비교합니다. 다익스트라는 시작점에서 그 정점까지 누적한 거리, 디스트를 비교합니다.</a:t>
            </a:r>
          </a:p>
          <a:p>
            <a:endParaRPr lang="ko-KR"/>
          </a:p>
          <a:p>
            <a:r>
              <a:rPr lang="ko-KR" altLang="en-US" dirty="0"/>
              <a:t>고르는 것도 다릅니다. 가장 가까운 이웃은 다음에 이동할 도시를 고르고, 다익스트라는 최단 거리를 확정할 정점을 고릅니다. 다익스트라는 실제로 그 정점으로 이동하는 것이 아니라, 시작점에서 그 정점까지의 답 하나를 확정하는 것입니다. 고른 뒤에는 그 정점에서 나가는 간선으로 이웃의 디스트를 고칩니다.</a:t>
            </a:r>
          </a:p>
          <a:p>
            <a:endParaRPr lang="ko-KR"/>
          </a:p>
          <a:p>
            <a:r>
              <a:rPr lang="ko-KR" altLang="en-US" dirty="0"/>
              <a:t>아래 예를 보세요. 에이에서 비로 바로 가는 간선은 팔이지만, 씨를 거치면 일 더하기 오, 육입니다. 다익스트라는 정점까지의 누적 거리를 계속 고쳐 나가므로 직행보다 짧은 이런 경유 경로를 찾아냅니다.</a:t>
            </a:r>
          </a:p>
          <a:p>
            <a:endParaRPr lang="ko-KR"/>
          </a:p>
          <a:p>
            <a:r>
              <a:rPr lang="ko-KR" altLang="en-US" dirty="0"/>
              <a:t>마지막 줄은 최적 보장입니다. 다익스트라는 간선 비용이 모두 영 이상일 때 최적을 보장합니다. 왜 이 조건이면 안전한지 다음 화면에서 보겠습니다.</a:t>
            </a:r>
          </a:p>
          <a:p>
            <a:endParaRPr lang="ko-K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그러면 왜 가장 가까운 곳을 확정해도 안전할까요? 그림의 예로 생각해 보겠습니다. 집에서 편의점까지 이 분, 학교까지 십 분입니다. 집을 확정한 직후라면 아직 확정하지 않은 곳 중 가장 가까운 곳은 편의점입니다.</a:t>
            </a:r>
          </a:p>
          <a:p>
            <a:endParaRPr lang="ko-KR"/>
          </a:p>
          <a:p>
            <a:r>
              <a:rPr lang="ko-KR" altLang="en-US" dirty="0"/>
              <a:t>혹시 학교를 거쳐 편의점에 가는 길이 더 빠를 수는 없을까요? 학교에서 편의점까지 걸리는 시간을 엑스라고 하겠습니다. 학교를 거치면 십 더하기 엑스 분이 걸립니다. 간선 비용이 영 이상이면 엑스도 영 이상이므로, 이 길은 적어도 십 분이고 이 분보다 짧아질 수 없습니다. 학교에 도착한 순간 이미 십 분을 썼기 때문입니다.</a:t>
            </a:r>
          </a:p>
          <a:p>
            <a:endParaRPr lang="ko-KR"/>
          </a:p>
          <a:p>
            <a:r>
              <a:rPr lang="ko-KR" altLang="en-US" dirty="0"/>
              <a:t>다른 어떤 길로 가도 마찬가지입니다. 편의점으로 가는 다른 길은 아직 확정하지 않은 곳을 한 번은 거쳐야 하고, 그곳까지 이미 이 분 이상이 걸립니다. 그 뒤의 간선은 거리를 줄이지 못하니 이 분보다 짧아질 수 없습니다. 그래서 편의점의 이 분은 확정해도 안전합니다. 오 점 오 절의 탐욕적 선택 속성입니다.</a:t>
            </a:r>
          </a:p>
          <a:p>
            <a:endParaRPr lang="ko-KR"/>
          </a:p>
          <a:p>
            <a:r>
              <a:rPr lang="ko-KR" altLang="en-US" dirty="0"/>
              <a:t>주의할 점이 있습니다. 직행보다 경유가 짧아지는 일은 얼마든지 생깁니다. 앞의 에이에서 비로 가는 직행 팔보다 씨를 거친 육이 짧았죠. 안전하다는 말은 가장 가까운 미확정 정점의 거리만큼은 더 줄지 않는다는 뜻입니다.</a:t>
            </a:r>
          </a:p>
          <a:p>
            <a:endParaRPr lang="ko-KR"/>
          </a:p>
          <a:p>
            <a:r>
              <a:rPr lang="ko-KR" altLang="en-US" dirty="0"/>
              <a:t>엑스가 마이너스 구라면 어떨까요? 십 빼기 구는 일로 이보다 작아집니다. 음수 간선이 있으면 이 논리가 깨진다는 뜻입니다. 절의 끝에서 실제 반례로 확인하겠습니다. 다음은 거리를 고치는 연산, 완화입니다.</a:t>
            </a:r>
          </a:p>
          <a:p>
            <a:endParaRPr lang="ko-K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다익스트라가 거리를 고치는 연산을 완화, 영어로 릴랙세이션이라고 합니다. 디스트 브이를, 지금 값과 디스트 유 더하기 더블유 중 작은 값으로 바꾸는 것입니다. 여기서 더블유는 유에서 브이로 가는 간선의 비용입니다. 유를 거쳐 브이로 가는 길이 지금 알고 있는 길보다 짧으면 고치고, 아니면 그대로 둡니다.</a:t>
            </a:r>
          </a:p>
          <a:p>
            <a:endParaRPr lang="ko-KR"/>
          </a:p>
          <a:p>
            <a:r>
              <a:rPr lang="ko-KR" altLang="en-US" dirty="0"/>
              <a:t>연습문제 예로 직접 계산해 보겠습니다. 디스트 유가 칠, 유에서 브이로 가는 간선 비용이 삼, 디스트 브이가 십오입니다. 유를 거치면 칠 더하기 삼, 십입니다. 십이 지금 값 십오보다 작으므로 디스트 브이를 십으로 고칩니다. 시작점에서 브이까지 십오짜리 길만 알고 있었는데, 유를 거치는 십짜리 길을 새로 찾은 것입니다.</a:t>
            </a:r>
          </a:p>
          <a:p>
            <a:endParaRPr lang="ko-KR"/>
          </a:p>
          <a:p>
            <a:r>
              <a:rPr lang="ko-KR" altLang="en-US" dirty="0"/>
              <a:t>반대 경우도 보겠습니다. 디스트 브이가 처음부터 구였다면, 유를 거친 십은 구보다 크므로 고치지 않고 구를 그대로 둡니다. 완화는 거리를 줄이기만 하고 늘리지는 않습니다.</a:t>
            </a:r>
          </a:p>
          <a:p>
            <a:endParaRPr lang="ko-KR"/>
          </a:p>
          <a:p>
            <a:r>
              <a:rPr lang="ko-KR" altLang="en-US" dirty="0"/>
              <a:t>오른쪽 의사코드의 이프 조건이 바로 이 비교입니다. 작다 기호를 쓰므로 같을 때도 고치지 않습니다. 다익스트라는 한 정점을 확정할 때마다 그 정점에서 나가는 간선들로 이 완화를 합니다. 이제 예제 그래프를 처음부터 끝까지 따라가 보겠습니다.</a:t>
            </a:r>
          </a:p>
          <a:p>
            <a:endParaRPr lang="ko-K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이제 예제 그래프로 다익스트라를 처음부터 따라가겠습니다. 정점은 에이부터 에프까지 여섯 개이고, 화살표 방향으로만 갈 수 있는 방향 그래프입니다. 간선은 아홉 개입니다. 에이에서 비로 팔, 씨로 일, 디로 이, 씨에서 비로 오, 디로 이, 디에서 정점 이로 삼, 에프로 오, 정점 이에서 에프로 일, 그리고 에프에서 에이로 돌아오는 오가 있습니다.</a:t>
            </a:r>
          </a:p>
          <a:p>
            <a:endParaRPr lang="ko-KR"/>
          </a:p>
          <a:p>
            <a:r>
              <a:rPr lang="ko-KR" altLang="en-US" dirty="0"/>
              <a:t>시작점은 에이입니다. 시작점에서 자기 자신까지는 거리가 영이므로 디스트 에이는 영입니다. 나머지 정점은 아직 어떤 길도 모르므로 무한대로 둡니다. 그래프의 각 정점 옆 숫자와 오른쪽 표가 지금의 디스트입니다.</a:t>
            </a:r>
          </a:p>
          <a:p>
            <a:endParaRPr lang="ko-KR"/>
          </a:p>
          <a:p>
            <a:r>
              <a:rPr lang="ko-KR" altLang="en-US" dirty="0"/>
              <a:t>아직 확정한 정점은 하나도 없습니다. 이제 다익스트라는 같은 일을 반복합니다. 확정하지 않은 정점 중 디스트가 가장 작은 정점을 하나 골라 확정하고, 그 정점에서 나가는 간선으로 완화합니다.</a:t>
            </a:r>
          </a:p>
          <a:p>
            <a:endParaRPr lang="ko-KR"/>
          </a:p>
          <a:p>
            <a:r>
              <a:rPr lang="ko-KR" altLang="en-US" dirty="0"/>
              <a:t>지금 디스트가 무한대가 아닌 정점은 에이뿐이므로 에이가 첫 번째로 확정됩니다. 다음 화면에서 에이를 확정하고 에이에서 나가는 간선 세 개를 완화하겠습니다.</a:t>
            </a:r>
          </a:p>
          <a:p>
            <a:endParaRPr lang="ko-K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확정입니다. 확정하지 않은 정점 중 디스트가 가장 작은 것은 영인 에이입니다. 에이를 확정합니다. 시작점까지의 거리 영은 더 줄어들 수 없으니 당연합니다.</a:t>
            </a:r>
          </a:p>
          <a:p>
            <a:endParaRPr lang="ko-KR"/>
          </a:p>
          <a:p>
            <a:r>
              <a:rPr lang="ko-KR" altLang="en-US" dirty="0"/>
              <a:t>이제 에이에서 나가는 간선 세 개로 완화합니다. 비는 영 더하기 팔, 팔이 무한대보다 작으므로 팔로 고칩니다. 씨는 영 더하기 일로 일, 디는 영 더하기 이로 이가 됩니다. 그래프에서 주황색 간선이 이번에 완화한 간선이고, 오른쪽 표에서 바뀐 값은 청록색으로 표시했습니다.</a:t>
            </a:r>
          </a:p>
          <a:p>
            <a:endParaRPr lang="ko-KR"/>
          </a:p>
          <a:p>
            <a:r>
              <a:rPr lang="ko-KR" altLang="en-US" dirty="0"/>
              <a:t>정점 이와 에프는 에이에서 바로 가는 간선이 없어서 아직 무한대입니다. 지금 디스트 비 팔은 확정이 아니라 지금까지 찾은 가장 짧은 거리라는 점을 기억해 두세요. 더 좋은 길이 나오면 바뀔 수 있습니다.</a:t>
            </a:r>
          </a:p>
          <a:p>
            <a:endParaRPr lang="ko-KR"/>
          </a:p>
          <a:p>
            <a:r>
              <a:rPr lang="ko-KR" altLang="en-US" dirty="0"/>
              <a:t>다음에 확정할 정점을 미리 찾아보겠습니다. 미확정인 비 팔, 씨 일, 디 이, 정점 이와 에프 무한대 중 가장 작은 값은 씨의 일입니다. 다음 화면에서 씨를 확정하겠습니다.</a:t>
            </a:r>
          </a:p>
          <a:p>
            <a:endParaRPr lang="ko-K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확정은 씨입니다. 미확정 정점 비 팔, 씨 일, 디 이 중 가장 작은 씨의 일을 확정합니다. 씨까지 가는 다른 길은 디스트가 일 이상인 미확정 정점을 거쳐야 하므로 일보다 짧아질 수 없습니다.</a:t>
            </a:r>
          </a:p>
          <a:p>
            <a:endParaRPr lang="ko-KR"/>
          </a:p>
          <a:p>
            <a:r>
              <a:rPr lang="ko-KR" altLang="en-US" dirty="0"/>
              <a:t>씨에서 나가는 간선은 두 개입니다. 먼저 씨에서 비로 가는 오입니다. 일 더하기 오는 육이고, 지금 디스트 비 팔보다 작습니다. 그래서 비를 팔에서 육으로 고칩니다. 에이에서 비로 바로 가는 것보다 씨를 거쳐 가는 쪽이 짧다는 것을 찾은 순간입니다.</a:t>
            </a:r>
          </a:p>
          <a:p>
            <a:endParaRPr lang="ko-KR"/>
          </a:p>
          <a:p>
            <a:r>
              <a:rPr lang="ko-KR" altLang="en-US" dirty="0"/>
              <a:t>다음은 씨에서 디로 가는 이입니다. 일 더하기 이는 삼인데, 디스트 디는 이미 이입니다. 삼은 이보다 작지 않으므로 고치지 않습니다. 빨간 점선이 완화했지만 거리가 줄지 않은 간선입니다.</a:t>
            </a:r>
          </a:p>
          <a:p>
            <a:endParaRPr lang="ko-KR"/>
          </a:p>
          <a:p>
            <a:r>
              <a:rPr lang="ko-KR" altLang="en-US" dirty="0"/>
              <a:t>청록색 간선은 앞 단계에서 정해진, 지금 디스트를 만든 간선입니다. 에이에서 씨, 에이에서 디가 청록색이고, 이번에 고친 씨에서 비까지 더하면 비는 씨에서, 디는 에이에서 온 길이 가장 짧습니다. 미확정 중 가장 작은 것은 디의 이입니다. 다음 화면에서 디를 확정하겠습니다.</a:t>
            </a:r>
          </a:p>
          <a:p>
            <a:endParaRPr lang="ko-K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세 번째로 디를 확정합니다. 미확정 정점은 비 육, 디 이, 정점 이와 에프 무한대입니다. 가장 작은 디의 이를 확정합니다.</a:t>
            </a:r>
          </a:p>
          <a:p>
            <a:endParaRPr lang="ko-KR"/>
          </a:p>
          <a:p>
            <a:r>
              <a:rPr lang="ko-KR" altLang="en-US" dirty="0"/>
              <a:t>디에서 나가는 간선은 정점 이로 가는 삼과 에프로 가는 오입니다. 정점 이의 거리는 이 더하기 삼, 오가 되고, 에프는 이 더하기 오, 칠이 됩니다. 두 정점 모두 무한대였으니 처음으로 길이 생긴 것입니다.</a:t>
            </a:r>
          </a:p>
          <a:p>
            <a:endParaRPr lang="ko-KR"/>
          </a:p>
          <a:p>
            <a:r>
              <a:rPr lang="ko-KR" altLang="en-US" dirty="0"/>
              <a:t>여기서 확정 순서를 보세요. 에이, 씨, 디 순으로 디스트가 영, 일, 이입니다. 다익스트라는 시작점에서 가까운 정점부터 차례로 확정합니다. 그래서 나중에 확정되는 정점의 거리는 앞에서 확정된 거리보다 작지 않습니다.</a:t>
            </a:r>
          </a:p>
          <a:p>
            <a:endParaRPr lang="ko-KR"/>
          </a:p>
          <a:p>
            <a:r>
              <a:rPr lang="ko-KR" altLang="en-US" dirty="0"/>
              <a:t>이제 미확정 정점은 비 육, 정점 이 오, 에프 칠입니다. 가장 작은 것은 정점 이의 오입니다. 비의 육은 앞 단계에서 이미 구했지만, 정점 이가 더 가까우므로 먼저 확정됩니다. 다음 화면에서 정점 이를 확정하겠습니다.</a:t>
            </a:r>
          </a:p>
          <a:p>
            <a:endParaRPr lang="ko-K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네 번째로 정점 이를 확정합니다. 미확정 중 비 육, 정점 이 오, 에프 칠에서 가장 작은 것은 정점 이의 오입니다.</a:t>
            </a:r>
          </a:p>
          <a:p>
            <a:endParaRPr lang="ko-KR"/>
          </a:p>
          <a:p>
            <a:r>
              <a:rPr lang="ko-KR" altLang="en-US" dirty="0"/>
              <a:t>정점 이에서 나가는 간선은 에프로 가는 일 하나입니다. 오 더하기 일은 육이고, 지금 디스트 에프 칠보다 작습니다. 그래서 에프를 칠에서 육으로 고칩니다. 디에서 에프로 바로 가는 칠보다, 디에서 정점 이를 거쳐 가는 육이 짧다는 것을 찾았습니다. 이제 에프의 디스트를 만든 간선은 디에서 오는 간선이 아니라 정점 이에서 오는 간선입니다.</a:t>
            </a:r>
          </a:p>
          <a:p>
            <a:endParaRPr lang="ko-KR"/>
          </a:p>
          <a:p>
            <a:r>
              <a:rPr lang="ko-KR" altLang="en-US" dirty="0"/>
              <a:t>남은 미확정 정점은 비와 에프이고 둘 다 육입니다. 값이 같으면 어느 쪽을 먼저 확정해도 최종 거리는 같습니다. 비용이 영 이상이면 둘 중 하나를 거쳐 다른 쪽으로 가도 육보다 짧아질 수 없기 때문입니다. 이 장의 씨 코드는 번호가 작은 비를 먼저 찾고, 파이썬 코드도 비를 먼저 꺼냅니다.</a:t>
            </a:r>
          </a:p>
          <a:p>
            <a:endParaRPr lang="ko-KR"/>
          </a:p>
          <a:p>
            <a:r>
              <a:rPr lang="ko-KR" altLang="en-US" dirty="0"/>
              <a:t>다음 화면에서 비를 확정하겠습니다.</a:t>
            </a:r>
          </a:p>
          <a:p>
            <a:endParaRPr lang="ko-K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다섯 번째로 비를 확정합니다. 디스트 비는 육입니다. 에이에서 직행하는 팔이 아니라 씨를 거쳐 가는 일 더하기 오, 육이 최단 거리입니다.</a:t>
            </a:r>
          </a:p>
          <a:p>
            <a:endParaRPr lang="ko-KR"/>
          </a:p>
          <a:p>
            <a:r>
              <a:rPr lang="ko-KR" altLang="en-US" dirty="0"/>
              <a:t>여기서 확정의 의미를 다시 보겠습니다. 비의 육은 두 번째 단계에서 이미 구했지만, 그때는 확정하지 않았습니다. 더 가까운 디와 정점 이가 남아 있었기 때문입니다. 이제 남은 미확정 정점 중에 육보다 가까운 정점이 없으므로 확정할 수 있습니다.</a:t>
            </a:r>
          </a:p>
          <a:p>
            <a:endParaRPr lang="ko-KR"/>
          </a:p>
          <a:p>
            <a:r>
              <a:rPr lang="ko-KR" altLang="en-US" dirty="0"/>
              <a:t>비에서 나가는 간선은 하나도 없습니다. 인접 리스트에서 비의 값이 빈 딕셔너리였던 것을 떠올려 보세요. 그래서 이번 단계에서는 완화할 간선이 없고, 표에서도 바뀐 값이 없습니다.</a:t>
            </a:r>
          </a:p>
          <a:p>
            <a:endParaRPr lang="ko-KR"/>
          </a:p>
          <a:p>
            <a:r>
              <a:rPr lang="ko-KR" altLang="en-US" dirty="0"/>
              <a:t>확정한 정점은 에이, 씨, 디, 정점 이, 비 다섯 개가 되었습니다. 남은 정점은 에프 하나이고 디스트는 육입니다. 다음 화면에서 마지막 정점 에프를 확정하겠습니다.</a:t>
            </a:r>
          </a:p>
          <a:p>
            <a:endParaRPr lang="ko-K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마지막으로 에프를 확정합니다. 디스트 에프는 육입니다. 에프에서 나가는 간선은 에이로 가는 오 하나입니다. 에이는 이미 확정되었으므로 고치지 않습니다. 계산해 보아도 육 더하기 오는 십일로 영보다 작지 않습니다.</a:t>
            </a:r>
          </a:p>
          <a:p>
            <a:endParaRPr lang="ko-KR"/>
          </a:p>
          <a:p>
            <a:r>
              <a:rPr lang="ko-KR" altLang="en-US" dirty="0"/>
              <a:t>이제 여섯 정점이 모두 확정되었습니다. 최종 거리는 에이 영, 비 육, 씨 일, 디 이, 정점 이 오, 에프 육입니다. 확정 순서는 에이, 씨, 디, 정점 이, 비, 에프였습니다.</a:t>
            </a:r>
          </a:p>
          <a:p>
            <a:endParaRPr lang="ko-KR"/>
          </a:p>
          <a:p>
            <a:r>
              <a:rPr lang="ko-KR" altLang="en-US" dirty="0"/>
              <a:t>청록색 간선 다섯 개를 보세요. 각 정점의 디스트를 마지막으로 만든 간선입니다. 이 간선들은 시작점 에이에서 뻗어 나가는 나무 모양이 되고, 이것을 최단 경로 트리라고 부릅니다. 예를 들어 에프까지의 최단 경로는 청록색 간선을 따라가면 에이, 디, 정점 이, 에프이고 길이는 이 더하기 삼 더하기 일, 육입니다.</a:t>
            </a:r>
          </a:p>
          <a:p>
            <a:endParaRPr lang="ko-KR"/>
          </a:p>
          <a:p>
            <a:r>
              <a:rPr lang="ko-KR" altLang="en-US" dirty="0"/>
              <a:t>연회색 간선 세 개, 에이에서 비로 가는 팔, 씨에서 디로 가는 이, 디에서 에프로 가는 오는 어떤 최단 경로에도 쓰이지 않았습니다. 지금까지의 과정을 의사코드로 정리해 보겠습니다.</a:t>
            </a:r>
          </a:p>
          <a:p>
            <a:endParaRPr lang="ko-K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지금까지 손으로 한 과정을 의사코드로 옮겼습니다. 첫 줄에서 모든 정점의 디스트를 무한대로, 비지티드를 폴스로 두고, 시작점의 디스트만 영으로 바꿉니다. 비지티드가 트루라는 것은 그 정점을 확정했다는 뜻입니다.</a:t>
            </a:r>
          </a:p>
          <a:p>
            <a:endParaRPr lang="ko-KR"/>
          </a:p>
          <a:p>
            <a:r>
              <a:rPr lang="ko-KR" altLang="en-US" dirty="0"/>
              <a:t>반복은 최대 브이 번입니다. 브이는 정점 수이고, 한 번에 한 정점을 확정하기 때문입니다. 반복마다 확정하지 않은 정점 중 디스트가 가장 작은 정점 유를 찾습니다. 그런 유가 없으면, 즉 남은 정점의 디스트가 모두 무한대라면 시작점에서 갈 수 없는 정점들이므로 반복을 멈춥니다.</a:t>
            </a:r>
          </a:p>
          <a:p>
            <a:endParaRPr lang="ko-KR"/>
          </a:p>
          <a:p>
            <a:r>
              <a:rPr lang="ko-KR" altLang="en-US" dirty="0"/>
              <a:t>유를 찾으면 같은 줄에서 비지티드 유를 트루로 바꿔 확정합니다. 그다음 유에서 나가는 간선마다 완화합니다. 브이가 아직 확정되지 않았고 디스트 유 더하기 더블유가 디스트 브이보다 작을 때만 고칩니다. 반복이 끝나면 디스트를 돌려줍니다.</a:t>
            </a:r>
          </a:p>
          <a:p>
            <a:endParaRPr lang="ko-KR"/>
          </a:p>
          <a:p>
            <a:r>
              <a:rPr lang="ko-KR" altLang="en-US" dirty="0"/>
              <a:t>시간을 세어 보겠습니다. 최소를 찾을 때 배열을 처음부터 끝까지 훑으면 브이 번 비교합니다. 이것을 브이 번 반복하니 브이 제곱입니다. 인접 행렬로 이웃을 훑는 것도 반복마다 브이 칸이니 합쳐서 오 브이 제곱입니다. 이 장의 씨 코드가 바로 이 방식입니다.</a:t>
            </a:r>
          </a:p>
          <a:p>
            <a:endParaRPr lang="ko-KR"/>
          </a:p>
          <a:p>
            <a:r>
              <a:rPr lang="ko-KR" altLang="en-US" dirty="0"/>
              <a:t>그런데 매번 전체를 훑지 않고 가장 작은 것을 빨리 꺼낼 수는 없을까요? 다음 화면의 우선순위 큐가 그 도구입니다.</a:t>
            </a:r>
          </a:p>
          <a:p>
            <a:endParaRPr lang="ko-K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배열판에서 시간이 드는 곳은 미확정 정점 중 최소를 찾는 부분이었습니다. 이 일을 빠르게 해 주는 자료구조가 우선순위 큐입니다. 우선순위 큐는 넣은 항목 중 가장 작은 것을 먼저 꺼내 줍니다. 파이썬에서는 힙이라는 구조로 만든 힙 큐 모듈을 씁니다. 화면 아래 적었듯이 힙은 가장 작은 값이 늘 맨 앞, 즉 뿌리에 오도록 유지하는 이진 트리이고, 넣거나 꺼낼 때 트리의 높이인 로그 엔만큼만 자리를 바꿉니다.</a:t>
            </a:r>
          </a:p>
          <a:p>
            <a:endParaRPr lang="ko-KR"/>
          </a:p>
          <a:p>
            <a:r>
              <a:rPr lang="ko-KR" altLang="en-US" dirty="0"/>
              <a:t>오른쪽 표의 두 함수만 알면 됩니다. 힙 큐 점 힙 푸시는 항목 하나를 넣고, 힙 큐 점 힙 팝은 가장 작은 항목을 꺼냅니다. 항목이 엔 개일 때 둘 다 로그 엔 시간입니다. 다익스트라에서는 거리와 정점을 묶은 튜플을 넣습니다. 튜플은 첫 값부터 비교하므로 거리가 가장 작은 항목이 먼저 나옵니다.</a:t>
            </a:r>
          </a:p>
          <a:p>
            <a:endParaRPr lang="ko-KR"/>
          </a:p>
          <a:p>
            <a:r>
              <a:rPr lang="ko-KR" altLang="en-US" dirty="0"/>
              <a:t>예제에서 에이를 확정한 직후 힙에는 일 씨, 이 디, 팔 비가 들어 있습니다. 화면에는 보기 쉽게 작은 순서로 적었습니다. 힙 팝으로 일 씨를 꺼내 씨를 확정하면, 씨에서 비로 가는 길 덕분에 비가 팔에서 육으로 줄어듭니다.</a:t>
            </a:r>
          </a:p>
          <a:p>
            <a:endParaRPr lang="ko-KR"/>
          </a:p>
          <a:p>
            <a:r>
              <a:rPr lang="ko-KR" altLang="en-US" dirty="0"/>
              <a:t>그런데 힙 큐에는 이미 넣은 항목의 거리를 줄이는 함수가 없습니다. 팔 비를 찾아서 육으로 고칠 수 없습니다. 그래서 육 비를 새로 하나 더 넣고, 팔 비는 그대로 남겨 둡니다. 초록색이 새로 넣은 항목, 빨간색이 오래된 항목입니다.</a:t>
            </a:r>
          </a:p>
          <a:p>
            <a:endParaRPr lang="ko-KR"/>
          </a:p>
          <a:p>
            <a:r>
              <a:rPr lang="ko-KR" altLang="en-US" dirty="0"/>
              <a:t>오래된 팔 비는 언젠가 꺼내지겠죠. 그때 어떻게 처리하는지 다음 화면에서 끝까지 따라가 보겠습니다.</a:t>
            </a:r>
          </a:p>
          <a:p>
            <a:endParaRPr lang="ko-K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오른쪽 표는 파이썬 코드가 힙에서 꺼내는 순서를 처음부터 끝까지 적은 것입니다. 거리와 정점의 쌍으로 영과 에이, 일과 씨, 이와 디, 오와 정점 이, 육과 비, 육과 에프를 차례로 꺼내며 확정합니다. 앞에서 손으로 따라간 확정 순서와 똑같습니다.</a:t>
            </a:r>
          </a:p>
          <a:p>
            <a:endParaRPr lang="ko-KR"/>
          </a:p>
          <a:p>
            <a:r>
              <a:rPr lang="ko-KR" altLang="en-US" dirty="0"/>
              <a:t>에프까지 확정했는데도 힙은 비지 않았습니다. 칠 에프와 팔 비가 남아 있습니다. 칠 에프는 디를 확정할 때 넣은 항목이고, 팔 비는 에이를 확정할 때 넣은 항목입니다. 두 정점 모두 그 뒤에 더 짧은 길이 생겨 육이 되었지만, 옛 항목이 힙에 그대로 남았습니다.</a:t>
            </a:r>
          </a:p>
          <a:p>
            <a:endParaRPr lang="ko-KR"/>
          </a:p>
          <a:p>
            <a:r>
              <a:rPr lang="ko-KR" altLang="en-US" dirty="0"/>
              <a:t>이제 칠 에프를 꺼냅니다. 디스트 에프는 육인데 꺼낸 거리는 칠입니다. 디스트가 꺼낸 거리보다 작으면 이 항목은 이미 더 짧은 길로 처리된 정점의 오래된 기록입니다. 그래서 아무 일도 하지 않고 건너뜁니다. 팔 비도 같은 이유로 건너뜁니다. 힙이 비면 반복이 끝납니다.</a:t>
            </a:r>
          </a:p>
          <a:p>
            <a:endParaRPr lang="ko-KR"/>
          </a:p>
          <a:p>
            <a:r>
              <a:rPr lang="ko-KR" altLang="en-US" dirty="0"/>
              <a:t>이 건너뛰기는 확정한 정점을 다시 고르지 않는 일을 대신합니다. 다만 완화할 때 확정한 이웃을 거르는 검사는 파이썬 코드에 없습니다. 비용이 영 이상이면 어차피 줄지 않아 결과가 같습니다. 이제 이 내용을 코드로 확인해 보겠습니다.</a:t>
            </a:r>
          </a:p>
          <a:p>
            <a:endParaRPr lang="ko-K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다익스트라 코드는 세 화면으로 나눴습니다. 이번 화면은 초기화입니다. 첫 줄에서 우선순위 큐로 쓸 힙 큐 모듈을 가져오고, 인프를 무한대로 정합니다.</a:t>
            </a:r>
          </a:p>
          <a:p>
            <a:endParaRPr lang="ko-KR"/>
          </a:p>
          <a:p>
            <a:r>
              <a:rPr lang="ko-KR" altLang="en-US" dirty="0"/>
              <a:t>함수 다익스트라는 그래프와 시작 정점을 받습니다. 그래프는 앞에서 본 인접 리스트 딕셔너리입니다. 이 코드에서는 정점을 노드라고도 부릅니다.</a:t>
            </a:r>
          </a:p>
          <a:p>
            <a:endParaRPr lang="ko-KR"/>
          </a:p>
          <a:p>
            <a:r>
              <a:rPr lang="ko-KR" altLang="en-US" dirty="0"/>
              <a:t>디스턴시스는 딕셔너리 컴프리헨션으로 만듭니다. 그래프의 모든 노드를 키로, 인프를 값으로 넣는다는 뜻입니다. 그다음 시작 노드만 영으로 바꿉니다. 의사코드의 디스트가 이 딕셔너리입니다. 예제라면 에이는 영, 나머지 다섯 정점은 무한대입니다.</a:t>
            </a:r>
          </a:p>
          <a:p>
            <a:endParaRPr lang="ko-KR"/>
          </a:p>
          <a:p>
            <a:r>
              <a:rPr lang="ko-KR" altLang="en-US" dirty="0"/>
              <a:t>큐는 빈 리스트로 만들고, 힙 푸시로 영과 시작 노드를 묶은 튜플을 넣습니다. 주석처럼 튜플은 거리, 노드 순서입니다. 이 순서를 노드, 거리로 바꾸면 힙이 가장 가까운 노드가 아니라 이름이 앞선 노드부터 꺼내므로 그리디 선택이 깨지는데, 자주 하는 실수입니다. 다음 화면에서 이 큐에서 하나씩 꺼내는 반복을 보겠습니다.</a:t>
            </a:r>
          </a:p>
          <a:p>
            <a:endParaRPr lang="ko-K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이제 핵심 반복입니다. 와일 큐는 큐가 빌 때까지 반복한다는 뜻입니다. 힙 팝으로 거리가 가장 작은 항목을 꺼내 커 디스트와 커 노드에 나눠 담습니다. 이 한 줄이 그리디 선택, 즉 의사코드의 미확정 중 최소 찾기입니다.</a:t>
            </a:r>
          </a:p>
          <a:p>
            <a:endParaRPr lang="ko-KR"/>
          </a:p>
          <a:p>
            <a:r>
              <a:rPr lang="ko-KR" altLang="en-US" dirty="0"/>
              <a:t>다음 이프가 앞에서 본 오래된 항목 건너뛰기입니다. 디스턴시스 커 노드가 커 디스트보다 작으면 이 노드는 이미 더 짧은 거리로 처리되었으므로, 컨티뉴로 다음 반복으로 넘어갑니다. 예제에서 마지막에 꺼내는 칠 에프와 팔 비가 여기서 걸러집니다.</a:t>
            </a:r>
          </a:p>
          <a:p>
            <a:endParaRPr lang="ko-KR"/>
          </a:p>
          <a:p>
            <a:r>
              <a:rPr lang="ko-KR" altLang="en-US" dirty="0"/>
              <a:t>통과하면 커 노드에서 나가는 이웃을 모두 봅니다. 그래프 커 노드 네이버가 간선 비용이므로, 뉴 디스트는 커 디스트에 그 비용을 더한 값입니다. 뉴 디스트가 지금 디스턴시스 네이버보다 작으면 값을 고치고 새 항목을 힙에 넣습니다. 이것이 완화입니다. 큐가 비면 와일이 끝나고 디스턴시스를 돌려줍니다.</a:t>
            </a:r>
          </a:p>
          <a:p>
            <a:endParaRPr lang="ko-KR"/>
          </a:p>
          <a:p>
            <a:r>
              <a:rPr lang="ko-KR" altLang="en-US" dirty="0"/>
              <a:t>예제로 따라가면 처음 영 에이를 꺼내 비 팔, 씨 일, 디 이를 고치고 세 항목을 넣습니다. 다음에 일 씨를 꺼내 비를 육으로 고치고 육 비를 넣습니다. 자주 하는 실수는 건너뛰기 이프를 빼는 것입니다. 비용이 영 이상이면 답은 같지만 오래된 항목마다 이웃을 다시 훑어 시간이 늘어납니다. 다음 화면에서 실행 부분을 보겠습니다.</a:t>
            </a:r>
          </a:p>
          <a:p>
            <a:endParaRPr lang="ko-K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부분입니다. 마이 그래프는 앞에서 본 인접 리스트입니다. 바깥 딕셔너리의 키가 출발 정점이고, 값인 안쪽 딕셔너리가 이웃과 간선 비용입니다. 예를 들어 씨의 값은 비 오, 디 이입니다. 짧은 줄은 한 줄에 두 정점씩 적었습니다.</a:t>
            </a:r>
          </a:p>
          <a:p>
            <a:endParaRPr lang="ko-KR"/>
          </a:p>
          <a:p>
            <a:r>
              <a:rPr lang="ko-KR" altLang="en-US" dirty="0"/>
              <a:t>자주 하는 실수는 나가는 간선이 없는 정점을 빼먹는 것입니다. 비는 나가는 간선이 없지만 빈 딕셔너리로 꼭 넣어야 합니다. 빼면 디스턴시스에 비가 만들어지지 않아서, 에이에서 비로 완화할 때 키 에러가 납니다.</a:t>
            </a:r>
          </a:p>
          <a:p>
            <a:endParaRPr lang="ko-KR"/>
          </a:p>
          <a:p>
            <a:r>
              <a:rPr lang="ko-KR" altLang="en-US" dirty="0"/>
              <a:t>쇼티스트는 다익스트라에 마이 그래프와 시작 정점 에이를 넘겨 받은 결과 딕셔너리입니다. 먼저 제목 줄을 출력하고, 포 문으로 쇼티스트 점 아이템스를 돌며 노드와 거리를 한 쌍씩 꺼냅니다. 아이템스는 딕셔너리의 키와 값 쌍을 차례로 돌려줍니다.</a:t>
            </a:r>
          </a:p>
          <a:p>
            <a:endParaRPr lang="ko-KR"/>
          </a:p>
          <a:p>
            <a:r>
              <a:rPr lang="ko-KR" altLang="en-US" dirty="0"/>
              <a:t>출력 줄은 에프 스트링입니다. 따옴표 앞의 에프 덕분에 중괄호 안의 노드와 디스트가 실제 값으로 바뀌어, 에이 화살표 비 콜론 육처럼 찍힙니다. 디스턴시스를 만들 때 그래프의 키 순서를 따랐으므로 에이부터 에프까지 순서대로 나옵니다. 여기의 디스트는 반복 변수 이름일 뿐입니다. 다음은 씨 언어 배열판입니다.</a:t>
            </a:r>
          </a:p>
          <a:p>
            <a:endParaRPr lang="ko-K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다익스트라도 세 화면으로 나눴습니다. 의사코드의 배열판을 그대로 옮긴 코드입니다. 첫 줄 주석처럼 씨 표준 라이브러리에는 힙이 없어서 미확정 노드 중 최소를 배열에서 직접 찾고, 그래서 오 브이 제곱입니다.</a:t>
            </a:r>
          </a:p>
          <a:p>
            <a:endParaRPr lang="ko-KR"/>
          </a:p>
          <a:p>
            <a:r>
              <a:rPr lang="ko-KR" altLang="en-US" dirty="0"/>
              <a:t>인트 맥스를 쓰려고 리밋츠 점 에이치를, 출력을 위해 스탠다드 아이오 점 에이치를 포함합니다. 디파인으로 노드 수 브이를 육, 인프를 인트 맥스로 정합니다.</a:t>
            </a:r>
          </a:p>
          <a:p>
            <a:endParaRPr lang="ko-KR"/>
          </a:p>
          <a:p>
            <a:r>
              <a:rPr lang="ko-KR" altLang="en-US" dirty="0"/>
              <a:t>다익스트라 함수는 인접 행렬 그래프, 시작 정점, 결과를 담을 디스트 배열을 받습니다. 리턴 값이 없는 보이드 함수이고, 결과는 호출한 쪽의 디스트 배열에 직접 채웁니다. 비지티드는 최단 거리가 확정되었는지 적는 배열로 모두 영에서 시작합니다.</a:t>
            </a:r>
          </a:p>
          <a:p>
            <a:endParaRPr lang="ko-KR"/>
          </a:p>
          <a:p>
            <a:r>
              <a:rPr lang="ko-KR" altLang="en-US" dirty="0"/>
              <a:t>주석 아래 포 문으로 디스트를 모두 인프로 채우고, 시작 정점만 영으로 둡니다. 의사코드 첫 줄과 같은 일입니다. 자주 하는 실수는 이 초기화를 빼는 것입니다. 메인에서 만든 디스트 배열은 처음 값이 정해져 있지 않아서 엉뚱한 거리가 남습니다. 다음 화면에서 확정과 완화를 반복하는 부분을 보겠습니다.</a:t>
            </a:r>
          </a:p>
          <a:p>
            <a:endParaRPr lang="ko-K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확정과 완화를 반복하는 부분입니다. 바깥 포 문은 브이 번 돕니다. 한 번에 한 정점을 확정하기 때문입니다.</a:t>
            </a:r>
          </a:p>
          <a:p>
            <a:endParaRPr lang="ko-KR"/>
          </a:p>
          <a:p>
            <a:r>
              <a:rPr lang="ko-KR" altLang="en-US" dirty="0"/>
              <a:t>반복마다 유를 마이너스 일, 민 디스트를 인프로 놓고, 안쪽 포 문으로 아직 확정하지 않았고 디스트가 더 작은 노드를 찾습니다. 이것이 그리디 선택입니다. 끝까지 유가 마이너스 일이면 남은 노드의 디스트가 모두 인프라는 뜻이므로, 갈 수 없는 노드만 남은 것으로 보고 브레이크합니다. 찾았으면 비지티드 유를 일로 바꿔 확정합니다.</a:t>
            </a:r>
          </a:p>
          <a:p>
            <a:endParaRPr lang="ko-KR"/>
          </a:p>
          <a:p>
            <a:r>
              <a:rPr lang="ko-KR" altLang="en-US" dirty="0"/>
              <a:t>마지막 포 문이 완화입니다. 모든 브이에 대해 그래프 유 브이가 영이면 간선이 없고, 비지티드 브이가 일이면 이미 확정했으므로 컨티뉴로 건너뜁니다. 아니면 뉴 디스트를 계산해 더 작을 때만 디스트 브이를 고칩니다. 예제의 두 번째 반복이라면 유는 씨이고, 비를 팔에서 육으로 고치며, 디는 일 더하기 이가 삼이라 그대로 둡니다.</a:t>
            </a:r>
          </a:p>
          <a:p>
            <a:endParaRPr lang="ko-KR"/>
          </a:p>
          <a:p>
            <a:r>
              <a:rPr lang="ko-KR" altLang="en-US" dirty="0"/>
              <a:t>자주 하는 실수는 인트 맥스에 무언가를 더하는 것입니다. 인트의 범위를 넘어 엉뚱한 값이 됩니다. 이 코드는 디스트가 인프보다 작은 노드만 유로 고르므로 안전합니다. 또 영을 간선 없음으로 정했기 때문에 비용이 영인 간선은 이 표현으로 나타낼 수 없습니다. 다음 화면에서 메인 함수를 보겠습니다.</a:t>
            </a:r>
          </a:p>
          <a:p>
            <a:endParaRPr lang="ko-K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메인 함수입니다. 네임즈는 번호 영부터 오를 에이부터 에프로 바꾸는 문자열입니다. 그래프는 육 곱하기 육 인접 행렬로, 그래프 유 브이에 유에서 브이로 가는 비용을 적고 간선이 없으면 영을 적었습니다.</a:t>
            </a:r>
          </a:p>
          <a:p>
            <a:endParaRPr lang="ko-KR"/>
          </a:p>
          <a:p>
            <a:r>
              <a:rPr lang="ko-KR" altLang="en-US" dirty="0"/>
              <a:t>첫 행 에이를 보세요. 영, 팔, 일, 이, 영, 영이므로 에이에서 비 팔, 씨 일, 디 이입니다. 비 행은 모두 영이라 나가는 간선이 없습니다. 마지막 에프 행은 첫 칸만 오로, 에프에서 에이로 가는 간선입니다. 파이썬의 마이 그래프와 같은 그래프를 다른 모양으로 적은 것입니다. 행과 열을 바꿔 적으면 간선 방향이 뒤집히니 주의하세요.</a:t>
            </a:r>
          </a:p>
          <a:p>
            <a:endParaRPr lang="ko-KR"/>
          </a:p>
          <a:p>
            <a:r>
              <a:rPr lang="ko-KR" altLang="en-US" dirty="0"/>
              <a:t>디스트 배열을 만들고 다익스트라에 그래프, 시작 정점 영, 디스트를 넘깁니다. 씨에서 배열을 넘기면 함수가 그 배열을 직접 채우므로, 함수가 끝나면 디스트에 결과가 들어 있습니다. 그다음 제목 줄을 찍고, 마지막 포 문으로 노드마다 에이 화살표, 이름, 거리를 한 줄씩 찍습니다. 퍼센트 씨는 문자, 퍼센트 디는 정수입니다.</a:t>
            </a:r>
          </a:p>
          <a:p>
            <a:endParaRPr lang="ko-KR"/>
          </a:p>
          <a:p>
            <a:r>
              <a:rPr lang="ko-KR" altLang="en-US" dirty="0"/>
              <a:t>배열판은 매 반복 최소를 찾느라 브이 칸을 훑지만, 정점이 여섯 개뿐이라 금방 끝납니다. 실행 결과를 보겠습니다.</a:t>
            </a:r>
          </a:p>
          <a:p>
            <a:endParaRPr lang="ko-K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결과입니다. 파이썬 힙판과 씨 배열판이 같은 일곱 줄을 출력합니다. 첫 줄은 제목이고, 그 아래로 에이에서 각 정점까지의 최단 거리가 나옵니다. 에이 영, 비 육, 씨 일, 디 이, 정점 이 오, 에프 육으로, 손으로 따라간 최종 표와 같습니다.</a:t>
            </a:r>
          </a:p>
          <a:p>
            <a:endParaRPr lang="ko-KR"/>
          </a:p>
          <a:p>
            <a:r>
              <a:rPr lang="ko-KR" altLang="en-US" dirty="0"/>
              <a:t>아래 표에는 최단 경로도 적었습니다. 경로는 앞에서 본 최단 경로 트리 그림의 청록색 간선을 따라가면 얻습니다. 비는 에이, 씨, 비로 일 더하기 오, 육입니다. 에이에서 비로 바로 가는 팔보다 짧습니다. 에프는 에이, 디, 정점 이, 에프로 이 더하기 삼 더하기 일, 육입니다.</a:t>
            </a:r>
          </a:p>
          <a:p>
            <a:endParaRPr lang="ko-KR"/>
          </a:p>
          <a:p>
            <a:r>
              <a:rPr lang="ko-KR" altLang="en-US" dirty="0"/>
              <a:t>두 코드는 최소를 찾는 방법이 다릅니다. 파이썬은 힙에서 꺼내고, 씨는 배열을 훑습니다. 하지만 비용이 영 이상이면 확정 순서와 결과는 같습니다. 이 코드는 거리만 출력하고 경로는 출력하지 않습니다. 경로까지 출력하려면 디스트를 고칠 때 어느 정점에서 왔는지도 함께 적어 두어야 합니다.</a:t>
            </a:r>
          </a:p>
          <a:p>
            <a:endParaRPr lang="ko-KR"/>
          </a:p>
          <a:p>
            <a:r>
              <a:rPr lang="ko-KR" altLang="en-US" dirty="0"/>
              <a:t>다음 화면에서 두 방식의 시간 복잡도를 비교하겠습니다.</a:t>
            </a:r>
          </a:p>
          <a:p>
            <a:endParaRPr lang="ko-K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방식의 시간을 비교하겠습니다. 정점 수 브이와 간선 수 이로 시간을 나타냅니다. 예제에서 정점 수 브이는 여섯, 간선 수 이는 아홉입니다.</a:t>
            </a:r>
          </a:p>
          <a:p>
            <a:endParaRPr lang="ko-KR"/>
          </a:p>
          <a:p>
            <a:r>
              <a:rPr lang="ko-KR" altLang="en-US" dirty="0"/>
              <a:t>배열판은 반복마다 브이 칸을 훑어 최소를 찾고, 인접 행렬의 한 행 브이 칸을 훑어 완화합니다. 이것을 브이 번 하므로 오 브이 제곱입니다. 간선이 몇 개든 늘 브이 제곱입니다.</a:t>
            </a:r>
          </a:p>
          <a:p>
            <a:endParaRPr lang="ko-KR"/>
          </a:p>
          <a:p>
            <a:r>
              <a:rPr lang="ko-KR" altLang="en-US" dirty="0"/>
              <a:t>힙판은 거리가 줄어들 때마다 항목을 하나 넣습니다. 비용이 영 이상이면 간선마다 완화가 한 번씩만 일어나므로, 넣는 횟수는 간선 수보다 하나 많은 정도이고 꺼내는 횟수도 그만큼입니다. 힙 연산 한 번은 로그 시간입니다. 간선 수는 정점 수의 제곱을 넘지 않으니 로그 이는 로그 브이의 두 배 이하입니다. 그래서 힙 연산 전체는 오 이 로그 브이입니다. 초기화에 브이만큼 더 들지만, 모든 정점에 갈 수 있다면 간선이 적어도 브이 빼기 일 개라 이 로그 브이에 묻힙니다.</a:t>
            </a:r>
          </a:p>
          <a:p>
            <a:endParaRPr lang="ko-KR"/>
          </a:p>
          <a:p>
            <a:r>
              <a:rPr lang="ko-KR" altLang="en-US" dirty="0"/>
              <a:t>어느 쪽이 빠를까요? 도로망처럼 정점마다 이웃이 몇 개뿐인 그래프는 간선이 적어서 힙판이 훨씬 빠릅니다. 반대로 거의 모든 정점 쌍이 연결된 그래프는 간선 수가 브이 제곱에 가까워 힙판이 브이 제곱 로그 브이가 되므로, 배열판이 오히려 낫습니다.</a:t>
            </a:r>
          </a:p>
          <a:p>
            <a:endParaRPr lang="ko-KR"/>
          </a:p>
          <a:p>
            <a:r>
              <a:rPr lang="ko-KR" altLang="en-US" dirty="0"/>
              <a:t>다음 화면에서는 크루스칼의 최소 신장 트리와 지금 만든 최단 경로 트리를 비교해 보겠습니다.</a:t>
            </a:r>
          </a:p>
          <a:p>
            <a:endParaRPr lang="ko-K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점 육 절의 최소 신장 트리와 지금 만든 최단 경로 트리는 둘 다 정점을 잇는 나무 모양이라 헷갈리기 쉽습니다. 무엇을 최소로 만드는지가 다릅니다. 최소 신장 트리는 모든 정점을 잇는 간선들의 합을 최소로 합니다. 최단 경로 트리는 시작점에서 각 정점까지의 거리를 하나하나 최소로 합니다. 오 점 육 절에서 에이부터 디까지의 그래프로 본 차이를, 이번에는 더 작은 그래프에서 다익스트라를 직접 돌려 확인하겠습니다.</a:t>
            </a:r>
          </a:p>
          <a:p>
            <a:endParaRPr lang="ko-KR"/>
          </a:p>
          <a:p>
            <a:r>
              <a:rPr lang="ko-KR" altLang="en-US" dirty="0"/>
              <a:t>작은 예로 보겠습니다. 방향이 없는 삼각형이고, 에이와 비 사이 이, 비와 씨 사이 이, 에이와 씨 사이 삼입니다. 크루스칼로 최소 신장 트리를 만들면 싼 간선 이와 이를 고르고, 삼은 사이클을 만들므로 버립니다. 간선 합은 사입니다.</a:t>
            </a:r>
          </a:p>
          <a:p>
            <a:endParaRPr lang="ko-KR"/>
          </a:p>
          <a:p>
            <a:r>
              <a:rPr lang="ko-KR" altLang="en-US" dirty="0"/>
              <a:t>다익스트라를 에이에서 시작하면 비는 이, 씨는 직행 삼과 비를 거친 이 더하기 이, 사 중 삼입니다. 그래서 최단 경로 트리는 에이와 비, 에이와 씨 간선이고 간선 합은 오입니다. 방향이 없는 간선은 양쪽 방향의 간선 두 개로 보고 다익스트라를 돌리면 됩니다.</a:t>
            </a:r>
          </a:p>
          <a:p>
            <a:endParaRPr lang="ko-KR"/>
          </a:p>
          <a:p>
            <a:r>
              <a:rPr lang="ko-KR" altLang="en-US" dirty="0"/>
              <a:t>두 트리를 비교하면, 최소 신장 트리에서는 에이에서 씨까지 이 더하기 이로 사를 가야 해서 최단 거리 삼보다 깁니다. 반대로 최단 경로 트리는 간선 합이 오로 최소 신장 트리의 사보다 큽니다. 각자 자기 기준에서만 최소입니다.</a:t>
            </a:r>
          </a:p>
          <a:p>
            <a:endParaRPr lang="ko-KR"/>
          </a:p>
          <a:p>
            <a:r>
              <a:rPr lang="ko-KR" altLang="en-US" dirty="0"/>
              <a:t>둘이 같으냐고 물으면, 다를 수 있다고 답하고 이런 예 하나를 들면 됩니다. 이제 다익스트라의 조건, 간선 비용이 영 이상이라는 조건이 깨지면 어떻게 되는지 보겠습니다.</a:t>
            </a:r>
          </a:p>
          <a:p>
            <a:endParaRPr lang="ko-K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마지막으로 조건이 깨지는 경우를 보겠습니다. 연습문제에 나오는 예입니다. 정점은 에스, 에이, 비 세 개이고 시작점은 에스입니다. 에스에서 에이로 이, 에스에서 비로 오, 그리고 비에서 에이로 마이너스 사인 간선이 있습니다. 간선 비용에 음수가 하나 들어 있습니다.</a:t>
            </a:r>
          </a:p>
          <a:p>
            <a:endParaRPr lang="ko-KR"/>
          </a:p>
          <a:p>
            <a:r>
              <a:rPr lang="ko-KR" altLang="en-US" dirty="0"/>
              <a:t>다익스트라를 그대로 돌려 보겠습니다. 처음에는 에스만 영이고 나머지는 무한대입니다. 미확정 중 가장 작은 에스를 확정합니다.</a:t>
            </a:r>
          </a:p>
          <a:p>
            <a:endParaRPr lang="ko-KR"/>
          </a:p>
          <a:p>
            <a:r>
              <a:rPr lang="ko-KR" altLang="en-US" dirty="0"/>
              <a:t>에스에서 나가는 간선 두 개로 완화합니다. 에이는 영 더하기 이로 이, 비는 영 더하기 오로 오가 됩니다. 여기까지는 앞의 예제와 다를 것이 없습니다. 이 그래프에는 사이클도 없고 음수 간선이 딱 하나뿐인데, 그래도 결과가 틀리는지 끝까지 따라가 보겠습니다.</a:t>
            </a:r>
          </a:p>
          <a:p>
            <a:endParaRPr lang="ko-KR"/>
          </a:p>
          <a:p>
            <a:r>
              <a:rPr lang="ko-KR" altLang="en-US" dirty="0"/>
              <a:t>이제 미확정 정점은 에이 이와 비 오입니다. 다익스트라의 규칙대로라면 더 작은 에이를 확정해야 합니다. 다음 화면에서 에이를 확정하겠습니다.</a:t>
            </a:r>
          </a:p>
          <a:p>
            <a:endParaRPr lang="ko-K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번째로 에이를 확정합니다. 미확정 중 디스트가 가장 작은 정점이 에이의 이이기 때문입니다. 에이에서 나가는 간선은 없으니 완화할 것도 없습니다. 오른쪽 표에서 에이의 상태가 이번 확정으로 바뀐 것을 확인하세요. 의사코드로 말하면 비지티드 에이가 트루가 된 것입니다.</a:t>
            </a:r>
          </a:p>
          <a:p>
            <a:endParaRPr lang="ko-KR"/>
          </a:p>
          <a:p>
            <a:r>
              <a:rPr lang="ko-KR" altLang="en-US" dirty="0"/>
              <a:t>여기서 다익스트라는 에이까지의 거리가 이로 끝났다고 결론 내립니다. 비용이 영 이상이라면 옳은 판단입니다. 에이로 가는 다른 길은 아직 확정하지 않은 비를 거쳐야 하는데, 비까지 이미 오가 걸리니 그 뒤에 아무리 가도 오보다 작아질 수 없으니, 이보다 짧을 수 없다는 논리였습니다.</a:t>
            </a:r>
          </a:p>
          <a:p>
            <a:endParaRPr lang="ko-KR"/>
          </a:p>
          <a:p>
            <a:r>
              <a:rPr lang="ko-KR" altLang="en-US" dirty="0"/>
              <a:t>그런데 이번 그래프에는 비에서 에이로 가는 마이너스 사가 있습니다. 비를 거치면 오에서 사가 줄어들 수 있습니다. 앞에서 편의점 예로 본 엑스가 음수인 경우가 바로 이 상황입니다.</a:t>
            </a:r>
          </a:p>
          <a:p>
            <a:endParaRPr lang="ko-KR"/>
          </a:p>
          <a:p>
            <a:r>
              <a:rPr lang="ko-KR" altLang="en-US" dirty="0"/>
              <a:t>확정은 이미 끝났으니 에이의 이는 앞으로 바뀌지 않습니다. 다음 화면에서 비를 확정할 때 무슨 일이 생기는지 보겠습니다.</a:t>
            </a:r>
          </a:p>
          <a:p>
            <a:endParaRPr lang="ko-K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마지막으로 비를 확정합니다. 디스트 비는 오입니다. 비에서 나가는 간선은 에이로 가는 마이너스 사입니다. 계산하면 오 더하기 마이너스 사, 일입니다. 일은 지금 디스트 에이인 이보다 작습니다.</a:t>
            </a:r>
          </a:p>
          <a:p>
            <a:endParaRPr lang="ko-KR"/>
          </a:p>
          <a:p>
            <a:r>
              <a:rPr lang="ko-KR" altLang="en-US" dirty="0"/>
              <a:t>하지만 에이는 이미 확정되었습니다. 의사코드와 씨 코드는 확정한 정점을 완화하지 않으므로 에이는 그대로 이입니다. 다익스트라의 답은 에이까지 이입니다.</a:t>
            </a:r>
          </a:p>
          <a:p>
            <a:endParaRPr lang="ko-KR"/>
          </a:p>
          <a:p>
            <a:r>
              <a:rPr lang="ko-KR" altLang="en-US" dirty="0"/>
              <a:t>실제 최단 거리는 얼마일까요? 에스에서 비를 거쳐 에이로 가면 오 더하기 마이너스 사, 일입니다. 그러니 다익스트라는 틀린 답을 냈습니다. 원인은 한 문장으로 말할 수 있습니다. 먼저 확정한 에이를 나중에 찾은 더 짧은 길로 다시 고치지 않기 때문입니다. 에이를 이로 확정한 뒤 다시 처리하지 않으므로, 만약 에이에서 나가는 간선이 있었다면 그 뒤 정점들의 거리도 틀립니다.</a:t>
            </a:r>
          </a:p>
          <a:p>
            <a:endParaRPr lang="ko-KR"/>
          </a:p>
          <a:p>
            <a:r>
              <a:rPr lang="ko-KR" altLang="en-US" dirty="0"/>
              <a:t>간선 비용이 모두 영 이상이라는 조건은 이렇게 꼭 필요합니다. 음수 간선이 있는 그래프에는 벨만 포드 같은 다른 알고리즘을 씁니다. 이 절의 내용을 확인 문제로 정리하겠습니다.</a:t>
            </a:r>
          </a:p>
          <a:p>
            <a:endParaRPr lang="ko-K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확인 문제의 답을 보겠습니다. 첫 번째, 사 더하기 오는 구이고 십이보다 작으므로 디스트 브이는 구가 됩니다. 디스트 브이가 팔이었다면 구는 팔보다 크므로 고치지 않고 팔 그대로입니다.</a:t>
            </a:r>
          </a:p>
          <a:p>
            <a:endParaRPr lang="ko-KR"/>
          </a:p>
          <a:p>
            <a:r>
              <a:rPr lang="ko-KR" altLang="en-US" dirty="0"/>
              <a:t>두 번째, 에이에서 에프까지의 최단 경로는 에이, 디, 정점 이, 에프이고 거리는 이 더하기 삼 더하기 일, 육입니다. 디에서 에프로 바로 가면 이 더하기 오, 칠이라 더 깁니다.</a:t>
            </a:r>
          </a:p>
          <a:p>
            <a:endParaRPr lang="ko-KR"/>
          </a:p>
          <a:p>
            <a:r>
              <a:rPr lang="ko-KR" altLang="en-US" dirty="0"/>
              <a:t>세 번째, 다익스트라는 에스 다음으로 에이를 이로 확정하므로 답은 이입니다. 실제 최단 거리는 에스, 비, 에이로 오 빼기 사, 일입니다. 먼저 확정한 에이를 나중에 찾은 더 짧은 길로 다시 고치지 않기 때문에 틀립니다.</a:t>
            </a:r>
          </a:p>
          <a:p>
            <a:endParaRPr lang="ko-KR"/>
          </a:p>
          <a:p>
            <a:r>
              <a:rPr lang="ko-KR" altLang="en-US" dirty="0"/>
              <a:t>네 번째는 생각해 볼 문제입니다. 이 장의 파이썬 코드에는 확정 표시가 없습니다. 파이썬의 완화 줄에는 의사코드의 낫 비지티드 브이 조건이 없어서, 비를 처리할 때 에이를 이에서 일로 고치고 일 에이를 다시 넣습니다. 그래서 결과가 일로 나옵니다. 하지만 이것은 한 번 확정하면 끝이라는 다익스트라의 원리를 벗어난 동작입니다. 음수 간선이 있으면 같은 정점을 여러 번 다시 처리해야 해서 오 이 로그 브이라는 시간 보장이 사라지고, 음수 사이클이 있으면 끝나지도 않습니다. 그래서 음수 간선이 있으면 벨만 포드 같은 알고리즘을 씁니다.</a:t>
            </a:r>
          </a:p>
          <a:p>
            <a:endParaRPr lang="ko-KR"/>
          </a:p>
          <a:p>
            <a:r>
              <a:rPr lang="ko-KR" altLang="en-US" dirty="0"/>
              <a:t>다섯 번째, 같지 않을 수 있습니다. 삼각형 예에서 최소 신장 트리는 간선 합이 사, 최단 경로 트리는 오였습니다. 여섯 번째, 배열판은 오 브이 제곱, 힙판은 오 이 로그 브이입니다. 간선이 적으면 힙판, 거의 모든 정점 쌍이 이어져 있으면 배열판이 유리합니다. 다음 절에서는 코딩 테스트 예제 두 개를 풀어 보겠습니다.</a:t>
            </a:r>
          </a:p>
          <a:p>
            <a:endParaRPr lang="ko-K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이번 절은 코딩 테스트 예제입니다. 화면의 씨티는 코딩 테스트의 약자입니다. 다음 화면부터 씨티 오 점 일, 씨티 오 점 이처럼 문제 번호를 붙였습니다. 절 번호가 아닙니다. 동전 내주기와 에이티엠 줄 세우기 두 문제를 풉니다.</a:t>
            </a:r>
          </a:p>
          <a:p>
            <a:endParaRPr lang="ko-KR"/>
          </a:p>
          <a:p>
            <a:r>
              <a:rPr lang="ko-KR" altLang="en-US" dirty="0"/>
              <a:t>두 문제 모두 무엇을 기준으로 고를지 정하는 순간 풀이가 거의 끝납니다. 다만 그 기준이 왜 안전한지, 문제의 어떤 조건이 그것을 보장하는지를 먼저 확인하고 코드로 옮기겠습니다.</a:t>
            </a:r>
          </a:p>
          <a:p>
            <a:endParaRPr lang="ko-K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문제는 동전 내주기입니다. 동전이 엔 종류 있고 종류마다 무한히 많습니다. 이 동전으로 케이 원을 만들 때 필요한 동전 개수의 최솟값을 구합니다. 오 점 이 절의 거스름돈 문제를 입력을 받아 푸는 형태로 바꾼 것입니다.</a:t>
            </a:r>
          </a:p>
          <a:p>
            <a:endParaRPr lang="ko-KR"/>
          </a:p>
          <a:p>
            <a:r>
              <a:rPr lang="ko-KR" altLang="en-US" dirty="0"/>
              <a:t>입력 형식을 보세요. 첫 줄에 엔과 케이가 오고, 다음 엔 줄에 동전의 가치가 하나씩 오름차순으로 옵니다. 출력은 최소 개수 하나입니다. 기호에 주의하세요. 여기서 엔은 동전 종류 수이고 케이는 목표 금액입니다. 오 점 이 절에서는 케이를 동전 종류 수로 썼으니 헷갈리지 않도록 합니다.</a:t>
            </a:r>
          </a:p>
          <a:p>
            <a:endParaRPr lang="ko-KR"/>
          </a:p>
          <a:p>
            <a:r>
              <a:rPr lang="ko-KR" altLang="en-US" dirty="0"/>
              <a:t>이 문제에서 가장 중요한 것은 조건입니다. 첫 동전은 일 원이고, 큰 단위는 작은 단위의 배수입니다. 배수 조건이 있으면 큰 동전부터 고르는 그리디가 안전합니다. 백 원 다섯 개는 오백 원 하나로 바꿀 수 있으니, 큰 동전을 덜 쓰고 작은 동전으로 채우면 개수만 늘어나기 때문입니다.</a:t>
            </a:r>
          </a:p>
          <a:p>
            <a:endParaRPr lang="ko-KR"/>
          </a:p>
          <a:p>
            <a:r>
              <a:rPr lang="ko-KR" altLang="en-US" dirty="0"/>
              <a:t>다만 배수 조건은 그리디가 맞기 위한 충분조건입니다. 조건이 깨지면 사백 원 예처럼 보장이 사라지지만, 일, 오, 십, 이십오 원처럼 배수가 아닌데도 그리디가 맞는 동전 체계도 있습니다.</a:t>
            </a:r>
          </a:p>
          <a:p>
            <a:endParaRPr lang="ko-KR"/>
          </a:p>
          <a:p>
            <a:r>
              <a:rPr lang="ko-KR" altLang="en-US" dirty="0"/>
              <a:t>일 원 조건도 필요합니다. 동전이 오 원과 십 원뿐인데 칠 원을 만들라고 하면, 오 원 하나를 쓰고 이 원이 남는데도 코드는 일을 출력합니다. 일 원이 있어야 어떤 금액이든 남김없이 만들 수 있습니다. 이제 코드를 보겠습니다.</a:t>
            </a:r>
          </a:p>
          <a:p>
            <a:endParaRPr lang="ko-K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풀이를 입력과 계산 두 화면으로 나눴습니다. 먼저 입력입니다. 시스 모듈을 가져와 시스 점 에스티디인 점 리드라인으로 한 줄씩 읽습니다.</a:t>
            </a:r>
          </a:p>
          <a:p>
            <a:endParaRPr lang="ko-KR"/>
          </a:p>
          <a:p>
            <a:r>
              <a:rPr lang="ko-KR" altLang="en-US" dirty="0"/>
              <a:t>첫 줄을 스플릿으로 나누고 맵 인트로 정수로 바꿔 엔과 케이에 담습니다. 주석처럼 엔은 동전의 종류 수, 케이는 목표 금액입니다. 입력 예라면 엔은 십, 케이는 사천이백입니다.</a:t>
            </a:r>
          </a:p>
          <a:p>
            <a:endParaRPr lang="ko-KR"/>
          </a:p>
          <a:p>
            <a:r>
              <a:rPr lang="ko-KR" altLang="en-US" dirty="0"/>
              <a:t>다음 주석에 적은 세 조건, 오름차순, 첫 동전 일 원, 배수 관계는 입력이 지킨다고 가정합니다. 마지막 줄은 리스트 컴프리헨션으로 엔 줄을 읽어 코인스 리스트를 만듭니다. 한 줄에 동전 하나씩 오므로 리드라인을 엔 번 부르고, 줄마다 인트로 바꿉니다. 결과는 일, 오, 십, 오십, 백부터 오만까지 오름차순입니다.</a:t>
            </a:r>
          </a:p>
          <a:p>
            <a:endParaRPr lang="ko-KR"/>
          </a:p>
          <a:p>
            <a:r>
              <a:rPr lang="ko-KR" altLang="en-US" dirty="0"/>
              <a:t>자주 하는 실수는 인트로 바꾸는 것을 잊는 것입니다. 리드라인이 돌려주는 값은 문자열이라서, 그대로 두면 케이와 크기를 비교하거나 나눌 수 없습니다. 다음 화면에서 큰 단위부터 세는 부분을 보겠습니다.</a:t>
            </a:r>
          </a:p>
          <a:p>
            <a:endParaRPr lang="ko-K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개수를 세는 부분입니다. 핵심은 코인스 점 리버스입니다. 리스트를 제자리에서 뒤집어 오만부터 일까지 큰 단위가 앞에 오게 합니다. 화면 아래에 적었듯이 정렬이 아니라 뒤집기만 하므로 오 엔 시간입니다. 입력이 오름차순이라는 조건 덕분입니다.</a:t>
            </a:r>
          </a:p>
          <a:p>
            <a:endParaRPr lang="ko-KR"/>
          </a:p>
          <a:p>
            <a:r>
              <a:rPr lang="ko-KR" altLang="en-US" dirty="0"/>
              <a:t>카운트를 영으로 두고, 포 문은 큰 동전부터 봅니다. 케이가 코인 이상이면 케이를 코인으로 나눈 몫을 카운트에 더하고, 케이를 코인으로 나눈 나머지로 바꿉니다. 몫은 이 동전을 몇 개 쓰는지, 나머지는 남은 금액입니다.</a:t>
            </a:r>
          </a:p>
          <a:p>
            <a:endParaRPr lang="ko-KR"/>
          </a:p>
          <a:p>
            <a:r>
              <a:rPr lang="ko-KR" altLang="en-US" dirty="0"/>
              <a:t>입력 예로 따라가면 사천이백은 오만, 만, 오천보다 작아 건너뜁니다. 천에서 몫 사를 더하고 이백이 남습니다. 오백은 건너뛰고, 백에서 몫 이를 더하면 남은 금액이 영입니다. 케이가 영이 되면 브레이크로 반복을 끝내고, 카운트 사 더하기 이, 육을 출력합니다.</a:t>
            </a:r>
          </a:p>
          <a:p>
            <a:endParaRPr lang="ko-KR"/>
          </a:p>
          <a:p>
            <a:r>
              <a:rPr lang="ko-KR" altLang="en-US" dirty="0"/>
              <a:t>자주 하는 실수는 동전을 하나씩 빼는 반복을 쓰는 것입니다. 케이가 크면 반복이 너무 많아져 시간 초과가 납니다. 몫과 나머지를 쓰면 반복은 동전 종류 수만큼입니다. 같은 풀이를 씨로 옮겨 보겠습니다.</a:t>
            </a:r>
          </a:p>
          <a:p>
            <a:endParaRPr lang="ko-K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풀이도 입력과 계산 두 화면으로 나눴습니다. 스탠다드 아이오 점 에이치를 포함하고 메인 함수에서 시작합니다. 엔, 케이, 그리고 동전을 담을 크기 백의 배열 코인스를 선언합니다. 주석처럼 엔은 동전의 종류 수, 케이는 목표 금액입니다.</a:t>
            </a:r>
          </a:p>
          <a:p>
            <a:endParaRPr lang="ko-KR"/>
          </a:p>
          <a:p>
            <a:r>
              <a:rPr lang="ko-KR" altLang="en-US" dirty="0"/>
              <a:t>스캔 에프로 첫 줄의 두 정수를 읽습니다. 퍼센트 디 두 개에 맞춰 엔과 케이의 주소를 넘깁니다. 스캔 에프는 제대로 읽은 값의 개수를 돌려주므로, 그 값이 이가 아니거나 엔이 영보다 작거나 백보다 크면 입력이 잘못된 것으로 보고 리턴 일로 끝냅니다. 배열 크기 백을 넘는 입력을 막는 안전장치입니다.</a:t>
            </a:r>
          </a:p>
          <a:p>
            <a:endParaRPr lang="ko-KR"/>
          </a:p>
          <a:p>
            <a:r>
              <a:rPr lang="ko-KR" altLang="en-US" dirty="0"/>
              <a:t>다음 주석은 파이썬과 같은 세 조건입니다. 포 문에서 동전 엔 개를 코인스 영 번 칸부터 차례로 읽고, 하나라도 읽지 못하면 역시 리턴 일로 끝냅니다. 입력 예라면 코인스에는 일부터 오만까지 열 개가 오름차순으로 들어갑니다.</a:t>
            </a:r>
          </a:p>
          <a:p>
            <a:endParaRPr lang="ko-KR"/>
          </a:p>
          <a:p>
            <a:r>
              <a:rPr lang="ko-KR" altLang="en-US" dirty="0"/>
              <a:t>자주 하는 실수는 스캔 에프에 넘길 변수 앞의 앰퍼샌드를 빼는 것입니다. 스캔 에프는 읽은 값을 써 넣을 주소가 필요합니다. 배열 칸도 앰퍼샌드 코인스 아이처럼 칸의 주소를 넘깁니다. 다음 화면에서 큰 단위부터 세는 부분을 보겠습니다.</a:t>
            </a:r>
          </a:p>
          <a:p>
            <a:endParaRPr lang="ko-K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개수를 세는 부분입니다. 파이썬은 리스트를 뒤집었지만, 씨는 주석처럼 배열을 그대로 두고 뒤에서부터 봅니다. 카운트를 영으로 두고, 아이를 엔 빼기 일부터 영까지 하나씩 줄이며 돕니다. 뒤에서부터 보면 큰 단위부터 보는 것과 같습니다.</a:t>
            </a:r>
          </a:p>
          <a:p>
            <a:endParaRPr lang="ko-KR"/>
          </a:p>
          <a:p>
            <a:r>
              <a:rPr lang="ko-KR" altLang="en-US" dirty="0"/>
              <a:t>반복 안의 일은 파이썬과 같습니다. 케이가 코인스 아이 이상이면 케이를 코인스 아이로 나눈 몫을 카운트에 더하고, 나머지로 케이를 바꿉니다. 씨에서 정수끼리 나누면 몫만 남으므로 슬래시 하나로 충분합니다. 케이가 영이 되면 브레이크합니다.</a:t>
            </a:r>
          </a:p>
          <a:p>
            <a:endParaRPr lang="ko-KR"/>
          </a:p>
          <a:p>
            <a:r>
              <a:rPr lang="ko-KR" altLang="en-US" dirty="0"/>
              <a:t>입력 예에서는 오만, 만, 오천을 건너뛰고 천에서 네 개, 백에서 두 개를 세어 케이가 영이 됩니다. 반복을 마치면 프린트 에프로 카운트 육을 출력하고 영을 리턴합니다.</a:t>
            </a:r>
          </a:p>
          <a:p>
            <a:endParaRPr lang="ko-KR"/>
          </a:p>
          <a:p>
            <a:r>
              <a:rPr lang="ko-KR" altLang="en-US" dirty="0"/>
              <a:t>자주 하는 실수는 아이를 영부터 돌리는 것입니다. 그러면 일 원부터 보게 되어 일 원짜리 사천이백 개, 즉 사천이백이라는 답이 나옵니다. 실행 결과를 확인하겠습니다.</a:t>
            </a:r>
          </a:p>
          <a:p>
            <a:endParaRPr lang="ko-K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결과입니다. 왼쪽이 입력 파일입니다. 첫 줄 십, 사천이백은 동전이 열 종류이고 사천이백 원을 만들라는 뜻입니다. 그 아래 일 원부터 오만 원까지 열 줄이 오름차순으로 있습니다. 큰 단위가 늘 작은 단위의 배수이고 첫 동전이 일 원이라 문제의 조건을 지킵니다.</a:t>
            </a:r>
          </a:p>
          <a:p>
            <a:endParaRPr lang="ko-KR"/>
          </a:p>
          <a:p>
            <a:r>
              <a:rPr lang="ko-KR" altLang="en-US" dirty="0"/>
              <a:t>출력은 육입니다. 오른쪽 표로 과정을 확인하겠습니다. 큰 단위부터 보면 오만, 만, 오천은 사천이백보다 커서 몫이 영입니다. 천 원에서 몫이 사, 남은 금액이 이백입니다. 오백 원은 다시 몫이 영이고, 백 원에서 몫이 이가 되어 남은 금액이 영이 됩니다. 여기서 반복을 멈춥니다.</a:t>
            </a:r>
          </a:p>
          <a:p>
            <a:endParaRPr lang="ko-KR"/>
          </a:p>
          <a:p>
            <a:r>
              <a:rPr lang="ko-KR" altLang="en-US" dirty="0"/>
              <a:t>천 원 네 개와 백 원 두 개, 모두 여섯 개입니다. 배수 조건 덕분에 큰 동전부터 고른 이 결과가 그대로 최솟값입니다.</a:t>
            </a:r>
          </a:p>
          <a:p>
            <a:endParaRPr lang="ko-KR"/>
          </a:p>
          <a:p>
            <a:r>
              <a:rPr lang="ko-KR" altLang="en-US" dirty="0"/>
              <a:t>시간 복잡도는 오 엔입니다. 뒤집기가 오 엔이고, 동전을 한 번씩 보는 반복도 오 엔입니다. 금액 케이가 아무리 커도 반복 횟수는 늘지 않습니다. 다음 문제로 넘어가겠습니다.</a:t>
            </a:r>
          </a:p>
          <a:p>
            <a:endParaRPr lang="ko-K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문제는 에이티엠 줄 세우기입니다. 에이티엠이 한 대뿐이고 그 앞에 엔 명이 줄을 섭니다. 아이 번 사람이 돈을 뽑는 데 피 아이 분이 걸립니다. 줄 서는 순서를 정해서, 각 사람이 기다린 시간과 자기 인출 시간을 더한 값의 합을 가장 작게 만드는 문제입니다.</a:t>
            </a:r>
          </a:p>
          <a:p>
            <a:endParaRPr lang="ko-KR"/>
          </a:p>
          <a:p>
            <a:r>
              <a:rPr lang="ko-KR" altLang="en-US" dirty="0"/>
              <a:t>한 사람이 쓰는 시간을 따져 보겠습니다. 자기 앞에 선 사람들이 모두 인출을 마칠 때까지 기다리고, 그다음 자기 인출 시간이 걸립니다. 이 둘을 더하면 그 사람이 일을 마치는 시각과 같습니다. 그래서 구하는 값은 모든 사람이 일을 마치는 시각의 합입니다.</a:t>
            </a:r>
          </a:p>
          <a:p>
            <a:endParaRPr lang="ko-KR"/>
          </a:p>
          <a:p>
            <a:r>
              <a:rPr lang="ko-KR" altLang="en-US" dirty="0"/>
              <a:t>입력은 첫 줄에 사람 수 엔, 둘째 줄에 각 사람의 인출 시간입니다. 예를 들어 다섯 명이 삼, 일, 사, 삼, 이 분씩 걸리면 답은 삼십이입니다.</a:t>
            </a:r>
          </a:p>
          <a:p>
            <a:endParaRPr lang="ko-KR"/>
          </a:p>
          <a:p>
            <a:r>
              <a:rPr lang="ko-KR" altLang="en-US" dirty="0"/>
              <a:t>왜 순서가 중요할까요? 앞에 선 사람의 인출 시간은 뒤에 선 모든 사람의 기다림에 더해집니다. 오래 걸리는 사람이 앞에 서면 그 긴 시간이 여러 번 더해집니다. 다음 화면에서 입력 순서 그대로일 때와 정렬했을 때를 비교해 보겠습니다.</a:t>
            </a:r>
          </a:p>
          <a:p>
            <a:endParaRPr lang="ko-K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먼저 입력 순서 그대로 줄을 세워 보겠습니다. 인출 시간이 삼, 일, 사, 삼, 이입니다. 첫 사람은 삼 분에 마칩니다. 둘째는 삼 분 기다리고 일 분 걸려 사 분에 마칩니다. 셋째는 사 더하기 사로 팔, 넷째는 팔 더하기 삼으로 십일, 다섯째는 십일 더하기 이로 십삼에 마칩니다. 마치는 시각의 합은 삼십구입니다.</a:t>
            </a:r>
          </a:p>
          <a:p>
            <a:endParaRPr lang="ko-KR"/>
          </a:p>
          <a:p>
            <a:r>
              <a:rPr lang="ko-KR" altLang="en-US" dirty="0"/>
              <a:t>마치는 시각은 인출 시간을 앞에서부터 차례로 더해 간 누적합입니다. 앞사람이 마치는 시각에 자기 인출 시간을 더하면 됩니다.</a:t>
            </a:r>
          </a:p>
          <a:p>
            <a:endParaRPr lang="ko-KR"/>
          </a:p>
          <a:p>
            <a:r>
              <a:rPr lang="ko-KR" altLang="en-US" dirty="0"/>
              <a:t>이번에는 인출 시간이 짧은 사람부터, 즉 오름차순으로 세웁니다. 일, 이, 삼, 삼, 사입니다. 마치는 시각은 일, 삼, 육, 구, 십삼이고 합은 삼십이입니다. 같은 다섯 명인데 순서만 바꿔서 칠 분이 줄었습니다.</a:t>
            </a:r>
          </a:p>
          <a:p>
            <a:endParaRPr lang="ko-KR"/>
          </a:p>
          <a:p>
            <a:r>
              <a:rPr lang="ko-KR" altLang="en-US" dirty="0"/>
              <a:t>마지막 사람이 마치는 시각은 두 경우 모두 십삼으로 같습니다. 모든 사람의 인출 시간 합이니 순서와 관계없습니다. 차이는 그 앞 사람들이 마치는 시각에서 납니다. 짧은 사람을 앞에 세우면 앞쪽의 누적합이 작게 유지됩니다. 오름차순이 정말 최선인지는 다음 화면에서 교환 논증으로 확인하겠습니다.</a:t>
            </a:r>
          </a:p>
          <a:p>
            <a:endParaRPr lang="ko-K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오름차순이 최적이라는 것을 교환 논증으로 보이겠습니다. 줄 어딘가에 오래 걸리는 사람 에이가 짧은 사람 비 바로 앞에 서 있다고 하겠습니다. 두 사람 앞의 사람들이 모두 마친 시각을 티라고 둡니다.</a:t>
            </a:r>
          </a:p>
          <a:p>
            <a:endParaRPr lang="ko-KR"/>
          </a:p>
          <a:p>
            <a:r>
              <a:rPr lang="ko-KR" altLang="en-US" dirty="0"/>
              <a:t>바꾸기 전에는 에이가 티 더하기 에이에 마치고, 비는 티 더하기 에이 더하기 비에 마칩니다. 둘을 바꾸면 비가 티 더하기 비에 마치고, 에이는 티 더하기 비 더하기 에이에 마칩니다. 두 번째 사람이 마치는 시각은 같고, 첫 번째 사람의 시각만 에이에서 비로 바뀝니다. 그래서 합은 에이 빼기 비만큼 줄어듭니다.</a:t>
            </a:r>
          </a:p>
          <a:p>
            <a:endParaRPr lang="ko-KR"/>
          </a:p>
          <a:p>
            <a:r>
              <a:rPr lang="ko-KR" altLang="en-US" dirty="0"/>
              <a:t>화면의 예는 입력 순서의 앞 두 사람, 삼 분과 일 분입니다. 맨 앞이라 티는 영이지만, 줄 어디에 있든 계산은 같습니다. 바꾸기 전 합은 이 티 더하기 칠, 바꾼 뒤는 이 티 더하기 오로 이 분, 즉 삼 빼기 일만큼 줄었습니다. 두 사람 뒤의 사람들은 두 사람이 모두 끝난 시각부터 시작하므로 영향을 받지 않습니다.</a:t>
            </a:r>
          </a:p>
          <a:p>
            <a:endParaRPr lang="ko-KR"/>
          </a:p>
          <a:p>
            <a:r>
              <a:rPr lang="ko-KR" altLang="en-US" dirty="0"/>
              <a:t>어떤 순서든 긴 사람이 짧은 사람 바로 앞에 있는 곳이 있으면 바꿔서 합을 줄일 수 있습니다. 그런 곳이 하나도 없는 순서가 바로 오름차순이므로, 오름차순이 최적입니다. 시간이 같은 두 사람은 바꿔도 합이 같으니 어느 쪽이 앞이어도 됩니다. 이제 코드로 옮겨 보겠습니다.</a:t>
            </a:r>
          </a:p>
          <a:p>
            <a:endParaRPr lang="ko-K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파이썬 풀이입니다. 시스를 가져온 뒤, 입력 첫 줄에서 사람 수 엔을 읽고, 둘째 줄을 스플릿으로 나눠 맵 인트로 정수로 바꾼 뒤 리스트로 만들어 타임스에 담습니다. 입력 예라면 삼, 일, 사, 삼, 이입니다.</a:t>
            </a:r>
          </a:p>
          <a:p>
            <a:endParaRPr lang="ko-KR"/>
          </a:p>
          <a:p>
            <a:r>
              <a:rPr lang="ko-KR" altLang="en-US" dirty="0"/>
              <a:t>타임스 점 소트가 그리디의 핵심입니다. 인자 없이 부르면 오름차순으로 제자리 정렬합니다. 결과는 일, 이, 삼, 삼, 사입니다.</a:t>
            </a:r>
          </a:p>
          <a:p>
            <a:endParaRPr lang="ko-KR"/>
          </a:p>
          <a:p>
            <a:r>
              <a:rPr lang="ko-KR" altLang="en-US" dirty="0"/>
              <a:t>변수 두 개를 영으로 시작합니다. 커런트 섬은 지금 사람이 일을 마치는 시각이고, 토털 섬은 그 시각들의 합으로 답이 됩니다. 포 문에서 사람마다 커런트 섬에 자기 인출 시간을 더하고, 그 커런트 섬을 토털 섬에 더합니다. 누적합을 한 번 더 누적하는 구조입니다.</a:t>
            </a:r>
          </a:p>
          <a:p>
            <a:endParaRPr lang="ko-KR"/>
          </a:p>
          <a:p>
            <a:r>
              <a:rPr lang="ko-KR" altLang="en-US" dirty="0"/>
              <a:t>따라가 보면 커런트 섬은 일, 삼, 육, 구, 십삼이 되고, 토털 섬은 일, 사, 십, 십구, 삼십이가 됩니다. 마지막에 삼십이를 출력합니다.</a:t>
            </a:r>
          </a:p>
          <a:p>
            <a:endParaRPr lang="ko-KR"/>
          </a:p>
          <a:p>
            <a:r>
              <a:rPr lang="ko-KR" altLang="en-US" dirty="0"/>
              <a:t>자주 하는 실수는 토털 섬에 티를 더하는 것입니다. 그러면 인출 시간의 합 십삼만 나오고 기다린 시간이 빠집니다. 더해야 하는 값은 마치는 시각인 커런트 섬입니다. 씨 풀이로 넘어가겠습니다.</a:t>
            </a:r>
          </a:p>
          <a:p>
            <a:endParaRPr lang="ko-K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씨 풀이를 두 화면으로 나눴습니다. 먼저 비교 함수와 입력입니다. 스탠다드 아이오 점 에이치는 입출력을, 스탠다드 립 점 에이치는 큐 소트를 쓰기 위해 포함합니다.</a:t>
            </a:r>
          </a:p>
          <a:p>
            <a:endParaRPr lang="ko-KR"/>
          </a:p>
          <a:p>
            <a:r>
              <a:rPr lang="ko-KR" altLang="en-US" dirty="0"/>
              <a:t>어센딩은 큐 소트에 넘길 비교 함수입니다. 두 원소의 주소를 콘스트 보이드 포인터로 받습니다. 큐 소트는 어떤 자료형이든 정렬할 수 있게 만들어져서 이런 모양으로 받습니다. 큐 소트의 비교 함수는 첫 번째 값이 앞에 와야 하면 음수, 같으면 영, 뒤에 와야 하면 양수를 돌려줍니다. 어센딩은 인트 포인터로 바꾼 뒤 별표로 꺼낸 첫 값에서 둘째 값을 빼므로, 첫 값이 작을 때 음수가 되어 오름차순으로 정렬됩니다.</a:t>
            </a:r>
          </a:p>
          <a:p>
            <a:endParaRPr lang="ko-KR"/>
          </a:p>
          <a:p>
            <a:r>
              <a:rPr lang="ko-KR" altLang="en-US" dirty="0"/>
              <a:t>메인에서는 엔과 크기 천의 배열 타임스를 선언하고, 스캔 에프로 엔을 읽습니다. 읽지 못했거나 엔이 영보다 작거나 천보다 크면 리턴 일로 끝냅니다. 포 문으로 인출 시간 엔 개를 타임스에 차례로 읽습니다. 입력 예라면 엔은 오, 타임스는 삼, 일, 사, 삼, 이입니다.</a:t>
            </a:r>
          </a:p>
          <a:p>
            <a:endParaRPr lang="ko-KR"/>
          </a:p>
          <a:p>
            <a:r>
              <a:rPr lang="ko-KR" altLang="en-US" dirty="0"/>
              <a:t>자주 하는 실수는 비교 함수에서 빼는 순서를 거꾸로 쓰는 것입니다. 두 번째 값에서 첫 번째 값을 빼면 내림차순이 되어 오래 걸리는 사람부터 줄을 서게 됩니다. 다음 화면에서 정렬하고 합을 구하는 부분을 보겠습니다.</a:t>
            </a:r>
          </a:p>
          <a:p>
            <a:endParaRPr lang="ko-K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이어서 정렬과 합입니다. 두 줄의 주석이 그리디의 핵심입니다. 오름차순으로 정렬하고, 짧게 걸리는 사람이 앞에 서야 뒷사람의 대기가 줄어든다는 뜻입니다.</a:t>
            </a:r>
          </a:p>
          <a:p>
            <a:endParaRPr lang="ko-KR"/>
          </a:p>
          <a:p>
            <a:r>
              <a:rPr lang="ko-KR" altLang="en-US" dirty="0"/>
              <a:t>큐 소트에는 배열 타임스, 원소 개수 엔, 원소 하나의 크기, 비교 함수 어센딩을 차례로 넘깁니다. 원소 크기는 사이즈오브 인트로 구합니다. 정렬이 끝나면 타임스는 일, 이, 삼, 삼, 사입니다.</a:t>
            </a:r>
          </a:p>
          <a:p>
            <a:endParaRPr lang="ko-KR"/>
          </a:p>
          <a:p>
            <a:r>
              <a:rPr lang="ko-KR" altLang="en-US" dirty="0"/>
              <a:t>토털 섬은 모든 사람의 소요 시간 합으로 정답이 되고, 커런트 섬은 지금 사람까지의 누적 시간, 즉 그 사람이 일을 마치는 시각입니다. 둘 다 영에서 시작합니다. 포 문에서 사람마다 커런트 섬에 타임스 아이를 더하고, 그 커런트 섬을 토털 섬에 더합니다. 파이썬과 똑같이 누적합을 한 번 더 누적하는 구조입니다.</a:t>
            </a:r>
          </a:p>
          <a:p>
            <a:endParaRPr lang="ko-KR"/>
          </a:p>
          <a:p>
            <a:r>
              <a:rPr lang="ko-KR" altLang="en-US" dirty="0"/>
              <a:t>따라가 보면 커런트 섬은 일, 삼, 육, 구, 십삼, 토털 섬은 일, 사, 십, 십구, 삼십이가 됩니다. 마지막에 프린트 에프로 삼십이를 출력하고 영을 리턴합니다. 자주 하는 실수는 큐 소트의 세 번째 인자에 배열 전체의 크기를 넣는 것입니다. 원소 하나의 크기, 사이즈오브 인트여야 합니다. 실행 결과를 보겠습니다.</a:t>
            </a:r>
          </a:p>
          <a:p>
            <a:endParaRPr lang="ko-K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실행 결과입니다. 입력 파일 첫 줄의 오는 사람 수이고, 둘째 줄의 삼, 일, 사, 삼, 이가 인출 시간입니다. 출력은 삼십이입니다. 앞에서 손으로 계산한 일, 삼, 육, 구, 십삼의 합과 같습니다. 파이썬은 리스트의 소트, 씨는 큐 소트로 정렬했지만 출력은 같습니다. 정렬 줄을 빼고 입력 순서대로 더하면 삼십구가 나와 오답이 됩니다.</a:t>
            </a:r>
          </a:p>
          <a:p>
            <a:endParaRPr lang="ko-KR"/>
          </a:p>
          <a:p>
            <a:r>
              <a:rPr lang="ko-KR" altLang="en-US" dirty="0"/>
              <a:t>시간 복잡도를 보겠습니다. 정렬이 오 엔 로그 엔이고, 정렬한 뒤 한 번 훑으며 누적합을 더하는 반복은 오 엔입니다. 더 큰 쪽인 정렬이 전체 시간을 정하므로 오 엔 로그 엔입니다.</a:t>
            </a:r>
          </a:p>
          <a:p>
            <a:endParaRPr lang="ko-KR"/>
          </a:p>
          <a:p>
            <a:r>
              <a:rPr lang="ko-KR" altLang="en-US" dirty="0"/>
              <a:t>두 문제를 돌아보면 풀이의 모양이 같습니다. 동전 내주기는 큰 동전부터, 에이티엠은 짧은 사람부터라는 기준을 정했습니다. 그리고 그 기준이 왜 안전한지를 배수 조건과 교환 논증으로 확인했습니다. 코딩 테스트에서 그리디를 쓸 때도 이 순서를 지키면 됩니다. 이제 오 장 전체를 정리하겠습니다.</a:t>
            </a:r>
          </a:p>
          <a:p>
            <a:endParaRPr lang="ko-K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 장을 정리하겠습니다. 첫째, 그리디는 매 단계 지금 기준으로 가장 좋아 보이는 것을 확정하고 번복하지 않습니다. 선택, 적정성 검사, 해답 검사를 해답이 될 때까지 반복합니다. 되돌아보지 않으니 빠르지만, 그래서 틀릴 수도 있습니다.</a:t>
            </a:r>
          </a:p>
          <a:p>
            <a:endParaRPr lang="ko-KR"/>
          </a:p>
          <a:p>
            <a:r>
              <a:rPr lang="ko-KR" altLang="en-US" dirty="0"/>
              <a:t>둘째, 그리디가 최적을 보장하려면 탐욕적 선택 속성과 최적 부분 구조가 필요합니다. 탐욕적 선택 속성은 지금 고른 선택을 포함하는 최적해가 있다는 뜻이고, 보통 교환 논증으로 보입니다. 반대로 항상 최적이라는 주장을 반박할 때는 반례 하나면 충분합니다.</a:t>
            </a:r>
          </a:p>
          <a:p>
            <a:endParaRPr lang="ko-KR"/>
          </a:p>
          <a:p>
            <a:r>
              <a:rPr lang="ko-KR" altLang="en-US" dirty="0"/>
              <a:t>셋째, 많은 그리디 문제에서 정렬 기준이 곧 전략이었습니다. 방향까지 기억하세요. 활동 선택은 종료가 빠른 순, 쪼갤 수 있는 배낭은 가성비가 큰 순, 크루스칼은 가중치가 작은 순, 에이티엠은 인출 시간이 짧은 순이었습니다.</a:t>
            </a:r>
          </a:p>
          <a:p>
            <a:endParaRPr lang="ko-KR"/>
          </a:p>
          <a:p>
            <a:r>
              <a:rPr lang="ko-KR" altLang="en-US" dirty="0"/>
              <a:t>넷째와 다섯째는 조건까지 함께 기억하세요. 배수 조건을 만족하는 거스름돈, 활동 선택, 쪼갤 수 있는 배낭, 크루스칼, 그리고 간선 비용이 모두 영 이상일 때의 다익스트라는 최적을 보장합니다. 사백 원이나 일, 삼, 사 원 동전, 영 일 배낭, 티에스피의 가장 가까운 이웃, 음수 간선이 있는 다익스트라는 보장하지 못합니다.</a:t>
            </a:r>
          </a:p>
          <a:p>
            <a:endParaRPr lang="ko-KR"/>
          </a:p>
          <a:p>
            <a:r>
              <a:rPr lang="ko-KR" altLang="en-US" dirty="0"/>
              <a:t>마지막으로 그리디가 보장하지 못한 영 일 배낭, 사백 원 동전, 티에스피는 남은 용량이나 남은 금액, 방문한 도시 집합 같은 상태를 기억하면 육 장 동적 계획법으로 정확한 답을 구할 수 있습니다. 다만 티에스피는 그래도 도시 수에 대해 지수 시간이 걸립니다. 다음 화면에서 이 장의 파이썬과 씨 코드가 어떻게 대응하는지 정리하겠습니다.</a:t>
            </a:r>
          </a:p>
          <a:p>
            <a:endParaRPr lang="ko-K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 장에서는 같은 알고리즘을 파이썬과 씨로 나란히 썼습니다. 두 언어에서 자주 바뀌는 부분을 표로 모았습니다.</a:t>
            </a:r>
          </a:p>
          <a:p>
            <a:endParaRPr lang="ko-KR"/>
          </a:p>
          <a:p>
            <a:r>
              <a:rPr lang="ko-KR" altLang="en-US" dirty="0"/>
              <a:t>정렬은 파이썬이 리스트의 소트 메서드 하나로 끝납니다. 키로 기준을, 리버스 트루로 내림차순을 정합니다. 씨는 큐 소트에 배열, 개수, 원소 크기, 비교 함수를 넘깁니다. 비교 함수는 첫 번째 값이 앞에 와야 하면 음수, 같으면 영, 뒤에 와야 하면 양수를 돌려줍니다. 오름차순이면 앞 값이 작을 때 음수이고, 배낭의 바이 레이쇼처럼 내림차순이면 반대입니다. 이미 오름차순인 입력을 큰 것부터 볼 때는 파이썬은 리버스로 뒤집고, 씨는 뒤에서부터 반복합니다.</a:t>
            </a:r>
          </a:p>
          <a:p>
            <a:endParaRPr lang="ko-KR"/>
          </a:p>
          <a:p>
            <a:r>
              <a:rPr lang="ko-KR" altLang="en-US" dirty="0"/>
              <a:t>무한대는 파이썬의 플로트 인프 대신 씨에서는 인트 맥스를 씁니다. 진짜 무한대가 아니라 인트가 담을 수 있는 가장 큰 정수라서, 여기에 무언가를 더하면 넘친다는 점을 조심해야 합니다.</a:t>
            </a:r>
          </a:p>
          <a:p>
            <a:endParaRPr lang="ko-KR"/>
          </a:p>
          <a:p>
            <a:r>
              <a:rPr lang="ko-KR" altLang="en-US" dirty="0"/>
              <a:t>최솟값 꺼내기는 파이썬이 힙 큐를 쓰고, 씨는 표준 라이브러리에 힙이 없어 배열을 훑었습니다. 다익스트라의 시간 복잡도가 오 이 로그 브이와 오 브이 제곱으로 갈린 이유입니다. 묶음 자료는 파이썬의 클래스나 튜플이 씨의 스트럭트에 대응합니다.</a:t>
            </a:r>
          </a:p>
          <a:p>
            <a:endParaRPr lang="ko-KR"/>
          </a:p>
          <a:p>
            <a:r>
              <a:rPr lang="ko-KR" altLang="en-US" dirty="0"/>
              <a:t>다익스트라의 그래프는 파이썬에서 딕셔너리로 인접 리스트를 만들었고, 씨에서는 이차원 배열로 인접 행렬을 만들었습니다. 티에스피는 파이썬도 이차원 리스트로 인접 행렬을 썼습니다. 입력은 시스 점 에스티디인 점 리드라인과 스캔 에프가 대응하고, 몫은 파이썬의 슬래시 두 개와 씨의 슬래시 하나가 대응합니다. 씨에서 정수끼리 나누면 몫만 남기 때문입니다. 이제 질문을 받고 이 장을 마치겠습니다.</a:t>
            </a:r>
          </a:p>
          <a:p>
            <a:endParaRPr lang="ko-K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여기까지 그리디 알고리즘을 마치겠습니다. 스스로 확인할 질문은 두 가지입니다. 지금 기준으로 고른 첫 선택을 포함하는 최적해가 있다고 설명할 수 있나요? 그리고 그 기준이 틀리는 반례를 하나 만들 수 있나요?</a:t>
            </a:r>
          </a:p>
          <a:p>
            <a:endParaRPr lang="ko-KR"/>
          </a:p>
          <a:p>
            <a:r>
              <a:rPr lang="ko-KR" altLang="en-US" dirty="0"/>
              <a:t>막히는 예제가 있다면 동전 세 개, 회의 세 개, 도시 네 개처럼 작은 입력으로 손으로 따라가 보세요. 다음 장에서는 그리디가 놓친 영 일 배낭을 표를 채워 정확히 푸는 동적 계획법을 배우겠습니다.</a:t>
            </a:r>
          </a:p>
          <a:p>
            <a:endParaRPr lang="ko-K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9971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Img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Img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Img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Img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Img1"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Img1" Type="http://schemas.openxmlformats.org/officeDocument/2006/relationships/image" Target="../media/image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Img1" Type="http://schemas.openxmlformats.org/officeDocument/2006/relationships/image" Target="../media/image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Img1" Type="http://schemas.openxmlformats.org/officeDocument/2006/relationships/image" Target="../media/image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Img1" Type="http://schemas.openxmlformats.org/officeDocument/2006/relationships/image" Target="../media/image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Img1" Type="http://schemas.openxmlformats.org/officeDocument/2006/relationships/image" Target="../media/image1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Img1" Type="http://schemas.openxmlformats.org/officeDocument/2006/relationships/image" Target="../media/image1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512064"/>
            <a:ext cx="9528048"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200" b="0" dirty="0">
                <a:solidFill>
                  <a:srgbClr val="BBBBBB"/>
                </a:solidFill>
                <a:latin typeface="Malgun Gothic"/>
                <a:ea typeface="Malgun Gothic"/>
                <a:cs typeface="Malgun Gothic"/>
              </a:rPr>
              <a:t>그림으로 쉽게 설명하는 파이썬 알고리즘</a:t>
            </a:r>
          </a:p>
        </p:txBody>
      </p:sp>
      <p:sp>
        <p:nvSpPr>
          <p:cNvPr id="3" name="직사각형 4"/>
          <p:cNvSpPr/>
          <p:nvPr/>
        </p:nvSpPr>
        <p:spPr>
          <a:xfrm>
            <a:off x="612648" y="1060704"/>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4" name="직사각형 5"/>
          <p:cNvSpPr/>
          <p:nvPr/>
        </p:nvSpPr>
        <p:spPr>
          <a:xfrm>
            <a:off x="612648" y="1947672"/>
            <a:ext cx="10003536" cy="822960"/>
          </a:xfrm>
          <a:prstGeom prst="rect">
            <a:avLst/>
          </a:prstGeom>
          <a:noFill/>
          <a:ln w="0">
            <a:noFill/>
          </a:ln>
        </p:spPr>
        <p:txBody>
          <a:bodyPr wrap="square" lIns="0" tIns="0" rIns="0" bIns="0" anchor="t">
            <a:noAutofit/>
          </a:bodyPr>
          <a:lstStyle/>
          <a:p>
            <a:pPr algn="l" eaLnBrk="0" latinLnBrk="0">
              <a:lnSpc>
                <a:spcPct val="100000"/>
              </a:lnSpc>
              <a:buNone/>
            </a:pPr>
            <a:r>
              <a:rPr lang="ko-KR" altLang="en-US" sz="5100" b="1" dirty="0">
                <a:solidFill>
                  <a:srgbClr val="FFFFFF"/>
                </a:solidFill>
                <a:latin typeface="Malgun Gothic"/>
                <a:ea typeface="Malgun Gothic"/>
                <a:cs typeface="Malgun Gothic"/>
              </a:rPr>
              <a:t>5장</a:t>
            </a:r>
          </a:p>
        </p:txBody>
      </p:sp>
      <p:sp>
        <p:nvSpPr>
          <p:cNvPr id="5" name="직사각형 6"/>
          <p:cNvSpPr/>
          <p:nvPr/>
        </p:nvSpPr>
        <p:spPr>
          <a:xfrm>
            <a:off x="612648" y="3108960"/>
            <a:ext cx="10972800" cy="950976"/>
          </a:xfrm>
          <a:prstGeom prst="rect">
            <a:avLst/>
          </a:prstGeom>
          <a:noFill/>
          <a:ln w="0">
            <a:noFill/>
          </a:ln>
        </p:spPr>
        <p:txBody>
          <a:bodyPr wrap="square" lIns="0" tIns="0" rIns="0" bIns="0" anchor="t">
            <a:noAutofit/>
          </a:bodyPr>
          <a:lstStyle/>
          <a:p>
            <a:pPr algn="l" eaLnBrk="0" latinLnBrk="0">
              <a:lnSpc>
                <a:spcPct val="100000"/>
              </a:lnSpc>
              <a:buNone/>
            </a:pPr>
            <a:r>
              <a:rPr lang="ko-KR" altLang="en-US" sz="5100" b="1" dirty="0">
                <a:solidFill>
                  <a:srgbClr val="FFFFFF"/>
                </a:solidFill>
                <a:latin typeface="Malgun Gothic"/>
                <a:ea typeface="Malgun Gothic"/>
                <a:cs typeface="Malgun Gothic"/>
              </a:rPr>
              <a:t>그리디 알고리즘</a:t>
            </a:r>
          </a:p>
        </p:txBody>
      </p:sp>
      <p:sp>
        <p:nvSpPr>
          <p:cNvPr id="6" name="직사각형 7"/>
          <p:cNvSpPr/>
          <p:nvPr/>
        </p:nvSpPr>
        <p:spPr>
          <a:xfrm>
            <a:off x="649224" y="4645152"/>
            <a:ext cx="102870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1875" b="0" dirty="0">
                <a:solidFill>
                  <a:srgbClr val="BBBBBB"/>
                </a:solidFill>
                <a:latin typeface="Consolas"/>
                <a:ea typeface="Consolas"/>
                <a:cs typeface="Consolas"/>
              </a:rPr>
              <a:t>GREEDY ALGORITHM</a:t>
            </a:r>
          </a:p>
        </p:txBody>
      </p:sp>
      <p:sp>
        <p:nvSpPr>
          <p:cNvPr id="7" name="직사각형 8"/>
          <p:cNvSpPr/>
          <p:nvPr/>
        </p:nvSpPr>
        <p:spPr>
          <a:xfrm>
            <a:off x="649224" y="5294376"/>
            <a:ext cx="10479024" cy="630936"/>
          </a:xfrm>
          <a:prstGeom prst="rect">
            <a:avLst/>
          </a:prstGeom>
          <a:noFill/>
          <a:ln w="0">
            <a:noFill/>
          </a:ln>
        </p:spPr>
        <p:txBody>
          <a:bodyPr wrap="square" lIns="0" tIns="0" rIns="0" bIns="0" anchor="t">
            <a:noAutofit/>
          </a:bodyPr>
          <a:lstStyle/>
          <a:p>
            <a:pPr algn="l" eaLnBrk="0" latinLnBrk="0">
              <a:lnSpc>
                <a:spcPct val="100000"/>
              </a:lnSpc>
              <a:buNone/>
            </a:pPr>
            <a:r>
              <a:rPr lang="ko-KR" altLang="en-US" sz="1575" b="0" dirty="0">
                <a:solidFill>
                  <a:srgbClr val="BBBBBB"/>
                </a:solidFill>
                <a:latin typeface="Malgun Gothic"/>
                <a:ea typeface="Malgun Gothic"/>
                <a:cs typeface="Malgun Gothic"/>
              </a:rPr>
              <a:t>지금 이 순간 가장 좋아 보이는 것을 고른다</a:t>
            </a:r>
          </a:p>
        </p:txBody>
      </p:sp>
      <p:sp>
        <p:nvSpPr>
          <p:cNvPr id="8" name="직사각형 9"/>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9" name="직사각형 10"/>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10" name="직사각형 11"/>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577072"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CHAPTER 05</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이번 장에서 배울 내용</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a:t>
            </a:r>
          </a:p>
        </p:txBody>
      </p:sp>
      <p:sp>
        <p:nvSpPr>
          <p:cNvPr id="9" name="직사각형 10"/>
          <p:cNvSpPr/>
          <p:nvPr/>
        </p:nvSpPr>
        <p:spPr>
          <a:xfrm>
            <a:off x="704088" y="1783080"/>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5.1   그리디의 기본</a:t>
            </a:r>
          </a:p>
        </p:txBody>
      </p:sp>
      <p:sp>
        <p:nvSpPr>
          <p:cNvPr id="10" name="직사각형 11"/>
          <p:cNvSpPr/>
          <p:nvPr/>
        </p:nvSpPr>
        <p:spPr>
          <a:xfrm>
            <a:off x="704088" y="2679192"/>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5.2   거스름돈 문제</a:t>
            </a:r>
          </a:p>
        </p:txBody>
      </p:sp>
      <p:sp>
        <p:nvSpPr>
          <p:cNvPr id="11" name="직사각형 12"/>
          <p:cNvSpPr/>
          <p:nvPr/>
        </p:nvSpPr>
        <p:spPr>
          <a:xfrm>
            <a:off x="704088" y="3575304"/>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5.3   활동 선택 문제</a:t>
            </a:r>
          </a:p>
        </p:txBody>
      </p:sp>
      <p:sp>
        <p:nvSpPr>
          <p:cNvPr id="12" name="직사각형 13"/>
          <p:cNvSpPr/>
          <p:nvPr/>
        </p:nvSpPr>
        <p:spPr>
          <a:xfrm>
            <a:off x="704088" y="4471416"/>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5.4   배낭 문제</a:t>
            </a:r>
          </a:p>
        </p:txBody>
      </p:sp>
      <p:sp>
        <p:nvSpPr>
          <p:cNvPr id="13" name="직사각형 14"/>
          <p:cNvSpPr/>
          <p:nvPr/>
        </p:nvSpPr>
        <p:spPr>
          <a:xfrm>
            <a:off x="704088" y="5367528"/>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5.5   그리디가 통하는 조건</a:t>
            </a:r>
          </a:p>
        </p:txBody>
      </p:sp>
      <p:sp>
        <p:nvSpPr>
          <p:cNvPr id="14" name="직사각형 15"/>
          <p:cNvSpPr/>
          <p:nvPr/>
        </p:nvSpPr>
        <p:spPr>
          <a:xfrm>
            <a:off x="6345936" y="1783080"/>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5.6   크루스칼 알고리즘</a:t>
            </a:r>
          </a:p>
        </p:txBody>
      </p:sp>
      <p:sp>
        <p:nvSpPr>
          <p:cNvPr id="15" name="직사각형 16"/>
          <p:cNvSpPr/>
          <p:nvPr/>
        </p:nvSpPr>
        <p:spPr>
          <a:xfrm>
            <a:off x="6345936" y="2679192"/>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5.7   TSP와 그리디</a:t>
            </a:r>
          </a:p>
        </p:txBody>
      </p:sp>
      <p:sp>
        <p:nvSpPr>
          <p:cNvPr id="16" name="직사각형 17"/>
          <p:cNvSpPr/>
          <p:nvPr/>
        </p:nvSpPr>
        <p:spPr>
          <a:xfrm>
            <a:off x="6345936" y="3575304"/>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5.8   다익스트라 알고리즘</a:t>
            </a:r>
          </a:p>
        </p:txBody>
      </p:sp>
      <p:sp>
        <p:nvSpPr>
          <p:cNvPr id="17" name="직사각형 18"/>
          <p:cNvSpPr/>
          <p:nvPr/>
        </p:nvSpPr>
        <p:spPr>
          <a:xfrm>
            <a:off x="6345936" y="4471416"/>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5.9   코딩 테스트 예제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3</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5.1</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그리디의 기본</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"눈앞의 마시멜로 하나를 지금 먹을 것인가,</a:t>
            </a:r>
          </a:p>
          <a:p>
            <a:pPr algn="l" eaLnBrk="0" latinLnBrk="0">
              <a:lnSpc>
                <a:spcPct val="110000"/>
              </a:lnSpc>
              <a:buNone/>
            </a:pPr>
            <a:r>
              <a:rPr lang="ko-KR" altLang="en-US" sz="1800" b="0" dirty="0">
                <a:solidFill>
                  <a:srgbClr val="BBBBBB"/>
                </a:solidFill>
                <a:latin typeface="Malgun Gothic"/>
                <a:ea typeface="Malgun Gothic"/>
                <a:cs typeface="Malgun Gothic"/>
              </a:rPr>
              <a:t>15분을 기다려 두 개를 먹을 것인가?"</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 지금 가장 좋아 보이는 것을 고른다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a:t>
            </a:r>
          </a:p>
        </p:txBody>
      </p:sp>
      <p:sp>
        <p:nvSpPr>
          <p:cNvPr id="9" name="fit:a1496bebe5272e4c 10"/>
          <p:cNvSpPr/>
          <p:nvPr/>
        </p:nvSpPr>
        <p:spPr>
          <a:xfrm>
            <a:off x="658368" y="1737360"/>
            <a:ext cx="5486400" cy="832104"/>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0" dirty="0">
                <a:solidFill>
                  <a:srgbClr val="171717"/>
                </a:solidFill>
                <a:latin typeface="Malgun Gothic"/>
                <a:ea typeface="Malgun Gothic"/>
                <a:cs typeface="Malgun Gothic"/>
              </a:rPr>
              <a:t>그리디(greedy)는 '탐욕스러운'이라는 뜻입니다.</a:t>
            </a:r>
          </a:p>
          <a:p>
            <a:pPr algn="l" eaLnBrk="0" latinLnBrk="0">
              <a:lnSpc>
                <a:spcPct val="105000"/>
              </a:lnSpc>
              <a:buNone/>
            </a:pPr>
            <a:r>
              <a:rPr lang="ko-KR" altLang="en-US" sz="1700" b="0" dirty="0">
                <a:solidFill>
                  <a:srgbClr val="171717"/>
                </a:solidFill>
                <a:latin typeface="Malgun Gothic"/>
                <a:ea typeface="Malgun Gothic"/>
                <a:cs typeface="Malgun Gothic"/>
              </a:rPr>
              <a:t>매 단계 지금 기준으로</a:t>
            </a:r>
          </a:p>
          <a:p>
            <a:pPr algn="l" eaLnBrk="0" latinLnBrk="0">
              <a:lnSpc>
                <a:spcPct val="105000"/>
              </a:lnSpc>
              <a:buNone/>
            </a:pPr>
            <a:r>
              <a:rPr lang="ko-KR" altLang="en-US" sz="1700" b="0" dirty="0">
                <a:solidFill>
                  <a:srgbClr val="171717"/>
                </a:solidFill>
                <a:latin typeface="Malgun Gothic"/>
                <a:ea typeface="Malgun Gothic"/>
                <a:cs typeface="Malgun Gothic"/>
              </a:rPr>
              <a:t>가장 좋아 보이는 것을 고릅니다.</a:t>
            </a:r>
          </a:p>
        </p:txBody>
      </p:sp>
      <p:sp>
        <p:nvSpPr>
          <p:cNvPr id="10" name="fit:80a13a6f057dd471 11"/>
          <p:cNvSpPr/>
          <p:nvPr/>
        </p:nvSpPr>
        <p:spPr>
          <a:xfrm>
            <a:off x="658368" y="2697480"/>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후보를 다 알아도 지금 기준 하나로</a:t>
            </a:r>
          </a:p>
        </p:txBody>
      </p:sp>
      <p:sp>
        <p:nvSpPr>
          <p:cNvPr id="11" name="fit:3bf9a7125ac4dd87 12"/>
          <p:cNvSpPr/>
          <p:nvPr/>
        </p:nvSpPr>
        <p:spPr>
          <a:xfrm>
            <a:off x="841248" y="3017520"/>
            <a:ext cx="530352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앞을 못 봐서 틀리는 것이 아닙니다.</a:t>
            </a:r>
          </a:p>
          <a:p>
            <a:pPr algn="l" eaLnBrk="0" latinLnBrk="0">
              <a:lnSpc>
                <a:spcPct val="105000"/>
              </a:lnSpc>
              <a:buNone/>
            </a:pPr>
            <a:r>
              <a:rPr lang="ko-KR" altLang="en-US" sz="1500" b="0" dirty="0">
                <a:solidFill>
                  <a:srgbClr val="3F3F3F"/>
                </a:solidFill>
                <a:latin typeface="Malgun Gothic"/>
                <a:ea typeface="Malgun Gothic"/>
                <a:cs typeface="Malgun Gothic"/>
              </a:rPr>
              <a:t>정해 둔 기준으로만 고르기 때문입니다.</a:t>
            </a:r>
          </a:p>
        </p:txBody>
      </p:sp>
      <p:sp>
        <p:nvSpPr>
          <p:cNvPr id="12" name="fit:9195ac6c7d213c21 13"/>
          <p:cNvSpPr/>
          <p:nvPr/>
        </p:nvSpPr>
        <p:spPr>
          <a:xfrm>
            <a:off x="658368" y="3630168"/>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고른 것은 확정, 되돌리지 않음</a:t>
            </a:r>
          </a:p>
        </p:txBody>
      </p:sp>
      <p:sp>
        <p:nvSpPr>
          <p:cNvPr id="13" name="fit:ad44fa369eba5c64 14"/>
          <p:cNvSpPr/>
          <p:nvPr/>
        </p:nvSpPr>
        <p:spPr>
          <a:xfrm>
            <a:off x="841248" y="3950208"/>
            <a:ext cx="530352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앞의 선택을 다시 검토하는 단계가 없습니다.</a:t>
            </a:r>
          </a:p>
        </p:txBody>
      </p:sp>
      <p:sp>
        <p:nvSpPr>
          <p:cNvPr id="14" name="fit:da5a8269f8ca6a31 15"/>
          <p:cNvSpPr/>
          <p:nvPr/>
        </p:nvSpPr>
        <p:spPr>
          <a:xfrm>
            <a:off x="658368" y="4325112"/>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완성 해를 모두 비교하지 않음</a:t>
            </a:r>
          </a:p>
        </p:txBody>
      </p:sp>
      <p:sp>
        <p:nvSpPr>
          <p:cNvPr id="15" name="fit:07e0c522ae702a04 16"/>
          <p:cNvSpPr/>
          <p:nvPr/>
        </p:nvSpPr>
        <p:spPr>
          <a:xfrm>
            <a:off x="841248" y="4645152"/>
            <a:ext cx="530352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모든 해를 만들어 비교하는 것은 완전탐색입니다.</a:t>
            </a:r>
          </a:p>
        </p:txBody>
      </p:sp>
      <p:sp>
        <p:nvSpPr>
          <p:cNvPr id="16" name="fit:b5070a5f4d9281a1 17"/>
          <p:cNvSpPr/>
          <p:nvPr/>
        </p:nvSpPr>
        <p:spPr>
          <a:xfrm>
            <a:off x="658368" y="5020056"/>
            <a:ext cx="5486400"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되돌아보지 않아서 빠르고,</a:t>
            </a:r>
          </a:p>
          <a:p>
            <a:pPr algn="l" eaLnBrk="0" latinLnBrk="0">
              <a:lnSpc>
                <a:spcPct val="100000"/>
              </a:lnSpc>
              <a:buNone/>
            </a:pPr>
            <a:r>
              <a:rPr lang="ko-KR" altLang="en-US" sz="2000" b="1" dirty="0">
                <a:solidFill>
                  <a:srgbClr val="0E8A7D"/>
                </a:solidFill>
                <a:latin typeface="Malgun Gothic"/>
                <a:ea typeface="Malgun Gothic"/>
                <a:cs typeface="Malgun Gothic"/>
              </a:rPr>
              <a:t>그래서 틀릴 수도 있습니다.</a:t>
            </a:r>
          </a:p>
        </p:txBody>
      </p:sp>
      <p:pic>
        <p:nvPicPr>
          <p:cNvPr id="17" name="그림 18"/>
          <p:cNvPicPr>
            <a:picLocks noChangeAspect="1"/>
          </p:cNvPicPr>
          <p:nvPr/>
        </p:nvPicPr>
        <p:blipFill>
          <a:blip r:embed="rIdImg1"/>
          <a:stretch>
            <a:fillRect/>
          </a:stretch>
        </p:blipFill>
        <p:spPr>
          <a:xfrm>
            <a:off x="6492240" y="2541733"/>
            <a:ext cx="5093208" cy="2780374"/>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손님은 '지금 맛있어 보이는 것' 기준 하나로 접시를 채웠고, 내려놓지 않아 스테이크 자리가 없습니다.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지역 최적해와 전역 최적해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a:t>
            </a:r>
          </a:p>
        </p:txBody>
      </p:sp>
      <p:sp>
        <p:nvSpPr>
          <p:cNvPr id="9" name="fit:e52a6272df213d3a 10"/>
          <p:cNvSpPr/>
          <p:nvPr/>
        </p:nvSpPr>
        <p:spPr>
          <a:xfrm>
            <a:off x="658368" y="1737360"/>
            <a:ext cx="5486400" cy="886968"/>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안개 낀 산에서 가장 높은 봉우리를 찾습니다.</a:t>
            </a:r>
          </a:p>
          <a:p>
            <a:pPr algn="l" eaLnBrk="0" latinLnBrk="0">
              <a:lnSpc>
                <a:spcPct val="105000"/>
              </a:lnSpc>
              <a:buNone/>
            </a:pPr>
            <a:r>
              <a:rPr lang="ko-KR" altLang="en-US" sz="1800" b="0" dirty="0">
                <a:solidFill>
                  <a:srgbClr val="171717"/>
                </a:solidFill>
                <a:latin typeface="Malgun Gothic"/>
                <a:ea typeface="Malgun Gothic"/>
                <a:cs typeface="Malgun Gothic"/>
              </a:rPr>
              <a:t>가장 단순한 전략은 지금보다 높은 쪽으로</a:t>
            </a:r>
          </a:p>
          <a:p>
            <a:pPr algn="l" eaLnBrk="0" latinLnBrk="0">
              <a:lnSpc>
                <a:spcPct val="105000"/>
              </a:lnSpc>
              <a:buNone/>
            </a:pPr>
            <a:r>
              <a:rPr lang="ko-KR" altLang="en-US" sz="1800" b="0" dirty="0">
                <a:solidFill>
                  <a:srgbClr val="171717"/>
                </a:solidFill>
                <a:latin typeface="Malgun Gothic"/>
                <a:ea typeface="Malgun Gothic"/>
                <a:cs typeface="Malgun Gothic"/>
              </a:rPr>
              <a:t>한 걸음씩 오르는 것입니다.</a:t>
            </a:r>
          </a:p>
        </p:txBody>
      </p:sp>
      <p:sp>
        <p:nvSpPr>
          <p:cNvPr id="10" name="fit:1ffb0753febadcf7 11"/>
          <p:cNvSpPr/>
          <p:nvPr/>
        </p:nvSpPr>
        <p:spPr>
          <a:xfrm>
            <a:off x="658368" y="2752344"/>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지역 최적해 (local optimum)</a:t>
            </a:r>
          </a:p>
        </p:txBody>
      </p:sp>
      <p:sp>
        <p:nvSpPr>
          <p:cNvPr id="11" name="fit:37d53c5920ddf598 12"/>
          <p:cNvSpPr/>
          <p:nvPr/>
        </p:nvSpPr>
        <p:spPr>
          <a:xfrm>
            <a:off x="841248" y="3072384"/>
            <a:ext cx="530352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주변 어디보다 높은 곳.</a:t>
            </a:r>
          </a:p>
          <a:p>
            <a:pPr algn="l" eaLnBrk="0" latinLnBrk="0">
              <a:lnSpc>
                <a:spcPct val="105000"/>
              </a:lnSpc>
              <a:buNone/>
            </a:pPr>
            <a:r>
              <a:rPr lang="ko-KR" altLang="en-US" sz="1500" b="0" dirty="0">
                <a:solidFill>
                  <a:srgbClr val="3F3F3F"/>
                </a:solidFill>
                <a:latin typeface="Malgun Gothic"/>
                <a:ea typeface="Malgun Gothic"/>
                <a:cs typeface="Malgun Gothic"/>
              </a:rPr>
              <a:t>작은 언덕 꼭대기일 수 있습니다.</a:t>
            </a:r>
          </a:p>
        </p:txBody>
      </p:sp>
      <p:sp>
        <p:nvSpPr>
          <p:cNvPr id="12" name="fit:42d16cd441148ff5 13"/>
          <p:cNvSpPr/>
          <p:nvPr/>
        </p:nvSpPr>
        <p:spPr>
          <a:xfrm>
            <a:off x="658368" y="3685032"/>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전역 최적해 (global optimum)</a:t>
            </a:r>
          </a:p>
        </p:txBody>
      </p:sp>
      <p:sp>
        <p:nvSpPr>
          <p:cNvPr id="13" name="fit:3f95fb199cdd495e 14"/>
          <p:cNvSpPr/>
          <p:nvPr/>
        </p:nvSpPr>
        <p:spPr>
          <a:xfrm>
            <a:off x="841248" y="4005072"/>
            <a:ext cx="530352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산 전체에서 가장 높은 곳.</a:t>
            </a:r>
          </a:p>
          <a:p>
            <a:pPr algn="l" eaLnBrk="0" latinLnBrk="0">
              <a:lnSpc>
                <a:spcPct val="105000"/>
              </a:lnSpc>
              <a:buNone/>
            </a:pPr>
            <a:r>
              <a:rPr lang="ko-KR" altLang="en-US" sz="1500" b="0" dirty="0">
                <a:solidFill>
                  <a:srgbClr val="3F3F3F"/>
                </a:solidFill>
                <a:latin typeface="Malgun Gothic"/>
                <a:ea typeface="Malgun Gothic"/>
                <a:cs typeface="Malgun Gothic"/>
              </a:rPr>
              <a:t>우리가 원하는 답입니다.</a:t>
            </a:r>
          </a:p>
        </p:txBody>
      </p:sp>
      <p:sp>
        <p:nvSpPr>
          <p:cNvPr id="14" name="fit:53f7b557098511dc 15"/>
          <p:cNvSpPr/>
          <p:nvPr/>
        </p:nvSpPr>
        <p:spPr>
          <a:xfrm>
            <a:off x="658368" y="4617720"/>
            <a:ext cx="5486400"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매 걸음의 최선이 모여도</a:t>
            </a:r>
          </a:p>
          <a:p>
            <a:pPr algn="l" eaLnBrk="0" latinLnBrk="0">
              <a:lnSpc>
                <a:spcPct val="100000"/>
              </a:lnSpc>
              <a:buNone/>
            </a:pPr>
            <a:r>
              <a:rPr lang="ko-KR" altLang="en-US" sz="2000" b="1" dirty="0">
                <a:solidFill>
                  <a:srgbClr val="0E8A7D"/>
                </a:solidFill>
                <a:latin typeface="Malgun Gothic"/>
                <a:ea typeface="Malgun Gothic"/>
                <a:cs typeface="Malgun Gothic"/>
              </a:rPr>
              <a:t>전체의 최선이라는 보장은 없습니다.</a:t>
            </a:r>
          </a:p>
        </p:txBody>
      </p:sp>
      <p:sp>
        <p:nvSpPr>
          <p:cNvPr id="15" name="fit:d3b5250158d3bf82 16"/>
          <p:cNvSpPr/>
          <p:nvPr/>
        </p:nvSpPr>
        <p:spPr>
          <a:xfrm>
            <a:off x="658368" y="5376672"/>
            <a:ext cx="5486400" cy="484632"/>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마시멜로 하나를 지금 먹는 것도 지금만 보면 최선입니다.</a:t>
            </a:r>
          </a:p>
          <a:p>
            <a:pPr algn="l" eaLnBrk="0" latinLnBrk="0">
              <a:lnSpc>
                <a:spcPct val="100000"/>
              </a:lnSpc>
              <a:buNone/>
            </a:pPr>
            <a:r>
              <a:rPr lang="ko-KR" altLang="en-US" sz="1450" b="0" dirty="0">
                <a:solidFill>
                  <a:srgbClr val="3F3F3F"/>
                </a:solidFill>
                <a:latin typeface="Malgun Gothic"/>
                <a:ea typeface="Malgun Gothic"/>
                <a:cs typeface="Malgun Gothic"/>
              </a:rPr>
              <a:t>기다려서 두 개를 받는 쪽이 전체로는 더 좋습니다.</a:t>
            </a:r>
          </a:p>
        </p:txBody>
      </p:sp>
      <p:pic>
        <p:nvPicPr>
          <p:cNvPr id="16" name="그림 17"/>
          <p:cNvPicPr>
            <a:picLocks noChangeAspect="1"/>
          </p:cNvPicPr>
          <p:nvPr/>
        </p:nvPicPr>
        <p:blipFill>
          <a:blip r:embed="rIdImg1"/>
          <a:stretch>
            <a:fillRect/>
          </a:stretch>
        </p:blipFill>
        <p:spPr>
          <a:xfrm>
            <a:off x="6492240" y="2541733"/>
            <a:ext cx="5093208" cy="2780374"/>
          </a:xfrm>
          <a:prstGeom prst="rect">
            <a:avLst/>
          </a:prstGeom>
        </p:spPr>
      </p:pic>
      <p:sp>
        <p:nvSpPr>
          <p:cNvPr id="17" name="직사각형 18"/>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그림의 '국소적 최적해(Local Maximum)'는 지역 최적해(local optimum)와 같은 말입니다.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 알고리즘의 세 단계</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a:t>
            </a:r>
          </a:p>
        </p:txBody>
      </p:sp>
      <p:sp>
        <p:nvSpPr>
          <p:cNvPr id="9" name="fit:e2e1d093f9f38c58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해답이 완성될 때까지 세 단계를 되풀이합니다.</a:t>
            </a:r>
          </a:p>
        </p:txBody>
      </p:sp>
      <p:sp>
        <p:nvSpPr>
          <p:cNvPr id="10" name="직사각형 11"/>
          <p:cNvSpPr/>
          <p:nvPr/>
        </p:nvSpPr>
        <p:spPr>
          <a:xfrm>
            <a:off x="65836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① 선택</a:t>
            </a:r>
          </a:p>
        </p:txBody>
      </p:sp>
      <p:sp>
        <p:nvSpPr>
          <p:cNvPr id="12" name="직사각형 13"/>
          <p:cNvSpPr/>
          <p:nvPr/>
        </p:nvSpPr>
        <p:spPr>
          <a:xfrm>
            <a:off x="749808" y="2724912"/>
            <a:ext cx="3017520" cy="91440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selection</a:t>
            </a:r>
          </a:p>
          <a:p>
            <a:pPr algn="ctr" eaLnBrk="0" latinLnBrk="0">
              <a:lnSpc>
                <a:spcPct val="110000"/>
              </a:lnSpc>
              <a:buNone/>
            </a:pPr>
            <a:r>
              <a:rPr lang="ko-KR" altLang="en-US" sz="1350" b="0" dirty="0">
                <a:solidFill>
                  <a:srgbClr val="171717"/>
                </a:solidFill>
                <a:latin typeface="Malgun Gothic"/>
                <a:ea typeface="Malgun Gothic"/>
                <a:cs typeface="Malgun Gothic"/>
              </a:rPr>
              <a:t>남은 후보 중 지금 기준으로</a:t>
            </a:r>
          </a:p>
          <a:p>
            <a:pPr algn="ctr" eaLnBrk="0" latinLnBrk="0">
              <a:lnSpc>
                <a:spcPct val="110000"/>
              </a:lnSpc>
              <a:buNone/>
            </a:pPr>
            <a:r>
              <a:rPr lang="ko-KR" altLang="en-US" sz="1350" b="0" dirty="0">
                <a:solidFill>
                  <a:srgbClr val="171717"/>
                </a:solidFill>
                <a:latin typeface="Malgun Gothic"/>
                <a:ea typeface="Malgun Gothic"/>
                <a:cs typeface="Malgun Gothic"/>
              </a:rPr>
              <a:t>가장 좋은 것 하나를 고릅니다.</a:t>
            </a:r>
          </a:p>
        </p:txBody>
      </p:sp>
      <p:sp>
        <p:nvSpPr>
          <p:cNvPr id="13" name="직사각형 14"/>
          <p:cNvSpPr/>
          <p:nvPr/>
        </p:nvSpPr>
        <p:spPr>
          <a:xfrm>
            <a:off x="400507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449884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직사각형 16"/>
          <p:cNvSpPr/>
          <p:nvPr/>
        </p:nvSpPr>
        <p:spPr>
          <a:xfrm>
            <a:off x="459028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② 적정성 검사</a:t>
            </a:r>
          </a:p>
        </p:txBody>
      </p:sp>
      <p:sp>
        <p:nvSpPr>
          <p:cNvPr id="16" name="직사각형 17"/>
          <p:cNvSpPr/>
          <p:nvPr/>
        </p:nvSpPr>
        <p:spPr>
          <a:xfrm>
            <a:off x="4590288" y="2724912"/>
            <a:ext cx="3017520" cy="91440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feasibility</a:t>
            </a:r>
          </a:p>
          <a:p>
            <a:pPr algn="ctr" eaLnBrk="0" latinLnBrk="0">
              <a:lnSpc>
                <a:spcPct val="110000"/>
              </a:lnSpc>
              <a:buNone/>
            </a:pPr>
            <a:r>
              <a:rPr lang="ko-KR" altLang="en-US" sz="1350" b="0" dirty="0">
                <a:solidFill>
                  <a:srgbClr val="171717"/>
                </a:solidFill>
                <a:latin typeface="Malgun Gothic"/>
                <a:ea typeface="Malgun Gothic"/>
                <a:cs typeface="Malgun Gothic"/>
              </a:rPr>
              <a:t>그 선택을 넣어도 제약을</a:t>
            </a:r>
          </a:p>
          <a:p>
            <a:pPr algn="ctr" eaLnBrk="0" latinLnBrk="0">
              <a:lnSpc>
                <a:spcPct val="110000"/>
              </a:lnSpc>
              <a:buNone/>
            </a:pPr>
            <a:r>
              <a:rPr lang="ko-KR" altLang="en-US" sz="1350" b="0" dirty="0">
                <a:solidFill>
                  <a:srgbClr val="171717"/>
                </a:solidFill>
                <a:latin typeface="Malgun Gothic"/>
                <a:ea typeface="Malgun Gothic"/>
                <a:cs typeface="Malgun Gothic"/>
              </a:rPr>
              <a:t>어기지 않는지 확인합니다.</a:t>
            </a:r>
          </a:p>
        </p:txBody>
      </p:sp>
      <p:sp>
        <p:nvSpPr>
          <p:cNvPr id="17" name="직사각형 18"/>
          <p:cNvSpPr/>
          <p:nvPr/>
        </p:nvSpPr>
        <p:spPr>
          <a:xfrm>
            <a:off x="784555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8" name="직사각형 19"/>
          <p:cNvSpPr/>
          <p:nvPr/>
        </p:nvSpPr>
        <p:spPr>
          <a:xfrm>
            <a:off x="833932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9" name="직사각형 20"/>
          <p:cNvSpPr/>
          <p:nvPr/>
        </p:nvSpPr>
        <p:spPr>
          <a:xfrm>
            <a:off x="843076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③ 해답 검사</a:t>
            </a:r>
          </a:p>
        </p:txBody>
      </p:sp>
      <p:sp>
        <p:nvSpPr>
          <p:cNvPr id="20" name="직사각형 21"/>
          <p:cNvSpPr/>
          <p:nvPr/>
        </p:nvSpPr>
        <p:spPr>
          <a:xfrm>
            <a:off x="8430768" y="2724912"/>
            <a:ext cx="3017520" cy="91440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solution</a:t>
            </a:r>
          </a:p>
          <a:p>
            <a:pPr algn="ctr" eaLnBrk="0" latinLnBrk="0">
              <a:lnSpc>
                <a:spcPct val="110000"/>
              </a:lnSpc>
              <a:buNone/>
            </a:pPr>
            <a:r>
              <a:rPr lang="ko-KR" altLang="en-US" sz="1350" b="0" dirty="0">
                <a:solidFill>
                  <a:srgbClr val="171717"/>
                </a:solidFill>
                <a:latin typeface="Malgun Gothic"/>
                <a:ea typeface="Malgun Gothic"/>
                <a:cs typeface="Malgun Gothic"/>
              </a:rPr>
              <a:t>모은 것이 완전한 해답인지</a:t>
            </a:r>
          </a:p>
          <a:p>
            <a:pPr algn="ctr" eaLnBrk="0" latinLnBrk="0">
              <a:lnSpc>
                <a:spcPct val="110000"/>
              </a:lnSpc>
              <a:buNone/>
            </a:pPr>
            <a:r>
              <a:rPr lang="ko-KR" altLang="en-US" sz="1350" b="0" dirty="0">
                <a:solidFill>
                  <a:srgbClr val="171717"/>
                </a:solidFill>
                <a:latin typeface="Malgun Gothic"/>
                <a:ea typeface="Malgun Gothic"/>
                <a:cs typeface="Malgun Gothic"/>
              </a:rPr>
              <a:t>확인합니다. 아니면 ①로.</a:t>
            </a:r>
          </a:p>
        </p:txBody>
      </p:sp>
      <p:sp>
        <p:nvSpPr>
          <p:cNvPr id="21" name="직사각형 22"/>
          <p:cNvSpPr/>
          <p:nvPr/>
        </p:nvSpPr>
        <p:spPr>
          <a:xfrm>
            <a:off x="658368" y="3675888"/>
            <a:ext cx="1088136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greedy.pseudo</a:t>
            </a:r>
          </a:p>
        </p:txBody>
      </p:sp>
      <p:sp>
        <p:nvSpPr>
          <p:cNvPr id="22" name="직사각형 23"/>
          <p:cNvSpPr/>
          <p:nvPr/>
        </p:nvSpPr>
        <p:spPr>
          <a:xfrm>
            <a:off x="658368" y="3895344"/>
            <a:ext cx="10881360" cy="181965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500" b="0" dirty="0">
                <a:solidFill>
                  <a:srgbClr val="FFFFFF"/>
                </a:solidFill>
                <a:latin typeface="Consolas"/>
                <a:ea typeface="Consolas"/>
                <a:cs typeface="Consolas"/>
              </a:rPr>
              <a:t>GREEDY(C):                                     // C: 후보 집합</a:t>
            </a:r>
          </a:p>
          <a:p>
            <a:pPr algn="l" eaLnBrk="0" latinLnBrk="0">
              <a:lnSpc>
                <a:spcPct val="100000"/>
              </a:lnSpc>
              <a:buNone/>
            </a:pPr>
            <a:r>
              <a:rPr lang="ko-KR" altLang="en-US" sz="1500" b="0" dirty="0">
                <a:solidFill>
                  <a:srgbClr val="FFFFFF"/>
                </a:solidFill>
                <a:latin typeface="Consolas"/>
                <a:ea typeface="Consolas"/>
                <a:cs typeface="Consolas"/>
              </a:rPr>
              <a:t>    S &lt;- 빈 집합                                // 지금까지 확정한 선택</a:t>
            </a:r>
          </a:p>
          <a:p>
            <a:pPr algn="l" eaLnBrk="0" latinLnBrk="0">
              <a:lnSpc>
                <a:spcPct val="100000"/>
              </a:lnSpc>
              <a:buNone/>
            </a:pPr>
            <a:r>
              <a:rPr lang="ko-KR" altLang="en-US" sz="1500" b="0" dirty="0">
                <a:solidFill>
                  <a:srgbClr val="FFFFFF"/>
                </a:solidFill>
                <a:latin typeface="Consolas"/>
                <a:ea typeface="Consolas"/>
                <a:cs typeface="Consolas"/>
              </a:rPr>
              <a:t>    while C가 비어 있지 않고 S가 해답이 아니면:   // 해답 검사</a:t>
            </a:r>
          </a:p>
          <a:p>
            <a:pPr algn="l" eaLnBrk="0" latinLnBrk="0">
              <a:lnSpc>
                <a:spcPct val="100000"/>
              </a:lnSpc>
              <a:buNone/>
            </a:pPr>
            <a:r>
              <a:rPr lang="ko-KR" altLang="en-US" sz="1500" b="0" dirty="0">
                <a:solidFill>
                  <a:srgbClr val="FFFFFF"/>
                </a:solidFill>
                <a:latin typeface="Consolas"/>
                <a:ea typeface="Consolas"/>
                <a:cs typeface="Consolas"/>
              </a:rPr>
              <a:t>        C에서 지금 가장 좋은 후보 x를 꺼낸다      // 선택</a:t>
            </a:r>
          </a:p>
          <a:p>
            <a:pPr algn="l" eaLnBrk="0" latinLnBrk="0">
              <a:lnSpc>
                <a:spcPct val="100000"/>
              </a:lnSpc>
              <a:buNone/>
            </a:pPr>
            <a:r>
              <a:rPr lang="ko-KR" altLang="en-US" sz="1500" b="0" dirty="0">
                <a:solidFill>
                  <a:srgbClr val="FFFFFF"/>
                </a:solidFill>
                <a:latin typeface="Consolas"/>
                <a:ea typeface="Consolas"/>
                <a:cs typeface="Consolas"/>
              </a:rPr>
              <a:t>        if S + {x}가 제약을 지키면:              // 적정성 검사</a:t>
            </a:r>
          </a:p>
          <a:p>
            <a:pPr algn="l" eaLnBrk="0" latinLnBrk="0">
              <a:lnSpc>
                <a:spcPct val="100000"/>
              </a:lnSpc>
              <a:buNone/>
            </a:pPr>
            <a:r>
              <a:rPr lang="ko-KR" altLang="en-US" sz="1500" b="0" dirty="0">
                <a:solidFill>
                  <a:srgbClr val="FFFFFF"/>
                </a:solidFill>
                <a:latin typeface="Consolas"/>
                <a:ea typeface="Consolas"/>
                <a:cs typeface="Consolas"/>
              </a:rPr>
              <a:t>            S &lt;- S + {x}                       // 확정, 되돌리지 않음</a:t>
            </a:r>
          </a:p>
          <a:p>
            <a:pPr algn="l" eaLnBrk="0" latinLnBrk="0">
              <a:lnSpc>
                <a:spcPct val="100000"/>
              </a:lnSpc>
              <a:buNone/>
            </a:pPr>
            <a:r>
              <a:rPr lang="ko-KR" altLang="en-US" sz="1500" b="0" dirty="0">
                <a:solidFill>
                  <a:srgbClr val="FFFFFF"/>
                </a:solidFill>
                <a:latin typeface="Consolas"/>
                <a:ea typeface="Consolas"/>
                <a:cs typeface="Consolas"/>
              </a:rPr>
              <a:t>    if S가 해답이면 return S else return "해 없음"</a:t>
            </a:r>
          </a:p>
        </p:txBody>
      </p:sp>
      <p:sp>
        <p:nvSpPr>
          <p:cNvPr id="23" name="fit:4a6a04f278b3d00f 24"/>
          <p:cNvSpPr/>
          <p:nvPr/>
        </p:nvSpPr>
        <p:spPr>
          <a:xfrm>
            <a:off x="658368" y="5843016"/>
            <a:ext cx="10881360" cy="33832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1" dirty="0">
                <a:solidFill>
                  <a:srgbClr val="0E8A7D"/>
                </a:solidFill>
                <a:latin typeface="Malgun Gothic"/>
                <a:ea typeface="Malgun Gothic"/>
                <a:cs typeface="Malgun Gothic"/>
              </a:rPr>
              <a:t>한 번 확정한 선택은 다시 검토하지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세 단계를 이 장의 예제에 대응하면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a:t>
            </a:r>
          </a:p>
        </p:txBody>
      </p:sp>
      <p:sp>
        <p:nvSpPr>
          <p:cNvPr id="9" name="fit:f23153c63657b6d3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문제마다 '지금 가장 좋은 것'의 기준과 지켜야 할 제약이 다릅니다.</a:t>
            </a:r>
          </a:p>
          <a:p>
            <a:pPr algn="l" eaLnBrk="0" latinLnBrk="0">
              <a:lnSpc>
                <a:spcPct val="105000"/>
              </a:lnSpc>
              <a:buNone/>
            </a:pPr>
            <a:r>
              <a:rPr lang="ko-KR" altLang="en-US" sz="2025" b="0" dirty="0">
                <a:solidFill>
                  <a:srgbClr val="171717"/>
                </a:solidFill>
                <a:latin typeface="Malgun Gothic"/>
                <a:ea typeface="Malgun Gothic"/>
                <a:cs typeface="Malgun Gothic"/>
              </a:rPr>
              <a:t>되풀이하는 틀은 같습니다.</a:t>
            </a:r>
          </a:p>
        </p:txBody>
      </p:sp>
      <p:graphicFrame>
        <p:nvGraphicFramePr>
          <p:cNvPr id="10" name="표 11"/>
          <p:cNvGraphicFramePr>
            <a:graphicFrameLocks noGrp="1"/>
          </p:cNvGraphicFramePr>
          <p:nvPr/>
        </p:nvGraphicFramePr>
        <p:xfrm>
          <a:off x="612648" y="2432304"/>
          <a:ext cx="10972800" cy="1682496"/>
        </p:xfrm>
        <a:graphic>
          <a:graphicData uri="http://schemas.openxmlformats.org/drawingml/2006/table">
            <a:tbl>
              <a:tblPr/>
              <a:tblGrid>
                <a:gridCol w="1721224"/>
                <a:gridCol w="2904565"/>
                <a:gridCol w="2689412"/>
                <a:gridCol w="3657600"/>
              </a:tblGrid>
              <a:tr h="420624">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예제</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① 선택</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② 적정성 검사</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③ 해답 검사</a:t>
                      </a:r>
                    </a:p>
                  </a:txBody>
                  <a:tcPr marL="54864" marR="54864" marT="18288" marB="18288" anchor="ctr">
                    <a:solidFill>
                      <a:srgbClr val="151515"/>
                    </a:solidFill>
                  </a:tcPr>
                </a:tc>
              </a:tr>
              <a:tr h="420624">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거스름돈 (5.2)</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남은 돈 이하의 가장 큰 동전</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남은 돈을 넘지 않는가</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남은 돈이 0원인가</a:t>
                      </a:r>
                    </a:p>
                  </a:txBody>
                  <a:tcPr marL="54864" marR="54864" marT="18288" marB="18288" anchor="ctr">
                    <a:solidFill>
                      <a:srgbClr val="FFFFFF"/>
                    </a:solidFill>
                  </a:tcPr>
                </a:tc>
              </a:tr>
              <a:tr h="420624">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회의 배정 (5.3)</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먼저 끝나는 회의</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시작 ≥ 마지막 종료 시각</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더 볼 회의가 없는가</a:t>
                      </a:r>
                    </a:p>
                  </a:txBody>
                  <a:tcPr marL="54864" marR="54864" marT="18288" marB="18288" anchor="ctr">
                    <a:solidFill>
                      <a:srgbClr val="FFFFFF"/>
                    </a:solidFill>
                  </a:tcPr>
                </a:tc>
              </a:tr>
              <a:tr h="420624">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분할 배낭 (5.4)</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무게당 가치가 가장 높은 보물</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남은 용량 안에 들어가는가</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배낭이 가득 찼거나 남은 보물이 없는가</a:t>
                      </a:r>
                    </a:p>
                  </a:txBody>
                  <a:tcPr marL="54864" marR="54864" marT="18288" marB="18288" anchor="ctr">
                    <a:solidFill>
                      <a:srgbClr val="FFFFFF"/>
                    </a:solidFill>
                  </a:tcPr>
                </a:tc>
              </a:tr>
            </a:tbl>
          </a:graphicData>
        </a:graphic>
      </p:graphicFrame>
      <p:sp>
        <p:nvSpPr>
          <p:cNvPr id="11" name="fit:b8311411add090a3 12"/>
          <p:cNvSpPr/>
          <p:nvPr/>
        </p:nvSpPr>
        <p:spPr>
          <a:xfrm>
            <a:off x="612648" y="4261104"/>
            <a:ext cx="1097280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어느 예제든 한 번 고른 것은 끝까지 그대로 둡니다.</a:t>
            </a:r>
          </a:p>
        </p:txBody>
      </p:sp>
      <p:sp>
        <p:nvSpPr>
          <p:cNvPr id="12" name="fit:70c3590ea3f7ccc7 13"/>
          <p:cNvSpPr/>
          <p:nvPr/>
        </p:nvSpPr>
        <p:spPr>
          <a:xfrm>
            <a:off x="612648" y="4745736"/>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각 절에서 이 표의 칸을 하나씩 다시 확인합니다.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이 장의 지도: 통하는 문제와 통하지 않는 문제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a:t>
            </a:r>
          </a:p>
        </p:txBody>
      </p:sp>
      <p:sp>
        <p:nvSpPr>
          <p:cNvPr id="9" name="fit:a4f3aeb49ca85f05 10"/>
          <p:cNvSpPr/>
          <p:nvPr/>
        </p:nvSpPr>
        <p:spPr>
          <a:xfrm>
            <a:off x="612648" y="1636776"/>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모두 '지금 가장 좋은 것 고르기'이지만,</a:t>
            </a:r>
          </a:p>
          <a:p>
            <a:pPr algn="l" eaLnBrk="0" latinLnBrk="0">
              <a:lnSpc>
                <a:spcPct val="105000"/>
              </a:lnSpc>
              <a:buNone/>
            </a:pPr>
            <a:r>
              <a:rPr lang="ko-KR" altLang="en-US" sz="1800" b="0" dirty="0">
                <a:solidFill>
                  <a:srgbClr val="171717"/>
                </a:solidFill>
                <a:latin typeface="Malgun Gothic"/>
                <a:ea typeface="Malgun Gothic"/>
                <a:cs typeface="Malgun Gothic"/>
              </a:rPr>
              <a:t>최적해를 보장하는 문제와 그렇지 않은 문제가 있습니다.</a:t>
            </a:r>
          </a:p>
        </p:txBody>
      </p:sp>
      <p:graphicFrame>
        <p:nvGraphicFramePr>
          <p:cNvPr id="10" name="표 11"/>
          <p:cNvGraphicFramePr>
            <a:graphicFrameLocks noGrp="1"/>
          </p:cNvGraphicFramePr>
          <p:nvPr/>
        </p:nvGraphicFramePr>
        <p:xfrm>
          <a:off x="612648" y="2359152"/>
          <a:ext cx="10972800" cy="2880360"/>
        </p:xfrm>
        <a:graphic>
          <a:graphicData uri="http://schemas.openxmlformats.org/drawingml/2006/table">
            <a:tbl>
              <a:tblPr/>
              <a:tblGrid>
                <a:gridCol w="936702"/>
                <a:gridCol w="3479180"/>
                <a:gridCol w="4415883"/>
                <a:gridCol w="2141034"/>
              </a:tblGrid>
              <a:tr h="320040">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절</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문제</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매 단계의 선택</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최적해</a:t>
                      </a:r>
                    </a:p>
                  </a:txBody>
                  <a:tcPr marL="54864" marR="54864" marT="18288" marB="18288" anchor="ctr">
                    <a:solidFill>
                      <a:srgbClr val="151515"/>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5.2</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거스름돈 (500·100·50·10원)</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큰 동전</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5.2</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거스름돈 (400원 동전 추가)</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큰 동전</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B23B3B"/>
                          </a:solidFill>
                          <a:latin typeface="Malgun Gothic"/>
                          <a:ea typeface="Malgun Gothic"/>
                          <a:cs typeface="Malgun Gothic"/>
                        </a:rPr>
                        <a:t>보장 못 함</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5.3</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활동 선택 (회의 배정)</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먼저 끝나는 회의</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5.4</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분할 배낭 (쪼갤 수 있음)</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무게당 가치가 가장 높은 보물</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5.4</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0/1 배낭 (쪼갤 수 없음)</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무게당 가치가 가장 높은 보물</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B23B3B"/>
                          </a:solidFill>
                          <a:latin typeface="Malgun Gothic"/>
                          <a:ea typeface="Malgun Gothic"/>
                          <a:cs typeface="Malgun Gothic"/>
                        </a:rPr>
                        <a:t>보장 못 함</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5.6</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최소 신장 트리 (크루스칼)</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사이클을 만들지 않는 가장 싼 간선</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5.7</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외판원 순회 (TSP)</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가까운 미방문 도시</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B23B3B"/>
                          </a:solidFill>
                          <a:latin typeface="Malgun Gothic"/>
                          <a:ea typeface="Malgun Gothic"/>
                          <a:cs typeface="Malgun Gothic"/>
                        </a:rPr>
                        <a:t>보장 못 함</a:t>
                      </a:r>
                    </a:p>
                  </a:txBody>
                  <a:tcPr marL="54864" marR="54864" marT="18288" marB="18288" anchor="ctr">
                    <a:solidFill>
                      <a:srgbClr val="FFFFFF"/>
                    </a:solidFill>
                  </a:tcPr>
                </a:tc>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5.8</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최단 경로 (다익스트라)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시작점에서 가장 가까운 미확정 정점</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 (간선 비용 ≥ 0)</a:t>
                      </a:r>
                    </a:p>
                  </a:txBody>
                  <a:tcPr marL="54864" marR="54864" marT="18288" marB="18288" anchor="ctr">
                    <a:solidFill>
                      <a:srgbClr val="FFFFFF"/>
                    </a:solidFill>
                  </a:tcPr>
                </a:tc>
              </a:tr>
            </a:tbl>
          </a:graphicData>
        </a:graphic>
      </p:graphicFrame>
      <p:sp>
        <p:nvSpPr>
          <p:cNvPr id="11" name="fit:2e10945fcf72214a 12"/>
          <p:cNvSpPr/>
          <p:nvPr/>
        </p:nvSpPr>
        <p:spPr>
          <a:xfrm>
            <a:off x="612648" y="5385816"/>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왜 어떤 문제에서는 통하고 어떤 문제에서는 통하지 않는지는 5.5절에서 두 조건으로 정리합니다.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확인: 그리디의 기본</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a:t>
            </a:r>
          </a:p>
        </p:txBody>
      </p:sp>
      <p:sp>
        <p:nvSpPr>
          <p:cNvPr id="9" name="fit:4550aa7178633423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① 그리디 알고리즘의 진행 방식을 한 문장으로 말해 보세요.</a:t>
            </a:r>
          </a:p>
        </p:txBody>
      </p:sp>
      <p:sp>
        <p:nvSpPr>
          <p:cNvPr id="10" name="fit:db5d47a3d062acb8 11"/>
          <p:cNvSpPr/>
          <p:nvPr/>
        </p:nvSpPr>
        <p:spPr>
          <a:xfrm>
            <a:off x="612648" y="2103120"/>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② "매 단계에서 남은 모든 완성 해를 비교한 뒤 하나를 확정한다."</a:t>
            </a:r>
          </a:p>
          <a:p>
            <a:pPr algn="l" eaLnBrk="0" latinLnBrk="0">
              <a:lnSpc>
                <a:spcPct val="105000"/>
              </a:lnSpc>
              <a:buNone/>
            </a:pPr>
            <a:r>
              <a:rPr lang="ko-KR" altLang="en-US" sz="2025" b="0" dirty="0">
                <a:solidFill>
                  <a:srgbClr val="171717"/>
                </a:solidFill>
                <a:latin typeface="Malgun Gothic"/>
                <a:ea typeface="Malgun Gothic"/>
                <a:cs typeface="Malgun Gothic"/>
              </a:rPr>
              <a:t>    이것은 그리디입니까?</a:t>
            </a:r>
          </a:p>
        </p:txBody>
      </p:sp>
      <p:sp>
        <p:nvSpPr>
          <p:cNvPr id="11" name="fit:3addb215bcd4b317 12"/>
          <p:cNvSpPr/>
          <p:nvPr/>
        </p:nvSpPr>
        <p:spPr>
          <a:xfrm>
            <a:off x="612648" y="2898648"/>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③ 매 단계에서 지역적으로 가장 좋은 것을 고르면</a:t>
            </a:r>
          </a:p>
          <a:p>
            <a:pPr algn="l" eaLnBrk="0" latinLnBrk="0">
              <a:lnSpc>
                <a:spcPct val="105000"/>
              </a:lnSpc>
              <a:buNone/>
            </a:pPr>
            <a:r>
              <a:rPr lang="ko-KR" altLang="en-US" sz="2025" b="0" dirty="0">
                <a:solidFill>
                  <a:srgbClr val="171717"/>
                </a:solidFill>
                <a:latin typeface="Malgun Gothic"/>
                <a:ea typeface="Malgun Gothic"/>
                <a:cs typeface="Malgun Gothic"/>
              </a:rPr>
              <a:t>    전역 최적해가 항상 보장됩니까?</a:t>
            </a:r>
          </a:p>
        </p:txBody>
      </p:sp>
      <p:sp>
        <p:nvSpPr>
          <p:cNvPr id="12" name="fit:2cb9f2c337f08506 13"/>
          <p:cNvSpPr/>
          <p:nvPr/>
        </p:nvSpPr>
        <p:spPr>
          <a:xfrm>
            <a:off x="612648" y="36941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④ 거스름돈 문제에서 세 단계(선택, 적정성 검사, 해답 검사)는</a:t>
            </a:r>
          </a:p>
          <a:p>
            <a:pPr algn="l" eaLnBrk="0" latinLnBrk="0">
              <a:lnSpc>
                <a:spcPct val="105000"/>
              </a:lnSpc>
              <a:buNone/>
            </a:pPr>
            <a:r>
              <a:rPr lang="ko-KR" altLang="en-US" sz="2025" b="0" dirty="0">
                <a:solidFill>
                  <a:srgbClr val="171717"/>
                </a:solidFill>
                <a:latin typeface="Malgun Gothic"/>
                <a:ea typeface="Malgun Gothic"/>
                <a:cs typeface="Malgun Gothic"/>
              </a:rPr>
              <a:t>    각각 무엇입니까?</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10</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5.2</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거스름돈 문제</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500원, 100원, 50원, 10원짜리 동전으로</a:t>
            </a:r>
          </a:p>
          <a:p>
            <a:pPr algn="l" eaLnBrk="0" latinLnBrk="0">
              <a:lnSpc>
                <a:spcPct val="110000"/>
              </a:lnSpc>
              <a:buNone/>
            </a:pPr>
            <a:r>
              <a:rPr lang="ko-KR" altLang="en-US" sz="1800" b="0" dirty="0">
                <a:solidFill>
                  <a:srgbClr val="BBBBBB"/>
                </a:solidFill>
                <a:latin typeface="Malgun Gothic"/>
                <a:ea typeface="Malgun Gothic"/>
                <a:cs typeface="Malgun Gothic"/>
              </a:rPr>
              <a:t>1,260원을 가장 적은 개수로 거슬러 주려면?</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손님에게 1,260원을 거슬러 줍니다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a:t>
            </a:r>
          </a:p>
        </p:txBody>
      </p:sp>
      <p:sp>
        <p:nvSpPr>
          <p:cNvPr id="9" name="fit:e2f521d0ebac7a65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동전은 500원, 100원, 50원, 10원</a:t>
            </a:r>
          </a:p>
          <a:p>
            <a:pPr algn="l" eaLnBrk="0" latinLnBrk="0">
              <a:lnSpc>
                <a:spcPct val="105000"/>
              </a:lnSpc>
              <a:buNone/>
            </a:pPr>
            <a:r>
              <a:rPr lang="ko-KR" altLang="en-US" sz="1800" b="0" dirty="0">
                <a:solidFill>
                  <a:srgbClr val="171717"/>
                </a:solidFill>
                <a:latin typeface="Malgun Gothic"/>
                <a:ea typeface="Malgun Gothic"/>
                <a:cs typeface="Malgun Gothic"/>
              </a:rPr>
              <a:t>네 종류가 충분히 있습니다.</a:t>
            </a:r>
          </a:p>
        </p:txBody>
      </p:sp>
      <p:sp>
        <p:nvSpPr>
          <p:cNvPr id="10" name="fit:84e9d36e0d096130 11"/>
          <p:cNvSpPr/>
          <p:nvPr/>
        </p:nvSpPr>
        <p:spPr>
          <a:xfrm>
            <a:off x="658368" y="2459736"/>
            <a:ext cx="512064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목표: 동전 개수를 최소로</a:t>
            </a:r>
          </a:p>
        </p:txBody>
      </p:sp>
      <p:sp>
        <p:nvSpPr>
          <p:cNvPr id="11" name="fit:5604429b6d64656b 12"/>
          <p:cNvSpPr/>
          <p:nvPr/>
        </p:nvSpPr>
        <p:spPr>
          <a:xfrm>
            <a:off x="658368" y="2944368"/>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그리디의 기준</a:t>
            </a:r>
          </a:p>
        </p:txBody>
      </p:sp>
      <p:sp>
        <p:nvSpPr>
          <p:cNvPr id="12" name="fit:1ef3e4624d9a65e2 13"/>
          <p:cNvSpPr/>
          <p:nvPr/>
        </p:nvSpPr>
        <p:spPr>
          <a:xfrm>
            <a:off x="841248" y="3264408"/>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남은 돈 이하의 가장 큰 동전부터 고릅니다.</a:t>
            </a:r>
          </a:p>
        </p:txBody>
      </p:sp>
      <p:sp>
        <p:nvSpPr>
          <p:cNvPr id="13" name="fit:1097b25e1a4fd204 14"/>
          <p:cNvSpPr/>
          <p:nvPr/>
        </p:nvSpPr>
        <p:spPr>
          <a:xfrm>
            <a:off x="658368" y="3639312"/>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한 번에 몫만큼</a:t>
            </a:r>
          </a:p>
        </p:txBody>
      </p:sp>
      <p:sp>
        <p:nvSpPr>
          <p:cNvPr id="14" name="fit:7e6d7cbdd0aea1c9 15"/>
          <p:cNvSpPr/>
          <p:nvPr/>
        </p:nvSpPr>
        <p:spPr>
          <a:xfrm>
            <a:off x="841248" y="3959352"/>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그 동전으로 낼 수 있는 만큼 한꺼번에 냅니다.</a:t>
            </a:r>
          </a:p>
        </p:txBody>
      </p:sp>
      <p:sp>
        <p:nvSpPr>
          <p:cNvPr id="15" name="fit:0003d07ee85dd478 16"/>
          <p:cNvSpPr/>
          <p:nvPr/>
        </p:nvSpPr>
        <p:spPr>
          <a:xfrm>
            <a:off x="658368" y="4334256"/>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나머지로 반복</a:t>
            </a:r>
          </a:p>
        </p:txBody>
      </p:sp>
      <p:sp>
        <p:nvSpPr>
          <p:cNvPr id="16" name="fit:35d5aa4420cc19bc 17"/>
          <p:cNvSpPr/>
          <p:nvPr/>
        </p:nvSpPr>
        <p:spPr>
          <a:xfrm>
            <a:off x="841248" y="4654296"/>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남은 돈으로 다음 큰 동전을 봅니다.</a:t>
            </a:r>
          </a:p>
        </p:txBody>
      </p:sp>
      <p:pic>
        <p:nvPicPr>
          <p:cNvPr id="17" name="그림 18"/>
          <p:cNvPicPr>
            <a:picLocks noChangeAspect="1"/>
          </p:cNvPicPr>
          <p:nvPr/>
        </p:nvPicPr>
        <p:blipFill>
          <a:blip r:embed="rIdImg1"/>
          <a:stretch>
            <a:fillRect/>
          </a:stretch>
        </p:blipFill>
        <p:spPr>
          <a:xfrm>
            <a:off x="6126480" y="2441899"/>
            <a:ext cx="5458968" cy="2980042"/>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만화의 점원도 가장 큰 500원부터 집습니다.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몫과 나머지로 한 번에 셉니다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a:t>
            </a:r>
          </a:p>
        </p:txBody>
      </p:sp>
      <p:sp>
        <p:nvSpPr>
          <p:cNvPr id="9" name="fit:71820f144b37717f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500원을 하나씩 빼지 않습니다.</a:t>
            </a:r>
          </a:p>
          <a:p>
            <a:pPr algn="l" eaLnBrk="0" latinLnBrk="0">
              <a:lnSpc>
                <a:spcPct val="105000"/>
              </a:lnSpc>
              <a:buNone/>
            </a:pPr>
            <a:r>
              <a:rPr lang="ko-KR" altLang="en-US" sz="2025" b="0" dirty="0">
                <a:solidFill>
                  <a:srgbClr val="171717"/>
                </a:solidFill>
                <a:latin typeface="Malgun Gothic"/>
                <a:ea typeface="Malgun Gothic"/>
                <a:cs typeface="Malgun Gothic"/>
              </a:rPr>
              <a:t>나눗셈 한 번으로 쓸 개수와 남은 돈을 함께 구합니다.</a:t>
            </a:r>
          </a:p>
        </p:txBody>
      </p:sp>
      <p:graphicFrame>
        <p:nvGraphicFramePr>
          <p:cNvPr id="10" name="표 11"/>
          <p:cNvGraphicFramePr>
            <a:graphicFrameLocks noGrp="1"/>
          </p:cNvGraphicFramePr>
          <p:nvPr/>
        </p:nvGraphicFramePr>
        <p:xfrm>
          <a:off x="612648" y="2432304"/>
          <a:ext cx="10972800" cy="1097280"/>
        </p:xfrm>
        <a:graphic>
          <a:graphicData uri="http://schemas.openxmlformats.org/drawingml/2006/table">
            <a:tbl>
              <a:tblPr/>
              <a:tblGrid>
                <a:gridCol w="3012141"/>
                <a:gridCol w="5593976"/>
                <a:gridCol w="2366682"/>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식 (Python)</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뜻</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1,260원에서</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Consolas"/>
                          <a:ea typeface="Consolas"/>
                          <a:cs typeface="Consolas"/>
                        </a:rPr>
                        <a:t>1260 // 500</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몫: 500원을 몇 개 쓰는가</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Malgun Gothic"/>
                          <a:ea typeface="Malgun Gothic"/>
                          <a:cs typeface="Malgun Gothic"/>
                        </a:rPr>
                        <a:t>2</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Consolas"/>
                          <a:ea typeface="Consolas"/>
                          <a:cs typeface="Consolas"/>
                        </a:rPr>
                        <a:t>1260 % 500</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나머지: 다음 동전으로 넘기는 돈</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Malgun Gothic"/>
                          <a:ea typeface="Malgun Gothic"/>
                          <a:cs typeface="Malgun Gothic"/>
                        </a:rPr>
                        <a:t>260</a:t>
                      </a:r>
                    </a:p>
                  </a:txBody>
                  <a:tcPr marL="54864" marR="54864" marT="18288" marB="18288" anchor="ctr">
                    <a:solidFill>
                      <a:srgbClr val="FFFFFF"/>
                    </a:solidFill>
                  </a:tcPr>
                </a:tc>
              </a:tr>
            </a:tbl>
          </a:graphicData>
        </a:graphic>
      </p:graphicFrame>
      <p:sp>
        <p:nvSpPr>
          <p:cNvPr id="11" name="fit:3d52983d0c6ad268 12"/>
          <p:cNvSpPr/>
          <p:nvPr/>
        </p:nvSpPr>
        <p:spPr>
          <a:xfrm>
            <a:off x="612648" y="367588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1260 ÷ 500 = 2.52처럼 소수로 보지 않습니다. 500원 2개를 쓰고 260원이 남습니다.</a:t>
            </a:r>
          </a:p>
        </p:txBody>
      </p:sp>
      <p:graphicFrame>
        <p:nvGraphicFramePr>
          <p:cNvPr id="12" name="표 13"/>
          <p:cNvGraphicFramePr>
            <a:graphicFrameLocks noGrp="1"/>
          </p:cNvGraphicFramePr>
          <p:nvPr/>
        </p:nvGraphicFramePr>
        <p:xfrm>
          <a:off x="612648" y="4078224"/>
          <a:ext cx="10972800" cy="1463040"/>
        </p:xfrm>
        <a:graphic>
          <a:graphicData uri="http://schemas.openxmlformats.org/drawingml/2006/table">
            <a:tbl>
              <a:tblPr/>
              <a:tblGrid>
                <a:gridCol w="3012141"/>
                <a:gridCol w="7960659"/>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그리디의 세 단계</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거스름돈에서</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남은 돈 이하의 가장 큰 동전</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② 적정성 검사</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몫만큼 써도 남은 돈을 넘지 않는다</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남은 돈이 0원이면 끝</a:t>
                      </a:r>
                    </a:p>
                  </a:txBody>
                  <a:tcPr marL="54864" marR="54864"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500원 · 1,260원에서 2개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a:t>
            </a:r>
          </a:p>
        </p:txBody>
      </p:sp>
      <p:sp>
        <p:nvSpPr>
          <p:cNvPr id="9" name="fit:4958b5df74709a4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1,260원 이하의 가장 큰 동전은 500원입니다.</a:t>
            </a:r>
          </a:p>
          <a:p>
            <a:pPr algn="l" eaLnBrk="0" latinLnBrk="0">
              <a:lnSpc>
                <a:spcPct val="100000"/>
              </a:lnSpc>
              <a:buNone/>
            </a:pPr>
            <a:r>
              <a:rPr lang="ko-KR" altLang="en-US" sz="2025" b="0" dirty="0">
                <a:solidFill>
                  <a:srgbClr val="171717"/>
                </a:solidFill>
                <a:latin typeface="Malgun Gothic"/>
                <a:ea typeface="Malgun Gothic"/>
                <a:cs typeface="Malgun Gothic"/>
              </a:rPr>
              <a:t>1260 // 500 = 2, 1260 % 500 = 260</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500원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2개 = 1,000원 ≤ 1,260원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260원 남음 → 계속</a:t>
                      </a:r>
                    </a:p>
                  </a:txBody>
                  <a:tcPr marL="54864" marR="54864" marT="18288" marB="18288" anchor="ctr">
                    <a:solidFill>
                      <a:srgbClr val="FFFFFF"/>
                    </a:solidFill>
                  </a:tcPr>
                </a:tc>
              </a:tr>
            </a:tbl>
          </a:graphicData>
        </a:graphic>
      </p:graphicFrame>
      <p:sp>
        <p:nvSpPr>
          <p:cNvPr id="12" name="fit:fb3491e724395097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확정한 동전</a:t>
            </a:r>
          </a:p>
        </p:txBody>
      </p:sp>
      <p:sp>
        <p:nvSpPr>
          <p:cNvPr id="13" name="fit:dcde57058ce35796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500원 2개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nvGraphicFramePr>
        <p:xfrm>
          <a:off x="2103120" y="265176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500</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r>
            </a:tbl>
          </a:graphicData>
        </a:graphic>
      </p:graphicFrame>
      <p:sp>
        <p:nvSpPr>
          <p:cNvPr id="16" name="직사각형 17"/>
          <p:cNvSpPr/>
          <p:nvPr/>
        </p:nvSpPr>
        <p:spPr>
          <a:xfrm>
            <a:off x="192024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지금</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nvGraphicFramePr>
        <p:xfrm>
          <a:off x="2103120" y="365760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260원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보는 동전    회색: 이미 처리한 동전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100원 · 260원에서 2개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a:t>
            </a:r>
          </a:p>
        </p:txBody>
      </p:sp>
      <p:sp>
        <p:nvSpPr>
          <p:cNvPr id="9" name="fit:0b86768470d773f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500원은 260원보다 커서 더 쓸 수 없습니다.</a:t>
            </a:r>
          </a:p>
          <a:p>
            <a:pPr algn="l" eaLnBrk="0" latinLnBrk="0">
              <a:lnSpc>
                <a:spcPct val="100000"/>
              </a:lnSpc>
              <a:buNone/>
            </a:pPr>
            <a:r>
              <a:rPr lang="ko-KR" altLang="en-US" sz="2025" b="0" dirty="0">
                <a:solidFill>
                  <a:srgbClr val="171717"/>
                </a:solidFill>
                <a:latin typeface="Malgun Gothic"/>
                <a:ea typeface="Malgun Gothic"/>
                <a:cs typeface="Malgun Gothic"/>
              </a:rPr>
              <a:t>260 // 100 = 2, 260 % 100 = 60</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2개 = 200원 ≤ 260원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60원 남음 → 계속</a:t>
                      </a:r>
                    </a:p>
                  </a:txBody>
                  <a:tcPr marL="54864" marR="54864" marT="18288" marB="18288" anchor="ctr">
                    <a:solidFill>
                      <a:srgbClr val="FFFFFF"/>
                    </a:solidFill>
                  </a:tcPr>
                </a:tc>
              </a:tr>
            </a:tbl>
          </a:graphicData>
        </a:graphic>
      </p:graphicFrame>
      <p:sp>
        <p:nvSpPr>
          <p:cNvPr id="12" name="fit:fb3491e724395097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확정한 동전</a:t>
            </a:r>
          </a:p>
        </p:txBody>
      </p:sp>
      <p:sp>
        <p:nvSpPr>
          <p:cNvPr id="13" name="fit:0c0e2f43434dce2e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500원 2개 + 100원 2개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nvGraphicFramePr>
        <p:xfrm>
          <a:off x="2103120" y="265176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500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r>
            </a:tbl>
          </a:graphicData>
        </a:graphic>
      </p:graphicFrame>
      <p:sp>
        <p:nvSpPr>
          <p:cNvPr id="16" name="직사각형 17"/>
          <p:cNvSpPr/>
          <p:nvPr/>
        </p:nvSpPr>
        <p:spPr>
          <a:xfrm>
            <a:off x="301752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지금</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nvGraphicFramePr>
        <p:xfrm>
          <a:off x="2103120" y="365760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60원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보는 동전    회색: 이미 처리한 동전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③ 50원 · 60원에서 1개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a:t>
            </a:r>
          </a:p>
        </p:txBody>
      </p:sp>
      <p:sp>
        <p:nvSpPr>
          <p:cNvPr id="9" name="fit:5ed8d31af1563908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100원은 60원보다 큽니다. 다음 50원입니다.</a:t>
            </a:r>
          </a:p>
          <a:p>
            <a:pPr algn="l" eaLnBrk="0" latinLnBrk="0">
              <a:lnSpc>
                <a:spcPct val="100000"/>
              </a:lnSpc>
              <a:buNone/>
            </a:pPr>
            <a:r>
              <a:rPr lang="ko-KR" altLang="en-US" sz="2025" b="0" dirty="0">
                <a:solidFill>
                  <a:srgbClr val="171717"/>
                </a:solidFill>
                <a:latin typeface="Malgun Gothic"/>
                <a:ea typeface="Malgun Gothic"/>
                <a:cs typeface="Malgun Gothic"/>
              </a:rPr>
              <a:t>60 // 50 = 1, 60 % 50 = 10</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1개 = 50원 ≤ 60원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10원 남음 → 계속</a:t>
                      </a:r>
                    </a:p>
                  </a:txBody>
                  <a:tcPr marL="54864" marR="54864" marT="18288" marB="18288" anchor="ctr">
                    <a:solidFill>
                      <a:srgbClr val="FFFFFF"/>
                    </a:solidFill>
                  </a:tcPr>
                </a:tc>
              </a:tr>
            </a:tbl>
          </a:graphicData>
        </a:graphic>
      </p:graphicFrame>
      <p:sp>
        <p:nvSpPr>
          <p:cNvPr id="12" name="fit:fb3491e724395097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확정한 동전</a:t>
            </a:r>
          </a:p>
        </p:txBody>
      </p:sp>
      <p:sp>
        <p:nvSpPr>
          <p:cNvPr id="13" name="fit:59de55c688b4c47a 14"/>
          <p:cNvSpPr/>
          <p:nvPr/>
        </p:nvSpPr>
        <p:spPr>
          <a:xfrm>
            <a:off x="7909560" y="4626864"/>
            <a:ext cx="3666744"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500원 2개 + 100원 2개</a:t>
            </a:r>
          </a:p>
          <a:p>
            <a:pPr algn="l" eaLnBrk="0" latinLnBrk="0">
              <a:lnSpc>
                <a:spcPct val="100000"/>
              </a:lnSpc>
              <a:buNone/>
            </a:pPr>
            <a:r>
              <a:rPr lang="ko-KR" altLang="en-US" sz="2000" b="1" dirty="0">
                <a:solidFill>
                  <a:srgbClr val="0E8A7D"/>
                </a:solidFill>
                <a:latin typeface="Malgun Gothic"/>
                <a:ea typeface="Malgun Gothic"/>
                <a:cs typeface="Malgun Gothic"/>
              </a:rPr>
              <a:t>+ 50원 1개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nvGraphicFramePr>
        <p:xfrm>
          <a:off x="2103120" y="265176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500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100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r>
            </a:tbl>
          </a:graphicData>
        </a:graphic>
      </p:graphicFrame>
      <p:sp>
        <p:nvSpPr>
          <p:cNvPr id="16" name="직사각형 17"/>
          <p:cNvSpPr/>
          <p:nvPr/>
        </p:nvSpPr>
        <p:spPr>
          <a:xfrm>
            <a:off x="411480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지금</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nvGraphicFramePr>
        <p:xfrm>
          <a:off x="2103120" y="365760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10원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보는 동전    회색: 이미 처리한 동전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④ 10원 · 남은 돈 0원, 모두 6개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a:t>
            </a:r>
          </a:p>
        </p:txBody>
      </p:sp>
      <p:sp>
        <p:nvSpPr>
          <p:cNvPr id="9" name="fit:993f69b127ce3e3c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마지막 10원입니다. 10 // 10 = 1, 10 % 10 = 0</a:t>
            </a:r>
          </a:p>
          <a:p>
            <a:pPr algn="l" eaLnBrk="0" latinLnBrk="0">
              <a:lnSpc>
                <a:spcPct val="100000"/>
              </a:lnSpc>
              <a:buNone/>
            </a:pPr>
            <a:r>
              <a:rPr lang="ko-KR" altLang="en-US" sz="2025" b="0" dirty="0">
                <a:solidFill>
                  <a:srgbClr val="171717"/>
                </a:solidFill>
                <a:latin typeface="Malgun Gothic"/>
                <a:ea typeface="Malgun Gothic"/>
                <a:cs typeface="Malgun Gothic"/>
              </a:rPr>
              <a:t>남은 돈이 0원이 되어 해답이 완성됩니다.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1개 = 10원 ≤ 10원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0원 → 완성</a:t>
                      </a:r>
                    </a:p>
                  </a:txBody>
                  <a:tcPr marL="54864" marR="54864" marT="18288" marB="18288" anchor="ctr">
                    <a:solidFill>
                      <a:srgbClr val="FFFFFF"/>
                    </a:solidFill>
                  </a:tcPr>
                </a:tc>
              </a:tr>
            </a:tbl>
          </a:graphicData>
        </a:graphic>
      </p:graphicFrame>
      <p:sp>
        <p:nvSpPr>
          <p:cNvPr id="12" name="fit:fb3491e724395097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확정한 동전</a:t>
            </a:r>
          </a:p>
        </p:txBody>
      </p:sp>
      <p:sp>
        <p:nvSpPr>
          <p:cNvPr id="13" name="fit:01167c2cc1b2577d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2 + 2 + 1 + 1 = 6개</a:t>
            </a:r>
          </a:p>
        </p:txBody>
      </p:sp>
      <p:sp>
        <p:nvSpPr>
          <p:cNvPr id="14" name="fit:17cbfa7f204eb63e 15"/>
          <p:cNvSpPr/>
          <p:nvPr/>
        </p:nvSpPr>
        <p:spPr>
          <a:xfrm>
            <a:off x="7909560" y="5084064"/>
            <a:ext cx="3666744" cy="484632"/>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이 6개가 최소인 이유는</a:t>
            </a:r>
          </a:p>
          <a:p>
            <a:pPr algn="l" eaLnBrk="0" latinLnBrk="0">
              <a:lnSpc>
                <a:spcPct val="100000"/>
              </a:lnSpc>
              <a:buNone/>
            </a:pPr>
            <a:r>
              <a:rPr lang="ko-KR" altLang="en-US" sz="1450" b="0" dirty="0">
                <a:solidFill>
                  <a:srgbClr val="3F3F3F"/>
                </a:solidFill>
                <a:latin typeface="Malgun Gothic"/>
                <a:ea typeface="Malgun Gothic"/>
                <a:cs typeface="Malgun Gothic"/>
              </a:rPr>
              <a:t>뒤의 배수 조건에서 봅니다.</a:t>
            </a:r>
          </a:p>
        </p:txBody>
      </p:sp>
      <p:sp>
        <p:nvSpPr>
          <p:cNvPr id="15" name="직사각형 16"/>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6" name="표 17"/>
          <p:cNvGraphicFramePr>
            <a:graphicFrameLocks noGrp="1"/>
          </p:cNvGraphicFramePr>
          <p:nvPr/>
        </p:nvGraphicFramePr>
        <p:xfrm>
          <a:off x="2103120" y="265176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500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100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50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DCECFB"/>
                    </a:solidFill>
                  </a:tcPr>
                </a:tc>
              </a:tr>
            </a:tbl>
          </a:graphicData>
        </a:graphic>
      </p:graphicFrame>
      <p:sp>
        <p:nvSpPr>
          <p:cNvPr id="17" name="직사각형 18"/>
          <p:cNvSpPr/>
          <p:nvPr/>
        </p:nvSpPr>
        <p:spPr>
          <a:xfrm>
            <a:off x="521208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지금</a:t>
            </a:r>
          </a:p>
        </p:txBody>
      </p:sp>
      <p:sp>
        <p:nvSpPr>
          <p:cNvPr id="18" name="직사각형 19"/>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9" name="표 20"/>
          <p:cNvGraphicFramePr>
            <a:graphicFrameLocks noGrp="1"/>
          </p:cNvGraphicFramePr>
          <p:nvPr/>
        </p:nvGraphicFramePr>
        <p:xfrm>
          <a:off x="2103120" y="3657600"/>
          <a:ext cx="4389120" cy="493776"/>
        </p:xfrm>
        <a:graphic>
          <a:graphicData uri="http://schemas.openxmlformats.org/drawingml/2006/table">
            <a:tbl>
              <a:tblPr/>
              <a:tblGrid>
                <a:gridCol w="1097280"/>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1</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r>
            </a:tbl>
          </a:graphicData>
        </a:graphic>
      </p:graphicFrame>
      <p:sp>
        <p:nvSpPr>
          <p:cNvPr id="20" name="직사각형 21"/>
          <p:cNvSpPr/>
          <p:nvPr/>
        </p:nvSpPr>
        <p:spPr>
          <a:xfrm>
            <a:off x="2103120" y="4480560"/>
            <a:ext cx="274320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0원</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보는 동전    회색: 이미 처리한 동전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큰 단위부터 몫으로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change.py</a:t>
            </a:r>
          </a:p>
        </p:txBody>
      </p:sp>
      <p:sp>
        <p:nvSpPr>
          <p:cNvPr id="10" name="직사각형 11"/>
          <p:cNvSpPr/>
          <p:nvPr/>
        </p:nvSpPr>
        <p:spPr>
          <a:xfrm>
            <a:off x="630936" y="1645920"/>
            <a:ext cx="10954512" cy="429768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n = 1260          # 거슬러 줘야 할 돈</a:t>
            </a:r>
          </a:p>
          <a:p>
            <a:pPr algn="l" eaLnBrk="0" latinLnBrk="0">
              <a:lnSpc>
                <a:spcPct val="100000"/>
              </a:lnSpc>
              <a:buNone/>
            </a:pPr>
            <a:r>
              <a:rPr lang="ko-KR" altLang="en-US" sz="1800" b="0" dirty="0">
                <a:solidFill>
                  <a:srgbClr val="151515"/>
                </a:solidFill>
                <a:latin typeface="Consolas"/>
                <a:ea typeface="Consolas"/>
                <a:cs typeface="Consolas"/>
              </a:rPr>
              <a:t>count = 0</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큰 단위부터 확인 — 반드시 내림차순이어야 한다</a:t>
            </a:r>
          </a:p>
          <a:p>
            <a:pPr algn="l" eaLnBrk="0" latinLnBrk="0">
              <a:lnSpc>
                <a:spcPct val="100000"/>
              </a:lnSpc>
              <a:buNone/>
            </a:pPr>
            <a:r>
              <a:rPr lang="ko-KR" altLang="en-US" sz="1800" b="0" dirty="0">
                <a:solidFill>
                  <a:srgbClr val="151515"/>
                </a:solidFill>
                <a:latin typeface="Consolas"/>
                <a:ea typeface="Consolas"/>
                <a:cs typeface="Consolas"/>
              </a:rPr>
              <a:t>coin_types = [500, 100, 50, 10]</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print(f"거스름돈: {n}원 시작")</a:t>
            </a:r>
          </a:p>
          <a:p>
            <a:pPr algn="l" eaLnBrk="0" latinLnBrk="0">
              <a:lnSpc>
                <a:spcPct val="100000"/>
              </a:lnSpc>
              <a:buNone/>
            </a:pPr>
            <a:r>
              <a:rPr lang="ko-KR" altLang="en-US" sz="1800" b="0" dirty="0">
                <a:solidFill>
                  <a:srgbClr val="151515"/>
                </a:solidFill>
                <a:latin typeface="Consolas"/>
                <a:ea typeface="Consolas"/>
                <a:cs typeface="Consolas"/>
              </a:rPr>
              <a:t>print("-" * 30)</a:t>
            </a:r>
          </a:p>
          <a:p>
            <a:pPr algn="l" eaLnBrk="0" latinLnBrk="0">
              <a:lnSpc>
                <a:spcPct val="100000"/>
              </a:lnSpc>
              <a:buNone/>
            </a:pPr>
            <a:r>
              <a:rPr lang="ko-KR" altLang="en-US" sz="1800" b="0" dirty="0">
                <a:solidFill>
                  <a:srgbClr val="151515"/>
                </a:solidFill>
                <a:latin typeface="Consolas"/>
                <a:ea typeface="Consolas"/>
                <a:cs typeface="Consolas"/>
              </a:rPr>
              <a:t>for coin in coin_types:</a:t>
            </a:r>
          </a:p>
          <a:p>
            <a:pPr algn="l" eaLnBrk="0" latinLnBrk="0">
              <a:lnSpc>
                <a:spcPct val="100000"/>
              </a:lnSpc>
              <a:buNone/>
            </a:pPr>
            <a:r>
              <a:rPr lang="ko-KR" altLang="en-US" sz="1800" b="0" dirty="0">
                <a:solidFill>
                  <a:srgbClr val="151515"/>
                </a:solidFill>
                <a:latin typeface="Consolas"/>
                <a:ea typeface="Consolas"/>
                <a:cs typeface="Consolas"/>
              </a:rPr>
              <a:t>    num_coins = n // coin    # 몫 = 이 동전을 몇 개 쓰는가</a:t>
            </a:r>
          </a:p>
          <a:p>
            <a:pPr algn="l" eaLnBrk="0" latinLnBrk="0">
              <a:lnSpc>
                <a:spcPct val="100000"/>
              </a:lnSpc>
              <a:buNone/>
            </a:pPr>
            <a:r>
              <a:rPr lang="ko-KR" altLang="en-US" sz="1800" b="0" dirty="0">
                <a:solidFill>
                  <a:srgbClr val="151515"/>
                </a:solidFill>
                <a:latin typeface="Consolas"/>
                <a:ea typeface="Consolas"/>
                <a:cs typeface="Consolas"/>
              </a:rPr>
              <a:t>    count += num_coins</a:t>
            </a:r>
          </a:p>
          <a:p>
            <a:pPr algn="l" eaLnBrk="0" latinLnBrk="0">
              <a:lnSpc>
                <a:spcPct val="100000"/>
              </a:lnSpc>
              <a:buNone/>
            </a:pPr>
            <a:r>
              <a:rPr lang="ko-KR" altLang="en-US" sz="1800" b="0" dirty="0">
                <a:solidFill>
                  <a:srgbClr val="151515"/>
                </a:solidFill>
                <a:latin typeface="Consolas"/>
                <a:ea typeface="Consolas"/>
                <a:cs typeface="Consolas"/>
              </a:rPr>
              <a:t>    n %= coin                # 나머지 = 남은 돈</a:t>
            </a:r>
          </a:p>
          <a:p>
            <a:pPr algn="l" eaLnBrk="0" latinLnBrk="0">
              <a:lnSpc>
                <a:spcPct val="100000"/>
              </a:lnSpc>
              <a:buNone/>
            </a:pPr>
            <a:r>
              <a:rPr lang="ko-KR" altLang="en-US" sz="1800" b="0" dirty="0">
                <a:solidFill>
                  <a:srgbClr val="151515"/>
                </a:solidFill>
                <a:latin typeface="Consolas"/>
                <a:ea typeface="Consolas"/>
                <a:cs typeface="Consolas"/>
              </a:rPr>
              <a:t>    print(f"{coin}원짜리: {num_coins}개 사용 (남은 돈: {n}원)")</a:t>
            </a:r>
          </a:p>
          <a:p>
            <a:pPr algn="l" eaLnBrk="0" latinLnBrk="0">
              <a:lnSpc>
                <a:spcPct val="100000"/>
              </a:lnSpc>
              <a:buNone/>
            </a:pPr>
            <a:r>
              <a:rPr lang="ko-KR" altLang="en-US" sz="1800" b="0" dirty="0">
                <a:solidFill>
                  <a:srgbClr val="151515"/>
                </a:solidFill>
                <a:latin typeface="Consolas"/>
                <a:ea typeface="Consolas"/>
                <a:cs typeface="Consolas"/>
              </a:rPr>
              <a:t>print("-" * 30)</a:t>
            </a:r>
          </a:p>
          <a:p>
            <a:pPr algn="l" eaLnBrk="0" latinLnBrk="0">
              <a:lnSpc>
                <a:spcPct val="100000"/>
              </a:lnSpc>
              <a:buNone/>
            </a:pPr>
            <a:r>
              <a:rPr lang="ko-KR" altLang="en-US" sz="1800" b="0" dirty="0">
                <a:solidFill>
                  <a:srgbClr val="151515"/>
                </a:solidFill>
                <a:latin typeface="Consolas"/>
                <a:ea typeface="Consolas"/>
                <a:cs typeface="Consolas"/>
              </a:rPr>
              <a:t>print(f"최소 동전 개수: {count}개")</a:t>
            </a:r>
          </a:p>
        </p:txBody>
      </p:sp>
      <p:sp>
        <p:nvSpPr>
          <p:cNvPr id="11" name="직사각형 12"/>
          <p:cNvSpPr/>
          <p:nvPr/>
        </p:nvSpPr>
        <p:spPr>
          <a:xfrm>
            <a:off x="612648" y="605332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coin_types를 [10, 50, 100, 500]으로 적으면 10원 126개가 나옵니다. 큰 단위부터 적어야 합니다.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①: 변수와 동전 배열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change.c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main(void) {</a:t>
            </a:r>
          </a:p>
          <a:p>
            <a:pPr algn="l" eaLnBrk="0" latinLnBrk="0">
              <a:lnSpc>
                <a:spcPct val="100000"/>
              </a:lnSpc>
              <a:buNone/>
            </a:pPr>
            <a:r>
              <a:rPr lang="ko-KR" altLang="en-US" sz="1800" b="0" dirty="0">
                <a:solidFill>
                  <a:srgbClr val="151515"/>
                </a:solidFill>
                <a:latin typeface="Consolas"/>
                <a:ea typeface="Consolas"/>
                <a:cs typeface="Consolas"/>
              </a:rPr>
              <a:t>    int n = 1260;          /* 거슬러 줘야 할 돈 */</a:t>
            </a:r>
          </a:p>
          <a:p>
            <a:pPr algn="l" eaLnBrk="0" latinLnBrk="0">
              <a:lnSpc>
                <a:spcPct val="100000"/>
              </a:lnSpc>
              <a:buNone/>
            </a:pPr>
            <a:r>
              <a:rPr lang="ko-KR" altLang="en-US" sz="1800" b="0" dirty="0">
                <a:solidFill>
                  <a:srgbClr val="151515"/>
                </a:solidFill>
                <a:latin typeface="Consolas"/>
                <a:ea typeface="Consolas"/>
                <a:cs typeface="Consolas"/>
              </a:rPr>
              <a:t>    int count = 0;</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 큰 단위부터 확인 — 반드시 내림차순이어야 한다 */</a:t>
            </a:r>
          </a:p>
          <a:p>
            <a:pPr algn="l" eaLnBrk="0" latinLnBrk="0">
              <a:lnSpc>
                <a:spcPct val="100000"/>
              </a:lnSpc>
              <a:buNone/>
            </a:pPr>
            <a:r>
              <a:rPr lang="ko-KR" altLang="en-US" sz="1800" b="0" dirty="0">
                <a:solidFill>
                  <a:srgbClr val="151515"/>
                </a:solidFill>
                <a:latin typeface="Consolas"/>
                <a:ea typeface="Consolas"/>
                <a:cs typeface="Consolas"/>
              </a:rPr>
              <a:t>    int coin_types[] = {500, 100, 50, 10};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②: 큰 단위부터 몫으로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change.c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printf("거스름돈: %d원 시작\n", n);</a:t>
            </a:r>
          </a:p>
          <a:p>
            <a:pPr algn="l" eaLnBrk="0" latinLnBrk="0">
              <a:lnSpc>
                <a:spcPct val="100000"/>
              </a:lnSpc>
              <a:buNone/>
            </a:pPr>
            <a:r>
              <a:rPr lang="ko-KR" altLang="en-US" sz="1800" b="0" dirty="0">
                <a:solidFill>
                  <a:srgbClr val="151515"/>
                </a:solidFill>
                <a:latin typeface="Consolas"/>
                <a:ea typeface="Consolas"/>
                <a:cs typeface="Consolas"/>
              </a:rPr>
              <a:t>    printf("------------------------------\n");</a:t>
            </a:r>
          </a:p>
          <a:p>
            <a:pPr algn="l" eaLnBrk="0" latinLnBrk="0">
              <a:lnSpc>
                <a:spcPct val="100000"/>
              </a:lnSpc>
              <a:buNone/>
            </a:pPr>
            <a:r>
              <a:rPr lang="ko-KR" altLang="en-US" sz="1800" b="0" dirty="0">
                <a:solidFill>
                  <a:srgbClr val="151515"/>
                </a:solidFill>
                <a:latin typeface="Consolas"/>
                <a:ea typeface="Consolas"/>
                <a:cs typeface="Consolas"/>
              </a:rPr>
              <a:t>    for (int i = 0; i &lt; 4; i++) {</a:t>
            </a:r>
          </a:p>
          <a:p>
            <a:pPr algn="l" eaLnBrk="0" latinLnBrk="0">
              <a:lnSpc>
                <a:spcPct val="100000"/>
              </a:lnSpc>
              <a:buNone/>
            </a:pPr>
            <a:r>
              <a:rPr lang="ko-KR" altLang="en-US" sz="1800" b="0" dirty="0">
                <a:solidFill>
                  <a:srgbClr val="151515"/>
                </a:solidFill>
                <a:latin typeface="Consolas"/>
                <a:ea typeface="Consolas"/>
                <a:cs typeface="Consolas"/>
              </a:rPr>
              <a:t>        int coin = coin_types[i];</a:t>
            </a:r>
          </a:p>
          <a:p>
            <a:pPr algn="l" eaLnBrk="0" latinLnBrk="0">
              <a:lnSpc>
                <a:spcPct val="100000"/>
              </a:lnSpc>
              <a:buNone/>
            </a:pPr>
            <a:r>
              <a:rPr lang="ko-KR" altLang="en-US" sz="1800" b="0" dirty="0">
                <a:solidFill>
                  <a:srgbClr val="151515"/>
                </a:solidFill>
                <a:latin typeface="Consolas"/>
                <a:ea typeface="Consolas"/>
                <a:cs typeface="Consolas"/>
              </a:rPr>
              <a:t>        int num_coins = n / coin;   /* 몫 = 이 동전을 몇 개 쓰는가 */</a:t>
            </a:r>
          </a:p>
          <a:p>
            <a:pPr algn="l" eaLnBrk="0" latinLnBrk="0">
              <a:lnSpc>
                <a:spcPct val="100000"/>
              </a:lnSpc>
              <a:buNone/>
            </a:pPr>
            <a:r>
              <a:rPr lang="ko-KR" altLang="en-US" sz="1800" b="0" dirty="0">
                <a:solidFill>
                  <a:srgbClr val="151515"/>
                </a:solidFill>
                <a:latin typeface="Consolas"/>
                <a:ea typeface="Consolas"/>
                <a:cs typeface="Consolas"/>
              </a:rPr>
              <a:t>        count += num_coins;</a:t>
            </a:r>
          </a:p>
          <a:p>
            <a:pPr algn="l" eaLnBrk="0" latinLnBrk="0">
              <a:lnSpc>
                <a:spcPct val="100000"/>
              </a:lnSpc>
              <a:buNone/>
            </a:pPr>
            <a:r>
              <a:rPr lang="ko-KR" altLang="en-US" sz="1800" b="0" dirty="0">
                <a:solidFill>
                  <a:srgbClr val="151515"/>
                </a:solidFill>
                <a:latin typeface="Consolas"/>
                <a:ea typeface="Consolas"/>
                <a:cs typeface="Consolas"/>
              </a:rPr>
              <a:t>        n %= coin;                  /* 나머지 = 남은 돈 */</a:t>
            </a:r>
          </a:p>
          <a:p>
            <a:pPr algn="l" eaLnBrk="0" latinLnBrk="0">
              <a:lnSpc>
                <a:spcPct val="100000"/>
              </a:lnSpc>
              <a:buNone/>
            </a:pPr>
            <a:r>
              <a:rPr lang="ko-KR" altLang="en-US" sz="1800" b="0" dirty="0">
                <a:solidFill>
                  <a:srgbClr val="151515"/>
                </a:solidFill>
                <a:latin typeface="Consolas"/>
                <a:ea typeface="Consolas"/>
                <a:cs typeface="Consolas"/>
              </a:rPr>
              <a:t>        printf("%d원짜리: %d개 사용 (남은 돈: %d원)\n",</a:t>
            </a:r>
          </a:p>
          <a:p>
            <a:pPr algn="l" eaLnBrk="0" latinLnBrk="0">
              <a:lnSpc>
                <a:spcPct val="100000"/>
              </a:lnSpc>
              <a:buNone/>
            </a:pPr>
            <a:r>
              <a:rPr lang="ko-KR" altLang="en-US" sz="1800" b="0" dirty="0">
                <a:solidFill>
                  <a:srgbClr val="151515"/>
                </a:solidFill>
                <a:latin typeface="Consolas"/>
                <a:ea typeface="Consolas"/>
                <a:cs typeface="Consolas"/>
              </a:rPr>
              <a:t>               coin, num_coins, n);</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printf("------------------------------\n");</a:t>
            </a:r>
          </a:p>
          <a:p>
            <a:pPr algn="l" eaLnBrk="0" latinLnBrk="0">
              <a:lnSpc>
                <a:spcPct val="100000"/>
              </a:lnSpc>
              <a:buNone/>
            </a:pPr>
            <a:r>
              <a:rPr lang="ko-KR" altLang="en-US" sz="1800" b="0" dirty="0">
                <a:solidFill>
                  <a:srgbClr val="151515"/>
                </a:solidFill>
                <a:latin typeface="Consolas"/>
                <a:ea typeface="Consolas"/>
                <a:cs typeface="Consolas"/>
              </a:rPr>
              <a:t>    printf("최소 동전 개수: %d개\n", count);</a:t>
            </a:r>
          </a:p>
          <a:p>
            <a:pPr algn="l" eaLnBrk="0" latinLnBrk="0">
              <a:lnSpc>
                <a:spcPct val="100000"/>
              </a:lnSpc>
              <a:buNone/>
            </a:pPr>
            <a:r>
              <a:rPr lang="ko-KR" altLang="en-US" sz="1800" b="0" dirty="0">
                <a:solidFill>
                  <a:srgbClr val="151515"/>
                </a:solidFill>
                <a:latin typeface="Consolas"/>
                <a:ea typeface="Consolas"/>
                <a:cs typeface="Consolas"/>
              </a:rPr>
              <a:t>    return 0;</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실행 결과</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20</a:t>
            </a:r>
          </a:p>
        </p:txBody>
      </p:sp>
      <p:sp>
        <p:nvSpPr>
          <p:cNvPr id="9" name="fit:c0b4d1ca6b4c010b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Python과 C의 출력이 같습니다.</a:t>
            </a:r>
          </a:p>
        </p:txBody>
      </p:sp>
      <p:sp>
        <p:nvSpPr>
          <p:cNvPr id="10" name="직사각형 11"/>
          <p:cNvSpPr/>
          <p:nvPr/>
        </p:nvSpPr>
        <p:spPr>
          <a:xfrm>
            <a:off x="612648" y="2075688"/>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1" name="직사각형 12"/>
          <p:cNvSpPr/>
          <p:nvPr/>
        </p:nvSpPr>
        <p:spPr>
          <a:xfrm>
            <a:off x="612648" y="2295144"/>
            <a:ext cx="10972800" cy="1929384"/>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거스름돈: 1260원 시작</a:t>
            </a:r>
          </a:p>
          <a:p>
            <a:pPr algn="l" eaLnBrk="0" latinLnBrk="0">
              <a:lnSpc>
                <a:spcPct val="100000"/>
              </a:lnSpc>
              <a:buNone/>
            </a:pPr>
            <a:r>
              <a:rPr lang="ko-KR" altLang="en-US" sz="1400" b="0" dirty="0">
                <a:solidFill>
                  <a:srgbClr val="151515"/>
                </a:solidFill>
                <a:latin typeface="Consolas"/>
                <a:ea typeface="Consolas"/>
                <a:cs typeface="Consolas"/>
              </a:rPr>
              <a:t>------------------------------</a:t>
            </a:r>
          </a:p>
          <a:p>
            <a:pPr algn="l" eaLnBrk="0" latinLnBrk="0">
              <a:lnSpc>
                <a:spcPct val="100000"/>
              </a:lnSpc>
              <a:buNone/>
            </a:pPr>
            <a:r>
              <a:rPr lang="ko-KR" altLang="en-US" sz="1400" b="0" dirty="0">
                <a:solidFill>
                  <a:srgbClr val="151515"/>
                </a:solidFill>
                <a:latin typeface="Consolas"/>
                <a:ea typeface="Consolas"/>
                <a:cs typeface="Consolas"/>
              </a:rPr>
              <a:t>500원짜리: 2개 사용 (남은 돈: 260원)</a:t>
            </a:r>
          </a:p>
          <a:p>
            <a:pPr algn="l" eaLnBrk="0" latinLnBrk="0">
              <a:lnSpc>
                <a:spcPct val="100000"/>
              </a:lnSpc>
              <a:buNone/>
            </a:pPr>
            <a:r>
              <a:rPr lang="ko-KR" altLang="en-US" sz="1400" b="0" dirty="0">
                <a:solidFill>
                  <a:srgbClr val="151515"/>
                </a:solidFill>
                <a:latin typeface="Consolas"/>
                <a:ea typeface="Consolas"/>
                <a:cs typeface="Consolas"/>
              </a:rPr>
              <a:t>100원짜리: 2개 사용 (남은 돈: 60원)</a:t>
            </a:r>
          </a:p>
          <a:p>
            <a:pPr algn="l" eaLnBrk="0" latinLnBrk="0">
              <a:lnSpc>
                <a:spcPct val="100000"/>
              </a:lnSpc>
              <a:buNone/>
            </a:pPr>
            <a:r>
              <a:rPr lang="ko-KR" altLang="en-US" sz="1400" b="0" dirty="0">
                <a:solidFill>
                  <a:srgbClr val="151515"/>
                </a:solidFill>
                <a:latin typeface="Consolas"/>
                <a:ea typeface="Consolas"/>
                <a:cs typeface="Consolas"/>
              </a:rPr>
              <a:t>50원짜리: 1개 사용 (남은 돈: 10원)</a:t>
            </a:r>
          </a:p>
          <a:p>
            <a:pPr algn="l" eaLnBrk="0" latinLnBrk="0">
              <a:lnSpc>
                <a:spcPct val="100000"/>
              </a:lnSpc>
              <a:buNone/>
            </a:pPr>
            <a:r>
              <a:rPr lang="ko-KR" altLang="en-US" sz="1400" b="0" dirty="0">
                <a:solidFill>
                  <a:srgbClr val="151515"/>
                </a:solidFill>
                <a:latin typeface="Consolas"/>
                <a:ea typeface="Consolas"/>
                <a:cs typeface="Consolas"/>
              </a:rPr>
              <a:t>10원짜리: 1개 사용 (남은 돈: 0원)</a:t>
            </a:r>
          </a:p>
          <a:p>
            <a:pPr algn="l" eaLnBrk="0" latinLnBrk="0">
              <a:lnSpc>
                <a:spcPct val="100000"/>
              </a:lnSpc>
              <a:buNone/>
            </a:pPr>
            <a:r>
              <a:rPr lang="ko-KR" altLang="en-US" sz="1400" b="0" dirty="0">
                <a:solidFill>
                  <a:srgbClr val="151515"/>
                </a:solidFill>
                <a:latin typeface="Consolas"/>
                <a:ea typeface="Consolas"/>
                <a:cs typeface="Consolas"/>
              </a:rPr>
              <a:t>------------------------------</a:t>
            </a:r>
          </a:p>
          <a:p>
            <a:pPr algn="l" eaLnBrk="0" latinLnBrk="0">
              <a:lnSpc>
                <a:spcPct val="100000"/>
              </a:lnSpc>
              <a:buNone/>
            </a:pPr>
            <a:r>
              <a:rPr lang="ko-KR" altLang="en-US" sz="1400" b="0" dirty="0">
                <a:solidFill>
                  <a:srgbClr val="151515"/>
                </a:solidFill>
                <a:latin typeface="Consolas"/>
                <a:ea typeface="Consolas"/>
                <a:cs typeface="Consolas"/>
              </a:rPr>
              <a:t>최소 동전 개수: 6개</a:t>
            </a:r>
          </a:p>
        </p:txBody>
      </p:sp>
      <p:sp>
        <p:nvSpPr>
          <p:cNvPr id="12" name="fit:ec4aef72cb68d57a 13"/>
          <p:cNvSpPr/>
          <p:nvPr/>
        </p:nvSpPr>
        <p:spPr>
          <a:xfrm>
            <a:off x="612648" y="435254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남은 돈은 260원 → 60원 → 10원 → 0원으로 줄고, 동전은 2 + 2 + 1 + 1 = 6개입니다.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복잡도: 금액이 아니라 동전 종류 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21</a:t>
            </a:r>
          </a:p>
        </p:txBody>
      </p:sp>
      <p:sp>
        <p:nvSpPr>
          <p:cNvPr id="9" name="fit:ed165bd5a9006da3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K = 동전 종류의 수. 지금은 500, 100, 50, 10원이라 K = 4입니다.</a:t>
            </a:r>
          </a:p>
        </p:txBody>
      </p:sp>
      <p:graphicFrame>
        <p:nvGraphicFramePr>
          <p:cNvPr id="10" name="표 11"/>
          <p:cNvGraphicFramePr>
            <a:graphicFrameLocks noGrp="1"/>
          </p:cNvGraphicFramePr>
          <p:nvPr/>
        </p:nvGraphicFramePr>
        <p:xfrm>
          <a:off x="612648" y="2103120"/>
          <a:ext cx="10972800" cy="1097280"/>
        </p:xfrm>
        <a:graphic>
          <a:graphicData uri="http://schemas.openxmlformats.org/drawingml/2006/table">
            <a:tbl>
              <a:tblPr/>
              <a:tblGrid>
                <a:gridCol w="3135086"/>
                <a:gridCol w="3918857"/>
                <a:gridCol w="3918857"/>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거슬러 줄 돈</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몫과 나머지: 반복 횟수</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하나씩 빼기: 빼는 횟수</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1,260원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4번</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6번</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1,260,000원</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0E8A7D"/>
                          </a:solidFill>
                          <a:latin typeface="Malgun Gothic"/>
                          <a:ea typeface="Malgun Gothic"/>
                          <a:cs typeface="Malgun Gothic"/>
                        </a:rPr>
                        <a:t>4번</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B23B3B"/>
                          </a:solidFill>
                          <a:latin typeface="Malgun Gothic"/>
                          <a:ea typeface="Malgun Gothic"/>
                          <a:cs typeface="Malgun Gothic"/>
                        </a:rPr>
                        <a:t>2,520번</a:t>
                      </a:r>
                    </a:p>
                  </a:txBody>
                  <a:tcPr marL="54864" marR="54864" marT="18288" marB="18288" anchor="ctr">
                    <a:solidFill>
                      <a:srgbClr val="FFFFFF"/>
                    </a:solidFill>
                  </a:tcPr>
                </a:tc>
              </a:tr>
            </a:tbl>
          </a:graphicData>
        </a:graphic>
      </p:graphicFrame>
      <p:sp>
        <p:nvSpPr>
          <p:cNvPr id="11" name="fit:016293f2f0d68da8 12"/>
          <p:cNvSpPr/>
          <p:nvPr/>
        </p:nvSpPr>
        <p:spPr>
          <a:xfrm>
            <a:off x="612648" y="33467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반복 한 번: 몫과 나머지 한 번씩 → O(1)</a:t>
            </a:r>
          </a:p>
        </p:txBody>
      </p:sp>
      <p:sp>
        <p:nvSpPr>
          <p:cNvPr id="12" name="fit:39d52ade6b2bdc1d 13"/>
          <p:cNvSpPr/>
          <p:nvPr/>
        </p:nvSpPr>
        <p:spPr>
          <a:xfrm>
            <a:off x="795528" y="36758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금액이 커도 나눗셈 한 번이면 개수가 나옵니다.</a:t>
            </a:r>
          </a:p>
        </p:txBody>
      </p:sp>
      <p:sp>
        <p:nvSpPr>
          <p:cNvPr id="13" name="fit:be20a7262c44ba2a 14"/>
          <p:cNvSpPr/>
          <p:nvPr/>
        </p:nvSpPr>
        <p:spPr>
          <a:xfrm>
            <a:off x="612648" y="405993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전체: K × O(1) = O(K)</a:t>
            </a:r>
          </a:p>
        </p:txBody>
      </p:sp>
      <p:sp>
        <p:nvSpPr>
          <p:cNvPr id="14" name="fit:a3ae631dead1a338 15"/>
          <p:cNvSpPr/>
          <p:nvPr/>
        </p:nvSpPr>
        <p:spPr>
          <a:xfrm>
            <a:off x="795528" y="438912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목록이 이미 큰 단위부터 적혀 있을 때입니다. 정렬부터 해야 하면 O(K log K)가 더해집니다.</a:t>
            </a:r>
          </a:p>
        </p:txBody>
      </p:sp>
      <p:sp>
        <p:nvSpPr>
          <p:cNvPr id="15" name="fit:1433d2fd79867e62 16"/>
          <p:cNvSpPr/>
          <p:nvPr/>
        </p:nvSpPr>
        <p:spPr>
          <a:xfrm>
            <a:off x="612648" y="477316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하나씩 빼는 방법은 반복 횟수가 금액에 비례해서 늘어납니다.</a:t>
            </a:r>
          </a:p>
        </p:txBody>
      </p:sp>
      <p:sp>
        <p:nvSpPr>
          <p:cNvPr id="16" name="fit:defe730fb20def5b 17"/>
          <p:cNvSpPr/>
          <p:nvPr/>
        </p:nvSpPr>
        <p:spPr>
          <a:xfrm>
            <a:off x="612648" y="51755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동전 종류가 고정이면 K는 상수이므로 O(1)이라고도 씁니다.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큰 동전부터가 최적인가: 배수 조건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22</a:t>
            </a:r>
          </a:p>
        </p:txBody>
      </p:sp>
      <p:sp>
        <p:nvSpPr>
          <p:cNvPr id="9" name="fit:1492bf713976cd19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한국 동전은 큰 단위가 바로 아래 단위의 배수입니다.</a:t>
            </a:r>
          </a:p>
        </p:txBody>
      </p:sp>
      <p:graphicFrame>
        <p:nvGraphicFramePr>
          <p:cNvPr id="10" name="표 11"/>
          <p:cNvGraphicFramePr>
            <a:graphicFrameLocks noGrp="1"/>
          </p:cNvGraphicFramePr>
          <p:nvPr/>
        </p:nvGraphicFramePr>
        <p:xfrm>
          <a:off x="612648" y="2103120"/>
          <a:ext cx="10972800" cy="1463040"/>
        </p:xfrm>
        <a:graphic>
          <a:graphicData uri="http://schemas.openxmlformats.org/drawingml/2006/table">
            <a:tbl>
              <a:tblPr/>
              <a:tblGrid>
                <a:gridCol w="2887579"/>
                <a:gridCol w="4620126"/>
                <a:gridCol w="3465095"/>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큰 동전 1개</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같은 금액의 작은 동전</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개수</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500원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100원 5개</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1개 ↔ 5개</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100원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50원 2개</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1개 ↔ 2개</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50원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10원 5개</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1개 ↔ 5개</a:t>
                      </a:r>
                    </a:p>
                  </a:txBody>
                  <a:tcPr marL="54864" marR="54864" marT="18288" marB="18288" anchor="ctr">
                    <a:solidFill>
                      <a:srgbClr val="FFFFFF"/>
                    </a:solidFill>
                  </a:tcPr>
                </a:tc>
              </a:tr>
            </a:tbl>
          </a:graphicData>
        </a:graphic>
      </p:graphicFrame>
      <p:sp>
        <p:nvSpPr>
          <p:cNvPr id="11" name="fit:97727c44b8173175 12"/>
          <p:cNvSpPr/>
          <p:nvPr/>
        </p:nvSpPr>
        <p:spPr>
          <a:xfrm>
            <a:off x="612648" y="371246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작은 동전이 쌓이면 큰 동전 하나로 바꿀 수 있습니다</a:t>
            </a:r>
          </a:p>
        </p:txBody>
      </p:sp>
      <p:sp>
        <p:nvSpPr>
          <p:cNvPr id="12" name="fit:ac95b49e6419672c 13"/>
          <p:cNvSpPr/>
          <p:nvPr/>
        </p:nvSpPr>
        <p:spPr>
          <a:xfrm>
            <a:off x="795528" y="404164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100원 5개를 500원 1개로 바꾸면 금액은 같고 개수는 5개에서 1개로 줄어듭니다.</a:t>
            </a:r>
          </a:p>
        </p:txBody>
      </p:sp>
      <p:sp>
        <p:nvSpPr>
          <p:cNvPr id="13" name="fit:611f1ddab462b0f2 14"/>
          <p:cNvSpPr/>
          <p:nvPr/>
        </p:nvSpPr>
        <p:spPr>
          <a:xfrm>
            <a:off x="612648" y="442569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그래서 큰 동전을 덜 쓰면 개수만 늘어납니다</a:t>
            </a:r>
          </a:p>
        </p:txBody>
      </p:sp>
      <p:sp>
        <p:nvSpPr>
          <p:cNvPr id="14" name="fit:fef6a95363235da1 15"/>
          <p:cNvSpPr/>
          <p:nvPr/>
        </p:nvSpPr>
        <p:spPr>
          <a:xfrm>
            <a:off x="795528" y="475488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큰 동전을 낼 수 있는 만큼 쓰는 그리디의 선택이 손해가 되지 않습니다.</a:t>
            </a:r>
          </a:p>
        </p:txBody>
      </p:sp>
      <p:sp>
        <p:nvSpPr>
          <p:cNvPr id="15" name="fit:24107074819060c8 16"/>
          <p:cNvSpPr/>
          <p:nvPr/>
        </p:nvSpPr>
        <p:spPr>
          <a:xfrm>
            <a:off x="612648" y="5138928"/>
            <a:ext cx="1097280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배수 조건이면 그리디가 최적입니다(충분조건).</a:t>
            </a:r>
          </a:p>
        </p:txBody>
      </p:sp>
      <p:sp>
        <p:nvSpPr>
          <p:cNvPr id="16" name="fit:a9030218f2518541 17"/>
          <p:cNvSpPr/>
          <p:nvPr/>
        </p:nvSpPr>
        <p:spPr>
          <a:xfrm>
            <a:off x="612648" y="5623560"/>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배수 조건이 깨지면 이 보장이 사라집니다.</a:t>
            </a:r>
          </a:p>
          <a:p>
            <a:pPr algn="l" eaLnBrk="0" latinLnBrk="0">
              <a:lnSpc>
                <a:spcPct val="100000"/>
              </a:lnSpc>
              <a:buNone/>
            </a:pPr>
            <a:r>
              <a:rPr lang="ko-KR" altLang="en-US" sz="1650" b="0" dirty="0">
                <a:solidFill>
                  <a:srgbClr val="3F3F3F"/>
                </a:solidFill>
                <a:latin typeface="Malgun Gothic"/>
                <a:ea typeface="Malgun Gothic"/>
                <a:cs typeface="Malgun Gothic"/>
              </a:rPr>
              <a:t>늘 틀린다는 뜻이 아니라 틀리는 입력이 생길 수 있다는 뜻입니다.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400원 동전이 생기면: 800원 거슬러 주기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23</a:t>
            </a:r>
          </a:p>
        </p:txBody>
      </p:sp>
      <p:sp>
        <p:nvSpPr>
          <p:cNvPr id="9" name="fit:5b95da4aabf40a95 10"/>
          <p:cNvSpPr/>
          <p:nvPr/>
        </p:nvSpPr>
        <p:spPr>
          <a:xfrm>
            <a:off x="658368" y="1737360"/>
            <a:ext cx="54864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편의점에 400원 동전이 새로 생겼다고 합시다.</a:t>
            </a:r>
          </a:p>
          <a:p>
            <a:pPr algn="l" eaLnBrk="0" latinLnBrk="0">
              <a:lnSpc>
                <a:spcPct val="105000"/>
              </a:lnSpc>
              <a:buNone/>
            </a:pPr>
            <a:r>
              <a:rPr lang="ko-KR" altLang="en-US" sz="1800" b="0" dirty="0">
                <a:solidFill>
                  <a:srgbClr val="171717"/>
                </a:solidFill>
                <a:latin typeface="Malgun Gothic"/>
                <a:ea typeface="Malgun Gothic"/>
                <a:cs typeface="Malgun Gothic"/>
              </a:rPr>
              <a:t>동전은 500, 400, 100, 50, 10원입니다.</a:t>
            </a:r>
          </a:p>
        </p:txBody>
      </p:sp>
      <p:sp>
        <p:nvSpPr>
          <p:cNvPr id="10" name="fit:57e8107607121bb7 11"/>
          <p:cNvSpPr/>
          <p:nvPr/>
        </p:nvSpPr>
        <p:spPr>
          <a:xfrm>
            <a:off x="658368" y="2459736"/>
            <a:ext cx="548640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800원을 최소 개수로?</a:t>
            </a:r>
          </a:p>
        </p:txBody>
      </p:sp>
      <p:sp>
        <p:nvSpPr>
          <p:cNvPr id="11" name="fit:06727c6c1675ce52 12"/>
          <p:cNvSpPr/>
          <p:nvPr/>
        </p:nvSpPr>
        <p:spPr>
          <a:xfrm>
            <a:off x="658368" y="2944368"/>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그리디</a:t>
            </a:r>
          </a:p>
        </p:txBody>
      </p:sp>
      <p:sp>
        <p:nvSpPr>
          <p:cNvPr id="12" name="fit:a2934b80d11cccca 13"/>
          <p:cNvSpPr/>
          <p:nvPr/>
        </p:nvSpPr>
        <p:spPr>
          <a:xfrm>
            <a:off x="841248" y="3264408"/>
            <a:ext cx="530352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남은 돈 이하의 가장 큰 500원부터 집습니다.</a:t>
            </a:r>
          </a:p>
        </p:txBody>
      </p:sp>
      <p:sp>
        <p:nvSpPr>
          <p:cNvPr id="13" name="fit:6b1af91b404cde2a 14"/>
          <p:cNvSpPr/>
          <p:nvPr/>
        </p:nvSpPr>
        <p:spPr>
          <a:xfrm>
            <a:off x="658368" y="3639312"/>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다른 방법</a:t>
            </a:r>
          </a:p>
        </p:txBody>
      </p:sp>
      <p:sp>
        <p:nvSpPr>
          <p:cNvPr id="14" name="fit:739f17021b579a7d 15"/>
          <p:cNvSpPr/>
          <p:nvPr/>
        </p:nvSpPr>
        <p:spPr>
          <a:xfrm>
            <a:off x="841248" y="3959352"/>
            <a:ext cx="530352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500원을 쓰지 않고 400원 두 개를 씁니다.</a:t>
            </a:r>
          </a:p>
        </p:txBody>
      </p:sp>
      <p:sp>
        <p:nvSpPr>
          <p:cNvPr id="15" name="fit:dfa7937cfdca1de1 16"/>
          <p:cNvSpPr/>
          <p:nvPr/>
        </p:nvSpPr>
        <p:spPr>
          <a:xfrm>
            <a:off x="658368" y="4334256"/>
            <a:ext cx="54864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동전 종류만 늘었고 그리디의 규칙은 그대로입니다.</a:t>
            </a:r>
          </a:p>
        </p:txBody>
      </p:sp>
      <p:pic>
        <p:nvPicPr>
          <p:cNvPr id="16" name="그림 17"/>
          <p:cNvPicPr>
            <a:picLocks noChangeAspect="1"/>
          </p:cNvPicPr>
          <p:nvPr/>
        </p:nvPicPr>
        <p:blipFill>
          <a:blip r:embed="rIdImg1"/>
          <a:stretch>
            <a:fillRect/>
          </a:stretch>
        </p:blipFill>
        <p:spPr>
          <a:xfrm>
            <a:off x="6492240" y="2541733"/>
            <a:ext cx="5093208" cy="2780374"/>
          </a:xfrm>
          <a:prstGeom prst="rect">
            <a:avLst/>
          </a:prstGeom>
        </p:spPr>
      </p:pic>
      <p:sp>
        <p:nvSpPr>
          <p:cNvPr id="17" name="직사각형 18"/>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만화: 그리디는 동전 4개, 400원 두 개를 쓰면 2개입니다.</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 500 + 100 + 100 + 100 = 4개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24</a:t>
            </a:r>
          </a:p>
        </p:txBody>
      </p:sp>
      <p:sp>
        <p:nvSpPr>
          <p:cNvPr id="9" name="fit:41bbd80bbf7af234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800원 이하의 가장 큰 500원 1개 → 300원 남음.</a:t>
            </a:r>
          </a:p>
          <a:p>
            <a:pPr algn="l" eaLnBrk="0" latinLnBrk="0">
              <a:lnSpc>
                <a:spcPct val="100000"/>
              </a:lnSpc>
              <a:buNone/>
            </a:pPr>
            <a:r>
              <a:rPr lang="ko-KR" altLang="en-US" sz="2025" b="0" dirty="0">
                <a:solidFill>
                  <a:srgbClr val="171717"/>
                </a:solidFill>
                <a:latin typeface="Malgun Gothic"/>
                <a:ea typeface="Malgun Gothic"/>
                <a:cs typeface="Malgun Gothic"/>
              </a:rPr>
              <a:t>300원에 400원은 들어가지 않아 100원 3개.</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846172"/>
                <a:gridCol w="1786362"/>
                <a:gridCol w="103421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동전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몫</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남은 돈</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500원</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800 // 500 = 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300원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400원</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300 // 400 = 0</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300원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100원</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300 // 100 = 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0원</a:t>
                      </a:r>
                    </a:p>
                  </a:txBody>
                  <a:tcPr marL="54864" marR="54864" marT="18288" marB="18288" anchor="ctr">
                    <a:solidFill>
                      <a:srgbClr val="FFFFFF"/>
                    </a:solidFill>
                  </a:tcPr>
                </a:tc>
              </a:tr>
            </a:tbl>
          </a:graphicData>
        </a:graphic>
      </p:graphicFrame>
      <p:sp>
        <p:nvSpPr>
          <p:cNvPr id="12" name="fit:5d52e14803da4ca4 13"/>
          <p:cNvSpPr/>
          <p:nvPr/>
        </p:nvSpPr>
        <p:spPr>
          <a:xfrm>
            <a:off x="7909560" y="4325112"/>
            <a:ext cx="3666744" cy="704088"/>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500원을 고르는 순간 남은 돈이</a:t>
            </a:r>
          </a:p>
          <a:p>
            <a:pPr algn="l" eaLnBrk="0" latinLnBrk="0">
              <a:lnSpc>
                <a:spcPct val="100000"/>
              </a:lnSpc>
              <a:buNone/>
            </a:pPr>
            <a:r>
              <a:rPr lang="ko-KR" altLang="en-US" sz="1450" b="0" dirty="0">
                <a:solidFill>
                  <a:srgbClr val="3F3F3F"/>
                </a:solidFill>
                <a:latin typeface="Malgun Gothic"/>
                <a:ea typeface="Malgun Gothic"/>
                <a:cs typeface="Malgun Gothic"/>
              </a:rPr>
              <a:t>300원이 되어 400원을 쓸 수</a:t>
            </a:r>
          </a:p>
          <a:p>
            <a:pPr algn="l" eaLnBrk="0" latinLnBrk="0">
              <a:lnSpc>
                <a:spcPct val="100000"/>
              </a:lnSpc>
              <a:buNone/>
            </a:pPr>
            <a:r>
              <a:rPr lang="ko-KR" altLang="en-US" sz="1450" b="0" dirty="0">
                <a:solidFill>
                  <a:srgbClr val="3F3F3F"/>
                </a:solidFill>
                <a:latin typeface="Malgun Gothic"/>
                <a:ea typeface="Malgun Gothic"/>
                <a:cs typeface="Malgun Gothic"/>
              </a:rPr>
              <a:t>없게 됩니다.</a:t>
            </a:r>
          </a:p>
        </p:txBody>
      </p:sp>
      <p:sp>
        <p:nvSpPr>
          <p:cNvPr id="13" name="직사각형 14"/>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4" name="표 15"/>
          <p:cNvGraphicFramePr>
            <a:graphicFrameLocks noGrp="1"/>
          </p:cNvGraphicFramePr>
          <p:nvPr/>
        </p:nvGraphicFramePr>
        <p:xfrm>
          <a:off x="2103120" y="2651760"/>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500</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B23B3B"/>
                          </a:solidFill>
                          <a:latin typeface="Consolas"/>
                          <a:ea typeface="Consolas"/>
                          <a:cs typeface="Consolas"/>
                        </a:rPr>
                        <a:t>400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r>
            </a:tbl>
          </a:graphicData>
        </a:graphic>
      </p:graphicFrame>
      <p:sp>
        <p:nvSpPr>
          <p:cNvPr id="15" name="직사각형 16"/>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그리디</a:t>
            </a:r>
          </a:p>
        </p:txBody>
      </p:sp>
      <p:graphicFrame>
        <p:nvGraphicFramePr>
          <p:cNvPr id="16" name="표 17"/>
          <p:cNvGraphicFramePr>
            <a:graphicFrameLocks noGrp="1"/>
          </p:cNvGraphicFramePr>
          <p:nvPr/>
        </p:nvGraphicFramePr>
        <p:xfrm>
          <a:off x="2103120" y="3657600"/>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17" name="직사각형 18"/>
          <p:cNvSpPr/>
          <p:nvPr/>
        </p:nvSpPr>
        <p:spPr>
          <a:xfrm>
            <a:off x="2103120" y="4480560"/>
            <a:ext cx="310896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0원 · 동전 4개</a:t>
            </a:r>
          </a:p>
        </p:txBody>
      </p:sp>
      <p:sp>
        <p:nvSpPr>
          <p:cNvPr id="18" name="직사각형 1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그리디가 쓴 동전    빨강 글자: 남은 돈보다 커서 못 쓴 동전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최적: 400 + 400 = 2개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25</a:t>
            </a:r>
          </a:p>
        </p:txBody>
      </p:sp>
      <p:sp>
        <p:nvSpPr>
          <p:cNvPr id="9" name="fit:f4196ceec383eae4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500원을 쓰지 않으면 400원 2개로 끝납니다.</a:t>
            </a:r>
          </a:p>
          <a:p>
            <a:pPr algn="l" eaLnBrk="0" latinLnBrk="0">
              <a:lnSpc>
                <a:spcPct val="100000"/>
              </a:lnSpc>
              <a:buNone/>
            </a:pPr>
            <a:r>
              <a:rPr lang="ko-KR" altLang="en-US" sz="2025" b="0" dirty="0">
                <a:solidFill>
                  <a:srgbClr val="171717"/>
                </a:solidFill>
                <a:latin typeface="Malgun Gothic"/>
                <a:ea typeface="Malgun Gothic"/>
                <a:cs typeface="Malgun Gothic"/>
              </a:rPr>
              <a:t>2개 &lt; 4개, 그리디의 답은 최적이 아닙니다.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6d367980047a3d2f 12"/>
          <p:cNvSpPr/>
          <p:nvPr/>
        </p:nvSpPr>
        <p:spPr>
          <a:xfrm>
            <a:off x="7909560" y="2935224"/>
            <a:ext cx="3666744"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600" b="0" dirty="0">
                <a:solidFill>
                  <a:srgbClr val="171717"/>
                </a:solidFill>
                <a:latin typeface="Malgun Gothic"/>
                <a:ea typeface="Malgun Gothic"/>
                <a:cs typeface="Malgun Gothic"/>
              </a:rPr>
              <a:t>왜 그리디가 틀렸나</a:t>
            </a:r>
          </a:p>
        </p:txBody>
      </p:sp>
      <p:sp>
        <p:nvSpPr>
          <p:cNvPr id="12" name="fit:b28c7c094c0c17e0 13"/>
          <p:cNvSpPr/>
          <p:nvPr/>
        </p:nvSpPr>
        <p:spPr>
          <a:xfrm>
            <a:off x="7909560" y="3264408"/>
            <a:ext cx="3666744" cy="978408"/>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400원 두 개 안에는</a:t>
            </a:r>
          </a:p>
          <a:p>
            <a:pPr algn="l" eaLnBrk="0" latinLnBrk="0">
              <a:lnSpc>
                <a:spcPct val="105000"/>
              </a:lnSpc>
              <a:buNone/>
            </a:pPr>
            <a:r>
              <a:rPr lang="ko-KR" altLang="en-US" sz="1500" b="0" dirty="0">
                <a:solidFill>
                  <a:srgbClr val="171717"/>
                </a:solidFill>
                <a:latin typeface="Malgun Gothic"/>
                <a:ea typeface="Malgun Gothic"/>
                <a:cs typeface="Malgun Gothic"/>
              </a:rPr>
              <a:t>합이 500원인 묶음이 없어</a:t>
            </a:r>
          </a:p>
          <a:p>
            <a:pPr algn="l" eaLnBrk="0" latinLnBrk="0">
              <a:lnSpc>
                <a:spcPct val="105000"/>
              </a:lnSpc>
              <a:buNone/>
            </a:pPr>
            <a:r>
              <a:rPr lang="ko-KR" altLang="en-US" sz="1500" b="0" dirty="0">
                <a:solidFill>
                  <a:srgbClr val="171717"/>
                </a:solidFill>
                <a:latin typeface="Malgun Gothic"/>
                <a:ea typeface="Malgun Gothic"/>
                <a:cs typeface="Malgun Gothic"/>
              </a:rPr>
              <a:t>500원으로 바꿔 넣을 수</a:t>
            </a:r>
          </a:p>
          <a:p>
            <a:pPr algn="l" eaLnBrk="0" latinLnBrk="0">
              <a:lnSpc>
                <a:spcPct val="105000"/>
              </a:lnSpc>
              <a:buNone/>
            </a:pPr>
            <a:r>
              <a:rPr lang="ko-KR" altLang="en-US" sz="1500" b="0" dirty="0">
                <a:solidFill>
                  <a:srgbClr val="171717"/>
                </a:solidFill>
                <a:latin typeface="Malgun Gothic"/>
                <a:ea typeface="Malgun Gothic"/>
                <a:cs typeface="Malgun Gothic"/>
              </a:rPr>
              <a:t>없습니다.</a:t>
            </a:r>
          </a:p>
        </p:txBody>
      </p:sp>
      <p:sp>
        <p:nvSpPr>
          <p:cNvPr id="13" name="fit:2d83b929bbf6db35 14"/>
          <p:cNvSpPr/>
          <p:nvPr/>
        </p:nvSpPr>
        <p:spPr>
          <a:xfrm>
            <a:off x="7909560" y="4370832"/>
            <a:ext cx="3666744"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500은 400의 배수가</a:t>
            </a:r>
          </a:p>
          <a:p>
            <a:pPr algn="l" eaLnBrk="0" latinLnBrk="0">
              <a:lnSpc>
                <a:spcPct val="100000"/>
              </a:lnSpc>
              <a:buNone/>
            </a:pPr>
            <a:r>
              <a:rPr lang="ko-KR" altLang="en-US" sz="2000" b="1" dirty="0">
                <a:solidFill>
                  <a:srgbClr val="0E8A7D"/>
                </a:solidFill>
                <a:latin typeface="Malgun Gothic"/>
                <a:ea typeface="Malgun Gothic"/>
                <a:cs typeface="Malgun Gothic"/>
              </a:rPr>
              <a:t>아닙니다.</a:t>
            </a:r>
          </a:p>
        </p:txBody>
      </p:sp>
      <p:sp>
        <p:nvSpPr>
          <p:cNvPr id="14" name="fit:3068e637b7df9fed 15"/>
          <p:cNvSpPr/>
          <p:nvPr/>
        </p:nvSpPr>
        <p:spPr>
          <a:xfrm>
            <a:off x="7909560" y="5129784"/>
            <a:ext cx="3666744" cy="704088"/>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배수 조건이 깨지자</a:t>
            </a:r>
          </a:p>
          <a:p>
            <a:pPr algn="l" eaLnBrk="0" latinLnBrk="0">
              <a:lnSpc>
                <a:spcPct val="100000"/>
              </a:lnSpc>
              <a:buNone/>
            </a:pPr>
            <a:r>
              <a:rPr lang="ko-KR" altLang="en-US" sz="1450" b="0" dirty="0">
                <a:solidFill>
                  <a:srgbClr val="3F3F3F"/>
                </a:solidFill>
                <a:latin typeface="Malgun Gothic"/>
                <a:ea typeface="Malgun Gothic"/>
                <a:cs typeface="Malgun Gothic"/>
              </a:rPr>
              <a:t>큰 동전을 최대한 쓰는 선택이</a:t>
            </a:r>
          </a:p>
          <a:p>
            <a:pPr algn="l" eaLnBrk="0" latinLnBrk="0">
              <a:lnSpc>
                <a:spcPct val="100000"/>
              </a:lnSpc>
              <a:buNone/>
            </a:pPr>
            <a:r>
              <a:rPr lang="ko-KR" altLang="en-US" sz="1450" b="0" dirty="0">
                <a:solidFill>
                  <a:srgbClr val="3F3F3F"/>
                </a:solidFill>
                <a:latin typeface="Malgun Gothic"/>
                <a:ea typeface="Malgun Gothic"/>
                <a:cs typeface="Malgun Gothic"/>
              </a:rPr>
              <a:t>손해가 되었습니다.</a:t>
            </a:r>
          </a:p>
        </p:txBody>
      </p:sp>
      <p:sp>
        <p:nvSpPr>
          <p:cNvPr id="15" name="직사각형 16"/>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6" name="표 17"/>
          <p:cNvGraphicFramePr>
            <a:graphicFrameLocks noGrp="1"/>
          </p:cNvGraphicFramePr>
          <p:nvPr/>
        </p:nvGraphicFramePr>
        <p:xfrm>
          <a:off x="2103120" y="2651760"/>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500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400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r>
            </a:tbl>
          </a:graphicData>
        </a:graphic>
      </p:graphicFrame>
      <p:sp>
        <p:nvSpPr>
          <p:cNvPr id="17" name="직사각형 18"/>
          <p:cNvSpPr/>
          <p:nvPr/>
        </p:nvSpPr>
        <p:spPr>
          <a:xfrm>
            <a:off x="731520" y="358444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그리디</a:t>
            </a:r>
          </a:p>
        </p:txBody>
      </p:sp>
      <p:graphicFrame>
        <p:nvGraphicFramePr>
          <p:cNvPr id="18" name="표 19"/>
          <p:cNvGraphicFramePr>
            <a:graphicFrameLocks noGrp="1"/>
          </p:cNvGraphicFramePr>
          <p:nvPr/>
        </p:nvGraphicFramePr>
        <p:xfrm>
          <a:off x="2103120" y="3474720"/>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19" name="직사각형 20"/>
          <p:cNvSpPr/>
          <p:nvPr/>
        </p:nvSpPr>
        <p:spPr>
          <a:xfrm>
            <a:off x="731520" y="431596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최적</a:t>
            </a:r>
          </a:p>
        </p:txBody>
      </p:sp>
      <p:graphicFrame>
        <p:nvGraphicFramePr>
          <p:cNvPr id="20" name="표 21"/>
          <p:cNvGraphicFramePr>
            <a:graphicFrameLocks noGrp="1"/>
          </p:cNvGraphicFramePr>
          <p:nvPr/>
        </p:nvGraphicFramePr>
        <p:xfrm>
          <a:off x="2103120" y="4206240"/>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21" name="직사각형 22"/>
          <p:cNvSpPr/>
          <p:nvPr/>
        </p:nvSpPr>
        <p:spPr>
          <a:xfrm>
            <a:off x="2103120" y="5029200"/>
            <a:ext cx="3474720" cy="512064"/>
          </a:xfrm>
          <a:prstGeom prst="rect">
            <a:avLst/>
          </a:prstGeom>
          <a:solidFill>
            <a:srgbClr val="F2F2F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그리디 4개  vs  최적 2개</a:t>
            </a:r>
          </a:p>
        </p:txBody>
      </p:sp>
      <p:sp>
        <p:nvSpPr>
          <p:cNvPr id="22" name="직사각형 2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그리디가 쓴 동전    초록: 최적해가 쓴 동전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동전 1, 3, 4원으로 6원 · 시작</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26</a:t>
            </a:r>
          </a:p>
        </p:txBody>
      </p:sp>
      <p:sp>
        <p:nvSpPr>
          <p:cNvPr id="9" name="fit:552997b3bd5482b0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주장: "남은 돈 이하의 가장 큰 동전을 하나씩</a:t>
            </a:r>
          </a:p>
          <a:p>
            <a:pPr algn="l" eaLnBrk="0" latinLnBrk="0">
              <a:lnSpc>
                <a:spcPct val="100000"/>
              </a:lnSpc>
              <a:buNone/>
            </a:pPr>
            <a:r>
              <a:rPr lang="ko-KR" altLang="en-US" sz="2025" b="0" dirty="0">
                <a:solidFill>
                  <a:srgbClr val="171717"/>
                </a:solidFill>
                <a:latin typeface="Malgun Gothic"/>
                <a:ea typeface="Malgun Gothic"/>
                <a:cs typeface="Malgun Gothic"/>
              </a:rPr>
              <a:t>고르면 어떤 화폐 체계에서도 개수가 최소다."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096e52d265b86aa7 12"/>
          <p:cNvSpPr/>
          <p:nvPr/>
        </p:nvSpPr>
        <p:spPr>
          <a:xfrm>
            <a:off x="7909560" y="2935224"/>
            <a:ext cx="3666744"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600" b="0" dirty="0">
                <a:solidFill>
                  <a:srgbClr val="171717"/>
                </a:solidFill>
                <a:latin typeface="Malgun Gothic"/>
                <a:ea typeface="Malgun Gothic"/>
                <a:cs typeface="Malgun Gothic"/>
              </a:rPr>
              <a:t>문제 조건</a:t>
            </a:r>
          </a:p>
        </p:txBody>
      </p:sp>
      <p:sp>
        <p:nvSpPr>
          <p:cNvPr id="12" name="fit:337aa7ebda1698e7 13"/>
          <p:cNvSpPr/>
          <p:nvPr/>
        </p:nvSpPr>
        <p:spPr>
          <a:xfrm>
            <a:off x="7909560" y="3264408"/>
            <a:ext cx="3666744"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동전: 1원, 3원, 4원</a:t>
            </a:r>
          </a:p>
          <a:p>
            <a:pPr algn="l" eaLnBrk="0" latinLnBrk="0">
              <a:lnSpc>
                <a:spcPct val="105000"/>
              </a:lnSpc>
              <a:buNone/>
            </a:pPr>
            <a:r>
              <a:rPr lang="ko-KR" altLang="en-US" sz="1500" b="0" dirty="0">
                <a:solidFill>
                  <a:srgbClr val="171717"/>
                </a:solidFill>
                <a:latin typeface="Malgun Gothic"/>
                <a:ea typeface="Malgun Gothic"/>
                <a:cs typeface="Malgun Gothic"/>
              </a:rPr>
              <a:t>(각각 무제한)</a:t>
            </a:r>
          </a:p>
        </p:txBody>
      </p:sp>
      <p:sp>
        <p:nvSpPr>
          <p:cNvPr id="13" name="fit:2d56275e5878da47 14"/>
          <p:cNvSpPr/>
          <p:nvPr/>
        </p:nvSpPr>
        <p:spPr>
          <a:xfrm>
            <a:off x="7909560" y="3840480"/>
            <a:ext cx="3666744"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목표: 정확히 6원을</a:t>
            </a:r>
          </a:p>
          <a:p>
            <a:pPr algn="l" eaLnBrk="0" latinLnBrk="0">
              <a:lnSpc>
                <a:spcPct val="105000"/>
              </a:lnSpc>
              <a:buNone/>
            </a:pPr>
            <a:r>
              <a:rPr lang="ko-KR" altLang="en-US" sz="1500" b="0" dirty="0">
                <a:solidFill>
                  <a:srgbClr val="171717"/>
                </a:solidFill>
                <a:latin typeface="Malgun Gothic"/>
                <a:ea typeface="Malgun Gothic"/>
                <a:cs typeface="Malgun Gothic"/>
              </a:rPr>
              <a:t>가장 적은 개수로</a:t>
            </a:r>
          </a:p>
        </p:txBody>
      </p:sp>
      <p:sp>
        <p:nvSpPr>
          <p:cNvPr id="14" name="fit:68b9524b4b65fb84 15"/>
          <p:cNvSpPr/>
          <p:nvPr/>
        </p:nvSpPr>
        <p:spPr>
          <a:xfrm>
            <a:off x="7909560" y="4416552"/>
            <a:ext cx="3666744" cy="740664"/>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 남은 돈 이하의</a:t>
            </a:r>
          </a:p>
          <a:p>
            <a:pPr algn="l" eaLnBrk="0" latinLnBrk="0">
              <a:lnSpc>
                <a:spcPct val="105000"/>
              </a:lnSpc>
              <a:buNone/>
            </a:pPr>
            <a:r>
              <a:rPr lang="ko-KR" altLang="en-US" sz="1500" b="0" dirty="0">
                <a:solidFill>
                  <a:srgbClr val="171717"/>
                </a:solidFill>
                <a:latin typeface="Malgun Gothic"/>
                <a:ea typeface="Malgun Gothic"/>
                <a:cs typeface="Malgun Gothic"/>
              </a:rPr>
              <a:t>가장 큰 동전 하나를 고르고</a:t>
            </a:r>
          </a:p>
          <a:p>
            <a:pPr algn="l" eaLnBrk="0" latinLnBrk="0">
              <a:lnSpc>
                <a:spcPct val="105000"/>
              </a:lnSpc>
              <a:buNone/>
            </a:pPr>
            <a:r>
              <a:rPr lang="ko-KR" altLang="en-US" sz="1500" b="0" dirty="0">
                <a:solidFill>
                  <a:srgbClr val="171717"/>
                </a:solidFill>
                <a:latin typeface="Malgun Gothic"/>
                <a:ea typeface="Malgun Gothic"/>
                <a:cs typeface="Malgun Gothic"/>
              </a:rPr>
              <a:t>0원이 될 때까지 반복</a:t>
            </a:r>
          </a:p>
        </p:txBody>
      </p:sp>
      <p:sp>
        <p:nvSpPr>
          <p:cNvPr id="15" name="fit:4934355d2f2135e9 16"/>
          <p:cNvSpPr/>
          <p:nvPr/>
        </p:nvSpPr>
        <p:spPr>
          <a:xfrm>
            <a:off x="7909560" y="5230368"/>
            <a:ext cx="3666744"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이 주장을 반박해 봅시다.</a:t>
            </a:r>
          </a:p>
        </p:txBody>
      </p:sp>
      <p:sp>
        <p:nvSpPr>
          <p:cNvPr id="16" name="직사각형 17"/>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7" name="표 18"/>
          <p:cNvGraphicFramePr>
            <a:graphicFrameLocks noGrp="1"/>
          </p:cNvGraphicFramePr>
          <p:nvPr/>
        </p:nvGraphicFramePr>
        <p:xfrm>
          <a:off x="2103120" y="265176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r>
            </a:tbl>
          </a:graphicData>
        </a:graphic>
      </p:graphicFrame>
      <p:sp>
        <p:nvSpPr>
          <p:cNvPr id="18" name="직사각형 19"/>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9" name="표 20"/>
          <p:cNvGraphicFramePr>
            <a:graphicFrameLocks noGrp="1"/>
          </p:cNvGraphicFramePr>
          <p:nvPr/>
        </p:nvGraphicFramePr>
        <p:xfrm>
          <a:off x="2103120" y="365760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r>
            </a:tbl>
          </a:graphicData>
        </a:graphic>
      </p:graphicFrame>
      <p:sp>
        <p:nvSpPr>
          <p:cNvPr id="20" name="직사각형 21"/>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6원</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고른 동전    회색: 남은 돈보다 커서 고를 수 없는 동전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4원 · 6원에서 4원 하나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27</a:t>
            </a:r>
          </a:p>
        </p:txBody>
      </p:sp>
      <p:sp>
        <p:nvSpPr>
          <p:cNvPr id="9" name="fit:ff9411f4e50154c2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6원 이하의 가장 큰 동전은 4원입니다.</a:t>
            </a:r>
          </a:p>
          <a:p>
            <a:pPr algn="l" eaLnBrk="0" latinLnBrk="0">
              <a:lnSpc>
                <a:spcPct val="100000"/>
              </a:lnSpc>
              <a:buNone/>
            </a:pPr>
            <a:r>
              <a:rPr lang="ko-KR" altLang="en-US" sz="2025" b="0" dirty="0">
                <a:solidFill>
                  <a:srgbClr val="171717"/>
                </a:solidFill>
                <a:latin typeface="Malgun Gothic"/>
                <a:ea typeface="Malgun Gothic"/>
                <a:cs typeface="Malgun Gothic"/>
              </a:rPr>
              <a:t>4원 하나를 확정합니다. 남은 돈 6 − 4 = 2원.</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4원 ≤ 6원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2원 남음 → 계속</a:t>
                      </a:r>
                    </a:p>
                  </a:txBody>
                  <a:tcPr marL="54864" marR="54864" marT="18288" marB="18288" anchor="ctr">
                    <a:solidFill>
                      <a:srgbClr val="FFFFFF"/>
                    </a:solidFill>
                  </a:tcPr>
                </a:tc>
              </a:tr>
            </a:tbl>
          </a:graphicData>
        </a:graphic>
      </p:graphicFrame>
      <p:sp>
        <p:nvSpPr>
          <p:cNvPr id="12" name="fit:4c6f7534279b1c0f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고른 동전</a:t>
            </a:r>
          </a:p>
        </p:txBody>
      </p:sp>
      <p:sp>
        <p:nvSpPr>
          <p:cNvPr id="13" name="fit:16dbdc46a9138a14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4원 (1개)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nvGraphicFramePr>
        <p:xfrm>
          <a:off x="2103120" y="265176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r>
            </a:tbl>
          </a:graphicData>
        </a:graphic>
      </p:graphicFrame>
      <p:sp>
        <p:nvSpPr>
          <p:cNvPr id="16" name="직사각형 17"/>
          <p:cNvSpPr/>
          <p:nvPr/>
        </p:nvSpPr>
        <p:spPr>
          <a:xfrm>
            <a:off x="192024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선택</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nvGraphicFramePr>
        <p:xfrm>
          <a:off x="2103120" y="365760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2원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고른 동전    회색: 남은 돈보다 커서 고를 수 없는 동전</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1원 · 2원에서 1원 하나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28</a:t>
            </a:r>
          </a:p>
        </p:txBody>
      </p:sp>
      <p:sp>
        <p:nvSpPr>
          <p:cNvPr id="9" name="fit:823ccb0ea9b03b8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4원과 3원은 남은 2원보다 커서 고를 수 없습니다.</a:t>
            </a:r>
          </a:p>
          <a:p>
            <a:pPr algn="l" eaLnBrk="0" latinLnBrk="0">
              <a:lnSpc>
                <a:spcPct val="100000"/>
              </a:lnSpc>
              <a:buNone/>
            </a:pPr>
            <a:r>
              <a:rPr lang="ko-KR" altLang="en-US" sz="2025" b="0" dirty="0">
                <a:solidFill>
                  <a:srgbClr val="171717"/>
                </a:solidFill>
                <a:latin typeface="Malgun Gothic"/>
                <a:ea typeface="Malgun Gothic"/>
                <a:cs typeface="Malgun Gothic"/>
              </a:rPr>
              <a:t>1원을 고릅니다. 남은 돈 2 − 1 = 1원.</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1원 ≤ 2원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1원 남음 → 계속</a:t>
                      </a:r>
                    </a:p>
                  </a:txBody>
                  <a:tcPr marL="54864" marR="54864" marT="18288" marB="18288" anchor="ctr">
                    <a:solidFill>
                      <a:srgbClr val="FFFFFF"/>
                    </a:solidFill>
                  </a:tcPr>
                </a:tc>
              </a:tr>
            </a:tbl>
          </a:graphicData>
        </a:graphic>
      </p:graphicFrame>
      <p:sp>
        <p:nvSpPr>
          <p:cNvPr id="12" name="fit:4c6f7534279b1c0f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고른 동전</a:t>
            </a:r>
          </a:p>
        </p:txBody>
      </p:sp>
      <p:sp>
        <p:nvSpPr>
          <p:cNvPr id="13" name="fit:de3e52bcc012be9b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4원 + 1원 (2개)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nvGraphicFramePr>
        <p:xfrm>
          <a:off x="2103120" y="265176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4</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3</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r>
            </a:tbl>
          </a:graphicData>
        </a:graphic>
      </p:graphicFrame>
      <p:sp>
        <p:nvSpPr>
          <p:cNvPr id="16" name="직사각형 17"/>
          <p:cNvSpPr/>
          <p:nvPr/>
        </p:nvSpPr>
        <p:spPr>
          <a:xfrm>
            <a:off x="411480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선택</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nvGraphicFramePr>
        <p:xfrm>
          <a:off x="2103120" y="365760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1원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고른 동전    회색: 남은 돈보다 커서 고를 수 없는 동전</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③ 1원 · 남은 돈 0원, 모두 3개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29</a:t>
            </a:r>
          </a:p>
        </p:txBody>
      </p:sp>
      <p:sp>
        <p:nvSpPr>
          <p:cNvPr id="9" name="fit:715a7d60d6f9b7ac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남은 1원 이하의 동전은 1원뿐입니다. 남은 돈 0원.</a:t>
            </a:r>
          </a:p>
          <a:p>
            <a:pPr algn="l" eaLnBrk="0" latinLnBrk="0">
              <a:lnSpc>
                <a:spcPct val="100000"/>
              </a:lnSpc>
              <a:buNone/>
            </a:pPr>
            <a:r>
              <a:rPr lang="ko-KR" altLang="en-US" sz="2025" b="0" dirty="0">
                <a:solidFill>
                  <a:srgbClr val="171717"/>
                </a:solidFill>
                <a:latin typeface="Malgun Gothic"/>
                <a:ea typeface="Malgun Gothic"/>
                <a:cs typeface="Malgun Gothic"/>
              </a:rPr>
              <a:t>그리디의 답은 4 + 1 + 1 = 3개입니다.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1264394"/>
                <a:gridCol w="240235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1원 ≤ 1원</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0원 → 완성</a:t>
                      </a:r>
                    </a:p>
                  </a:txBody>
                  <a:tcPr marL="54864" marR="54864" marT="18288" marB="18288" anchor="ctr">
                    <a:solidFill>
                      <a:srgbClr val="FFFFFF"/>
                    </a:solidFill>
                  </a:tcPr>
                </a:tc>
              </a:tr>
            </a:tbl>
          </a:graphicData>
        </a:graphic>
      </p:graphicFrame>
      <p:sp>
        <p:nvSpPr>
          <p:cNvPr id="12" name="fit:4c6f7534279b1c0f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고른 동전</a:t>
            </a:r>
          </a:p>
        </p:txBody>
      </p:sp>
      <p:sp>
        <p:nvSpPr>
          <p:cNvPr id="13" name="fit:5c8f33ffd003266f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4 + 1 + 1 = 3개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nvGraphicFramePr>
        <p:xfrm>
          <a:off x="2103120" y="265176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4</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3</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r>
            </a:tbl>
          </a:graphicData>
        </a:graphic>
      </p:graphicFrame>
      <p:sp>
        <p:nvSpPr>
          <p:cNvPr id="16" name="직사각형 17"/>
          <p:cNvSpPr/>
          <p:nvPr/>
        </p:nvSpPr>
        <p:spPr>
          <a:xfrm>
            <a:off x="411480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선택</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nvGraphicFramePr>
        <p:xfrm>
          <a:off x="2103120" y="365760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r>
            </a:tbl>
          </a:graphicData>
        </a:graphic>
      </p:graphicFrame>
      <p:sp>
        <p:nvSpPr>
          <p:cNvPr id="19" name="직사각형 20"/>
          <p:cNvSpPr/>
          <p:nvPr/>
        </p:nvSpPr>
        <p:spPr>
          <a:xfrm>
            <a:off x="2103120" y="4480560"/>
            <a:ext cx="274320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0원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고른 동전    회색: 남은 돈보다 커서 고를 수 없는 동전</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최적: 3 + 3 = 2개 · 반례 완성</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30</a:t>
            </a:r>
          </a:p>
        </p:txBody>
      </p:sp>
      <p:sp>
        <p:nvSpPr>
          <p:cNvPr id="9" name="fit:9f202ccc10ff4b1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4원을 쓰지 않으면 3원 두 개로 6원이 됩니다.</a:t>
            </a:r>
          </a:p>
          <a:p>
            <a:pPr algn="l" eaLnBrk="0" latinLnBrk="0">
              <a:lnSpc>
                <a:spcPct val="100000"/>
              </a:lnSpc>
              <a:buNone/>
            </a:pPr>
            <a:r>
              <a:rPr lang="ko-KR" altLang="en-US" sz="2025" b="0" dirty="0">
                <a:solidFill>
                  <a:srgbClr val="171717"/>
                </a:solidFill>
                <a:latin typeface="Malgun Gothic"/>
                <a:ea typeface="Malgun Gothic"/>
                <a:cs typeface="Malgun Gothic"/>
              </a:rPr>
              <a:t>2개 &lt; 3개, 그리디의 답은 최소가 아닙니다.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2bd628b5c356df4f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 4 + 1 + 1 = 6원 → 3개</a:t>
            </a:r>
          </a:p>
        </p:txBody>
      </p:sp>
      <p:sp>
        <p:nvSpPr>
          <p:cNvPr id="12" name="fit:cd3e3232e0462c11 13"/>
          <p:cNvSpPr/>
          <p:nvPr/>
        </p:nvSpPr>
        <p:spPr>
          <a:xfrm>
            <a:off x="7909560" y="325526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최적: 3 + 3 = 6원 → 2개</a:t>
            </a:r>
          </a:p>
        </p:txBody>
      </p:sp>
      <p:sp>
        <p:nvSpPr>
          <p:cNvPr id="13" name="fit:8e36c26210bb968d 14"/>
          <p:cNvSpPr/>
          <p:nvPr/>
        </p:nvSpPr>
        <p:spPr>
          <a:xfrm>
            <a:off x="7909560" y="3648456"/>
            <a:ext cx="3666744"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이 입력 하나로</a:t>
            </a:r>
          </a:p>
          <a:p>
            <a:pPr algn="l" eaLnBrk="0" latinLnBrk="0">
              <a:lnSpc>
                <a:spcPct val="100000"/>
              </a:lnSpc>
              <a:buNone/>
            </a:pPr>
            <a:r>
              <a:rPr lang="ko-KR" altLang="en-US" sz="2000" b="1" dirty="0">
                <a:solidFill>
                  <a:srgbClr val="0E8A7D"/>
                </a:solidFill>
                <a:latin typeface="Malgun Gothic"/>
                <a:ea typeface="Malgun Gothic"/>
                <a:cs typeface="Malgun Gothic"/>
              </a:rPr>
              <a:t>주장이 깨집니다.</a:t>
            </a:r>
          </a:p>
        </p:txBody>
      </p:sp>
      <p:sp>
        <p:nvSpPr>
          <p:cNvPr id="14" name="fit:6d2ca5b7d8ec75a0 15"/>
          <p:cNvSpPr/>
          <p:nvPr/>
        </p:nvSpPr>
        <p:spPr>
          <a:xfrm>
            <a:off x="7909560" y="4407408"/>
            <a:ext cx="3666744" cy="704088"/>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반박에 쓸 것:</a:t>
            </a:r>
          </a:p>
          <a:p>
            <a:pPr algn="l" eaLnBrk="0" latinLnBrk="0">
              <a:lnSpc>
                <a:spcPct val="100000"/>
              </a:lnSpc>
              <a:buNone/>
            </a:pPr>
            <a:r>
              <a:rPr lang="ko-KR" altLang="en-US" sz="1450" b="0" dirty="0">
                <a:solidFill>
                  <a:srgbClr val="3F3F3F"/>
                </a:solidFill>
                <a:latin typeface="Malgun Gothic"/>
                <a:ea typeface="Malgun Gothic"/>
                <a:cs typeface="Malgun Gothic"/>
              </a:rPr>
              <a:t>그리디의 결과, 더 좋은 해,</a:t>
            </a:r>
          </a:p>
          <a:p>
            <a:pPr algn="l" eaLnBrk="0" latinLnBrk="0">
              <a:lnSpc>
                <a:spcPct val="100000"/>
              </a:lnSpc>
              <a:buNone/>
            </a:pPr>
            <a:r>
              <a:rPr lang="ko-KR" altLang="en-US" sz="1450" b="0" dirty="0">
                <a:solidFill>
                  <a:srgbClr val="3F3F3F"/>
                </a:solidFill>
                <a:latin typeface="Malgun Gothic"/>
                <a:ea typeface="Malgun Gothic"/>
                <a:cs typeface="Malgun Gothic"/>
              </a:rPr>
              <a:t>두 개수의 비교</a:t>
            </a:r>
          </a:p>
        </p:txBody>
      </p:sp>
      <p:sp>
        <p:nvSpPr>
          <p:cNvPr id="15" name="직사각형 16"/>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6" name="표 17"/>
          <p:cNvGraphicFramePr>
            <a:graphicFrameLocks noGrp="1"/>
          </p:cNvGraphicFramePr>
          <p:nvPr/>
        </p:nvGraphicFramePr>
        <p:xfrm>
          <a:off x="2103120" y="265176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r>
            </a:tbl>
          </a:graphicData>
        </a:graphic>
      </p:graphicFrame>
      <p:sp>
        <p:nvSpPr>
          <p:cNvPr id="17" name="직사각형 18"/>
          <p:cNvSpPr/>
          <p:nvPr/>
        </p:nvSpPr>
        <p:spPr>
          <a:xfrm>
            <a:off x="731520" y="358444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그리디</a:t>
            </a:r>
          </a:p>
        </p:txBody>
      </p:sp>
      <p:graphicFrame>
        <p:nvGraphicFramePr>
          <p:cNvPr id="18" name="표 19"/>
          <p:cNvGraphicFramePr>
            <a:graphicFrameLocks noGrp="1"/>
          </p:cNvGraphicFramePr>
          <p:nvPr/>
        </p:nvGraphicFramePr>
        <p:xfrm>
          <a:off x="2103120" y="347472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r>
            </a:tbl>
          </a:graphicData>
        </a:graphic>
      </p:graphicFrame>
      <p:sp>
        <p:nvSpPr>
          <p:cNvPr id="19" name="직사각형 20"/>
          <p:cNvSpPr/>
          <p:nvPr/>
        </p:nvSpPr>
        <p:spPr>
          <a:xfrm>
            <a:off x="731520" y="431596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최적</a:t>
            </a:r>
          </a:p>
        </p:txBody>
      </p:sp>
      <p:graphicFrame>
        <p:nvGraphicFramePr>
          <p:cNvPr id="20" name="표 21"/>
          <p:cNvGraphicFramePr>
            <a:graphicFrameLocks noGrp="1"/>
          </p:cNvGraphicFramePr>
          <p:nvPr/>
        </p:nvGraphicFramePr>
        <p:xfrm>
          <a:off x="2103120" y="4206240"/>
          <a:ext cx="3291840" cy="493776"/>
        </p:xfrm>
        <a:graphic>
          <a:graphicData uri="http://schemas.openxmlformats.org/drawingml/2006/table">
            <a:tbl>
              <a:tblPr/>
              <a:tblGrid>
                <a:gridCol w="1097280"/>
                <a:gridCol w="1097280"/>
                <a:gridCol w="109728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r>
            </a:tbl>
          </a:graphicData>
        </a:graphic>
      </p:graphicFrame>
      <p:sp>
        <p:nvSpPr>
          <p:cNvPr id="21" name="직사각형 22"/>
          <p:cNvSpPr/>
          <p:nvPr/>
        </p:nvSpPr>
        <p:spPr>
          <a:xfrm>
            <a:off x="2103120" y="5029200"/>
            <a:ext cx="3291840" cy="512064"/>
          </a:xfrm>
          <a:prstGeom prst="rect">
            <a:avLst/>
          </a:prstGeom>
          <a:solidFill>
            <a:srgbClr val="F2F2F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그리디 3개  vs  최적 2개</a:t>
            </a:r>
          </a:p>
        </p:txBody>
      </p:sp>
      <p:sp>
        <p:nvSpPr>
          <p:cNvPr id="22" name="직사각형 2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그리디가 쓴 동전    초록: 최적해가 쓴 동전</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'항상 최적'은 반례 하나로 반박합니다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31</a:t>
            </a:r>
          </a:p>
        </p:txBody>
      </p:sp>
      <p:sp>
        <p:nvSpPr>
          <p:cNvPr id="9" name="fit:b2c4801e27ecd068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'항상 최적이다'라는 주장은 맞지 않는 입력이 하나만 있어도 거짓입니다.</a:t>
            </a:r>
          </a:p>
        </p:txBody>
      </p:sp>
      <p:sp>
        <p:nvSpPr>
          <p:cNvPr id="10" name="fit:49204ef7aae12440 11"/>
          <p:cNvSpPr/>
          <p:nvPr/>
        </p:nvSpPr>
        <p:spPr>
          <a:xfrm>
            <a:off x="612648" y="210312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문제의 조건을 지키는 입력</a:t>
            </a:r>
          </a:p>
        </p:txBody>
      </p:sp>
      <p:sp>
        <p:nvSpPr>
          <p:cNvPr id="11" name="fit:e0ec687ec3a24a2f 12"/>
          <p:cNvSpPr/>
          <p:nvPr/>
        </p:nvSpPr>
        <p:spPr>
          <a:xfrm>
            <a:off x="795528" y="2432304"/>
            <a:ext cx="1078992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동전 1, 3, 4원과 금액 6원은 문제가 허용하는 입력입니다.</a:t>
            </a:r>
          </a:p>
          <a:p>
            <a:pPr algn="l" eaLnBrk="0" latinLnBrk="0">
              <a:lnSpc>
                <a:spcPct val="105000"/>
              </a:lnSpc>
              <a:buNone/>
            </a:pPr>
            <a:r>
              <a:rPr lang="ko-KR" altLang="en-US" sz="1575" b="0" dirty="0">
                <a:solidFill>
                  <a:srgbClr val="3F3F3F"/>
                </a:solidFill>
                <a:latin typeface="Malgun Gothic"/>
                <a:ea typeface="Malgun Gothic"/>
                <a:cs typeface="Malgun Gothic"/>
              </a:rPr>
              <a:t>조건을 어긴 입력에서 틀리는 것은 반박이 아닙니다.</a:t>
            </a:r>
          </a:p>
        </p:txBody>
      </p:sp>
      <p:sp>
        <p:nvSpPr>
          <p:cNvPr id="12" name="fit:15d21c8f84211bda 13"/>
          <p:cNvSpPr/>
          <p:nvPr/>
        </p:nvSpPr>
        <p:spPr>
          <a:xfrm>
            <a:off x="612648" y="307238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그리디의 결과보다 더 좋은 해</a:t>
            </a:r>
          </a:p>
        </p:txBody>
      </p:sp>
      <p:sp>
        <p:nvSpPr>
          <p:cNvPr id="13" name="fit:fa19ec826b694c64 14"/>
          <p:cNvSpPr/>
          <p:nvPr/>
        </p:nvSpPr>
        <p:spPr>
          <a:xfrm>
            <a:off x="795528" y="340156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그리디 3개보다 적은 2개를 보였습니다. 그리디와 개수가 같은 다른 해는 반례가 아닙니다.</a:t>
            </a:r>
          </a:p>
        </p:txBody>
      </p:sp>
      <p:sp>
        <p:nvSpPr>
          <p:cNvPr id="14" name="fit:d77ebfedef7a0f21 15"/>
          <p:cNvSpPr/>
          <p:nvPr/>
        </p:nvSpPr>
        <p:spPr>
          <a:xfrm>
            <a:off x="612648" y="378561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하나면 충분</a:t>
            </a:r>
          </a:p>
        </p:txBody>
      </p:sp>
      <p:sp>
        <p:nvSpPr>
          <p:cNvPr id="15" name="fit:3ccd95addf2b5173 16"/>
          <p:cNvSpPr/>
          <p:nvPr/>
        </p:nvSpPr>
        <p:spPr>
          <a:xfrm>
            <a:off x="795528" y="411480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반례를 여러 개 모을 필요가 없습니다. 실행이 느린 입력은 최적성의 반례가 아닙니다.</a:t>
            </a:r>
          </a:p>
        </p:txBody>
      </p:sp>
      <p:sp>
        <p:nvSpPr>
          <p:cNvPr id="16" name="fit:75ecdc69fa389ab6 17"/>
          <p:cNvSpPr/>
          <p:nvPr/>
        </p:nvSpPr>
        <p:spPr>
          <a:xfrm>
            <a:off x="612648" y="4498848"/>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반대로, 예제 몇 개에서 맞았다고 '항상 최적'이 증명되지는 않습니다.</a:t>
            </a:r>
          </a:p>
        </p:txBody>
      </p:sp>
      <p:sp>
        <p:nvSpPr>
          <p:cNvPr id="17" name="fit:9017ec8604267c82 18"/>
          <p:cNvSpPr/>
          <p:nvPr/>
        </p:nvSpPr>
        <p:spPr>
          <a:xfrm>
            <a:off x="612648" y="495604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맞다는 것을 보이는 방법은 5.3절 끝과 5.5절에서 다룹니다.</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coin_count · 1원까지 다섯 종류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32</a:t>
            </a:r>
          </a:p>
        </p:txBody>
      </p:sp>
      <p:sp>
        <p:nvSpPr>
          <p:cNvPr id="9" name="fit:18f567d94dce27a5 10"/>
          <p:cNvSpPr/>
          <p:nvPr/>
        </p:nvSpPr>
        <p:spPr>
          <a:xfrm>
            <a:off x="612648" y="1636776"/>
            <a:ext cx="6766560" cy="969264"/>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coin_count(amount): amount원을 거슬러 줄</a:t>
            </a:r>
          </a:p>
          <a:p>
            <a:pPr algn="l" eaLnBrk="0" latinLnBrk="0">
              <a:lnSpc>
                <a:spcPct val="100000"/>
              </a:lnSpc>
              <a:buNone/>
            </a:pPr>
            <a:r>
              <a:rPr lang="ko-KR" altLang="en-US" sz="2025" b="0" dirty="0">
                <a:solidFill>
                  <a:srgbClr val="171717"/>
                </a:solidFill>
                <a:latin typeface="Malgun Gothic"/>
                <a:ea typeface="Malgun Gothic"/>
                <a:cs typeface="Malgun Gothic"/>
              </a:rPr>
              <a:t>최소 동전 개수를 돌려줍니다. 큰 동전부터</a:t>
            </a:r>
          </a:p>
          <a:p>
            <a:pPr algn="l" eaLnBrk="0" latinLnBrk="0">
              <a:lnSpc>
                <a:spcPct val="100000"/>
              </a:lnSpc>
              <a:buNone/>
            </a:pPr>
            <a:r>
              <a:rPr lang="ko-KR" altLang="en-US" sz="2025" b="0" dirty="0">
                <a:solidFill>
                  <a:srgbClr val="171717"/>
                </a:solidFill>
                <a:latin typeface="Malgun Gothic"/>
                <a:ea typeface="Malgun Gothic"/>
                <a:cs typeface="Malgun Gothic"/>
              </a:rPr>
              <a:t>몫만큼 쓰고 나머지를 다음 동전으로 넘깁니다.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909560" y="2935224"/>
            <a:ext cx="3666744"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coin_count.pseudo</a:t>
            </a:r>
          </a:p>
        </p:txBody>
      </p:sp>
      <p:sp>
        <p:nvSpPr>
          <p:cNvPr id="12" name="직사각형 13"/>
          <p:cNvSpPr/>
          <p:nvPr/>
        </p:nvSpPr>
        <p:spPr>
          <a:xfrm>
            <a:off x="7909560" y="3154680"/>
            <a:ext cx="3666744" cy="140817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300" b="0" dirty="0">
                <a:solidFill>
                  <a:srgbClr val="FFFFFF"/>
                </a:solidFill>
                <a:latin typeface="Consolas"/>
                <a:ea typeface="Consolas"/>
                <a:cs typeface="Consolas"/>
              </a:rPr>
              <a:t>COIN_COUNT(amount):</a:t>
            </a:r>
          </a:p>
          <a:p>
            <a:pPr algn="l" eaLnBrk="0" latinLnBrk="0">
              <a:lnSpc>
                <a:spcPct val="100000"/>
              </a:lnSpc>
              <a:buNone/>
            </a:pPr>
            <a:r>
              <a:rPr lang="ko-KR" altLang="en-US" sz="1300" b="0" dirty="0">
                <a:solidFill>
                  <a:srgbClr val="FFFFFF"/>
                </a:solidFill>
                <a:latin typeface="Consolas"/>
                <a:ea typeface="Consolas"/>
                <a:cs typeface="Consolas"/>
              </a:rPr>
              <a:t>  count &lt;- 0</a:t>
            </a:r>
          </a:p>
          <a:p>
            <a:pPr algn="l" eaLnBrk="0" latinLnBrk="0">
              <a:lnSpc>
                <a:spcPct val="100000"/>
              </a:lnSpc>
              <a:buNone/>
            </a:pPr>
            <a:r>
              <a:rPr lang="ko-KR" altLang="en-US" sz="1300" b="0" dirty="0">
                <a:solidFill>
                  <a:srgbClr val="FFFFFF"/>
                </a:solidFill>
                <a:latin typeface="Consolas"/>
                <a:ea typeface="Consolas"/>
                <a:cs typeface="Consolas"/>
              </a:rPr>
              <a:t>  for coin in [500, 100, 50, 10, 1]:</a:t>
            </a:r>
          </a:p>
          <a:p>
            <a:pPr algn="l" eaLnBrk="0" latinLnBrk="0">
              <a:lnSpc>
                <a:spcPct val="100000"/>
              </a:lnSpc>
              <a:buNone/>
            </a:pPr>
            <a:r>
              <a:rPr lang="ko-KR" altLang="en-US" sz="1300" b="0" dirty="0">
                <a:solidFill>
                  <a:srgbClr val="FFFFFF"/>
                </a:solidFill>
                <a:latin typeface="Consolas"/>
                <a:ea typeface="Consolas"/>
                <a:cs typeface="Consolas"/>
              </a:rPr>
              <a:t>    count &lt;- count + 몫(amount, coin)</a:t>
            </a:r>
          </a:p>
          <a:p>
            <a:pPr algn="l" eaLnBrk="0" latinLnBrk="0">
              <a:lnSpc>
                <a:spcPct val="100000"/>
              </a:lnSpc>
              <a:buNone/>
            </a:pPr>
            <a:r>
              <a:rPr lang="ko-KR" altLang="en-US" sz="1300" b="0" dirty="0">
                <a:solidFill>
                  <a:srgbClr val="FFFFFF"/>
                </a:solidFill>
                <a:latin typeface="Consolas"/>
                <a:ea typeface="Consolas"/>
                <a:cs typeface="Consolas"/>
              </a:rPr>
              <a:t>    amount &lt;- 나머지(amount, coin)</a:t>
            </a:r>
          </a:p>
          <a:p>
            <a:pPr algn="l" eaLnBrk="0" latinLnBrk="0">
              <a:lnSpc>
                <a:spcPct val="100000"/>
              </a:lnSpc>
              <a:buNone/>
            </a:pPr>
            <a:r>
              <a:rPr lang="ko-KR" altLang="en-US" sz="1300" b="0" dirty="0">
                <a:solidFill>
                  <a:srgbClr val="FFFFFF"/>
                </a:solidFill>
                <a:latin typeface="Consolas"/>
                <a:ea typeface="Consolas"/>
                <a:cs typeface="Consolas"/>
              </a:rPr>
              <a:t>  return count</a:t>
            </a:r>
          </a:p>
        </p:txBody>
      </p:sp>
      <p:sp>
        <p:nvSpPr>
          <p:cNvPr id="13" name="fit:9ab3527532a5244e 14"/>
          <p:cNvSpPr/>
          <p:nvPr/>
        </p:nvSpPr>
        <p:spPr>
          <a:xfrm>
            <a:off x="7909560" y="4690872"/>
            <a:ext cx="3666744" cy="24688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몫: Python //, C /    나머지: %</a:t>
            </a:r>
          </a:p>
        </p:txBody>
      </p:sp>
      <p:sp>
        <p:nvSpPr>
          <p:cNvPr id="14" name="fit:15affb70365705a2 15"/>
          <p:cNvSpPr/>
          <p:nvPr/>
        </p:nvSpPr>
        <p:spPr>
          <a:xfrm>
            <a:off x="7909560" y="5010912"/>
            <a:ext cx="3666744"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금액과 관계없이 5번 → O(1)</a:t>
            </a:r>
          </a:p>
        </p:txBody>
      </p:sp>
      <p:sp>
        <p:nvSpPr>
          <p:cNvPr id="15" name="fit:ce484e23e5609449 16"/>
          <p:cNvSpPr/>
          <p:nvPr/>
        </p:nvSpPr>
        <p:spPr>
          <a:xfrm>
            <a:off x="7909560" y="5431536"/>
            <a:ext cx="3666744" cy="676656"/>
          </a:xfrm>
          <a:prstGeom prst="rect">
            <a:avLst/>
          </a:prstGeom>
          <a:noFill/>
          <a:ln w="0">
            <a:noFill/>
          </a:ln>
        </p:spPr>
        <p:txBody>
          <a:bodyPr wrap="square" lIns="0" tIns="0" rIns="0" bIns="0" anchor="t">
            <a:noAutofit/>
          </a:bodyPr>
          <a:lstStyle/>
          <a:p>
            <a:pPr algn="l" eaLnBrk="0" latinLnBrk="0">
              <a:lnSpc>
                <a:spcPct val="100000"/>
              </a:lnSpc>
              <a:buNone/>
            </a:pPr>
            <a:r>
              <a:rPr lang="ko-KR" altLang="en-US" sz="1400" b="0" dirty="0">
                <a:solidFill>
                  <a:srgbClr val="3F3F3F"/>
                </a:solidFill>
                <a:latin typeface="Malgun Gothic"/>
                <a:ea typeface="Malgun Gothic"/>
                <a:cs typeface="Malgun Gothic"/>
              </a:rPr>
              <a:t>K = 동전 종류 수로 쓰면 O(K)</a:t>
            </a:r>
          </a:p>
          <a:p>
            <a:pPr algn="l" eaLnBrk="0" latinLnBrk="0">
              <a:lnSpc>
                <a:spcPct val="100000"/>
              </a:lnSpc>
              <a:buNone/>
            </a:pPr>
            <a:r>
              <a:rPr lang="ko-KR" altLang="en-US" sz="1400" b="0" dirty="0">
                <a:solidFill>
                  <a:srgbClr val="3F3F3F"/>
                </a:solidFill>
                <a:latin typeface="Malgun Gothic"/>
                <a:ea typeface="Malgun Gothic"/>
                <a:cs typeface="Malgun Gothic"/>
              </a:rPr>
              <a:t>하나씩 빼면 O(amount)</a:t>
            </a:r>
          </a:p>
          <a:p>
            <a:pPr algn="l" eaLnBrk="0" latinLnBrk="0">
              <a:lnSpc>
                <a:spcPct val="100000"/>
              </a:lnSpc>
              <a:buNone/>
            </a:pPr>
            <a:r>
              <a:rPr lang="ko-KR" altLang="en-US" sz="1400" b="0" dirty="0">
                <a:solidFill>
                  <a:srgbClr val="3F3F3F"/>
                </a:solidFill>
                <a:latin typeface="Malgun Gothic"/>
                <a:ea typeface="Malgun Gothic"/>
                <a:cs typeface="Malgun Gothic"/>
              </a:rPr>
              <a:t>amount = 0이면 0개</a:t>
            </a:r>
          </a:p>
        </p:txBody>
      </p:sp>
      <p:sp>
        <p:nvSpPr>
          <p:cNvPr id="16" name="직사각형 17"/>
          <p:cNvSpPr/>
          <p:nvPr/>
        </p:nvSpPr>
        <p:spPr>
          <a:xfrm>
            <a:off x="731520" y="294436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7" name="표 18"/>
          <p:cNvGraphicFramePr>
            <a:graphicFrameLocks noGrp="1"/>
          </p:cNvGraphicFramePr>
          <p:nvPr/>
        </p:nvGraphicFramePr>
        <p:xfrm>
          <a:off x="2103120" y="2834640"/>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500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r>
            </a:tbl>
          </a:graphicData>
        </a:graphic>
      </p:graphicFrame>
      <p:sp>
        <p:nvSpPr>
          <p:cNvPr id="18" name="직사각형 19"/>
          <p:cNvSpPr/>
          <p:nvPr/>
        </p:nvSpPr>
        <p:spPr>
          <a:xfrm>
            <a:off x="731520" y="3712464"/>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몫 (개수)</a:t>
            </a:r>
          </a:p>
        </p:txBody>
      </p:sp>
      <p:graphicFrame>
        <p:nvGraphicFramePr>
          <p:cNvPr id="19" name="표 20"/>
          <p:cNvGraphicFramePr>
            <a:graphicFrameLocks noGrp="1"/>
          </p:cNvGraphicFramePr>
          <p:nvPr/>
        </p:nvGraphicFramePr>
        <p:xfrm>
          <a:off x="2103120" y="3602736"/>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CECFB"/>
                    </a:solidFill>
                  </a:tcPr>
                </a:tc>
              </a:tr>
            </a:tbl>
          </a:graphicData>
        </a:graphic>
      </p:graphicFrame>
      <p:sp>
        <p:nvSpPr>
          <p:cNvPr id="20" name="직사각형 21"/>
          <p:cNvSpPr/>
          <p:nvPr/>
        </p:nvSpPr>
        <p:spPr>
          <a:xfrm>
            <a:off x="731520" y="4480560"/>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남은 돈</a:t>
            </a:r>
          </a:p>
        </p:txBody>
      </p:sp>
      <p:graphicFrame>
        <p:nvGraphicFramePr>
          <p:cNvPr id="21" name="표 22"/>
          <p:cNvGraphicFramePr>
            <a:graphicFrameLocks noGrp="1"/>
          </p:cNvGraphicFramePr>
          <p:nvPr/>
        </p:nvGraphicFramePr>
        <p:xfrm>
          <a:off x="2103120" y="4370832"/>
          <a:ext cx="5029200" cy="493776"/>
        </p:xfrm>
        <a:graphic>
          <a:graphicData uri="http://schemas.openxmlformats.org/drawingml/2006/table">
            <a:tbl>
              <a:tblPr/>
              <a:tblGrid>
                <a:gridCol w="1005840"/>
                <a:gridCol w="1005840"/>
                <a:gridCol w="1005840"/>
                <a:gridCol w="1005840"/>
                <a:gridCol w="1005840"/>
              </a:tblGrid>
              <a:tr h="493776">
                <a:tc>
                  <a:txBody>
                    <a:bodyPr/>
                    <a:lstStyle/>
                    <a:p>
                      <a:pPr algn="ctr" eaLnBrk="0" latinLnBrk="0">
                        <a:lnSpc>
                          <a:spcPct val="100000"/>
                        </a:lnSpc>
                        <a:buNone/>
                      </a:pPr>
                      <a:r>
                        <a:rPr lang="ko-KR" altLang="en-US" sz="2000" b="1" dirty="0">
                          <a:solidFill>
                            <a:srgbClr val="151515"/>
                          </a:solidFill>
                          <a:latin typeface="Consolas"/>
                          <a:ea typeface="Consolas"/>
                          <a:cs typeface="Consolas"/>
                        </a:rPr>
                        <a:t>263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63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13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22" name="직사각형 23"/>
          <p:cNvSpPr/>
          <p:nvPr/>
        </p:nvSpPr>
        <p:spPr>
          <a:xfrm>
            <a:off x="2103120" y="5084064"/>
            <a:ext cx="512064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700" b="1" dirty="0">
                <a:solidFill>
                  <a:srgbClr val="151515"/>
                </a:solidFill>
                <a:latin typeface="Malgun Gothic"/>
                <a:ea typeface="Malgun Gothic"/>
                <a:cs typeface="Malgun Gothic"/>
              </a:rPr>
              <a:t>coin_count(1263) = 2 + 2 + 1 + 1 + 3 = 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확인: 거스름돈</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33</a:t>
            </a:r>
          </a:p>
        </p:txBody>
      </p:sp>
      <p:sp>
        <p:nvSpPr>
          <p:cNvPr id="9" name="fit:b75c73c92fdac675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① 동전 500, 100, 50, 10원으로 2,370원을 거슬러 줍니다.</a:t>
            </a:r>
          </a:p>
          <a:p>
            <a:pPr algn="l" eaLnBrk="0" latinLnBrk="0">
              <a:lnSpc>
                <a:spcPct val="105000"/>
              </a:lnSpc>
              <a:buNone/>
            </a:pPr>
            <a:r>
              <a:rPr lang="ko-KR" altLang="en-US" sz="2025" b="0" dirty="0">
                <a:solidFill>
                  <a:srgbClr val="171717"/>
                </a:solidFill>
                <a:latin typeface="Malgun Gothic"/>
                <a:ea typeface="Malgun Gothic"/>
                <a:cs typeface="Malgun Gothic"/>
              </a:rPr>
              <a:t>    동전마다 몫과 나머지, 전체 개수는?</a:t>
            </a:r>
          </a:p>
        </p:txBody>
      </p:sp>
      <p:sp>
        <p:nvSpPr>
          <p:cNvPr id="10" name="fit:2e5bb27ed9b829d0 11"/>
          <p:cNvSpPr/>
          <p:nvPr/>
        </p:nvSpPr>
        <p:spPr>
          <a:xfrm>
            <a:off x="612648" y="2432304"/>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② 동전 1, 5, 6원으로 10원을 만듭니다. 그리디의 결과와 더 좋은 해를 쓰고,</a:t>
            </a:r>
          </a:p>
          <a:p>
            <a:pPr algn="l" eaLnBrk="0" latinLnBrk="0">
              <a:lnSpc>
                <a:spcPct val="105000"/>
              </a:lnSpc>
              <a:buNone/>
            </a:pPr>
            <a:r>
              <a:rPr lang="ko-KR" altLang="en-US" sz="2025" b="0" dirty="0">
                <a:solidFill>
                  <a:srgbClr val="171717"/>
                </a:solidFill>
                <a:latin typeface="Malgun Gothic"/>
                <a:ea typeface="Malgun Gothic"/>
                <a:cs typeface="Malgun Gothic"/>
              </a:rPr>
              <a:t>    '항상 최소'라는 주장을 반박해 보세요.</a:t>
            </a:r>
          </a:p>
        </p:txBody>
      </p:sp>
      <p:sp>
        <p:nvSpPr>
          <p:cNvPr id="11" name="fit:edf1c9b32dc746f2 12"/>
          <p:cNvSpPr/>
          <p:nvPr/>
        </p:nvSpPr>
        <p:spPr>
          <a:xfrm>
            <a:off x="612648" y="3227832"/>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③ coin_count에 넣는 금액이 1,000배가 되면 for 반복 횟수는 어떻게 됩니까?</a:t>
            </a:r>
          </a:p>
        </p:txBody>
      </p:sp>
      <p:sp>
        <p:nvSpPr>
          <p:cNvPr id="12" name="fit:7846ba882a0bd21a 13"/>
          <p:cNvSpPr/>
          <p:nvPr/>
        </p:nvSpPr>
        <p:spPr>
          <a:xfrm>
            <a:off x="612648" y="36941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④ change.py의 coin_types를 [100, 500, 50, 10]으로 적으면</a:t>
            </a:r>
          </a:p>
          <a:p>
            <a:pPr algn="l" eaLnBrk="0" latinLnBrk="0">
              <a:lnSpc>
                <a:spcPct val="105000"/>
              </a:lnSpc>
              <a:buNone/>
            </a:pPr>
            <a:r>
              <a:rPr lang="ko-KR" altLang="en-US" sz="2025" b="0" dirty="0">
                <a:solidFill>
                  <a:srgbClr val="171717"/>
                </a:solidFill>
                <a:latin typeface="Malgun Gothic"/>
                <a:ea typeface="Malgun Gothic"/>
                <a:cs typeface="Malgun Gothic"/>
              </a:rPr>
              <a:t>    동전은 몇 개가 나옵니까?</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34</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5.3</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활동 선택 문제</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회의를 가장 많이 넣는 법</a:t>
            </a:r>
          </a:p>
          <a:p>
            <a:pPr algn="l" eaLnBrk="0" latinLnBrk="0">
              <a:lnSpc>
                <a:spcPct val="110000"/>
              </a:lnSpc>
              <a:buNone/>
            </a:pPr>
            <a:r>
              <a:rPr lang="ko-KR" altLang="en-US" sz="1800" b="0" dirty="0">
                <a:solidFill>
                  <a:srgbClr val="BBBBBB"/>
                </a:solidFill>
                <a:latin typeface="Malgun Gothic"/>
                <a:ea typeface="Malgun Gothic"/>
                <a:cs typeface="Malgun Gothic"/>
              </a:rPr>
              <a:t>회의실은 하나, 겹치지 않게 회의를 최대한 많이 배정하려면?</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회의실 하나, 회의는 최대한 많이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35</a:t>
            </a:r>
          </a:p>
        </p:txBody>
      </p:sp>
      <p:sp>
        <p:nvSpPr>
          <p:cNvPr id="9" name="fit:f7b5afc09c0f3450 10"/>
          <p:cNvSpPr/>
          <p:nvPr/>
        </p:nvSpPr>
        <p:spPr>
          <a:xfrm>
            <a:off x="658368" y="1737360"/>
            <a:ext cx="5120640" cy="56692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0" dirty="0">
                <a:solidFill>
                  <a:srgbClr val="171717"/>
                </a:solidFill>
                <a:latin typeface="Malgun Gothic"/>
                <a:ea typeface="Malgun Gothic"/>
                <a:cs typeface="Malgun Gothic"/>
              </a:rPr>
              <a:t>회의실은 하나, 요청은 여러 건입니다.</a:t>
            </a:r>
          </a:p>
          <a:p>
            <a:pPr algn="l" eaLnBrk="0" latinLnBrk="0">
              <a:lnSpc>
                <a:spcPct val="105000"/>
              </a:lnSpc>
              <a:buNone/>
            </a:pPr>
            <a:r>
              <a:rPr lang="ko-KR" altLang="en-US" sz="1700" b="0" dirty="0">
                <a:solidFill>
                  <a:srgbClr val="171717"/>
                </a:solidFill>
                <a:latin typeface="Malgun Gothic"/>
                <a:ea typeface="Malgun Gothic"/>
                <a:cs typeface="Malgun Gothic"/>
              </a:rPr>
              <a:t>회의마다 시작 시각과 종료 시각이 있습니다.</a:t>
            </a:r>
          </a:p>
        </p:txBody>
      </p:sp>
      <p:sp>
        <p:nvSpPr>
          <p:cNvPr id="10" name="fit:a65c261de82eba10 11"/>
          <p:cNvSpPr/>
          <p:nvPr/>
        </p:nvSpPr>
        <p:spPr>
          <a:xfrm>
            <a:off x="658368" y="2432304"/>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회의 하나 = 활동(activity)</a:t>
            </a:r>
          </a:p>
        </p:txBody>
      </p:sp>
      <p:sp>
        <p:nvSpPr>
          <p:cNvPr id="11" name="fit:ce3bfddb9f6662b3 12"/>
          <p:cNvSpPr/>
          <p:nvPr/>
        </p:nvSpPr>
        <p:spPr>
          <a:xfrm>
            <a:off x="841248" y="2752344"/>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그래서 활동 선택 문제라고 부릅니다.</a:t>
            </a:r>
          </a:p>
        </p:txBody>
      </p:sp>
      <p:sp>
        <p:nvSpPr>
          <p:cNvPr id="12" name="fit:094e5bffada2d5e2 13"/>
          <p:cNvSpPr/>
          <p:nvPr/>
        </p:nvSpPr>
        <p:spPr>
          <a:xfrm>
            <a:off x="658368" y="3127248"/>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한 번에 한 회의만</a:t>
            </a:r>
          </a:p>
        </p:txBody>
      </p:sp>
      <p:sp>
        <p:nvSpPr>
          <p:cNvPr id="13" name="fit:cd1d98f01756c609 14"/>
          <p:cNvSpPr/>
          <p:nvPr/>
        </p:nvSpPr>
        <p:spPr>
          <a:xfrm>
            <a:off x="841248" y="3447288"/>
            <a:ext cx="493776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시간이 겹치는 두 회의는 함께 넣을 수 없고,</a:t>
            </a:r>
          </a:p>
          <a:p>
            <a:pPr algn="l" eaLnBrk="0" latinLnBrk="0">
              <a:lnSpc>
                <a:spcPct val="105000"/>
              </a:lnSpc>
              <a:buNone/>
            </a:pPr>
            <a:r>
              <a:rPr lang="ko-KR" altLang="en-US" sz="1500" b="0" dirty="0">
                <a:solidFill>
                  <a:srgbClr val="3F3F3F"/>
                </a:solidFill>
                <a:latin typeface="Malgun Gothic"/>
                <a:ea typeface="Malgun Gothic"/>
                <a:cs typeface="Malgun Gothic"/>
              </a:rPr>
              <a:t>회의를 도중에 끊을 수도 없습니다.</a:t>
            </a:r>
          </a:p>
        </p:txBody>
      </p:sp>
      <p:sp>
        <p:nvSpPr>
          <p:cNvPr id="14" name="fit:44767632e7f669fd 15"/>
          <p:cNvSpPr/>
          <p:nvPr/>
        </p:nvSpPr>
        <p:spPr>
          <a:xfrm>
            <a:off x="658368" y="4059936"/>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목표: 회의의 개수를 최대로</a:t>
            </a:r>
          </a:p>
        </p:txBody>
      </p:sp>
      <p:sp>
        <p:nvSpPr>
          <p:cNvPr id="15" name="fit:566c0ea5a0f43703 16"/>
          <p:cNvSpPr/>
          <p:nvPr/>
        </p:nvSpPr>
        <p:spPr>
          <a:xfrm>
            <a:off x="841248" y="4379976"/>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사용 시간의 합이 아니라 넣은 회의의 수입니다.</a:t>
            </a:r>
          </a:p>
        </p:txBody>
      </p:sp>
      <p:pic>
        <p:nvPicPr>
          <p:cNvPr id="16" name="그림 17"/>
          <p:cNvPicPr>
            <a:picLocks noChangeAspect="1"/>
          </p:cNvPicPr>
          <p:nvPr/>
        </p:nvPicPr>
        <p:blipFill>
          <a:blip r:embed="rIdImg1"/>
          <a:stretch>
            <a:fillRect/>
          </a:stretch>
        </p:blipFill>
        <p:spPr>
          <a:xfrm>
            <a:off x="6126480" y="2444143"/>
            <a:ext cx="5458968" cy="2975554"/>
          </a:xfrm>
          <a:prstGeom prst="rect">
            <a:avLst/>
          </a:prstGeom>
        </p:spPr>
      </p:pic>
      <p:sp>
        <p:nvSpPr>
          <p:cNvPr id="17" name="직사각형 18"/>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 속 '세미나실'은 이 강의의 회의실입니다. 목표는 '오래'가 아니라 '많이'입니다.</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[시작, 종료) 표기: 끝나는 시각에 바로 시작</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36</a:t>
            </a:r>
          </a:p>
        </p:txBody>
      </p:sp>
      <p:sp>
        <p:nvSpPr>
          <p:cNvPr id="9" name="fit:099b4de91e7c97fa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 4)는 1시에 시작해 4시에 끝나는 회의입니다.</a:t>
            </a:r>
          </a:p>
          <a:p>
            <a:pPr algn="l" eaLnBrk="0" latinLnBrk="0">
              <a:lnSpc>
                <a:spcPct val="100000"/>
              </a:lnSpc>
              <a:buNone/>
            </a:pPr>
            <a:r>
              <a:rPr lang="ko-KR" altLang="en-US" sz="2025" b="0" dirty="0">
                <a:solidFill>
                  <a:srgbClr val="171717"/>
                </a:solidFill>
                <a:latin typeface="Malgun Gothic"/>
                <a:ea typeface="Malgun Gothic"/>
                <a:cs typeface="Malgun Gothic"/>
              </a:rPr>
              <a:t>[는 1시를 포함하고, )는 4시를 포함하지 않습니다.</a:t>
            </a:r>
          </a:p>
        </p:txBody>
      </p:sp>
      <p:cxnSp>
        <p:nvCxnSpPr>
          <p:cNvPr id="10" name="연결선 11"/>
          <p:cNvCxnSpPr/>
          <p:nvPr/>
        </p:nvCxnSpPr>
        <p:spPr>
          <a:xfrm>
            <a:off x="2743200" y="2852928"/>
            <a:ext cx="0" cy="1444752"/>
          </a:xfrm>
          <a:prstGeom prst="line">
            <a:avLst/>
          </a:prstGeom>
          <a:ln w="6350">
            <a:solidFill>
              <a:srgbClr val="E6E6E6"/>
            </a:solidFill>
          </a:ln>
        </p:spPr>
      </p:cxnSp>
      <p:sp>
        <p:nvSpPr>
          <p:cNvPr id="11" name="직사각형 12"/>
          <p:cNvSpPr/>
          <p:nvPr/>
        </p:nvSpPr>
        <p:spPr>
          <a:xfrm>
            <a:off x="25603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657600" y="2852928"/>
            <a:ext cx="0" cy="1444752"/>
          </a:xfrm>
          <a:prstGeom prst="line">
            <a:avLst/>
          </a:prstGeom>
          <a:ln w="6350">
            <a:solidFill>
              <a:srgbClr val="E6E6E6"/>
            </a:solidFill>
          </a:ln>
        </p:spPr>
      </p:cxnSp>
      <p:sp>
        <p:nvSpPr>
          <p:cNvPr id="13" name="직사각형 14"/>
          <p:cNvSpPr/>
          <p:nvPr/>
        </p:nvSpPr>
        <p:spPr>
          <a:xfrm>
            <a:off x="34747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4572000" y="2852928"/>
            <a:ext cx="0" cy="1444752"/>
          </a:xfrm>
          <a:prstGeom prst="line">
            <a:avLst/>
          </a:prstGeom>
          <a:ln w="6350">
            <a:solidFill>
              <a:srgbClr val="E6E6E6"/>
            </a:solidFill>
          </a:ln>
        </p:spPr>
      </p:cxnSp>
      <p:sp>
        <p:nvSpPr>
          <p:cNvPr id="15" name="직사각형 16"/>
          <p:cNvSpPr/>
          <p:nvPr/>
        </p:nvSpPr>
        <p:spPr>
          <a:xfrm>
            <a:off x="43891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5486400" y="2852928"/>
            <a:ext cx="0" cy="1444752"/>
          </a:xfrm>
          <a:prstGeom prst="line">
            <a:avLst/>
          </a:prstGeom>
          <a:ln w="6350">
            <a:solidFill>
              <a:srgbClr val="E6E6E6"/>
            </a:solidFill>
          </a:ln>
        </p:spPr>
      </p:cxnSp>
      <p:sp>
        <p:nvSpPr>
          <p:cNvPr id="17" name="직사각형 18"/>
          <p:cNvSpPr/>
          <p:nvPr/>
        </p:nvSpPr>
        <p:spPr>
          <a:xfrm>
            <a:off x="53035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6400800" y="2852928"/>
            <a:ext cx="0" cy="1444752"/>
          </a:xfrm>
          <a:prstGeom prst="line">
            <a:avLst/>
          </a:prstGeom>
          <a:ln w="6350">
            <a:solidFill>
              <a:srgbClr val="E6E6E6"/>
            </a:solidFill>
          </a:ln>
        </p:spPr>
      </p:cxnSp>
      <p:sp>
        <p:nvSpPr>
          <p:cNvPr id="19" name="직사각형 20"/>
          <p:cNvSpPr/>
          <p:nvPr/>
        </p:nvSpPr>
        <p:spPr>
          <a:xfrm>
            <a:off x="62179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7315200" y="2852928"/>
            <a:ext cx="0" cy="1444752"/>
          </a:xfrm>
          <a:prstGeom prst="line">
            <a:avLst/>
          </a:prstGeom>
          <a:ln w="6350">
            <a:solidFill>
              <a:srgbClr val="E6E6E6"/>
            </a:solidFill>
          </a:ln>
        </p:spPr>
      </p:cxnSp>
      <p:sp>
        <p:nvSpPr>
          <p:cNvPr id="21" name="직사각형 22"/>
          <p:cNvSpPr/>
          <p:nvPr/>
        </p:nvSpPr>
        <p:spPr>
          <a:xfrm>
            <a:off x="71323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8229600" y="2852928"/>
            <a:ext cx="0" cy="1444752"/>
          </a:xfrm>
          <a:prstGeom prst="line">
            <a:avLst/>
          </a:prstGeom>
          <a:ln w="6350">
            <a:solidFill>
              <a:srgbClr val="E6E6E6"/>
            </a:solidFill>
          </a:ln>
        </p:spPr>
      </p:cxnSp>
      <p:sp>
        <p:nvSpPr>
          <p:cNvPr id="23" name="직사각형 24"/>
          <p:cNvSpPr/>
          <p:nvPr/>
        </p:nvSpPr>
        <p:spPr>
          <a:xfrm>
            <a:off x="80467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9144000" y="2852928"/>
            <a:ext cx="0" cy="1444752"/>
          </a:xfrm>
          <a:prstGeom prst="line">
            <a:avLst/>
          </a:prstGeom>
          <a:ln w="6350">
            <a:solidFill>
              <a:srgbClr val="E6E6E6"/>
            </a:solidFill>
          </a:ln>
        </p:spPr>
      </p:cxnSp>
      <p:sp>
        <p:nvSpPr>
          <p:cNvPr id="25" name="직사각형 26"/>
          <p:cNvSpPr/>
          <p:nvPr/>
        </p:nvSpPr>
        <p:spPr>
          <a:xfrm>
            <a:off x="89611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6400800" y="2834640"/>
            <a:ext cx="0" cy="1517904"/>
          </a:xfrm>
          <a:prstGeom prst="line">
            <a:avLst/>
          </a:prstGeom>
          <a:ln w="28575">
            <a:solidFill>
              <a:srgbClr val="B8651B"/>
            </a:solidFill>
            <a:prstDash val="dash"/>
          </a:ln>
        </p:spPr>
      </p:cxnSp>
      <p:sp>
        <p:nvSpPr>
          <p:cNvPr id="27" name="직사각형 28"/>
          <p:cNvSpPr/>
          <p:nvPr/>
        </p:nvSpPr>
        <p:spPr>
          <a:xfrm>
            <a:off x="960120" y="297180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 4)</a:t>
            </a:r>
          </a:p>
        </p:txBody>
      </p:sp>
      <p:sp>
        <p:nvSpPr>
          <p:cNvPr id="28" name="직사각형 29"/>
          <p:cNvSpPr/>
          <p:nvPr/>
        </p:nvSpPr>
        <p:spPr>
          <a:xfrm>
            <a:off x="3657600" y="2971800"/>
            <a:ext cx="2743200" cy="36576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1시 ~ 4시 직전</a:t>
            </a:r>
          </a:p>
        </p:txBody>
      </p:sp>
      <p:sp>
        <p:nvSpPr>
          <p:cNvPr id="29" name="직사각형 30"/>
          <p:cNvSpPr/>
          <p:nvPr/>
        </p:nvSpPr>
        <p:spPr>
          <a:xfrm>
            <a:off x="960120" y="342900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 6)</a:t>
            </a:r>
          </a:p>
        </p:txBody>
      </p:sp>
      <p:sp>
        <p:nvSpPr>
          <p:cNvPr id="30" name="직사각형 31"/>
          <p:cNvSpPr/>
          <p:nvPr/>
        </p:nvSpPr>
        <p:spPr>
          <a:xfrm>
            <a:off x="6400800" y="3429000"/>
            <a:ext cx="1828800" cy="36576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4시부터</a:t>
            </a:r>
          </a:p>
        </p:txBody>
      </p:sp>
      <p:sp>
        <p:nvSpPr>
          <p:cNvPr id="31" name="직사각형 32"/>
          <p:cNvSpPr/>
          <p:nvPr/>
        </p:nvSpPr>
        <p:spPr>
          <a:xfrm>
            <a:off x="960120" y="388620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[3, 5)</a:t>
            </a:r>
          </a:p>
        </p:txBody>
      </p:sp>
      <p:sp>
        <p:nvSpPr>
          <p:cNvPr id="32" name="직사각형 33"/>
          <p:cNvSpPr/>
          <p:nvPr/>
        </p:nvSpPr>
        <p:spPr>
          <a:xfrm>
            <a:off x="5486400" y="3886200"/>
            <a:ext cx="1828800" cy="36576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33" name="직사각형 34"/>
          <p:cNvSpPr/>
          <p:nvPr/>
        </p:nvSpPr>
        <p:spPr>
          <a:xfrm>
            <a:off x="5577840" y="4370832"/>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4시</a:t>
            </a:r>
          </a:p>
        </p:txBody>
      </p:sp>
      <p:sp>
        <p:nvSpPr>
          <p:cNvPr id="34" name="직사각형 35"/>
          <p:cNvSpPr/>
          <p:nvPr/>
        </p:nvSpPr>
        <p:spPr>
          <a:xfrm>
            <a:off x="9418320" y="2971800"/>
            <a:ext cx="214884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함께 고를 수 있음</a:t>
            </a:r>
          </a:p>
        </p:txBody>
      </p:sp>
      <p:sp>
        <p:nvSpPr>
          <p:cNvPr id="35" name="직사각형 36"/>
          <p:cNvSpPr/>
          <p:nvPr/>
        </p:nvSpPr>
        <p:spPr>
          <a:xfrm>
            <a:off x="9418320" y="3429000"/>
            <a:ext cx="214884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4 ≥ 4</a:t>
            </a:r>
          </a:p>
        </p:txBody>
      </p:sp>
      <p:sp>
        <p:nvSpPr>
          <p:cNvPr id="36" name="직사각형 37"/>
          <p:cNvSpPr/>
          <p:nvPr/>
        </p:nvSpPr>
        <p:spPr>
          <a:xfrm>
            <a:off x="9418320" y="3886200"/>
            <a:ext cx="214884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둘 모두와 겹침</a:t>
            </a:r>
          </a:p>
        </p:txBody>
      </p:sp>
      <p:sp>
        <p:nvSpPr>
          <p:cNvPr id="37" name="fit:13ebb2f6b3475686 38"/>
          <p:cNvSpPr/>
          <p:nvPr/>
        </p:nvSpPr>
        <p:spPr>
          <a:xfrm>
            <a:off x="612648" y="4828032"/>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규칙: 다음 회의의 시작 ≥ 앞 회의의 종료이면 겹치지 않습니다.</a:t>
            </a:r>
          </a:p>
        </p:txBody>
      </p:sp>
      <p:sp>
        <p:nvSpPr>
          <p:cNvPr id="38" name="fit:324d16a96fbc7491 39"/>
          <p:cNvSpPr/>
          <p:nvPr/>
        </p:nvSpPr>
        <p:spPr>
          <a:xfrm>
            <a:off x="612648" y="5285232"/>
            <a:ext cx="10972800" cy="56692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0" dirty="0">
                <a:solidFill>
                  <a:srgbClr val="171717"/>
                </a:solidFill>
                <a:latin typeface="Malgun Gothic"/>
                <a:ea typeface="Malgun Gothic"/>
                <a:cs typeface="Malgun Gothic"/>
              </a:rPr>
              <a:t>[1, 4)와 [4, 6)은 함께 고를 수 있습니다. 4시에 하나가 끝나고 다른 하나가 시작합니다.</a:t>
            </a:r>
          </a:p>
          <a:p>
            <a:pPr algn="l" eaLnBrk="0" latinLnBrk="0">
              <a:lnSpc>
                <a:spcPct val="105000"/>
              </a:lnSpc>
              <a:buNone/>
            </a:pPr>
            <a:r>
              <a:rPr lang="ko-KR" altLang="en-US" sz="1700" b="0" dirty="0">
                <a:solidFill>
                  <a:srgbClr val="171717"/>
                </a:solidFill>
                <a:latin typeface="Malgun Gothic"/>
                <a:ea typeface="Malgun Gothic"/>
                <a:cs typeface="Malgun Gothic"/>
              </a:rPr>
              <a:t>[3, 5)는 4시 전에 시작해 4시 뒤에 끝나므로 [1, 4), [4, 6) 둘 모두와 겹칩니다.</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① 일찍 시작하는 회의부터? · 1개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37</a:t>
            </a:r>
          </a:p>
        </p:txBody>
      </p:sp>
      <p:sp>
        <p:nvSpPr>
          <p:cNvPr id="9" name="fit:fb9de2c01a2a5a7e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시작이 빠른 순으로 보며 겹치지 않으면 고릅니다.</a:t>
            </a:r>
          </a:p>
          <a:p>
            <a:pPr algn="l" eaLnBrk="0" latinLnBrk="0">
              <a:lnSpc>
                <a:spcPct val="100000"/>
              </a:lnSpc>
              <a:buNone/>
            </a:pPr>
            <a:r>
              <a:rPr lang="ko-KR" altLang="en-US" sz="2025" b="0" dirty="0">
                <a:solidFill>
                  <a:srgbClr val="171717"/>
                </a:solidFill>
                <a:latin typeface="Malgun Gothic"/>
                <a:ea typeface="Malgun Gothic"/>
                <a:cs typeface="Malgun Gothic"/>
              </a:rPr>
              <a:t>[1, 10)을 먼저 고르자 나머지 둘이 모두 겹칩니다.</a:t>
            </a:r>
          </a:p>
        </p:txBody>
      </p:sp>
      <p:cxnSp>
        <p:nvCxnSpPr>
          <p:cNvPr id="10" name="연결선 11"/>
          <p:cNvCxnSpPr/>
          <p:nvPr/>
        </p:nvCxnSpPr>
        <p:spPr>
          <a:xfrm>
            <a:off x="2743200" y="2944368"/>
            <a:ext cx="0" cy="1444752"/>
          </a:xfrm>
          <a:prstGeom prst="line">
            <a:avLst/>
          </a:prstGeom>
          <a:ln w="6350">
            <a:solidFill>
              <a:srgbClr val="E6E6E6"/>
            </a:solidFill>
          </a:ln>
        </p:spPr>
      </p:cxnSp>
      <p:sp>
        <p:nvSpPr>
          <p:cNvPr id="11" name="직사각형 12"/>
          <p:cNvSpPr/>
          <p:nvPr/>
        </p:nvSpPr>
        <p:spPr>
          <a:xfrm>
            <a:off x="2560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83280" y="2944368"/>
            <a:ext cx="0" cy="1444752"/>
          </a:xfrm>
          <a:prstGeom prst="line">
            <a:avLst/>
          </a:prstGeom>
          <a:ln w="6350">
            <a:solidFill>
              <a:srgbClr val="E6E6E6"/>
            </a:solidFill>
          </a:ln>
        </p:spPr>
      </p:cxnSp>
      <p:sp>
        <p:nvSpPr>
          <p:cNvPr id="13" name="직사각형 14"/>
          <p:cNvSpPr/>
          <p:nvPr/>
        </p:nvSpPr>
        <p:spPr>
          <a:xfrm>
            <a:off x="32004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4023360" y="2944368"/>
            <a:ext cx="0" cy="1444752"/>
          </a:xfrm>
          <a:prstGeom prst="line">
            <a:avLst/>
          </a:prstGeom>
          <a:ln w="6350">
            <a:solidFill>
              <a:srgbClr val="E6E6E6"/>
            </a:solidFill>
          </a:ln>
        </p:spPr>
      </p:cxnSp>
      <p:sp>
        <p:nvSpPr>
          <p:cNvPr id="15" name="직사각형 16"/>
          <p:cNvSpPr/>
          <p:nvPr/>
        </p:nvSpPr>
        <p:spPr>
          <a:xfrm>
            <a:off x="38404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663440" y="2944368"/>
            <a:ext cx="0" cy="1444752"/>
          </a:xfrm>
          <a:prstGeom prst="line">
            <a:avLst/>
          </a:prstGeom>
          <a:ln w="6350">
            <a:solidFill>
              <a:srgbClr val="E6E6E6"/>
            </a:solidFill>
          </a:ln>
        </p:spPr>
      </p:cxnSp>
      <p:sp>
        <p:nvSpPr>
          <p:cNvPr id="17" name="직사각형 18"/>
          <p:cNvSpPr/>
          <p:nvPr/>
        </p:nvSpPr>
        <p:spPr>
          <a:xfrm>
            <a:off x="44805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303520" y="2944368"/>
            <a:ext cx="0" cy="1444752"/>
          </a:xfrm>
          <a:prstGeom prst="line">
            <a:avLst/>
          </a:prstGeom>
          <a:ln w="6350">
            <a:solidFill>
              <a:srgbClr val="E6E6E6"/>
            </a:solidFill>
          </a:ln>
        </p:spPr>
      </p:cxnSp>
      <p:sp>
        <p:nvSpPr>
          <p:cNvPr id="19" name="직사각형 20"/>
          <p:cNvSpPr/>
          <p:nvPr/>
        </p:nvSpPr>
        <p:spPr>
          <a:xfrm>
            <a:off x="51206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943600" y="2944368"/>
            <a:ext cx="0" cy="1444752"/>
          </a:xfrm>
          <a:prstGeom prst="line">
            <a:avLst/>
          </a:prstGeom>
          <a:ln w="6350">
            <a:solidFill>
              <a:srgbClr val="E6E6E6"/>
            </a:solidFill>
          </a:ln>
        </p:spPr>
      </p:cxnSp>
      <p:sp>
        <p:nvSpPr>
          <p:cNvPr id="21" name="직사각형 22"/>
          <p:cNvSpPr/>
          <p:nvPr/>
        </p:nvSpPr>
        <p:spPr>
          <a:xfrm>
            <a:off x="5760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583680" y="2944368"/>
            <a:ext cx="0" cy="1444752"/>
          </a:xfrm>
          <a:prstGeom prst="line">
            <a:avLst/>
          </a:prstGeom>
          <a:ln w="6350">
            <a:solidFill>
              <a:srgbClr val="E6E6E6"/>
            </a:solidFill>
          </a:ln>
        </p:spPr>
      </p:cxnSp>
      <p:sp>
        <p:nvSpPr>
          <p:cNvPr id="23" name="직사각형 24"/>
          <p:cNvSpPr/>
          <p:nvPr/>
        </p:nvSpPr>
        <p:spPr>
          <a:xfrm>
            <a:off x="64008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7223760" y="2944368"/>
            <a:ext cx="0" cy="1444752"/>
          </a:xfrm>
          <a:prstGeom prst="line">
            <a:avLst/>
          </a:prstGeom>
          <a:ln w="6350">
            <a:solidFill>
              <a:srgbClr val="E6E6E6"/>
            </a:solidFill>
          </a:ln>
        </p:spPr>
      </p:cxnSp>
      <p:sp>
        <p:nvSpPr>
          <p:cNvPr id="25" name="직사각형 26"/>
          <p:cNvSpPr/>
          <p:nvPr/>
        </p:nvSpPr>
        <p:spPr>
          <a:xfrm>
            <a:off x="70408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863840" y="2944368"/>
            <a:ext cx="0" cy="1444752"/>
          </a:xfrm>
          <a:prstGeom prst="line">
            <a:avLst/>
          </a:prstGeom>
          <a:ln w="6350">
            <a:solidFill>
              <a:srgbClr val="E6E6E6"/>
            </a:solidFill>
          </a:ln>
        </p:spPr>
      </p:cxnSp>
      <p:sp>
        <p:nvSpPr>
          <p:cNvPr id="27" name="직사각형 28"/>
          <p:cNvSpPr/>
          <p:nvPr/>
        </p:nvSpPr>
        <p:spPr>
          <a:xfrm>
            <a:off x="76809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503920" y="2944368"/>
            <a:ext cx="0" cy="1444752"/>
          </a:xfrm>
          <a:prstGeom prst="line">
            <a:avLst/>
          </a:prstGeom>
          <a:ln w="6350">
            <a:solidFill>
              <a:srgbClr val="E6E6E6"/>
            </a:solidFill>
          </a:ln>
        </p:spPr>
      </p:cxnSp>
      <p:sp>
        <p:nvSpPr>
          <p:cNvPr id="29" name="직사각형 30"/>
          <p:cNvSpPr/>
          <p:nvPr/>
        </p:nvSpPr>
        <p:spPr>
          <a:xfrm>
            <a:off x="83210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9144000" y="2944368"/>
            <a:ext cx="0" cy="1444752"/>
          </a:xfrm>
          <a:prstGeom prst="line">
            <a:avLst/>
          </a:prstGeom>
          <a:ln w="6350">
            <a:solidFill>
              <a:srgbClr val="E6E6E6"/>
            </a:solidFill>
          </a:ln>
        </p:spPr>
      </p:cxnSp>
      <p:sp>
        <p:nvSpPr>
          <p:cNvPr id="31" name="직사각형 32"/>
          <p:cNvSpPr/>
          <p:nvPr/>
        </p:nvSpPr>
        <p:spPr>
          <a:xfrm>
            <a:off x="8961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784080" y="2944368"/>
            <a:ext cx="0" cy="1444752"/>
          </a:xfrm>
          <a:prstGeom prst="line">
            <a:avLst/>
          </a:prstGeom>
          <a:ln w="6350">
            <a:solidFill>
              <a:srgbClr val="E6E6E6"/>
            </a:solidFill>
          </a:ln>
        </p:spPr>
      </p:cxnSp>
      <p:sp>
        <p:nvSpPr>
          <p:cNvPr id="33" name="직사각형 34"/>
          <p:cNvSpPr/>
          <p:nvPr/>
        </p:nvSpPr>
        <p:spPr>
          <a:xfrm>
            <a:off x="96012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144000" y="2926080"/>
            <a:ext cx="0" cy="1517904"/>
          </a:xfrm>
          <a:prstGeom prst="line">
            <a:avLst/>
          </a:prstGeom>
          <a:ln w="28575">
            <a:solidFill>
              <a:srgbClr val="B8651B"/>
            </a:solidFill>
            <a:prstDash val="dash"/>
          </a:ln>
        </p:spPr>
      </p:cxnSp>
      <p:sp>
        <p:nvSpPr>
          <p:cNvPr id="35" name="직사각형 36"/>
          <p:cNvSpPr/>
          <p:nvPr/>
        </p:nvSpPr>
        <p:spPr>
          <a:xfrm>
            <a:off x="960120" y="306324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 10)</a:t>
            </a:r>
          </a:p>
        </p:txBody>
      </p:sp>
      <p:sp>
        <p:nvSpPr>
          <p:cNvPr id="36" name="직사각형 37"/>
          <p:cNvSpPr/>
          <p:nvPr/>
        </p:nvSpPr>
        <p:spPr>
          <a:xfrm>
            <a:off x="3383280" y="3063240"/>
            <a:ext cx="5760720" cy="36576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① 선택</a:t>
            </a:r>
          </a:p>
        </p:txBody>
      </p:sp>
      <p:sp>
        <p:nvSpPr>
          <p:cNvPr id="37" name="직사각형 38"/>
          <p:cNvSpPr/>
          <p:nvPr/>
        </p:nvSpPr>
        <p:spPr>
          <a:xfrm>
            <a:off x="960120" y="352044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 3)</a:t>
            </a:r>
          </a:p>
        </p:txBody>
      </p:sp>
      <p:sp>
        <p:nvSpPr>
          <p:cNvPr id="38" name="직사각형 39"/>
          <p:cNvSpPr/>
          <p:nvPr/>
        </p:nvSpPr>
        <p:spPr>
          <a:xfrm>
            <a:off x="4023360" y="3520440"/>
            <a:ext cx="640080" cy="36576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②</a:t>
            </a:r>
          </a:p>
        </p:txBody>
      </p:sp>
      <p:sp>
        <p:nvSpPr>
          <p:cNvPr id="39" name="직사각형 40"/>
          <p:cNvSpPr/>
          <p:nvPr/>
        </p:nvSpPr>
        <p:spPr>
          <a:xfrm>
            <a:off x="960120" y="397764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[4, 5)</a:t>
            </a:r>
          </a:p>
        </p:txBody>
      </p:sp>
      <p:sp>
        <p:nvSpPr>
          <p:cNvPr id="40" name="직사각형 41"/>
          <p:cNvSpPr/>
          <p:nvPr/>
        </p:nvSpPr>
        <p:spPr>
          <a:xfrm>
            <a:off x="5303520" y="3977640"/>
            <a:ext cx="640080" cy="36576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③</a:t>
            </a:r>
          </a:p>
        </p:txBody>
      </p:sp>
      <p:sp>
        <p:nvSpPr>
          <p:cNvPr id="41" name="직사각형 42"/>
          <p:cNvSpPr/>
          <p:nvPr/>
        </p:nvSpPr>
        <p:spPr>
          <a:xfrm>
            <a:off x="8321040" y="4462272"/>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10시까지 사용 중</a:t>
            </a:r>
          </a:p>
        </p:txBody>
      </p:sp>
      <p:sp>
        <p:nvSpPr>
          <p:cNvPr id="42" name="직사각형 43"/>
          <p:cNvSpPr/>
          <p:nvPr/>
        </p:nvSpPr>
        <p:spPr>
          <a:xfrm>
            <a:off x="2743200" y="5120640"/>
            <a:ext cx="3291840" cy="512064"/>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800" b="1" dirty="0">
                <a:solidFill>
                  <a:srgbClr val="B23B3B"/>
                </a:solidFill>
                <a:latin typeface="Malgun Gothic"/>
                <a:ea typeface="Malgun Gothic"/>
                <a:cs typeface="Malgun Gothic"/>
              </a:rPr>
              <a:t>시작 순 그리디: 1개</a:t>
            </a:r>
          </a:p>
        </p:txBody>
      </p:sp>
      <p:sp>
        <p:nvSpPr>
          <p:cNvPr id="43" name="직사각형 44"/>
          <p:cNvSpPr/>
          <p:nvPr/>
        </p:nvSpPr>
        <p:spPr>
          <a:xfrm>
            <a:off x="9966960" y="3063240"/>
            <a:ext cx="160020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8651B"/>
                </a:solidFill>
                <a:latin typeface="Malgun Gothic"/>
                <a:ea typeface="Malgun Gothic"/>
                <a:cs typeface="Malgun Gothic"/>
              </a:rPr>
              <a:t>① 처음이라 고름</a:t>
            </a:r>
          </a:p>
        </p:txBody>
      </p:sp>
      <p:sp>
        <p:nvSpPr>
          <p:cNvPr id="44" name="직사각형 45"/>
          <p:cNvSpPr/>
          <p:nvPr/>
        </p:nvSpPr>
        <p:spPr>
          <a:xfrm>
            <a:off x="9966960" y="3520440"/>
            <a:ext cx="160020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② 2시 &lt; 10시</a:t>
            </a:r>
          </a:p>
        </p:txBody>
      </p:sp>
      <p:sp>
        <p:nvSpPr>
          <p:cNvPr id="45" name="직사각형 46"/>
          <p:cNvSpPr/>
          <p:nvPr/>
        </p:nvSpPr>
        <p:spPr>
          <a:xfrm>
            <a:off x="9966960" y="3977640"/>
            <a:ext cx="160020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③ 4시 &lt; 10시</a:t>
            </a:r>
          </a:p>
        </p:txBody>
      </p:sp>
      <p:sp>
        <p:nvSpPr>
          <p:cNvPr id="46" name="직사각형 4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고른 회의    빨강 점선: 겹쳐서 버린 회의    주황 점선: 회의실이 비는 시각</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반례 완성: 시작 순 1개 &lt; 최적 2개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38</a:t>
            </a:r>
          </a:p>
        </p:txBody>
      </p:sp>
      <p:sp>
        <p:nvSpPr>
          <p:cNvPr id="9" name="fit:4e0d4a5aaa26d0e1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 10)을 버리면 [2, 3)과 [4, 5)를 함께 넣을 수 있습니다.</a:t>
            </a:r>
          </a:p>
          <a:p>
            <a:pPr algn="l" eaLnBrk="0" latinLnBrk="0">
              <a:lnSpc>
                <a:spcPct val="100000"/>
              </a:lnSpc>
              <a:buNone/>
            </a:pPr>
            <a:r>
              <a:rPr lang="ko-KR" altLang="en-US" sz="2025" b="0" dirty="0">
                <a:solidFill>
                  <a:srgbClr val="171717"/>
                </a:solidFill>
                <a:latin typeface="Malgun Gothic"/>
                <a:ea typeface="Malgun Gothic"/>
                <a:cs typeface="Malgun Gothic"/>
              </a:rPr>
              <a:t>그리디 1개 &lt; 최적 2개, 이 기준은 최적을 보장하지 않습니다.</a:t>
            </a:r>
          </a:p>
        </p:txBody>
      </p:sp>
      <p:sp>
        <p:nvSpPr>
          <p:cNvPr id="10" name="직사각형 11"/>
          <p:cNvSpPr/>
          <p:nvPr/>
        </p:nvSpPr>
        <p:spPr>
          <a:xfrm>
            <a:off x="612648" y="24505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시작 순 그리디: [1, 10) 하나</a:t>
            </a:r>
          </a:p>
        </p:txBody>
      </p:sp>
      <p:cxnSp>
        <p:nvCxnSpPr>
          <p:cNvPr id="11" name="연결선 12"/>
          <p:cNvCxnSpPr/>
          <p:nvPr/>
        </p:nvCxnSpPr>
        <p:spPr>
          <a:xfrm>
            <a:off x="2743200" y="2944368"/>
            <a:ext cx="0" cy="1170432"/>
          </a:xfrm>
          <a:prstGeom prst="line">
            <a:avLst/>
          </a:prstGeom>
          <a:ln w="6350">
            <a:solidFill>
              <a:srgbClr val="E6E6E6"/>
            </a:solidFill>
          </a:ln>
        </p:spPr>
      </p:cxnSp>
      <p:sp>
        <p:nvSpPr>
          <p:cNvPr id="12" name="직사각형 13"/>
          <p:cNvSpPr/>
          <p:nvPr/>
        </p:nvSpPr>
        <p:spPr>
          <a:xfrm>
            <a:off x="2560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3" name="연결선 14"/>
          <p:cNvCxnSpPr/>
          <p:nvPr/>
        </p:nvCxnSpPr>
        <p:spPr>
          <a:xfrm>
            <a:off x="3383280" y="2944368"/>
            <a:ext cx="0" cy="1170432"/>
          </a:xfrm>
          <a:prstGeom prst="line">
            <a:avLst/>
          </a:prstGeom>
          <a:ln w="6350">
            <a:solidFill>
              <a:srgbClr val="E6E6E6"/>
            </a:solidFill>
          </a:ln>
        </p:spPr>
      </p:cxnSp>
      <p:sp>
        <p:nvSpPr>
          <p:cNvPr id="14" name="직사각형 15"/>
          <p:cNvSpPr/>
          <p:nvPr/>
        </p:nvSpPr>
        <p:spPr>
          <a:xfrm>
            <a:off x="32004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5" name="연결선 16"/>
          <p:cNvCxnSpPr/>
          <p:nvPr/>
        </p:nvCxnSpPr>
        <p:spPr>
          <a:xfrm>
            <a:off x="4023360" y="2944368"/>
            <a:ext cx="0" cy="1170432"/>
          </a:xfrm>
          <a:prstGeom prst="line">
            <a:avLst/>
          </a:prstGeom>
          <a:ln w="6350">
            <a:solidFill>
              <a:srgbClr val="E6E6E6"/>
            </a:solidFill>
          </a:ln>
        </p:spPr>
      </p:cxnSp>
      <p:sp>
        <p:nvSpPr>
          <p:cNvPr id="16" name="직사각형 17"/>
          <p:cNvSpPr/>
          <p:nvPr/>
        </p:nvSpPr>
        <p:spPr>
          <a:xfrm>
            <a:off x="38404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7" name="연결선 18"/>
          <p:cNvCxnSpPr/>
          <p:nvPr/>
        </p:nvCxnSpPr>
        <p:spPr>
          <a:xfrm>
            <a:off x="4663440" y="2944368"/>
            <a:ext cx="0" cy="1170432"/>
          </a:xfrm>
          <a:prstGeom prst="line">
            <a:avLst/>
          </a:prstGeom>
          <a:ln w="6350">
            <a:solidFill>
              <a:srgbClr val="E6E6E6"/>
            </a:solidFill>
          </a:ln>
        </p:spPr>
      </p:cxnSp>
      <p:sp>
        <p:nvSpPr>
          <p:cNvPr id="18" name="직사각형 19"/>
          <p:cNvSpPr/>
          <p:nvPr/>
        </p:nvSpPr>
        <p:spPr>
          <a:xfrm>
            <a:off x="44805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9" name="연결선 20"/>
          <p:cNvCxnSpPr/>
          <p:nvPr/>
        </p:nvCxnSpPr>
        <p:spPr>
          <a:xfrm>
            <a:off x="5303520" y="2944368"/>
            <a:ext cx="0" cy="1170432"/>
          </a:xfrm>
          <a:prstGeom prst="line">
            <a:avLst/>
          </a:prstGeom>
          <a:ln w="6350">
            <a:solidFill>
              <a:srgbClr val="E6E6E6"/>
            </a:solidFill>
          </a:ln>
        </p:spPr>
      </p:cxnSp>
      <p:sp>
        <p:nvSpPr>
          <p:cNvPr id="20" name="직사각형 21"/>
          <p:cNvSpPr/>
          <p:nvPr/>
        </p:nvSpPr>
        <p:spPr>
          <a:xfrm>
            <a:off x="51206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1" name="연결선 22"/>
          <p:cNvCxnSpPr/>
          <p:nvPr/>
        </p:nvCxnSpPr>
        <p:spPr>
          <a:xfrm>
            <a:off x="5943600" y="2944368"/>
            <a:ext cx="0" cy="1170432"/>
          </a:xfrm>
          <a:prstGeom prst="line">
            <a:avLst/>
          </a:prstGeom>
          <a:ln w="6350">
            <a:solidFill>
              <a:srgbClr val="E6E6E6"/>
            </a:solidFill>
          </a:ln>
        </p:spPr>
      </p:cxnSp>
      <p:sp>
        <p:nvSpPr>
          <p:cNvPr id="22" name="직사각형 23"/>
          <p:cNvSpPr/>
          <p:nvPr/>
        </p:nvSpPr>
        <p:spPr>
          <a:xfrm>
            <a:off x="5760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3" name="연결선 24"/>
          <p:cNvCxnSpPr/>
          <p:nvPr/>
        </p:nvCxnSpPr>
        <p:spPr>
          <a:xfrm>
            <a:off x="6583680" y="2944368"/>
            <a:ext cx="0" cy="1170432"/>
          </a:xfrm>
          <a:prstGeom prst="line">
            <a:avLst/>
          </a:prstGeom>
          <a:ln w="6350">
            <a:solidFill>
              <a:srgbClr val="E6E6E6"/>
            </a:solidFill>
          </a:ln>
        </p:spPr>
      </p:cxnSp>
      <p:sp>
        <p:nvSpPr>
          <p:cNvPr id="24" name="직사각형 25"/>
          <p:cNvSpPr/>
          <p:nvPr/>
        </p:nvSpPr>
        <p:spPr>
          <a:xfrm>
            <a:off x="64008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5" name="연결선 26"/>
          <p:cNvCxnSpPr/>
          <p:nvPr/>
        </p:nvCxnSpPr>
        <p:spPr>
          <a:xfrm>
            <a:off x="7223760" y="2944368"/>
            <a:ext cx="0" cy="1170432"/>
          </a:xfrm>
          <a:prstGeom prst="line">
            <a:avLst/>
          </a:prstGeom>
          <a:ln w="6350">
            <a:solidFill>
              <a:srgbClr val="E6E6E6"/>
            </a:solidFill>
          </a:ln>
        </p:spPr>
      </p:cxnSp>
      <p:sp>
        <p:nvSpPr>
          <p:cNvPr id="26" name="직사각형 27"/>
          <p:cNvSpPr/>
          <p:nvPr/>
        </p:nvSpPr>
        <p:spPr>
          <a:xfrm>
            <a:off x="70408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7" name="연결선 28"/>
          <p:cNvCxnSpPr/>
          <p:nvPr/>
        </p:nvCxnSpPr>
        <p:spPr>
          <a:xfrm>
            <a:off x="7863840" y="2944368"/>
            <a:ext cx="0" cy="1170432"/>
          </a:xfrm>
          <a:prstGeom prst="line">
            <a:avLst/>
          </a:prstGeom>
          <a:ln w="6350">
            <a:solidFill>
              <a:srgbClr val="E6E6E6"/>
            </a:solidFill>
          </a:ln>
        </p:spPr>
      </p:cxnSp>
      <p:sp>
        <p:nvSpPr>
          <p:cNvPr id="28" name="직사각형 29"/>
          <p:cNvSpPr/>
          <p:nvPr/>
        </p:nvSpPr>
        <p:spPr>
          <a:xfrm>
            <a:off x="76809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9" name="연결선 30"/>
          <p:cNvCxnSpPr/>
          <p:nvPr/>
        </p:nvCxnSpPr>
        <p:spPr>
          <a:xfrm>
            <a:off x="8503920" y="2944368"/>
            <a:ext cx="0" cy="1170432"/>
          </a:xfrm>
          <a:prstGeom prst="line">
            <a:avLst/>
          </a:prstGeom>
          <a:ln w="6350">
            <a:solidFill>
              <a:srgbClr val="E6E6E6"/>
            </a:solidFill>
          </a:ln>
        </p:spPr>
      </p:cxnSp>
      <p:sp>
        <p:nvSpPr>
          <p:cNvPr id="30" name="직사각형 31"/>
          <p:cNvSpPr/>
          <p:nvPr/>
        </p:nvSpPr>
        <p:spPr>
          <a:xfrm>
            <a:off x="83210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1" name="연결선 32"/>
          <p:cNvCxnSpPr/>
          <p:nvPr/>
        </p:nvCxnSpPr>
        <p:spPr>
          <a:xfrm>
            <a:off x="9144000" y="2944368"/>
            <a:ext cx="0" cy="1170432"/>
          </a:xfrm>
          <a:prstGeom prst="line">
            <a:avLst/>
          </a:prstGeom>
          <a:ln w="6350">
            <a:solidFill>
              <a:srgbClr val="E6E6E6"/>
            </a:solidFill>
          </a:ln>
        </p:spPr>
      </p:cxnSp>
      <p:sp>
        <p:nvSpPr>
          <p:cNvPr id="32" name="직사각형 33"/>
          <p:cNvSpPr/>
          <p:nvPr/>
        </p:nvSpPr>
        <p:spPr>
          <a:xfrm>
            <a:off x="8961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3" name="연결선 34"/>
          <p:cNvCxnSpPr/>
          <p:nvPr/>
        </p:nvCxnSpPr>
        <p:spPr>
          <a:xfrm>
            <a:off x="9784080" y="2944368"/>
            <a:ext cx="0" cy="1170432"/>
          </a:xfrm>
          <a:prstGeom prst="line">
            <a:avLst/>
          </a:prstGeom>
          <a:ln w="6350">
            <a:solidFill>
              <a:srgbClr val="E6E6E6"/>
            </a:solidFill>
          </a:ln>
        </p:spPr>
      </p:cxnSp>
      <p:sp>
        <p:nvSpPr>
          <p:cNvPr id="34" name="직사각형 35"/>
          <p:cNvSpPr/>
          <p:nvPr/>
        </p:nvSpPr>
        <p:spPr>
          <a:xfrm>
            <a:off x="96012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sp>
        <p:nvSpPr>
          <p:cNvPr id="35" name="직사각형 36"/>
          <p:cNvSpPr/>
          <p:nvPr/>
        </p:nvSpPr>
        <p:spPr>
          <a:xfrm>
            <a:off x="960120" y="306324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 10)</a:t>
            </a:r>
          </a:p>
        </p:txBody>
      </p:sp>
      <p:sp>
        <p:nvSpPr>
          <p:cNvPr id="36" name="직사각형 37"/>
          <p:cNvSpPr/>
          <p:nvPr/>
        </p:nvSpPr>
        <p:spPr>
          <a:xfrm>
            <a:off x="3383280" y="3063240"/>
            <a:ext cx="576072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37" name="직사각형 38"/>
          <p:cNvSpPr/>
          <p:nvPr/>
        </p:nvSpPr>
        <p:spPr>
          <a:xfrm>
            <a:off x="960120" y="34290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[2, 3)</a:t>
            </a:r>
          </a:p>
        </p:txBody>
      </p:sp>
      <p:sp>
        <p:nvSpPr>
          <p:cNvPr id="38" name="직사각형 39"/>
          <p:cNvSpPr/>
          <p:nvPr/>
        </p:nvSpPr>
        <p:spPr>
          <a:xfrm>
            <a:off x="4023360" y="3429000"/>
            <a:ext cx="64008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7947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[4, 5)</a:t>
            </a:r>
          </a:p>
        </p:txBody>
      </p:sp>
      <p:sp>
        <p:nvSpPr>
          <p:cNvPr id="40" name="직사각형 41"/>
          <p:cNvSpPr/>
          <p:nvPr/>
        </p:nvSpPr>
        <p:spPr>
          <a:xfrm>
            <a:off x="5303520" y="3794760"/>
            <a:ext cx="64008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612648" y="42793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최적: [2, 3)과 [4, 5) 두 개</a:t>
            </a:r>
          </a:p>
        </p:txBody>
      </p:sp>
      <p:cxnSp>
        <p:nvCxnSpPr>
          <p:cNvPr id="42" name="연결선 43"/>
          <p:cNvCxnSpPr/>
          <p:nvPr/>
        </p:nvCxnSpPr>
        <p:spPr>
          <a:xfrm>
            <a:off x="2743200" y="4773168"/>
            <a:ext cx="0" cy="1170432"/>
          </a:xfrm>
          <a:prstGeom prst="line">
            <a:avLst/>
          </a:prstGeom>
          <a:ln w="6350">
            <a:solidFill>
              <a:srgbClr val="E6E6E6"/>
            </a:solidFill>
          </a:ln>
        </p:spPr>
      </p:cxnSp>
      <p:sp>
        <p:nvSpPr>
          <p:cNvPr id="43" name="직사각형 44"/>
          <p:cNvSpPr/>
          <p:nvPr/>
        </p:nvSpPr>
        <p:spPr>
          <a:xfrm>
            <a:off x="25603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44" name="연결선 45"/>
          <p:cNvCxnSpPr/>
          <p:nvPr/>
        </p:nvCxnSpPr>
        <p:spPr>
          <a:xfrm>
            <a:off x="3383280" y="4773168"/>
            <a:ext cx="0" cy="1170432"/>
          </a:xfrm>
          <a:prstGeom prst="line">
            <a:avLst/>
          </a:prstGeom>
          <a:ln w="6350">
            <a:solidFill>
              <a:srgbClr val="E6E6E6"/>
            </a:solidFill>
          </a:ln>
        </p:spPr>
      </p:cxnSp>
      <p:sp>
        <p:nvSpPr>
          <p:cNvPr id="45" name="직사각형 46"/>
          <p:cNvSpPr/>
          <p:nvPr/>
        </p:nvSpPr>
        <p:spPr>
          <a:xfrm>
            <a:off x="32004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46" name="연결선 47"/>
          <p:cNvCxnSpPr/>
          <p:nvPr/>
        </p:nvCxnSpPr>
        <p:spPr>
          <a:xfrm>
            <a:off x="4023360" y="4773168"/>
            <a:ext cx="0" cy="1170432"/>
          </a:xfrm>
          <a:prstGeom prst="line">
            <a:avLst/>
          </a:prstGeom>
          <a:ln w="6350">
            <a:solidFill>
              <a:srgbClr val="E6E6E6"/>
            </a:solidFill>
          </a:ln>
        </p:spPr>
      </p:cxnSp>
      <p:sp>
        <p:nvSpPr>
          <p:cNvPr id="47" name="직사각형 48"/>
          <p:cNvSpPr/>
          <p:nvPr/>
        </p:nvSpPr>
        <p:spPr>
          <a:xfrm>
            <a:off x="384048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48" name="연결선 49"/>
          <p:cNvCxnSpPr/>
          <p:nvPr/>
        </p:nvCxnSpPr>
        <p:spPr>
          <a:xfrm>
            <a:off x="4663440" y="4773168"/>
            <a:ext cx="0" cy="1170432"/>
          </a:xfrm>
          <a:prstGeom prst="line">
            <a:avLst/>
          </a:prstGeom>
          <a:ln w="6350">
            <a:solidFill>
              <a:srgbClr val="E6E6E6"/>
            </a:solidFill>
          </a:ln>
        </p:spPr>
      </p:cxnSp>
      <p:sp>
        <p:nvSpPr>
          <p:cNvPr id="49" name="직사각형 50"/>
          <p:cNvSpPr/>
          <p:nvPr/>
        </p:nvSpPr>
        <p:spPr>
          <a:xfrm>
            <a:off x="448056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50" name="연결선 51"/>
          <p:cNvCxnSpPr/>
          <p:nvPr/>
        </p:nvCxnSpPr>
        <p:spPr>
          <a:xfrm>
            <a:off x="5303520" y="4773168"/>
            <a:ext cx="0" cy="1170432"/>
          </a:xfrm>
          <a:prstGeom prst="line">
            <a:avLst/>
          </a:prstGeom>
          <a:ln w="6350">
            <a:solidFill>
              <a:srgbClr val="E6E6E6"/>
            </a:solidFill>
          </a:ln>
        </p:spPr>
      </p:cxnSp>
      <p:sp>
        <p:nvSpPr>
          <p:cNvPr id="51" name="직사각형 52"/>
          <p:cNvSpPr/>
          <p:nvPr/>
        </p:nvSpPr>
        <p:spPr>
          <a:xfrm>
            <a:off x="512064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52" name="연결선 53"/>
          <p:cNvCxnSpPr/>
          <p:nvPr/>
        </p:nvCxnSpPr>
        <p:spPr>
          <a:xfrm>
            <a:off x="5943600" y="4773168"/>
            <a:ext cx="0" cy="1170432"/>
          </a:xfrm>
          <a:prstGeom prst="line">
            <a:avLst/>
          </a:prstGeom>
          <a:ln w="6350">
            <a:solidFill>
              <a:srgbClr val="E6E6E6"/>
            </a:solidFill>
          </a:ln>
        </p:spPr>
      </p:cxnSp>
      <p:sp>
        <p:nvSpPr>
          <p:cNvPr id="53" name="직사각형 54"/>
          <p:cNvSpPr/>
          <p:nvPr/>
        </p:nvSpPr>
        <p:spPr>
          <a:xfrm>
            <a:off x="57607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54" name="연결선 55"/>
          <p:cNvCxnSpPr/>
          <p:nvPr/>
        </p:nvCxnSpPr>
        <p:spPr>
          <a:xfrm>
            <a:off x="6583680" y="4773168"/>
            <a:ext cx="0" cy="1170432"/>
          </a:xfrm>
          <a:prstGeom prst="line">
            <a:avLst/>
          </a:prstGeom>
          <a:ln w="6350">
            <a:solidFill>
              <a:srgbClr val="E6E6E6"/>
            </a:solidFill>
          </a:ln>
        </p:spPr>
      </p:cxnSp>
      <p:sp>
        <p:nvSpPr>
          <p:cNvPr id="55" name="직사각형 56"/>
          <p:cNvSpPr/>
          <p:nvPr/>
        </p:nvSpPr>
        <p:spPr>
          <a:xfrm>
            <a:off x="64008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56" name="연결선 57"/>
          <p:cNvCxnSpPr/>
          <p:nvPr/>
        </p:nvCxnSpPr>
        <p:spPr>
          <a:xfrm>
            <a:off x="7223760" y="4773168"/>
            <a:ext cx="0" cy="1170432"/>
          </a:xfrm>
          <a:prstGeom prst="line">
            <a:avLst/>
          </a:prstGeom>
          <a:ln w="6350">
            <a:solidFill>
              <a:srgbClr val="E6E6E6"/>
            </a:solidFill>
          </a:ln>
        </p:spPr>
      </p:cxnSp>
      <p:sp>
        <p:nvSpPr>
          <p:cNvPr id="57" name="직사각형 58"/>
          <p:cNvSpPr/>
          <p:nvPr/>
        </p:nvSpPr>
        <p:spPr>
          <a:xfrm>
            <a:off x="704088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58" name="연결선 59"/>
          <p:cNvCxnSpPr/>
          <p:nvPr/>
        </p:nvCxnSpPr>
        <p:spPr>
          <a:xfrm>
            <a:off x="7863840" y="4773168"/>
            <a:ext cx="0" cy="1170432"/>
          </a:xfrm>
          <a:prstGeom prst="line">
            <a:avLst/>
          </a:prstGeom>
          <a:ln w="6350">
            <a:solidFill>
              <a:srgbClr val="E6E6E6"/>
            </a:solidFill>
          </a:ln>
        </p:spPr>
      </p:cxnSp>
      <p:sp>
        <p:nvSpPr>
          <p:cNvPr id="59" name="직사각형 60"/>
          <p:cNvSpPr/>
          <p:nvPr/>
        </p:nvSpPr>
        <p:spPr>
          <a:xfrm>
            <a:off x="768096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60" name="연결선 61"/>
          <p:cNvCxnSpPr/>
          <p:nvPr/>
        </p:nvCxnSpPr>
        <p:spPr>
          <a:xfrm>
            <a:off x="8503920" y="4773168"/>
            <a:ext cx="0" cy="1170432"/>
          </a:xfrm>
          <a:prstGeom prst="line">
            <a:avLst/>
          </a:prstGeom>
          <a:ln w="6350">
            <a:solidFill>
              <a:srgbClr val="E6E6E6"/>
            </a:solidFill>
          </a:ln>
        </p:spPr>
      </p:cxnSp>
      <p:sp>
        <p:nvSpPr>
          <p:cNvPr id="61" name="직사각형 62"/>
          <p:cNvSpPr/>
          <p:nvPr/>
        </p:nvSpPr>
        <p:spPr>
          <a:xfrm>
            <a:off x="832104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62" name="연결선 63"/>
          <p:cNvCxnSpPr/>
          <p:nvPr/>
        </p:nvCxnSpPr>
        <p:spPr>
          <a:xfrm>
            <a:off x="9144000" y="4773168"/>
            <a:ext cx="0" cy="1170432"/>
          </a:xfrm>
          <a:prstGeom prst="line">
            <a:avLst/>
          </a:prstGeom>
          <a:ln w="6350">
            <a:solidFill>
              <a:srgbClr val="E6E6E6"/>
            </a:solidFill>
          </a:ln>
        </p:spPr>
      </p:cxnSp>
      <p:sp>
        <p:nvSpPr>
          <p:cNvPr id="63" name="직사각형 64"/>
          <p:cNvSpPr/>
          <p:nvPr/>
        </p:nvSpPr>
        <p:spPr>
          <a:xfrm>
            <a:off x="89611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64" name="연결선 65"/>
          <p:cNvCxnSpPr/>
          <p:nvPr/>
        </p:nvCxnSpPr>
        <p:spPr>
          <a:xfrm>
            <a:off x="9784080" y="4773168"/>
            <a:ext cx="0" cy="1170432"/>
          </a:xfrm>
          <a:prstGeom prst="line">
            <a:avLst/>
          </a:prstGeom>
          <a:ln w="6350">
            <a:solidFill>
              <a:srgbClr val="E6E6E6"/>
            </a:solidFill>
          </a:ln>
        </p:spPr>
      </p:cxnSp>
      <p:sp>
        <p:nvSpPr>
          <p:cNvPr id="65" name="직사각형 66"/>
          <p:cNvSpPr/>
          <p:nvPr/>
        </p:nvSpPr>
        <p:spPr>
          <a:xfrm>
            <a:off x="96012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sp>
        <p:nvSpPr>
          <p:cNvPr id="66" name="직사각형 67"/>
          <p:cNvSpPr/>
          <p:nvPr/>
        </p:nvSpPr>
        <p:spPr>
          <a:xfrm>
            <a:off x="960120" y="489204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[1, 10)</a:t>
            </a:r>
          </a:p>
        </p:txBody>
      </p:sp>
      <p:sp>
        <p:nvSpPr>
          <p:cNvPr id="67" name="직사각형 68"/>
          <p:cNvSpPr/>
          <p:nvPr/>
        </p:nvSpPr>
        <p:spPr>
          <a:xfrm>
            <a:off x="3383280" y="4892040"/>
            <a:ext cx="576072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68" name="직사각형 69"/>
          <p:cNvSpPr/>
          <p:nvPr/>
        </p:nvSpPr>
        <p:spPr>
          <a:xfrm>
            <a:off x="960120" y="52578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[2, 3)</a:t>
            </a:r>
          </a:p>
        </p:txBody>
      </p:sp>
      <p:sp>
        <p:nvSpPr>
          <p:cNvPr id="69" name="직사각형 70"/>
          <p:cNvSpPr/>
          <p:nvPr/>
        </p:nvSpPr>
        <p:spPr>
          <a:xfrm>
            <a:off x="4023360" y="5257800"/>
            <a:ext cx="6400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70" name="직사각형 71"/>
          <p:cNvSpPr/>
          <p:nvPr/>
        </p:nvSpPr>
        <p:spPr>
          <a:xfrm>
            <a:off x="960120" y="56235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 5)</a:t>
            </a:r>
          </a:p>
        </p:txBody>
      </p:sp>
      <p:sp>
        <p:nvSpPr>
          <p:cNvPr id="71" name="직사각형 72"/>
          <p:cNvSpPr/>
          <p:nvPr/>
        </p:nvSpPr>
        <p:spPr>
          <a:xfrm>
            <a:off x="5303520" y="5623560"/>
            <a:ext cx="6400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72" name="직사각형 73"/>
          <p:cNvSpPr/>
          <p:nvPr/>
        </p:nvSpPr>
        <p:spPr>
          <a:xfrm>
            <a:off x="10058400" y="3291840"/>
            <a:ext cx="1463040" cy="512064"/>
          </a:xfrm>
          <a:prstGeom prst="rect">
            <a:avLst/>
          </a:prstGeom>
          <a:noFill/>
          <a:ln w="0">
            <a:noFill/>
          </a:ln>
        </p:spPr>
        <p:txBody>
          <a:bodyPr wrap="square" lIns="0" tIns="0" rIns="0" bIns="0" anchor="ctr">
            <a:noAutofit/>
          </a:bodyPr>
          <a:lstStyle/>
          <a:p>
            <a:pPr algn="l" eaLnBrk="0" latinLnBrk="0">
              <a:lnSpc>
                <a:spcPct val="100000"/>
              </a:lnSpc>
              <a:buNone/>
            </a:pPr>
            <a:r>
              <a:rPr lang="ko-KR" altLang="en-US" sz="2800" b="1" dirty="0">
                <a:solidFill>
                  <a:srgbClr val="B23B3B"/>
                </a:solidFill>
                <a:latin typeface="Malgun Gothic"/>
                <a:ea typeface="Malgun Gothic"/>
                <a:cs typeface="Malgun Gothic"/>
              </a:rPr>
              <a:t>1개</a:t>
            </a:r>
          </a:p>
        </p:txBody>
      </p:sp>
      <p:sp>
        <p:nvSpPr>
          <p:cNvPr id="73" name="직사각형 74"/>
          <p:cNvSpPr/>
          <p:nvPr/>
        </p:nvSpPr>
        <p:spPr>
          <a:xfrm>
            <a:off x="10058400" y="5120640"/>
            <a:ext cx="1463040" cy="512064"/>
          </a:xfrm>
          <a:prstGeom prst="rect">
            <a:avLst/>
          </a:prstGeom>
          <a:noFill/>
          <a:ln w="0">
            <a:noFill/>
          </a:ln>
        </p:spPr>
        <p:txBody>
          <a:bodyPr wrap="square" lIns="0" tIns="0" rIns="0" bIns="0" anchor="ctr">
            <a:noAutofit/>
          </a:bodyPr>
          <a:lstStyle/>
          <a:p>
            <a:pPr algn="l" eaLnBrk="0" latinLnBrk="0">
              <a:lnSpc>
                <a:spcPct val="100000"/>
              </a:lnSpc>
              <a:buNone/>
            </a:pPr>
            <a:r>
              <a:rPr lang="ko-KR" altLang="en-US" sz="2800" b="1" dirty="0">
                <a:solidFill>
                  <a:srgbClr val="0E8A7D"/>
                </a:solidFill>
                <a:latin typeface="Malgun Gothic"/>
                <a:ea typeface="Malgun Gothic"/>
                <a:cs typeface="Malgun Gothic"/>
              </a:rPr>
              <a:t>2개</a:t>
            </a:r>
          </a:p>
        </p:txBody>
      </p:sp>
      <p:sp>
        <p:nvSpPr>
          <p:cNvPr id="74" name="직사각형 7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그리디가 고른 회의    파랑: 최적해의 회의</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② 짧은 회의부터? · 1개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39</a:t>
            </a:r>
          </a:p>
        </p:txBody>
      </p:sp>
      <p:sp>
        <p:nvSpPr>
          <p:cNvPr id="9" name="fit:59233a1be5933824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가장 짧은 B [4, 6)을 먼저 고르면 A와 C가 모두 겹칩니다.</a:t>
            </a:r>
          </a:p>
          <a:p>
            <a:pPr algn="l" eaLnBrk="0" latinLnBrk="0">
              <a:lnSpc>
                <a:spcPct val="100000"/>
              </a:lnSpc>
              <a:buNone/>
            </a:pPr>
            <a:r>
              <a:rPr lang="ko-KR" altLang="en-US" sz="2025" b="0" dirty="0">
                <a:solidFill>
                  <a:srgbClr val="171717"/>
                </a:solidFill>
                <a:latin typeface="Malgun Gothic"/>
                <a:ea typeface="Malgun Gothic"/>
                <a:cs typeface="Malgun Gothic"/>
              </a:rPr>
              <a:t>A가 끝나는 5시에 C가 시작하므로 A와 C는 함께 고를 수 있습니다.</a:t>
            </a:r>
          </a:p>
        </p:txBody>
      </p:sp>
      <p:sp>
        <p:nvSpPr>
          <p:cNvPr id="10" name="직사각형 11"/>
          <p:cNvSpPr/>
          <p:nvPr/>
        </p:nvSpPr>
        <p:spPr>
          <a:xfrm>
            <a:off x="612648" y="24505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짧은 순 그리디: B 하나</a:t>
            </a:r>
          </a:p>
        </p:txBody>
      </p:sp>
      <p:cxnSp>
        <p:nvCxnSpPr>
          <p:cNvPr id="11" name="연결선 12"/>
          <p:cNvCxnSpPr/>
          <p:nvPr/>
        </p:nvCxnSpPr>
        <p:spPr>
          <a:xfrm>
            <a:off x="2743200" y="2944368"/>
            <a:ext cx="0" cy="1170432"/>
          </a:xfrm>
          <a:prstGeom prst="line">
            <a:avLst/>
          </a:prstGeom>
          <a:ln w="6350">
            <a:solidFill>
              <a:srgbClr val="E6E6E6"/>
            </a:solidFill>
          </a:ln>
        </p:spPr>
      </p:cxnSp>
      <p:sp>
        <p:nvSpPr>
          <p:cNvPr id="12" name="직사각형 13"/>
          <p:cNvSpPr/>
          <p:nvPr/>
        </p:nvSpPr>
        <p:spPr>
          <a:xfrm>
            <a:off x="2560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3" name="연결선 14"/>
          <p:cNvCxnSpPr/>
          <p:nvPr/>
        </p:nvCxnSpPr>
        <p:spPr>
          <a:xfrm>
            <a:off x="3383280" y="2944368"/>
            <a:ext cx="0" cy="1170432"/>
          </a:xfrm>
          <a:prstGeom prst="line">
            <a:avLst/>
          </a:prstGeom>
          <a:ln w="6350">
            <a:solidFill>
              <a:srgbClr val="E6E6E6"/>
            </a:solidFill>
          </a:ln>
        </p:spPr>
      </p:cxnSp>
      <p:sp>
        <p:nvSpPr>
          <p:cNvPr id="14" name="직사각형 15"/>
          <p:cNvSpPr/>
          <p:nvPr/>
        </p:nvSpPr>
        <p:spPr>
          <a:xfrm>
            <a:off x="32004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5" name="연결선 16"/>
          <p:cNvCxnSpPr/>
          <p:nvPr/>
        </p:nvCxnSpPr>
        <p:spPr>
          <a:xfrm>
            <a:off x="4023360" y="2944368"/>
            <a:ext cx="0" cy="1170432"/>
          </a:xfrm>
          <a:prstGeom prst="line">
            <a:avLst/>
          </a:prstGeom>
          <a:ln w="6350">
            <a:solidFill>
              <a:srgbClr val="E6E6E6"/>
            </a:solidFill>
          </a:ln>
        </p:spPr>
      </p:cxnSp>
      <p:sp>
        <p:nvSpPr>
          <p:cNvPr id="16" name="직사각형 17"/>
          <p:cNvSpPr/>
          <p:nvPr/>
        </p:nvSpPr>
        <p:spPr>
          <a:xfrm>
            <a:off x="38404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7" name="연결선 18"/>
          <p:cNvCxnSpPr/>
          <p:nvPr/>
        </p:nvCxnSpPr>
        <p:spPr>
          <a:xfrm>
            <a:off x="4663440" y="2944368"/>
            <a:ext cx="0" cy="1170432"/>
          </a:xfrm>
          <a:prstGeom prst="line">
            <a:avLst/>
          </a:prstGeom>
          <a:ln w="6350">
            <a:solidFill>
              <a:srgbClr val="E6E6E6"/>
            </a:solidFill>
          </a:ln>
        </p:spPr>
      </p:cxnSp>
      <p:sp>
        <p:nvSpPr>
          <p:cNvPr id="18" name="직사각형 19"/>
          <p:cNvSpPr/>
          <p:nvPr/>
        </p:nvSpPr>
        <p:spPr>
          <a:xfrm>
            <a:off x="44805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9" name="연결선 20"/>
          <p:cNvCxnSpPr/>
          <p:nvPr/>
        </p:nvCxnSpPr>
        <p:spPr>
          <a:xfrm>
            <a:off x="5303520" y="2944368"/>
            <a:ext cx="0" cy="1170432"/>
          </a:xfrm>
          <a:prstGeom prst="line">
            <a:avLst/>
          </a:prstGeom>
          <a:ln w="6350">
            <a:solidFill>
              <a:srgbClr val="E6E6E6"/>
            </a:solidFill>
          </a:ln>
        </p:spPr>
      </p:cxnSp>
      <p:sp>
        <p:nvSpPr>
          <p:cNvPr id="20" name="직사각형 21"/>
          <p:cNvSpPr/>
          <p:nvPr/>
        </p:nvSpPr>
        <p:spPr>
          <a:xfrm>
            <a:off x="51206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1" name="연결선 22"/>
          <p:cNvCxnSpPr/>
          <p:nvPr/>
        </p:nvCxnSpPr>
        <p:spPr>
          <a:xfrm>
            <a:off x="5943600" y="2944368"/>
            <a:ext cx="0" cy="1170432"/>
          </a:xfrm>
          <a:prstGeom prst="line">
            <a:avLst/>
          </a:prstGeom>
          <a:ln w="6350">
            <a:solidFill>
              <a:srgbClr val="E6E6E6"/>
            </a:solidFill>
          </a:ln>
        </p:spPr>
      </p:cxnSp>
      <p:sp>
        <p:nvSpPr>
          <p:cNvPr id="22" name="직사각형 23"/>
          <p:cNvSpPr/>
          <p:nvPr/>
        </p:nvSpPr>
        <p:spPr>
          <a:xfrm>
            <a:off x="5760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3" name="연결선 24"/>
          <p:cNvCxnSpPr/>
          <p:nvPr/>
        </p:nvCxnSpPr>
        <p:spPr>
          <a:xfrm>
            <a:off x="6583680" y="2944368"/>
            <a:ext cx="0" cy="1170432"/>
          </a:xfrm>
          <a:prstGeom prst="line">
            <a:avLst/>
          </a:prstGeom>
          <a:ln w="6350">
            <a:solidFill>
              <a:srgbClr val="E6E6E6"/>
            </a:solidFill>
          </a:ln>
        </p:spPr>
      </p:cxnSp>
      <p:sp>
        <p:nvSpPr>
          <p:cNvPr id="24" name="직사각형 25"/>
          <p:cNvSpPr/>
          <p:nvPr/>
        </p:nvSpPr>
        <p:spPr>
          <a:xfrm>
            <a:off x="64008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5" name="연결선 26"/>
          <p:cNvCxnSpPr/>
          <p:nvPr/>
        </p:nvCxnSpPr>
        <p:spPr>
          <a:xfrm>
            <a:off x="7223760" y="2944368"/>
            <a:ext cx="0" cy="1170432"/>
          </a:xfrm>
          <a:prstGeom prst="line">
            <a:avLst/>
          </a:prstGeom>
          <a:ln w="6350">
            <a:solidFill>
              <a:srgbClr val="E6E6E6"/>
            </a:solidFill>
          </a:ln>
        </p:spPr>
      </p:cxnSp>
      <p:sp>
        <p:nvSpPr>
          <p:cNvPr id="26" name="직사각형 27"/>
          <p:cNvSpPr/>
          <p:nvPr/>
        </p:nvSpPr>
        <p:spPr>
          <a:xfrm>
            <a:off x="70408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7" name="연결선 28"/>
          <p:cNvCxnSpPr/>
          <p:nvPr/>
        </p:nvCxnSpPr>
        <p:spPr>
          <a:xfrm>
            <a:off x="7863840" y="2944368"/>
            <a:ext cx="0" cy="1170432"/>
          </a:xfrm>
          <a:prstGeom prst="line">
            <a:avLst/>
          </a:prstGeom>
          <a:ln w="6350">
            <a:solidFill>
              <a:srgbClr val="E6E6E6"/>
            </a:solidFill>
          </a:ln>
        </p:spPr>
      </p:cxnSp>
      <p:sp>
        <p:nvSpPr>
          <p:cNvPr id="28" name="직사각형 29"/>
          <p:cNvSpPr/>
          <p:nvPr/>
        </p:nvSpPr>
        <p:spPr>
          <a:xfrm>
            <a:off x="76809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9" name="연결선 30"/>
          <p:cNvCxnSpPr/>
          <p:nvPr/>
        </p:nvCxnSpPr>
        <p:spPr>
          <a:xfrm>
            <a:off x="8503920" y="2944368"/>
            <a:ext cx="0" cy="1170432"/>
          </a:xfrm>
          <a:prstGeom prst="line">
            <a:avLst/>
          </a:prstGeom>
          <a:ln w="6350">
            <a:solidFill>
              <a:srgbClr val="E6E6E6"/>
            </a:solidFill>
          </a:ln>
        </p:spPr>
      </p:cxnSp>
      <p:sp>
        <p:nvSpPr>
          <p:cNvPr id="30" name="직사각형 31"/>
          <p:cNvSpPr/>
          <p:nvPr/>
        </p:nvSpPr>
        <p:spPr>
          <a:xfrm>
            <a:off x="83210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1" name="연결선 32"/>
          <p:cNvCxnSpPr/>
          <p:nvPr/>
        </p:nvCxnSpPr>
        <p:spPr>
          <a:xfrm>
            <a:off x="9144000" y="2944368"/>
            <a:ext cx="0" cy="1170432"/>
          </a:xfrm>
          <a:prstGeom prst="line">
            <a:avLst/>
          </a:prstGeom>
          <a:ln w="6350">
            <a:solidFill>
              <a:srgbClr val="E6E6E6"/>
            </a:solidFill>
          </a:ln>
        </p:spPr>
      </p:cxnSp>
      <p:sp>
        <p:nvSpPr>
          <p:cNvPr id="32" name="직사각형 33"/>
          <p:cNvSpPr/>
          <p:nvPr/>
        </p:nvSpPr>
        <p:spPr>
          <a:xfrm>
            <a:off x="8961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sp>
        <p:nvSpPr>
          <p:cNvPr id="33" name="직사각형 34"/>
          <p:cNvSpPr/>
          <p:nvPr/>
        </p:nvSpPr>
        <p:spPr>
          <a:xfrm>
            <a:off x="960120" y="306324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A [1, 5)</a:t>
            </a:r>
          </a:p>
        </p:txBody>
      </p:sp>
      <p:sp>
        <p:nvSpPr>
          <p:cNvPr id="34" name="직사각형 35"/>
          <p:cNvSpPr/>
          <p:nvPr/>
        </p:nvSpPr>
        <p:spPr>
          <a:xfrm>
            <a:off x="3383280" y="3063240"/>
            <a:ext cx="2560320" cy="27432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겹침</a:t>
            </a:r>
          </a:p>
        </p:txBody>
      </p:sp>
      <p:sp>
        <p:nvSpPr>
          <p:cNvPr id="35" name="직사각형 36"/>
          <p:cNvSpPr/>
          <p:nvPr/>
        </p:nvSpPr>
        <p:spPr>
          <a:xfrm>
            <a:off x="960120" y="34290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B [4, 6)</a:t>
            </a:r>
          </a:p>
        </p:txBody>
      </p:sp>
      <p:sp>
        <p:nvSpPr>
          <p:cNvPr id="36" name="직사각형 37"/>
          <p:cNvSpPr/>
          <p:nvPr/>
        </p:nvSpPr>
        <p:spPr>
          <a:xfrm>
            <a:off x="5303520" y="3429000"/>
            <a:ext cx="128016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2시간</a:t>
            </a:r>
          </a:p>
        </p:txBody>
      </p:sp>
      <p:sp>
        <p:nvSpPr>
          <p:cNvPr id="37" name="직사각형 38"/>
          <p:cNvSpPr/>
          <p:nvPr/>
        </p:nvSpPr>
        <p:spPr>
          <a:xfrm>
            <a:off x="960120" y="37947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C [5, 9)</a:t>
            </a:r>
          </a:p>
        </p:txBody>
      </p:sp>
      <p:sp>
        <p:nvSpPr>
          <p:cNvPr id="38" name="직사각형 39"/>
          <p:cNvSpPr/>
          <p:nvPr/>
        </p:nvSpPr>
        <p:spPr>
          <a:xfrm>
            <a:off x="5943600" y="3794760"/>
            <a:ext cx="2560320" cy="27432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겹침</a:t>
            </a:r>
          </a:p>
        </p:txBody>
      </p:sp>
      <p:sp>
        <p:nvSpPr>
          <p:cNvPr id="39" name="직사각형 40"/>
          <p:cNvSpPr/>
          <p:nvPr/>
        </p:nvSpPr>
        <p:spPr>
          <a:xfrm>
            <a:off x="612648" y="42793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최적: A와 C 두 개</a:t>
            </a:r>
          </a:p>
        </p:txBody>
      </p:sp>
      <p:cxnSp>
        <p:nvCxnSpPr>
          <p:cNvPr id="40" name="연결선 41"/>
          <p:cNvCxnSpPr/>
          <p:nvPr/>
        </p:nvCxnSpPr>
        <p:spPr>
          <a:xfrm>
            <a:off x="2743200" y="4773168"/>
            <a:ext cx="0" cy="1170432"/>
          </a:xfrm>
          <a:prstGeom prst="line">
            <a:avLst/>
          </a:prstGeom>
          <a:ln w="6350">
            <a:solidFill>
              <a:srgbClr val="E6E6E6"/>
            </a:solidFill>
          </a:ln>
        </p:spPr>
      </p:cxnSp>
      <p:sp>
        <p:nvSpPr>
          <p:cNvPr id="41" name="직사각형 42"/>
          <p:cNvSpPr/>
          <p:nvPr/>
        </p:nvSpPr>
        <p:spPr>
          <a:xfrm>
            <a:off x="25603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42" name="연결선 43"/>
          <p:cNvCxnSpPr/>
          <p:nvPr/>
        </p:nvCxnSpPr>
        <p:spPr>
          <a:xfrm>
            <a:off x="3383280" y="4773168"/>
            <a:ext cx="0" cy="1170432"/>
          </a:xfrm>
          <a:prstGeom prst="line">
            <a:avLst/>
          </a:prstGeom>
          <a:ln w="6350">
            <a:solidFill>
              <a:srgbClr val="E6E6E6"/>
            </a:solidFill>
          </a:ln>
        </p:spPr>
      </p:cxnSp>
      <p:sp>
        <p:nvSpPr>
          <p:cNvPr id="43" name="직사각형 44"/>
          <p:cNvSpPr/>
          <p:nvPr/>
        </p:nvSpPr>
        <p:spPr>
          <a:xfrm>
            <a:off x="32004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44" name="연결선 45"/>
          <p:cNvCxnSpPr/>
          <p:nvPr/>
        </p:nvCxnSpPr>
        <p:spPr>
          <a:xfrm>
            <a:off x="4023360" y="4773168"/>
            <a:ext cx="0" cy="1170432"/>
          </a:xfrm>
          <a:prstGeom prst="line">
            <a:avLst/>
          </a:prstGeom>
          <a:ln w="6350">
            <a:solidFill>
              <a:srgbClr val="E6E6E6"/>
            </a:solidFill>
          </a:ln>
        </p:spPr>
      </p:cxnSp>
      <p:sp>
        <p:nvSpPr>
          <p:cNvPr id="45" name="직사각형 46"/>
          <p:cNvSpPr/>
          <p:nvPr/>
        </p:nvSpPr>
        <p:spPr>
          <a:xfrm>
            <a:off x="384048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46" name="연결선 47"/>
          <p:cNvCxnSpPr/>
          <p:nvPr/>
        </p:nvCxnSpPr>
        <p:spPr>
          <a:xfrm>
            <a:off x="4663440" y="4773168"/>
            <a:ext cx="0" cy="1170432"/>
          </a:xfrm>
          <a:prstGeom prst="line">
            <a:avLst/>
          </a:prstGeom>
          <a:ln w="6350">
            <a:solidFill>
              <a:srgbClr val="E6E6E6"/>
            </a:solidFill>
          </a:ln>
        </p:spPr>
      </p:cxnSp>
      <p:sp>
        <p:nvSpPr>
          <p:cNvPr id="47" name="직사각형 48"/>
          <p:cNvSpPr/>
          <p:nvPr/>
        </p:nvSpPr>
        <p:spPr>
          <a:xfrm>
            <a:off x="448056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48" name="연결선 49"/>
          <p:cNvCxnSpPr/>
          <p:nvPr/>
        </p:nvCxnSpPr>
        <p:spPr>
          <a:xfrm>
            <a:off x="5303520" y="4773168"/>
            <a:ext cx="0" cy="1170432"/>
          </a:xfrm>
          <a:prstGeom prst="line">
            <a:avLst/>
          </a:prstGeom>
          <a:ln w="6350">
            <a:solidFill>
              <a:srgbClr val="E6E6E6"/>
            </a:solidFill>
          </a:ln>
        </p:spPr>
      </p:cxnSp>
      <p:sp>
        <p:nvSpPr>
          <p:cNvPr id="49" name="직사각형 50"/>
          <p:cNvSpPr/>
          <p:nvPr/>
        </p:nvSpPr>
        <p:spPr>
          <a:xfrm>
            <a:off x="512064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50" name="연결선 51"/>
          <p:cNvCxnSpPr/>
          <p:nvPr/>
        </p:nvCxnSpPr>
        <p:spPr>
          <a:xfrm>
            <a:off x="5943600" y="4773168"/>
            <a:ext cx="0" cy="1170432"/>
          </a:xfrm>
          <a:prstGeom prst="line">
            <a:avLst/>
          </a:prstGeom>
          <a:ln w="6350">
            <a:solidFill>
              <a:srgbClr val="E6E6E6"/>
            </a:solidFill>
          </a:ln>
        </p:spPr>
      </p:cxnSp>
      <p:sp>
        <p:nvSpPr>
          <p:cNvPr id="51" name="직사각형 52"/>
          <p:cNvSpPr/>
          <p:nvPr/>
        </p:nvSpPr>
        <p:spPr>
          <a:xfrm>
            <a:off x="57607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52" name="연결선 53"/>
          <p:cNvCxnSpPr/>
          <p:nvPr/>
        </p:nvCxnSpPr>
        <p:spPr>
          <a:xfrm>
            <a:off x="6583680" y="4773168"/>
            <a:ext cx="0" cy="1170432"/>
          </a:xfrm>
          <a:prstGeom prst="line">
            <a:avLst/>
          </a:prstGeom>
          <a:ln w="6350">
            <a:solidFill>
              <a:srgbClr val="E6E6E6"/>
            </a:solidFill>
          </a:ln>
        </p:spPr>
      </p:cxnSp>
      <p:sp>
        <p:nvSpPr>
          <p:cNvPr id="53" name="직사각형 54"/>
          <p:cNvSpPr/>
          <p:nvPr/>
        </p:nvSpPr>
        <p:spPr>
          <a:xfrm>
            <a:off x="64008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54" name="연결선 55"/>
          <p:cNvCxnSpPr/>
          <p:nvPr/>
        </p:nvCxnSpPr>
        <p:spPr>
          <a:xfrm>
            <a:off x="7223760" y="4773168"/>
            <a:ext cx="0" cy="1170432"/>
          </a:xfrm>
          <a:prstGeom prst="line">
            <a:avLst/>
          </a:prstGeom>
          <a:ln w="6350">
            <a:solidFill>
              <a:srgbClr val="E6E6E6"/>
            </a:solidFill>
          </a:ln>
        </p:spPr>
      </p:cxnSp>
      <p:sp>
        <p:nvSpPr>
          <p:cNvPr id="55" name="직사각형 56"/>
          <p:cNvSpPr/>
          <p:nvPr/>
        </p:nvSpPr>
        <p:spPr>
          <a:xfrm>
            <a:off x="704088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56" name="연결선 57"/>
          <p:cNvCxnSpPr/>
          <p:nvPr/>
        </p:nvCxnSpPr>
        <p:spPr>
          <a:xfrm>
            <a:off x="7863840" y="4773168"/>
            <a:ext cx="0" cy="1170432"/>
          </a:xfrm>
          <a:prstGeom prst="line">
            <a:avLst/>
          </a:prstGeom>
          <a:ln w="6350">
            <a:solidFill>
              <a:srgbClr val="E6E6E6"/>
            </a:solidFill>
          </a:ln>
        </p:spPr>
      </p:cxnSp>
      <p:sp>
        <p:nvSpPr>
          <p:cNvPr id="57" name="직사각형 58"/>
          <p:cNvSpPr/>
          <p:nvPr/>
        </p:nvSpPr>
        <p:spPr>
          <a:xfrm>
            <a:off x="768096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58" name="연결선 59"/>
          <p:cNvCxnSpPr/>
          <p:nvPr/>
        </p:nvCxnSpPr>
        <p:spPr>
          <a:xfrm>
            <a:off x="8503920" y="4773168"/>
            <a:ext cx="0" cy="1170432"/>
          </a:xfrm>
          <a:prstGeom prst="line">
            <a:avLst/>
          </a:prstGeom>
          <a:ln w="6350">
            <a:solidFill>
              <a:srgbClr val="E6E6E6"/>
            </a:solidFill>
          </a:ln>
        </p:spPr>
      </p:cxnSp>
      <p:sp>
        <p:nvSpPr>
          <p:cNvPr id="59" name="직사각형 60"/>
          <p:cNvSpPr/>
          <p:nvPr/>
        </p:nvSpPr>
        <p:spPr>
          <a:xfrm>
            <a:off x="832104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60" name="연결선 61"/>
          <p:cNvCxnSpPr/>
          <p:nvPr/>
        </p:nvCxnSpPr>
        <p:spPr>
          <a:xfrm>
            <a:off x="9144000" y="4773168"/>
            <a:ext cx="0" cy="1170432"/>
          </a:xfrm>
          <a:prstGeom prst="line">
            <a:avLst/>
          </a:prstGeom>
          <a:ln w="6350">
            <a:solidFill>
              <a:srgbClr val="E6E6E6"/>
            </a:solidFill>
          </a:ln>
        </p:spPr>
      </p:cxnSp>
      <p:sp>
        <p:nvSpPr>
          <p:cNvPr id="61" name="직사각형 62"/>
          <p:cNvSpPr/>
          <p:nvPr/>
        </p:nvSpPr>
        <p:spPr>
          <a:xfrm>
            <a:off x="89611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sp>
        <p:nvSpPr>
          <p:cNvPr id="62" name="직사각형 63"/>
          <p:cNvSpPr/>
          <p:nvPr/>
        </p:nvSpPr>
        <p:spPr>
          <a:xfrm>
            <a:off x="960120" y="489204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A [1, 5)</a:t>
            </a:r>
          </a:p>
        </p:txBody>
      </p:sp>
      <p:sp>
        <p:nvSpPr>
          <p:cNvPr id="63" name="직사각형 64"/>
          <p:cNvSpPr/>
          <p:nvPr/>
        </p:nvSpPr>
        <p:spPr>
          <a:xfrm>
            <a:off x="3383280" y="4892040"/>
            <a:ext cx="256032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64" name="직사각형 65"/>
          <p:cNvSpPr/>
          <p:nvPr/>
        </p:nvSpPr>
        <p:spPr>
          <a:xfrm>
            <a:off x="960120" y="52578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B [4, 6)</a:t>
            </a:r>
          </a:p>
        </p:txBody>
      </p:sp>
      <p:sp>
        <p:nvSpPr>
          <p:cNvPr id="65" name="직사각형 66"/>
          <p:cNvSpPr/>
          <p:nvPr/>
        </p:nvSpPr>
        <p:spPr>
          <a:xfrm>
            <a:off x="5303520" y="5257800"/>
            <a:ext cx="128016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66" name="직사각형 67"/>
          <p:cNvSpPr/>
          <p:nvPr/>
        </p:nvSpPr>
        <p:spPr>
          <a:xfrm>
            <a:off x="960120" y="56235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C [5, 9)</a:t>
            </a:r>
          </a:p>
        </p:txBody>
      </p:sp>
      <p:sp>
        <p:nvSpPr>
          <p:cNvPr id="67" name="직사각형 68"/>
          <p:cNvSpPr/>
          <p:nvPr/>
        </p:nvSpPr>
        <p:spPr>
          <a:xfrm>
            <a:off x="5943600" y="5623560"/>
            <a:ext cx="256032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5 ≥ 5</a:t>
            </a:r>
          </a:p>
        </p:txBody>
      </p:sp>
      <p:sp>
        <p:nvSpPr>
          <p:cNvPr id="68" name="직사각형 69"/>
          <p:cNvSpPr/>
          <p:nvPr/>
        </p:nvSpPr>
        <p:spPr>
          <a:xfrm>
            <a:off x="9692640" y="3291840"/>
            <a:ext cx="1645920" cy="512064"/>
          </a:xfrm>
          <a:prstGeom prst="rect">
            <a:avLst/>
          </a:prstGeom>
          <a:noFill/>
          <a:ln w="0">
            <a:noFill/>
          </a:ln>
        </p:spPr>
        <p:txBody>
          <a:bodyPr wrap="square" lIns="0" tIns="0" rIns="0" bIns="0" anchor="ctr">
            <a:noAutofit/>
          </a:bodyPr>
          <a:lstStyle/>
          <a:p>
            <a:pPr algn="l" eaLnBrk="0" latinLnBrk="0">
              <a:lnSpc>
                <a:spcPct val="100000"/>
              </a:lnSpc>
              <a:buNone/>
            </a:pPr>
            <a:r>
              <a:rPr lang="ko-KR" altLang="en-US" sz="2800" b="1" dirty="0">
                <a:solidFill>
                  <a:srgbClr val="B23B3B"/>
                </a:solidFill>
                <a:latin typeface="Malgun Gothic"/>
                <a:ea typeface="Malgun Gothic"/>
                <a:cs typeface="Malgun Gothic"/>
              </a:rPr>
              <a:t>1개</a:t>
            </a:r>
          </a:p>
        </p:txBody>
      </p:sp>
      <p:sp>
        <p:nvSpPr>
          <p:cNvPr id="69" name="직사각형 70"/>
          <p:cNvSpPr/>
          <p:nvPr/>
        </p:nvSpPr>
        <p:spPr>
          <a:xfrm>
            <a:off x="9692640" y="5120640"/>
            <a:ext cx="1645920" cy="512064"/>
          </a:xfrm>
          <a:prstGeom prst="rect">
            <a:avLst/>
          </a:prstGeom>
          <a:noFill/>
          <a:ln w="0">
            <a:noFill/>
          </a:ln>
        </p:spPr>
        <p:txBody>
          <a:bodyPr wrap="square" lIns="0" tIns="0" rIns="0" bIns="0" anchor="ctr">
            <a:noAutofit/>
          </a:bodyPr>
          <a:lstStyle/>
          <a:p>
            <a:pPr algn="l" eaLnBrk="0" latinLnBrk="0">
              <a:lnSpc>
                <a:spcPct val="100000"/>
              </a:lnSpc>
              <a:buNone/>
            </a:pPr>
            <a:r>
              <a:rPr lang="ko-KR" altLang="en-US" sz="2800" b="1" dirty="0">
                <a:solidFill>
                  <a:srgbClr val="0E8A7D"/>
                </a:solidFill>
                <a:latin typeface="Malgun Gothic"/>
                <a:ea typeface="Malgun Gothic"/>
                <a:cs typeface="Malgun Gothic"/>
              </a:rPr>
              <a:t>2개</a:t>
            </a:r>
          </a:p>
        </p:txBody>
      </p:sp>
      <p:sp>
        <p:nvSpPr>
          <p:cNvPr id="70" name="직사각형 7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그리디가 고른 회의    파랑: 최적해의 회의    빨강 점선: 겹쳐서 버린 회의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성공 전략: 가장 먼저 끝나는 회의부터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40</a:t>
            </a:r>
          </a:p>
        </p:txBody>
      </p:sp>
      <p:sp>
        <p:nvSpPr>
          <p:cNvPr id="9" name="fit:417f7a365af47e37 10"/>
          <p:cNvSpPr/>
          <p:nvPr/>
        </p:nvSpPr>
        <p:spPr>
          <a:xfrm>
            <a:off x="612648" y="1636776"/>
            <a:ext cx="10972800" cy="630936"/>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회의실을 가장 빨리 비워 주는 회의부터 고릅니다.</a:t>
            </a:r>
          </a:p>
          <a:p>
            <a:pPr algn="l" eaLnBrk="0" latinLnBrk="0">
              <a:lnSpc>
                <a:spcPct val="100000"/>
              </a:lnSpc>
              <a:buNone/>
            </a:pPr>
            <a:r>
              <a:rPr lang="ko-KR" altLang="en-US" sz="1950" b="0" dirty="0">
                <a:solidFill>
                  <a:srgbClr val="171717"/>
                </a:solidFill>
                <a:latin typeface="Malgun Gothic"/>
                <a:ea typeface="Malgun Gothic"/>
                <a:cs typeface="Malgun Gothic"/>
              </a:rPr>
              <a:t>last_end는 마지막으로 고른 회의의 종료 시각입니다.</a:t>
            </a:r>
          </a:p>
        </p:txBody>
      </p:sp>
      <p:sp>
        <p:nvSpPr>
          <p:cNvPr id="10" name="직사각형 11"/>
          <p:cNvSpPr/>
          <p:nvPr/>
        </p:nvSpPr>
        <p:spPr>
          <a:xfrm>
            <a:off x="658368" y="2414016"/>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596896"/>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① 정렬</a:t>
            </a:r>
          </a:p>
        </p:txBody>
      </p:sp>
      <p:sp>
        <p:nvSpPr>
          <p:cNvPr id="12" name="직사각형 13"/>
          <p:cNvSpPr/>
          <p:nvPr/>
        </p:nvSpPr>
        <p:spPr>
          <a:xfrm>
            <a:off x="749808" y="3017520"/>
            <a:ext cx="3017520" cy="105156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회의를 종료 시각이</a:t>
            </a:r>
          </a:p>
          <a:p>
            <a:pPr algn="ctr" eaLnBrk="0" latinLnBrk="0">
              <a:lnSpc>
                <a:spcPct val="110000"/>
              </a:lnSpc>
              <a:buNone/>
            </a:pPr>
            <a:r>
              <a:rPr lang="ko-KR" altLang="en-US" sz="1350" b="0" dirty="0">
                <a:solidFill>
                  <a:srgbClr val="171717"/>
                </a:solidFill>
                <a:latin typeface="Malgun Gothic"/>
                <a:ea typeface="Malgun Gothic"/>
                <a:cs typeface="Malgun Gothic"/>
              </a:rPr>
              <a:t>빠른 순으로 늘어놓습니다.</a:t>
            </a:r>
          </a:p>
        </p:txBody>
      </p:sp>
      <p:sp>
        <p:nvSpPr>
          <p:cNvPr id="13" name="직사각형 14"/>
          <p:cNvSpPr/>
          <p:nvPr/>
        </p:nvSpPr>
        <p:spPr>
          <a:xfrm>
            <a:off x="4005072" y="2633472"/>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4498848" y="2414016"/>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직사각형 16"/>
          <p:cNvSpPr/>
          <p:nvPr/>
        </p:nvSpPr>
        <p:spPr>
          <a:xfrm>
            <a:off x="4590288" y="2596896"/>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② 고르기</a:t>
            </a:r>
          </a:p>
        </p:txBody>
      </p:sp>
      <p:sp>
        <p:nvSpPr>
          <p:cNvPr id="16" name="직사각형 17"/>
          <p:cNvSpPr/>
          <p:nvPr/>
        </p:nvSpPr>
        <p:spPr>
          <a:xfrm>
            <a:off x="4590288" y="3017520"/>
            <a:ext cx="3017520" cy="105156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시작 ≥ last_end이면 고르고</a:t>
            </a:r>
          </a:p>
          <a:p>
            <a:pPr algn="ctr" eaLnBrk="0" latinLnBrk="0">
              <a:lnSpc>
                <a:spcPct val="110000"/>
              </a:lnSpc>
              <a:buNone/>
            </a:pPr>
            <a:r>
              <a:rPr lang="ko-KR" altLang="en-US" sz="1350" b="0" dirty="0">
                <a:solidFill>
                  <a:srgbClr val="171717"/>
                </a:solidFill>
                <a:latin typeface="Malgun Gothic"/>
                <a:ea typeface="Malgun Gothic"/>
                <a:cs typeface="Malgun Gothic"/>
              </a:rPr>
              <a:t>last_end를 그 회의의</a:t>
            </a:r>
          </a:p>
          <a:p>
            <a:pPr algn="ctr" eaLnBrk="0" latinLnBrk="0">
              <a:lnSpc>
                <a:spcPct val="110000"/>
              </a:lnSpc>
              <a:buNone/>
            </a:pPr>
            <a:r>
              <a:rPr lang="ko-KR" altLang="en-US" sz="1350" b="0" dirty="0">
                <a:solidFill>
                  <a:srgbClr val="171717"/>
                </a:solidFill>
                <a:latin typeface="Malgun Gothic"/>
                <a:ea typeface="Malgun Gothic"/>
                <a:cs typeface="Malgun Gothic"/>
              </a:rPr>
              <a:t>종료 시각으로 옮깁니다.</a:t>
            </a:r>
          </a:p>
        </p:txBody>
      </p:sp>
      <p:sp>
        <p:nvSpPr>
          <p:cNvPr id="17" name="직사각형 18"/>
          <p:cNvSpPr/>
          <p:nvPr/>
        </p:nvSpPr>
        <p:spPr>
          <a:xfrm>
            <a:off x="7845552" y="2633472"/>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8" name="직사각형 19"/>
          <p:cNvSpPr/>
          <p:nvPr/>
        </p:nvSpPr>
        <p:spPr>
          <a:xfrm>
            <a:off x="8339328" y="2414016"/>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9" name="직사각형 20"/>
          <p:cNvSpPr/>
          <p:nvPr/>
        </p:nvSpPr>
        <p:spPr>
          <a:xfrm>
            <a:off x="8430768" y="2596896"/>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③ 반복</a:t>
            </a:r>
          </a:p>
        </p:txBody>
      </p:sp>
      <p:sp>
        <p:nvSpPr>
          <p:cNvPr id="20" name="직사각형 21"/>
          <p:cNvSpPr/>
          <p:nvPr/>
        </p:nvSpPr>
        <p:spPr>
          <a:xfrm>
            <a:off x="8430768" y="3017520"/>
            <a:ext cx="3017520" cy="105156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끝까지 봅니다.</a:t>
            </a:r>
          </a:p>
          <a:p>
            <a:pPr algn="ctr" eaLnBrk="0" latinLnBrk="0">
              <a:lnSpc>
                <a:spcPct val="110000"/>
              </a:lnSpc>
              <a:buNone/>
            </a:pPr>
            <a:r>
              <a:rPr lang="ko-KR" altLang="en-US" sz="1350" b="0" dirty="0">
                <a:solidFill>
                  <a:srgbClr val="171717"/>
                </a:solidFill>
                <a:latin typeface="Malgun Gothic"/>
                <a:ea typeface="Malgun Gothic"/>
                <a:cs typeface="Malgun Gothic"/>
              </a:rPr>
              <a:t>조건을 처음 만족하는 회의가</a:t>
            </a:r>
          </a:p>
          <a:p>
            <a:pPr algn="ctr" eaLnBrk="0" latinLnBrk="0">
              <a:lnSpc>
                <a:spcPct val="110000"/>
              </a:lnSpc>
              <a:buNone/>
            </a:pPr>
            <a:r>
              <a:rPr lang="ko-KR" altLang="en-US" sz="1350" b="0" dirty="0">
                <a:solidFill>
                  <a:srgbClr val="171717"/>
                </a:solidFill>
                <a:latin typeface="Malgun Gothic"/>
                <a:ea typeface="Malgun Gothic"/>
                <a:cs typeface="Malgun Gothic"/>
              </a:rPr>
              <a:t>곧 겹치지 않는 회의 중</a:t>
            </a:r>
          </a:p>
          <a:p>
            <a:pPr algn="ctr" eaLnBrk="0" latinLnBrk="0">
              <a:lnSpc>
                <a:spcPct val="110000"/>
              </a:lnSpc>
              <a:buNone/>
            </a:pPr>
            <a:r>
              <a:rPr lang="ko-KR" altLang="en-US" sz="1350" b="0" dirty="0">
                <a:solidFill>
                  <a:srgbClr val="171717"/>
                </a:solidFill>
                <a:latin typeface="Malgun Gothic"/>
                <a:ea typeface="Malgun Gothic"/>
                <a:cs typeface="Malgun Gothic"/>
              </a:rPr>
              <a:t>가장 먼저 끝나는 회의입니다.</a:t>
            </a:r>
          </a:p>
        </p:txBody>
      </p:sp>
      <p:graphicFrame>
        <p:nvGraphicFramePr>
          <p:cNvPr id="21" name="표 22"/>
          <p:cNvGraphicFramePr>
            <a:graphicFrameLocks noGrp="1"/>
          </p:cNvGraphicFramePr>
          <p:nvPr/>
        </p:nvGraphicFramePr>
        <p:xfrm>
          <a:off x="658368" y="4105656"/>
          <a:ext cx="10881360" cy="987552"/>
        </p:xfrm>
        <a:graphic>
          <a:graphicData uri="http://schemas.openxmlformats.org/drawingml/2006/table">
            <a:tbl>
              <a:tblPr/>
              <a:tblGrid>
                <a:gridCol w="4663440"/>
                <a:gridCol w="1554480"/>
                <a:gridCol w="1554480"/>
                <a:gridCol w="1554480"/>
                <a:gridCol w="1554480"/>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앞의 반례</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시작 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짧은 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종료 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최적</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 10), [2, 3), [4, 5)</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1개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 5), [4, 6), [5, 9)</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1개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tr>
            </a:tbl>
          </a:graphicData>
        </a:graphic>
      </p:graphicFrame>
      <p:sp>
        <p:nvSpPr>
          <p:cNvPr id="22" name="fit:c2da3d2bc5fb617a 23"/>
          <p:cNvSpPr/>
          <p:nvPr/>
        </p:nvSpPr>
        <p:spPr>
          <a:xfrm>
            <a:off x="658368" y="5239512"/>
            <a:ext cx="1088136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두 예에서 맞았다고 해서 증명된 것은 아닙니다. 왜 맞는지는 이 절 끝에서 봅니다.</a:t>
            </a:r>
          </a:p>
          <a:p>
            <a:pPr algn="l" eaLnBrk="0" latinLnBrk="0">
              <a:lnSpc>
                <a:spcPct val="100000"/>
              </a:lnSpc>
              <a:buNone/>
            </a:pPr>
            <a:r>
              <a:rPr lang="ko-KR" altLang="en-US" sz="1650" b="0" dirty="0">
                <a:solidFill>
                  <a:srgbClr val="3F3F3F"/>
                </a:solidFill>
                <a:latin typeface="Malgun Gothic"/>
                <a:ea typeface="Malgun Gothic"/>
                <a:cs typeface="Malgun Gothic"/>
              </a:rPr>
              <a:t>'안전한 선택'(그렇게 골라도 최적해를 놓치지 않는 선택)의 정확한 뜻은 5.5절에서 정의합니다.</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예제: 회의 여섯 건을 종료 시각 순으로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41</a:t>
            </a:r>
          </a:p>
        </p:txBody>
      </p:sp>
      <p:sp>
        <p:nvSpPr>
          <p:cNvPr id="9" name="fit:b65429105c0987a9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회의 여섯 건을 종료 시각이 빠른 순으로 정렬합니다.</a:t>
            </a:r>
          </a:p>
          <a:p>
            <a:pPr algn="l" eaLnBrk="0" latinLnBrk="0">
              <a:lnSpc>
                <a:spcPct val="100000"/>
              </a:lnSpc>
              <a:buNone/>
            </a:pPr>
            <a:r>
              <a:rPr lang="ko-KR" altLang="en-US" sz="2025" b="0" dirty="0">
                <a:solidFill>
                  <a:srgbClr val="171717"/>
                </a:solidFill>
                <a:latin typeface="Malgun Gothic"/>
                <a:ea typeface="Malgun Gothic"/>
                <a:cs typeface="Malgun Gothic"/>
              </a:rPr>
              <a:t>칸 아래의 작은 글자는 입력 순서로 붙인 회의 번호입니다.</a:t>
            </a:r>
          </a:p>
        </p:txBody>
      </p:sp>
      <p:sp>
        <p:nvSpPr>
          <p:cNvPr id="10" name="직사각형 11"/>
          <p:cNvSpPr/>
          <p:nvPr/>
        </p:nvSpPr>
        <p:spPr>
          <a:xfrm>
            <a:off x="137160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입력 순서</a:t>
            </a:r>
          </a:p>
        </p:txBody>
      </p:sp>
      <p:graphicFrame>
        <p:nvGraphicFramePr>
          <p:cNvPr id="11" name="표 12"/>
          <p:cNvGraphicFramePr>
            <a:graphicFrameLocks noGrp="1"/>
          </p:cNvGraphicFramePr>
          <p:nvPr/>
        </p:nvGraphicFramePr>
        <p:xfrm>
          <a:off x="2743200" y="2651760"/>
          <a:ext cx="7132320" cy="493776"/>
        </p:xfrm>
        <a:graphic>
          <a:graphicData uri="http://schemas.openxmlformats.org/drawingml/2006/table">
            <a:tbl>
              <a:tblPr/>
              <a:tblGrid>
                <a:gridCol w="1188720"/>
                <a:gridCol w="1188720"/>
                <a:gridCol w="1188720"/>
                <a:gridCol w="1188720"/>
                <a:gridCol w="1188720"/>
                <a:gridCol w="1188720"/>
              </a:tblGrid>
              <a:tr h="493776">
                <a:tc>
                  <a:txBody>
                    <a:bodyPr/>
                    <a:lstStyle/>
                    <a:p>
                      <a:pPr algn="ctr" eaLnBrk="0" latinLnBrk="0">
                        <a:lnSpc>
                          <a:spcPct val="100000"/>
                        </a:lnSpc>
                        <a:buNone/>
                      </a:pPr>
                      <a:r>
                        <a:rPr lang="ko-KR" altLang="en-US" sz="1650" b="1" dirty="0">
                          <a:solidFill>
                            <a:srgbClr val="151515"/>
                          </a:solidFill>
                          <a:latin typeface="Consolas"/>
                          <a:ea typeface="Consolas"/>
                          <a:cs typeface="Consolas"/>
                        </a:rPr>
                        <a:t>[1, 3)</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[2, 5)</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[3, 9)</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[6, 8)</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[5, 7)</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[8, 11)</a:t>
                      </a:r>
                    </a:p>
                  </a:txBody>
                  <a:tcPr marL="54864" marR="54864" marT="18288" marB="18288" anchor="ctr">
                    <a:solidFill>
                      <a:srgbClr val="FFFFFF"/>
                    </a:solidFill>
                  </a:tcPr>
                </a:tc>
              </a:tr>
            </a:tbl>
          </a:graphicData>
        </a:graphic>
      </p:graphicFrame>
      <p:sp>
        <p:nvSpPr>
          <p:cNvPr id="12" name="직사각형 13"/>
          <p:cNvSpPr/>
          <p:nvPr/>
        </p:nvSpPr>
        <p:spPr>
          <a:xfrm>
            <a:off x="274320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1번</a:t>
            </a:r>
          </a:p>
        </p:txBody>
      </p:sp>
      <p:sp>
        <p:nvSpPr>
          <p:cNvPr id="13" name="직사각형 14"/>
          <p:cNvSpPr/>
          <p:nvPr/>
        </p:nvSpPr>
        <p:spPr>
          <a:xfrm>
            <a:off x="393192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2번</a:t>
            </a:r>
          </a:p>
        </p:txBody>
      </p:sp>
      <p:sp>
        <p:nvSpPr>
          <p:cNvPr id="14" name="직사각형 15"/>
          <p:cNvSpPr/>
          <p:nvPr/>
        </p:nvSpPr>
        <p:spPr>
          <a:xfrm>
            <a:off x="512064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3번</a:t>
            </a:r>
          </a:p>
        </p:txBody>
      </p:sp>
      <p:sp>
        <p:nvSpPr>
          <p:cNvPr id="15" name="직사각형 16"/>
          <p:cNvSpPr/>
          <p:nvPr/>
        </p:nvSpPr>
        <p:spPr>
          <a:xfrm>
            <a:off x="630936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4번</a:t>
            </a:r>
          </a:p>
        </p:txBody>
      </p:sp>
      <p:sp>
        <p:nvSpPr>
          <p:cNvPr id="16" name="직사각형 17"/>
          <p:cNvSpPr/>
          <p:nvPr/>
        </p:nvSpPr>
        <p:spPr>
          <a:xfrm>
            <a:off x="749808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5번</a:t>
            </a:r>
          </a:p>
        </p:txBody>
      </p:sp>
      <p:sp>
        <p:nvSpPr>
          <p:cNvPr id="17" name="직사각형 18"/>
          <p:cNvSpPr/>
          <p:nvPr/>
        </p:nvSpPr>
        <p:spPr>
          <a:xfrm>
            <a:off x="868680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6번</a:t>
            </a:r>
          </a:p>
        </p:txBody>
      </p:sp>
      <p:sp>
        <p:nvSpPr>
          <p:cNvPr id="18" name="직사각형 19"/>
          <p:cNvSpPr/>
          <p:nvPr/>
        </p:nvSpPr>
        <p:spPr>
          <a:xfrm>
            <a:off x="1371600" y="395020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종료 순</a:t>
            </a:r>
          </a:p>
        </p:txBody>
      </p:sp>
      <p:graphicFrame>
        <p:nvGraphicFramePr>
          <p:cNvPr id="19" name="표 20"/>
          <p:cNvGraphicFramePr>
            <a:graphicFrameLocks noGrp="1"/>
          </p:cNvGraphicFramePr>
          <p:nvPr/>
        </p:nvGraphicFramePr>
        <p:xfrm>
          <a:off x="2743200" y="3840480"/>
          <a:ext cx="7132320" cy="493776"/>
        </p:xfrm>
        <a:graphic>
          <a:graphicData uri="http://schemas.openxmlformats.org/drawingml/2006/table">
            <a:tbl>
              <a:tblPr/>
              <a:tblGrid>
                <a:gridCol w="1188720"/>
                <a:gridCol w="1188720"/>
                <a:gridCol w="1188720"/>
                <a:gridCol w="1188720"/>
                <a:gridCol w="1188720"/>
                <a:gridCol w="1188720"/>
              </a:tblGrid>
              <a:tr h="493776">
                <a:tc>
                  <a:txBody>
                    <a:bodyPr/>
                    <a:lstStyle/>
                    <a:p>
                      <a:pPr algn="ctr" eaLnBrk="0" latinLnBrk="0">
                        <a:lnSpc>
                          <a:spcPct val="100000"/>
                        </a:lnSpc>
                        <a:buNone/>
                      </a:pPr>
                      <a:r>
                        <a:rPr lang="ko-KR" altLang="en-US" sz="1650" b="1" dirty="0">
                          <a:solidFill>
                            <a:srgbClr val="151515"/>
                          </a:solidFill>
                          <a:latin typeface="Consolas"/>
                          <a:ea typeface="Consolas"/>
                          <a:cs typeface="Consolas"/>
                        </a:rPr>
                        <a:t>[1, 3)</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[2, 5)</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[5, 7)</a:t>
                      </a:r>
                    </a:p>
                  </a:txBody>
                  <a:tcPr marL="54864" marR="54864" marT="18288" marB="18288" anchor="ctr">
                    <a:solidFill>
                      <a:srgbClr val="FFF1C2"/>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[6, 8)</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[3, 9)</a:t>
                      </a:r>
                    </a:p>
                  </a:txBody>
                  <a:tcPr marL="54864" marR="54864" marT="18288" marB="18288" anchor="ctr">
                    <a:solidFill>
                      <a:srgbClr val="FFF1C2"/>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[8, 11)</a:t>
                      </a:r>
                    </a:p>
                  </a:txBody>
                  <a:tcPr marL="54864" marR="54864" marT="18288" marB="18288" anchor="ctr">
                    <a:solidFill>
                      <a:srgbClr val="FFFFFF"/>
                    </a:solidFill>
                  </a:tcPr>
                </a:tc>
              </a:tr>
            </a:tbl>
          </a:graphicData>
        </a:graphic>
      </p:graphicFrame>
      <p:sp>
        <p:nvSpPr>
          <p:cNvPr id="20" name="직사각형 21"/>
          <p:cNvSpPr/>
          <p:nvPr/>
        </p:nvSpPr>
        <p:spPr>
          <a:xfrm>
            <a:off x="274320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1번</a:t>
            </a:r>
          </a:p>
        </p:txBody>
      </p:sp>
      <p:sp>
        <p:nvSpPr>
          <p:cNvPr id="21" name="직사각형 22"/>
          <p:cNvSpPr/>
          <p:nvPr/>
        </p:nvSpPr>
        <p:spPr>
          <a:xfrm>
            <a:off x="393192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2번</a:t>
            </a:r>
          </a:p>
        </p:txBody>
      </p:sp>
      <p:sp>
        <p:nvSpPr>
          <p:cNvPr id="22" name="직사각형 23"/>
          <p:cNvSpPr/>
          <p:nvPr/>
        </p:nvSpPr>
        <p:spPr>
          <a:xfrm>
            <a:off x="512064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5번</a:t>
            </a:r>
          </a:p>
        </p:txBody>
      </p:sp>
      <p:sp>
        <p:nvSpPr>
          <p:cNvPr id="23" name="직사각형 24"/>
          <p:cNvSpPr/>
          <p:nvPr/>
        </p:nvSpPr>
        <p:spPr>
          <a:xfrm>
            <a:off x="630936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4번</a:t>
            </a:r>
          </a:p>
        </p:txBody>
      </p:sp>
      <p:sp>
        <p:nvSpPr>
          <p:cNvPr id="24" name="직사각형 25"/>
          <p:cNvSpPr/>
          <p:nvPr/>
        </p:nvSpPr>
        <p:spPr>
          <a:xfrm>
            <a:off x="749808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3번</a:t>
            </a:r>
          </a:p>
        </p:txBody>
      </p:sp>
      <p:sp>
        <p:nvSpPr>
          <p:cNvPr id="25" name="직사각형 26"/>
          <p:cNvSpPr/>
          <p:nvPr/>
        </p:nvSpPr>
        <p:spPr>
          <a:xfrm>
            <a:off x="868680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6번</a:t>
            </a:r>
          </a:p>
        </p:txBody>
      </p:sp>
      <p:sp>
        <p:nvSpPr>
          <p:cNvPr id="26" name="직사각형 27"/>
          <p:cNvSpPr/>
          <p:nvPr/>
        </p:nvSpPr>
        <p:spPr>
          <a:xfrm>
            <a:off x="2743200" y="5266944"/>
            <a:ext cx="475488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last_end = −∞ (아직 고른 회의 없음)</a:t>
            </a:r>
          </a:p>
        </p:txBody>
      </p:sp>
      <p:sp>
        <p:nvSpPr>
          <p:cNvPr id="27" name="직사각형 28"/>
          <p:cNvSpPr/>
          <p:nvPr/>
        </p:nvSpPr>
        <p:spPr>
          <a:xfrm>
            <a:off x="2743200" y="4773168"/>
            <a:ext cx="713232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171717"/>
                </a:solidFill>
                <a:latin typeface="Malgun Gothic"/>
                <a:ea typeface="Malgun Gothic"/>
                <a:cs typeface="Malgun Gothic"/>
              </a:rPr>
              <a:t>종료 시각: 3 &lt; 5 &lt; 7 &lt; 8 &lt; 9 &lt; 11</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칸: 입력 순서와 자리가 바뀐 회의</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1번 [1, 3) · 선택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42</a:t>
            </a:r>
          </a:p>
        </p:txBody>
      </p:sp>
      <p:sp>
        <p:nvSpPr>
          <p:cNvPr id="9" name="fit:1df23c4a2b41543b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last_end = −∞이므로 1 ≥ −∞가 참입니다. 겹칠 회의가 없습니다.</a:t>
            </a:r>
          </a:p>
          <a:p>
            <a:pPr algn="l" eaLnBrk="0" latinLnBrk="0">
              <a:lnSpc>
                <a:spcPct val="100000"/>
              </a:lnSpc>
              <a:buNone/>
            </a:pPr>
            <a:r>
              <a:rPr lang="ko-KR" altLang="en-US" sz="2025" b="0" dirty="0">
                <a:solidFill>
                  <a:srgbClr val="171717"/>
                </a:solidFill>
                <a:latin typeface="Malgun Gothic"/>
                <a:ea typeface="Malgun Gothic"/>
                <a:cs typeface="Malgun Gothic"/>
              </a:rPr>
              <a:t>1번을 고르고 last_end를 3으로 옮깁니다.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450342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368046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3</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 선택 (1 ≥ −∞)</a:t>
            </a:r>
          </a:p>
        </p:txBody>
      </p:sp>
      <p:sp>
        <p:nvSpPr>
          <p:cNvPr id="51" name="직사각형 5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2번 [2, 5) · 건너뜀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43</a:t>
            </a:r>
          </a:p>
        </p:txBody>
      </p:sp>
      <p:sp>
        <p:nvSpPr>
          <p:cNvPr id="9" name="fit:e3959a74ce6c33f8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2번은 2시에 시작하는데, 직전에 고른 1번은 3시에 끝납니다.</a:t>
            </a:r>
          </a:p>
          <a:p>
            <a:pPr algn="l" eaLnBrk="0" latinLnBrk="0">
              <a:lnSpc>
                <a:spcPct val="100000"/>
              </a:lnSpc>
              <a:buNone/>
            </a:pPr>
            <a:r>
              <a:rPr lang="ko-KR" altLang="en-US" sz="2025" b="0" dirty="0">
                <a:solidFill>
                  <a:srgbClr val="171717"/>
                </a:solidFill>
                <a:latin typeface="Malgun Gothic"/>
                <a:ea typeface="Malgun Gothic"/>
                <a:cs typeface="Malgun Gothic"/>
              </a:rPr>
              <a:t>2 ≥ 3을 만족하지 못해 건너뜁니다. last_end는 3 그대로입니다.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450342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368046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3</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 건너뜀 (2 &lt; 3)</a:t>
            </a:r>
          </a:p>
        </p:txBody>
      </p:sp>
      <p:sp>
        <p:nvSpPr>
          <p:cNvPr id="52" name="직사각형 5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③ 5번 [5, 7) · 선택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44</a:t>
            </a:r>
          </a:p>
        </p:txBody>
      </p:sp>
      <p:sp>
        <p:nvSpPr>
          <p:cNvPr id="9" name="fit:06cf3c4c71232223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5번은 5시에 시작합니다. 5 ≥ 3이므로 1번과 겹치지 않습니다.</a:t>
            </a:r>
          </a:p>
          <a:p>
            <a:pPr algn="l" eaLnBrk="0" latinLnBrk="0">
              <a:lnSpc>
                <a:spcPct val="100000"/>
              </a:lnSpc>
              <a:buNone/>
            </a:pPr>
            <a:r>
              <a:rPr lang="ko-KR" altLang="en-US" sz="2025" b="0" dirty="0">
                <a:solidFill>
                  <a:srgbClr val="171717"/>
                </a:solidFill>
                <a:latin typeface="Malgun Gothic"/>
                <a:ea typeface="Malgun Gothic"/>
                <a:cs typeface="Malgun Gothic"/>
              </a:rPr>
              <a:t>5번을 고르고 last_end를 7로 옮깁니다.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685038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602742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7</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2" name="직사각형 53"/>
          <p:cNvSpPr/>
          <p:nvPr/>
        </p:nvSpPr>
        <p:spPr>
          <a:xfrm>
            <a:off x="9921240" y="3685032"/>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 선택 (5 ≥ 3)</a:t>
            </a:r>
          </a:p>
        </p:txBody>
      </p:sp>
      <p:sp>
        <p:nvSpPr>
          <p:cNvPr id="53" name="직사각형 5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④ 4번 [6, 8) · 건너뜀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45</a:t>
            </a:r>
          </a:p>
        </p:txBody>
      </p:sp>
      <p:sp>
        <p:nvSpPr>
          <p:cNvPr id="9" name="fit:eb6155f18673ce44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4번은 6시에 시작하는데, 직전에 고른 5번은 7시에 끝납니다.</a:t>
            </a:r>
          </a:p>
          <a:p>
            <a:pPr algn="l" eaLnBrk="0" latinLnBrk="0">
              <a:lnSpc>
                <a:spcPct val="100000"/>
              </a:lnSpc>
              <a:buNone/>
            </a:pPr>
            <a:r>
              <a:rPr lang="ko-KR" altLang="en-US" sz="2025" b="0" dirty="0">
                <a:solidFill>
                  <a:srgbClr val="171717"/>
                </a:solidFill>
                <a:latin typeface="Malgun Gothic"/>
                <a:ea typeface="Malgun Gothic"/>
                <a:cs typeface="Malgun Gothic"/>
              </a:rPr>
              <a:t>6 ≥ 7을 만족하지 못해 건너뜁니다.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685038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602742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7</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2" name="직사각형 53"/>
          <p:cNvSpPr/>
          <p:nvPr/>
        </p:nvSpPr>
        <p:spPr>
          <a:xfrm>
            <a:off x="9921240" y="3685032"/>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3" name="직사각형 54"/>
          <p:cNvSpPr/>
          <p:nvPr/>
        </p:nvSpPr>
        <p:spPr>
          <a:xfrm>
            <a:off x="9921240" y="4087368"/>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 건너뜀 (6 &lt; 7)</a:t>
            </a:r>
          </a:p>
        </p:txBody>
      </p:sp>
      <p:sp>
        <p:nvSpPr>
          <p:cNvPr id="54" name="직사각형 5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⑤ 3번 [3, 9) · 건너뜀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46</a:t>
            </a:r>
          </a:p>
        </p:txBody>
      </p:sp>
      <p:sp>
        <p:nvSpPr>
          <p:cNvPr id="9" name="fit:4fb478a5d7736860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3번은 3시에 시작합니다. 3 ≥ 7을 만족하지 못해 건너뜁니다.</a:t>
            </a:r>
          </a:p>
          <a:p>
            <a:pPr algn="l" eaLnBrk="0" latinLnBrk="0">
              <a:lnSpc>
                <a:spcPct val="100000"/>
              </a:lnSpc>
              <a:buNone/>
            </a:pPr>
            <a:r>
              <a:rPr lang="ko-KR" altLang="en-US" sz="2025" b="0" dirty="0">
                <a:solidFill>
                  <a:srgbClr val="171717"/>
                </a:solidFill>
                <a:latin typeface="Malgun Gothic"/>
                <a:ea typeface="Malgun Gothic"/>
                <a:cs typeface="Malgun Gothic"/>
              </a:rPr>
              <a:t>일찍 시작하지만 9시에 끝나서 정렬 순서로는 다섯 번째입니다.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685038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602742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7</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2" name="직사각형 53"/>
          <p:cNvSpPr/>
          <p:nvPr/>
        </p:nvSpPr>
        <p:spPr>
          <a:xfrm>
            <a:off x="9921240" y="3685032"/>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3" name="직사각형 54"/>
          <p:cNvSpPr/>
          <p:nvPr/>
        </p:nvSpPr>
        <p:spPr>
          <a:xfrm>
            <a:off x="9921240" y="4087368"/>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4" name="직사각형 55"/>
          <p:cNvSpPr/>
          <p:nvPr/>
        </p:nvSpPr>
        <p:spPr>
          <a:xfrm>
            <a:off x="9921240" y="4489704"/>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 건너뜀 (3 &lt; 7)</a:t>
            </a:r>
          </a:p>
        </p:txBody>
      </p:sp>
      <p:sp>
        <p:nvSpPr>
          <p:cNvPr id="55" name="직사각형 56"/>
          <p:cNvSpPr/>
          <p:nvPr/>
        </p:nvSpPr>
        <p:spPr>
          <a:xfrm>
            <a:off x="2743200" y="5724144"/>
            <a:ext cx="877824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시작 순으로 골랐다면 1번 다음에 [3, 9)인 3번을 골라 2개에 그쳤을 것입니다.</a:t>
            </a:r>
          </a:p>
        </p:txBody>
      </p:sp>
      <p:sp>
        <p:nvSpPr>
          <p:cNvPr id="56" name="직사각형 5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⑥ 6번 [8, 11) · 선택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47</a:t>
            </a:r>
          </a:p>
        </p:txBody>
      </p:sp>
      <p:sp>
        <p:nvSpPr>
          <p:cNvPr id="9" name="fit:99023494c5fab56d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6번은 8시에 시작합니다. 8 ≥ 7이므로 5번과 겹치지 않습니다.</a:t>
            </a:r>
          </a:p>
          <a:p>
            <a:pPr algn="l" eaLnBrk="0" latinLnBrk="0">
              <a:lnSpc>
                <a:spcPct val="100000"/>
              </a:lnSpc>
              <a:buNone/>
            </a:pPr>
            <a:r>
              <a:rPr lang="ko-KR" altLang="en-US" sz="2025" b="0" dirty="0">
                <a:solidFill>
                  <a:srgbClr val="171717"/>
                </a:solidFill>
                <a:latin typeface="Malgun Gothic"/>
                <a:ea typeface="Malgun Gothic"/>
                <a:cs typeface="Malgun Gothic"/>
              </a:rPr>
              <a:t>6번을 고르고 last_end를 11로 옮깁니다.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919734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837438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11</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2" name="직사각형 53"/>
          <p:cNvSpPr/>
          <p:nvPr/>
        </p:nvSpPr>
        <p:spPr>
          <a:xfrm>
            <a:off x="9921240" y="3685032"/>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3" name="직사각형 54"/>
          <p:cNvSpPr/>
          <p:nvPr/>
        </p:nvSpPr>
        <p:spPr>
          <a:xfrm>
            <a:off x="9921240" y="4087368"/>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4" name="직사각형 55"/>
          <p:cNvSpPr/>
          <p:nvPr/>
        </p:nvSpPr>
        <p:spPr>
          <a:xfrm>
            <a:off x="9921240" y="4489704"/>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5" name="직사각형 56"/>
          <p:cNvSpPr/>
          <p:nvPr/>
        </p:nvSpPr>
        <p:spPr>
          <a:xfrm>
            <a:off x="9921240" y="489204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 선택 (8 ≥ 7)</a:t>
            </a:r>
          </a:p>
        </p:txBody>
      </p:sp>
      <p:sp>
        <p:nvSpPr>
          <p:cNvPr id="56" name="직사각형 5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완료: 1번, 5번, 6번 · 3개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48</a:t>
            </a:r>
          </a:p>
        </p:txBody>
      </p:sp>
      <p:sp>
        <p:nvSpPr>
          <p:cNvPr id="9" name="fit:377afb41de9c10ba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고른 회의는 1번 [1, 3), 5번 [5, 7), 6번 [8, 11), 모두 3개입니다.</a:t>
            </a:r>
          </a:p>
          <a:p>
            <a:pPr algn="l" eaLnBrk="0" latinLnBrk="0">
              <a:lnSpc>
                <a:spcPct val="100000"/>
              </a:lnSpc>
              <a:buNone/>
            </a:pPr>
            <a:r>
              <a:rPr lang="ko-KR" altLang="en-US" sz="2025" b="0" dirty="0">
                <a:solidFill>
                  <a:srgbClr val="171717"/>
                </a:solidFill>
                <a:latin typeface="Malgun Gothic"/>
                <a:ea typeface="Malgun Gothic"/>
                <a:cs typeface="Malgun Gothic"/>
              </a:rPr>
              <a:t>앞의 판정을 되돌린 적은 한 번도 없습니다.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919734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837438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11</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2" name="직사각형 53"/>
          <p:cNvSpPr/>
          <p:nvPr/>
        </p:nvSpPr>
        <p:spPr>
          <a:xfrm>
            <a:off x="9921240" y="3685032"/>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3" name="직사각형 54"/>
          <p:cNvSpPr/>
          <p:nvPr/>
        </p:nvSpPr>
        <p:spPr>
          <a:xfrm>
            <a:off x="9921240" y="4087368"/>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4" name="직사각형 55"/>
          <p:cNvSpPr/>
          <p:nvPr/>
        </p:nvSpPr>
        <p:spPr>
          <a:xfrm>
            <a:off x="9921240" y="4489704"/>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5" name="직사각형 56"/>
          <p:cNvSpPr/>
          <p:nvPr/>
        </p:nvSpPr>
        <p:spPr>
          <a:xfrm>
            <a:off x="9921240" y="489204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6" name="직사각형 57"/>
          <p:cNvSpPr/>
          <p:nvPr/>
        </p:nvSpPr>
        <p:spPr>
          <a:xfrm>
            <a:off x="2743200" y="5724144"/>
            <a:ext cx="877824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이 3개가 최대인지는 뒤의 '왜 옳은가'에서 확인합니다.</a:t>
            </a:r>
          </a:p>
        </p:txBody>
      </p:sp>
      <p:sp>
        <p:nvSpPr>
          <p:cNvPr id="57" name="직사각형 58"/>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회색: 건너뛴 회의    주황 점선: last_end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활동 선택 의사코드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49</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activity_selection.pseudo</a:t>
            </a:r>
          </a:p>
        </p:txBody>
      </p:sp>
      <p:sp>
        <p:nvSpPr>
          <p:cNvPr id="10" name="직사각형 11"/>
          <p:cNvSpPr/>
          <p:nvPr/>
        </p:nvSpPr>
        <p:spPr>
          <a:xfrm>
            <a:off x="612648" y="1856232"/>
            <a:ext cx="10972800" cy="241401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600" b="0" dirty="0">
                <a:solidFill>
                  <a:srgbClr val="FFFFFF"/>
                </a:solidFill>
                <a:latin typeface="Consolas"/>
                <a:ea typeface="Consolas"/>
                <a:cs typeface="Consolas"/>
              </a:rPr>
              <a:t>ACTIVITY_SELECTION(A):            // 회의 a = (start, end)</a:t>
            </a:r>
          </a:p>
          <a:p>
            <a:pPr algn="l" eaLnBrk="0" latinLnBrk="0">
              <a:lnSpc>
                <a:spcPct val="100000"/>
              </a:lnSpc>
              <a:buNone/>
            </a:pPr>
            <a:r>
              <a:rPr lang="ko-KR" altLang="en-US" sz="1600" b="0" dirty="0">
                <a:solidFill>
                  <a:srgbClr val="FFFFFF"/>
                </a:solidFill>
                <a:latin typeface="Consolas"/>
                <a:ea typeface="Consolas"/>
                <a:cs typeface="Consolas"/>
              </a:rPr>
              <a:t>    A를 end 오름차순으로 정렬한다</a:t>
            </a:r>
          </a:p>
          <a:p>
            <a:pPr algn="l" eaLnBrk="0" latinLnBrk="0">
              <a:lnSpc>
                <a:spcPct val="100000"/>
              </a:lnSpc>
              <a:buNone/>
            </a:pPr>
            <a:r>
              <a:rPr lang="ko-KR" altLang="en-US" sz="1600" b="0" dirty="0">
                <a:solidFill>
                  <a:srgbClr val="FFFFFF"/>
                </a:solidFill>
                <a:latin typeface="Consolas"/>
                <a:ea typeface="Consolas"/>
                <a:cs typeface="Consolas"/>
              </a:rPr>
              <a:t>    S &lt;- 빈 목록</a:t>
            </a:r>
          </a:p>
          <a:p>
            <a:pPr algn="l" eaLnBrk="0" latinLnBrk="0">
              <a:lnSpc>
                <a:spcPct val="100000"/>
              </a:lnSpc>
              <a:buNone/>
            </a:pPr>
            <a:r>
              <a:rPr lang="ko-KR" altLang="en-US" sz="1600" b="0" dirty="0">
                <a:solidFill>
                  <a:srgbClr val="FFFFFF"/>
                </a:solidFill>
                <a:latin typeface="Consolas"/>
                <a:ea typeface="Consolas"/>
                <a:cs typeface="Consolas"/>
              </a:rPr>
              <a:t>    last_end &lt;- -∞                // 첫 회의가 무조건 통과하도록</a:t>
            </a:r>
          </a:p>
          <a:p>
            <a:pPr algn="l" eaLnBrk="0" latinLnBrk="0">
              <a:lnSpc>
                <a:spcPct val="100000"/>
              </a:lnSpc>
              <a:buNone/>
            </a:pPr>
            <a:r>
              <a:rPr lang="ko-KR" altLang="en-US" sz="1600" b="0" dirty="0">
                <a:solidFill>
                  <a:srgbClr val="FFFFFF"/>
                </a:solidFill>
                <a:latin typeface="Consolas"/>
                <a:ea typeface="Consolas"/>
                <a:cs typeface="Consolas"/>
              </a:rPr>
              <a:t>    for a in A (정렬된 순서):</a:t>
            </a:r>
          </a:p>
          <a:p>
            <a:pPr algn="l" eaLnBrk="0" latinLnBrk="0">
              <a:lnSpc>
                <a:spcPct val="100000"/>
              </a:lnSpc>
              <a:buNone/>
            </a:pPr>
            <a:r>
              <a:rPr lang="ko-KR" altLang="en-US" sz="1600" b="0" dirty="0">
                <a:solidFill>
                  <a:srgbClr val="FFFFFF"/>
                </a:solidFill>
                <a:latin typeface="Consolas"/>
                <a:ea typeface="Consolas"/>
                <a:cs typeface="Consolas"/>
              </a:rPr>
              <a:t>        if a.start &gt;= last_end:   // 겹치지 않으면</a:t>
            </a:r>
          </a:p>
          <a:p>
            <a:pPr algn="l" eaLnBrk="0" latinLnBrk="0">
              <a:lnSpc>
                <a:spcPct val="100000"/>
              </a:lnSpc>
              <a:buNone/>
            </a:pPr>
            <a:r>
              <a:rPr lang="ko-KR" altLang="en-US" sz="1600" b="0" dirty="0">
                <a:solidFill>
                  <a:srgbClr val="FFFFFF"/>
                </a:solidFill>
                <a:latin typeface="Consolas"/>
                <a:ea typeface="Consolas"/>
                <a:cs typeface="Consolas"/>
              </a:rPr>
              <a:t>            S에 a를 추가한다</a:t>
            </a:r>
          </a:p>
          <a:p>
            <a:pPr algn="l" eaLnBrk="0" latinLnBrk="0">
              <a:lnSpc>
                <a:spcPct val="100000"/>
              </a:lnSpc>
              <a:buNone/>
            </a:pPr>
            <a:r>
              <a:rPr lang="ko-KR" altLang="en-US" sz="1600" b="0" dirty="0">
                <a:solidFill>
                  <a:srgbClr val="FFFFFF"/>
                </a:solidFill>
                <a:latin typeface="Consolas"/>
                <a:ea typeface="Consolas"/>
                <a:cs typeface="Consolas"/>
              </a:rPr>
              <a:t>            last_end &lt;- a.end</a:t>
            </a:r>
          </a:p>
          <a:p>
            <a:pPr algn="l" eaLnBrk="0" latinLnBrk="0">
              <a:lnSpc>
                <a:spcPct val="100000"/>
              </a:lnSpc>
              <a:buNone/>
            </a:pPr>
            <a:r>
              <a:rPr lang="ko-KR" altLang="en-US" sz="1600" b="0" dirty="0">
                <a:solidFill>
                  <a:srgbClr val="FFFFFF"/>
                </a:solidFill>
                <a:latin typeface="Consolas"/>
                <a:ea typeface="Consolas"/>
                <a:cs typeface="Consolas"/>
              </a:rPr>
              <a:t>    return S</a:t>
            </a:r>
          </a:p>
        </p:txBody>
      </p:sp>
      <p:sp>
        <p:nvSpPr>
          <p:cNvPr id="11" name="fit:21733bd31e6a9060 12"/>
          <p:cNvSpPr/>
          <p:nvPr/>
        </p:nvSpPr>
        <p:spPr>
          <a:xfrm>
            <a:off x="612648" y="4398264"/>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정렬 한 줄이 그리디의 기준.</a:t>
            </a:r>
            <a:r>
              <a:rPr lang="ko-KR" altLang="en-US" sz="1700" b="0" dirty="0">
                <a:solidFill>
                  <a:srgbClr val="171717"/>
                </a:solidFill>
                <a:latin typeface="Malgun Gothic"/>
                <a:ea typeface="Malgun Gothic"/>
                <a:cs typeface="Malgun Gothic"/>
              </a:rPr>
              <a:t> end 대신 start로 정렬하면 앞의 반례처럼 틀립니다.</a:t>
            </a:r>
          </a:p>
        </p:txBody>
      </p:sp>
      <p:sp>
        <p:nvSpPr>
          <p:cNvPr id="12" name="fit:5c8889be9aa6252a 13"/>
          <p:cNvSpPr/>
          <p:nvPr/>
        </p:nvSpPr>
        <p:spPr>
          <a:xfrm>
            <a:off x="612648" y="4818888"/>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last_end 하나만 기억.</a:t>
            </a:r>
            <a:r>
              <a:rPr lang="ko-KR" altLang="en-US" sz="1700" b="0" dirty="0">
                <a:solidFill>
                  <a:srgbClr val="171717"/>
                </a:solidFill>
                <a:latin typeface="Malgun Gothic"/>
                <a:ea typeface="Malgun Gothic"/>
                <a:cs typeface="Malgun Gothic"/>
              </a:rPr>
              <a:t> 고른 회의는 시간 순서로 이어져 마지막 종료 시각만 보면 됩니다.</a:t>
            </a:r>
          </a:p>
        </p:txBody>
      </p:sp>
      <p:sp>
        <p:nvSpPr>
          <p:cNvPr id="13" name="fit:5f6dc12273e7f85a 14"/>
          <p:cNvSpPr/>
          <p:nvPr/>
        </p:nvSpPr>
        <p:spPr>
          <a:xfrm>
            <a:off x="612648" y="5239512"/>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last_end를 −∞로 시작하는 이유.</a:t>
            </a:r>
            <a:r>
              <a:rPr lang="ko-KR" altLang="en-US" sz="1700" b="0" dirty="0">
                <a:solidFill>
                  <a:srgbClr val="171717"/>
                </a:solidFill>
                <a:latin typeface="Malgun Gothic"/>
                <a:ea typeface="Malgun Gothic"/>
                <a:cs typeface="Malgun Gothic"/>
              </a:rPr>
              <a:t> 어떤 시작 시각도 −∞ 이상이므로 첫 회의가 그대로 통과합니다.</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①: 정렬하고 고르는 함수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50</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activity.py</a:t>
            </a:r>
          </a:p>
        </p:txBody>
      </p:sp>
      <p:sp>
        <p:nvSpPr>
          <p:cNvPr id="10" name="직사각형 11"/>
          <p:cNvSpPr/>
          <p:nvPr/>
        </p:nvSpPr>
        <p:spPr>
          <a:xfrm>
            <a:off x="630936" y="1645920"/>
            <a:ext cx="10954512" cy="429768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def solve_activity_selection(meetings):</a:t>
            </a:r>
          </a:p>
          <a:p>
            <a:pPr algn="l" eaLnBrk="0" latinLnBrk="0">
              <a:lnSpc>
                <a:spcPct val="100000"/>
              </a:lnSpc>
              <a:buNone/>
            </a:pPr>
            <a:r>
              <a:rPr lang="ko-KR" altLang="en-US" sz="1800" b="0" dirty="0">
                <a:solidFill>
                  <a:srgbClr val="151515"/>
                </a:solidFill>
                <a:latin typeface="Consolas"/>
                <a:ea typeface="Consolas"/>
                <a:cs typeface="Consolas"/>
              </a:rPr>
              <a:t>    # meetings: (회의ID, 시작시간, 종료시간) 튜플의 리스트</a:t>
            </a:r>
          </a:p>
          <a:p>
            <a:pPr algn="l" eaLnBrk="0" latinLnBrk="0">
              <a:lnSpc>
                <a:spcPct val="100000"/>
              </a:lnSpc>
              <a:buNone/>
            </a:pPr>
            <a:r>
              <a:rPr lang="ko-KR" altLang="en-US" sz="1800" b="0" dirty="0">
                <a:solidFill>
                  <a:srgbClr val="151515"/>
                </a:solidFill>
                <a:latin typeface="Consolas"/>
                <a:ea typeface="Consolas"/>
                <a:cs typeface="Consolas"/>
              </a:rPr>
              <a:t>    # 종료 시간 기준 오름차순 정렬 — 그리디의 핵심</a:t>
            </a:r>
          </a:p>
          <a:p>
            <a:pPr algn="l" eaLnBrk="0" latinLnBrk="0">
              <a:lnSpc>
                <a:spcPct val="100000"/>
              </a:lnSpc>
              <a:buNone/>
            </a:pPr>
            <a:r>
              <a:rPr lang="ko-KR" altLang="en-US" sz="1800" b="0" dirty="0">
                <a:solidFill>
                  <a:srgbClr val="151515"/>
                </a:solidFill>
                <a:latin typeface="Consolas"/>
                <a:ea typeface="Consolas"/>
                <a:cs typeface="Consolas"/>
              </a:rPr>
              <a:t>    meetings.sort(key=lambda x: x[2])</a:t>
            </a:r>
          </a:p>
          <a:p>
            <a:pPr algn="l" eaLnBrk="0" latinLnBrk="0">
              <a:lnSpc>
                <a:spcPct val="100000"/>
              </a:lnSpc>
              <a:buNone/>
            </a:pPr>
            <a:r>
              <a:rPr lang="ko-KR" altLang="en-US" sz="1800" b="0" dirty="0">
                <a:solidFill>
                  <a:srgbClr val="151515"/>
                </a:solidFill>
                <a:latin typeface="Consolas"/>
                <a:ea typeface="Consolas"/>
                <a:cs typeface="Consolas"/>
              </a:rPr>
              <a:t>    selected = []</a:t>
            </a:r>
          </a:p>
          <a:p>
            <a:pPr algn="l" eaLnBrk="0" latinLnBrk="0">
              <a:lnSpc>
                <a:spcPct val="100000"/>
              </a:lnSpc>
              <a:buNone/>
            </a:pPr>
            <a:r>
              <a:rPr lang="ko-KR" altLang="en-US" sz="1800" b="0" dirty="0">
                <a:solidFill>
                  <a:srgbClr val="151515"/>
                </a:solidFill>
                <a:latin typeface="Consolas"/>
                <a:ea typeface="Consolas"/>
                <a:cs typeface="Consolas"/>
              </a:rPr>
              <a:t>    last_end = float("-inf")    # 첫 회의가 무조건 통과하도록</a:t>
            </a:r>
          </a:p>
          <a:p>
            <a:pPr algn="l" eaLnBrk="0" latinLnBrk="0">
              <a:lnSpc>
                <a:spcPct val="100000"/>
              </a:lnSpc>
              <a:buNone/>
            </a:pPr>
            <a:r>
              <a:rPr lang="ko-KR" altLang="en-US" sz="1800" b="0" dirty="0">
                <a:solidFill>
                  <a:srgbClr val="151515"/>
                </a:solidFill>
                <a:latin typeface="Consolas"/>
                <a:ea typeface="Consolas"/>
                <a:cs typeface="Consolas"/>
              </a:rPr>
              <a:t>    for m in meetings:</a:t>
            </a:r>
          </a:p>
          <a:p>
            <a:pPr algn="l" eaLnBrk="0" latinLnBrk="0">
              <a:lnSpc>
                <a:spcPct val="100000"/>
              </a:lnSpc>
              <a:buNone/>
            </a:pPr>
            <a:r>
              <a:rPr lang="ko-KR" altLang="en-US" sz="1800" b="0" dirty="0">
                <a:solidFill>
                  <a:srgbClr val="151515"/>
                </a:solidFill>
                <a:latin typeface="Consolas"/>
                <a:ea typeface="Consolas"/>
                <a:cs typeface="Consolas"/>
              </a:rPr>
              <a:t>        _, start, end = m</a:t>
            </a:r>
          </a:p>
          <a:p>
            <a:pPr algn="l" eaLnBrk="0" latinLnBrk="0">
              <a:lnSpc>
                <a:spcPct val="100000"/>
              </a:lnSpc>
              <a:buNone/>
            </a:pPr>
            <a:r>
              <a:rPr lang="ko-KR" altLang="en-US" sz="1800" b="0" dirty="0">
                <a:solidFill>
                  <a:srgbClr val="151515"/>
                </a:solidFill>
                <a:latin typeface="Consolas"/>
                <a:ea typeface="Consolas"/>
                <a:cs typeface="Consolas"/>
              </a:rPr>
              <a:t>        # 직전 회의가 끝난 뒤에 시작하면 채택</a:t>
            </a:r>
          </a:p>
          <a:p>
            <a:pPr algn="l" eaLnBrk="0" latinLnBrk="0">
              <a:lnSpc>
                <a:spcPct val="100000"/>
              </a:lnSpc>
              <a:buNone/>
            </a:pPr>
            <a:r>
              <a:rPr lang="ko-KR" altLang="en-US" sz="1800" b="0" dirty="0">
                <a:solidFill>
                  <a:srgbClr val="151515"/>
                </a:solidFill>
                <a:latin typeface="Consolas"/>
                <a:ea typeface="Consolas"/>
                <a:cs typeface="Consolas"/>
              </a:rPr>
              <a:t>        if start &gt;= last_end:</a:t>
            </a:r>
          </a:p>
          <a:p>
            <a:pPr algn="l" eaLnBrk="0" latinLnBrk="0">
              <a:lnSpc>
                <a:spcPct val="100000"/>
              </a:lnSpc>
              <a:buNone/>
            </a:pPr>
            <a:r>
              <a:rPr lang="ko-KR" altLang="en-US" sz="1800" b="0" dirty="0">
                <a:solidFill>
                  <a:srgbClr val="151515"/>
                </a:solidFill>
                <a:latin typeface="Consolas"/>
                <a:ea typeface="Consolas"/>
                <a:cs typeface="Consolas"/>
              </a:rPr>
              <a:t>            selected.append(m)</a:t>
            </a:r>
          </a:p>
          <a:p>
            <a:pPr algn="l" eaLnBrk="0" latinLnBrk="0">
              <a:lnSpc>
                <a:spcPct val="100000"/>
              </a:lnSpc>
              <a:buNone/>
            </a:pPr>
            <a:r>
              <a:rPr lang="ko-KR" altLang="en-US" sz="1800" b="0" dirty="0">
                <a:solidFill>
                  <a:srgbClr val="151515"/>
                </a:solidFill>
                <a:latin typeface="Consolas"/>
                <a:ea typeface="Consolas"/>
                <a:cs typeface="Consolas"/>
              </a:rPr>
              <a:t>            last_end = end</a:t>
            </a:r>
          </a:p>
          <a:p>
            <a:pPr algn="l" eaLnBrk="0" latinLnBrk="0">
              <a:lnSpc>
                <a:spcPct val="100000"/>
              </a:lnSpc>
              <a:buNone/>
            </a:pPr>
            <a:r>
              <a:rPr lang="ko-KR" altLang="en-US" sz="1800" b="0" dirty="0">
                <a:solidFill>
                  <a:srgbClr val="151515"/>
                </a:solidFill>
                <a:latin typeface="Consolas"/>
                <a:ea typeface="Consolas"/>
                <a:cs typeface="Consolas"/>
              </a:rPr>
              <a:t>    return selected</a:t>
            </a:r>
          </a:p>
        </p:txBody>
      </p:sp>
      <p:sp>
        <p:nvSpPr>
          <p:cNvPr id="11" name="직사각형 12"/>
          <p:cNvSpPr/>
          <p:nvPr/>
        </p:nvSpPr>
        <p:spPr>
          <a:xfrm>
            <a:off x="612648" y="605332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key=lambda x: x[2]는 튜플의 인덱스 2, 곧 종료 시각을 정렬 기준으로 씁니다.</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②: 데이터 준비와 출력</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51</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activity.py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데이터 준비: (ID, 시작 시간, 종료 시간)</a:t>
            </a:r>
          </a:p>
          <a:p>
            <a:pPr algn="l" eaLnBrk="0" latinLnBrk="0">
              <a:lnSpc>
                <a:spcPct val="100000"/>
              </a:lnSpc>
              <a:buNone/>
            </a:pPr>
            <a:r>
              <a:rPr lang="ko-KR" altLang="en-US" sz="1800" b="0" dirty="0">
                <a:solidFill>
                  <a:srgbClr val="151515"/>
                </a:solidFill>
                <a:latin typeface="Consolas"/>
                <a:ea typeface="Consolas"/>
                <a:cs typeface="Consolas"/>
              </a:rPr>
              <a:t>data = [</a:t>
            </a:r>
          </a:p>
          <a:p>
            <a:pPr algn="l" eaLnBrk="0" latinLnBrk="0">
              <a:lnSpc>
                <a:spcPct val="100000"/>
              </a:lnSpc>
              <a:buNone/>
            </a:pPr>
            <a:r>
              <a:rPr lang="ko-KR" altLang="en-US" sz="1800" b="0" dirty="0">
                <a:solidFill>
                  <a:srgbClr val="151515"/>
                </a:solidFill>
                <a:latin typeface="Consolas"/>
                <a:ea typeface="Consolas"/>
                <a:cs typeface="Consolas"/>
              </a:rPr>
              <a:t>    (1, 1, 3), (2, 2, 5), (3, 3, 9),</a:t>
            </a:r>
          </a:p>
          <a:p>
            <a:pPr algn="l" eaLnBrk="0" latinLnBrk="0">
              <a:lnSpc>
                <a:spcPct val="100000"/>
              </a:lnSpc>
              <a:buNone/>
            </a:pPr>
            <a:r>
              <a:rPr lang="ko-KR" altLang="en-US" sz="1800" b="0" dirty="0">
                <a:solidFill>
                  <a:srgbClr val="151515"/>
                </a:solidFill>
                <a:latin typeface="Consolas"/>
                <a:ea typeface="Consolas"/>
                <a:cs typeface="Consolas"/>
              </a:rPr>
              <a:t>    (4, 6, 8), (5, 5, 7), (6, 8, 11)</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r>
              <a:rPr lang="ko-KR" altLang="en-US" sz="1800" b="0" dirty="0">
                <a:solidFill>
                  <a:srgbClr val="151515"/>
                </a:solidFill>
                <a:latin typeface="Consolas"/>
                <a:ea typeface="Consolas"/>
                <a:cs typeface="Consolas"/>
              </a:rPr>
              <a:t>result = solve_activity_selection(data)</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print(f"총 배정된 회의 수: {len(result)}개")</a:t>
            </a:r>
          </a:p>
          <a:p>
            <a:pPr algn="l" eaLnBrk="0" latinLnBrk="0">
              <a:lnSpc>
                <a:spcPct val="100000"/>
              </a:lnSpc>
              <a:buNone/>
            </a:pPr>
            <a:r>
              <a:rPr lang="ko-KR" altLang="en-US" sz="1800" b="0" dirty="0">
                <a:solidFill>
                  <a:srgbClr val="151515"/>
                </a:solidFill>
                <a:latin typeface="Consolas"/>
                <a:ea typeface="Consolas"/>
                <a:cs typeface="Consolas"/>
              </a:rPr>
              <a:t>print("-" * 40)</a:t>
            </a:r>
          </a:p>
          <a:p>
            <a:pPr algn="l" eaLnBrk="0" latinLnBrk="0">
              <a:lnSpc>
                <a:spcPct val="100000"/>
              </a:lnSpc>
              <a:buNone/>
            </a:pPr>
            <a:r>
              <a:rPr lang="ko-KR" altLang="en-US" sz="1800" b="0" dirty="0">
                <a:solidFill>
                  <a:srgbClr val="151515"/>
                </a:solidFill>
                <a:latin typeface="Consolas"/>
                <a:ea typeface="Consolas"/>
                <a:cs typeface="Consolas"/>
              </a:rPr>
              <a:t>for m in result:</a:t>
            </a:r>
          </a:p>
          <a:p>
            <a:pPr algn="l" eaLnBrk="0" latinLnBrk="0">
              <a:lnSpc>
                <a:spcPct val="100000"/>
              </a:lnSpc>
              <a:buNone/>
            </a:pPr>
            <a:r>
              <a:rPr lang="ko-KR" altLang="en-US" sz="1800" b="0" dirty="0">
                <a:solidFill>
                  <a:srgbClr val="151515"/>
                </a:solidFill>
                <a:latin typeface="Consolas"/>
                <a:ea typeface="Consolas"/>
                <a:cs typeface="Consolas"/>
              </a:rPr>
              <a:t>    print(f"[{m[0]}번 회의] {m[1]}시 ~ {m[2]}시")</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①: 구조체와 비교 함수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52</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activity.c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&lt;limits.h&gt;</a:t>
            </a:r>
          </a:p>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r>
              <a:rPr lang="ko-KR" altLang="en-US" sz="1800" b="0" dirty="0">
                <a:solidFill>
                  <a:srgbClr val="151515"/>
                </a:solidFill>
                <a:latin typeface="Consolas"/>
                <a:ea typeface="Consolas"/>
                <a:cs typeface="Consolas"/>
              </a:rPr>
              <a:t>#include &lt;stdlib.h&gt;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typedef struct { int id, start, end; } Meeting;</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by_end(const void *a, const void *b) {</a:t>
            </a:r>
          </a:p>
          <a:p>
            <a:pPr algn="l" eaLnBrk="0" latinLnBrk="0">
              <a:lnSpc>
                <a:spcPct val="100000"/>
              </a:lnSpc>
              <a:buNone/>
            </a:pPr>
            <a:r>
              <a:rPr lang="ko-KR" altLang="en-US" sz="1800" b="0" dirty="0">
                <a:solidFill>
                  <a:srgbClr val="151515"/>
                </a:solidFill>
                <a:latin typeface="Consolas"/>
                <a:ea typeface="Consolas"/>
                <a:cs typeface="Consolas"/>
              </a:rPr>
              <a:t>    const Meeting *x = a, *y = b;</a:t>
            </a:r>
          </a:p>
          <a:p>
            <a:pPr algn="l" eaLnBrk="0" latinLnBrk="0">
              <a:lnSpc>
                <a:spcPct val="100000"/>
              </a:lnSpc>
              <a:buNone/>
            </a:pPr>
            <a:r>
              <a:rPr lang="ko-KR" altLang="en-US" sz="1800" b="0" dirty="0">
                <a:solidFill>
                  <a:srgbClr val="151515"/>
                </a:solidFill>
                <a:latin typeface="Consolas"/>
                <a:ea typeface="Consolas"/>
                <a:cs typeface="Consolas"/>
              </a:rPr>
              <a:t>    return x-&gt;end - y-&gt;end;</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②: 정렬하고 고르는 함수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53</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activity.c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고른 회의를 sel에 담고 그 개수를 돌려준다 */</a:t>
            </a:r>
          </a:p>
          <a:p>
            <a:pPr algn="l" eaLnBrk="0" latinLnBrk="0">
              <a:lnSpc>
                <a:spcPct val="100000"/>
              </a:lnSpc>
              <a:buNone/>
            </a:pPr>
            <a:r>
              <a:rPr lang="ko-KR" altLang="en-US" sz="1800" b="0" dirty="0">
                <a:solidFill>
                  <a:srgbClr val="151515"/>
                </a:solidFill>
                <a:latin typeface="Consolas"/>
                <a:ea typeface="Consolas"/>
                <a:cs typeface="Consolas"/>
              </a:rPr>
              <a:t>int solve_activity_selection(Meeting m[], int n, Meeting sel[]) {</a:t>
            </a:r>
          </a:p>
          <a:p>
            <a:pPr algn="l" eaLnBrk="0" latinLnBrk="0">
              <a:lnSpc>
                <a:spcPct val="100000"/>
              </a:lnSpc>
              <a:buNone/>
            </a:pPr>
            <a:r>
              <a:rPr lang="ko-KR" altLang="en-US" sz="1800" b="0" dirty="0">
                <a:solidFill>
                  <a:srgbClr val="151515"/>
                </a:solidFill>
                <a:latin typeface="Consolas"/>
                <a:ea typeface="Consolas"/>
                <a:cs typeface="Consolas"/>
              </a:rPr>
              <a:t>    /* 종료 시간 기준 오름차순 정렬 — 그리디의 핵심 */</a:t>
            </a:r>
          </a:p>
          <a:p>
            <a:pPr algn="l" eaLnBrk="0" latinLnBrk="0">
              <a:lnSpc>
                <a:spcPct val="100000"/>
              </a:lnSpc>
              <a:buNone/>
            </a:pPr>
            <a:r>
              <a:rPr lang="ko-KR" altLang="en-US" sz="1800" b="0" dirty="0">
                <a:solidFill>
                  <a:srgbClr val="151515"/>
                </a:solidFill>
                <a:latin typeface="Consolas"/>
                <a:ea typeface="Consolas"/>
                <a:cs typeface="Consolas"/>
              </a:rPr>
              <a:t>    qsort(m, n, sizeof(Meeting), by_end);</a:t>
            </a:r>
          </a:p>
          <a:p>
            <a:pPr algn="l" eaLnBrk="0" latinLnBrk="0">
              <a:lnSpc>
                <a:spcPct val="100000"/>
              </a:lnSpc>
              <a:buNone/>
            </a:pPr>
            <a:r>
              <a:rPr lang="ko-KR" altLang="en-US" sz="1800" b="0" dirty="0">
                <a:solidFill>
                  <a:srgbClr val="151515"/>
                </a:solidFill>
                <a:latin typeface="Consolas"/>
                <a:ea typeface="Consolas"/>
                <a:cs typeface="Consolas"/>
              </a:rPr>
              <a:t>    int count = 0;</a:t>
            </a:r>
          </a:p>
          <a:p>
            <a:pPr algn="l" eaLnBrk="0" latinLnBrk="0">
              <a:lnSpc>
                <a:spcPct val="100000"/>
              </a:lnSpc>
              <a:buNone/>
            </a:pPr>
            <a:r>
              <a:rPr lang="ko-KR" altLang="en-US" sz="1800" b="0" dirty="0">
                <a:solidFill>
                  <a:srgbClr val="151515"/>
                </a:solidFill>
                <a:latin typeface="Consolas"/>
                <a:ea typeface="Consolas"/>
                <a:cs typeface="Consolas"/>
              </a:rPr>
              <a:t>    int last_end = INT_MIN;     /* 첫 회의가 무조건 통과하도록 */</a:t>
            </a:r>
          </a:p>
          <a:p>
            <a:pPr algn="l" eaLnBrk="0" latinLnBrk="0">
              <a:lnSpc>
                <a:spcPct val="100000"/>
              </a:lnSpc>
              <a:buNone/>
            </a:pPr>
            <a:r>
              <a:rPr lang="ko-KR" altLang="en-US" sz="1800" b="0" dirty="0">
                <a:solidFill>
                  <a:srgbClr val="151515"/>
                </a:solidFill>
                <a:latin typeface="Consolas"/>
                <a:ea typeface="Consolas"/>
                <a:cs typeface="Consolas"/>
              </a:rPr>
              <a:t>    for (int i = 0; i &lt; n; i++) {</a:t>
            </a:r>
          </a:p>
          <a:p>
            <a:pPr algn="l" eaLnBrk="0" latinLnBrk="0">
              <a:lnSpc>
                <a:spcPct val="100000"/>
              </a:lnSpc>
              <a:buNone/>
            </a:pPr>
            <a:r>
              <a:rPr lang="ko-KR" altLang="en-US" sz="1800" b="0" dirty="0">
                <a:solidFill>
                  <a:srgbClr val="151515"/>
                </a:solidFill>
                <a:latin typeface="Consolas"/>
                <a:ea typeface="Consolas"/>
                <a:cs typeface="Consolas"/>
              </a:rPr>
              <a:t>        /* 직전 회의가 끝난 뒤에 시작하면 채택 */</a:t>
            </a:r>
          </a:p>
          <a:p>
            <a:pPr algn="l" eaLnBrk="0" latinLnBrk="0">
              <a:lnSpc>
                <a:spcPct val="100000"/>
              </a:lnSpc>
              <a:buNone/>
            </a:pPr>
            <a:r>
              <a:rPr lang="ko-KR" altLang="en-US" sz="1800" b="0" dirty="0">
                <a:solidFill>
                  <a:srgbClr val="151515"/>
                </a:solidFill>
                <a:latin typeface="Consolas"/>
                <a:ea typeface="Consolas"/>
                <a:cs typeface="Consolas"/>
              </a:rPr>
              <a:t>        if (m[i].start &gt;= last_end) {</a:t>
            </a:r>
          </a:p>
          <a:p>
            <a:pPr algn="l" eaLnBrk="0" latinLnBrk="0">
              <a:lnSpc>
                <a:spcPct val="100000"/>
              </a:lnSpc>
              <a:buNone/>
            </a:pPr>
            <a:r>
              <a:rPr lang="ko-KR" altLang="en-US" sz="1800" b="0" dirty="0">
                <a:solidFill>
                  <a:srgbClr val="151515"/>
                </a:solidFill>
                <a:latin typeface="Consolas"/>
                <a:ea typeface="Consolas"/>
                <a:cs typeface="Consolas"/>
              </a:rPr>
              <a:t>            sel[count++] = m[i];</a:t>
            </a:r>
          </a:p>
          <a:p>
            <a:pPr algn="l" eaLnBrk="0" latinLnBrk="0">
              <a:lnSpc>
                <a:spcPct val="100000"/>
              </a:lnSpc>
              <a:buNone/>
            </a:pPr>
            <a:r>
              <a:rPr lang="ko-KR" altLang="en-US" sz="1800" b="0" dirty="0">
                <a:solidFill>
                  <a:srgbClr val="151515"/>
                </a:solidFill>
                <a:latin typeface="Consolas"/>
                <a:ea typeface="Consolas"/>
                <a:cs typeface="Consolas"/>
              </a:rPr>
              <a:t>            last_end = m[i].end;</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return count;</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③: 데이터 준비와 출력</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54</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activity.c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int main(void) {</a:t>
            </a:r>
          </a:p>
          <a:p>
            <a:pPr algn="l" eaLnBrk="0" latinLnBrk="0">
              <a:lnSpc>
                <a:spcPct val="100000"/>
              </a:lnSpc>
              <a:buNone/>
            </a:pPr>
            <a:r>
              <a:rPr lang="ko-KR" altLang="en-US" sz="1800" b="0" dirty="0">
                <a:solidFill>
                  <a:srgbClr val="151515"/>
                </a:solidFill>
                <a:latin typeface="Consolas"/>
                <a:ea typeface="Consolas"/>
                <a:cs typeface="Consolas"/>
              </a:rPr>
              <a:t>    /* 데이터 준비: (ID, 시작 시간, 종료 시간) */</a:t>
            </a:r>
          </a:p>
          <a:p>
            <a:pPr algn="l" eaLnBrk="0" latinLnBrk="0">
              <a:lnSpc>
                <a:spcPct val="100000"/>
              </a:lnSpc>
              <a:buNone/>
            </a:pPr>
            <a:r>
              <a:rPr lang="ko-KR" altLang="en-US" sz="1800" b="0" dirty="0">
                <a:solidFill>
                  <a:srgbClr val="151515"/>
                </a:solidFill>
                <a:latin typeface="Consolas"/>
                <a:ea typeface="Consolas"/>
                <a:cs typeface="Consolas"/>
              </a:rPr>
              <a:t>    Meeting data[] = {</a:t>
            </a:r>
          </a:p>
          <a:p>
            <a:pPr algn="l" eaLnBrk="0" latinLnBrk="0">
              <a:lnSpc>
                <a:spcPct val="100000"/>
              </a:lnSpc>
              <a:buNone/>
            </a:pPr>
            <a:r>
              <a:rPr lang="ko-KR" altLang="en-US" sz="1800" b="0" dirty="0">
                <a:solidFill>
                  <a:srgbClr val="151515"/>
                </a:solidFill>
                <a:latin typeface="Consolas"/>
                <a:ea typeface="Consolas"/>
                <a:cs typeface="Consolas"/>
              </a:rPr>
              <a:t>        {1, 1, 3}, {2, 2, 5}, {3, 3, 9},</a:t>
            </a:r>
          </a:p>
          <a:p>
            <a:pPr algn="l" eaLnBrk="0" latinLnBrk="0">
              <a:lnSpc>
                <a:spcPct val="100000"/>
              </a:lnSpc>
              <a:buNone/>
            </a:pPr>
            <a:r>
              <a:rPr lang="ko-KR" altLang="en-US" sz="1800" b="0" dirty="0">
                <a:solidFill>
                  <a:srgbClr val="151515"/>
                </a:solidFill>
                <a:latin typeface="Consolas"/>
                <a:ea typeface="Consolas"/>
                <a:cs typeface="Consolas"/>
              </a:rPr>
              <a:t>        {4, 6, 8}, {5, 5, 7}, {6, 8, 11}</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Meeting result[6];</a:t>
            </a:r>
          </a:p>
          <a:p>
            <a:pPr algn="l" eaLnBrk="0" latinLnBrk="0">
              <a:lnSpc>
                <a:spcPct val="100000"/>
              </a:lnSpc>
              <a:buNone/>
            </a:pPr>
            <a:r>
              <a:rPr lang="ko-KR" altLang="en-US" sz="1800" b="0" dirty="0">
                <a:solidFill>
                  <a:srgbClr val="151515"/>
                </a:solidFill>
                <a:latin typeface="Consolas"/>
                <a:ea typeface="Consolas"/>
                <a:cs typeface="Consolas"/>
              </a:rPr>
              <a:t>    int k = solve_activity_selection(data, 6, result);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printf("총 배정된 회의 수: %d개\n", k);</a:t>
            </a:r>
          </a:p>
          <a:p>
            <a:pPr algn="l" eaLnBrk="0" latinLnBrk="0">
              <a:lnSpc>
                <a:spcPct val="100000"/>
              </a:lnSpc>
              <a:buNone/>
            </a:pPr>
            <a:r>
              <a:rPr lang="ko-KR" altLang="en-US" sz="1800" b="0" dirty="0">
                <a:solidFill>
                  <a:srgbClr val="151515"/>
                </a:solidFill>
                <a:latin typeface="Consolas"/>
                <a:ea typeface="Consolas"/>
                <a:cs typeface="Consolas"/>
              </a:rPr>
              <a:t>    printf("----------------------------------------\n");</a:t>
            </a:r>
          </a:p>
          <a:p>
            <a:pPr algn="l" eaLnBrk="0" latinLnBrk="0">
              <a:lnSpc>
                <a:spcPct val="100000"/>
              </a:lnSpc>
              <a:buNone/>
            </a:pPr>
            <a:r>
              <a:rPr lang="ko-KR" altLang="en-US" sz="1800" b="0" dirty="0">
                <a:solidFill>
                  <a:srgbClr val="151515"/>
                </a:solidFill>
                <a:latin typeface="Consolas"/>
                <a:ea typeface="Consolas"/>
                <a:cs typeface="Consolas"/>
              </a:rPr>
              <a:t>    for (int i = 0; i &lt; k; i++)</a:t>
            </a:r>
          </a:p>
          <a:p>
            <a:pPr algn="l" eaLnBrk="0" latinLnBrk="0">
              <a:lnSpc>
                <a:spcPct val="100000"/>
              </a:lnSpc>
              <a:buNone/>
            </a:pPr>
            <a:r>
              <a:rPr lang="ko-KR" altLang="en-US" sz="1800" b="0" dirty="0">
                <a:solidFill>
                  <a:srgbClr val="151515"/>
                </a:solidFill>
                <a:latin typeface="Consolas"/>
                <a:ea typeface="Consolas"/>
                <a:cs typeface="Consolas"/>
              </a:rPr>
              <a:t>        printf("[%d번 회의] %d시 ~ %d시\n",</a:t>
            </a:r>
          </a:p>
          <a:p>
            <a:pPr algn="l" eaLnBrk="0" latinLnBrk="0">
              <a:lnSpc>
                <a:spcPct val="100000"/>
              </a:lnSpc>
              <a:buNone/>
            </a:pPr>
            <a:r>
              <a:rPr lang="ko-KR" altLang="en-US" sz="1800" b="0" dirty="0">
                <a:solidFill>
                  <a:srgbClr val="151515"/>
                </a:solidFill>
                <a:latin typeface="Consolas"/>
                <a:ea typeface="Consolas"/>
                <a:cs typeface="Consolas"/>
              </a:rPr>
              <a:t>               result[i].id, result[i].start, result[i].end);</a:t>
            </a:r>
          </a:p>
          <a:p>
            <a:pPr algn="l" eaLnBrk="0" latinLnBrk="0">
              <a:lnSpc>
                <a:spcPct val="100000"/>
              </a:lnSpc>
              <a:buNone/>
            </a:pPr>
            <a:r>
              <a:rPr lang="ko-KR" altLang="en-US" sz="1800" b="0" dirty="0">
                <a:solidFill>
                  <a:srgbClr val="151515"/>
                </a:solidFill>
                <a:latin typeface="Consolas"/>
                <a:ea typeface="Consolas"/>
                <a:cs typeface="Consolas"/>
              </a:rPr>
              <a:t>    return 0;</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실행 결과</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55</a:t>
            </a:r>
          </a:p>
        </p:txBody>
      </p:sp>
      <p:sp>
        <p:nvSpPr>
          <p:cNvPr id="9" name="fit:c0b4d1ca6b4c010b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Python과 C의 출력이 같습니다.</a:t>
            </a:r>
          </a:p>
        </p:txBody>
      </p:sp>
      <p:sp>
        <p:nvSpPr>
          <p:cNvPr id="10" name="직사각형 11"/>
          <p:cNvSpPr/>
          <p:nvPr/>
        </p:nvSpPr>
        <p:spPr>
          <a:xfrm>
            <a:off x="612648" y="2075688"/>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1" name="직사각형 12"/>
          <p:cNvSpPr/>
          <p:nvPr/>
        </p:nvSpPr>
        <p:spPr>
          <a:xfrm>
            <a:off x="612648" y="2295144"/>
            <a:ext cx="10972800" cy="1289304"/>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총 배정된 회의 수: 3개</a:t>
            </a:r>
          </a:p>
          <a:p>
            <a:pPr algn="l" eaLnBrk="0" latinLnBrk="0">
              <a:lnSpc>
                <a:spcPct val="100000"/>
              </a:lnSpc>
              <a:buNone/>
            </a:pPr>
            <a:r>
              <a:rPr lang="ko-KR" altLang="en-US" sz="1400" b="0" dirty="0">
                <a:solidFill>
                  <a:srgbClr val="151515"/>
                </a:solidFill>
                <a:latin typeface="Consolas"/>
                <a:ea typeface="Consolas"/>
                <a:cs typeface="Consolas"/>
              </a:rPr>
              <a:t>----------------------------------------</a:t>
            </a:r>
          </a:p>
          <a:p>
            <a:pPr algn="l" eaLnBrk="0" latinLnBrk="0">
              <a:lnSpc>
                <a:spcPct val="100000"/>
              </a:lnSpc>
              <a:buNone/>
            </a:pPr>
            <a:r>
              <a:rPr lang="ko-KR" altLang="en-US" sz="1400" b="0" dirty="0">
                <a:solidFill>
                  <a:srgbClr val="151515"/>
                </a:solidFill>
                <a:latin typeface="Consolas"/>
                <a:ea typeface="Consolas"/>
                <a:cs typeface="Consolas"/>
              </a:rPr>
              <a:t>[1번 회의] 1시 ~ 3시</a:t>
            </a:r>
          </a:p>
          <a:p>
            <a:pPr algn="l" eaLnBrk="0" latinLnBrk="0">
              <a:lnSpc>
                <a:spcPct val="100000"/>
              </a:lnSpc>
              <a:buNone/>
            </a:pPr>
            <a:r>
              <a:rPr lang="ko-KR" altLang="en-US" sz="1400" b="0" dirty="0">
                <a:solidFill>
                  <a:srgbClr val="151515"/>
                </a:solidFill>
                <a:latin typeface="Consolas"/>
                <a:ea typeface="Consolas"/>
                <a:cs typeface="Consolas"/>
              </a:rPr>
              <a:t>[5번 회의] 5시 ~ 7시</a:t>
            </a:r>
          </a:p>
          <a:p>
            <a:pPr algn="l" eaLnBrk="0" latinLnBrk="0">
              <a:lnSpc>
                <a:spcPct val="100000"/>
              </a:lnSpc>
              <a:buNone/>
            </a:pPr>
            <a:r>
              <a:rPr lang="ko-KR" altLang="en-US" sz="1400" b="0" dirty="0">
                <a:solidFill>
                  <a:srgbClr val="151515"/>
                </a:solidFill>
                <a:latin typeface="Consolas"/>
                <a:ea typeface="Consolas"/>
                <a:cs typeface="Consolas"/>
              </a:rPr>
              <a:t>[6번 회의] 8시 ~ 11시</a:t>
            </a:r>
          </a:p>
        </p:txBody>
      </p:sp>
      <p:sp>
        <p:nvSpPr>
          <p:cNvPr id="12" name="fit:0ccb63570bfea2c3 13"/>
          <p:cNvSpPr/>
          <p:nvPr/>
        </p:nvSpPr>
        <p:spPr>
          <a:xfrm>
            <a:off x="612648" y="3712464"/>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고른 순서 1번, 5번, 6번은 종료 시각 순서이고, 앞의 타임라인 단계와 같습니다.</a:t>
            </a:r>
          </a:p>
          <a:p>
            <a:pPr algn="l" eaLnBrk="0" latinLnBrk="0">
              <a:lnSpc>
                <a:spcPct val="100000"/>
              </a:lnSpc>
              <a:buNone/>
            </a:pPr>
            <a:r>
              <a:rPr lang="ko-KR" altLang="en-US" sz="1650" b="0" dirty="0">
                <a:solidFill>
                  <a:srgbClr val="3F3F3F"/>
                </a:solidFill>
                <a:latin typeface="Malgun Gothic"/>
                <a:ea typeface="Malgun Gothic"/>
                <a:cs typeface="Malgun Gothic"/>
              </a:rPr>
              <a:t>번호는 입력 순서로 붙인 번호입니다.</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복잡도: 정렬 O(n log n) + 한 번 훑기 O(n)</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56</a:t>
            </a:r>
          </a:p>
        </p:txBody>
      </p:sp>
      <p:sp>
        <p:nvSpPr>
          <p:cNvPr id="9" name="fit:afdb634b584ad49b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n = 회의의 수</a:t>
            </a:r>
          </a:p>
        </p:txBody>
      </p:sp>
      <p:graphicFrame>
        <p:nvGraphicFramePr>
          <p:cNvPr id="10" name="표 11"/>
          <p:cNvGraphicFramePr>
            <a:graphicFrameLocks noGrp="1"/>
          </p:cNvGraphicFramePr>
          <p:nvPr/>
        </p:nvGraphicFramePr>
        <p:xfrm>
          <a:off x="612648" y="2103120"/>
          <a:ext cx="10972800" cy="1463040"/>
        </p:xfrm>
        <a:graphic>
          <a:graphicData uri="http://schemas.openxmlformats.org/drawingml/2006/table">
            <a:tbl>
              <a:tblPr/>
              <a:tblGrid>
                <a:gridCol w="1995055"/>
                <a:gridCol w="6384175"/>
                <a:gridCol w="2593571"/>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하는 일</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시간</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정렬</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종료 시각 순으로 정렬 (sort, qsort)</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O(n log n)</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훑기</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앞에서부터 한 번, 회의마다 비교 한 번</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O(n)</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공간</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고른 회의 목록</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O(n)</a:t>
                      </a:r>
                    </a:p>
                  </a:txBody>
                  <a:tcPr marL="54864" marR="54864" marT="18288" marB="18288" anchor="ctr">
                    <a:solidFill>
                      <a:srgbClr val="FFFFFF"/>
                    </a:solidFill>
                  </a:tcPr>
                </a:tc>
              </a:tr>
            </a:tbl>
          </a:graphicData>
        </a:graphic>
      </p:graphicFrame>
      <p:sp>
        <p:nvSpPr>
          <p:cNvPr id="11" name="fit:a0bc256da94b2d1b 12"/>
          <p:cNvSpPr/>
          <p:nvPr/>
        </p:nvSpPr>
        <p:spPr>
          <a:xfrm>
            <a:off x="612648" y="3712464"/>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O(n log n) + O(n) = O(n log n)</a:t>
            </a:r>
          </a:p>
        </p:txBody>
      </p:sp>
      <p:sp>
        <p:nvSpPr>
          <p:cNvPr id="12" name="fit:bac482fe2cc7dad5 13"/>
          <p:cNvSpPr/>
          <p:nvPr/>
        </p:nvSpPr>
        <p:spPr>
          <a:xfrm>
            <a:off x="612648" y="422452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Python의 sort는 최악에도 O(n log n), C의 qsort는 보통 O(n log n)</a:t>
            </a:r>
          </a:p>
        </p:txBody>
      </p:sp>
      <p:sp>
        <p:nvSpPr>
          <p:cNvPr id="13" name="fit:043b0b305e602543 14"/>
          <p:cNvSpPr/>
          <p:nvPr/>
        </p:nvSpPr>
        <p:spPr>
          <a:xfrm>
            <a:off x="795528" y="455371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전체 비용은 정렬이 정합니다.</a:t>
            </a:r>
          </a:p>
        </p:txBody>
      </p:sp>
      <p:sp>
        <p:nvSpPr>
          <p:cNvPr id="14" name="fit:377ad1d35187aab2 15"/>
          <p:cNvSpPr/>
          <p:nvPr/>
        </p:nvSpPr>
        <p:spPr>
          <a:xfrm>
            <a:off x="612648" y="493776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입력이 이미 종료 시각 순이면 O(n)</a:t>
            </a:r>
          </a:p>
        </p:txBody>
      </p:sp>
      <p:sp>
        <p:nvSpPr>
          <p:cNvPr id="15" name="fit:f490f62e5b5824bd 16"/>
          <p:cNvSpPr/>
          <p:nvPr/>
        </p:nvSpPr>
        <p:spPr>
          <a:xfrm>
            <a:off x="795528" y="526694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정렬을 빼고 한 번 훑기만 하면 됩니다.</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옳은가: 첫 회의를 바꿔 넣어도 최적</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57</a:t>
            </a:r>
          </a:p>
        </p:txBody>
      </p:sp>
      <p:sp>
        <p:nvSpPr>
          <p:cNvPr id="9" name="fit:50fb12ac7ecbb4cf 10"/>
          <p:cNvSpPr/>
          <p:nvPr/>
        </p:nvSpPr>
        <p:spPr>
          <a:xfrm>
            <a:off x="612648" y="1636776"/>
            <a:ext cx="6766560" cy="969264"/>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최적해 O를 하나 가져옵니다.</a:t>
            </a:r>
          </a:p>
          <a:p>
            <a:pPr algn="l" eaLnBrk="0" latinLnBrk="0">
              <a:lnSpc>
                <a:spcPct val="100000"/>
              </a:lnSpc>
              <a:buNone/>
            </a:pPr>
            <a:r>
              <a:rPr lang="ko-KR" altLang="en-US" sz="2025" b="0" dirty="0">
                <a:solidFill>
                  <a:srgbClr val="171717"/>
                </a:solidFill>
                <a:latin typeface="Malgun Gothic"/>
                <a:ea typeface="Malgun Gothic"/>
                <a:cs typeface="Malgun Gothic"/>
              </a:rPr>
              <a:t>예: 2번, 4번, 6번(3개). O의 첫 회의 2번을</a:t>
            </a:r>
          </a:p>
          <a:p>
            <a:pPr algn="l" eaLnBrk="0" latinLnBrk="0">
              <a:lnSpc>
                <a:spcPct val="100000"/>
              </a:lnSpc>
              <a:buNone/>
            </a:pPr>
            <a:r>
              <a:rPr lang="ko-KR" altLang="en-US" sz="2025" b="0" dirty="0">
                <a:solidFill>
                  <a:srgbClr val="171717"/>
                </a:solidFill>
                <a:latin typeface="Malgun Gothic"/>
                <a:ea typeface="Malgun Gothic"/>
                <a:cs typeface="Malgun Gothic"/>
              </a:rPr>
              <a:t>그리디의 첫 회의 1번으로 바꿔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1d6d970b06864e5e 12"/>
          <p:cNvSpPr/>
          <p:nvPr/>
        </p:nvSpPr>
        <p:spPr>
          <a:xfrm>
            <a:off x="7909560" y="2935224"/>
            <a:ext cx="3666744" cy="859536"/>
          </a:xfrm>
          <a:prstGeom prst="rect">
            <a:avLst/>
          </a:prstGeom>
          <a:noFill/>
          <a:ln w="0">
            <a:noFill/>
          </a:ln>
        </p:spPr>
        <p:txBody>
          <a:bodyPr wrap="square" lIns="0" tIns="0" rIns="0" bIns="0" anchor="t">
            <a:noAutofit/>
          </a:bodyPr>
          <a:lstStyle/>
          <a:p>
            <a:pPr algn="l" eaLnBrk="0" latinLnBrk="0">
              <a:lnSpc>
                <a:spcPct val="105000"/>
              </a:lnSpc>
              <a:buNone/>
            </a:pPr>
            <a:r>
              <a:rPr lang="ko-KR" altLang="en-US" sz="1300" b="0" dirty="0">
                <a:solidFill>
                  <a:srgbClr val="171717"/>
                </a:solidFill>
                <a:latin typeface="Malgun Gothic"/>
                <a:ea typeface="Malgun Gothic"/>
                <a:cs typeface="Malgun Gothic"/>
              </a:rPr>
              <a:t>① g = 그리디의 첫 회의 (1번)</a:t>
            </a:r>
          </a:p>
          <a:p>
            <a:pPr algn="l" eaLnBrk="0" latinLnBrk="0">
              <a:lnSpc>
                <a:spcPct val="105000"/>
              </a:lnSpc>
              <a:buNone/>
            </a:pPr>
            <a:r>
              <a:rPr lang="ko-KR" altLang="en-US" sz="1300" b="0" dirty="0">
                <a:solidFill>
                  <a:srgbClr val="171717"/>
                </a:solidFill>
                <a:latin typeface="Malgun Gothic"/>
                <a:ea typeface="Malgun Gothic"/>
                <a:cs typeface="Malgun Gothic"/>
              </a:rPr>
              <a:t>  = 전체에서 가장 먼저 끝나는 회의</a:t>
            </a:r>
          </a:p>
          <a:p>
            <a:pPr algn="l" eaLnBrk="0" latinLnBrk="0">
              <a:lnSpc>
                <a:spcPct val="105000"/>
              </a:lnSpc>
              <a:buNone/>
            </a:pPr>
            <a:r>
              <a:rPr lang="ko-KR" altLang="en-US" sz="1300" b="0" dirty="0">
                <a:solidFill>
                  <a:srgbClr val="171717"/>
                </a:solidFill>
                <a:latin typeface="Malgun Gothic"/>
                <a:ea typeface="Malgun Gothic"/>
                <a:cs typeface="Malgun Gothic"/>
              </a:rPr>
              <a:t>  x = O에서 가장 먼저 끝나는 회의 (2번)</a:t>
            </a:r>
          </a:p>
          <a:p>
            <a:pPr algn="l" eaLnBrk="0" latinLnBrk="0">
              <a:lnSpc>
                <a:spcPct val="105000"/>
              </a:lnSpc>
              <a:buNone/>
            </a:pPr>
            <a:r>
              <a:rPr lang="ko-KR" altLang="en-US" sz="1300" b="0" dirty="0">
                <a:solidFill>
                  <a:srgbClr val="171717"/>
                </a:solidFill>
                <a:latin typeface="Malgun Gothic"/>
                <a:ea typeface="Malgun Gothic"/>
                <a:cs typeface="Malgun Gothic"/>
              </a:rPr>
              <a:t>  → g의 종료 ≤ x의 종료 (3 ≤ 5)</a:t>
            </a:r>
          </a:p>
        </p:txBody>
      </p:sp>
      <p:sp>
        <p:nvSpPr>
          <p:cNvPr id="12" name="fit:1eb1238cab3fdfc3 13"/>
          <p:cNvSpPr/>
          <p:nvPr/>
        </p:nvSpPr>
        <p:spPr>
          <a:xfrm>
            <a:off x="7909560" y="3849624"/>
            <a:ext cx="3666744" cy="438912"/>
          </a:xfrm>
          <a:prstGeom prst="rect">
            <a:avLst/>
          </a:prstGeom>
          <a:noFill/>
          <a:ln w="0">
            <a:noFill/>
          </a:ln>
        </p:spPr>
        <p:txBody>
          <a:bodyPr wrap="square" lIns="0" tIns="0" rIns="0" bIns="0" anchor="t">
            <a:noAutofit/>
          </a:bodyPr>
          <a:lstStyle/>
          <a:p>
            <a:pPr algn="l" eaLnBrk="0" latinLnBrk="0">
              <a:lnSpc>
                <a:spcPct val="105000"/>
              </a:lnSpc>
              <a:buNone/>
            </a:pPr>
            <a:r>
              <a:rPr lang="ko-KR" altLang="en-US" sz="1300" b="0" dirty="0">
                <a:solidFill>
                  <a:srgbClr val="171717"/>
                </a:solidFill>
                <a:latin typeface="Malgun Gothic"/>
                <a:ea typeface="Malgun Gothic"/>
                <a:cs typeface="Malgun Gothic"/>
              </a:rPr>
              <a:t>② O의 나머지는 x가 끝난 뒤 시작</a:t>
            </a:r>
          </a:p>
          <a:p>
            <a:pPr algn="l" eaLnBrk="0" latinLnBrk="0">
              <a:lnSpc>
                <a:spcPct val="105000"/>
              </a:lnSpc>
              <a:buNone/>
            </a:pPr>
            <a:r>
              <a:rPr lang="ko-KR" altLang="en-US" sz="1300" b="0" dirty="0">
                <a:solidFill>
                  <a:srgbClr val="171717"/>
                </a:solidFill>
                <a:latin typeface="Malgun Gothic"/>
                <a:ea typeface="Malgun Gothic"/>
                <a:cs typeface="Malgun Gothic"/>
              </a:rPr>
              <a:t>  → g와도 겹치지 않습니다.</a:t>
            </a:r>
          </a:p>
        </p:txBody>
      </p:sp>
      <p:sp>
        <p:nvSpPr>
          <p:cNvPr id="13" name="fit:2fcf4e7a9e189a87 14"/>
          <p:cNvSpPr/>
          <p:nvPr/>
        </p:nvSpPr>
        <p:spPr>
          <a:xfrm>
            <a:off x="7909560" y="4343400"/>
            <a:ext cx="3666744" cy="438912"/>
          </a:xfrm>
          <a:prstGeom prst="rect">
            <a:avLst/>
          </a:prstGeom>
          <a:noFill/>
          <a:ln w="0">
            <a:noFill/>
          </a:ln>
        </p:spPr>
        <p:txBody>
          <a:bodyPr wrap="square" lIns="0" tIns="0" rIns="0" bIns="0" anchor="t">
            <a:noAutofit/>
          </a:bodyPr>
          <a:lstStyle/>
          <a:p>
            <a:pPr algn="l" eaLnBrk="0" latinLnBrk="0">
              <a:lnSpc>
                <a:spcPct val="105000"/>
              </a:lnSpc>
              <a:buNone/>
            </a:pPr>
            <a:r>
              <a:rPr lang="ko-KR" altLang="en-US" sz="1300" b="0" dirty="0">
                <a:solidFill>
                  <a:srgbClr val="171717"/>
                </a:solidFill>
                <a:latin typeface="Malgun Gothic"/>
                <a:ea typeface="Malgun Gothic"/>
                <a:cs typeface="Malgun Gothic"/>
              </a:rPr>
              <a:t>③ 개수가 같으므로 O′도 최적해</a:t>
            </a:r>
          </a:p>
          <a:p>
            <a:pPr algn="l" eaLnBrk="0" latinLnBrk="0">
              <a:lnSpc>
                <a:spcPct val="105000"/>
              </a:lnSpc>
              <a:buNone/>
            </a:pPr>
            <a:r>
              <a:rPr lang="ko-KR" altLang="en-US" sz="1300" b="0" dirty="0">
                <a:solidFill>
                  <a:srgbClr val="171717"/>
                </a:solidFill>
                <a:latin typeface="Malgun Gothic"/>
                <a:ea typeface="Malgun Gothic"/>
                <a:cs typeface="Malgun Gothic"/>
              </a:rPr>
              <a:t>  → 남은 회의에도 되풀이합니다.</a:t>
            </a:r>
          </a:p>
        </p:txBody>
      </p:sp>
      <p:sp>
        <p:nvSpPr>
          <p:cNvPr id="14" name="fit:02b4295a96355031 15"/>
          <p:cNvSpPr/>
          <p:nvPr/>
        </p:nvSpPr>
        <p:spPr>
          <a:xfrm>
            <a:off x="7909560" y="4837176"/>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0E8A7D"/>
                </a:solidFill>
                <a:latin typeface="Malgun Gothic"/>
                <a:ea typeface="Malgun Gothic"/>
                <a:cs typeface="Malgun Gothic"/>
              </a:rPr>
              <a:t>첫 회의를 포함하는 최적해가</a:t>
            </a:r>
          </a:p>
          <a:p>
            <a:pPr algn="l" eaLnBrk="0" latinLnBrk="0">
              <a:lnSpc>
                <a:spcPct val="100000"/>
              </a:lnSpc>
              <a:buNone/>
            </a:pPr>
            <a:r>
              <a:rPr lang="ko-KR" altLang="en-US" sz="1650" b="1" dirty="0">
                <a:solidFill>
                  <a:srgbClr val="0E8A7D"/>
                </a:solidFill>
                <a:latin typeface="Malgun Gothic"/>
                <a:ea typeface="Malgun Gothic"/>
                <a:cs typeface="Malgun Gothic"/>
              </a:rPr>
              <a:t>적어도 하나 있습니다.</a:t>
            </a:r>
          </a:p>
        </p:txBody>
      </p:sp>
      <p:sp>
        <p:nvSpPr>
          <p:cNvPr id="15" name="fit:40b060c5f955c625 16"/>
          <p:cNvSpPr/>
          <p:nvPr/>
        </p:nvSpPr>
        <p:spPr>
          <a:xfrm>
            <a:off x="7909560" y="5449824"/>
            <a:ext cx="3666744"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이 방법이 교환 논증입니다:</a:t>
            </a:r>
          </a:p>
          <a:p>
            <a:pPr algn="l" eaLnBrk="0" latinLnBrk="0">
              <a:lnSpc>
                <a:spcPct val="100000"/>
              </a:lnSpc>
              <a:buNone/>
            </a:pPr>
            <a:r>
              <a:rPr lang="ko-KR" altLang="en-US" sz="1350" b="0" dirty="0">
                <a:solidFill>
                  <a:srgbClr val="3F3F3F"/>
                </a:solidFill>
                <a:latin typeface="Malgun Gothic"/>
                <a:ea typeface="Malgun Gothic"/>
                <a:cs typeface="Malgun Gothic"/>
              </a:rPr>
              <a:t>최적해의 일부를 탐욕 선택으로</a:t>
            </a:r>
          </a:p>
          <a:p>
            <a:pPr algn="l" eaLnBrk="0" latinLnBrk="0">
              <a:lnSpc>
                <a:spcPct val="100000"/>
              </a:lnSpc>
              <a:buNone/>
            </a:pPr>
            <a:r>
              <a:rPr lang="ko-KR" altLang="en-US" sz="1350" b="0" dirty="0">
                <a:solidFill>
                  <a:srgbClr val="3F3F3F"/>
                </a:solidFill>
                <a:latin typeface="Malgun Gothic"/>
                <a:ea typeface="Malgun Gothic"/>
                <a:cs typeface="Malgun Gothic"/>
              </a:rPr>
              <a:t>바꿔도 여전히 최적해임을 보입니다.</a:t>
            </a:r>
          </a:p>
        </p:txBody>
      </p:sp>
      <p:sp>
        <p:nvSpPr>
          <p:cNvPr id="16" name="직사각형 17"/>
          <p:cNvSpPr/>
          <p:nvPr/>
        </p:nvSpPr>
        <p:spPr>
          <a:xfrm>
            <a:off x="612648" y="2651760"/>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최적해 O의 예: 2번, 4번, 6번 (3개)</a:t>
            </a:r>
          </a:p>
        </p:txBody>
      </p:sp>
      <p:cxnSp>
        <p:nvCxnSpPr>
          <p:cNvPr id="17" name="연결선 18"/>
          <p:cNvCxnSpPr/>
          <p:nvPr/>
        </p:nvCxnSpPr>
        <p:spPr>
          <a:xfrm>
            <a:off x="2395728" y="3145536"/>
            <a:ext cx="0" cy="1170432"/>
          </a:xfrm>
          <a:prstGeom prst="line">
            <a:avLst/>
          </a:prstGeom>
          <a:ln w="6350">
            <a:solidFill>
              <a:srgbClr val="E6E6E6"/>
            </a:solidFill>
          </a:ln>
        </p:spPr>
      </p:cxnSp>
      <p:sp>
        <p:nvSpPr>
          <p:cNvPr id="18" name="직사각형 19"/>
          <p:cNvSpPr/>
          <p:nvPr/>
        </p:nvSpPr>
        <p:spPr>
          <a:xfrm>
            <a:off x="221284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9" name="연결선 20"/>
          <p:cNvCxnSpPr/>
          <p:nvPr/>
        </p:nvCxnSpPr>
        <p:spPr>
          <a:xfrm>
            <a:off x="2791968" y="3145536"/>
            <a:ext cx="0" cy="1170432"/>
          </a:xfrm>
          <a:prstGeom prst="line">
            <a:avLst/>
          </a:prstGeom>
          <a:ln w="6350">
            <a:solidFill>
              <a:srgbClr val="E6E6E6"/>
            </a:solidFill>
          </a:ln>
        </p:spPr>
      </p:cxnSp>
      <p:sp>
        <p:nvSpPr>
          <p:cNvPr id="20" name="직사각형 21"/>
          <p:cNvSpPr/>
          <p:nvPr/>
        </p:nvSpPr>
        <p:spPr>
          <a:xfrm>
            <a:off x="260908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21" name="연결선 22"/>
          <p:cNvCxnSpPr/>
          <p:nvPr/>
        </p:nvCxnSpPr>
        <p:spPr>
          <a:xfrm>
            <a:off x="3188208" y="3145536"/>
            <a:ext cx="0" cy="1170432"/>
          </a:xfrm>
          <a:prstGeom prst="line">
            <a:avLst/>
          </a:prstGeom>
          <a:ln w="6350">
            <a:solidFill>
              <a:srgbClr val="E6E6E6"/>
            </a:solidFill>
          </a:ln>
        </p:spPr>
      </p:cxnSp>
      <p:sp>
        <p:nvSpPr>
          <p:cNvPr id="22" name="직사각형 23"/>
          <p:cNvSpPr/>
          <p:nvPr/>
        </p:nvSpPr>
        <p:spPr>
          <a:xfrm>
            <a:off x="300532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23" name="연결선 24"/>
          <p:cNvCxnSpPr/>
          <p:nvPr/>
        </p:nvCxnSpPr>
        <p:spPr>
          <a:xfrm>
            <a:off x="3584448" y="3145536"/>
            <a:ext cx="0" cy="1170432"/>
          </a:xfrm>
          <a:prstGeom prst="line">
            <a:avLst/>
          </a:prstGeom>
          <a:ln w="6350">
            <a:solidFill>
              <a:srgbClr val="E6E6E6"/>
            </a:solidFill>
          </a:ln>
        </p:spPr>
      </p:cxnSp>
      <p:sp>
        <p:nvSpPr>
          <p:cNvPr id="24" name="직사각형 25"/>
          <p:cNvSpPr/>
          <p:nvPr/>
        </p:nvSpPr>
        <p:spPr>
          <a:xfrm>
            <a:off x="340156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25" name="연결선 26"/>
          <p:cNvCxnSpPr/>
          <p:nvPr/>
        </p:nvCxnSpPr>
        <p:spPr>
          <a:xfrm>
            <a:off x="3980688" y="3145536"/>
            <a:ext cx="0" cy="1170432"/>
          </a:xfrm>
          <a:prstGeom prst="line">
            <a:avLst/>
          </a:prstGeom>
          <a:ln w="6350">
            <a:solidFill>
              <a:srgbClr val="E6E6E6"/>
            </a:solidFill>
          </a:ln>
        </p:spPr>
      </p:cxnSp>
      <p:sp>
        <p:nvSpPr>
          <p:cNvPr id="26" name="직사각형 27"/>
          <p:cNvSpPr/>
          <p:nvPr/>
        </p:nvSpPr>
        <p:spPr>
          <a:xfrm>
            <a:off x="379780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7" name="연결선 28"/>
          <p:cNvCxnSpPr/>
          <p:nvPr/>
        </p:nvCxnSpPr>
        <p:spPr>
          <a:xfrm>
            <a:off x="4376928" y="3145536"/>
            <a:ext cx="0" cy="1170432"/>
          </a:xfrm>
          <a:prstGeom prst="line">
            <a:avLst/>
          </a:prstGeom>
          <a:ln w="6350">
            <a:solidFill>
              <a:srgbClr val="E6E6E6"/>
            </a:solidFill>
          </a:ln>
        </p:spPr>
      </p:cxnSp>
      <p:sp>
        <p:nvSpPr>
          <p:cNvPr id="28" name="직사각형 29"/>
          <p:cNvSpPr/>
          <p:nvPr/>
        </p:nvSpPr>
        <p:spPr>
          <a:xfrm>
            <a:off x="419404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9" name="연결선 30"/>
          <p:cNvCxnSpPr/>
          <p:nvPr/>
        </p:nvCxnSpPr>
        <p:spPr>
          <a:xfrm>
            <a:off x="4773168" y="3145536"/>
            <a:ext cx="0" cy="1170432"/>
          </a:xfrm>
          <a:prstGeom prst="line">
            <a:avLst/>
          </a:prstGeom>
          <a:ln w="6350">
            <a:solidFill>
              <a:srgbClr val="E6E6E6"/>
            </a:solidFill>
          </a:ln>
        </p:spPr>
      </p:cxnSp>
      <p:sp>
        <p:nvSpPr>
          <p:cNvPr id="30" name="직사각형 31"/>
          <p:cNvSpPr/>
          <p:nvPr/>
        </p:nvSpPr>
        <p:spPr>
          <a:xfrm>
            <a:off x="459028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31" name="연결선 32"/>
          <p:cNvCxnSpPr/>
          <p:nvPr/>
        </p:nvCxnSpPr>
        <p:spPr>
          <a:xfrm>
            <a:off x="5169408" y="3145536"/>
            <a:ext cx="0" cy="1170432"/>
          </a:xfrm>
          <a:prstGeom prst="line">
            <a:avLst/>
          </a:prstGeom>
          <a:ln w="6350">
            <a:solidFill>
              <a:srgbClr val="E6E6E6"/>
            </a:solidFill>
          </a:ln>
        </p:spPr>
      </p:cxnSp>
      <p:sp>
        <p:nvSpPr>
          <p:cNvPr id="32" name="직사각형 33"/>
          <p:cNvSpPr/>
          <p:nvPr/>
        </p:nvSpPr>
        <p:spPr>
          <a:xfrm>
            <a:off x="498652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33" name="연결선 34"/>
          <p:cNvCxnSpPr/>
          <p:nvPr/>
        </p:nvCxnSpPr>
        <p:spPr>
          <a:xfrm>
            <a:off x="5565648" y="3145536"/>
            <a:ext cx="0" cy="1170432"/>
          </a:xfrm>
          <a:prstGeom prst="line">
            <a:avLst/>
          </a:prstGeom>
          <a:ln w="6350">
            <a:solidFill>
              <a:srgbClr val="E6E6E6"/>
            </a:solidFill>
          </a:ln>
        </p:spPr>
      </p:cxnSp>
      <p:sp>
        <p:nvSpPr>
          <p:cNvPr id="34" name="직사각형 35"/>
          <p:cNvSpPr/>
          <p:nvPr/>
        </p:nvSpPr>
        <p:spPr>
          <a:xfrm>
            <a:off x="538276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35" name="연결선 36"/>
          <p:cNvCxnSpPr/>
          <p:nvPr/>
        </p:nvCxnSpPr>
        <p:spPr>
          <a:xfrm>
            <a:off x="5961888" y="3145536"/>
            <a:ext cx="0" cy="1170432"/>
          </a:xfrm>
          <a:prstGeom prst="line">
            <a:avLst/>
          </a:prstGeom>
          <a:ln w="6350">
            <a:solidFill>
              <a:srgbClr val="E6E6E6"/>
            </a:solidFill>
          </a:ln>
        </p:spPr>
      </p:cxnSp>
      <p:sp>
        <p:nvSpPr>
          <p:cNvPr id="36" name="직사각형 37"/>
          <p:cNvSpPr/>
          <p:nvPr/>
        </p:nvSpPr>
        <p:spPr>
          <a:xfrm>
            <a:off x="577900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7" name="연결선 38"/>
          <p:cNvCxnSpPr/>
          <p:nvPr/>
        </p:nvCxnSpPr>
        <p:spPr>
          <a:xfrm>
            <a:off x="6358128" y="3145536"/>
            <a:ext cx="0" cy="1170432"/>
          </a:xfrm>
          <a:prstGeom prst="line">
            <a:avLst/>
          </a:prstGeom>
          <a:ln w="6350">
            <a:solidFill>
              <a:srgbClr val="E6E6E6"/>
            </a:solidFill>
          </a:ln>
        </p:spPr>
      </p:cxnSp>
      <p:sp>
        <p:nvSpPr>
          <p:cNvPr id="38" name="직사각형 39"/>
          <p:cNvSpPr/>
          <p:nvPr/>
        </p:nvSpPr>
        <p:spPr>
          <a:xfrm>
            <a:off x="617524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9" name="연결선 40"/>
          <p:cNvCxnSpPr/>
          <p:nvPr/>
        </p:nvCxnSpPr>
        <p:spPr>
          <a:xfrm>
            <a:off x="6754368" y="3145536"/>
            <a:ext cx="0" cy="1170432"/>
          </a:xfrm>
          <a:prstGeom prst="line">
            <a:avLst/>
          </a:prstGeom>
          <a:ln w="6350">
            <a:solidFill>
              <a:srgbClr val="E6E6E6"/>
            </a:solidFill>
          </a:ln>
        </p:spPr>
      </p:cxnSp>
      <p:sp>
        <p:nvSpPr>
          <p:cNvPr id="40" name="직사각형 41"/>
          <p:cNvSpPr/>
          <p:nvPr/>
        </p:nvSpPr>
        <p:spPr>
          <a:xfrm>
            <a:off x="657148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41" name="연결선 42"/>
          <p:cNvCxnSpPr/>
          <p:nvPr/>
        </p:nvCxnSpPr>
        <p:spPr>
          <a:xfrm>
            <a:off x="7150608" y="3145536"/>
            <a:ext cx="0" cy="1170432"/>
          </a:xfrm>
          <a:prstGeom prst="line">
            <a:avLst/>
          </a:prstGeom>
          <a:ln w="6350">
            <a:solidFill>
              <a:srgbClr val="E6E6E6"/>
            </a:solidFill>
          </a:ln>
        </p:spPr>
      </p:cxnSp>
      <p:sp>
        <p:nvSpPr>
          <p:cNvPr id="42" name="직사각형 43"/>
          <p:cNvSpPr/>
          <p:nvPr/>
        </p:nvSpPr>
        <p:spPr>
          <a:xfrm>
            <a:off x="696772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sp>
        <p:nvSpPr>
          <p:cNvPr id="43" name="직사각형 44"/>
          <p:cNvSpPr/>
          <p:nvPr/>
        </p:nvSpPr>
        <p:spPr>
          <a:xfrm>
            <a:off x="612648" y="3264408"/>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2번 [2, 5)</a:t>
            </a:r>
          </a:p>
        </p:txBody>
      </p:sp>
      <p:sp>
        <p:nvSpPr>
          <p:cNvPr id="44" name="직사각형 45"/>
          <p:cNvSpPr/>
          <p:nvPr/>
        </p:nvSpPr>
        <p:spPr>
          <a:xfrm>
            <a:off x="3188208" y="3264408"/>
            <a:ext cx="118872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612648" y="3630168"/>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6" name="직사각형 47"/>
          <p:cNvSpPr/>
          <p:nvPr/>
        </p:nvSpPr>
        <p:spPr>
          <a:xfrm>
            <a:off x="4773168" y="3630168"/>
            <a:ext cx="7924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612648" y="3995928"/>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5565648" y="3995928"/>
            <a:ext cx="118872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612648" y="441655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O의 2번을 1번으로 바꾼 O′: 3개 그대로</a:t>
            </a:r>
          </a:p>
        </p:txBody>
      </p:sp>
      <p:cxnSp>
        <p:nvCxnSpPr>
          <p:cNvPr id="50" name="연결선 51"/>
          <p:cNvCxnSpPr/>
          <p:nvPr/>
        </p:nvCxnSpPr>
        <p:spPr>
          <a:xfrm>
            <a:off x="2395728" y="4910328"/>
            <a:ext cx="0" cy="1170432"/>
          </a:xfrm>
          <a:prstGeom prst="line">
            <a:avLst/>
          </a:prstGeom>
          <a:ln w="6350">
            <a:solidFill>
              <a:srgbClr val="E6E6E6"/>
            </a:solidFill>
          </a:ln>
        </p:spPr>
      </p:cxnSp>
      <p:sp>
        <p:nvSpPr>
          <p:cNvPr id="51" name="직사각형 52"/>
          <p:cNvSpPr/>
          <p:nvPr/>
        </p:nvSpPr>
        <p:spPr>
          <a:xfrm>
            <a:off x="221284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52" name="연결선 53"/>
          <p:cNvCxnSpPr/>
          <p:nvPr/>
        </p:nvCxnSpPr>
        <p:spPr>
          <a:xfrm>
            <a:off x="2791968" y="4910328"/>
            <a:ext cx="0" cy="1170432"/>
          </a:xfrm>
          <a:prstGeom prst="line">
            <a:avLst/>
          </a:prstGeom>
          <a:ln w="6350">
            <a:solidFill>
              <a:srgbClr val="E6E6E6"/>
            </a:solidFill>
          </a:ln>
        </p:spPr>
      </p:cxnSp>
      <p:sp>
        <p:nvSpPr>
          <p:cNvPr id="53" name="직사각형 54"/>
          <p:cNvSpPr/>
          <p:nvPr/>
        </p:nvSpPr>
        <p:spPr>
          <a:xfrm>
            <a:off x="260908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54" name="연결선 55"/>
          <p:cNvCxnSpPr/>
          <p:nvPr/>
        </p:nvCxnSpPr>
        <p:spPr>
          <a:xfrm>
            <a:off x="3188208" y="4910328"/>
            <a:ext cx="0" cy="1170432"/>
          </a:xfrm>
          <a:prstGeom prst="line">
            <a:avLst/>
          </a:prstGeom>
          <a:ln w="6350">
            <a:solidFill>
              <a:srgbClr val="E6E6E6"/>
            </a:solidFill>
          </a:ln>
        </p:spPr>
      </p:cxnSp>
      <p:sp>
        <p:nvSpPr>
          <p:cNvPr id="55" name="직사각형 56"/>
          <p:cNvSpPr/>
          <p:nvPr/>
        </p:nvSpPr>
        <p:spPr>
          <a:xfrm>
            <a:off x="300532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56" name="연결선 57"/>
          <p:cNvCxnSpPr/>
          <p:nvPr/>
        </p:nvCxnSpPr>
        <p:spPr>
          <a:xfrm>
            <a:off x="3584448" y="4910328"/>
            <a:ext cx="0" cy="1170432"/>
          </a:xfrm>
          <a:prstGeom prst="line">
            <a:avLst/>
          </a:prstGeom>
          <a:ln w="6350">
            <a:solidFill>
              <a:srgbClr val="E6E6E6"/>
            </a:solidFill>
          </a:ln>
        </p:spPr>
      </p:cxnSp>
      <p:sp>
        <p:nvSpPr>
          <p:cNvPr id="57" name="직사각형 58"/>
          <p:cNvSpPr/>
          <p:nvPr/>
        </p:nvSpPr>
        <p:spPr>
          <a:xfrm>
            <a:off x="340156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58" name="연결선 59"/>
          <p:cNvCxnSpPr/>
          <p:nvPr/>
        </p:nvCxnSpPr>
        <p:spPr>
          <a:xfrm>
            <a:off x="3980688" y="4910328"/>
            <a:ext cx="0" cy="1170432"/>
          </a:xfrm>
          <a:prstGeom prst="line">
            <a:avLst/>
          </a:prstGeom>
          <a:ln w="6350">
            <a:solidFill>
              <a:srgbClr val="E6E6E6"/>
            </a:solidFill>
          </a:ln>
        </p:spPr>
      </p:cxnSp>
      <p:sp>
        <p:nvSpPr>
          <p:cNvPr id="59" name="직사각형 60"/>
          <p:cNvSpPr/>
          <p:nvPr/>
        </p:nvSpPr>
        <p:spPr>
          <a:xfrm>
            <a:off x="379780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60" name="연결선 61"/>
          <p:cNvCxnSpPr/>
          <p:nvPr/>
        </p:nvCxnSpPr>
        <p:spPr>
          <a:xfrm>
            <a:off x="4376928" y="4910328"/>
            <a:ext cx="0" cy="1170432"/>
          </a:xfrm>
          <a:prstGeom prst="line">
            <a:avLst/>
          </a:prstGeom>
          <a:ln w="6350">
            <a:solidFill>
              <a:srgbClr val="E6E6E6"/>
            </a:solidFill>
          </a:ln>
        </p:spPr>
      </p:cxnSp>
      <p:sp>
        <p:nvSpPr>
          <p:cNvPr id="61" name="직사각형 62"/>
          <p:cNvSpPr/>
          <p:nvPr/>
        </p:nvSpPr>
        <p:spPr>
          <a:xfrm>
            <a:off x="419404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62" name="연결선 63"/>
          <p:cNvCxnSpPr/>
          <p:nvPr/>
        </p:nvCxnSpPr>
        <p:spPr>
          <a:xfrm>
            <a:off x="4773168" y="4910328"/>
            <a:ext cx="0" cy="1170432"/>
          </a:xfrm>
          <a:prstGeom prst="line">
            <a:avLst/>
          </a:prstGeom>
          <a:ln w="6350">
            <a:solidFill>
              <a:srgbClr val="E6E6E6"/>
            </a:solidFill>
          </a:ln>
        </p:spPr>
      </p:cxnSp>
      <p:sp>
        <p:nvSpPr>
          <p:cNvPr id="63" name="직사각형 64"/>
          <p:cNvSpPr/>
          <p:nvPr/>
        </p:nvSpPr>
        <p:spPr>
          <a:xfrm>
            <a:off x="459028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64" name="연결선 65"/>
          <p:cNvCxnSpPr/>
          <p:nvPr/>
        </p:nvCxnSpPr>
        <p:spPr>
          <a:xfrm>
            <a:off x="5169408" y="4910328"/>
            <a:ext cx="0" cy="1170432"/>
          </a:xfrm>
          <a:prstGeom prst="line">
            <a:avLst/>
          </a:prstGeom>
          <a:ln w="6350">
            <a:solidFill>
              <a:srgbClr val="E6E6E6"/>
            </a:solidFill>
          </a:ln>
        </p:spPr>
      </p:cxnSp>
      <p:sp>
        <p:nvSpPr>
          <p:cNvPr id="65" name="직사각형 66"/>
          <p:cNvSpPr/>
          <p:nvPr/>
        </p:nvSpPr>
        <p:spPr>
          <a:xfrm>
            <a:off x="498652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66" name="연결선 67"/>
          <p:cNvCxnSpPr/>
          <p:nvPr/>
        </p:nvCxnSpPr>
        <p:spPr>
          <a:xfrm>
            <a:off x="5565648" y="4910328"/>
            <a:ext cx="0" cy="1170432"/>
          </a:xfrm>
          <a:prstGeom prst="line">
            <a:avLst/>
          </a:prstGeom>
          <a:ln w="6350">
            <a:solidFill>
              <a:srgbClr val="E6E6E6"/>
            </a:solidFill>
          </a:ln>
        </p:spPr>
      </p:cxnSp>
      <p:sp>
        <p:nvSpPr>
          <p:cNvPr id="67" name="직사각형 68"/>
          <p:cNvSpPr/>
          <p:nvPr/>
        </p:nvSpPr>
        <p:spPr>
          <a:xfrm>
            <a:off x="538276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68" name="연결선 69"/>
          <p:cNvCxnSpPr/>
          <p:nvPr/>
        </p:nvCxnSpPr>
        <p:spPr>
          <a:xfrm>
            <a:off x="5961888" y="4910328"/>
            <a:ext cx="0" cy="1170432"/>
          </a:xfrm>
          <a:prstGeom prst="line">
            <a:avLst/>
          </a:prstGeom>
          <a:ln w="6350">
            <a:solidFill>
              <a:srgbClr val="E6E6E6"/>
            </a:solidFill>
          </a:ln>
        </p:spPr>
      </p:cxnSp>
      <p:sp>
        <p:nvSpPr>
          <p:cNvPr id="69" name="직사각형 70"/>
          <p:cNvSpPr/>
          <p:nvPr/>
        </p:nvSpPr>
        <p:spPr>
          <a:xfrm>
            <a:off x="577900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70" name="연결선 71"/>
          <p:cNvCxnSpPr/>
          <p:nvPr/>
        </p:nvCxnSpPr>
        <p:spPr>
          <a:xfrm>
            <a:off x="6358128" y="4910328"/>
            <a:ext cx="0" cy="1170432"/>
          </a:xfrm>
          <a:prstGeom prst="line">
            <a:avLst/>
          </a:prstGeom>
          <a:ln w="6350">
            <a:solidFill>
              <a:srgbClr val="E6E6E6"/>
            </a:solidFill>
          </a:ln>
        </p:spPr>
      </p:cxnSp>
      <p:sp>
        <p:nvSpPr>
          <p:cNvPr id="71" name="직사각형 72"/>
          <p:cNvSpPr/>
          <p:nvPr/>
        </p:nvSpPr>
        <p:spPr>
          <a:xfrm>
            <a:off x="617524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72" name="연결선 73"/>
          <p:cNvCxnSpPr/>
          <p:nvPr/>
        </p:nvCxnSpPr>
        <p:spPr>
          <a:xfrm>
            <a:off x="6754368" y="4910328"/>
            <a:ext cx="0" cy="1170432"/>
          </a:xfrm>
          <a:prstGeom prst="line">
            <a:avLst/>
          </a:prstGeom>
          <a:ln w="6350">
            <a:solidFill>
              <a:srgbClr val="E6E6E6"/>
            </a:solidFill>
          </a:ln>
        </p:spPr>
      </p:cxnSp>
      <p:sp>
        <p:nvSpPr>
          <p:cNvPr id="73" name="직사각형 74"/>
          <p:cNvSpPr/>
          <p:nvPr/>
        </p:nvSpPr>
        <p:spPr>
          <a:xfrm>
            <a:off x="657148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74" name="연결선 75"/>
          <p:cNvCxnSpPr/>
          <p:nvPr/>
        </p:nvCxnSpPr>
        <p:spPr>
          <a:xfrm>
            <a:off x="7150608" y="4910328"/>
            <a:ext cx="0" cy="1170432"/>
          </a:xfrm>
          <a:prstGeom prst="line">
            <a:avLst/>
          </a:prstGeom>
          <a:ln w="6350">
            <a:solidFill>
              <a:srgbClr val="E6E6E6"/>
            </a:solidFill>
          </a:ln>
        </p:spPr>
      </p:cxnSp>
      <p:sp>
        <p:nvSpPr>
          <p:cNvPr id="75" name="직사각형 76"/>
          <p:cNvSpPr/>
          <p:nvPr/>
        </p:nvSpPr>
        <p:spPr>
          <a:xfrm>
            <a:off x="696772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sp>
        <p:nvSpPr>
          <p:cNvPr id="76" name="직사각형 77"/>
          <p:cNvSpPr/>
          <p:nvPr/>
        </p:nvSpPr>
        <p:spPr>
          <a:xfrm>
            <a:off x="612648" y="50292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1번 [1, 3)</a:t>
            </a:r>
          </a:p>
        </p:txBody>
      </p:sp>
      <p:sp>
        <p:nvSpPr>
          <p:cNvPr id="77" name="직사각형 78"/>
          <p:cNvSpPr/>
          <p:nvPr/>
        </p:nvSpPr>
        <p:spPr>
          <a:xfrm>
            <a:off x="2791968" y="5029200"/>
            <a:ext cx="79248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78" name="직사각형 79"/>
          <p:cNvSpPr/>
          <p:nvPr/>
        </p:nvSpPr>
        <p:spPr>
          <a:xfrm>
            <a:off x="612648" y="53949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79" name="직사각형 80"/>
          <p:cNvSpPr/>
          <p:nvPr/>
        </p:nvSpPr>
        <p:spPr>
          <a:xfrm>
            <a:off x="4773168" y="5394960"/>
            <a:ext cx="7924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80" name="직사각형 81"/>
          <p:cNvSpPr/>
          <p:nvPr/>
        </p:nvSpPr>
        <p:spPr>
          <a:xfrm>
            <a:off x="612648" y="576072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81" name="직사각형 82"/>
          <p:cNvSpPr/>
          <p:nvPr/>
        </p:nvSpPr>
        <p:spPr>
          <a:xfrm>
            <a:off x="5565648" y="5760720"/>
            <a:ext cx="118872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82" name="직사각형 8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바꾸는 회의    파랑: 그대로 두는 회의</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activity_count · [1, 4), [3, 5), [4, 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58</a:t>
            </a:r>
          </a:p>
        </p:txBody>
      </p:sp>
      <p:sp>
        <p:nvSpPr>
          <p:cNvPr id="9" name="fit:22415881af9b2f56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종료 시각 순으로 정렬되어 들어온 활동의 최대 개수를 셉니다.</a:t>
            </a:r>
          </a:p>
          <a:p>
            <a:pPr algn="l" eaLnBrk="0" latinLnBrk="0">
              <a:lnSpc>
                <a:spcPct val="100000"/>
              </a:lnSpc>
              <a:buNone/>
            </a:pPr>
            <a:r>
              <a:rPr lang="ko-KR" altLang="en-US" sz="2025" b="0" dirty="0">
                <a:solidFill>
                  <a:srgbClr val="171717"/>
                </a:solidFill>
                <a:latin typeface="Malgun Gothic"/>
                <a:ea typeface="Malgun Gothic"/>
                <a:cs typeface="Malgun Gothic"/>
              </a:rPr>
              <a:t>시작 ≥ last_end이면 고르고 count를 1 늘립니다.</a:t>
            </a:r>
          </a:p>
        </p:txBody>
      </p:sp>
      <p:cxnSp>
        <p:nvCxnSpPr>
          <p:cNvPr id="10" name="연결선 11"/>
          <p:cNvCxnSpPr/>
          <p:nvPr/>
        </p:nvCxnSpPr>
        <p:spPr>
          <a:xfrm>
            <a:off x="2743200" y="2761488"/>
            <a:ext cx="0" cy="1280160"/>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474720" y="2761488"/>
            <a:ext cx="0" cy="1280160"/>
          </a:xfrm>
          <a:prstGeom prst="line">
            <a:avLst/>
          </a:prstGeom>
          <a:ln w="6350">
            <a:solidFill>
              <a:srgbClr val="E6E6E6"/>
            </a:solidFill>
          </a:ln>
        </p:spPr>
      </p:cxnSp>
      <p:sp>
        <p:nvSpPr>
          <p:cNvPr id="13" name="직사각형 14"/>
          <p:cNvSpPr/>
          <p:nvPr/>
        </p:nvSpPr>
        <p:spPr>
          <a:xfrm>
            <a:off x="32918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4206240" y="2761488"/>
            <a:ext cx="0" cy="1280160"/>
          </a:xfrm>
          <a:prstGeom prst="line">
            <a:avLst/>
          </a:prstGeom>
          <a:ln w="6350">
            <a:solidFill>
              <a:srgbClr val="E6E6E6"/>
            </a:solidFill>
          </a:ln>
        </p:spPr>
      </p:cxnSp>
      <p:sp>
        <p:nvSpPr>
          <p:cNvPr id="15" name="직사각형 16"/>
          <p:cNvSpPr/>
          <p:nvPr/>
        </p:nvSpPr>
        <p:spPr>
          <a:xfrm>
            <a:off x="40233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937760" y="2761488"/>
            <a:ext cx="0" cy="1280160"/>
          </a:xfrm>
          <a:prstGeom prst="line">
            <a:avLst/>
          </a:prstGeom>
          <a:ln w="6350">
            <a:solidFill>
              <a:srgbClr val="E6E6E6"/>
            </a:solidFill>
          </a:ln>
        </p:spPr>
      </p:cxnSp>
      <p:sp>
        <p:nvSpPr>
          <p:cNvPr id="17" name="직사각형 18"/>
          <p:cNvSpPr/>
          <p:nvPr/>
        </p:nvSpPr>
        <p:spPr>
          <a:xfrm>
            <a:off x="47548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669280" y="2761488"/>
            <a:ext cx="0" cy="1280160"/>
          </a:xfrm>
          <a:prstGeom prst="line">
            <a:avLst/>
          </a:prstGeom>
          <a:ln w="6350">
            <a:solidFill>
              <a:srgbClr val="E6E6E6"/>
            </a:solidFill>
          </a:ln>
        </p:spPr>
      </p:cxnSp>
      <p:sp>
        <p:nvSpPr>
          <p:cNvPr id="19" name="직사각형 20"/>
          <p:cNvSpPr/>
          <p:nvPr/>
        </p:nvSpPr>
        <p:spPr>
          <a:xfrm>
            <a:off x="54864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6400800" y="2761488"/>
            <a:ext cx="0" cy="1280160"/>
          </a:xfrm>
          <a:prstGeom prst="line">
            <a:avLst/>
          </a:prstGeom>
          <a:ln w="6350">
            <a:solidFill>
              <a:srgbClr val="E6E6E6"/>
            </a:solidFill>
          </a:ln>
        </p:spPr>
      </p:cxnSp>
      <p:sp>
        <p:nvSpPr>
          <p:cNvPr id="21" name="직사각형 22"/>
          <p:cNvSpPr/>
          <p:nvPr/>
        </p:nvSpPr>
        <p:spPr>
          <a:xfrm>
            <a:off x="62179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7132320" y="2761488"/>
            <a:ext cx="0" cy="1280160"/>
          </a:xfrm>
          <a:prstGeom prst="line">
            <a:avLst/>
          </a:prstGeom>
          <a:ln w="6350">
            <a:solidFill>
              <a:srgbClr val="E6E6E6"/>
            </a:solidFill>
          </a:ln>
        </p:spPr>
      </p:cxnSp>
      <p:sp>
        <p:nvSpPr>
          <p:cNvPr id="23" name="직사각형 24"/>
          <p:cNvSpPr/>
          <p:nvPr/>
        </p:nvSpPr>
        <p:spPr>
          <a:xfrm>
            <a:off x="69494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7863840" y="2761488"/>
            <a:ext cx="0" cy="1280160"/>
          </a:xfrm>
          <a:prstGeom prst="line">
            <a:avLst/>
          </a:prstGeom>
          <a:ln w="6350">
            <a:solidFill>
              <a:srgbClr val="E6E6E6"/>
            </a:solidFill>
          </a:ln>
        </p:spPr>
      </p:cxnSp>
      <p:sp>
        <p:nvSpPr>
          <p:cNvPr id="25" name="직사각형 26"/>
          <p:cNvSpPr/>
          <p:nvPr/>
        </p:nvSpPr>
        <p:spPr>
          <a:xfrm>
            <a:off x="76809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132320" y="2743200"/>
            <a:ext cx="0" cy="1353312"/>
          </a:xfrm>
          <a:prstGeom prst="line">
            <a:avLst/>
          </a:prstGeom>
          <a:ln w="28575">
            <a:solidFill>
              <a:srgbClr val="B8651B"/>
            </a:solidFill>
            <a:prstDash val="dash"/>
          </a:ln>
        </p:spPr>
      </p:cxnSp>
      <p:sp>
        <p:nvSpPr>
          <p:cNvPr id="27" name="직사각형 2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 4)</a:t>
            </a:r>
          </a:p>
        </p:txBody>
      </p:sp>
      <p:sp>
        <p:nvSpPr>
          <p:cNvPr id="28" name="직사각형 29"/>
          <p:cNvSpPr/>
          <p:nvPr/>
        </p:nvSpPr>
        <p:spPr>
          <a:xfrm>
            <a:off x="3474720" y="2880360"/>
            <a:ext cx="219456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① 고름</a:t>
            </a:r>
          </a:p>
        </p:txBody>
      </p:sp>
      <p:sp>
        <p:nvSpPr>
          <p:cNvPr id="29" name="직사각형 3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[3, 5)</a:t>
            </a:r>
          </a:p>
        </p:txBody>
      </p:sp>
      <p:sp>
        <p:nvSpPr>
          <p:cNvPr id="30" name="직사각형 31"/>
          <p:cNvSpPr/>
          <p:nvPr/>
        </p:nvSpPr>
        <p:spPr>
          <a:xfrm>
            <a:off x="4937760" y="3282696"/>
            <a:ext cx="146304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② 3 &lt; 4</a:t>
            </a:r>
          </a:p>
        </p:txBody>
      </p:sp>
      <p:sp>
        <p:nvSpPr>
          <p:cNvPr id="31" name="직사각형 3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 6)</a:t>
            </a:r>
          </a:p>
        </p:txBody>
      </p:sp>
      <p:sp>
        <p:nvSpPr>
          <p:cNvPr id="32" name="직사각형 33"/>
          <p:cNvSpPr/>
          <p:nvPr/>
        </p:nvSpPr>
        <p:spPr>
          <a:xfrm>
            <a:off x="5669280" y="3685032"/>
            <a:ext cx="146304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③ 4 ≥ 4</a:t>
            </a:r>
          </a:p>
        </p:txBody>
      </p:sp>
      <p:sp>
        <p:nvSpPr>
          <p:cNvPr id="33" name="직사각형 34"/>
          <p:cNvSpPr/>
          <p:nvPr/>
        </p:nvSpPr>
        <p:spPr>
          <a:xfrm>
            <a:off x="6309360" y="4114800"/>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6</a:t>
            </a:r>
          </a:p>
        </p:txBody>
      </p:sp>
      <p:sp>
        <p:nvSpPr>
          <p:cNvPr id="34" name="직사각형 35"/>
          <p:cNvSpPr/>
          <p:nvPr/>
        </p:nvSpPr>
        <p:spPr>
          <a:xfrm>
            <a:off x="8503920" y="3017520"/>
            <a:ext cx="301752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activity_count = 2</a:t>
            </a:r>
          </a:p>
        </p:txBody>
      </p:sp>
      <p:graphicFrame>
        <p:nvGraphicFramePr>
          <p:cNvPr id="35" name="표 36"/>
          <p:cNvGraphicFramePr>
            <a:graphicFrameLocks noGrp="1"/>
          </p:cNvGraphicFramePr>
          <p:nvPr/>
        </p:nvGraphicFramePr>
        <p:xfrm>
          <a:off x="2743200" y="4526280"/>
          <a:ext cx="8778240" cy="1554480"/>
        </p:xfrm>
        <a:graphic>
          <a:graphicData uri="http://schemas.openxmlformats.org/drawingml/2006/table">
            <a:tbl>
              <a:tblPr/>
              <a:tblGrid>
                <a:gridCol w="1132676"/>
                <a:gridCol w="1415845"/>
                <a:gridCol w="3681197"/>
                <a:gridCol w="1132676"/>
                <a:gridCol w="1415845"/>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차례</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활동</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시작 ≥ last_end ?</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count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last_end</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처음</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 4)</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 ≥ −∞ → 고름</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 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 ≥ 4 아님 → 건너뜀</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 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 ≥ 4 → 고름</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tr>
            </a:tbl>
          </a:graphicData>
        </a:graphic>
      </p:graphicFrame>
      <p:sp>
        <p:nvSpPr>
          <p:cNvPr id="36" name="직사각형 37"/>
          <p:cNvSpPr/>
          <p:nvPr/>
        </p:nvSpPr>
        <p:spPr>
          <a:xfrm>
            <a:off x="8503920" y="3621024"/>
            <a:ext cx="3017520" cy="292608"/>
          </a:xfrm>
          <a:prstGeom prst="rect">
            <a:avLst/>
          </a:prstGeom>
          <a:noFill/>
          <a:ln w="0">
            <a:noFill/>
          </a:ln>
        </p:spPr>
        <p:txBody>
          <a:bodyPr wrap="square" lIns="0" tIns="0" rIns="0" bIns="0" anchor="t">
            <a:noAutofit/>
          </a:bodyPr>
          <a:lstStyle/>
          <a:p>
            <a:pPr algn="ctr" eaLnBrk="0" latinLnBrk="0">
              <a:lnSpc>
                <a:spcPct val="100000"/>
              </a:lnSpc>
              <a:buNone/>
            </a:pPr>
            <a:r>
              <a:rPr lang="ko-KR" altLang="en-US" sz="1600" b="1" dirty="0">
                <a:solidFill>
                  <a:srgbClr val="0E8A7D"/>
                </a:solidFill>
                <a:latin typeface="Malgun Gothic"/>
                <a:ea typeface="Malgun Gothic"/>
                <a:cs typeface="Malgun Gothic"/>
              </a:rPr>
              <a:t>[1, 4)와 [4, 6)</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activity_count: 빈 목록은 0, 시간 O(n)</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59</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activity_count.pseudo</a:t>
            </a:r>
          </a:p>
        </p:txBody>
      </p:sp>
      <p:sp>
        <p:nvSpPr>
          <p:cNvPr id="10" name="직사각형 11"/>
          <p:cNvSpPr/>
          <p:nvPr/>
        </p:nvSpPr>
        <p:spPr>
          <a:xfrm>
            <a:off x="612648" y="1856232"/>
            <a:ext cx="10972800" cy="2176272"/>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600" b="0" dirty="0">
                <a:solidFill>
                  <a:srgbClr val="FFFFFF"/>
                </a:solidFill>
                <a:latin typeface="Consolas"/>
                <a:ea typeface="Consolas"/>
                <a:cs typeface="Consolas"/>
              </a:rPr>
              <a:t>ACTIVITY_COUNT(activities):     // 종료 시각 순으로 정렬되어 있다</a:t>
            </a:r>
          </a:p>
          <a:p>
            <a:pPr algn="l" eaLnBrk="0" latinLnBrk="0">
              <a:lnSpc>
                <a:spcPct val="100000"/>
              </a:lnSpc>
              <a:buNone/>
            </a:pPr>
            <a:r>
              <a:rPr lang="ko-KR" altLang="en-US" sz="1600" b="0" dirty="0">
                <a:solidFill>
                  <a:srgbClr val="FFFFFF"/>
                </a:solidFill>
                <a:latin typeface="Consolas"/>
                <a:ea typeface="Consolas"/>
                <a:cs typeface="Consolas"/>
              </a:rPr>
              <a:t>    count &lt;- 0</a:t>
            </a:r>
          </a:p>
          <a:p>
            <a:pPr algn="l" eaLnBrk="0" latinLnBrk="0">
              <a:lnSpc>
                <a:spcPct val="100000"/>
              </a:lnSpc>
              <a:buNone/>
            </a:pPr>
            <a:r>
              <a:rPr lang="ko-KR" altLang="en-US" sz="1600" b="0" dirty="0">
                <a:solidFill>
                  <a:srgbClr val="FFFFFF"/>
                </a:solidFill>
                <a:latin typeface="Consolas"/>
                <a:ea typeface="Consolas"/>
                <a:cs typeface="Consolas"/>
              </a:rPr>
              <a:t>    last_end &lt;- -∞</a:t>
            </a:r>
          </a:p>
          <a:p>
            <a:pPr algn="l" eaLnBrk="0" latinLnBrk="0">
              <a:lnSpc>
                <a:spcPct val="100000"/>
              </a:lnSpc>
              <a:buNone/>
            </a:pPr>
            <a:r>
              <a:rPr lang="ko-KR" altLang="en-US" sz="1600" b="0" dirty="0">
                <a:solidFill>
                  <a:srgbClr val="FFFFFF"/>
                </a:solidFill>
                <a:latin typeface="Consolas"/>
                <a:ea typeface="Consolas"/>
                <a:cs typeface="Consolas"/>
              </a:rPr>
              <a:t>    for (start, end) in activities:</a:t>
            </a:r>
          </a:p>
          <a:p>
            <a:pPr algn="l" eaLnBrk="0" latinLnBrk="0">
              <a:lnSpc>
                <a:spcPct val="100000"/>
              </a:lnSpc>
              <a:buNone/>
            </a:pPr>
            <a:r>
              <a:rPr lang="ko-KR" altLang="en-US" sz="1600" b="0" dirty="0">
                <a:solidFill>
                  <a:srgbClr val="FFFFFF"/>
                </a:solidFill>
                <a:latin typeface="Consolas"/>
                <a:ea typeface="Consolas"/>
                <a:cs typeface="Consolas"/>
              </a:rPr>
              <a:t>        if start &gt;= last_end:   // 끝나는 시각에 바로 시작해도 된다</a:t>
            </a:r>
          </a:p>
          <a:p>
            <a:pPr algn="l" eaLnBrk="0" latinLnBrk="0">
              <a:lnSpc>
                <a:spcPct val="100000"/>
              </a:lnSpc>
              <a:buNone/>
            </a:pPr>
            <a:r>
              <a:rPr lang="ko-KR" altLang="en-US" sz="1600" b="0" dirty="0">
                <a:solidFill>
                  <a:srgbClr val="FFFFFF"/>
                </a:solidFill>
                <a:latin typeface="Consolas"/>
                <a:ea typeface="Consolas"/>
                <a:cs typeface="Consolas"/>
              </a:rPr>
              <a:t>            count &lt;- count + 1</a:t>
            </a:r>
          </a:p>
          <a:p>
            <a:pPr algn="l" eaLnBrk="0" latinLnBrk="0">
              <a:lnSpc>
                <a:spcPct val="100000"/>
              </a:lnSpc>
              <a:buNone/>
            </a:pPr>
            <a:r>
              <a:rPr lang="ko-KR" altLang="en-US" sz="1600" b="0" dirty="0">
                <a:solidFill>
                  <a:srgbClr val="FFFFFF"/>
                </a:solidFill>
                <a:latin typeface="Consolas"/>
                <a:ea typeface="Consolas"/>
                <a:cs typeface="Consolas"/>
              </a:rPr>
              <a:t>            last_end &lt;- end</a:t>
            </a:r>
          </a:p>
          <a:p>
            <a:pPr algn="l" eaLnBrk="0" latinLnBrk="0">
              <a:lnSpc>
                <a:spcPct val="100000"/>
              </a:lnSpc>
              <a:buNone/>
            </a:pPr>
            <a:r>
              <a:rPr lang="ko-KR" altLang="en-US" sz="1600" b="0" dirty="0">
                <a:solidFill>
                  <a:srgbClr val="FFFFFF"/>
                </a:solidFill>
                <a:latin typeface="Consolas"/>
                <a:ea typeface="Consolas"/>
                <a:cs typeface="Consolas"/>
              </a:rPr>
              <a:t>    return count                // 빈 목록이면 0</a:t>
            </a:r>
          </a:p>
        </p:txBody>
      </p:sp>
      <p:sp>
        <p:nvSpPr>
          <p:cNvPr id="11" name="fit:86bbf8aba0a2d522 12"/>
          <p:cNvSpPr/>
          <p:nvPr/>
        </p:nvSpPr>
        <p:spPr>
          <a:xfrm>
            <a:off x="612648" y="4160520"/>
            <a:ext cx="10972800" cy="56692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빈 목록.</a:t>
            </a:r>
            <a:r>
              <a:rPr lang="ko-KR" altLang="en-US" sz="1700" b="0" dirty="0">
                <a:solidFill>
                  <a:srgbClr val="171717"/>
                </a:solidFill>
                <a:latin typeface="Malgun Gothic"/>
                <a:ea typeface="Malgun Gothic"/>
                <a:cs typeface="Malgun Gothic"/>
              </a:rPr>
              <a:t> for 문이 한 번도 돌지 않아 count = 0을 그대로 돌려줍니다.</a:t>
            </a:r>
          </a:p>
          <a:p>
            <a:pPr algn="l" eaLnBrk="0" latinLnBrk="0">
              <a:lnSpc>
                <a:spcPct val="105000"/>
              </a:lnSpc>
              <a:buNone/>
            </a:pPr>
            <a:r>
              <a:rPr lang="ko-KR" altLang="en-US" sz="1700" b="0" dirty="0">
                <a:solidFill>
                  <a:srgbClr val="171717"/>
                </a:solidFill>
                <a:latin typeface="Malgun Gothic"/>
                <a:ea typeface="Malgun Gothic"/>
                <a:cs typeface="Malgun Gothic"/>
              </a:rPr>
              <a:t>목록[0]을 먼저 넣는 방식은 빈 목록에서 오류가 납니다.</a:t>
            </a:r>
          </a:p>
        </p:txBody>
      </p:sp>
      <p:sp>
        <p:nvSpPr>
          <p:cNvPr id="12" name="fit:8e43e66e984d5a59 13"/>
          <p:cNvSpPr/>
          <p:nvPr/>
        </p:nvSpPr>
        <p:spPr>
          <a:xfrm>
            <a:off x="612648" y="4855464"/>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시각이 0 이상으로 주어지면</a:t>
            </a:r>
            <a:r>
              <a:rPr lang="ko-KR" altLang="en-US" sz="1700" b="0" dirty="0">
                <a:solidFill>
                  <a:srgbClr val="171717"/>
                </a:solidFill>
                <a:latin typeface="Malgun Gothic"/>
                <a:ea typeface="Malgun Gothic"/>
                <a:cs typeface="Malgun Gothic"/>
              </a:rPr>
              <a:t> last_end를 0으로 시작해도 됩니다. 첫 활동이 그대로 통과합니다.</a:t>
            </a:r>
          </a:p>
        </p:txBody>
      </p:sp>
      <p:sp>
        <p:nvSpPr>
          <p:cNvPr id="13" name="fit:9ef1dd0543a4a073 14"/>
          <p:cNvSpPr/>
          <p:nvPr/>
        </p:nvSpPr>
        <p:spPr>
          <a:xfrm>
            <a:off x="612648" y="5276088"/>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시간 복잡도.</a:t>
            </a:r>
            <a:r>
              <a:rPr lang="ko-KR" altLang="en-US" sz="1700" b="0" dirty="0">
                <a:solidFill>
                  <a:srgbClr val="171717"/>
                </a:solidFill>
                <a:latin typeface="Malgun Gothic"/>
                <a:ea typeface="Malgun Gothic"/>
                <a:cs typeface="Malgun Gothic"/>
              </a:rPr>
              <a:t> 정렬된 입력을 한 번 훑으므로 O(n), 직접 정렬부터 하면 O(n log n)입니다.</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확인: 활동 선택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60</a:t>
            </a:r>
          </a:p>
        </p:txBody>
      </p:sp>
      <p:sp>
        <p:nvSpPr>
          <p:cNvPr id="9" name="fit:d0c6c25f9ee75751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① 회의 [1, 4), [2, 3), [3, 5), [5, 6)을 종료 시각 순 그리디로 고르세요.</a:t>
            </a:r>
          </a:p>
          <a:p>
            <a:pPr algn="l" eaLnBrk="0" latinLnBrk="0">
              <a:lnSpc>
                <a:spcPct val="105000"/>
              </a:lnSpc>
              <a:buNone/>
            </a:pPr>
            <a:r>
              <a:rPr lang="ko-KR" altLang="en-US" sz="2025" b="0" dirty="0">
                <a:solidFill>
                  <a:srgbClr val="171717"/>
                </a:solidFill>
                <a:latin typeface="Malgun Gothic"/>
                <a:ea typeface="Malgun Gothic"/>
                <a:cs typeface="Malgun Gothic"/>
              </a:rPr>
              <a:t>    고른 회의와 개수는?</a:t>
            </a:r>
          </a:p>
        </p:txBody>
      </p:sp>
      <p:sp>
        <p:nvSpPr>
          <p:cNvPr id="10" name="fit:69d1614951ad6f4f 11"/>
          <p:cNvSpPr/>
          <p:nvPr/>
        </p:nvSpPr>
        <p:spPr>
          <a:xfrm>
            <a:off x="612648" y="2432304"/>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② '시작이 빠른 순' 그리디가 틀리는 예를 활동 3개로 만들어 보세요.</a:t>
            </a:r>
          </a:p>
          <a:p>
            <a:pPr algn="l" eaLnBrk="0" latinLnBrk="0">
              <a:lnSpc>
                <a:spcPct val="105000"/>
              </a:lnSpc>
              <a:buNone/>
            </a:pPr>
            <a:r>
              <a:rPr lang="ko-KR" altLang="en-US" sz="2025" b="0" dirty="0">
                <a:solidFill>
                  <a:srgbClr val="171717"/>
                </a:solidFill>
                <a:latin typeface="Malgun Gothic"/>
                <a:ea typeface="Malgun Gothic"/>
                <a:cs typeface="Malgun Gothic"/>
              </a:rPr>
              <a:t>    강의와 다른 숫자로, 그리디의 결과와 최대 개수를 함께 쓰세요.</a:t>
            </a:r>
          </a:p>
        </p:txBody>
      </p:sp>
      <p:sp>
        <p:nvSpPr>
          <p:cNvPr id="11" name="fit:5f28a25984f1fd65 12"/>
          <p:cNvSpPr/>
          <p:nvPr/>
        </p:nvSpPr>
        <p:spPr>
          <a:xfrm>
            <a:off x="612648" y="3227832"/>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③ [2, 4)와 [4, 7)은 함께 고를 수 있습니까? [시작, 종료) 표기로 설명해 보세요.</a:t>
            </a:r>
          </a:p>
        </p:txBody>
      </p:sp>
      <p:sp>
        <p:nvSpPr>
          <p:cNvPr id="12" name="fit:d93234d8a72a6cc3 13"/>
          <p:cNvSpPr/>
          <p:nvPr/>
        </p:nvSpPr>
        <p:spPr>
          <a:xfrm>
            <a:off x="612648" y="36941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④ activity_count에 빈 목록을 넣으면 무엇을 돌려줍니까? 그 이유는?</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61</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5.4</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배낭 문제</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보물을 쪼갤 수 있느냐 없느냐,</a:t>
            </a:r>
          </a:p>
          <a:p>
            <a:pPr algn="l" eaLnBrk="0" latinLnBrk="0">
              <a:lnSpc>
                <a:spcPct val="110000"/>
              </a:lnSpc>
              <a:buNone/>
            </a:pPr>
            <a:r>
              <a:rPr lang="ko-KR" altLang="en-US" sz="1800" b="0" dirty="0">
                <a:solidFill>
                  <a:srgbClr val="BBBBBB"/>
                </a:solidFill>
                <a:latin typeface="Malgun Gothic"/>
                <a:ea typeface="Malgun Gothic"/>
                <a:cs typeface="Malgun Gothic"/>
              </a:rPr>
              <a:t>그 차이 하나로 그리디의 결과가 갈립니다.</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배낭 문제: 용량 안에서 가치를 최대로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62</a:t>
            </a:r>
          </a:p>
        </p:txBody>
      </p:sp>
      <p:sp>
        <p:nvSpPr>
          <p:cNvPr id="9" name="fit:862437d58731c9b9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용량이 정해진 배낭에 보물을 담습니다. 담은 무게의 합이 용량을 넘지 않게 하면서</a:t>
            </a:r>
          </a:p>
          <a:p>
            <a:pPr algn="l" eaLnBrk="0" latinLnBrk="0">
              <a:lnSpc>
                <a:spcPct val="105000"/>
              </a:lnSpc>
              <a:buNone/>
            </a:pPr>
            <a:r>
              <a:rPr lang="ko-KR" altLang="en-US" sz="2025" b="0" dirty="0">
                <a:solidFill>
                  <a:srgbClr val="171717"/>
                </a:solidFill>
                <a:latin typeface="Malgun Gothic"/>
                <a:ea typeface="Malgun Gothic"/>
                <a:cs typeface="Malgun Gothic"/>
              </a:rPr>
              <a:t>가치의 합을 가장 크게 만드는 문제가 </a:t>
            </a:r>
            <a:r>
              <a:rPr lang="ko-KR" altLang="en-US" sz="2025" b="1" dirty="0">
                <a:solidFill>
                  <a:srgbClr val="171717"/>
                </a:solidFill>
                <a:latin typeface="Malgun Gothic"/>
                <a:ea typeface="Malgun Gothic"/>
                <a:cs typeface="Malgun Gothic"/>
              </a:rPr>
              <a:t>배낭 문제</a:t>
            </a:r>
            <a:r>
              <a:rPr lang="ko-KR" altLang="en-US" sz="2025" b="0" dirty="0">
                <a:solidFill>
                  <a:srgbClr val="171717"/>
                </a:solidFill>
                <a:latin typeface="Malgun Gothic"/>
                <a:ea typeface="Malgun Gothic"/>
                <a:cs typeface="Malgun Gothic"/>
              </a:rPr>
              <a:t>(knapsack problem)입니다.</a:t>
            </a:r>
          </a:p>
        </p:txBody>
      </p:sp>
      <p:graphicFrame>
        <p:nvGraphicFramePr>
          <p:cNvPr id="10" name="표 11"/>
          <p:cNvGraphicFramePr>
            <a:graphicFrameLocks noGrp="1"/>
          </p:cNvGraphicFramePr>
          <p:nvPr/>
        </p:nvGraphicFramePr>
        <p:xfrm>
          <a:off x="612648" y="2432304"/>
          <a:ext cx="10972800" cy="1463040"/>
        </p:xfrm>
        <a:graphic>
          <a:graphicData uri="http://schemas.openxmlformats.org/drawingml/2006/table">
            <a:tbl>
              <a:tblPr/>
              <a:tblGrid>
                <a:gridCol w="3657600"/>
                <a:gridCol w="3657600"/>
                <a:gridCol w="3657600"/>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가치</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14,000 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9,000 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9,000 G</a:t>
                      </a:r>
                    </a:p>
                  </a:txBody>
                  <a:tcPr marL="54864" marR="54864" marT="18288" marB="18288" anchor="ctr">
                    <a:solidFill>
                      <a:srgbClr val="FFFFFF"/>
                    </a:solidFill>
                  </a:tcPr>
                </a:tc>
              </a:tr>
            </a:tbl>
          </a:graphicData>
        </a:graphic>
      </p:graphicFrame>
      <p:sp>
        <p:nvSpPr>
          <p:cNvPr id="11" name="fit:450fd5583941906e 12"/>
          <p:cNvSpPr/>
          <p:nvPr/>
        </p:nvSpPr>
        <p:spPr>
          <a:xfrm>
            <a:off x="612648" y="4041648"/>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배낭 용량은 </a:t>
            </a:r>
            <a:r>
              <a:rPr lang="ko-KR" altLang="en-US" sz="1800" b="1" dirty="0">
                <a:solidFill>
                  <a:srgbClr val="171717"/>
                </a:solidFill>
                <a:latin typeface="Malgun Gothic"/>
                <a:ea typeface="Malgun Gothic"/>
                <a:cs typeface="Malgun Gothic"/>
              </a:rPr>
              <a:t>30kg</a:t>
            </a:r>
            <a:r>
              <a:rPr lang="ko-KR" altLang="en-US" sz="1800" b="0" dirty="0">
                <a:solidFill>
                  <a:srgbClr val="171717"/>
                </a:solidFill>
                <a:latin typeface="Malgun Gothic"/>
                <a:ea typeface="Malgun Gothic"/>
                <a:cs typeface="Malgun Gothic"/>
              </a:rPr>
              <a:t>입니다. G(골드)는 가치의 단위입니다.</a:t>
            </a:r>
          </a:p>
        </p:txBody>
      </p:sp>
      <p:sp>
        <p:nvSpPr>
          <p:cNvPr id="12" name="fit:a33c8ab66029f3d0 13"/>
          <p:cNvSpPr/>
          <p:nvPr/>
        </p:nvSpPr>
        <p:spPr>
          <a:xfrm>
            <a:off x="612648" y="448056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쪼갤 수 있다 → 분할 배낭 (fractional knapsack)</a:t>
            </a:r>
          </a:p>
        </p:txBody>
      </p:sp>
      <p:sp>
        <p:nvSpPr>
          <p:cNvPr id="13" name="fit:9547d137e73e1312 14"/>
          <p:cNvSpPr/>
          <p:nvPr/>
        </p:nvSpPr>
        <p:spPr>
          <a:xfrm>
            <a:off x="795528" y="480974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가루처럼 원하는 만큼 덜어 담을 수 있습니다.</a:t>
            </a:r>
          </a:p>
        </p:txBody>
      </p:sp>
      <p:sp>
        <p:nvSpPr>
          <p:cNvPr id="14" name="fit:d1fad72c8dd62eb6 15"/>
          <p:cNvSpPr/>
          <p:nvPr/>
        </p:nvSpPr>
        <p:spPr>
          <a:xfrm>
            <a:off x="612648" y="519379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쪼갤 수 없다 → 0/1 배낭 (0/1 knapsack)</a:t>
            </a:r>
          </a:p>
        </p:txBody>
      </p:sp>
      <p:sp>
        <p:nvSpPr>
          <p:cNvPr id="15" name="fit:c60bf719cb2d90ac 16"/>
          <p:cNvSpPr/>
          <p:nvPr/>
        </p:nvSpPr>
        <p:spPr>
          <a:xfrm>
            <a:off x="795528" y="552297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통째로 담거나(1) 아예 담지 않습니다(0).</a:t>
            </a:r>
          </a:p>
        </p:txBody>
      </p:sp>
      <p:sp>
        <p:nvSpPr>
          <p:cNvPr id="16" name="fit:05795517b7c9e444 17"/>
          <p:cNvSpPr/>
          <p:nvPr/>
        </p:nvSpPr>
        <p:spPr>
          <a:xfrm>
            <a:off x="612648" y="590702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이 절은 분할 배낭을 끝까지 본 다음, 같은 숫자로 0/1 배낭을 봅니다.</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무게당 가치(가성비) 순으로 정렬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63</a:t>
            </a:r>
          </a:p>
        </p:txBody>
      </p:sp>
      <p:sp>
        <p:nvSpPr>
          <p:cNvPr id="9" name="fit:2cf17bfdeb73cd6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1kg에 얼마인지, 즉 무게당 가치를 구해</a:t>
            </a:r>
          </a:p>
          <a:p>
            <a:pPr algn="l" eaLnBrk="0" latinLnBrk="0">
              <a:lnSpc>
                <a:spcPct val="100000"/>
              </a:lnSpc>
              <a:buNone/>
            </a:pPr>
            <a:r>
              <a:rPr lang="ko-KR" altLang="en-US" sz="2025" b="0" dirty="0">
                <a:solidFill>
                  <a:srgbClr val="171717"/>
                </a:solidFill>
                <a:latin typeface="Malgun Gothic"/>
                <a:ea typeface="Malgun Gothic"/>
                <a:cs typeface="Malgun Gothic"/>
              </a:rPr>
              <a:t>높은 순서로 세웁니다. 코드에서는 ratio라고 부릅니다.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62fba806253ece12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무게당 가치 = 가치 ÷ 무게</a:t>
            </a:r>
          </a:p>
        </p:txBody>
      </p:sp>
      <p:sp>
        <p:nvSpPr>
          <p:cNvPr id="12" name="fit:2f2c5603d15b9106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14,000 ÷ 20 = 700</a:t>
            </a:r>
          </a:p>
        </p:txBody>
      </p:sp>
      <p:sp>
        <p:nvSpPr>
          <p:cNvPr id="13" name="fit:0be6f459dd803282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B: 9,000 ÷ 15 = 600</a:t>
            </a:r>
          </a:p>
        </p:txBody>
      </p:sp>
      <p:sp>
        <p:nvSpPr>
          <p:cNvPr id="14" name="fit:37cd234b136c2203 15"/>
          <p:cNvSpPr/>
          <p:nvPr/>
        </p:nvSpPr>
        <p:spPr>
          <a:xfrm>
            <a:off x="7909560" y="39502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C: 9,000 ÷ 15 = 600</a:t>
            </a:r>
          </a:p>
        </p:txBody>
      </p:sp>
      <p:sp>
        <p:nvSpPr>
          <p:cNvPr id="15" name="fit:32c01cf4315438bd 16"/>
          <p:cNvSpPr/>
          <p:nvPr/>
        </p:nvSpPr>
        <p:spPr>
          <a:xfrm>
            <a:off x="7909560" y="4343400"/>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순서: A → B → C</a:t>
            </a:r>
          </a:p>
        </p:txBody>
      </p:sp>
      <p:sp>
        <p:nvSpPr>
          <p:cNvPr id="16" name="fit:9768b63315f77b34 17"/>
          <p:cNvSpPr/>
          <p:nvPr/>
        </p:nvSpPr>
        <p:spPr>
          <a:xfrm>
            <a:off x="7909560" y="4800600"/>
            <a:ext cx="3666744" cy="448056"/>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B와 C는 같으므로</a:t>
            </a:r>
          </a:p>
          <a:p>
            <a:pPr algn="l" eaLnBrk="0" latinLnBrk="0">
              <a:lnSpc>
                <a:spcPct val="100000"/>
              </a:lnSpc>
              <a:buNone/>
            </a:pPr>
            <a:r>
              <a:rPr lang="ko-KR" altLang="en-US" sz="1350" b="0" dirty="0">
                <a:solidFill>
                  <a:srgbClr val="3F3F3F"/>
                </a:solidFill>
                <a:latin typeface="Malgun Gothic"/>
                <a:ea typeface="Malgun Gothic"/>
                <a:cs typeface="Malgun Gothic"/>
              </a:rPr>
              <a:t>입력 순서대로 B를 먼저 봅니다.</a:t>
            </a:r>
          </a:p>
        </p:txBody>
      </p:sp>
      <p:sp>
        <p:nvSpPr>
          <p:cNvPr id="17" name="직사각형 18"/>
          <p:cNvSpPr/>
          <p:nvPr/>
        </p:nvSpPr>
        <p:spPr>
          <a:xfrm>
            <a:off x="612648" y="4754880"/>
            <a:ext cx="6583680" cy="512064"/>
          </a:xfrm>
          <a:prstGeom prst="rect">
            <a:avLst/>
          </a:prstGeom>
          <a:solidFill>
            <a:srgbClr val="F2F2F2"/>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0" dirty="0">
                <a:solidFill>
                  <a:srgbClr val="606060"/>
                </a:solidFill>
                <a:latin typeface="Malgun Gothic"/>
                <a:ea typeface="Malgun Gothic"/>
                <a:cs typeface="Malgun Gothic"/>
              </a:rPr>
              <a:t>빈 공간 30kg</a:t>
            </a:r>
          </a:p>
        </p:txBody>
      </p:sp>
      <p:graphicFrame>
        <p:nvGraphicFramePr>
          <p:cNvPr id="18" name="표 19"/>
          <p:cNvGraphicFramePr>
            <a:graphicFrameLocks noGrp="1"/>
          </p:cNvGraphicFramePr>
          <p:nvPr/>
        </p:nvGraphicFramePr>
        <p:xfrm>
          <a:off x="612648" y="2651760"/>
          <a:ext cx="6583680" cy="1316736"/>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700 G/kg</a:t>
                      </a:r>
                    </a:p>
                  </a:txBody>
                  <a:tcPr marL="54864" marR="54864" marT="18288" marB="18288" anchor="ctr">
                    <a:solidFill>
                      <a:srgbClr val="FFF1C2"/>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 G/kg</a:t>
                      </a:r>
                    </a:p>
                  </a:txBody>
                  <a:tcPr marL="54864" marR="54864" marT="18288" marB="18288" anchor="ctr">
                    <a:solidFill>
                      <a:srgbClr val="FFF1C2"/>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 G/kg</a:t>
                      </a:r>
                    </a:p>
                  </a:txBody>
                  <a:tcPr marL="54864" marR="54864" marT="18288" marB="18288" anchor="ctr">
                    <a:solidFill>
                      <a:srgbClr val="FFF1C2"/>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r>
            </a:tbl>
          </a:graphicData>
        </a:graphic>
      </p:graphicFrame>
      <p:sp>
        <p:nvSpPr>
          <p:cNvPr id="19" name="직사각형 20"/>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정렬 기준인 무게당 가치    회색 막대: 비어 있는 배낭</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A · 20kg 전부 담기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64</a:t>
            </a:r>
          </a:p>
        </p:txBody>
      </p:sp>
      <p:sp>
        <p:nvSpPr>
          <p:cNvPr id="9" name="fit:81bc57ac1d169908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A는 20kg이고 남은 용량은 30kg입니다.</a:t>
            </a:r>
          </a:p>
          <a:p>
            <a:pPr algn="l" eaLnBrk="0" latinLnBrk="0">
              <a:lnSpc>
                <a:spcPct val="100000"/>
              </a:lnSpc>
              <a:buNone/>
            </a:pPr>
            <a:r>
              <a:rPr lang="ko-KR" altLang="en-US" sz="2025" b="0" dirty="0">
                <a:solidFill>
                  <a:srgbClr val="171717"/>
                </a:solidFill>
                <a:latin typeface="Malgun Gothic"/>
                <a:ea typeface="Malgun Gothic"/>
                <a:cs typeface="Malgun Gothic"/>
              </a:rPr>
              <a:t>20 ≤ 30이므로 통째로 담습니다.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9666cf7c8f435665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1" dirty="0">
                <a:solidFill>
                  <a:srgbClr val="171717"/>
                </a:solidFill>
                <a:latin typeface="Malgun Gothic"/>
                <a:ea typeface="Malgun Gothic"/>
                <a:cs typeface="Malgun Gothic"/>
              </a:rPr>
              <a:t>적정성 검사</a:t>
            </a:r>
            <a:r>
              <a:rPr lang="ko-KR" altLang="en-US" sz="1500" b="0" dirty="0">
                <a:solidFill>
                  <a:srgbClr val="171717"/>
                </a:solidFill>
                <a:latin typeface="Malgun Gothic"/>
                <a:ea typeface="Malgun Gothic"/>
                <a:cs typeface="Malgun Gothic"/>
              </a:rPr>
              <a:t>: 20kg ≤ 남은 30kg</a:t>
            </a:r>
          </a:p>
        </p:txBody>
      </p:sp>
      <p:sp>
        <p:nvSpPr>
          <p:cNvPr id="12" name="fit:37576c47df5e5a5f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 통째로 담습니다.</a:t>
            </a:r>
          </a:p>
        </p:txBody>
      </p:sp>
      <p:sp>
        <p:nvSpPr>
          <p:cNvPr id="13" name="fit:34cde7a22b2b65a9 14"/>
          <p:cNvSpPr/>
          <p:nvPr/>
        </p:nvSpPr>
        <p:spPr>
          <a:xfrm>
            <a:off x="7909560" y="37216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남은 용량</a:t>
            </a:r>
          </a:p>
        </p:txBody>
      </p:sp>
      <p:sp>
        <p:nvSpPr>
          <p:cNvPr id="14" name="fit:ade7c84054d394f9 15"/>
          <p:cNvSpPr/>
          <p:nvPr/>
        </p:nvSpPr>
        <p:spPr>
          <a:xfrm>
            <a:off x="7909560" y="400507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30 − 20 = 10kg</a:t>
            </a:r>
          </a:p>
        </p:txBody>
      </p:sp>
      <p:sp>
        <p:nvSpPr>
          <p:cNvPr id="15" name="fit:28b4ae6784b87cfd 16"/>
          <p:cNvSpPr/>
          <p:nvPr/>
        </p:nvSpPr>
        <p:spPr>
          <a:xfrm>
            <a:off x="7909560" y="44988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가치 합</a:t>
            </a:r>
          </a:p>
        </p:txBody>
      </p:sp>
      <p:sp>
        <p:nvSpPr>
          <p:cNvPr id="16" name="fit:7ead979799811c58 17"/>
          <p:cNvSpPr/>
          <p:nvPr/>
        </p:nvSpPr>
        <p:spPr>
          <a:xfrm>
            <a:off x="7909560" y="478231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14,000 G</a:t>
            </a:r>
          </a:p>
        </p:txBody>
      </p:sp>
      <p:sp>
        <p:nvSpPr>
          <p:cNvPr id="17" name="직사각형 18"/>
          <p:cNvSpPr/>
          <p:nvPr/>
        </p:nvSpPr>
        <p:spPr>
          <a:xfrm>
            <a:off x="612648" y="4754880"/>
            <a:ext cx="4389120"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20kg</a:t>
            </a:r>
          </a:p>
        </p:txBody>
      </p:sp>
      <p:sp>
        <p:nvSpPr>
          <p:cNvPr id="18" name="직사각형 19"/>
          <p:cNvSpPr/>
          <p:nvPr/>
        </p:nvSpPr>
        <p:spPr>
          <a:xfrm>
            <a:off x="5001768" y="4754880"/>
            <a:ext cx="2194560" cy="512064"/>
          </a:xfrm>
          <a:prstGeom prst="rect">
            <a:avLst/>
          </a:prstGeom>
          <a:solidFill>
            <a:srgbClr val="F2F2F2"/>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0" dirty="0">
                <a:solidFill>
                  <a:srgbClr val="606060"/>
                </a:solidFill>
                <a:latin typeface="Malgun Gothic"/>
                <a:ea typeface="Malgun Gothic"/>
                <a:cs typeface="Malgun Gothic"/>
              </a:rPr>
              <a:t>빈 공간 10kg</a:t>
            </a:r>
          </a:p>
        </p:txBody>
      </p:sp>
      <p:graphicFrame>
        <p:nvGraphicFramePr>
          <p:cNvPr id="19" name="표 20"/>
          <p:cNvGraphicFramePr>
            <a:graphicFrameLocks noGrp="1"/>
          </p:cNvGraphicFramePr>
          <p:nvPr/>
        </p:nvGraphicFramePr>
        <p:xfrm>
          <a:off x="612648" y="2651760"/>
          <a:ext cx="6583680" cy="1316736"/>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700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20kg</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14,000 G</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r>
            </a:tbl>
          </a:graphicData>
        </a:graphic>
      </p:graphicFrame>
      <p:sp>
        <p:nvSpPr>
          <p:cNvPr id="20" name="직사각형 21"/>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회색: 남은 빈 공간</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③ B · 남은 10kg만 덜어 담기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65</a:t>
            </a:r>
          </a:p>
        </p:txBody>
      </p:sp>
      <p:sp>
        <p:nvSpPr>
          <p:cNvPr id="9" name="fit:f5129065688d76ed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B는 15kg인데 남은 용량은 10kg입니다.</a:t>
            </a:r>
          </a:p>
          <a:p>
            <a:pPr algn="l" eaLnBrk="0" latinLnBrk="0">
              <a:lnSpc>
                <a:spcPct val="100000"/>
              </a:lnSpc>
              <a:buNone/>
            </a:pPr>
            <a:r>
              <a:rPr lang="ko-KR" altLang="en-US" sz="2025" b="0" dirty="0">
                <a:solidFill>
                  <a:srgbClr val="171717"/>
                </a:solidFill>
                <a:latin typeface="Malgun Gothic"/>
                <a:ea typeface="Malgun Gothic"/>
                <a:cs typeface="Malgun Gothic"/>
              </a:rPr>
              <a:t>통째로는 들어가지 않으니 10kg만 덜어 담습니다.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1986514e9663df55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1" dirty="0">
                <a:solidFill>
                  <a:srgbClr val="171717"/>
                </a:solidFill>
                <a:latin typeface="Malgun Gothic"/>
                <a:ea typeface="Malgun Gothic"/>
                <a:cs typeface="Malgun Gothic"/>
              </a:rPr>
              <a:t>적정성 검사</a:t>
            </a:r>
            <a:r>
              <a:rPr lang="ko-KR" altLang="en-US" sz="1500" b="0" dirty="0">
                <a:solidFill>
                  <a:srgbClr val="171717"/>
                </a:solidFill>
                <a:latin typeface="Malgun Gothic"/>
                <a:ea typeface="Malgun Gothic"/>
                <a:cs typeface="Malgun Gothic"/>
              </a:rPr>
              <a:t>: 15kg &gt; 남은 10kg</a:t>
            </a:r>
          </a:p>
        </p:txBody>
      </p:sp>
      <p:sp>
        <p:nvSpPr>
          <p:cNvPr id="12" name="fit:e351b649f3bd1383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 10kg만 덜어 담습니다.</a:t>
            </a:r>
          </a:p>
        </p:txBody>
      </p:sp>
      <p:sp>
        <p:nvSpPr>
          <p:cNvPr id="13" name="fit:26b94a9b92c36315 14"/>
          <p:cNvSpPr/>
          <p:nvPr/>
        </p:nvSpPr>
        <p:spPr>
          <a:xfrm>
            <a:off x="7909560" y="37033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덜어 담는 비율</a:t>
            </a:r>
          </a:p>
        </p:txBody>
      </p:sp>
      <p:sp>
        <p:nvSpPr>
          <p:cNvPr id="14" name="fit:09c523416fbfc1bc 15"/>
          <p:cNvSpPr/>
          <p:nvPr/>
        </p:nvSpPr>
        <p:spPr>
          <a:xfrm>
            <a:off x="7909560" y="398678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10 ÷ 15 = 2/3</a:t>
            </a:r>
          </a:p>
        </p:txBody>
      </p:sp>
      <p:sp>
        <p:nvSpPr>
          <p:cNvPr id="15" name="fit:0a9aa311cef7cca1 16"/>
          <p:cNvSpPr/>
          <p:nvPr/>
        </p:nvSpPr>
        <p:spPr>
          <a:xfrm>
            <a:off x="7909560" y="446227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얻는 가치</a:t>
            </a:r>
          </a:p>
        </p:txBody>
      </p:sp>
      <p:sp>
        <p:nvSpPr>
          <p:cNvPr id="16" name="fit:23ff4650ee973db0 17"/>
          <p:cNvSpPr/>
          <p:nvPr/>
        </p:nvSpPr>
        <p:spPr>
          <a:xfrm>
            <a:off x="7909560" y="474573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9,000 × 2/3 = 6,000 G</a:t>
            </a:r>
          </a:p>
        </p:txBody>
      </p:sp>
      <p:sp>
        <p:nvSpPr>
          <p:cNvPr id="17" name="fit:af43d76779ca7aee 18"/>
          <p:cNvSpPr/>
          <p:nvPr/>
        </p:nvSpPr>
        <p:spPr>
          <a:xfrm>
            <a:off x="7909560" y="5129784"/>
            <a:ext cx="3666744" cy="24688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 10kg × 600 G/kg</a:t>
            </a:r>
          </a:p>
        </p:txBody>
      </p:sp>
      <p:sp>
        <p:nvSpPr>
          <p:cNvPr id="18" name="직사각형 19"/>
          <p:cNvSpPr/>
          <p:nvPr/>
        </p:nvSpPr>
        <p:spPr>
          <a:xfrm>
            <a:off x="612648" y="4754880"/>
            <a:ext cx="4389120"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20kg</a:t>
            </a:r>
          </a:p>
        </p:txBody>
      </p:sp>
      <p:sp>
        <p:nvSpPr>
          <p:cNvPr id="19" name="직사각형 20"/>
          <p:cNvSpPr/>
          <p:nvPr/>
        </p:nvSpPr>
        <p:spPr>
          <a:xfrm>
            <a:off x="5001768" y="4754880"/>
            <a:ext cx="2194560"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10kg</a:t>
            </a:r>
          </a:p>
        </p:txBody>
      </p:sp>
      <p:graphicFrame>
        <p:nvGraphicFramePr>
          <p:cNvPr id="20" name="표 21"/>
          <p:cNvGraphicFramePr>
            <a:graphicFrameLocks noGrp="1"/>
          </p:cNvGraphicFramePr>
          <p:nvPr/>
        </p:nvGraphicFramePr>
        <p:xfrm>
          <a:off x="612648" y="2651760"/>
          <a:ext cx="6583680" cy="1316736"/>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700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20kg</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14,000 G</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10kg (2/3)</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6,000 G</a:t>
                      </a:r>
                    </a:p>
                  </a:txBody>
                  <a:tcPr marL="54864" marR="54864" marT="18288" marB="18288" anchor="ctr">
                    <a:solidFill>
                      <a:srgbClr val="DDF1E4"/>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r>
            </a:tbl>
          </a:graphicData>
        </a:graphic>
      </p:graphicFrame>
      <p:sp>
        <p:nvSpPr>
          <p:cNvPr id="21" name="직사각형 22"/>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2" name="직사각형 2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④ 배낭이 가득 참 · 20,000 G</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66</a:t>
            </a:r>
          </a:p>
        </p:txBody>
      </p:sp>
      <p:sp>
        <p:nvSpPr>
          <p:cNvPr id="9" name="fit:0650fabf608fea2f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남은 용량이 0이 되었으므로 끝냅니다.</a:t>
            </a:r>
          </a:p>
          <a:p>
            <a:pPr algn="l" eaLnBrk="0" latinLnBrk="0">
              <a:lnSpc>
                <a:spcPct val="100000"/>
              </a:lnSpc>
              <a:buNone/>
            </a:pPr>
            <a:r>
              <a:rPr lang="ko-KR" altLang="en-US" sz="2025" b="0" dirty="0">
                <a:solidFill>
                  <a:srgbClr val="171717"/>
                </a:solidFill>
                <a:latin typeface="Malgun Gothic"/>
                <a:ea typeface="Malgun Gothic"/>
                <a:cs typeface="Malgun Gothic"/>
              </a:rPr>
              <a:t>C는 확인할 필요가 없습니다.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5ce85bb68e59b304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1" dirty="0">
                <a:solidFill>
                  <a:srgbClr val="171717"/>
                </a:solidFill>
                <a:latin typeface="Malgun Gothic"/>
                <a:ea typeface="Malgun Gothic"/>
                <a:cs typeface="Malgun Gothic"/>
              </a:rPr>
              <a:t>해답 검사</a:t>
            </a:r>
            <a:r>
              <a:rPr lang="ko-KR" altLang="en-US" sz="1500" b="0" dirty="0">
                <a:solidFill>
                  <a:srgbClr val="171717"/>
                </a:solidFill>
                <a:latin typeface="Malgun Gothic"/>
                <a:ea typeface="Malgun Gothic"/>
                <a:cs typeface="Malgun Gothic"/>
              </a:rPr>
              <a:t>: 남은 용량 0</a:t>
            </a:r>
          </a:p>
        </p:txBody>
      </p:sp>
      <p:sp>
        <p:nvSpPr>
          <p:cNvPr id="12" name="fit:da94e773ae0ea307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 반복을 끝냅니다.</a:t>
            </a:r>
          </a:p>
        </p:txBody>
      </p:sp>
      <p:sp>
        <p:nvSpPr>
          <p:cNvPr id="13" name="fit:b75c099cdbc0665d 14"/>
          <p:cNvSpPr/>
          <p:nvPr/>
        </p:nvSpPr>
        <p:spPr>
          <a:xfrm>
            <a:off x="7909560" y="37216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무게 합</a:t>
            </a:r>
          </a:p>
        </p:txBody>
      </p:sp>
      <p:sp>
        <p:nvSpPr>
          <p:cNvPr id="14" name="fit:46da64d1f3a715b4 15"/>
          <p:cNvSpPr/>
          <p:nvPr/>
        </p:nvSpPr>
        <p:spPr>
          <a:xfrm>
            <a:off x="7909560" y="400507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20 + 10 = 30kg</a:t>
            </a:r>
          </a:p>
        </p:txBody>
      </p:sp>
      <p:sp>
        <p:nvSpPr>
          <p:cNvPr id="15" name="fit:28b4ae6784b87cfd 16"/>
          <p:cNvSpPr/>
          <p:nvPr/>
        </p:nvSpPr>
        <p:spPr>
          <a:xfrm>
            <a:off x="7909560" y="44988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가치 합</a:t>
            </a:r>
          </a:p>
        </p:txBody>
      </p:sp>
      <p:sp>
        <p:nvSpPr>
          <p:cNvPr id="16" name="fit:f75d2567b17ea90b 17"/>
          <p:cNvSpPr/>
          <p:nvPr/>
        </p:nvSpPr>
        <p:spPr>
          <a:xfrm>
            <a:off x="7909560" y="478231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14,000 + 6,000 = 20,000 G</a:t>
            </a:r>
          </a:p>
        </p:txBody>
      </p:sp>
      <p:sp>
        <p:nvSpPr>
          <p:cNvPr id="17" name="직사각형 18"/>
          <p:cNvSpPr/>
          <p:nvPr/>
        </p:nvSpPr>
        <p:spPr>
          <a:xfrm>
            <a:off x="612648" y="4754880"/>
            <a:ext cx="4389120"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20kg</a:t>
            </a:r>
          </a:p>
        </p:txBody>
      </p:sp>
      <p:sp>
        <p:nvSpPr>
          <p:cNvPr id="18" name="직사각형 19"/>
          <p:cNvSpPr/>
          <p:nvPr/>
        </p:nvSpPr>
        <p:spPr>
          <a:xfrm>
            <a:off x="5001768" y="4754880"/>
            <a:ext cx="2194560"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10kg</a:t>
            </a:r>
          </a:p>
        </p:txBody>
      </p:sp>
      <p:graphicFrame>
        <p:nvGraphicFramePr>
          <p:cNvPr id="19" name="표 20"/>
          <p:cNvGraphicFramePr>
            <a:graphicFrameLocks noGrp="1"/>
          </p:cNvGraphicFramePr>
          <p:nvPr/>
        </p:nvGraphicFramePr>
        <p:xfrm>
          <a:off x="612648" y="2651760"/>
          <a:ext cx="6583680" cy="1316736"/>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700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20kg</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14,000 G</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10kg (2/3)</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6,000 G</a:t>
                      </a:r>
                    </a:p>
                  </a:txBody>
                  <a:tcPr marL="54864" marR="54864" marT="18288" marB="18288" anchor="ctr">
                    <a:solidFill>
                      <a:srgbClr val="DDF1E4"/>
                    </a:solidFill>
                  </a:tcPr>
                </a:tc>
              </a:tr>
              <a:tr h="329184">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a:t>
                      </a:r>
                    </a:p>
                  </a:txBody>
                  <a:tcPr marL="54864" marR="54864" marT="18288" marB="18288" anchor="ctr">
                    <a:solidFill>
                      <a:srgbClr val="FFFFFF"/>
                    </a:solidFill>
                  </a:tcPr>
                </a:tc>
              </a:tr>
            </a:tbl>
          </a:graphicData>
        </a:graphic>
      </p:graphicFrame>
      <p:sp>
        <p:nvSpPr>
          <p:cNvPr id="20" name="직사각형 21"/>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    회색 글자: 확인하지 않은 보물</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최적인가: 1kg씩 바꿔 보기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67</a:t>
            </a:r>
          </a:p>
        </p:txBody>
      </p:sp>
      <p:sp>
        <p:nvSpPr>
          <p:cNvPr id="9" name="fit:dea9a678e7d8ce4c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그리디 배낭(A 20kg + B 10kg) 안의 1kg은 모두 600 G 이상이고,</a:t>
            </a:r>
          </a:p>
          <a:p>
            <a:pPr algn="l" eaLnBrk="0" latinLnBrk="0">
              <a:lnSpc>
                <a:spcPct val="105000"/>
              </a:lnSpc>
              <a:buNone/>
            </a:pPr>
            <a:r>
              <a:rPr lang="ko-KR" altLang="en-US" sz="2025" b="0" dirty="0">
                <a:solidFill>
                  <a:srgbClr val="171717"/>
                </a:solidFill>
                <a:latin typeface="Malgun Gothic"/>
                <a:ea typeface="Malgun Gothic"/>
                <a:cs typeface="Malgun Gothic"/>
              </a:rPr>
              <a:t>밖에 남은 1kg(B 5kg, C 15kg)은 모두 600 G입니다.</a:t>
            </a:r>
          </a:p>
        </p:txBody>
      </p:sp>
      <p:graphicFrame>
        <p:nvGraphicFramePr>
          <p:cNvPr id="10" name="표 11"/>
          <p:cNvGraphicFramePr>
            <a:graphicFrameLocks noGrp="1"/>
          </p:cNvGraphicFramePr>
          <p:nvPr/>
        </p:nvGraphicFramePr>
        <p:xfrm>
          <a:off x="612648" y="2432304"/>
          <a:ext cx="10972800" cy="1463040"/>
        </p:xfrm>
        <a:graphic>
          <a:graphicData uri="http://schemas.openxmlformats.org/drawingml/2006/table">
            <a:tbl>
              <a:tblPr/>
              <a:tblGrid>
                <a:gridCol w="6583680"/>
                <a:gridCol w="4389120"/>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바꾸는 1kg</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가치 변화</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안의 A 1kg을 빼고 밖의 C 1kg을 넣기</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B23B3B"/>
                          </a:solidFill>
                          <a:latin typeface="Malgun Gothic"/>
                          <a:ea typeface="Malgun Gothic"/>
                          <a:cs typeface="Malgun Gothic"/>
                        </a:rPr>
                        <a:t>−700 + 600 = −100 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안의 B 1kg을 빼고 밖의 C 1kg을 넣기</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Malgun Gothic"/>
                          <a:ea typeface="Malgun Gothic"/>
                          <a:cs typeface="Malgun Gothic"/>
                        </a:rPr>
                        <a:t>−600 + 600 = 0 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안의 A 1kg을 빼고 비워 두기</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B23B3B"/>
                          </a:solidFill>
                          <a:latin typeface="Malgun Gothic"/>
                          <a:ea typeface="Malgun Gothic"/>
                          <a:cs typeface="Malgun Gothic"/>
                        </a:rPr>
                        <a:t>−700 G</a:t>
                      </a:r>
                    </a:p>
                  </a:txBody>
                  <a:tcPr marL="54864" marR="54864" marT="18288" marB="18288" anchor="ctr">
                    <a:solidFill>
                      <a:srgbClr val="FFFFFF"/>
                    </a:solidFill>
                  </a:tcPr>
                </a:tc>
              </a:tr>
            </a:tbl>
          </a:graphicData>
        </a:graphic>
      </p:graphicFrame>
      <p:sp>
        <p:nvSpPr>
          <p:cNvPr id="11" name="fit:b0f108640ba0728a 12"/>
          <p:cNvSpPr/>
          <p:nvPr/>
        </p:nvSpPr>
        <p:spPr>
          <a:xfrm>
            <a:off x="612648" y="4041648"/>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어떻게 바꿔도 가치가 늘지 않습니다. 그래서 20,000 G가 최대입니다.</a:t>
            </a:r>
          </a:p>
        </p:txBody>
      </p:sp>
      <p:sp>
        <p:nvSpPr>
          <p:cNvPr id="12" name="fit:85b4f459e0b00a53 13"/>
          <p:cNvSpPr/>
          <p:nvPr/>
        </p:nvSpPr>
        <p:spPr>
          <a:xfrm>
            <a:off x="612648" y="4553712"/>
            <a:ext cx="10972800"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다른 어떤 배낭도 그리디 배낭에서 1kg씩 바꿔 만들 수 있습니다.</a:t>
            </a:r>
          </a:p>
          <a:p>
            <a:pPr algn="l" eaLnBrk="0" latinLnBrk="0">
              <a:lnSpc>
                <a:spcPct val="100000"/>
              </a:lnSpc>
              <a:buNone/>
            </a:pPr>
            <a:r>
              <a:rPr lang="ko-KR" altLang="en-US" sz="1650" b="0" dirty="0">
                <a:solidFill>
                  <a:srgbClr val="3F3F3F"/>
                </a:solidFill>
                <a:latin typeface="Malgun Gothic"/>
                <a:ea typeface="Malgun Gothic"/>
                <a:cs typeface="Malgun Gothic"/>
              </a:rPr>
              <a:t>바꿀 때마다 가치가 줄거나 그대로이므로 그리디보다 클 수 없습니다.</a:t>
            </a:r>
          </a:p>
          <a:p>
            <a:pPr algn="l" eaLnBrk="0" latinLnBrk="0">
              <a:lnSpc>
                <a:spcPct val="100000"/>
              </a:lnSpc>
              <a:buNone/>
            </a:pPr>
            <a:r>
              <a:rPr lang="ko-KR" altLang="en-US" sz="1650" b="0" dirty="0">
                <a:solidFill>
                  <a:srgbClr val="3F3F3F"/>
                </a:solidFill>
                <a:latin typeface="Malgun Gothic"/>
                <a:ea typeface="Malgun Gothic"/>
                <a:cs typeface="Malgun Gothic"/>
              </a:rPr>
              <a:t>5.3절 '왜 옳은가'와 같은 교환 논증입니다. 5.5절에서 정리합니다.</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의사코드: 무게당 가치 순으로 채우기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68</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fractional_knapsack.pseudo</a:t>
            </a:r>
          </a:p>
        </p:txBody>
      </p:sp>
      <p:sp>
        <p:nvSpPr>
          <p:cNvPr id="10" name="직사각형 11"/>
          <p:cNvSpPr/>
          <p:nvPr/>
        </p:nvSpPr>
        <p:spPr>
          <a:xfrm>
            <a:off x="612648" y="1856232"/>
            <a:ext cx="10972800" cy="2798064"/>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300" b="0" dirty="0">
                <a:solidFill>
                  <a:srgbClr val="FFFFFF"/>
                </a:solidFill>
                <a:latin typeface="Consolas"/>
                <a:ea typeface="Consolas"/>
                <a:cs typeface="Consolas"/>
              </a:rPr>
              <a:t>FRACTIONAL_KNAPSACK(items, capacity):</a:t>
            </a:r>
          </a:p>
          <a:p>
            <a:pPr algn="l" eaLnBrk="0" latinLnBrk="0">
              <a:lnSpc>
                <a:spcPct val="100000"/>
              </a:lnSpc>
              <a:buNone/>
            </a:pPr>
            <a:r>
              <a:rPr lang="ko-KR" altLang="en-US" sz="1300" b="0" dirty="0">
                <a:solidFill>
                  <a:srgbClr val="FFFFFF"/>
                </a:solidFill>
                <a:latin typeface="Consolas"/>
                <a:ea typeface="Consolas"/>
                <a:cs typeface="Consolas"/>
              </a:rPr>
              <a:t>    items를 ratio(무게당 가치)가 큰 순서로 정렬</a:t>
            </a:r>
          </a:p>
          <a:p>
            <a:pPr algn="l" eaLnBrk="0" latinLnBrk="0">
              <a:lnSpc>
                <a:spcPct val="100000"/>
              </a:lnSpc>
              <a:buNone/>
            </a:pPr>
            <a:r>
              <a:rPr lang="ko-KR" altLang="en-US" sz="1300" b="0" dirty="0">
                <a:solidFill>
                  <a:srgbClr val="FFFFFF"/>
                </a:solidFill>
                <a:latin typeface="Consolas"/>
                <a:ea typeface="Consolas"/>
                <a:cs typeface="Consolas"/>
              </a:rPr>
              <a:t>    total_value &lt;- 0</a:t>
            </a:r>
          </a:p>
          <a:p>
            <a:pPr algn="l" eaLnBrk="0" latinLnBrk="0">
              <a:lnSpc>
                <a:spcPct val="100000"/>
              </a:lnSpc>
              <a:buNone/>
            </a:pPr>
            <a:r>
              <a:rPr lang="ko-KR" altLang="en-US" sz="1300" b="0" dirty="0">
                <a:solidFill>
                  <a:srgbClr val="FFFFFF"/>
                </a:solidFill>
                <a:latin typeface="Consolas"/>
                <a:ea typeface="Consolas"/>
                <a:cs typeface="Consolas"/>
              </a:rPr>
              <a:t>    current_weight &lt;- 0</a:t>
            </a:r>
          </a:p>
          <a:p>
            <a:pPr algn="l" eaLnBrk="0" latinLnBrk="0">
              <a:lnSpc>
                <a:spcPct val="100000"/>
              </a:lnSpc>
              <a:buNone/>
            </a:pPr>
            <a:r>
              <a:rPr lang="ko-KR" altLang="en-US" sz="1300" b="0" dirty="0">
                <a:solidFill>
                  <a:srgbClr val="FFFFFF"/>
                </a:solidFill>
                <a:latin typeface="Consolas"/>
                <a:ea typeface="Consolas"/>
                <a:cs typeface="Consolas"/>
              </a:rPr>
              <a:t>    for each item in items:</a:t>
            </a:r>
          </a:p>
          <a:p>
            <a:pPr algn="l" eaLnBrk="0" latinLnBrk="0">
              <a:lnSpc>
                <a:spcPct val="100000"/>
              </a:lnSpc>
              <a:buNone/>
            </a:pPr>
            <a:r>
              <a:rPr lang="ko-KR" altLang="en-US" sz="1300" b="0" dirty="0">
                <a:solidFill>
                  <a:srgbClr val="FFFFFF"/>
                </a:solidFill>
                <a:latin typeface="Consolas"/>
                <a:ea typeface="Consolas"/>
                <a:cs typeface="Consolas"/>
              </a:rPr>
              <a:t>        if current_weight + item.weight &lt;= capacity then   // 통째로</a:t>
            </a:r>
          </a:p>
          <a:p>
            <a:pPr algn="l" eaLnBrk="0" latinLnBrk="0">
              <a:lnSpc>
                <a:spcPct val="100000"/>
              </a:lnSpc>
              <a:buNone/>
            </a:pPr>
            <a:r>
              <a:rPr lang="ko-KR" altLang="en-US" sz="1300" b="0" dirty="0">
                <a:solidFill>
                  <a:srgbClr val="FFFFFF"/>
                </a:solidFill>
                <a:latin typeface="Consolas"/>
                <a:ea typeface="Consolas"/>
                <a:cs typeface="Consolas"/>
              </a:rPr>
              <a:t>            current_weight += item.weight</a:t>
            </a:r>
          </a:p>
          <a:p>
            <a:pPr algn="l" eaLnBrk="0" latinLnBrk="0">
              <a:lnSpc>
                <a:spcPct val="100000"/>
              </a:lnSpc>
              <a:buNone/>
            </a:pPr>
            <a:r>
              <a:rPr lang="ko-KR" altLang="en-US" sz="1300" b="0" dirty="0">
                <a:solidFill>
                  <a:srgbClr val="FFFFFF"/>
                </a:solidFill>
                <a:latin typeface="Consolas"/>
                <a:ea typeface="Consolas"/>
                <a:cs typeface="Consolas"/>
              </a:rPr>
              <a:t>            total_value += item.value</a:t>
            </a:r>
          </a:p>
          <a:p>
            <a:pPr algn="l" eaLnBrk="0" latinLnBrk="0">
              <a:lnSpc>
                <a:spcPct val="100000"/>
              </a:lnSpc>
              <a:buNone/>
            </a:pPr>
            <a:r>
              <a:rPr lang="ko-KR" altLang="en-US" sz="1300" b="0" dirty="0">
                <a:solidFill>
                  <a:srgbClr val="FFFFFF"/>
                </a:solidFill>
                <a:latin typeface="Consolas"/>
                <a:ea typeface="Consolas"/>
                <a:cs typeface="Consolas"/>
              </a:rPr>
              <a:t>        else                                                // 덜어 담기</a:t>
            </a:r>
          </a:p>
          <a:p>
            <a:pPr algn="l" eaLnBrk="0" latinLnBrk="0">
              <a:lnSpc>
                <a:spcPct val="100000"/>
              </a:lnSpc>
              <a:buNone/>
            </a:pPr>
            <a:r>
              <a:rPr lang="ko-KR" altLang="en-US" sz="1300" b="0" dirty="0">
                <a:solidFill>
                  <a:srgbClr val="FFFFFF"/>
                </a:solidFill>
                <a:latin typeface="Consolas"/>
                <a:ea typeface="Consolas"/>
                <a:cs typeface="Consolas"/>
              </a:rPr>
              <a:t>            room &lt;- capacity - current_weight               // 남은 공간</a:t>
            </a:r>
          </a:p>
          <a:p>
            <a:pPr algn="l" eaLnBrk="0" latinLnBrk="0">
              <a:lnSpc>
                <a:spcPct val="100000"/>
              </a:lnSpc>
              <a:buNone/>
            </a:pPr>
            <a:r>
              <a:rPr lang="ko-KR" altLang="en-US" sz="1300" b="0" dirty="0">
                <a:solidFill>
                  <a:srgbClr val="FFFFFF"/>
                </a:solidFill>
                <a:latin typeface="Consolas"/>
                <a:ea typeface="Consolas"/>
                <a:cs typeface="Consolas"/>
              </a:rPr>
              <a:t>            total_value += room × item.ratio</a:t>
            </a:r>
          </a:p>
          <a:p>
            <a:pPr algn="l" eaLnBrk="0" latinLnBrk="0">
              <a:lnSpc>
                <a:spcPct val="100000"/>
              </a:lnSpc>
              <a:buNone/>
            </a:pPr>
            <a:r>
              <a:rPr lang="ko-KR" altLang="en-US" sz="1300" b="0" dirty="0">
                <a:solidFill>
                  <a:srgbClr val="FFFFFF"/>
                </a:solidFill>
                <a:latin typeface="Consolas"/>
                <a:ea typeface="Consolas"/>
                <a:cs typeface="Consolas"/>
              </a:rPr>
              <a:t>            break</a:t>
            </a:r>
          </a:p>
          <a:p>
            <a:pPr algn="l" eaLnBrk="0" latinLnBrk="0">
              <a:lnSpc>
                <a:spcPct val="100000"/>
              </a:lnSpc>
              <a:buNone/>
            </a:pPr>
            <a:r>
              <a:rPr lang="ko-KR" altLang="en-US" sz="1300" b="0" dirty="0">
                <a:solidFill>
                  <a:srgbClr val="FFFFFF"/>
                </a:solidFill>
                <a:latin typeface="Consolas"/>
                <a:ea typeface="Consolas"/>
                <a:cs typeface="Consolas"/>
              </a:rPr>
              <a:t>    return total_value</a:t>
            </a:r>
          </a:p>
        </p:txBody>
      </p:sp>
      <p:graphicFrame>
        <p:nvGraphicFramePr>
          <p:cNvPr id="11" name="표 12"/>
          <p:cNvGraphicFramePr>
            <a:graphicFrameLocks noGrp="1"/>
          </p:cNvGraphicFramePr>
          <p:nvPr/>
        </p:nvGraphicFramePr>
        <p:xfrm>
          <a:off x="612648" y="4782312"/>
          <a:ext cx="10972800" cy="1316736"/>
        </p:xfrm>
        <a:graphic>
          <a:graphicData uri="http://schemas.openxmlformats.org/drawingml/2006/table">
            <a:tbl>
              <a:tblPr/>
              <a:tblGrid>
                <a:gridCol w="2366682"/>
                <a:gridCol w="8606118"/>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의사코드에서</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l" eaLnBrk="0" latinLnBrk="0">
                        <a:lnSpc>
                          <a:spcPct val="100000"/>
                        </a:lnSpc>
                        <a:buNone/>
                      </a:pPr>
                      <a:r>
                        <a:rPr lang="ko-KR" altLang="en-US" sz="1500" b="0" dirty="0">
                          <a:solidFill>
                            <a:srgbClr val="151515"/>
                          </a:solidFill>
                          <a:latin typeface="Malgun Gothic"/>
                          <a:ea typeface="Malgun Gothic"/>
                          <a:cs typeface="Malgun Gothic"/>
                        </a:rPr>
                        <a:t>정렬된 순서대로, 남은 보물 중 무게당 가치가 가장 높은 것을 봅니다.</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② 적정성 검사</a:t>
                      </a:r>
                    </a:p>
                  </a:txBody>
                  <a:tcPr marL="54864" marR="54864" marT="18288" marB="18288" anchor="ctr">
                    <a:solidFill>
                      <a:srgbClr val="FFFFFF"/>
                    </a:solidFill>
                  </a:tcPr>
                </a:tc>
                <a:tc>
                  <a:txBody>
                    <a:bodyPr/>
                    <a:lstStyle/>
                    <a:p>
                      <a:pPr algn="l" eaLnBrk="0" latinLnBrk="0">
                        <a:lnSpc>
                          <a:spcPct val="100000"/>
                        </a:lnSpc>
                        <a:buNone/>
                      </a:pPr>
                      <a:r>
                        <a:rPr lang="ko-KR" altLang="en-US" sz="1500" b="0" dirty="0">
                          <a:solidFill>
                            <a:srgbClr val="151515"/>
                          </a:solidFill>
                          <a:latin typeface="Malgun Gothic"/>
                          <a:ea typeface="Malgun Gothic"/>
                          <a:cs typeface="Malgun Gothic"/>
                        </a:rPr>
                        <a:t>통째로 들어가는가? 아니면 남은 공간(room)만큼만 덜어 담습니다.</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l" eaLnBrk="0" latinLnBrk="0">
                        <a:lnSpc>
                          <a:spcPct val="100000"/>
                        </a:lnSpc>
                        <a:buNone/>
                      </a:pPr>
                      <a:r>
                        <a:rPr lang="ko-KR" altLang="en-US" sz="1500" b="0" dirty="0">
                          <a:solidFill>
                            <a:srgbClr val="151515"/>
                          </a:solidFill>
                          <a:latin typeface="Malgun Gothic"/>
                          <a:ea typeface="Malgun Gothic"/>
                          <a:cs typeface="Malgun Gothic"/>
                        </a:rPr>
                        <a:t>덜어 담으면 배낭이 가득 차므로 break. 덜어 담기는 많아야 한 번입니다.</a:t>
                      </a:r>
                    </a:p>
                  </a:txBody>
                  <a:tcPr marL="54864" marR="54864" marT="18288" marB="18288" anchor="ctr">
                    <a:solidFill>
                      <a:srgbClr val="FFFFFF"/>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①: 보물 하나를 나타내는 Item</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69</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class Item:</a:t>
            </a:r>
          </a:p>
          <a:p>
            <a:pPr algn="l" eaLnBrk="0" latinLnBrk="0">
              <a:lnSpc>
                <a:spcPct val="100000"/>
              </a:lnSpc>
              <a:buNone/>
            </a:pPr>
            <a:r>
              <a:rPr lang="ko-KR" altLang="en-US" sz="1800" b="0" dirty="0">
                <a:solidFill>
                  <a:srgbClr val="151515"/>
                </a:solidFill>
                <a:latin typeface="Consolas"/>
                <a:ea typeface="Consolas"/>
                <a:cs typeface="Consolas"/>
              </a:rPr>
              <a:t>    def __init__(self, name, weight, value):</a:t>
            </a:r>
          </a:p>
          <a:p>
            <a:pPr algn="l" eaLnBrk="0" latinLnBrk="0">
              <a:lnSpc>
                <a:spcPct val="100000"/>
              </a:lnSpc>
              <a:buNone/>
            </a:pPr>
            <a:r>
              <a:rPr lang="ko-KR" altLang="en-US" sz="1800" b="0" dirty="0">
                <a:solidFill>
                  <a:srgbClr val="151515"/>
                </a:solidFill>
                <a:latin typeface="Consolas"/>
                <a:ea typeface="Consolas"/>
                <a:cs typeface="Consolas"/>
              </a:rPr>
              <a:t>        self.name = name</a:t>
            </a:r>
          </a:p>
          <a:p>
            <a:pPr algn="l" eaLnBrk="0" latinLnBrk="0">
              <a:lnSpc>
                <a:spcPct val="100000"/>
              </a:lnSpc>
              <a:buNone/>
            </a:pPr>
            <a:r>
              <a:rPr lang="ko-KR" altLang="en-US" sz="1800" b="0" dirty="0">
                <a:solidFill>
                  <a:srgbClr val="151515"/>
                </a:solidFill>
                <a:latin typeface="Consolas"/>
                <a:ea typeface="Consolas"/>
                <a:cs typeface="Consolas"/>
              </a:rPr>
              <a:t>        self.weight = weight</a:t>
            </a:r>
          </a:p>
          <a:p>
            <a:pPr algn="l" eaLnBrk="0" latinLnBrk="0">
              <a:lnSpc>
                <a:spcPct val="100000"/>
              </a:lnSpc>
              <a:buNone/>
            </a:pPr>
            <a:r>
              <a:rPr lang="ko-KR" altLang="en-US" sz="1800" b="0" dirty="0">
                <a:solidFill>
                  <a:srgbClr val="151515"/>
                </a:solidFill>
                <a:latin typeface="Consolas"/>
                <a:ea typeface="Consolas"/>
                <a:cs typeface="Consolas"/>
              </a:rPr>
              <a:t>        self.value = value</a:t>
            </a:r>
          </a:p>
          <a:p>
            <a:pPr algn="l" eaLnBrk="0" latinLnBrk="0">
              <a:lnSpc>
                <a:spcPct val="100000"/>
              </a:lnSpc>
              <a:buNone/>
            </a:pPr>
            <a:r>
              <a:rPr lang="ko-KR" altLang="en-US" sz="1800" b="0" dirty="0">
                <a:solidFill>
                  <a:srgbClr val="151515"/>
                </a:solidFill>
                <a:latin typeface="Consolas"/>
                <a:ea typeface="Consolas"/>
                <a:cs typeface="Consolas"/>
              </a:rPr>
              <a:t>        self.ratio = value / weight     # 가성비</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②: 배낭 채우기 함수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70</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650" b="0" dirty="0">
                <a:solidFill>
                  <a:srgbClr val="151515"/>
                </a:solidFill>
                <a:latin typeface="Consolas"/>
                <a:ea typeface="Consolas"/>
                <a:cs typeface="Consolas"/>
              </a:rPr>
              <a:t>def solve_fractional_knapsack(capacity, items):</a:t>
            </a:r>
          </a:p>
          <a:p>
            <a:pPr algn="l" eaLnBrk="0" latinLnBrk="0">
              <a:lnSpc>
                <a:spcPct val="100000"/>
              </a:lnSpc>
              <a:buNone/>
            </a:pPr>
            <a:r>
              <a:rPr lang="ko-KR" altLang="en-US" sz="1650" b="0" dirty="0">
                <a:solidFill>
                  <a:srgbClr val="151515"/>
                </a:solidFill>
                <a:latin typeface="Consolas"/>
                <a:ea typeface="Consolas"/>
                <a:cs typeface="Consolas"/>
              </a:rPr>
              <a:t>    # 가성비 내림차순 정렬 — 그리디의 핵심</a:t>
            </a:r>
          </a:p>
          <a:p>
            <a:pPr algn="l" eaLnBrk="0" latinLnBrk="0">
              <a:lnSpc>
                <a:spcPct val="100000"/>
              </a:lnSpc>
              <a:buNone/>
            </a:pPr>
            <a:r>
              <a:rPr lang="ko-KR" altLang="en-US" sz="1650" b="0" dirty="0">
                <a:solidFill>
                  <a:srgbClr val="151515"/>
                </a:solidFill>
                <a:latin typeface="Consolas"/>
                <a:ea typeface="Consolas"/>
                <a:cs typeface="Consolas"/>
              </a:rPr>
              <a:t>    items.sort(key=lambda x: x.ratio, reverse=True)</a:t>
            </a:r>
          </a:p>
          <a:p>
            <a:pPr algn="l" eaLnBrk="0" latinLnBrk="0">
              <a:lnSpc>
                <a:spcPct val="100000"/>
              </a:lnSpc>
              <a:buNone/>
            </a:pPr>
            <a:r>
              <a:rPr lang="ko-KR" altLang="en-US" sz="1650" b="0" dirty="0">
                <a:solidFill>
                  <a:srgbClr val="151515"/>
                </a:solidFill>
                <a:latin typeface="Consolas"/>
                <a:ea typeface="Consolas"/>
                <a:cs typeface="Consolas"/>
              </a:rPr>
              <a:t>    total_value = 0.0</a:t>
            </a:r>
          </a:p>
          <a:p>
            <a:pPr algn="l" eaLnBrk="0" latinLnBrk="0">
              <a:lnSpc>
                <a:spcPct val="100000"/>
              </a:lnSpc>
              <a:buNone/>
            </a:pPr>
            <a:r>
              <a:rPr lang="ko-KR" altLang="en-US" sz="1650" b="0" dirty="0">
                <a:solidFill>
                  <a:srgbClr val="151515"/>
                </a:solidFill>
                <a:latin typeface="Consolas"/>
                <a:ea typeface="Consolas"/>
                <a:cs typeface="Consolas"/>
              </a:rPr>
              <a:t>    current_weight = 0.0</a:t>
            </a:r>
          </a:p>
          <a:p>
            <a:pPr algn="l" eaLnBrk="0" latinLnBrk="0">
              <a:lnSpc>
                <a:spcPct val="100000"/>
              </a:lnSpc>
              <a:buNone/>
            </a:pPr>
            <a:r>
              <a:rPr lang="ko-KR" altLang="en-US" sz="1650" b="0" dirty="0">
                <a:solidFill>
                  <a:srgbClr val="151515"/>
                </a:solidFill>
                <a:latin typeface="Consolas"/>
                <a:ea typeface="Consolas"/>
                <a:cs typeface="Consolas"/>
              </a:rPr>
              <a:t>    print(f"--- 배낭 채우기 시작 (용량: {capacity}kg) ---")</a:t>
            </a:r>
          </a:p>
          <a:p>
            <a:pPr algn="l" eaLnBrk="0" latinLnBrk="0">
              <a:lnSpc>
                <a:spcPct val="100000"/>
              </a:lnSpc>
              <a:buNone/>
            </a:pPr>
            <a:r>
              <a:rPr lang="ko-KR" altLang="en-US" sz="1650" b="0" dirty="0">
                <a:solidFill>
                  <a:srgbClr val="151515"/>
                </a:solidFill>
                <a:latin typeface="Consolas"/>
                <a:ea typeface="Consolas"/>
                <a:cs typeface="Consolas"/>
              </a:rPr>
              <a:t>    for item in items:</a:t>
            </a:r>
          </a:p>
          <a:p>
            <a:pPr algn="l" eaLnBrk="0" latinLnBrk="0">
              <a:lnSpc>
                <a:spcPct val="100000"/>
              </a:lnSpc>
              <a:buNone/>
            </a:pPr>
            <a:r>
              <a:rPr lang="ko-KR" altLang="en-US" sz="1650" b="0" dirty="0">
                <a:solidFill>
                  <a:srgbClr val="151515"/>
                </a:solidFill>
                <a:latin typeface="Consolas"/>
                <a:ea typeface="Consolas"/>
                <a:cs typeface="Consolas"/>
              </a:rPr>
              <a:t>        if current_weight + item.weight &lt;= capacity:</a:t>
            </a:r>
          </a:p>
          <a:p>
            <a:pPr algn="l" eaLnBrk="0" latinLnBrk="0">
              <a:lnSpc>
                <a:spcPct val="100000"/>
              </a:lnSpc>
              <a:buNone/>
            </a:pPr>
            <a:r>
              <a:rPr lang="ko-KR" altLang="en-US" sz="1650" b="0" dirty="0">
                <a:solidFill>
                  <a:srgbClr val="151515"/>
                </a:solidFill>
                <a:latin typeface="Consolas"/>
                <a:ea typeface="Consolas"/>
                <a:cs typeface="Consolas"/>
              </a:rPr>
              <a:t>            current_weight += item.weight       # 통째로</a:t>
            </a:r>
          </a:p>
          <a:p>
            <a:pPr algn="l" eaLnBrk="0" latinLnBrk="0">
              <a:lnSpc>
                <a:spcPct val="100000"/>
              </a:lnSpc>
              <a:buNone/>
            </a:pPr>
            <a:r>
              <a:rPr lang="ko-KR" altLang="en-US" sz="1650" b="0" dirty="0">
                <a:solidFill>
                  <a:srgbClr val="151515"/>
                </a:solidFill>
                <a:latin typeface="Consolas"/>
                <a:ea typeface="Consolas"/>
                <a:cs typeface="Consolas"/>
              </a:rPr>
              <a:t>            total_value += item.value</a:t>
            </a:r>
          </a:p>
          <a:p>
            <a:pPr algn="l" eaLnBrk="0" latinLnBrk="0">
              <a:lnSpc>
                <a:spcPct val="100000"/>
              </a:lnSpc>
              <a:buNone/>
            </a:pPr>
            <a:r>
              <a:rPr lang="ko-KR" altLang="en-US" sz="1650" b="0" dirty="0">
                <a:solidFill>
                  <a:srgbClr val="151515"/>
                </a:solidFill>
                <a:latin typeface="Consolas"/>
                <a:ea typeface="Consolas"/>
                <a:cs typeface="Consolas"/>
              </a:rPr>
              <a:t>            print(f"-&gt; {item.name} 전체 추가",</a:t>
            </a:r>
          </a:p>
          <a:p>
            <a:pPr algn="l" eaLnBrk="0" latinLnBrk="0">
              <a:lnSpc>
                <a:spcPct val="100000"/>
              </a:lnSpc>
              <a:buNone/>
            </a:pPr>
            <a:r>
              <a:rPr lang="ko-KR" altLang="en-US" sz="1650" b="0" dirty="0">
                <a:solidFill>
                  <a:srgbClr val="151515"/>
                </a:solidFill>
                <a:latin typeface="Consolas"/>
                <a:ea typeface="Consolas"/>
                <a:cs typeface="Consolas"/>
              </a:rPr>
              <a:t>                  f"(현재 무게: {current_weight:g}kg)")</a:t>
            </a:r>
          </a:p>
          <a:p>
            <a:pPr algn="l" eaLnBrk="0" latinLnBrk="0">
              <a:lnSpc>
                <a:spcPct val="100000"/>
              </a:lnSpc>
              <a:buNone/>
            </a:pPr>
            <a:r>
              <a:rPr lang="ko-KR" altLang="en-US" sz="1650" b="0" dirty="0">
                <a:solidFill>
                  <a:srgbClr val="151515"/>
                </a:solidFill>
                <a:latin typeface="Consolas"/>
                <a:ea typeface="Consolas"/>
                <a:cs typeface="Consolas"/>
              </a:rPr>
              <a:t>        else:</a:t>
            </a:r>
          </a:p>
          <a:p>
            <a:pPr algn="l" eaLnBrk="0" latinLnBrk="0">
              <a:lnSpc>
                <a:spcPct val="100000"/>
              </a:lnSpc>
              <a:buNone/>
            </a:pPr>
            <a:r>
              <a:rPr lang="ko-KR" altLang="en-US" sz="1650" b="0" dirty="0">
                <a:solidFill>
                  <a:srgbClr val="151515"/>
                </a:solidFill>
                <a:latin typeface="Consolas"/>
                <a:ea typeface="Consolas"/>
                <a:cs typeface="Consolas"/>
              </a:rPr>
              <a:t>            room = capacity - current_weight    # 남은 공간</a:t>
            </a:r>
          </a:p>
          <a:p>
            <a:pPr algn="l" eaLnBrk="0" latinLnBrk="0">
              <a:lnSpc>
                <a:spcPct val="100000"/>
              </a:lnSpc>
              <a:buNone/>
            </a:pPr>
            <a:r>
              <a:rPr lang="ko-KR" altLang="en-US" sz="1650" b="0" dirty="0">
                <a:solidFill>
                  <a:srgbClr val="151515"/>
                </a:solidFill>
                <a:latin typeface="Consolas"/>
                <a:ea typeface="Consolas"/>
                <a:cs typeface="Consolas"/>
              </a:rPr>
              <a:t>            total_value += room * item.ratio</a:t>
            </a:r>
          </a:p>
          <a:p>
            <a:pPr algn="l" eaLnBrk="0" latinLnBrk="0">
              <a:lnSpc>
                <a:spcPct val="100000"/>
              </a:lnSpc>
              <a:buNone/>
            </a:pPr>
            <a:r>
              <a:rPr lang="ko-KR" altLang="en-US" sz="1650" b="0" dirty="0">
                <a:solidFill>
                  <a:srgbClr val="151515"/>
                </a:solidFill>
                <a:latin typeface="Consolas"/>
                <a:ea typeface="Consolas"/>
                <a:cs typeface="Consolas"/>
              </a:rPr>
              <a:t>            print(f"-&gt; {item.name} {room:g}kg만 쪼개서 추가 (가득 참!)")</a:t>
            </a:r>
          </a:p>
          <a:p>
            <a:pPr algn="l" eaLnBrk="0" latinLnBrk="0">
              <a:lnSpc>
                <a:spcPct val="100000"/>
              </a:lnSpc>
              <a:buNone/>
            </a:pPr>
            <a:r>
              <a:rPr lang="ko-KR" altLang="en-US" sz="1650" b="0" dirty="0">
                <a:solidFill>
                  <a:srgbClr val="151515"/>
                </a:solidFill>
                <a:latin typeface="Consolas"/>
                <a:ea typeface="Consolas"/>
                <a:cs typeface="Consolas"/>
              </a:rPr>
              <a:t>            break</a:t>
            </a:r>
          </a:p>
          <a:p>
            <a:pPr algn="l" eaLnBrk="0" latinLnBrk="0">
              <a:lnSpc>
                <a:spcPct val="100000"/>
              </a:lnSpc>
              <a:buNone/>
            </a:pPr>
            <a:r>
              <a:rPr lang="ko-KR" altLang="en-US" sz="1650" b="0" dirty="0">
                <a:solidFill>
                  <a:srgbClr val="151515"/>
                </a:solidFill>
                <a:latin typeface="Consolas"/>
                <a:ea typeface="Consolas"/>
                <a:cs typeface="Consolas"/>
              </a:rPr>
              <a:t>    return total_value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③: 보물 세 개로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71</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items = [Item("A(황금 가루)", 20, 14000),</a:t>
            </a:r>
          </a:p>
          <a:p>
            <a:pPr algn="l" eaLnBrk="0" latinLnBrk="0">
              <a:lnSpc>
                <a:spcPct val="100000"/>
              </a:lnSpc>
              <a:buNone/>
            </a:pPr>
            <a:r>
              <a:rPr lang="ko-KR" altLang="en-US" sz="1800" b="0" dirty="0">
                <a:solidFill>
                  <a:srgbClr val="151515"/>
                </a:solidFill>
                <a:latin typeface="Consolas"/>
                <a:ea typeface="Consolas"/>
                <a:cs typeface="Consolas"/>
              </a:rPr>
              <a:t>         Item("B(은 가루)", 15, 9000),</a:t>
            </a:r>
          </a:p>
          <a:p>
            <a:pPr algn="l" eaLnBrk="0" latinLnBrk="0">
              <a:lnSpc>
                <a:spcPct val="100000"/>
              </a:lnSpc>
              <a:buNone/>
            </a:pPr>
            <a:r>
              <a:rPr lang="ko-KR" altLang="en-US" sz="1800" b="0" dirty="0">
                <a:solidFill>
                  <a:srgbClr val="151515"/>
                </a:solidFill>
                <a:latin typeface="Consolas"/>
                <a:ea typeface="Consolas"/>
                <a:cs typeface="Consolas"/>
              </a:rPr>
              <a:t>         Item("C(보석 가루)", 15, 9000)]</a:t>
            </a:r>
          </a:p>
          <a:p>
            <a:pPr algn="l" eaLnBrk="0" latinLnBrk="0">
              <a:lnSpc>
                <a:spcPct val="100000"/>
              </a:lnSpc>
              <a:buNone/>
            </a:pPr>
            <a:r>
              <a:rPr lang="ko-KR" altLang="en-US" sz="1800" b="0" dirty="0">
                <a:solidFill>
                  <a:srgbClr val="151515"/>
                </a:solidFill>
                <a:latin typeface="Consolas"/>
                <a:ea typeface="Consolas"/>
                <a:cs typeface="Consolas"/>
              </a:rPr>
              <a:t>best = solve_fractional_knapsack(30, items)</a:t>
            </a:r>
          </a:p>
          <a:p>
            <a:pPr algn="l" eaLnBrk="0" latinLnBrk="0">
              <a:lnSpc>
                <a:spcPct val="100000"/>
              </a:lnSpc>
              <a:buNone/>
            </a:pPr>
            <a:r>
              <a:rPr lang="ko-KR" altLang="en-US" sz="1800" b="0" dirty="0">
                <a:solidFill>
                  <a:srgbClr val="151515"/>
                </a:solidFill>
                <a:latin typeface="Consolas"/>
                <a:ea typeface="Consolas"/>
                <a:cs typeface="Consolas"/>
              </a:rPr>
              <a:t>print("-" * 36)</a:t>
            </a:r>
          </a:p>
          <a:p>
            <a:pPr algn="l" eaLnBrk="0" latinLnBrk="0">
              <a:lnSpc>
                <a:spcPct val="100000"/>
              </a:lnSpc>
              <a:buNone/>
            </a:pPr>
            <a:r>
              <a:rPr lang="ko-KR" altLang="en-US" sz="1800" b="0" dirty="0">
                <a:solidFill>
                  <a:srgbClr val="151515"/>
                </a:solidFill>
                <a:latin typeface="Consolas"/>
                <a:ea typeface="Consolas"/>
                <a:cs typeface="Consolas"/>
              </a:rPr>
              <a:t>print(f"배낭의 최대 가치 합계: {best:g} 골드")</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①: 구조체와 make_item</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72</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r>
              <a:rPr lang="ko-KR" altLang="en-US" sz="1800" b="0" dirty="0">
                <a:solidFill>
                  <a:srgbClr val="151515"/>
                </a:solidFill>
                <a:latin typeface="Consolas"/>
                <a:ea typeface="Consolas"/>
                <a:cs typeface="Consolas"/>
              </a:rPr>
              <a:t>#include &lt;stdlib.h&gt;</a:t>
            </a:r>
          </a:p>
          <a:p>
            <a:pPr algn="l" eaLnBrk="0" latinLnBrk="0">
              <a:lnSpc>
                <a:spcPct val="100000"/>
              </a:lnSpc>
              <a:buNone/>
            </a:pPr>
            <a:r>
              <a:rPr lang="ko-KR" altLang="en-US" sz="1800" b="0" dirty="0">
                <a:solidFill>
                  <a:srgbClr val="151515"/>
                </a:solidFill>
                <a:latin typeface="Consolas"/>
                <a:ea typeface="Consolas"/>
                <a:cs typeface="Consolas"/>
              </a:rPr>
              <a:t>#include &lt;string.h&gt;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typedef struct {</a:t>
            </a:r>
          </a:p>
          <a:p>
            <a:pPr algn="l" eaLnBrk="0" latinLnBrk="0">
              <a:lnSpc>
                <a:spcPct val="100000"/>
              </a:lnSpc>
              <a:buNone/>
            </a:pPr>
            <a:r>
              <a:rPr lang="ko-KR" altLang="en-US" sz="1800" b="0" dirty="0">
                <a:solidFill>
                  <a:srgbClr val="151515"/>
                </a:solidFill>
                <a:latin typeface="Consolas"/>
                <a:ea typeface="Consolas"/>
                <a:cs typeface="Consolas"/>
              </a:rPr>
              <a:t>    const char *name;</a:t>
            </a:r>
          </a:p>
          <a:p>
            <a:pPr algn="l" eaLnBrk="0" latinLnBrk="0">
              <a:lnSpc>
                <a:spcPct val="100000"/>
              </a:lnSpc>
              <a:buNone/>
            </a:pPr>
            <a:r>
              <a:rPr lang="ko-KR" altLang="en-US" sz="1800" b="0" dirty="0">
                <a:solidFill>
                  <a:srgbClr val="151515"/>
                </a:solidFill>
                <a:latin typeface="Consolas"/>
                <a:ea typeface="Consolas"/>
                <a:cs typeface="Consolas"/>
              </a:rPr>
              <a:t>    int weight, value;</a:t>
            </a:r>
          </a:p>
          <a:p>
            <a:pPr algn="l" eaLnBrk="0" latinLnBrk="0">
              <a:lnSpc>
                <a:spcPct val="100000"/>
              </a:lnSpc>
              <a:buNone/>
            </a:pPr>
            <a:r>
              <a:rPr lang="ko-KR" altLang="en-US" sz="1800" b="0" dirty="0">
                <a:solidFill>
                  <a:srgbClr val="151515"/>
                </a:solidFill>
                <a:latin typeface="Consolas"/>
                <a:ea typeface="Consolas"/>
                <a:cs typeface="Consolas"/>
              </a:rPr>
              <a:t>    double ratio;                       /* 가성비 */</a:t>
            </a:r>
          </a:p>
          <a:p>
            <a:pPr algn="l" eaLnBrk="0" latinLnBrk="0">
              <a:lnSpc>
                <a:spcPct val="100000"/>
              </a:lnSpc>
              <a:buNone/>
            </a:pPr>
            <a:r>
              <a:rPr lang="ko-KR" altLang="en-US" sz="1800" b="0" dirty="0">
                <a:solidFill>
                  <a:srgbClr val="151515"/>
                </a:solidFill>
                <a:latin typeface="Consolas"/>
                <a:ea typeface="Consolas"/>
                <a:cs typeface="Consolas"/>
              </a:rPr>
              <a:t>} Item;</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Item make_item(const char *name, int weight, int value) {</a:t>
            </a:r>
          </a:p>
          <a:p>
            <a:pPr algn="l" eaLnBrk="0" latinLnBrk="0">
              <a:lnSpc>
                <a:spcPct val="100000"/>
              </a:lnSpc>
              <a:buNone/>
            </a:pPr>
            <a:r>
              <a:rPr lang="ko-KR" altLang="en-US" sz="1800" b="0" dirty="0">
                <a:solidFill>
                  <a:srgbClr val="151515"/>
                </a:solidFill>
                <a:latin typeface="Consolas"/>
                <a:ea typeface="Consolas"/>
                <a:cs typeface="Consolas"/>
              </a:rPr>
              <a:t>    Item it = {name, weight, value, (double)value / weight};</a:t>
            </a:r>
          </a:p>
          <a:p>
            <a:pPr algn="l" eaLnBrk="0" latinLnBrk="0">
              <a:lnSpc>
                <a:spcPct val="100000"/>
              </a:lnSpc>
              <a:buNone/>
            </a:pPr>
            <a:r>
              <a:rPr lang="ko-KR" altLang="en-US" sz="1800" b="0" dirty="0">
                <a:solidFill>
                  <a:srgbClr val="151515"/>
                </a:solidFill>
                <a:latin typeface="Consolas"/>
                <a:ea typeface="Consolas"/>
                <a:cs typeface="Consolas"/>
              </a:rPr>
              <a:t>    return it;</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②: 비교 함수와 정렬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73</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가성비 내림차순. 같으면 이름순(B가 C보다 앞) */</a:t>
            </a:r>
          </a:p>
          <a:p>
            <a:pPr algn="l" eaLnBrk="0" latinLnBrk="0">
              <a:lnSpc>
                <a:spcPct val="100000"/>
              </a:lnSpc>
              <a:buNone/>
            </a:pPr>
            <a:r>
              <a:rPr lang="ko-KR" altLang="en-US" sz="1800" b="0" dirty="0">
                <a:solidFill>
                  <a:srgbClr val="151515"/>
                </a:solidFill>
                <a:latin typeface="Consolas"/>
                <a:ea typeface="Consolas"/>
                <a:cs typeface="Consolas"/>
              </a:rPr>
              <a:t>int by_ratio(const void *a, const void *b) {</a:t>
            </a:r>
          </a:p>
          <a:p>
            <a:pPr algn="l" eaLnBrk="0" latinLnBrk="0">
              <a:lnSpc>
                <a:spcPct val="100000"/>
              </a:lnSpc>
              <a:buNone/>
            </a:pPr>
            <a:r>
              <a:rPr lang="ko-KR" altLang="en-US" sz="1800" b="0" dirty="0">
                <a:solidFill>
                  <a:srgbClr val="151515"/>
                </a:solidFill>
                <a:latin typeface="Consolas"/>
                <a:ea typeface="Consolas"/>
                <a:cs typeface="Consolas"/>
              </a:rPr>
              <a:t>    const Item *x = a, *y = b;</a:t>
            </a:r>
          </a:p>
          <a:p>
            <a:pPr algn="l" eaLnBrk="0" latinLnBrk="0">
              <a:lnSpc>
                <a:spcPct val="100000"/>
              </a:lnSpc>
              <a:buNone/>
            </a:pPr>
            <a:r>
              <a:rPr lang="ko-KR" altLang="en-US" sz="1800" b="0" dirty="0">
                <a:solidFill>
                  <a:srgbClr val="151515"/>
                </a:solidFill>
                <a:latin typeface="Consolas"/>
                <a:ea typeface="Consolas"/>
                <a:cs typeface="Consolas"/>
              </a:rPr>
              <a:t>    if (x-&gt;ratio &gt; y-&gt;ratio) return -1;</a:t>
            </a:r>
          </a:p>
          <a:p>
            <a:pPr algn="l" eaLnBrk="0" latinLnBrk="0">
              <a:lnSpc>
                <a:spcPct val="100000"/>
              </a:lnSpc>
              <a:buNone/>
            </a:pPr>
            <a:r>
              <a:rPr lang="ko-KR" altLang="en-US" sz="1800" b="0" dirty="0">
                <a:solidFill>
                  <a:srgbClr val="151515"/>
                </a:solidFill>
                <a:latin typeface="Consolas"/>
                <a:ea typeface="Consolas"/>
                <a:cs typeface="Consolas"/>
              </a:rPr>
              <a:t>    if (x-&gt;ratio &lt; y-&gt;ratio) return 1;</a:t>
            </a:r>
          </a:p>
          <a:p>
            <a:pPr algn="l" eaLnBrk="0" latinLnBrk="0">
              <a:lnSpc>
                <a:spcPct val="100000"/>
              </a:lnSpc>
              <a:buNone/>
            </a:pPr>
            <a:r>
              <a:rPr lang="ko-KR" altLang="en-US" sz="1800" b="0" dirty="0">
                <a:solidFill>
                  <a:srgbClr val="151515"/>
                </a:solidFill>
                <a:latin typeface="Consolas"/>
                <a:ea typeface="Consolas"/>
                <a:cs typeface="Consolas"/>
              </a:rPr>
              <a:t>    return strcmp(x-&gt;name, y-&gt;name);</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double solve_fractional_knapsack(int capacity, Item items[], int n) {</a:t>
            </a:r>
          </a:p>
          <a:p>
            <a:pPr algn="l" eaLnBrk="0" latinLnBrk="0">
              <a:lnSpc>
                <a:spcPct val="100000"/>
              </a:lnSpc>
              <a:buNone/>
            </a:pPr>
            <a:r>
              <a:rPr lang="ko-KR" altLang="en-US" sz="1800" b="0" dirty="0">
                <a:solidFill>
                  <a:srgbClr val="151515"/>
                </a:solidFill>
                <a:latin typeface="Consolas"/>
                <a:ea typeface="Consolas"/>
                <a:cs typeface="Consolas"/>
              </a:rPr>
              <a:t>    qsort(items, n, sizeof(Item), by_ratio);   /* 그리디의 핵심 */</a:t>
            </a:r>
          </a:p>
          <a:p>
            <a:pPr algn="l" eaLnBrk="0" latinLnBrk="0">
              <a:lnSpc>
                <a:spcPct val="100000"/>
              </a:lnSpc>
              <a:buNone/>
            </a:pPr>
            <a:r>
              <a:rPr lang="ko-KR" altLang="en-US" sz="1800" b="0" dirty="0">
                <a:solidFill>
                  <a:srgbClr val="151515"/>
                </a:solidFill>
                <a:latin typeface="Consolas"/>
                <a:ea typeface="Consolas"/>
                <a:cs typeface="Consolas"/>
              </a:rPr>
              <a:t>    double total_value = 0, current_weight = 0;</a:t>
            </a:r>
          </a:p>
          <a:p>
            <a:pPr algn="l" eaLnBrk="0" latinLnBrk="0">
              <a:lnSpc>
                <a:spcPct val="100000"/>
              </a:lnSpc>
              <a:buNone/>
            </a:pPr>
            <a:r>
              <a:rPr lang="ko-KR" altLang="en-US" sz="1800" b="0" dirty="0">
                <a:solidFill>
                  <a:srgbClr val="151515"/>
                </a:solidFill>
                <a:latin typeface="Consolas"/>
                <a:ea typeface="Consolas"/>
                <a:cs typeface="Consolas"/>
              </a:rPr>
              <a:t>    printf("--- 배낭 채우기 시작 (용량: %dkg) ---\n", capacity);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③: 배낭을 채우는 반복문</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74</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for (int i = 0; i &lt; n; i++) {</a:t>
            </a:r>
          </a:p>
          <a:p>
            <a:pPr algn="l" eaLnBrk="0" latinLnBrk="0">
              <a:lnSpc>
                <a:spcPct val="100000"/>
              </a:lnSpc>
              <a:buNone/>
            </a:pPr>
            <a:r>
              <a:rPr lang="ko-KR" altLang="en-US" sz="1800" b="0" dirty="0">
                <a:solidFill>
                  <a:srgbClr val="151515"/>
                </a:solidFill>
                <a:latin typeface="Consolas"/>
                <a:ea typeface="Consolas"/>
                <a:cs typeface="Consolas"/>
              </a:rPr>
              <a:t>        Item it = items[i];</a:t>
            </a:r>
          </a:p>
          <a:p>
            <a:pPr algn="l" eaLnBrk="0" latinLnBrk="0">
              <a:lnSpc>
                <a:spcPct val="100000"/>
              </a:lnSpc>
              <a:buNone/>
            </a:pPr>
            <a:r>
              <a:rPr lang="ko-KR" altLang="en-US" sz="1800" b="0" dirty="0">
                <a:solidFill>
                  <a:srgbClr val="151515"/>
                </a:solidFill>
                <a:latin typeface="Consolas"/>
                <a:ea typeface="Consolas"/>
                <a:cs typeface="Consolas"/>
              </a:rPr>
              <a:t>        if (current_weight + it.weight &lt;= capacity) {</a:t>
            </a:r>
          </a:p>
          <a:p>
            <a:pPr algn="l" eaLnBrk="0" latinLnBrk="0">
              <a:lnSpc>
                <a:spcPct val="100000"/>
              </a:lnSpc>
              <a:buNone/>
            </a:pPr>
            <a:r>
              <a:rPr lang="ko-KR" altLang="en-US" sz="1800" b="0" dirty="0">
                <a:solidFill>
                  <a:srgbClr val="151515"/>
                </a:solidFill>
                <a:latin typeface="Consolas"/>
                <a:ea typeface="Consolas"/>
                <a:cs typeface="Consolas"/>
              </a:rPr>
              <a:t>            current_weight += it.weight;              /* 통째로 */</a:t>
            </a:r>
          </a:p>
          <a:p>
            <a:pPr algn="l" eaLnBrk="0" latinLnBrk="0">
              <a:lnSpc>
                <a:spcPct val="100000"/>
              </a:lnSpc>
              <a:buNone/>
            </a:pPr>
            <a:r>
              <a:rPr lang="ko-KR" altLang="en-US" sz="1800" b="0" dirty="0">
                <a:solidFill>
                  <a:srgbClr val="151515"/>
                </a:solidFill>
                <a:latin typeface="Consolas"/>
                <a:ea typeface="Consolas"/>
                <a:cs typeface="Consolas"/>
              </a:rPr>
              <a:t>            total_value += it.value;</a:t>
            </a:r>
          </a:p>
          <a:p>
            <a:pPr algn="l" eaLnBrk="0" latinLnBrk="0">
              <a:lnSpc>
                <a:spcPct val="100000"/>
              </a:lnSpc>
              <a:buNone/>
            </a:pPr>
            <a:r>
              <a:rPr lang="ko-KR" altLang="en-US" sz="1800" b="0" dirty="0">
                <a:solidFill>
                  <a:srgbClr val="151515"/>
                </a:solidFill>
                <a:latin typeface="Consolas"/>
                <a:ea typeface="Consolas"/>
                <a:cs typeface="Consolas"/>
              </a:rPr>
              <a:t>            printf("-&gt; %s 전체 추가 (현재 무게: %gkg)\n",</a:t>
            </a:r>
          </a:p>
          <a:p>
            <a:pPr algn="l" eaLnBrk="0" latinLnBrk="0">
              <a:lnSpc>
                <a:spcPct val="100000"/>
              </a:lnSpc>
              <a:buNone/>
            </a:pPr>
            <a:r>
              <a:rPr lang="ko-KR" altLang="en-US" sz="1800" b="0" dirty="0">
                <a:solidFill>
                  <a:srgbClr val="151515"/>
                </a:solidFill>
                <a:latin typeface="Consolas"/>
                <a:ea typeface="Consolas"/>
                <a:cs typeface="Consolas"/>
              </a:rPr>
              <a:t>                   it.name, current_weight);</a:t>
            </a:r>
          </a:p>
          <a:p>
            <a:pPr algn="l" eaLnBrk="0" latinLnBrk="0">
              <a:lnSpc>
                <a:spcPct val="100000"/>
              </a:lnSpc>
              <a:buNone/>
            </a:pPr>
            <a:r>
              <a:rPr lang="ko-KR" altLang="en-US" sz="1800" b="0" dirty="0">
                <a:solidFill>
                  <a:srgbClr val="151515"/>
                </a:solidFill>
                <a:latin typeface="Consolas"/>
                <a:ea typeface="Consolas"/>
                <a:cs typeface="Consolas"/>
              </a:rPr>
              <a:t>        } else {</a:t>
            </a:r>
          </a:p>
          <a:p>
            <a:pPr algn="l" eaLnBrk="0" latinLnBrk="0">
              <a:lnSpc>
                <a:spcPct val="100000"/>
              </a:lnSpc>
              <a:buNone/>
            </a:pPr>
            <a:r>
              <a:rPr lang="ko-KR" altLang="en-US" sz="1800" b="0" dirty="0">
                <a:solidFill>
                  <a:srgbClr val="151515"/>
                </a:solidFill>
                <a:latin typeface="Consolas"/>
                <a:ea typeface="Consolas"/>
                <a:cs typeface="Consolas"/>
              </a:rPr>
              <a:t>            double room = capacity - current_weight;  /* 남은 공간 */</a:t>
            </a:r>
          </a:p>
          <a:p>
            <a:pPr algn="l" eaLnBrk="0" latinLnBrk="0">
              <a:lnSpc>
                <a:spcPct val="100000"/>
              </a:lnSpc>
              <a:buNone/>
            </a:pPr>
            <a:r>
              <a:rPr lang="ko-KR" altLang="en-US" sz="1800" b="0" dirty="0">
                <a:solidFill>
                  <a:srgbClr val="151515"/>
                </a:solidFill>
                <a:latin typeface="Consolas"/>
                <a:ea typeface="Consolas"/>
                <a:cs typeface="Consolas"/>
              </a:rPr>
              <a:t>            total_value += room * it.ratio;</a:t>
            </a:r>
          </a:p>
          <a:p>
            <a:pPr algn="l" eaLnBrk="0" latinLnBrk="0">
              <a:lnSpc>
                <a:spcPct val="100000"/>
              </a:lnSpc>
              <a:buNone/>
            </a:pPr>
            <a:r>
              <a:rPr lang="ko-KR" altLang="en-US" sz="1800" b="0" dirty="0">
                <a:solidFill>
                  <a:srgbClr val="151515"/>
                </a:solidFill>
                <a:latin typeface="Consolas"/>
                <a:ea typeface="Consolas"/>
                <a:cs typeface="Consolas"/>
              </a:rPr>
              <a:t>            printf("-&gt; %s %gkg만 쪼개서 추가 (가득 참!)\n", it.name, room);</a:t>
            </a:r>
          </a:p>
          <a:p>
            <a:pPr algn="l" eaLnBrk="0" latinLnBrk="0">
              <a:lnSpc>
                <a:spcPct val="100000"/>
              </a:lnSpc>
              <a:buNone/>
            </a:pPr>
            <a:r>
              <a:rPr lang="ko-KR" altLang="en-US" sz="1800" b="0" dirty="0">
                <a:solidFill>
                  <a:srgbClr val="151515"/>
                </a:solidFill>
                <a:latin typeface="Consolas"/>
                <a:ea typeface="Consolas"/>
                <a:cs typeface="Consolas"/>
              </a:rPr>
              <a:t>            break;</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return total_value;</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④: main에서 보물 세 개로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75</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knapsack.c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int main(void) {</a:t>
            </a:r>
          </a:p>
          <a:p>
            <a:pPr algn="l" eaLnBrk="0" latinLnBrk="0">
              <a:lnSpc>
                <a:spcPct val="100000"/>
              </a:lnSpc>
              <a:buNone/>
            </a:pPr>
            <a:r>
              <a:rPr lang="ko-KR" altLang="en-US" sz="1800" b="0" dirty="0">
                <a:solidFill>
                  <a:srgbClr val="151515"/>
                </a:solidFill>
                <a:latin typeface="Consolas"/>
                <a:ea typeface="Consolas"/>
                <a:cs typeface="Consolas"/>
              </a:rPr>
              <a:t>    Item items[] = {make_item("A(황금 가루)", 20, 14000),</a:t>
            </a:r>
          </a:p>
          <a:p>
            <a:pPr algn="l" eaLnBrk="0" latinLnBrk="0">
              <a:lnSpc>
                <a:spcPct val="100000"/>
              </a:lnSpc>
              <a:buNone/>
            </a:pPr>
            <a:r>
              <a:rPr lang="ko-KR" altLang="en-US" sz="1800" b="0" dirty="0">
                <a:solidFill>
                  <a:srgbClr val="151515"/>
                </a:solidFill>
                <a:latin typeface="Consolas"/>
                <a:ea typeface="Consolas"/>
                <a:cs typeface="Consolas"/>
              </a:rPr>
              <a:t>                    make_item("B(은 가루)", 15, 9000),</a:t>
            </a:r>
          </a:p>
          <a:p>
            <a:pPr algn="l" eaLnBrk="0" latinLnBrk="0">
              <a:lnSpc>
                <a:spcPct val="100000"/>
              </a:lnSpc>
              <a:buNone/>
            </a:pPr>
            <a:r>
              <a:rPr lang="ko-KR" altLang="en-US" sz="1800" b="0" dirty="0">
                <a:solidFill>
                  <a:srgbClr val="151515"/>
                </a:solidFill>
                <a:latin typeface="Consolas"/>
                <a:ea typeface="Consolas"/>
                <a:cs typeface="Consolas"/>
              </a:rPr>
              <a:t>                    make_item("C(보석 가루)", 15, 9000)};</a:t>
            </a:r>
          </a:p>
          <a:p>
            <a:pPr algn="l" eaLnBrk="0" latinLnBrk="0">
              <a:lnSpc>
                <a:spcPct val="100000"/>
              </a:lnSpc>
              <a:buNone/>
            </a:pPr>
            <a:r>
              <a:rPr lang="ko-KR" altLang="en-US" sz="1800" b="0" dirty="0">
                <a:solidFill>
                  <a:srgbClr val="151515"/>
                </a:solidFill>
                <a:latin typeface="Consolas"/>
                <a:ea typeface="Consolas"/>
                <a:cs typeface="Consolas"/>
              </a:rPr>
              <a:t>    double best = solve_fractional_knapsack(30, items, 3);</a:t>
            </a:r>
          </a:p>
          <a:p>
            <a:pPr algn="l" eaLnBrk="0" latinLnBrk="0">
              <a:lnSpc>
                <a:spcPct val="100000"/>
              </a:lnSpc>
              <a:buNone/>
            </a:pPr>
            <a:r>
              <a:rPr lang="ko-KR" altLang="en-US" sz="1800" b="0" dirty="0">
                <a:solidFill>
                  <a:srgbClr val="151515"/>
                </a:solidFill>
                <a:latin typeface="Consolas"/>
                <a:ea typeface="Consolas"/>
                <a:cs typeface="Consolas"/>
              </a:rPr>
              <a:t>    printf("------------------------------------\n");</a:t>
            </a:r>
          </a:p>
          <a:p>
            <a:pPr algn="l" eaLnBrk="0" latinLnBrk="0">
              <a:lnSpc>
                <a:spcPct val="100000"/>
              </a:lnSpc>
              <a:buNone/>
            </a:pPr>
            <a:r>
              <a:rPr lang="ko-KR" altLang="en-US" sz="1800" b="0" dirty="0">
                <a:solidFill>
                  <a:srgbClr val="151515"/>
                </a:solidFill>
                <a:latin typeface="Consolas"/>
                <a:ea typeface="Consolas"/>
                <a:cs typeface="Consolas"/>
              </a:rPr>
              <a:t>    printf("배낭의 최대 가치 합계: %g 골드\n", best);</a:t>
            </a:r>
          </a:p>
          <a:p>
            <a:pPr algn="l" eaLnBrk="0" latinLnBrk="0">
              <a:lnSpc>
                <a:spcPct val="100000"/>
              </a:lnSpc>
              <a:buNone/>
            </a:pPr>
            <a:r>
              <a:rPr lang="ko-KR" altLang="en-US" sz="1800" b="0" dirty="0">
                <a:solidFill>
                  <a:srgbClr val="151515"/>
                </a:solidFill>
                <a:latin typeface="Consolas"/>
                <a:ea typeface="Consolas"/>
                <a:cs typeface="Consolas"/>
              </a:rPr>
              <a:t>    return 0;</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실행 결과: 20,000 골드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76</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0" name="직사각형 11"/>
          <p:cNvSpPr/>
          <p:nvPr/>
        </p:nvSpPr>
        <p:spPr>
          <a:xfrm>
            <a:off x="612648" y="1856232"/>
            <a:ext cx="10972800" cy="1289304"/>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 배낭 채우기 시작 (용량: 30kg) ---</a:t>
            </a:r>
          </a:p>
          <a:p>
            <a:pPr algn="l" eaLnBrk="0" latinLnBrk="0">
              <a:lnSpc>
                <a:spcPct val="100000"/>
              </a:lnSpc>
              <a:buNone/>
            </a:pPr>
            <a:r>
              <a:rPr lang="ko-KR" altLang="en-US" sz="1400" b="0" dirty="0">
                <a:solidFill>
                  <a:srgbClr val="151515"/>
                </a:solidFill>
                <a:latin typeface="Consolas"/>
                <a:ea typeface="Consolas"/>
                <a:cs typeface="Consolas"/>
              </a:rPr>
              <a:t>-&gt; A(황금 가루) 전체 추가 (현재 무게: 20kg)</a:t>
            </a:r>
          </a:p>
          <a:p>
            <a:pPr algn="l" eaLnBrk="0" latinLnBrk="0">
              <a:lnSpc>
                <a:spcPct val="100000"/>
              </a:lnSpc>
              <a:buNone/>
            </a:pPr>
            <a:r>
              <a:rPr lang="ko-KR" altLang="en-US" sz="1400" b="0" dirty="0">
                <a:solidFill>
                  <a:srgbClr val="151515"/>
                </a:solidFill>
                <a:latin typeface="Consolas"/>
                <a:ea typeface="Consolas"/>
                <a:cs typeface="Consolas"/>
              </a:rPr>
              <a:t>-&gt; B(은 가루) 10kg만 쪼개서 추가 (가득 참!)</a:t>
            </a:r>
          </a:p>
          <a:p>
            <a:pPr algn="l" eaLnBrk="0" latinLnBrk="0">
              <a:lnSpc>
                <a:spcPct val="100000"/>
              </a:lnSpc>
              <a:buNone/>
            </a:pPr>
            <a:r>
              <a:rPr lang="ko-KR" altLang="en-US" sz="1400" b="0" dirty="0">
                <a:solidFill>
                  <a:srgbClr val="151515"/>
                </a:solidFill>
                <a:latin typeface="Consolas"/>
                <a:ea typeface="Consolas"/>
                <a:cs typeface="Consolas"/>
              </a:rPr>
              <a:t>------------------------------------</a:t>
            </a:r>
          </a:p>
          <a:p>
            <a:pPr algn="l" eaLnBrk="0" latinLnBrk="0">
              <a:lnSpc>
                <a:spcPct val="100000"/>
              </a:lnSpc>
              <a:buNone/>
            </a:pPr>
            <a:r>
              <a:rPr lang="ko-KR" altLang="en-US" sz="1400" b="0" dirty="0">
                <a:solidFill>
                  <a:srgbClr val="151515"/>
                </a:solidFill>
                <a:latin typeface="Consolas"/>
                <a:ea typeface="Consolas"/>
                <a:cs typeface="Consolas"/>
              </a:rPr>
              <a:t>배낭의 최대 가치 합계: 20000 골드</a:t>
            </a:r>
          </a:p>
        </p:txBody>
      </p:sp>
      <p:sp>
        <p:nvSpPr>
          <p:cNvPr id="11" name="fit:17826417369c28f5 12"/>
          <p:cNvSpPr/>
          <p:nvPr/>
        </p:nvSpPr>
        <p:spPr>
          <a:xfrm>
            <a:off x="612648" y="3273552"/>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A 20kg 전부 + B 10kg = 30kg, 14,000 + 6,000 = 20,000 골드입니다.</a:t>
            </a:r>
          </a:p>
          <a:p>
            <a:pPr algn="l" eaLnBrk="0" latinLnBrk="0">
              <a:lnSpc>
                <a:spcPct val="105000"/>
              </a:lnSpc>
              <a:buNone/>
            </a:pPr>
            <a:r>
              <a:rPr lang="ko-KR" altLang="en-US" sz="1800" b="0" dirty="0">
                <a:solidFill>
                  <a:srgbClr val="171717"/>
                </a:solidFill>
                <a:latin typeface="Malgun Gothic"/>
                <a:ea typeface="Malgun Gothic"/>
                <a:cs typeface="Malgun Gothic"/>
              </a:rPr>
              <a:t>Python과 C의 출력이 같습니다.</a:t>
            </a:r>
          </a:p>
        </p:txBody>
      </p:sp>
      <p:sp>
        <p:nvSpPr>
          <p:cNvPr id="12" name="fit:84cb1a6144f89fd7 13"/>
          <p:cNvSpPr/>
          <p:nvPr/>
        </p:nvSpPr>
        <p:spPr>
          <a:xfrm>
            <a:off x="612648" y="3995928"/>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Python에서 reverse=True를 빼면 무게당 가치가 낮은 B, C부터 담아 18,000 골드가 됩니다.</a:t>
            </a:r>
          </a:p>
          <a:p>
            <a:pPr algn="l" eaLnBrk="0" latinLnBrk="0">
              <a:lnSpc>
                <a:spcPct val="100000"/>
              </a:lnSpc>
              <a:buNone/>
            </a:pPr>
            <a:r>
              <a:rPr lang="ko-KR" altLang="en-US" sz="1650" b="0" dirty="0">
                <a:solidFill>
                  <a:srgbClr val="3F3F3F"/>
                </a:solidFill>
                <a:latin typeface="Malgun Gothic"/>
                <a:ea typeface="Malgun Gothic"/>
                <a:cs typeface="Malgun Gothic"/>
              </a:rPr>
              <a:t>정렬 방향이 그리디의 기준입니다.</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복잡도: 정렬이 O(n log n)</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77</a:t>
            </a:r>
          </a:p>
        </p:txBody>
      </p:sp>
      <p:sp>
        <p:nvSpPr>
          <p:cNvPr id="9" name="fit:7adb81936195e236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n은 보물의 개수입니다.</a:t>
            </a:r>
          </a:p>
        </p:txBody>
      </p:sp>
      <p:sp>
        <p:nvSpPr>
          <p:cNvPr id="10" name="직사각형 11"/>
          <p:cNvSpPr/>
          <p:nvPr/>
        </p:nvSpPr>
        <p:spPr>
          <a:xfrm>
            <a:off x="65836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정렬</a:t>
            </a:r>
          </a:p>
        </p:txBody>
      </p:sp>
      <p:sp>
        <p:nvSpPr>
          <p:cNvPr id="12" name="직사각형 13"/>
          <p:cNvSpPr/>
          <p:nvPr/>
        </p:nvSpPr>
        <p:spPr>
          <a:xfrm>
            <a:off x="749808" y="2724912"/>
            <a:ext cx="30175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650" b="0" dirty="0">
                <a:solidFill>
                  <a:srgbClr val="171717"/>
                </a:solidFill>
                <a:latin typeface="Malgun Gothic"/>
                <a:ea typeface="Malgun Gothic"/>
                <a:cs typeface="Malgun Gothic"/>
              </a:rPr>
              <a:t>무게당 가치로 n개를 정렬</a:t>
            </a:r>
          </a:p>
          <a:p>
            <a:pPr algn="ctr" eaLnBrk="0" latinLnBrk="0">
              <a:lnSpc>
                <a:spcPct val="110000"/>
              </a:lnSpc>
              <a:buNone/>
            </a:pPr>
            <a:r>
              <a:rPr lang="ko-KR" altLang="en-US" sz="1650" b="0" dirty="0">
                <a:solidFill>
                  <a:srgbClr val="171717"/>
                </a:solidFill>
                <a:latin typeface="Malgun Gothic"/>
                <a:ea typeface="Malgun Gothic"/>
                <a:cs typeface="Malgun Gothic"/>
              </a:rPr>
              <a:t>O(n log n)</a:t>
            </a:r>
          </a:p>
        </p:txBody>
      </p:sp>
      <p:sp>
        <p:nvSpPr>
          <p:cNvPr id="13" name="직사각형 14"/>
          <p:cNvSpPr/>
          <p:nvPr/>
        </p:nvSpPr>
        <p:spPr>
          <a:xfrm>
            <a:off x="400507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449884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직사각형 16"/>
          <p:cNvSpPr/>
          <p:nvPr/>
        </p:nvSpPr>
        <p:spPr>
          <a:xfrm>
            <a:off x="459028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한 번 훑기</a:t>
            </a:r>
          </a:p>
        </p:txBody>
      </p:sp>
      <p:sp>
        <p:nvSpPr>
          <p:cNvPr id="16" name="직사각형 17"/>
          <p:cNvSpPr/>
          <p:nvPr/>
        </p:nvSpPr>
        <p:spPr>
          <a:xfrm>
            <a:off x="4590288" y="2724912"/>
            <a:ext cx="30175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650" b="0" dirty="0">
                <a:solidFill>
                  <a:srgbClr val="171717"/>
                </a:solidFill>
                <a:latin typeface="Malgun Gothic"/>
                <a:ea typeface="Malgun Gothic"/>
                <a:cs typeface="Malgun Gothic"/>
              </a:rPr>
              <a:t>보물마다 한 번씩 보고</a:t>
            </a:r>
          </a:p>
          <a:p>
            <a:pPr algn="ctr" eaLnBrk="0" latinLnBrk="0">
              <a:lnSpc>
                <a:spcPct val="110000"/>
              </a:lnSpc>
              <a:buNone/>
            </a:pPr>
            <a:r>
              <a:rPr lang="ko-KR" altLang="en-US" sz="1650" b="0" dirty="0">
                <a:solidFill>
                  <a:srgbClr val="171717"/>
                </a:solidFill>
                <a:latin typeface="Malgun Gothic"/>
                <a:ea typeface="Malgun Gothic"/>
                <a:cs typeface="Malgun Gothic"/>
              </a:rPr>
              <a:t>덜어 담기는 많아야 한 번</a:t>
            </a:r>
          </a:p>
          <a:p>
            <a:pPr algn="ctr" eaLnBrk="0" latinLnBrk="0">
              <a:lnSpc>
                <a:spcPct val="110000"/>
              </a:lnSpc>
              <a:buNone/>
            </a:pPr>
            <a:r>
              <a:rPr lang="ko-KR" altLang="en-US" sz="1650" b="0" dirty="0">
                <a:solidFill>
                  <a:srgbClr val="171717"/>
                </a:solidFill>
                <a:latin typeface="Malgun Gothic"/>
                <a:ea typeface="Malgun Gothic"/>
                <a:cs typeface="Malgun Gothic"/>
              </a:rPr>
              <a:t>O(n)</a:t>
            </a:r>
          </a:p>
        </p:txBody>
      </p:sp>
      <p:sp>
        <p:nvSpPr>
          <p:cNvPr id="17" name="직사각형 18"/>
          <p:cNvSpPr/>
          <p:nvPr/>
        </p:nvSpPr>
        <p:spPr>
          <a:xfrm>
            <a:off x="784555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8" name="직사각형 19"/>
          <p:cNvSpPr/>
          <p:nvPr/>
        </p:nvSpPr>
        <p:spPr>
          <a:xfrm>
            <a:off x="833932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9" name="직사각형 20"/>
          <p:cNvSpPr/>
          <p:nvPr/>
        </p:nvSpPr>
        <p:spPr>
          <a:xfrm>
            <a:off x="843076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전체</a:t>
            </a:r>
          </a:p>
        </p:txBody>
      </p:sp>
      <p:sp>
        <p:nvSpPr>
          <p:cNvPr id="20" name="직사각형 21"/>
          <p:cNvSpPr/>
          <p:nvPr/>
        </p:nvSpPr>
        <p:spPr>
          <a:xfrm>
            <a:off x="8430768" y="2724912"/>
            <a:ext cx="30175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650" b="0" dirty="0">
                <a:solidFill>
                  <a:srgbClr val="171717"/>
                </a:solidFill>
                <a:latin typeface="Malgun Gothic"/>
                <a:ea typeface="Malgun Gothic"/>
                <a:cs typeface="Malgun Gothic"/>
              </a:rPr>
              <a:t>O(n log n) + O(n)</a:t>
            </a:r>
          </a:p>
          <a:p>
            <a:pPr algn="ctr" eaLnBrk="0" latinLnBrk="0">
              <a:lnSpc>
                <a:spcPct val="110000"/>
              </a:lnSpc>
              <a:buNone/>
            </a:pPr>
            <a:r>
              <a:rPr lang="ko-KR" altLang="en-US" sz="1650" b="0" dirty="0">
                <a:solidFill>
                  <a:srgbClr val="171717"/>
                </a:solidFill>
                <a:latin typeface="Malgun Gothic"/>
                <a:ea typeface="Malgun Gothic"/>
                <a:cs typeface="Malgun Gothic"/>
              </a:rPr>
              <a:t>= O(n log n)</a:t>
            </a:r>
          </a:p>
        </p:txBody>
      </p:sp>
      <p:sp>
        <p:nvSpPr>
          <p:cNvPr id="21" name="fit:811228346928a943 22"/>
          <p:cNvSpPr/>
          <p:nvPr/>
        </p:nvSpPr>
        <p:spPr>
          <a:xfrm>
            <a:off x="658368" y="3858768"/>
            <a:ext cx="1088136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정렬이 전체 비용을 결정합니다.</a:t>
            </a:r>
          </a:p>
        </p:txBody>
      </p:sp>
      <p:sp>
        <p:nvSpPr>
          <p:cNvPr id="22" name="fit:4d0a61b1f51078d7 23"/>
          <p:cNvSpPr/>
          <p:nvPr/>
        </p:nvSpPr>
        <p:spPr>
          <a:xfrm>
            <a:off x="658368" y="4370832"/>
            <a:ext cx="1088136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보물이 백만 개여도 정렬 한 번과 훑기 한 번이면 최적해가 나옵니다. 단, 쪼갤 수 있을 때만입니다.</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용량 7 · A(6, 18) · B(4, 20)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78</a:t>
            </a:r>
          </a:p>
        </p:txBody>
      </p:sp>
      <p:sp>
        <p:nvSpPr>
          <p:cNvPr id="9" name="fit:00aa4b59c3e02c94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쪼갤 수 있는 배낭, 보물은 (무게, 가치)입니다.</a:t>
            </a:r>
          </a:p>
          <a:p>
            <a:pPr algn="l" eaLnBrk="0" latinLnBrk="0">
              <a:lnSpc>
                <a:spcPct val="100000"/>
              </a:lnSpc>
              <a:buNone/>
            </a:pPr>
            <a:r>
              <a:rPr lang="ko-KR" altLang="en-US" sz="2025" b="0" dirty="0">
                <a:solidFill>
                  <a:srgbClr val="171717"/>
                </a:solidFill>
                <a:latin typeface="Malgun Gothic"/>
                <a:ea typeface="Malgun Gothic"/>
                <a:cs typeface="Malgun Gothic"/>
              </a:rPr>
              <a:t>무게당 가치 A 18 ÷ 6 = 3, B 20 ÷ 4 = 5 → B부터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e5c32f9fe9dcc513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① B: 4 ≤ 7 → 전부, 가치 20</a:t>
            </a:r>
          </a:p>
        </p:txBody>
      </p:sp>
      <p:sp>
        <p:nvSpPr>
          <p:cNvPr id="12" name="fit:050a0bc6ab6a2f49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② 남은 용량 7 − 4 = 3</a:t>
            </a:r>
          </a:p>
        </p:txBody>
      </p:sp>
      <p:sp>
        <p:nvSpPr>
          <p:cNvPr id="13" name="fit:ea1537625d358b28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③ A: 6 &gt; 3 → 3만 덜어 담기</a:t>
            </a:r>
          </a:p>
        </p:txBody>
      </p:sp>
      <p:sp>
        <p:nvSpPr>
          <p:cNvPr id="14" name="fit:62b496b736e01c6b 15"/>
          <p:cNvSpPr/>
          <p:nvPr/>
        </p:nvSpPr>
        <p:spPr>
          <a:xfrm>
            <a:off x="7909560" y="39502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3 ÷ 6 = 1/2 → 18 × 1/2 = 9</a:t>
            </a:r>
          </a:p>
        </p:txBody>
      </p:sp>
      <p:sp>
        <p:nvSpPr>
          <p:cNvPr id="15" name="fit:dabc1253d25728db 16"/>
          <p:cNvSpPr/>
          <p:nvPr/>
        </p:nvSpPr>
        <p:spPr>
          <a:xfrm>
            <a:off x="7909560" y="4379976"/>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합계 20 + 9 = 29</a:t>
            </a:r>
          </a:p>
        </p:txBody>
      </p:sp>
      <p:sp>
        <p:nvSpPr>
          <p:cNvPr id="16" name="직사각형 17"/>
          <p:cNvSpPr/>
          <p:nvPr/>
        </p:nvSpPr>
        <p:spPr>
          <a:xfrm>
            <a:off x="612648" y="4297680"/>
            <a:ext cx="3758184"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4</a:t>
            </a:r>
          </a:p>
        </p:txBody>
      </p:sp>
      <p:sp>
        <p:nvSpPr>
          <p:cNvPr id="17" name="직사각형 18"/>
          <p:cNvSpPr/>
          <p:nvPr/>
        </p:nvSpPr>
        <p:spPr>
          <a:xfrm>
            <a:off x="4370832" y="4297680"/>
            <a:ext cx="2825496"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3 (절반)</a:t>
            </a:r>
          </a:p>
        </p:txBody>
      </p:sp>
      <p:graphicFrame>
        <p:nvGraphicFramePr>
          <p:cNvPr id="18" name="표 19"/>
          <p:cNvGraphicFramePr>
            <a:graphicFrameLocks noGrp="1"/>
          </p:cNvGraphicFramePr>
          <p:nvPr/>
        </p:nvGraphicFramePr>
        <p:xfrm>
          <a:off x="612648" y="2651760"/>
          <a:ext cx="6583680" cy="987552"/>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 (전부)</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20</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 (3/6)</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9</a:t>
                      </a:r>
                    </a:p>
                  </a:txBody>
                  <a:tcPr marL="54864" marR="54864" marT="18288" marB="18288" anchor="ctr">
                    <a:solidFill>
                      <a:srgbClr val="DDF1E4"/>
                    </a:solidFill>
                  </a:tcPr>
                </a:tc>
              </a:tr>
            </a:tbl>
          </a:graphicData>
        </a:graphic>
      </p:graphicFrame>
      <p:sp>
        <p:nvSpPr>
          <p:cNvPr id="19" name="직사각형 20"/>
          <p:cNvSpPr/>
          <p:nvPr/>
        </p:nvSpPr>
        <p:spPr>
          <a:xfrm>
            <a:off x="612648" y="39684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7)</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    노랑: 무게당 가치</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용량 5 · A(2, 8) · B(4, 16)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79</a:t>
            </a:r>
          </a:p>
        </p:txBody>
      </p:sp>
      <p:sp>
        <p:nvSpPr>
          <p:cNvPr id="9" name="fit:768365d3a94fcb59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무게당 가치는 A 8 ÷ 2 = 4, B 16 ÷ 4 = 4로 같습니다.</a:t>
            </a:r>
          </a:p>
          <a:p>
            <a:pPr algn="l" eaLnBrk="0" latinLnBrk="0">
              <a:lnSpc>
                <a:spcPct val="100000"/>
              </a:lnSpc>
              <a:buNone/>
            </a:pPr>
            <a:r>
              <a:rPr lang="ko-KR" altLang="en-US" sz="2025" b="0" dirty="0">
                <a:solidFill>
                  <a:srgbClr val="171717"/>
                </a:solidFill>
                <a:latin typeface="Malgun Gothic"/>
                <a:ea typeface="Malgun Gothic"/>
                <a:cs typeface="Malgun Gothic"/>
              </a:rPr>
              <a:t>같으면 앞에 있는 A부터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1c61785cdf10a94e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① A: 2 ≤ 5 → 전부, 가치 8</a:t>
            </a:r>
          </a:p>
        </p:txBody>
      </p:sp>
      <p:sp>
        <p:nvSpPr>
          <p:cNvPr id="12" name="fit:4cbbdaadb16dd7cd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② 남은 용량 5 − 2 = 3</a:t>
            </a:r>
          </a:p>
        </p:txBody>
      </p:sp>
      <p:sp>
        <p:nvSpPr>
          <p:cNvPr id="13" name="fit:dedd0320ee0f3229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③ B: 4 &gt; 3 → 3만 덜어 담기</a:t>
            </a:r>
          </a:p>
        </p:txBody>
      </p:sp>
      <p:sp>
        <p:nvSpPr>
          <p:cNvPr id="14" name="fit:18e2ff248e5c90e7 15"/>
          <p:cNvSpPr/>
          <p:nvPr/>
        </p:nvSpPr>
        <p:spPr>
          <a:xfrm>
            <a:off x="7909560" y="39502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3 ÷ 4 = 3/4 → 16 × 3/4 = 12</a:t>
            </a:r>
          </a:p>
        </p:txBody>
      </p:sp>
      <p:sp>
        <p:nvSpPr>
          <p:cNvPr id="15" name="fit:b7e496fff65185e3 16"/>
          <p:cNvSpPr/>
          <p:nvPr/>
        </p:nvSpPr>
        <p:spPr>
          <a:xfrm>
            <a:off x="7909560" y="4343400"/>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합계 8 + 12 = 20</a:t>
            </a:r>
          </a:p>
        </p:txBody>
      </p:sp>
      <p:sp>
        <p:nvSpPr>
          <p:cNvPr id="16" name="fit:11eca8a07ce612ac 17"/>
          <p:cNvSpPr/>
          <p:nvPr/>
        </p:nvSpPr>
        <p:spPr>
          <a:xfrm>
            <a:off x="7909560" y="4809744"/>
            <a:ext cx="3666744" cy="448056"/>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B부터 담아도 16 + 4 = 20.</a:t>
            </a:r>
          </a:p>
          <a:p>
            <a:pPr algn="l" eaLnBrk="0" latinLnBrk="0">
              <a:lnSpc>
                <a:spcPct val="100000"/>
              </a:lnSpc>
              <a:buNone/>
            </a:pPr>
            <a:r>
              <a:rPr lang="ko-KR" altLang="en-US" sz="1350" b="0" dirty="0">
                <a:solidFill>
                  <a:srgbClr val="3F3F3F"/>
                </a:solidFill>
                <a:latin typeface="Malgun Gothic"/>
                <a:ea typeface="Malgun Gothic"/>
                <a:cs typeface="Malgun Gothic"/>
              </a:rPr>
              <a:t>무게당 가치가 모두 4라서 5 × 4 = 20입니다.</a:t>
            </a:r>
          </a:p>
        </p:txBody>
      </p:sp>
      <p:sp>
        <p:nvSpPr>
          <p:cNvPr id="17" name="직사각형 18"/>
          <p:cNvSpPr/>
          <p:nvPr/>
        </p:nvSpPr>
        <p:spPr>
          <a:xfrm>
            <a:off x="612648" y="4297680"/>
            <a:ext cx="2633472"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a:t>
            </a:r>
          </a:p>
        </p:txBody>
      </p:sp>
      <p:sp>
        <p:nvSpPr>
          <p:cNvPr id="18" name="직사각형 19"/>
          <p:cNvSpPr/>
          <p:nvPr/>
        </p:nvSpPr>
        <p:spPr>
          <a:xfrm>
            <a:off x="3246120" y="4297680"/>
            <a:ext cx="3950208"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3 (3/4)</a:t>
            </a:r>
          </a:p>
        </p:txBody>
      </p:sp>
      <p:graphicFrame>
        <p:nvGraphicFramePr>
          <p:cNvPr id="19" name="표 20"/>
          <p:cNvGraphicFramePr>
            <a:graphicFrameLocks noGrp="1"/>
          </p:cNvGraphicFramePr>
          <p:nvPr/>
        </p:nvGraphicFramePr>
        <p:xfrm>
          <a:off x="612648" y="2651760"/>
          <a:ext cx="6583680" cy="987552"/>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8</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 (전부)</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 (3/4)</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12</a:t>
                      </a:r>
                    </a:p>
                  </a:txBody>
                  <a:tcPr marL="54864" marR="54864" marT="18288" marB="18288" anchor="ctr">
                    <a:solidFill>
                      <a:srgbClr val="DDF1E4"/>
                    </a:solidFill>
                  </a:tcPr>
                </a:tc>
              </a:tr>
            </a:tbl>
          </a:graphicData>
        </a:graphic>
      </p:graphicFrame>
      <p:sp>
        <p:nvSpPr>
          <p:cNvPr id="20" name="직사각형 21"/>
          <p:cNvSpPr/>
          <p:nvPr/>
        </p:nvSpPr>
        <p:spPr>
          <a:xfrm>
            <a:off x="612648" y="39684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5)</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    노랑: 무게당 가치</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0/1 배낭: 같은 숫자, 쪼갤 수만 없다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80</a:t>
            </a:r>
          </a:p>
        </p:txBody>
      </p:sp>
      <p:sp>
        <p:nvSpPr>
          <p:cNvPr id="9" name="fit:742b8c4a2dca2aae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이번 보물은 조각상이나 갑옷처럼 덜어 낼 수 없습니다.</a:t>
            </a:r>
          </a:p>
          <a:p>
            <a:pPr algn="l" eaLnBrk="0" latinLnBrk="0">
              <a:lnSpc>
                <a:spcPct val="105000"/>
              </a:lnSpc>
              <a:buNone/>
            </a:pPr>
            <a:r>
              <a:rPr lang="ko-KR" altLang="en-US" sz="2025" b="0" dirty="0">
                <a:solidFill>
                  <a:srgbClr val="171717"/>
                </a:solidFill>
                <a:latin typeface="Malgun Gothic"/>
                <a:ea typeface="Malgun Gothic"/>
                <a:cs typeface="Malgun Gothic"/>
              </a:rPr>
              <a:t>통째로 담거나(1) 담지 않습니다(0).</a:t>
            </a:r>
          </a:p>
        </p:txBody>
      </p:sp>
      <p:graphicFrame>
        <p:nvGraphicFramePr>
          <p:cNvPr id="10" name="표 11"/>
          <p:cNvGraphicFramePr>
            <a:graphicFrameLocks noGrp="1"/>
          </p:cNvGraphicFramePr>
          <p:nvPr/>
        </p:nvGraphicFramePr>
        <p:xfrm>
          <a:off x="612648" y="2432304"/>
          <a:ext cx="10972800" cy="1463040"/>
        </p:xfrm>
        <a:graphic>
          <a:graphicData uri="http://schemas.openxmlformats.org/drawingml/2006/table">
            <a:tbl>
              <a:tblPr/>
              <a:tblGrid>
                <a:gridCol w="2612571"/>
                <a:gridCol w="2612571"/>
                <a:gridCol w="2612571"/>
                <a:gridCol w="3135086"/>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700 G/kg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600 G/kg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600 G/kg</a:t>
                      </a:r>
                    </a:p>
                  </a:txBody>
                  <a:tcPr marL="54864" marR="54864" marT="18288" marB="18288" anchor="ctr">
                    <a:solidFill>
                      <a:srgbClr val="FFFFFF"/>
                    </a:solidFill>
                  </a:tcPr>
                </a:tc>
              </a:tr>
            </a:tbl>
          </a:graphicData>
        </a:graphic>
      </p:graphicFrame>
      <p:sp>
        <p:nvSpPr>
          <p:cNvPr id="11" name="fit:8240c5337fead68f 12"/>
          <p:cNvSpPr/>
          <p:nvPr/>
        </p:nvSpPr>
        <p:spPr>
          <a:xfrm>
            <a:off x="612648" y="4041648"/>
            <a:ext cx="10972800" cy="76809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용량 30kg과 보물 표가 앞과 똑같습니다.</a:t>
            </a:r>
          </a:p>
          <a:p>
            <a:pPr algn="l" eaLnBrk="0" latinLnBrk="0">
              <a:lnSpc>
                <a:spcPct val="100000"/>
              </a:lnSpc>
              <a:buNone/>
            </a:pPr>
            <a:r>
              <a:rPr lang="ko-KR" altLang="en-US" sz="2400" b="1" dirty="0">
                <a:solidFill>
                  <a:srgbClr val="0E8A7D"/>
                </a:solidFill>
                <a:latin typeface="Malgun Gothic"/>
                <a:ea typeface="Malgun Gothic"/>
                <a:cs typeface="Malgun Gothic"/>
              </a:rPr>
              <a:t>달라진 규칙은 "쪼갤 수 없다" 하나뿐입니다.</a:t>
            </a:r>
          </a:p>
        </p:txBody>
      </p:sp>
      <p:sp>
        <p:nvSpPr>
          <p:cNvPr id="12" name="fit:7e74fdcd0cbecfff 13"/>
          <p:cNvSpPr/>
          <p:nvPr/>
        </p:nvSpPr>
        <p:spPr>
          <a:xfrm>
            <a:off x="612648" y="4919472"/>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그리디 규칙: 무게당 가치 순서로 보며,</a:t>
            </a:r>
          </a:p>
          <a:p>
            <a:pPr algn="l" eaLnBrk="0" latinLnBrk="0">
              <a:lnSpc>
                <a:spcPct val="105000"/>
              </a:lnSpc>
              <a:buNone/>
            </a:pPr>
            <a:r>
              <a:rPr lang="ko-KR" altLang="en-US" sz="1800" b="0" dirty="0">
                <a:solidFill>
                  <a:srgbClr val="171717"/>
                </a:solidFill>
                <a:latin typeface="Malgun Gothic"/>
                <a:ea typeface="Malgun Gothic"/>
                <a:cs typeface="Malgun Gothic"/>
              </a:rPr>
              <a:t>남은 용량에 통째로 들어가면 담고 아니면 건너뜁니다.</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0/1 그리디: A만 담고 14,000 G</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81</a:t>
            </a:r>
          </a:p>
        </p:txBody>
      </p:sp>
      <p:sp>
        <p:nvSpPr>
          <p:cNvPr id="9" name="fit:bee7b700d2e6ebcf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A(20kg)를 담으면 남은 용량은 10kg입니다.</a:t>
            </a:r>
          </a:p>
          <a:p>
            <a:pPr algn="l" eaLnBrk="0" latinLnBrk="0">
              <a:lnSpc>
                <a:spcPct val="100000"/>
              </a:lnSpc>
              <a:buNone/>
            </a:pPr>
            <a:r>
              <a:rPr lang="ko-KR" altLang="en-US" sz="2025" b="0" dirty="0">
                <a:solidFill>
                  <a:srgbClr val="171717"/>
                </a:solidFill>
                <a:latin typeface="Malgun Gothic"/>
                <a:ea typeface="Malgun Gothic"/>
                <a:cs typeface="Malgun Gothic"/>
              </a:rPr>
              <a:t>B와 C는 15kg이라 통째로 들어가지 않아 건너뜁니다.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21ad9b435bbbca3a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20kg ≤ 30kg → 담음</a:t>
            </a:r>
          </a:p>
        </p:txBody>
      </p:sp>
      <p:sp>
        <p:nvSpPr>
          <p:cNvPr id="12" name="fit:62b882b85b41974e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B: 15kg &gt; 남은 10kg → 건너뜀</a:t>
            </a:r>
          </a:p>
        </p:txBody>
      </p:sp>
      <p:sp>
        <p:nvSpPr>
          <p:cNvPr id="13" name="fit:8a73b15b6ba5f55b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C: 15kg &gt; 남은 10kg → 건너뜀</a:t>
            </a:r>
          </a:p>
        </p:txBody>
      </p:sp>
      <p:sp>
        <p:nvSpPr>
          <p:cNvPr id="14" name="fit:dd5f08ea05a7b85c 15"/>
          <p:cNvSpPr/>
          <p:nvPr/>
        </p:nvSpPr>
        <p:spPr>
          <a:xfrm>
            <a:off x="7909560" y="4005072"/>
            <a:ext cx="3666744" cy="24688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쪼갤 수 없으니 10kg이 빈 채로 끝납니다.</a:t>
            </a:r>
          </a:p>
        </p:txBody>
      </p:sp>
      <p:sp>
        <p:nvSpPr>
          <p:cNvPr id="15" name="fit:8653b7da843f4f72 16"/>
          <p:cNvSpPr/>
          <p:nvPr/>
        </p:nvSpPr>
        <p:spPr>
          <a:xfrm>
            <a:off x="7909560" y="4416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그리디의 답</a:t>
            </a:r>
          </a:p>
        </p:txBody>
      </p:sp>
      <p:sp>
        <p:nvSpPr>
          <p:cNvPr id="16" name="fit:1b162246e7ce9c1f 17"/>
          <p:cNvSpPr/>
          <p:nvPr/>
        </p:nvSpPr>
        <p:spPr>
          <a:xfrm>
            <a:off x="7909560" y="4700016"/>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14,000 G</a:t>
            </a:r>
          </a:p>
        </p:txBody>
      </p:sp>
      <p:sp>
        <p:nvSpPr>
          <p:cNvPr id="17" name="직사각형 18"/>
          <p:cNvSpPr/>
          <p:nvPr/>
        </p:nvSpPr>
        <p:spPr>
          <a:xfrm>
            <a:off x="612648" y="4754880"/>
            <a:ext cx="4389120"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20kg</a:t>
            </a:r>
          </a:p>
        </p:txBody>
      </p:sp>
      <p:sp>
        <p:nvSpPr>
          <p:cNvPr id="18" name="직사각형 19"/>
          <p:cNvSpPr/>
          <p:nvPr/>
        </p:nvSpPr>
        <p:spPr>
          <a:xfrm>
            <a:off x="5001768" y="4754880"/>
            <a:ext cx="2194560" cy="512064"/>
          </a:xfrm>
          <a:prstGeom prst="rect">
            <a:avLst/>
          </a:prstGeom>
          <a:solidFill>
            <a:srgbClr val="F2F2F2"/>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0" dirty="0">
                <a:solidFill>
                  <a:srgbClr val="606060"/>
                </a:solidFill>
                <a:latin typeface="Malgun Gothic"/>
                <a:ea typeface="Malgun Gothic"/>
                <a:cs typeface="Malgun Gothic"/>
              </a:rPr>
              <a:t>빈 공간 10kg</a:t>
            </a:r>
          </a:p>
        </p:txBody>
      </p:sp>
      <p:graphicFrame>
        <p:nvGraphicFramePr>
          <p:cNvPr id="19" name="표 20"/>
          <p:cNvGraphicFramePr>
            <a:graphicFrameLocks noGrp="1"/>
          </p:cNvGraphicFramePr>
          <p:nvPr/>
        </p:nvGraphicFramePr>
        <p:xfrm>
          <a:off x="612648" y="2651760"/>
          <a:ext cx="6583680" cy="1316736"/>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결정</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700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담음</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14,000 G</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건너뜀</a:t>
                      </a:r>
                    </a:p>
                  </a:txBody>
                  <a:tcPr marL="54864" marR="54864" marT="18288" marB="18288" anchor="ctr">
                    <a:solidFill>
                      <a:srgbClr val="FBE1E1"/>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 G</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건너뜀</a:t>
                      </a:r>
                    </a:p>
                  </a:txBody>
                  <a:tcPr marL="54864" marR="54864" marT="18288" marB="18288" anchor="ctr">
                    <a:solidFill>
                      <a:srgbClr val="FBE1E1"/>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 G</a:t>
                      </a:r>
                    </a:p>
                  </a:txBody>
                  <a:tcPr marL="54864" marR="54864" marT="18288" marB="18288" anchor="ctr">
                    <a:solidFill>
                      <a:srgbClr val="FFFFFF"/>
                    </a:solidFill>
                  </a:tcPr>
                </a:tc>
              </a:tr>
            </a:tbl>
          </a:graphicData>
        </a:graphic>
      </p:graphicFrame>
      <p:sp>
        <p:nvSpPr>
          <p:cNvPr id="20" name="직사각형 21"/>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담은 보물    빨강: 들어가지 않아 건너뛴 보물    회색: 남은 빈 공간</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가능한 조합 전부: B + C가 최대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82</a:t>
            </a:r>
          </a:p>
        </p:txBody>
      </p:sp>
      <p:sp>
        <p:nvSpPr>
          <p:cNvPr id="9" name="fit:eddb9a6f351eddfc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보물마다 담거나 말거나 두 가지이므로 조합은 2 × 2 × 2 = 8가지입니다.</a:t>
            </a:r>
          </a:p>
        </p:txBody>
      </p:sp>
      <p:graphicFrame>
        <p:nvGraphicFramePr>
          <p:cNvPr id="10" name="표 11"/>
          <p:cNvGraphicFramePr>
            <a:graphicFrameLocks noGrp="1"/>
          </p:cNvGraphicFramePr>
          <p:nvPr/>
        </p:nvGraphicFramePr>
        <p:xfrm>
          <a:off x="612648" y="2075688"/>
          <a:ext cx="10972800" cy="2962656"/>
        </p:xfrm>
        <a:graphic>
          <a:graphicData uri="http://schemas.openxmlformats.org/drawingml/2006/table">
            <a:tbl>
              <a:tblPr/>
              <a:tblGrid>
                <a:gridCol w="2801566"/>
                <a:gridCol w="2334638"/>
                <a:gridCol w="2334638"/>
                <a:gridCol w="3501957"/>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 합</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 합</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판정</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없음</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D5A8A"/>
                          </a:solidFill>
                          <a:latin typeface="Malgun Gothic"/>
                          <a:ea typeface="Malgun Gothic"/>
                          <a:cs typeface="Malgun Gothic"/>
                        </a:rPr>
                        <a:t>가능 (그리디의 답)</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30kg 초과</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30kg 초과</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B + C</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30kg</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18,000 G</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가능 · 최대</a:t>
                      </a:r>
                    </a:p>
                  </a:txBody>
                  <a:tcPr marL="54864" marR="54864" marT="18288" marB="18288" anchor="ctr">
                    <a:solidFill>
                      <a:srgbClr val="DDF1E4"/>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 + 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30kg 초과</a:t>
                      </a:r>
                    </a:p>
                  </a:txBody>
                  <a:tcPr marL="54864" marR="54864" marT="18288" marB="18288" anchor="ctr">
                    <a:solidFill>
                      <a:srgbClr val="FFFFFF"/>
                    </a:solidFill>
                  </a:tcPr>
                </a:tc>
              </a:tr>
            </a:tbl>
          </a:graphicData>
        </a:graphic>
      </p:graphicFrame>
      <p:sp>
        <p:nvSpPr>
          <p:cNvPr id="11" name="fit:3304a682b66dceab 12"/>
          <p:cNvSpPr/>
          <p:nvPr/>
        </p:nvSpPr>
        <p:spPr>
          <a:xfrm>
            <a:off x="612648" y="5184648"/>
            <a:ext cx="10972800" cy="76809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최적해는 B + C = 18,000 G입니다.</a:t>
            </a:r>
          </a:p>
          <a:p>
            <a:pPr algn="l" eaLnBrk="0" latinLnBrk="0">
              <a:lnSpc>
                <a:spcPct val="100000"/>
              </a:lnSpc>
              <a:buNone/>
            </a:pPr>
            <a:r>
              <a:rPr lang="ko-KR" altLang="en-US" sz="2400" b="1" dirty="0">
                <a:solidFill>
                  <a:srgbClr val="0E8A7D"/>
                </a:solidFill>
                <a:latin typeface="Malgun Gothic"/>
                <a:ea typeface="Malgun Gothic"/>
                <a:cs typeface="Malgun Gothic"/>
              </a:rPr>
              <a:t>그리디(14,000 G)보다 4,000 G 많습니다.</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0/1 용량 50 · 그리디는 160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83</a:t>
            </a:r>
          </a:p>
        </p:txBody>
      </p:sp>
      <p:sp>
        <p:nvSpPr>
          <p:cNvPr id="9" name="fit:b839d99089270805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A(10, 60), B(20, 100), C(30, 120)입니다(무게, 가치).</a:t>
            </a:r>
          </a:p>
          <a:p>
            <a:pPr algn="l" eaLnBrk="0" latinLnBrk="0">
              <a:lnSpc>
                <a:spcPct val="100000"/>
              </a:lnSpc>
              <a:buNone/>
            </a:pPr>
            <a:r>
              <a:rPr lang="ko-KR" altLang="en-US" sz="2025" b="0" dirty="0">
                <a:solidFill>
                  <a:srgbClr val="171717"/>
                </a:solidFill>
                <a:latin typeface="Malgun Gothic"/>
                <a:ea typeface="Malgun Gothic"/>
                <a:cs typeface="Malgun Gothic"/>
              </a:rPr>
              <a:t>무게당 가치 A 6, B 5, C 4 → A, B, C 순서로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0a500d51e589ff28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① A: 10 ≤ 50 → 담음, 남은 40</a:t>
            </a:r>
          </a:p>
        </p:txBody>
      </p:sp>
      <p:sp>
        <p:nvSpPr>
          <p:cNvPr id="12" name="fit:212c5361ba54e3bd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② B: 20 ≤ 40 → 담음, 남은 20</a:t>
            </a:r>
          </a:p>
        </p:txBody>
      </p:sp>
      <p:sp>
        <p:nvSpPr>
          <p:cNvPr id="13" name="fit:7f773269ca384dbe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③ C: 30 &gt; 20 → 건너뜀</a:t>
            </a:r>
          </a:p>
        </p:txBody>
      </p:sp>
      <p:sp>
        <p:nvSpPr>
          <p:cNvPr id="14" name="fit:8653b7da843f4f72 15"/>
          <p:cNvSpPr/>
          <p:nvPr/>
        </p:nvSpPr>
        <p:spPr>
          <a:xfrm>
            <a:off x="7909560" y="40416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그리디의 답</a:t>
            </a:r>
          </a:p>
        </p:txBody>
      </p:sp>
      <p:sp>
        <p:nvSpPr>
          <p:cNvPr id="15" name="fit:46b60fb62f81cf7e 16"/>
          <p:cNvSpPr/>
          <p:nvPr/>
        </p:nvSpPr>
        <p:spPr>
          <a:xfrm>
            <a:off x="7909560" y="4325112"/>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60 + 100 = 160</a:t>
            </a:r>
          </a:p>
        </p:txBody>
      </p:sp>
      <p:sp>
        <p:nvSpPr>
          <p:cNvPr id="16" name="직사각형 17"/>
          <p:cNvSpPr/>
          <p:nvPr/>
        </p:nvSpPr>
        <p:spPr>
          <a:xfrm>
            <a:off x="612648" y="4754880"/>
            <a:ext cx="1316736"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10</a:t>
            </a:r>
          </a:p>
        </p:txBody>
      </p:sp>
      <p:sp>
        <p:nvSpPr>
          <p:cNvPr id="17" name="직사각형 18"/>
          <p:cNvSpPr/>
          <p:nvPr/>
        </p:nvSpPr>
        <p:spPr>
          <a:xfrm>
            <a:off x="1929384" y="4754880"/>
            <a:ext cx="2633472"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20</a:t>
            </a:r>
          </a:p>
        </p:txBody>
      </p:sp>
      <p:sp>
        <p:nvSpPr>
          <p:cNvPr id="18" name="직사각형 19"/>
          <p:cNvSpPr/>
          <p:nvPr/>
        </p:nvSpPr>
        <p:spPr>
          <a:xfrm>
            <a:off x="4562856" y="4754880"/>
            <a:ext cx="2633472" cy="512064"/>
          </a:xfrm>
          <a:prstGeom prst="rect">
            <a:avLst/>
          </a:prstGeom>
          <a:solidFill>
            <a:srgbClr val="F2F2F2"/>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0" dirty="0">
                <a:solidFill>
                  <a:srgbClr val="606060"/>
                </a:solidFill>
                <a:latin typeface="Malgun Gothic"/>
                <a:ea typeface="Malgun Gothic"/>
                <a:cs typeface="Malgun Gothic"/>
              </a:rPr>
              <a:t>빈 공간 20</a:t>
            </a:r>
          </a:p>
        </p:txBody>
      </p:sp>
      <p:graphicFrame>
        <p:nvGraphicFramePr>
          <p:cNvPr id="19" name="표 20"/>
          <p:cNvGraphicFramePr>
            <a:graphicFrameLocks noGrp="1"/>
          </p:cNvGraphicFramePr>
          <p:nvPr/>
        </p:nvGraphicFramePr>
        <p:xfrm>
          <a:off x="612648" y="2651760"/>
          <a:ext cx="6583680" cy="1316736"/>
        </p:xfrm>
        <a:graphic>
          <a:graphicData uri="http://schemas.openxmlformats.org/drawingml/2006/table">
            <a:tbl>
              <a:tblPr/>
              <a:tblGrid>
                <a:gridCol w="752421"/>
                <a:gridCol w="940526"/>
                <a:gridCol w="1128631"/>
                <a:gridCol w="1316736"/>
                <a:gridCol w="1316736"/>
                <a:gridCol w="1128631"/>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결정</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담음</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담음</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100</a:t>
                      </a:r>
                    </a:p>
                  </a:txBody>
                  <a:tcPr marL="54864" marR="54864" marT="18288" marB="18288" anchor="ctr">
                    <a:solidFill>
                      <a:srgbClr val="DCECFB"/>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120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건너뜀</a:t>
                      </a:r>
                    </a:p>
                  </a:txBody>
                  <a:tcPr marL="54864" marR="54864" marT="18288" marB="18288" anchor="ctr">
                    <a:solidFill>
                      <a:srgbClr val="FBE1E1"/>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r>
            </a:tbl>
          </a:graphicData>
        </a:graphic>
      </p:graphicFrame>
      <p:sp>
        <p:nvSpPr>
          <p:cNvPr id="20" name="직사각형 21"/>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50)</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담은 보물    빨강: 건너뛴 보물    노랑: 무게당 가치    회색: 남은 빈 공간</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조합을 다 보면 B + C = 220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84</a:t>
            </a:r>
          </a:p>
        </p:txBody>
      </p:sp>
      <p:graphicFrame>
        <p:nvGraphicFramePr>
          <p:cNvPr id="9" name="표 10"/>
          <p:cNvGraphicFramePr>
            <a:graphicFrameLocks noGrp="1"/>
          </p:cNvGraphicFramePr>
          <p:nvPr/>
        </p:nvGraphicFramePr>
        <p:xfrm>
          <a:off x="612648" y="1636776"/>
          <a:ext cx="10972800" cy="2962656"/>
        </p:xfrm>
        <a:graphic>
          <a:graphicData uri="http://schemas.openxmlformats.org/drawingml/2006/table">
            <a:tbl>
              <a:tblPr/>
              <a:tblGrid>
                <a:gridCol w="2801566"/>
                <a:gridCol w="2334638"/>
                <a:gridCol w="2334638"/>
                <a:gridCol w="3501957"/>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 합</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 합</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판정</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없음</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120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160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D5A8A"/>
                          </a:solidFill>
                          <a:latin typeface="Malgun Gothic"/>
                          <a:ea typeface="Malgun Gothic"/>
                          <a:cs typeface="Malgun Gothic"/>
                        </a:rPr>
                        <a:t>가능 (그리디의 답)</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180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B + C</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50</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220</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가능 · 최대</a:t>
                      </a:r>
                    </a:p>
                  </a:txBody>
                  <a:tcPr marL="54864" marR="54864" marT="18288" marB="18288" anchor="ctr">
                    <a:solidFill>
                      <a:srgbClr val="DDF1E4"/>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 + 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50 초과</a:t>
                      </a:r>
                    </a:p>
                  </a:txBody>
                  <a:tcPr marL="54864" marR="54864" marT="18288" marB="18288" anchor="ctr">
                    <a:solidFill>
                      <a:srgbClr val="FFFFFF"/>
                    </a:solidFill>
                  </a:tcPr>
                </a:tc>
              </a:tr>
            </a:tbl>
          </a:graphicData>
        </a:graphic>
      </p:graphicFrame>
      <p:sp>
        <p:nvSpPr>
          <p:cNvPr id="10" name="fit:a486a186e9c10c25 11"/>
          <p:cNvSpPr/>
          <p:nvPr/>
        </p:nvSpPr>
        <p:spPr>
          <a:xfrm>
            <a:off x="612648" y="4745736"/>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최적해는 B + C = 220입니다. 그리디의 답 160보다 60 큽니다.</a:t>
            </a:r>
          </a:p>
        </p:txBody>
      </p:sp>
      <p:sp>
        <p:nvSpPr>
          <p:cNvPr id="11" name="fit:a49b34f283346047 12"/>
          <p:cNvSpPr/>
          <p:nvPr/>
        </p:nvSpPr>
        <p:spPr>
          <a:xfrm>
            <a:off x="612648" y="5257800"/>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무게당 가치 1등인 A를 담는 순간, 남은 40에는 B(20)와 C(30)를 함께 넣을 수 없습니다.</a:t>
            </a:r>
          </a:p>
          <a:p>
            <a:pPr algn="l" eaLnBrk="0" latinLnBrk="0">
              <a:lnSpc>
                <a:spcPct val="100000"/>
              </a:lnSpc>
              <a:buNone/>
            </a:pPr>
            <a:r>
              <a:rPr lang="ko-KR" altLang="en-US" sz="1650" b="0" dirty="0">
                <a:solidFill>
                  <a:srgbClr val="3F3F3F"/>
                </a:solidFill>
                <a:latin typeface="Malgun Gothic"/>
                <a:ea typeface="Malgun Gothic"/>
                <a:cs typeface="Malgun Gothic"/>
              </a:rPr>
              <a:t>첫 선택부터 최적해에서 벗어난 것입니다.</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0/1 배낭에서 그리디가 실패하는 이유</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85</a:t>
            </a:r>
          </a:p>
        </p:txBody>
      </p:sp>
      <p:sp>
        <p:nvSpPr>
          <p:cNvPr id="9" name="fit:2b352e0c62bd1927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첫 선택이 최적해에 없다</a:t>
            </a:r>
          </a:p>
        </p:txBody>
      </p:sp>
      <p:sp>
        <p:nvSpPr>
          <p:cNvPr id="10" name="fit:2acb35ccd421fe33 11"/>
          <p:cNvSpPr/>
          <p:nvPr/>
        </p:nvSpPr>
        <p:spPr>
          <a:xfrm>
            <a:off x="795528" y="196596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A를 담으면 남은 10kg에 B도 C도 들어가지 않습니다. 최적해 B + C에는 A가 없습니다.</a:t>
            </a:r>
          </a:p>
        </p:txBody>
      </p:sp>
      <p:sp>
        <p:nvSpPr>
          <p:cNvPr id="11" name="fit:b2531f86ecd8dc82 12"/>
          <p:cNvSpPr/>
          <p:nvPr/>
        </p:nvSpPr>
        <p:spPr>
          <a:xfrm>
            <a:off x="612648" y="235000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분할 배낭과의 차이</a:t>
            </a:r>
          </a:p>
        </p:txBody>
      </p:sp>
      <p:sp>
        <p:nvSpPr>
          <p:cNvPr id="12" name="fit:56f20c60fce80385 13"/>
          <p:cNvSpPr/>
          <p:nvPr/>
        </p:nvSpPr>
        <p:spPr>
          <a:xfrm>
            <a:off x="795528" y="2679192"/>
            <a:ext cx="1078992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쪼갤 수 있으면 남은 10kg을 B로 채워 손해가 없습니다.</a:t>
            </a:r>
          </a:p>
          <a:p>
            <a:pPr algn="l" eaLnBrk="0" latinLnBrk="0">
              <a:lnSpc>
                <a:spcPct val="105000"/>
              </a:lnSpc>
              <a:buNone/>
            </a:pPr>
            <a:r>
              <a:rPr lang="ko-KR" altLang="en-US" sz="1575" b="0" dirty="0">
                <a:solidFill>
                  <a:srgbClr val="3F3F3F"/>
                </a:solidFill>
                <a:latin typeface="Malgun Gothic"/>
                <a:ea typeface="Malgun Gothic"/>
                <a:cs typeface="Malgun Gothic"/>
              </a:rPr>
              <a:t>쪼갤 수 없으면 1kg 교환을 쓸 수 없고, 이 예처럼 빈 공간이 손해로 남습니다.</a:t>
            </a:r>
          </a:p>
        </p:txBody>
      </p:sp>
      <p:sp>
        <p:nvSpPr>
          <p:cNvPr id="13" name="fit:1cc9a669c322793e 14"/>
          <p:cNvSpPr/>
          <p:nvPr/>
        </p:nvSpPr>
        <p:spPr>
          <a:xfrm>
            <a:off x="612648" y="331927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모든 조합을 보면?</a:t>
            </a:r>
          </a:p>
        </p:txBody>
      </p:sp>
      <p:sp>
        <p:nvSpPr>
          <p:cNvPr id="14" name="fit:1d306d76c1c1d03e 15"/>
          <p:cNvSpPr/>
          <p:nvPr/>
        </p:nvSpPr>
        <p:spPr>
          <a:xfrm>
            <a:off x="795528" y="364845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보물 n개를 담거나 말거나: 2ⁿ가지. 보물이 30개면 10억 가지가 넘습니다.</a:t>
            </a:r>
          </a:p>
        </p:txBody>
      </p:sp>
      <p:sp>
        <p:nvSpPr>
          <p:cNvPr id="15" name="fit:e0ac22383b6b9413 16"/>
          <p:cNvSpPr/>
          <p:nvPr/>
        </p:nvSpPr>
        <p:spPr>
          <a:xfrm>
            <a:off x="612648" y="40325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④ 6장 동적 계획법</a:t>
            </a:r>
          </a:p>
        </p:txBody>
      </p:sp>
      <p:sp>
        <p:nvSpPr>
          <p:cNvPr id="16" name="fit:6b58876d7fd7441f 17"/>
          <p:cNvSpPr/>
          <p:nvPr/>
        </p:nvSpPr>
        <p:spPr>
          <a:xfrm>
            <a:off x="795528" y="43616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같은 부분 문제의 답을 표에 저장해 다시 계산하지 않습니다. 0/1 배낭의 정확한 답은 6장에서 구합니다.</a:t>
            </a:r>
          </a:p>
        </p:txBody>
      </p:sp>
      <p:sp>
        <p:nvSpPr>
          <p:cNvPr id="17" name="fit:f2ae1b802e44768f 18"/>
          <p:cNvSpPr/>
          <p:nvPr/>
        </p:nvSpPr>
        <p:spPr>
          <a:xfrm>
            <a:off x="612648" y="4745736"/>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0/1 배낭에서 무게당 가치 그리디는 최적해를 보장하지 못합니다.</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확인: 배낭 문제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86</a:t>
            </a:r>
          </a:p>
        </p:txBody>
      </p:sp>
      <p:sp>
        <p:nvSpPr>
          <p:cNvPr id="9" name="fit:5777301d2b505964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보물 세 개와 배낭 용량 6kg이 있습니다.</a:t>
            </a:r>
          </a:p>
        </p:txBody>
      </p:sp>
      <p:graphicFrame>
        <p:nvGraphicFramePr>
          <p:cNvPr id="10" name="표 11"/>
          <p:cNvGraphicFramePr>
            <a:graphicFrameLocks noGrp="1"/>
          </p:cNvGraphicFramePr>
          <p:nvPr/>
        </p:nvGraphicFramePr>
        <p:xfrm>
          <a:off x="612648" y="2103120"/>
          <a:ext cx="10972800" cy="1463040"/>
        </p:xfrm>
        <a:graphic>
          <a:graphicData uri="http://schemas.openxmlformats.org/drawingml/2006/table">
            <a:tbl>
              <a:tblPr/>
              <a:tblGrid>
                <a:gridCol w="3657600"/>
                <a:gridCol w="3657600"/>
                <a:gridCol w="3657600"/>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가치</a:t>
                      </a:r>
                    </a:p>
                  </a:txBody>
                  <a:tcPr marL="54864" marR="54864" marT="18288" marB="18288" anchor="ctr">
                    <a:solidFill>
                      <a:srgbClr val="151515"/>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X</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4kg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20 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Y</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3kg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18 G</a:t>
                      </a:r>
                    </a:p>
                  </a:txBody>
                  <a:tcPr marL="54864" marR="54864" marT="18288" marB="18288" anchor="ctr">
                    <a:solidFill>
                      <a:srgbClr val="FFFFFF"/>
                    </a:solidFill>
                  </a:tcPr>
                </a:tc>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Z</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2kg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8 G</a:t>
                      </a:r>
                    </a:p>
                  </a:txBody>
                  <a:tcPr marL="54864" marR="54864" marT="18288" marB="18288" anchor="ctr">
                    <a:solidFill>
                      <a:srgbClr val="FFFFFF"/>
                    </a:solidFill>
                  </a:tcPr>
                </a:tc>
              </a:tr>
            </a:tbl>
          </a:graphicData>
        </a:graphic>
      </p:graphicFrame>
      <p:sp>
        <p:nvSpPr>
          <p:cNvPr id="11" name="fit:aaf95278232f0085 12"/>
          <p:cNvSpPr/>
          <p:nvPr/>
        </p:nvSpPr>
        <p:spPr>
          <a:xfrm>
            <a:off x="612648" y="3712464"/>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① 쪼갤 수 있을 때(분할 배낭) 최대 가치는 얼마입니까?</a:t>
            </a:r>
          </a:p>
        </p:txBody>
      </p:sp>
      <p:sp>
        <p:nvSpPr>
          <p:cNvPr id="12" name="fit:dfc0d332f2d92e4d 13"/>
          <p:cNvSpPr/>
          <p:nvPr/>
        </p:nvSpPr>
        <p:spPr>
          <a:xfrm>
            <a:off x="612648" y="4178808"/>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② 쪼갤 수 없을 때(0/1 배낭) 무게당 가치 그리디의 답은 얼마이고, 실제 최대는 얼마입니까?</a:t>
            </a:r>
          </a:p>
        </p:txBody>
      </p:sp>
      <p:sp>
        <p:nvSpPr>
          <p:cNvPr id="13" name="fit:f07ca67a28bf42e7 14"/>
          <p:cNvSpPr/>
          <p:nvPr/>
        </p:nvSpPr>
        <p:spPr>
          <a:xfrm>
            <a:off x="612648" y="4645152"/>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③ 분할 배낭에서 무게당 가치 순서가 최적인 이유를 한 문장으로 말해 보세요.</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87</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5.5</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그리디가 통하는 조건</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지금의 최선을 확정해도 괜찮으려면</a:t>
            </a:r>
          </a:p>
          <a:p>
            <a:pPr algn="l" eaLnBrk="0" latinLnBrk="0">
              <a:lnSpc>
                <a:spcPct val="110000"/>
              </a:lnSpc>
              <a:buNone/>
            </a:pPr>
            <a:r>
              <a:rPr lang="ko-KR" altLang="en-US" sz="1800" b="0" dirty="0">
                <a:solidFill>
                  <a:srgbClr val="BBBBBB"/>
                </a:solidFill>
                <a:latin typeface="Malgun Gothic"/>
                <a:ea typeface="Malgun Gothic"/>
                <a:cs typeface="Malgun Gothic"/>
              </a:rPr>
              <a:t>문제에 어떤 성질이 있어야 할까요?</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그리디가 최적해를 보장하는 두 조건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88</a:t>
            </a:r>
          </a:p>
        </p:txBody>
      </p:sp>
      <p:sp>
        <p:nvSpPr>
          <p:cNvPr id="9" name="fit:e9016a93db067e93 10"/>
          <p:cNvSpPr/>
          <p:nvPr/>
        </p:nvSpPr>
        <p:spPr>
          <a:xfrm>
            <a:off x="612648" y="1636776"/>
            <a:ext cx="10972800" cy="630936"/>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그리디는 매 단계 지금 기준의 최선을 확정하고 되돌리지 않습니다.</a:t>
            </a:r>
          </a:p>
          <a:p>
            <a:pPr algn="l" eaLnBrk="0" latinLnBrk="0">
              <a:lnSpc>
                <a:spcPct val="100000"/>
              </a:lnSpc>
              <a:buNone/>
            </a:pPr>
            <a:r>
              <a:rPr lang="ko-KR" altLang="en-US" sz="1950" b="0" dirty="0">
                <a:solidFill>
                  <a:srgbClr val="171717"/>
                </a:solidFill>
                <a:latin typeface="Malgun Gothic"/>
                <a:ea typeface="Malgun Gothic"/>
                <a:cs typeface="Malgun Gothic"/>
              </a:rPr>
              <a:t>이 방식이 최적해를 낸다고 보장하려면 두 성질을 보여야 합니다.</a:t>
            </a:r>
          </a:p>
        </p:txBody>
      </p:sp>
      <p:sp>
        <p:nvSpPr>
          <p:cNvPr id="10" name="직사각형 11"/>
          <p:cNvSpPr/>
          <p:nvPr/>
        </p:nvSpPr>
        <p:spPr>
          <a:xfrm>
            <a:off x="658368" y="2414016"/>
            <a:ext cx="5257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596896"/>
            <a:ext cx="50749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0E8A7D"/>
                </a:solidFill>
                <a:latin typeface="Malgun Gothic"/>
                <a:ea typeface="Malgun Gothic"/>
                <a:cs typeface="Malgun Gothic"/>
              </a:rPr>
              <a:t>① 탐욕적 선택 속성</a:t>
            </a:r>
          </a:p>
        </p:txBody>
      </p:sp>
      <p:sp>
        <p:nvSpPr>
          <p:cNvPr id="12" name="직사각형 13"/>
          <p:cNvSpPr/>
          <p:nvPr/>
        </p:nvSpPr>
        <p:spPr>
          <a:xfrm>
            <a:off x="749808" y="3017520"/>
            <a:ext cx="50749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greedy choice property</a:t>
            </a:r>
          </a:p>
          <a:p>
            <a:pPr algn="ctr" eaLnBrk="0" latinLnBrk="0">
              <a:lnSpc>
                <a:spcPct val="110000"/>
              </a:lnSpc>
              <a:buNone/>
            </a:pPr>
            <a:r>
              <a:rPr lang="ko-KR" altLang="en-US" sz="1500" b="0" dirty="0">
                <a:solidFill>
                  <a:srgbClr val="171717"/>
                </a:solidFill>
                <a:latin typeface="Malgun Gothic"/>
                <a:ea typeface="Malgun Gothic"/>
                <a:cs typeface="Malgun Gothic"/>
              </a:rPr>
              <a:t>지금 가장 좋아 보이는 선택을</a:t>
            </a:r>
          </a:p>
          <a:p>
            <a:pPr algn="ctr" eaLnBrk="0" latinLnBrk="0">
              <a:lnSpc>
                <a:spcPct val="110000"/>
              </a:lnSpc>
              <a:buNone/>
            </a:pPr>
            <a:r>
              <a:rPr lang="ko-KR" altLang="en-US" sz="1500" b="0" dirty="0">
                <a:solidFill>
                  <a:srgbClr val="171717"/>
                </a:solidFill>
                <a:latin typeface="Malgun Gothic"/>
                <a:ea typeface="Malgun Gothic"/>
                <a:cs typeface="Malgun Gothic"/>
              </a:rPr>
              <a:t>포함하는 최적해가 있다</a:t>
            </a:r>
          </a:p>
        </p:txBody>
      </p:sp>
      <p:sp>
        <p:nvSpPr>
          <p:cNvPr id="13" name="직사각형 14"/>
          <p:cNvSpPr/>
          <p:nvPr/>
        </p:nvSpPr>
        <p:spPr>
          <a:xfrm>
            <a:off x="6281928" y="2414016"/>
            <a:ext cx="5257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6373368" y="2596896"/>
            <a:ext cx="50749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0E8A7D"/>
                </a:solidFill>
                <a:latin typeface="Malgun Gothic"/>
                <a:ea typeface="Malgun Gothic"/>
                <a:cs typeface="Malgun Gothic"/>
              </a:rPr>
              <a:t>② 최적 부분 구조</a:t>
            </a:r>
          </a:p>
        </p:txBody>
      </p:sp>
      <p:sp>
        <p:nvSpPr>
          <p:cNvPr id="15" name="직사각형 16"/>
          <p:cNvSpPr/>
          <p:nvPr/>
        </p:nvSpPr>
        <p:spPr>
          <a:xfrm>
            <a:off x="6373368" y="3017520"/>
            <a:ext cx="50749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optimal substructure</a:t>
            </a:r>
          </a:p>
          <a:p>
            <a:pPr algn="ctr" eaLnBrk="0" latinLnBrk="0">
              <a:lnSpc>
                <a:spcPct val="110000"/>
              </a:lnSpc>
              <a:buNone/>
            </a:pPr>
            <a:r>
              <a:rPr lang="ko-KR" altLang="en-US" sz="1500" b="0" dirty="0">
                <a:solidFill>
                  <a:srgbClr val="171717"/>
                </a:solidFill>
                <a:latin typeface="Malgun Gothic"/>
                <a:ea typeface="Malgun Gothic"/>
                <a:cs typeface="Malgun Gothic"/>
              </a:rPr>
              <a:t>그 선택을 하고 남은 문제의 최적해가</a:t>
            </a:r>
          </a:p>
          <a:p>
            <a:pPr algn="ctr" eaLnBrk="0" latinLnBrk="0">
              <a:lnSpc>
                <a:spcPct val="110000"/>
              </a:lnSpc>
              <a:buNone/>
            </a:pPr>
            <a:r>
              <a:rPr lang="ko-KR" altLang="en-US" sz="1500" b="0" dirty="0">
                <a:solidFill>
                  <a:srgbClr val="171717"/>
                </a:solidFill>
                <a:latin typeface="Malgun Gothic"/>
                <a:ea typeface="Malgun Gothic"/>
                <a:cs typeface="Malgun Gothic"/>
              </a:rPr>
              <a:t>전체 최적해의 나머지가 된다</a:t>
            </a:r>
          </a:p>
        </p:txBody>
      </p:sp>
      <p:sp>
        <p:nvSpPr>
          <p:cNvPr id="16" name="fit:8f37c4c1ed1b2c20 17"/>
          <p:cNvSpPr/>
          <p:nvPr/>
        </p:nvSpPr>
        <p:spPr>
          <a:xfrm>
            <a:off x="658368" y="4151376"/>
            <a:ext cx="1088136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①로 첫 선택이 안전하고, ②로 남은 문제를 같은 방법으로 풀 수 있습니다.</a:t>
            </a:r>
          </a:p>
        </p:txBody>
      </p:sp>
      <p:sp>
        <p:nvSpPr>
          <p:cNvPr id="17" name="fit:eb0e0f8baff1c98d 18"/>
          <p:cNvSpPr/>
          <p:nvPr/>
        </p:nvSpPr>
        <p:spPr>
          <a:xfrm>
            <a:off x="658368" y="4636008"/>
            <a:ext cx="1088136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이 둘을 단계마다 이어 붙이면 그리디의 답이 전체 최적해가 됩니다. 둘 중 하나라도 보이지 못하면 보장이 사라집니다.</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탐욕적 선택 속성 (greedy choice property)</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89</a:t>
            </a:r>
          </a:p>
        </p:txBody>
      </p:sp>
      <p:sp>
        <p:nvSpPr>
          <p:cNvPr id="9" name="fit:da8048fa2cbba117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지금 기준으로 가장 좋아 보이는 선택을 해도, 그 선택을 포함하는 최적해가 적어도 하나 있다는 성질입니다.</a:t>
            </a:r>
          </a:p>
        </p:txBody>
      </p:sp>
      <p:sp>
        <p:nvSpPr>
          <p:cNvPr id="10" name="fit:ff74592b4967b429 11"/>
          <p:cNvSpPr/>
          <p:nvPr/>
        </p:nvSpPr>
        <p:spPr>
          <a:xfrm>
            <a:off x="612648" y="2432304"/>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판별 질문: 이 선택을 포함하는 최적해가 있는가?</a:t>
            </a:r>
          </a:p>
        </p:txBody>
      </p:sp>
      <p:sp>
        <p:nvSpPr>
          <p:cNvPr id="11" name="fit:7d1e5cef806786a7 12"/>
          <p:cNvSpPr/>
          <p:nvPr/>
        </p:nvSpPr>
        <p:spPr>
          <a:xfrm>
            <a:off x="612648" y="294436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예</a:t>
            </a:r>
          </a:p>
        </p:txBody>
      </p:sp>
      <p:sp>
        <p:nvSpPr>
          <p:cNvPr id="12" name="fit:84a1dec647adb88c 13"/>
          <p:cNvSpPr/>
          <p:nvPr/>
        </p:nvSpPr>
        <p:spPr>
          <a:xfrm>
            <a:off x="795528" y="327355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 선택을 확정하고 남은 문제로 넘어가도 최적해를 놓치지 않습니다.</a:t>
            </a:r>
          </a:p>
        </p:txBody>
      </p:sp>
      <p:sp>
        <p:nvSpPr>
          <p:cNvPr id="13" name="fit:7dcb18da4e339036 14"/>
          <p:cNvSpPr/>
          <p:nvPr/>
        </p:nvSpPr>
        <p:spPr>
          <a:xfrm>
            <a:off x="612648" y="365760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아니오</a:t>
            </a:r>
          </a:p>
        </p:txBody>
      </p:sp>
      <p:sp>
        <p:nvSpPr>
          <p:cNvPr id="14" name="fit:06b28aa1c99695bf 15"/>
          <p:cNvSpPr/>
          <p:nvPr/>
        </p:nvSpPr>
        <p:spPr>
          <a:xfrm>
            <a:off x="795528" y="398678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 선택을 하는 순간 최적해로 가는 길이 모두 막힙니다.</a:t>
            </a:r>
          </a:p>
        </p:txBody>
      </p:sp>
      <p:sp>
        <p:nvSpPr>
          <p:cNvPr id="15" name="fit:b456af62ded74b9b 16"/>
          <p:cNvSpPr/>
          <p:nvPr/>
        </p:nvSpPr>
        <p:spPr>
          <a:xfrm>
            <a:off x="612648" y="4370832"/>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"안전하다"는 다른 선택보다 더 좋다는 뜻이 아니라, 이 선택을 해도 최적해로 가는 길이 남아 있다는 뜻입니다. 최적해가 여러 개라면 그중 하나만 이 선택을 포함해도 됩니다.</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판별 질문 적용: 예와 아니오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90</a:t>
            </a:r>
          </a:p>
        </p:txBody>
      </p:sp>
      <p:sp>
        <p:nvSpPr>
          <p:cNvPr id="9" name="fit:88a22a36cd27e469 10"/>
          <p:cNvSpPr/>
          <p:nvPr/>
        </p:nvSpPr>
        <p:spPr>
          <a:xfrm>
            <a:off x="658368" y="1737360"/>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256B50"/>
                </a:solidFill>
                <a:latin typeface="Malgun Gothic"/>
                <a:ea typeface="Malgun Gothic"/>
                <a:cs typeface="Malgun Gothic"/>
              </a:rPr>
              <a:t>표준 동전 — 예</a:t>
            </a:r>
          </a:p>
        </p:txBody>
      </p:sp>
      <p:sp>
        <p:nvSpPr>
          <p:cNvPr id="10" name="fit:615a8323e8d614e4 11"/>
          <p:cNvSpPr/>
          <p:nvPr/>
        </p:nvSpPr>
        <p:spPr>
          <a:xfrm>
            <a:off x="841248" y="2066544"/>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1,260원의 최적해(동전 6개)에 그리디가 먼저 고른 500원이 들어 있습니다.</a:t>
            </a:r>
          </a:p>
        </p:txBody>
      </p:sp>
      <p:sp>
        <p:nvSpPr>
          <p:cNvPr id="11" name="fit:fc64427959dec5be 12"/>
          <p:cNvSpPr/>
          <p:nvPr/>
        </p:nvSpPr>
        <p:spPr>
          <a:xfrm>
            <a:off x="658368" y="2706624"/>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B23B3B"/>
                </a:solidFill>
                <a:latin typeface="Malgun Gothic"/>
                <a:ea typeface="Malgun Gothic"/>
                <a:cs typeface="Malgun Gothic"/>
              </a:rPr>
              <a:t>400원 동전 — 아니오</a:t>
            </a:r>
          </a:p>
        </p:txBody>
      </p:sp>
      <p:sp>
        <p:nvSpPr>
          <p:cNvPr id="12" name="fit:3707c348c8c8b51d 13"/>
          <p:cNvSpPr/>
          <p:nvPr/>
        </p:nvSpPr>
        <p:spPr>
          <a:xfrm>
            <a:off x="841248" y="3035808"/>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800원의 최적해는 400 + 400 하나뿐입니다. 그리디가 먼저 고른 500원이 없습니다.</a:t>
            </a:r>
          </a:p>
        </p:txBody>
      </p:sp>
      <p:sp>
        <p:nvSpPr>
          <p:cNvPr id="13" name="fit:52db666c0c9e4802 14"/>
          <p:cNvSpPr/>
          <p:nvPr/>
        </p:nvSpPr>
        <p:spPr>
          <a:xfrm>
            <a:off x="658368" y="3675888"/>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256B50"/>
                </a:solidFill>
                <a:latin typeface="Malgun Gothic"/>
                <a:ea typeface="Malgun Gothic"/>
                <a:cs typeface="Malgun Gothic"/>
              </a:rPr>
              <a:t>활동 선택 — 예</a:t>
            </a:r>
          </a:p>
        </p:txBody>
      </p:sp>
      <p:sp>
        <p:nvSpPr>
          <p:cNvPr id="14" name="fit:3ac30f35d2897e89 15"/>
          <p:cNvSpPr/>
          <p:nvPr/>
        </p:nvSpPr>
        <p:spPr>
          <a:xfrm>
            <a:off x="841248" y="4005072"/>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가장 먼저 끝나는 1번 [1, 3)을 포함하는 최적해가 있습니다. 5.3에서 교환으로 확인했습니다.</a:t>
            </a:r>
          </a:p>
        </p:txBody>
      </p:sp>
      <p:pic>
        <p:nvPicPr>
          <p:cNvPr id="15" name="그림 16"/>
          <p:cNvPicPr>
            <a:picLocks noChangeAspect="1"/>
          </p:cNvPicPr>
          <p:nvPr/>
        </p:nvPicPr>
        <p:blipFill>
          <a:blip r:embed="rIdImg1"/>
          <a:stretch>
            <a:fillRect/>
          </a:stretch>
        </p:blipFill>
        <p:spPr>
          <a:xfrm>
            <a:off x="6126480" y="2441899"/>
            <a:ext cx="5458968" cy="2980042"/>
          </a:xfrm>
          <a:prstGeom prst="rect">
            <a:avLst/>
          </a:prstGeom>
        </p:spPr>
      </p:pic>
      <p:sp>
        <p:nvSpPr>
          <p:cNvPr id="16" name="직사각형 17"/>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왼쪽 그림: 표준 동전 — 500원을 먼저 써도 안전    오른쪽 그림: 400원 동전 — 500원을 잡는 순간 400 + 400을 놓칩니다</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5.3에서 본 교환: 첫 회의를 1번으로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91</a:t>
            </a:r>
          </a:p>
        </p:txBody>
      </p:sp>
      <p:sp>
        <p:nvSpPr>
          <p:cNvPr id="9" name="fit:d357ec454cd0c623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5.3의 교환 논증: 최적해 O = {2번, 4번, 6번}의 첫 회의 2번을</a:t>
            </a:r>
          </a:p>
          <a:p>
            <a:pPr algn="l" eaLnBrk="0" latinLnBrk="0">
              <a:lnSpc>
                <a:spcPct val="100000"/>
              </a:lnSpc>
              <a:buNone/>
            </a:pPr>
            <a:r>
              <a:rPr lang="ko-KR" altLang="en-US" sz="2025" b="0" dirty="0">
                <a:solidFill>
                  <a:srgbClr val="171717"/>
                </a:solidFill>
                <a:latin typeface="Malgun Gothic"/>
                <a:ea typeface="Malgun Gothic"/>
                <a:cs typeface="Malgun Gothic"/>
              </a:rPr>
              <a:t>가장 먼저 끝나는 1번으로 바꾸면 O′ = {1번, 4번, 6번}입니다.</a:t>
            </a:r>
          </a:p>
        </p:txBody>
      </p:sp>
      <p:sp>
        <p:nvSpPr>
          <p:cNvPr id="10" name="직사각형 11"/>
          <p:cNvSpPr/>
          <p:nvPr/>
        </p:nvSpPr>
        <p:spPr>
          <a:xfrm>
            <a:off x="612648" y="24505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O = {2번, 4번, 6번}: 3개</a:t>
            </a:r>
          </a:p>
        </p:txBody>
      </p:sp>
      <p:cxnSp>
        <p:nvCxnSpPr>
          <p:cNvPr id="11" name="연결선 12"/>
          <p:cNvCxnSpPr/>
          <p:nvPr/>
        </p:nvCxnSpPr>
        <p:spPr>
          <a:xfrm>
            <a:off x="2743200" y="2944368"/>
            <a:ext cx="0" cy="1115568"/>
          </a:xfrm>
          <a:prstGeom prst="line">
            <a:avLst/>
          </a:prstGeom>
          <a:ln w="6350">
            <a:solidFill>
              <a:srgbClr val="E6E6E6"/>
            </a:solidFill>
          </a:ln>
        </p:spPr>
      </p:cxnSp>
      <p:sp>
        <p:nvSpPr>
          <p:cNvPr id="12" name="직사각형 13"/>
          <p:cNvSpPr/>
          <p:nvPr/>
        </p:nvSpPr>
        <p:spPr>
          <a:xfrm>
            <a:off x="2560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3" name="연결선 14"/>
          <p:cNvCxnSpPr/>
          <p:nvPr/>
        </p:nvCxnSpPr>
        <p:spPr>
          <a:xfrm>
            <a:off x="3429000" y="2944368"/>
            <a:ext cx="0" cy="1115568"/>
          </a:xfrm>
          <a:prstGeom prst="line">
            <a:avLst/>
          </a:prstGeom>
          <a:ln w="6350">
            <a:solidFill>
              <a:srgbClr val="E6E6E6"/>
            </a:solidFill>
          </a:ln>
        </p:spPr>
      </p:cxnSp>
      <p:sp>
        <p:nvSpPr>
          <p:cNvPr id="14" name="직사각형 15"/>
          <p:cNvSpPr/>
          <p:nvPr/>
        </p:nvSpPr>
        <p:spPr>
          <a:xfrm>
            <a:off x="3246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5" name="연결선 16"/>
          <p:cNvCxnSpPr/>
          <p:nvPr/>
        </p:nvCxnSpPr>
        <p:spPr>
          <a:xfrm>
            <a:off x="4114800" y="2944368"/>
            <a:ext cx="0" cy="1115568"/>
          </a:xfrm>
          <a:prstGeom prst="line">
            <a:avLst/>
          </a:prstGeom>
          <a:ln w="6350">
            <a:solidFill>
              <a:srgbClr val="E6E6E6"/>
            </a:solidFill>
          </a:ln>
        </p:spPr>
      </p:cxnSp>
      <p:sp>
        <p:nvSpPr>
          <p:cNvPr id="16" name="직사각형 17"/>
          <p:cNvSpPr/>
          <p:nvPr/>
        </p:nvSpPr>
        <p:spPr>
          <a:xfrm>
            <a:off x="39319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7" name="연결선 18"/>
          <p:cNvCxnSpPr/>
          <p:nvPr/>
        </p:nvCxnSpPr>
        <p:spPr>
          <a:xfrm>
            <a:off x="4800600" y="2944368"/>
            <a:ext cx="0" cy="1115568"/>
          </a:xfrm>
          <a:prstGeom prst="line">
            <a:avLst/>
          </a:prstGeom>
          <a:ln w="6350">
            <a:solidFill>
              <a:srgbClr val="E6E6E6"/>
            </a:solidFill>
          </a:ln>
        </p:spPr>
      </p:cxnSp>
      <p:sp>
        <p:nvSpPr>
          <p:cNvPr id="18" name="직사각형 19"/>
          <p:cNvSpPr/>
          <p:nvPr/>
        </p:nvSpPr>
        <p:spPr>
          <a:xfrm>
            <a:off x="4617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9" name="연결선 20"/>
          <p:cNvCxnSpPr/>
          <p:nvPr/>
        </p:nvCxnSpPr>
        <p:spPr>
          <a:xfrm>
            <a:off x="5486400" y="2944368"/>
            <a:ext cx="0" cy="1115568"/>
          </a:xfrm>
          <a:prstGeom prst="line">
            <a:avLst/>
          </a:prstGeom>
          <a:ln w="6350">
            <a:solidFill>
              <a:srgbClr val="E6E6E6"/>
            </a:solidFill>
          </a:ln>
        </p:spPr>
      </p:cxnSp>
      <p:sp>
        <p:nvSpPr>
          <p:cNvPr id="20" name="직사각형 21"/>
          <p:cNvSpPr/>
          <p:nvPr/>
        </p:nvSpPr>
        <p:spPr>
          <a:xfrm>
            <a:off x="53035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1" name="연결선 22"/>
          <p:cNvCxnSpPr/>
          <p:nvPr/>
        </p:nvCxnSpPr>
        <p:spPr>
          <a:xfrm>
            <a:off x="6172200" y="2944368"/>
            <a:ext cx="0" cy="1115568"/>
          </a:xfrm>
          <a:prstGeom prst="line">
            <a:avLst/>
          </a:prstGeom>
          <a:ln w="6350">
            <a:solidFill>
              <a:srgbClr val="E6E6E6"/>
            </a:solidFill>
          </a:ln>
        </p:spPr>
      </p:cxnSp>
      <p:sp>
        <p:nvSpPr>
          <p:cNvPr id="22" name="직사각형 23"/>
          <p:cNvSpPr/>
          <p:nvPr/>
        </p:nvSpPr>
        <p:spPr>
          <a:xfrm>
            <a:off x="5989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3" name="연결선 24"/>
          <p:cNvCxnSpPr/>
          <p:nvPr/>
        </p:nvCxnSpPr>
        <p:spPr>
          <a:xfrm>
            <a:off x="6858000" y="2944368"/>
            <a:ext cx="0" cy="1115568"/>
          </a:xfrm>
          <a:prstGeom prst="line">
            <a:avLst/>
          </a:prstGeom>
          <a:ln w="6350">
            <a:solidFill>
              <a:srgbClr val="E6E6E6"/>
            </a:solidFill>
          </a:ln>
        </p:spPr>
      </p:cxnSp>
      <p:sp>
        <p:nvSpPr>
          <p:cNvPr id="24" name="직사각형 25"/>
          <p:cNvSpPr/>
          <p:nvPr/>
        </p:nvSpPr>
        <p:spPr>
          <a:xfrm>
            <a:off x="6675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5" name="연결선 26"/>
          <p:cNvCxnSpPr/>
          <p:nvPr/>
        </p:nvCxnSpPr>
        <p:spPr>
          <a:xfrm>
            <a:off x="7543800" y="2944368"/>
            <a:ext cx="0" cy="1115568"/>
          </a:xfrm>
          <a:prstGeom prst="line">
            <a:avLst/>
          </a:prstGeom>
          <a:ln w="6350">
            <a:solidFill>
              <a:srgbClr val="E6E6E6"/>
            </a:solidFill>
          </a:ln>
        </p:spPr>
      </p:cxnSp>
      <p:sp>
        <p:nvSpPr>
          <p:cNvPr id="26" name="직사각형 27"/>
          <p:cNvSpPr/>
          <p:nvPr/>
        </p:nvSpPr>
        <p:spPr>
          <a:xfrm>
            <a:off x="73609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7" name="연결선 28"/>
          <p:cNvCxnSpPr/>
          <p:nvPr/>
        </p:nvCxnSpPr>
        <p:spPr>
          <a:xfrm>
            <a:off x="8229600" y="2944368"/>
            <a:ext cx="0" cy="1115568"/>
          </a:xfrm>
          <a:prstGeom prst="line">
            <a:avLst/>
          </a:prstGeom>
          <a:ln w="6350">
            <a:solidFill>
              <a:srgbClr val="E6E6E6"/>
            </a:solidFill>
          </a:ln>
        </p:spPr>
      </p:cxnSp>
      <p:sp>
        <p:nvSpPr>
          <p:cNvPr id="28" name="직사각형 29"/>
          <p:cNvSpPr/>
          <p:nvPr/>
        </p:nvSpPr>
        <p:spPr>
          <a:xfrm>
            <a:off x="8046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9" name="연결선 30"/>
          <p:cNvCxnSpPr/>
          <p:nvPr/>
        </p:nvCxnSpPr>
        <p:spPr>
          <a:xfrm>
            <a:off x="8915400" y="2944368"/>
            <a:ext cx="0" cy="1115568"/>
          </a:xfrm>
          <a:prstGeom prst="line">
            <a:avLst/>
          </a:prstGeom>
          <a:ln w="6350">
            <a:solidFill>
              <a:srgbClr val="E6E6E6"/>
            </a:solidFill>
          </a:ln>
        </p:spPr>
      </p:cxnSp>
      <p:sp>
        <p:nvSpPr>
          <p:cNvPr id="30" name="직사각형 31"/>
          <p:cNvSpPr/>
          <p:nvPr/>
        </p:nvSpPr>
        <p:spPr>
          <a:xfrm>
            <a:off x="87325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1" name="연결선 32"/>
          <p:cNvCxnSpPr/>
          <p:nvPr/>
        </p:nvCxnSpPr>
        <p:spPr>
          <a:xfrm>
            <a:off x="9601200" y="2944368"/>
            <a:ext cx="0" cy="1115568"/>
          </a:xfrm>
          <a:prstGeom prst="line">
            <a:avLst/>
          </a:prstGeom>
          <a:ln w="6350">
            <a:solidFill>
              <a:srgbClr val="E6E6E6"/>
            </a:solidFill>
          </a:ln>
        </p:spPr>
      </p:cxnSp>
      <p:sp>
        <p:nvSpPr>
          <p:cNvPr id="32" name="직사각형 33"/>
          <p:cNvSpPr/>
          <p:nvPr/>
        </p:nvSpPr>
        <p:spPr>
          <a:xfrm>
            <a:off x="9418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3" name="연결선 34"/>
          <p:cNvCxnSpPr/>
          <p:nvPr/>
        </p:nvCxnSpPr>
        <p:spPr>
          <a:xfrm>
            <a:off x="10287000" y="2944368"/>
            <a:ext cx="0" cy="1115568"/>
          </a:xfrm>
          <a:prstGeom prst="line">
            <a:avLst/>
          </a:prstGeom>
          <a:ln w="6350">
            <a:solidFill>
              <a:srgbClr val="E6E6E6"/>
            </a:solidFill>
          </a:ln>
        </p:spPr>
      </p:cxnSp>
      <p:sp>
        <p:nvSpPr>
          <p:cNvPr id="34" name="직사각형 35"/>
          <p:cNvSpPr/>
          <p:nvPr/>
        </p:nvSpPr>
        <p:spPr>
          <a:xfrm>
            <a:off x="10104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5" name="연결선 36"/>
          <p:cNvCxnSpPr/>
          <p:nvPr/>
        </p:nvCxnSpPr>
        <p:spPr>
          <a:xfrm>
            <a:off x="10972800" y="2944368"/>
            <a:ext cx="0" cy="1115568"/>
          </a:xfrm>
          <a:prstGeom prst="line">
            <a:avLst/>
          </a:prstGeom>
          <a:ln w="6350">
            <a:solidFill>
              <a:srgbClr val="E6E6E6"/>
            </a:solidFill>
          </a:ln>
        </p:spPr>
      </p:cxnSp>
      <p:sp>
        <p:nvSpPr>
          <p:cNvPr id="36" name="직사각형 37"/>
          <p:cNvSpPr/>
          <p:nvPr/>
        </p:nvSpPr>
        <p:spPr>
          <a:xfrm>
            <a:off x="107899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7" name="연결선 38"/>
          <p:cNvCxnSpPr/>
          <p:nvPr/>
        </p:nvCxnSpPr>
        <p:spPr>
          <a:xfrm>
            <a:off x="6172200" y="2926080"/>
            <a:ext cx="0" cy="1188720"/>
          </a:xfrm>
          <a:prstGeom prst="line">
            <a:avLst/>
          </a:prstGeom>
          <a:ln w="28575">
            <a:solidFill>
              <a:srgbClr val="B8651B"/>
            </a:solidFill>
            <a:prstDash val="dash"/>
          </a:ln>
        </p:spPr>
      </p:cxnSp>
      <p:sp>
        <p:nvSpPr>
          <p:cNvPr id="38" name="직사각형 39"/>
          <p:cNvSpPr/>
          <p:nvPr/>
        </p:nvSpPr>
        <p:spPr>
          <a:xfrm>
            <a:off x="960120" y="3063240"/>
            <a:ext cx="1691640" cy="256032"/>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2번 [2, 5)</a:t>
            </a:r>
          </a:p>
        </p:txBody>
      </p:sp>
      <p:sp>
        <p:nvSpPr>
          <p:cNvPr id="39" name="직사각형 40"/>
          <p:cNvSpPr/>
          <p:nvPr/>
        </p:nvSpPr>
        <p:spPr>
          <a:xfrm>
            <a:off x="4114800" y="3063240"/>
            <a:ext cx="2057400" cy="256032"/>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40" name="직사각형 41"/>
          <p:cNvSpPr/>
          <p:nvPr/>
        </p:nvSpPr>
        <p:spPr>
          <a:xfrm>
            <a:off x="960120" y="3410712"/>
            <a:ext cx="1691640" cy="256032"/>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1" name="직사각형 42"/>
          <p:cNvSpPr/>
          <p:nvPr/>
        </p:nvSpPr>
        <p:spPr>
          <a:xfrm>
            <a:off x="6858000" y="3410712"/>
            <a:ext cx="1371600" cy="256032"/>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2" name="직사각형 43"/>
          <p:cNvSpPr/>
          <p:nvPr/>
        </p:nvSpPr>
        <p:spPr>
          <a:xfrm>
            <a:off x="960120" y="3758184"/>
            <a:ext cx="1691640" cy="256032"/>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3" name="직사각형 44"/>
          <p:cNvSpPr/>
          <p:nvPr/>
        </p:nvSpPr>
        <p:spPr>
          <a:xfrm>
            <a:off x="8229600" y="3758184"/>
            <a:ext cx="2057400" cy="256032"/>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4" name="직사각형 45"/>
          <p:cNvSpPr/>
          <p:nvPr/>
        </p:nvSpPr>
        <p:spPr>
          <a:xfrm>
            <a:off x="5349240" y="413308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2번이 끝나는 5시</a:t>
            </a:r>
          </a:p>
        </p:txBody>
      </p:sp>
      <p:sp>
        <p:nvSpPr>
          <p:cNvPr id="45" name="직사각형 46"/>
          <p:cNvSpPr/>
          <p:nvPr/>
        </p:nvSpPr>
        <p:spPr>
          <a:xfrm>
            <a:off x="612648" y="4517136"/>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O′ = {1번, 4번, 6번}: 여전히 3개, 겹침 없음</a:t>
            </a:r>
          </a:p>
        </p:txBody>
      </p:sp>
      <p:cxnSp>
        <p:nvCxnSpPr>
          <p:cNvPr id="46" name="연결선 47"/>
          <p:cNvCxnSpPr/>
          <p:nvPr/>
        </p:nvCxnSpPr>
        <p:spPr>
          <a:xfrm>
            <a:off x="2743200" y="5010912"/>
            <a:ext cx="0" cy="1115568"/>
          </a:xfrm>
          <a:prstGeom prst="line">
            <a:avLst/>
          </a:prstGeom>
          <a:ln w="6350">
            <a:solidFill>
              <a:srgbClr val="E6E6E6"/>
            </a:solidFill>
          </a:ln>
        </p:spPr>
      </p:cxnSp>
      <p:sp>
        <p:nvSpPr>
          <p:cNvPr id="47" name="직사각형 48"/>
          <p:cNvSpPr/>
          <p:nvPr/>
        </p:nvSpPr>
        <p:spPr>
          <a:xfrm>
            <a:off x="25603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48" name="연결선 49"/>
          <p:cNvCxnSpPr/>
          <p:nvPr/>
        </p:nvCxnSpPr>
        <p:spPr>
          <a:xfrm>
            <a:off x="3429000" y="5010912"/>
            <a:ext cx="0" cy="1115568"/>
          </a:xfrm>
          <a:prstGeom prst="line">
            <a:avLst/>
          </a:prstGeom>
          <a:ln w="6350">
            <a:solidFill>
              <a:srgbClr val="E6E6E6"/>
            </a:solidFill>
          </a:ln>
        </p:spPr>
      </p:cxnSp>
      <p:sp>
        <p:nvSpPr>
          <p:cNvPr id="49" name="직사각형 50"/>
          <p:cNvSpPr/>
          <p:nvPr/>
        </p:nvSpPr>
        <p:spPr>
          <a:xfrm>
            <a:off x="32461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50" name="연결선 51"/>
          <p:cNvCxnSpPr/>
          <p:nvPr/>
        </p:nvCxnSpPr>
        <p:spPr>
          <a:xfrm>
            <a:off x="4114800" y="5010912"/>
            <a:ext cx="0" cy="1115568"/>
          </a:xfrm>
          <a:prstGeom prst="line">
            <a:avLst/>
          </a:prstGeom>
          <a:ln w="6350">
            <a:solidFill>
              <a:srgbClr val="E6E6E6"/>
            </a:solidFill>
          </a:ln>
        </p:spPr>
      </p:cxnSp>
      <p:sp>
        <p:nvSpPr>
          <p:cNvPr id="51" name="직사각형 52"/>
          <p:cNvSpPr/>
          <p:nvPr/>
        </p:nvSpPr>
        <p:spPr>
          <a:xfrm>
            <a:off x="39319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52" name="연결선 53"/>
          <p:cNvCxnSpPr/>
          <p:nvPr/>
        </p:nvCxnSpPr>
        <p:spPr>
          <a:xfrm>
            <a:off x="4800600" y="5010912"/>
            <a:ext cx="0" cy="1115568"/>
          </a:xfrm>
          <a:prstGeom prst="line">
            <a:avLst/>
          </a:prstGeom>
          <a:ln w="6350">
            <a:solidFill>
              <a:srgbClr val="E6E6E6"/>
            </a:solidFill>
          </a:ln>
        </p:spPr>
      </p:cxnSp>
      <p:sp>
        <p:nvSpPr>
          <p:cNvPr id="53" name="직사각형 54"/>
          <p:cNvSpPr/>
          <p:nvPr/>
        </p:nvSpPr>
        <p:spPr>
          <a:xfrm>
            <a:off x="46177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54" name="연결선 55"/>
          <p:cNvCxnSpPr/>
          <p:nvPr/>
        </p:nvCxnSpPr>
        <p:spPr>
          <a:xfrm>
            <a:off x="5486400" y="5010912"/>
            <a:ext cx="0" cy="1115568"/>
          </a:xfrm>
          <a:prstGeom prst="line">
            <a:avLst/>
          </a:prstGeom>
          <a:ln w="6350">
            <a:solidFill>
              <a:srgbClr val="E6E6E6"/>
            </a:solidFill>
          </a:ln>
        </p:spPr>
      </p:cxnSp>
      <p:sp>
        <p:nvSpPr>
          <p:cNvPr id="55" name="직사각형 56"/>
          <p:cNvSpPr/>
          <p:nvPr/>
        </p:nvSpPr>
        <p:spPr>
          <a:xfrm>
            <a:off x="53035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56" name="연결선 57"/>
          <p:cNvCxnSpPr/>
          <p:nvPr/>
        </p:nvCxnSpPr>
        <p:spPr>
          <a:xfrm>
            <a:off x="6172200" y="5010912"/>
            <a:ext cx="0" cy="1115568"/>
          </a:xfrm>
          <a:prstGeom prst="line">
            <a:avLst/>
          </a:prstGeom>
          <a:ln w="6350">
            <a:solidFill>
              <a:srgbClr val="E6E6E6"/>
            </a:solidFill>
          </a:ln>
        </p:spPr>
      </p:cxnSp>
      <p:sp>
        <p:nvSpPr>
          <p:cNvPr id="57" name="직사각형 58"/>
          <p:cNvSpPr/>
          <p:nvPr/>
        </p:nvSpPr>
        <p:spPr>
          <a:xfrm>
            <a:off x="59893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58" name="연결선 59"/>
          <p:cNvCxnSpPr/>
          <p:nvPr/>
        </p:nvCxnSpPr>
        <p:spPr>
          <a:xfrm>
            <a:off x="6858000" y="5010912"/>
            <a:ext cx="0" cy="1115568"/>
          </a:xfrm>
          <a:prstGeom prst="line">
            <a:avLst/>
          </a:prstGeom>
          <a:ln w="6350">
            <a:solidFill>
              <a:srgbClr val="E6E6E6"/>
            </a:solidFill>
          </a:ln>
        </p:spPr>
      </p:cxnSp>
      <p:sp>
        <p:nvSpPr>
          <p:cNvPr id="59" name="직사각형 60"/>
          <p:cNvSpPr/>
          <p:nvPr/>
        </p:nvSpPr>
        <p:spPr>
          <a:xfrm>
            <a:off x="66751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60" name="연결선 61"/>
          <p:cNvCxnSpPr/>
          <p:nvPr/>
        </p:nvCxnSpPr>
        <p:spPr>
          <a:xfrm>
            <a:off x="7543800" y="5010912"/>
            <a:ext cx="0" cy="1115568"/>
          </a:xfrm>
          <a:prstGeom prst="line">
            <a:avLst/>
          </a:prstGeom>
          <a:ln w="6350">
            <a:solidFill>
              <a:srgbClr val="E6E6E6"/>
            </a:solidFill>
          </a:ln>
        </p:spPr>
      </p:cxnSp>
      <p:sp>
        <p:nvSpPr>
          <p:cNvPr id="61" name="직사각형 62"/>
          <p:cNvSpPr/>
          <p:nvPr/>
        </p:nvSpPr>
        <p:spPr>
          <a:xfrm>
            <a:off x="73609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62" name="연결선 63"/>
          <p:cNvCxnSpPr/>
          <p:nvPr/>
        </p:nvCxnSpPr>
        <p:spPr>
          <a:xfrm>
            <a:off x="8229600" y="5010912"/>
            <a:ext cx="0" cy="1115568"/>
          </a:xfrm>
          <a:prstGeom prst="line">
            <a:avLst/>
          </a:prstGeom>
          <a:ln w="6350">
            <a:solidFill>
              <a:srgbClr val="E6E6E6"/>
            </a:solidFill>
          </a:ln>
        </p:spPr>
      </p:cxnSp>
      <p:sp>
        <p:nvSpPr>
          <p:cNvPr id="63" name="직사각형 64"/>
          <p:cNvSpPr/>
          <p:nvPr/>
        </p:nvSpPr>
        <p:spPr>
          <a:xfrm>
            <a:off x="80467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64" name="연결선 65"/>
          <p:cNvCxnSpPr/>
          <p:nvPr/>
        </p:nvCxnSpPr>
        <p:spPr>
          <a:xfrm>
            <a:off x="8915400" y="5010912"/>
            <a:ext cx="0" cy="1115568"/>
          </a:xfrm>
          <a:prstGeom prst="line">
            <a:avLst/>
          </a:prstGeom>
          <a:ln w="6350">
            <a:solidFill>
              <a:srgbClr val="E6E6E6"/>
            </a:solidFill>
          </a:ln>
        </p:spPr>
      </p:cxnSp>
      <p:sp>
        <p:nvSpPr>
          <p:cNvPr id="65" name="직사각형 66"/>
          <p:cNvSpPr/>
          <p:nvPr/>
        </p:nvSpPr>
        <p:spPr>
          <a:xfrm>
            <a:off x="87325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66" name="연결선 67"/>
          <p:cNvCxnSpPr/>
          <p:nvPr/>
        </p:nvCxnSpPr>
        <p:spPr>
          <a:xfrm>
            <a:off x="9601200" y="5010912"/>
            <a:ext cx="0" cy="1115568"/>
          </a:xfrm>
          <a:prstGeom prst="line">
            <a:avLst/>
          </a:prstGeom>
          <a:ln w="6350">
            <a:solidFill>
              <a:srgbClr val="E6E6E6"/>
            </a:solidFill>
          </a:ln>
        </p:spPr>
      </p:cxnSp>
      <p:sp>
        <p:nvSpPr>
          <p:cNvPr id="67" name="직사각형 68"/>
          <p:cNvSpPr/>
          <p:nvPr/>
        </p:nvSpPr>
        <p:spPr>
          <a:xfrm>
            <a:off x="94183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68" name="연결선 69"/>
          <p:cNvCxnSpPr/>
          <p:nvPr/>
        </p:nvCxnSpPr>
        <p:spPr>
          <a:xfrm>
            <a:off x="10287000" y="5010912"/>
            <a:ext cx="0" cy="1115568"/>
          </a:xfrm>
          <a:prstGeom prst="line">
            <a:avLst/>
          </a:prstGeom>
          <a:ln w="6350">
            <a:solidFill>
              <a:srgbClr val="E6E6E6"/>
            </a:solidFill>
          </a:ln>
        </p:spPr>
      </p:cxnSp>
      <p:sp>
        <p:nvSpPr>
          <p:cNvPr id="69" name="직사각형 70"/>
          <p:cNvSpPr/>
          <p:nvPr/>
        </p:nvSpPr>
        <p:spPr>
          <a:xfrm>
            <a:off x="101041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70" name="연결선 71"/>
          <p:cNvCxnSpPr/>
          <p:nvPr/>
        </p:nvCxnSpPr>
        <p:spPr>
          <a:xfrm>
            <a:off x="10972800" y="5010912"/>
            <a:ext cx="0" cy="1115568"/>
          </a:xfrm>
          <a:prstGeom prst="line">
            <a:avLst/>
          </a:prstGeom>
          <a:ln w="6350">
            <a:solidFill>
              <a:srgbClr val="E6E6E6"/>
            </a:solidFill>
          </a:ln>
        </p:spPr>
      </p:cxnSp>
      <p:sp>
        <p:nvSpPr>
          <p:cNvPr id="71" name="직사각형 72"/>
          <p:cNvSpPr/>
          <p:nvPr/>
        </p:nvSpPr>
        <p:spPr>
          <a:xfrm>
            <a:off x="10789920" y="4773168"/>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sp>
        <p:nvSpPr>
          <p:cNvPr id="72" name="직사각형 73"/>
          <p:cNvSpPr/>
          <p:nvPr/>
        </p:nvSpPr>
        <p:spPr>
          <a:xfrm>
            <a:off x="960120" y="5129784"/>
            <a:ext cx="1691640" cy="256032"/>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1번 [1, 3)</a:t>
            </a:r>
          </a:p>
        </p:txBody>
      </p:sp>
      <p:sp>
        <p:nvSpPr>
          <p:cNvPr id="73" name="직사각형 74"/>
          <p:cNvSpPr/>
          <p:nvPr/>
        </p:nvSpPr>
        <p:spPr>
          <a:xfrm>
            <a:off x="3429000" y="5129784"/>
            <a:ext cx="1371600" cy="256032"/>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74" name="직사각형 75"/>
          <p:cNvSpPr/>
          <p:nvPr/>
        </p:nvSpPr>
        <p:spPr>
          <a:xfrm>
            <a:off x="960120" y="5477256"/>
            <a:ext cx="1691640" cy="256032"/>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75" name="직사각형 76"/>
          <p:cNvSpPr/>
          <p:nvPr/>
        </p:nvSpPr>
        <p:spPr>
          <a:xfrm>
            <a:off x="6858000" y="5477256"/>
            <a:ext cx="1371600" cy="256032"/>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76" name="직사각형 77"/>
          <p:cNvSpPr/>
          <p:nvPr/>
        </p:nvSpPr>
        <p:spPr>
          <a:xfrm>
            <a:off x="960120" y="5824728"/>
            <a:ext cx="1691640" cy="256032"/>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77" name="직사각형 78"/>
          <p:cNvSpPr/>
          <p:nvPr/>
        </p:nvSpPr>
        <p:spPr>
          <a:xfrm>
            <a:off x="8229600" y="5824728"/>
            <a:ext cx="2057400" cy="256032"/>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78" name="직사각형 7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바꾼 회의 (2번 → 1번)    파랑: 그대로 둔 회의</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교환 논증의 핵심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92</a:t>
            </a:r>
          </a:p>
        </p:txBody>
      </p:sp>
      <p:sp>
        <p:nvSpPr>
          <p:cNvPr id="9" name="fit:075aa79d3a3cab7b 10"/>
          <p:cNvSpPr/>
          <p:nvPr/>
        </p:nvSpPr>
        <p:spPr>
          <a:xfrm>
            <a:off x="612648" y="1636776"/>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최적해의 일부를 탐욕 선택으로 바꿔도 여전히 최적해임을 보입니다.</a:t>
            </a:r>
          </a:p>
        </p:txBody>
      </p:sp>
      <p:sp>
        <p:nvSpPr>
          <p:cNvPr id="10" name="fit:0543bbfcadfb527b 11"/>
          <p:cNvSpPr/>
          <p:nvPr/>
        </p:nvSpPr>
        <p:spPr>
          <a:xfrm>
            <a:off x="612648" y="214884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어떤 최적해 O에서 시작합니다</a:t>
            </a:r>
          </a:p>
        </p:txBody>
      </p:sp>
      <p:sp>
        <p:nvSpPr>
          <p:cNvPr id="11" name="fit:778e49bc6fc4af9d 12"/>
          <p:cNvSpPr/>
          <p:nvPr/>
        </p:nvSpPr>
        <p:spPr>
          <a:xfrm>
            <a:off x="795528" y="247802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O에 탐욕 선택 g가 없다고 합시다.</a:t>
            </a:r>
          </a:p>
        </p:txBody>
      </p:sp>
      <p:sp>
        <p:nvSpPr>
          <p:cNvPr id="12" name="fit:aeef3f2e8ea647cf 13"/>
          <p:cNvSpPr/>
          <p:nvPr/>
        </p:nvSpPr>
        <p:spPr>
          <a:xfrm>
            <a:off x="612648" y="286207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O의 일부를 g로 바꿉니다</a:t>
            </a:r>
          </a:p>
        </p:txBody>
      </p:sp>
      <p:sp>
        <p:nvSpPr>
          <p:cNvPr id="13" name="fit:8c8ea80a6aff296d 14"/>
          <p:cNvSpPr/>
          <p:nvPr/>
        </p:nvSpPr>
        <p:spPr>
          <a:xfrm>
            <a:off x="795528" y="319125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바꾼 O′도 문제의 조건(겹치지 않음, 용량, 금액)을 지킵니다.</a:t>
            </a:r>
          </a:p>
        </p:txBody>
      </p:sp>
      <p:sp>
        <p:nvSpPr>
          <p:cNvPr id="14" name="fit:fef3bc31f9cf10dd 15"/>
          <p:cNvSpPr/>
          <p:nvPr/>
        </p:nvSpPr>
        <p:spPr>
          <a:xfrm>
            <a:off x="612648" y="35753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값이 나빠지지 않음을 보입니다</a:t>
            </a:r>
          </a:p>
        </p:txBody>
      </p:sp>
      <p:sp>
        <p:nvSpPr>
          <p:cNvPr id="15" name="fit:4c49ef934ca2f6cd 16"/>
          <p:cNvSpPr/>
          <p:nvPr/>
        </p:nvSpPr>
        <p:spPr>
          <a:xfrm>
            <a:off x="795528" y="39044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O′의 값이 O보다 나쁘지 않으면 O′도 최적해이고, O′에는 g가 들어 있습니다.</a:t>
            </a:r>
          </a:p>
        </p:txBody>
      </p:sp>
      <p:graphicFrame>
        <p:nvGraphicFramePr>
          <p:cNvPr id="16" name="표 17"/>
          <p:cNvGraphicFramePr>
            <a:graphicFrameLocks noGrp="1"/>
          </p:cNvGraphicFramePr>
          <p:nvPr/>
        </p:nvGraphicFramePr>
        <p:xfrm>
          <a:off x="612648" y="4288536"/>
          <a:ext cx="10972800" cy="1243584"/>
        </p:xfrm>
        <a:graphic>
          <a:graphicData uri="http://schemas.openxmlformats.org/drawingml/2006/table">
            <a:tbl>
              <a:tblPr/>
              <a:tblGrid>
                <a:gridCol w="2438400"/>
                <a:gridCol w="3962400"/>
                <a:gridCol w="457200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예</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바꾸는 것</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나빠지지 않는 이유</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활동 선택 (5.3)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O의 첫 회의 → 1번 [1, 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1번이 더 일찍 끝나 겹치지 않고, 개수 그대로</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분할 배낭 (5.4)</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안의 B·C 1kg → 밖의 A 1kg</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1kg당 600 G → 700 G, 가치가 늘어남</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표준 동전 (5.2)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100원 5개 → 500원 1개</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같은 금액을 동전 4개 적게 (다음 슬라이드)</a:t>
                      </a:r>
                    </a:p>
                  </a:txBody>
                  <a:tcPr marL="54864" marR="54864" marT="18288" marB="18288" anchor="ctr">
                    <a:solidFill>
                      <a:srgbClr val="FFFFFF"/>
                    </a:solidFill>
                  </a:tcPr>
                </a:tc>
              </a:tr>
            </a:tbl>
          </a:graphicData>
        </a:graphic>
      </p:graphicFrame>
      <p:sp>
        <p:nvSpPr>
          <p:cNvPr id="17" name="fit:7ff1daad6120779c 18"/>
          <p:cNvSpPr/>
          <p:nvPr/>
        </p:nvSpPr>
        <p:spPr>
          <a:xfrm>
            <a:off x="612648" y="567842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결론은 늘 같습니다. 탐욕 선택을 포함하는 최적해가 있다 → 탐욕적 선택 속성이 성립합니다.</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교환 예: 표준 동전에서 500원이 안전한 이유</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93</a:t>
            </a:r>
          </a:p>
        </p:txBody>
      </p:sp>
      <p:sp>
        <p:nvSpPr>
          <p:cNvPr id="9" name="fit:bd0f915c54e17928 10"/>
          <p:cNvSpPr/>
          <p:nvPr/>
        </p:nvSpPr>
        <p:spPr>
          <a:xfrm>
            <a:off x="612648" y="1636776"/>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예: 1,260원을 100원 12개 + 50원 1개 + 10원 1개(14개)로 주면, 100원 5개를 500원 1개로 두 번 바꿔 6개가 됩니다.</a:t>
            </a:r>
          </a:p>
        </p:txBody>
      </p:sp>
      <p:graphicFrame>
        <p:nvGraphicFramePr>
          <p:cNvPr id="10" name="표 11"/>
          <p:cNvGraphicFramePr>
            <a:graphicFrameLocks noGrp="1"/>
          </p:cNvGraphicFramePr>
          <p:nvPr/>
        </p:nvGraphicFramePr>
        <p:xfrm>
          <a:off x="612648" y="2359152"/>
          <a:ext cx="10972800" cy="1316736"/>
        </p:xfrm>
        <a:graphic>
          <a:graphicData uri="http://schemas.openxmlformats.org/drawingml/2006/table">
            <a:tbl>
              <a:tblPr/>
              <a:tblGrid>
                <a:gridCol w="6583680"/>
                <a:gridCol w="4389120"/>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바꿀 수 있는 묶음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개수 변화</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100원 5개 → 500원 1개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5개 → 1개</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50원 2개 → 100원 1개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 → 1개</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10원 5개 → 50원 1개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5개 → 1개</a:t>
                      </a:r>
                    </a:p>
                  </a:txBody>
                  <a:tcPr marL="54864" marR="54864" marT="18288" marB="18288" anchor="ctr">
                    <a:solidFill>
                      <a:srgbClr val="FFFFFF"/>
                    </a:solidFill>
                  </a:tcPr>
                </a:tc>
              </a:tr>
            </a:tbl>
          </a:graphicData>
        </a:graphic>
      </p:graphicFrame>
      <p:sp>
        <p:nvSpPr>
          <p:cNvPr id="11" name="fit:fa66cdbfeb3da8b0 12"/>
          <p:cNvSpPr/>
          <p:nvPr/>
        </p:nvSpPr>
        <p:spPr>
          <a:xfrm>
            <a:off x="612648" y="3822192"/>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최적해에는 이런 묶음이 없습니다. 그래서 100원은 4개 이하, 50원은 1개 이하, 10원은 4개 이하입니다.</a:t>
            </a:r>
          </a:p>
          <a:p>
            <a:pPr algn="l" eaLnBrk="0" latinLnBrk="0">
              <a:lnSpc>
                <a:spcPct val="105000"/>
              </a:lnSpc>
              <a:buNone/>
            </a:pPr>
            <a:r>
              <a:rPr lang="ko-KR" altLang="en-US" sz="1800" b="0" dirty="0">
                <a:solidFill>
                  <a:srgbClr val="171717"/>
                </a:solidFill>
                <a:latin typeface="Malgun Gothic"/>
                <a:ea typeface="Malgun Gothic"/>
                <a:cs typeface="Malgun Gothic"/>
              </a:rPr>
              <a:t>그래서 최적해에서 500원을 뺀 나머지 동전의 합은 많아야 400 + 50 + 40 = 490원입니다.</a:t>
            </a:r>
          </a:p>
        </p:txBody>
      </p:sp>
      <p:sp>
        <p:nvSpPr>
          <p:cNvPr id="12" name="fit:121a73e7d4834b47 13"/>
          <p:cNvSpPr/>
          <p:nvPr/>
        </p:nvSpPr>
        <p:spPr>
          <a:xfrm>
            <a:off x="612648" y="4544568"/>
            <a:ext cx="10972800" cy="356616"/>
          </a:xfrm>
          <a:prstGeom prst="rect">
            <a:avLst/>
          </a:prstGeom>
          <a:noFill/>
          <a:ln w="0">
            <a:noFill/>
          </a:ln>
        </p:spPr>
        <p:txBody>
          <a:bodyPr wrap="square" lIns="0" tIns="0" rIns="0" bIns="0" anchor="t">
            <a:noAutofit/>
          </a:bodyPr>
          <a:lstStyle/>
          <a:p>
            <a:pPr algn="l" eaLnBrk="0" latinLnBrk="0">
              <a:lnSpc>
                <a:spcPct val="100000"/>
              </a:lnSpc>
              <a:buNone/>
            </a:pPr>
            <a:r>
              <a:rPr lang="ko-KR" altLang="en-US" sz="2100" b="1" dirty="0">
                <a:solidFill>
                  <a:srgbClr val="0E8A7D"/>
                </a:solidFill>
                <a:latin typeface="Malgun Gothic"/>
                <a:ea typeface="Malgun Gothic"/>
                <a:cs typeface="Malgun Gothic"/>
              </a:rPr>
              <a:t>500원 이상이면 최적해에 500원이 반드시 있습니다 → 500원을 먼저 골라도 안전</a:t>
            </a:r>
          </a:p>
        </p:txBody>
      </p:sp>
      <p:sp>
        <p:nvSpPr>
          <p:cNvPr id="13" name="fit:c596bc484210fece 14"/>
          <p:cNvSpPr/>
          <p:nvPr/>
        </p:nvSpPr>
        <p:spPr>
          <a:xfrm>
            <a:off x="612648" y="5010912"/>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400원 동전이 생기면 이 교환이 깨집니다. 800원의 최적해 400 + 400에는 500원 1개로 바꿀 묶음이 없습니다.</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최적 부분 구조 (optimal substructure)</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94</a:t>
            </a:r>
          </a:p>
        </p:txBody>
      </p:sp>
      <p:sp>
        <p:nvSpPr>
          <p:cNvPr id="9" name="fit:4b2df7395048251b 10"/>
          <p:cNvSpPr/>
          <p:nvPr/>
        </p:nvSpPr>
        <p:spPr>
          <a:xfrm>
            <a:off x="658368" y="1737360"/>
            <a:ext cx="5120640" cy="1170432"/>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선택하고 남은 부분 문제(하위 문제)의 최적해에 그 선택을 더하면 전체 최적해가 된다는 성질입니다. 거꾸로 말하면 전체 최적해 안에 부분 문제의 최적해가 들어 있습니다.</a:t>
            </a:r>
          </a:p>
        </p:txBody>
      </p:sp>
      <p:sp>
        <p:nvSpPr>
          <p:cNvPr id="10" name="fit:9ea371377acf8344 11"/>
          <p:cNvSpPr/>
          <p:nvPr/>
        </p:nvSpPr>
        <p:spPr>
          <a:xfrm>
            <a:off x="658368" y="3035808"/>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예: 활동 선택</a:t>
            </a:r>
          </a:p>
        </p:txBody>
      </p:sp>
      <p:sp>
        <p:nvSpPr>
          <p:cNvPr id="11" name="fit:fe7c3a85be490736 12"/>
          <p:cNvSpPr/>
          <p:nvPr/>
        </p:nvSpPr>
        <p:spPr>
          <a:xfrm>
            <a:off x="841248" y="3364992"/>
            <a:ext cx="4937760" cy="77724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1번 [1, 3)을 고르면 남은 문제는 "3시 이후에 시작하는 회의 중 최대 개수 고르기"입니다. 그 최적해에 1번을 더하면 전체 최적해가 됩니다.</a:t>
            </a:r>
          </a:p>
        </p:txBody>
      </p:sp>
      <p:sp>
        <p:nvSpPr>
          <p:cNvPr id="12" name="fit:83a860a318d281b9 13"/>
          <p:cNvSpPr/>
          <p:nvPr/>
        </p:nvSpPr>
        <p:spPr>
          <a:xfrm>
            <a:off x="658368" y="4251960"/>
            <a:ext cx="512064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그리디는 선택을 확정한 뒤 남은 문제를 같은 방법으로 풉니다. 그래서 이 성질이 필요합니다.</a:t>
            </a:r>
          </a:p>
        </p:txBody>
      </p:sp>
      <p:sp>
        <p:nvSpPr>
          <p:cNvPr id="13" name="fit:3a5405e8e2e35d0d 14"/>
          <p:cNvSpPr/>
          <p:nvPr/>
        </p:nvSpPr>
        <p:spPr>
          <a:xfrm>
            <a:off x="658368" y="4901184"/>
            <a:ext cx="512064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4장의 최대 구간 합처럼 분할 정복으로 푸는 최적화 문제, 6장의 동적 계획법도 이 성질을 씁니다.</a:t>
            </a:r>
          </a:p>
        </p:txBody>
      </p:sp>
      <p:pic>
        <p:nvPicPr>
          <p:cNvPr id="14" name="그림 15"/>
          <p:cNvPicPr>
            <a:picLocks noChangeAspect="1"/>
          </p:cNvPicPr>
          <p:nvPr/>
        </p:nvPicPr>
        <p:blipFill>
          <a:blip r:embed="rIdImg1"/>
          <a:stretch>
            <a:fillRect/>
          </a:stretch>
        </p:blipFill>
        <p:spPr>
          <a:xfrm>
            <a:off x="6126480" y="2441899"/>
            <a:ext cx="5458968" cy="2980042"/>
          </a:xfrm>
          <a:prstGeom prst="rect">
            <a:avLst/>
          </a:prstGeom>
        </p:spPr>
      </p:pic>
      <p:sp>
        <p:nvSpPr>
          <p:cNvPr id="15" name="직사각형 16"/>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작은 문제의 최적해(그림의 최적 부분해)를 모아 전체 최적해(그림의 전역 최적해)를 만듭니다.</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성립 예: 최단 경로의 부분 경로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95</a:t>
            </a:r>
          </a:p>
        </p:txBody>
      </p:sp>
      <p:sp>
        <p:nvSpPr>
          <p:cNvPr id="9" name="fit:4bffd2bc91cbc233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 → D 최단 경로는 A → B → C → D = 9입니다. 그 안의 A → B → C도 A에서 C까지의 최단일까요?</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0f913794d7d5b67d 12"/>
          <p:cNvSpPr/>
          <p:nvPr/>
        </p:nvSpPr>
        <p:spPr>
          <a:xfrm>
            <a:off x="7909560" y="2935224"/>
            <a:ext cx="3666744" cy="237744"/>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A → D: A → C → D = 10, A → B → D = 10</a:t>
            </a:r>
          </a:p>
        </p:txBody>
      </p:sp>
      <p:sp>
        <p:nvSpPr>
          <p:cNvPr id="12" name="fit:7fcefe75ccec604e 13"/>
          <p:cNvSpPr/>
          <p:nvPr/>
        </p:nvSpPr>
        <p:spPr>
          <a:xfrm>
            <a:off x="7909560" y="32461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 C로 가는 길</a:t>
            </a:r>
          </a:p>
        </p:txBody>
      </p:sp>
      <p:sp>
        <p:nvSpPr>
          <p:cNvPr id="13" name="fit:5050048bc1498827 14"/>
          <p:cNvSpPr/>
          <p:nvPr/>
        </p:nvSpPr>
        <p:spPr>
          <a:xfrm>
            <a:off x="7909560" y="352958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 B → C = 2 + 3 = 5</a:t>
            </a:r>
          </a:p>
        </p:txBody>
      </p:sp>
      <p:sp>
        <p:nvSpPr>
          <p:cNvPr id="14" name="fit:4b5360e9d7dd1db6 15"/>
          <p:cNvSpPr/>
          <p:nvPr/>
        </p:nvSpPr>
        <p:spPr>
          <a:xfrm>
            <a:off x="7909560" y="38679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 C 직행 = 6</a:t>
            </a:r>
          </a:p>
        </p:txBody>
      </p:sp>
      <p:sp>
        <p:nvSpPr>
          <p:cNvPr id="15" name="fit:698e4aab4880adbf 16"/>
          <p:cNvSpPr/>
          <p:nvPr/>
        </p:nvSpPr>
        <p:spPr>
          <a:xfrm>
            <a:off x="7909560" y="424281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5가 A → C 최단</a:t>
            </a:r>
          </a:p>
        </p:txBody>
      </p:sp>
      <p:sp>
        <p:nvSpPr>
          <p:cNvPr id="16" name="fit:b2df05cc2636275c 17"/>
          <p:cNvSpPr/>
          <p:nvPr/>
        </p:nvSpPr>
        <p:spPr>
          <a:xfrm>
            <a:off x="7909560" y="4700016"/>
            <a:ext cx="3666744"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5보다 짧은 A → C 길이 있다면 그 길로 바꿔 A → D가 9보다 짧아집니다. 9가 최단이라는 사실과 모순입니다.</a:t>
            </a:r>
          </a:p>
        </p:txBody>
      </p:sp>
      <p:cxnSp>
        <p:nvCxnSpPr>
          <p:cNvPr id="17" name="연결선 18"/>
          <p:cNvCxnSpPr/>
          <p:nvPr/>
        </p:nvCxnSpPr>
        <p:spPr>
          <a:xfrm flipV="1">
            <a:off x="1185069" y="3461636"/>
            <a:ext cx="1378902" cy="1306328"/>
          </a:xfrm>
          <a:prstGeom prst="line">
            <a:avLst/>
          </a:prstGeom>
          <a:ln w="44450">
            <a:solidFill>
              <a:srgbClr val="1D5A8A"/>
            </a:solidFill>
          </a:ln>
        </p:spPr>
      </p:cxnSp>
      <p:sp>
        <p:nvSpPr>
          <p:cNvPr id="18" name="직사각형 19"/>
          <p:cNvSpPr/>
          <p:nvPr/>
        </p:nvSpPr>
        <p:spPr>
          <a:xfrm>
            <a:off x="1536156" y="387143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2</a:t>
            </a:r>
          </a:p>
        </p:txBody>
      </p:sp>
      <p:cxnSp>
        <p:nvCxnSpPr>
          <p:cNvPr id="19" name="연결선 20"/>
          <p:cNvCxnSpPr/>
          <p:nvPr/>
        </p:nvCxnSpPr>
        <p:spPr>
          <a:xfrm>
            <a:off x="2930651" y="3452513"/>
            <a:ext cx="1545337" cy="1324575"/>
          </a:xfrm>
          <a:prstGeom prst="line">
            <a:avLst/>
          </a:prstGeom>
          <a:ln w="44450">
            <a:solidFill>
              <a:srgbClr val="1D5A8A"/>
            </a:solidFill>
          </a:ln>
        </p:spPr>
      </p:cxnSp>
      <p:sp>
        <p:nvSpPr>
          <p:cNvPr id="20" name="직사각형 21"/>
          <p:cNvSpPr/>
          <p:nvPr/>
        </p:nvSpPr>
        <p:spPr>
          <a:xfrm>
            <a:off x="3370363" y="408872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3</a:t>
            </a:r>
          </a:p>
        </p:txBody>
      </p:sp>
      <p:cxnSp>
        <p:nvCxnSpPr>
          <p:cNvPr id="21" name="연결선 22"/>
          <p:cNvCxnSpPr/>
          <p:nvPr/>
        </p:nvCxnSpPr>
        <p:spPr>
          <a:xfrm flipV="1">
            <a:off x="4846950" y="3456999"/>
            <a:ext cx="1461779" cy="1315601"/>
          </a:xfrm>
          <a:prstGeom prst="line">
            <a:avLst/>
          </a:prstGeom>
          <a:ln w="44450">
            <a:solidFill>
              <a:srgbClr val="1D5A8A"/>
            </a:solidFill>
          </a:ln>
        </p:spPr>
      </p:cxnSp>
      <p:sp>
        <p:nvSpPr>
          <p:cNvPr id="22" name="직사각형 23"/>
          <p:cNvSpPr/>
          <p:nvPr/>
        </p:nvSpPr>
        <p:spPr>
          <a:xfrm>
            <a:off x="5437968" y="40863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4</a:t>
            </a:r>
          </a:p>
        </p:txBody>
      </p:sp>
      <p:cxnSp>
        <p:nvCxnSpPr>
          <p:cNvPr id="23" name="연결선 24"/>
          <p:cNvCxnSpPr/>
          <p:nvPr/>
        </p:nvCxnSpPr>
        <p:spPr>
          <a:xfrm>
            <a:off x="1252728" y="4937760"/>
            <a:ext cx="3163824" cy="0"/>
          </a:xfrm>
          <a:prstGeom prst="line">
            <a:avLst/>
          </a:prstGeom>
          <a:ln w="19050">
            <a:solidFill>
              <a:srgbClr val="9A9A9A"/>
            </a:solidFill>
          </a:ln>
        </p:spPr>
      </p:cxnSp>
      <p:sp>
        <p:nvSpPr>
          <p:cNvPr id="24" name="직사각형 25"/>
          <p:cNvSpPr/>
          <p:nvPr/>
        </p:nvSpPr>
        <p:spPr>
          <a:xfrm>
            <a:off x="2596896" y="4946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6</a:t>
            </a:r>
          </a:p>
        </p:txBody>
      </p:sp>
      <p:cxnSp>
        <p:nvCxnSpPr>
          <p:cNvPr id="25" name="연결선 26"/>
          <p:cNvCxnSpPr/>
          <p:nvPr/>
        </p:nvCxnSpPr>
        <p:spPr>
          <a:xfrm>
            <a:off x="2990088" y="3291840"/>
            <a:ext cx="3255264" cy="0"/>
          </a:xfrm>
          <a:prstGeom prst="line">
            <a:avLst/>
          </a:prstGeom>
          <a:ln w="19050">
            <a:solidFill>
              <a:srgbClr val="9A9A9A"/>
            </a:solidFill>
          </a:ln>
        </p:spPr>
      </p:cxnSp>
      <p:sp>
        <p:nvSpPr>
          <p:cNvPr id="26" name="직사각형 27"/>
          <p:cNvSpPr/>
          <p:nvPr/>
        </p:nvSpPr>
        <p:spPr>
          <a:xfrm>
            <a:off x="4379976" y="300837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sp>
        <p:nvSpPr>
          <p:cNvPr id="27" name="직사각형 28"/>
          <p:cNvSpPr/>
          <p:nvPr/>
        </p:nvSpPr>
        <p:spPr>
          <a:xfrm>
            <a:off x="758952" y="469087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8" name="직사각형 29"/>
          <p:cNvSpPr/>
          <p:nvPr/>
        </p:nvSpPr>
        <p:spPr>
          <a:xfrm>
            <a:off x="2496312" y="3044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9" name="직사각형 30"/>
          <p:cNvSpPr/>
          <p:nvPr/>
        </p:nvSpPr>
        <p:spPr>
          <a:xfrm>
            <a:off x="4416552" y="4690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0" name="직사각형 31"/>
          <p:cNvSpPr/>
          <p:nvPr/>
        </p:nvSpPr>
        <p:spPr>
          <a:xfrm>
            <a:off x="6245352" y="3044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1" name="직사각형 3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A에서 D까지의 최단 경로    검정 정점: 출발점 A    노랑 정점: 중간 지점 C</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TSP: '두 도시 사이 최단'으로 쪼갤 수 없다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96</a:t>
            </a:r>
          </a:p>
        </p:txBody>
      </p:sp>
      <p:sp>
        <p:nvSpPr>
          <p:cNvPr id="9" name="fit:c5961a3bff8aee78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최적 순회는 A → B → C → D → A = 14입니다(다른 두 순회는 15). 그 안의 A → B → C를 떼어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e367127391ae2f43 12"/>
          <p:cNvSpPr/>
          <p:nvPr/>
        </p:nvSpPr>
        <p:spPr>
          <a:xfrm>
            <a:off x="7909560" y="2935224"/>
            <a:ext cx="3666744"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외판원 순회(TSP): 모든 도시를 한 번씩 들르고 출발지로 돌아오는 가장 짧은 순회. 5.7절에서 자세히 봅니다.</a:t>
            </a:r>
          </a:p>
        </p:txBody>
      </p:sp>
      <p:sp>
        <p:nvSpPr>
          <p:cNvPr id="12" name="fit:586bf1143f9296ea 13"/>
          <p:cNvSpPr/>
          <p:nvPr/>
        </p:nvSpPr>
        <p:spPr>
          <a:xfrm>
            <a:off x="7909560" y="37033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 B → C = 4 + 4 = 8</a:t>
            </a:r>
          </a:p>
        </p:txBody>
      </p:sp>
      <p:sp>
        <p:nvSpPr>
          <p:cNvPr id="13" name="fit:fc98d54a6e38fb5f 14"/>
          <p:cNvSpPr/>
          <p:nvPr/>
        </p:nvSpPr>
        <p:spPr>
          <a:xfrm>
            <a:off x="7909560" y="40416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 C 직행 = 5가 더 짧습니다</a:t>
            </a:r>
          </a:p>
        </p:txBody>
      </p:sp>
      <p:sp>
        <p:nvSpPr>
          <p:cNvPr id="14" name="fit:3b5c41bd3a253732 15"/>
          <p:cNvSpPr/>
          <p:nvPr/>
        </p:nvSpPr>
        <p:spPr>
          <a:xfrm>
            <a:off x="7909560" y="4379976"/>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바꾸면 A → C → D → A: B를 건너뜁니다</a:t>
            </a:r>
          </a:p>
        </p:txBody>
      </p:sp>
      <p:sp>
        <p:nvSpPr>
          <p:cNvPr id="15" name="fit:958745345343290e 16"/>
          <p:cNvSpPr/>
          <p:nvPr/>
        </p:nvSpPr>
        <p:spPr>
          <a:xfrm>
            <a:off x="7909560" y="4754880"/>
            <a:ext cx="3666744" cy="58521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부분 문제에 '들른 도시'가 들어가야 합니다</a:t>
            </a:r>
          </a:p>
        </p:txBody>
      </p:sp>
      <p:sp>
        <p:nvSpPr>
          <p:cNvPr id="16" name="fit:7633f95b90a7ab52 17"/>
          <p:cNvSpPr/>
          <p:nvPr/>
        </p:nvSpPr>
        <p:spPr>
          <a:xfrm>
            <a:off x="7909560" y="5449824"/>
            <a:ext cx="3666744" cy="448056"/>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현재 도시와 들른 도시 집합을 함께 기억하면 DP로 풉니다(6장).</a:t>
            </a:r>
          </a:p>
        </p:txBody>
      </p:sp>
      <p:cxnSp>
        <p:nvCxnSpPr>
          <p:cNvPr id="17" name="연결선 18"/>
          <p:cNvCxnSpPr/>
          <p:nvPr/>
        </p:nvCxnSpPr>
        <p:spPr>
          <a:xfrm flipV="1">
            <a:off x="1532273" y="3250691"/>
            <a:ext cx="1873215" cy="2185417"/>
          </a:xfrm>
          <a:prstGeom prst="line">
            <a:avLst/>
          </a:prstGeom>
          <a:ln w="44450">
            <a:solidFill>
              <a:srgbClr val="1D5A8A"/>
            </a:solidFill>
          </a:ln>
        </p:spPr>
      </p:cxnSp>
      <p:sp>
        <p:nvSpPr>
          <p:cNvPr id="18" name="직사각형 19"/>
          <p:cNvSpPr/>
          <p:nvPr/>
        </p:nvSpPr>
        <p:spPr>
          <a:xfrm>
            <a:off x="2120054" y="411102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4</a:t>
            </a:r>
          </a:p>
        </p:txBody>
      </p:sp>
      <p:cxnSp>
        <p:nvCxnSpPr>
          <p:cNvPr id="19" name="연결선 20"/>
          <p:cNvCxnSpPr/>
          <p:nvPr/>
        </p:nvCxnSpPr>
        <p:spPr>
          <a:xfrm>
            <a:off x="3726833" y="3250691"/>
            <a:ext cx="1873215" cy="2185417"/>
          </a:xfrm>
          <a:prstGeom prst="line">
            <a:avLst/>
          </a:prstGeom>
          <a:ln w="44450">
            <a:solidFill>
              <a:srgbClr val="1D5A8A"/>
            </a:solidFill>
          </a:ln>
        </p:spPr>
      </p:cxnSp>
      <p:sp>
        <p:nvSpPr>
          <p:cNvPr id="20" name="직사각형 21"/>
          <p:cNvSpPr/>
          <p:nvPr/>
        </p:nvSpPr>
        <p:spPr>
          <a:xfrm>
            <a:off x="4536778" y="411102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4</a:t>
            </a:r>
          </a:p>
        </p:txBody>
      </p:sp>
      <p:cxnSp>
        <p:nvCxnSpPr>
          <p:cNvPr id="21" name="연결선 22"/>
          <p:cNvCxnSpPr/>
          <p:nvPr/>
        </p:nvCxnSpPr>
        <p:spPr>
          <a:xfrm flipH="1" flipV="1">
            <a:off x="3792348" y="4762397"/>
            <a:ext cx="1742183" cy="762205"/>
          </a:xfrm>
          <a:prstGeom prst="line">
            <a:avLst/>
          </a:prstGeom>
          <a:ln w="44450">
            <a:solidFill>
              <a:srgbClr val="1D5A8A"/>
            </a:solidFill>
          </a:ln>
        </p:spPr>
      </p:cxnSp>
      <p:sp>
        <p:nvSpPr>
          <p:cNvPr id="22" name="직사각형 23"/>
          <p:cNvSpPr/>
          <p:nvPr/>
        </p:nvSpPr>
        <p:spPr>
          <a:xfrm>
            <a:off x="4484337" y="4872303"/>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3</a:t>
            </a:r>
          </a:p>
        </p:txBody>
      </p:sp>
      <p:cxnSp>
        <p:nvCxnSpPr>
          <p:cNvPr id="23" name="연결선 24"/>
          <p:cNvCxnSpPr/>
          <p:nvPr/>
        </p:nvCxnSpPr>
        <p:spPr>
          <a:xfrm flipH="1">
            <a:off x="1597788" y="4762397"/>
            <a:ext cx="1742183" cy="762205"/>
          </a:xfrm>
          <a:prstGeom prst="line">
            <a:avLst/>
          </a:prstGeom>
          <a:ln w="44450">
            <a:solidFill>
              <a:srgbClr val="1D5A8A"/>
            </a:solidFill>
          </a:ln>
        </p:spPr>
      </p:cxnSp>
      <p:sp>
        <p:nvSpPr>
          <p:cNvPr id="24" name="직사각형 25"/>
          <p:cNvSpPr/>
          <p:nvPr/>
        </p:nvSpPr>
        <p:spPr>
          <a:xfrm>
            <a:off x="2172495" y="4872303"/>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3</a:t>
            </a:r>
          </a:p>
        </p:txBody>
      </p:sp>
      <p:cxnSp>
        <p:nvCxnSpPr>
          <p:cNvPr id="25" name="연결선 26"/>
          <p:cNvCxnSpPr/>
          <p:nvPr/>
        </p:nvCxnSpPr>
        <p:spPr>
          <a:xfrm>
            <a:off x="1618488" y="5623560"/>
            <a:ext cx="3895344" cy="0"/>
          </a:xfrm>
          <a:prstGeom prst="line">
            <a:avLst/>
          </a:prstGeom>
          <a:ln w="44450">
            <a:solidFill>
              <a:srgbClr val="B8651B"/>
            </a:solidFill>
          </a:ln>
        </p:spPr>
      </p:cxnSp>
      <p:sp>
        <p:nvSpPr>
          <p:cNvPr id="26" name="직사각형 27"/>
          <p:cNvSpPr/>
          <p:nvPr/>
        </p:nvSpPr>
        <p:spPr>
          <a:xfrm>
            <a:off x="3328416" y="56327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27" name="연결선 28"/>
          <p:cNvCxnSpPr/>
          <p:nvPr/>
        </p:nvCxnSpPr>
        <p:spPr>
          <a:xfrm>
            <a:off x="3566160" y="3310128"/>
            <a:ext cx="0" cy="1106424"/>
          </a:xfrm>
          <a:prstGeom prst="line">
            <a:avLst/>
          </a:prstGeom>
          <a:ln w="19050">
            <a:solidFill>
              <a:srgbClr val="9A9A9A"/>
            </a:solidFill>
          </a:ln>
        </p:spPr>
      </p:cxnSp>
      <p:sp>
        <p:nvSpPr>
          <p:cNvPr id="28" name="직사각형 29"/>
          <p:cNvSpPr/>
          <p:nvPr/>
        </p:nvSpPr>
        <p:spPr>
          <a:xfrm>
            <a:off x="3602736" y="37261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sp>
        <p:nvSpPr>
          <p:cNvPr id="29" name="직사각형 30"/>
          <p:cNvSpPr/>
          <p:nvPr/>
        </p:nvSpPr>
        <p:spPr>
          <a:xfrm>
            <a:off x="1124712" y="537667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30" name="직사각형 31"/>
          <p:cNvSpPr/>
          <p:nvPr/>
        </p:nvSpPr>
        <p:spPr>
          <a:xfrm>
            <a:off x="3319272" y="2816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1" name="직사각형 32"/>
          <p:cNvSpPr/>
          <p:nvPr/>
        </p:nvSpPr>
        <p:spPr>
          <a:xfrm>
            <a:off x="5513832" y="53766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3319272" y="44165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최적 순회    주황: 더 짧지만 B를 건너뛰는 A → C    검정 정점: 출발지 A</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주의: ②만으로는 그리디를 보장할 수 없다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97</a:t>
            </a:r>
          </a:p>
        </p:txBody>
      </p:sp>
      <p:graphicFrame>
        <p:nvGraphicFramePr>
          <p:cNvPr id="9" name="표 10"/>
          <p:cNvGraphicFramePr>
            <a:graphicFrameLocks noGrp="1"/>
          </p:cNvGraphicFramePr>
          <p:nvPr/>
        </p:nvGraphicFramePr>
        <p:xfrm>
          <a:off x="612648" y="1636776"/>
          <a:ext cx="10972800" cy="2304288"/>
        </p:xfrm>
        <a:graphic>
          <a:graphicData uri="http://schemas.openxmlformats.org/drawingml/2006/table">
            <a:tbl>
              <a:tblPr/>
              <a:tblGrid>
                <a:gridCol w="4014439"/>
                <a:gridCol w="1873405"/>
                <a:gridCol w="2141034"/>
                <a:gridCol w="2943922"/>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문제 (그리디의 기준)</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① 탐욕적 선택</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② 최적 부분 구조</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그리디의 결과</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활동 선택 (종료가 빠른 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최적</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분할 배낭 (무게당 가치 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최적</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400원 동전 (큰 동전부터)</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깨짐</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보장 못 함 → 6장 DP</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0/1 배낭 (무게당 가치 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깨짐</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보장 못 함 → 6장 DP</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최단 경로, 간선 비용 ≥ 0 (다익스트라)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최적 (5.8)</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최단 경로, 음수 간선 (다익스트라)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깨짐</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틀릴 수 있음 (5.8)</a:t>
                      </a:r>
                    </a:p>
                  </a:txBody>
                  <a:tcPr marL="54864" marR="54864" marT="18288" marB="18288" anchor="ctr">
                    <a:solidFill>
                      <a:srgbClr val="FFFFFF"/>
                    </a:solidFill>
                  </a:tcPr>
                </a:tc>
              </a:tr>
            </a:tbl>
          </a:graphicData>
        </a:graphic>
      </p:graphicFrame>
      <p:sp>
        <p:nvSpPr>
          <p:cNvPr id="10" name="fit:4c9fe978979afa60 11"/>
          <p:cNvSpPr/>
          <p:nvPr/>
        </p:nvSpPr>
        <p:spPr>
          <a:xfrm>
            <a:off x="612648" y="4087368"/>
            <a:ext cx="10972800" cy="676656"/>
          </a:xfrm>
          <a:prstGeom prst="rect">
            <a:avLst/>
          </a:prstGeom>
          <a:noFill/>
          <a:ln w="0">
            <a:noFill/>
          </a:ln>
        </p:spPr>
        <p:txBody>
          <a:bodyPr wrap="square" lIns="0" tIns="0" rIns="0" bIns="0" anchor="t">
            <a:noAutofit/>
          </a:bodyPr>
          <a:lstStyle/>
          <a:p>
            <a:pPr algn="l" eaLnBrk="0" latinLnBrk="0">
              <a:lnSpc>
                <a:spcPct val="100000"/>
              </a:lnSpc>
              <a:buNone/>
            </a:pPr>
            <a:r>
              <a:rPr lang="ko-KR" altLang="en-US" sz="2100" b="1" dirty="0">
                <a:solidFill>
                  <a:srgbClr val="0E8A7D"/>
                </a:solidFill>
                <a:latin typeface="Malgun Gothic"/>
                <a:ea typeface="Malgun Gothic"/>
                <a:cs typeface="Malgun Gothic"/>
              </a:rPr>
              <a:t>400원 동전과 0/1 배낭은 ①이 깨진 예입니다. ②는 성립하므로 6장 동적 계획법으로 풀립니다.</a:t>
            </a:r>
          </a:p>
        </p:txBody>
      </p:sp>
      <p:sp>
        <p:nvSpPr>
          <p:cNvPr id="11" name="fit:b330f053da83b4f4 12"/>
          <p:cNvSpPr/>
          <p:nvPr/>
        </p:nvSpPr>
        <p:spPr>
          <a:xfrm>
            <a:off x="612648" y="4873752"/>
            <a:ext cx="10972800"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최단 경로는 음수 간선이 있어도(한 바퀴 돌수록 짧아지는 순환이 없다면) ②가 성립합니다. 다익스트라가 옳으려면 "간선 비용이 모두 0 이상이면, 아직 확정하지 않은 곳 중 지금 가장 가까운 곳은 더 가까워지지 않는다"는 ①의 근거가 더 필요합니다.</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반례 모음: '항상 최적'은 반례 하나로 깨진다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98</a:t>
            </a:r>
          </a:p>
        </p:txBody>
      </p:sp>
      <p:sp>
        <p:nvSpPr>
          <p:cNvPr id="9" name="fit:22fff3d5e3e828fd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5.2에서 본 대로 "이 그리디는 항상 최적해를 준다"는 모든 입력에 대한 주장입니다. 이 장에서 만난 반례를 모아 봅니다.</a:t>
            </a:r>
          </a:p>
        </p:txBody>
      </p:sp>
      <p:sp>
        <p:nvSpPr>
          <p:cNvPr id="10" name="fit:9e78c8092f0b5968 11"/>
          <p:cNvSpPr/>
          <p:nvPr/>
        </p:nvSpPr>
        <p:spPr>
          <a:xfrm>
            <a:off x="612648" y="2432304"/>
            <a:ext cx="10972800" cy="713232"/>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반박은 반례 하나면 충분합니다. 조건을 지키는 입력 하나에서 그리디보다 더 좋은 해를 보이면 됩니다.</a:t>
            </a:r>
          </a:p>
        </p:txBody>
      </p:sp>
      <p:graphicFrame>
        <p:nvGraphicFramePr>
          <p:cNvPr id="11" name="표 12"/>
          <p:cNvGraphicFramePr>
            <a:graphicFrameLocks noGrp="1"/>
          </p:cNvGraphicFramePr>
          <p:nvPr/>
        </p:nvGraphicFramePr>
        <p:xfrm>
          <a:off x="612648" y="3255264"/>
          <a:ext cx="10972800" cy="1463040"/>
        </p:xfrm>
        <a:graphic>
          <a:graphicData uri="http://schemas.openxmlformats.org/drawingml/2006/table">
            <a:tbl>
              <a:tblPr/>
              <a:tblGrid>
                <a:gridCol w="3169920"/>
                <a:gridCol w="3291840"/>
                <a:gridCol w="2194560"/>
                <a:gridCol w="2316480"/>
              </a:tblGrid>
              <a:tr h="292608">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주장</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반례 입력</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그리디</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더 좋은 해</a:t>
                      </a:r>
                    </a:p>
                  </a:txBody>
                  <a:tcPr marL="54864" marR="54864" marT="18288" marB="18288" anchor="ctr">
                    <a:solidFill>
                      <a:srgbClr val="151515"/>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큰 동전부터 고르면 최적</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동전 {1, 3, 4}, 6원</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4 + 1 + 1 → 3개</a:t>
                      </a:r>
                    </a:p>
                  </a:txBody>
                  <a:tcPr marL="54864" marR="54864" marT="18288" marB="18288" anchor="ctr">
                    <a:solidFill>
                      <a:srgbClr val="FFFFFF"/>
                    </a:solidFill>
                  </a:tcPr>
                </a:tc>
                <a:tc>
                  <a:txBody>
                    <a:bodyPr/>
                    <a:lstStyle/>
                    <a:p>
                      <a:pPr algn="ctr" eaLnBrk="0" latinLnBrk="0">
                        <a:lnSpc>
                          <a:spcPct val="100000"/>
                        </a:lnSpc>
                        <a:buNone/>
                      </a:pPr>
                      <a:r>
                        <a:rPr lang="ko-KR" altLang="en-US" sz="1350" b="1" dirty="0">
                          <a:solidFill>
                            <a:srgbClr val="256B50"/>
                          </a:solidFill>
                          <a:latin typeface="Malgun Gothic"/>
                          <a:ea typeface="Malgun Gothic"/>
                          <a:cs typeface="Malgun Gothic"/>
                        </a:rPr>
                        <a:t>3 + 3 → 2개</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큰 동전부터 고르면 최적</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동전 {500, 400, 100, 50, 10}, 800원</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500 + 100 × 3 → 4개</a:t>
                      </a:r>
                    </a:p>
                  </a:txBody>
                  <a:tcPr marL="54864" marR="54864" marT="18288" marB="18288" anchor="ctr">
                    <a:solidFill>
                      <a:srgbClr val="FFFFFF"/>
                    </a:solidFill>
                  </a:tcPr>
                </a:tc>
                <a:tc>
                  <a:txBody>
                    <a:bodyPr/>
                    <a:lstStyle/>
                    <a:p>
                      <a:pPr algn="ctr" eaLnBrk="0" latinLnBrk="0">
                        <a:lnSpc>
                          <a:spcPct val="100000"/>
                        </a:lnSpc>
                        <a:buNone/>
                      </a:pPr>
                      <a:r>
                        <a:rPr lang="ko-KR" altLang="en-US" sz="1350" b="1" dirty="0">
                          <a:solidFill>
                            <a:srgbClr val="256B50"/>
                          </a:solidFill>
                          <a:latin typeface="Malgun Gothic"/>
                          <a:ea typeface="Malgun Gothic"/>
                          <a:cs typeface="Malgun Gothic"/>
                        </a:rPr>
                        <a:t>400 + 400 → 2개</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무게당 가치 순이면 최적 (0/1 배낭)</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30kg, A · B · C</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A → 14,000 G</a:t>
                      </a:r>
                    </a:p>
                  </a:txBody>
                  <a:tcPr marL="54864" marR="54864" marT="18288" marB="18288" anchor="ctr">
                    <a:solidFill>
                      <a:srgbClr val="FFFFFF"/>
                    </a:solidFill>
                  </a:tcPr>
                </a:tc>
                <a:tc>
                  <a:txBody>
                    <a:bodyPr/>
                    <a:lstStyle/>
                    <a:p>
                      <a:pPr algn="ctr" eaLnBrk="0" latinLnBrk="0">
                        <a:lnSpc>
                          <a:spcPct val="100000"/>
                        </a:lnSpc>
                        <a:buNone/>
                      </a:pPr>
                      <a:r>
                        <a:rPr lang="ko-KR" altLang="en-US" sz="1350" b="1" dirty="0">
                          <a:solidFill>
                            <a:srgbClr val="256B50"/>
                          </a:solidFill>
                          <a:latin typeface="Malgun Gothic"/>
                          <a:ea typeface="Malgun Gothic"/>
                          <a:cs typeface="Malgun Gothic"/>
                        </a:rPr>
                        <a:t>B + C → 18,000 G</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일찍 시작하는 회의부터 고르면 최적</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[1, 10), [2, 3), [4, 5)</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[1, 10) → 1개</a:t>
                      </a:r>
                    </a:p>
                  </a:txBody>
                  <a:tcPr marL="54864" marR="54864" marT="18288" marB="18288" anchor="ctr">
                    <a:solidFill>
                      <a:srgbClr val="FFFFFF"/>
                    </a:solidFill>
                  </a:tcPr>
                </a:tc>
                <a:tc>
                  <a:txBody>
                    <a:bodyPr/>
                    <a:lstStyle/>
                    <a:p>
                      <a:pPr algn="ctr" eaLnBrk="0" latinLnBrk="0">
                        <a:lnSpc>
                          <a:spcPct val="100000"/>
                        </a:lnSpc>
                        <a:buNone/>
                      </a:pPr>
                      <a:r>
                        <a:rPr lang="ko-KR" altLang="en-US" sz="1350" b="1" dirty="0">
                          <a:solidFill>
                            <a:srgbClr val="256B50"/>
                          </a:solidFill>
                          <a:latin typeface="Malgun Gothic"/>
                          <a:ea typeface="Malgun Gothic"/>
                          <a:cs typeface="Malgun Gothic"/>
                        </a:rPr>
                        <a:t>[2, 3), [4, 5) → 2개</a:t>
                      </a:r>
                    </a:p>
                  </a:txBody>
                  <a:tcPr marL="54864" marR="54864" marT="18288" marB="18288" anchor="ctr">
                    <a:solidFill>
                      <a:srgbClr val="FFFFFF"/>
                    </a:solidFill>
                  </a:tcPr>
                </a:tc>
              </a:tr>
            </a:tbl>
          </a:graphicData>
        </a:graphic>
      </p:graphicFrame>
      <p:sp>
        <p:nvSpPr>
          <p:cNvPr id="12" name="fit:9b8494ef0d4c0920 13"/>
          <p:cNvSpPr/>
          <p:nvPr/>
        </p:nvSpPr>
        <p:spPr>
          <a:xfrm>
            <a:off x="612648" y="4864608"/>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반대로 "항상 최적"임을 보이려면 예를 아무리 많이 들어도 부족합니다. 교환 논증처럼 모든 입력에 통하는 논증이 필요합니다.</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확인: 그리디가 통하는 조건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99</a:t>
            </a:r>
          </a:p>
        </p:txBody>
      </p:sp>
      <p:sp>
        <p:nvSpPr>
          <p:cNvPr id="9" name="fit:9d7a1d55b9de0f54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① 동전 {1, 3, 4}로 6원을 만들 때, 그리디의 첫 선택 4원은 탐욕적 선택 속성을 만족합니까?</a:t>
            </a:r>
          </a:p>
        </p:txBody>
      </p:sp>
      <p:sp>
        <p:nvSpPr>
          <p:cNvPr id="10" name="fit:1efd788b5743e2ec 11"/>
          <p:cNvSpPr/>
          <p:nvPr/>
        </p:nvSpPr>
        <p:spPr>
          <a:xfrm>
            <a:off x="612648" y="2103120"/>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② 교환 논증의 핵심을 한 문장으로 말해 보세요. 표준 동전에서는 무엇을 무엇으로 바꿉니까?</a:t>
            </a:r>
          </a:p>
        </p:txBody>
      </p:sp>
      <p:sp>
        <p:nvSpPr>
          <p:cNvPr id="11" name="fit:e0ec7a2d15430494 12"/>
          <p:cNvSpPr/>
          <p:nvPr/>
        </p:nvSpPr>
        <p:spPr>
          <a:xfrm>
            <a:off x="612648" y="2569464"/>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③ "무게당 가치 그리디는 0/1 배낭에서 항상 최적이다"를 반박하려면 무엇이 필요합니까?</a:t>
            </a:r>
          </a:p>
        </p:txBody>
      </p:sp>
      <p:sp>
        <p:nvSpPr>
          <p:cNvPr id="12" name="fit:7dcb9eb9458c435b 13"/>
          <p:cNvSpPr/>
          <p:nvPr/>
        </p:nvSpPr>
        <p:spPr>
          <a:xfrm>
            <a:off x="612648" y="3035808"/>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④ 400원 동전 문제에서 두 조건 중 깨진 것은 무엇입니까? 이 문제를 정확히 풀려면 어떤 방법을 씁니까?</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100</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5.6</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크루스칼 알고리즘</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모든 도시를 잇되 도로 비용은 최소로,</a:t>
            </a:r>
          </a:p>
          <a:p>
            <a:pPr algn="l" eaLnBrk="0" latinLnBrk="0">
              <a:lnSpc>
                <a:spcPct val="110000"/>
              </a:lnSpc>
              <a:buNone/>
            </a:pPr>
            <a:r>
              <a:rPr lang="ko-KR" altLang="en-US" sz="1800" b="0" dirty="0">
                <a:solidFill>
                  <a:srgbClr val="BBBBBB"/>
                </a:solidFill>
                <a:latin typeface="Malgun Gothic"/>
                <a:ea typeface="Malgun Gothic"/>
                <a:cs typeface="Malgun Gothic"/>
              </a:rPr>
              <a:t>가장 싼 도로부터 하나씩 골라 나갑니다.</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그래프 용어: 정점, 간선, 가중치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101</a:t>
            </a:r>
          </a:p>
        </p:txBody>
      </p:sp>
      <p:sp>
        <p:nvSpPr>
          <p:cNvPr id="9" name="fit:b7889294fc2e6941 10"/>
          <p:cNvSpPr/>
          <p:nvPr/>
        </p:nvSpPr>
        <p:spPr>
          <a:xfrm>
            <a:off x="612648" y="1636776"/>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도시와 도로를 그래프로 나타냅니다. 왼쪽은 정점 4개, 간선 5개짜리 그래프입니다.</a:t>
            </a:r>
          </a:p>
        </p:txBody>
      </p:sp>
      <p:cxnSp>
        <p:nvCxnSpPr>
          <p:cNvPr id="10" name="연결선 11"/>
          <p:cNvCxnSpPr/>
          <p:nvPr/>
        </p:nvCxnSpPr>
        <p:spPr>
          <a:xfrm flipV="1">
            <a:off x="1119823" y="2880149"/>
            <a:ext cx="1783714" cy="1189142"/>
          </a:xfrm>
          <a:prstGeom prst="line">
            <a:avLst/>
          </a:prstGeom>
          <a:ln w="19050">
            <a:solidFill>
              <a:srgbClr val="9A9A9A"/>
            </a:solidFill>
          </a:ln>
        </p:spPr>
      </p:cxnSp>
      <p:sp>
        <p:nvSpPr>
          <p:cNvPr id="11" name="직사각형 12"/>
          <p:cNvSpPr/>
          <p:nvPr/>
        </p:nvSpPr>
        <p:spPr>
          <a:xfrm>
            <a:off x="1692781" y="321582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12" name="연결선 13"/>
          <p:cNvCxnSpPr/>
          <p:nvPr/>
        </p:nvCxnSpPr>
        <p:spPr>
          <a:xfrm>
            <a:off x="3108960" y="2990088"/>
            <a:ext cx="0" cy="2432304"/>
          </a:xfrm>
          <a:prstGeom prst="line">
            <a:avLst/>
          </a:prstGeom>
          <a:ln w="19050">
            <a:solidFill>
              <a:srgbClr val="9A9A9A"/>
            </a:solidFill>
          </a:ln>
        </p:spPr>
      </p:cxnSp>
      <p:sp>
        <p:nvSpPr>
          <p:cNvPr id="13" name="직사각형 14"/>
          <p:cNvSpPr/>
          <p:nvPr/>
        </p:nvSpPr>
        <p:spPr>
          <a:xfrm>
            <a:off x="2596896" y="40690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4" name="연결선 15"/>
          <p:cNvCxnSpPr/>
          <p:nvPr/>
        </p:nvCxnSpPr>
        <p:spPr>
          <a:xfrm>
            <a:off x="1119823" y="4343189"/>
            <a:ext cx="1783714" cy="1189142"/>
          </a:xfrm>
          <a:prstGeom prst="line">
            <a:avLst/>
          </a:prstGeom>
          <a:ln w="19050">
            <a:solidFill>
              <a:srgbClr val="9A9A9A"/>
            </a:solidFill>
          </a:ln>
        </p:spPr>
      </p:cxnSp>
      <p:sp>
        <p:nvSpPr>
          <p:cNvPr id="15" name="직사각형 16"/>
          <p:cNvSpPr/>
          <p:nvPr/>
        </p:nvSpPr>
        <p:spPr>
          <a:xfrm>
            <a:off x="1692781" y="492233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16" name="연결선 17"/>
          <p:cNvCxnSpPr/>
          <p:nvPr/>
        </p:nvCxnSpPr>
        <p:spPr>
          <a:xfrm flipV="1">
            <a:off x="3314383" y="4343189"/>
            <a:ext cx="1783714" cy="1189142"/>
          </a:xfrm>
          <a:prstGeom prst="line">
            <a:avLst/>
          </a:prstGeom>
          <a:ln w="19050">
            <a:solidFill>
              <a:srgbClr val="9A9A9A"/>
            </a:solidFill>
          </a:ln>
        </p:spPr>
      </p:cxnSp>
      <p:sp>
        <p:nvSpPr>
          <p:cNvPr id="17" name="직사각형 18"/>
          <p:cNvSpPr/>
          <p:nvPr/>
        </p:nvSpPr>
        <p:spPr>
          <a:xfrm>
            <a:off x="4049651" y="492233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18" name="연결선 19"/>
          <p:cNvCxnSpPr/>
          <p:nvPr/>
        </p:nvCxnSpPr>
        <p:spPr>
          <a:xfrm>
            <a:off x="3314383" y="2880149"/>
            <a:ext cx="1783714" cy="1189142"/>
          </a:xfrm>
          <a:prstGeom prst="line">
            <a:avLst/>
          </a:prstGeom>
          <a:ln w="19050">
            <a:solidFill>
              <a:srgbClr val="9A9A9A"/>
            </a:solidFill>
          </a:ln>
        </p:spPr>
      </p:cxnSp>
      <p:sp>
        <p:nvSpPr>
          <p:cNvPr id="19" name="직사각형 20"/>
          <p:cNvSpPr/>
          <p:nvPr/>
        </p:nvSpPr>
        <p:spPr>
          <a:xfrm>
            <a:off x="4049651" y="321582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0" name="직사각형 21"/>
          <p:cNvSpPr/>
          <p:nvPr/>
        </p:nvSpPr>
        <p:spPr>
          <a:xfrm>
            <a:off x="66751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1" name="직사각형 22"/>
          <p:cNvSpPr/>
          <p:nvPr/>
        </p:nvSpPr>
        <p:spPr>
          <a:xfrm>
            <a:off x="2862072" y="24963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2" name="직사각형 23"/>
          <p:cNvSpPr/>
          <p:nvPr/>
        </p:nvSpPr>
        <p:spPr>
          <a:xfrm>
            <a:off x="286207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3" name="직사각형 24"/>
          <p:cNvSpPr/>
          <p:nvPr/>
        </p:nvSpPr>
        <p:spPr>
          <a:xfrm>
            <a:off x="505663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graphicFrame>
        <p:nvGraphicFramePr>
          <p:cNvPr id="24" name="표 25"/>
          <p:cNvGraphicFramePr>
            <a:graphicFrameLocks noGrp="1"/>
          </p:cNvGraphicFramePr>
          <p:nvPr/>
        </p:nvGraphicFramePr>
        <p:xfrm>
          <a:off x="5943600" y="2651760"/>
          <a:ext cx="5641848" cy="1984248"/>
        </p:xfrm>
        <a:graphic>
          <a:graphicData uri="http://schemas.openxmlformats.org/drawingml/2006/table">
            <a:tbl>
              <a:tblPr/>
              <a:tblGrid>
                <a:gridCol w="1524824"/>
                <a:gridCol w="2515959"/>
                <a:gridCol w="1601065"/>
              </a:tblGrid>
              <a:tr h="283464">
                <a:tc>
                  <a:txBody>
                    <a:bodyPr/>
                    <a:lstStyle/>
                    <a:p>
                      <a:pPr algn="ctr" eaLnBrk="0" latinLnBrk="0">
                        <a:lnSpc>
                          <a:spcPct val="100000"/>
                        </a:lnSpc>
                        <a:buNone/>
                      </a:pPr>
                      <a:r>
                        <a:rPr lang="ko-KR" altLang="en-US" sz="1300" b="1" dirty="0">
                          <a:solidFill>
                            <a:srgbClr val="FFFFFF"/>
                          </a:solidFill>
                          <a:latin typeface="Malgun Gothic"/>
                          <a:ea typeface="Malgun Gothic"/>
                          <a:cs typeface="Malgun Gothic"/>
                        </a:rPr>
                        <a:t>용어</a:t>
                      </a:r>
                    </a:p>
                  </a:txBody>
                  <a:tcPr marL="54864" marR="54864" marT="18288" marB="18288" anchor="ctr">
                    <a:solidFill>
                      <a:srgbClr val="151515"/>
                    </a:solidFill>
                  </a:tcPr>
                </a:tc>
                <a:tc>
                  <a:txBody>
                    <a:bodyPr/>
                    <a:lstStyle/>
                    <a:p>
                      <a:pPr algn="ctr" eaLnBrk="0" latinLnBrk="0">
                        <a:lnSpc>
                          <a:spcPct val="100000"/>
                        </a:lnSpc>
                        <a:buNone/>
                      </a:pPr>
                      <a:r>
                        <a:rPr lang="ko-KR" altLang="en-US" sz="1300" b="1" dirty="0">
                          <a:solidFill>
                            <a:srgbClr val="FFFFFF"/>
                          </a:solidFill>
                          <a:latin typeface="Malgun Gothic"/>
                          <a:ea typeface="Malgun Gothic"/>
                          <a:cs typeface="Malgun Gothic"/>
                        </a:rPr>
                        <a:t>뜻</a:t>
                      </a:r>
                    </a:p>
                  </a:txBody>
                  <a:tcPr marL="54864" marR="54864" marT="18288" marB="18288" anchor="ctr">
                    <a:solidFill>
                      <a:srgbClr val="151515"/>
                    </a:solidFill>
                  </a:tcPr>
                </a:tc>
                <a:tc>
                  <a:txBody>
                    <a:bodyPr/>
                    <a:lstStyle/>
                    <a:p>
                      <a:pPr algn="ctr" eaLnBrk="0" latinLnBrk="0">
                        <a:lnSpc>
                          <a:spcPct val="100000"/>
                        </a:lnSpc>
                        <a:buNone/>
                      </a:pPr>
                      <a:r>
                        <a:rPr lang="ko-KR" altLang="en-US" sz="1300" b="1" dirty="0">
                          <a:solidFill>
                            <a:srgbClr val="FFFFFF"/>
                          </a:solidFill>
                          <a:latin typeface="Malgun Gothic"/>
                          <a:ea typeface="Malgun Gothic"/>
                          <a:cs typeface="Malgun Gothic"/>
                        </a:rPr>
                        <a:t>이 그림에서</a:t>
                      </a:r>
                    </a:p>
                  </a:txBody>
                  <a:tcPr marL="54864" marR="54864" marT="18288" marB="18288" anchor="ctr">
                    <a:solidFill>
                      <a:srgbClr val="151515"/>
                    </a:solidFill>
                  </a:tcPr>
                </a:tc>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정점 (vertex)</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점. 예: 도시</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V = 4 (A~D)</a:t>
                      </a:r>
                    </a:p>
                  </a:txBody>
                  <a:tcPr marL="54864" marR="54864" marT="18288" marB="18288" anchor="ctr">
                    <a:solidFill>
                      <a:srgbClr val="FFFFFF"/>
                    </a:solidFill>
                  </a:tcPr>
                </a:tc>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간선 (edge)</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두 정점을 잇는 선. 예: 도로</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E = 5</a:t>
                      </a:r>
                    </a:p>
                  </a:txBody>
                  <a:tcPr marL="54864" marR="54864" marT="18288" marB="18288" anchor="ctr">
                    <a:solidFill>
                      <a:srgbClr val="FFFFFF"/>
                    </a:solidFill>
                  </a:tcPr>
                </a:tc>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가중치 (weight)</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간선에 붙은 비용</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 – B 1, C – D 4</a:t>
                      </a:r>
                    </a:p>
                  </a:txBody>
                  <a:tcPr marL="54864" marR="54864" marT="18288" marB="18288" anchor="ctr">
                    <a:solidFill>
                      <a:srgbClr val="FFFFFF"/>
                    </a:solidFill>
                  </a:tcPr>
                </a:tc>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경로 (path)</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간선을 따라 이어진 길</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 – B – D</a:t>
                      </a:r>
                    </a:p>
                  </a:txBody>
                  <a:tcPr marL="54864" marR="54864" marT="18288" marB="18288" anchor="ctr">
                    <a:solidFill>
                      <a:srgbClr val="FFFFFF"/>
                    </a:solidFill>
                  </a:tcPr>
                </a:tc>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사이클 (cycle)</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출발점으로 돌아오는 닫힌 길</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 – B – C – A</a:t>
                      </a:r>
                    </a:p>
                  </a:txBody>
                  <a:tcPr marL="54864" marR="54864" marT="18288" marB="18288" anchor="ctr">
                    <a:solidFill>
                      <a:srgbClr val="FFFFFF"/>
                    </a:solidFill>
                  </a:tcPr>
                </a:tc>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신장 (spanning)</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모든 정점을 포함한다</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A~D 모두</a:t>
                      </a:r>
                    </a:p>
                  </a:txBody>
                  <a:tcPr marL="54864" marR="54864" marT="18288" marB="18288" anchor="ctr">
                    <a:solidFill>
                      <a:srgbClr val="FFFFFF"/>
                    </a:solidFill>
                  </a:tcPr>
                </a:tc>
              </a:tr>
            </a:tbl>
          </a:graphicData>
        </a:graphic>
      </p:graphicFrame>
      <p:sp>
        <p:nvSpPr>
          <p:cNvPr id="25" name="직사각형 26"/>
          <p:cNvSpPr/>
          <p:nvPr/>
        </p:nvSpPr>
        <p:spPr>
          <a:xfrm>
            <a:off x="5943600" y="4754880"/>
            <a:ext cx="5641848" cy="54864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V는 정점의 수, E는 간선의 수를 나타내는 기호입니다.</a:t>
            </a:r>
          </a:p>
        </p:txBody>
      </p:sp>
      <p:sp>
        <p:nvSpPr>
          <p:cNvPr id="26" name="직사각형 2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원: 정점    선: 간선    선 위의 수: 가중치</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최소 신장 트리 (MST)</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102</a:t>
            </a:r>
          </a:p>
        </p:txBody>
      </p:sp>
      <p:sp>
        <p:nvSpPr>
          <p:cNvPr id="9" name="fit:6f4c251d7e457f34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1" dirty="0">
                <a:solidFill>
                  <a:srgbClr val="171717"/>
                </a:solidFill>
                <a:latin typeface="Malgun Gothic"/>
                <a:ea typeface="Malgun Gothic"/>
                <a:cs typeface="Malgun Gothic"/>
              </a:rPr>
              <a:t>신장 트리</a:t>
            </a:r>
            <a:r>
              <a:rPr lang="ko-KR" altLang="en-US" sz="1800" b="0" dirty="0">
                <a:solidFill>
                  <a:srgbClr val="171717"/>
                </a:solidFill>
                <a:latin typeface="Malgun Gothic"/>
                <a:ea typeface="Malgun Gothic"/>
                <a:cs typeface="Malgun Gothic"/>
              </a:rPr>
              <a:t>: 모든 정점을 잇고, 사이클이 없는 간선 모음</a:t>
            </a:r>
          </a:p>
        </p:txBody>
      </p:sp>
      <p:sp>
        <p:nvSpPr>
          <p:cNvPr id="10" name="fit:6c01e07bf5dfc0d8 11"/>
          <p:cNvSpPr/>
          <p:nvPr/>
        </p:nvSpPr>
        <p:spPr>
          <a:xfrm>
            <a:off x="658368" y="2459736"/>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1" dirty="0">
                <a:solidFill>
                  <a:srgbClr val="171717"/>
                </a:solidFill>
                <a:latin typeface="Malgun Gothic"/>
                <a:ea typeface="Malgun Gothic"/>
                <a:cs typeface="Malgun Gothic"/>
              </a:rPr>
              <a:t>최소 신장 트리</a:t>
            </a:r>
            <a:r>
              <a:rPr lang="ko-KR" altLang="en-US" sz="1800" b="0" dirty="0">
                <a:solidFill>
                  <a:srgbClr val="171717"/>
                </a:solidFill>
                <a:latin typeface="Malgun Gothic"/>
                <a:ea typeface="Malgun Gothic"/>
                <a:cs typeface="Malgun Gothic"/>
              </a:rPr>
              <a:t>(Minimum Spanning Tree, MST): 신장 트리 중 가중치 합이 가장 작은 것</a:t>
            </a:r>
          </a:p>
        </p:txBody>
      </p:sp>
      <p:sp>
        <p:nvSpPr>
          <p:cNvPr id="11" name="fit:b96226f3235c7a30 12"/>
          <p:cNvSpPr/>
          <p:nvPr/>
        </p:nvSpPr>
        <p:spPr>
          <a:xfrm>
            <a:off x="658368" y="3182112"/>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모두 연결</a:t>
            </a:r>
          </a:p>
        </p:txBody>
      </p:sp>
      <p:sp>
        <p:nvSpPr>
          <p:cNvPr id="12" name="fit:5ab8854dd98eb610 13"/>
          <p:cNvSpPr/>
          <p:nvPr/>
        </p:nvSpPr>
        <p:spPr>
          <a:xfrm>
            <a:off x="841248" y="3511296"/>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어느 정점도 떨어져 있으면 안 됩니다.</a:t>
            </a:r>
          </a:p>
        </p:txBody>
      </p:sp>
      <p:sp>
        <p:nvSpPr>
          <p:cNvPr id="13" name="fit:fb6883d89e07b358 14"/>
          <p:cNvSpPr/>
          <p:nvPr/>
        </p:nvSpPr>
        <p:spPr>
          <a:xfrm>
            <a:off x="658368" y="3895344"/>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사이클 없음</a:t>
            </a:r>
          </a:p>
        </p:txBody>
      </p:sp>
      <p:sp>
        <p:nvSpPr>
          <p:cNvPr id="14" name="fit:73c417dc2f563200 15"/>
          <p:cNvSpPr/>
          <p:nvPr/>
        </p:nvSpPr>
        <p:spPr>
          <a:xfrm>
            <a:off x="841248" y="4224528"/>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사이클이 있으면 그중 간선 하나를 빼도 모두 연결된 채입니다. 모두 잇는 데 사이클은 필요 없습니다.</a:t>
            </a:r>
          </a:p>
        </p:txBody>
      </p:sp>
      <p:sp>
        <p:nvSpPr>
          <p:cNvPr id="15" name="fit:d9c07b4105e03927 16"/>
          <p:cNvSpPr/>
          <p:nvPr/>
        </p:nvSpPr>
        <p:spPr>
          <a:xfrm>
            <a:off x="658368" y="4864608"/>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간선은 정확히 V − 1개</a:t>
            </a:r>
          </a:p>
        </p:txBody>
      </p:sp>
      <p:sp>
        <p:nvSpPr>
          <p:cNvPr id="16" name="fit:e3b56a1b91c6221c 17"/>
          <p:cNvSpPr/>
          <p:nvPr/>
        </p:nvSpPr>
        <p:spPr>
          <a:xfrm>
            <a:off x="841248" y="5193792"/>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정점이 V개면 간선은 V − 1개입니다(다음 슬라이드).</a:t>
            </a:r>
          </a:p>
        </p:txBody>
      </p:sp>
      <p:pic>
        <p:nvPicPr>
          <p:cNvPr id="17" name="그림 18"/>
          <p:cNvPicPr>
            <a:picLocks noChangeAspect="1"/>
          </p:cNvPicPr>
          <p:nvPr/>
        </p:nvPicPr>
        <p:blipFill>
          <a:blip r:embed="rIdImg1"/>
          <a:stretch>
            <a:fillRect/>
          </a:stretch>
        </p:blipFill>
        <p:spPr>
          <a:xfrm>
            <a:off x="6245546" y="1828800"/>
            <a:ext cx="5220836" cy="4206240"/>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굵은 선 9개 = 최소 신장 트리(정점 10개, 합 38). 집 = 정점, 선 = 간선, 수 = 가중치 (맨 위 짧은 굵은 선 = 1)</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신장 트리의 간선은 V − 1개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103</a:t>
            </a:r>
          </a:p>
        </p:txBody>
      </p:sp>
      <p:sp>
        <p:nvSpPr>
          <p:cNvPr id="9" name="fit:d1de669203f4ab65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덩어리 = 서로 경로로 이어진 정점들의 묶음입니다. 서로 다른 두 덩어리를 잇는 간선을 하나 더할 때마다 덩어리가 하나씩 줄어듭니다.</a:t>
            </a:r>
          </a:p>
        </p:txBody>
      </p:sp>
      <p:sp>
        <p:nvSpPr>
          <p:cNvPr id="10" name="직사각형 11"/>
          <p:cNvSpPr/>
          <p:nvPr/>
        </p:nvSpPr>
        <p:spPr>
          <a:xfrm>
            <a:off x="667512" y="309067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11" name="직사각형 12"/>
          <p:cNvSpPr/>
          <p:nvPr/>
        </p:nvSpPr>
        <p:spPr>
          <a:xfrm>
            <a:off x="1856232" y="309067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12" name="직사각형 13"/>
          <p:cNvSpPr/>
          <p:nvPr/>
        </p:nvSpPr>
        <p:spPr>
          <a:xfrm>
            <a:off x="185623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13" name="직사각형 14"/>
          <p:cNvSpPr/>
          <p:nvPr/>
        </p:nvSpPr>
        <p:spPr>
          <a:xfrm>
            <a:off x="66751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14" name="연결선 15"/>
          <p:cNvCxnSpPr/>
          <p:nvPr/>
        </p:nvCxnSpPr>
        <p:spPr>
          <a:xfrm>
            <a:off x="3264408" y="3291840"/>
            <a:ext cx="786384" cy="0"/>
          </a:xfrm>
          <a:prstGeom prst="line">
            <a:avLst/>
          </a:prstGeom>
          <a:ln w="44450">
            <a:solidFill>
              <a:srgbClr val="0E8A7D"/>
            </a:solidFill>
          </a:ln>
        </p:spPr>
      </p:cxnSp>
      <p:sp>
        <p:nvSpPr>
          <p:cNvPr id="15" name="직사각형 16"/>
          <p:cNvSpPr/>
          <p:nvPr/>
        </p:nvSpPr>
        <p:spPr>
          <a:xfrm>
            <a:off x="286207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16" name="직사각형 17"/>
          <p:cNvSpPr/>
          <p:nvPr/>
        </p:nvSpPr>
        <p:spPr>
          <a:xfrm>
            <a:off x="405079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17" name="직사각형 18"/>
          <p:cNvSpPr/>
          <p:nvPr/>
        </p:nvSpPr>
        <p:spPr>
          <a:xfrm>
            <a:off x="405079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18" name="직사각형 19"/>
          <p:cNvSpPr/>
          <p:nvPr/>
        </p:nvSpPr>
        <p:spPr>
          <a:xfrm>
            <a:off x="286207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19" name="연결선 20"/>
          <p:cNvCxnSpPr/>
          <p:nvPr/>
        </p:nvCxnSpPr>
        <p:spPr>
          <a:xfrm>
            <a:off x="5458968" y="3291840"/>
            <a:ext cx="786384" cy="0"/>
          </a:xfrm>
          <a:prstGeom prst="line">
            <a:avLst/>
          </a:prstGeom>
          <a:ln w="44450">
            <a:solidFill>
              <a:srgbClr val="0E8A7D"/>
            </a:solidFill>
          </a:ln>
        </p:spPr>
      </p:cxnSp>
      <p:cxnSp>
        <p:nvCxnSpPr>
          <p:cNvPr id="20" name="연결선 21"/>
          <p:cNvCxnSpPr/>
          <p:nvPr/>
        </p:nvCxnSpPr>
        <p:spPr>
          <a:xfrm>
            <a:off x="6446520" y="3493008"/>
            <a:ext cx="0" cy="694944"/>
          </a:xfrm>
          <a:prstGeom prst="line">
            <a:avLst/>
          </a:prstGeom>
          <a:ln w="44450">
            <a:solidFill>
              <a:srgbClr val="0E8A7D"/>
            </a:solidFill>
          </a:ln>
        </p:spPr>
      </p:cxnSp>
      <p:sp>
        <p:nvSpPr>
          <p:cNvPr id="21" name="직사각형 22"/>
          <p:cNvSpPr/>
          <p:nvPr/>
        </p:nvSpPr>
        <p:spPr>
          <a:xfrm>
            <a:off x="505663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2" name="직사각형 23"/>
          <p:cNvSpPr/>
          <p:nvPr/>
        </p:nvSpPr>
        <p:spPr>
          <a:xfrm>
            <a:off x="624535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3" name="직사각형 24"/>
          <p:cNvSpPr/>
          <p:nvPr/>
        </p:nvSpPr>
        <p:spPr>
          <a:xfrm>
            <a:off x="624535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4" name="직사각형 25"/>
          <p:cNvSpPr/>
          <p:nvPr/>
        </p:nvSpPr>
        <p:spPr>
          <a:xfrm>
            <a:off x="505663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25" name="연결선 26"/>
          <p:cNvCxnSpPr/>
          <p:nvPr/>
        </p:nvCxnSpPr>
        <p:spPr>
          <a:xfrm>
            <a:off x="7653528" y="3291840"/>
            <a:ext cx="786384" cy="0"/>
          </a:xfrm>
          <a:prstGeom prst="line">
            <a:avLst/>
          </a:prstGeom>
          <a:ln w="44450">
            <a:solidFill>
              <a:srgbClr val="0E8A7D"/>
            </a:solidFill>
          </a:ln>
        </p:spPr>
      </p:cxnSp>
      <p:cxnSp>
        <p:nvCxnSpPr>
          <p:cNvPr id="26" name="연결선 27"/>
          <p:cNvCxnSpPr/>
          <p:nvPr/>
        </p:nvCxnSpPr>
        <p:spPr>
          <a:xfrm>
            <a:off x="8641080" y="3493008"/>
            <a:ext cx="0" cy="694944"/>
          </a:xfrm>
          <a:prstGeom prst="line">
            <a:avLst/>
          </a:prstGeom>
          <a:ln w="44450">
            <a:solidFill>
              <a:srgbClr val="0E8A7D"/>
            </a:solidFill>
          </a:ln>
        </p:spPr>
      </p:cxnSp>
      <p:cxnSp>
        <p:nvCxnSpPr>
          <p:cNvPr id="27" name="연결선 28"/>
          <p:cNvCxnSpPr/>
          <p:nvPr/>
        </p:nvCxnSpPr>
        <p:spPr>
          <a:xfrm flipH="1">
            <a:off x="7653528" y="4389120"/>
            <a:ext cx="786384" cy="0"/>
          </a:xfrm>
          <a:prstGeom prst="line">
            <a:avLst/>
          </a:prstGeom>
          <a:ln w="44450">
            <a:solidFill>
              <a:srgbClr val="0E8A7D"/>
            </a:solidFill>
          </a:ln>
        </p:spPr>
      </p:cxnSp>
      <p:sp>
        <p:nvSpPr>
          <p:cNvPr id="28" name="직사각형 29"/>
          <p:cNvSpPr/>
          <p:nvPr/>
        </p:nvSpPr>
        <p:spPr>
          <a:xfrm>
            <a:off x="725119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9" name="직사각형 30"/>
          <p:cNvSpPr/>
          <p:nvPr/>
        </p:nvSpPr>
        <p:spPr>
          <a:xfrm>
            <a:off x="843991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0" name="직사각형 31"/>
          <p:cNvSpPr/>
          <p:nvPr/>
        </p:nvSpPr>
        <p:spPr>
          <a:xfrm>
            <a:off x="843991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1" name="직사각형 32"/>
          <p:cNvSpPr/>
          <p:nvPr/>
        </p:nvSpPr>
        <p:spPr>
          <a:xfrm>
            <a:off x="725119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32" name="연결선 33"/>
          <p:cNvCxnSpPr/>
          <p:nvPr/>
        </p:nvCxnSpPr>
        <p:spPr>
          <a:xfrm>
            <a:off x="9848088" y="3291840"/>
            <a:ext cx="786384" cy="0"/>
          </a:xfrm>
          <a:prstGeom prst="line">
            <a:avLst/>
          </a:prstGeom>
          <a:ln w="44450">
            <a:solidFill>
              <a:srgbClr val="0E8A7D"/>
            </a:solidFill>
          </a:ln>
        </p:spPr>
      </p:cxnSp>
      <p:cxnSp>
        <p:nvCxnSpPr>
          <p:cNvPr id="33" name="연결선 34"/>
          <p:cNvCxnSpPr/>
          <p:nvPr/>
        </p:nvCxnSpPr>
        <p:spPr>
          <a:xfrm>
            <a:off x="10835640" y="3493008"/>
            <a:ext cx="0" cy="694944"/>
          </a:xfrm>
          <a:prstGeom prst="line">
            <a:avLst/>
          </a:prstGeom>
          <a:ln w="44450">
            <a:solidFill>
              <a:srgbClr val="0E8A7D"/>
            </a:solidFill>
          </a:ln>
        </p:spPr>
      </p:cxnSp>
      <p:cxnSp>
        <p:nvCxnSpPr>
          <p:cNvPr id="34" name="연결선 35"/>
          <p:cNvCxnSpPr/>
          <p:nvPr/>
        </p:nvCxnSpPr>
        <p:spPr>
          <a:xfrm flipH="1">
            <a:off x="9848088" y="4389120"/>
            <a:ext cx="786384" cy="0"/>
          </a:xfrm>
          <a:prstGeom prst="line">
            <a:avLst/>
          </a:prstGeom>
          <a:ln w="44450">
            <a:solidFill>
              <a:srgbClr val="0E8A7D"/>
            </a:solidFill>
          </a:ln>
        </p:spPr>
      </p:cxnSp>
      <p:cxnSp>
        <p:nvCxnSpPr>
          <p:cNvPr id="35" name="연결선 36"/>
          <p:cNvCxnSpPr/>
          <p:nvPr/>
        </p:nvCxnSpPr>
        <p:spPr>
          <a:xfrm>
            <a:off x="9794739" y="3428288"/>
            <a:ext cx="893082" cy="824383"/>
          </a:xfrm>
          <a:prstGeom prst="line">
            <a:avLst/>
          </a:prstGeom>
          <a:ln w="19050">
            <a:solidFill>
              <a:srgbClr val="B23B3B"/>
            </a:solidFill>
            <a:prstDash val="dash"/>
          </a:ln>
        </p:spPr>
      </p:cxnSp>
      <p:sp>
        <p:nvSpPr>
          <p:cNvPr id="36" name="직사각형 37"/>
          <p:cNvSpPr/>
          <p:nvPr/>
        </p:nvSpPr>
        <p:spPr>
          <a:xfrm>
            <a:off x="944575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7" name="직사각형 38"/>
          <p:cNvSpPr/>
          <p:nvPr/>
        </p:nvSpPr>
        <p:spPr>
          <a:xfrm>
            <a:off x="1063447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8" name="직사각형 39"/>
          <p:cNvSpPr/>
          <p:nvPr/>
        </p:nvSpPr>
        <p:spPr>
          <a:xfrm>
            <a:off x="1063447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9" name="직사각형 40"/>
          <p:cNvSpPr/>
          <p:nvPr/>
        </p:nvSpPr>
        <p:spPr>
          <a:xfrm>
            <a:off x="944575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40" name="직사각형 41"/>
          <p:cNvSpPr/>
          <p:nvPr/>
        </p:nvSpPr>
        <p:spPr>
          <a:xfrm>
            <a:off x="68580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0개</a:t>
            </a:r>
          </a:p>
        </p:txBody>
      </p:sp>
      <p:sp>
        <p:nvSpPr>
          <p:cNvPr id="41" name="직사각형 42"/>
          <p:cNvSpPr/>
          <p:nvPr/>
        </p:nvSpPr>
        <p:spPr>
          <a:xfrm>
            <a:off x="288036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1개</a:t>
            </a:r>
          </a:p>
        </p:txBody>
      </p:sp>
      <p:sp>
        <p:nvSpPr>
          <p:cNvPr id="42" name="직사각형 43"/>
          <p:cNvSpPr/>
          <p:nvPr/>
        </p:nvSpPr>
        <p:spPr>
          <a:xfrm>
            <a:off x="507492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2개</a:t>
            </a:r>
          </a:p>
        </p:txBody>
      </p:sp>
      <p:sp>
        <p:nvSpPr>
          <p:cNvPr id="43" name="직사각형 44"/>
          <p:cNvSpPr/>
          <p:nvPr/>
        </p:nvSpPr>
        <p:spPr>
          <a:xfrm>
            <a:off x="726948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3개</a:t>
            </a:r>
          </a:p>
        </p:txBody>
      </p:sp>
      <p:sp>
        <p:nvSpPr>
          <p:cNvPr id="44" name="직사각형 45"/>
          <p:cNvSpPr/>
          <p:nvPr/>
        </p:nvSpPr>
        <p:spPr>
          <a:xfrm>
            <a:off x="946404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하나 더</a:t>
            </a:r>
          </a:p>
        </p:txBody>
      </p:sp>
      <p:sp>
        <p:nvSpPr>
          <p:cNvPr id="45" name="직사각형 46"/>
          <p:cNvSpPr/>
          <p:nvPr/>
        </p:nvSpPr>
        <p:spPr>
          <a:xfrm>
            <a:off x="68580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덩어리 4개</a:t>
            </a:r>
          </a:p>
        </p:txBody>
      </p:sp>
      <p:sp>
        <p:nvSpPr>
          <p:cNvPr id="46" name="직사각형 47"/>
          <p:cNvSpPr/>
          <p:nvPr/>
        </p:nvSpPr>
        <p:spPr>
          <a:xfrm>
            <a:off x="288036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덩어리 3개</a:t>
            </a:r>
          </a:p>
        </p:txBody>
      </p:sp>
      <p:sp>
        <p:nvSpPr>
          <p:cNvPr id="47" name="직사각형 48"/>
          <p:cNvSpPr/>
          <p:nvPr/>
        </p:nvSpPr>
        <p:spPr>
          <a:xfrm>
            <a:off x="507492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덩어리 2개</a:t>
            </a:r>
          </a:p>
        </p:txBody>
      </p:sp>
      <p:sp>
        <p:nvSpPr>
          <p:cNvPr id="48" name="직사각형 49"/>
          <p:cNvSpPr/>
          <p:nvPr/>
        </p:nvSpPr>
        <p:spPr>
          <a:xfrm>
            <a:off x="726948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0E8A7D"/>
                </a:solidFill>
                <a:latin typeface="Malgun Gothic"/>
                <a:ea typeface="Malgun Gothic"/>
                <a:cs typeface="Malgun Gothic"/>
              </a:rPr>
              <a:t>덩어리 1개</a:t>
            </a:r>
          </a:p>
        </p:txBody>
      </p:sp>
      <p:sp>
        <p:nvSpPr>
          <p:cNvPr id="49" name="직사각형 50"/>
          <p:cNvSpPr/>
          <p:nvPr/>
        </p:nvSpPr>
        <p:spPr>
          <a:xfrm>
            <a:off x="946404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B23B3B"/>
                </a:solidFill>
                <a:latin typeface="Malgun Gothic"/>
                <a:ea typeface="Malgun Gothic"/>
                <a:cs typeface="Malgun Gothic"/>
              </a:rPr>
              <a:t>사이클 발생</a:t>
            </a:r>
          </a:p>
        </p:txBody>
      </p:sp>
      <p:sp>
        <p:nvSpPr>
          <p:cNvPr id="50" name="fit:3246beffbb096d57 51"/>
          <p:cNvSpPr/>
          <p:nvPr/>
        </p:nvSpPr>
        <p:spPr>
          <a:xfrm>
            <a:off x="612648" y="5193792"/>
            <a:ext cx="10972800" cy="356616"/>
          </a:xfrm>
          <a:prstGeom prst="rect">
            <a:avLst/>
          </a:prstGeom>
          <a:noFill/>
          <a:ln w="0">
            <a:noFill/>
          </a:ln>
        </p:spPr>
        <p:txBody>
          <a:bodyPr wrap="square" lIns="0" tIns="0" rIns="0" bIns="0" anchor="t">
            <a:noAutofit/>
          </a:bodyPr>
          <a:lstStyle/>
          <a:p>
            <a:pPr algn="l" eaLnBrk="0" latinLnBrk="0">
              <a:lnSpc>
                <a:spcPct val="100000"/>
              </a:lnSpc>
              <a:buNone/>
            </a:pPr>
            <a:r>
              <a:rPr lang="ko-KR" altLang="en-US" sz="2100" b="1" dirty="0">
                <a:solidFill>
                  <a:srgbClr val="0E8A7D"/>
                </a:solidFill>
                <a:latin typeface="Malgun Gothic"/>
                <a:ea typeface="Malgun Gothic"/>
                <a:cs typeface="Malgun Gothic"/>
              </a:rPr>
              <a:t>정점 V개를 한 덩어리로 이으려면 간선 V − 1개가 필요합니다.</a:t>
            </a:r>
          </a:p>
        </p:txBody>
      </p:sp>
      <p:sp>
        <p:nvSpPr>
          <p:cNvPr id="51" name="fit:13c60391ac6541bd 52"/>
          <p:cNvSpPr/>
          <p:nvPr/>
        </p:nvSpPr>
        <p:spPr>
          <a:xfrm>
            <a:off x="612648" y="5660136"/>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간선을 하나 더 넣으면 이미 이어진 두 정점을 또 잇게 되어 덩어리는 줄지 않고 사이클만 생깁니다. 그래서 신장 트리의 간선은 정확히 V − 1개입니다.</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크루스칼: 가장 싼 간선부터 잇는다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104</a:t>
            </a:r>
          </a:p>
        </p:txBody>
      </p:sp>
      <p:sp>
        <p:nvSpPr>
          <p:cNvPr id="9" name="fit:0b57310d07169824 10"/>
          <p:cNvSpPr/>
          <p:nvPr/>
        </p:nvSpPr>
        <p:spPr>
          <a:xfrm>
            <a:off x="658368" y="1737360"/>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정렬</a:t>
            </a:r>
          </a:p>
        </p:txBody>
      </p:sp>
      <p:sp>
        <p:nvSpPr>
          <p:cNvPr id="10" name="fit:fd3b010012216165 11"/>
          <p:cNvSpPr/>
          <p:nvPr/>
        </p:nvSpPr>
        <p:spPr>
          <a:xfrm>
            <a:off x="841248" y="2066544"/>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모든 간선을 가중치 오름차순으로 줄 세웁니다.</a:t>
            </a:r>
          </a:p>
        </p:txBody>
      </p:sp>
      <p:sp>
        <p:nvSpPr>
          <p:cNvPr id="11" name="fit:9b5ca5a1a5183f49 12"/>
          <p:cNvSpPr/>
          <p:nvPr/>
        </p:nvSpPr>
        <p:spPr>
          <a:xfrm>
            <a:off x="658368" y="2450592"/>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싼 간선부터 검사</a:t>
            </a:r>
          </a:p>
        </p:txBody>
      </p:sp>
      <p:sp>
        <p:nvSpPr>
          <p:cNvPr id="12" name="fit:c71909c7f37586bd 13"/>
          <p:cNvSpPr/>
          <p:nvPr/>
        </p:nvSpPr>
        <p:spPr>
          <a:xfrm>
            <a:off x="841248" y="2779776"/>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사이클을 만들지 않으면 채택하고, 만들면 버립니다.</a:t>
            </a:r>
          </a:p>
        </p:txBody>
      </p:sp>
      <p:sp>
        <p:nvSpPr>
          <p:cNvPr id="13" name="fit:776fa308e411933f 14"/>
          <p:cNvSpPr/>
          <p:nvPr/>
        </p:nvSpPr>
        <p:spPr>
          <a:xfrm>
            <a:off x="658368" y="3163824"/>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멈춤</a:t>
            </a:r>
          </a:p>
        </p:txBody>
      </p:sp>
      <p:sp>
        <p:nvSpPr>
          <p:cNvPr id="14" name="fit:3e1c69787374a42e 15"/>
          <p:cNvSpPr/>
          <p:nvPr/>
        </p:nvSpPr>
        <p:spPr>
          <a:xfrm>
            <a:off x="841248" y="3493008"/>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채택한 간선이 V − 1개가 되면 끝납니다.</a:t>
            </a:r>
          </a:p>
        </p:txBody>
      </p:sp>
      <p:sp>
        <p:nvSpPr>
          <p:cNvPr id="15" name="fit:5e564016c6f49db8 16"/>
          <p:cNvSpPr/>
          <p:nvPr/>
        </p:nvSpPr>
        <p:spPr>
          <a:xfrm>
            <a:off x="658368" y="3877056"/>
            <a:ext cx="5120640" cy="621792"/>
          </a:xfrm>
          <a:prstGeom prst="rect">
            <a:avLst/>
          </a:prstGeom>
          <a:noFill/>
          <a:ln w="0">
            <a:noFill/>
          </a:ln>
        </p:spPr>
        <p:txBody>
          <a:bodyPr wrap="square" lIns="0" tIns="0" rIns="0" bIns="0" anchor="t">
            <a:noAutofit/>
          </a:bodyPr>
          <a:lstStyle/>
          <a:p>
            <a:pPr algn="l" eaLnBrk="0" latinLnBrk="0">
              <a:lnSpc>
                <a:spcPct val="100000"/>
              </a:lnSpc>
              <a:buNone/>
            </a:pPr>
            <a:r>
              <a:rPr lang="ko-KR" altLang="en-US" sz="1900" b="1" dirty="0">
                <a:solidFill>
                  <a:srgbClr val="0E8A7D"/>
                </a:solidFill>
                <a:latin typeface="Malgun Gothic"/>
                <a:ea typeface="Malgun Gothic"/>
                <a:cs typeface="Malgun Gothic"/>
              </a:rPr>
              <a:t>사이클 판정: 간선의 두 끝이 이미 같은 덩어리이면 사이클</a:t>
            </a:r>
          </a:p>
        </p:txBody>
      </p:sp>
      <p:sp>
        <p:nvSpPr>
          <p:cNvPr id="16" name="fit:d83ac612ca4fb575 17"/>
          <p:cNvSpPr/>
          <p:nvPr/>
        </p:nvSpPr>
        <p:spPr>
          <a:xfrm>
            <a:off x="658368" y="4608576"/>
            <a:ext cx="5120640"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선택 = 남은 간선 중 가장 싼 것, 적정성 검사 = 사이클이 생기지 않는가, 해답 검사 = 간선이 V − 1개인가</a:t>
            </a:r>
          </a:p>
        </p:txBody>
      </p:sp>
      <p:pic>
        <p:nvPicPr>
          <p:cNvPr id="17" name="그림 18"/>
          <p:cNvPicPr>
            <a:picLocks noChangeAspect="1"/>
          </p:cNvPicPr>
          <p:nvPr/>
        </p:nvPicPr>
        <p:blipFill>
          <a:blip r:embed="rIdImg1"/>
          <a:stretch>
            <a:fillRect/>
          </a:stretch>
        </p:blipFill>
        <p:spPr>
          <a:xfrm>
            <a:off x="6126480" y="2441899"/>
            <a:ext cx="5458968" cy="2980042"/>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왼쪽 그림: 가장 싼 간선부터 잇는다    오른쪽 그림: 이미 이어진 두 곳을 또 이으면 사이클이 되므로 버린다</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예제: 정점 6개, 간선 9개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105</a:t>
            </a:r>
          </a:p>
        </p:txBody>
      </p:sp>
      <p:sp>
        <p:nvSpPr>
          <p:cNvPr id="9" name="fit:eea747719a6404a2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간선 9개를 가중치 오름차순으로 정렬했습니다. 코드에서는 a~f를 0~5번 정점으로 씁니다(a = 0, …, f = 5).</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19050">
            <a:solidFill>
              <a:srgbClr val="9A9A9A"/>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19050">
            <a:solidFill>
              <a:srgbClr val="9A9A9A"/>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19050">
            <a:solidFill>
              <a:srgbClr val="9A9A9A"/>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19050">
            <a:solidFill>
              <a:srgbClr val="9A9A9A"/>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9A9A9A"/>
            </a:solidFill>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19050">
            <a:solidFill>
              <a:srgbClr val="9A9A9A"/>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선 위의 수: 가중치    오른쪽 표: 가중치 오름차순으로 정렬한 간선</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10: a – f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106</a:t>
            </a:r>
          </a:p>
        </p:txBody>
      </p:sp>
      <p:sp>
        <p:nvSpPr>
          <p:cNvPr id="9" name="fit:45334d8a563d07c8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a와 f는 서로 다른 덩어리입니다 → 채택.</a:t>
            </a:r>
          </a:p>
          <a:p>
            <a:pPr algn="l" eaLnBrk="0" latinLnBrk="0">
              <a:lnSpc>
                <a:spcPct val="100000"/>
              </a:lnSpc>
              <a:buNone/>
            </a:pPr>
            <a:r>
              <a:rPr lang="ko-KR" altLang="en-US" sz="2025" b="0" dirty="0">
                <a:solidFill>
                  <a:srgbClr val="171717"/>
                </a:solidFill>
                <a:latin typeface="Malgun Gothic"/>
                <a:ea typeface="Malgun Gothic"/>
                <a:cs typeface="Malgun Gothic"/>
              </a:rPr>
              <a:t>덩어리: {a, f} {b} {c} {d} {e} · 합 10</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 – f</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10</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B8651B"/>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19050">
            <a:solidFill>
              <a:srgbClr val="9A9A9A"/>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19050">
            <a:solidFill>
              <a:srgbClr val="9A9A9A"/>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19050">
            <a:solidFill>
              <a:srgbClr val="9A9A9A"/>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9A9A9A"/>
            </a:solidFill>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19050">
            <a:solidFill>
              <a:srgbClr val="9A9A9A"/>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12: c – d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107</a:t>
            </a:r>
          </a:p>
        </p:txBody>
      </p:sp>
      <p:sp>
        <p:nvSpPr>
          <p:cNvPr id="9" name="fit:7560511de69a3fe8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c와 d도 서로 다른 덩어리입니다 → 채택.</a:t>
            </a:r>
          </a:p>
          <a:p>
            <a:pPr algn="l" eaLnBrk="0" latinLnBrk="0">
              <a:lnSpc>
                <a:spcPct val="100000"/>
              </a:lnSpc>
              <a:buNone/>
            </a:pPr>
            <a:r>
              <a:rPr lang="ko-KR" altLang="en-US" sz="2025" b="0" dirty="0">
                <a:solidFill>
                  <a:srgbClr val="171717"/>
                </a:solidFill>
                <a:latin typeface="Malgun Gothic"/>
                <a:ea typeface="Malgun Gothic"/>
                <a:cs typeface="Malgun Gothic"/>
              </a:rPr>
              <a:t>덩어리: {a, f} {c, d} {b} {e} · 합 22</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 – d</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12</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0E8A7D"/>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44450">
            <a:solidFill>
              <a:srgbClr val="B8651B"/>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19050">
            <a:solidFill>
              <a:srgbClr val="9A9A9A"/>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19050">
            <a:solidFill>
              <a:srgbClr val="9A9A9A"/>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9A9A9A"/>
            </a:solidFill>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19050">
            <a:solidFill>
              <a:srgbClr val="9A9A9A"/>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③ 15: b – a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108</a:t>
            </a:r>
          </a:p>
        </p:txBody>
      </p:sp>
      <p:sp>
        <p:nvSpPr>
          <p:cNvPr id="9" name="fit:7a98213208039b4b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b(혼자)와 a({a, f})는 서로 다른 덩어리입니다 → 채택.</a:t>
            </a:r>
          </a:p>
          <a:p>
            <a:pPr algn="l" eaLnBrk="0" latinLnBrk="0">
              <a:lnSpc>
                <a:spcPct val="100000"/>
              </a:lnSpc>
              <a:buNone/>
            </a:pPr>
            <a:r>
              <a:rPr lang="ko-KR" altLang="en-US" sz="2025" b="0" dirty="0">
                <a:solidFill>
                  <a:srgbClr val="171717"/>
                </a:solidFill>
                <a:latin typeface="Malgun Gothic"/>
                <a:ea typeface="Malgun Gothic"/>
                <a:cs typeface="Malgun Gothic"/>
              </a:rPr>
              <a:t>덩어리: {a, b, f} {c, d} {e} · 합 37</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 – a</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15</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0E8A7D"/>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44450">
            <a:solidFill>
              <a:srgbClr val="0E8A7D"/>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44450">
            <a:solidFill>
              <a:srgbClr val="B8651B"/>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19050">
            <a:solidFill>
              <a:srgbClr val="9A9A9A"/>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9A9A9A"/>
            </a:solidFill>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19050">
            <a:solidFill>
              <a:srgbClr val="9A9A9A"/>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④ 16: b – c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109</a:t>
            </a:r>
          </a:p>
        </p:txBody>
      </p:sp>
      <p:sp>
        <p:nvSpPr>
          <p:cNvPr id="9" name="fit:0261d15477b5fe5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b({a, b, f})와 c({c, d})는 서로 다른 덩어리입니다 → 채택.</a:t>
            </a:r>
          </a:p>
          <a:p>
            <a:pPr algn="l" eaLnBrk="0" latinLnBrk="0">
              <a:lnSpc>
                <a:spcPct val="100000"/>
              </a:lnSpc>
              <a:buNone/>
            </a:pPr>
            <a:r>
              <a:rPr lang="ko-KR" altLang="en-US" sz="2025" b="0" dirty="0">
                <a:solidFill>
                  <a:srgbClr val="171717"/>
                </a:solidFill>
                <a:latin typeface="Malgun Gothic"/>
                <a:ea typeface="Malgun Gothic"/>
                <a:cs typeface="Malgun Gothic"/>
              </a:rPr>
              <a:t>덩어리: {a, b, c, d, f} {e} · 합 53</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 – c</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16</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0E8A7D"/>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44450">
            <a:solidFill>
              <a:srgbClr val="0E8A7D"/>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44450">
            <a:solidFill>
              <a:srgbClr val="0E8A7D"/>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44450">
            <a:solidFill>
              <a:srgbClr val="B8651B"/>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9A9A9A"/>
            </a:solidFill>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19050">
            <a:solidFill>
              <a:srgbClr val="9A9A9A"/>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⑤ 18: d – a 사이클 → 버림</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110</a:t>
            </a:r>
          </a:p>
        </p:txBody>
      </p:sp>
      <p:sp>
        <p:nvSpPr>
          <p:cNvPr id="9" name="fit:f1a2c6755d29e76c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d와 a는 이미 d – c – b – a로 이어져 있습니다.</a:t>
            </a:r>
          </a:p>
          <a:p>
            <a:pPr algn="l" eaLnBrk="0" latinLnBrk="0">
              <a:lnSpc>
                <a:spcPct val="100000"/>
              </a:lnSpc>
              <a:buNone/>
            </a:pPr>
            <a:r>
              <a:rPr lang="ko-KR" altLang="en-US" sz="2025" b="0" dirty="0">
                <a:solidFill>
                  <a:srgbClr val="171717"/>
                </a:solidFill>
                <a:latin typeface="Malgun Gothic"/>
                <a:ea typeface="Malgun Gothic"/>
                <a:cs typeface="Malgun Gothic"/>
              </a:rPr>
              <a:t>d – a를 더하면 사이클이 생기므로 버립니다 · 합 53</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 – a</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18</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B23B3B"/>
                          </a:solidFill>
                          <a:latin typeface="Malgun Gothic"/>
                          <a:ea typeface="Malgun Gothic"/>
                          <a:cs typeface="Malgun Gothic"/>
                        </a:rPr>
                        <a:t>사이클</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0E8A7D"/>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44450">
            <a:solidFill>
              <a:srgbClr val="B8651B"/>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44450">
            <a:solidFill>
              <a:srgbClr val="B8651B"/>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44450">
            <a:solidFill>
              <a:srgbClr val="B8651B"/>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B23B3B"/>
            </a:solidFill>
            <a:prstDash val="dash"/>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19050">
            <a:solidFill>
              <a:srgbClr val="9A9A9A"/>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주황: d와 a를 이미 잇는 길    빨강 점선: 버린 d – a(노랑 정점: 그 두 끝)    청록: 채택한 간선    초록 정점: 채택한 간선에 닿은 정점</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⑥ 22: d – e 채택 · 간선 5개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111</a:t>
            </a:r>
          </a:p>
        </p:txBody>
      </p:sp>
      <p:sp>
        <p:nvSpPr>
          <p:cNvPr id="9" name="fit:db9ea29070b943c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d와 e는 다른 덩어리 → 채택. 한 덩어리가 됩니다.</a:t>
            </a:r>
          </a:p>
          <a:p>
            <a:pPr algn="l" eaLnBrk="0" latinLnBrk="0">
              <a:lnSpc>
                <a:spcPct val="100000"/>
              </a:lnSpc>
              <a:buNone/>
            </a:pPr>
            <a:r>
              <a:rPr lang="ko-KR" altLang="en-US" sz="2025" b="0" dirty="0">
                <a:solidFill>
                  <a:srgbClr val="171717"/>
                </a:solidFill>
                <a:latin typeface="Malgun Gothic"/>
                <a:ea typeface="Malgun Gothic"/>
                <a:cs typeface="Malgun Gothic"/>
              </a:rPr>
              <a:t>간선 5개(= V − 1)가 모였으므로 멈춥니다 · 합 75</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B23B3B"/>
                          </a:solidFill>
                          <a:latin typeface="Malgun Gothic"/>
                          <a:ea typeface="Malgun Gothic"/>
                          <a:cs typeface="Malgun Gothic"/>
                        </a:rPr>
                        <a:t>사이클</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 – e</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22</a:t>
                      </a:r>
                    </a:p>
                  </a:txBody>
                  <a:tcPr marL="54864" marR="54864" marT="18288" marB="18288" anchor="ctr">
                    <a:solidFill>
                      <a:srgbClr val="FFF1C2"/>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0E8A7D"/>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44450">
            <a:solidFill>
              <a:srgbClr val="0E8A7D"/>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44450">
            <a:solidFill>
              <a:srgbClr val="0E8A7D"/>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44450">
            <a:solidFill>
              <a:srgbClr val="0E8A7D"/>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B23B3B"/>
            </a:solidFill>
            <a:prstDash val="dash"/>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44450">
            <a:solidFill>
              <a:srgbClr val="B8651B"/>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9050">
            <a:solidFill>
              <a:srgbClr val="9A9A9A"/>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9050">
            <a:solidFill>
              <a:srgbClr val="9A9A9A"/>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9050">
            <a:solidFill>
              <a:srgbClr val="9A9A9A"/>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⑦ 완료: 최소 신장 트리, 합 75</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112</a:t>
            </a:r>
          </a:p>
        </p:txBody>
      </p:sp>
      <p:sp>
        <p:nvSpPr>
          <p:cNvPr id="9" name="fit:58479256710a1f3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채택한 간선 5개: 10 + 12 + 15 + 16 + 22 = 75.</a:t>
            </a:r>
          </a:p>
          <a:p>
            <a:pPr algn="l" eaLnBrk="0" latinLnBrk="0">
              <a:lnSpc>
                <a:spcPct val="100000"/>
              </a:lnSpc>
              <a:buNone/>
            </a:pPr>
            <a:r>
              <a:rPr lang="ko-KR" altLang="en-US" sz="2025" b="0" dirty="0">
                <a:solidFill>
                  <a:srgbClr val="171717"/>
                </a:solidFill>
                <a:latin typeface="Malgun Gothic"/>
                <a:ea typeface="Malgun Gothic"/>
                <a:cs typeface="Malgun Gothic"/>
              </a:rPr>
              <a:t>25, 27, 29는 확인하지 않았습니다.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3108960"/>
        </p:xfrm>
        <a:graphic>
          <a:graphicData uri="http://schemas.openxmlformats.org/drawingml/2006/table">
            <a:tbl>
              <a:tblPr/>
              <a:tblGrid>
                <a:gridCol w="1324102"/>
                <a:gridCol w="1018540"/>
                <a:gridCol w="1324102"/>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12</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15</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b – 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B23B3B"/>
                          </a:solidFill>
                          <a:latin typeface="Malgun Gothic"/>
                          <a:ea typeface="Malgun Gothic"/>
                          <a:cs typeface="Malgun Gothic"/>
                        </a:rPr>
                        <a:t>사이클</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d – 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22</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e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27</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 – 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29</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bl>
          </a:graphicData>
        </a:graphic>
      </p:graphicFrame>
      <p:cxnSp>
        <p:nvCxnSpPr>
          <p:cNvPr id="12" name="연결선 13"/>
          <p:cNvCxnSpPr/>
          <p:nvPr/>
        </p:nvCxnSpPr>
        <p:spPr>
          <a:xfrm flipH="1" flipV="1">
            <a:off x="1370317" y="2819021"/>
            <a:ext cx="1374165" cy="1265679"/>
          </a:xfrm>
          <a:prstGeom prst="line">
            <a:avLst/>
          </a:prstGeom>
          <a:ln w="44450">
            <a:solidFill>
              <a:srgbClr val="0E8A7D"/>
            </a:solidFill>
          </a:ln>
        </p:spPr>
      </p:cxnSp>
      <p:sp>
        <p:nvSpPr>
          <p:cNvPr id="13" name="직사각형 14"/>
          <p:cNvSpPr/>
          <p:nvPr/>
        </p:nvSpPr>
        <p:spPr>
          <a:xfrm>
            <a:off x="1918773" y="320708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10</a:t>
            </a:r>
          </a:p>
        </p:txBody>
      </p:sp>
      <p:cxnSp>
        <p:nvCxnSpPr>
          <p:cNvPr id="14" name="연결선 15"/>
          <p:cNvCxnSpPr/>
          <p:nvPr/>
        </p:nvCxnSpPr>
        <p:spPr>
          <a:xfrm>
            <a:off x="6675120" y="2898648"/>
            <a:ext cx="0" cy="2523744"/>
          </a:xfrm>
          <a:prstGeom prst="line">
            <a:avLst/>
          </a:prstGeom>
          <a:ln w="44450">
            <a:solidFill>
              <a:srgbClr val="0E8A7D"/>
            </a:solidFill>
          </a:ln>
        </p:spPr>
      </p:cxnSp>
      <p:sp>
        <p:nvSpPr>
          <p:cNvPr id="15" name="직사각형 16"/>
          <p:cNvSpPr/>
          <p:nvPr/>
        </p:nvSpPr>
        <p:spPr>
          <a:xfrm>
            <a:off x="616305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12</a:t>
            </a:r>
          </a:p>
        </p:txBody>
      </p:sp>
      <p:cxnSp>
        <p:nvCxnSpPr>
          <p:cNvPr id="16" name="연결선 17"/>
          <p:cNvCxnSpPr/>
          <p:nvPr/>
        </p:nvCxnSpPr>
        <p:spPr>
          <a:xfrm flipH="1">
            <a:off x="3158585" y="3649197"/>
            <a:ext cx="1455230" cy="519725"/>
          </a:xfrm>
          <a:prstGeom prst="line">
            <a:avLst/>
          </a:prstGeom>
          <a:ln w="44450">
            <a:solidFill>
              <a:srgbClr val="0E8A7D"/>
            </a:solidFill>
          </a:ln>
        </p:spPr>
      </p:cxnSp>
      <p:sp>
        <p:nvSpPr>
          <p:cNvPr id="17" name="직사각형 18"/>
          <p:cNvSpPr/>
          <p:nvPr/>
        </p:nvSpPr>
        <p:spPr>
          <a:xfrm>
            <a:off x="3599249" y="363411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15</a:t>
            </a:r>
          </a:p>
        </p:txBody>
      </p:sp>
      <p:cxnSp>
        <p:nvCxnSpPr>
          <p:cNvPr id="18" name="연결선 19"/>
          <p:cNvCxnSpPr/>
          <p:nvPr/>
        </p:nvCxnSpPr>
        <p:spPr>
          <a:xfrm flipV="1">
            <a:off x="5067143" y="2762172"/>
            <a:ext cx="1387153" cy="693577"/>
          </a:xfrm>
          <a:prstGeom prst="line">
            <a:avLst/>
          </a:prstGeom>
          <a:ln w="44450">
            <a:solidFill>
              <a:srgbClr val="0E8A7D"/>
            </a:solidFill>
          </a:ln>
        </p:spPr>
      </p:cxnSp>
      <p:sp>
        <p:nvSpPr>
          <p:cNvPr id="19" name="직사각형 20"/>
          <p:cNvSpPr/>
          <p:nvPr/>
        </p:nvSpPr>
        <p:spPr>
          <a:xfrm>
            <a:off x="5588405" y="310265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16</a:t>
            </a:r>
          </a:p>
        </p:txBody>
      </p:sp>
      <p:cxnSp>
        <p:nvCxnSpPr>
          <p:cNvPr id="20" name="연결선 21"/>
          <p:cNvCxnSpPr/>
          <p:nvPr/>
        </p:nvCxnSpPr>
        <p:spPr>
          <a:xfrm flipH="1" flipV="1">
            <a:off x="3157016" y="4339265"/>
            <a:ext cx="3287168" cy="1242710"/>
          </a:xfrm>
          <a:prstGeom prst="line">
            <a:avLst/>
          </a:prstGeom>
          <a:ln w="19050">
            <a:solidFill>
              <a:srgbClr val="B23B3B"/>
            </a:solidFill>
            <a:prstDash val="dash"/>
          </a:ln>
        </p:spPr>
      </p:cxnSp>
      <p:sp>
        <p:nvSpPr>
          <p:cNvPr id="21" name="직사각형 22"/>
          <p:cNvSpPr/>
          <p:nvPr/>
        </p:nvSpPr>
        <p:spPr>
          <a:xfrm>
            <a:off x="4614592" y="4686609"/>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18</a:t>
            </a:r>
          </a:p>
        </p:txBody>
      </p:sp>
      <p:cxnSp>
        <p:nvCxnSpPr>
          <p:cNvPr id="22" name="연결선 23"/>
          <p:cNvCxnSpPr/>
          <p:nvPr/>
        </p:nvCxnSpPr>
        <p:spPr>
          <a:xfrm flipH="1">
            <a:off x="1435608" y="5669280"/>
            <a:ext cx="4992624" cy="0"/>
          </a:xfrm>
          <a:prstGeom prst="line">
            <a:avLst/>
          </a:prstGeom>
          <a:ln w="44450">
            <a:solidFill>
              <a:srgbClr val="0E8A7D"/>
            </a:solidFill>
          </a:ln>
        </p:spPr>
      </p:cxnSp>
      <p:sp>
        <p:nvSpPr>
          <p:cNvPr id="23" name="직사각형 24"/>
          <p:cNvSpPr/>
          <p:nvPr/>
        </p:nvSpPr>
        <p:spPr>
          <a:xfrm>
            <a:off x="3694176" y="538581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22</a:t>
            </a:r>
          </a:p>
        </p:txBody>
      </p:sp>
      <p:cxnSp>
        <p:nvCxnSpPr>
          <p:cNvPr id="24" name="연결선 25"/>
          <p:cNvCxnSpPr/>
          <p:nvPr/>
        </p:nvCxnSpPr>
        <p:spPr>
          <a:xfrm flipV="1">
            <a:off x="1380025" y="4408025"/>
            <a:ext cx="1354750" cy="1105191"/>
          </a:xfrm>
          <a:prstGeom prst="line">
            <a:avLst/>
          </a:prstGeom>
          <a:ln w="12700">
            <a:solidFill>
              <a:srgbClr val="D0D0D0"/>
            </a:solidFill>
          </a:ln>
        </p:spPr>
      </p:cxnSp>
      <p:sp>
        <p:nvSpPr>
          <p:cNvPr id="25" name="직사각형 26"/>
          <p:cNvSpPr/>
          <p:nvPr/>
        </p:nvSpPr>
        <p:spPr>
          <a:xfrm>
            <a:off x="1912139" y="49368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25</a:t>
            </a:r>
          </a:p>
        </p:txBody>
      </p:sp>
      <p:cxnSp>
        <p:nvCxnSpPr>
          <p:cNvPr id="26" name="연결선 27"/>
          <p:cNvCxnSpPr/>
          <p:nvPr/>
        </p:nvCxnSpPr>
        <p:spPr>
          <a:xfrm flipV="1">
            <a:off x="1188720" y="2898648"/>
            <a:ext cx="0" cy="2523744"/>
          </a:xfrm>
          <a:prstGeom prst="line">
            <a:avLst/>
          </a:prstGeom>
          <a:ln w="12700">
            <a:solidFill>
              <a:srgbClr val="D0D0D0"/>
            </a:solidFill>
          </a:ln>
        </p:spPr>
      </p:cxnSp>
      <p:sp>
        <p:nvSpPr>
          <p:cNvPr id="27" name="직사각형 28"/>
          <p:cNvSpPr/>
          <p:nvPr/>
        </p:nvSpPr>
        <p:spPr>
          <a:xfrm>
            <a:off x="1225296" y="402336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27</a:t>
            </a:r>
          </a:p>
        </p:txBody>
      </p:sp>
      <p:cxnSp>
        <p:nvCxnSpPr>
          <p:cNvPr id="28" name="연결선 29"/>
          <p:cNvCxnSpPr/>
          <p:nvPr/>
        </p:nvCxnSpPr>
        <p:spPr>
          <a:xfrm flipH="1">
            <a:off x="1435608" y="2651760"/>
            <a:ext cx="4992624" cy="0"/>
          </a:xfrm>
          <a:prstGeom prst="line">
            <a:avLst/>
          </a:prstGeom>
          <a:ln w="12700">
            <a:solidFill>
              <a:srgbClr val="D0D0D0"/>
            </a:solidFill>
          </a:ln>
        </p:spPr>
      </p:cxnSp>
      <p:sp>
        <p:nvSpPr>
          <p:cNvPr id="29" name="직사각형 30"/>
          <p:cNvSpPr/>
          <p:nvPr/>
        </p:nvSpPr>
        <p:spPr>
          <a:xfrm>
            <a:off x="3694176" y="26609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29</a:t>
            </a:r>
          </a:p>
        </p:txBody>
      </p:sp>
      <p:sp>
        <p:nvSpPr>
          <p:cNvPr id="30" name="직사각형 31"/>
          <p:cNvSpPr/>
          <p:nvPr/>
        </p:nvSpPr>
        <p:spPr>
          <a:xfrm>
            <a:off x="9418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1" name="직사각형 32"/>
          <p:cNvSpPr/>
          <p:nvPr/>
        </p:nvSpPr>
        <p:spPr>
          <a:xfrm>
            <a:off x="642823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6428232" y="542239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3" name="직사각형 34"/>
          <p:cNvSpPr/>
          <p:nvPr/>
        </p:nvSpPr>
        <p:spPr>
          <a:xfrm>
            <a:off x="941832" y="542239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4" name="직사각형 35"/>
          <p:cNvSpPr/>
          <p:nvPr/>
        </p:nvSpPr>
        <p:spPr>
          <a:xfrm>
            <a:off x="2679192" y="40050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5" name="직사각형 36"/>
          <p:cNvSpPr/>
          <p:nvPr/>
        </p:nvSpPr>
        <p:spPr>
          <a:xfrm>
            <a:off x="4599432" y="33192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6" name="직사각형 3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최소 신장 트리의 간선    빨강 점선: 사이클이라 버린 간선    회색: 확인하지 않은 간선</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서로소 집합: 덩어리 하나 = 나무 하나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113</a:t>
            </a:r>
          </a:p>
        </p:txBody>
      </p:sp>
      <p:sp>
        <p:nvSpPr>
          <p:cNvPr id="9" name="fit:55860826a2b59755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덩어리를 나무(트리)로 저장해 "같은 덩어리인가?"에 빨리 답합니다. 그림은 ③ b – a를 채택한 직후입니다.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b2a16adb2d297b6e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뿌리(루트) = 대표</a:t>
            </a:r>
          </a:p>
        </p:txBody>
      </p:sp>
      <p:sp>
        <p:nvSpPr>
          <p:cNvPr id="12" name="fit:c06490d2f68f07bf 13"/>
          <p:cNvSpPr/>
          <p:nvPr/>
        </p:nvSpPr>
        <p:spPr>
          <a:xfrm>
            <a:off x="8092440" y="3218688"/>
            <a:ext cx="3483864" cy="237744"/>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3F3F3F"/>
                </a:solidFill>
                <a:latin typeface="Malgun Gothic"/>
                <a:ea typeface="Malgun Gothic"/>
                <a:cs typeface="Malgun Gothic"/>
              </a:rPr>
              <a:t>parent[x] = x인 정점: a, c, e</a:t>
            </a:r>
          </a:p>
        </p:txBody>
      </p:sp>
      <p:sp>
        <p:nvSpPr>
          <p:cNvPr id="13" name="fit:a7f70fabbe5e4b5c 14"/>
          <p:cNvSpPr/>
          <p:nvPr/>
        </p:nvSpPr>
        <p:spPr>
          <a:xfrm>
            <a:off x="7909560" y="3547872"/>
            <a:ext cx="3666744"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find(x)</a:t>
            </a:r>
          </a:p>
        </p:txBody>
      </p:sp>
      <p:sp>
        <p:nvSpPr>
          <p:cNvPr id="14" name="fit:01bf0e573e68f767 15"/>
          <p:cNvSpPr/>
          <p:nvPr/>
        </p:nvSpPr>
        <p:spPr>
          <a:xfrm>
            <a:off x="8092440" y="3831336"/>
            <a:ext cx="3483864" cy="457200"/>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3F3F3F"/>
                </a:solidFill>
                <a:latin typeface="Malgun Gothic"/>
                <a:ea typeface="Malgun Gothic"/>
                <a:cs typeface="Malgun Gothic"/>
              </a:rPr>
              <a:t>부모를 따라 뿌리까지 올라갑니다. 예: find(d) = c</a:t>
            </a:r>
          </a:p>
        </p:txBody>
      </p:sp>
      <p:sp>
        <p:nvSpPr>
          <p:cNvPr id="15" name="fit:4187f973e086bb27 16"/>
          <p:cNvSpPr/>
          <p:nvPr/>
        </p:nvSpPr>
        <p:spPr>
          <a:xfrm>
            <a:off x="7909560" y="4379976"/>
            <a:ext cx="3666744"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union(x, y)</a:t>
            </a:r>
          </a:p>
        </p:txBody>
      </p:sp>
      <p:sp>
        <p:nvSpPr>
          <p:cNvPr id="16" name="fit:b1128d3f271c513d 17"/>
          <p:cNvSpPr/>
          <p:nvPr/>
        </p:nvSpPr>
        <p:spPr>
          <a:xfrm>
            <a:off x="8092440" y="4663440"/>
            <a:ext cx="3483864" cy="457200"/>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3F3F3F"/>
                </a:solidFill>
                <a:latin typeface="Malgun Gothic"/>
                <a:ea typeface="Malgun Gothic"/>
                <a:cs typeface="Malgun Gothic"/>
              </a:rPr>
              <a:t>두 뿌리가 다르면 한 뿌리를 다른 뿌리 밑에 붙입니다.</a:t>
            </a:r>
          </a:p>
        </p:txBody>
      </p:sp>
      <p:sp>
        <p:nvSpPr>
          <p:cNvPr id="17" name="fit:22710c56c31e6e13 18"/>
          <p:cNvSpPr/>
          <p:nvPr/>
        </p:nvSpPr>
        <p:spPr>
          <a:xfrm>
            <a:off x="7909560" y="5212080"/>
            <a:ext cx="3666744"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사이클 판정</a:t>
            </a:r>
          </a:p>
        </p:txBody>
      </p:sp>
      <p:sp>
        <p:nvSpPr>
          <p:cNvPr id="18" name="fit:65b943f9ba7d96f3 19"/>
          <p:cNvSpPr/>
          <p:nvPr/>
        </p:nvSpPr>
        <p:spPr>
          <a:xfrm>
            <a:off x="8092440" y="5495544"/>
            <a:ext cx="3483864" cy="237744"/>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3F3F3F"/>
                </a:solidFill>
                <a:latin typeface="Malgun Gothic"/>
                <a:ea typeface="Malgun Gothic"/>
                <a:cs typeface="Malgun Gothic"/>
              </a:rPr>
              <a:t>find(u) = find(v)이면 이미 같은 덩어리</a:t>
            </a:r>
          </a:p>
        </p:txBody>
      </p:sp>
      <p:sp>
        <p:nvSpPr>
          <p:cNvPr id="19" name="직사각형 20"/>
          <p:cNvSpPr/>
          <p:nvPr/>
        </p:nvSpPr>
        <p:spPr>
          <a:xfrm>
            <a:off x="731520" y="5065776"/>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parent</a:t>
            </a:r>
          </a:p>
        </p:txBody>
      </p:sp>
      <p:graphicFrame>
        <p:nvGraphicFramePr>
          <p:cNvPr id="20" name="표 21"/>
          <p:cNvGraphicFramePr>
            <a:graphicFrameLocks noGrp="1"/>
          </p:cNvGraphicFramePr>
          <p:nvPr/>
        </p:nvGraphicFramePr>
        <p:xfrm>
          <a:off x="2103120" y="4983480"/>
          <a:ext cx="4389120" cy="438912"/>
        </p:xfrm>
        <a:graphic>
          <a:graphicData uri="http://schemas.openxmlformats.org/drawingml/2006/table">
            <a:tbl>
              <a:tblPr/>
              <a:tblGrid>
                <a:gridCol w="731520"/>
                <a:gridCol w="731520"/>
                <a:gridCol w="731520"/>
                <a:gridCol w="731520"/>
                <a:gridCol w="731520"/>
                <a:gridCol w="731520"/>
              </a:tblGrid>
              <a:tr h="438912">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21" name="직사각형 22"/>
          <p:cNvSpPr/>
          <p:nvPr/>
        </p:nvSpPr>
        <p:spPr>
          <a:xfrm>
            <a:off x="2103120" y="545896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0 a</a:t>
            </a:r>
          </a:p>
        </p:txBody>
      </p:sp>
      <p:sp>
        <p:nvSpPr>
          <p:cNvPr id="22" name="직사각형 23"/>
          <p:cNvSpPr/>
          <p:nvPr/>
        </p:nvSpPr>
        <p:spPr>
          <a:xfrm>
            <a:off x="2834640" y="545896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 b</a:t>
            </a:r>
          </a:p>
        </p:txBody>
      </p:sp>
      <p:sp>
        <p:nvSpPr>
          <p:cNvPr id="23" name="직사각형 24"/>
          <p:cNvSpPr/>
          <p:nvPr/>
        </p:nvSpPr>
        <p:spPr>
          <a:xfrm>
            <a:off x="3566160" y="545896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 c</a:t>
            </a:r>
          </a:p>
        </p:txBody>
      </p:sp>
      <p:sp>
        <p:nvSpPr>
          <p:cNvPr id="24" name="직사각형 25"/>
          <p:cNvSpPr/>
          <p:nvPr/>
        </p:nvSpPr>
        <p:spPr>
          <a:xfrm>
            <a:off x="4297680" y="545896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 d</a:t>
            </a:r>
          </a:p>
        </p:txBody>
      </p:sp>
      <p:sp>
        <p:nvSpPr>
          <p:cNvPr id="25" name="직사각형 26"/>
          <p:cNvSpPr/>
          <p:nvPr/>
        </p:nvSpPr>
        <p:spPr>
          <a:xfrm>
            <a:off x="5029200" y="545896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 e</a:t>
            </a:r>
          </a:p>
        </p:txBody>
      </p:sp>
      <p:sp>
        <p:nvSpPr>
          <p:cNvPr id="26" name="직사각형 27"/>
          <p:cNvSpPr/>
          <p:nvPr/>
        </p:nvSpPr>
        <p:spPr>
          <a:xfrm>
            <a:off x="5760720" y="545896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 f</a:t>
            </a:r>
          </a:p>
        </p:txBody>
      </p:sp>
      <p:cxnSp>
        <p:nvCxnSpPr>
          <p:cNvPr id="27" name="연결선 28"/>
          <p:cNvCxnSpPr/>
          <p:nvPr/>
        </p:nvCxnSpPr>
        <p:spPr>
          <a:xfrm flipV="1">
            <a:off x="1500993" y="3243359"/>
            <a:ext cx="463149" cy="752616"/>
          </a:xfrm>
          <a:prstGeom prst="line">
            <a:avLst/>
          </a:prstGeom>
          <a:ln w="19050">
            <a:solidFill>
              <a:srgbClr val="9A9A9A"/>
            </a:solidFill>
            <a:tailEnd type="triangle" w="med" len="med"/>
          </a:ln>
        </p:spPr>
      </p:cxnSp>
      <p:cxnSp>
        <p:nvCxnSpPr>
          <p:cNvPr id="28" name="연결선 29"/>
          <p:cNvCxnSpPr/>
          <p:nvPr/>
        </p:nvCxnSpPr>
        <p:spPr>
          <a:xfrm flipH="1" flipV="1">
            <a:off x="2242098" y="3243359"/>
            <a:ext cx="463149" cy="752616"/>
          </a:xfrm>
          <a:prstGeom prst="line">
            <a:avLst/>
          </a:prstGeom>
          <a:ln w="19050">
            <a:solidFill>
              <a:srgbClr val="9A9A9A"/>
            </a:solidFill>
            <a:tailEnd type="triangle" w="med" len="med"/>
          </a:ln>
        </p:spPr>
      </p:cxnSp>
      <p:cxnSp>
        <p:nvCxnSpPr>
          <p:cNvPr id="29" name="연결선 30"/>
          <p:cNvCxnSpPr/>
          <p:nvPr/>
        </p:nvCxnSpPr>
        <p:spPr>
          <a:xfrm flipV="1">
            <a:off x="4480560" y="3282696"/>
            <a:ext cx="0" cy="676656"/>
          </a:xfrm>
          <a:prstGeom prst="line">
            <a:avLst/>
          </a:prstGeom>
          <a:ln w="19050">
            <a:solidFill>
              <a:srgbClr val="9A9A9A"/>
            </a:solidFill>
            <a:tailEnd type="triangle" w="med" len="med"/>
          </a:ln>
        </p:spPr>
      </p:cxnSp>
      <p:sp>
        <p:nvSpPr>
          <p:cNvPr id="30" name="직사각형 31"/>
          <p:cNvSpPr/>
          <p:nvPr/>
        </p:nvSpPr>
        <p:spPr>
          <a:xfrm>
            <a:off x="185623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1" name="직사각형 32"/>
          <p:cNvSpPr/>
          <p:nvPr/>
        </p:nvSpPr>
        <p:spPr>
          <a:xfrm>
            <a:off x="15544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뿌리</a:t>
            </a:r>
          </a:p>
        </p:txBody>
      </p:sp>
      <p:sp>
        <p:nvSpPr>
          <p:cNvPr id="32" name="직사각형 33"/>
          <p:cNvSpPr/>
          <p:nvPr/>
        </p:nvSpPr>
        <p:spPr>
          <a:xfrm>
            <a:off x="112471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3" name="직사각형 34"/>
          <p:cNvSpPr/>
          <p:nvPr/>
        </p:nvSpPr>
        <p:spPr>
          <a:xfrm>
            <a:off x="258775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34" name="직사각형 35"/>
          <p:cNvSpPr/>
          <p:nvPr/>
        </p:nvSpPr>
        <p:spPr>
          <a:xfrm>
            <a:off x="423367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5" name="직사각형 36"/>
          <p:cNvSpPr/>
          <p:nvPr/>
        </p:nvSpPr>
        <p:spPr>
          <a:xfrm>
            <a:off x="393192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뿌리</a:t>
            </a:r>
          </a:p>
        </p:txBody>
      </p:sp>
      <p:sp>
        <p:nvSpPr>
          <p:cNvPr id="36" name="직사각형 37"/>
          <p:cNvSpPr/>
          <p:nvPr/>
        </p:nvSpPr>
        <p:spPr>
          <a:xfrm>
            <a:off x="423367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7" name="직사각형 38"/>
          <p:cNvSpPr/>
          <p:nvPr/>
        </p:nvSpPr>
        <p:spPr>
          <a:xfrm>
            <a:off x="569671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38" name="직사각형 39"/>
          <p:cNvSpPr/>
          <p:nvPr/>
        </p:nvSpPr>
        <p:spPr>
          <a:xfrm>
            <a:off x="53949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뿌리</a:t>
            </a:r>
          </a:p>
        </p:txBody>
      </p:sp>
      <p:sp>
        <p:nvSpPr>
          <p:cNvPr id="39" name="직사각형 40"/>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화살표: 자식 → 부모    파랑: 뿌리(대표)    아래 칸: parent 배열 (칸 아래는 번호와 정점)</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parent 배열: ① ~ ④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114</a:t>
            </a:r>
          </a:p>
        </p:txBody>
      </p:sp>
      <p:sp>
        <p:nvSpPr>
          <p:cNvPr id="9" name="fit:c1d3bbf4dd7f0205 10"/>
          <p:cNvSpPr/>
          <p:nvPr/>
        </p:nvSpPr>
        <p:spPr>
          <a:xfrm>
            <a:off x="612648" y="1636776"/>
            <a:ext cx="6766560" cy="969264"/>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union은 두 뿌리 중 랭크(나무 높이의 상한)가 낮은 쪽을 높은 쪽 밑에 붙입니다. 랭크가 같으면 붙인 뒤 위쪽 랭크가 1 늘어납니다.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9adea9b885e087f8 12"/>
          <p:cNvSpPr/>
          <p:nvPr/>
        </p:nvSpPr>
        <p:spPr>
          <a:xfrm>
            <a:off x="7909560" y="2935224"/>
            <a:ext cx="3666744" cy="457200"/>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① union(a, f): 랭크 0 = 0 → f를 a 밑에, a의 랭크 1</a:t>
            </a:r>
          </a:p>
        </p:txBody>
      </p:sp>
      <p:sp>
        <p:nvSpPr>
          <p:cNvPr id="12" name="fit:f836e7b6c2809839 13"/>
          <p:cNvSpPr/>
          <p:nvPr/>
        </p:nvSpPr>
        <p:spPr>
          <a:xfrm>
            <a:off x="7909560" y="3465576"/>
            <a:ext cx="3666744" cy="457200"/>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② union(c, d): 같은 방식 → d를 c 밑에, c의 랭크 1</a:t>
            </a:r>
          </a:p>
        </p:txBody>
      </p:sp>
      <p:sp>
        <p:nvSpPr>
          <p:cNvPr id="13" name="fit:9aa44e8e5f0f28c3 14"/>
          <p:cNvSpPr/>
          <p:nvPr/>
        </p:nvSpPr>
        <p:spPr>
          <a:xfrm>
            <a:off x="7909560" y="3995928"/>
            <a:ext cx="3666744" cy="237744"/>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③ union(b, a): 랭크 0 &lt; 1 → b를 a 밑에</a:t>
            </a:r>
          </a:p>
        </p:txBody>
      </p:sp>
      <p:sp>
        <p:nvSpPr>
          <p:cNvPr id="14" name="fit:52a19b82f8971915 15"/>
          <p:cNvSpPr/>
          <p:nvPr/>
        </p:nvSpPr>
        <p:spPr>
          <a:xfrm>
            <a:off x="7909560" y="4306824"/>
            <a:ext cx="3666744" cy="457200"/>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④ union(b, c): find(b) = a, find(c) = c. 랭크 1 = 1 → c를 a 밑에, a의 랭크 2</a:t>
            </a:r>
          </a:p>
        </p:txBody>
      </p:sp>
      <p:sp>
        <p:nvSpPr>
          <p:cNvPr id="15" name="fit:a81df6ebea6f99ce 16"/>
          <p:cNvSpPr/>
          <p:nvPr/>
        </p:nvSpPr>
        <p:spPr>
          <a:xfrm>
            <a:off x="7909560" y="4837176"/>
            <a:ext cx="3666744" cy="448056"/>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b와 c를 직접 잇지 않고, 두 뿌리 a와 c를 잇습니다.</a:t>
            </a:r>
          </a:p>
        </p:txBody>
      </p:sp>
      <p:sp>
        <p:nvSpPr>
          <p:cNvPr id="16" name="직사각형 17"/>
          <p:cNvSpPr/>
          <p:nvPr/>
        </p:nvSpPr>
        <p:spPr>
          <a:xfrm>
            <a:off x="731520" y="2880360"/>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처음</a:t>
            </a:r>
          </a:p>
        </p:txBody>
      </p:sp>
      <p:graphicFrame>
        <p:nvGraphicFramePr>
          <p:cNvPr id="17" name="표 18"/>
          <p:cNvGraphicFramePr>
            <a:graphicFrameLocks noGrp="1"/>
          </p:cNvGraphicFramePr>
          <p:nvPr/>
        </p:nvGraphicFramePr>
        <p:xfrm>
          <a:off x="2103120" y="2807208"/>
          <a:ext cx="4389120" cy="420624"/>
        </p:xfrm>
        <a:graphic>
          <a:graphicData uri="http://schemas.openxmlformats.org/drawingml/2006/table">
            <a:tbl>
              <a:tblPr/>
              <a:tblGrid>
                <a:gridCol w="731520"/>
                <a:gridCol w="731520"/>
                <a:gridCol w="731520"/>
                <a:gridCol w="731520"/>
                <a:gridCol w="731520"/>
                <a:gridCol w="731520"/>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5</a:t>
                      </a:r>
                    </a:p>
                  </a:txBody>
                  <a:tcPr marL="54864" marR="54864" marT="18288" marB="18288" anchor="ctr">
                    <a:solidFill>
                      <a:srgbClr val="FFFFFF"/>
                    </a:solidFill>
                  </a:tcPr>
                </a:tc>
              </a:tr>
            </a:tbl>
          </a:graphicData>
        </a:graphic>
      </p:graphicFrame>
      <p:sp>
        <p:nvSpPr>
          <p:cNvPr id="18" name="직사각형 19"/>
          <p:cNvSpPr/>
          <p:nvPr/>
        </p:nvSpPr>
        <p:spPr>
          <a:xfrm>
            <a:off x="2103120" y="326440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0 a</a:t>
            </a:r>
          </a:p>
        </p:txBody>
      </p:sp>
      <p:sp>
        <p:nvSpPr>
          <p:cNvPr id="19" name="직사각형 20"/>
          <p:cNvSpPr/>
          <p:nvPr/>
        </p:nvSpPr>
        <p:spPr>
          <a:xfrm>
            <a:off x="2834640" y="326440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 b</a:t>
            </a:r>
          </a:p>
        </p:txBody>
      </p:sp>
      <p:sp>
        <p:nvSpPr>
          <p:cNvPr id="20" name="직사각형 21"/>
          <p:cNvSpPr/>
          <p:nvPr/>
        </p:nvSpPr>
        <p:spPr>
          <a:xfrm>
            <a:off x="3566160" y="326440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 c</a:t>
            </a:r>
          </a:p>
        </p:txBody>
      </p:sp>
      <p:sp>
        <p:nvSpPr>
          <p:cNvPr id="21" name="직사각형 22"/>
          <p:cNvSpPr/>
          <p:nvPr/>
        </p:nvSpPr>
        <p:spPr>
          <a:xfrm>
            <a:off x="4297680" y="326440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 d</a:t>
            </a:r>
          </a:p>
        </p:txBody>
      </p:sp>
      <p:sp>
        <p:nvSpPr>
          <p:cNvPr id="22" name="직사각형 23"/>
          <p:cNvSpPr/>
          <p:nvPr/>
        </p:nvSpPr>
        <p:spPr>
          <a:xfrm>
            <a:off x="5029200" y="326440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 e</a:t>
            </a:r>
          </a:p>
        </p:txBody>
      </p:sp>
      <p:sp>
        <p:nvSpPr>
          <p:cNvPr id="23" name="직사각형 24"/>
          <p:cNvSpPr/>
          <p:nvPr/>
        </p:nvSpPr>
        <p:spPr>
          <a:xfrm>
            <a:off x="5760720" y="3264408"/>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 f</a:t>
            </a:r>
          </a:p>
        </p:txBody>
      </p:sp>
      <p:sp>
        <p:nvSpPr>
          <p:cNvPr id="24" name="직사각형 25"/>
          <p:cNvSpPr/>
          <p:nvPr/>
        </p:nvSpPr>
        <p:spPr>
          <a:xfrm>
            <a:off x="731520" y="3611880"/>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① a – f</a:t>
            </a:r>
          </a:p>
        </p:txBody>
      </p:sp>
      <p:graphicFrame>
        <p:nvGraphicFramePr>
          <p:cNvPr id="25" name="표 26"/>
          <p:cNvGraphicFramePr>
            <a:graphicFrameLocks noGrp="1"/>
          </p:cNvGraphicFramePr>
          <p:nvPr/>
        </p:nvGraphicFramePr>
        <p:xfrm>
          <a:off x="2103120" y="3538728"/>
          <a:ext cx="4389120" cy="420624"/>
        </p:xfrm>
        <a:graphic>
          <a:graphicData uri="http://schemas.openxmlformats.org/drawingml/2006/table">
            <a:tbl>
              <a:tblPr/>
              <a:tblGrid>
                <a:gridCol w="731520"/>
                <a:gridCol w="731520"/>
                <a:gridCol w="731520"/>
                <a:gridCol w="731520"/>
                <a:gridCol w="731520"/>
                <a:gridCol w="731520"/>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DCECFB"/>
                    </a:solidFill>
                  </a:tcPr>
                </a:tc>
              </a:tr>
            </a:tbl>
          </a:graphicData>
        </a:graphic>
      </p:graphicFrame>
      <p:sp>
        <p:nvSpPr>
          <p:cNvPr id="26" name="직사각형 27"/>
          <p:cNvSpPr/>
          <p:nvPr/>
        </p:nvSpPr>
        <p:spPr>
          <a:xfrm>
            <a:off x="731520" y="4142232"/>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② c – d</a:t>
            </a:r>
          </a:p>
        </p:txBody>
      </p:sp>
      <p:graphicFrame>
        <p:nvGraphicFramePr>
          <p:cNvPr id="27" name="표 28"/>
          <p:cNvGraphicFramePr>
            <a:graphicFrameLocks noGrp="1"/>
          </p:cNvGraphicFramePr>
          <p:nvPr/>
        </p:nvGraphicFramePr>
        <p:xfrm>
          <a:off x="2103120" y="4069080"/>
          <a:ext cx="4389120" cy="420624"/>
        </p:xfrm>
        <a:graphic>
          <a:graphicData uri="http://schemas.openxmlformats.org/drawingml/2006/table">
            <a:tbl>
              <a:tblPr/>
              <a:tblGrid>
                <a:gridCol w="731520"/>
                <a:gridCol w="731520"/>
                <a:gridCol w="731520"/>
                <a:gridCol w="731520"/>
                <a:gridCol w="731520"/>
                <a:gridCol w="731520"/>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28" name="직사각형 29"/>
          <p:cNvSpPr/>
          <p:nvPr/>
        </p:nvSpPr>
        <p:spPr>
          <a:xfrm>
            <a:off x="731520" y="4672584"/>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③ b – a</a:t>
            </a:r>
          </a:p>
        </p:txBody>
      </p:sp>
      <p:graphicFrame>
        <p:nvGraphicFramePr>
          <p:cNvPr id="29" name="표 30"/>
          <p:cNvGraphicFramePr>
            <a:graphicFrameLocks noGrp="1"/>
          </p:cNvGraphicFramePr>
          <p:nvPr/>
        </p:nvGraphicFramePr>
        <p:xfrm>
          <a:off x="2103120" y="4599432"/>
          <a:ext cx="4389120" cy="420624"/>
        </p:xfrm>
        <a:graphic>
          <a:graphicData uri="http://schemas.openxmlformats.org/drawingml/2006/table">
            <a:tbl>
              <a:tblPr/>
              <a:tblGrid>
                <a:gridCol w="731520"/>
                <a:gridCol w="731520"/>
                <a:gridCol w="731520"/>
                <a:gridCol w="731520"/>
                <a:gridCol w="731520"/>
                <a:gridCol w="731520"/>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30" name="직사각형 31"/>
          <p:cNvSpPr/>
          <p:nvPr/>
        </p:nvSpPr>
        <p:spPr>
          <a:xfrm>
            <a:off x="731520" y="5202936"/>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④ b – c</a:t>
            </a:r>
          </a:p>
        </p:txBody>
      </p:sp>
      <p:graphicFrame>
        <p:nvGraphicFramePr>
          <p:cNvPr id="31" name="표 32"/>
          <p:cNvGraphicFramePr>
            <a:graphicFrameLocks noGrp="1"/>
          </p:cNvGraphicFramePr>
          <p:nvPr/>
        </p:nvGraphicFramePr>
        <p:xfrm>
          <a:off x="2103120" y="5129784"/>
          <a:ext cx="4389120" cy="420624"/>
        </p:xfrm>
        <a:graphic>
          <a:graphicData uri="http://schemas.openxmlformats.org/drawingml/2006/table">
            <a:tbl>
              <a:tblPr/>
              <a:tblGrid>
                <a:gridCol w="731520"/>
                <a:gridCol w="731520"/>
                <a:gridCol w="731520"/>
                <a:gridCol w="731520"/>
                <a:gridCol w="731520"/>
                <a:gridCol w="731520"/>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32" name="직사각형 3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이번에 바뀐 칸    칸의 수: 부모의 번호 (a = 0, b = 1, c = 2, d = 3, e = 4, f = 5)</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parent 배열: ⑤ 사이클 판정·경로 압축, ⑥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115</a:t>
            </a:r>
          </a:p>
        </p:txBody>
      </p:sp>
      <p:sp>
        <p:nvSpPr>
          <p:cNvPr id="9" name="fit:b6ba3dd24abc9f1c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⑤ d – a: find(d)는 d → c → a를 따라 뿌리 a에 닿고, find(a) = a입니다. 뿌리가 같으므로 사이클입니다.</a:t>
            </a:r>
          </a:p>
        </p:txBody>
      </p:sp>
      <p:sp>
        <p:nvSpPr>
          <p:cNvPr id="10" name="직사각형 11"/>
          <p:cNvSpPr/>
          <p:nvPr/>
        </p:nvSpPr>
        <p:spPr>
          <a:xfrm>
            <a:off x="5577840" y="2816352"/>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④ 뒤</a:t>
            </a:r>
          </a:p>
        </p:txBody>
      </p:sp>
      <p:graphicFrame>
        <p:nvGraphicFramePr>
          <p:cNvPr id="11" name="표 12"/>
          <p:cNvGraphicFramePr>
            <a:graphicFrameLocks noGrp="1"/>
          </p:cNvGraphicFramePr>
          <p:nvPr/>
        </p:nvGraphicFramePr>
        <p:xfrm>
          <a:off x="6949440" y="2743200"/>
          <a:ext cx="4169664" cy="420624"/>
        </p:xfrm>
        <a:graphic>
          <a:graphicData uri="http://schemas.openxmlformats.org/drawingml/2006/table">
            <a:tbl>
              <a:tblPr/>
              <a:tblGrid>
                <a:gridCol w="694944"/>
                <a:gridCol w="694944"/>
                <a:gridCol w="694944"/>
                <a:gridCol w="694944"/>
                <a:gridCol w="694944"/>
                <a:gridCol w="694944"/>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a:t>
                      </a:r>
                    </a:p>
                  </a:txBody>
                  <a:tcPr marL="54864" marR="54864" marT="18288" marB="18288" anchor="ctr">
                    <a:solidFill>
                      <a:srgbClr val="FFF1C2"/>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12" name="직사각형 13"/>
          <p:cNvSpPr/>
          <p:nvPr/>
        </p:nvSpPr>
        <p:spPr>
          <a:xfrm>
            <a:off x="6949440" y="3200400"/>
            <a:ext cx="694944"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0 a</a:t>
            </a:r>
          </a:p>
        </p:txBody>
      </p:sp>
      <p:sp>
        <p:nvSpPr>
          <p:cNvPr id="13" name="직사각형 14"/>
          <p:cNvSpPr/>
          <p:nvPr/>
        </p:nvSpPr>
        <p:spPr>
          <a:xfrm>
            <a:off x="7644384" y="3200400"/>
            <a:ext cx="694944"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 b</a:t>
            </a:r>
          </a:p>
        </p:txBody>
      </p:sp>
      <p:sp>
        <p:nvSpPr>
          <p:cNvPr id="14" name="직사각형 15"/>
          <p:cNvSpPr/>
          <p:nvPr/>
        </p:nvSpPr>
        <p:spPr>
          <a:xfrm>
            <a:off x="8339328" y="3200400"/>
            <a:ext cx="694944"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 c</a:t>
            </a:r>
          </a:p>
        </p:txBody>
      </p:sp>
      <p:sp>
        <p:nvSpPr>
          <p:cNvPr id="15" name="직사각형 16"/>
          <p:cNvSpPr/>
          <p:nvPr/>
        </p:nvSpPr>
        <p:spPr>
          <a:xfrm>
            <a:off x="9034272" y="3200400"/>
            <a:ext cx="694944"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 d</a:t>
            </a:r>
          </a:p>
        </p:txBody>
      </p:sp>
      <p:sp>
        <p:nvSpPr>
          <p:cNvPr id="16" name="직사각형 17"/>
          <p:cNvSpPr/>
          <p:nvPr/>
        </p:nvSpPr>
        <p:spPr>
          <a:xfrm>
            <a:off x="9729216" y="3200400"/>
            <a:ext cx="694944"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 e</a:t>
            </a:r>
          </a:p>
        </p:txBody>
      </p:sp>
      <p:sp>
        <p:nvSpPr>
          <p:cNvPr id="17" name="직사각형 18"/>
          <p:cNvSpPr/>
          <p:nvPr/>
        </p:nvSpPr>
        <p:spPr>
          <a:xfrm>
            <a:off x="10424160" y="3200400"/>
            <a:ext cx="694944"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 f</a:t>
            </a:r>
          </a:p>
        </p:txBody>
      </p:sp>
      <p:sp>
        <p:nvSpPr>
          <p:cNvPr id="18" name="직사각형 19"/>
          <p:cNvSpPr/>
          <p:nvPr/>
        </p:nvSpPr>
        <p:spPr>
          <a:xfrm>
            <a:off x="5577840" y="3547872"/>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⑤ 뒤</a:t>
            </a:r>
          </a:p>
        </p:txBody>
      </p:sp>
      <p:graphicFrame>
        <p:nvGraphicFramePr>
          <p:cNvPr id="19" name="표 20"/>
          <p:cNvGraphicFramePr>
            <a:graphicFrameLocks noGrp="1"/>
          </p:cNvGraphicFramePr>
          <p:nvPr/>
        </p:nvGraphicFramePr>
        <p:xfrm>
          <a:off x="6949440" y="3474720"/>
          <a:ext cx="4169664" cy="420624"/>
        </p:xfrm>
        <a:graphic>
          <a:graphicData uri="http://schemas.openxmlformats.org/drawingml/2006/table">
            <a:tbl>
              <a:tblPr/>
              <a:tblGrid>
                <a:gridCol w="694944"/>
                <a:gridCol w="694944"/>
                <a:gridCol w="694944"/>
                <a:gridCol w="694944"/>
                <a:gridCol w="694944"/>
                <a:gridCol w="694944"/>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sp>
        <p:nvSpPr>
          <p:cNvPr id="20" name="직사각형 21"/>
          <p:cNvSpPr/>
          <p:nvPr/>
        </p:nvSpPr>
        <p:spPr>
          <a:xfrm>
            <a:off x="5577840" y="4078224"/>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⑥ 뒤</a:t>
            </a:r>
          </a:p>
        </p:txBody>
      </p:sp>
      <p:graphicFrame>
        <p:nvGraphicFramePr>
          <p:cNvPr id="21" name="표 22"/>
          <p:cNvGraphicFramePr>
            <a:graphicFrameLocks noGrp="1"/>
          </p:cNvGraphicFramePr>
          <p:nvPr/>
        </p:nvGraphicFramePr>
        <p:xfrm>
          <a:off x="6949440" y="4005072"/>
          <a:ext cx="4169664" cy="420624"/>
        </p:xfrm>
        <a:graphic>
          <a:graphicData uri="http://schemas.openxmlformats.org/drawingml/2006/table">
            <a:tbl>
              <a:tblPr/>
              <a:tblGrid>
                <a:gridCol w="694944"/>
                <a:gridCol w="694944"/>
                <a:gridCol w="694944"/>
                <a:gridCol w="694944"/>
                <a:gridCol w="694944"/>
                <a:gridCol w="694944"/>
              </a:tblGrid>
              <a:tr h="420624">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0</a:t>
                      </a:r>
                    </a:p>
                  </a:txBody>
                  <a:tcPr marL="54864" marR="54864" marT="18288" marB="18288" anchor="ctr">
                    <a:solidFill>
                      <a:srgbClr val="FFFFFF"/>
                    </a:solidFill>
                  </a:tcPr>
                </a:tc>
              </a:tr>
            </a:tbl>
          </a:graphicData>
        </a:graphic>
      </p:graphicFrame>
      <p:cxnSp>
        <p:nvCxnSpPr>
          <p:cNvPr id="22" name="연결선 23"/>
          <p:cNvCxnSpPr/>
          <p:nvPr/>
        </p:nvCxnSpPr>
        <p:spPr>
          <a:xfrm flipV="1">
            <a:off x="1198627" y="3183174"/>
            <a:ext cx="971745" cy="777396"/>
          </a:xfrm>
          <a:prstGeom prst="line">
            <a:avLst/>
          </a:prstGeom>
          <a:ln w="19050">
            <a:solidFill>
              <a:srgbClr val="9A9A9A"/>
            </a:solidFill>
            <a:tailEnd type="triangle" w="med" len="med"/>
          </a:ln>
        </p:spPr>
      </p:cxnSp>
      <p:cxnSp>
        <p:nvCxnSpPr>
          <p:cNvPr id="23" name="연결선 24"/>
          <p:cNvCxnSpPr/>
          <p:nvPr/>
        </p:nvCxnSpPr>
        <p:spPr>
          <a:xfrm flipV="1">
            <a:off x="2377440" y="3282696"/>
            <a:ext cx="0" cy="585216"/>
          </a:xfrm>
          <a:prstGeom prst="line">
            <a:avLst/>
          </a:prstGeom>
          <a:ln w="19050">
            <a:solidFill>
              <a:srgbClr val="9A9A9A"/>
            </a:solidFill>
            <a:tailEnd type="triangle" w="med" len="med"/>
          </a:ln>
        </p:spPr>
      </p:cxnSp>
      <p:cxnSp>
        <p:nvCxnSpPr>
          <p:cNvPr id="24" name="연결선 25"/>
          <p:cNvCxnSpPr/>
          <p:nvPr/>
        </p:nvCxnSpPr>
        <p:spPr>
          <a:xfrm flipH="1" flipV="1">
            <a:off x="2584508" y="3183174"/>
            <a:ext cx="971745" cy="777396"/>
          </a:xfrm>
          <a:prstGeom prst="line">
            <a:avLst/>
          </a:prstGeom>
          <a:ln w="44450">
            <a:solidFill>
              <a:srgbClr val="B8651B"/>
            </a:solidFill>
            <a:tailEnd type="triangle" w="med" len="med"/>
          </a:ln>
        </p:spPr>
      </p:cxnSp>
      <p:cxnSp>
        <p:nvCxnSpPr>
          <p:cNvPr id="25" name="연결선 26"/>
          <p:cNvCxnSpPr/>
          <p:nvPr/>
        </p:nvCxnSpPr>
        <p:spPr>
          <a:xfrm flipV="1">
            <a:off x="3749040" y="4379976"/>
            <a:ext cx="0" cy="585216"/>
          </a:xfrm>
          <a:prstGeom prst="line">
            <a:avLst/>
          </a:prstGeom>
          <a:ln w="44450">
            <a:solidFill>
              <a:srgbClr val="B8651B"/>
            </a:solidFill>
            <a:tailEnd type="triangle" w="med" len="med"/>
          </a:ln>
        </p:spPr>
      </p:cxnSp>
      <p:sp>
        <p:nvSpPr>
          <p:cNvPr id="26" name="직사각형 27"/>
          <p:cNvSpPr/>
          <p:nvPr/>
        </p:nvSpPr>
        <p:spPr>
          <a:xfrm>
            <a:off x="213055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7" name="직사각형 28"/>
          <p:cNvSpPr/>
          <p:nvPr/>
        </p:nvSpPr>
        <p:spPr>
          <a:xfrm>
            <a:off x="182880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뿌리</a:t>
            </a:r>
          </a:p>
        </p:txBody>
      </p:sp>
      <p:sp>
        <p:nvSpPr>
          <p:cNvPr id="28" name="직사각형 29"/>
          <p:cNvSpPr/>
          <p:nvPr/>
        </p:nvSpPr>
        <p:spPr>
          <a:xfrm>
            <a:off x="758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29" name="직사각형 30"/>
          <p:cNvSpPr/>
          <p:nvPr/>
        </p:nvSpPr>
        <p:spPr>
          <a:xfrm>
            <a:off x="21305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0" name="직사각형 31"/>
          <p:cNvSpPr/>
          <p:nvPr/>
        </p:nvSpPr>
        <p:spPr>
          <a:xfrm>
            <a:off x="35021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1" name="직사각형 32"/>
          <p:cNvSpPr/>
          <p:nvPr/>
        </p:nvSpPr>
        <p:spPr>
          <a:xfrm>
            <a:off x="3502152" y="496519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2" name="직사각형 33"/>
          <p:cNvSpPr/>
          <p:nvPr/>
        </p:nvSpPr>
        <p:spPr>
          <a:xfrm>
            <a:off x="3200400" y="549554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find(d) 시작</a:t>
            </a:r>
          </a:p>
        </p:txBody>
      </p:sp>
      <p:sp>
        <p:nvSpPr>
          <p:cNvPr id="33" name="직사각형 34"/>
          <p:cNvSpPr/>
          <p:nvPr/>
        </p:nvSpPr>
        <p:spPr>
          <a:xfrm>
            <a:off x="5852160" y="4709160"/>
            <a:ext cx="5733288" cy="54864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171717"/>
                </a:solidFill>
                <a:latin typeface="Malgun Gothic"/>
                <a:ea typeface="Malgun Gothic"/>
                <a:cs typeface="Malgun Gothic"/>
              </a:rPr>
              <a:t>⑤ 경로 압축: find(d)가 지나간 d의 부모를 뿌리 a(0)로 바로 바꿉니다. 다음 find(d)는 한 번에 끝납니다.</a:t>
            </a:r>
          </a:p>
        </p:txBody>
      </p:sp>
      <p:sp>
        <p:nvSpPr>
          <p:cNvPr id="34" name="직사각형 35"/>
          <p:cNvSpPr/>
          <p:nvPr/>
        </p:nvSpPr>
        <p:spPr>
          <a:xfrm>
            <a:off x="5852160" y="5330952"/>
            <a:ext cx="5733288" cy="54864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171717"/>
                </a:solidFill>
                <a:latin typeface="Malgun Gothic"/>
                <a:ea typeface="Malgun Gothic"/>
                <a:cs typeface="Malgun Gothic"/>
              </a:rPr>
              <a:t>⑥ d – e: find(d) = a, find(e) = e로 다르므로 채택. e(랭크 0)를 a(랭크 2) 밑에 붙입니다.</a:t>
            </a:r>
          </a:p>
        </p:txBody>
      </p:sp>
      <p:sp>
        <p:nvSpPr>
          <p:cNvPr id="35" name="직사각형 36"/>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주황: find(d)가 따라간 길    노랑 칸: 바뀔 칸    파랑 칸: 바뀐 칸</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의사코드: 간선 V − 1개가 되면 멈춘다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116</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kruskal.pseudo</a:t>
            </a:r>
          </a:p>
        </p:txBody>
      </p:sp>
      <p:sp>
        <p:nvSpPr>
          <p:cNvPr id="10" name="직사각형 11"/>
          <p:cNvSpPr/>
          <p:nvPr/>
        </p:nvSpPr>
        <p:spPr>
          <a:xfrm>
            <a:off x="612648" y="1856232"/>
            <a:ext cx="10972800" cy="213969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400" b="0" dirty="0">
                <a:solidFill>
                  <a:srgbClr val="FFFFFF"/>
                </a:solidFill>
                <a:latin typeface="Consolas"/>
                <a:ea typeface="Consolas"/>
                <a:cs typeface="Consolas"/>
              </a:rPr>
              <a:t>KRUSKAL(V, edges):          // V: 정점 수, edges: 간선 목록</a:t>
            </a:r>
          </a:p>
          <a:p>
            <a:pPr algn="l" eaLnBrk="0" latinLnBrk="0">
              <a:lnSpc>
                <a:spcPct val="100000"/>
              </a:lnSpc>
              <a:buNone/>
            </a:pPr>
            <a:r>
              <a:rPr lang="ko-KR" altLang="en-US" sz="1400" b="0" dirty="0">
                <a:solidFill>
                  <a:srgbClr val="FFFFFF"/>
                </a:solidFill>
                <a:latin typeface="Consolas"/>
                <a:ea typeface="Consolas"/>
                <a:cs typeface="Consolas"/>
              </a:rPr>
              <a:t>    edges를 가중치 오름차순으로 정렬</a:t>
            </a:r>
          </a:p>
          <a:p>
            <a:pPr algn="l" eaLnBrk="0" latinLnBrk="0">
              <a:lnSpc>
                <a:spcPct val="100000"/>
              </a:lnSpc>
              <a:buNone/>
            </a:pPr>
            <a:r>
              <a:rPr lang="ko-KR" altLang="en-US" sz="1400" b="0" dirty="0">
                <a:solidFill>
                  <a:srgbClr val="FFFFFF"/>
                </a:solidFill>
                <a:latin typeface="Consolas"/>
                <a:ea typeface="Consolas"/>
                <a:cs typeface="Consolas"/>
              </a:rPr>
              <a:t>    모든 정점 v에 대해 parent[v] &lt;- v        // 각자 한 덩어리</a:t>
            </a:r>
          </a:p>
          <a:p>
            <a:pPr algn="l" eaLnBrk="0" latinLnBrk="0">
              <a:lnSpc>
                <a:spcPct val="100000"/>
              </a:lnSpc>
              <a:buNone/>
            </a:pPr>
            <a:r>
              <a:rPr lang="ko-KR" altLang="en-US" sz="1400" b="0" dirty="0">
                <a:solidFill>
                  <a:srgbClr val="FFFFFF"/>
                </a:solidFill>
                <a:latin typeface="Consolas"/>
                <a:ea typeface="Consolas"/>
                <a:cs typeface="Consolas"/>
              </a:rPr>
              <a:t>    MST &lt;- 빈 목록</a:t>
            </a:r>
          </a:p>
          <a:p>
            <a:pPr algn="l" eaLnBrk="0" latinLnBrk="0">
              <a:lnSpc>
                <a:spcPct val="100000"/>
              </a:lnSpc>
              <a:buNone/>
            </a:pPr>
            <a:r>
              <a:rPr lang="ko-KR" altLang="en-US" sz="1400" b="0" dirty="0">
                <a:solidFill>
                  <a:srgbClr val="FFFFFF"/>
                </a:solidFill>
                <a:latin typeface="Consolas"/>
                <a:ea typeface="Consolas"/>
                <a:cs typeface="Consolas"/>
              </a:rPr>
              <a:t>    for each (w, u, v) in edges (정렬된 순서):</a:t>
            </a:r>
          </a:p>
          <a:p>
            <a:pPr algn="l" eaLnBrk="0" latinLnBrk="0">
              <a:lnSpc>
                <a:spcPct val="100000"/>
              </a:lnSpc>
              <a:buNone/>
            </a:pPr>
            <a:r>
              <a:rPr lang="ko-KR" altLang="en-US" sz="1400" b="0" dirty="0">
                <a:solidFill>
                  <a:srgbClr val="FFFFFF"/>
                </a:solidFill>
                <a:latin typeface="Consolas"/>
                <a:ea typeface="Consolas"/>
                <a:cs typeface="Consolas"/>
              </a:rPr>
              <a:t>        if find(u) != find(v) then          // 서로 다른 덩어리</a:t>
            </a:r>
          </a:p>
          <a:p>
            <a:pPr algn="l" eaLnBrk="0" latinLnBrk="0">
              <a:lnSpc>
                <a:spcPct val="100000"/>
              </a:lnSpc>
              <a:buNone/>
            </a:pPr>
            <a:r>
              <a:rPr lang="ko-KR" altLang="en-US" sz="1400" b="0" dirty="0">
                <a:solidFill>
                  <a:srgbClr val="FFFFFF"/>
                </a:solidFill>
                <a:latin typeface="Consolas"/>
                <a:ea typeface="Consolas"/>
                <a:cs typeface="Consolas"/>
              </a:rPr>
              <a:t>            MST에 (u, v, w) 추가;  union(u, v)</a:t>
            </a:r>
          </a:p>
          <a:p>
            <a:pPr algn="l" eaLnBrk="0" latinLnBrk="0">
              <a:lnSpc>
                <a:spcPct val="100000"/>
              </a:lnSpc>
              <a:buNone/>
            </a:pPr>
            <a:r>
              <a:rPr lang="ko-KR" altLang="en-US" sz="1400" b="0" dirty="0">
                <a:solidFill>
                  <a:srgbClr val="FFFFFF"/>
                </a:solidFill>
                <a:latin typeface="Consolas"/>
                <a:ea typeface="Consolas"/>
                <a:cs typeface="Consolas"/>
              </a:rPr>
              <a:t>        if MST의 간선 수 = V - 1 then break   // 트리 완성</a:t>
            </a:r>
          </a:p>
          <a:p>
            <a:pPr algn="l" eaLnBrk="0" latinLnBrk="0">
              <a:lnSpc>
                <a:spcPct val="100000"/>
              </a:lnSpc>
              <a:buNone/>
            </a:pPr>
            <a:r>
              <a:rPr lang="ko-KR" altLang="en-US" sz="1400" b="0" dirty="0">
                <a:solidFill>
                  <a:srgbClr val="FFFFFF"/>
                </a:solidFill>
                <a:latin typeface="Consolas"/>
                <a:ea typeface="Consolas"/>
                <a:cs typeface="Consolas"/>
              </a:rPr>
              <a:t>    return MST</a:t>
            </a:r>
          </a:p>
        </p:txBody>
      </p:sp>
      <p:sp>
        <p:nvSpPr>
          <p:cNvPr id="11" name="fit:91d8a4a3af3b52b8 12"/>
          <p:cNvSpPr/>
          <p:nvPr/>
        </p:nvSpPr>
        <p:spPr>
          <a:xfrm>
            <a:off x="612648" y="412394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선택</a:t>
            </a:r>
          </a:p>
        </p:txBody>
      </p:sp>
      <p:sp>
        <p:nvSpPr>
          <p:cNvPr id="12" name="fit:2f192371afe44c71 13"/>
          <p:cNvSpPr/>
          <p:nvPr/>
        </p:nvSpPr>
        <p:spPr>
          <a:xfrm>
            <a:off x="795528" y="445312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정렬된 순서에서 다음 간선(남은 것 중 가장 싼 간선)을 꺼냅니다.</a:t>
            </a:r>
          </a:p>
        </p:txBody>
      </p:sp>
      <p:sp>
        <p:nvSpPr>
          <p:cNvPr id="13" name="fit:04ee6fb965e4b369 14"/>
          <p:cNvSpPr/>
          <p:nvPr/>
        </p:nvSpPr>
        <p:spPr>
          <a:xfrm>
            <a:off x="612648" y="48371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적정성 검사</a:t>
            </a:r>
          </a:p>
        </p:txBody>
      </p:sp>
      <p:sp>
        <p:nvSpPr>
          <p:cNvPr id="14" name="fit:17fcc9b914dc6e2a 15"/>
          <p:cNvSpPr/>
          <p:nvPr/>
        </p:nvSpPr>
        <p:spPr>
          <a:xfrm>
            <a:off x="795528" y="516636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find(u) ≠ find(v)인가? 같으면 사이클이므로 건너뜁니다.</a:t>
            </a:r>
          </a:p>
        </p:txBody>
      </p:sp>
      <p:sp>
        <p:nvSpPr>
          <p:cNvPr id="15" name="fit:53d24cf66f796497 16"/>
          <p:cNvSpPr/>
          <p:nvPr/>
        </p:nvSpPr>
        <p:spPr>
          <a:xfrm>
            <a:off x="612648" y="555040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해답 검사</a:t>
            </a:r>
          </a:p>
        </p:txBody>
      </p:sp>
      <p:sp>
        <p:nvSpPr>
          <p:cNvPr id="16" name="fit:4d14e35bb7e5ef28 17"/>
          <p:cNvSpPr/>
          <p:nvPr/>
        </p:nvSpPr>
        <p:spPr>
          <a:xfrm>
            <a:off x="795528" y="587959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채택한 간선이 V − 1개이면 멈춥니다.</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①: 서로소 집합 · 생성과 find</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117</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class DisjointSet:</a:t>
            </a:r>
          </a:p>
          <a:p>
            <a:pPr algn="l" eaLnBrk="0" latinLnBrk="0">
              <a:lnSpc>
                <a:spcPct val="100000"/>
              </a:lnSpc>
              <a:buNone/>
            </a:pPr>
            <a:r>
              <a:rPr lang="ko-KR" altLang="en-US" sz="1800" b="0" dirty="0">
                <a:solidFill>
                  <a:srgbClr val="151515"/>
                </a:solidFill>
                <a:latin typeface="Consolas"/>
                <a:ea typeface="Consolas"/>
                <a:cs typeface="Consolas"/>
              </a:rPr>
              <a:t>    def __init__(self, n):</a:t>
            </a:r>
          </a:p>
          <a:p>
            <a:pPr algn="l" eaLnBrk="0" latinLnBrk="0">
              <a:lnSpc>
                <a:spcPct val="100000"/>
              </a:lnSpc>
              <a:buNone/>
            </a:pPr>
            <a:r>
              <a:rPr lang="ko-KR" altLang="en-US" sz="1800" b="0" dirty="0">
                <a:solidFill>
                  <a:srgbClr val="151515"/>
                </a:solidFill>
                <a:latin typeface="Consolas"/>
                <a:ea typeface="Consolas"/>
                <a:cs typeface="Consolas"/>
              </a:rPr>
              <a:t>        self.parent = list(range(n))  # 처음에는 모든 정점이 각자 집합</a:t>
            </a:r>
          </a:p>
          <a:p>
            <a:pPr algn="l" eaLnBrk="0" latinLnBrk="0">
              <a:lnSpc>
                <a:spcPct val="100000"/>
              </a:lnSpc>
              <a:buNone/>
            </a:pPr>
            <a:r>
              <a:rPr lang="ko-KR" altLang="en-US" sz="1800" b="0" dirty="0">
                <a:solidFill>
                  <a:srgbClr val="151515"/>
                </a:solidFill>
                <a:latin typeface="Consolas"/>
                <a:ea typeface="Consolas"/>
                <a:cs typeface="Consolas"/>
              </a:rPr>
              <a:t>        self.rank = [0] * n           # 트리 높이의 상한</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def find(self, x):                # x가 속한 집합의 대표(루트)</a:t>
            </a:r>
          </a:p>
          <a:p>
            <a:pPr algn="l" eaLnBrk="0" latinLnBrk="0">
              <a:lnSpc>
                <a:spcPct val="100000"/>
              </a:lnSpc>
              <a:buNone/>
            </a:pPr>
            <a:r>
              <a:rPr lang="ko-KR" altLang="en-US" sz="1800" b="0" dirty="0">
                <a:solidFill>
                  <a:srgbClr val="151515"/>
                </a:solidFill>
                <a:latin typeface="Consolas"/>
                <a:ea typeface="Consolas"/>
                <a:cs typeface="Consolas"/>
              </a:rPr>
              <a:t>        if self.parent[x] != x:</a:t>
            </a:r>
          </a:p>
          <a:p>
            <a:pPr algn="l" eaLnBrk="0" latinLnBrk="0">
              <a:lnSpc>
                <a:spcPct val="100000"/>
              </a:lnSpc>
              <a:buNone/>
            </a:pPr>
            <a:r>
              <a:rPr lang="ko-KR" altLang="en-US" sz="1800" b="0" dirty="0">
                <a:solidFill>
                  <a:srgbClr val="151515"/>
                </a:solidFill>
                <a:latin typeface="Consolas"/>
                <a:ea typeface="Consolas"/>
                <a:cs typeface="Consolas"/>
              </a:rPr>
              <a:t>            self.parent[x] = self.find(self.parent[x])  # 경로 압축</a:t>
            </a:r>
          </a:p>
          <a:p>
            <a:pPr algn="l" eaLnBrk="0" latinLnBrk="0">
              <a:lnSpc>
                <a:spcPct val="100000"/>
              </a:lnSpc>
              <a:buNone/>
            </a:pPr>
            <a:r>
              <a:rPr lang="ko-KR" altLang="en-US" sz="1800" b="0" dirty="0">
                <a:solidFill>
                  <a:srgbClr val="151515"/>
                </a:solidFill>
                <a:latin typeface="Consolas"/>
                <a:ea typeface="Consolas"/>
                <a:cs typeface="Consolas"/>
              </a:rPr>
              <a:t>        return self.parent[x]</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②: union (랭크로 합치기)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118</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def union(self, x, y):</a:t>
            </a:r>
          </a:p>
          <a:p>
            <a:pPr algn="l" eaLnBrk="0" latinLnBrk="0">
              <a:lnSpc>
                <a:spcPct val="100000"/>
              </a:lnSpc>
              <a:buNone/>
            </a:pPr>
            <a:r>
              <a:rPr lang="ko-KR" altLang="en-US" sz="1800" b="0" dirty="0">
                <a:solidFill>
                  <a:srgbClr val="151515"/>
                </a:solidFill>
                <a:latin typeface="Consolas"/>
                <a:ea typeface="Consolas"/>
                <a:cs typeface="Consolas"/>
              </a:rPr>
              <a:t>        px, py = self.find(x), self.find(y)</a:t>
            </a:r>
          </a:p>
          <a:p>
            <a:pPr algn="l" eaLnBrk="0" latinLnBrk="0">
              <a:lnSpc>
                <a:spcPct val="100000"/>
              </a:lnSpc>
              <a:buNone/>
            </a:pPr>
            <a:r>
              <a:rPr lang="ko-KR" altLang="en-US" sz="1800" b="0" dirty="0">
                <a:solidFill>
                  <a:srgbClr val="151515"/>
                </a:solidFill>
                <a:latin typeface="Consolas"/>
                <a:ea typeface="Consolas"/>
                <a:cs typeface="Consolas"/>
              </a:rPr>
              <a:t>        if px == py:</a:t>
            </a:r>
          </a:p>
          <a:p>
            <a:pPr algn="l" eaLnBrk="0" latinLnBrk="0">
              <a:lnSpc>
                <a:spcPct val="100000"/>
              </a:lnSpc>
              <a:buNone/>
            </a:pPr>
            <a:r>
              <a:rPr lang="ko-KR" altLang="en-US" sz="1800" b="0" dirty="0">
                <a:solidFill>
                  <a:srgbClr val="151515"/>
                </a:solidFill>
                <a:latin typeface="Consolas"/>
                <a:ea typeface="Consolas"/>
                <a:cs typeface="Consolas"/>
              </a:rPr>
              <a:t>            return False              # 이미 같은 집합 -&gt; 사이클</a:t>
            </a:r>
          </a:p>
          <a:p>
            <a:pPr algn="l" eaLnBrk="0" latinLnBrk="0">
              <a:lnSpc>
                <a:spcPct val="100000"/>
              </a:lnSpc>
              <a:buNone/>
            </a:pPr>
            <a:r>
              <a:rPr lang="ko-KR" altLang="en-US" sz="1800" b="0" dirty="0">
                <a:solidFill>
                  <a:srgbClr val="151515"/>
                </a:solidFill>
                <a:latin typeface="Consolas"/>
                <a:ea typeface="Consolas"/>
                <a:cs typeface="Consolas"/>
              </a:rPr>
              <a:t>        if self.rank[px] &lt; self.rank[py]:</a:t>
            </a:r>
          </a:p>
          <a:p>
            <a:pPr algn="l" eaLnBrk="0" latinLnBrk="0">
              <a:lnSpc>
                <a:spcPct val="100000"/>
              </a:lnSpc>
              <a:buNone/>
            </a:pPr>
            <a:r>
              <a:rPr lang="ko-KR" altLang="en-US" sz="1800" b="0" dirty="0">
                <a:solidFill>
                  <a:srgbClr val="151515"/>
                </a:solidFill>
                <a:latin typeface="Consolas"/>
                <a:ea typeface="Consolas"/>
                <a:cs typeface="Consolas"/>
              </a:rPr>
              <a:t>            px, py = py, px           # px를 더 높은 트리로</a:t>
            </a:r>
          </a:p>
          <a:p>
            <a:pPr algn="l" eaLnBrk="0" latinLnBrk="0">
              <a:lnSpc>
                <a:spcPct val="100000"/>
              </a:lnSpc>
              <a:buNone/>
            </a:pPr>
            <a:r>
              <a:rPr lang="ko-KR" altLang="en-US" sz="1800" b="0" dirty="0">
                <a:solidFill>
                  <a:srgbClr val="151515"/>
                </a:solidFill>
                <a:latin typeface="Consolas"/>
                <a:ea typeface="Consolas"/>
                <a:cs typeface="Consolas"/>
              </a:rPr>
              <a:t>        self.parent[py] = px          # 낮은 트리를 높은 트리 밑에</a:t>
            </a:r>
          </a:p>
          <a:p>
            <a:pPr algn="l" eaLnBrk="0" latinLnBrk="0">
              <a:lnSpc>
                <a:spcPct val="100000"/>
              </a:lnSpc>
              <a:buNone/>
            </a:pPr>
            <a:r>
              <a:rPr lang="ko-KR" altLang="en-US" sz="1800" b="0" dirty="0">
                <a:solidFill>
                  <a:srgbClr val="151515"/>
                </a:solidFill>
                <a:latin typeface="Consolas"/>
                <a:ea typeface="Consolas"/>
                <a:cs typeface="Consolas"/>
              </a:rPr>
              <a:t>        if self.rank[px] == self.rank[py]:</a:t>
            </a:r>
          </a:p>
          <a:p>
            <a:pPr algn="l" eaLnBrk="0" latinLnBrk="0">
              <a:lnSpc>
                <a:spcPct val="100000"/>
              </a:lnSpc>
              <a:buNone/>
            </a:pPr>
            <a:r>
              <a:rPr lang="ko-KR" altLang="en-US" sz="1800" b="0" dirty="0">
                <a:solidFill>
                  <a:srgbClr val="151515"/>
                </a:solidFill>
                <a:latin typeface="Consolas"/>
                <a:ea typeface="Consolas"/>
                <a:cs typeface="Consolas"/>
              </a:rPr>
              <a:t>            self.rank[px] += 1</a:t>
            </a:r>
          </a:p>
          <a:p>
            <a:pPr algn="l" eaLnBrk="0" latinLnBrk="0">
              <a:lnSpc>
                <a:spcPct val="100000"/>
              </a:lnSpc>
              <a:buNone/>
            </a:pPr>
            <a:r>
              <a:rPr lang="ko-KR" altLang="en-US" sz="1800" b="0" dirty="0">
                <a:solidFill>
                  <a:srgbClr val="151515"/>
                </a:solidFill>
                <a:latin typeface="Consolas"/>
                <a:ea typeface="Consolas"/>
                <a:cs typeface="Consolas"/>
              </a:rPr>
              <a:t>        return True</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③: kruskal 함수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119</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def kruskal(n, edges):</a:t>
            </a:r>
          </a:p>
          <a:p>
            <a:pPr algn="l" eaLnBrk="0" latinLnBrk="0">
              <a:lnSpc>
                <a:spcPct val="100000"/>
              </a:lnSpc>
              <a:buNone/>
            </a:pPr>
            <a:r>
              <a:rPr lang="ko-KR" altLang="en-US" sz="1800" b="0" dirty="0">
                <a:solidFill>
                  <a:srgbClr val="151515"/>
                </a:solidFill>
                <a:latin typeface="Consolas"/>
                <a:ea typeface="Consolas"/>
                <a:cs typeface="Consolas"/>
              </a:rPr>
              <a:t>    edges.sort()            # 가중치 오름차순 (튜플의 첫 값)</a:t>
            </a:r>
          </a:p>
          <a:p>
            <a:pPr algn="l" eaLnBrk="0" latinLnBrk="0">
              <a:lnSpc>
                <a:spcPct val="100000"/>
              </a:lnSpc>
              <a:buNone/>
            </a:pPr>
            <a:r>
              <a:rPr lang="ko-KR" altLang="en-US" sz="1800" b="0" dirty="0">
                <a:solidFill>
                  <a:srgbClr val="151515"/>
                </a:solidFill>
                <a:latin typeface="Consolas"/>
                <a:ea typeface="Consolas"/>
                <a:cs typeface="Consolas"/>
              </a:rPr>
              <a:t>    ds = DisjointSet(n)</a:t>
            </a:r>
          </a:p>
          <a:p>
            <a:pPr algn="l" eaLnBrk="0" latinLnBrk="0">
              <a:lnSpc>
                <a:spcPct val="100000"/>
              </a:lnSpc>
              <a:buNone/>
            </a:pPr>
            <a:r>
              <a:rPr lang="ko-KR" altLang="en-US" sz="1800" b="0" dirty="0">
                <a:solidFill>
                  <a:srgbClr val="151515"/>
                </a:solidFill>
                <a:latin typeface="Consolas"/>
                <a:ea typeface="Consolas"/>
                <a:cs typeface="Consolas"/>
              </a:rPr>
              <a:t>    mst = []</a:t>
            </a:r>
          </a:p>
          <a:p>
            <a:pPr algn="l" eaLnBrk="0" latinLnBrk="0">
              <a:lnSpc>
                <a:spcPct val="100000"/>
              </a:lnSpc>
              <a:buNone/>
            </a:pPr>
            <a:r>
              <a:rPr lang="ko-KR" altLang="en-US" sz="1800" b="0" dirty="0">
                <a:solidFill>
                  <a:srgbClr val="151515"/>
                </a:solidFill>
                <a:latin typeface="Consolas"/>
                <a:ea typeface="Consolas"/>
                <a:cs typeface="Consolas"/>
              </a:rPr>
              <a:t>    for weight, u, v in edges:</a:t>
            </a:r>
          </a:p>
          <a:p>
            <a:pPr algn="l" eaLnBrk="0" latinLnBrk="0">
              <a:lnSpc>
                <a:spcPct val="100000"/>
              </a:lnSpc>
              <a:buNone/>
            </a:pPr>
            <a:r>
              <a:rPr lang="ko-KR" altLang="en-US" sz="1800" b="0" dirty="0">
                <a:solidFill>
                  <a:srgbClr val="151515"/>
                </a:solidFill>
                <a:latin typeface="Consolas"/>
                <a:ea typeface="Consolas"/>
                <a:cs typeface="Consolas"/>
              </a:rPr>
              <a:t>        if ds.union(u, v):  # 사이클이 없을 때만 채택</a:t>
            </a:r>
          </a:p>
          <a:p>
            <a:pPr algn="l" eaLnBrk="0" latinLnBrk="0">
              <a:lnSpc>
                <a:spcPct val="100000"/>
              </a:lnSpc>
              <a:buNone/>
            </a:pPr>
            <a:r>
              <a:rPr lang="ko-KR" altLang="en-US" sz="1800" b="0" dirty="0">
                <a:solidFill>
                  <a:srgbClr val="151515"/>
                </a:solidFill>
                <a:latin typeface="Consolas"/>
                <a:ea typeface="Consolas"/>
                <a:cs typeface="Consolas"/>
              </a:rPr>
              <a:t>            mst.append((u, v, weight))</a:t>
            </a:r>
          </a:p>
          <a:p>
            <a:pPr algn="l" eaLnBrk="0" latinLnBrk="0">
              <a:lnSpc>
                <a:spcPct val="100000"/>
              </a:lnSpc>
              <a:buNone/>
            </a:pPr>
            <a:r>
              <a:rPr lang="ko-KR" altLang="en-US" sz="1800" b="0" dirty="0">
                <a:solidFill>
                  <a:srgbClr val="151515"/>
                </a:solidFill>
                <a:latin typeface="Consolas"/>
                <a:ea typeface="Consolas"/>
                <a:cs typeface="Consolas"/>
              </a:rPr>
              <a:t>        if len(mst) == n - 1:   # 간선 (정점 수 - 1)개면 완성</a:t>
            </a:r>
          </a:p>
          <a:p>
            <a:pPr algn="l" eaLnBrk="0" latinLnBrk="0">
              <a:lnSpc>
                <a:spcPct val="100000"/>
              </a:lnSpc>
              <a:buNone/>
            </a:pPr>
            <a:r>
              <a:rPr lang="ko-KR" altLang="en-US" sz="1800" b="0" dirty="0">
                <a:solidFill>
                  <a:srgbClr val="151515"/>
                </a:solidFill>
                <a:latin typeface="Consolas"/>
                <a:ea typeface="Consolas"/>
                <a:cs typeface="Consolas"/>
              </a:rPr>
              <a:t>            break</a:t>
            </a:r>
          </a:p>
          <a:p>
            <a:pPr algn="l" eaLnBrk="0" latinLnBrk="0">
              <a:lnSpc>
                <a:spcPct val="100000"/>
              </a:lnSpc>
              <a:buNone/>
            </a:pPr>
            <a:r>
              <a:rPr lang="ko-KR" altLang="en-US" sz="1800" b="0" dirty="0">
                <a:solidFill>
                  <a:srgbClr val="151515"/>
                </a:solidFill>
                <a:latin typeface="Consolas"/>
                <a:ea typeface="Consolas"/>
                <a:cs typeface="Consolas"/>
              </a:rPr>
              <a:t>    return mst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④: 간선 목록과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120</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names = "abcdef"            # 0~5번 정점의 이름</a:t>
            </a:r>
          </a:p>
          <a:p>
            <a:pPr algn="l" eaLnBrk="0" latinLnBrk="0">
              <a:lnSpc>
                <a:spcPct val="100000"/>
              </a:lnSpc>
              <a:buNone/>
            </a:pPr>
            <a:r>
              <a:rPr lang="ko-KR" altLang="en-US" sz="1800" b="0" dirty="0">
                <a:solidFill>
                  <a:srgbClr val="151515"/>
                </a:solidFill>
                <a:latin typeface="Consolas"/>
                <a:ea typeface="Consolas"/>
                <a:cs typeface="Consolas"/>
              </a:rPr>
              <a:t>edges = [</a:t>
            </a:r>
          </a:p>
          <a:p>
            <a:pPr algn="l" eaLnBrk="0" latinLnBrk="0">
              <a:lnSpc>
                <a:spcPct val="100000"/>
              </a:lnSpc>
              <a:buNone/>
            </a:pPr>
            <a:r>
              <a:rPr lang="ko-KR" altLang="en-US" sz="1800" b="0" dirty="0">
                <a:solidFill>
                  <a:srgbClr val="151515"/>
                </a:solidFill>
                <a:latin typeface="Consolas"/>
                <a:ea typeface="Consolas"/>
                <a:cs typeface="Consolas"/>
              </a:rPr>
              <a:t>    (10, 0, 5), (12, 2, 3), (15, 1, 0),</a:t>
            </a:r>
          </a:p>
          <a:p>
            <a:pPr algn="l" eaLnBrk="0" latinLnBrk="0">
              <a:lnSpc>
                <a:spcPct val="100000"/>
              </a:lnSpc>
              <a:buNone/>
            </a:pPr>
            <a:r>
              <a:rPr lang="ko-KR" altLang="en-US" sz="1800" b="0" dirty="0">
                <a:solidFill>
                  <a:srgbClr val="151515"/>
                </a:solidFill>
                <a:latin typeface="Consolas"/>
                <a:ea typeface="Consolas"/>
                <a:cs typeface="Consolas"/>
              </a:rPr>
              <a:t>    (16, 1, 2), (18, 3, 0), (22, 3, 4),</a:t>
            </a:r>
          </a:p>
          <a:p>
            <a:pPr algn="l" eaLnBrk="0" latinLnBrk="0">
              <a:lnSpc>
                <a:spcPct val="100000"/>
              </a:lnSpc>
              <a:buNone/>
            </a:pPr>
            <a:r>
              <a:rPr lang="ko-KR" altLang="en-US" sz="1800" b="0" dirty="0">
                <a:solidFill>
                  <a:srgbClr val="151515"/>
                </a:solidFill>
                <a:latin typeface="Consolas"/>
                <a:ea typeface="Consolas"/>
                <a:cs typeface="Consolas"/>
              </a:rPr>
              <a:t>    (25, 4, 0), (27, 4, 5), (29, 2, 5)</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r>
              <a:rPr lang="ko-KR" altLang="en-US" sz="1800" b="0" dirty="0">
                <a:solidFill>
                  <a:srgbClr val="151515"/>
                </a:solidFill>
                <a:latin typeface="Consolas"/>
                <a:ea typeface="Consolas"/>
                <a:cs typeface="Consolas"/>
              </a:rPr>
              <a:t>mst = kruskal(6, edges)</a:t>
            </a:r>
          </a:p>
          <a:p>
            <a:pPr algn="l" eaLnBrk="0" latinLnBrk="0">
              <a:lnSpc>
                <a:spcPct val="100000"/>
              </a:lnSpc>
              <a:buNone/>
            </a:pPr>
            <a:r>
              <a:rPr lang="ko-KR" altLang="en-US" sz="1800" b="0" dirty="0">
                <a:solidFill>
                  <a:srgbClr val="151515"/>
                </a:solidFill>
                <a:latin typeface="Consolas"/>
                <a:ea typeface="Consolas"/>
                <a:cs typeface="Consolas"/>
              </a:rPr>
              <a:t>print("최소 신장 트리 구성:")</a:t>
            </a:r>
          </a:p>
          <a:p>
            <a:pPr algn="l" eaLnBrk="0" latinLnBrk="0">
              <a:lnSpc>
                <a:spcPct val="100000"/>
              </a:lnSpc>
              <a:buNone/>
            </a:pPr>
            <a:r>
              <a:rPr lang="ko-KR" altLang="en-US" sz="1800" b="0" dirty="0">
                <a:solidFill>
                  <a:srgbClr val="151515"/>
                </a:solidFill>
                <a:latin typeface="Consolas"/>
                <a:ea typeface="Consolas"/>
                <a:cs typeface="Consolas"/>
              </a:rPr>
              <a:t>for u, v, w in mst:</a:t>
            </a:r>
          </a:p>
          <a:p>
            <a:pPr algn="l" eaLnBrk="0" latinLnBrk="0">
              <a:lnSpc>
                <a:spcPct val="100000"/>
              </a:lnSpc>
              <a:buNone/>
            </a:pPr>
            <a:r>
              <a:rPr lang="ko-KR" altLang="en-US" sz="1800" b="0" dirty="0">
                <a:solidFill>
                  <a:srgbClr val="151515"/>
                </a:solidFill>
                <a:latin typeface="Consolas"/>
                <a:ea typeface="Consolas"/>
                <a:cs typeface="Consolas"/>
              </a:rPr>
              <a:t>    print(f"{names[u]} -- {names[v]} (가중치 {w})")</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①: 간선 구조체와 make_sets</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121</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r>
              <a:rPr lang="ko-KR" altLang="en-US" sz="1800" b="0" dirty="0">
                <a:solidFill>
                  <a:srgbClr val="151515"/>
                </a:solidFill>
                <a:latin typeface="Consolas"/>
                <a:ea typeface="Consolas"/>
                <a:cs typeface="Consolas"/>
              </a:rPr>
              <a:t>#include &lt;stdlib.h&gt;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typedef struct { int w, u, v; } Edge;   /* (가중치, u, v) */</a:t>
            </a:r>
          </a:p>
          <a:p>
            <a:pPr algn="l" eaLnBrk="0" latinLnBrk="0">
              <a:lnSpc>
                <a:spcPct val="100000"/>
              </a:lnSpc>
              <a:buNone/>
            </a:pPr>
            <a:r>
              <a:rPr lang="ko-KR" altLang="en-US" sz="1800" b="0" dirty="0">
                <a:solidFill>
                  <a:srgbClr val="151515"/>
                </a:solidFill>
                <a:latin typeface="Consolas"/>
                <a:ea typeface="Consolas"/>
                <a:cs typeface="Consolas"/>
              </a:rPr>
              <a:t>int parent[100];                        /* 정점 100개까지 */</a:t>
            </a:r>
          </a:p>
          <a:p>
            <a:pPr algn="l" eaLnBrk="0" latinLnBrk="0">
              <a:lnSpc>
                <a:spcPct val="100000"/>
              </a:lnSpc>
              <a:buNone/>
            </a:pPr>
            <a:r>
              <a:rPr lang="ko-KR" altLang="en-US" sz="1800" b="0" dirty="0">
                <a:solidFill>
                  <a:srgbClr val="151515"/>
                </a:solidFill>
                <a:latin typeface="Consolas"/>
                <a:ea typeface="Consolas"/>
                <a:cs typeface="Consolas"/>
              </a:rPr>
              <a:t>int rank[100];                          /* 트리 높이의 상한 */</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void make_sets(int n) {         /* 처음에는 모든 정점이 각자 집합 */</a:t>
            </a:r>
          </a:p>
          <a:p>
            <a:pPr algn="l" eaLnBrk="0" latinLnBrk="0">
              <a:lnSpc>
                <a:spcPct val="100000"/>
              </a:lnSpc>
              <a:buNone/>
            </a:pPr>
            <a:r>
              <a:rPr lang="ko-KR" altLang="en-US" sz="1800" b="0" dirty="0">
                <a:solidFill>
                  <a:srgbClr val="151515"/>
                </a:solidFill>
                <a:latin typeface="Consolas"/>
                <a:ea typeface="Consolas"/>
                <a:cs typeface="Consolas"/>
              </a:rPr>
              <a:t>    for (int i = 0; i &lt; n; i++) {</a:t>
            </a:r>
          </a:p>
          <a:p>
            <a:pPr algn="l" eaLnBrk="0" latinLnBrk="0">
              <a:lnSpc>
                <a:spcPct val="100000"/>
              </a:lnSpc>
              <a:buNone/>
            </a:pPr>
            <a:r>
              <a:rPr lang="ko-KR" altLang="en-US" sz="1800" b="0" dirty="0">
                <a:solidFill>
                  <a:srgbClr val="151515"/>
                </a:solidFill>
                <a:latin typeface="Consolas"/>
                <a:ea typeface="Consolas"/>
                <a:cs typeface="Consolas"/>
              </a:rPr>
              <a:t>        parent[i] = i;</a:t>
            </a:r>
          </a:p>
          <a:p>
            <a:pPr algn="l" eaLnBrk="0" latinLnBrk="0">
              <a:lnSpc>
                <a:spcPct val="100000"/>
              </a:lnSpc>
              <a:buNone/>
            </a:pPr>
            <a:r>
              <a:rPr lang="ko-KR" altLang="en-US" sz="1800" b="0" dirty="0">
                <a:solidFill>
                  <a:srgbClr val="151515"/>
                </a:solidFill>
                <a:latin typeface="Consolas"/>
                <a:ea typeface="Consolas"/>
                <a:cs typeface="Consolas"/>
              </a:rPr>
              <a:t>        rank[i] = 0;</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②: find와 union_sets</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122</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int find(int x) {               /* x가 속한 집합의 대표(루트) */</a:t>
            </a:r>
          </a:p>
          <a:p>
            <a:pPr algn="l" eaLnBrk="0" latinLnBrk="0">
              <a:lnSpc>
                <a:spcPct val="100000"/>
              </a:lnSpc>
              <a:buNone/>
            </a:pPr>
            <a:r>
              <a:rPr lang="ko-KR" altLang="en-US" sz="1800" b="0" dirty="0">
                <a:solidFill>
                  <a:srgbClr val="151515"/>
                </a:solidFill>
                <a:latin typeface="Consolas"/>
                <a:ea typeface="Consolas"/>
                <a:cs typeface="Consolas"/>
              </a:rPr>
              <a:t>    if (parent[x] != x)</a:t>
            </a:r>
          </a:p>
          <a:p>
            <a:pPr algn="l" eaLnBrk="0" latinLnBrk="0">
              <a:lnSpc>
                <a:spcPct val="100000"/>
              </a:lnSpc>
              <a:buNone/>
            </a:pPr>
            <a:r>
              <a:rPr lang="ko-KR" altLang="en-US" sz="1800" b="0" dirty="0">
                <a:solidFill>
                  <a:srgbClr val="151515"/>
                </a:solidFill>
                <a:latin typeface="Consolas"/>
                <a:ea typeface="Consolas"/>
                <a:cs typeface="Consolas"/>
              </a:rPr>
              <a:t>        parent[x] = find(parent[x]);    /* 경로 압축 */</a:t>
            </a:r>
          </a:p>
          <a:p>
            <a:pPr algn="l" eaLnBrk="0" latinLnBrk="0">
              <a:lnSpc>
                <a:spcPct val="100000"/>
              </a:lnSpc>
              <a:buNone/>
            </a:pPr>
            <a:r>
              <a:rPr lang="ko-KR" altLang="en-US" sz="1800" b="0" dirty="0">
                <a:solidFill>
                  <a:srgbClr val="151515"/>
                </a:solidFill>
                <a:latin typeface="Consolas"/>
                <a:ea typeface="Consolas"/>
                <a:cs typeface="Consolas"/>
              </a:rPr>
              <a:t>    return parent[x];</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union_sets(int x, int y) {  /* C에서 union은 예약어 */</a:t>
            </a:r>
          </a:p>
          <a:p>
            <a:pPr algn="l" eaLnBrk="0" latinLnBrk="0">
              <a:lnSpc>
                <a:spcPct val="100000"/>
              </a:lnSpc>
              <a:buNone/>
            </a:pPr>
            <a:r>
              <a:rPr lang="ko-KR" altLang="en-US" sz="1800" b="0" dirty="0">
                <a:solidFill>
                  <a:srgbClr val="151515"/>
                </a:solidFill>
                <a:latin typeface="Consolas"/>
                <a:ea typeface="Consolas"/>
                <a:cs typeface="Consolas"/>
              </a:rPr>
              <a:t>    int px = find(x), py = find(y);</a:t>
            </a:r>
          </a:p>
          <a:p>
            <a:pPr algn="l" eaLnBrk="0" latinLnBrk="0">
              <a:lnSpc>
                <a:spcPct val="100000"/>
              </a:lnSpc>
              <a:buNone/>
            </a:pPr>
            <a:r>
              <a:rPr lang="ko-KR" altLang="en-US" sz="1800" b="0" dirty="0">
                <a:solidFill>
                  <a:srgbClr val="151515"/>
                </a:solidFill>
                <a:latin typeface="Consolas"/>
                <a:ea typeface="Consolas"/>
                <a:cs typeface="Consolas"/>
              </a:rPr>
              <a:t>    if (px == py) return 0;     /* 이미 같은 집합 -&gt; 사이클 */</a:t>
            </a:r>
          </a:p>
          <a:p>
            <a:pPr algn="l" eaLnBrk="0" latinLnBrk="0">
              <a:lnSpc>
                <a:spcPct val="100000"/>
              </a:lnSpc>
              <a:buNone/>
            </a:pPr>
            <a:r>
              <a:rPr lang="ko-KR" altLang="en-US" sz="1800" b="0" dirty="0">
                <a:solidFill>
                  <a:srgbClr val="151515"/>
                </a:solidFill>
                <a:latin typeface="Consolas"/>
                <a:ea typeface="Consolas"/>
                <a:cs typeface="Consolas"/>
              </a:rPr>
              <a:t>    if (rank[px] &lt; rank[py]) {  /* px를 더 높은 트리로 */</a:t>
            </a:r>
          </a:p>
          <a:p>
            <a:pPr algn="l" eaLnBrk="0" latinLnBrk="0">
              <a:lnSpc>
                <a:spcPct val="100000"/>
              </a:lnSpc>
              <a:buNone/>
            </a:pPr>
            <a:r>
              <a:rPr lang="ko-KR" altLang="en-US" sz="1800" b="0" dirty="0">
                <a:solidFill>
                  <a:srgbClr val="151515"/>
                </a:solidFill>
                <a:latin typeface="Consolas"/>
                <a:ea typeface="Consolas"/>
                <a:cs typeface="Consolas"/>
              </a:rPr>
              <a:t>        int t = px; px = py; py = t;</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parent[py] = px;            /* 낮은 트리를 높은 트리 밑에 */</a:t>
            </a:r>
          </a:p>
          <a:p>
            <a:pPr algn="l" eaLnBrk="0" latinLnBrk="0">
              <a:lnSpc>
                <a:spcPct val="100000"/>
              </a:lnSpc>
              <a:buNone/>
            </a:pPr>
            <a:r>
              <a:rPr lang="ko-KR" altLang="en-US" sz="1800" b="0" dirty="0">
                <a:solidFill>
                  <a:srgbClr val="151515"/>
                </a:solidFill>
                <a:latin typeface="Consolas"/>
                <a:ea typeface="Consolas"/>
                <a:cs typeface="Consolas"/>
              </a:rPr>
              <a:t>    if (rank[px] == rank[py]) rank[px]++;</a:t>
            </a:r>
          </a:p>
          <a:p>
            <a:pPr algn="l" eaLnBrk="0" latinLnBrk="0">
              <a:lnSpc>
                <a:spcPct val="100000"/>
              </a:lnSpc>
              <a:buNone/>
            </a:pPr>
            <a:r>
              <a:rPr lang="ko-KR" altLang="en-US" sz="1800" b="0" dirty="0">
                <a:solidFill>
                  <a:srgbClr val="151515"/>
                </a:solidFill>
                <a:latin typeface="Consolas"/>
                <a:ea typeface="Consolas"/>
                <a:cs typeface="Consolas"/>
              </a:rPr>
              <a:t>    return 1;</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③: 비교 함수와 kruskal</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123</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int by_weight(const void *a, const void *b) {</a:t>
            </a:r>
          </a:p>
          <a:p>
            <a:pPr algn="l" eaLnBrk="0" latinLnBrk="0">
              <a:lnSpc>
                <a:spcPct val="100000"/>
              </a:lnSpc>
              <a:buNone/>
            </a:pPr>
            <a:r>
              <a:rPr lang="ko-KR" altLang="en-US" sz="1800" b="0" dirty="0">
                <a:solidFill>
                  <a:srgbClr val="151515"/>
                </a:solidFill>
                <a:latin typeface="Consolas"/>
                <a:ea typeface="Consolas"/>
                <a:cs typeface="Consolas"/>
              </a:rPr>
              <a:t>    const Edge *x = a, *y = b;</a:t>
            </a:r>
          </a:p>
          <a:p>
            <a:pPr algn="l" eaLnBrk="0" latinLnBrk="0">
              <a:lnSpc>
                <a:spcPct val="100000"/>
              </a:lnSpc>
              <a:buNone/>
            </a:pPr>
            <a:r>
              <a:rPr lang="ko-KR" altLang="en-US" sz="1800" b="0" dirty="0">
                <a:solidFill>
                  <a:srgbClr val="151515"/>
                </a:solidFill>
                <a:latin typeface="Consolas"/>
                <a:ea typeface="Consolas"/>
                <a:cs typeface="Consolas"/>
              </a:rPr>
              <a:t>    return x-&gt;w - y-&gt;w;</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kruskal(int n, Edge edges[], int m, Edge mst[]) {</a:t>
            </a:r>
          </a:p>
          <a:p>
            <a:pPr algn="l" eaLnBrk="0" latinLnBrk="0">
              <a:lnSpc>
                <a:spcPct val="100000"/>
              </a:lnSpc>
              <a:buNone/>
            </a:pPr>
            <a:r>
              <a:rPr lang="ko-KR" altLang="en-US" sz="1800" b="0" dirty="0">
                <a:solidFill>
                  <a:srgbClr val="151515"/>
                </a:solidFill>
                <a:latin typeface="Consolas"/>
                <a:ea typeface="Consolas"/>
                <a:cs typeface="Consolas"/>
              </a:rPr>
              <a:t>    qsort(edges, m, sizeof(Edge), by_weight);   /* 가중치 오름차순 */</a:t>
            </a:r>
          </a:p>
          <a:p>
            <a:pPr algn="l" eaLnBrk="0" latinLnBrk="0">
              <a:lnSpc>
                <a:spcPct val="100000"/>
              </a:lnSpc>
              <a:buNone/>
            </a:pPr>
            <a:r>
              <a:rPr lang="ko-KR" altLang="en-US" sz="1800" b="0" dirty="0">
                <a:solidFill>
                  <a:srgbClr val="151515"/>
                </a:solidFill>
                <a:latin typeface="Consolas"/>
                <a:ea typeface="Consolas"/>
                <a:cs typeface="Consolas"/>
              </a:rPr>
              <a:t>    make_sets(n);</a:t>
            </a:r>
          </a:p>
          <a:p>
            <a:pPr algn="l" eaLnBrk="0" latinLnBrk="0">
              <a:lnSpc>
                <a:spcPct val="100000"/>
              </a:lnSpc>
              <a:buNone/>
            </a:pPr>
            <a:r>
              <a:rPr lang="ko-KR" altLang="en-US" sz="1800" b="0" dirty="0">
                <a:solidFill>
                  <a:srgbClr val="151515"/>
                </a:solidFill>
                <a:latin typeface="Consolas"/>
                <a:ea typeface="Consolas"/>
                <a:cs typeface="Consolas"/>
              </a:rPr>
              <a:t>    int count = 0;</a:t>
            </a:r>
          </a:p>
          <a:p>
            <a:pPr algn="l" eaLnBrk="0" latinLnBrk="0">
              <a:lnSpc>
                <a:spcPct val="100000"/>
              </a:lnSpc>
              <a:buNone/>
            </a:pPr>
            <a:r>
              <a:rPr lang="ko-KR" altLang="en-US" sz="1800" b="0" dirty="0">
                <a:solidFill>
                  <a:srgbClr val="151515"/>
                </a:solidFill>
                <a:latin typeface="Consolas"/>
                <a:ea typeface="Consolas"/>
                <a:cs typeface="Consolas"/>
              </a:rPr>
              <a:t>    for (int i = 0; i &lt; m; i++) {</a:t>
            </a:r>
          </a:p>
          <a:p>
            <a:pPr algn="l" eaLnBrk="0" latinLnBrk="0">
              <a:lnSpc>
                <a:spcPct val="100000"/>
              </a:lnSpc>
              <a:buNone/>
            </a:pPr>
            <a:r>
              <a:rPr lang="ko-KR" altLang="en-US" sz="1800" b="0" dirty="0">
                <a:solidFill>
                  <a:srgbClr val="151515"/>
                </a:solidFill>
                <a:latin typeface="Consolas"/>
                <a:ea typeface="Consolas"/>
                <a:cs typeface="Consolas"/>
              </a:rPr>
              <a:t>        if (union_sets(edges[i].u, edges[i].v))</a:t>
            </a:r>
          </a:p>
          <a:p>
            <a:pPr algn="l" eaLnBrk="0" latinLnBrk="0">
              <a:lnSpc>
                <a:spcPct val="100000"/>
              </a:lnSpc>
              <a:buNone/>
            </a:pPr>
            <a:r>
              <a:rPr lang="ko-KR" altLang="en-US" sz="1800" b="0" dirty="0">
                <a:solidFill>
                  <a:srgbClr val="151515"/>
                </a:solidFill>
                <a:latin typeface="Consolas"/>
                <a:ea typeface="Consolas"/>
                <a:cs typeface="Consolas"/>
              </a:rPr>
              <a:t>            mst[count++] = edges[i];    /* 사이클이 없을 때만 채택 */</a:t>
            </a:r>
          </a:p>
          <a:p>
            <a:pPr algn="l" eaLnBrk="0" latinLnBrk="0">
              <a:lnSpc>
                <a:spcPct val="100000"/>
              </a:lnSpc>
              <a:buNone/>
            </a:pPr>
            <a:r>
              <a:rPr lang="ko-KR" altLang="en-US" sz="1800" b="0" dirty="0">
                <a:solidFill>
                  <a:srgbClr val="151515"/>
                </a:solidFill>
                <a:latin typeface="Consolas"/>
                <a:ea typeface="Consolas"/>
                <a:cs typeface="Consolas"/>
              </a:rPr>
              <a:t>        if (count == n - 1) break;  /* 간선 (정점 수 - 1)개면 완성 */</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return count;</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④: main에서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124</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kruskal.c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int main(void) {</a:t>
            </a:r>
          </a:p>
          <a:p>
            <a:pPr algn="l" eaLnBrk="0" latinLnBrk="0">
              <a:lnSpc>
                <a:spcPct val="100000"/>
              </a:lnSpc>
              <a:buNone/>
            </a:pPr>
            <a:r>
              <a:rPr lang="ko-KR" altLang="en-US" sz="1800" b="0" dirty="0">
                <a:solidFill>
                  <a:srgbClr val="151515"/>
                </a:solidFill>
                <a:latin typeface="Consolas"/>
                <a:ea typeface="Consolas"/>
                <a:cs typeface="Consolas"/>
              </a:rPr>
              <a:t>    const char *names = "abcdef";   /* 0~5번 정점의 이름 */</a:t>
            </a:r>
          </a:p>
          <a:p>
            <a:pPr algn="l" eaLnBrk="0" latinLnBrk="0">
              <a:lnSpc>
                <a:spcPct val="100000"/>
              </a:lnSpc>
              <a:buNone/>
            </a:pPr>
            <a:r>
              <a:rPr lang="ko-KR" altLang="en-US" sz="1800" b="0" dirty="0">
                <a:solidFill>
                  <a:srgbClr val="151515"/>
                </a:solidFill>
                <a:latin typeface="Consolas"/>
                <a:ea typeface="Consolas"/>
                <a:cs typeface="Consolas"/>
              </a:rPr>
              <a:t>    Edge edges[] = {{10, 0, 5}, {12, 2, 3}, {15, 1, 0},</a:t>
            </a:r>
          </a:p>
          <a:p>
            <a:pPr algn="l" eaLnBrk="0" latinLnBrk="0">
              <a:lnSpc>
                <a:spcPct val="100000"/>
              </a:lnSpc>
              <a:buNone/>
            </a:pPr>
            <a:r>
              <a:rPr lang="ko-KR" altLang="en-US" sz="1800" b="0" dirty="0">
                <a:solidFill>
                  <a:srgbClr val="151515"/>
                </a:solidFill>
                <a:latin typeface="Consolas"/>
                <a:ea typeface="Consolas"/>
                <a:cs typeface="Consolas"/>
              </a:rPr>
              <a:t>                    {16, 1, 2}, {18, 3, 0}, {22, 3, 4},</a:t>
            </a:r>
          </a:p>
          <a:p>
            <a:pPr algn="l" eaLnBrk="0" latinLnBrk="0">
              <a:lnSpc>
                <a:spcPct val="100000"/>
              </a:lnSpc>
              <a:buNone/>
            </a:pPr>
            <a:r>
              <a:rPr lang="ko-KR" altLang="en-US" sz="1800" b="0" dirty="0">
                <a:solidFill>
                  <a:srgbClr val="151515"/>
                </a:solidFill>
                <a:latin typeface="Consolas"/>
                <a:ea typeface="Consolas"/>
                <a:cs typeface="Consolas"/>
              </a:rPr>
              <a:t>                    {25, 4, 0}, {27, 4, 5}, {29, 2, 5}};</a:t>
            </a:r>
          </a:p>
          <a:p>
            <a:pPr algn="l" eaLnBrk="0" latinLnBrk="0">
              <a:lnSpc>
                <a:spcPct val="100000"/>
              </a:lnSpc>
              <a:buNone/>
            </a:pPr>
            <a:r>
              <a:rPr lang="ko-KR" altLang="en-US" sz="1800" b="0" dirty="0">
                <a:solidFill>
                  <a:srgbClr val="151515"/>
                </a:solidFill>
                <a:latin typeface="Consolas"/>
                <a:ea typeface="Consolas"/>
                <a:cs typeface="Consolas"/>
              </a:rPr>
              <a:t>    Edge mst[5];</a:t>
            </a:r>
          </a:p>
          <a:p>
            <a:pPr algn="l" eaLnBrk="0" latinLnBrk="0">
              <a:lnSpc>
                <a:spcPct val="100000"/>
              </a:lnSpc>
              <a:buNone/>
            </a:pPr>
            <a:r>
              <a:rPr lang="ko-KR" altLang="en-US" sz="1800" b="0" dirty="0">
                <a:solidFill>
                  <a:srgbClr val="151515"/>
                </a:solidFill>
                <a:latin typeface="Consolas"/>
                <a:ea typeface="Consolas"/>
                <a:cs typeface="Consolas"/>
              </a:rPr>
              <a:t>    int k = kruskal(6, edges, 9, mst);  /* k = mst에 담긴 간선 수 */</a:t>
            </a:r>
          </a:p>
          <a:p>
            <a:pPr algn="l" eaLnBrk="0" latinLnBrk="0">
              <a:lnSpc>
                <a:spcPct val="100000"/>
              </a:lnSpc>
              <a:buNone/>
            </a:pPr>
            <a:r>
              <a:rPr lang="ko-KR" altLang="en-US" sz="1800" b="0" dirty="0">
                <a:solidFill>
                  <a:srgbClr val="151515"/>
                </a:solidFill>
                <a:latin typeface="Consolas"/>
                <a:ea typeface="Consolas"/>
                <a:cs typeface="Consolas"/>
              </a:rPr>
              <a:t>    printf("최소 신장 트리 구성:\n");</a:t>
            </a:r>
          </a:p>
          <a:p>
            <a:pPr algn="l" eaLnBrk="0" latinLnBrk="0">
              <a:lnSpc>
                <a:spcPct val="100000"/>
              </a:lnSpc>
              <a:buNone/>
            </a:pPr>
            <a:r>
              <a:rPr lang="ko-KR" altLang="en-US" sz="1800" b="0" dirty="0">
                <a:solidFill>
                  <a:srgbClr val="151515"/>
                </a:solidFill>
                <a:latin typeface="Consolas"/>
                <a:ea typeface="Consolas"/>
                <a:cs typeface="Consolas"/>
              </a:rPr>
              <a:t>    for (int i = 0; i &lt; k; i++)</a:t>
            </a:r>
          </a:p>
          <a:p>
            <a:pPr algn="l" eaLnBrk="0" latinLnBrk="0">
              <a:lnSpc>
                <a:spcPct val="100000"/>
              </a:lnSpc>
              <a:buNone/>
            </a:pPr>
            <a:r>
              <a:rPr lang="ko-KR" altLang="en-US" sz="1800" b="0" dirty="0">
                <a:solidFill>
                  <a:srgbClr val="151515"/>
                </a:solidFill>
                <a:latin typeface="Consolas"/>
                <a:ea typeface="Consolas"/>
                <a:cs typeface="Consolas"/>
              </a:rPr>
              <a:t>        printf("%c -- %c (가중치 %d)\n",</a:t>
            </a:r>
          </a:p>
          <a:p>
            <a:pPr algn="l" eaLnBrk="0" latinLnBrk="0">
              <a:lnSpc>
                <a:spcPct val="100000"/>
              </a:lnSpc>
              <a:buNone/>
            </a:pPr>
            <a:r>
              <a:rPr lang="ko-KR" altLang="en-US" sz="1800" b="0" dirty="0">
                <a:solidFill>
                  <a:srgbClr val="151515"/>
                </a:solidFill>
                <a:latin typeface="Consolas"/>
                <a:ea typeface="Consolas"/>
                <a:cs typeface="Consolas"/>
              </a:rPr>
              <a:t>               names[mst[i].u], names[mst[i].v], mst[i].w);</a:t>
            </a:r>
          </a:p>
          <a:p>
            <a:pPr algn="l" eaLnBrk="0" latinLnBrk="0">
              <a:lnSpc>
                <a:spcPct val="100000"/>
              </a:lnSpc>
              <a:buNone/>
            </a:pPr>
            <a:r>
              <a:rPr lang="ko-KR" altLang="en-US" sz="1800" b="0" dirty="0">
                <a:solidFill>
                  <a:srgbClr val="151515"/>
                </a:solidFill>
                <a:latin typeface="Consolas"/>
                <a:ea typeface="Consolas"/>
                <a:cs typeface="Consolas"/>
              </a:rPr>
              <a:t>    return 0;</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실행 결과: 합 75</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125</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0" name="직사각형 11"/>
          <p:cNvSpPr/>
          <p:nvPr/>
        </p:nvSpPr>
        <p:spPr>
          <a:xfrm>
            <a:off x="612648" y="1856232"/>
            <a:ext cx="10972800" cy="1499616"/>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최소 신장 트리 구성:</a:t>
            </a:r>
          </a:p>
          <a:p>
            <a:pPr algn="l" eaLnBrk="0" latinLnBrk="0">
              <a:lnSpc>
                <a:spcPct val="100000"/>
              </a:lnSpc>
              <a:buNone/>
            </a:pPr>
            <a:r>
              <a:rPr lang="ko-KR" altLang="en-US" sz="1400" b="0" dirty="0">
                <a:solidFill>
                  <a:srgbClr val="151515"/>
                </a:solidFill>
                <a:latin typeface="Consolas"/>
                <a:ea typeface="Consolas"/>
                <a:cs typeface="Consolas"/>
              </a:rPr>
              <a:t>a -- f (가중치 10)</a:t>
            </a:r>
          </a:p>
          <a:p>
            <a:pPr algn="l" eaLnBrk="0" latinLnBrk="0">
              <a:lnSpc>
                <a:spcPct val="100000"/>
              </a:lnSpc>
              <a:buNone/>
            </a:pPr>
            <a:r>
              <a:rPr lang="ko-KR" altLang="en-US" sz="1400" b="0" dirty="0">
                <a:solidFill>
                  <a:srgbClr val="151515"/>
                </a:solidFill>
                <a:latin typeface="Consolas"/>
                <a:ea typeface="Consolas"/>
                <a:cs typeface="Consolas"/>
              </a:rPr>
              <a:t>c -- d (가중치 12)</a:t>
            </a:r>
          </a:p>
          <a:p>
            <a:pPr algn="l" eaLnBrk="0" latinLnBrk="0">
              <a:lnSpc>
                <a:spcPct val="100000"/>
              </a:lnSpc>
              <a:buNone/>
            </a:pPr>
            <a:r>
              <a:rPr lang="ko-KR" altLang="en-US" sz="1400" b="0" dirty="0">
                <a:solidFill>
                  <a:srgbClr val="151515"/>
                </a:solidFill>
                <a:latin typeface="Consolas"/>
                <a:ea typeface="Consolas"/>
                <a:cs typeface="Consolas"/>
              </a:rPr>
              <a:t>b -- a (가중치 15)</a:t>
            </a:r>
          </a:p>
          <a:p>
            <a:pPr algn="l" eaLnBrk="0" latinLnBrk="0">
              <a:lnSpc>
                <a:spcPct val="100000"/>
              </a:lnSpc>
              <a:buNone/>
            </a:pPr>
            <a:r>
              <a:rPr lang="ko-KR" altLang="en-US" sz="1400" b="0" dirty="0">
                <a:solidFill>
                  <a:srgbClr val="151515"/>
                </a:solidFill>
                <a:latin typeface="Consolas"/>
                <a:ea typeface="Consolas"/>
                <a:cs typeface="Consolas"/>
              </a:rPr>
              <a:t>b -- c (가중치 16)</a:t>
            </a:r>
          </a:p>
          <a:p>
            <a:pPr algn="l" eaLnBrk="0" latinLnBrk="0">
              <a:lnSpc>
                <a:spcPct val="100000"/>
              </a:lnSpc>
              <a:buNone/>
            </a:pPr>
            <a:r>
              <a:rPr lang="ko-KR" altLang="en-US" sz="1400" b="0" dirty="0">
                <a:solidFill>
                  <a:srgbClr val="151515"/>
                </a:solidFill>
                <a:latin typeface="Consolas"/>
                <a:ea typeface="Consolas"/>
                <a:cs typeface="Consolas"/>
              </a:rPr>
              <a:t>d -- e (가중치 22)</a:t>
            </a:r>
          </a:p>
        </p:txBody>
      </p:sp>
      <p:sp>
        <p:nvSpPr>
          <p:cNvPr id="11" name="fit:a7039c67988f85ab 12"/>
          <p:cNvSpPr/>
          <p:nvPr/>
        </p:nvSpPr>
        <p:spPr>
          <a:xfrm>
            <a:off x="612648" y="3483864"/>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채택 순서가 단계 슬라이드와 같습니다. 합은 10 + 12 + 15 + 16 + 22 = 75입니다. Python과 C의 출력이 같습니다.</a:t>
            </a:r>
          </a:p>
        </p:txBody>
      </p:sp>
      <p:sp>
        <p:nvSpPr>
          <p:cNvPr id="12" name="fit:682b6cac626e2606 13"/>
          <p:cNvSpPr/>
          <p:nvPr/>
        </p:nvSpPr>
        <p:spPr>
          <a:xfrm>
            <a:off x="612648" y="4206240"/>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d – a(18)는 사이클이라 출력에 없습니다. 25, 27, 29는 간선 5개가 모인 뒤라 확인하지 않았습니다.</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복잡도: O(E log E)</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126</a:t>
            </a:r>
          </a:p>
        </p:txBody>
      </p:sp>
      <p:sp>
        <p:nvSpPr>
          <p:cNvPr id="9" name="fit:8b04de320eb7e8d9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V는 정점 수, E는 간선 수입니다.</a:t>
            </a:r>
          </a:p>
        </p:txBody>
      </p:sp>
      <p:sp>
        <p:nvSpPr>
          <p:cNvPr id="10" name="직사각형 11"/>
          <p:cNvSpPr/>
          <p:nvPr/>
        </p:nvSpPr>
        <p:spPr>
          <a:xfrm>
            <a:off x="65836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정렬</a:t>
            </a:r>
          </a:p>
        </p:txBody>
      </p:sp>
      <p:sp>
        <p:nvSpPr>
          <p:cNvPr id="12" name="직사각형 13"/>
          <p:cNvSpPr/>
          <p:nvPr/>
        </p:nvSpPr>
        <p:spPr>
          <a:xfrm>
            <a:off x="749808" y="2724912"/>
            <a:ext cx="30175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간선 E개를 가중치 순으로</a:t>
            </a:r>
          </a:p>
          <a:p>
            <a:pPr algn="ctr" eaLnBrk="0" latinLnBrk="0">
              <a:lnSpc>
                <a:spcPct val="110000"/>
              </a:lnSpc>
              <a:buNone/>
            </a:pPr>
            <a:r>
              <a:rPr lang="ko-KR" altLang="en-US" sz="1500" b="0" dirty="0">
                <a:solidFill>
                  <a:srgbClr val="171717"/>
                </a:solidFill>
                <a:latin typeface="Malgun Gothic"/>
                <a:ea typeface="Malgun Gothic"/>
                <a:cs typeface="Malgun Gothic"/>
              </a:rPr>
              <a:t>O(E log E)</a:t>
            </a:r>
          </a:p>
        </p:txBody>
      </p:sp>
      <p:sp>
        <p:nvSpPr>
          <p:cNvPr id="13" name="직사각형 14"/>
          <p:cNvSpPr/>
          <p:nvPr/>
        </p:nvSpPr>
        <p:spPr>
          <a:xfrm>
            <a:off x="400507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449884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직사각형 16"/>
          <p:cNvSpPr/>
          <p:nvPr/>
        </p:nvSpPr>
        <p:spPr>
          <a:xfrm>
            <a:off x="459028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간선마다 find · union</a:t>
            </a:r>
          </a:p>
        </p:txBody>
      </p:sp>
      <p:sp>
        <p:nvSpPr>
          <p:cNvPr id="16" name="직사각형 17"/>
          <p:cNvSpPr/>
          <p:nvPr/>
        </p:nvSpPr>
        <p:spPr>
          <a:xfrm>
            <a:off x="4590288" y="2724912"/>
            <a:ext cx="30175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경로 압축 + 랭크: 평균 O(α(V))</a:t>
            </a:r>
          </a:p>
          <a:p>
            <a:pPr algn="ctr" eaLnBrk="0" latinLnBrk="0">
              <a:lnSpc>
                <a:spcPct val="110000"/>
              </a:lnSpc>
              <a:buNone/>
            </a:pPr>
            <a:r>
              <a:rPr lang="ko-KR" altLang="en-US" sz="1500" b="0" dirty="0">
                <a:solidFill>
                  <a:srgbClr val="171717"/>
                </a:solidFill>
                <a:latin typeface="Malgun Gothic"/>
                <a:ea typeface="Malgun Gothic"/>
                <a:cs typeface="Malgun Gothic"/>
              </a:rPr>
              <a:t>거의 상수 → E × O(α(V))</a:t>
            </a:r>
          </a:p>
        </p:txBody>
      </p:sp>
      <p:sp>
        <p:nvSpPr>
          <p:cNvPr id="17" name="직사각형 18"/>
          <p:cNvSpPr/>
          <p:nvPr/>
        </p:nvSpPr>
        <p:spPr>
          <a:xfrm>
            <a:off x="784555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8" name="직사각형 19"/>
          <p:cNvSpPr/>
          <p:nvPr/>
        </p:nvSpPr>
        <p:spPr>
          <a:xfrm>
            <a:off x="833932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9" name="직사각형 20"/>
          <p:cNvSpPr/>
          <p:nvPr/>
        </p:nvSpPr>
        <p:spPr>
          <a:xfrm>
            <a:off x="843076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전체</a:t>
            </a:r>
          </a:p>
        </p:txBody>
      </p:sp>
      <p:sp>
        <p:nvSpPr>
          <p:cNvPr id="20" name="직사각형 21"/>
          <p:cNvSpPr/>
          <p:nvPr/>
        </p:nvSpPr>
        <p:spPr>
          <a:xfrm>
            <a:off x="8430768" y="2724912"/>
            <a:ext cx="30175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O(E log E) + E × O(α(V))</a:t>
            </a:r>
          </a:p>
          <a:p>
            <a:pPr algn="ctr" eaLnBrk="0" latinLnBrk="0">
              <a:lnSpc>
                <a:spcPct val="110000"/>
              </a:lnSpc>
              <a:buNone/>
            </a:pPr>
            <a:r>
              <a:rPr lang="ko-KR" altLang="en-US" sz="1500" b="0" dirty="0">
                <a:solidFill>
                  <a:srgbClr val="171717"/>
                </a:solidFill>
                <a:latin typeface="Malgun Gothic"/>
                <a:ea typeface="Malgun Gothic"/>
                <a:cs typeface="Malgun Gothic"/>
              </a:rPr>
              <a:t>= O(E log E)</a:t>
            </a:r>
          </a:p>
        </p:txBody>
      </p:sp>
      <p:sp>
        <p:nvSpPr>
          <p:cNvPr id="21" name="fit:811228346928a943 22"/>
          <p:cNvSpPr/>
          <p:nvPr/>
        </p:nvSpPr>
        <p:spPr>
          <a:xfrm>
            <a:off x="658368" y="3858768"/>
            <a:ext cx="1088136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정렬이 전체 비용을 결정합니다.</a:t>
            </a:r>
          </a:p>
        </p:txBody>
      </p:sp>
      <p:sp>
        <p:nvSpPr>
          <p:cNvPr id="22" name="fit:72603012aabbfb34 23"/>
          <p:cNvSpPr/>
          <p:nvPr/>
        </p:nvSpPr>
        <p:spPr>
          <a:xfrm>
            <a:off x="658368" y="4370832"/>
            <a:ext cx="1088136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α(V)는 아주 느리게 자라는 함수(역 아커만 함수)입니다. 현실에서 쓰는 어떤 V에서도 4 이하라서 상수처럼 봅니다.</a:t>
            </a:r>
          </a:p>
        </p:txBody>
      </p:sp>
      <p:sp>
        <p:nvSpPr>
          <p:cNvPr id="23" name="fit:3f0f48869dbab0a2 24"/>
          <p:cNvSpPr/>
          <p:nvPr/>
        </p:nvSpPr>
        <p:spPr>
          <a:xfrm>
            <a:off x="658368" y="4773168"/>
            <a:ext cx="1088136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이 보장은 경로 압축과 랭크를 함께 쓸 때 성립합니다. 랭크로 합치면 나무 높이가 log V를 넘지 않습니다.</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옳은가: 교환 논증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127</a:t>
            </a:r>
          </a:p>
        </p:txBody>
      </p:sp>
      <p:sp>
        <p:nvSpPr>
          <p:cNvPr id="9" name="fit:2e8bff7f247d63fb 10"/>
          <p:cNvSpPr/>
          <p:nvPr/>
        </p:nvSpPr>
        <p:spPr>
          <a:xfrm>
            <a:off x="612648" y="1636776"/>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크루스칼이 간선 g를 채택하는 순간, g는 서로 다른 덩어리를 잇는 간선 중 가장 쌉니다. 더 싼 간선은 이미 다 봤고, 본 간선은 모두 한 덩어리 안에 있기 때문입니다.</a:t>
            </a:r>
          </a:p>
        </p:txBody>
      </p:sp>
      <p:sp>
        <p:nvSpPr>
          <p:cNvPr id="10" name="fit:db977d2b0444aae5 11"/>
          <p:cNvSpPr/>
          <p:nvPr/>
        </p:nvSpPr>
        <p:spPr>
          <a:xfrm>
            <a:off x="612648" y="235915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어떤 MST T를 생각합니다</a:t>
            </a:r>
          </a:p>
        </p:txBody>
      </p:sp>
      <p:sp>
        <p:nvSpPr>
          <p:cNvPr id="11" name="fit:2aa2545b78f00134 12"/>
          <p:cNvSpPr/>
          <p:nvPr/>
        </p:nvSpPr>
        <p:spPr>
          <a:xfrm>
            <a:off x="795528" y="268833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지금까지 고른 간선을 모두 포함하는 MST T에 g가 없다고 합시다.</a:t>
            </a:r>
          </a:p>
        </p:txBody>
      </p:sp>
      <p:sp>
        <p:nvSpPr>
          <p:cNvPr id="12" name="fit:2eccddf6771f4d34 13"/>
          <p:cNvSpPr/>
          <p:nvPr/>
        </p:nvSpPr>
        <p:spPr>
          <a:xfrm>
            <a:off x="612648" y="307238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T에 g를 더하면 사이클</a:t>
            </a:r>
          </a:p>
        </p:txBody>
      </p:sp>
      <p:sp>
        <p:nvSpPr>
          <p:cNvPr id="13" name="fit:53683363e9f0d628 14"/>
          <p:cNvSpPr/>
          <p:nvPr/>
        </p:nvSpPr>
        <p:spPr>
          <a:xfrm>
            <a:off x="795528" y="340156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 사이클은 g의 한쪽 덩어리를 나갔다가 다시 들어와야 하므로, 서로 다른 덩어리를 잇는 다른 간선 h가 있습니다.</a:t>
            </a:r>
          </a:p>
        </p:txBody>
      </p:sp>
      <p:sp>
        <p:nvSpPr>
          <p:cNvPr id="14" name="fit:e8d34b82249193fe 15"/>
          <p:cNvSpPr/>
          <p:nvPr/>
        </p:nvSpPr>
        <p:spPr>
          <a:xfrm>
            <a:off x="612648" y="378561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h를 빼고 g를 넣어도 손해가 없다</a:t>
            </a:r>
          </a:p>
        </p:txBody>
      </p:sp>
      <p:sp>
        <p:nvSpPr>
          <p:cNvPr id="15" name="fit:8f7fb774f3674561 16"/>
          <p:cNvSpPr/>
          <p:nvPr/>
        </p:nvSpPr>
        <p:spPr>
          <a:xfrm>
            <a:off x="795528" y="4114800"/>
            <a:ext cx="1078992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서로 다른 덩어리를 잇는 간선은 아직 보지 않은 간선이라 h의 가중치 ≥ g의 가중치입니다. 바꿔도 신장 트리이고 합은 늘지 않습니다.</a:t>
            </a:r>
          </a:p>
        </p:txBody>
      </p:sp>
      <p:sp>
        <p:nvSpPr>
          <p:cNvPr id="16" name="fit:3c632b9dfac90c45 17"/>
          <p:cNvSpPr/>
          <p:nvPr/>
        </p:nvSpPr>
        <p:spPr>
          <a:xfrm>
            <a:off x="612648" y="4754880"/>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 지금까지 고른 간선과 g를 모두 포함하는 MST가 있습니다.</a:t>
            </a:r>
          </a:p>
        </p:txBody>
      </p:sp>
      <p:sp>
        <p:nvSpPr>
          <p:cNvPr id="17" name="fit:e45b3041ca458acf 18"/>
          <p:cNvSpPr/>
          <p:nvPr/>
        </p:nvSpPr>
        <p:spPr>
          <a:xfrm>
            <a:off x="612648" y="5212080"/>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예: ⑥에서 d – e(22)를 고를 때, 서로 다른 덩어리를 잇는 다른 간선 e – a(25), e – f(27)는 모두 22 이상입니다.</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① A~D · AB 1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128</a:t>
            </a:r>
          </a:p>
        </p:txBody>
      </p:sp>
      <p:sp>
        <p:nvSpPr>
          <p:cNvPr id="9" name="fit:b92d24154a3cfc7a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간선을 정렬하면 AB 1, BC 2, AC 3, CD 4, BD 5입니다. 정점이 4개이므로 간선 3개(V − 1)에서 멈춥니다.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975104"/>
        </p:xfrm>
        <a:graphic>
          <a:graphicData uri="http://schemas.openxmlformats.org/drawingml/2006/table">
            <a:tbl>
              <a:tblPr/>
              <a:tblGrid>
                <a:gridCol w="1254412"/>
                <a:gridCol w="964933"/>
                <a:gridCol w="1447399"/>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AB</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bl>
          </a:graphicData>
        </a:graphic>
      </p:graphicFrame>
      <p:sp>
        <p:nvSpPr>
          <p:cNvPr id="12" name="fit:60ec7fb8b6dd7c45 13"/>
          <p:cNvSpPr/>
          <p:nvPr/>
        </p:nvSpPr>
        <p:spPr>
          <a:xfrm>
            <a:off x="7909560" y="50749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A와 B는 서로 다른 덩어리 → 채택</a:t>
            </a:r>
          </a:p>
        </p:txBody>
      </p:sp>
      <p:sp>
        <p:nvSpPr>
          <p:cNvPr id="13" name="fit:d58c11ab620f4470 14"/>
          <p:cNvSpPr/>
          <p:nvPr/>
        </p:nvSpPr>
        <p:spPr>
          <a:xfrm>
            <a:off x="7909560" y="54132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덩어리: {A, B} {C} {D}</a:t>
            </a:r>
          </a:p>
        </p:txBody>
      </p:sp>
      <p:sp>
        <p:nvSpPr>
          <p:cNvPr id="14" name="fit:877f35efb051e1d3 15"/>
          <p:cNvSpPr/>
          <p:nvPr/>
        </p:nvSpPr>
        <p:spPr>
          <a:xfrm>
            <a:off x="7909560" y="575157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1</a:t>
            </a:r>
          </a:p>
        </p:txBody>
      </p:sp>
      <p:cxnSp>
        <p:nvCxnSpPr>
          <p:cNvPr id="15" name="연결선 16"/>
          <p:cNvCxnSpPr/>
          <p:nvPr/>
        </p:nvCxnSpPr>
        <p:spPr>
          <a:xfrm flipV="1">
            <a:off x="1394143" y="2788709"/>
            <a:ext cx="1783714" cy="1189142"/>
          </a:xfrm>
          <a:prstGeom prst="line">
            <a:avLst/>
          </a:prstGeom>
          <a:ln w="44450">
            <a:solidFill>
              <a:srgbClr val="B8651B"/>
            </a:solidFill>
          </a:ln>
        </p:spPr>
      </p:cxnSp>
      <p:sp>
        <p:nvSpPr>
          <p:cNvPr id="16" name="직사각형 17"/>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7" name="연결선 18"/>
          <p:cNvCxnSpPr/>
          <p:nvPr/>
        </p:nvCxnSpPr>
        <p:spPr>
          <a:xfrm>
            <a:off x="3383280" y="2898648"/>
            <a:ext cx="0" cy="2432304"/>
          </a:xfrm>
          <a:prstGeom prst="line">
            <a:avLst/>
          </a:prstGeom>
          <a:ln w="19050">
            <a:solidFill>
              <a:srgbClr val="9A9A9A"/>
            </a:solidFill>
          </a:ln>
        </p:spPr>
      </p:cxnSp>
      <p:sp>
        <p:nvSpPr>
          <p:cNvPr id="18" name="직사각형 19"/>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9" name="연결선 20"/>
          <p:cNvCxnSpPr/>
          <p:nvPr/>
        </p:nvCxnSpPr>
        <p:spPr>
          <a:xfrm>
            <a:off x="1394143" y="4251749"/>
            <a:ext cx="1783714" cy="1189142"/>
          </a:xfrm>
          <a:prstGeom prst="line">
            <a:avLst/>
          </a:prstGeom>
          <a:ln w="19050">
            <a:solidFill>
              <a:srgbClr val="9A9A9A"/>
            </a:solidFill>
          </a:ln>
        </p:spPr>
      </p:cxnSp>
      <p:sp>
        <p:nvSpPr>
          <p:cNvPr id="20" name="직사각형 21"/>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1" name="연결선 22"/>
          <p:cNvCxnSpPr/>
          <p:nvPr/>
        </p:nvCxnSpPr>
        <p:spPr>
          <a:xfrm flipV="1">
            <a:off x="3588703" y="4251749"/>
            <a:ext cx="1783714" cy="1189142"/>
          </a:xfrm>
          <a:prstGeom prst="line">
            <a:avLst/>
          </a:prstGeom>
          <a:ln w="19050">
            <a:solidFill>
              <a:srgbClr val="9A9A9A"/>
            </a:solidFill>
          </a:ln>
        </p:spPr>
      </p:cxnSp>
      <p:sp>
        <p:nvSpPr>
          <p:cNvPr id="22" name="직사각형 23"/>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23" name="연결선 24"/>
          <p:cNvCxnSpPr/>
          <p:nvPr/>
        </p:nvCxnSpPr>
        <p:spPr>
          <a:xfrm>
            <a:off x="3588703" y="2788709"/>
            <a:ext cx="1783714" cy="1189142"/>
          </a:xfrm>
          <a:prstGeom prst="line">
            <a:avLst/>
          </a:prstGeom>
          <a:ln w="19050">
            <a:solidFill>
              <a:srgbClr val="9A9A9A"/>
            </a:solidFill>
          </a:ln>
        </p:spPr>
      </p:cxnSp>
      <p:sp>
        <p:nvSpPr>
          <p:cNvPr id="24" name="직사각형 25"/>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5" name="직사각형 26"/>
          <p:cNvSpPr/>
          <p:nvPr/>
        </p:nvSpPr>
        <p:spPr>
          <a:xfrm>
            <a:off x="941832" y="38679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6" name="직사각형 27"/>
          <p:cNvSpPr/>
          <p:nvPr/>
        </p:nvSpPr>
        <p:spPr>
          <a:xfrm>
            <a:off x="313639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7" name="직사각형 28"/>
          <p:cNvSpPr/>
          <p:nvPr/>
        </p:nvSpPr>
        <p:spPr>
          <a:xfrm>
            <a:off x="3136392" y="5330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8" name="직사각형 29"/>
          <p:cNvSpPr/>
          <p:nvPr/>
        </p:nvSpPr>
        <p:spPr>
          <a:xfrm>
            <a:off x="5330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9" name="직사각형 30"/>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② BC 2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129</a:t>
            </a:r>
          </a:p>
        </p:txBody>
      </p:sp>
      <p:sp>
        <p:nvSpPr>
          <p:cNvPr id="9" name="fit:25b2691ff2a7ef7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B({A, B})와 C(혼자)는 서로 다른 덩어리입니다 → 채택.</a:t>
            </a:r>
          </a:p>
          <a:p>
            <a:pPr algn="l" eaLnBrk="0" latinLnBrk="0">
              <a:lnSpc>
                <a:spcPct val="100000"/>
              </a:lnSpc>
              <a:buNone/>
            </a:pPr>
            <a:r>
              <a:rPr lang="ko-KR" altLang="en-US" sz="2025" b="0" dirty="0">
                <a:solidFill>
                  <a:srgbClr val="171717"/>
                </a:solidFill>
                <a:latin typeface="Malgun Gothic"/>
                <a:ea typeface="Malgun Gothic"/>
                <a:cs typeface="Malgun Gothic"/>
              </a:rPr>
              <a:t>덩어리: {A, B, C} {D}</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975104"/>
        </p:xfrm>
        <a:graphic>
          <a:graphicData uri="http://schemas.openxmlformats.org/drawingml/2006/table">
            <a:tbl>
              <a:tblPr/>
              <a:tblGrid>
                <a:gridCol w="1254412"/>
                <a:gridCol w="964933"/>
                <a:gridCol w="1447399"/>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BC</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bl>
          </a:graphicData>
        </a:graphic>
      </p:graphicFrame>
      <p:sp>
        <p:nvSpPr>
          <p:cNvPr id="12" name="fit:28a9b88ebb5e5c5a 13"/>
          <p:cNvSpPr/>
          <p:nvPr/>
        </p:nvSpPr>
        <p:spPr>
          <a:xfrm>
            <a:off x="7909560" y="50749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채택한 간선 2개</a:t>
            </a:r>
          </a:p>
        </p:txBody>
      </p:sp>
      <p:sp>
        <p:nvSpPr>
          <p:cNvPr id="13" name="fit:082fa0ca8ece80fe 14"/>
          <p:cNvSpPr/>
          <p:nvPr/>
        </p:nvSpPr>
        <p:spPr>
          <a:xfrm>
            <a:off x="7909560" y="5413248"/>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1 + 2 = 3</a:t>
            </a:r>
          </a:p>
        </p:txBody>
      </p:sp>
      <p:cxnSp>
        <p:nvCxnSpPr>
          <p:cNvPr id="14" name="연결선 15"/>
          <p:cNvCxnSpPr/>
          <p:nvPr/>
        </p:nvCxnSpPr>
        <p:spPr>
          <a:xfrm flipV="1">
            <a:off x="1394143" y="2788709"/>
            <a:ext cx="1783714" cy="1189142"/>
          </a:xfrm>
          <a:prstGeom prst="line">
            <a:avLst/>
          </a:prstGeom>
          <a:ln w="44450">
            <a:solidFill>
              <a:srgbClr val="0E8A7D"/>
            </a:solidFill>
          </a:ln>
        </p:spPr>
      </p:cxnSp>
      <p:sp>
        <p:nvSpPr>
          <p:cNvPr id="15" name="직사각형 16"/>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6" name="연결선 17"/>
          <p:cNvCxnSpPr/>
          <p:nvPr/>
        </p:nvCxnSpPr>
        <p:spPr>
          <a:xfrm>
            <a:off x="3383280" y="2898648"/>
            <a:ext cx="0" cy="2432304"/>
          </a:xfrm>
          <a:prstGeom prst="line">
            <a:avLst/>
          </a:prstGeom>
          <a:ln w="44450">
            <a:solidFill>
              <a:srgbClr val="B8651B"/>
            </a:solidFill>
          </a:ln>
        </p:spPr>
      </p:cxnSp>
      <p:sp>
        <p:nvSpPr>
          <p:cNvPr id="17" name="직사각형 18"/>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8" name="연결선 19"/>
          <p:cNvCxnSpPr/>
          <p:nvPr/>
        </p:nvCxnSpPr>
        <p:spPr>
          <a:xfrm>
            <a:off x="1394143" y="4251749"/>
            <a:ext cx="1783714" cy="1189142"/>
          </a:xfrm>
          <a:prstGeom prst="line">
            <a:avLst/>
          </a:prstGeom>
          <a:ln w="19050">
            <a:solidFill>
              <a:srgbClr val="9A9A9A"/>
            </a:solidFill>
          </a:ln>
        </p:spPr>
      </p:cxnSp>
      <p:sp>
        <p:nvSpPr>
          <p:cNvPr id="19" name="직사각형 20"/>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0" name="연결선 21"/>
          <p:cNvCxnSpPr/>
          <p:nvPr/>
        </p:nvCxnSpPr>
        <p:spPr>
          <a:xfrm flipV="1">
            <a:off x="3588703" y="4251749"/>
            <a:ext cx="1783714" cy="1189142"/>
          </a:xfrm>
          <a:prstGeom prst="line">
            <a:avLst/>
          </a:prstGeom>
          <a:ln w="19050">
            <a:solidFill>
              <a:srgbClr val="9A9A9A"/>
            </a:solidFill>
          </a:ln>
        </p:spPr>
      </p:cxnSp>
      <p:sp>
        <p:nvSpPr>
          <p:cNvPr id="21" name="직사각형 22"/>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22" name="연결선 23"/>
          <p:cNvCxnSpPr/>
          <p:nvPr/>
        </p:nvCxnSpPr>
        <p:spPr>
          <a:xfrm>
            <a:off x="3588703" y="2788709"/>
            <a:ext cx="1783714" cy="1189142"/>
          </a:xfrm>
          <a:prstGeom prst="line">
            <a:avLst/>
          </a:prstGeom>
          <a:ln w="19050">
            <a:solidFill>
              <a:srgbClr val="9A9A9A"/>
            </a:solidFill>
          </a:ln>
        </p:spPr>
      </p:cxnSp>
      <p:sp>
        <p:nvSpPr>
          <p:cNvPr id="23" name="직사각형 24"/>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4" name="직사각형 25"/>
          <p:cNvSpPr/>
          <p:nvPr/>
        </p:nvSpPr>
        <p:spPr>
          <a:xfrm>
            <a:off x="941832" y="38679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5" name="직사각형 26"/>
          <p:cNvSpPr/>
          <p:nvPr/>
        </p:nvSpPr>
        <p:spPr>
          <a:xfrm>
            <a:off x="313639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3136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5330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③ AC 3 사이클 → 버림</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130</a:t>
            </a:r>
          </a:p>
        </p:txBody>
      </p:sp>
      <p:sp>
        <p:nvSpPr>
          <p:cNvPr id="9" name="fit:3c6456e567c9253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A와 C는 이미 A – B – C로 이어져 있습니다.</a:t>
            </a:r>
          </a:p>
          <a:p>
            <a:pPr algn="l" eaLnBrk="0" latinLnBrk="0">
              <a:lnSpc>
                <a:spcPct val="100000"/>
              </a:lnSpc>
              <a:buNone/>
            </a:pPr>
            <a:r>
              <a:rPr lang="ko-KR" altLang="en-US" sz="2025" b="0" dirty="0">
                <a:solidFill>
                  <a:srgbClr val="171717"/>
                </a:solidFill>
                <a:latin typeface="Malgun Gothic"/>
                <a:ea typeface="Malgun Gothic"/>
                <a:cs typeface="Malgun Gothic"/>
              </a:rPr>
              <a:t>AC를 더하면 사이클 A – B – C – A가 생기므로 버립니다.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975104"/>
        </p:xfrm>
        <a:graphic>
          <a:graphicData uri="http://schemas.openxmlformats.org/drawingml/2006/table">
            <a:tbl>
              <a:tblPr/>
              <a:tblGrid>
                <a:gridCol w="1254412"/>
                <a:gridCol w="964933"/>
                <a:gridCol w="1447399"/>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AC</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사이클</a:t>
                      </a:r>
                    </a:p>
                  </a:txBody>
                  <a:tcPr marL="54864" marR="54864" marT="18288" marB="18288" anchor="ctr">
                    <a:solidFill>
                      <a:srgbClr val="FFF1C2"/>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tr>
            </a:tbl>
          </a:graphicData>
        </a:graphic>
      </p:graphicFrame>
      <p:sp>
        <p:nvSpPr>
          <p:cNvPr id="12" name="fit:160591a2d1cb080d 13"/>
          <p:cNvSpPr/>
          <p:nvPr/>
        </p:nvSpPr>
        <p:spPr>
          <a:xfrm>
            <a:off x="7909560" y="50749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채택한 간선 그대로 2개</a:t>
            </a:r>
          </a:p>
        </p:txBody>
      </p:sp>
      <p:sp>
        <p:nvSpPr>
          <p:cNvPr id="13" name="fit:133dda4b9bc020a5 14"/>
          <p:cNvSpPr/>
          <p:nvPr/>
        </p:nvSpPr>
        <p:spPr>
          <a:xfrm>
            <a:off x="7909560" y="5413248"/>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3</a:t>
            </a:r>
          </a:p>
        </p:txBody>
      </p:sp>
      <p:cxnSp>
        <p:nvCxnSpPr>
          <p:cNvPr id="14" name="연결선 15"/>
          <p:cNvCxnSpPr/>
          <p:nvPr/>
        </p:nvCxnSpPr>
        <p:spPr>
          <a:xfrm flipV="1">
            <a:off x="1394143" y="2788709"/>
            <a:ext cx="1783714" cy="1189142"/>
          </a:xfrm>
          <a:prstGeom prst="line">
            <a:avLst/>
          </a:prstGeom>
          <a:ln w="44450">
            <a:solidFill>
              <a:srgbClr val="B8651B"/>
            </a:solidFill>
          </a:ln>
        </p:spPr>
      </p:cxnSp>
      <p:sp>
        <p:nvSpPr>
          <p:cNvPr id="15" name="직사각형 16"/>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6" name="연결선 17"/>
          <p:cNvCxnSpPr/>
          <p:nvPr/>
        </p:nvCxnSpPr>
        <p:spPr>
          <a:xfrm>
            <a:off x="3383280" y="2898648"/>
            <a:ext cx="0" cy="2432304"/>
          </a:xfrm>
          <a:prstGeom prst="line">
            <a:avLst/>
          </a:prstGeom>
          <a:ln w="44450">
            <a:solidFill>
              <a:srgbClr val="B8651B"/>
            </a:solidFill>
          </a:ln>
        </p:spPr>
      </p:cxnSp>
      <p:sp>
        <p:nvSpPr>
          <p:cNvPr id="17" name="직사각형 18"/>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8" name="연결선 19"/>
          <p:cNvCxnSpPr/>
          <p:nvPr/>
        </p:nvCxnSpPr>
        <p:spPr>
          <a:xfrm>
            <a:off x="1394143" y="4251749"/>
            <a:ext cx="1783714" cy="1189142"/>
          </a:xfrm>
          <a:prstGeom prst="line">
            <a:avLst/>
          </a:prstGeom>
          <a:ln w="19050">
            <a:solidFill>
              <a:srgbClr val="B23B3B"/>
            </a:solidFill>
            <a:prstDash val="dash"/>
          </a:ln>
        </p:spPr>
      </p:cxnSp>
      <p:sp>
        <p:nvSpPr>
          <p:cNvPr id="19" name="직사각형 20"/>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3</a:t>
            </a:r>
          </a:p>
        </p:txBody>
      </p:sp>
      <p:cxnSp>
        <p:nvCxnSpPr>
          <p:cNvPr id="20" name="연결선 21"/>
          <p:cNvCxnSpPr/>
          <p:nvPr/>
        </p:nvCxnSpPr>
        <p:spPr>
          <a:xfrm flipV="1">
            <a:off x="3588703" y="4251749"/>
            <a:ext cx="1783714" cy="1189142"/>
          </a:xfrm>
          <a:prstGeom prst="line">
            <a:avLst/>
          </a:prstGeom>
          <a:ln w="19050">
            <a:solidFill>
              <a:srgbClr val="9A9A9A"/>
            </a:solidFill>
          </a:ln>
        </p:spPr>
      </p:cxnSp>
      <p:sp>
        <p:nvSpPr>
          <p:cNvPr id="21" name="직사각형 22"/>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22" name="연결선 23"/>
          <p:cNvCxnSpPr/>
          <p:nvPr/>
        </p:nvCxnSpPr>
        <p:spPr>
          <a:xfrm>
            <a:off x="3588703" y="2788709"/>
            <a:ext cx="1783714" cy="1189142"/>
          </a:xfrm>
          <a:prstGeom prst="line">
            <a:avLst/>
          </a:prstGeom>
          <a:ln w="19050">
            <a:solidFill>
              <a:srgbClr val="9A9A9A"/>
            </a:solidFill>
          </a:ln>
        </p:spPr>
      </p:cxnSp>
      <p:sp>
        <p:nvSpPr>
          <p:cNvPr id="23" name="직사각형 24"/>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4" name="직사각형 25"/>
          <p:cNvSpPr/>
          <p:nvPr/>
        </p:nvSpPr>
        <p:spPr>
          <a:xfrm>
            <a:off x="941832" y="38679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5" name="직사각형 26"/>
          <p:cNvSpPr/>
          <p:nvPr/>
        </p:nvSpPr>
        <p:spPr>
          <a:xfrm>
            <a:off x="313639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3136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5330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주황: A와 C를 이미 잇는 길    빨강 점선: 버린 AC(노랑 정점: 그 두 끝)    초록 정점: 채택한 간선에 닿은 정점</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④ CD 4 채택 · 합 7</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131</a:t>
            </a:r>
          </a:p>
        </p:txBody>
      </p:sp>
      <p:sp>
        <p:nvSpPr>
          <p:cNvPr id="9" name="fit:48a82fd0aee41166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D가 연결되어 간선 3개(= V − 1)가 되었으므로 멈춥니다.</a:t>
            </a:r>
          </a:p>
          <a:p>
            <a:pPr algn="l" eaLnBrk="0" latinLnBrk="0">
              <a:lnSpc>
                <a:spcPct val="100000"/>
              </a:lnSpc>
              <a:buNone/>
            </a:pPr>
            <a:r>
              <a:rPr lang="ko-KR" altLang="en-US" sz="2025" b="0" dirty="0">
                <a:solidFill>
                  <a:srgbClr val="171717"/>
                </a:solidFill>
                <a:latin typeface="Malgun Gothic"/>
                <a:ea typeface="Malgun Gothic"/>
                <a:cs typeface="Malgun Gothic"/>
              </a:rPr>
              <a:t>BD(5)는 확인하지 않습니다.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975104"/>
        </p:xfrm>
        <a:graphic>
          <a:graphicData uri="http://schemas.openxmlformats.org/drawingml/2006/table">
            <a:tbl>
              <a:tblPr/>
              <a:tblGrid>
                <a:gridCol w="1254412"/>
                <a:gridCol w="964933"/>
                <a:gridCol w="1447399"/>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사이클</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CD</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1C2"/>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bl>
          </a:graphicData>
        </a:graphic>
      </p:graphicFrame>
      <p:sp>
        <p:nvSpPr>
          <p:cNvPr id="12" name="fit:0516277beea8aea4 13"/>
          <p:cNvSpPr/>
          <p:nvPr/>
        </p:nvSpPr>
        <p:spPr>
          <a:xfrm>
            <a:off x="7909560" y="5074920"/>
            <a:ext cx="3666744" cy="237744"/>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AB → BC → (AC 사이클) → CD → 멈춤</a:t>
            </a:r>
          </a:p>
        </p:txBody>
      </p:sp>
      <p:sp>
        <p:nvSpPr>
          <p:cNvPr id="13" name="fit:815168a9ca1aa094 14"/>
          <p:cNvSpPr/>
          <p:nvPr/>
        </p:nvSpPr>
        <p:spPr>
          <a:xfrm>
            <a:off x="7909560" y="538581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1 + 2 + 4 = 7</a:t>
            </a:r>
          </a:p>
        </p:txBody>
      </p:sp>
      <p:cxnSp>
        <p:nvCxnSpPr>
          <p:cNvPr id="14" name="연결선 15"/>
          <p:cNvCxnSpPr/>
          <p:nvPr/>
        </p:nvCxnSpPr>
        <p:spPr>
          <a:xfrm flipV="1">
            <a:off x="1394143" y="2788709"/>
            <a:ext cx="1783714" cy="1189142"/>
          </a:xfrm>
          <a:prstGeom prst="line">
            <a:avLst/>
          </a:prstGeom>
          <a:ln w="44450">
            <a:solidFill>
              <a:srgbClr val="0E8A7D"/>
            </a:solidFill>
          </a:ln>
        </p:spPr>
      </p:cxnSp>
      <p:sp>
        <p:nvSpPr>
          <p:cNvPr id="15" name="직사각형 16"/>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6" name="연결선 17"/>
          <p:cNvCxnSpPr/>
          <p:nvPr/>
        </p:nvCxnSpPr>
        <p:spPr>
          <a:xfrm>
            <a:off x="3383280" y="2898648"/>
            <a:ext cx="0" cy="2432304"/>
          </a:xfrm>
          <a:prstGeom prst="line">
            <a:avLst/>
          </a:prstGeom>
          <a:ln w="44450">
            <a:solidFill>
              <a:srgbClr val="0E8A7D"/>
            </a:solidFill>
          </a:ln>
        </p:spPr>
      </p:cxnSp>
      <p:sp>
        <p:nvSpPr>
          <p:cNvPr id="17" name="직사각형 18"/>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8" name="연결선 19"/>
          <p:cNvCxnSpPr/>
          <p:nvPr/>
        </p:nvCxnSpPr>
        <p:spPr>
          <a:xfrm>
            <a:off x="1394143" y="4251749"/>
            <a:ext cx="1783714" cy="1189142"/>
          </a:xfrm>
          <a:prstGeom prst="line">
            <a:avLst/>
          </a:prstGeom>
          <a:ln w="19050">
            <a:solidFill>
              <a:srgbClr val="B23B3B"/>
            </a:solidFill>
            <a:prstDash val="dash"/>
          </a:ln>
        </p:spPr>
      </p:cxnSp>
      <p:sp>
        <p:nvSpPr>
          <p:cNvPr id="19" name="직사각형 20"/>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3</a:t>
            </a:r>
          </a:p>
        </p:txBody>
      </p:sp>
      <p:cxnSp>
        <p:nvCxnSpPr>
          <p:cNvPr id="20" name="연결선 21"/>
          <p:cNvCxnSpPr/>
          <p:nvPr/>
        </p:nvCxnSpPr>
        <p:spPr>
          <a:xfrm flipV="1">
            <a:off x="3588703" y="4251749"/>
            <a:ext cx="1783714" cy="1189142"/>
          </a:xfrm>
          <a:prstGeom prst="line">
            <a:avLst/>
          </a:prstGeom>
          <a:ln w="44450">
            <a:solidFill>
              <a:srgbClr val="B8651B"/>
            </a:solidFill>
          </a:ln>
        </p:spPr>
      </p:cxnSp>
      <p:sp>
        <p:nvSpPr>
          <p:cNvPr id="21" name="직사각형 22"/>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4</a:t>
            </a:r>
          </a:p>
        </p:txBody>
      </p:sp>
      <p:cxnSp>
        <p:nvCxnSpPr>
          <p:cNvPr id="22" name="연결선 23"/>
          <p:cNvCxnSpPr/>
          <p:nvPr/>
        </p:nvCxnSpPr>
        <p:spPr>
          <a:xfrm>
            <a:off x="3588703" y="2788709"/>
            <a:ext cx="1783714" cy="1189142"/>
          </a:xfrm>
          <a:prstGeom prst="line">
            <a:avLst/>
          </a:prstGeom>
          <a:ln w="12700">
            <a:solidFill>
              <a:srgbClr val="D0D0D0"/>
            </a:solidFill>
          </a:ln>
        </p:spPr>
      </p:cxnSp>
      <p:sp>
        <p:nvSpPr>
          <p:cNvPr id="23" name="직사각형 24"/>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5</a:t>
            </a:r>
          </a:p>
        </p:txBody>
      </p:sp>
      <p:sp>
        <p:nvSpPr>
          <p:cNvPr id="24" name="직사각형 25"/>
          <p:cNvSpPr/>
          <p:nvPr/>
        </p:nvSpPr>
        <p:spPr>
          <a:xfrm>
            <a:off x="941832" y="38679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5" name="직사각형 26"/>
          <p:cNvSpPr/>
          <p:nvPr/>
        </p:nvSpPr>
        <p:spPr>
          <a:xfrm>
            <a:off x="313639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3136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5330952" y="38679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    주황: 지금 보는 간선(노랑 정점: 그 두 끝)    빨강 점선: 버림    회색: 확인하지 않음    초록 정점: 채택한 간선에 닿은 정점</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음수 가중치 AB = −3</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132</a:t>
            </a:r>
          </a:p>
        </p:txBody>
      </p:sp>
      <p:sp>
        <p:nvSpPr>
          <p:cNvPr id="9" name="fit:966cce49a65236b6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정점 A, B, C와 AB = −3, BC = 1, AC = 4.</a:t>
            </a:r>
          </a:p>
          <a:p>
            <a:pPr algn="l" eaLnBrk="0" latinLnBrk="0">
              <a:lnSpc>
                <a:spcPct val="100000"/>
              </a:lnSpc>
              <a:buNone/>
            </a:pPr>
            <a:r>
              <a:rPr lang="ko-KR" altLang="en-US" sz="2025" b="0" dirty="0">
                <a:solidFill>
                  <a:srgbClr val="171717"/>
                </a:solidFill>
                <a:latin typeface="Malgun Gothic"/>
                <a:ea typeface="Malgun Gothic"/>
                <a:cs typeface="Malgun Gothic"/>
              </a:rPr>
              <a:t>정렬하면 AB(−3)가 맨 앞입니다.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316736"/>
        </p:xfrm>
        <a:graphic>
          <a:graphicData uri="http://schemas.openxmlformats.org/drawingml/2006/table">
            <a:tbl>
              <a:tblPr/>
              <a:tblGrid>
                <a:gridCol w="1254412"/>
                <a:gridCol w="964933"/>
                <a:gridCol w="1447399"/>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① 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② 채택</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tr>
            </a:tbl>
          </a:graphicData>
        </a:graphic>
      </p:graphicFrame>
      <p:sp>
        <p:nvSpPr>
          <p:cNvPr id="12" name="fit:82cc2ef9d8d22a22 13"/>
          <p:cNvSpPr/>
          <p:nvPr/>
        </p:nvSpPr>
        <p:spPr>
          <a:xfrm>
            <a:off x="7909560" y="439826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간선 2개 = V − 1 → 멈춤</a:t>
            </a:r>
          </a:p>
        </p:txBody>
      </p:sp>
      <p:sp>
        <p:nvSpPr>
          <p:cNvPr id="13" name="fit:a83d83a7ca66d189 14"/>
          <p:cNvSpPr/>
          <p:nvPr/>
        </p:nvSpPr>
        <p:spPr>
          <a:xfrm>
            <a:off x="7909560" y="473659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−3 + 1 = −2</a:t>
            </a:r>
          </a:p>
        </p:txBody>
      </p:sp>
      <p:sp>
        <p:nvSpPr>
          <p:cNvPr id="14" name="fit:5f5057de8f0f5dd5 15"/>
          <p:cNvSpPr/>
          <p:nvPr/>
        </p:nvSpPr>
        <p:spPr>
          <a:xfrm>
            <a:off x="7909560" y="5193792"/>
            <a:ext cx="3666744"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크루스칼은 가중치를 크기 비교에만 씁니다. 음수여도 그대로 성립합니다. 음수 간선에서 틀릴 수 있는 다익스트라(5.8)와 다릅니다.</a:t>
            </a:r>
          </a:p>
        </p:txBody>
      </p:sp>
      <p:cxnSp>
        <p:nvCxnSpPr>
          <p:cNvPr id="15" name="연결선 16"/>
          <p:cNvCxnSpPr/>
          <p:nvPr/>
        </p:nvCxnSpPr>
        <p:spPr>
          <a:xfrm flipV="1">
            <a:off x="1550012" y="3188175"/>
            <a:ext cx="1746297" cy="1670371"/>
          </a:xfrm>
          <a:prstGeom prst="line">
            <a:avLst/>
          </a:prstGeom>
          <a:ln w="44450">
            <a:solidFill>
              <a:srgbClr val="0E8A7D"/>
            </a:solidFill>
          </a:ln>
        </p:spPr>
      </p:cxnSp>
      <p:sp>
        <p:nvSpPr>
          <p:cNvPr id="16" name="직사각형 17"/>
          <p:cNvSpPr/>
          <p:nvPr/>
        </p:nvSpPr>
        <p:spPr>
          <a:xfrm>
            <a:off x="2084287" y="3780475"/>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cxnSp>
        <p:nvCxnSpPr>
          <p:cNvPr id="17" name="연결선 18"/>
          <p:cNvCxnSpPr/>
          <p:nvPr/>
        </p:nvCxnSpPr>
        <p:spPr>
          <a:xfrm>
            <a:off x="3653132" y="3188175"/>
            <a:ext cx="1746297" cy="1670371"/>
          </a:xfrm>
          <a:prstGeom prst="line">
            <a:avLst/>
          </a:prstGeom>
          <a:ln w="44450">
            <a:solidFill>
              <a:srgbClr val="0E8A7D"/>
            </a:solidFill>
          </a:ln>
        </p:spPr>
      </p:cxnSp>
      <p:sp>
        <p:nvSpPr>
          <p:cNvPr id="18" name="직사각형 19"/>
          <p:cNvSpPr/>
          <p:nvPr/>
        </p:nvSpPr>
        <p:spPr>
          <a:xfrm>
            <a:off x="4389665" y="3780475"/>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9" name="연결선 20"/>
          <p:cNvCxnSpPr/>
          <p:nvPr/>
        </p:nvCxnSpPr>
        <p:spPr>
          <a:xfrm>
            <a:off x="1618488" y="5029200"/>
            <a:ext cx="3712464" cy="0"/>
          </a:xfrm>
          <a:prstGeom prst="line">
            <a:avLst/>
          </a:prstGeom>
          <a:ln w="12700">
            <a:solidFill>
              <a:srgbClr val="D0D0D0"/>
            </a:solidFill>
          </a:ln>
        </p:spPr>
      </p:cxnSp>
      <p:sp>
        <p:nvSpPr>
          <p:cNvPr id="20" name="직사각형 21"/>
          <p:cNvSpPr/>
          <p:nvPr/>
        </p:nvSpPr>
        <p:spPr>
          <a:xfrm>
            <a:off x="323697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4</a:t>
            </a:r>
          </a:p>
        </p:txBody>
      </p:sp>
      <p:sp>
        <p:nvSpPr>
          <p:cNvPr id="21" name="직사각형 22"/>
          <p:cNvSpPr/>
          <p:nvPr/>
        </p:nvSpPr>
        <p:spPr>
          <a:xfrm>
            <a:off x="112471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2" name="직사각형 23"/>
          <p:cNvSpPr/>
          <p:nvPr/>
        </p:nvSpPr>
        <p:spPr>
          <a:xfrm>
            <a:off x="3227832" y="277063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3" name="직사각형 24"/>
          <p:cNvSpPr/>
          <p:nvPr/>
        </p:nvSpPr>
        <p:spPr>
          <a:xfrm>
            <a:off x="533095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4" name="직사각형 2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회색: 확인하지 않은 간선</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MST와 최단 경로 트리는 다를 수 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133</a:t>
            </a:r>
          </a:p>
        </p:txBody>
      </p:sp>
      <p:sp>
        <p:nvSpPr>
          <p:cNvPr id="9" name="fit:b88f3dbf0e398b65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같은 A~D 그래프입니다. MST는 간선 가중치의 합을,</a:t>
            </a:r>
          </a:p>
          <a:p>
            <a:pPr algn="l" eaLnBrk="0" latinLnBrk="0">
              <a:lnSpc>
                <a:spcPct val="100000"/>
              </a:lnSpc>
              <a:buNone/>
            </a:pPr>
            <a:r>
              <a:rPr lang="ko-KR" altLang="en-US" sz="2025" b="0" dirty="0">
                <a:solidFill>
                  <a:srgbClr val="171717"/>
                </a:solidFill>
                <a:latin typeface="Malgun Gothic"/>
                <a:ea typeface="Malgun Gothic"/>
                <a:cs typeface="Malgun Gothic"/>
              </a:rPr>
              <a:t>최단 경로 트리는 시작점 A에서 각 정점까지의 거리를 최소로 합니다.</a:t>
            </a:r>
          </a:p>
        </p:txBody>
      </p:sp>
      <p:sp>
        <p:nvSpPr>
          <p:cNvPr id="10" name="직사각형 11"/>
          <p:cNvSpPr/>
          <p:nvPr/>
        </p:nvSpPr>
        <p:spPr>
          <a:xfrm>
            <a:off x="1005840" y="2340864"/>
            <a:ext cx="393192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최소 신장 트리: 합 7</a:t>
            </a:r>
          </a:p>
        </p:txBody>
      </p:sp>
      <p:cxnSp>
        <p:nvCxnSpPr>
          <p:cNvPr id="11" name="연결선 12"/>
          <p:cNvCxnSpPr/>
          <p:nvPr/>
        </p:nvCxnSpPr>
        <p:spPr>
          <a:xfrm flipV="1">
            <a:off x="1197766" y="3141707"/>
            <a:ext cx="1170629" cy="757466"/>
          </a:xfrm>
          <a:prstGeom prst="line">
            <a:avLst/>
          </a:prstGeom>
          <a:ln w="44450">
            <a:solidFill>
              <a:srgbClr val="1D5A8A"/>
            </a:solidFill>
          </a:ln>
        </p:spPr>
      </p:cxnSp>
      <p:sp>
        <p:nvSpPr>
          <p:cNvPr id="12" name="직사각형 13"/>
          <p:cNvSpPr/>
          <p:nvPr/>
        </p:nvSpPr>
        <p:spPr>
          <a:xfrm>
            <a:off x="1465856" y="32604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cxnSp>
        <p:nvCxnSpPr>
          <p:cNvPr id="13" name="연결선 14"/>
          <p:cNvCxnSpPr/>
          <p:nvPr/>
        </p:nvCxnSpPr>
        <p:spPr>
          <a:xfrm>
            <a:off x="2560320" y="3246120"/>
            <a:ext cx="0" cy="1554480"/>
          </a:xfrm>
          <a:prstGeom prst="line">
            <a:avLst/>
          </a:prstGeom>
          <a:ln w="44450">
            <a:solidFill>
              <a:srgbClr val="1D5A8A"/>
            </a:solidFill>
          </a:ln>
        </p:spPr>
      </p:cxnSp>
      <p:sp>
        <p:nvSpPr>
          <p:cNvPr id="14" name="직사각형 15"/>
          <p:cNvSpPr/>
          <p:nvPr/>
        </p:nvSpPr>
        <p:spPr>
          <a:xfrm>
            <a:off x="2048256" y="388620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2</a:t>
            </a:r>
          </a:p>
        </p:txBody>
      </p:sp>
      <p:cxnSp>
        <p:nvCxnSpPr>
          <p:cNvPr id="15" name="연결선 16"/>
          <p:cNvCxnSpPr/>
          <p:nvPr/>
        </p:nvCxnSpPr>
        <p:spPr>
          <a:xfrm>
            <a:off x="1197766" y="4147547"/>
            <a:ext cx="1170629" cy="757466"/>
          </a:xfrm>
          <a:prstGeom prst="line">
            <a:avLst/>
          </a:prstGeom>
          <a:ln w="12700">
            <a:solidFill>
              <a:srgbClr val="D0D0D0"/>
            </a:solidFill>
          </a:ln>
        </p:spPr>
      </p:cxnSp>
      <p:sp>
        <p:nvSpPr>
          <p:cNvPr id="16" name="직사각형 17"/>
          <p:cNvSpPr/>
          <p:nvPr/>
        </p:nvSpPr>
        <p:spPr>
          <a:xfrm>
            <a:off x="1465856" y="451195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3</a:t>
            </a:r>
          </a:p>
        </p:txBody>
      </p:sp>
      <p:cxnSp>
        <p:nvCxnSpPr>
          <p:cNvPr id="17" name="연결선 18"/>
          <p:cNvCxnSpPr/>
          <p:nvPr/>
        </p:nvCxnSpPr>
        <p:spPr>
          <a:xfrm flipV="1">
            <a:off x="2752246" y="4147547"/>
            <a:ext cx="1170629" cy="757466"/>
          </a:xfrm>
          <a:prstGeom prst="line">
            <a:avLst/>
          </a:prstGeom>
          <a:ln w="44450">
            <a:solidFill>
              <a:srgbClr val="1D5A8A"/>
            </a:solidFill>
          </a:ln>
        </p:spPr>
      </p:cxnSp>
      <p:sp>
        <p:nvSpPr>
          <p:cNvPr id="18" name="직사각형 19"/>
          <p:cNvSpPr/>
          <p:nvPr/>
        </p:nvSpPr>
        <p:spPr>
          <a:xfrm>
            <a:off x="3179296" y="451195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4</a:t>
            </a:r>
          </a:p>
        </p:txBody>
      </p:sp>
      <p:cxnSp>
        <p:nvCxnSpPr>
          <p:cNvPr id="19" name="연결선 20"/>
          <p:cNvCxnSpPr/>
          <p:nvPr/>
        </p:nvCxnSpPr>
        <p:spPr>
          <a:xfrm>
            <a:off x="2752246" y="3141707"/>
            <a:ext cx="1170629" cy="757466"/>
          </a:xfrm>
          <a:prstGeom prst="line">
            <a:avLst/>
          </a:prstGeom>
          <a:ln w="12700">
            <a:solidFill>
              <a:srgbClr val="D0D0D0"/>
            </a:solidFill>
          </a:ln>
        </p:spPr>
      </p:cxnSp>
      <p:sp>
        <p:nvSpPr>
          <p:cNvPr id="20" name="직사각형 21"/>
          <p:cNvSpPr/>
          <p:nvPr/>
        </p:nvSpPr>
        <p:spPr>
          <a:xfrm>
            <a:off x="3179296" y="32604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5</a:t>
            </a:r>
          </a:p>
        </p:txBody>
      </p:sp>
      <p:sp>
        <p:nvSpPr>
          <p:cNvPr id="21" name="직사각형 22"/>
          <p:cNvSpPr/>
          <p:nvPr/>
        </p:nvSpPr>
        <p:spPr>
          <a:xfrm>
            <a:off x="777240" y="379476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2" name="직사각형 23"/>
          <p:cNvSpPr/>
          <p:nvPr/>
        </p:nvSpPr>
        <p:spPr>
          <a:xfrm>
            <a:off x="2331720" y="278892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3" name="직사각형 24"/>
          <p:cNvSpPr/>
          <p:nvPr/>
        </p:nvSpPr>
        <p:spPr>
          <a:xfrm>
            <a:off x="2331720" y="480060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4" name="직사각형 25"/>
          <p:cNvSpPr/>
          <p:nvPr/>
        </p:nvSpPr>
        <p:spPr>
          <a:xfrm>
            <a:off x="3886200" y="379476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5" name="직사각형 26"/>
          <p:cNvSpPr/>
          <p:nvPr/>
        </p:nvSpPr>
        <p:spPr>
          <a:xfrm>
            <a:off x="5120640" y="2340864"/>
            <a:ext cx="393192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A에서의 최단 경로 트리: 합 8</a:t>
            </a:r>
          </a:p>
        </p:txBody>
      </p:sp>
      <p:cxnSp>
        <p:nvCxnSpPr>
          <p:cNvPr id="26" name="연결선 27"/>
          <p:cNvCxnSpPr/>
          <p:nvPr/>
        </p:nvCxnSpPr>
        <p:spPr>
          <a:xfrm flipV="1">
            <a:off x="5312566" y="3141707"/>
            <a:ext cx="1170629" cy="757466"/>
          </a:xfrm>
          <a:prstGeom prst="line">
            <a:avLst/>
          </a:prstGeom>
          <a:ln w="44450">
            <a:solidFill>
              <a:srgbClr val="1D5A8A"/>
            </a:solidFill>
          </a:ln>
        </p:spPr>
      </p:cxnSp>
      <p:sp>
        <p:nvSpPr>
          <p:cNvPr id="27" name="직사각형 28"/>
          <p:cNvSpPr/>
          <p:nvPr/>
        </p:nvSpPr>
        <p:spPr>
          <a:xfrm>
            <a:off x="5580656" y="32604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cxnSp>
        <p:nvCxnSpPr>
          <p:cNvPr id="28" name="연결선 29"/>
          <p:cNvCxnSpPr/>
          <p:nvPr/>
        </p:nvCxnSpPr>
        <p:spPr>
          <a:xfrm>
            <a:off x="6675120" y="3246120"/>
            <a:ext cx="0" cy="1554480"/>
          </a:xfrm>
          <a:prstGeom prst="line">
            <a:avLst/>
          </a:prstGeom>
          <a:ln w="44450">
            <a:solidFill>
              <a:srgbClr val="1D5A8A"/>
            </a:solidFill>
          </a:ln>
        </p:spPr>
      </p:cxnSp>
      <p:sp>
        <p:nvSpPr>
          <p:cNvPr id="29" name="직사각형 30"/>
          <p:cNvSpPr/>
          <p:nvPr/>
        </p:nvSpPr>
        <p:spPr>
          <a:xfrm>
            <a:off x="6163056" y="388620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2</a:t>
            </a:r>
          </a:p>
        </p:txBody>
      </p:sp>
      <p:cxnSp>
        <p:nvCxnSpPr>
          <p:cNvPr id="30" name="연결선 31"/>
          <p:cNvCxnSpPr/>
          <p:nvPr/>
        </p:nvCxnSpPr>
        <p:spPr>
          <a:xfrm>
            <a:off x="5312566" y="4147547"/>
            <a:ext cx="1170629" cy="757466"/>
          </a:xfrm>
          <a:prstGeom prst="line">
            <a:avLst/>
          </a:prstGeom>
          <a:ln w="12700">
            <a:solidFill>
              <a:srgbClr val="D0D0D0"/>
            </a:solidFill>
          </a:ln>
        </p:spPr>
      </p:cxnSp>
      <p:sp>
        <p:nvSpPr>
          <p:cNvPr id="31" name="직사각형 32"/>
          <p:cNvSpPr/>
          <p:nvPr/>
        </p:nvSpPr>
        <p:spPr>
          <a:xfrm>
            <a:off x="5580656" y="451195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3</a:t>
            </a:r>
          </a:p>
        </p:txBody>
      </p:sp>
      <p:cxnSp>
        <p:nvCxnSpPr>
          <p:cNvPr id="32" name="연결선 33"/>
          <p:cNvCxnSpPr/>
          <p:nvPr/>
        </p:nvCxnSpPr>
        <p:spPr>
          <a:xfrm flipV="1">
            <a:off x="6867046" y="4147547"/>
            <a:ext cx="1170629" cy="757466"/>
          </a:xfrm>
          <a:prstGeom prst="line">
            <a:avLst/>
          </a:prstGeom>
          <a:ln w="12700">
            <a:solidFill>
              <a:srgbClr val="D0D0D0"/>
            </a:solidFill>
          </a:ln>
        </p:spPr>
      </p:cxnSp>
      <p:sp>
        <p:nvSpPr>
          <p:cNvPr id="33" name="직사각형 34"/>
          <p:cNvSpPr/>
          <p:nvPr/>
        </p:nvSpPr>
        <p:spPr>
          <a:xfrm>
            <a:off x="7294096" y="451195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4</a:t>
            </a:r>
          </a:p>
        </p:txBody>
      </p:sp>
      <p:cxnSp>
        <p:nvCxnSpPr>
          <p:cNvPr id="34" name="연결선 35"/>
          <p:cNvCxnSpPr/>
          <p:nvPr/>
        </p:nvCxnSpPr>
        <p:spPr>
          <a:xfrm>
            <a:off x="6867046" y="3141707"/>
            <a:ext cx="1170629" cy="757466"/>
          </a:xfrm>
          <a:prstGeom prst="line">
            <a:avLst/>
          </a:prstGeom>
          <a:ln w="44450">
            <a:solidFill>
              <a:srgbClr val="1D5A8A"/>
            </a:solidFill>
          </a:ln>
        </p:spPr>
      </p:cxnSp>
      <p:sp>
        <p:nvSpPr>
          <p:cNvPr id="35" name="직사각형 36"/>
          <p:cNvSpPr/>
          <p:nvPr/>
        </p:nvSpPr>
        <p:spPr>
          <a:xfrm>
            <a:off x="7294096" y="32604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5</a:t>
            </a:r>
          </a:p>
        </p:txBody>
      </p:sp>
      <p:sp>
        <p:nvSpPr>
          <p:cNvPr id="36" name="직사각형 37"/>
          <p:cNvSpPr/>
          <p:nvPr/>
        </p:nvSpPr>
        <p:spPr>
          <a:xfrm>
            <a:off x="4892040" y="3794760"/>
            <a:ext cx="457200" cy="457200"/>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37" name="직사각형 38"/>
          <p:cNvSpPr/>
          <p:nvPr/>
        </p:nvSpPr>
        <p:spPr>
          <a:xfrm>
            <a:off x="6446520" y="278892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8" name="직사각형 39"/>
          <p:cNvSpPr/>
          <p:nvPr/>
        </p:nvSpPr>
        <p:spPr>
          <a:xfrm>
            <a:off x="6446520" y="480060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9" name="직사각형 40"/>
          <p:cNvSpPr/>
          <p:nvPr/>
        </p:nvSpPr>
        <p:spPr>
          <a:xfrm>
            <a:off x="8001000" y="3794760"/>
            <a:ext cx="457200" cy="457200"/>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graphicFrame>
        <p:nvGraphicFramePr>
          <p:cNvPr id="40" name="표 41"/>
          <p:cNvGraphicFramePr>
            <a:graphicFrameLocks noGrp="1"/>
          </p:cNvGraphicFramePr>
          <p:nvPr/>
        </p:nvGraphicFramePr>
        <p:xfrm>
          <a:off x="9052560" y="2743200"/>
          <a:ext cx="2532888" cy="1316736"/>
        </p:xfrm>
        <a:graphic>
          <a:graphicData uri="http://schemas.openxmlformats.org/drawingml/2006/table">
            <a:tbl>
              <a:tblPr/>
              <a:tblGrid>
                <a:gridCol w="791528"/>
                <a:gridCol w="949833"/>
                <a:gridCol w="791528"/>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MST 안</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최단</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D</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7</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6</a:t>
                      </a:r>
                    </a:p>
                  </a:txBody>
                  <a:tcPr marL="54864" marR="54864" marT="18288" marB="18288" anchor="ctr">
                    <a:solidFill>
                      <a:srgbClr val="FFF1C2"/>
                    </a:solidFill>
                  </a:tcPr>
                </a:tc>
              </a:tr>
            </a:tbl>
          </a:graphicData>
        </a:graphic>
      </p:graphicFrame>
      <p:sp>
        <p:nvSpPr>
          <p:cNvPr id="41" name="직사각형 42"/>
          <p:cNvSpPr/>
          <p:nvPr/>
        </p:nvSpPr>
        <p:spPr>
          <a:xfrm>
            <a:off x="9052560" y="2432304"/>
            <a:ext cx="2532888"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A에서 각 정점까지 거리</a:t>
            </a:r>
          </a:p>
        </p:txBody>
      </p:sp>
      <p:sp>
        <p:nvSpPr>
          <p:cNvPr id="42" name="fit:5594a41f30ee14e2 43"/>
          <p:cNvSpPr/>
          <p:nvPr/>
        </p:nvSpPr>
        <p:spPr>
          <a:xfrm>
            <a:off x="612648" y="539496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D까지: MST 안의 길 A – B – C – D = 7, 최단 경로 A – B – D = 6</a:t>
            </a:r>
          </a:p>
        </p:txBody>
      </p:sp>
      <p:sp>
        <p:nvSpPr>
          <p:cNvPr id="43" name="fit:b9a58cbb21c7b44e 44"/>
          <p:cNvSpPr/>
          <p:nvPr/>
        </p:nvSpPr>
        <p:spPr>
          <a:xfrm>
            <a:off x="612648" y="5815584"/>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A – C를 넣은 트리(합 9)도 최단 경로 트리입니다(A – C 직행도 3).</a:t>
            </a:r>
          </a:p>
        </p:txBody>
      </p:sp>
      <p:sp>
        <p:nvSpPr>
          <p:cNvPr id="44" name="직사각형 4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거리를 재는 시작점 A(MST에는 시작점이 없습니다)    파랑: 트리에 넣은 간선    회색: 넣지 않은 간선</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확인: 크루스칼 알고리즘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134</a:t>
            </a:r>
          </a:p>
        </p:txBody>
      </p:sp>
      <p:sp>
        <p:nvSpPr>
          <p:cNvPr id="9" name="fit:1534c227e3073096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① 정점이 7개인 그래프에서 신장 트리의 간선은 몇 개입니까?</a:t>
            </a:r>
          </a:p>
        </p:txBody>
      </p:sp>
      <p:sp>
        <p:nvSpPr>
          <p:cNvPr id="10" name="fit:def181155fc1ee0c 11"/>
          <p:cNvSpPr/>
          <p:nvPr/>
        </p:nvSpPr>
        <p:spPr>
          <a:xfrm>
            <a:off x="612648" y="2103120"/>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② 정점 P, Q, R, S와 간선 PQ = 2, QR = 3, PR = 4, RS = 1, QS = 5. 크루스칼이 채택하는 간선과 합은? 확인하지 않는 간선은?</a:t>
            </a:r>
          </a:p>
        </p:txBody>
      </p:sp>
      <p:sp>
        <p:nvSpPr>
          <p:cNvPr id="11" name="fit:44386bedb1ab7061 12"/>
          <p:cNvSpPr/>
          <p:nvPr/>
        </p:nvSpPr>
        <p:spPr>
          <a:xfrm>
            <a:off x="612648" y="2898648"/>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③ parent = [0, 0, 1, 2]일 때 find(3)의 결과는? 경로 압축 뒤 parent는?</a:t>
            </a:r>
          </a:p>
        </p:txBody>
      </p:sp>
      <p:sp>
        <p:nvSpPr>
          <p:cNvPr id="12" name="fit:877aea19622c4a23 13"/>
          <p:cNvSpPr/>
          <p:nvPr/>
        </p:nvSpPr>
        <p:spPr>
          <a:xfrm>
            <a:off x="612648" y="3364992"/>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④ "MST에서 두 정점 사이의 길은 그 두 정점 사이의 최단 경로다." 맞습니까?</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135</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5.7</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TSP와 그리디</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"일단 지금 있는 곳에서 가장 가까운 도시로!"</a:t>
            </a:r>
          </a:p>
          <a:p>
            <a:pPr algn="l" eaLnBrk="0" latinLnBrk="0">
              <a:lnSpc>
                <a:spcPct val="110000"/>
              </a:lnSpc>
              <a:buNone/>
            </a:pPr>
            <a:r>
              <a:rPr lang="ko-KR" altLang="en-US" sz="1800" b="0" dirty="0">
                <a:solidFill>
                  <a:srgbClr val="BBBBBB"/>
                </a:solidFill>
                <a:latin typeface="Malgun Gothic"/>
                <a:ea typeface="Malgun Gothic"/>
                <a:cs typeface="Malgun Gothic"/>
              </a:rPr>
              <a:t>가장 단순한 그리디 기준이 어디까지 통할까요?</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외판원 순회 문제(TSP)</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136</a:t>
            </a:r>
          </a:p>
        </p:txBody>
      </p:sp>
      <p:sp>
        <p:nvSpPr>
          <p:cNvPr id="9" name="fit:d74351f9c8b65d33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모든 도시를 </a:t>
            </a:r>
            <a:r>
              <a:rPr lang="ko-KR" altLang="en-US" sz="1800" b="1" dirty="0">
                <a:solidFill>
                  <a:srgbClr val="171717"/>
                </a:solidFill>
                <a:latin typeface="Malgun Gothic"/>
                <a:ea typeface="Malgun Gothic"/>
                <a:cs typeface="Malgun Gothic"/>
              </a:rPr>
              <a:t>한 번씩</a:t>
            </a:r>
            <a:r>
              <a:rPr lang="ko-KR" altLang="en-US" sz="1800" b="0" dirty="0">
                <a:solidFill>
                  <a:srgbClr val="171717"/>
                </a:solidFill>
                <a:latin typeface="Malgun Gothic"/>
                <a:ea typeface="Malgun Gothic"/>
                <a:cs typeface="Malgun Gothic"/>
              </a:rPr>
              <a:t> 방문하고 출발 도시로 </a:t>
            </a:r>
            <a:r>
              <a:rPr lang="ko-KR" altLang="en-US" sz="1800" b="1" dirty="0">
                <a:solidFill>
                  <a:srgbClr val="171717"/>
                </a:solidFill>
                <a:latin typeface="Malgun Gothic"/>
                <a:ea typeface="Malgun Gothic"/>
                <a:cs typeface="Malgun Gothic"/>
              </a:rPr>
              <a:t>돌아오는</a:t>
            </a:r>
            <a:r>
              <a:rPr lang="ko-KR" altLang="en-US" sz="1800" b="0" dirty="0">
                <a:solidFill>
                  <a:srgbClr val="171717"/>
                </a:solidFill>
                <a:latin typeface="Malgun Gothic"/>
                <a:ea typeface="Malgun Gothic"/>
                <a:cs typeface="Malgun Gothic"/>
              </a:rPr>
              <a:t> 가장 짧은 순회를 찾습니다.</a:t>
            </a:r>
          </a:p>
        </p:txBody>
      </p:sp>
      <p:sp>
        <p:nvSpPr>
          <p:cNvPr id="10" name="fit:bc580f2108a0c9d4 11"/>
          <p:cNvSpPr/>
          <p:nvPr/>
        </p:nvSpPr>
        <p:spPr>
          <a:xfrm>
            <a:off x="658368" y="2459736"/>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순회(tour)</a:t>
            </a:r>
          </a:p>
        </p:txBody>
      </p:sp>
      <p:sp>
        <p:nvSpPr>
          <p:cNvPr id="11" name="fit:c19f051cfd5c2275 12"/>
          <p:cNvSpPr/>
          <p:nvPr/>
        </p:nvSpPr>
        <p:spPr>
          <a:xfrm>
            <a:off x="841248" y="2788920"/>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출발 도시로 돌아오는 닫힌 경로</a:t>
            </a:r>
          </a:p>
        </p:txBody>
      </p:sp>
      <p:sp>
        <p:nvSpPr>
          <p:cNvPr id="12" name="fit:13ba6f021149dd63 13"/>
          <p:cNvSpPr/>
          <p:nvPr/>
        </p:nvSpPr>
        <p:spPr>
          <a:xfrm>
            <a:off x="658368" y="3172968"/>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비용</a:t>
            </a:r>
          </a:p>
        </p:txBody>
      </p:sp>
      <p:sp>
        <p:nvSpPr>
          <p:cNvPr id="13" name="fit:00c169af63c628ca 14"/>
          <p:cNvSpPr/>
          <p:nvPr/>
        </p:nvSpPr>
        <p:spPr>
          <a:xfrm>
            <a:off x="841248" y="3502152"/>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지나간 간선 거리의 합(양방향이 같음)</a:t>
            </a:r>
          </a:p>
        </p:txBody>
      </p:sp>
      <p:sp>
        <p:nvSpPr>
          <p:cNvPr id="14" name="fit:b42fb6d6800a4e11 15"/>
          <p:cNvSpPr/>
          <p:nvPr/>
        </p:nvSpPr>
        <p:spPr>
          <a:xfrm>
            <a:off x="658368" y="3886200"/>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경우의 수(출발 도시 고정)</a:t>
            </a:r>
          </a:p>
        </p:txBody>
      </p:sp>
      <p:sp>
        <p:nvSpPr>
          <p:cNvPr id="15" name="fit:e550049df3c1904c 16"/>
          <p:cNvSpPr/>
          <p:nvPr/>
        </p:nvSpPr>
        <p:spPr>
          <a:xfrm>
            <a:off x="841248" y="4215384"/>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(n−1)!가지: 4개면 6, 11개면 3,628,800</a:t>
            </a:r>
          </a:p>
        </p:txBody>
      </p:sp>
      <p:sp>
        <p:nvSpPr>
          <p:cNvPr id="16" name="fit:ff516d3c22609905 17"/>
          <p:cNvSpPr/>
          <p:nvPr/>
        </p:nvSpPr>
        <p:spPr>
          <a:xfrm>
            <a:off x="658368" y="4599432"/>
            <a:ext cx="512064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TSP는 NP-난해 문제입니다</a:t>
            </a:r>
          </a:p>
        </p:txBody>
      </p:sp>
      <p:sp>
        <p:nvSpPr>
          <p:cNvPr id="17" name="fit:44a0349a8f74bc66 18"/>
          <p:cNvSpPr/>
          <p:nvPr/>
        </p:nvSpPr>
        <p:spPr>
          <a:xfrm>
            <a:off x="658368" y="5056632"/>
            <a:ext cx="5120640"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NP-난해: 다항 시간에 풀면 NP의 모든 문제를 다항 시간에 풀 수 있게 되는, 가장 어려운 부류의 문제. 다항 시간 방법은 아직 알려져 있지 않습니다.</a:t>
            </a:r>
          </a:p>
        </p:txBody>
      </p:sp>
      <p:pic>
        <p:nvPicPr>
          <p:cNvPr id="18" name="그림 19"/>
          <p:cNvPicPr>
            <a:picLocks noChangeAspect="1"/>
          </p:cNvPicPr>
          <p:nvPr/>
        </p:nvPicPr>
        <p:blipFill>
          <a:blip r:embed="rIdImg1"/>
          <a:stretch>
            <a:fillRect/>
          </a:stretch>
        </p:blipFill>
        <p:spPr>
          <a:xfrm>
            <a:off x="6126480" y="2412221"/>
            <a:ext cx="5458968" cy="3039398"/>
          </a:xfrm>
          <a:prstGeom prst="rect">
            <a:avLst/>
          </a:prstGeom>
        </p:spPr>
      </p:pic>
      <p:sp>
        <p:nvSpPr>
          <p:cNvPr id="19" name="직사각형 20"/>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 서울 본사에서 출발해 모든 도시를 한 번씩 들르고 서울로 돌아오는 외판원</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가장 가까운 이웃(nearest neighbor)</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137</a:t>
            </a:r>
          </a:p>
        </p:txBody>
      </p:sp>
      <p:sp>
        <p:nvSpPr>
          <p:cNvPr id="9" name="fit:7152ff9d644f199b 10"/>
          <p:cNvSpPr/>
          <p:nvPr/>
        </p:nvSpPr>
        <p:spPr>
          <a:xfrm>
            <a:off x="612648" y="1636776"/>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지금 있는 도시에서 </a:t>
            </a:r>
            <a:r>
              <a:rPr lang="ko-KR" altLang="en-US" sz="1800" b="1" dirty="0">
                <a:solidFill>
                  <a:srgbClr val="171717"/>
                </a:solidFill>
                <a:latin typeface="Malgun Gothic"/>
                <a:ea typeface="Malgun Gothic"/>
                <a:cs typeface="Malgun Gothic"/>
              </a:rPr>
              <a:t>아직 가지 않은 도시 중 가장 가까운 곳</a:t>
            </a:r>
            <a:r>
              <a:rPr lang="ko-KR" altLang="en-US" sz="1800" b="0" dirty="0">
                <a:solidFill>
                  <a:srgbClr val="171717"/>
                </a:solidFill>
                <a:latin typeface="Malgun Gothic"/>
                <a:ea typeface="Malgun Gothic"/>
                <a:cs typeface="Malgun Gothic"/>
              </a:rPr>
              <a:t>으로 갑니다. 모든 도시를 돌았으면 출발 도시로 돌아옵니다.</a:t>
            </a:r>
          </a:p>
        </p:txBody>
      </p:sp>
      <p:sp>
        <p:nvSpPr>
          <p:cNvPr id="10" name="fit:577c82dea1106ebb 11"/>
          <p:cNvSpPr/>
          <p:nvPr/>
        </p:nvSpPr>
        <p:spPr>
          <a:xfrm>
            <a:off x="612648" y="235915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선택 — 방문하지 않은 도시 중 current에서 거리가 가장 짧은 도시</a:t>
            </a:r>
          </a:p>
        </p:txBody>
      </p:sp>
      <p:sp>
        <p:nvSpPr>
          <p:cNvPr id="11" name="fit:9763614583fb673e 12"/>
          <p:cNvSpPr/>
          <p:nvPr/>
        </p:nvSpPr>
        <p:spPr>
          <a:xfrm>
            <a:off x="612648" y="27797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적정성 검사 — 이미 방문한 도시(visited)는 다시 고르지 않습니다</a:t>
            </a:r>
          </a:p>
        </p:txBody>
      </p:sp>
      <p:sp>
        <p:nvSpPr>
          <p:cNvPr id="12" name="fit:bc013a9097dd5738 13"/>
          <p:cNvSpPr/>
          <p:nvPr/>
        </p:nvSpPr>
        <p:spPr>
          <a:xfrm>
            <a:off x="612648" y="320040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해답 검사 — n개를 모두 방문하면 출발 도시로 돌아가 끝냅니다</a:t>
            </a:r>
          </a:p>
        </p:txBody>
      </p:sp>
      <p:sp>
        <p:nvSpPr>
          <p:cNvPr id="13" name="직사각형 14"/>
          <p:cNvSpPr/>
          <p:nvPr/>
        </p:nvSpPr>
        <p:spPr>
          <a:xfrm>
            <a:off x="612648" y="36941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nearest_neighbor.pseudo</a:t>
            </a:r>
          </a:p>
        </p:txBody>
      </p:sp>
      <p:sp>
        <p:nvSpPr>
          <p:cNvPr id="14" name="직사각형 15"/>
          <p:cNvSpPr/>
          <p:nvPr/>
        </p:nvSpPr>
        <p:spPr>
          <a:xfrm>
            <a:off x="612648" y="3913632"/>
            <a:ext cx="10972800" cy="149961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400" b="0" dirty="0">
                <a:solidFill>
                  <a:srgbClr val="FFFFFF"/>
                </a:solidFill>
                <a:latin typeface="Consolas"/>
                <a:ea typeface="Consolas"/>
                <a:cs typeface="Consolas"/>
              </a:rPr>
              <a:t>NEAREST_NEIGHBOR(adj, start):</a:t>
            </a:r>
          </a:p>
          <a:p>
            <a:pPr algn="l" eaLnBrk="0" latinLnBrk="0">
              <a:lnSpc>
                <a:spcPct val="100000"/>
              </a:lnSpc>
              <a:buNone/>
            </a:pPr>
            <a:r>
              <a:rPr lang="ko-KR" altLang="en-US" sz="1400" b="0" dirty="0">
                <a:solidFill>
                  <a:srgbClr val="FFFFFF"/>
                </a:solidFill>
                <a:latin typeface="Consolas"/>
                <a:ea typeface="Consolas"/>
                <a:cs typeface="Consolas"/>
              </a:rPr>
              <a:t>    visited &lt;- {start};  path &lt;- [start];  current &lt;- start;  total &lt;- 0</a:t>
            </a:r>
          </a:p>
          <a:p>
            <a:pPr algn="l" eaLnBrk="0" latinLnBrk="0">
              <a:lnSpc>
                <a:spcPct val="100000"/>
              </a:lnSpc>
              <a:buNone/>
            </a:pPr>
            <a:r>
              <a:rPr lang="ko-KR" altLang="en-US" sz="1400" b="0" dirty="0">
                <a:solidFill>
                  <a:srgbClr val="FFFFFF"/>
                </a:solidFill>
                <a:latin typeface="Consolas"/>
                <a:ea typeface="Consolas"/>
                <a:cs typeface="Consolas"/>
              </a:rPr>
              <a:t>    n - 1번 반복:</a:t>
            </a:r>
          </a:p>
          <a:p>
            <a:pPr algn="l" eaLnBrk="0" latinLnBrk="0">
              <a:lnSpc>
                <a:spcPct val="100000"/>
              </a:lnSpc>
              <a:buNone/>
            </a:pPr>
            <a:r>
              <a:rPr lang="ko-KR" altLang="en-US" sz="1400" b="0" dirty="0">
                <a:solidFill>
                  <a:srgbClr val="FFFFFF"/>
                </a:solidFill>
                <a:latin typeface="Consolas"/>
                <a:ea typeface="Consolas"/>
                <a:cs typeface="Consolas"/>
              </a:rPr>
              <a:t>        next_city &lt;- visited에 없는 i 중 adj[current][i]가 가장 작은 i</a:t>
            </a:r>
          </a:p>
          <a:p>
            <a:pPr algn="l" eaLnBrk="0" latinLnBrk="0">
              <a:lnSpc>
                <a:spcPct val="100000"/>
              </a:lnSpc>
              <a:buNone/>
            </a:pPr>
            <a:r>
              <a:rPr lang="ko-KR" altLang="en-US" sz="1400" b="0" dirty="0">
                <a:solidFill>
                  <a:srgbClr val="FFFFFF"/>
                </a:solidFill>
                <a:latin typeface="Consolas"/>
                <a:ea typeface="Consolas"/>
                <a:cs typeface="Consolas"/>
              </a:rPr>
              <a:t>        visited와 path에 next_city 추가;  total &lt;- total + adj[current][next_city];  current &lt;- next_city</a:t>
            </a:r>
          </a:p>
          <a:p>
            <a:pPr algn="l" eaLnBrk="0" latinLnBrk="0">
              <a:lnSpc>
                <a:spcPct val="100000"/>
              </a:lnSpc>
              <a:buNone/>
            </a:pPr>
            <a:r>
              <a:rPr lang="ko-KR" altLang="en-US" sz="1400" b="0" dirty="0">
                <a:solidFill>
                  <a:srgbClr val="FFFFFF"/>
                </a:solidFill>
                <a:latin typeface="Consolas"/>
                <a:ea typeface="Consolas"/>
                <a:cs typeface="Consolas"/>
              </a:rPr>
              <a:t>    return path + [start],  total + adj[current][start]        // 출발 도시로 복귀</a:t>
            </a:r>
          </a:p>
        </p:txBody>
      </p:sp>
      <p:sp>
        <p:nvSpPr>
          <p:cNvPr id="15" name="fit:7251f026e960922d 16"/>
          <p:cNvSpPr/>
          <p:nvPr/>
        </p:nvSpPr>
        <p:spPr>
          <a:xfrm>
            <a:off x="612648" y="554126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adj[i][j]: 도시 i와 j 사이의 거리를 담은 표(인접 행렬)</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성공 예: A → B → C → D → A = 50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138</a:t>
            </a:r>
          </a:p>
        </p:txBody>
      </p:sp>
      <p:sp>
        <p:nvSpPr>
          <p:cNvPr id="9" name="fit:1c96a3ef4366095c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A에서 출발해 매번 가장 가까운 도시로 갑니다. 이 그래프에서는 그리디의 순회가 최적입니다.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463040"/>
        </p:xfrm>
        <a:graphic>
          <a:graphicData uri="http://schemas.openxmlformats.org/drawingml/2006/table">
            <a:tbl>
              <a:tblPr/>
              <a:tblGrid>
                <a:gridCol w="546111"/>
                <a:gridCol w="2184443"/>
                <a:gridCol w="936190"/>
              </a:tblGrid>
              <a:tr h="292608">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지금</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후보와 거리</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이동</a:t>
                      </a:r>
                    </a:p>
                  </a:txBody>
                  <a:tcPr marL="54864" marR="54864" marT="18288" marB="18288" anchor="ctr">
                    <a:solidFill>
                      <a:srgbClr val="151515"/>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B 10 · C 2,000 · D 15</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 B</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C 15 · D 2,000</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 C</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D 10</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 D</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모두 방문함</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 A 15</a:t>
                      </a:r>
                    </a:p>
                  </a:txBody>
                  <a:tcPr marL="54864" marR="54864" marT="18288" marB="18288" anchor="ctr">
                    <a:solidFill>
                      <a:srgbClr val="FFFFFF"/>
                    </a:solidFill>
                  </a:tcPr>
                </a:tc>
              </a:tr>
            </a:tbl>
          </a:graphicData>
        </a:graphic>
      </p:graphicFrame>
      <p:sp>
        <p:nvSpPr>
          <p:cNvPr id="12" name="fit:1d60dd15efa48b4b 13"/>
          <p:cNvSpPr/>
          <p:nvPr/>
        </p:nvSpPr>
        <p:spPr>
          <a:xfrm>
            <a:off x="7909560" y="4544568"/>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10 + 15 + 10 + 15 = 50</a:t>
            </a:r>
          </a:p>
        </p:txBody>
      </p:sp>
      <p:sp>
        <p:nvSpPr>
          <p:cNvPr id="13" name="fit:4b767f767c4b1776 14"/>
          <p:cNvSpPr/>
          <p:nvPr/>
        </p:nvSpPr>
        <p:spPr>
          <a:xfrm>
            <a:off x="7909560" y="5001768"/>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방향만 다른 것을 하나로 세면 순회는 세 가지뿐: 50, 4,020, 4,030 → 50이 최적</a:t>
            </a:r>
          </a:p>
        </p:txBody>
      </p:sp>
      <p:cxnSp>
        <p:nvCxnSpPr>
          <p:cNvPr id="14" name="연결선 15"/>
          <p:cNvCxnSpPr/>
          <p:nvPr/>
        </p:nvCxnSpPr>
        <p:spPr>
          <a:xfrm>
            <a:off x="1709928" y="3017520"/>
            <a:ext cx="3712464" cy="0"/>
          </a:xfrm>
          <a:prstGeom prst="line">
            <a:avLst/>
          </a:prstGeom>
          <a:ln w="44450">
            <a:solidFill>
              <a:srgbClr val="1D5A8A"/>
            </a:solidFill>
          </a:ln>
        </p:spPr>
      </p:cxnSp>
      <p:sp>
        <p:nvSpPr>
          <p:cNvPr id="15" name="직사각형 16"/>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10</a:t>
            </a:r>
          </a:p>
        </p:txBody>
      </p:sp>
      <p:cxnSp>
        <p:nvCxnSpPr>
          <p:cNvPr id="16" name="연결선 17"/>
          <p:cNvCxnSpPr/>
          <p:nvPr/>
        </p:nvCxnSpPr>
        <p:spPr>
          <a:xfrm>
            <a:off x="5669280" y="3264408"/>
            <a:ext cx="0" cy="2066544"/>
          </a:xfrm>
          <a:prstGeom prst="line">
            <a:avLst/>
          </a:prstGeom>
          <a:ln w="44450">
            <a:solidFill>
              <a:srgbClr val="1D5A8A"/>
            </a:solidFill>
          </a:ln>
        </p:spPr>
      </p:cxnSp>
      <p:sp>
        <p:nvSpPr>
          <p:cNvPr id="17" name="직사각형 18"/>
          <p:cNvSpPr/>
          <p:nvPr/>
        </p:nvSpPr>
        <p:spPr>
          <a:xfrm>
            <a:off x="5577840"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15</a:t>
            </a:r>
          </a:p>
        </p:txBody>
      </p:sp>
      <p:cxnSp>
        <p:nvCxnSpPr>
          <p:cNvPr id="18" name="연결선 19"/>
          <p:cNvCxnSpPr/>
          <p:nvPr/>
        </p:nvCxnSpPr>
        <p:spPr>
          <a:xfrm flipH="1">
            <a:off x="1709928" y="5577840"/>
            <a:ext cx="3712464" cy="0"/>
          </a:xfrm>
          <a:prstGeom prst="line">
            <a:avLst/>
          </a:prstGeom>
          <a:ln w="44450">
            <a:solidFill>
              <a:srgbClr val="1D5A8A"/>
            </a:solidFill>
          </a:ln>
        </p:spPr>
      </p:cxnSp>
      <p:sp>
        <p:nvSpPr>
          <p:cNvPr id="19" name="직사각형 20"/>
          <p:cNvSpPr/>
          <p:nvPr/>
        </p:nvSpPr>
        <p:spPr>
          <a:xfrm>
            <a:off x="3328416" y="558698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10</a:t>
            </a:r>
          </a:p>
        </p:txBody>
      </p:sp>
      <p:cxnSp>
        <p:nvCxnSpPr>
          <p:cNvPr id="20" name="연결선 21"/>
          <p:cNvCxnSpPr/>
          <p:nvPr/>
        </p:nvCxnSpPr>
        <p:spPr>
          <a:xfrm flipV="1">
            <a:off x="1463040" y="3264408"/>
            <a:ext cx="0" cy="2066544"/>
          </a:xfrm>
          <a:prstGeom prst="line">
            <a:avLst/>
          </a:prstGeom>
          <a:ln w="44450">
            <a:solidFill>
              <a:srgbClr val="1D5A8A"/>
            </a:solidFill>
          </a:ln>
        </p:spPr>
      </p:cxnSp>
      <p:sp>
        <p:nvSpPr>
          <p:cNvPr id="21" name="직사각형 22"/>
          <p:cNvSpPr/>
          <p:nvPr/>
        </p:nvSpPr>
        <p:spPr>
          <a:xfrm>
            <a:off x="1078992"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15</a:t>
            </a:r>
          </a:p>
        </p:txBody>
      </p:sp>
      <p:cxnSp>
        <p:nvCxnSpPr>
          <p:cNvPr id="22" name="연결선 23"/>
          <p:cNvCxnSpPr/>
          <p:nvPr/>
        </p:nvCxnSpPr>
        <p:spPr>
          <a:xfrm>
            <a:off x="1673931" y="3145889"/>
            <a:ext cx="3784457" cy="2303583"/>
          </a:xfrm>
          <a:prstGeom prst="line">
            <a:avLst/>
          </a:prstGeom>
          <a:ln w="12700">
            <a:solidFill>
              <a:srgbClr val="D0D0D0"/>
            </a:solidFill>
          </a:ln>
        </p:spPr>
      </p:cxnSp>
      <p:cxnSp>
        <p:nvCxnSpPr>
          <p:cNvPr id="23" name="연결선 24"/>
          <p:cNvCxnSpPr/>
          <p:nvPr/>
        </p:nvCxnSpPr>
        <p:spPr>
          <a:xfrm flipH="1">
            <a:off x="1673931" y="3145889"/>
            <a:ext cx="3784457" cy="2303583"/>
          </a:xfrm>
          <a:prstGeom prst="line">
            <a:avLst/>
          </a:prstGeom>
          <a:ln w="12700">
            <a:solidFill>
              <a:srgbClr val="D0D0D0"/>
            </a:solidFill>
          </a:ln>
        </p:spPr>
      </p:cxnSp>
      <p:sp>
        <p:nvSpPr>
          <p:cNvPr id="24" name="직사각형 25"/>
          <p:cNvSpPr/>
          <p:nvPr/>
        </p:nvSpPr>
        <p:spPr>
          <a:xfrm>
            <a:off x="1216152" y="277063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5" name="직사각형 26"/>
          <p:cNvSpPr/>
          <p:nvPr/>
        </p:nvSpPr>
        <p:spPr>
          <a:xfrm>
            <a:off x="542239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5422392" y="533095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1216152" y="533095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2295144" y="3575304"/>
            <a:ext cx="603504"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2,000</a:t>
            </a:r>
          </a:p>
        </p:txBody>
      </p:sp>
      <p:sp>
        <p:nvSpPr>
          <p:cNvPr id="29" name="직사각형 30"/>
          <p:cNvSpPr/>
          <p:nvPr/>
        </p:nvSpPr>
        <p:spPr>
          <a:xfrm>
            <a:off x="4233672" y="3575304"/>
            <a:ext cx="603504"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2,000</a:t>
            </a:r>
          </a:p>
        </p:txBody>
      </p:sp>
      <p:sp>
        <p:nvSpPr>
          <p:cNvPr id="30" name="직사각형 3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출발 도시    파랑 굵은 선: 순회에 쓴 길    연회색: 쓰지 않은 길</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예 ① A에서 가장 가까운 B(1)</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139</a:t>
            </a:r>
          </a:p>
        </p:txBody>
      </p:sp>
      <p:sp>
        <p:nvSpPr>
          <p:cNvPr id="9" name="fit:859657dcb88e662a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거리만 바꾼 그래프입니다. A에서 B 1, C 2, D 3을 비교해 가장 가까운 B로 갑니다.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008b434e9a0de22a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A에서 갈 수 있는 도시</a:t>
            </a:r>
          </a:p>
        </p:txBody>
      </p:sp>
      <p:graphicFrame>
        <p:nvGraphicFramePr>
          <p:cNvPr id="12" name="표 13"/>
          <p:cNvGraphicFramePr>
            <a:graphicFrameLocks noGrp="1"/>
          </p:cNvGraphicFramePr>
          <p:nvPr/>
        </p:nvGraphicFramePr>
        <p:xfrm>
          <a:off x="7909560" y="3328416"/>
          <a:ext cx="3666744" cy="1316736"/>
        </p:xfrm>
        <a:graphic>
          <a:graphicData uri="http://schemas.openxmlformats.org/drawingml/2006/table">
            <a:tbl>
              <a:tblPr/>
              <a:tblGrid>
                <a:gridCol w="1833372"/>
                <a:gridCol w="1833372"/>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도시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거리</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B</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a:txBody>
                  <a:tcPr marL="54864" marR="54864" marT="18288" marB="18288" anchor="ctr">
                    <a:solidFill>
                      <a:srgbClr val="FFF1C2"/>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r>
            </a:tbl>
          </a:graphicData>
        </a:graphic>
      </p:graphicFrame>
      <p:sp>
        <p:nvSpPr>
          <p:cNvPr id="13" name="fit:c96a6652ec8871eb 14"/>
          <p:cNvSpPr/>
          <p:nvPr/>
        </p:nvSpPr>
        <p:spPr>
          <a:xfrm>
            <a:off x="7909560" y="479145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 B로 이동</a:t>
            </a:r>
          </a:p>
        </p:txBody>
      </p:sp>
      <p:sp>
        <p:nvSpPr>
          <p:cNvPr id="14" name="fit:bb7c00caba07870b 15"/>
          <p:cNvSpPr/>
          <p:nvPr/>
        </p:nvSpPr>
        <p:spPr>
          <a:xfrm>
            <a:off x="7909560" y="5248656"/>
            <a:ext cx="3666744"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경로 A → B, 지금까지 1</a:t>
            </a:r>
          </a:p>
        </p:txBody>
      </p:sp>
      <p:cxnSp>
        <p:nvCxnSpPr>
          <p:cNvPr id="15" name="연결선 16"/>
          <p:cNvCxnSpPr/>
          <p:nvPr/>
        </p:nvCxnSpPr>
        <p:spPr>
          <a:xfrm>
            <a:off x="1709928" y="3017520"/>
            <a:ext cx="3712464" cy="0"/>
          </a:xfrm>
          <a:prstGeom prst="line">
            <a:avLst/>
          </a:prstGeom>
          <a:ln w="44450">
            <a:solidFill>
              <a:srgbClr val="B8651B"/>
            </a:solidFill>
          </a:ln>
        </p:spPr>
      </p:cxnSp>
      <p:sp>
        <p:nvSpPr>
          <p:cNvPr id="16" name="직사각형 17"/>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7" name="연결선 18"/>
          <p:cNvCxnSpPr/>
          <p:nvPr/>
        </p:nvCxnSpPr>
        <p:spPr>
          <a:xfrm>
            <a:off x="5669280" y="3264408"/>
            <a:ext cx="0" cy="2066544"/>
          </a:xfrm>
          <a:prstGeom prst="line">
            <a:avLst/>
          </a:prstGeom>
          <a:ln w="19050">
            <a:solidFill>
              <a:srgbClr val="9A9A9A"/>
            </a:solidFill>
          </a:ln>
        </p:spPr>
      </p:cxnSp>
      <p:sp>
        <p:nvSpPr>
          <p:cNvPr id="18" name="직사각형 19"/>
          <p:cNvSpPr/>
          <p:nvPr/>
        </p:nvSpPr>
        <p:spPr>
          <a:xfrm>
            <a:off x="5577840"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9" name="연결선 20"/>
          <p:cNvCxnSpPr/>
          <p:nvPr/>
        </p:nvCxnSpPr>
        <p:spPr>
          <a:xfrm flipH="1">
            <a:off x="1709928" y="5577840"/>
            <a:ext cx="3712464" cy="0"/>
          </a:xfrm>
          <a:prstGeom prst="line">
            <a:avLst/>
          </a:prstGeom>
          <a:ln w="19050">
            <a:solidFill>
              <a:srgbClr val="9A9A9A"/>
            </a:solidFill>
          </a:ln>
        </p:spPr>
      </p:cxnSp>
      <p:sp>
        <p:nvSpPr>
          <p:cNvPr id="20" name="직사각형 21"/>
          <p:cNvSpPr/>
          <p:nvPr/>
        </p:nvSpPr>
        <p:spPr>
          <a:xfrm>
            <a:off x="3328416" y="558698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1" name="연결선 22"/>
          <p:cNvCxnSpPr/>
          <p:nvPr/>
        </p:nvCxnSpPr>
        <p:spPr>
          <a:xfrm flipV="1">
            <a:off x="1463040" y="3264408"/>
            <a:ext cx="0" cy="2066544"/>
          </a:xfrm>
          <a:prstGeom prst="line">
            <a:avLst/>
          </a:prstGeom>
          <a:ln w="19050">
            <a:solidFill>
              <a:srgbClr val="9A9A9A"/>
            </a:solidFill>
          </a:ln>
        </p:spPr>
      </p:cxnSp>
      <p:sp>
        <p:nvSpPr>
          <p:cNvPr id="22" name="직사각형 23"/>
          <p:cNvSpPr/>
          <p:nvPr/>
        </p:nvSpPr>
        <p:spPr>
          <a:xfrm>
            <a:off x="1078992"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3" name="연결선 24"/>
          <p:cNvCxnSpPr/>
          <p:nvPr/>
        </p:nvCxnSpPr>
        <p:spPr>
          <a:xfrm>
            <a:off x="1673931" y="3145889"/>
            <a:ext cx="3784457" cy="2303583"/>
          </a:xfrm>
          <a:prstGeom prst="line">
            <a:avLst/>
          </a:prstGeom>
          <a:ln w="19050">
            <a:solidFill>
              <a:srgbClr val="9A9A9A"/>
            </a:solidFill>
          </a:ln>
        </p:spPr>
      </p:cxnSp>
      <p:cxnSp>
        <p:nvCxnSpPr>
          <p:cNvPr id="24" name="연결선 25"/>
          <p:cNvCxnSpPr/>
          <p:nvPr/>
        </p:nvCxnSpPr>
        <p:spPr>
          <a:xfrm flipH="1">
            <a:off x="1673931" y="3145889"/>
            <a:ext cx="3784457" cy="2303583"/>
          </a:xfrm>
          <a:prstGeom prst="line">
            <a:avLst/>
          </a:prstGeom>
          <a:ln w="19050">
            <a:solidFill>
              <a:srgbClr val="9A9A9A"/>
            </a:solidFill>
          </a:ln>
        </p:spPr>
      </p:cxnSp>
      <p:sp>
        <p:nvSpPr>
          <p:cNvPr id="25" name="직사각형 26"/>
          <p:cNvSpPr/>
          <p:nvPr/>
        </p:nvSpPr>
        <p:spPr>
          <a:xfrm>
            <a:off x="1216152" y="277063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6" name="직사각형 27"/>
          <p:cNvSpPr/>
          <p:nvPr/>
        </p:nvSpPr>
        <p:spPr>
          <a:xfrm>
            <a:off x="5422392" y="277063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7" name="직사각형 28"/>
          <p:cNvSpPr/>
          <p:nvPr/>
        </p:nvSpPr>
        <p:spPr>
          <a:xfrm>
            <a:off x="5422392" y="5330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8" name="직사각형 29"/>
          <p:cNvSpPr/>
          <p:nvPr/>
        </p:nvSpPr>
        <p:spPr>
          <a:xfrm>
            <a:off x="1216152" y="5330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9" name="직사각형 30"/>
          <p:cNvSpPr/>
          <p:nvPr/>
        </p:nvSpPr>
        <p:spPr>
          <a:xfrm>
            <a:off x="2359152" y="35753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sp>
        <p:nvSpPr>
          <p:cNvPr id="30" name="직사각형 31"/>
          <p:cNvSpPr/>
          <p:nvPr/>
        </p:nvSpPr>
        <p:spPr>
          <a:xfrm>
            <a:off x="4297680" y="35753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sp>
        <p:nvSpPr>
          <p:cNvPr id="31" name="직사각형 3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출발    노랑: 방금 도착    파랑 원: 지나온 도시    파랑 굵은 선: 지나온 길    주황: 이번에 고른 길</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예 ② B에서 가장 가까운 D(1)</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140</a:t>
            </a:r>
          </a:p>
        </p:txBody>
      </p:sp>
      <p:sp>
        <p:nvSpPr>
          <p:cNvPr id="9" name="fit:0d9e5d1903ebb6ec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B에서 아직 가지 않은 도시는 C와 D입니다. C 2, D 1을 비교해 D로 갑니다.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ee19822467077c67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B에서 갈 수 있는 도시(A는 방문함)</a:t>
            </a:r>
          </a:p>
        </p:txBody>
      </p:sp>
      <p:graphicFrame>
        <p:nvGraphicFramePr>
          <p:cNvPr id="12" name="표 13"/>
          <p:cNvGraphicFramePr>
            <a:graphicFrameLocks noGrp="1"/>
          </p:cNvGraphicFramePr>
          <p:nvPr/>
        </p:nvGraphicFramePr>
        <p:xfrm>
          <a:off x="7909560" y="3328416"/>
          <a:ext cx="3666744" cy="987552"/>
        </p:xfrm>
        <a:graphic>
          <a:graphicData uri="http://schemas.openxmlformats.org/drawingml/2006/table">
            <a:tbl>
              <a:tblPr/>
              <a:tblGrid>
                <a:gridCol w="1833372"/>
                <a:gridCol w="1833372"/>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도시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거리</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D</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a:txBody>
                  <a:tcPr marL="54864" marR="54864" marT="18288" marB="18288" anchor="ctr">
                    <a:solidFill>
                      <a:srgbClr val="FFF1C2"/>
                    </a:solidFill>
                  </a:tcPr>
                </a:tc>
              </a:tr>
            </a:tbl>
          </a:graphicData>
        </a:graphic>
      </p:graphicFrame>
      <p:sp>
        <p:nvSpPr>
          <p:cNvPr id="13" name="fit:a7c06dc0493e42e2 14"/>
          <p:cNvSpPr/>
          <p:nvPr/>
        </p:nvSpPr>
        <p:spPr>
          <a:xfrm>
            <a:off x="7909560" y="446227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 D로 이동</a:t>
            </a:r>
          </a:p>
        </p:txBody>
      </p:sp>
      <p:sp>
        <p:nvSpPr>
          <p:cNvPr id="14" name="fit:8e2ed09daca13832 15"/>
          <p:cNvSpPr/>
          <p:nvPr/>
        </p:nvSpPr>
        <p:spPr>
          <a:xfrm>
            <a:off x="7909560" y="4919472"/>
            <a:ext cx="3666744"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경로 A → B → D, 지금까지 1 + 1 = 2</a:t>
            </a:r>
          </a:p>
        </p:txBody>
      </p:sp>
      <p:cxnSp>
        <p:nvCxnSpPr>
          <p:cNvPr id="15" name="연결선 16"/>
          <p:cNvCxnSpPr/>
          <p:nvPr/>
        </p:nvCxnSpPr>
        <p:spPr>
          <a:xfrm>
            <a:off x="1709928" y="3017520"/>
            <a:ext cx="3712464" cy="0"/>
          </a:xfrm>
          <a:prstGeom prst="line">
            <a:avLst/>
          </a:prstGeom>
          <a:ln w="44450">
            <a:solidFill>
              <a:srgbClr val="1D5A8A"/>
            </a:solidFill>
          </a:ln>
        </p:spPr>
      </p:cxnSp>
      <p:sp>
        <p:nvSpPr>
          <p:cNvPr id="16" name="직사각형 17"/>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cxnSp>
        <p:nvCxnSpPr>
          <p:cNvPr id="17" name="연결선 18"/>
          <p:cNvCxnSpPr/>
          <p:nvPr/>
        </p:nvCxnSpPr>
        <p:spPr>
          <a:xfrm>
            <a:off x="5669280" y="3264408"/>
            <a:ext cx="0" cy="2066544"/>
          </a:xfrm>
          <a:prstGeom prst="line">
            <a:avLst/>
          </a:prstGeom>
          <a:ln w="19050">
            <a:solidFill>
              <a:srgbClr val="9A9A9A"/>
            </a:solidFill>
          </a:ln>
        </p:spPr>
      </p:cxnSp>
      <p:sp>
        <p:nvSpPr>
          <p:cNvPr id="18" name="직사각형 19"/>
          <p:cNvSpPr/>
          <p:nvPr/>
        </p:nvSpPr>
        <p:spPr>
          <a:xfrm>
            <a:off x="5577840"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9" name="연결선 20"/>
          <p:cNvCxnSpPr/>
          <p:nvPr/>
        </p:nvCxnSpPr>
        <p:spPr>
          <a:xfrm flipH="1">
            <a:off x="1709928" y="5577840"/>
            <a:ext cx="3712464" cy="0"/>
          </a:xfrm>
          <a:prstGeom prst="line">
            <a:avLst/>
          </a:prstGeom>
          <a:ln w="19050">
            <a:solidFill>
              <a:srgbClr val="9A9A9A"/>
            </a:solidFill>
          </a:ln>
        </p:spPr>
      </p:cxnSp>
      <p:sp>
        <p:nvSpPr>
          <p:cNvPr id="20" name="직사각형 21"/>
          <p:cNvSpPr/>
          <p:nvPr/>
        </p:nvSpPr>
        <p:spPr>
          <a:xfrm>
            <a:off x="3328416" y="558698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1" name="연결선 22"/>
          <p:cNvCxnSpPr/>
          <p:nvPr/>
        </p:nvCxnSpPr>
        <p:spPr>
          <a:xfrm flipV="1">
            <a:off x="1463040" y="3264408"/>
            <a:ext cx="0" cy="2066544"/>
          </a:xfrm>
          <a:prstGeom prst="line">
            <a:avLst/>
          </a:prstGeom>
          <a:ln w="19050">
            <a:solidFill>
              <a:srgbClr val="9A9A9A"/>
            </a:solidFill>
          </a:ln>
        </p:spPr>
      </p:cxnSp>
      <p:sp>
        <p:nvSpPr>
          <p:cNvPr id="22" name="직사각형 23"/>
          <p:cNvSpPr/>
          <p:nvPr/>
        </p:nvSpPr>
        <p:spPr>
          <a:xfrm>
            <a:off x="1078992"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3" name="연결선 24"/>
          <p:cNvCxnSpPr/>
          <p:nvPr/>
        </p:nvCxnSpPr>
        <p:spPr>
          <a:xfrm>
            <a:off x="1673931" y="3145889"/>
            <a:ext cx="3784457" cy="2303583"/>
          </a:xfrm>
          <a:prstGeom prst="line">
            <a:avLst/>
          </a:prstGeom>
          <a:ln w="19050">
            <a:solidFill>
              <a:srgbClr val="9A9A9A"/>
            </a:solidFill>
          </a:ln>
        </p:spPr>
      </p:cxnSp>
      <p:cxnSp>
        <p:nvCxnSpPr>
          <p:cNvPr id="24" name="연결선 25"/>
          <p:cNvCxnSpPr/>
          <p:nvPr/>
        </p:nvCxnSpPr>
        <p:spPr>
          <a:xfrm flipH="1">
            <a:off x="1673931" y="3145889"/>
            <a:ext cx="3784457" cy="2303583"/>
          </a:xfrm>
          <a:prstGeom prst="line">
            <a:avLst/>
          </a:prstGeom>
          <a:ln w="44450">
            <a:solidFill>
              <a:srgbClr val="B8651B"/>
            </a:solidFill>
          </a:ln>
        </p:spPr>
      </p:cxnSp>
      <p:sp>
        <p:nvSpPr>
          <p:cNvPr id="25" name="직사각형 26"/>
          <p:cNvSpPr/>
          <p:nvPr/>
        </p:nvSpPr>
        <p:spPr>
          <a:xfrm>
            <a:off x="1216152" y="277063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6" name="직사각형 27"/>
          <p:cNvSpPr/>
          <p:nvPr/>
        </p:nvSpPr>
        <p:spPr>
          <a:xfrm>
            <a:off x="542239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7" name="직사각형 28"/>
          <p:cNvSpPr/>
          <p:nvPr/>
        </p:nvSpPr>
        <p:spPr>
          <a:xfrm>
            <a:off x="5422392" y="5330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8" name="직사각형 29"/>
          <p:cNvSpPr/>
          <p:nvPr/>
        </p:nvSpPr>
        <p:spPr>
          <a:xfrm>
            <a:off x="121615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9" name="직사각형 30"/>
          <p:cNvSpPr/>
          <p:nvPr/>
        </p:nvSpPr>
        <p:spPr>
          <a:xfrm>
            <a:off x="2359152" y="35753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sp>
        <p:nvSpPr>
          <p:cNvPr id="30" name="직사각형 31"/>
          <p:cNvSpPr/>
          <p:nvPr/>
        </p:nvSpPr>
        <p:spPr>
          <a:xfrm>
            <a:off x="4297680" y="35753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sp>
        <p:nvSpPr>
          <p:cNvPr id="31" name="직사각형 3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출발    노랑: 방금 도착    파랑 원: 지나온 도시    파랑 굵은 선: 지나온 길    주황: 이번에 고른 길</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예 ③ 남은 C(5), 복귀 A(2) · 합 9</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141</a:t>
            </a:r>
          </a:p>
        </p:txBody>
      </p:sp>
      <p:sp>
        <p:nvSpPr>
          <p:cNvPr id="9" name="fit:41805cdd7141823b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D에서 남은 도시는 C뿐이라 가장 비싼 5를 피할 수 없습니다. C에서 A로 돌아오면 합은 9입니다.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975104"/>
        </p:xfrm>
        <a:graphic>
          <a:graphicData uri="http://schemas.openxmlformats.org/drawingml/2006/table">
            <a:tbl>
              <a:tblPr/>
              <a:tblGrid>
                <a:gridCol w="1833372"/>
                <a:gridCol w="1833372"/>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이동</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비용</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 → 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D → C</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5</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 → A (복귀)</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합</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9</a:t>
                      </a:r>
                    </a:p>
                  </a:txBody>
                  <a:tcPr marL="54864" marR="54864" marT="18288" marB="18288" anchor="ctr">
                    <a:solidFill>
                      <a:srgbClr val="FFFFFF"/>
                    </a:solidFill>
                  </a:tcPr>
                </a:tc>
              </a:tr>
            </a:tbl>
          </a:graphicData>
        </a:graphic>
      </p:graphicFrame>
      <p:sp>
        <p:nvSpPr>
          <p:cNvPr id="12" name="fit:91f8b667a492121e 13"/>
          <p:cNvSpPr/>
          <p:nvPr/>
        </p:nvSpPr>
        <p:spPr>
          <a:xfrm>
            <a:off x="7909560" y="5056632"/>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D → C는 고른 길이 아니라, 남은 도시가 C 하나뿐이라 가야만 하는 길입니다.</a:t>
            </a:r>
          </a:p>
        </p:txBody>
      </p:sp>
      <p:cxnSp>
        <p:nvCxnSpPr>
          <p:cNvPr id="13" name="연결선 14"/>
          <p:cNvCxnSpPr/>
          <p:nvPr/>
        </p:nvCxnSpPr>
        <p:spPr>
          <a:xfrm>
            <a:off x="1709928" y="3017520"/>
            <a:ext cx="3712464" cy="0"/>
          </a:xfrm>
          <a:prstGeom prst="line">
            <a:avLst/>
          </a:prstGeom>
          <a:ln w="44450">
            <a:solidFill>
              <a:srgbClr val="1D5A8A"/>
            </a:solidFill>
          </a:ln>
        </p:spPr>
      </p:cxnSp>
      <p:sp>
        <p:nvSpPr>
          <p:cNvPr id="14" name="직사각형 15"/>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cxnSp>
        <p:nvCxnSpPr>
          <p:cNvPr id="15" name="연결선 16"/>
          <p:cNvCxnSpPr/>
          <p:nvPr/>
        </p:nvCxnSpPr>
        <p:spPr>
          <a:xfrm>
            <a:off x="5669280" y="3264408"/>
            <a:ext cx="0" cy="2066544"/>
          </a:xfrm>
          <a:prstGeom prst="line">
            <a:avLst/>
          </a:prstGeom>
          <a:ln w="19050">
            <a:solidFill>
              <a:srgbClr val="9A9A9A"/>
            </a:solidFill>
          </a:ln>
        </p:spPr>
      </p:cxnSp>
      <p:sp>
        <p:nvSpPr>
          <p:cNvPr id="16" name="직사각형 17"/>
          <p:cNvSpPr/>
          <p:nvPr/>
        </p:nvSpPr>
        <p:spPr>
          <a:xfrm>
            <a:off x="5577840"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7" name="연결선 18"/>
          <p:cNvCxnSpPr/>
          <p:nvPr/>
        </p:nvCxnSpPr>
        <p:spPr>
          <a:xfrm flipH="1">
            <a:off x="1709928" y="5577840"/>
            <a:ext cx="3712464" cy="0"/>
          </a:xfrm>
          <a:prstGeom prst="line">
            <a:avLst/>
          </a:prstGeom>
          <a:ln w="44450">
            <a:solidFill>
              <a:srgbClr val="B8651B"/>
            </a:solidFill>
          </a:ln>
        </p:spPr>
      </p:cxnSp>
      <p:sp>
        <p:nvSpPr>
          <p:cNvPr id="18" name="직사각형 19"/>
          <p:cNvSpPr/>
          <p:nvPr/>
        </p:nvSpPr>
        <p:spPr>
          <a:xfrm>
            <a:off x="3328416" y="558698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19" name="연결선 20"/>
          <p:cNvCxnSpPr/>
          <p:nvPr/>
        </p:nvCxnSpPr>
        <p:spPr>
          <a:xfrm flipV="1">
            <a:off x="1463040" y="3264408"/>
            <a:ext cx="0" cy="2066544"/>
          </a:xfrm>
          <a:prstGeom prst="line">
            <a:avLst/>
          </a:prstGeom>
          <a:ln w="19050">
            <a:solidFill>
              <a:srgbClr val="9A9A9A"/>
            </a:solidFill>
          </a:ln>
        </p:spPr>
      </p:cxnSp>
      <p:sp>
        <p:nvSpPr>
          <p:cNvPr id="20" name="직사각형 21"/>
          <p:cNvSpPr/>
          <p:nvPr/>
        </p:nvSpPr>
        <p:spPr>
          <a:xfrm>
            <a:off x="1078992" y="41605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1" name="연결선 22"/>
          <p:cNvCxnSpPr/>
          <p:nvPr/>
        </p:nvCxnSpPr>
        <p:spPr>
          <a:xfrm>
            <a:off x="1673931" y="3145889"/>
            <a:ext cx="3784457" cy="2303583"/>
          </a:xfrm>
          <a:prstGeom prst="line">
            <a:avLst/>
          </a:prstGeom>
          <a:ln w="44450">
            <a:solidFill>
              <a:srgbClr val="B8651B"/>
            </a:solidFill>
          </a:ln>
        </p:spPr>
      </p:cxnSp>
      <p:cxnSp>
        <p:nvCxnSpPr>
          <p:cNvPr id="22" name="연결선 23"/>
          <p:cNvCxnSpPr/>
          <p:nvPr/>
        </p:nvCxnSpPr>
        <p:spPr>
          <a:xfrm flipH="1">
            <a:off x="1673931" y="3145889"/>
            <a:ext cx="3784457" cy="2303583"/>
          </a:xfrm>
          <a:prstGeom prst="line">
            <a:avLst/>
          </a:prstGeom>
          <a:ln w="44450">
            <a:solidFill>
              <a:srgbClr val="1D5A8A"/>
            </a:solidFill>
          </a:ln>
        </p:spPr>
      </p:cxnSp>
      <p:sp>
        <p:nvSpPr>
          <p:cNvPr id="23" name="직사각형 24"/>
          <p:cNvSpPr/>
          <p:nvPr/>
        </p:nvSpPr>
        <p:spPr>
          <a:xfrm>
            <a:off x="1216152" y="277063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4" name="직사각형 25"/>
          <p:cNvSpPr/>
          <p:nvPr/>
        </p:nvSpPr>
        <p:spPr>
          <a:xfrm>
            <a:off x="542239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5" name="직사각형 26"/>
          <p:cNvSpPr/>
          <p:nvPr/>
        </p:nvSpPr>
        <p:spPr>
          <a:xfrm>
            <a:off x="5422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6" name="직사각형 27"/>
          <p:cNvSpPr/>
          <p:nvPr/>
        </p:nvSpPr>
        <p:spPr>
          <a:xfrm>
            <a:off x="1216152" y="533095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7" name="직사각형 28"/>
          <p:cNvSpPr/>
          <p:nvPr/>
        </p:nvSpPr>
        <p:spPr>
          <a:xfrm>
            <a:off x="2359152" y="35753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sp>
        <p:nvSpPr>
          <p:cNvPr id="28" name="직사각형 29"/>
          <p:cNvSpPr/>
          <p:nvPr/>
        </p:nvSpPr>
        <p:spPr>
          <a:xfrm>
            <a:off x="4297680" y="357530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sp>
        <p:nvSpPr>
          <p:cNvPr id="29" name="직사각형 30"/>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출발    노랑: 방금 도착    파랑 원: 지나온 도시    파랑 굵은 선: 지나온 길    주황: 이번에 간 길(D → C → A)</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예 ④ 그리디 9 vs 최적 8</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142</a:t>
            </a:r>
          </a:p>
        </p:txBody>
      </p:sp>
      <p:sp>
        <p:nvSpPr>
          <p:cNvPr id="9" name="fit:7bbf6c1a5e5014a2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순회는 방향만 다른 것을 하나로 세면 세 가지뿐입니다(11, 9, 8). 최적은 A → C → B → D → A, 비용 8입니다.</a:t>
            </a:r>
          </a:p>
        </p:txBody>
      </p:sp>
      <p:sp>
        <p:nvSpPr>
          <p:cNvPr id="10" name="직사각형 11"/>
          <p:cNvSpPr/>
          <p:nvPr/>
        </p:nvSpPr>
        <p:spPr>
          <a:xfrm>
            <a:off x="914400" y="2432304"/>
            <a:ext cx="384048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가장 가까운 이웃: 9</a:t>
            </a:r>
          </a:p>
        </p:txBody>
      </p:sp>
      <p:cxnSp>
        <p:nvCxnSpPr>
          <p:cNvPr id="11" name="연결선 12"/>
          <p:cNvCxnSpPr/>
          <p:nvPr/>
        </p:nvCxnSpPr>
        <p:spPr>
          <a:xfrm>
            <a:off x="1527048" y="3108960"/>
            <a:ext cx="2157984" cy="0"/>
          </a:xfrm>
          <a:prstGeom prst="line">
            <a:avLst/>
          </a:prstGeom>
          <a:ln w="44450">
            <a:solidFill>
              <a:srgbClr val="1D5A8A"/>
            </a:solidFill>
          </a:ln>
        </p:spPr>
      </p:cxnSp>
      <p:sp>
        <p:nvSpPr>
          <p:cNvPr id="12" name="직사각형 13"/>
          <p:cNvSpPr/>
          <p:nvPr/>
        </p:nvSpPr>
        <p:spPr>
          <a:xfrm>
            <a:off x="2368296" y="2825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cxnSp>
        <p:nvCxnSpPr>
          <p:cNvPr id="13" name="연결선 14"/>
          <p:cNvCxnSpPr/>
          <p:nvPr/>
        </p:nvCxnSpPr>
        <p:spPr>
          <a:xfrm>
            <a:off x="3931920" y="3355848"/>
            <a:ext cx="0" cy="1426464"/>
          </a:xfrm>
          <a:prstGeom prst="line">
            <a:avLst/>
          </a:prstGeom>
          <a:ln w="12700">
            <a:solidFill>
              <a:srgbClr val="D0D0D0"/>
            </a:solidFill>
          </a:ln>
        </p:spPr>
      </p:cxnSp>
      <p:sp>
        <p:nvSpPr>
          <p:cNvPr id="14" name="직사각형 15"/>
          <p:cNvSpPr/>
          <p:nvPr/>
        </p:nvSpPr>
        <p:spPr>
          <a:xfrm>
            <a:off x="3840480" y="39319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a:t>
            </a:r>
          </a:p>
        </p:txBody>
      </p:sp>
      <p:cxnSp>
        <p:nvCxnSpPr>
          <p:cNvPr id="15" name="연결선 16"/>
          <p:cNvCxnSpPr/>
          <p:nvPr/>
        </p:nvCxnSpPr>
        <p:spPr>
          <a:xfrm flipH="1">
            <a:off x="1527048" y="5029200"/>
            <a:ext cx="2157984" cy="0"/>
          </a:xfrm>
          <a:prstGeom prst="line">
            <a:avLst/>
          </a:prstGeom>
          <a:ln w="44450">
            <a:solidFill>
              <a:srgbClr val="B8651B"/>
            </a:solidFill>
          </a:ln>
        </p:spPr>
      </p:cxnSp>
      <p:sp>
        <p:nvSpPr>
          <p:cNvPr id="16" name="직사각형 17"/>
          <p:cNvSpPr/>
          <p:nvPr/>
        </p:nvSpPr>
        <p:spPr>
          <a:xfrm>
            <a:off x="236829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17" name="연결선 18"/>
          <p:cNvCxnSpPr/>
          <p:nvPr/>
        </p:nvCxnSpPr>
        <p:spPr>
          <a:xfrm flipV="1">
            <a:off x="1280160" y="3355848"/>
            <a:ext cx="0" cy="1426464"/>
          </a:xfrm>
          <a:prstGeom prst="line">
            <a:avLst/>
          </a:prstGeom>
          <a:ln w="12700">
            <a:solidFill>
              <a:srgbClr val="D0D0D0"/>
            </a:solidFill>
          </a:ln>
        </p:spPr>
      </p:cxnSp>
      <p:sp>
        <p:nvSpPr>
          <p:cNvPr id="18" name="직사각형 19"/>
          <p:cNvSpPr/>
          <p:nvPr/>
        </p:nvSpPr>
        <p:spPr>
          <a:xfrm>
            <a:off x="896112" y="39319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3</a:t>
            </a:r>
          </a:p>
        </p:txBody>
      </p:sp>
      <p:cxnSp>
        <p:nvCxnSpPr>
          <p:cNvPr id="19" name="연결선 20"/>
          <p:cNvCxnSpPr/>
          <p:nvPr/>
        </p:nvCxnSpPr>
        <p:spPr>
          <a:xfrm>
            <a:off x="1480125" y="3253762"/>
            <a:ext cx="2251830" cy="1630636"/>
          </a:xfrm>
          <a:prstGeom prst="line">
            <a:avLst/>
          </a:prstGeom>
          <a:ln w="44450">
            <a:solidFill>
              <a:srgbClr val="1D5A8A"/>
            </a:solidFill>
          </a:ln>
        </p:spPr>
      </p:cxnSp>
      <p:cxnSp>
        <p:nvCxnSpPr>
          <p:cNvPr id="20" name="연결선 21"/>
          <p:cNvCxnSpPr/>
          <p:nvPr/>
        </p:nvCxnSpPr>
        <p:spPr>
          <a:xfrm flipH="1">
            <a:off x="1480125" y="3253762"/>
            <a:ext cx="2251830" cy="1630636"/>
          </a:xfrm>
          <a:prstGeom prst="line">
            <a:avLst/>
          </a:prstGeom>
          <a:ln w="44450">
            <a:solidFill>
              <a:srgbClr val="1D5A8A"/>
            </a:solidFill>
          </a:ln>
        </p:spPr>
      </p:cxnSp>
      <p:sp>
        <p:nvSpPr>
          <p:cNvPr id="21" name="직사각형 22"/>
          <p:cNvSpPr/>
          <p:nvPr/>
        </p:nvSpPr>
        <p:spPr>
          <a:xfrm>
            <a:off x="1033272" y="286207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2" name="직사각형 23"/>
          <p:cNvSpPr/>
          <p:nvPr/>
        </p:nvSpPr>
        <p:spPr>
          <a:xfrm>
            <a:off x="3685032" y="2862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3" name="직사각형 24"/>
          <p:cNvSpPr/>
          <p:nvPr/>
        </p:nvSpPr>
        <p:spPr>
          <a:xfrm>
            <a:off x="3685032" y="47823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4" name="직사각형 25"/>
          <p:cNvSpPr/>
          <p:nvPr/>
        </p:nvSpPr>
        <p:spPr>
          <a:xfrm>
            <a:off x="1033272" y="47823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5" name="직사각형 26"/>
          <p:cNvSpPr/>
          <p:nvPr/>
        </p:nvSpPr>
        <p:spPr>
          <a:xfrm>
            <a:off x="6400800" y="2432304"/>
            <a:ext cx="384048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0E8A7D"/>
                </a:solidFill>
                <a:latin typeface="Malgun Gothic"/>
                <a:ea typeface="Malgun Gothic"/>
                <a:cs typeface="Malgun Gothic"/>
              </a:rPr>
              <a:t>최적: 8</a:t>
            </a:r>
          </a:p>
        </p:txBody>
      </p:sp>
      <p:cxnSp>
        <p:nvCxnSpPr>
          <p:cNvPr id="26" name="연결선 27"/>
          <p:cNvCxnSpPr/>
          <p:nvPr/>
        </p:nvCxnSpPr>
        <p:spPr>
          <a:xfrm>
            <a:off x="7013448" y="3108960"/>
            <a:ext cx="2157984" cy="0"/>
          </a:xfrm>
          <a:prstGeom prst="line">
            <a:avLst/>
          </a:prstGeom>
          <a:ln w="12700">
            <a:solidFill>
              <a:srgbClr val="D0D0D0"/>
            </a:solidFill>
          </a:ln>
        </p:spPr>
      </p:cxnSp>
      <p:sp>
        <p:nvSpPr>
          <p:cNvPr id="27" name="직사각형 28"/>
          <p:cNvSpPr/>
          <p:nvPr/>
        </p:nvSpPr>
        <p:spPr>
          <a:xfrm>
            <a:off x="7854696" y="2825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1</a:t>
            </a:r>
          </a:p>
        </p:txBody>
      </p:sp>
      <p:cxnSp>
        <p:nvCxnSpPr>
          <p:cNvPr id="28" name="연결선 29"/>
          <p:cNvCxnSpPr/>
          <p:nvPr/>
        </p:nvCxnSpPr>
        <p:spPr>
          <a:xfrm>
            <a:off x="9418320" y="3355848"/>
            <a:ext cx="0" cy="1426464"/>
          </a:xfrm>
          <a:prstGeom prst="line">
            <a:avLst/>
          </a:prstGeom>
          <a:ln w="44450">
            <a:solidFill>
              <a:srgbClr val="1D5A8A"/>
            </a:solidFill>
          </a:ln>
        </p:spPr>
      </p:cxnSp>
      <p:sp>
        <p:nvSpPr>
          <p:cNvPr id="29" name="직사각형 30"/>
          <p:cNvSpPr/>
          <p:nvPr/>
        </p:nvSpPr>
        <p:spPr>
          <a:xfrm>
            <a:off x="9326880" y="39319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2</a:t>
            </a:r>
          </a:p>
        </p:txBody>
      </p:sp>
      <p:cxnSp>
        <p:nvCxnSpPr>
          <p:cNvPr id="30" name="연결선 31"/>
          <p:cNvCxnSpPr/>
          <p:nvPr/>
        </p:nvCxnSpPr>
        <p:spPr>
          <a:xfrm flipH="1">
            <a:off x="7013448" y="5029200"/>
            <a:ext cx="2157984" cy="0"/>
          </a:xfrm>
          <a:prstGeom prst="line">
            <a:avLst/>
          </a:prstGeom>
          <a:ln w="12700">
            <a:solidFill>
              <a:srgbClr val="D0D0D0"/>
            </a:solidFill>
          </a:ln>
        </p:spPr>
      </p:cxnSp>
      <p:sp>
        <p:nvSpPr>
          <p:cNvPr id="31" name="직사각형 32"/>
          <p:cNvSpPr/>
          <p:nvPr/>
        </p:nvSpPr>
        <p:spPr>
          <a:xfrm>
            <a:off x="785469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5</a:t>
            </a:r>
          </a:p>
        </p:txBody>
      </p:sp>
      <p:cxnSp>
        <p:nvCxnSpPr>
          <p:cNvPr id="32" name="연결선 33"/>
          <p:cNvCxnSpPr/>
          <p:nvPr/>
        </p:nvCxnSpPr>
        <p:spPr>
          <a:xfrm flipV="1">
            <a:off x="6766560" y="3355848"/>
            <a:ext cx="0" cy="1426464"/>
          </a:xfrm>
          <a:prstGeom prst="line">
            <a:avLst/>
          </a:prstGeom>
          <a:ln w="44450">
            <a:solidFill>
              <a:srgbClr val="1D5A8A"/>
            </a:solidFill>
          </a:ln>
        </p:spPr>
      </p:cxnSp>
      <p:sp>
        <p:nvSpPr>
          <p:cNvPr id="33" name="직사각형 34"/>
          <p:cNvSpPr/>
          <p:nvPr/>
        </p:nvSpPr>
        <p:spPr>
          <a:xfrm>
            <a:off x="6382512" y="393192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3</a:t>
            </a:r>
          </a:p>
        </p:txBody>
      </p:sp>
      <p:cxnSp>
        <p:nvCxnSpPr>
          <p:cNvPr id="34" name="연결선 35"/>
          <p:cNvCxnSpPr/>
          <p:nvPr/>
        </p:nvCxnSpPr>
        <p:spPr>
          <a:xfrm>
            <a:off x="6966525" y="3253762"/>
            <a:ext cx="2251830" cy="1630636"/>
          </a:xfrm>
          <a:prstGeom prst="line">
            <a:avLst/>
          </a:prstGeom>
          <a:ln w="44450">
            <a:solidFill>
              <a:srgbClr val="1D5A8A"/>
            </a:solidFill>
          </a:ln>
        </p:spPr>
      </p:cxnSp>
      <p:cxnSp>
        <p:nvCxnSpPr>
          <p:cNvPr id="35" name="연결선 36"/>
          <p:cNvCxnSpPr/>
          <p:nvPr/>
        </p:nvCxnSpPr>
        <p:spPr>
          <a:xfrm flipH="1">
            <a:off x="6966525" y="3253762"/>
            <a:ext cx="2251830" cy="1630636"/>
          </a:xfrm>
          <a:prstGeom prst="line">
            <a:avLst/>
          </a:prstGeom>
          <a:ln w="44450">
            <a:solidFill>
              <a:srgbClr val="1D5A8A"/>
            </a:solidFill>
          </a:ln>
        </p:spPr>
      </p:cxnSp>
      <p:sp>
        <p:nvSpPr>
          <p:cNvPr id="36" name="직사각형 37"/>
          <p:cNvSpPr/>
          <p:nvPr/>
        </p:nvSpPr>
        <p:spPr>
          <a:xfrm>
            <a:off x="6519672" y="286207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37" name="직사각형 38"/>
          <p:cNvSpPr/>
          <p:nvPr/>
        </p:nvSpPr>
        <p:spPr>
          <a:xfrm>
            <a:off x="9171432" y="2862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8" name="직사각형 39"/>
          <p:cNvSpPr/>
          <p:nvPr/>
        </p:nvSpPr>
        <p:spPr>
          <a:xfrm>
            <a:off x="9171432" y="47823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9" name="직사각형 40"/>
          <p:cNvSpPr/>
          <p:nvPr/>
        </p:nvSpPr>
        <p:spPr>
          <a:xfrm>
            <a:off x="6519672" y="47823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40" name="직사각형 41"/>
          <p:cNvSpPr/>
          <p:nvPr/>
        </p:nvSpPr>
        <p:spPr>
          <a:xfrm>
            <a:off x="1755648" y="349300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2</a:t>
            </a:r>
          </a:p>
        </p:txBody>
      </p:sp>
      <p:sp>
        <p:nvSpPr>
          <p:cNvPr id="41" name="직사각형 42"/>
          <p:cNvSpPr/>
          <p:nvPr/>
        </p:nvSpPr>
        <p:spPr>
          <a:xfrm>
            <a:off x="2980944" y="349300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sp>
        <p:nvSpPr>
          <p:cNvPr id="42" name="직사각형 43"/>
          <p:cNvSpPr/>
          <p:nvPr/>
        </p:nvSpPr>
        <p:spPr>
          <a:xfrm>
            <a:off x="7242048" y="349300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2</a:t>
            </a:r>
          </a:p>
        </p:txBody>
      </p:sp>
      <p:sp>
        <p:nvSpPr>
          <p:cNvPr id="43" name="직사각형 44"/>
          <p:cNvSpPr/>
          <p:nvPr/>
        </p:nvSpPr>
        <p:spPr>
          <a:xfrm>
            <a:off x="8467344" y="349300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D5A8A"/>
                </a:solidFill>
                <a:latin typeface="Malgun Gothic"/>
                <a:ea typeface="Malgun Gothic"/>
                <a:cs typeface="Malgun Gothic"/>
              </a:rPr>
              <a:t>1</a:t>
            </a:r>
          </a:p>
        </p:txBody>
      </p:sp>
      <p:sp>
        <p:nvSpPr>
          <p:cNvPr id="44" name="직사각형 45"/>
          <p:cNvSpPr/>
          <p:nvPr/>
        </p:nvSpPr>
        <p:spPr>
          <a:xfrm>
            <a:off x="914400" y="5522976"/>
            <a:ext cx="3474720" cy="420624"/>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800" b="1" dirty="0">
                <a:solidFill>
                  <a:srgbClr val="B23B3B"/>
                </a:solidFill>
                <a:latin typeface="Malgun Gothic"/>
                <a:ea typeface="Malgun Gothic"/>
                <a:cs typeface="Malgun Gothic"/>
              </a:rPr>
              <a:t>1 + 1 + 5 + 2 = 9</a:t>
            </a:r>
          </a:p>
        </p:txBody>
      </p:sp>
      <p:sp>
        <p:nvSpPr>
          <p:cNvPr id="45" name="직사각형 46"/>
          <p:cNvSpPr/>
          <p:nvPr/>
        </p:nvSpPr>
        <p:spPr>
          <a:xfrm>
            <a:off x="6400800" y="5522976"/>
            <a:ext cx="3474720" cy="42062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256B50"/>
                </a:solidFill>
                <a:latin typeface="Malgun Gothic"/>
                <a:ea typeface="Malgun Gothic"/>
                <a:cs typeface="Malgun Gothic"/>
              </a:rPr>
              <a:t>2 + 2 + 1 + 3 = 8</a:t>
            </a:r>
          </a:p>
        </p:txBody>
      </p:sp>
      <p:sp>
        <p:nvSpPr>
          <p:cNvPr id="46" name="직사각형 4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굵은 선: 순회에 쓴 길    주황: 그리디가 피하지 못한 D → C(5)    연회색: 쓰지 않은 길</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실패하나: A → B를 포함하는 최적해가 없다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143</a:t>
            </a:r>
          </a:p>
        </p:txBody>
      </p:sp>
      <p:graphicFrame>
        <p:nvGraphicFramePr>
          <p:cNvPr id="9" name="표 10"/>
          <p:cNvGraphicFramePr>
            <a:graphicFrameLocks noGrp="1"/>
          </p:cNvGraphicFramePr>
          <p:nvPr/>
        </p:nvGraphicFramePr>
        <p:xfrm>
          <a:off x="612648" y="1636776"/>
          <a:ext cx="10972800" cy="1316736"/>
        </p:xfrm>
        <a:graphic>
          <a:graphicData uri="http://schemas.openxmlformats.org/drawingml/2006/table">
            <a:tbl>
              <a:tblPr/>
              <a:tblGrid>
                <a:gridCol w="4840941"/>
                <a:gridCol w="3872753"/>
                <a:gridCol w="2259106"/>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A에서 출발하는 순회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비용</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A–B를 쓰는가</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 → C → D → 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 + 2 + 5 + 3 = 11</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예</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 → D → C → A (그리디)</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 + 1 + 5 + 2 = 9</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예</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A → C → B → D → A (최적)</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2 + 2 + 1 + 3 = 8</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아니오</a:t>
                      </a:r>
                    </a:p>
                  </a:txBody>
                  <a:tcPr marL="54864" marR="54864" marT="18288" marB="18288" anchor="ctr">
                    <a:solidFill>
                      <a:srgbClr val="FFFFFF"/>
                    </a:solidFill>
                  </a:tcPr>
                </a:tc>
              </a:tr>
            </a:tbl>
          </a:graphicData>
        </a:graphic>
      </p:graphicFrame>
      <p:sp>
        <p:nvSpPr>
          <p:cNvPr id="10" name="fit:0a19db0c653d5bff 11"/>
          <p:cNvSpPr/>
          <p:nvPr/>
        </p:nvSpPr>
        <p:spPr>
          <a:xfrm>
            <a:off x="612648" y="309981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조건 ①(탐욕적 선택 속성)이 깨졌습니다</a:t>
            </a:r>
          </a:p>
        </p:txBody>
      </p:sp>
      <p:sp>
        <p:nvSpPr>
          <p:cNvPr id="11" name="fit:1f370ecdf2c91337 12"/>
          <p:cNvSpPr/>
          <p:nvPr/>
        </p:nvSpPr>
        <p:spPr>
          <a:xfrm>
            <a:off x="795528" y="342900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첫 선택 A → B를 포함하는 순회는 11과 9뿐, 최적 8은 A–B를 쓰지 않습니다.</a:t>
            </a:r>
          </a:p>
        </p:txBody>
      </p:sp>
      <p:sp>
        <p:nvSpPr>
          <p:cNvPr id="12" name="fit:d981689ab085acbb 13"/>
          <p:cNvSpPr/>
          <p:nvPr/>
        </p:nvSpPr>
        <p:spPr>
          <a:xfrm>
            <a:off x="612648" y="381304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선택할 때 남을 도시를 보지 않습니다</a:t>
            </a:r>
          </a:p>
        </p:txBody>
      </p:sp>
      <p:sp>
        <p:nvSpPr>
          <p:cNvPr id="13" name="fit:b3926ad43ef3d5ab 14"/>
          <p:cNvSpPr/>
          <p:nvPr/>
        </p:nvSpPr>
        <p:spPr>
          <a:xfrm>
            <a:off x="795528" y="414223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비싼 D → C(5)는 앞의 두 선택이 남긴 결과입니다. 복귀 C → A(2)는 오히려 쌉니다.</a:t>
            </a:r>
          </a:p>
        </p:txBody>
      </p:sp>
      <p:sp>
        <p:nvSpPr>
          <p:cNvPr id="14" name="fit:d7185f37122472da 15"/>
          <p:cNvSpPr/>
          <p:nvPr/>
        </p:nvSpPr>
        <p:spPr>
          <a:xfrm>
            <a:off x="612648" y="452628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정확한 답은 6장에서</a:t>
            </a:r>
          </a:p>
        </p:txBody>
      </p:sp>
      <p:sp>
        <p:nvSpPr>
          <p:cNvPr id="15" name="fit:7cb1981b91eababb 16"/>
          <p:cNvSpPr/>
          <p:nvPr/>
        </p:nvSpPr>
        <p:spPr>
          <a:xfrm>
            <a:off x="795528" y="4855464"/>
            <a:ext cx="1078992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두 도시 사이 최단 경로로 쪼갤 수는 없지만, 방문한 도시 집합까지 기억하면 동적 계획법으로 풉니다(그래도 도시 수에 대해 지수 시간).</a:t>
            </a:r>
          </a:p>
        </p:txBody>
      </p:sp>
      <p:sp>
        <p:nvSpPr>
          <p:cNvPr id="16" name="fit:d92e0e3d0c7f113b 17"/>
          <p:cNvSpPr/>
          <p:nvPr/>
        </p:nvSpPr>
        <p:spPr>
          <a:xfrm>
            <a:off x="612648" y="5495544"/>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가장 가까운 이웃은 최적해를 보장하지 못합니다</a:t>
            </a:r>
          </a:p>
        </p:txBody>
      </p:sp>
      <p:sp>
        <p:nvSpPr>
          <p:cNvPr id="17" name="fit:0de24eb9b5a13f09 18"/>
          <p:cNvSpPr/>
          <p:nvPr/>
        </p:nvSpPr>
        <p:spPr>
          <a:xfrm>
            <a:off x="612648" y="595274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"항상 최적이다"를 반박하는 데는 이 반례 하나면 충분합니다.</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가장 가까운 이웃 ① 준비</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144</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tsp.py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INF = float("inf")</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def solve_tsp_nearest_neighbor(adj, start=0):</a:t>
            </a:r>
          </a:p>
          <a:p>
            <a:pPr algn="l" eaLnBrk="0" latinLnBrk="0">
              <a:lnSpc>
                <a:spcPct val="100000"/>
              </a:lnSpc>
              <a:buNone/>
            </a:pPr>
            <a:r>
              <a:rPr lang="ko-KR" altLang="en-US" sz="1800" b="0" dirty="0">
                <a:solidFill>
                  <a:srgbClr val="151515"/>
                </a:solidFill>
                <a:latin typeface="Consolas"/>
                <a:ea typeface="Consolas"/>
                <a:cs typeface="Consolas"/>
              </a:rPr>
              <a:t>    n = len(adj)</a:t>
            </a:r>
          </a:p>
          <a:p>
            <a:pPr algn="l" eaLnBrk="0" latinLnBrk="0">
              <a:lnSpc>
                <a:spcPct val="100000"/>
              </a:lnSpc>
              <a:buNone/>
            </a:pPr>
            <a:r>
              <a:rPr lang="ko-KR" altLang="en-US" sz="1800" b="0" dirty="0">
                <a:solidFill>
                  <a:srgbClr val="151515"/>
                </a:solidFill>
                <a:latin typeface="Consolas"/>
                <a:ea typeface="Consolas"/>
                <a:cs typeface="Consolas"/>
              </a:rPr>
              <a:t>    visited = [False] * n</a:t>
            </a:r>
          </a:p>
          <a:p>
            <a:pPr algn="l" eaLnBrk="0" latinLnBrk="0">
              <a:lnSpc>
                <a:spcPct val="100000"/>
              </a:lnSpc>
              <a:buNone/>
            </a:pPr>
            <a:r>
              <a:rPr lang="ko-KR" altLang="en-US" sz="1800" b="0" dirty="0">
                <a:solidFill>
                  <a:srgbClr val="151515"/>
                </a:solidFill>
                <a:latin typeface="Consolas"/>
                <a:ea typeface="Consolas"/>
                <a:cs typeface="Consolas"/>
              </a:rPr>
              <a:t>    visited[start] = True</a:t>
            </a:r>
          </a:p>
          <a:p>
            <a:pPr algn="l" eaLnBrk="0" latinLnBrk="0">
              <a:lnSpc>
                <a:spcPct val="100000"/>
              </a:lnSpc>
              <a:buNone/>
            </a:pPr>
            <a:r>
              <a:rPr lang="ko-KR" altLang="en-US" sz="1800" b="0" dirty="0">
                <a:solidFill>
                  <a:srgbClr val="151515"/>
                </a:solidFill>
                <a:latin typeface="Consolas"/>
                <a:ea typeface="Consolas"/>
                <a:cs typeface="Consolas"/>
              </a:rPr>
              <a:t>    path = [start]</a:t>
            </a:r>
          </a:p>
          <a:p>
            <a:pPr algn="l" eaLnBrk="0" latinLnBrk="0">
              <a:lnSpc>
                <a:spcPct val="100000"/>
              </a:lnSpc>
              <a:buNone/>
            </a:pPr>
            <a:r>
              <a:rPr lang="ko-KR" altLang="en-US" sz="1800" b="0" dirty="0">
                <a:solidFill>
                  <a:srgbClr val="151515"/>
                </a:solidFill>
                <a:latin typeface="Consolas"/>
                <a:ea typeface="Consolas"/>
                <a:cs typeface="Consolas"/>
              </a:rPr>
              <a:t>    current, total = start, 0</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가장 가까운 이웃 ② 반복과 복귀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145</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tsp.py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for _ in range(n - 1):</a:t>
            </a:r>
          </a:p>
          <a:p>
            <a:pPr algn="l" eaLnBrk="0" latinLnBrk="0">
              <a:lnSpc>
                <a:spcPct val="100000"/>
              </a:lnSpc>
              <a:buNone/>
            </a:pPr>
            <a:r>
              <a:rPr lang="ko-KR" altLang="en-US" sz="1800" b="0" dirty="0">
                <a:solidFill>
                  <a:srgbClr val="151515"/>
                </a:solidFill>
                <a:latin typeface="Consolas"/>
                <a:ea typeface="Consolas"/>
                <a:cs typeface="Consolas"/>
              </a:rPr>
              <a:t>        min_dist, next_city = INF, -1</a:t>
            </a:r>
          </a:p>
          <a:p>
            <a:pPr algn="l" eaLnBrk="0" latinLnBrk="0">
              <a:lnSpc>
                <a:spcPct val="100000"/>
              </a:lnSpc>
              <a:buNone/>
            </a:pPr>
            <a:r>
              <a:rPr lang="ko-KR" altLang="en-US" sz="1800" b="0" dirty="0">
                <a:solidFill>
                  <a:srgbClr val="151515"/>
                </a:solidFill>
                <a:latin typeface="Consolas"/>
                <a:ea typeface="Consolas"/>
                <a:cs typeface="Consolas"/>
              </a:rPr>
              <a:t>        # 방문 안 한 도시 중 가장 가까운 곳 찾기</a:t>
            </a:r>
          </a:p>
          <a:p>
            <a:pPr algn="l" eaLnBrk="0" latinLnBrk="0">
              <a:lnSpc>
                <a:spcPct val="100000"/>
              </a:lnSpc>
              <a:buNone/>
            </a:pPr>
            <a:r>
              <a:rPr lang="ko-KR" altLang="en-US" sz="1800" b="0" dirty="0">
                <a:solidFill>
                  <a:srgbClr val="151515"/>
                </a:solidFill>
                <a:latin typeface="Consolas"/>
                <a:ea typeface="Consolas"/>
                <a:cs typeface="Consolas"/>
              </a:rPr>
              <a:t>        for i in range(n):</a:t>
            </a:r>
          </a:p>
          <a:p>
            <a:pPr algn="l" eaLnBrk="0" latinLnBrk="0">
              <a:lnSpc>
                <a:spcPct val="100000"/>
              </a:lnSpc>
              <a:buNone/>
            </a:pPr>
            <a:r>
              <a:rPr lang="ko-KR" altLang="en-US" sz="1800" b="0" dirty="0">
                <a:solidFill>
                  <a:srgbClr val="151515"/>
                </a:solidFill>
                <a:latin typeface="Consolas"/>
                <a:ea typeface="Consolas"/>
                <a:cs typeface="Consolas"/>
              </a:rPr>
              <a:t>            if not visited[i] and adj[current][i] &lt; min_dist:</a:t>
            </a:r>
          </a:p>
          <a:p>
            <a:pPr algn="l" eaLnBrk="0" latinLnBrk="0">
              <a:lnSpc>
                <a:spcPct val="100000"/>
              </a:lnSpc>
              <a:buNone/>
            </a:pPr>
            <a:r>
              <a:rPr lang="ko-KR" altLang="en-US" sz="1800" b="0" dirty="0">
                <a:solidFill>
                  <a:srgbClr val="151515"/>
                </a:solidFill>
                <a:latin typeface="Consolas"/>
                <a:ea typeface="Consolas"/>
                <a:cs typeface="Consolas"/>
              </a:rPr>
              <a:t>                min_dist, next_city = adj[current][i], i</a:t>
            </a:r>
          </a:p>
          <a:p>
            <a:pPr algn="l" eaLnBrk="0" latinLnBrk="0">
              <a:lnSpc>
                <a:spcPct val="100000"/>
              </a:lnSpc>
              <a:buNone/>
            </a:pPr>
            <a:r>
              <a:rPr lang="ko-KR" altLang="en-US" sz="1800" b="0" dirty="0">
                <a:solidFill>
                  <a:srgbClr val="151515"/>
                </a:solidFill>
                <a:latin typeface="Consolas"/>
                <a:ea typeface="Consolas"/>
                <a:cs typeface="Consolas"/>
              </a:rPr>
              <a:t>        visited[next_city] = True</a:t>
            </a:r>
          </a:p>
          <a:p>
            <a:pPr algn="l" eaLnBrk="0" latinLnBrk="0">
              <a:lnSpc>
                <a:spcPct val="100000"/>
              </a:lnSpc>
              <a:buNone/>
            </a:pPr>
            <a:r>
              <a:rPr lang="ko-KR" altLang="en-US" sz="1800" b="0" dirty="0">
                <a:solidFill>
                  <a:srgbClr val="151515"/>
                </a:solidFill>
                <a:latin typeface="Consolas"/>
                <a:ea typeface="Consolas"/>
                <a:cs typeface="Consolas"/>
              </a:rPr>
              <a:t>        path.append(next_city)</a:t>
            </a:r>
          </a:p>
          <a:p>
            <a:pPr algn="l" eaLnBrk="0" latinLnBrk="0">
              <a:lnSpc>
                <a:spcPct val="100000"/>
              </a:lnSpc>
              <a:buNone/>
            </a:pPr>
            <a:r>
              <a:rPr lang="ko-KR" altLang="en-US" sz="1800" b="0" dirty="0">
                <a:solidFill>
                  <a:srgbClr val="151515"/>
                </a:solidFill>
                <a:latin typeface="Consolas"/>
                <a:ea typeface="Consolas"/>
                <a:cs typeface="Consolas"/>
              </a:rPr>
              <a:t>        total += min_dist</a:t>
            </a:r>
          </a:p>
          <a:p>
            <a:pPr algn="l" eaLnBrk="0" latinLnBrk="0">
              <a:lnSpc>
                <a:spcPct val="100000"/>
              </a:lnSpc>
              <a:buNone/>
            </a:pPr>
            <a:r>
              <a:rPr lang="ko-KR" altLang="en-US" sz="1800" b="0" dirty="0">
                <a:solidFill>
                  <a:srgbClr val="151515"/>
                </a:solidFill>
                <a:latin typeface="Consolas"/>
                <a:ea typeface="Consolas"/>
                <a:cs typeface="Consolas"/>
              </a:rPr>
              <a:t>        current = next_city</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total += adj[current][start]   # 출발점으로 복귀</a:t>
            </a:r>
          </a:p>
          <a:p>
            <a:pPr algn="l" eaLnBrk="0" latinLnBrk="0">
              <a:lnSpc>
                <a:spcPct val="100000"/>
              </a:lnSpc>
              <a:buNone/>
            </a:pPr>
            <a:r>
              <a:rPr lang="ko-KR" altLang="en-US" sz="1800" b="0" dirty="0">
                <a:solidFill>
                  <a:srgbClr val="151515"/>
                </a:solidFill>
                <a:latin typeface="Consolas"/>
                <a:ea typeface="Consolas"/>
                <a:cs typeface="Consolas"/>
              </a:rPr>
              <a:t>    path.append(start)</a:t>
            </a:r>
          </a:p>
          <a:p>
            <a:pPr algn="l" eaLnBrk="0" latinLnBrk="0">
              <a:lnSpc>
                <a:spcPct val="100000"/>
              </a:lnSpc>
              <a:buNone/>
            </a:pPr>
            <a:r>
              <a:rPr lang="ko-KR" altLang="en-US" sz="1800" b="0" dirty="0">
                <a:solidFill>
                  <a:srgbClr val="151515"/>
                </a:solidFill>
                <a:latin typeface="Consolas"/>
                <a:ea typeface="Consolas"/>
                <a:cs typeface="Consolas"/>
              </a:rPr>
              <a:t>    return path, total</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가장 가까운 이웃 ③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146</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tsp.py</a:t>
            </a:r>
          </a:p>
        </p:txBody>
      </p:sp>
      <p:sp>
        <p:nvSpPr>
          <p:cNvPr id="10" name="직사각형 11"/>
          <p:cNvSpPr/>
          <p:nvPr/>
        </p:nvSpPr>
        <p:spPr>
          <a:xfrm>
            <a:off x="630936" y="1645920"/>
            <a:ext cx="10954512" cy="429768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names = "ABCD"</a:t>
            </a:r>
          </a:p>
          <a:p>
            <a:pPr algn="l" eaLnBrk="0" latinLnBrk="0">
              <a:lnSpc>
                <a:spcPct val="100000"/>
              </a:lnSpc>
              <a:buNone/>
            </a:pPr>
            <a:r>
              <a:rPr lang="ko-KR" altLang="en-US" sz="1800" b="0" dirty="0">
                <a:solidFill>
                  <a:srgbClr val="151515"/>
                </a:solidFill>
                <a:latin typeface="Consolas"/>
                <a:ea typeface="Consolas"/>
                <a:cs typeface="Consolas"/>
              </a:rPr>
              <a:t>matrix = [</a:t>
            </a:r>
          </a:p>
          <a:p>
            <a:pPr algn="l" eaLnBrk="0" latinLnBrk="0">
              <a:lnSpc>
                <a:spcPct val="100000"/>
              </a:lnSpc>
              <a:buNone/>
            </a:pPr>
            <a:r>
              <a:rPr lang="ko-KR" altLang="en-US" sz="1800" b="0" dirty="0">
                <a:solidFill>
                  <a:srgbClr val="151515"/>
                </a:solidFill>
                <a:latin typeface="Consolas"/>
                <a:ea typeface="Consolas"/>
                <a:cs typeface="Consolas"/>
              </a:rPr>
              <a:t>    [0,  10, 15, 20],   # A</a:t>
            </a:r>
          </a:p>
          <a:p>
            <a:pPr algn="l" eaLnBrk="0" latinLnBrk="0">
              <a:lnSpc>
                <a:spcPct val="100000"/>
              </a:lnSpc>
              <a:buNone/>
            </a:pPr>
            <a:r>
              <a:rPr lang="ko-KR" altLang="en-US" sz="1800" b="0" dirty="0">
                <a:solidFill>
                  <a:srgbClr val="151515"/>
                </a:solidFill>
                <a:latin typeface="Consolas"/>
                <a:ea typeface="Consolas"/>
                <a:cs typeface="Consolas"/>
              </a:rPr>
              <a:t>    [10, 0,  35, 25],   # B</a:t>
            </a:r>
          </a:p>
          <a:p>
            <a:pPr algn="l" eaLnBrk="0" latinLnBrk="0">
              <a:lnSpc>
                <a:spcPct val="100000"/>
              </a:lnSpc>
              <a:buNone/>
            </a:pPr>
            <a:r>
              <a:rPr lang="ko-KR" altLang="en-US" sz="1800" b="0" dirty="0">
                <a:solidFill>
                  <a:srgbClr val="151515"/>
                </a:solidFill>
                <a:latin typeface="Consolas"/>
                <a:ea typeface="Consolas"/>
                <a:cs typeface="Consolas"/>
              </a:rPr>
              <a:t>    [15, 35, 0,  30],   # C</a:t>
            </a:r>
          </a:p>
          <a:p>
            <a:pPr algn="l" eaLnBrk="0" latinLnBrk="0">
              <a:lnSpc>
                <a:spcPct val="100000"/>
              </a:lnSpc>
              <a:buNone/>
            </a:pPr>
            <a:r>
              <a:rPr lang="ko-KR" altLang="en-US" sz="1800" b="0" dirty="0">
                <a:solidFill>
                  <a:srgbClr val="151515"/>
                </a:solidFill>
                <a:latin typeface="Consolas"/>
                <a:ea typeface="Consolas"/>
                <a:cs typeface="Consolas"/>
              </a:rPr>
              <a:t>    [20, 25, 30, 0]     # D</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r>
              <a:rPr lang="ko-KR" altLang="en-US" sz="1800" b="0" dirty="0">
                <a:solidFill>
                  <a:srgbClr val="151515"/>
                </a:solidFill>
                <a:latin typeface="Consolas"/>
                <a:ea typeface="Consolas"/>
                <a:cs typeface="Consolas"/>
              </a:rPr>
              <a:t>for start in [0, 3]:    # A에서, D에서 출발</a:t>
            </a:r>
          </a:p>
          <a:p>
            <a:pPr algn="l" eaLnBrk="0" latinLnBrk="0">
              <a:lnSpc>
                <a:spcPct val="100000"/>
              </a:lnSpc>
              <a:buNone/>
            </a:pPr>
            <a:r>
              <a:rPr lang="ko-KR" altLang="en-US" sz="1800" b="0" dirty="0">
                <a:solidFill>
                  <a:srgbClr val="151515"/>
                </a:solidFill>
                <a:latin typeface="Consolas"/>
                <a:ea typeface="Consolas"/>
                <a:cs typeface="Consolas"/>
              </a:rPr>
              <a:t>    path, cost = solve_tsp_nearest_neighbor(matrix, start)</a:t>
            </a:r>
          </a:p>
          <a:p>
            <a:pPr algn="l" eaLnBrk="0" latinLnBrk="0">
              <a:lnSpc>
                <a:spcPct val="100000"/>
              </a:lnSpc>
              <a:buNone/>
            </a:pPr>
            <a:r>
              <a:rPr lang="ko-KR" altLang="en-US" sz="1800" b="0" dirty="0">
                <a:solidFill>
                  <a:srgbClr val="151515"/>
                </a:solidFill>
                <a:latin typeface="Consolas"/>
                <a:ea typeface="Consolas"/>
                <a:cs typeface="Consolas"/>
              </a:rPr>
              <a:t>    print("경로:", " -&gt; ".join(names[c] for c in path))</a:t>
            </a:r>
          </a:p>
          <a:p>
            <a:pPr algn="l" eaLnBrk="0" latinLnBrk="0">
              <a:lnSpc>
                <a:spcPct val="100000"/>
              </a:lnSpc>
              <a:buNone/>
            </a:pPr>
            <a:r>
              <a:rPr lang="ko-KR" altLang="en-US" sz="1800" b="0" dirty="0">
                <a:solidFill>
                  <a:srgbClr val="151515"/>
                </a:solidFill>
                <a:latin typeface="Consolas"/>
                <a:ea typeface="Consolas"/>
                <a:cs typeface="Consolas"/>
              </a:rPr>
              <a:t>    print("비용:", cost)</a:t>
            </a:r>
          </a:p>
        </p:txBody>
      </p:sp>
      <p:sp>
        <p:nvSpPr>
          <p:cNvPr id="11" name="직사각형 12"/>
          <p:cNvSpPr/>
          <p:nvPr/>
        </p:nvSpPr>
        <p:spPr>
          <a:xfrm>
            <a:off x="612648" y="605332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앞의 실패 예와 다른 거리 표입니다(순회 80, 95, 95).</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가장 가까운 이웃 ① 준비</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147</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tsp.c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&lt;limits.h&gt;</a:t>
            </a:r>
          </a:p>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r>
              <a:rPr lang="ko-KR" altLang="en-US" sz="1800" b="0" dirty="0">
                <a:solidFill>
                  <a:srgbClr val="151515"/>
                </a:solidFill>
                <a:latin typeface="Consolas"/>
                <a:ea typeface="Consolas"/>
                <a:cs typeface="Consolas"/>
              </a:rPr>
              <a:t>#define N 4                     /* 도시 수 */</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방문 순서를 path에 담고 총비용을 돌려준다 */</a:t>
            </a:r>
          </a:p>
          <a:p>
            <a:pPr algn="l" eaLnBrk="0" latinLnBrk="0">
              <a:lnSpc>
                <a:spcPct val="100000"/>
              </a:lnSpc>
              <a:buNone/>
            </a:pPr>
            <a:r>
              <a:rPr lang="ko-KR" altLang="en-US" sz="1800" b="0" dirty="0">
                <a:solidFill>
                  <a:srgbClr val="151515"/>
                </a:solidFill>
                <a:latin typeface="Consolas"/>
                <a:ea typeface="Consolas"/>
                <a:cs typeface="Consolas"/>
              </a:rPr>
              <a:t>int solve_tsp_nearest_neighbor(int adj[][N], int start, int path[]) {</a:t>
            </a:r>
          </a:p>
          <a:p>
            <a:pPr algn="l" eaLnBrk="0" latinLnBrk="0">
              <a:lnSpc>
                <a:spcPct val="100000"/>
              </a:lnSpc>
              <a:buNone/>
            </a:pPr>
            <a:r>
              <a:rPr lang="ko-KR" altLang="en-US" sz="1800" b="0" dirty="0">
                <a:solidFill>
                  <a:srgbClr val="151515"/>
                </a:solidFill>
                <a:latin typeface="Consolas"/>
                <a:ea typeface="Consolas"/>
                <a:cs typeface="Consolas"/>
              </a:rPr>
              <a:t>    int visited[N] = {0};</a:t>
            </a:r>
          </a:p>
          <a:p>
            <a:pPr algn="l" eaLnBrk="0" latinLnBrk="0">
              <a:lnSpc>
                <a:spcPct val="100000"/>
              </a:lnSpc>
              <a:buNone/>
            </a:pPr>
            <a:r>
              <a:rPr lang="ko-KR" altLang="en-US" sz="1800" b="0" dirty="0">
                <a:solidFill>
                  <a:srgbClr val="151515"/>
                </a:solidFill>
                <a:latin typeface="Consolas"/>
                <a:ea typeface="Consolas"/>
                <a:cs typeface="Consolas"/>
              </a:rPr>
              <a:t>    visited[start] = 1;</a:t>
            </a:r>
          </a:p>
          <a:p>
            <a:pPr algn="l" eaLnBrk="0" latinLnBrk="0">
              <a:lnSpc>
                <a:spcPct val="100000"/>
              </a:lnSpc>
              <a:buNone/>
            </a:pPr>
            <a:r>
              <a:rPr lang="ko-KR" altLang="en-US" sz="1800" b="0" dirty="0">
                <a:solidFill>
                  <a:srgbClr val="151515"/>
                </a:solidFill>
                <a:latin typeface="Consolas"/>
                <a:ea typeface="Consolas"/>
                <a:cs typeface="Consolas"/>
              </a:rPr>
              <a:t>    path[0] = start;</a:t>
            </a:r>
          </a:p>
          <a:p>
            <a:pPr algn="l" eaLnBrk="0" latinLnBrk="0">
              <a:lnSpc>
                <a:spcPct val="100000"/>
              </a:lnSpc>
              <a:buNone/>
            </a:pPr>
            <a:r>
              <a:rPr lang="ko-KR" altLang="en-US" sz="1800" b="0" dirty="0">
                <a:solidFill>
                  <a:srgbClr val="151515"/>
                </a:solidFill>
                <a:latin typeface="Consolas"/>
                <a:ea typeface="Consolas"/>
                <a:cs typeface="Consolas"/>
              </a:rPr>
              <a:t>    int current = start, total = 0;</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가장 가까운 이웃 ② 반복과 복귀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148</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tsp.c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650" b="0" dirty="0">
                <a:solidFill>
                  <a:srgbClr val="151515"/>
                </a:solidFill>
                <a:latin typeface="Consolas"/>
                <a:ea typeface="Consolas"/>
                <a:cs typeface="Consolas"/>
              </a:rPr>
              <a:t>    for (int k = 1; k &lt; N; k++) {</a:t>
            </a:r>
          </a:p>
          <a:p>
            <a:pPr algn="l" eaLnBrk="0" latinLnBrk="0">
              <a:lnSpc>
                <a:spcPct val="100000"/>
              </a:lnSpc>
              <a:buNone/>
            </a:pPr>
            <a:r>
              <a:rPr lang="ko-KR" altLang="en-US" sz="1650" b="0" dirty="0">
                <a:solidFill>
                  <a:srgbClr val="151515"/>
                </a:solidFill>
                <a:latin typeface="Consolas"/>
                <a:ea typeface="Consolas"/>
                <a:cs typeface="Consolas"/>
              </a:rPr>
              <a:t>        int min_dist = INT_MAX, next_city = -1;</a:t>
            </a:r>
          </a:p>
          <a:p>
            <a:pPr algn="l" eaLnBrk="0" latinLnBrk="0">
              <a:lnSpc>
                <a:spcPct val="100000"/>
              </a:lnSpc>
              <a:buNone/>
            </a:pPr>
            <a:r>
              <a:rPr lang="ko-KR" altLang="en-US" sz="1650" b="0" dirty="0">
                <a:solidFill>
                  <a:srgbClr val="151515"/>
                </a:solidFill>
                <a:latin typeface="Consolas"/>
                <a:ea typeface="Consolas"/>
                <a:cs typeface="Consolas"/>
              </a:rPr>
              <a:t>        /* 방문 안 한 도시 중 가장 가까운 곳 찾기 */</a:t>
            </a:r>
          </a:p>
          <a:p>
            <a:pPr algn="l" eaLnBrk="0" latinLnBrk="0">
              <a:lnSpc>
                <a:spcPct val="100000"/>
              </a:lnSpc>
              <a:buNone/>
            </a:pPr>
            <a:r>
              <a:rPr lang="ko-KR" altLang="en-US" sz="1650" b="0" dirty="0">
                <a:solidFill>
                  <a:srgbClr val="151515"/>
                </a:solidFill>
                <a:latin typeface="Consolas"/>
                <a:ea typeface="Consolas"/>
                <a:cs typeface="Consolas"/>
              </a:rPr>
              <a:t>        for (int i = 0; i &lt; N; i++)</a:t>
            </a:r>
          </a:p>
          <a:p>
            <a:pPr algn="l" eaLnBrk="0" latinLnBrk="0">
              <a:lnSpc>
                <a:spcPct val="100000"/>
              </a:lnSpc>
              <a:buNone/>
            </a:pPr>
            <a:r>
              <a:rPr lang="ko-KR" altLang="en-US" sz="1650" b="0" dirty="0">
                <a:solidFill>
                  <a:srgbClr val="151515"/>
                </a:solidFill>
                <a:latin typeface="Consolas"/>
                <a:ea typeface="Consolas"/>
                <a:cs typeface="Consolas"/>
              </a:rPr>
              <a:t>            if (!visited[i] &amp;&amp; adj[current][i] &lt; min_dist) {</a:t>
            </a:r>
          </a:p>
          <a:p>
            <a:pPr algn="l" eaLnBrk="0" latinLnBrk="0">
              <a:lnSpc>
                <a:spcPct val="100000"/>
              </a:lnSpc>
              <a:buNone/>
            </a:pPr>
            <a:r>
              <a:rPr lang="ko-KR" altLang="en-US" sz="1650" b="0" dirty="0">
                <a:solidFill>
                  <a:srgbClr val="151515"/>
                </a:solidFill>
                <a:latin typeface="Consolas"/>
                <a:ea typeface="Consolas"/>
                <a:cs typeface="Consolas"/>
              </a:rPr>
              <a:t>                min_dist = adj[current][i];</a:t>
            </a:r>
          </a:p>
          <a:p>
            <a:pPr algn="l" eaLnBrk="0" latinLnBrk="0">
              <a:lnSpc>
                <a:spcPct val="100000"/>
              </a:lnSpc>
              <a:buNone/>
            </a:pPr>
            <a:r>
              <a:rPr lang="ko-KR" altLang="en-US" sz="1650" b="0" dirty="0">
                <a:solidFill>
                  <a:srgbClr val="151515"/>
                </a:solidFill>
                <a:latin typeface="Consolas"/>
                <a:ea typeface="Consolas"/>
                <a:cs typeface="Consolas"/>
              </a:rPr>
              <a:t>                next_city = i;</a:t>
            </a:r>
          </a:p>
          <a:p>
            <a:pPr algn="l" eaLnBrk="0" latinLnBrk="0">
              <a:lnSpc>
                <a:spcPct val="100000"/>
              </a:lnSpc>
              <a:buNone/>
            </a:pPr>
            <a:r>
              <a:rPr lang="ko-KR" altLang="en-US" sz="1650" b="0" dirty="0">
                <a:solidFill>
                  <a:srgbClr val="151515"/>
                </a:solidFill>
                <a:latin typeface="Consolas"/>
                <a:ea typeface="Consolas"/>
                <a:cs typeface="Consolas"/>
              </a:rPr>
              <a:t>            }</a:t>
            </a:r>
          </a:p>
          <a:p>
            <a:pPr algn="l" eaLnBrk="0" latinLnBrk="0">
              <a:lnSpc>
                <a:spcPct val="100000"/>
              </a:lnSpc>
              <a:buNone/>
            </a:pPr>
            <a:r>
              <a:rPr lang="ko-KR" altLang="en-US" sz="1650" b="0" dirty="0">
                <a:solidFill>
                  <a:srgbClr val="151515"/>
                </a:solidFill>
                <a:latin typeface="Consolas"/>
                <a:ea typeface="Consolas"/>
                <a:cs typeface="Consolas"/>
              </a:rPr>
              <a:t>        visited[next_city] = 1;</a:t>
            </a:r>
          </a:p>
          <a:p>
            <a:pPr algn="l" eaLnBrk="0" latinLnBrk="0">
              <a:lnSpc>
                <a:spcPct val="100000"/>
              </a:lnSpc>
              <a:buNone/>
            </a:pPr>
            <a:r>
              <a:rPr lang="ko-KR" altLang="en-US" sz="1650" b="0" dirty="0">
                <a:solidFill>
                  <a:srgbClr val="151515"/>
                </a:solidFill>
                <a:latin typeface="Consolas"/>
                <a:ea typeface="Consolas"/>
                <a:cs typeface="Consolas"/>
              </a:rPr>
              <a:t>        path[k] = next_city;</a:t>
            </a:r>
          </a:p>
          <a:p>
            <a:pPr algn="l" eaLnBrk="0" latinLnBrk="0">
              <a:lnSpc>
                <a:spcPct val="100000"/>
              </a:lnSpc>
              <a:buNone/>
            </a:pPr>
            <a:r>
              <a:rPr lang="ko-KR" altLang="en-US" sz="1650" b="0" dirty="0">
                <a:solidFill>
                  <a:srgbClr val="151515"/>
                </a:solidFill>
                <a:latin typeface="Consolas"/>
                <a:ea typeface="Consolas"/>
                <a:cs typeface="Consolas"/>
              </a:rPr>
              <a:t>        total += min_dist;</a:t>
            </a:r>
          </a:p>
          <a:p>
            <a:pPr algn="l" eaLnBrk="0" latinLnBrk="0">
              <a:lnSpc>
                <a:spcPct val="100000"/>
              </a:lnSpc>
              <a:buNone/>
            </a:pPr>
            <a:r>
              <a:rPr lang="ko-KR" altLang="en-US" sz="1650" b="0" dirty="0">
                <a:solidFill>
                  <a:srgbClr val="151515"/>
                </a:solidFill>
                <a:latin typeface="Consolas"/>
                <a:ea typeface="Consolas"/>
                <a:cs typeface="Consolas"/>
              </a:rPr>
              <a:t>        current = next_city;</a:t>
            </a:r>
          </a:p>
          <a:p>
            <a:pPr algn="l" eaLnBrk="0" latinLnBrk="0">
              <a:lnSpc>
                <a:spcPct val="100000"/>
              </a:lnSpc>
              <a:buNone/>
            </a:pPr>
            <a:r>
              <a:rPr lang="ko-KR" altLang="en-US" sz="1650" b="0" dirty="0">
                <a:solidFill>
                  <a:srgbClr val="151515"/>
                </a:solidFill>
                <a:latin typeface="Consolas"/>
                <a:ea typeface="Consolas"/>
                <a:cs typeface="Consolas"/>
              </a:rPr>
              <a:t>    }</a:t>
            </a:r>
          </a:p>
          <a:p>
            <a:pPr algn="l" eaLnBrk="0" latinLnBrk="0">
              <a:lnSpc>
                <a:spcPct val="100000"/>
              </a:lnSpc>
              <a:buNone/>
            </a:pPr>
            <a:endParaRPr lang="ko-KR" sz="1650"/>
          </a:p>
          <a:p>
            <a:pPr algn="l" eaLnBrk="0" latinLnBrk="0">
              <a:lnSpc>
                <a:spcPct val="100000"/>
              </a:lnSpc>
              <a:buNone/>
            </a:pPr>
            <a:r>
              <a:rPr lang="ko-KR" altLang="en-US" sz="1650" b="0" dirty="0">
                <a:solidFill>
                  <a:srgbClr val="151515"/>
                </a:solidFill>
                <a:latin typeface="Consolas"/>
                <a:ea typeface="Consolas"/>
                <a:cs typeface="Consolas"/>
              </a:rPr>
              <a:t>    total += adj[current][start];   /* 출발점으로 복귀 */</a:t>
            </a:r>
          </a:p>
          <a:p>
            <a:pPr algn="l" eaLnBrk="0" latinLnBrk="0">
              <a:lnSpc>
                <a:spcPct val="100000"/>
              </a:lnSpc>
              <a:buNone/>
            </a:pPr>
            <a:r>
              <a:rPr lang="ko-KR" altLang="en-US" sz="1650" b="0" dirty="0">
                <a:solidFill>
                  <a:srgbClr val="151515"/>
                </a:solidFill>
                <a:latin typeface="Consolas"/>
                <a:ea typeface="Consolas"/>
                <a:cs typeface="Consolas"/>
              </a:rPr>
              <a:t>    path[N] = start;</a:t>
            </a:r>
          </a:p>
          <a:p>
            <a:pPr algn="l" eaLnBrk="0" latinLnBrk="0">
              <a:lnSpc>
                <a:spcPct val="100000"/>
              </a:lnSpc>
              <a:buNone/>
            </a:pPr>
            <a:r>
              <a:rPr lang="ko-KR" altLang="en-US" sz="1650" b="0" dirty="0">
                <a:solidFill>
                  <a:srgbClr val="151515"/>
                </a:solidFill>
                <a:latin typeface="Consolas"/>
                <a:ea typeface="Consolas"/>
                <a:cs typeface="Consolas"/>
              </a:rPr>
              <a:t>    return total;</a:t>
            </a:r>
          </a:p>
          <a:p>
            <a:pPr algn="l" eaLnBrk="0" latinLnBrk="0">
              <a:lnSpc>
                <a:spcPct val="100000"/>
              </a:lnSpc>
              <a:buNone/>
            </a:pPr>
            <a:r>
              <a:rPr lang="ko-KR" altLang="en-US" sz="1650" b="0" dirty="0">
                <a:solidFill>
                  <a:srgbClr val="151515"/>
                </a:solidFill>
                <a:latin typeface="Consolas"/>
                <a:ea typeface="Consolas"/>
                <a:cs typeface="Consolas"/>
              </a:rPr>
              <a: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가장 가까운 이웃 ③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149</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tsp.c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500" b="0" dirty="0">
                <a:solidFill>
                  <a:srgbClr val="151515"/>
                </a:solidFill>
                <a:latin typeface="Consolas"/>
                <a:ea typeface="Consolas"/>
                <a:cs typeface="Consolas"/>
              </a:rPr>
              <a:t>int main(void) {</a:t>
            </a:r>
          </a:p>
          <a:p>
            <a:pPr algn="l" eaLnBrk="0" latinLnBrk="0">
              <a:lnSpc>
                <a:spcPct val="100000"/>
              </a:lnSpc>
              <a:buNone/>
            </a:pPr>
            <a:r>
              <a:rPr lang="ko-KR" altLang="en-US" sz="1500" b="0" dirty="0">
                <a:solidFill>
                  <a:srgbClr val="151515"/>
                </a:solidFill>
                <a:latin typeface="Consolas"/>
                <a:ea typeface="Consolas"/>
                <a:cs typeface="Consolas"/>
              </a:rPr>
              <a:t>    const char *names = "ABCD";</a:t>
            </a:r>
          </a:p>
          <a:p>
            <a:pPr algn="l" eaLnBrk="0" latinLnBrk="0">
              <a:lnSpc>
                <a:spcPct val="100000"/>
              </a:lnSpc>
              <a:buNone/>
            </a:pPr>
            <a:r>
              <a:rPr lang="ko-KR" altLang="en-US" sz="1500" b="0" dirty="0">
                <a:solidFill>
                  <a:srgbClr val="151515"/>
                </a:solidFill>
                <a:latin typeface="Consolas"/>
                <a:ea typeface="Consolas"/>
                <a:cs typeface="Consolas"/>
              </a:rPr>
              <a:t>    int matrix[N][N] = {</a:t>
            </a:r>
          </a:p>
          <a:p>
            <a:pPr algn="l" eaLnBrk="0" latinLnBrk="0">
              <a:lnSpc>
                <a:spcPct val="100000"/>
              </a:lnSpc>
              <a:buNone/>
            </a:pPr>
            <a:r>
              <a:rPr lang="ko-KR" altLang="en-US" sz="1500" b="0" dirty="0">
                <a:solidFill>
                  <a:srgbClr val="151515"/>
                </a:solidFill>
                <a:latin typeface="Consolas"/>
                <a:ea typeface="Consolas"/>
                <a:cs typeface="Consolas"/>
              </a:rPr>
              <a:t>        {0,  10, 15, 20},       /* A */</a:t>
            </a:r>
          </a:p>
          <a:p>
            <a:pPr algn="l" eaLnBrk="0" latinLnBrk="0">
              <a:lnSpc>
                <a:spcPct val="100000"/>
              </a:lnSpc>
              <a:buNone/>
            </a:pPr>
            <a:r>
              <a:rPr lang="ko-KR" altLang="en-US" sz="1500" b="0" dirty="0">
                <a:solidFill>
                  <a:srgbClr val="151515"/>
                </a:solidFill>
                <a:latin typeface="Consolas"/>
                <a:ea typeface="Consolas"/>
                <a:cs typeface="Consolas"/>
              </a:rPr>
              <a:t>        {10, 0,  35, 25},       /* B */</a:t>
            </a:r>
          </a:p>
          <a:p>
            <a:pPr algn="l" eaLnBrk="0" latinLnBrk="0">
              <a:lnSpc>
                <a:spcPct val="100000"/>
              </a:lnSpc>
              <a:buNone/>
            </a:pPr>
            <a:r>
              <a:rPr lang="ko-KR" altLang="en-US" sz="1500" b="0" dirty="0">
                <a:solidFill>
                  <a:srgbClr val="151515"/>
                </a:solidFill>
                <a:latin typeface="Consolas"/>
                <a:ea typeface="Consolas"/>
                <a:cs typeface="Consolas"/>
              </a:rPr>
              <a:t>        {15, 35, 0,  30},       /* C */</a:t>
            </a:r>
          </a:p>
          <a:p>
            <a:pPr algn="l" eaLnBrk="0" latinLnBrk="0">
              <a:lnSpc>
                <a:spcPct val="100000"/>
              </a:lnSpc>
              <a:buNone/>
            </a:pPr>
            <a:r>
              <a:rPr lang="ko-KR" altLang="en-US" sz="1500" b="0" dirty="0">
                <a:solidFill>
                  <a:srgbClr val="151515"/>
                </a:solidFill>
                <a:latin typeface="Consolas"/>
                <a:ea typeface="Consolas"/>
                <a:cs typeface="Consolas"/>
              </a:rPr>
              <a:t>        {20, 25, 30, 0}         /* D */</a:t>
            </a:r>
          </a:p>
          <a:p>
            <a:pPr algn="l" eaLnBrk="0" latinLnBrk="0">
              <a:lnSpc>
                <a:spcPct val="100000"/>
              </a:lnSpc>
              <a:buNone/>
            </a:pPr>
            <a:r>
              <a:rPr lang="ko-KR" altLang="en-US" sz="1500" b="0" dirty="0">
                <a:solidFill>
                  <a:srgbClr val="151515"/>
                </a:solidFill>
                <a:latin typeface="Consolas"/>
                <a:ea typeface="Consolas"/>
                <a:cs typeface="Consolas"/>
              </a:rPr>
              <a:t>    };</a:t>
            </a:r>
          </a:p>
          <a:p>
            <a:pPr algn="l" eaLnBrk="0" latinLnBrk="0">
              <a:lnSpc>
                <a:spcPct val="100000"/>
              </a:lnSpc>
              <a:buNone/>
            </a:pPr>
            <a:r>
              <a:rPr lang="ko-KR" altLang="en-US" sz="1500" b="0" dirty="0">
                <a:solidFill>
                  <a:srgbClr val="151515"/>
                </a:solidFill>
                <a:latin typeface="Consolas"/>
                <a:ea typeface="Consolas"/>
                <a:cs typeface="Consolas"/>
              </a:rPr>
              <a:t>    int starts[] = {0, 3};      /* A에서, D에서 출발 */</a:t>
            </a:r>
          </a:p>
          <a:p>
            <a:pPr algn="l" eaLnBrk="0" latinLnBrk="0">
              <a:lnSpc>
                <a:spcPct val="100000"/>
              </a:lnSpc>
              <a:buNone/>
            </a:pPr>
            <a:r>
              <a:rPr lang="ko-KR" altLang="en-US" sz="1500" b="0" dirty="0">
                <a:solidFill>
                  <a:srgbClr val="151515"/>
                </a:solidFill>
                <a:latin typeface="Consolas"/>
                <a:ea typeface="Consolas"/>
                <a:cs typeface="Consolas"/>
              </a:rPr>
              <a:t>    for (int s = 0; s &lt; 2; s++) {</a:t>
            </a:r>
          </a:p>
          <a:p>
            <a:pPr algn="l" eaLnBrk="0" latinLnBrk="0">
              <a:lnSpc>
                <a:spcPct val="100000"/>
              </a:lnSpc>
              <a:buNone/>
            </a:pPr>
            <a:r>
              <a:rPr lang="ko-KR" altLang="en-US" sz="1500" b="0" dirty="0">
                <a:solidFill>
                  <a:srgbClr val="151515"/>
                </a:solidFill>
                <a:latin typeface="Consolas"/>
                <a:ea typeface="Consolas"/>
                <a:cs typeface="Consolas"/>
              </a:rPr>
              <a:t>        int start = starts[s];</a:t>
            </a:r>
          </a:p>
          <a:p>
            <a:pPr algn="l" eaLnBrk="0" latinLnBrk="0">
              <a:lnSpc>
                <a:spcPct val="100000"/>
              </a:lnSpc>
              <a:buNone/>
            </a:pPr>
            <a:r>
              <a:rPr lang="ko-KR" altLang="en-US" sz="1500" b="0" dirty="0">
                <a:solidFill>
                  <a:srgbClr val="151515"/>
                </a:solidFill>
                <a:latin typeface="Consolas"/>
                <a:ea typeface="Consolas"/>
                <a:cs typeface="Consolas"/>
              </a:rPr>
              <a:t>        int path[N + 1];</a:t>
            </a:r>
          </a:p>
          <a:p>
            <a:pPr algn="l" eaLnBrk="0" latinLnBrk="0">
              <a:lnSpc>
                <a:spcPct val="100000"/>
              </a:lnSpc>
              <a:buNone/>
            </a:pPr>
            <a:r>
              <a:rPr lang="ko-KR" altLang="en-US" sz="1500" b="0" dirty="0">
                <a:solidFill>
                  <a:srgbClr val="151515"/>
                </a:solidFill>
                <a:latin typeface="Consolas"/>
                <a:ea typeface="Consolas"/>
                <a:cs typeface="Consolas"/>
              </a:rPr>
              <a:t>        int cost = solve_tsp_nearest_neighbor(matrix, start, path);</a:t>
            </a:r>
          </a:p>
          <a:p>
            <a:pPr algn="l" eaLnBrk="0" latinLnBrk="0">
              <a:lnSpc>
                <a:spcPct val="100000"/>
              </a:lnSpc>
              <a:buNone/>
            </a:pPr>
            <a:r>
              <a:rPr lang="ko-KR" altLang="en-US" sz="1500" b="0" dirty="0">
                <a:solidFill>
                  <a:srgbClr val="151515"/>
                </a:solidFill>
                <a:latin typeface="Consolas"/>
                <a:ea typeface="Consolas"/>
                <a:cs typeface="Consolas"/>
              </a:rPr>
              <a:t>        printf("경로: %c", names[path[0]]);</a:t>
            </a:r>
          </a:p>
          <a:p>
            <a:pPr algn="l" eaLnBrk="0" latinLnBrk="0">
              <a:lnSpc>
                <a:spcPct val="100000"/>
              </a:lnSpc>
              <a:buNone/>
            </a:pPr>
            <a:r>
              <a:rPr lang="ko-KR" altLang="en-US" sz="1500" b="0" dirty="0">
                <a:solidFill>
                  <a:srgbClr val="151515"/>
                </a:solidFill>
                <a:latin typeface="Consolas"/>
                <a:ea typeface="Consolas"/>
                <a:cs typeface="Consolas"/>
              </a:rPr>
              <a:t>        for (int i = 1; i &lt;= N; i++)</a:t>
            </a:r>
          </a:p>
          <a:p>
            <a:pPr algn="l" eaLnBrk="0" latinLnBrk="0">
              <a:lnSpc>
                <a:spcPct val="100000"/>
              </a:lnSpc>
              <a:buNone/>
            </a:pPr>
            <a:r>
              <a:rPr lang="ko-KR" altLang="en-US" sz="1500" b="0" dirty="0">
                <a:solidFill>
                  <a:srgbClr val="151515"/>
                </a:solidFill>
                <a:latin typeface="Consolas"/>
                <a:ea typeface="Consolas"/>
                <a:cs typeface="Consolas"/>
              </a:rPr>
              <a:t>            printf(" -&gt; %c", names[path[i]]);</a:t>
            </a:r>
          </a:p>
          <a:p>
            <a:pPr algn="l" eaLnBrk="0" latinLnBrk="0">
              <a:lnSpc>
                <a:spcPct val="100000"/>
              </a:lnSpc>
              <a:buNone/>
            </a:pPr>
            <a:r>
              <a:rPr lang="ko-KR" altLang="en-US" sz="1500" b="0" dirty="0">
                <a:solidFill>
                  <a:srgbClr val="151515"/>
                </a:solidFill>
                <a:latin typeface="Consolas"/>
                <a:ea typeface="Consolas"/>
                <a:cs typeface="Consolas"/>
              </a:rPr>
              <a:t>        printf("\n비용: %d\n", cost);</a:t>
            </a:r>
          </a:p>
          <a:p>
            <a:pPr algn="l" eaLnBrk="0" latinLnBrk="0">
              <a:lnSpc>
                <a:spcPct val="100000"/>
              </a:lnSpc>
              <a:buNone/>
            </a:pPr>
            <a:r>
              <a:rPr lang="ko-KR" altLang="en-US" sz="1500" b="0" dirty="0">
                <a:solidFill>
                  <a:srgbClr val="151515"/>
                </a:solidFill>
                <a:latin typeface="Consolas"/>
                <a:ea typeface="Consolas"/>
                <a:cs typeface="Consolas"/>
              </a:rPr>
              <a:t>    }</a:t>
            </a:r>
          </a:p>
          <a:p>
            <a:pPr algn="l" eaLnBrk="0" latinLnBrk="0">
              <a:lnSpc>
                <a:spcPct val="100000"/>
              </a:lnSpc>
              <a:buNone/>
            </a:pPr>
            <a:r>
              <a:rPr lang="ko-KR" altLang="en-US" sz="1500" b="0" dirty="0">
                <a:solidFill>
                  <a:srgbClr val="151515"/>
                </a:solidFill>
                <a:latin typeface="Consolas"/>
                <a:ea typeface="Consolas"/>
                <a:cs typeface="Consolas"/>
              </a:rPr>
              <a:t>    return 0;</a:t>
            </a:r>
          </a:p>
          <a:p>
            <a:pPr algn="l" eaLnBrk="0" latinLnBrk="0">
              <a:lnSpc>
                <a:spcPct val="100000"/>
              </a:lnSpc>
              <a:buNone/>
            </a:pPr>
            <a:r>
              <a:rPr lang="ko-KR" altLang="en-US" sz="1500" b="0" dirty="0">
                <a:solidFill>
                  <a:srgbClr val="151515"/>
                </a:solidFill>
                <a:latin typeface="Consolas"/>
                <a:ea typeface="Consolas"/>
                <a:cs typeface="Consolas"/>
              </a:rPr>
              <a: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실행 결과: 출발 도시에 따라 80과 95</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150</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0" name="직사각형 11"/>
          <p:cNvSpPr/>
          <p:nvPr/>
        </p:nvSpPr>
        <p:spPr>
          <a:xfrm>
            <a:off x="612648" y="1856232"/>
            <a:ext cx="10972800" cy="1078992"/>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경로: A -&gt; B -&gt; D -&gt; C -&gt; A</a:t>
            </a:r>
          </a:p>
          <a:p>
            <a:pPr algn="l" eaLnBrk="0" latinLnBrk="0">
              <a:lnSpc>
                <a:spcPct val="100000"/>
              </a:lnSpc>
              <a:buNone/>
            </a:pPr>
            <a:r>
              <a:rPr lang="ko-KR" altLang="en-US" sz="1400" b="0" dirty="0">
                <a:solidFill>
                  <a:srgbClr val="151515"/>
                </a:solidFill>
                <a:latin typeface="Consolas"/>
                <a:ea typeface="Consolas"/>
                <a:cs typeface="Consolas"/>
              </a:rPr>
              <a:t>비용: 80</a:t>
            </a:r>
          </a:p>
          <a:p>
            <a:pPr algn="l" eaLnBrk="0" latinLnBrk="0">
              <a:lnSpc>
                <a:spcPct val="100000"/>
              </a:lnSpc>
              <a:buNone/>
            </a:pPr>
            <a:r>
              <a:rPr lang="ko-KR" altLang="en-US" sz="1400" b="0" dirty="0">
                <a:solidFill>
                  <a:srgbClr val="151515"/>
                </a:solidFill>
                <a:latin typeface="Consolas"/>
                <a:ea typeface="Consolas"/>
                <a:cs typeface="Consolas"/>
              </a:rPr>
              <a:t>경로: D -&gt; A -&gt; B -&gt; C -&gt; D</a:t>
            </a:r>
          </a:p>
          <a:p>
            <a:pPr algn="l" eaLnBrk="0" latinLnBrk="0">
              <a:lnSpc>
                <a:spcPct val="100000"/>
              </a:lnSpc>
              <a:buNone/>
            </a:pPr>
            <a:r>
              <a:rPr lang="ko-KR" altLang="en-US" sz="1400" b="0" dirty="0">
                <a:solidFill>
                  <a:srgbClr val="151515"/>
                </a:solidFill>
                <a:latin typeface="Consolas"/>
                <a:ea typeface="Consolas"/>
                <a:cs typeface="Consolas"/>
              </a:rPr>
              <a:t>비용: 95</a:t>
            </a:r>
          </a:p>
        </p:txBody>
      </p:sp>
      <p:graphicFrame>
        <p:nvGraphicFramePr>
          <p:cNvPr id="11" name="표 12"/>
          <p:cNvGraphicFramePr>
            <a:graphicFrameLocks noGrp="1"/>
          </p:cNvGraphicFramePr>
          <p:nvPr/>
        </p:nvGraphicFramePr>
        <p:xfrm>
          <a:off x="612648" y="3063240"/>
          <a:ext cx="10972800" cy="987552"/>
        </p:xfrm>
        <a:graphic>
          <a:graphicData uri="http://schemas.openxmlformats.org/drawingml/2006/table">
            <a:tbl>
              <a:tblPr/>
              <a:tblGrid>
                <a:gridCol w="2438400"/>
                <a:gridCol w="3251200"/>
                <a:gridCol w="5283200"/>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출발 도시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가장 가까운 이웃</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최적(세 순회 80, 95, 95 중 최소)</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80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80 = 최적</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95</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최적 80, 그리디가 15 더 깁니다</a:t>
                      </a:r>
                    </a:p>
                  </a:txBody>
                  <a:tcPr marL="54864" marR="54864" marT="18288" marB="18288" anchor="ctr">
                    <a:solidFill>
                      <a:srgbClr val="FFFFFF"/>
                    </a:solidFill>
                  </a:tcPr>
                </a:tc>
              </a:tr>
            </a:tbl>
          </a:graphicData>
        </a:graphic>
      </p:graphicFrame>
      <p:sp>
        <p:nvSpPr>
          <p:cNvPr id="12" name="fit:7cee4934968e03b7 13"/>
          <p:cNvSpPr/>
          <p:nvPr/>
        </p:nvSpPr>
        <p:spPr>
          <a:xfrm>
            <a:off x="612648" y="4197096"/>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시간 복잡도 O(n²): 바깥 반복 n − 1번 × 안쪽에서 도시 n개 훑기</a:t>
            </a:r>
          </a:p>
        </p:txBody>
      </p:sp>
      <p:sp>
        <p:nvSpPr>
          <p:cNvPr id="13" name="fit:944e5482c84666b8 14"/>
          <p:cNvSpPr/>
          <p:nvPr/>
        </p:nvSpPr>
        <p:spPr>
          <a:xfrm>
            <a:off x="612648" y="4654296"/>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빠르게 그럴듯한 답을 내는 경험적 방법(휴리스틱)입니다. 결과가 출발 도시에 따라 달라지고, 최적과 얼마나 차이 날지도 보장하지 못합니다.</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5.7  TSP와 그리디</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TSP 확인</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151</a:t>
            </a:r>
          </a:p>
        </p:txBody>
      </p:sp>
      <p:sp>
        <p:nvSpPr>
          <p:cNvPr id="9" name="fit:8a3908af31d5aa92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실패 예 그래프의 거리입니다(행 = 출발, 열 = 도착).</a:t>
            </a:r>
          </a:p>
        </p:txBody>
      </p:sp>
      <p:graphicFrame>
        <p:nvGraphicFramePr>
          <p:cNvPr id="10" name="표 11"/>
          <p:cNvGraphicFramePr>
            <a:graphicFrameLocks noGrp="1"/>
          </p:cNvGraphicFramePr>
          <p:nvPr/>
        </p:nvGraphicFramePr>
        <p:xfrm>
          <a:off x="612648" y="2075688"/>
          <a:ext cx="10972800" cy="1645920"/>
        </p:xfrm>
        <a:graphic>
          <a:graphicData uri="http://schemas.openxmlformats.org/drawingml/2006/table">
            <a:tbl>
              <a:tblPr/>
              <a:tblGrid>
                <a:gridCol w="2194560"/>
                <a:gridCol w="2194560"/>
                <a:gridCol w="2194560"/>
                <a:gridCol w="2194560"/>
                <a:gridCol w="2194560"/>
              </a:tblGrid>
              <a:tr h="329184">
                <a:tc>
                  <a:txBody>
                    <a:bodyPr/>
                    <a:lstStyle/>
                    <a:p>
                      <a:pPr algn="ctr" eaLnBrk="0" latinLnBrk="0">
                        <a:lnSpc>
                          <a:spcPct val="100000"/>
                        </a:lnSpc>
                        <a:buNone/>
                      </a:pPr>
                      <a:endParaRPr lang="ko-KR" sz="1500"/>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A</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B</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C</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D</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r>
            </a:tbl>
          </a:graphicData>
        </a:graphic>
      </p:graphicFrame>
      <p:sp>
        <p:nvSpPr>
          <p:cNvPr id="11" name="fit:e5b35df15746a2dc 12"/>
          <p:cNvSpPr/>
          <p:nvPr/>
        </p:nvSpPr>
        <p:spPr>
          <a:xfrm>
            <a:off x="612648" y="386791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D에서 출발하면 가장 가까운 이웃의 경로와 비용은? 최적 8과 비교하세요.</a:t>
            </a:r>
          </a:p>
        </p:txBody>
      </p:sp>
      <p:sp>
        <p:nvSpPr>
          <p:cNvPr id="12" name="fit:f21d9a79008b9146 13"/>
          <p:cNvSpPr/>
          <p:nvPr/>
        </p:nvSpPr>
        <p:spPr>
          <a:xfrm>
            <a:off x="612648" y="428853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첫 선택 A → B가 안전하지 않다는 것을 어떻게 보이나요?</a:t>
            </a:r>
          </a:p>
        </p:txBody>
      </p:sp>
      <p:sp>
        <p:nvSpPr>
          <p:cNvPr id="13" name="fit:188fef616976de1c 14"/>
          <p:cNvSpPr/>
          <p:nvPr/>
        </p:nvSpPr>
        <p:spPr>
          <a:xfrm>
            <a:off x="612648" y="470916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"가장 가까운 이웃은 항상 최적이다"를 반박하려면 무엇이 필요한가요?</a:t>
            </a:r>
          </a:p>
        </p:txBody>
      </p:sp>
      <p:sp>
        <p:nvSpPr>
          <p:cNvPr id="14" name="fit:c5278b253697503e 15"/>
          <p:cNvSpPr/>
          <p:nvPr/>
        </p:nvSpPr>
        <p:spPr>
          <a:xfrm>
            <a:off x="612648" y="512978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④ 도시가 n개일 때 시간 복잡도는? 마지막에 따로 더하는 비용은?</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152</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5.8</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다익스트라 알고리즘</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"아직 확정하지 않은 곳 중 시작점에서 가장 가까운 곳까지의 거리는</a:t>
            </a:r>
          </a:p>
          <a:p>
            <a:pPr algn="l" eaLnBrk="0" latinLnBrk="0">
              <a:lnSpc>
                <a:spcPct val="110000"/>
              </a:lnSpc>
              <a:buNone/>
            </a:pPr>
            <a:r>
              <a:rPr lang="ko-KR" altLang="en-US" sz="1800" b="0" dirty="0">
                <a:solidFill>
                  <a:srgbClr val="BBBBBB"/>
                </a:solidFill>
                <a:latin typeface="Malgun Gothic"/>
                <a:ea typeface="Malgun Gothic"/>
                <a:cs typeface="Malgun Gothic"/>
              </a:rPr>
              <a:t>더 줄어들지 않는다." — 간선 비용이 모두 0 이상일 때</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한 시작점에서 모든 정점까지의 최단 거리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153</a:t>
            </a:r>
          </a:p>
        </p:txBody>
      </p:sp>
      <p:sp>
        <p:nvSpPr>
          <p:cNvPr id="9" name="fit:ab3a2f6679f03078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시작점 하나에서 </a:t>
            </a:r>
            <a:r>
              <a:rPr lang="ko-KR" altLang="en-US" sz="1800" b="1" dirty="0">
                <a:solidFill>
                  <a:srgbClr val="171717"/>
                </a:solidFill>
                <a:latin typeface="Malgun Gothic"/>
                <a:ea typeface="Malgun Gothic"/>
                <a:cs typeface="Malgun Gothic"/>
              </a:rPr>
              <a:t>다른 모든 정점까지</a:t>
            </a:r>
            <a:r>
              <a:rPr lang="ko-KR" altLang="en-US" sz="1800" b="0" dirty="0">
                <a:solidFill>
                  <a:srgbClr val="171717"/>
                </a:solidFill>
                <a:latin typeface="Malgun Gothic"/>
                <a:ea typeface="Malgun Gothic"/>
                <a:cs typeface="Malgun Gothic"/>
              </a:rPr>
              <a:t> 가장 짧은 경로의 길이를 구합니다.</a:t>
            </a:r>
          </a:p>
        </p:txBody>
      </p:sp>
      <p:sp>
        <p:nvSpPr>
          <p:cNvPr id="10" name="fit:fd5187ee1321b3b3 11"/>
          <p:cNvSpPr/>
          <p:nvPr/>
        </p:nvSpPr>
        <p:spPr>
          <a:xfrm>
            <a:off x="658368" y="2459736"/>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dist[v]</a:t>
            </a:r>
          </a:p>
        </p:txBody>
      </p:sp>
      <p:sp>
        <p:nvSpPr>
          <p:cNvPr id="11" name="fit:cf7af4d44f837c4e 12"/>
          <p:cNvSpPr/>
          <p:nvPr/>
        </p:nvSpPr>
        <p:spPr>
          <a:xfrm>
            <a:off x="841248" y="2788920"/>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시작점에서 v까지 지금까지 찾은 가장 짧은 거리. 처음엔 시작점 0, 나머지 ∞</a:t>
            </a:r>
          </a:p>
        </p:txBody>
      </p:sp>
      <p:sp>
        <p:nvSpPr>
          <p:cNvPr id="12" name="fit:7de19bc243cd8b76 13"/>
          <p:cNvSpPr/>
          <p:nvPr/>
        </p:nvSpPr>
        <p:spPr>
          <a:xfrm>
            <a:off x="658368" y="3429000"/>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확정</a:t>
            </a:r>
          </a:p>
        </p:txBody>
      </p:sp>
      <p:sp>
        <p:nvSpPr>
          <p:cNvPr id="13" name="fit:53298c9f7190bc06 14"/>
          <p:cNvSpPr/>
          <p:nvPr/>
        </p:nvSpPr>
        <p:spPr>
          <a:xfrm>
            <a:off x="841248" y="3758184"/>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dist[v]가 더 줄어들지 않는다고 결론 내리는 것</a:t>
            </a:r>
          </a:p>
        </p:txBody>
      </p:sp>
      <p:sp>
        <p:nvSpPr>
          <p:cNvPr id="14" name="fit:4977154339b6b5f6 15"/>
          <p:cNvSpPr/>
          <p:nvPr/>
        </p:nvSpPr>
        <p:spPr>
          <a:xfrm>
            <a:off x="658368" y="4142232"/>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다익스트라의 선택</a:t>
            </a:r>
          </a:p>
        </p:txBody>
      </p:sp>
      <p:sp>
        <p:nvSpPr>
          <p:cNvPr id="15" name="fit:51fc9e25f84256db 16"/>
          <p:cNvSpPr/>
          <p:nvPr/>
        </p:nvSpPr>
        <p:spPr>
          <a:xfrm>
            <a:off x="841248" y="4471416"/>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아직 확정하지 않은 정점 중 dist가 가장 작은 곳부터 확정합니다</a:t>
            </a:r>
          </a:p>
        </p:txBody>
      </p:sp>
      <p:sp>
        <p:nvSpPr>
          <p:cNvPr id="16" name="fit:7a8f12f82cfd8387 17"/>
          <p:cNvSpPr/>
          <p:nvPr/>
        </p:nvSpPr>
        <p:spPr>
          <a:xfrm>
            <a:off x="658368" y="5111496"/>
            <a:ext cx="512064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내비게이션 길 찾기, 네트워크 라우팅(예: OSPF)에 다익스트라나 그 변형이 쓰입니다.</a:t>
            </a:r>
          </a:p>
        </p:txBody>
      </p:sp>
      <p:pic>
        <p:nvPicPr>
          <p:cNvPr id="17" name="그림 18"/>
          <p:cNvPicPr>
            <a:picLocks noChangeAspect="1"/>
          </p:cNvPicPr>
          <p:nvPr/>
        </p:nvPicPr>
        <p:blipFill>
          <a:blip r:embed="rIdImg1"/>
          <a:stretch>
            <a:fillRect/>
          </a:stretch>
        </p:blipFill>
        <p:spPr>
          <a:xfrm>
            <a:off x="6126480" y="2441899"/>
            <a:ext cx="5458968" cy="2980042"/>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 집에서 편의점 2분, 학교 10분, 병원 15분. 아직 확정하지 않은 곳 중 가장 가까운 편의점부터 확정합니다.</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방향 그래프와 세 가지 표현</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154</a:t>
            </a:r>
          </a:p>
        </p:txBody>
      </p:sp>
      <p:sp>
        <p:nvSpPr>
          <p:cNvPr id="9" name="fit:97f0ba58abc1682b 10"/>
          <p:cNvSpPr/>
          <p:nvPr/>
        </p:nvSpPr>
        <p:spPr>
          <a:xfrm>
            <a:off x="612648" y="1636776"/>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간선에 방향이 있으면 </a:t>
            </a:r>
            <a:r>
              <a:rPr lang="ko-KR" altLang="en-US" sz="1800" b="1" dirty="0">
                <a:solidFill>
                  <a:srgbClr val="171717"/>
                </a:solidFill>
                <a:latin typeface="Malgun Gothic"/>
                <a:ea typeface="Malgun Gothic"/>
                <a:cs typeface="Malgun Gothic"/>
              </a:rPr>
              <a:t>방향 그래프</a:t>
            </a:r>
            <a:r>
              <a:rPr lang="ko-KR" altLang="en-US" sz="1800" b="0" dirty="0">
                <a:solidFill>
                  <a:srgbClr val="171717"/>
                </a:solidFill>
                <a:latin typeface="Malgun Gothic"/>
                <a:ea typeface="Malgun Gothic"/>
                <a:cs typeface="Malgun Gothic"/>
              </a:rPr>
              <a:t>입니다. A → B 8은 A에서 B로만 8에 갈 수 있다는 뜻입니다. 크루스칼과 TSP의 그래프는 방향이 없었습니다.</a:t>
            </a:r>
          </a:p>
        </p:txBody>
      </p:sp>
      <p:graphicFrame>
        <p:nvGraphicFramePr>
          <p:cNvPr id="10" name="표 11"/>
          <p:cNvGraphicFramePr>
            <a:graphicFrameLocks noGrp="1"/>
          </p:cNvGraphicFramePr>
          <p:nvPr/>
        </p:nvGraphicFramePr>
        <p:xfrm>
          <a:off x="612648" y="2359152"/>
          <a:ext cx="10972800" cy="1316736"/>
        </p:xfrm>
        <a:graphic>
          <a:graphicData uri="http://schemas.openxmlformats.org/drawingml/2006/table">
            <a:tbl>
              <a:tblPr/>
              <a:tblGrid>
                <a:gridCol w="2194560"/>
                <a:gridCol w="4023360"/>
                <a:gridCol w="4754880"/>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표현</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모양</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이 장에서</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간선 목록</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(가중치, u, v)를 모은 리스트</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크루스칼: 간선을 가중치 순으로 정렬</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인접 행렬</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adj[u][v] = u에서 v로 가는 비용</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TSP: 모든 도시 쌍의 거리</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인접 리스트</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정점마다 {이웃: 비용}</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다익스트라 Python: 나가는 간선만 저장</a:t>
                      </a:r>
                    </a:p>
                  </a:txBody>
                  <a:tcPr marL="54864" marR="54864" marT="18288" marB="18288" anchor="ctr">
                    <a:solidFill>
                      <a:srgbClr val="FFFFFF"/>
                    </a:solidFill>
                  </a:tcPr>
                </a:tc>
              </a:tr>
            </a:tbl>
          </a:graphicData>
        </a:graphic>
      </p:graphicFrame>
      <p:sp>
        <p:nvSpPr>
          <p:cNvPr id="11" name="직사각형 12"/>
          <p:cNvSpPr/>
          <p:nvPr/>
        </p:nvSpPr>
        <p:spPr>
          <a:xfrm>
            <a:off x="612648" y="3822192"/>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dijkstra.py의 그래프(인접 리스트)</a:t>
            </a:r>
          </a:p>
        </p:txBody>
      </p:sp>
      <p:sp>
        <p:nvSpPr>
          <p:cNvPr id="12" name="직사각형 13"/>
          <p:cNvSpPr/>
          <p:nvPr/>
        </p:nvSpPr>
        <p:spPr>
          <a:xfrm>
            <a:off x="612648" y="4041648"/>
            <a:ext cx="10972800" cy="159105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500" b="0" dirty="0">
                <a:solidFill>
                  <a:srgbClr val="FFFFFF"/>
                </a:solidFill>
                <a:latin typeface="Consolas"/>
                <a:ea typeface="Consolas"/>
                <a:cs typeface="Consolas"/>
              </a:rPr>
              <a:t>my_graph = {</a:t>
            </a:r>
          </a:p>
          <a:p>
            <a:pPr algn="l" eaLnBrk="0" latinLnBrk="0">
              <a:lnSpc>
                <a:spcPct val="100000"/>
              </a:lnSpc>
              <a:buNone/>
            </a:pPr>
            <a:r>
              <a:rPr lang="ko-KR" altLang="en-US" sz="1500" b="0" dirty="0">
                <a:solidFill>
                  <a:srgbClr val="FFFFFF"/>
                </a:solidFill>
                <a:latin typeface="Consolas"/>
                <a:ea typeface="Consolas"/>
                <a:cs typeface="Consolas"/>
              </a:rPr>
              <a:t>    "A": {"B": 8, "C": 1, "D": 2},</a:t>
            </a:r>
          </a:p>
          <a:p>
            <a:pPr algn="l" eaLnBrk="0" latinLnBrk="0">
              <a:lnSpc>
                <a:spcPct val="100000"/>
              </a:lnSpc>
              <a:buNone/>
            </a:pPr>
            <a:r>
              <a:rPr lang="ko-KR" altLang="en-US" sz="1500" b="0" dirty="0">
                <a:solidFill>
                  <a:srgbClr val="FFFFFF"/>
                </a:solidFill>
                <a:latin typeface="Consolas"/>
                <a:ea typeface="Consolas"/>
                <a:cs typeface="Consolas"/>
              </a:rPr>
              <a:t>    "B": {}, "C": {"B": 5, "D": 2},</a:t>
            </a:r>
          </a:p>
          <a:p>
            <a:pPr algn="l" eaLnBrk="0" latinLnBrk="0">
              <a:lnSpc>
                <a:spcPct val="100000"/>
              </a:lnSpc>
              <a:buNone/>
            </a:pPr>
            <a:r>
              <a:rPr lang="ko-KR" altLang="en-US" sz="1500" b="0" dirty="0">
                <a:solidFill>
                  <a:srgbClr val="FFFFFF"/>
                </a:solidFill>
                <a:latin typeface="Consolas"/>
                <a:ea typeface="Consolas"/>
                <a:cs typeface="Consolas"/>
              </a:rPr>
              <a:t>    "D": {"E": 3, "F": 5},</a:t>
            </a:r>
          </a:p>
          <a:p>
            <a:pPr algn="l" eaLnBrk="0" latinLnBrk="0">
              <a:lnSpc>
                <a:spcPct val="100000"/>
              </a:lnSpc>
              <a:buNone/>
            </a:pPr>
            <a:r>
              <a:rPr lang="ko-KR" altLang="en-US" sz="1500" b="0" dirty="0">
                <a:solidFill>
                  <a:srgbClr val="FFFFFF"/>
                </a:solidFill>
                <a:latin typeface="Consolas"/>
                <a:ea typeface="Consolas"/>
                <a:cs typeface="Consolas"/>
              </a:rPr>
              <a:t>    "E": {"F": 1}, "F": {"A": 5}</a:t>
            </a:r>
          </a:p>
          <a:p>
            <a:pPr algn="l" eaLnBrk="0" latinLnBrk="0">
              <a:lnSpc>
                <a:spcPct val="100000"/>
              </a:lnSpc>
              <a:buNone/>
            </a:pPr>
            <a:r>
              <a:rPr lang="ko-KR" altLang="en-US" sz="1500" b="0" dirty="0">
                <a:solidFill>
                  <a:srgbClr val="FFFFFF"/>
                </a:solidFill>
                <a:latin typeface="Consolas"/>
                <a:ea typeface="Consolas"/>
                <a:cs typeface="Consolas"/>
              </a:rPr>
              <a:t>}</a:t>
            </a:r>
          </a:p>
        </p:txBody>
      </p:sp>
      <p:sp>
        <p:nvSpPr>
          <p:cNvPr id="13" name="fit:4e54c1c745f83507 14"/>
          <p:cNvSpPr/>
          <p:nvPr/>
        </p:nvSpPr>
        <p:spPr>
          <a:xfrm>
            <a:off x="612648" y="5760720"/>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C 다익스트라는 같은 그래프를 인접 행렬 graph[u][v]로 쓰고, 0이면 간선이 없다는 뜻으로 둡니다.</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가장 가까운 이웃과 무엇이 다른가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155</a:t>
            </a:r>
          </a:p>
        </p:txBody>
      </p:sp>
      <p:sp>
        <p:nvSpPr>
          <p:cNvPr id="9" name="fit:405a935be8f5b39b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둘 다 "가장 가까운 곳"을 고르지만, 무엇으로 거리를 재는지가 다릅니다.</a:t>
            </a:r>
          </a:p>
        </p:txBody>
      </p:sp>
      <p:graphicFrame>
        <p:nvGraphicFramePr>
          <p:cNvPr id="10" name="표 11"/>
          <p:cNvGraphicFramePr>
            <a:graphicFrameLocks noGrp="1"/>
          </p:cNvGraphicFramePr>
          <p:nvPr/>
        </p:nvGraphicFramePr>
        <p:xfrm>
          <a:off x="612648" y="2075688"/>
          <a:ext cx="10972800" cy="1645920"/>
        </p:xfrm>
        <a:graphic>
          <a:graphicData uri="http://schemas.openxmlformats.org/drawingml/2006/table">
            <a:tbl>
              <a:tblPr/>
              <a:tblGrid>
                <a:gridCol w="2194560"/>
                <a:gridCol w="4023360"/>
                <a:gridCol w="4754880"/>
              </a:tblGrid>
              <a:tr h="329184">
                <a:tc>
                  <a:txBody>
                    <a:bodyPr/>
                    <a:lstStyle/>
                    <a:p>
                      <a:pPr algn="ctr" eaLnBrk="0" latinLnBrk="0">
                        <a:lnSpc>
                          <a:spcPct val="100000"/>
                        </a:lnSpc>
                        <a:buNone/>
                      </a:pPr>
                      <a:endParaRPr lang="ko-KR" sz="1500"/>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가장 가까운 이웃 (5.7)</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다익스트라 (5.8)</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비교하는 거리</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지금 도시에서 간선 하나</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시작점에서 누적한 거리 dist</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고르는 것</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다음에 이동할 도시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최단 거리를 확정할 정점</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고른 뒤</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그 도시로 이동</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나가는 간선으로 이웃의 dist를 고침</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최적 보장</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없음</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간선 비용이 모두 0 이상이면 있음</a:t>
                      </a:r>
                    </a:p>
                  </a:txBody>
                  <a:tcPr marL="54864" marR="54864" marT="18288" marB="18288" anchor="ctr">
                    <a:solidFill>
                      <a:srgbClr val="FFFFFF"/>
                    </a:solidFill>
                  </a:tcPr>
                </a:tc>
              </a:tr>
            </a:tbl>
          </a:graphicData>
        </a:graphic>
      </p:graphicFrame>
      <p:sp>
        <p:nvSpPr>
          <p:cNvPr id="11" name="fit:44a0369c8be4d24e 12"/>
          <p:cNvSpPr/>
          <p:nvPr/>
        </p:nvSpPr>
        <p:spPr>
          <a:xfrm>
            <a:off x="612648" y="3867912"/>
            <a:ext cx="1097280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예: A → B 직행은 8, A → C → B는 1 + 5 = 6</a:t>
            </a:r>
          </a:p>
        </p:txBody>
      </p:sp>
      <p:sp>
        <p:nvSpPr>
          <p:cNvPr id="12" name="fit:74f42ec6befcf0ab 13"/>
          <p:cNvSpPr/>
          <p:nvPr/>
        </p:nvSpPr>
        <p:spPr>
          <a:xfrm>
            <a:off x="612648" y="435254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다익스트라는 정점까지의 누적 거리를 비교하므로, 직행보다 짧은 경유 경로도 찾아냅니다.</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가장 가까운 곳을 확정해도 안전한가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156</a:t>
            </a:r>
          </a:p>
        </p:txBody>
      </p:sp>
      <p:sp>
        <p:nvSpPr>
          <p:cNvPr id="9" name="fit:ffa0046a4a902a7f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편의점 2분, 학교 10분입니다. 학교를 거쳐 편의점에 가면 10 + x분(x ≥ 0)이라 2분보다 짧아질 수 없습니다.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3b7c61cc09d6e8d8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학교를 거쳐 편의점에 가는 길</a:t>
            </a:r>
          </a:p>
        </p:txBody>
      </p:sp>
      <p:sp>
        <p:nvSpPr>
          <p:cNvPr id="12" name="fit:c72f5d17b00cb19d 13"/>
          <p:cNvSpPr/>
          <p:nvPr/>
        </p:nvSpPr>
        <p:spPr>
          <a:xfrm>
            <a:off x="7909560" y="332841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10 + x ≥ 10 &gt; 2</a:t>
            </a:r>
          </a:p>
        </p:txBody>
      </p:sp>
      <p:sp>
        <p:nvSpPr>
          <p:cNvPr id="13" name="fit:4190b1266d26f2a4 14"/>
          <p:cNvSpPr/>
          <p:nvPr/>
        </p:nvSpPr>
        <p:spPr>
          <a:xfrm>
            <a:off x="7909560" y="3785616"/>
            <a:ext cx="3666744" cy="104241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학교까지 이미 10분입니다. 간선 비용이 0 이상이면 길을 더 갈수록 거리가 줄지 않으므로 편의점 2분은 더 줄어들 수 없습니다.</a:t>
            </a:r>
          </a:p>
        </p:txBody>
      </p:sp>
      <p:sp>
        <p:nvSpPr>
          <p:cNvPr id="14" name="직사각형 15"/>
          <p:cNvSpPr/>
          <p:nvPr/>
        </p:nvSpPr>
        <p:spPr>
          <a:xfrm>
            <a:off x="7909560" y="4937760"/>
            <a:ext cx="3666744"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fit:11c5c8c4b90d4e64 16"/>
          <p:cNvSpPr/>
          <p:nvPr/>
        </p:nvSpPr>
        <p:spPr>
          <a:xfrm>
            <a:off x="7909560" y="5065776"/>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x = −9라면?</a:t>
            </a:r>
          </a:p>
        </p:txBody>
      </p:sp>
      <p:sp>
        <p:nvSpPr>
          <p:cNvPr id="16" name="fit:77ea738554ac15ba 17"/>
          <p:cNvSpPr/>
          <p:nvPr/>
        </p:nvSpPr>
        <p:spPr>
          <a:xfrm>
            <a:off x="7909560" y="5458968"/>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10 − 9 = 1 &lt; 2. 음수 간선이 있으면 이 논리가 깨집니다.</a:t>
            </a:r>
          </a:p>
        </p:txBody>
      </p:sp>
      <p:cxnSp>
        <p:nvCxnSpPr>
          <p:cNvPr id="17" name="연결선 18"/>
          <p:cNvCxnSpPr/>
          <p:nvPr/>
        </p:nvCxnSpPr>
        <p:spPr>
          <a:xfrm flipV="1">
            <a:off x="1832613" y="3218378"/>
            <a:ext cx="3449495" cy="974857"/>
          </a:xfrm>
          <a:prstGeom prst="line">
            <a:avLst/>
          </a:prstGeom>
          <a:ln w="44450">
            <a:solidFill>
              <a:srgbClr val="0E8A7D"/>
            </a:solidFill>
            <a:tailEnd type="triangle" w="med" len="med"/>
          </a:ln>
        </p:spPr>
      </p:cxnSp>
      <p:sp>
        <p:nvSpPr>
          <p:cNvPr id="18" name="직사각형 19"/>
          <p:cNvSpPr/>
          <p:nvPr/>
        </p:nvSpPr>
        <p:spPr>
          <a:xfrm>
            <a:off x="3288628" y="342537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a:off x="1834651" y="4394622"/>
            <a:ext cx="3445321" cy="898779"/>
          </a:xfrm>
          <a:prstGeom prst="line">
            <a:avLst/>
          </a:prstGeom>
          <a:ln w="19050">
            <a:solidFill>
              <a:srgbClr val="9A9A9A"/>
            </a:solidFill>
            <a:tailEnd type="triangle" w="med" len="med"/>
          </a:ln>
        </p:spPr>
      </p:cxnSp>
      <p:sp>
        <p:nvSpPr>
          <p:cNvPr id="20" name="직사각형 21"/>
          <p:cNvSpPr/>
          <p:nvPr/>
        </p:nvSpPr>
        <p:spPr>
          <a:xfrm>
            <a:off x="3291486" y="48507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10</a:t>
            </a:r>
          </a:p>
        </p:txBody>
      </p:sp>
      <p:cxnSp>
        <p:nvCxnSpPr>
          <p:cNvPr id="21" name="연결선 22"/>
          <p:cNvCxnSpPr/>
          <p:nvPr/>
        </p:nvCxnSpPr>
        <p:spPr>
          <a:xfrm flipV="1">
            <a:off x="5669280" y="3511296"/>
            <a:ext cx="0" cy="1499616"/>
          </a:xfrm>
          <a:prstGeom prst="line">
            <a:avLst/>
          </a:prstGeom>
          <a:ln w="19050">
            <a:solidFill>
              <a:srgbClr val="9A9A9A"/>
            </a:solidFill>
            <a:tailEnd type="triangle" w="med" len="med"/>
          </a:ln>
        </p:spPr>
      </p:cxnSp>
      <p:sp>
        <p:nvSpPr>
          <p:cNvPr id="22" name="직사각형 23"/>
          <p:cNvSpPr/>
          <p:nvPr/>
        </p:nvSpPr>
        <p:spPr>
          <a:xfrm>
            <a:off x="5577840" y="411480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x</a:t>
            </a:r>
          </a:p>
        </p:txBody>
      </p:sp>
      <p:sp>
        <p:nvSpPr>
          <p:cNvPr id="23" name="직사각형 24"/>
          <p:cNvSpPr/>
          <p:nvPr/>
        </p:nvSpPr>
        <p:spPr>
          <a:xfrm>
            <a:off x="1078992" y="3913632"/>
            <a:ext cx="768096" cy="76809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집</a:t>
            </a:r>
          </a:p>
        </p:txBody>
      </p:sp>
      <p:sp>
        <p:nvSpPr>
          <p:cNvPr id="24" name="직사각형 25"/>
          <p:cNvSpPr/>
          <p:nvPr/>
        </p:nvSpPr>
        <p:spPr>
          <a:xfrm>
            <a:off x="5285232" y="2724912"/>
            <a:ext cx="768096" cy="76809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편의점</a:t>
            </a:r>
          </a:p>
        </p:txBody>
      </p:sp>
      <p:sp>
        <p:nvSpPr>
          <p:cNvPr id="25" name="직사각형 26"/>
          <p:cNvSpPr/>
          <p:nvPr/>
        </p:nvSpPr>
        <p:spPr>
          <a:xfrm>
            <a:off x="5285232" y="5010912"/>
            <a:ext cx="768096" cy="76809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학교</a:t>
            </a:r>
          </a:p>
        </p:txBody>
      </p:sp>
      <p:sp>
        <p:nvSpPr>
          <p:cNvPr id="26" name="직사각형 2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시작점    노랑: 지금 가장 가까운 미확정 정점    x: 학교 → 편의점 비용</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완화 · dist[v] 15 → 10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157</a:t>
            </a:r>
          </a:p>
        </p:txBody>
      </p:sp>
      <p:sp>
        <p:nvSpPr>
          <p:cNvPr id="9" name="fit:b9cd81bf47bad89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u를 거쳐 v로 가는 길이 더 짧으면 dist[v]를 고칩니다. 연습문제 예: dist[u] = 7, 가중치 3, dist[v] = 15</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26f019e282d75c4f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완화(relaxation)</a:t>
            </a:r>
          </a:p>
        </p:txBody>
      </p:sp>
      <p:sp>
        <p:nvSpPr>
          <p:cNvPr id="12" name="fit:0fdd4f9a5eafb749 13"/>
          <p:cNvSpPr/>
          <p:nvPr/>
        </p:nvSpPr>
        <p:spPr>
          <a:xfrm>
            <a:off x="7909560" y="3328416"/>
            <a:ext cx="3666744"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0E8A7D"/>
                </a:solidFill>
                <a:latin typeface="Malgun Gothic"/>
                <a:ea typeface="Malgun Gothic"/>
                <a:cs typeface="Malgun Gothic"/>
              </a:rPr>
              <a:t>dist[v] = min(dist[v], dist[u] + w)</a:t>
            </a:r>
          </a:p>
        </p:txBody>
      </p:sp>
      <p:sp>
        <p:nvSpPr>
          <p:cNvPr id="13" name="직사각형 14"/>
          <p:cNvSpPr/>
          <p:nvPr/>
        </p:nvSpPr>
        <p:spPr>
          <a:xfrm>
            <a:off x="7909560" y="3703320"/>
            <a:ext cx="3666744"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relax.pseudo</a:t>
            </a:r>
          </a:p>
        </p:txBody>
      </p:sp>
      <p:sp>
        <p:nvSpPr>
          <p:cNvPr id="14" name="직사각형 15"/>
          <p:cNvSpPr/>
          <p:nvPr/>
        </p:nvSpPr>
        <p:spPr>
          <a:xfrm>
            <a:off x="7909560" y="3922776"/>
            <a:ext cx="3666744" cy="67665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500" b="0" dirty="0">
                <a:solidFill>
                  <a:srgbClr val="FFFFFF"/>
                </a:solidFill>
                <a:latin typeface="Consolas"/>
                <a:ea typeface="Consolas"/>
                <a:cs typeface="Consolas"/>
              </a:rPr>
              <a:t>if dist[u] + w &lt; dist[v] then</a:t>
            </a:r>
          </a:p>
          <a:p>
            <a:pPr algn="l" eaLnBrk="0" latinLnBrk="0">
              <a:lnSpc>
                <a:spcPct val="100000"/>
              </a:lnSpc>
              <a:buNone/>
            </a:pPr>
            <a:r>
              <a:rPr lang="ko-KR" altLang="en-US" sz="1500" b="0" dirty="0">
                <a:solidFill>
                  <a:srgbClr val="FFFFFF"/>
                </a:solidFill>
                <a:latin typeface="Consolas"/>
                <a:ea typeface="Consolas"/>
                <a:cs typeface="Consolas"/>
              </a:rPr>
              <a:t>    dist[v] &lt;- dist[u] + w</a:t>
            </a:r>
          </a:p>
        </p:txBody>
      </p:sp>
      <p:sp>
        <p:nvSpPr>
          <p:cNvPr id="15" name="fit:6e0b723c4fd6ce36 16"/>
          <p:cNvSpPr/>
          <p:nvPr/>
        </p:nvSpPr>
        <p:spPr>
          <a:xfrm>
            <a:off x="7909560" y="4727448"/>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w: u → v 간선의 비용. 더 짧을 때만 고치고, 같거나 길면 그대로 둡니다.</a:t>
            </a:r>
          </a:p>
        </p:txBody>
      </p:sp>
      <p:cxnSp>
        <p:nvCxnSpPr>
          <p:cNvPr id="16" name="연결선 17"/>
          <p:cNvCxnSpPr/>
          <p:nvPr/>
        </p:nvCxnSpPr>
        <p:spPr>
          <a:xfrm>
            <a:off x="2139696" y="4114800"/>
            <a:ext cx="3200400" cy="0"/>
          </a:xfrm>
          <a:prstGeom prst="line">
            <a:avLst/>
          </a:prstGeom>
          <a:ln w="44450">
            <a:solidFill>
              <a:srgbClr val="B8651B"/>
            </a:solidFill>
            <a:tailEnd type="triangle" w="med" len="med"/>
          </a:ln>
        </p:spPr>
      </p:cxnSp>
      <p:sp>
        <p:nvSpPr>
          <p:cNvPr id="17" name="직사각형 18"/>
          <p:cNvSpPr/>
          <p:nvPr/>
        </p:nvSpPr>
        <p:spPr>
          <a:xfrm>
            <a:off x="3511296" y="41239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3</a:t>
            </a:r>
          </a:p>
        </p:txBody>
      </p:sp>
      <p:sp>
        <p:nvSpPr>
          <p:cNvPr id="18" name="직사각형 19"/>
          <p:cNvSpPr/>
          <p:nvPr/>
        </p:nvSpPr>
        <p:spPr>
          <a:xfrm>
            <a:off x="1517904" y="3803904"/>
            <a:ext cx="621792" cy="621792"/>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u</a:t>
            </a:r>
          </a:p>
        </p:txBody>
      </p:sp>
      <p:sp>
        <p:nvSpPr>
          <p:cNvPr id="19" name="직사각형 20"/>
          <p:cNvSpPr/>
          <p:nvPr/>
        </p:nvSpPr>
        <p:spPr>
          <a:xfrm>
            <a:off x="5358384" y="3803904"/>
            <a:ext cx="621792" cy="621792"/>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v</a:t>
            </a:r>
          </a:p>
        </p:txBody>
      </p:sp>
      <p:sp>
        <p:nvSpPr>
          <p:cNvPr id="20" name="직사각형 21"/>
          <p:cNvSpPr/>
          <p:nvPr/>
        </p:nvSpPr>
        <p:spPr>
          <a:xfrm>
            <a:off x="1005840" y="3154680"/>
            <a:ext cx="1645920" cy="420624"/>
          </a:xfrm>
          <a:prstGeom prst="rect">
            <a:avLst/>
          </a:prstGeom>
          <a:solidFill>
            <a:srgbClr val="DCECFB"/>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dist[u] = 7</a:t>
            </a:r>
          </a:p>
        </p:txBody>
      </p:sp>
      <p:sp>
        <p:nvSpPr>
          <p:cNvPr id="21" name="직사각형 22"/>
          <p:cNvSpPr/>
          <p:nvPr/>
        </p:nvSpPr>
        <p:spPr>
          <a:xfrm>
            <a:off x="4572000" y="3154680"/>
            <a:ext cx="2194560" cy="42062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dist[v] = 15 → 10</a:t>
            </a:r>
          </a:p>
        </p:txBody>
      </p:sp>
      <p:sp>
        <p:nvSpPr>
          <p:cNvPr id="22" name="직사각형 23"/>
          <p:cNvSpPr/>
          <p:nvPr/>
        </p:nvSpPr>
        <p:spPr>
          <a:xfrm>
            <a:off x="1005840" y="4846320"/>
            <a:ext cx="5760720" cy="457200"/>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256B50"/>
                </a:solidFill>
                <a:latin typeface="Malgun Gothic"/>
                <a:ea typeface="Malgun Gothic"/>
                <a:cs typeface="Malgun Gothic"/>
              </a:rPr>
              <a:t>7 + 3 = 10 &lt; 15  →  dist[v]를 10으로 고칩니다</a:t>
            </a:r>
          </a:p>
        </p:txBody>
      </p:sp>
      <p:sp>
        <p:nvSpPr>
          <p:cNvPr id="23" name="직사각형 24"/>
          <p:cNvSpPr/>
          <p:nvPr/>
        </p:nvSpPr>
        <p:spPr>
          <a:xfrm>
            <a:off x="1005840" y="5431536"/>
            <a:ext cx="5760720" cy="457200"/>
          </a:xfrm>
          <a:prstGeom prst="rect">
            <a:avLst/>
          </a:prstGeom>
          <a:solidFill>
            <a:srgbClr val="F2F2F2"/>
          </a:solidFill>
          <a:ln w="0">
            <a:noFill/>
          </a:ln>
        </p:spPr>
        <p:txBody>
          <a:bodyPr wrap="square" lIns="0" tIns="0" rIns="0" bIns="0" anchor="ctr">
            <a:noAutofit/>
          </a:bodyPr>
          <a:lstStyle/>
          <a:p>
            <a:pPr algn="ctr" eaLnBrk="0" latinLnBrk="0">
              <a:lnSpc>
                <a:spcPct val="100000"/>
              </a:lnSpc>
              <a:buNone/>
            </a:pPr>
            <a:r>
              <a:rPr lang="ko-KR" altLang="en-US" sz="1650" b="0" dirty="0">
                <a:solidFill>
                  <a:srgbClr val="151515"/>
                </a:solidFill>
                <a:latin typeface="Malgun Gothic"/>
                <a:ea typeface="Malgun Gothic"/>
                <a:cs typeface="Malgun Gothic"/>
              </a:rPr>
              <a:t>dist[v]가 9였다면 10 ≥ 9  →  그대로 9</a:t>
            </a:r>
          </a:p>
        </p:txBody>
      </p:sp>
      <p:sp>
        <p:nvSpPr>
          <p:cNvPr id="24" name="직사각형 2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dist를 아는 정점 u    노랑: 고치려는 정점 v    주황: 완화하는 간선 u → v</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예제: A에서 출발 · 초기화</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158</a:t>
            </a:r>
          </a:p>
        </p:txBody>
      </p:sp>
      <p:sp>
        <p:nvSpPr>
          <p:cNvPr id="9" name="fit:bec715f7f45c91e9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방향 그래프 A~F, 시작점은 A입니다. dist[A] = 0, 나머지는 아직 길을 모르니 ∞로 둡니다.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378583433e922f5d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다음: 미확정 중 dist가 가장 작은 A(0)를 확정</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19050">
            <a:solidFill>
              <a:srgbClr val="9A9A9A"/>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19050">
            <a:solidFill>
              <a:srgbClr val="9A9A9A"/>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19050">
            <a:solidFill>
              <a:srgbClr val="9A9A9A"/>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19050">
            <a:solidFill>
              <a:srgbClr val="9A9A9A"/>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35" name="직사각형 36"/>
          <p:cNvSpPr/>
          <p:nvPr/>
        </p:nvSpPr>
        <p:spPr>
          <a:xfrm>
            <a:off x="459943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37" name="직사각형 38"/>
          <p:cNvSpPr/>
          <p:nvPr/>
        </p:nvSpPr>
        <p:spPr>
          <a:xfrm>
            <a:off x="58795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시작점    정점 옆 숫자 = 지금의 dist    ∞: 아직 길을 모름</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A 확정 · B 8, C 1, D 2</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159</a:t>
            </a:r>
          </a:p>
        </p:txBody>
      </p:sp>
      <p:sp>
        <p:nvSpPr>
          <p:cNvPr id="9" name="fit:218f87c214fa229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미확정 중 가장 작은 A(0)를 확정합니다. A에서 나가는 간선으로 B, C, D를 고칩니다.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8</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ed9543823ae3169f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0 + 8 = 8, 0 + 1 = 1, 0 + 2 = 2. 다음: 가장 작은 C(1)</a:t>
            </a:r>
          </a:p>
        </p:txBody>
      </p:sp>
      <p:cxnSp>
        <p:nvCxnSpPr>
          <p:cNvPr id="13" name="연결선 14"/>
          <p:cNvCxnSpPr/>
          <p:nvPr/>
        </p:nvCxnSpPr>
        <p:spPr>
          <a:xfrm flipV="1">
            <a:off x="1183561" y="3201588"/>
            <a:ext cx="911554" cy="878998"/>
          </a:xfrm>
          <a:prstGeom prst="line">
            <a:avLst/>
          </a:prstGeom>
          <a:ln w="44450">
            <a:solidFill>
              <a:srgbClr val="B8651B"/>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B8651B"/>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B8651B"/>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19050">
            <a:solidFill>
              <a:srgbClr val="9A9A9A"/>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19050">
            <a:solidFill>
              <a:srgbClr val="9A9A9A"/>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8</a:t>
            </a:r>
          </a:p>
        </p:txBody>
      </p:sp>
      <p:sp>
        <p:nvSpPr>
          <p:cNvPr id="35" name="직사각형 36"/>
          <p:cNvSpPr/>
          <p:nvPr/>
        </p:nvSpPr>
        <p:spPr>
          <a:xfrm>
            <a:off x="459943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1</a:t>
            </a:r>
          </a:p>
        </p:txBody>
      </p:sp>
      <p:sp>
        <p:nvSpPr>
          <p:cNvPr id="37" name="직사각형 38"/>
          <p:cNvSpPr/>
          <p:nvPr/>
        </p:nvSpPr>
        <p:spPr>
          <a:xfrm>
            <a:off x="58795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2</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C 확정 · B 8 → 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160</a:t>
            </a:r>
          </a:p>
        </p:txBody>
      </p:sp>
      <p:sp>
        <p:nvSpPr>
          <p:cNvPr id="9" name="fit:89fed076f65f58eb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가장 작은 C(1)를 확정합니다. C → B로 1 + 5 = 6 &lt; 8이라 B를 6으로 고칩니다.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8 → 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498fa689f59f75cb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C → D는 1 + 2 = 3 ≥ 2라 그대로입니다. 다음: D(2)</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B8651B"/>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B23B3B"/>
            </a:solidFill>
            <a:prstDash val="dash"/>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19050">
            <a:solidFill>
              <a:srgbClr val="9A9A9A"/>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8 → 6</a:t>
            </a:r>
          </a:p>
        </p:txBody>
      </p:sp>
      <p:sp>
        <p:nvSpPr>
          <p:cNvPr id="35" name="직사각형 36"/>
          <p:cNvSpPr/>
          <p:nvPr/>
        </p:nvSpPr>
        <p:spPr>
          <a:xfrm>
            <a:off x="4599432" y="277063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③ D 확정 · E 5, F 7</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161</a:t>
            </a:r>
          </a:p>
        </p:txBody>
      </p:sp>
      <p:sp>
        <p:nvSpPr>
          <p:cNvPr id="9" name="fit:b134568c1887ec8b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가장 작은 D(2)를 확정합니다. D → E로 2 + 3 = 5, D → F로 2 + 5 = 7이 처음 생깁니다.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7</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f4b41c1b41b31c1d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확정 순서 A, C, D = 거리 0, 1, 2. 다음: E(5)</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0E8A7D"/>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44450">
            <a:solidFill>
              <a:srgbClr val="B8651B"/>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44450">
            <a:solidFill>
              <a:srgbClr val="B8651B"/>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6</a:t>
            </a:r>
          </a:p>
        </p:txBody>
      </p:sp>
      <p:sp>
        <p:nvSpPr>
          <p:cNvPr id="35" name="직사각형 36"/>
          <p:cNvSpPr/>
          <p:nvPr/>
        </p:nvSpPr>
        <p:spPr>
          <a:xfrm>
            <a:off x="459943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5</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7</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④ E 확정 · F 7 → 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162</a:t>
            </a:r>
          </a:p>
        </p:txBody>
      </p:sp>
      <p:sp>
        <p:nvSpPr>
          <p:cNvPr id="9" name="fit:3cef75c09c2b4f58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가장 작은 E(5)를 확정합니다. E → F로 5 + 1 = 6 &lt; 7이라 F를 6으로 고칩니다.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7 → 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4dfb2f121b9c8ae4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다음: B 6 = F 6. 같으면 어느 쪽을 먼저 해도 됩니다(두 코드 모두 B 먼저).</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0E8A7D"/>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44450">
            <a:solidFill>
              <a:srgbClr val="0E8A7D"/>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44450">
            <a:solidFill>
              <a:srgbClr val="B8651B"/>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6</a:t>
            </a:r>
          </a:p>
        </p:txBody>
      </p:sp>
      <p:sp>
        <p:nvSpPr>
          <p:cNvPr id="35" name="직사각형 36"/>
          <p:cNvSpPr/>
          <p:nvPr/>
        </p:nvSpPr>
        <p:spPr>
          <a:xfrm>
            <a:off x="459943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5</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7 → 6</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⑤ B 확정 · 나가는 간선 없음</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163</a:t>
            </a:r>
          </a:p>
        </p:txBody>
      </p:sp>
      <p:sp>
        <p:nvSpPr>
          <p:cNvPr id="9" name="fit:e1688df2e63a688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B(6)를 확정합니다. B에서 나가는 간선이 없으므로 고칠 값이 없습니다.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7ed2b926cbddce09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B = 6은 직행 8이 아니라 A → C → B입니다. 다음: F(6)</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0E8A7D"/>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44450">
            <a:solidFill>
              <a:srgbClr val="0E8A7D"/>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44450">
            <a:solidFill>
              <a:srgbClr val="0E8A7D"/>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6</a:t>
            </a:r>
          </a:p>
        </p:txBody>
      </p:sp>
      <p:sp>
        <p:nvSpPr>
          <p:cNvPr id="35" name="직사각형 36"/>
          <p:cNvSpPr/>
          <p:nvPr/>
        </p:nvSpPr>
        <p:spPr>
          <a:xfrm>
            <a:off x="459943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5</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6</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⑥ F 확정 · 최단 거리 완성</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164</a:t>
            </a:r>
          </a:p>
        </p:txBody>
      </p:sp>
      <p:sp>
        <p:nvSpPr>
          <p:cNvPr id="9" name="fit:82f30d15e258ccfd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F(6)를 확정합니다. F → A는 A가 이미 확정되어 고치지 않습니다(6 + 5 = 11 ≥ 0이기도 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176272"/>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bl>
          </a:graphicData>
        </a:graphic>
      </p:graphicFrame>
      <p:sp>
        <p:nvSpPr>
          <p:cNvPr id="12" name="fit:38f8cccd4235c51a 13"/>
          <p:cNvSpPr/>
          <p:nvPr/>
        </p:nvSpPr>
        <p:spPr>
          <a:xfrm>
            <a:off x="7909560" y="5257800"/>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모든 정점 확정. 청록 간선 5개 = 최단 경로 트리. A → D → E → F = 2 + 3 + 1 = 6</a:t>
            </a:r>
          </a:p>
        </p:txBody>
      </p:sp>
      <p:cxnSp>
        <p:nvCxnSpPr>
          <p:cNvPr id="13" name="연결선 14"/>
          <p:cNvCxnSpPr/>
          <p:nvPr/>
        </p:nvCxnSpPr>
        <p:spPr>
          <a:xfrm flipV="1">
            <a:off x="1183561" y="3201588"/>
            <a:ext cx="911554" cy="878998"/>
          </a:xfrm>
          <a:prstGeom prst="line">
            <a:avLst/>
          </a:prstGeom>
          <a:ln w="12700">
            <a:solidFill>
              <a:srgbClr val="D0D0D0"/>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0E8A7D"/>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2700">
            <a:solidFill>
              <a:srgbClr val="D0D0D0"/>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44450">
            <a:solidFill>
              <a:srgbClr val="0E8A7D"/>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2700">
            <a:solidFill>
              <a:srgbClr val="D0D0D0"/>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44450">
            <a:solidFill>
              <a:srgbClr val="0E8A7D"/>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B23B3B"/>
            </a:solidFill>
            <a:prstDash val="dash"/>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6</a:t>
            </a:r>
          </a:p>
        </p:txBody>
      </p:sp>
      <p:sp>
        <p:nvSpPr>
          <p:cNvPr id="35" name="직사각형 36"/>
          <p:cNvSpPr/>
          <p:nvPr/>
        </p:nvSpPr>
        <p:spPr>
          <a:xfrm>
            <a:off x="459943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5</a:t>
            </a:r>
          </a:p>
        </p:txBody>
      </p:sp>
      <p:sp>
        <p:nvSpPr>
          <p:cNvPr id="41" name="직사각형 42"/>
          <p:cNvSpPr/>
          <p:nvPr/>
        </p:nvSpPr>
        <p:spPr>
          <a:xfrm>
            <a:off x="2039112" y="52395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6</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최단 경로 트리    빨강 점선: 줄지 않은 간선    연회색: 쓰지 않은 간선</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다익스트라 의사코드 (배열판)</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165</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dijkstra.pseudo</a:t>
            </a:r>
          </a:p>
        </p:txBody>
      </p:sp>
      <p:sp>
        <p:nvSpPr>
          <p:cNvPr id="10" name="직사각형 11"/>
          <p:cNvSpPr/>
          <p:nvPr/>
        </p:nvSpPr>
        <p:spPr>
          <a:xfrm>
            <a:off x="612648" y="1856232"/>
            <a:ext cx="10972800" cy="168249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200" b="0" dirty="0">
                <a:solidFill>
                  <a:srgbClr val="FFFFFF"/>
                </a:solidFill>
                <a:latin typeface="Consolas"/>
                <a:ea typeface="Consolas"/>
                <a:cs typeface="Consolas"/>
              </a:rPr>
              <a:t>DIJKSTRA(G, start):</a:t>
            </a:r>
          </a:p>
          <a:p>
            <a:pPr algn="l" eaLnBrk="0" latinLnBrk="0">
              <a:lnSpc>
                <a:spcPct val="100000"/>
              </a:lnSpc>
              <a:buNone/>
            </a:pPr>
            <a:r>
              <a:rPr lang="ko-KR" altLang="en-US" sz="1200" b="0" dirty="0">
                <a:solidFill>
                  <a:srgbClr val="FFFFFF"/>
                </a:solidFill>
                <a:latin typeface="Consolas"/>
                <a:ea typeface="Consolas"/>
                <a:cs typeface="Consolas"/>
              </a:rPr>
              <a:t>    dist[모든 v] &lt;- ∞;  visited[모든 v] &lt;- False;  dist[start] &lt;- 0</a:t>
            </a:r>
          </a:p>
          <a:p>
            <a:pPr algn="l" eaLnBrk="0" latinLnBrk="0">
              <a:lnSpc>
                <a:spcPct val="100000"/>
              </a:lnSpc>
              <a:buNone/>
            </a:pPr>
            <a:r>
              <a:rPr lang="ko-KR" altLang="en-US" sz="1200" b="0" dirty="0">
                <a:solidFill>
                  <a:srgbClr val="FFFFFF"/>
                </a:solidFill>
                <a:latin typeface="Consolas"/>
                <a:ea typeface="Consolas"/>
                <a:cs typeface="Consolas"/>
              </a:rPr>
              <a:t>    V번 반복:</a:t>
            </a:r>
          </a:p>
          <a:p>
            <a:pPr algn="l" eaLnBrk="0" latinLnBrk="0">
              <a:lnSpc>
                <a:spcPct val="100000"/>
              </a:lnSpc>
              <a:buNone/>
            </a:pPr>
            <a:r>
              <a:rPr lang="ko-KR" altLang="en-US" sz="1200" b="0" dirty="0">
                <a:solidFill>
                  <a:srgbClr val="FFFFFF"/>
                </a:solidFill>
                <a:latin typeface="Consolas"/>
                <a:ea typeface="Consolas"/>
                <a:cs typeface="Consolas"/>
              </a:rPr>
              <a:t>        u &lt;- 미확정 중 dist가 가장 작은 정점 (모두 ∞면 break);  visited[u] &lt;- True   // 확정</a:t>
            </a:r>
          </a:p>
          <a:p>
            <a:pPr algn="l" eaLnBrk="0" latinLnBrk="0">
              <a:lnSpc>
                <a:spcPct val="100000"/>
              </a:lnSpc>
              <a:buNone/>
            </a:pPr>
            <a:r>
              <a:rPr lang="ko-KR" altLang="en-US" sz="1200" b="0" dirty="0">
                <a:solidFill>
                  <a:srgbClr val="FFFFFF"/>
                </a:solidFill>
                <a:latin typeface="Consolas"/>
                <a:ea typeface="Consolas"/>
                <a:cs typeface="Consolas"/>
              </a:rPr>
              <a:t>        for u에서 나가는 간선 (u, v, w):</a:t>
            </a:r>
          </a:p>
          <a:p>
            <a:pPr algn="l" eaLnBrk="0" latinLnBrk="0">
              <a:lnSpc>
                <a:spcPct val="100000"/>
              </a:lnSpc>
              <a:buNone/>
            </a:pPr>
            <a:r>
              <a:rPr lang="ko-KR" altLang="en-US" sz="1200" b="0" dirty="0">
                <a:solidFill>
                  <a:srgbClr val="FFFFFF"/>
                </a:solidFill>
                <a:latin typeface="Consolas"/>
                <a:ea typeface="Consolas"/>
                <a:cs typeface="Consolas"/>
              </a:rPr>
              <a:t>            if not visited[v] and dist[u] + w &lt; dist[v] then</a:t>
            </a:r>
          </a:p>
          <a:p>
            <a:pPr algn="l" eaLnBrk="0" latinLnBrk="0">
              <a:lnSpc>
                <a:spcPct val="100000"/>
              </a:lnSpc>
              <a:buNone/>
            </a:pPr>
            <a:r>
              <a:rPr lang="ko-KR" altLang="en-US" sz="1200" b="0" dirty="0">
                <a:solidFill>
                  <a:srgbClr val="FFFFFF"/>
                </a:solidFill>
                <a:latin typeface="Consolas"/>
                <a:ea typeface="Consolas"/>
                <a:cs typeface="Consolas"/>
              </a:rPr>
              <a:t>                dist[v] &lt;- dist[u] + w          // 완화</a:t>
            </a:r>
          </a:p>
          <a:p>
            <a:pPr algn="l" eaLnBrk="0" latinLnBrk="0">
              <a:lnSpc>
                <a:spcPct val="100000"/>
              </a:lnSpc>
              <a:buNone/>
            </a:pPr>
            <a:r>
              <a:rPr lang="ko-KR" altLang="en-US" sz="1200" b="0" dirty="0">
                <a:solidFill>
                  <a:srgbClr val="FFFFFF"/>
                </a:solidFill>
                <a:latin typeface="Consolas"/>
                <a:ea typeface="Consolas"/>
                <a:cs typeface="Consolas"/>
              </a:rPr>
              <a:t>    return dist</a:t>
            </a:r>
          </a:p>
        </p:txBody>
      </p:sp>
      <p:sp>
        <p:nvSpPr>
          <p:cNvPr id="11" name="fit:95273bf58ee3387e 12"/>
          <p:cNvSpPr/>
          <p:nvPr/>
        </p:nvSpPr>
        <p:spPr>
          <a:xfrm>
            <a:off x="612648" y="366674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선택: 확정하지 않은 정점 중 dist가 가장 작은 정점</a:t>
            </a:r>
          </a:p>
        </p:txBody>
      </p:sp>
      <p:sp>
        <p:nvSpPr>
          <p:cNvPr id="12" name="fit:bc52732013ecab3b 13"/>
          <p:cNvSpPr/>
          <p:nvPr/>
        </p:nvSpPr>
        <p:spPr>
          <a:xfrm>
            <a:off x="795528" y="399592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배열을 처음부터 끝까지 훑으면 V번 비교, 이것을 V번 반복 → O(V²)</a:t>
            </a:r>
          </a:p>
        </p:txBody>
      </p:sp>
      <p:sp>
        <p:nvSpPr>
          <p:cNvPr id="13" name="fit:835a9224e6c39325 14"/>
          <p:cNvSpPr/>
          <p:nvPr/>
        </p:nvSpPr>
        <p:spPr>
          <a:xfrm>
            <a:off x="612648" y="43799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확정: visited[u] &lt;- True</a:t>
            </a:r>
          </a:p>
        </p:txBody>
      </p:sp>
      <p:sp>
        <p:nvSpPr>
          <p:cNvPr id="14" name="fit:a366afd8b226d02f 15"/>
          <p:cNvSpPr/>
          <p:nvPr/>
        </p:nvSpPr>
        <p:spPr>
          <a:xfrm>
            <a:off x="795528" y="470916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확정한 정점은 다시 고치지 않습니다</a:t>
            </a:r>
          </a:p>
        </p:txBody>
      </p:sp>
      <p:sp>
        <p:nvSpPr>
          <p:cNvPr id="15" name="fit:32779aaccb4af727 16"/>
          <p:cNvSpPr/>
          <p:nvPr/>
        </p:nvSpPr>
        <p:spPr>
          <a:xfrm>
            <a:off x="612648" y="509320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완화: u에서 나가는 간선마다</a:t>
            </a:r>
          </a:p>
        </p:txBody>
      </p:sp>
      <p:sp>
        <p:nvSpPr>
          <p:cNvPr id="16" name="fit:25da0fa9cf75fb55 17"/>
          <p:cNvSpPr/>
          <p:nvPr/>
        </p:nvSpPr>
        <p:spPr>
          <a:xfrm>
            <a:off x="795528" y="542239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인접 행렬이면 한 행 V칸을 훑으므로 반복마다 O(V)</a:t>
            </a:r>
          </a:p>
        </p:txBody>
      </p:sp>
      <p:sp>
        <p:nvSpPr>
          <p:cNvPr id="17" name="fit:8cf998502d2010bc 18"/>
          <p:cNvSpPr/>
          <p:nvPr/>
        </p:nvSpPr>
        <p:spPr>
          <a:xfrm>
            <a:off x="612648" y="5806440"/>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배열판 전체 O(V²): C 코드가 이 방식입니다</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우선순위 큐와 heapq · (8, B)와 (6, B)</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166</a:t>
            </a:r>
          </a:p>
        </p:txBody>
      </p:sp>
      <p:sp>
        <p:nvSpPr>
          <p:cNvPr id="9" name="fit:55acc08d467c1700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우선순위 큐: 가장 작은 항목을 먼저 꺼내는 자료구조. Python은 힙(heap)으로 만든 heapq를 씁니다.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877824"/>
        </p:xfrm>
        <a:graphic>
          <a:graphicData uri="http://schemas.openxmlformats.org/drawingml/2006/table">
            <a:tbl>
              <a:tblPr/>
              <a:tblGrid>
                <a:gridCol w="2072507"/>
                <a:gridCol w="1594237"/>
              </a:tblGrid>
              <a:tr h="292608">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함수</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하는 일</a:t>
                      </a:r>
                    </a:p>
                  </a:txBody>
                  <a:tcPr marL="54864" marR="54864" marT="18288" marB="18288" anchor="ctr">
                    <a:solidFill>
                      <a:srgbClr val="151515"/>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heapq.heappush(q, x)</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x를 넣음</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heapq.heappop(q)</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최솟값을 꺼냄</a:t>
                      </a:r>
                    </a:p>
                  </a:txBody>
                  <a:tcPr marL="54864" marR="54864" marT="18288" marB="18288" anchor="ctr">
                    <a:solidFill>
                      <a:srgbClr val="FFFFFF"/>
                    </a:solidFill>
                  </a:tcPr>
                </a:tc>
              </a:tr>
            </a:tbl>
          </a:graphicData>
        </a:graphic>
      </p:graphicFrame>
      <p:sp>
        <p:nvSpPr>
          <p:cNvPr id="12" name="fit:6fd6b75b92ad0630 13"/>
          <p:cNvSpPr/>
          <p:nvPr/>
        </p:nvSpPr>
        <p:spPr>
          <a:xfrm>
            <a:off x="7909560" y="3959352"/>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둘 다 O(log n). 튜플은 첫 값(거리)부터 비교합니다.</a:t>
            </a:r>
          </a:p>
        </p:txBody>
      </p:sp>
      <p:sp>
        <p:nvSpPr>
          <p:cNvPr id="13" name="fit:f5af66b1bec56479 14"/>
          <p:cNvSpPr/>
          <p:nvPr/>
        </p:nvSpPr>
        <p:spPr>
          <a:xfrm>
            <a:off x="7909560" y="4608576"/>
            <a:ext cx="3666744" cy="58521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heapq에는 넣은 항목의 거리를 줄이는 함수가 없습니다</a:t>
            </a:r>
          </a:p>
        </p:txBody>
      </p:sp>
      <p:sp>
        <p:nvSpPr>
          <p:cNvPr id="14" name="fit:24419bf527d0390d 15"/>
          <p:cNvSpPr/>
          <p:nvPr/>
        </p:nvSpPr>
        <p:spPr>
          <a:xfrm>
            <a:off x="7909560" y="530352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그래서 (6, B)를 하나 더 넣고 (8, B)는 그대로 남겨 둡니다.</a:t>
            </a:r>
          </a:p>
        </p:txBody>
      </p:sp>
      <p:sp>
        <p:nvSpPr>
          <p:cNvPr id="15" name="직사각형 16"/>
          <p:cNvSpPr/>
          <p:nvPr/>
        </p:nvSpPr>
        <p:spPr>
          <a:xfrm>
            <a:off x="731520" y="28529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A 확정 후</a:t>
            </a:r>
          </a:p>
        </p:txBody>
      </p:sp>
      <p:graphicFrame>
        <p:nvGraphicFramePr>
          <p:cNvPr id="16" name="표 17"/>
          <p:cNvGraphicFramePr>
            <a:graphicFrameLocks noGrp="1"/>
          </p:cNvGraphicFramePr>
          <p:nvPr/>
        </p:nvGraphicFramePr>
        <p:xfrm>
          <a:off x="2103120" y="2743200"/>
          <a:ext cx="3566160" cy="493776"/>
        </p:xfrm>
        <a:graphic>
          <a:graphicData uri="http://schemas.openxmlformats.org/drawingml/2006/table">
            <a:tbl>
              <a:tblPr/>
              <a:tblGrid>
                <a:gridCol w="1188720"/>
                <a:gridCol w="1188720"/>
                <a:gridCol w="1188720"/>
              </a:tblGrid>
              <a:tr h="493776">
                <a:tc>
                  <a:txBody>
                    <a:bodyPr/>
                    <a:lstStyle/>
                    <a:p>
                      <a:pPr algn="ctr" eaLnBrk="0" latinLnBrk="0">
                        <a:lnSpc>
                          <a:spcPct val="100000"/>
                        </a:lnSpc>
                        <a:buNone/>
                      </a:pPr>
                      <a:r>
                        <a:rPr lang="ko-KR" altLang="en-US" sz="1800" b="1" dirty="0">
                          <a:solidFill>
                            <a:srgbClr val="151515"/>
                          </a:solidFill>
                          <a:latin typeface="Consolas"/>
                          <a:ea typeface="Consolas"/>
                          <a:cs typeface="Consolas"/>
                        </a:rPr>
                        <a:t>(1, C)</a:t>
                      </a:r>
                    </a:p>
                  </a:txBody>
                  <a:tcPr marL="54864" marR="54864" marT="18288" marB="18288" anchor="ctr">
                    <a:solidFill>
                      <a:srgbClr val="FFF1C2"/>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(2, D)</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(8, B)</a:t>
                      </a:r>
                    </a:p>
                  </a:txBody>
                  <a:tcPr marL="54864" marR="54864" marT="18288" marB="18288" anchor="ctr">
                    <a:solidFill>
                      <a:srgbClr val="FFFFFF"/>
                    </a:solidFill>
                  </a:tcPr>
                </a:tc>
              </a:tr>
            </a:tbl>
          </a:graphicData>
        </a:graphic>
      </p:graphicFrame>
      <p:sp>
        <p:nvSpPr>
          <p:cNvPr id="17" name="직사각형 18"/>
          <p:cNvSpPr/>
          <p:nvPr/>
        </p:nvSpPr>
        <p:spPr>
          <a:xfrm>
            <a:off x="1920240" y="3273552"/>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B8651B"/>
                </a:solidFill>
                <a:latin typeface="Malgun Gothic"/>
                <a:ea typeface="Malgun Gothic"/>
                <a:cs typeface="Malgun Gothic"/>
              </a:rPr>
              <a:t>↑ 다음에 꺼냄</a:t>
            </a:r>
          </a:p>
        </p:txBody>
      </p:sp>
      <p:sp>
        <p:nvSpPr>
          <p:cNvPr id="18" name="직사각형 19"/>
          <p:cNvSpPr/>
          <p:nvPr/>
        </p:nvSpPr>
        <p:spPr>
          <a:xfrm>
            <a:off x="731520" y="440740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C 확정 후</a:t>
            </a:r>
          </a:p>
        </p:txBody>
      </p:sp>
      <p:graphicFrame>
        <p:nvGraphicFramePr>
          <p:cNvPr id="19" name="표 20"/>
          <p:cNvGraphicFramePr>
            <a:graphicFrameLocks noGrp="1"/>
          </p:cNvGraphicFramePr>
          <p:nvPr/>
        </p:nvGraphicFramePr>
        <p:xfrm>
          <a:off x="2103120" y="4297680"/>
          <a:ext cx="3566160" cy="493776"/>
        </p:xfrm>
        <a:graphic>
          <a:graphicData uri="http://schemas.openxmlformats.org/drawingml/2006/table">
            <a:tbl>
              <a:tblPr/>
              <a:tblGrid>
                <a:gridCol w="1188720"/>
                <a:gridCol w="1188720"/>
                <a:gridCol w="1188720"/>
              </a:tblGrid>
              <a:tr h="493776">
                <a:tc>
                  <a:txBody>
                    <a:bodyPr/>
                    <a:lstStyle/>
                    <a:p>
                      <a:pPr algn="ctr" eaLnBrk="0" latinLnBrk="0">
                        <a:lnSpc>
                          <a:spcPct val="100000"/>
                        </a:lnSpc>
                        <a:buNone/>
                      </a:pPr>
                      <a:r>
                        <a:rPr lang="ko-KR" altLang="en-US" sz="1800" b="1" dirty="0">
                          <a:solidFill>
                            <a:srgbClr val="151515"/>
                          </a:solidFill>
                          <a:latin typeface="Consolas"/>
                          <a:ea typeface="Consolas"/>
                          <a:cs typeface="Consolas"/>
                        </a:rPr>
                        <a:t>(2, D)</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(6, B)</a:t>
                      </a:r>
                    </a:p>
                  </a:txBody>
                  <a:tcPr marL="54864" marR="54864" marT="18288" marB="18288" anchor="ctr">
                    <a:solidFill>
                      <a:srgbClr val="DDF1E4"/>
                    </a:solidFill>
                  </a:tcPr>
                </a:tc>
                <a:tc>
                  <a:txBody>
                    <a:bodyPr/>
                    <a:lstStyle/>
                    <a:p>
                      <a:pPr algn="ctr" eaLnBrk="0" latinLnBrk="0">
                        <a:lnSpc>
                          <a:spcPct val="100000"/>
                        </a:lnSpc>
                        <a:buNone/>
                      </a:pPr>
                      <a:r>
                        <a:rPr lang="ko-KR" altLang="en-US" sz="1800" b="1" dirty="0">
                          <a:solidFill>
                            <a:srgbClr val="B23B3B"/>
                          </a:solidFill>
                          <a:latin typeface="Consolas"/>
                          <a:ea typeface="Consolas"/>
                          <a:cs typeface="Consolas"/>
                        </a:rPr>
                        <a:t>(8, B)</a:t>
                      </a:r>
                    </a:p>
                  </a:txBody>
                  <a:tcPr marL="54864" marR="54864" marT="18288" marB="18288" anchor="ctr">
                    <a:solidFill>
                      <a:srgbClr val="FBE1E1"/>
                    </a:solidFill>
                  </a:tcPr>
                </a:tc>
              </a:tr>
            </a:tbl>
          </a:graphicData>
        </a:graphic>
      </p:graphicFrame>
      <p:sp>
        <p:nvSpPr>
          <p:cNvPr id="20" name="직사각형 21"/>
          <p:cNvSpPr/>
          <p:nvPr/>
        </p:nvSpPr>
        <p:spPr>
          <a:xfrm>
            <a:off x="3108960" y="4828032"/>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256B50"/>
                </a:solidFill>
                <a:latin typeface="Malgun Gothic"/>
                <a:ea typeface="Malgun Gothic"/>
                <a:cs typeface="Malgun Gothic"/>
              </a:rPr>
              <a:t>새로 넣음</a:t>
            </a:r>
          </a:p>
        </p:txBody>
      </p:sp>
      <p:sp>
        <p:nvSpPr>
          <p:cNvPr id="21" name="직사각형 22"/>
          <p:cNvSpPr/>
          <p:nvPr/>
        </p:nvSpPr>
        <p:spPr>
          <a:xfrm>
            <a:off x="4297680" y="4828032"/>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B23B3B"/>
                </a:solidFill>
                <a:latin typeface="Malgun Gothic"/>
                <a:ea typeface="Malgun Gothic"/>
                <a:cs typeface="Malgun Gothic"/>
              </a:rPr>
              <a:t>오래된 항목</a:t>
            </a:r>
          </a:p>
        </p:txBody>
      </p:sp>
      <p:sp>
        <p:nvSpPr>
          <p:cNvPr id="22" name="직사각형 23"/>
          <p:cNvSpPr/>
          <p:nvPr/>
        </p:nvSpPr>
        <p:spPr>
          <a:xfrm>
            <a:off x="1097280" y="3703320"/>
            <a:ext cx="621792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(1, C)를 꺼내 C 확정 → B가 8에서 6으로 → (6, B)를 새로 넣음</a:t>
            </a:r>
          </a:p>
        </p:txBody>
      </p:sp>
      <p:sp>
        <p:nvSpPr>
          <p:cNvPr id="23" name="직사각형 24"/>
          <p:cNvSpPr/>
          <p:nvPr/>
        </p:nvSpPr>
        <p:spPr>
          <a:xfrm>
            <a:off x="1097280" y="5376672"/>
            <a:ext cx="6309360" cy="54864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힙: 가장 작은 값이 늘 맨 앞(뿌리)에 오게 유지하는 이진 트리. 넣고 꺼낼 때 높이 log n만큼만 자리를 바꿉니다.</a:t>
            </a:r>
          </a:p>
        </p:txBody>
      </p:sp>
      <p:sp>
        <p:nvSpPr>
          <p:cNvPr id="24" name="직사각형 2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항목은 작은 순으로 적었습니다    초록: 새로 넣은 항목    빨강: 오래된 항목</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오래된 항목 건너뛰기 · (7, F)와 (8, B)</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167</a:t>
            </a:r>
          </a:p>
        </p:txBody>
      </p:sp>
      <p:sp>
        <p:nvSpPr>
          <p:cNvPr id="9" name="fit:7507d08320baa52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F까지 확정해도 힙에 (7, F), (8, B)가 남습니다. 꺼낸 거리가 dist보다 크면 오래된 항목이라 건너뜁니다.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2633472"/>
        </p:xfrm>
        <a:graphic>
          <a:graphicData uri="http://schemas.openxmlformats.org/drawingml/2006/table">
            <a:tbl>
              <a:tblPr/>
              <a:tblGrid>
                <a:gridCol w="1833372"/>
                <a:gridCol w="1833372"/>
              </a:tblGrid>
              <a:tr h="292608">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꺼낸 항목</a:t>
                      </a:r>
                    </a:p>
                  </a:txBody>
                  <a:tcPr marL="54864" marR="54864" marT="18288" marB="18288" anchor="ctr">
                    <a:solidFill>
                      <a:srgbClr val="151515"/>
                    </a:solidFill>
                  </a:tcPr>
                </a:tc>
                <a:tc>
                  <a:txBody>
                    <a:bodyPr/>
                    <a:lstStyle/>
                    <a:p>
                      <a:pPr algn="ctr" eaLnBrk="0" latinLnBrk="0">
                        <a:lnSpc>
                          <a:spcPct val="100000"/>
                        </a:lnSpc>
                        <a:buNone/>
                      </a:pPr>
                      <a:r>
                        <a:rPr lang="ko-KR" altLang="en-US" sz="1350" b="1" dirty="0">
                          <a:solidFill>
                            <a:srgbClr val="FFFFFF"/>
                          </a:solidFill>
                          <a:latin typeface="Malgun Gothic"/>
                          <a:ea typeface="Malgun Gothic"/>
                          <a:cs typeface="Malgun Gothic"/>
                        </a:rPr>
                        <a:t>처리</a:t>
                      </a:r>
                    </a:p>
                  </a:txBody>
                  <a:tcPr marL="54864" marR="54864" marT="18288" marB="18288" anchor="ctr">
                    <a:solidFill>
                      <a:srgbClr val="151515"/>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(0, A)</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A 확정</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(1, C)</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C 확정</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(2, D)</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D 확정</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(5, E)</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E 확정</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(6, B)</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B 확정</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(6, F)</a:t>
                      </a:r>
                    </a:p>
                  </a:txBody>
                  <a:tcPr marL="54864" marR="54864" marT="18288" marB="18288" anchor="ctr">
                    <a:solidFill>
                      <a:srgbClr val="FFFFFF"/>
                    </a:solidFill>
                  </a:tcPr>
                </a:tc>
                <a:tc>
                  <a:txBody>
                    <a:bodyPr/>
                    <a:lstStyle/>
                    <a:p>
                      <a:pPr algn="ctr" eaLnBrk="0" latinLnBrk="0">
                        <a:lnSpc>
                          <a:spcPct val="100000"/>
                        </a:lnSpc>
                        <a:buNone/>
                      </a:pPr>
                      <a:r>
                        <a:rPr lang="ko-KR" altLang="en-US" sz="1350" b="0" dirty="0">
                          <a:solidFill>
                            <a:srgbClr val="151515"/>
                          </a:solidFill>
                          <a:latin typeface="Malgun Gothic"/>
                          <a:ea typeface="Malgun Gothic"/>
                          <a:cs typeface="Malgun Gothic"/>
                        </a:rPr>
                        <a:t>F 확정</a:t>
                      </a:r>
                    </a:p>
                  </a:txBody>
                  <a:tcPr marL="54864" marR="54864" marT="18288" marB="18288" anchor="ctr">
                    <a:solidFill>
                      <a:srgbClr val="FFFFFF"/>
                    </a:solidFill>
                  </a:tcPr>
                </a:tc>
              </a:tr>
              <a:tr h="292608">
                <a:tc>
                  <a:txBody>
                    <a:bodyPr/>
                    <a:lstStyle/>
                    <a:p>
                      <a:pPr algn="ctr" eaLnBrk="0" latinLnBrk="0">
                        <a:lnSpc>
                          <a:spcPct val="100000"/>
                        </a:lnSpc>
                        <a:buNone/>
                      </a:pPr>
                      <a:r>
                        <a:rPr lang="ko-KR" altLang="en-US" sz="1350" b="1" dirty="0">
                          <a:solidFill>
                            <a:srgbClr val="B23B3B"/>
                          </a:solidFill>
                          <a:latin typeface="Malgun Gothic"/>
                          <a:ea typeface="Malgun Gothic"/>
                          <a:cs typeface="Malgun Gothic"/>
                        </a:rPr>
                        <a:t>(7, F)</a:t>
                      </a:r>
                    </a:p>
                  </a:txBody>
                  <a:tcPr marL="54864" marR="54864" marT="18288" marB="18288" anchor="ctr">
                    <a:solidFill>
                      <a:srgbClr val="FBE1E1"/>
                    </a:solidFill>
                  </a:tcPr>
                </a:tc>
                <a:tc>
                  <a:txBody>
                    <a:bodyPr/>
                    <a:lstStyle/>
                    <a:p>
                      <a:pPr algn="ctr" eaLnBrk="0" latinLnBrk="0">
                        <a:lnSpc>
                          <a:spcPct val="100000"/>
                        </a:lnSpc>
                        <a:buNone/>
                      </a:pPr>
                      <a:r>
                        <a:rPr lang="ko-KR" altLang="en-US" sz="1350" b="1" dirty="0">
                          <a:solidFill>
                            <a:srgbClr val="B23B3B"/>
                          </a:solidFill>
                          <a:latin typeface="Malgun Gothic"/>
                          <a:ea typeface="Malgun Gothic"/>
                          <a:cs typeface="Malgun Gothic"/>
                        </a:rPr>
                        <a:t>건너뜀</a:t>
                      </a:r>
                    </a:p>
                  </a:txBody>
                  <a:tcPr marL="54864" marR="54864" marT="18288" marB="18288" anchor="ctr">
                    <a:solidFill>
                      <a:srgbClr val="FBE1E1"/>
                    </a:solidFill>
                  </a:tcPr>
                </a:tc>
              </a:tr>
              <a:tr h="292608">
                <a:tc>
                  <a:txBody>
                    <a:bodyPr/>
                    <a:lstStyle/>
                    <a:p>
                      <a:pPr algn="ctr" eaLnBrk="0" latinLnBrk="0">
                        <a:lnSpc>
                          <a:spcPct val="100000"/>
                        </a:lnSpc>
                        <a:buNone/>
                      </a:pPr>
                      <a:r>
                        <a:rPr lang="ko-KR" altLang="en-US" sz="1350" b="1" dirty="0">
                          <a:solidFill>
                            <a:srgbClr val="B23B3B"/>
                          </a:solidFill>
                          <a:latin typeface="Malgun Gothic"/>
                          <a:ea typeface="Malgun Gothic"/>
                          <a:cs typeface="Malgun Gothic"/>
                        </a:rPr>
                        <a:t>(8, B)</a:t>
                      </a:r>
                    </a:p>
                  </a:txBody>
                  <a:tcPr marL="54864" marR="54864" marT="18288" marB="18288" anchor="ctr">
                    <a:solidFill>
                      <a:srgbClr val="FBE1E1"/>
                    </a:solidFill>
                  </a:tcPr>
                </a:tc>
                <a:tc>
                  <a:txBody>
                    <a:bodyPr/>
                    <a:lstStyle/>
                    <a:p>
                      <a:pPr algn="ctr" eaLnBrk="0" latinLnBrk="0">
                        <a:lnSpc>
                          <a:spcPct val="100000"/>
                        </a:lnSpc>
                        <a:buNone/>
                      </a:pPr>
                      <a:r>
                        <a:rPr lang="ko-KR" altLang="en-US" sz="1350" b="1" dirty="0">
                          <a:solidFill>
                            <a:srgbClr val="B23B3B"/>
                          </a:solidFill>
                          <a:latin typeface="Malgun Gothic"/>
                          <a:ea typeface="Malgun Gothic"/>
                          <a:cs typeface="Malgun Gothic"/>
                        </a:rPr>
                        <a:t>건너뜀</a:t>
                      </a:r>
                    </a:p>
                  </a:txBody>
                  <a:tcPr marL="54864" marR="54864" marT="18288" marB="18288" anchor="ctr">
                    <a:solidFill>
                      <a:srgbClr val="FBE1E1"/>
                    </a:solidFill>
                  </a:tcPr>
                </a:tc>
              </a:tr>
            </a:tbl>
          </a:graphicData>
        </a:graphic>
      </p:graphicFrame>
      <p:sp>
        <p:nvSpPr>
          <p:cNvPr id="12" name="fit:182f4a6625d4b8da 13"/>
          <p:cNvSpPr/>
          <p:nvPr/>
        </p:nvSpPr>
        <p:spPr>
          <a:xfrm>
            <a:off x="7909560" y="5715000"/>
            <a:ext cx="3666744"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힙이 비면 반복이 끝납니다.</a:t>
            </a:r>
          </a:p>
        </p:txBody>
      </p:sp>
      <p:sp>
        <p:nvSpPr>
          <p:cNvPr id="13" name="직사각형 14"/>
          <p:cNvSpPr/>
          <p:nvPr/>
        </p:nvSpPr>
        <p:spPr>
          <a:xfrm>
            <a:off x="731520" y="28529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dist</a:t>
            </a:r>
          </a:p>
        </p:txBody>
      </p:sp>
      <p:graphicFrame>
        <p:nvGraphicFramePr>
          <p:cNvPr id="14" name="표 15"/>
          <p:cNvGraphicFramePr>
            <a:graphicFrameLocks noGrp="1"/>
          </p:cNvGraphicFramePr>
          <p:nvPr/>
        </p:nvGraphicFramePr>
        <p:xfrm>
          <a:off x="2103120" y="2743200"/>
          <a:ext cx="4389120" cy="493776"/>
        </p:xfrm>
        <a:graphic>
          <a:graphicData uri="http://schemas.openxmlformats.org/drawingml/2006/table">
            <a:tbl>
              <a:tblPr/>
              <a:tblGrid>
                <a:gridCol w="731520"/>
                <a:gridCol w="731520"/>
                <a:gridCol w="731520"/>
                <a:gridCol w="731520"/>
                <a:gridCol w="731520"/>
                <a:gridCol w="73152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6</a:t>
                      </a:r>
                    </a:p>
                  </a:txBody>
                  <a:tcPr marL="54864" marR="54864" marT="18288" marB="18288" anchor="ctr">
                    <a:solidFill>
                      <a:srgbClr val="FFF1C2"/>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6</a:t>
                      </a:r>
                    </a:p>
                  </a:txBody>
                  <a:tcPr marL="54864" marR="54864" marT="18288" marB="18288" anchor="ctr">
                    <a:solidFill>
                      <a:srgbClr val="FFF1C2"/>
                    </a:solidFill>
                  </a:tcPr>
                </a:tc>
              </a:tr>
            </a:tbl>
          </a:graphicData>
        </a:graphic>
      </p:graphicFrame>
      <p:sp>
        <p:nvSpPr>
          <p:cNvPr id="15" name="직사각형 16"/>
          <p:cNvSpPr/>
          <p:nvPr/>
        </p:nvSpPr>
        <p:spPr>
          <a:xfrm>
            <a:off x="2103120" y="3273552"/>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A</a:t>
            </a:r>
          </a:p>
        </p:txBody>
      </p:sp>
      <p:sp>
        <p:nvSpPr>
          <p:cNvPr id="16" name="직사각형 17"/>
          <p:cNvSpPr/>
          <p:nvPr/>
        </p:nvSpPr>
        <p:spPr>
          <a:xfrm>
            <a:off x="2834640" y="3273552"/>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B</a:t>
            </a:r>
          </a:p>
        </p:txBody>
      </p:sp>
      <p:sp>
        <p:nvSpPr>
          <p:cNvPr id="17" name="직사각형 18"/>
          <p:cNvSpPr/>
          <p:nvPr/>
        </p:nvSpPr>
        <p:spPr>
          <a:xfrm>
            <a:off x="3566160" y="3273552"/>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C</a:t>
            </a:r>
          </a:p>
        </p:txBody>
      </p:sp>
      <p:sp>
        <p:nvSpPr>
          <p:cNvPr id="18" name="직사각형 19"/>
          <p:cNvSpPr/>
          <p:nvPr/>
        </p:nvSpPr>
        <p:spPr>
          <a:xfrm>
            <a:off x="4297680" y="3273552"/>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D</a:t>
            </a:r>
          </a:p>
        </p:txBody>
      </p:sp>
      <p:sp>
        <p:nvSpPr>
          <p:cNvPr id="19" name="직사각형 20"/>
          <p:cNvSpPr/>
          <p:nvPr/>
        </p:nvSpPr>
        <p:spPr>
          <a:xfrm>
            <a:off x="5029200" y="3273552"/>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E</a:t>
            </a:r>
          </a:p>
        </p:txBody>
      </p:sp>
      <p:sp>
        <p:nvSpPr>
          <p:cNvPr id="20" name="직사각형 21"/>
          <p:cNvSpPr/>
          <p:nvPr/>
        </p:nvSpPr>
        <p:spPr>
          <a:xfrm>
            <a:off x="5760720" y="3273552"/>
            <a:ext cx="7315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F</a:t>
            </a:r>
          </a:p>
        </p:txBody>
      </p:sp>
      <p:sp>
        <p:nvSpPr>
          <p:cNvPr id="21" name="직사각형 22"/>
          <p:cNvSpPr/>
          <p:nvPr/>
        </p:nvSpPr>
        <p:spPr>
          <a:xfrm>
            <a:off x="731520" y="395020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힙에 남은 항목</a:t>
            </a:r>
          </a:p>
        </p:txBody>
      </p:sp>
      <p:graphicFrame>
        <p:nvGraphicFramePr>
          <p:cNvPr id="22" name="표 23"/>
          <p:cNvGraphicFramePr>
            <a:graphicFrameLocks noGrp="1"/>
          </p:cNvGraphicFramePr>
          <p:nvPr/>
        </p:nvGraphicFramePr>
        <p:xfrm>
          <a:off x="2103120" y="3840480"/>
          <a:ext cx="2377440" cy="493776"/>
        </p:xfrm>
        <a:graphic>
          <a:graphicData uri="http://schemas.openxmlformats.org/drawingml/2006/table">
            <a:tbl>
              <a:tblPr/>
              <a:tblGrid>
                <a:gridCol w="1188720"/>
                <a:gridCol w="1188720"/>
              </a:tblGrid>
              <a:tr h="493776">
                <a:tc>
                  <a:txBody>
                    <a:bodyPr/>
                    <a:lstStyle/>
                    <a:p>
                      <a:pPr algn="ctr" eaLnBrk="0" latinLnBrk="0">
                        <a:lnSpc>
                          <a:spcPct val="100000"/>
                        </a:lnSpc>
                        <a:buNone/>
                      </a:pPr>
                      <a:r>
                        <a:rPr lang="ko-KR" altLang="en-US" sz="1800" b="1" dirty="0">
                          <a:solidFill>
                            <a:srgbClr val="B23B3B"/>
                          </a:solidFill>
                          <a:latin typeface="Consolas"/>
                          <a:ea typeface="Consolas"/>
                          <a:cs typeface="Consolas"/>
                        </a:rPr>
                        <a:t>(7, F)</a:t>
                      </a:r>
                    </a:p>
                  </a:txBody>
                  <a:tcPr marL="54864" marR="54864" marT="18288" marB="18288" anchor="ctr">
                    <a:solidFill>
                      <a:srgbClr val="FBE1E1"/>
                    </a:solidFill>
                  </a:tcPr>
                </a:tc>
                <a:tc>
                  <a:txBody>
                    <a:bodyPr/>
                    <a:lstStyle/>
                    <a:p>
                      <a:pPr algn="ctr" eaLnBrk="0" latinLnBrk="0">
                        <a:lnSpc>
                          <a:spcPct val="100000"/>
                        </a:lnSpc>
                        <a:buNone/>
                      </a:pPr>
                      <a:r>
                        <a:rPr lang="ko-KR" altLang="en-US" sz="1800" b="1" dirty="0">
                          <a:solidFill>
                            <a:srgbClr val="B23B3B"/>
                          </a:solidFill>
                          <a:latin typeface="Consolas"/>
                          <a:ea typeface="Consolas"/>
                          <a:cs typeface="Consolas"/>
                        </a:rPr>
                        <a:t>(8, B)</a:t>
                      </a:r>
                    </a:p>
                  </a:txBody>
                  <a:tcPr marL="54864" marR="54864" marT="18288" marB="18288" anchor="ctr">
                    <a:solidFill>
                      <a:srgbClr val="FBE1E1"/>
                    </a:solidFill>
                  </a:tcPr>
                </a:tc>
              </a:tr>
            </a:tbl>
          </a:graphicData>
        </a:graphic>
      </p:graphicFrame>
      <p:sp>
        <p:nvSpPr>
          <p:cNvPr id="23" name="직사각형 24"/>
          <p:cNvSpPr/>
          <p:nvPr/>
        </p:nvSpPr>
        <p:spPr>
          <a:xfrm>
            <a:off x="1920240" y="4370832"/>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B23B3B"/>
                </a:solidFill>
                <a:latin typeface="Malgun Gothic"/>
                <a:ea typeface="Malgun Gothic"/>
                <a:cs typeface="Malgun Gothic"/>
              </a:rPr>
              <a:t>↑ 먼저 꺼냄</a:t>
            </a:r>
          </a:p>
        </p:txBody>
      </p:sp>
      <p:sp>
        <p:nvSpPr>
          <p:cNvPr id="24" name="직사각형 25"/>
          <p:cNvSpPr/>
          <p:nvPr/>
        </p:nvSpPr>
        <p:spPr>
          <a:xfrm>
            <a:off x="1097280" y="4937760"/>
            <a:ext cx="5852160" cy="420624"/>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650" b="1" dirty="0">
                <a:solidFill>
                  <a:srgbClr val="B23B3B"/>
                </a:solidFill>
                <a:latin typeface="Malgun Gothic"/>
                <a:ea typeface="Malgun Gothic"/>
                <a:cs typeface="Malgun Gothic"/>
              </a:rPr>
              <a:t>(7, F): dist[F] = 6 &lt; 7  →  건너뜀</a:t>
            </a:r>
          </a:p>
        </p:txBody>
      </p:sp>
      <p:sp>
        <p:nvSpPr>
          <p:cNvPr id="25" name="직사각형 26"/>
          <p:cNvSpPr/>
          <p:nvPr/>
        </p:nvSpPr>
        <p:spPr>
          <a:xfrm>
            <a:off x="1097280" y="5468112"/>
            <a:ext cx="5852160" cy="420624"/>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650" b="1" dirty="0">
                <a:solidFill>
                  <a:srgbClr val="B23B3B"/>
                </a:solidFill>
                <a:latin typeface="Malgun Gothic"/>
                <a:ea typeface="Malgun Gothic"/>
                <a:cs typeface="Malgun Gothic"/>
              </a:rPr>
              <a:t>(8, B): dist[B] = 6 &lt; 8  →  건너뜀</a:t>
            </a:r>
          </a:p>
        </p:txBody>
      </p:sp>
      <p:sp>
        <p:nvSpPr>
          <p:cNvPr id="26" name="직사각형 2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이미 6으로 확정된 B, F    빨강: 오래된 항목</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다익스트라 ① 초기화</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168</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dijkstra.py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import heapq          # 우선순위 큐</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INF = float("inf")</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def dijkstra(graph, start):</a:t>
            </a:r>
          </a:p>
          <a:p>
            <a:pPr algn="l" eaLnBrk="0" latinLnBrk="0">
              <a:lnSpc>
                <a:spcPct val="100000"/>
              </a:lnSpc>
              <a:buNone/>
            </a:pPr>
            <a:r>
              <a:rPr lang="ko-KR" altLang="en-US" sz="1800" b="0" dirty="0">
                <a:solidFill>
                  <a:srgbClr val="151515"/>
                </a:solidFill>
                <a:latin typeface="Consolas"/>
                <a:ea typeface="Consolas"/>
                <a:cs typeface="Consolas"/>
              </a:rPr>
              <a:t>    # 초기화: 모든 노드까지의 거리를 무한대로</a:t>
            </a:r>
          </a:p>
          <a:p>
            <a:pPr algn="l" eaLnBrk="0" latinLnBrk="0">
              <a:lnSpc>
                <a:spcPct val="100000"/>
              </a:lnSpc>
              <a:buNone/>
            </a:pPr>
            <a:r>
              <a:rPr lang="ko-KR" altLang="en-US" sz="1800" b="0" dirty="0">
                <a:solidFill>
                  <a:srgbClr val="151515"/>
                </a:solidFill>
                <a:latin typeface="Consolas"/>
                <a:ea typeface="Consolas"/>
                <a:cs typeface="Consolas"/>
              </a:rPr>
              <a:t>    distances = {node: INF for node in graph}</a:t>
            </a:r>
          </a:p>
          <a:p>
            <a:pPr algn="l" eaLnBrk="0" latinLnBrk="0">
              <a:lnSpc>
                <a:spcPct val="100000"/>
              </a:lnSpc>
              <a:buNone/>
            </a:pPr>
            <a:r>
              <a:rPr lang="ko-KR" altLang="en-US" sz="1800" b="0" dirty="0">
                <a:solidFill>
                  <a:srgbClr val="151515"/>
                </a:solidFill>
                <a:latin typeface="Consolas"/>
                <a:ea typeface="Consolas"/>
                <a:cs typeface="Consolas"/>
              </a:rPr>
              <a:t>    distances[start] = 0</a:t>
            </a:r>
          </a:p>
          <a:p>
            <a:pPr algn="l" eaLnBrk="0" latinLnBrk="0">
              <a:lnSpc>
                <a:spcPct val="100000"/>
              </a:lnSpc>
              <a:buNone/>
            </a:pPr>
            <a:r>
              <a:rPr lang="ko-KR" altLang="en-US" sz="1800" b="0" dirty="0">
                <a:solidFill>
                  <a:srgbClr val="151515"/>
                </a:solidFill>
                <a:latin typeface="Consolas"/>
                <a:ea typeface="Consolas"/>
                <a:cs typeface="Consolas"/>
              </a:rPr>
              <a:t>    queue = []</a:t>
            </a:r>
          </a:p>
          <a:p>
            <a:pPr algn="l" eaLnBrk="0" latinLnBrk="0">
              <a:lnSpc>
                <a:spcPct val="100000"/>
              </a:lnSpc>
              <a:buNone/>
            </a:pPr>
            <a:r>
              <a:rPr lang="ko-KR" altLang="en-US" sz="1800" b="0" dirty="0">
                <a:solidFill>
                  <a:srgbClr val="151515"/>
                </a:solidFill>
                <a:latin typeface="Consolas"/>
                <a:ea typeface="Consolas"/>
                <a:cs typeface="Consolas"/>
              </a:rPr>
              <a:t>    heapq.heappush(queue, (0, start))   # (거리, 노드)</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다익스트라 ② 꺼내고 완화하기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169</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dijkstra.py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while queue:</a:t>
            </a:r>
          </a:p>
          <a:p>
            <a:pPr algn="l" eaLnBrk="0" latinLnBrk="0">
              <a:lnSpc>
                <a:spcPct val="100000"/>
              </a:lnSpc>
              <a:buNone/>
            </a:pPr>
            <a:r>
              <a:rPr lang="ko-KR" altLang="en-US" sz="1800" b="0" dirty="0">
                <a:solidFill>
                  <a:srgbClr val="151515"/>
                </a:solidFill>
                <a:latin typeface="Consolas"/>
                <a:ea typeface="Consolas"/>
                <a:cs typeface="Consolas"/>
              </a:rPr>
              <a:t>        # 가장 가까운 노드 선택 — 그리디 선택</a:t>
            </a:r>
          </a:p>
          <a:p>
            <a:pPr algn="l" eaLnBrk="0" latinLnBrk="0">
              <a:lnSpc>
                <a:spcPct val="100000"/>
              </a:lnSpc>
              <a:buNone/>
            </a:pPr>
            <a:r>
              <a:rPr lang="ko-KR" altLang="en-US" sz="1800" b="0" dirty="0">
                <a:solidFill>
                  <a:srgbClr val="151515"/>
                </a:solidFill>
                <a:latin typeface="Consolas"/>
                <a:ea typeface="Consolas"/>
                <a:cs typeface="Consolas"/>
              </a:rPr>
              <a:t>        cur_dist, cur_node = heapq.heappop(queue)</a:t>
            </a:r>
          </a:p>
          <a:p>
            <a:pPr algn="l" eaLnBrk="0" latinLnBrk="0">
              <a:lnSpc>
                <a:spcPct val="100000"/>
              </a:lnSpc>
              <a:buNone/>
            </a:pPr>
            <a:r>
              <a:rPr lang="ko-KR" altLang="en-US" sz="1800" b="0" dirty="0">
                <a:solidFill>
                  <a:srgbClr val="151515"/>
                </a:solidFill>
                <a:latin typeface="Consolas"/>
                <a:ea typeface="Consolas"/>
                <a:cs typeface="Consolas"/>
              </a:rPr>
              <a:t>        # 이미 더 짧은 경로를 찾았다면 무시</a:t>
            </a:r>
          </a:p>
          <a:p>
            <a:pPr algn="l" eaLnBrk="0" latinLnBrk="0">
              <a:lnSpc>
                <a:spcPct val="100000"/>
              </a:lnSpc>
              <a:buNone/>
            </a:pPr>
            <a:r>
              <a:rPr lang="ko-KR" altLang="en-US" sz="1800" b="0" dirty="0">
                <a:solidFill>
                  <a:srgbClr val="151515"/>
                </a:solidFill>
                <a:latin typeface="Consolas"/>
                <a:ea typeface="Consolas"/>
                <a:cs typeface="Consolas"/>
              </a:rPr>
              <a:t>        if distances[cur_node] &lt; cur_dist:</a:t>
            </a:r>
          </a:p>
          <a:p>
            <a:pPr algn="l" eaLnBrk="0" latinLnBrk="0">
              <a:lnSpc>
                <a:spcPct val="100000"/>
              </a:lnSpc>
              <a:buNone/>
            </a:pPr>
            <a:r>
              <a:rPr lang="ko-KR" altLang="en-US" sz="1800" b="0" dirty="0">
                <a:solidFill>
                  <a:srgbClr val="151515"/>
                </a:solidFill>
                <a:latin typeface="Consolas"/>
                <a:ea typeface="Consolas"/>
                <a:cs typeface="Consolas"/>
              </a:rPr>
              <a:t>            continue</a:t>
            </a:r>
          </a:p>
          <a:p>
            <a:pPr algn="l" eaLnBrk="0" latinLnBrk="0">
              <a:lnSpc>
                <a:spcPct val="100000"/>
              </a:lnSpc>
              <a:buNone/>
            </a:pPr>
            <a:r>
              <a:rPr lang="ko-KR" altLang="en-US" sz="1800" b="0" dirty="0">
                <a:solidFill>
                  <a:srgbClr val="151515"/>
                </a:solidFill>
                <a:latin typeface="Consolas"/>
                <a:ea typeface="Consolas"/>
                <a:cs typeface="Consolas"/>
              </a:rPr>
              <a:t>        # 이웃 노드 갱신 (relaxation)</a:t>
            </a:r>
          </a:p>
          <a:p>
            <a:pPr algn="l" eaLnBrk="0" latinLnBrk="0">
              <a:lnSpc>
                <a:spcPct val="100000"/>
              </a:lnSpc>
              <a:buNone/>
            </a:pPr>
            <a:r>
              <a:rPr lang="ko-KR" altLang="en-US" sz="1800" b="0" dirty="0">
                <a:solidFill>
                  <a:srgbClr val="151515"/>
                </a:solidFill>
                <a:latin typeface="Consolas"/>
                <a:ea typeface="Consolas"/>
                <a:cs typeface="Consolas"/>
              </a:rPr>
              <a:t>        for neighbor in graph[cur_node]:</a:t>
            </a:r>
          </a:p>
          <a:p>
            <a:pPr algn="l" eaLnBrk="0" latinLnBrk="0">
              <a:lnSpc>
                <a:spcPct val="100000"/>
              </a:lnSpc>
              <a:buNone/>
            </a:pPr>
            <a:r>
              <a:rPr lang="ko-KR" altLang="en-US" sz="1800" b="0" dirty="0">
                <a:solidFill>
                  <a:srgbClr val="151515"/>
                </a:solidFill>
                <a:latin typeface="Consolas"/>
                <a:ea typeface="Consolas"/>
                <a:cs typeface="Consolas"/>
              </a:rPr>
              <a:t>            new_dist = cur_dist + graph[cur_node][neighbor]</a:t>
            </a:r>
          </a:p>
          <a:p>
            <a:pPr algn="l" eaLnBrk="0" latinLnBrk="0">
              <a:lnSpc>
                <a:spcPct val="100000"/>
              </a:lnSpc>
              <a:buNone/>
            </a:pPr>
            <a:r>
              <a:rPr lang="ko-KR" altLang="en-US" sz="1800" b="0" dirty="0">
                <a:solidFill>
                  <a:srgbClr val="151515"/>
                </a:solidFill>
                <a:latin typeface="Consolas"/>
                <a:ea typeface="Consolas"/>
                <a:cs typeface="Consolas"/>
              </a:rPr>
              <a:t>            if new_dist &lt; distances[neighbor]:</a:t>
            </a:r>
          </a:p>
          <a:p>
            <a:pPr algn="l" eaLnBrk="0" latinLnBrk="0">
              <a:lnSpc>
                <a:spcPct val="100000"/>
              </a:lnSpc>
              <a:buNone/>
            </a:pPr>
            <a:r>
              <a:rPr lang="ko-KR" altLang="en-US" sz="1800" b="0" dirty="0">
                <a:solidFill>
                  <a:srgbClr val="151515"/>
                </a:solidFill>
                <a:latin typeface="Consolas"/>
                <a:ea typeface="Consolas"/>
                <a:cs typeface="Consolas"/>
              </a:rPr>
              <a:t>                distances[neighbor] = new_dist</a:t>
            </a:r>
          </a:p>
          <a:p>
            <a:pPr algn="l" eaLnBrk="0" latinLnBrk="0">
              <a:lnSpc>
                <a:spcPct val="100000"/>
              </a:lnSpc>
              <a:buNone/>
            </a:pPr>
            <a:r>
              <a:rPr lang="ko-KR" altLang="en-US" sz="1800" b="0" dirty="0">
                <a:solidFill>
                  <a:srgbClr val="151515"/>
                </a:solidFill>
                <a:latin typeface="Consolas"/>
                <a:ea typeface="Consolas"/>
                <a:cs typeface="Consolas"/>
              </a:rPr>
              <a:t>                heapq.heappush(queue, (new_dist, neighbor))</a:t>
            </a:r>
          </a:p>
          <a:p>
            <a:pPr algn="l" eaLnBrk="0" latinLnBrk="0">
              <a:lnSpc>
                <a:spcPct val="100000"/>
              </a:lnSpc>
              <a:buNone/>
            </a:pPr>
            <a:r>
              <a:rPr lang="ko-KR" altLang="en-US" sz="1800" b="0" dirty="0">
                <a:solidFill>
                  <a:srgbClr val="151515"/>
                </a:solidFill>
                <a:latin typeface="Consolas"/>
                <a:ea typeface="Consolas"/>
                <a:cs typeface="Consolas"/>
              </a:rPr>
              <a:t>    return distances</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다익스트라 ③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170</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dijkstra.py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my_graph = {</a:t>
            </a:r>
          </a:p>
          <a:p>
            <a:pPr algn="l" eaLnBrk="0" latinLnBrk="0">
              <a:lnSpc>
                <a:spcPct val="100000"/>
              </a:lnSpc>
              <a:buNone/>
            </a:pPr>
            <a:r>
              <a:rPr lang="ko-KR" altLang="en-US" sz="1800" b="0" dirty="0">
                <a:solidFill>
                  <a:srgbClr val="151515"/>
                </a:solidFill>
                <a:latin typeface="Consolas"/>
                <a:ea typeface="Consolas"/>
                <a:cs typeface="Consolas"/>
              </a:rPr>
              <a:t>    "A": {"B": 8, "C": 1, "D": 2},</a:t>
            </a:r>
          </a:p>
          <a:p>
            <a:pPr algn="l" eaLnBrk="0" latinLnBrk="0">
              <a:lnSpc>
                <a:spcPct val="100000"/>
              </a:lnSpc>
              <a:buNone/>
            </a:pPr>
            <a:r>
              <a:rPr lang="ko-KR" altLang="en-US" sz="1800" b="0" dirty="0">
                <a:solidFill>
                  <a:srgbClr val="151515"/>
                </a:solidFill>
                <a:latin typeface="Consolas"/>
                <a:ea typeface="Consolas"/>
                <a:cs typeface="Consolas"/>
              </a:rPr>
              <a:t>    "B": {}, "C": {"B": 5, "D": 2},</a:t>
            </a:r>
          </a:p>
          <a:p>
            <a:pPr algn="l" eaLnBrk="0" latinLnBrk="0">
              <a:lnSpc>
                <a:spcPct val="100000"/>
              </a:lnSpc>
              <a:buNone/>
            </a:pPr>
            <a:r>
              <a:rPr lang="ko-KR" altLang="en-US" sz="1800" b="0" dirty="0">
                <a:solidFill>
                  <a:srgbClr val="151515"/>
                </a:solidFill>
                <a:latin typeface="Consolas"/>
                <a:ea typeface="Consolas"/>
                <a:cs typeface="Consolas"/>
              </a:rPr>
              <a:t>    "D": {"E": 3, "F": 5},</a:t>
            </a:r>
          </a:p>
          <a:p>
            <a:pPr algn="l" eaLnBrk="0" latinLnBrk="0">
              <a:lnSpc>
                <a:spcPct val="100000"/>
              </a:lnSpc>
              <a:buNone/>
            </a:pPr>
            <a:r>
              <a:rPr lang="ko-KR" altLang="en-US" sz="1800" b="0" dirty="0">
                <a:solidFill>
                  <a:srgbClr val="151515"/>
                </a:solidFill>
                <a:latin typeface="Consolas"/>
                <a:ea typeface="Consolas"/>
                <a:cs typeface="Consolas"/>
              </a:rPr>
              <a:t>    "E": {"F": 1}, "F": {"A": 5}</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r>
              <a:rPr lang="ko-KR" altLang="en-US" sz="1800" b="0" dirty="0">
                <a:solidFill>
                  <a:srgbClr val="151515"/>
                </a:solidFill>
                <a:latin typeface="Consolas"/>
                <a:ea typeface="Consolas"/>
                <a:cs typeface="Consolas"/>
              </a:rPr>
              <a:t>shortest = dijkstra(my_graph, "A")</a:t>
            </a:r>
          </a:p>
          <a:p>
            <a:pPr algn="l" eaLnBrk="0" latinLnBrk="0">
              <a:lnSpc>
                <a:spcPct val="100000"/>
              </a:lnSpc>
              <a:buNone/>
            </a:pPr>
            <a:r>
              <a:rPr lang="ko-KR" altLang="en-US" sz="1800" b="0" dirty="0">
                <a:solidFill>
                  <a:srgbClr val="151515"/>
                </a:solidFill>
                <a:latin typeface="Consolas"/>
                <a:ea typeface="Consolas"/>
                <a:cs typeface="Consolas"/>
              </a:rPr>
              <a:t>print("시작점 [A]로부터의 최단 거리:")</a:t>
            </a:r>
          </a:p>
          <a:p>
            <a:pPr algn="l" eaLnBrk="0" latinLnBrk="0">
              <a:lnSpc>
                <a:spcPct val="100000"/>
              </a:lnSpc>
              <a:buNone/>
            </a:pPr>
            <a:r>
              <a:rPr lang="ko-KR" altLang="en-US" sz="1800" b="0" dirty="0">
                <a:solidFill>
                  <a:srgbClr val="151515"/>
                </a:solidFill>
                <a:latin typeface="Consolas"/>
                <a:ea typeface="Consolas"/>
                <a:cs typeface="Consolas"/>
              </a:rPr>
              <a:t>for node, dist in shortest.items():</a:t>
            </a:r>
          </a:p>
          <a:p>
            <a:pPr algn="l" eaLnBrk="0" latinLnBrk="0">
              <a:lnSpc>
                <a:spcPct val="100000"/>
              </a:lnSpc>
              <a:buNone/>
            </a:pPr>
            <a:r>
              <a:rPr lang="ko-KR" altLang="en-US" sz="1800" b="0" dirty="0">
                <a:solidFill>
                  <a:srgbClr val="151515"/>
                </a:solidFill>
                <a:latin typeface="Consolas"/>
                <a:ea typeface="Consolas"/>
                <a:cs typeface="Consolas"/>
              </a:rPr>
              <a:t>    print(f"A -&gt; {node} : {dist}")</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다익스트라 ① 초기화</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171</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dijkstra.c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C에는 힙이 없어 미확정 노드 중 최소를 배열에서 찾는다: O(V²) */</a:t>
            </a:r>
          </a:p>
          <a:p>
            <a:pPr algn="l" eaLnBrk="0" latinLnBrk="0">
              <a:lnSpc>
                <a:spcPct val="100000"/>
              </a:lnSpc>
              <a:buNone/>
            </a:pPr>
            <a:r>
              <a:rPr lang="ko-KR" altLang="en-US" sz="1800" b="0" dirty="0">
                <a:solidFill>
                  <a:srgbClr val="151515"/>
                </a:solidFill>
                <a:latin typeface="Consolas"/>
                <a:ea typeface="Consolas"/>
                <a:cs typeface="Consolas"/>
              </a:rPr>
              <a:t>#include &lt;limits.h&gt;</a:t>
            </a:r>
          </a:p>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r>
              <a:rPr lang="ko-KR" altLang="en-US" sz="1800" b="0" dirty="0">
                <a:solidFill>
                  <a:srgbClr val="151515"/>
                </a:solidFill>
                <a:latin typeface="Consolas"/>
                <a:ea typeface="Consolas"/>
                <a:cs typeface="Consolas"/>
              </a:rPr>
              <a:t>#define V 6                     /* 노드 수 */</a:t>
            </a:r>
          </a:p>
          <a:p>
            <a:pPr algn="l" eaLnBrk="0" latinLnBrk="0">
              <a:lnSpc>
                <a:spcPct val="100000"/>
              </a:lnSpc>
              <a:buNone/>
            </a:pPr>
            <a:r>
              <a:rPr lang="ko-KR" altLang="en-US" sz="1800" b="0" dirty="0">
                <a:solidFill>
                  <a:srgbClr val="151515"/>
                </a:solidFill>
                <a:latin typeface="Consolas"/>
                <a:ea typeface="Consolas"/>
                <a:cs typeface="Consolas"/>
              </a:rPr>
              <a:t>#define INF INT_MAX</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void dijkstra(int graph[][V], int start, int dist[]) {</a:t>
            </a:r>
          </a:p>
          <a:p>
            <a:pPr algn="l" eaLnBrk="0" latinLnBrk="0">
              <a:lnSpc>
                <a:spcPct val="100000"/>
              </a:lnSpc>
              <a:buNone/>
            </a:pPr>
            <a:r>
              <a:rPr lang="ko-KR" altLang="en-US" sz="1800" b="0" dirty="0">
                <a:solidFill>
                  <a:srgbClr val="151515"/>
                </a:solidFill>
                <a:latin typeface="Consolas"/>
                <a:ea typeface="Consolas"/>
                <a:cs typeface="Consolas"/>
              </a:rPr>
              <a:t>    int visited[V] = {0};       /* 최단 거리가 확정되었는가 */</a:t>
            </a:r>
          </a:p>
          <a:p>
            <a:pPr algn="l" eaLnBrk="0" latinLnBrk="0">
              <a:lnSpc>
                <a:spcPct val="100000"/>
              </a:lnSpc>
              <a:buNone/>
            </a:pPr>
            <a:r>
              <a:rPr lang="ko-KR" altLang="en-US" sz="1800" b="0" dirty="0">
                <a:solidFill>
                  <a:srgbClr val="151515"/>
                </a:solidFill>
                <a:latin typeface="Consolas"/>
                <a:ea typeface="Consolas"/>
                <a:cs typeface="Consolas"/>
              </a:rPr>
              <a:t>    /* 초기화: 모든 노드까지의 거리를 무한대로 */</a:t>
            </a:r>
          </a:p>
          <a:p>
            <a:pPr algn="l" eaLnBrk="0" latinLnBrk="0">
              <a:lnSpc>
                <a:spcPct val="100000"/>
              </a:lnSpc>
              <a:buNone/>
            </a:pPr>
            <a:r>
              <a:rPr lang="ko-KR" altLang="en-US" sz="1800" b="0" dirty="0">
                <a:solidFill>
                  <a:srgbClr val="151515"/>
                </a:solidFill>
                <a:latin typeface="Consolas"/>
                <a:ea typeface="Consolas"/>
                <a:cs typeface="Consolas"/>
              </a:rPr>
              <a:t>    for (int i = 0; i &lt; V; i++) dist[i] = INF;</a:t>
            </a:r>
          </a:p>
          <a:p>
            <a:pPr algn="l" eaLnBrk="0" latinLnBrk="0">
              <a:lnSpc>
                <a:spcPct val="100000"/>
              </a:lnSpc>
              <a:buNone/>
            </a:pPr>
            <a:r>
              <a:rPr lang="ko-KR" altLang="en-US" sz="1800" b="0" dirty="0">
                <a:solidFill>
                  <a:srgbClr val="151515"/>
                </a:solidFill>
                <a:latin typeface="Consolas"/>
                <a:ea typeface="Consolas"/>
                <a:cs typeface="Consolas"/>
              </a:rPr>
              <a:t>    dist[start] = 0;</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다익스트라 ② 확정과 완화</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172</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dijkstra.c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650" b="0" dirty="0">
                <a:solidFill>
                  <a:srgbClr val="151515"/>
                </a:solidFill>
                <a:latin typeface="Consolas"/>
                <a:ea typeface="Consolas"/>
                <a:cs typeface="Consolas"/>
              </a:rPr>
              <a:t>    for (int k = 0; k &lt; V; k++) {</a:t>
            </a:r>
          </a:p>
          <a:p>
            <a:pPr algn="l" eaLnBrk="0" latinLnBrk="0">
              <a:lnSpc>
                <a:spcPct val="100000"/>
              </a:lnSpc>
              <a:buNone/>
            </a:pPr>
            <a:r>
              <a:rPr lang="ko-KR" altLang="en-US" sz="1650" b="0" dirty="0">
                <a:solidFill>
                  <a:srgbClr val="151515"/>
                </a:solidFill>
                <a:latin typeface="Consolas"/>
                <a:ea typeface="Consolas"/>
                <a:cs typeface="Consolas"/>
              </a:rPr>
              <a:t>        /* 가장 가까운 노드 선택 — 그리디 선택 */</a:t>
            </a:r>
          </a:p>
          <a:p>
            <a:pPr algn="l" eaLnBrk="0" latinLnBrk="0">
              <a:lnSpc>
                <a:spcPct val="100000"/>
              </a:lnSpc>
              <a:buNone/>
            </a:pPr>
            <a:r>
              <a:rPr lang="ko-KR" altLang="en-US" sz="1650" b="0" dirty="0">
                <a:solidFill>
                  <a:srgbClr val="151515"/>
                </a:solidFill>
                <a:latin typeface="Consolas"/>
                <a:ea typeface="Consolas"/>
                <a:cs typeface="Consolas"/>
              </a:rPr>
              <a:t>        int u = -1, min_dist = INF;</a:t>
            </a:r>
          </a:p>
          <a:p>
            <a:pPr algn="l" eaLnBrk="0" latinLnBrk="0">
              <a:lnSpc>
                <a:spcPct val="100000"/>
              </a:lnSpc>
              <a:buNone/>
            </a:pPr>
            <a:r>
              <a:rPr lang="ko-KR" altLang="en-US" sz="1650" b="0" dirty="0">
                <a:solidFill>
                  <a:srgbClr val="151515"/>
                </a:solidFill>
                <a:latin typeface="Consolas"/>
                <a:ea typeface="Consolas"/>
                <a:cs typeface="Consolas"/>
              </a:rPr>
              <a:t>        for (int i = 0; i &lt; V; i++)</a:t>
            </a:r>
          </a:p>
          <a:p>
            <a:pPr algn="l" eaLnBrk="0" latinLnBrk="0">
              <a:lnSpc>
                <a:spcPct val="100000"/>
              </a:lnSpc>
              <a:buNone/>
            </a:pPr>
            <a:r>
              <a:rPr lang="ko-KR" altLang="en-US" sz="1650" b="0" dirty="0">
                <a:solidFill>
                  <a:srgbClr val="151515"/>
                </a:solidFill>
                <a:latin typeface="Consolas"/>
                <a:ea typeface="Consolas"/>
                <a:cs typeface="Consolas"/>
              </a:rPr>
              <a:t>            if (!visited[i] &amp;&amp; dist[i] &lt; min_dist) {</a:t>
            </a:r>
          </a:p>
          <a:p>
            <a:pPr algn="l" eaLnBrk="0" latinLnBrk="0">
              <a:lnSpc>
                <a:spcPct val="100000"/>
              </a:lnSpc>
              <a:buNone/>
            </a:pPr>
            <a:r>
              <a:rPr lang="ko-KR" altLang="en-US" sz="1650" b="0" dirty="0">
                <a:solidFill>
                  <a:srgbClr val="151515"/>
                </a:solidFill>
                <a:latin typeface="Consolas"/>
                <a:ea typeface="Consolas"/>
                <a:cs typeface="Consolas"/>
              </a:rPr>
              <a:t>                min_dist = dist[i];</a:t>
            </a:r>
          </a:p>
          <a:p>
            <a:pPr algn="l" eaLnBrk="0" latinLnBrk="0">
              <a:lnSpc>
                <a:spcPct val="100000"/>
              </a:lnSpc>
              <a:buNone/>
            </a:pPr>
            <a:r>
              <a:rPr lang="ko-KR" altLang="en-US" sz="1650" b="0" dirty="0">
                <a:solidFill>
                  <a:srgbClr val="151515"/>
                </a:solidFill>
                <a:latin typeface="Consolas"/>
                <a:ea typeface="Consolas"/>
                <a:cs typeface="Consolas"/>
              </a:rPr>
              <a:t>                u = i;</a:t>
            </a:r>
          </a:p>
          <a:p>
            <a:pPr algn="l" eaLnBrk="0" latinLnBrk="0">
              <a:lnSpc>
                <a:spcPct val="100000"/>
              </a:lnSpc>
              <a:buNone/>
            </a:pPr>
            <a:r>
              <a:rPr lang="ko-KR" altLang="en-US" sz="1650" b="0" dirty="0">
                <a:solidFill>
                  <a:srgbClr val="151515"/>
                </a:solidFill>
                <a:latin typeface="Consolas"/>
                <a:ea typeface="Consolas"/>
                <a:cs typeface="Consolas"/>
              </a:rPr>
              <a:t>            }</a:t>
            </a:r>
          </a:p>
          <a:p>
            <a:pPr algn="l" eaLnBrk="0" latinLnBrk="0">
              <a:lnSpc>
                <a:spcPct val="100000"/>
              </a:lnSpc>
              <a:buNone/>
            </a:pPr>
            <a:r>
              <a:rPr lang="ko-KR" altLang="en-US" sz="1650" b="0" dirty="0">
                <a:solidFill>
                  <a:srgbClr val="151515"/>
                </a:solidFill>
                <a:latin typeface="Consolas"/>
                <a:ea typeface="Consolas"/>
                <a:cs typeface="Consolas"/>
              </a:rPr>
              <a:t>        if (u == -1) break;     /* 남은 노드는 갈 수 없다 */</a:t>
            </a:r>
          </a:p>
          <a:p>
            <a:pPr algn="l" eaLnBrk="0" latinLnBrk="0">
              <a:lnSpc>
                <a:spcPct val="100000"/>
              </a:lnSpc>
              <a:buNone/>
            </a:pPr>
            <a:r>
              <a:rPr lang="ko-KR" altLang="en-US" sz="1650" b="0" dirty="0">
                <a:solidFill>
                  <a:srgbClr val="151515"/>
                </a:solidFill>
                <a:latin typeface="Consolas"/>
                <a:ea typeface="Consolas"/>
                <a:cs typeface="Consolas"/>
              </a:rPr>
              <a:t>        visited[u] = 1;         /* 최단 거리 확정 */</a:t>
            </a:r>
          </a:p>
          <a:p>
            <a:pPr algn="l" eaLnBrk="0" latinLnBrk="0">
              <a:lnSpc>
                <a:spcPct val="100000"/>
              </a:lnSpc>
              <a:buNone/>
            </a:pPr>
            <a:r>
              <a:rPr lang="ko-KR" altLang="en-US" sz="1650" b="0" dirty="0">
                <a:solidFill>
                  <a:srgbClr val="151515"/>
                </a:solidFill>
                <a:latin typeface="Consolas"/>
                <a:ea typeface="Consolas"/>
                <a:cs typeface="Consolas"/>
              </a:rPr>
              <a:t>        /* 이웃 노드 갱신 (relaxation) */</a:t>
            </a:r>
          </a:p>
          <a:p>
            <a:pPr algn="l" eaLnBrk="0" latinLnBrk="0">
              <a:lnSpc>
                <a:spcPct val="100000"/>
              </a:lnSpc>
              <a:buNone/>
            </a:pPr>
            <a:r>
              <a:rPr lang="ko-KR" altLang="en-US" sz="1650" b="0" dirty="0">
                <a:solidFill>
                  <a:srgbClr val="151515"/>
                </a:solidFill>
                <a:latin typeface="Consolas"/>
                <a:ea typeface="Consolas"/>
                <a:cs typeface="Consolas"/>
              </a:rPr>
              <a:t>        for (int v = 0; v &lt; V; v++) {</a:t>
            </a:r>
          </a:p>
          <a:p>
            <a:pPr algn="l" eaLnBrk="0" latinLnBrk="0">
              <a:lnSpc>
                <a:spcPct val="100000"/>
              </a:lnSpc>
              <a:buNone/>
            </a:pPr>
            <a:r>
              <a:rPr lang="ko-KR" altLang="en-US" sz="1650" b="0" dirty="0">
                <a:solidFill>
                  <a:srgbClr val="151515"/>
                </a:solidFill>
                <a:latin typeface="Consolas"/>
                <a:ea typeface="Consolas"/>
                <a:cs typeface="Consolas"/>
              </a:rPr>
              <a:t>            if (graph[u][v] == 0 || visited[v]) continue;</a:t>
            </a:r>
          </a:p>
          <a:p>
            <a:pPr algn="l" eaLnBrk="0" latinLnBrk="0">
              <a:lnSpc>
                <a:spcPct val="100000"/>
              </a:lnSpc>
              <a:buNone/>
            </a:pPr>
            <a:r>
              <a:rPr lang="ko-KR" altLang="en-US" sz="1650" b="0" dirty="0">
                <a:solidFill>
                  <a:srgbClr val="151515"/>
                </a:solidFill>
                <a:latin typeface="Consolas"/>
                <a:ea typeface="Consolas"/>
                <a:cs typeface="Consolas"/>
              </a:rPr>
              <a:t>            int new_dist = dist[u] + graph[u][v];</a:t>
            </a:r>
          </a:p>
          <a:p>
            <a:pPr algn="l" eaLnBrk="0" latinLnBrk="0">
              <a:lnSpc>
                <a:spcPct val="100000"/>
              </a:lnSpc>
              <a:buNone/>
            </a:pPr>
            <a:r>
              <a:rPr lang="ko-KR" altLang="en-US" sz="1650" b="0" dirty="0">
                <a:solidFill>
                  <a:srgbClr val="151515"/>
                </a:solidFill>
                <a:latin typeface="Consolas"/>
                <a:ea typeface="Consolas"/>
                <a:cs typeface="Consolas"/>
              </a:rPr>
              <a:t>            if (new_dist &lt; dist[v]) dist[v] = new_dist;</a:t>
            </a:r>
          </a:p>
          <a:p>
            <a:pPr algn="l" eaLnBrk="0" latinLnBrk="0">
              <a:lnSpc>
                <a:spcPct val="100000"/>
              </a:lnSpc>
              <a:buNone/>
            </a:pPr>
            <a:r>
              <a:rPr lang="ko-KR" altLang="en-US" sz="1650" b="0" dirty="0">
                <a:solidFill>
                  <a:srgbClr val="151515"/>
                </a:solidFill>
                <a:latin typeface="Consolas"/>
                <a:ea typeface="Consolas"/>
                <a:cs typeface="Consolas"/>
              </a:rPr>
              <a:t>        }</a:t>
            </a:r>
          </a:p>
          <a:p>
            <a:pPr algn="l" eaLnBrk="0" latinLnBrk="0">
              <a:lnSpc>
                <a:spcPct val="100000"/>
              </a:lnSpc>
              <a:buNone/>
            </a:pPr>
            <a:r>
              <a:rPr lang="ko-KR" altLang="en-US" sz="1650" b="0" dirty="0">
                <a:solidFill>
                  <a:srgbClr val="151515"/>
                </a:solidFill>
                <a:latin typeface="Consolas"/>
                <a:ea typeface="Consolas"/>
                <a:cs typeface="Consolas"/>
              </a:rPr>
              <a:t>    }</a:t>
            </a:r>
          </a:p>
          <a:p>
            <a:pPr algn="l" eaLnBrk="0" latinLnBrk="0">
              <a:lnSpc>
                <a:spcPct val="100000"/>
              </a:lnSpc>
              <a:buNone/>
            </a:pPr>
            <a:r>
              <a:rPr lang="ko-KR" altLang="en-US" sz="1650" b="0" dirty="0">
                <a:solidFill>
                  <a:srgbClr val="151515"/>
                </a:solidFill>
                <a:latin typeface="Consolas"/>
                <a:ea typeface="Consolas"/>
                <a:cs typeface="Consolas"/>
              </a:rPr>
              <a:t>}</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다익스트라 ③ 실행</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173</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dijkstra.c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650" b="0" dirty="0">
                <a:solidFill>
                  <a:srgbClr val="151515"/>
                </a:solidFill>
                <a:latin typeface="Consolas"/>
                <a:ea typeface="Consolas"/>
                <a:cs typeface="Consolas"/>
              </a:rPr>
              <a:t>int main(void) {</a:t>
            </a:r>
          </a:p>
          <a:p>
            <a:pPr algn="l" eaLnBrk="0" latinLnBrk="0">
              <a:lnSpc>
                <a:spcPct val="100000"/>
              </a:lnSpc>
              <a:buNone/>
            </a:pPr>
            <a:r>
              <a:rPr lang="ko-KR" altLang="en-US" sz="1650" b="0" dirty="0">
                <a:solidFill>
                  <a:srgbClr val="151515"/>
                </a:solidFill>
                <a:latin typeface="Consolas"/>
                <a:ea typeface="Consolas"/>
                <a:cs typeface="Consolas"/>
              </a:rPr>
              <a:t>    const char *names = "ABCDEF";</a:t>
            </a:r>
          </a:p>
          <a:p>
            <a:pPr algn="l" eaLnBrk="0" latinLnBrk="0">
              <a:lnSpc>
                <a:spcPct val="100000"/>
              </a:lnSpc>
              <a:buNone/>
            </a:pPr>
            <a:r>
              <a:rPr lang="ko-KR" altLang="en-US" sz="1650" b="0" dirty="0">
                <a:solidFill>
                  <a:srgbClr val="151515"/>
                </a:solidFill>
                <a:latin typeface="Consolas"/>
                <a:ea typeface="Consolas"/>
                <a:cs typeface="Consolas"/>
              </a:rPr>
              <a:t>    /* graph[u][v]: u에서 v로 가는 가중치, 0이면 간선 없음 */</a:t>
            </a:r>
          </a:p>
          <a:p>
            <a:pPr algn="l" eaLnBrk="0" latinLnBrk="0">
              <a:lnSpc>
                <a:spcPct val="100000"/>
              </a:lnSpc>
              <a:buNone/>
            </a:pPr>
            <a:r>
              <a:rPr lang="ko-KR" altLang="en-US" sz="1650" b="0" dirty="0">
                <a:solidFill>
                  <a:srgbClr val="151515"/>
                </a:solidFill>
                <a:latin typeface="Consolas"/>
                <a:ea typeface="Consolas"/>
                <a:cs typeface="Consolas"/>
              </a:rPr>
              <a:t>    int graph[V][V] = {</a:t>
            </a:r>
          </a:p>
          <a:p>
            <a:pPr algn="l" eaLnBrk="0" latinLnBrk="0">
              <a:lnSpc>
                <a:spcPct val="100000"/>
              </a:lnSpc>
              <a:buNone/>
            </a:pPr>
            <a:r>
              <a:rPr lang="ko-KR" altLang="en-US" sz="1650" b="0" dirty="0">
                <a:solidFill>
                  <a:srgbClr val="151515"/>
                </a:solidFill>
                <a:latin typeface="Consolas"/>
                <a:ea typeface="Consolas"/>
                <a:cs typeface="Consolas"/>
              </a:rPr>
              <a:t>        {0, 8, 1, 2, 0, 0},     /* A */</a:t>
            </a:r>
          </a:p>
          <a:p>
            <a:pPr algn="l" eaLnBrk="0" latinLnBrk="0">
              <a:lnSpc>
                <a:spcPct val="100000"/>
              </a:lnSpc>
              <a:buNone/>
            </a:pPr>
            <a:r>
              <a:rPr lang="ko-KR" altLang="en-US" sz="1650" b="0" dirty="0">
                <a:solidFill>
                  <a:srgbClr val="151515"/>
                </a:solidFill>
                <a:latin typeface="Consolas"/>
                <a:ea typeface="Consolas"/>
                <a:cs typeface="Consolas"/>
              </a:rPr>
              <a:t>        {0, 0, 0, 0, 0, 0},     /* B */</a:t>
            </a:r>
          </a:p>
          <a:p>
            <a:pPr algn="l" eaLnBrk="0" latinLnBrk="0">
              <a:lnSpc>
                <a:spcPct val="100000"/>
              </a:lnSpc>
              <a:buNone/>
            </a:pPr>
            <a:r>
              <a:rPr lang="ko-KR" altLang="en-US" sz="1650" b="0" dirty="0">
                <a:solidFill>
                  <a:srgbClr val="151515"/>
                </a:solidFill>
                <a:latin typeface="Consolas"/>
                <a:ea typeface="Consolas"/>
                <a:cs typeface="Consolas"/>
              </a:rPr>
              <a:t>        {0, 5, 0, 2, 0, 0},     /* C */</a:t>
            </a:r>
          </a:p>
          <a:p>
            <a:pPr algn="l" eaLnBrk="0" latinLnBrk="0">
              <a:lnSpc>
                <a:spcPct val="100000"/>
              </a:lnSpc>
              <a:buNone/>
            </a:pPr>
            <a:r>
              <a:rPr lang="ko-KR" altLang="en-US" sz="1650" b="0" dirty="0">
                <a:solidFill>
                  <a:srgbClr val="151515"/>
                </a:solidFill>
                <a:latin typeface="Consolas"/>
                <a:ea typeface="Consolas"/>
                <a:cs typeface="Consolas"/>
              </a:rPr>
              <a:t>        {0, 0, 0, 0, 3, 5},     /* D */</a:t>
            </a:r>
          </a:p>
          <a:p>
            <a:pPr algn="l" eaLnBrk="0" latinLnBrk="0">
              <a:lnSpc>
                <a:spcPct val="100000"/>
              </a:lnSpc>
              <a:buNone/>
            </a:pPr>
            <a:r>
              <a:rPr lang="ko-KR" altLang="en-US" sz="1650" b="0" dirty="0">
                <a:solidFill>
                  <a:srgbClr val="151515"/>
                </a:solidFill>
                <a:latin typeface="Consolas"/>
                <a:ea typeface="Consolas"/>
                <a:cs typeface="Consolas"/>
              </a:rPr>
              <a:t>        {0, 0, 0, 0, 0, 1},     /* E */</a:t>
            </a:r>
          </a:p>
          <a:p>
            <a:pPr algn="l" eaLnBrk="0" latinLnBrk="0">
              <a:lnSpc>
                <a:spcPct val="100000"/>
              </a:lnSpc>
              <a:buNone/>
            </a:pPr>
            <a:r>
              <a:rPr lang="ko-KR" altLang="en-US" sz="1650" b="0" dirty="0">
                <a:solidFill>
                  <a:srgbClr val="151515"/>
                </a:solidFill>
                <a:latin typeface="Consolas"/>
                <a:ea typeface="Consolas"/>
                <a:cs typeface="Consolas"/>
              </a:rPr>
              <a:t>        {5, 0, 0, 0, 0, 0}      /* F */</a:t>
            </a:r>
          </a:p>
          <a:p>
            <a:pPr algn="l" eaLnBrk="0" latinLnBrk="0">
              <a:lnSpc>
                <a:spcPct val="100000"/>
              </a:lnSpc>
              <a:buNone/>
            </a:pPr>
            <a:r>
              <a:rPr lang="ko-KR" altLang="en-US" sz="1650" b="0" dirty="0">
                <a:solidFill>
                  <a:srgbClr val="151515"/>
                </a:solidFill>
                <a:latin typeface="Consolas"/>
                <a:ea typeface="Consolas"/>
                <a:cs typeface="Consolas"/>
              </a:rPr>
              <a:t>    };</a:t>
            </a:r>
          </a:p>
          <a:p>
            <a:pPr algn="l" eaLnBrk="0" latinLnBrk="0">
              <a:lnSpc>
                <a:spcPct val="100000"/>
              </a:lnSpc>
              <a:buNone/>
            </a:pPr>
            <a:r>
              <a:rPr lang="ko-KR" altLang="en-US" sz="1650" b="0" dirty="0">
                <a:solidFill>
                  <a:srgbClr val="151515"/>
                </a:solidFill>
                <a:latin typeface="Consolas"/>
                <a:ea typeface="Consolas"/>
                <a:cs typeface="Consolas"/>
              </a:rPr>
              <a:t>    int dist[V];</a:t>
            </a:r>
          </a:p>
          <a:p>
            <a:pPr algn="l" eaLnBrk="0" latinLnBrk="0">
              <a:lnSpc>
                <a:spcPct val="100000"/>
              </a:lnSpc>
              <a:buNone/>
            </a:pPr>
            <a:r>
              <a:rPr lang="ko-KR" altLang="en-US" sz="1650" b="0" dirty="0">
                <a:solidFill>
                  <a:srgbClr val="151515"/>
                </a:solidFill>
                <a:latin typeface="Consolas"/>
                <a:ea typeface="Consolas"/>
                <a:cs typeface="Consolas"/>
              </a:rPr>
              <a:t>    dijkstra(graph, 0, dist);</a:t>
            </a:r>
          </a:p>
          <a:p>
            <a:pPr algn="l" eaLnBrk="0" latinLnBrk="0">
              <a:lnSpc>
                <a:spcPct val="100000"/>
              </a:lnSpc>
              <a:buNone/>
            </a:pPr>
            <a:r>
              <a:rPr lang="ko-KR" altLang="en-US" sz="1650" b="0" dirty="0">
                <a:solidFill>
                  <a:srgbClr val="151515"/>
                </a:solidFill>
                <a:latin typeface="Consolas"/>
                <a:ea typeface="Consolas"/>
                <a:cs typeface="Consolas"/>
              </a:rPr>
              <a:t>    printf("시작점 [A]로부터의 최단 거리:\n");</a:t>
            </a:r>
          </a:p>
          <a:p>
            <a:pPr algn="l" eaLnBrk="0" latinLnBrk="0">
              <a:lnSpc>
                <a:spcPct val="100000"/>
              </a:lnSpc>
              <a:buNone/>
            </a:pPr>
            <a:r>
              <a:rPr lang="ko-KR" altLang="en-US" sz="1650" b="0" dirty="0">
                <a:solidFill>
                  <a:srgbClr val="151515"/>
                </a:solidFill>
                <a:latin typeface="Consolas"/>
                <a:ea typeface="Consolas"/>
                <a:cs typeface="Consolas"/>
              </a:rPr>
              <a:t>    for (int v = 0; v &lt; V; v++)</a:t>
            </a:r>
          </a:p>
          <a:p>
            <a:pPr algn="l" eaLnBrk="0" latinLnBrk="0">
              <a:lnSpc>
                <a:spcPct val="100000"/>
              </a:lnSpc>
              <a:buNone/>
            </a:pPr>
            <a:r>
              <a:rPr lang="ko-KR" altLang="en-US" sz="1650" b="0" dirty="0">
                <a:solidFill>
                  <a:srgbClr val="151515"/>
                </a:solidFill>
                <a:latin typeface="Consolas"/>
                <a:ea typeface="Consolas"/>
                <a:cs typeface="Consolas"/>
              </a:rPr>
              <a:t>        printf("A -&gt; %c : %d\n", names[v], dist[v]);</a:t>
            </a:r>
          </a:p>
          <a:p>
            <a:pPr algn="l" eaLnBrk="0" latinLnBrk="0">
              <a:lnSpc>
                <a:spcPct val="100000"/>
              </a:lnSpc>
              <a:buNone/>
            </a:pPr>
            <a:r>
              <a:rPr lang="ko-KR" altLang="en-US" sz="1650" b="0" dirty="0">
                <a:solidFill>
                  <a:srgbClr val="151515"/>
                </a:solidFill>
                <a:latin typeface="Consolas"/>
                <a:ea typeface="Consolas"/>
                <a:cs typeface="Consolas"/>
              </a:rPr>
              <a:t>    return 0;</a:t>
            </a:r>
          </a:p>
          <a:p>
            <a:pPr algn="l" eaLnBrk="0" latinLnBrk="0">
              <a:lnSpc>
                <a:spcPct val="100000"/>
              </a:lnSpc>
              <a:buNone/>
            </a:pPr>
            <a:r>
              <a:rPr lang="ko-KR" altLang="en-US" sz="1650" b="0" dirty="0">
                <a:solidFill>
                  <a:srgbClr val="151515"/>
                </a:solidFill>
                <a:latin typeface="Consolas"/>
                <a:ea typeface="Consolas"/>
                <a:cs typeface="Consolas"/>
              </a:rPr>
              <a:t>}</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실행 결과: A에서 각 정점까지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174</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0" name="직사각형 11"/>
          <p:cNvSpPr/>
          <p:nvPr/>
        </p:nvSpPr>
        <p:spPr>
          <a:xfrm>
            <a:off x="612648" y="1856232"/>
            <a:ext cx="10972800" cy="1719072"/>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시작점 [A]로부터의 최단 거리:</a:t>
            </a:r>
          </a:p>
          <a:p>
            <a:pPr algn="l" eaLnBrk="0" latinLnBrk="0">
              <a:lnSpc>
                <a:spcPct val="100000"/>
              </a:lnSpc>
              <a:buNone/>
            </a:pPr>
            <a:r>
              <a:rPr lang="ko-KR" altLang="en-US" sz="1400" b="0" dirty="0">
                <a:solidFill>
                  <a:srgbClr val="151515"/>
                </a:solidFill>
                <a:latin typeface="Consolas"/>
                <a:ea typeface="Consolas"/>
                <a:cs typeface="Consolas"/>
              </a:rPr>
              <a:t>A -&gt; A : 0</a:t>
            </a:r>
          </a:p>
          <a:p>
            <a:pPr algn="l" eaLnBrk="0" latinLnBrk="0">
              <a:lnSpc>
                <a:spcPct val="100000"/>
              </a:lnSpc>
              <a:buNone/>
            </a:pPr>
            <a:r>
              <a:rPr lang="ko-KR" altLang="en-US" sz="1400" b="0" dirty="0">
                <a:solidFill>
                  <a:srgbClr val="151515"/>
                </a:solidFill>
                <a:latin typeface="Consolas"/>
                <a:ea typeface="Consolas"/>
                <a:cs typeface="Consolas"/>
              </a:rPr>
              <a:t>A -&gt; B : 6</a:t>
            </a:r>
          </a:p>
          <a:p>
            <a:pPr algn="l" eaLnBrk="0" latinLnBrk="0">
              <a:lnSpc>
                <a:spcPct val="100000"/>
              </a:lnSpc>
              <a:buNone/>
            </a:pPr>
            <a:r>
              <a:rPr lang="ko-KR" altLang="en-US" sz="1400" b="0" dirty="0">
                <a:solidFill>
                  <a:srgbClr val="151515"/>
                </a:solidFill>
                <a:latin typeface="Consolas"/>
                <a:ea typeface="Consolas"/>
                <a:cs typeface="Consolas"/>
              </a:rPr>
              <a:t>A -&gt; C : 1</a:t>
            </a:r>
          </a:p>
          <a:p>
            <a:pPr algn="l" eaLnBrk="0" latinLnBrk="0">
              <a:lnSpc>
                <a:spcPct val="100000"/>
              </a:lnSpc>
              <a:buNone/>
            </a:pPr>
            <a:r>
              <a:rPr lang="ko-KR" altLang="en-US" sz="1400" b="0" dirty="0">
                <a:solidFill>
                  <a:srgbClr val="151515"/>
                </a:solidFill>
                <a:latin typeface="Consolas"/>
                <a:ea typeface="Consolas"/>
                <a:cs typeface="Consolas"/>
              </a:rPr>
              <a:t>A -&gt; D : 2</a:t>
            </a:r>
          </a:p>
          <a:p>
            <a:pPr algn="l" eaLnBrk="0" latinLnBrk="0">
              <a:lnSpc>
                <a:spcPct val="100000"/>
              </a:lnSpc>
              <a:buNone/>
            </a:pPr>
            <a:r>
              <a:rPr lang="ko-KR" altLang="en-US" sz="1400" b="0" dirty="0">
                <a:solidFill>
                  <a:srgbClr val="151515"/>
                </a:solidFill>
                <a:latin typeface="Consolas"/>
                <a:ea typeface="Consolas"/>
                <a:cs typeface="Consolas"/>
              </a:rPr>
              <a:t>A -&gt; E : 5</a:t>
            </a:r>
          </a:p>
          <a:p>
            <a:pPr algn="l" eaLnBrk="0" latinLnBrk="0">
              <a:lnSpc>
                <a:spcPct val="100000"/>
              </a:lnSpc>
              <a:buNone/>
            </a:pPr>
            <a:r>
              <a:rPr lang="ko-KR" altLang="en-US" sz="1400" b="0" dirty="0">
                <a:solidFill>
                  <a:srgbClr val="151515"/>
                </a:solidFill>
                <a:latin typeface="Consolas"/>
                <a:ea typeface="Consolas"/>
                <a:cs typeface="Consolas"/>
              </a:rPr>
              <a:t>A -&gt; F : 6</a:t>
            </a:r>
          </a:p>
        </p:txBody>
      </p:sp>
      <p:graphicFrame>
        <p:nvGraphicFramePr>
          <p:cNvPr id="11" name="표 12"/>
          <p:cNvGraphicFramePr>
            <a:graphicFrameLocks noGrp="1"/>
          </p:cNvGraphicFramePr>
          <p:nvPr/>
        </p:nvGraphicFramePr>
        <p:xfrm>
          <a:off x="612648" y="3703320"/>
          <a:ext cx="10972800" cy="932688"/>
        </p:xfrm>
        <a:graphic>
          <a:graphicData uri="http://schemas.openxmlformats.org/drawingml/2006/table">
            <a:tbl>
              <a:tblPr/>
              <a:tblGrid>
                <a:gridCol w="1567543"/>
                <a:gridCol w="1567543"/>
                <a:gridCol w="1567543"/>
                <a:gridCol w="1567543"/>
                <a:gridCol w="1567543"/>
                <a:gridCol w="1567543"/>
                <a:gridCol w="1567543"/>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A</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B</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C</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E</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F</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최단 거리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최단 경로</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A→C→B</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A→D→E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A→D→E→F</a:t>
                      </a:r>
                    </a:p>
                  </a:txBody>
                  <a:tcPr marL="54864" marR="54864" marT="18288" marB="18288" anchor="ctr">
                    <a:solidFill>
                      <a:srgbClr val="FFFFFF"/>
                    </a:solidFill>
                  </a:tcPr>
                </a:tc>
              </a:tr>
            </a:tbl>
          </a:graphicData>
        </a:graphic>
      </p:graphicFrame>
      <p:sp>
        <p:nvSpPr>
          <p:cNvPr id="12" name="fit:c438e857bd8f2144 13"/>
          <p:cNvSpPr/>
          <p:nvPr/>
        </p:nvSpPr>
        <p:spPr>
          <a:xfrm>
            <a:off x="612648" y="4782312"/>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Python(힙)과 C(배열)의 출력이 같습니다. B는 직행 8이 아니라 C를 거친 6입니다.</a:t>
            </a:r>
          </a:p>
        </p:txBody>
      </p:sp>
      <p:sp>
        <p:nvSpPr>
          <p:cNvPr id="13" name="fit:c575973a525cbcee 14"/>
          <p:cNvSpPr/>
          <p:nvPr/>
        </p:nvSpPr>
        <p:spPr>
          <a:xfrm>
            <a:off x="612648" y="522122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이 코드는 거리만 출력합니다. 경로까지 출력하려면 dist를 고칠 때 직전 정점도 함께 저장합니다.</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배열 O(V²) vs 힙 O(E log V)</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175</a:t>
            </a:r>
          </a:p>
        </p:txBody>
      </p:sp>
      <p:sp>
        <p:nvSpPr>
          <p:cNvPr id="9" name="fit:236207ec8448a437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V: 정점 수, E: 간선 수. 예제는 V = 6, E = 9입니다.</a:t>
            </a:r>
          </a:p>
        </p:txBody>
      </p:sp>
      <p:graphicFrame>
        <p:nvGraphicFramePr>
          <p:cNvPr id="10" name="표 11"/>
          <p:cNvGraphicFramePr>
            <a:graphicFrameLocks noGrp="1"/>
          </p:cNvGraphicFramePr>
          <p:nvPr/>
        </p:nvGraphicFramePr>
        <p:xfrm>
          <a:off x="612648" y="2075688"/>
          <a:ext cx="10972800" cy="1645920"/>
        </p:xfrm>
        <a:graphic>
          <a:graphicData uri="http://schemas.openxmlformats.org/drawingml/2006/table">
            <a:tbl>
              <a:tblPr/>
              <a:tblGrid>
                <a:gridCol w="2158584"/>
                <a:gridCol w="4137285"/>
                <a:gridCol w="4676931"/>
              </a:tblGrid>
              <a:tr h="329184">
                <a:tc>
                  <a:txBody>
                    <a:bodyPr/>
                    <a:lstStyle/>
                    <a:p>
                      <a:pPr algn="ctr" eaLnBrk="0" latinLnBrk="0">
                        <a:lnSpc>
                          <a:spcPct val="100000"/>
                        </a:lnSpc>
                        <a:buNone/>
                      </a:pPr>
                      <a:endParaRPr lang="ko-KR" sz="1500"/>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배열판 (C)</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힙판 (Python)</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최소 찾기</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V칸 훑기 O(V) × V번</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heappop O(log E) × 최대 E + 1번</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완화</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한 행 V칸 훑기 × V번</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간선마다 한 번, heappush O(log E)</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전체</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O(V²)</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O(E log V)</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유리한 그래프</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간선이 많을 때 (E ≈ V²)</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간선이 적을 때 (E ≪ V²)</a:t>
                      </a:r>
                    </a:p>
                  </a:txBody>
                  <a:tcPr marL="54864" marR="54864" marT="18288" marB="18288" anchor="ctr">
                    <a:solidFill>
                      <a:srgbClr val="FFFFFF"/>
                    </a:solidFill>
                  </a:tcPr>
                </a:tc>
              </a:tr>
            </a:tbl>
          </a:graphicData>
        </a:graphic>
      </p:graphicFrame>
      <p:sp>
        <p:nvSpPr>
          <p:cNvPr id="11" name="fit:5f7b39c270abb118 12"/>
          <p:cNvSpPr/>
          <p:nvPr/>
        </p:nvSpPr>
        <p:spPr>
          <a:xfrm>
            <a:off x="612648" y="3867912"/>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E ≤ V²이므로 log E ≤ 2 log V, 즉 힙 연산 한 번은 O(log V)입니다.</a:t>
            </a:r>
          </a:p>
        </p:txBody>
      </p:sp>
      <p:sp>
        <p:nvSpPr>
          <p:cNvPr id="12" name="fit:f401e1b810c2b78c 13"/>
          <p:cNvSpPr/>
          <p:nvPr/>
        </p:nvSpPr>
        <p:spPr>
          <a:xfrm>
            <a:off x="612648" y="427024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초기화 O(V) + 힙 연산 O(E log V). 모든 정점에 갈 수 있으면 E ≥ V − 1이라 O(E log V)로 씁니다.</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최소 신장 트리와 최단 경로 트리는 다를 수 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176</a:t>
            </a:r>
          </a:p>
        </p:txBody>
      </p:sp>
      <p:sp>
        <p:nvSpPr>
          <p:cNvPr id="9" name="fit:1d01bac46f26d97c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MST는 간선 합을, 최단 경로 트리는 시작점에서 각 정점까지의 거리를 최소로 합니다. 같은 그래프에서도 둘은 다를 수 있습니다.</a:t>
            </a:r>
          </a:p>
        </p:txBody>
      </p:sp>
      <p:sp>
        <p:nvSpPr>
          <p:cNvPr id="10" name="직사각형 11"/>
          <p:cNvSpPr/>
          <p:nvPr/>
        </p:nvSpPr>
        <p:spPr>
          <a:xfrm>
            <a:off x="914400" y="2432304"/>
            <a:ext cx="384048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최소 신장 트리(크루스칼)</a:t>
            </a:r>
          </a:p>
        </p:txBody>
      </p:sp>
      <p:cxnSp>
        <p:nvCxnSpPr>
          <p:cNvPr id="11" name="연결선 12"/>
          <p:cNvCxnSpPr/>
          <p:nvPr/>
        </p:nvCxnSpPr>
        <p:spPr>
          <a:xfrm flipV="1">
            <a:off x="1440833" y="3296411"/>
            <a:ext cx="1324575" cy="1545337"/>
          </a:xfrm>
          <a:prstGeom prst="line">
            <a:avLst/>
          </a:prstGeom>
          <a:ln w="44450">
            <a:solidFill>
              <a:srgbClr val="0E8A7D"/>
            </a:solidFill>
          </a:ln>
        </p:spPr>
      </p:cxnSp>
      <p:sp>
        <p:nvSpPr>
          <p:cNvPr id="12" name="직사각형 13"/>
          <p:cNvSpPr/>
          <p:nvPr/>
        </p:nvSpPr>
        <p:spPr>
          <a:xfrm>
            <a:off x="1754294"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3" name="연결선 14"/>
          <p:cNvCxnSpPr/>
          <p:nvPr/>
        </p:nvCxnSpPr>
        <p:spPr>
          <a:xfrm>
            <a:off x="3086753" y="3296411"/>
            <a:ext cx="1324575" cy="1545337"/>
          </a:xfrm>
          <a:prstGeom prst="line">
            <a:avLst/>
          </a:prstGeom>
          <a:ln w="44450">
            <a:solidFill>
              <a:srgbClr val="0E8A7D"/>
            </a:solidFill>
          </a:ln>
        </p:spPr>
      </p:cxnSp>
      <p:sp>
        <p:nvSpPr>
          <p:cNvPr id="14" name="직사각형 15"/>
          <p:cNvSpPr/>
          <p:nvPr/>
        </p:nvSpPr>
        <p:spPr>
          <a:xfrm>
            <a:off x="3622378"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5" name="연결선 16"/>
          <p:cNvCxnSpPr/>
          <p:nvPr/>
        </p:nvCxnSpPr>
        <p:spPr>
          <a:xfrm>
            <a:off x="1527048" y="5029200"/>
            <a:ext cx="2798064" cy="0"/>
          </a:xfrm>
          <a:prstGeom prst="line">
            <a:avLst/>
          </a:prstGeom>
          <a:ln w="12700">
            <a:solidFill>
              <a:srgbClr val="D0D0D0"/>
            </a:solidFill>
          </a:ln>
        </p:spPr>
      </p:cxnSp>
      <p:sp>
        <p:nvSpPr>
          <p:cNvPr id="16" name="직사각형 17"/>
          <p:cNvSpPr/>
          <p:nvPr/>
        </p:nvSpPr>
        <p:spPr>
          <a:xfrm>
            <a:off x="268833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3</a:t>
            </a:r>
          </a:p>
        </p:txBody>
      </p:sp>
      <p:sp>
        <p:nvSpPr>
          <p:cNvPr id="17" name="직사각형 18"/>
          <p:cNvSpPr/>
          <p:nvPr/>
        </p:nvSpPr>
        <p:spPr>
          <a:xfrm>
            <a:off x="103327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18" name="직사각형 19"/>
          <p:cNvSpPr/>
          <p:nvPr/>
        </p:nvSpPr>
        <p:spPr>
          <a:xfrm>
            <a:off x="2679192" y="28620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19" name="직사각형 20"/>
          <p:cNvSpPr/>
          <p:nvPr/>
        </p:nvSpPr>
        <p:spPr>
          <a:xfrm>
            <a:off x="432511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0" name="직사각형 21"/>
          <p:cNvSpPr/>
          <p:nvPr/>
        </p:nvSpPr>
        <p:spPr>
          <a:xfrm>
            <a:off x="6400800" y="2432304"/>
            <a:ext cx="512064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최단 경로 트리(다익스트라, 시작 A)</a:t>
            </a:r>
          </a:p>
        </p:txBody>
      </p:sp>
      <p:cxnSp>
        <p:nvCxnSpPr>
          <p:cNvPr id="21" name="연결선 22"/>
          <p:cNvCxnSpPr/>
          <p:nvPr/>
        </p:nvCxnSpPr>
        <p:spPr>
          <a:xfrm flipV="1">
            <a:off x="6927233" y="3296411"/>
            <a:ext cx="1324575" cy="1545337"/>
          </a:xfrm>
          <a:prstGeom prst="line">
            <a:avLst/>
          </a:prstGeom>
          <a:ln w="44450">
            <a:solidFill>
              <a:srgbClr val="0E8A7D"/>
            </a:solidFill>
          </a:ln>
        </p:spPr>
      </p:cxnSp>
      <p:sp>
        <p:nvSpPr>
          <p:cNvPr id="22" name="직사각형 23"/>
          <p:cNvSpPr/>
          <p:nvPr/>
        </p:nvSpPr>
        <p:spPr>
          <a:xfrm>
            <a:off x="7240694"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23" name="연결선 24"/>
          <p:cNvCxnSpPr/>
          <p:nvPr/>
        </p:nvCxnSpPr>
        <p:spPr>
          <a:xfrm>
            <a:off x="8573153" y="3296411"/>
            <a:ext cx="1324575" cy="1545337"/>
          </a:xfrm>
          <a:prstGeom prst="line">
            <a:avLst/>
          </a:prstGeom>
          <a:ln w="12700">
            <a:solidFill>
              <a:srgbClr val="D0D0D0"/>
            </a:solidFill>
          </a:ln>
        </p:spPr>
      </p:cxnSp>
      <p:sp>
        <p:nvSpPr>
          <p:cNvPr id="24" name="직사각형 25"/>
          <p:cNvSpPr/>
          <p:nvPr/>
        </p:nvSpPr>
        <p:spPr>
          <a:xfrm>
            <a:off x="9108778"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a:t>
            </a:r>
          </a:p>
        </p:txBody>
      </p:sp>
      <p:cxnSp>
        <p:nvCxnSpPr>
          <p:cNvPr id="25" name="연결선 26"/>
          <p:cNvCxnSpPr/>
          <p:nvPr/>
        </p:nvCxnSpPr>
        <p:spPr>
          <a:xfrm>
            <a:off x="7013448" y="5029200"/>
            <a:ext cx="2798064" cy="0"/>
          </a:xfrm>
          <a:prstGeom prst="line">
            <a:avLst/>
          </a:prstGeom>
          <a:ln w="44450">
            <a:solidFill>
              <a:srgbClr val="0E8A7D"/>
            </a:solidFill>
          </a:ln>
        </p:spPr>
      </p:cxnSp>
      <p:sp>
        <p:nvSpPr>
          <p:cNvPr id="26" name="직사각형 27"/>
          <p:cNvSpPr/>
          <p:nvPr/>
        </p:nvSpPr>
        <p:spPr>
          <a:xfrm>
            <a:off x="817473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sp>
        <p:nvSpPr>
          <p:cNvPr id="27" name="직사각형 28"/>
          <p:cNvSpPr/>
          <p:nvPr/>
        </p:nvSpPr>
        <p:spPr>
          <a:xfrm>
            <a:off x="6519672" y="478231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8" name="직사각형 29"/>
          <p:cNvSpPr/>
          <p:nvPr/>
        </p:nvSpPr>
        <p:spPr>
          <a:xfrm>
            <a:off x="6217920" y="53126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dist 0</a:t>
            </a:r>
          </a:p>
        </p:txBody>
      </p:sp>
      <p:sp>
        <p:nvSpPr>
          <p:cNvPr id="29" name="직사각형 30"/>
          <p:cNvSpPr/>
          <p:nvPr/>
        </p:nvSpPr>
        <p:spPr>
          <a:xfrm>
            <a:off x="8165592" y="2862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0" name="직사각형 31"/>
          <p:cNvSpPr/>
          <p:nvPr/>
        </p:nvSpPr>
        <p:spPr>
          <a:xfrm>
            <a:off x="7863840" y="339242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dist 2</a:t>
            </a:r>
          </a:p>
        </p:txBody>
      </p:sp>
      <p:sp>
        <p:nvSpPr>
          <p:cNvPr id="31" name="직사각형 32"/>
          <p:cNvSpPr/>
          <p:nvPr/>
        </p:nvSpPr>
        <p:spPr>
          <a:xfrm>
            <a:off x="9811512" y="47823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9509760" y="53126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dist 3</a:t>
            </a:r>
          </a:p>
        </p:txBody>
      </p:sp>
      <p:sp>
        <p:nvSpPr>
          <p:cNvPr id="33" name="직사각형 34"/>
          <p:cNvSpPr/>
          <p:nvPr/>
        </p:nvSpPr>
        <p:spPr>
          <a:xfrm>
            <a:off x="914400" y="5650992"/>
            <a:ext cx="4389120" cy="402336"/>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간선 합 2 + 2 = 4 (최소)  ·  A → C 거리 4</a:t>
            </a:r>
          </a:p>
        </p:txBody>
      </p:sp>
      <p:sp>
        <p:nvSpPr>
          <p:cNvPr id="34" name="직사각형 35"/>
          <p:cNvSpPr/>
          <p:nvPr/>
        </p:nvSpPr>
        <p:spPr>
          <a:xfrm>
            <a:off x="6400800" y="5650992"/>
            <a:ext cx="4389120" cy="402336"/>
          </a:xfrm>
          <a:prstGeom prst="rect">
            <a:avLst/>
          </a:prstGeom>
          <a:solidFill>
            <a:srgbClr val="DCECFB"/>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간선 합 2 + 3 = 5  ·  A → C 거리 3 (최단)</a:t>
            </a:r>
          </a:p>
        </p:txBody>
      </p:sp>
      <p:sp>
        <p:nvSpPr>
          <p:cNvPr id="35" name="직사각형 36"/>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트리 간선    연회색: 트리에 없는 간선    방향 없는 간선은 양방향 간선 2개로 보고 다익스트라를 돌립니다</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음수 간선 ① S 확정 · A 2, B 5</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177</a:t>
            </a:r>
          </a:p>
        </p:txBody>
      </p:sp>
      <p:sp>
        <p:nvSpPr>
          <p:cNvPr id="9" name="fit:55521103f8789e3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연습문제 예: S → A 2, S → B 5, B → A −4. 시작점 S를 확정하고 A, B를 고칩니다.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S</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e010b7445de9b3a1 13"/>
          <p:cNvSpPr/>
          <p:nvPr/>
        </p:nvSpPr>
        <p:spPr>
          <a:xfrm>
            <a:off x="7909560" y="4325112"/>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0 + 2 = 2, 0 + 5 = 5. 다음: 미확정 A 2, B 5 중 더 작은 A</a:t>
            </a:r>
          </a:p>
        </p:txBody>
      </p:sp>
      <p:cxnSp>
        <p:nvCxnSpPr>
          <p:cNvPr id="13" name="연결선 14"/>
          <p:cNvCxnSpPr/>
          <p:nvPr/>
        </p:nvCxnSpPr>
        <p:spPr>
          <a:xfrm flipV="1">
            <a:off x="1699810" y="3092657"/>
            <a:ext cx="3532282" cy="1043629"/>
          </a:xfrm>
          <a:prstGeom prst="line">
            <a:avLst/>
          </a:prstGeom>
          <a:ln w="44450">
            <a:solidFill>
              <a:srgbClr val="B8651B"/>
            </a:solidFill>
            <a:tailEnd type="triangle" w="med" len="med"/>
          </a:ln>
        </p:spPr>
      </p:cxnSp>
      <p:sp>
        <p:nvSpPr>
          <p:cNvPr id="14" name="직사각형 15"/>
          <p:cNvSpPr/>
          <p:nvPr/>
        </p:nvSpPr>
        <p:spPr>
          <a:xfrm>
            <a:off x="3195521" y="333441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5" name="연결선 16"/>
          <p:cNvCxnSpPr/>
          <p:nvPr/>
        </p:nvCxnSpPr>
        <p:spPr>
          <a:xfrm>
            <a:off x="1699810" y="4276195"/>
            <a:ext cx="3532282" cy="1043629"/>
          </a:xfrm>
          <a:prstGeom prst="line">
            <a:avLst/>
          </a:prstGeom>
          <a:ln w="44450">
            <a:solidFill>
              <a:srgbClr val="B8651B"/>
            </a:solidFill>
            <a:tailEnd type="triangle" w="med" len="med"/>
          </a:ln>
        </p:spPr>
      </p:cxnSp>
      <p:sp>
        <p:nvSpPr>
          <p:cNvPr id="16" name="직사각형 17"/>
          <p:cNvSpPr/>
          <p:nvPr/>
        </p:nvSpPr>
        <p:spPr>
          <a:xfrm>
            <a:off x="3195521" y="48037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17" name="연결선 18"/>
          <p:cNvCxnSpPr/>
          <p:nvPr/>
        </p:nvCxnSpPr>
        <p:spPr>
          <a:xfrm flipV="1">
            <a:off x="5486400" y="3282696"/>
            <a:ext cx="0" cy="1865376"/>
          </a:xfrm>
          <a:prstGeom prst="line">
            <a:avLst/>
          </a:prstGeom>
          <a:ln w="19050">
            <a:solidFill>
              <a:srgbClr val="9A9A9A"/>
            </a:solidFill>
            <a:tailEnd type="triangle" w="med" len="med"/>
          </a:ln>
        </p:spPr>
      </p:cxnSp>
      <p:sp>
        <p:nvSpPr>
          <p:cNvPr id="18" name="직사각형 19"/>
          <p:cNvSpPr/>
          <p:nvPr/>
        </p:nvSpPr>
        <p:spPr>
          <a:xfrm>
            <a:off x="5394960" y="40690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sp>
        <p:nvSpPr>
          <p:cNvPr id="19" name="직사각형 20"/>
          <p:cNvSpPr/>
          <p:nvPr/>
        </p:nvSpPr>
        <p:spPr>
          <a:xfrm>
            <a:off x="1216152" y="39593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S</a:t>
            </a:r>
          </a:p>
        </p:txBody>
      </p:sp>
      <p:sp>
        <p:nvSpPr>
          <p:cNvPr id="20" name="직사각형 21"/>
          <p:cNvSpPr/>
          <p:nvPr/>
        </p:nvSpPr>
        <p:spPr>
          <a:xfrm>
            <a:off x="914400" y="448970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21" name="직사각형 22"/>
          <p:cNvSpPr/>
          <p:nvPr/>
        </p:nvSpPr>
        <p:spPr>
          <a:xfrm>
            <a:off x="52395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2" name="직사각형 23"/>
          <p:cNvSpPr/>
          <p:nvPr/>
        </p:nvSpPr>
        <p:spPr>
          <a:xfrm>
            <a:off x="49377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2</a:t>
            </a:r>
          </a:p>
        </p:txBody>
      </p:sp>
      <p:sp>
        <p:nvSpPr>
          <p:cNvPr id="23" name="직사각형 24"/>
          <p:cNvSpPr/>
          <p:nvPr/>
        </p:nvSpPr>
        <p:spPr>
          <a:xfrm>
            <a:off x="5239512" y="5148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4" name="직사각형 25"/>
          <p:cNvSpPr/>
          <p:nvPr/>
        </p:nvSpPr>
        <p:spPr>
          <a:xfrm>
            <a:off x="4937760" y="567842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5</a:t>
            </a:r>
          </a:p>
        </p:txBody>
      </p:sp>
      <p:sp>
        <p:nvSpPr>
          <p:cNvPr id="25" name="직사각형 26"/>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주황: 이번에 완화한 간선    B → A −4: 음수 간선</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음수 간선 ② A를 2로 확정</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178</a:t>
            </a:r>
          </a:p>
        </p:txBody>
      </p:sp>
      <p:sp>
        <p:nvSpPr>
          <p:cNvPr id="9" name="fit:7fa71cdc164e479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미확정 중 가장 작은 A(2)를 확정합니다. 이제 dist[A] = 2는 다시 고치지 않습니다.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S</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tr>
            </a:tbl>
          </a:graphicData>
        </a:graphic>
      </p:graphicFrame>
      <p:sp>
        <p:nvSpPr>
          <p:cNvPr id="12" name="fit:555e0798b99efbf7 13"/>
          <p:cNvSpPr/>
          <p:nvPr/>
        </p:nvSpPr>
        <p:spPr>
          <a:xfrm>
            <a:off x="7909560" y="4325112"/>
            <a:ext cx="3666744"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dist[A] = 2 확정</a:t>
            </a:r>
          </a:p>
        </p:txBody>
      </p:sp>
      <p:sp>
        <p:nvSpPr>
          <p:cNvPr id="13" name="fit:2cfe24814f8416ed 14"/>
          <p:cNvSpPr/>
          <p:nvPr/>
        </p:nvSpPr>
        <p:spPr>
          <a:xfrm>
            <a:off x="7909560" y="4745736"/>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비용이 0 이상이라면 옳은 판단입니다. 하지만 B를 거치는 길에 −4가 남아 있습니다.</a:t>
            </a:r>
          </a:p>
        </p:txBody>
      </p:sp>
      <p:cxnSp>
        <p:nvCxnSpPr>
          <p:cNvPr id="14" name="연결선 15"/>
          <p:cNvCxnSpPr/>
          <p:nvPr/>
        </p:nvCxnSpPr>
        <p:spPr>
          <a:xfrm flipV="1">
            <a:off x="1699810" y="3092657"/>
            <a:ext cx="3532282" cy="1043629"/>
          </a:xfrm>
          <a:prstGeom prst="line">
            <a:avLst/>
          </a:prstGeom>
          <a:ln w="44450">
            <a:solidFill>
              <a:srgbClr val="0E8A7D"/>
            </a:solidFill>
            <a:tailEnd type="triangle" w="med" len="med"/>
          </a:ln>
        </p:spPr>
      </p:cxnSp>
      <p:sp>
        <p:nvSpPr>
          <p:cNvPr id="15" name="직사각형 16"/>
          <p:cNvSpPr/>
          <p:nvPr/>
        </p:nvSpPr>
        <p:spPr>
          <a:xfrm>
            <a:off x="3195521" y="333441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6" name="연결선 17"/>
          <p:cNvCxnSpPr/>
          <p:nvPr/>
        </p:nvCxnSpPr>
        <p:spPr>
          <a:xfrm>
            <a:off x="1699810" y="4276195"/>
            <a:ext cx="3532282" cy="1043629"/>
          </a:xfrm>
          <a:prstGeom prst="line">
            <a:avLst/>
          </a:prstGeom>
          <a:ln w="44450">
            <a:solidFill>
              <a:srgbClr val="0E8A7D"/>
            </a:solidFill>
            <a:tailEnd type="triangle" w="med" len="med"/>
          </a:ln>
        </p:spPr>
      </p:cxnSp>
      <p:sp>
        <p:nvSpPr>
          <p:cNvPr id="17" name="직사각형 18"/>
          <p:cNvSpPr/>
          <p:nvPr/>
        </p:nvSpPr>
        <p:spPr>
          <a:xfrm>
            <a:off x="3195521" y="48037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18" name="연결선 19"/>
          <p:cNvCxnSpPr/>
          <p:nvPr/>
        </p:nvCxnSpPr>
        <p:spPr>
          <a:xfrm flipV="1">
            <a:off x="5486400" y="3282696"/>
            <a:ext cx="0" cy="1865376"/>
          </a:xfrm>
          <a:prstGeom prst="line">
            <a:avLst/>
          </a:prstGeom>
          <a:ln w="19050">
            <a:solidFill>
              <a:srgbClr val="9A9A9A"/>
            </a:solidFill>
            <a:tailEnd type="triangle" w="med" len="med"/>
          </a:ln>
        </p:spPr>
      </p:cxnSp>
      <p:sp>
        <p:nvSpPr>
          <p:cNvPr id="19" name="직사각형 20"/>
          <p:cNvSpPr/>
          <p:nvPr/>
        </p:nvSpPr>
        <p:spPr>
          <a:xfrm>
            <a:off x="5394960" y="40690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sp>
        <p:nvSpPr>
          <p:cNvPr id="20" name="직사각형 21"/>
          <p:cNvSpPr/>
          <p:nvPr/>
        </p:nvSpPr>
        <p:spPr>
          <a:xfrm>
            <a:off x="1216152" y="395935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S</a:t>
            </a:r>
          </a:p>
        </p:txBody>
      </p:sp>
      <p:sp>
        <p:nvSpPr>
          <p:cNvPr id="21" name="직사각형 22"/>
          <p:cNvSpPr/>
          <p:nvPr/>
        </p:nvSpPr>
        <p:spPr>
          <a:xfrm>
            <a:off x="914400" y="448970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22" name="직사각형 23"/>
          <p:cNvSpPr/>
          <p:nvPr/>
        </p:nvSpPr>
        <p:spPr>
          <a:xfrm>
            <a:off x="5239512" y="277063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3" name="직사각형 24"/>
          <p:cNvSpPr/>
          <p:nvPr/>
        </p:nvSpPr>
        <p:spPr>
          <a:xfrm>
            <a:off x="49377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2</a:t>
            </a:r>
          </a:p>
        </p:txBody>
      </p:sp>
      <p:sp>
        <p:nvSpPr>
          <p:cNvPr id="24" name="직사각형 25"/>
          <p:cNvSpPr/>
          <p:nvPr/>
        </p:nvSpPr>
        <p:spPr>
          <a:xfrm>
            <a:off x="5239512" y="5148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5" name="직사각형 26"/>
          <p:cNvSpPr/>
          <p:nvPr/>
        </p:nvSpPr>
        <p:spPr>
          <a:xfrm>
            <a:off x="4937760" y="567842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5</a:t>
            </a:r>
          </a:p>
        </p:txBody>
      </p:sp>
      <p:sp>
        <p:nvSpPr>
          <p:cNvPr id="26" name="직사각형 2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청록: 지금 dist를 만든 간선</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음수 간선 ③ B 확정 · 실제 최단 1을 놓친다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179</a:t>
            </a:r>
          </a:p>
        </p:txBody>
      </p:sp>
      <p:sp>
        <p:nvSpPr>
          <p:cNvPr id="9" name="fit:5af7b4646c1a3a5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B(5)를 확정하고 B → A를 보면 5 + (−4) = 1 &lt; 2입니다. 하지만 A는 이미 확정되어 고치지 않습니다.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nvGraphicFramePr>
        <p:xfrm>
          <a:off x="7909560" y="2935224"/>
          <a:ext cx="3666744" cy="1243584"/>
        </p:xfrm>
        <a:graphic>
          <a:graphicData uri="http://schemas.openxmlformats.org/drawingml/2006/table">
            <a:tbl>
              <a:tblPr/>
              <a:tblGrid>
                <a:gridCol w="894328"/>
                <a:gridCol w="1341492"/>
                <a:gridCol w="1430924"/>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S</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tr>
            </a:tbl>
          </a:graphicData>
        </a:graphic>
      </p:graphicFrame>
      <p:sp>
        <p:nvSpPr>
          <p:cNvPr id="12" name="fit:5bb729034eaa00dd 13"/>
          <p:cNvSpPr/>
          <p:nvPr/>
        </p:nvSpPr>
        <p:spPr>
          <a:xfrm>
            <a:off x="7909560" y="4325112"/>
            <a:ext cx="3666744" cy="283464"/>
          </a:xfrm>
          <a:prstGeom prst="rect">
            <a:avLst/>
          </a:prstGeom>
          <a:noFill/>
          <a:ln w="0">
            <a:noFill/>
          </a:ln>
        </p:spPr>
        <p:txBody>
          <a:bodyPr wrap="square" lIns="0" tIns="0" rIns="0" bIns="0" anchor="t">
            <a:noAutofit/>
          </a:bodyPr>
          <a:lstStyle/>
          <a:p>
            <a:pPr algn="l" eaLnBrk="0" latinLnBrk="0">
              <a:lnSpc>
                <a:spcPct val="100000"/>
              </a:lnSpc>
              <a:buNone/>
            </a:pPr>
            <a:r>
              <a:rPr lang="ko-KR" altLang="en-US" sz="1600" b="1" dirty="0">
                <a:solidFill>
                  <a:srgbClr val="0E8A7D"/>
                </a:solidFill>
                <a:latin typeface="Malgun Gothic"/>
                <a:ea typeface="Malgun Gothic"/>
                <a:cs typeface="Malgun Gothic"/>
              </a:rPr>
              <a:t>다익스트라(의사코드·C)의 답: A = 2</a:t>
            </a:r>
          </a:p>
        </p:txBody>
      </p:sp>
      <p:sp>
        <p:nvSpPr>
          <p:cNvPr id="13" name="fit:4f08d272a8763aea 14"/>
          <p:cNvSpPr/>
          <p:nvPr/>
        </p:nvSpPr>
        <p:spPr>
          <a:xfrm>
            <a:off x="7909560" y="4718304"/>
            <a:ext cx="3666744"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B23B3B"/>
                </a:solidFill>
                <a:latin typeface="Malgun Gothic"/>
                <a:ea typeface="Malgun Gothic"/>
                <a:cs typeface="Malgun Gothic"/>
              </a:rPr>
              <a:t>실제 최단은 S → B → A = 1</a:t>
            </a:r>
          </a:p>
        </p:txBody>
      </p:sp>
      <p:sp>
        <p:nvSpPr>
          <p:cNvPr id="14" name="fit:b715656539a81d42 15"/>
          <p:cNvSpPr/>
          <p:nvPr/>
        </p:nvSpPr>
        <p:spPr>
          <a:xfrm>
            <a:off x="7909560" y="5120640"/>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A를 2로 확정한 뒤 다시 처리하지 않으므로, A에서 나가는 간선이 있었다면 그 뒤 정점도 틀립니다.</a:t>
            </a:r>
          </a:p>
        </p:txBody>
      </p:sp>
      <p:cxnSp>
        <p:nvCxnSpPr>
          <p:cNvPr id="15" name="연결선 16"/>
          <p:cNvCxnSpPr/>
          <p:nvPr/>
        </p:nvCxnSpPr>
        <p:spPr>
          <a:xfrm flipV="1">
            <a:off x="1699810" y="3092657"/>
            <a:ext cx="3532282" cy="1043629"/>
          </a:xfrm>
          <a:prstGeom prst="line">
            <a:avLst/>
          </a:prstGeom>
          <a:ln w="44450">
            <a:solidFill>
              <a:srgbClr val="0E8A7D"/>
            </a:solidFill>
            <a:tailEnd type="triangle" w="med" len="med"/>
          </a:ln>
        </p:spPr>
      </p:cxnSp>
      <p:sp>
        <p:nvSpPr>
          <p:cNvPr id="16" name="직사각형 17"/>
          <p:cNvSpPr/>
          <p:nvPr/>
        </p:nvSpPr>
        <p:spPr>
          <a:xfrm>
            <a:off x="3195521" y="333441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7" name="연결선 18"/>
          <p:cNvCxnSpPr/>
          <p:nvPr/>
        </p:nvCxnSpPr>
        <p:spPr>
          <a:xfrm>
            <a:off x="1699810" y="4276195"/>
            <a:ext cx="3532282" cy="1043629"/>
          </a:xfrm>
          <a:prstGeom prst="line">
            <a:avLst/>
          </a:prstGeom>
          <a:ln w="44450">
            <a:solidFill>
              <a:srgbClr val="0E8A7D"/>
            </a:solidFill>
            <a:tailEnd type="triangle" w="med" len="med"/>
          </a:ln>
        </p:spPr>
      </p:cxnSp>
      <p:sp>
        <p:nvSpPr>
          <p:cNvPr id="18" name="직사각형 19"/>
          <p:cNvSpPr/>
          <p:nvPr/>
        </p:nvSpPr>
        <p:spPr>
          <a:xfrm>
            <a:off x="3195521" y="48037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19" name="연결선 20"/>
          <p:cNvCxnSpPr/>
          <p:nvPr/>
        </p:nvCxnSpPr>
        <p:spPr>
          <a:xfrm flipV="1">
            <a:off x="5486400" y="3282696"/>
            <a:ext cx="0" cy="1865376"/>
          </a:xfrm>
          <a:prstGeom prst="line">
            <a:avLst/>
          </a:prstGeom>
          <a:ln w="44450">
            <a:solidFill>
              <a:srgbClr val="B8651B"/>
            </a:solidFill>
            <a:tailEnd type="triangle" w="med" len="med"/>
          </a:ln>
        </p:spPr>
      </p:cxnSp>
      <p:sp>
        <p:nvSpPr>
          <p:cNvPr id="20" name="직사각형 21"/>
          <p:cNvSpPr/>
          <p:nvPr/>
        </p:nvSpPr>
        <p:spPr>
          <a:xfrm>
            <a:off x="5394960" y="40690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−4</a:t>
            </a:r>
          </a:p>
        </p:txBody>
      </p:sp>
      <p:sp>
        <p:nvSpPr>
          <p:cNvPr id="21" name="직사각형 22"/>
          <p:cNvSpPr/>
          <p:nvPr/>
        </p:nvSpPr>
        <p:spPr>
          <a:xfrm>
            <a:off x="1216152" y="395935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S</a:t>
            </a:r>
          </a:p>
        </p:txBody>
      </p:sp>
      <p:sp>
        <p:nvSpPr>
          <p:cNvPr id="22" name="직사각형 23"/>
          <p:cNvSpPr/>
          <p:nvPr/>
        </p:nvSpPr>
        <p:spPr>
          <a:xfrm>
            <a:off x="914400" y="448970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23" name="직사각형 24"/>
          <p:cNvSpPr/>
          <p:nvPr/>
        </p:nvSpPr>
        <p:spPr>
          <a:xfrm>
            <a:off x="523951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4" name="직사각형 25"/>
          <p:cNvSpPr/>
          <p:nvPr/>
        </p:nvSpPr>
        <p:spPr>
          <a:xfrm>
            <a:off x="49377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B23B3B"/>
                </a:solidFill>
                <a:latin typeface="Malgun Gothic"/>
                <a:ea typeface="Malgun Gothic"/>
                <a:cs typeface="Malgun Gothic"/>
              </a:rPr>
              <a:t>2 (실제 1)</a:t>
            </a:r>
          </a:p>
        </p:txBody>
      </p:sp>
      <p:sp>
        <p:nvSpPr>
          <p:cNvPr id="25" name="직사각형 26"/>
          <p:cNvSpPr/>
          <p:nvPr/>
        </p:nvSpPr>
        <p:spPr>
          <a:xfrm>
            <a:off x="5239512" y="5148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4937760" y="567842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5</a:t>
            </a:r>
          </a:p>
        </p:txBody>
      </p:sp>
      <p:sp>
        <p:nvSpPr>
          <p:cNvPr id="27" name="직사각형 28"/>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주황: 1을 만드는 간선 B → A    음수 간선이 있으면 벨만-포드 같은 다른 알고리즘을 씁니다</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다익스트라 확인</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180</a:t>
            </a:r>
          </a:p>
        </p:txBody>
      </p:sp>
      <p:sp>
        <p:nvSpPr>
          <p:cNvPr id="9" name="fit:596f5d0e1f033f46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dist[u] = 4, w(u, v) = 5, dist[v] = 12이면 완화 뒤 dist[v]는? dist[v]가 8이었다면?</a:t>
            </a:r>
          </a:p>
        </p:txBody>
      </p:sp>
      <p:sp>
        <p:nvSpPr>
          <p:cNvPr id="10" name="fit:fb1b8a339e3349f7 11"/>
          <p:cNvSpPr/>
          <p:nvPr/>
        </p:nvSpPr>
        <p:spPr>
          <a:xfrm>
            <a:off x="612648" y="207568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예제 그래프(A~F)에서 A → F의 최단 경로와 거리는?</a:t>
            </a:r>
          </a:p>
        </p:txBody>
      </p:sp>
      <p:sp>
        <p:nvSpPr>
          <p:cNvPr id="11" name="fit:15e0e6187b334240 12"/>
          <p:cNvSpPr/>
          <p:nvPr/>
        </p:nvSpPr>
        <p:spPr>
          <a:xfrm>
            <a:off x="612648" y="251460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음수 간선 예(S → A 2, S → B 5, B → A −4)에서 다익스트라의 답과 실제 최단 거리는? 틀리는 이유는?</a:t>
            </a:r>
          </a:p>
        </p:txBody>
      </p:sp>
      <p:sp>
        <p:nvSpPr>
          <p:cNvPr id="12" name="fit:c9589274600cc8c2 13"/>
          <p:cNvSpPr/>
          <p:nvPr/>
        </p:nvSpPr>
        <p:spPr>
          <a:xfrm>
            <a:off x="612648" y="295351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④ 이 장의 Python 힙 코드에 ③의 그래프를 넣으면 A는 얼마가 나올까요? 의사코드와 다른 이유는?</a:t>
            </a:r>
          </a:p>
        </p:txBody>
      </p:sp>
      <p:sp>
        <p:nvSpPr>
          <p:cNvPr id="13" name="fit:8d2674e435ce9773 14"/>
          <p:cNvSpPr/>
          <p:nvPr/>
        </p:nvSpPr>
        <p:spPr>
          <a:xfrm>
            <a:off x="612648" y="339242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⑤ 최소 신장 트리와 최단 경로 트리는 항상 같은가요?</a:t>
            </a:r>
          </a:p>
        </p:txBody>
      </p:sp>
      <p:sp>
        <p:nvSpPr>
          <p:cNvPr id="14" name="fit:fb398fae2da18b46 15"/>
          <p:cNvSpPr/>
          <p:nvPr/>
        </p:nvSpPr>
        <p:spPr>
          <a:xfrm>
            <a:off x="612648" y="383133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⑥ 정점 V개, 간선 E개일 때 배열판과 힙판의 시간 복잡도는?</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4" name="직사각형 5"/>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181</a:t>
            </a:r>
          </a:p>
        </p:txBody>
      </p:sp>
      <p:sp>
        <p:nvSpPr>
          <p:cNvPr id="5" name="직사각형 6"/>
          <p:cNvSpPr/>
          <p:nvPr/>
        </p:nvSpPr>
        <p:spPr>
          <a:xfrm>
            <a:off x="612648" y="530352"/>
            <a:ext cx="6665976"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6" name="직사각형 7"/>
          <p:cNvSpPr/>
          <p:nvPr/>
        </p:nvSpPr>
        <p:spPr>
          <a:xfrm>
            <a:off x="9144000" y="1664208"/>
            <a:ext cx="2441448" cy="1106424"/>
          </a:xfrm>
          <a:prstGeom prst="rect">
            <a:avLst/>
          </a:prstGeom>
          <a:noFill/>
          <a:ln w="0">
            <a:noFill/>
          </a:ln>
        </p:spPr>
        <p:txBody>
          <a:bodyPr wrap="square" lIns="0" tIns="0" rIns="0" bIns="0" anchor="t">
            <a:noAutofit/>
          </a:bodyPr>
          <a:lstStyle/>
          <a:p>
            <a:pPr algn="r" eaLnBrk="0" latinLnBrk="0">
              <a:lnSpc>
                <a:spcPct val="100000"/>
              </a:lnSpc>
              <a:buNone/>
            </a:pPr>
            <a:r>
              <a:rPr lang="ko-KR" altLang="en-US" sz="7050" b="1" dirty="0">
                <a:solidFill>
                  <a:srgbClr val="474747"/>
                </a:solidFill>
                <a:latin typeface="Malgun Gothic"/>
                <a:ea typeface="Malgun Gothic"/>
                <a:cs typeface="Malgun Gothic"/>
              </a:rPr>
              <a:t>5.9</a:t>
            </a:r>
          </a:p>
        </p:txBody>
      </p:sp>
      <p:sp>
        <p:nvSpPr>
          <p:cNvPr id="7" name="직사각형 8"/>
          <p:cNvSpPr/>
          <p:nvPr/>
        </p:nvSpPr>
        <p:spPr>
          <a:xfrm>
            <a:off x="612648" y="2743200"/>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8" name="직사각형 9"/>
          <p:cNvSpPr/>
          <p:nvPr/>
        </p:nvSpPr>
        <p:spPr>
          <a:xfrm>
            <a:off x="612648" y="3136392"/>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4050" b="1" dirty="0">
                <a:solidFill>
                  <a:srgbClr val="FFFFFF"/>
                </a:solidFill>
                <a:latin typeface="Malgun Gothic"/>
                <a:ea typeface="Malgun Gothic"/>
                <a:cs typeface="Malgun Gothic"/>
              </a:rPr>
              <a:t>코딩 테스트 예제</a:t>
            </a:r>
          </a:p>
        </p:txBody>
      </p:sp>
      <p:sp>
        <p:nvSpPr>
          <p:cNvPr id="9" name="직사각형 10"/>
          <p:cNvSpPr/>
          <p:nvPr/>
        </p:nvSpPr>
        <p:spPr>
          <a:xfrm>
            <a:off x="649224" y="4956048"/>
            <a:ext cx="10671048" cy="1280160"/>
          </a:xfrm>
          <a:prstGeom prst="rect">
            <a:avLst/>
          </a:prstGeom>
          <a:noFill/>
          <a:ln w="0">
            <a:noFill/>
          </a:ln>
        </p:spPr>
        <p:txBody>
          <a:bodyPr wrap="square" lIns="0" tIns="0" rIns="0" bIns="0" anchor="t">
            <a:noAutofit/>
          </a:bodyPr>
          <a:lstStyle/>
          <a:p>
            <a:pPr algn="l" eaLnBrk="0" latinLnBrk="0">
              <a:lnSpc>
                <a:spcPct val="110000"/>
              </a:lnSpc>
              <a:buNone/>
            </a:pPr>
            <a:r>
              <a:rPr lang="ko-KR" altLang="en-US" sz="1800" b="0" dirty="0">
                <a:solidFill>
                  <a:srgbClr val="BBBBBB"/>
                </a:solidFill>
                <a:latin typeface="Malgun Gothic"/>
                <a:ea typeface="Malgun Gothic"/>
                <a:cs typeface="Malgun Gothic"/>
              </a:rPr>
              <a:t>CT(Coding Test) 문제 두 개를 그리디로 풉니다.</a:t>
            </a:r>
          </a:p>
          <a:p>
            <a:pPr algn="l" eaLnBrk="0" latinLnBrk="0">
              <a:lnSpc>
                <a:spcPct val="110000"/>
              </a:lnSpc>
              <a:buNone/>
            </a:pPr>
            <a:r>
              <a:rPr lang="ko-KR" altLang="en-US" sz="1800" b="0" dirty="0">
                <a:solidFill>
                  <a:srgbClr val="BBBBBB"/>
                </a:solidFill>
                <a:latin typeface="Malgun Gothic"/>
                <a:ea typeface="Malgun Gothic"/>
                <a:cs typeface="Malgun Gothic"/>
              </a:rPr>
              <a:t>동전 내주기 · ATM 줄 세우기</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CT 5.1 동전 내주기 · 문제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182</a:t>
            </a:r>
          </a:p>
        </p:txBody>
      </p:sp>
      <p:sp>
        <p:nvSpPr>
          <p:cNvPr id="9" name="fit:88852441a382a205 10"/>
          <p:cNvSpPr/>
          <p:nvPr/>
        </p:nvSpPr>
        <p:spPr>
          <a:xfrm>
            <a:off x="658368" y="1737360"/>
            <a:ext cx="585216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동전 N종류(각각 무한히 많음)로 K원을 만들 때 필요한 </a:t>
            </a:r>
            <a:r>
              <a:rPr lang="ko-KR" altLang="en-US" sz="1800" b="1" dirty="0">
                <a:solidFill>
                  <a:srgbClr val="171717"/>
                </a:solidFill>
                <a:latin typeface="Malgun Gothic"/>
                <a:ea typeface="Malgun Gothic"/>
                <a:cs typeface="Malgun Gothic"/>
              </a:rPr>
              <a:t>동전의 최소 개수</a:t>
            </a:r>
            <a:r>
              <a:rPr lang="ko-KR" altLang="en-US" sz="1800" b="0" dirty="0">
                <a:solidFill>
                  <a:srgbClr val="171717"/>
                </a:solidFill>
                <a:latin typeface="Malgun Gothic"/>
                <a:ea typeface="Malgun Gothic"/>
                <a:cs typeface="Malgun Gothic"/>
              </a:rPr>
              <a:t>를 구합니다.</a:t>
            </a:r>
          </a:p>
        </p:txBody>
      </p:sp>
      <p:sp>
        <p:nvSpPr>
          <p:cNvPr id="10" name="fit:38f0b81dc4af87d1 11"/>
          <p:cNvSpPr/>
          <p:nvPr/>
        </p:nvSpPr>
        <p:spPr>
          <a:xfrm>
            <a:off x="658368" y="2459736"/>
            <a:ext cx="585216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입력</a:t>
            </a:r>
          </a:p>
        </p:txBody>
      </p:sp>
      <p:sp>
        <p:nvSpPr>
          <p:cNvPr id="11" name="fit:2a61221bdd3bd6d3 12"/>
          <p:cNvSpPr/>
          <p:nvPr/>
        </p:nvSpPr>
        <p:spPr>
          <a:xfrm>
            <a:off x="841248" y="2788920"/>
            <a:ext cx="566928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첫 줄에 N과 K, 다음 N줄에 동전 가치가 오름차순으로</a:t>
            </a:r>
          </a:p>
        </p:txBody>
      </p:sp>
      <p:sp>
        <p:nvSpPr>
          <p:cNvPr id="12" name="fit:495a2d6013dbd4f0 13"/>
          <p:cNvSpPr/>
          <p:nvPr/>
        </p:nvSpPr>
        <p:spPr>
          <a:xfrm>
            <a:off x="658368" y="3172968"/>
            <a:ext cx="585216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조건</a:t>
            </a:r>
          </a:p>
        </p:txBody>
      </p:sp>
      <p:sp>
        <p:nvSpPr>
          <p:cNvPr id="13" name="fit:211a8c89d0eafcd4 14"/>
          <p:cNvSpPr/>
          <p:nvPr/>
        </p:nvSpPr>
        <p:spPr>
          <a:xfrm>
            <a:off x="841248" y="3502152"/>
            <a:ext cx="566928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첫 동전은 1원, 큰 단위는 작은 단위의 배수</a:t>
            </a:r>
          </a:p>
        </p:txBody>
      </p:sp>
      <p:sp>
        <p:nvSpPr>
          <p:cNvPr id="14" name="fit:9f0ac8a7a833a241 15"/>
          <p:cNvSpPr/>
          <p:nvPr/>
        </p:nvSpPr>
        <p:spPr>
          <a:xfrm>
            <a:off x="658368" y="3886200"/>
            <a:ext cx="585216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출력</a:t>
            </a:r>
          </a:p>
        </p:txBody>
      </p:sp>
      <p:sp>
        <p:nvSpPr>
          <p:cNvPr id="15" name="fit:7590e2d784b360cb 16"/>
          <p:cNvSpPr/>
          <p:nvPr/>
        </p:nvSpPr>
        <p:spPr>
          <a:xfrm>
            <a:off x="841248" y="4215384"/>
            <a:ext cx="566928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최소 개수 하나</a:t>
            </a:r>
          </a:p>
        </p:txBody>
      </p:sp>
      <p:sp>
        <p:nvSpPr>
          <p:cNvPr id="16" name="fit:bede58c382789de2 17"/>
          <p:cNvSpPr/>
          <p:nvPr/>
        </p:nvSpPr>
        <p:spPr>
          <a:xfrm>
            <a:off x="658368" y="4599432"/>
            <a:ext cx="585216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기호 주의: 여기서 N은 동전 종류 수, K는 금액입니다(5.2절의 K는 종류 수).</a:t>
            </a:r>
          </a:p>
        </p:txBody>
      </p:sp>
      <p:sp>
        <p:nvSpPr>
          <p:cNvPr id="17" name="fit:f37776e3e1d4d9b7 18"/>
          <p:cNvSpPr/>
          <p:nvPr/>
        </p:nvSpPr>
        <p:spPr>
          <a:xfrm>
            <a:off x="6858000" y="1737360"/>
            <a:ext cx="4727448"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배수 조건 → 그리디가 안전</a:t>
            </a:r>
          </a:p>
        </p:txBody>
      </p:sp>
      <p:sp>
        <p:nvSpPr>
          <p:cNvPr id="18" name="fit:61fe3dadc5b45118 19"/>
          <p:cNvSpPr/>
          <p:nvPr/>
        </p:nvSpPr>
        <p:spPr>
          <a:xfrm>
            <a:off x="6858000" y="2194560"/>
            <a:ext cx="4727448" cy="740664"/>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100원 5개 = 500원 1개처럼 작은 동전 여러 개를 큰 동전으로 바꿀 수 있어, 큰 동전을 덜 쓰면 개수만 늘어납니다.</a:t>
            </a:r>
          </a:p>
        </p:txBody>
      </p:sp>
      <p:sp>
        <p:nvSpPr>
          <p:cNvPr id="19" name="fit:d3677d4ac1bf7dc8 20"/>
          <p:cNvSpPr/>
          <p:nvPr/>
        </p:nvSpPr>
        <p:spPr>
          <a:xfrm>
            <a:off x="6858000" y="3063240"/>
            <a:ext cx="4727448"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배수 조건은 충분조건입니다. 깨지면 보장이 사라지고(400원 예), {1, 5, 10, 25}처럼 배수가 아니어도 맞는 경우가 있습니다.</a:t>
            </a:r>
          </a:p>
        </p:txBody>
      </p:sp>
      <p:sp>
        <p:nvSpPr>
          <p:cNvPr id="20" name="fit:52f887b37a20211d 21"/>
          <p:cNvSpPr/>
          <p:nvPr/>
        </p:nvSpPr>
        <p:spPr>
          <a:xfrm>
            <a:off x="6858000" y="3968496"/>
            <a:ext cx="4727448"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1원이 꼭 필요한 이유</a:t>
            </a:r>
          </a:p>
        </p:txBody>
      </p:sp>
      <p:sp>
        <p:nvSpPr>
          <p:cNvPr id="21" name="fit:97da94922a68b291 22"/>
          <p:cNvSpPr/>
          <p:nvPr/>
        </p:nvSpPr>
        <p:spPr>
          <a:xfrm>
            <a:off x="7040880" y="4297680"/>
            <a:ext cx="4544568"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{5, 10}으로 7원이면 5원 1개 후 2원이 남는데도 1을 출력합니다.</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동전 내주기 ① 입력</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183</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coin_change.py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import sys</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N: 동전의 종류 수, K: 목표 금액</a:t>
            </a:r>
          </a:p>
          <a:p>
            <a:pPr algn="l" eaLnBrk="0" latinLnBrk="0">
              <a:lnSpc>
                <a:spcPct val="100000"/>
              </a:lnSpc>
              <a:buNone/>
            </a:pPr>
            <a:r>
              <a:rPr lang="ko-KR" altLang="en-US" sz="1800" b="0" dirty="0">
                <a:solidFill>
                  <a:srgbClr val="151515"/>
                </a:solidFill>
                <a:latin typeface="Consolas"/>
                <a:ea typeface="Consolas"/>
                <a:cs typeface="Consolas"/>
              </a:rPr>
              <a:t>N, K = map(int, sys.stdin.readline().split())</a:t>
            </a:r>
          </a:p>
          <a:p>
            <a:pPr algn="l" eaLnBrk="0" latinLnBrk="0">
              <a:lnSpc>
                <a:spcPct val="100000"/>
              </a:lnSpc>
              <a:buNone/>
            </a:pPr>
            <a:r>
              <a:rPr lang="ko-KR" altLang="en-US" sz="1800" b="0" dirty="0">
                <a:solidFill>
                  <a:srgbClr val="151515"/>
                </a:solidFill>
                <a:latin typeface="Consolas"/>
                <a:ea typeface="Consolas"/>
                <a:cs typeface="Consolas"/>
              </a:rPr>
              <a:t># 조건: 오름차순, 첫 동전은 1원, 큰 단위는 작은 단위의 배수</a:t>
            </a:r>
          </a:p>
          <a:p>
            <a:pPr algn="l" eaLnBrk="0" latinLnBrk="0">
              <a:lnSpc>
                <a:spcPct val="100000"/>
              </a:lnSpc>
              <a:buNone/>
            </a:pPr>
            <a:r>
              <a:rPr lang="ko-KR" altLang="en-US" sz="1800" b="0" dirty="0">
                <a:solidFill>
                  <a:srgbClr val="151515"/>
                </a:solidFill>
                <a:latin typeface="Consolas"/>
                <a:ea typeface="Consolas"/>
                <a:cs typeface="Consolas"/>
              </a:rPr>
              <a:t>coins = [int(sys.stdin.readline()) for _ in range(N)]</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동전 내주기 ② 큰 단위부터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184</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coin_change.py</a:t>
            </a:r>
          </a:p>
        </p:txBody>
      </p:sp>
      <p:sp>
        <p:nvSpPr>
          <p:cNvPr id="10" name="직사각형 11"/>
          <p:cNvSpPr/>
          <p:nvPr/>
        </p:nvSpPr>
        <p:spPr>
          <a:xfrm>
            <a:off x="630936" y="1645920"/>
            <a:ext cx="10954512" cy="429768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핵심 전략: 큰 단위부터 확인하도록 뒤집는다</a:t>
            </a:r>
          </a:p>
          <a:p>
            <a:pPr algn="l" eaLnBrk="0" latinLnBrk="0">
              <a:lnSpc>
                <a:spcPct val="100000"/>
              </a:lnSpc>
              <a:buNone/>
            </a:pPr>
            <a:r>
              <a:rPr lang="ko-KR" altLang="en-US" sz="1800" b="0" dirty="0">
                <a:solidFill>
                  <a:srgbClr val="151515"/>
                </a:solidFill>
                <a:latin typeface="Consolas"/>
                <a:ea typeface="Consolas"/>
                <a:cs typeface="Consolas"/>
              </a:rPr>
              <a:t>coins.reverse()</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count = 0</a:t>
            </a:r>
          </a:p>
          <a:p>
            <a:pPr algn="l" eaLnBrk="0" latinLnBrk="0">
              <a:lnSpc>
                <a:spcPct val="100000"/>
              </a:lnSpc>
              <a:buNone/>
            </a:pPr>
            <a:r>
              <a:rPr lang="ko-KR" altLang="en-US" sz="1800" b="0" dirty="0">
                <a:solidFill>
                  <a:srgbClr val="151515"/>
                </a:solidFill>
                <a:latin typeface="Consolas"/>
                <a:ea typeface="Consolas"/>
                <a:cs typeface="Consolas"/>
              </a:rPr>
              <a:t>for coin in coins:</a:t>
            </a:r>
          </a:p>
          <a:p>
            <a:pPr algn="l" eaLnBrk="0" latinLnBrk="0">
              <a:lnSpc>
                <a:spcPct val="100000"/>
              </a:lnSpc>
              <a:buNone/>
            </a:pPr>
            <a:r>
              <a:rPr lang="ko-KR" altLang="en-US" sz="1800" b="0" dirty="0">
                <a:solidFill>
                  <a:srgbClr val="151515"/>
                </a:solidFill>
                <a:latin typeface="Consolas"/>
                <a:ea typeface="Consolas"/>
                <a:cs typeface="Consolas"/>
              </a:rPr>
              <a:t>    if K &gt;= coin:</a:t>
            </a:r>
          </a:p>
          <a:p>
            <a:pPr algn="l" eaLnBrk="0" latinLnBrk="0">
              <a:lnSpc>
                <a:spcPct val="100000"/>
              </a:lnSpc>
              <a:buNone/>
            </a:pPr>
            <a:r>
              <a:rPr lang="ko-KR" altLang="en-US" sz="1800" b="0" dirty="0">
                <a:solidFill>
                  <a:srgbClr val="151515"/>
                </a:solidFill>
                <a:latin typeface="Consolas"/>
                <a:ea typeface="Consolas"/>
                <a:cs typeface="Consolas"/>
              </a:rPr>
              <a:t>        count += K // coin   # 한 번에 몇 개 쓸 수 있는가</a:t>
            </a:r>
          </a:p>
          <a:p>
            <a:pPr algn="l" eaLnBrk="0" latinLnBrk="0">
              <a:lnSpc>
                <a:spcPct val="100000"/>
              </a:lnSpc>
              <a:buNone/>
            </a:pPr>
            <a:r>
              <a:rPr lang="ko-KR" altLang="en-US" sz="1800" b="0" dirty="0">
                <a:solidFill>
                  <a:srgbClr val="151515"/>
                </a:solidFill>
                <a:latin typeface="Consolas"/>
                <a:ea typeface="Consolas"/>
                <a:cs typeface="Consolas"/>
              </a:rPr>
              <a:t>        K %= coin            # 남은 금액 갱신</a:t>
            </a:r>
          </a:p>
          <a:p>
            <a:pPr algn="l" eaLnBrk="0" latinLnBrk="0">
              <a:lnSpc>
                <a:spcPct val="100000"/>
              </a:lnSpc>
              <a:buNone/>
            </a:pPr>
            <a:r>
              <a:rPr lang="ko-KR" altLang="en-US" sz="1800" b="0" dirty="0">
                <a:solidFill>
                  <a:srgbClr val="151515"/>
                </a:solidFill>
                <a:latin typeface="Consolas"/>
                <a:ea typeface="Consolas"/>
                <a:cs typeface="Consolas"/>
              </a:rPr>
              <a:t>    if K == 0:               # 다 거슬러 줬으면 종료</a:t>
            </a:r>
          </a:p>
          <a:p>
            <a:pPr algn="l" eaLnBrk="0" latinLnBrk="0">
              <a:lnSpc>
                <a:spcPct val="100000"/>
              </a:lnSpc>
              <a:buNone/>
            </a:pPr>
            <a:r>
              <a:rPr lang="ko-KR" altLang="en-US" sz="1800" b="0" dirty="0">
                <a:solidFill>
                  <a:srgbClr val="151515"/>
                </a:solidFill>
                <a:latin typeface="Consolas"/>
                <a:ea typeface="Consolas"/>
                <a:cs typeface="Consolas"/>
              </a:rPr>
              <a:t>        break</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print(count)</a:t>
            </a:r>
          </a:p>
        </p:txBody>
      </p:sp>
      <p:sp>
        <p:nvSpPr>
          <p:cNvPr id="11" name="직사각형 12"/>
          <p:cNvSpPr/>
          <p:nvPr/>
        </p:nvSpPr>
        <p:spPr>
          <a:xfrm>
            <a:off x="612648" y="605332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coins.reverse()는 오름차순 입력을 뒤집기만 하므로 O(N)입니다(정렬이 아닙니다).</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동전 내주기 ① 입력</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185</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coin_change.c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main(void) {</a:t>
            </a:r>
          </a:p>
          <a:p>
            <a:pPr algn="l" eaLnBrk="0" latinLnBrk="0">
              <a:lnSpc>
                <a:spcPct val="100000"/>
              </a:lnSpc>
              <a:buNone/>
            </a:pPr>
            <a:r>
              <a:rPr lang="ko-KR" altLang="en-US" sz="1800" b="0" dirty="0">
                <a:solidFill>
                  <a:srgbClr val="151515"/>
                </a:solidFill>
                <a:latin typeface="Consolas"/>
                <a:ea typeface="Consolas"/>
                <a:cs typeface="Consolas"/>
              </a:rPr>
              <a:t>    int N, K, coins[100];</a:t>
            </a:r>
          </a:p>
          <a:p>
            <a:pPr algn="l" eaLnBrk="0" latinLnBrk="0">
              <a:lnSpc>
                <a:spcPct val="100000"/>
              </a:lnSpc>
              <a:buNone/>
            </a:pPr>
            <a:r>
              <a:rPr lang="ko-KR" altLang="en-US" sz="1800" b="0" dirty="0">
                <a:solidFill>
                  <a:srgbClr val="151515"/>
                </a:solidFill>
                <a:latin typeface="Consolas"/>
                <a:ea typeface="Consolas"/>
                <a:cs typeface="Consolas"/>
              </a:rPr>
              <a:t>    /* N: 동전의 종류 수, K: 목표 금액 */</a:t>
            </a:r>
          </a:p>
          <a:p>
            <a:pPr algn="l" eaLnBrk="0" latinLnBrk="0">
              <a:lnSpc>
                <a:spcPct val="100000"/>
              </a:lnSpc>
              <a:buNone/>
            </a:pPr>
            <a:r>
              <a:rPr lang="ko-KR" altLang="en-US" sz="1800" b="0" dirty="0">
                <a:solidFill>
                  <a:srgbClr val="151515"/>
                </a:solidFill>
                <a:latin typeface="Consolas"/>
                <a:ea typeface="Consolas"/>
                <a:cs typeface="Consolas"/>
              </a:rPr>
              <a:t>    if (scanf("%d %d", &amp;N, &amp;K) != 2 || N &lt; 0 || N &gt; 100) return 1;</a:t>
            </a:r>
          </a:p>
          <a:p>
            <a:pPr algn="l" eaLnBrk="0" latinLnBrk="0">
              <a:lnSpc>
                <a:spcPct val="100000"/>
              </a:lnSpc>
              <a:buNone/>
            </a:pPr>
            <a:r>
              <a:rPr lang="ko-KR" altLang="en-US" sz="1800" b="0" dirty="0">
                <a:solidFill>
                  <a:srgbClr val="151515"/>
                </a:solidFill>
                <a:latin typeface="Consolas"/>
                <a:ea typeface="Consolas"/>
                <a:cs typeface="Consolas"/>
              </a:rPr>
              <a:t>    /* 조건: 오름차순, 첫 동전은 1원, 큰 단위는 작은 단위의 배수 */</a:t>
            </a:r>
          </a:p>
          <a:p>
            <a:pPr algn="l" eaLnBrk="0" latinLnBrk="0">
              <a:lnSpc>
                <a:spcPct val="100000"/>
              </a:lnSpc>
              <a:buNone/>
            </a:pPr>
            <a:r>
              <a:rPr lang="ko-KR" altLang="en-US" sz="1800" b="0" dirty="0">
                <a:solidFill>
                  <a:srgbClr val="151515"/>
                </a:solidFill>
                <a:latin typeface="Consolas"/>
                <a:ea typeface="Consolas"/>
                <a:cs typeface="Consolas"/>
              </a:rPr>
              <a:t>    for (int i = 0; i &lt; N; i++)</a:t>
            </a:r>
          </a:p>
          <a:p>
            <a:pPr algn="l" eaLnBrk="0" latinLnBrk="0">
              <a:lnSpc>
                <a:spcPct val="100000"/>
              </a:lnSpc>
              <a:buNone/>
            </a:pPr>
            <a:r>
              <a:rPr lang="ko-KR" altLang="en-US" sz="1800" b="0" dirty="0">
                <a:solidFill>
                  <a:srgbClr val="151515"/>
                </a:solidFill>
                <a:latin typeface="Consolas"/>
                <a:ea typeface="Consolas"/>
                <a:cs typeface="Consolas"/>
              </a:rPr>
              <a:t>        if (scanf("%d", &amp;coins[i]) != 1) return 1;</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동전 내주기 ② 큰 단위부터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186</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coin_change.c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 핵심 전략: 큰 단위부터 확인하도록 뒤에서부터 본다 */</a:t>
            </a:r>
          </a:p>
          <a:p>
            <a:pPr algn="l" eaLnBrk="0" latinLnBrk="0">
              <a:lnSpc>
                <a:spcPct val="100000"/>
              </a:lnSpc>
              <a:buNone/>
            </a:pPr>
            <a:r>
              <a:rPr lang="ko-KR" altLang="en-US" sz="1800" b="0" dirty="0">
                <a:solidFill>
                  <a:srgbClr val="151515"/>
                </a:solidFill>
                <a:latin typeface="Consolas"/>
                <a:ea typeface="Consolas"/>
                <a:cs typeface="Consolas"/>
              </a:rPr>
              <a:t>    int count = 0;</a:t>
            </a:r>
          </a:p>
          <a:p>
            <a:pPr algn="l" eaLnBrk="0" latinLnBrk="0">
              <a:lnSpc>
                <a:spcPct val="100000"/>
              </a:lnSpc>
              <a:buNone/>
            </a:pPr>
            <a:r>
              <a:rPr lang="ko-KR" altLang="en-US" sz="1800" b="0" dirty="0">
                <a:solidFill>
                  <a:srgbClr val="151515"/>
                </a:solidFill>
                <a:latin typeface="Consolas"/>
                <a:ea typeface="Consolas"/>
                <a:cs typeface="Consolas"/>
              </a:rPr>
              <a:t>    for (int i = N - 1; i &gt;= 0; i--) {</a:t>
            </a:r>
          </a:p>
          <a:p>
            <a:pPr algn="l" eaLnBrk="0" latinLnBrk="0">
              <a:lnSpc>
                <a:spcPct val="100000"/>
              </a:lnSpc>
              <a:buNone/>
            </a:pPr>
            <a:r>
              <a:rPr lang="ko-KR" altLang="en-US" sz="1800" b="0" dirty="0">
                <a:solidFill>
                  <a:srgbClr val="151515"/>
                </a:solidFill>
                <a:latin typeface="Consolas"/>
                <a:ea typeface="Consolas"/>
                <a:cs typeface="Consolas"/>
              </a:rPr>
              <a:t>        if (K &gt;= coins[i]) {</a:t>
            </a:r>
          </a:p>
          <a:p>
            <a:pPr algn="l" eaLnBrk="0" latinLnBrk="0">
              <a:lnSpc>
                <a:spcPct val="100000"/>
              </a:lnSpc>
              <a:buNone/>
            </a:pPr>
            <a:r>
              <a:rPr lang="ko-KR" altLang="en-US" sz="1800" b="0" dirty="0">
                <a:solidFill>
                  <a:srgbClr val="151515"/>
                </a:solidFill>
                <a:latin typeface="Consolas"/>
                <a:ea typeface="Consolas"/>
                <a:cs typeface="Consolas"/>
              </a:rPr>
              <a:t>            count += K / coins[i];  /* 한 번에 몇 개 쓸 수 있는가 */</a:t>
            </a:r>
          </a:p>
          <a:p>
            <a:pPr algn="l" eaLnBrk="0" latinLnBrk="0">
              <a:lnSpc>
                <a:spcPct val="100000"/>
              </a:lnSpc>
              <a:buNone/>
            </a:pPr>
            <a:r>
              <a:rPr lang="ko-KR" altLang="en-US" sz="1800" b="0" dirty="0">
                <a:solidFill>
                  <a:srgbClr val="151515"/>
                </a:solidFill>
                <a:latin typeface="Consolas"/>
                <a:ea typeface="Consolas"/>
                <a:cs typeface="Consolas"/>
              </a:rPr>
              <a:t>            K %= coins[i];          /* 남은 금액 갱신 */</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r>
              <a:rPr lang="ko-KR" altLang="en-US" sz="1800" b="0" dirty="0">
                <a:solidFill>
                  <a:srgbClr val="151515"/>
                </a:solidFill>
                <a:latin typeface="Consolas"/>
                <a:ea typeface="Consolas"/>
                <a:cs typeface="Consolas"/>
              </a:rPr>
              <a:t>        if (K == 0)                 /* 다 거슬러 줬으면 종료 */</a:t>
            </a:r>
          </a:p>
          <a:p>
            <a:pPr algn="l" eaLnBrk="0" latinLnBrk="0">
              <a:lnSpc>
                <a:spcPct val="100000"/>
              </a:lnSpc>
              <a:buNone/>
            </a:pPr>
            <a:r>
              <a:rPr lang="ko-KR" altLang="en-US" sz="1800" b="0" dirty="0">
                <a:solidFill>
                  <a:srgbClr val="151515"/>
                </a:solidFill>
                <a:latin typeface="Consolas"/>
                <a:ea typeface="Consolas"/>
                <a:cs typeface="Consolas"/>
              </a:rPr>
              <a:t>            break;</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printf("%d\n", count);</a:t>
            </a:r>
          </a:p>
          <a:p>
            <a:pPr algn="l" eaLnBrk="0" latinLnBrk="0">
              <a:lnSpc>
                <a:spcPct val="100000"/>
              </a:lnSpc>
              <a:buNone/>
            </a:pPr>
            <a:r>
              <a:rPr lang="ko-KR" altLang="en-US" sz="1800" b="0" dirty="0">
                <a:solidFill>
                  <a:srgbClr val="151515"/>
                </a:solidFill>
                <a:latin typeface="Consolas"/>
                <a:ea typeface="Consolas"/>
                <a:cs typeface="Consolas"/>
              </a:rPr>
              <a:t>    return 0;</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CT 5.1 실행 결과: 4,200원 → 6개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187</a:t>
            </a:r>
          </a:p>
        </p:txBody>
      </p:sp>
      <p:sp>
        <p:nvSpPr>
          <p:cNvPr id="9" name="직사각형 10"/>
          <p:cNvSpPr/>
          <p:nvPr/>
        </p:nvSpPr>
        <p:spPr>
          <a:xfrm>
            <a:off x="658368" y="1737360"/>
            <a:ext cx="329184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입력 coin_change.in</a:t>
            </a:r>
          </a:p>
        </p:txBody>
      </p:sp>
      <p:sp>
        <p:nvSpPr>
          <p:cNvPr id="10" name="직사각형 11"/>
          <p:cNvSpPr/>
          <p:nvPr/>
        </p:nvSpPr>
        <p:spPr>
          <a:xfrm>
            <a:off x="658368" y="1956816"/>
            <a:ext cx="3291840" cy="2569464"/>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10 4200</a:t>
            </a:r>
          </a:p>
          <a:p>
            <a:pPr algn="l" eaLnBrk="0" latinLnBrk="0">
              <a:lnSpc>
                <a:spcPct val="100000"/>
              </a:lnSpc>
              <a:buNone/>
            </a:pPr>
            <a:r>
              <a:rPr lang="ko-KR" altLang="en-US" sz="1400" b="0" dirty="0">
                <a:solidFill>
                  <a:srgbClr val="151515"/>
                </a:solidFill>
                <a:latin typeface="Consolas"/>
                <a:ea typeface="Consolas"/>
                <a:cs typeface="Consolas"/>
              </a:rPr>
              <a:t>1</a:t>
            </a:r>
          </a:p>
          <a:p>
            <a:pPr algn="l" eaLnBrk="0" latinLnBrk="0">
              <a:lnSpc>
                <a:spcPct val="100000"/>
              </a:lnSpc>
              <a:buNone/>
            </a:pPr>
            <a:r>
              <a:rPr lang="ko-KR" altLang="en-US" sz="1400" b="0" dirty="0">
                <a:solidFill>
                  <a:srgbClr val="151515"/>
                </a:solidFill>
                <a:latin typeface="Consolas"/>
                <a:ea typeface="Consolas"/>
                <a:cs typeface="Consolas"/>
              </a:rPr>
              <a:t>5</a:t>
            </a:r>
          </a:p>
          <a:p>
            <a:pPr algn="l" eaLnBrk="0" latinLnBrk="0">
              <a:lnSpc>
                <a:spcPct val="100000"/>
              </a:lnSpc>
              <a:buNone/>
            </a:pPr>
            <a:r>
              <a:rPr lang="ko-KR" altLang="en-US" sz="1400" b="0" dirty="0">
                <a:solidFill>
                  <a:srgbClr val="151515"/>
                </a:solidFill>
                <a:latin typeface="Consolas"/>
                <a:ea typeface="Consolas"/>
                <a:cs typeface="Consolas"/>
              </a:rPr>
              <a:t>10</a:t>
            </a:r>
          </a:p>
          <a:p>
            <a:pPr algn="l" eaLnBrk="0" latinLnBrk="0">
              <a:lnSpc>
                <a:spcPct val="100000"/>
              </a:lnSpc>
              <a:buNone/>
            </a:pPr>
            <a:r>
              <a:rPr lang="ko-KR" altLang="en-US" sz="1400" b="0" dirty="0">
                <a:solidFill>
                  <a:srgbClr val="151515"/>
                </a:solidFill>
                <a:latin typeface="Consolas"/>
                <a:ea typeface="Consolas"/>
                <a:cs typeface="Consolas"/>
              </a:rPr>
              <a:t>50</a:t>
            </a:r>
          </a:p>
          <a:p>
            <a:pPr algn="l" eaLnBrk="0" latinLnBrk="0">
              <a:lnSpc>
                <a:spcPct val="100000"/>
              </a:lnSpc>
              <a:buNone/>
            </a:pPr>
            <a:r>
              <a:rPr lang="ko-KR" altLang="en-US" sz="1400" b="0" dirty="0">
                <a:solidFill>
                  <a:srgbClr val="151515"/>
                </a:solidFill>
                <a:latin typeface="Consolas"/>
                <a:ea typeface="Consolas"/>
                <a:cs typeface="Consolas"/>
              </a:rPr>
              <a:t>100</a:t>
            </a:r>
          </a:p>
          <a:p>
            <a:pPr algn="l" eaLnBrk="0" latinLnBrk="0">
              <a:lnSpc>
                <a:spcPct val="100000"/>
              </a:lnSpc>
              <a:buNone/>
            </a:pPr>
            <a:r>
              <a:rPr lang="ko-KR" altLang="en-US" sz="1400" b="0" dirty="0">
                <a:solidFill>
                  <a:srgbClr val="151515"/>
                </a:solidFill>
                <a:latin typeface="Consolas"/>
                <a:ea typeface="Consolas"/>
                <a:cs typeface="Consolas"/>
              </a:rPr>
              <a:t>500</a:t>
            </a:r>
          </a:p>
          <a:p>
            <a:pPr algn="l" eaLnBrk="0" latinLnBrk="0">
              <a:lnSpc>
                <a:spcPct val="100000"/>
              </a:lnSpc>
              <a:buNone/>
            </a:pPr>
            <a:r>
              <a:rPr lang="ko-KR" altLang="en-US" sz="1400" b="0" dirty="0">
                <a:solidFill>
                  <a:srgbClr val="151515"/>
                </a:solidFill>
                <a:latin typeface="Consolas"/>
                <a:ea typeface="Consolas"/>
                <a:cs typeface="Consolas"/>
              </a:rPr>
              <a:t>1000</a:t>
            </a:r>
          </a:p>
          <a:p>
            <a:pPr algn="l" eaLnBrk="0" latinLnBrk="0">
              <a:lnSpc>
                <a:spcPct val="100000"/>
              </a:lnSpc>
              <a:buNone/>
            </a:pPr>
            <a:r>
              <a:rPr lang="ko-KR" altLang="en-US" sz="1400" b="0" dirty="0">
                <a:solidFill>
                  <a:srgbClr val="151515"/>
                </a:solidFill>
                <a:latin typeface="Consolas"/>
                <a:ea typeface="Consolas"/>
                <a:cs typeface="Consolas"/>
              </a:rPr>
              <a:t>5000</a:t>
            </a:r>
          </a:p>
          <a:p>
            <a:pPr algn="l" eaLnBrk="0" latinLnBrk="0">
              <a:lnSpc>
                <a:spcPct val="100000"/>
              </a:lnSpc>
              <a:buNone/>
            </a:pPr>
            <a:r>
              <a:rPr lang="ko-KR" altLang="en-US" sz="1400" b="0" dirty="0">
                <a:solidFill>
                  <a:srgbClr val="151515"/>
                </a:solidFill>
                <a:latin typeface="Consolas"/>
                <a:ea typeface="Consolas"/>
                <a:cs typeface="Consolas"/>
              </a:rPr>
              <a:t>10000</a:t>
            </a:r>
          </a:p>
          <a:p>
            <a:pPr algn="l" eaLnBrk="0" latinLnBrk="0">
              <a:lnSpc>
                <a:spcPct val="100000"/>
              </a:lnSpc>
              <a:buNone/>
            </a:pPr>
            <a:r>
              <a:rPr lang="ko-KR" altLang="en-US" sz="1400" b="0" dirty="0">
                <a:solidFill>
                  <a:srgbClr val="151515"/>
                </a:solidFill>
                <a:latin typeface="Consolas"/>
                <a:ea typeface="Consolas"/>
                <a:cs typeface="Consolas"/>
              </a:rPr>
              <a:t>50000</a:t>
            </a:r>
          </a:p>
        </p:txBody>
      </p:sp>
      <p:sp>
        <p:nvSpPr>
          <p:cNvPr id="11" name="직사각형 12"/>
          <p:cNvSpPr/>
          <p:nvPr/>
        </p:nvSpPr>
        <p:spPr>
          <a:xfrm>
            <a:off x="4297680" y="1737360"/>
            <a:ext cx="7287768"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2" name="직사각형 13"/>
          <p:cNvSpPr/>
          <p:nvPr/>
        </p:nvSpPr>
        <p:spPr>
          <a:xfrm>
            <a:off x="4297680" y="1956816"/>
            <a:ext cx="7287768" cy="438912"/>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6</a:t>
            </a:r>
          </a:p>
        </p:txBody>
      </p:sp>
      <p:graphicFrame>
        <p:nvGraphicFramePr>
          <p:cNvPr id="13" name="표 14"/>
          <p:cNvGraphicFramePr>
            <a:graphicFrameLocks noGrp="1"/>
          </p:cNvGraphicFramePr>
          <p:nvPr/>
        </p:nvGraphicFramePr>
        <p:xfrm>
          <a:off x="4297680" y="2523744"/>
          <a:ext cx="7287768" cy="1645920"/>
        </p:xfrm>
        <a:graphic>
          <a:graphicData uri="http://schemas.openxmlformats.org/drawingml/2006/table">
            <a:tbl>
              <a:tblPr/>
              <a:tblGrid>
                <a:gridCol w="3206618"/>
                <a:gridCol w="1894820"/>
                <a:gridCol w="2186330"/>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동전(큰 것부터)</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몫 = 개수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남은 금액</a:t>
                      </a:r>
                    </a:p>
                  </a:txBody>
                  <a:tcPr marL="54864" marR="54864" marT="18288" marB="18288" anchor="ctr">
                    <a:solidFill>
                      <a:srgbClr val="151515"/>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50,000 · 10,000 · 5,000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4,200</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1,000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200</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500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200</a:t>
                      </a:r>
                    </a:p>
                  </a:txBody>
                  <a:tcPr marL="54864" marR="54864" marT="18288" marB="18288" anchor="ctr">
                    <a:solidFill>
                      <a:srgbClr val="FFFFFF"/>
                    </a:solidFill>
                  </a:tcPr>
                </a:tc>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 → 반복 끝</a:t>
                      </a:r>
                    </a:p>
                  </a:txBody>
                  <a:tcPr marL="54864" marR="54864" marT="18288" marB="18288" anchor="ctr">
                    <a:solidFill>
                      <a:srgbClr val="FFFFFF"/>
                    </a:solidFill>
                  </a:tcPr>
                </a:tc>
              </a:tr>
            </a:tbl>
          </a:graphicData>
        </a:graphic>
      </p:graphicFrame>
      <p:sp>
        <p:nvSpPr>
          <p:cNvPr id="14" name="fit:dc922c0b80500784 15"/>
          <p:cNvSpPr/>
          <p:nvPr/>
        </p:nvSpPr>
        <p:spPr>
          <a:xfrm>
            <a:off x="4297680" y="4315968"/>
            <a:ext cx="7287768"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00" b="0" dirty="0">
                <a:solidFill>
                  <a:srgbClr val="171717"/>
                </a:solidFill>
                <a:latin typeface="Malgun Gothic"/>
                <a:ea typeface="Malgun Gothic"/>
                <a:cs typeface="Malgun Gothic"/>
              </a:rPr>
              <a:t>1,000원 4개 + 100원 2개 = 6개</a:t>
            </a:r>
          </a:p>
        </p:txBody>
      </p:sp>
      <p:sp>
        <p:nvSpPr>
          <p:cNvPr id="15" name="fit:79bcb7979f10ae29 16"/>
          <p:cNvSpPr/>
          <p:nvPr/>
        </p:nvSpPr>
        <p:spPr>
          <a:xfrm>
            <a:off x="4297680" y="4782312"/>
            <a:ext cx="7287768"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시간 복잡도 O(N): 뒤집기 O(N) + 동전마다 한 번씩. 금액 K가 커져도 반복은 늘지 않습니다.</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CT 5.2 ATM 줄 세우기 · 문제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188</a:t>
            </a:r>
          </a:p>
        </p:txBody>
      </p:sp>
      <p:sp>
        <p:nvSpPr>
          <p:cNvPr id="9" name="fit:7c42d4119967310b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ATM 한 대 앞에 N명이 줄을 섭니다. i번 사람이 돈을 뽑는 데 P[i]분이 걸립니다. 줄 서는 순서를 정해 </a:t>
            </a:r>
            <a:r>
              <a:rPr lang="ko-KR" altLang="en-US" sz="2025" b="1" dirty="0">
                <a:solidFill>
                  <a:srgbClr val="171717"/>
                </a:solidFill>
                <a:latin typeface="Malgun Gothic"/>
                <a:ea typeface="Malgun Gothic"/>
                <a:cs typeface="Malgun Gothic"/>
              </a:rPr>
              <a:t>각 사람이 기다린 시간 + 인출 시간의 합</a:t>
            </a:r>
            <a:r>
              <a:rPr lang="ko-KR" altLang="en-US" sz="2025" b="0" dirty="0">
                <a:solidFill>
                  <a:srgbClr val="171717"/>
                </a:solidFill>
                <a:latin typeface="Malgun Gothic"/>
                <a:ea typeface="Malgun Gothic"/>
                <a:cs typeface="Malgun Gothic"/>
              </a:rPr>
              <a:t>을 최소로 만드세요.</a:t>
            </a:r>
          </a:p>
        </p:txBody>
      </p:sp>
      <p:sp>
        <p:nvSpPr>
          <p:cNvPr id="10" name="fit:a98ad41a63842d0c 11"/>
          <p:cNvSpPr/>
          <p:nvPr/>
        </p:nvSpPr>
        <p:spPr>
          <a:xfrm>
            <a:off x="612648" y="24323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입력</a:t>
            </a:r>
          </a:p>
        </p:txBody>
      </p:sp>
      <p:sp>
        <p:nvSpPr>
          <p:cNvPr id="11" name="fit:1f0db353e05f6dfe 12"/>
          <p:cNvSpPr/>
          <p:nvPr/>
        </p:nvSpPr>
        <p:spPr>
          <a:xfrm>
            <a:off x="795528" y="27614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첫 줄에 N, 둘째 줄에 P[1] … P[N]</a:t>
            </a:r>
          </a:p>
        </p:txBody>
      </p:sp>
      <p:sp>
        <p:nvSpPr>
          <p:cNvPr id="12" name="fit:0f210436edb6e05d 13"/>
          <p:cNvSpPr/>
          <p:nvPr/>
        </p:nvSpPr>
        <p:spPr>
          <a:xfrm>
            <a:off x="612648" y="314553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출력</a:t>
            </a:r>
          </a:p>
        </p:txBody>
      </p:sp>
      <p:sp>
        <p:nvSpPr>
          <p:cNvPr id="13" name="fit:3e9de101c2b76e48 14"/>
          <p:cNvSpPr/>
          <p:nvPr/>
        </p:nvSpPr>
        <p:spPr>
          <a:xfrm>
            <a:off x="795528" y="347472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모든 사람의 (기다린 시간 + 인출 시간)을 더한 값의 최솟값</a:t>
            </a:r>
          </a:p>
        </p:txBody>
      </p:sp>
      <p:sp>
        <p:nvSpPr>
          <p:cNvPr id="14" name="fit:5b2ec1f04f7af1d8 15"/>
          <p:cNvSpPr/>
          <p:nvPr/>
        </p:nvSpPr>
        <p:spPr>
          <a:xfrm>
            <a:off x="612648" y="3858768"/>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한 사람의 기다린 시간 + 인출 시간 = 그 사람이 일을 마치는 시각</a:t>
            </a:r>
          </a:p>
        </p:txBody>
      </p:sp>
      <p:sp>
        <p:nvSpPr>
          <p:cNvPr id="15" name="fit:f535920236e5297a 16"/>
          <p:cNvSpPr/>
          <p:nvPr/>
        </p:nvSpPr>
        <p:spPr>
          <a:xfrm>
            <a:off x="612648" y="4370832"/>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예: 5명, P = [3, 1, 4, 3, 2] → 답 32</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정렬하면 39 → 32</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189</a:t>
            </a:r>
          </a:p>
        </p:txBody>
      </p:sp>
      <p:sp>
        <p:nvSpPr>
          <p:cNvPr id="9" name="fit:dd9cd651fd84aa32 10"/>
          <p:cNvSpPr/>
          <p:nvPr/>
        </p:nvSpPr>
        <p:spPr>
          <a:xfrm>
            <a:off x="612648" y="1636776"/>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입력 순서 그대로면 마치는 시각의 합이 39, 인출 시간 오름차순으로 세우면 32입니다.</a:t>
            </a:r>
          </a:p>
        </p:txBody>
      </p:sp>
      <p:sp>
        <p:nvSpPr>
          <p:cNvPr id="10" name="직사각형 11"/>
          <p:cNvSpPr/>
          <p:nvPr/>
        </p:nvSpPr>
        <p:spPr>
          <a:xfrm>
            <a:off x="1645920" y="2816352"/>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인출 시간</a:t>
            </a:r>
          </a:p>
        </p:txBody>
      </p:sp>
      <p:graphicFrame>
        <p:nvGraphicFramePr>
          <p:cNvPr id="11" name="표 12"/>
          <p:cNvGraphicFramePr>
            <a:graphicFrameLocks noGrp="1"/>
          </p:cNvGraphicFramePr>
          <p:nvPr/>
        </p:nvGraphicFramePr>
        <p:xfrm>
          <a:off x="3017520" y="2706624"/>
          <a:ext cx="3657600" cy="493776"/>
        </p:xfrm>
        <a:graphic>
          <a:graphicData uri="http://schemas.openxmlformats.org/drawingml/2006/table">
            <a:tbl>
              <a:tblPr/>
              <a:tblGrid>
                <a:gridCol w="731520"/>
                <a:gridCol w="731520"/>
                <a:gridCol w="731520"/>
                <a:gridCol w="731520"/>
                <a:gridCol w="73152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FFFFFF"/>
                    </a:solidFill>
                  </a:tcPr>
                </a:tc>
              </a:tr>
            </a:tbl>
          </a:graphicData>
        </a:graphic>
      </p:graphicFrame>
      <p:sp>
        <p:nvSpPr>
          <p:cNvPr id="12" name="직사각형 13"/>
          <p:cNvSpPr/>
          <p:nvPr/>
        </p:nvSpPr>
        <p:spPr>
          <a:xfrm>
            <a:off x="1645920" y="3419856"/>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마치는 시각</a:t>
            </a:r>
          </a:p>
        </p:txBody>
      </p:sp>
      <p:graphicFrame>
        <p:nvGraphicFramePr>
          <p:cNvPr id="13" name="표 14"/>
          <p:cNvGraphicFramePr>
            <a:graphicFrameLocks noGrp="1"/>
          </p:cNvGraphicFramePr>
          <p:nvPr/>
        </p:nvGraphicFramePr>
        <p:xfrm>
          <a:off x="3017520" y="3310128"/>
          <a:ext cx="3657600" cy="493776"/>
        </p:xfrm>
        <a:graphic>
          <a:graphicData uri="http://schemas.openxmlformats.org/drawingml/2006/table">
            <a:tbl>
              <a:tblPr/>
              <a:tblGrid>
                <a:gridCol w="731520"/>
                <a:gridCol w="731520"/>
                <a:gridCol w="731520"/>
                <a:gridCol w="731520"/>
                <a:gridCol w="73152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2F2F2"/>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F2F2F2"/>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8</a:t>
                      </a:r>
                    </a:p>
                  </a:txBody>
                  <a:tcPr marL="54864" marR="54864" marT="18288" marB="18288" anchor="ctr">
                    <a:solidFill>
                      <a:srgbClr val="F2F2F2"/>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11</a:t>
                      </a:r>
                    </a:p>
                  </a:txBody>
                  <a:tcPr marL="54864" marR="54864" marT="18288" marB="18288" anchor="ctr">
                    <a:solidFill>
                      <a:srgbClr val="F2F2F2"/>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13</a:t>
                      </a:r>
                    </a:p>
                  </a:txBody>
                  <a:tcPr marL="54864" marR="54864" marT="18288" marB="18288" anchor="ctr">
                    <a:solidFill>
                      <a:srgbClr val="F2F2F2"/>
                    </a:solidFill>
                  </a:tcPr>
                </a:tc>
              </a:tr>
            </a:tbl>
          </a:graphicData>
        </a:graphic>
      </p:graphicFrame>
      <p:sp>
        <p:nvSpPr>
          <p:cNvPr id="14" name="직사각형 15"/>
          <p:cNvSpPr/>
          <p:nvPr/>
        </p:nvSpPr>
        <p:spPr>
          <a:xfrm>
            <a:off x="1645920" y="4517136"/>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인출 시간</a:t>
            </a:r>
          </a:p>
        </p:txBody>
      </p:sp>
      <p:graphicFrame>
        <p:nvGraphicFramePr>
          <p:cNvPr id="15" name="표 16"/>
          <p:cNvGraphicFramePr>
            <a:graphicFrameLocks noGrp="1"/>
          </p:cNvGraphicFramePr>
          <p:nvPr/>
        </p:nvGraphicFramePr>
        <p:xfrm>
          <a:off x="3017520" y="4407408"/>
          <a:ext cx="3657600" cy="493776"/>
        </p:xfrm>
        <a:graphic>
          <a:graphicData uri="http://schemas.openxmlformats.org/drawingml/2006/table">
            <a:tbl>
              <a:tblPr/>
              <a:tblGrid>
                <a:gridCol w="731520"/>
                <a:gridCol w="731520"/>
                <a:gridCol w="731520"/>
                <a:gridCol w="731520"/>
                <a:gridCol w="73152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DCECFB"/>
                    </a:solidFill>
                  </a:tcPr>
                </a:tc>
              </a:tr>
            </a:tbl>
          </a:graphicData>
        </a:graphic>
      </p:graphicFrame>
      <p:sp>
        <p:nvSpPr>
          <p:cNvPr id="16" name="직사각형 17"/>
          <p:cNvSpPr/>
          <p:nvPr/>
        </p:nvSpPr>
        <p:spPr>
          <a:xfrm>
            <a:off x="1645920" y="5120640"/>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마치는 시각</a:t>
            </a:r>
          </a:p>
        </p:txBody>
      </p:sp>
      <p:graphicFrame>
        <p:nvGraphicFramePr>
          <p:cNvPr id="17" name="표 18"/>
          <p:cNvGraphicFramePr>
            <a:graphicFrameLocks noGrp="1"/>
          </p:cNvGraphicFramePr>
          <p:nvPr/>
        </p:nvGraphicFramePr>
        <p:xfrm>
          <a:off x="3017520" y="5010912"/>
          <a:ext cx="3657600" cy="493776"/>
        </p:xfrm>
        <a:graphic>
          <a:graphicData uri="http://schemas.openxmlformats.org/drawingml/2006/table">
            <a:tbl>
              <a:tblPr/>
              <a:tblGrid>
                <a:gridCol w="731520"/>
                <a:gridCol w="731520"/>
                <a:gridCol w="731520"/>
                <a:gridCol w="731520"/>
                <a:gridCol w="731520"/>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6</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9</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13</a:t>
                      </a:r>
                    </a:p>
                  </a:txBody>
                  <a:tcPr marL="54864" marR="54864" marT="18288" marB="18288" anchor="ctr">
                    <a:solidFill>
                      <a:srgbClr val="DDF1E4"/>
                    </a:solidFill>
                  </a:tcPr>
                </a:tc>
              </a:tr>
            </a:tbl>
          </a:graphicData>
        </a:graphic>
      </p:graphicFrame>
      <p:sp>
        <p:nvSpPr>
          <p:cNvPr id="18" name="직사각형 19"/>
          <p:cNvSpPr/>
          <p:nvPr/>
        </p:nvSpPr>
        <p:spPr>
          <a:xfrm>
            <a:off x="7132320" y="3310128"/>
            <a:ext cx="4023360" cy="493776"/>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800" b="1" dirty="0">
                <a:solidFill>
                  <a:srgbClr val="B23B3B"/>
                </a:solidFill>
                <a:latin typeface="Malgun Gothic"/>
                <a:ea typeface="Malgun Gothic"/>
                <a:cs typeface="Malgun Gothic"/>
              </a:rPr>
              <a:t>3 + 4 + 8 + 11 + 13 = 39</a:t>
            </a:r>
          </a:p>
        </p:txBody>
      </p:sp>
      <p:sp>
        <p:nvSpPr>
          <p:cNvPr id="19" name="직사각형 20"/>
          <p:cNvSpPr/>
          <p:nvPr/>
        </p:nvSpPr>
        <p:spPr>
          <a:xfrm>
            <a:off x="7132320" y="5010912"/>
            <a:ext cx="4023360" cy="493776"/>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256B50"/>
                </a:solidFill>
                <a:latin typeface="Malgun Gothic"/>
                <a:ea typeface="Malgun Gothic"/>
                <a:cs typeface="Malgun Gothic"/>
              </a:rPr>
              <a:t>1 + 3 + 6 + 9 + 13 = 32</a:t>
            </a:r>
          </a:p>
        </p:txBody>
      </p:sp>
      <p:sp>
        <p:nvSpPr>
          <p:cNvPr id="20" name="직사각형 21"/>
          <p:cNvSpPr/>
          <p:nvPr/>
        </p:nvSpPr>
        <p:spPr>
          <a:xfrm>
            <a:off x="1371600" y="2395728"/>
            <a:ext cx="54864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입력 순서 그대로</a:t>
            </a:r>
          </a:p>
        </p:txBody>
      </p:sp>
      <p:sp>
        <p:nvSpPr>
          <p:cNvPr id="21" name="직사각형 22"/>
          <p:cNvSpPr/>
          <p:nvPr/>
        </p:nvSpPr>
        <p:spPr>
          <a:xfrm>
            <a:off x="1371600" y="4096512"/>
            <a:ext cx="54864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0E8A7D"/>
                </a:solidFill>
                <a:latin typeface="Malgun Gothic"/>
                <a:ea typeface="Malgun Gothic"/>
                <a:cs typeface="Malgun Gothic"/>
              </a:rPr>
              <a:t>인출 시간 오름차순으로 정렬</a:t>
            </a:r>
          </a:p>
        </p:txBody>
      </p:sp>
      <p:sp>
        <p:nvSpPr>
          <p:cNvPr id="22" name="직사각형 2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마치는 시각 = 앞사람의 마치는 시각 + 자기 인출 시간 (누적합)</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오름차순인가: 이웃한 두 사람 바꾸기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190</a:t>
            </a:r>
          </a:p>
        </p:txBody>
      </p:sp>
      <p:sp>
        <p:nvSpPr>
          <p:cNvPr id="9" name="fit:186887a2a316073f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긴 사람 a가 짧은 사람 b 바로 앞에 있으면, 둘을 바꿔 합을 a − b만큼 줄일 수 있습니다.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872786f5da506d03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일반적으로 a &gt; b이면</a:t>
            </a:r>
          </a:p>
        </p:txBody>
      </p:sp>
      <p:sp>
        <p:nvSpPr>
          <p:cNvPr id="12" name="직사각형 13"/>
          <p:cNvSpPr/>
          <p:nvPr/>
        </p:nvSpPr>
        <p:spPr>
          <a:xfrm>
            <a:off x="7909560" y="3328416"/>
            <a:ext cx="3666744"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바로 이웃한 a, b를 바꾸면</a:t>
            </a:r>
          </a:p>
        </p:txBody>
      </p:sp>
      <p:sp>
        <p:nvSpPr>
          <p:cNvPr id="13" name="직사각형 14"/>
          <p:cNvSpPr/>
          <p:nvPr/>
        </p:nvSpPr>
        <p:spPr>
          <a:xfrm>
            <a:off x="7909560" y="3547872"/>
            <a:ext cx="3666744" cy="90525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500" b="0" dirty="0">
                <a:solidFill>
                  <a:srgbClr val="FFFFFF"/>
                </a:solidFill>
                <a:latin typeface="Consolas"/>
                <a:ea typeface="Consolas"/>
                <a:cs typeface="Consolas"/>
              </a:rPr>
              <a:t>바꾸기 전: (T+a) + (T+a+b)</a:t>
            </a:r>
          </a:p>
          <a:p>
            <a:pPr algn="l" eaLnBrk="0" latinLnBrk="0">
              <a:lnSpc>
                <a:spcPct val="100000"/>
              </a:lnSpc>
              <a:buNone/>
            </a:pPr>
            <a:r>
              <a:rPr lang="ko-KR" altLang="en-US" sz="1500" b="0" dirty="0">
                <a:solidFill>
                  <a:srgbClr val="FFFFFF"/>
                </a:solidFill>
                <a:latin typeface="Consolas"/>
                <a:ea typeface="Consolas"/>
                <a:cs typeface="Consolas"/>
              </a:rPr>
              <a:t>바꾼 뒤:   (T+b) + (T+b+a)</a:t>
            </a:r>
          </a:p>
          <a:p>
            <a:pPr algn="l" eaLnBrk="0" latinLnBrk="0">
              <a:lnSpc>
                <a:spcPct val="100000"/>
              </a:lnSpc>
              <a:buNone/>
            </a:pPr>
            <a:r>
              <a:rPr lang="ko-KR" altLang="en-US" sz="1500" b="0" dirty="0">
                <a:solidFill>
                  <a:srgbClr val="FFFFFF"/>
                </a:solidFill>
                <a:latin typeface="Consolas"/>
                <a:ea typeface="Consolas"/>
                <a:cs typeface="Consolas"/>
              </a:rPr>
              <a:t>차이 = a − b &gt; 0</a:t>
            </a:r>
          </a:p>
        </p:txBody>
      </p:sp>
      <p:sp>
        <p:nvSpPr>
          <p:cNvPr id="14" name="fit:2cc8164fbbb6a300 15"/>
          <p:cNvSpPr/>
          <p:nvPr/>
        </p:nvSpPr>
        <p:spPr>
          <a:xfrm>
            <a:off x="7909560" y="4581144"/>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두 사람의 앞과 뒤에 선 사람들이 마치는 시각은 그대로입니다.</a:t>
            </a:r>
          </a:p>
        </p:txBody>
      </p:sp>
      <p:sp>
        <p:nvSpPr>
          <p:cNvPr id="15" name="fit:d8873cb4d7ad2ad7 16"/>
          <p:cNvSpPr/>
          <p:nvPr/>
        </p:nvSpPr>
        <p:spPr>
          <a:xfrm>
            <a:off x="7909560" y="5230368"/>
            <a:ext cx="3666744" cy="58521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긴 사람이 짧은 사람 바로 앞에 선 곳이 없는 순서 = 오름차순</a:t>
            </a:r>
          </a:p>
        </p:txBody>
      </p:sp>
      <p:sp>
        <p:nvSpPr>
          <p:cNvPr id="16" name="직사각형 17"/>
          <p:cNvSpPr/>
          <p:nvPr/>
        </p:nvSpPr>
        <p:spPr>
          <a:xfrm>
            <a:off x="1280160" y="3054096"/>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바꾸기 전</a:t>
            </a:r>
          </a:p>
        </p:txBody>
      </p:sp>
      <p:graphicFrame>
        <p:nvGraphicFramePr>
          <p:cNvPr id="17" name="표 18"/>
          <p:cNvGraphicFramePr>
            <a:graphicFrameLocks noGrp="1"/>
          </p:cNvGraphicFramePr>
          <p:nvPr/>
        </p:nvGraphicFramePr>
        <p:xfrm>
          <a:off x="2651760" y="2944368"/>
          <a:ext cx="2743200" cy="493776"/>
        </p:xfrm>
        <a:graphic>
          <a:graphicData uri="http://schemas.openxmlformats.org/drawingml/2006/table">
            <a:tbl>
              <a:tblPr/>
              <a:tblGrid>
                <a:gridCol w="1371600"/>
                <a:gridCol w="1371600"/>
              </a:tblGrid>
              <a:tr h="493776">
                <a:tc>
                  <a:txBody>
                    <a:bodyPr/>
                    <a:lstStyle/>
                    <a:p>
                      <a:pPr algn="ctr" eaLnBrk="0" latinLnBrk="0">
                        <a:lnSpc>
                          <a:spcPct val="100000"/>
                        </a:lnSpc>
                        <a:buNone/>
                      </a:pPr>
                      <a:r>
                        <a:rPr lang="ko-KR" altLang="en-US" sz="1800" b="1" dirty="0">
                          <a:solidFill>
                            <a:srgbClr val="151515"/>
                          </a:solidFill>
                          <a:latin typeface="Consolas"/>
                          <a:ea typeface="Consolas"/>
                          <a:cs typeface="Consolas"/>
                        </a:rPr>
                        <a:t>a = 3</a:t>
                      </a:r>
                    </a:p>
                  </a:txBody>
                  <a:tcPr marL="54864" marR="54864" marT="18288" marB="18288" anchor="ctr">
                    <a:solidFill>
                      <a:srgbClr val="FFFFFF"/>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b = 1</a:t>
                      </a:r>
                    </a:p>
                  </a:txBody>
                  <a:tcPr marL="54864" marR="54864" marT="18288" marB="18288" anchor="ctr">
                    <a:solidFill>
                      <a:srgbClr val="FFFFFF"/>
                    </a:solidFill>
                  </a:tcPr>
                </a:tc>
              </a:tr>
            </a:tbl>
          </a:graphicData>
        </a:graphic>
      </p:graphicFrame>
      <p:sp>
        <p:nvSpPr>
          <p:cNvPr id="18" name="직사각형 19"/>
          <p:cNvSpPr/>
          <p:nvPr/>
        </p:nvSpPr>
        <p:spPr>
          <a:xfrm>
            <a:off x="1280160" y="3639312"/>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마치는 시각</a:t>
            </a:r>
          </a:p>
        </p:txBody>
      </p:sp>
      <p:graphicFrame>
        <p:nvGraphicFramePr>
          <p:cNvPr id="19" name="표 20"/>
          <p:cNvGraphicFramePr>
            <a:graphicFrameLocks noGrp="1"/>
          </p:cNvGraphicFramePr>
          <p:nvPr/>
        </p:nvGraphicFramePr>
        <p:xfrm>
          <a:off x="2651760" y="3529584"/>
          <a:ext cx="2743200" cy="493776"/>
        </p:xfrm>
        <a:graphic>
          <a:graphicData uri="http://schemas.openxmlformats.org/drawingml/2006/table">
            <a:tbl>
              <a:tblPr/>
              <a:tblGrid>
                <a:gridCol w="1371600"/>
                <a:gridCol w="1371600"/>
              </a:tblGrid>
              <a:tr h="493776">
                <a:tc>
                  <a:txBody>
                    <a:bodyPr/>
                    <a:lstStyle/>
                    <a:p>
                      <a:pPr algn="ctr" eaLnBrk="0" latinLnBrk="0">
                        <a:lnSpc>
                          <a:spcPct val="100000"/>
                        </a:lnSpc>
                        <a:buNone/>
                      </a:pPr>
                      <a:r>
                        <a:rPr lang="ko-KR" altLang="en-US" sz="1800" b="1" dirty="0">
                          <a:solidFill>
                            <a:srgbClr val="151515"/>
                          </a:solidFill>
                          <a:latin typeface="Consolas"/>
                          <a:ea typeface="Consolas"/>
                          <a:cs typeface="Consolas"/>
                        </a:rPr>
                        <a:t>T + 3</a:t>
                      </a:r>
                    </a:p>
                  </a:txBody>
                  <a:tcPr marL="54864" marR="54864" marT="18288" marB="18288" anchor="ctr">
                    <a:solidFill>
                      <a:srgbClr val="FBE1E1"/>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T + 4</a:t>
                      </a:r>
                    </a:p>
                  </a:txBody>
                  <a:tcPr marL="54864" marR="54864" marT="18288" marB="18288" anchor="ctr">
                    <a:solidFill>
                      <a:srgbClr val="F2F2F2"/>
                    </a:solidFill>
                  </a:tcPr>
                </a:tc>
              </a:tr>
            </a:tbl>
          </a:graphicData>
        </a:graphic>
      </p:graphicFrame>
      <p:sp>
        <p:nvSpPr>
          <p:cNvPr id="20" name="직사각형 21"/>
          <p:cNvSpPr/>
          <p:nvPr/>
        </p:nvSpPr>
        <p:spPr>
          <a:xfrm>
            <a:off x="1280160" y="4572000"/>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바꾼 뒤</a:t>
            </a:r>
          </a:p>
        </p:txBody>
      </p:sp>
      <p:graphicFrame>
        <p:nvGraphicFramePr>
          <p:cNvPr id="21" name="표 22"/>
          <p:cNvGraphicFramePr>
            <a:graphicFrameLocks noGrp="1"/>
          </p:cNvGraphicFramePr>
          <p:nvPr/>
        </p:nvGraphicFramePr>
        <p:xfrm>
          <a:off x="2651760" y="4462272"/>
          <a:ext cx="2743200" cy="493776"/>
        </p:xfrm>
        <a:graphic>
          <a:graphicData uri="http://schemas.openxmlformats.org/drawingml/2006/table">
            <a:tbl>
              <a:tblPr/>
              <a:tblGrid>
                <a:gridCol w="1371600"/>
                <a:gridCol w="1371600"/>
              </a:tblGrid>
              <a:tr h="493776">
                <a:tc>
                  <a:txBody>
                    <a:bodyPr/>
                    <a:lstStyle/>
                    <a:p>
                      <a:pPr algn="ctr" eaLnBrk="0" latinLnBrk="0">
                        <a:lnSpc>
                          <a:spcPct val="100000"/>
                        </a:lnSpc>
                        <a:buNone/>
                      </a:pPr>
                      <a:r>
                        <a:rPr lang="ko-KR" altLang="en-US" sz="1800" b="1" dirty="0">
                          <a:solidFill>
                            <a:srgbClr val="151515"/>
                          </a:solidFill>
                          <a:latin typeface="Consolas"/>
                          <a:ea typeface="Consolas"/>
                          <a:cs typeface="Consolas"/>
                        </a:rPr>
                        <a:t>b = 1</a:t>
                      </a:r>
                    </a:p>
                  </a:txBody>
                  <a:tcPr marL="54864" marR="54864" marT="18288" marB="18288" anchor="ctr">
                    <a:solidFill>
                      <a:srgbClr val="DCECFB"/>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a = 3</a:t>
                      </a:r>
                    </a:p>
                  </a:txBody>
                  <a:tcPr marL="54864" marR="54864" marT="18288" marB="18288" anchor="ctr">
                    <a:solidFill>
                      <a:srgbClr val="DCECFB"/>
                    </a:solidFill>
                  </a:tcPr>
                </a:tc>
              </a:tr>
            </a:tbl>
          </a:graphicData>
        </a:graphic>
      </p:graphicFrame>
      <p:sp>
        <p:nvSpPr>
          <p:cNvPr id="22" name="직사각형 23"/>
          <p:cNvSpPr/>
          <p:nvPr/>
        </p:nvSpPr>
        <p:spPr>
          <a:xfrm>
            <a:off x="1280160" y="5157216"/>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마치는 시각</a:t>
            </a:r>
          </a:p>
        </p:txBody>
      </p:sp>
      <p:graphicFrame>
        <p:nvGraphicFramePr>
          <p:cNvPr id="23" name="표 24"/>
          <p:cNvGraphicFramePr>
            <a:graphicFrameLocks noGrp="1"/>
          </p:cNvGraphicFramePr>
          <p:nvPr/>
        </p:nvGraphicFramePr>
        <p:xfrm>
          <a:off x="2651760" y="5047488"/>
          <a:ext cx="2743200" cy="493776"/>
        </p:xfrm>
        <a:graphic>
          <a:graphicData uri="http://schemas.openxmlformats.org/drawingml/2006/table">
            <a:tbl>
              <a:tblPr/>
              <a:tblGrid>
                <a:gridCol w="1371600"/>
                <a:gridCol w="1371600"/>
              </a:tblGrid>
              <a:tr h="493776">
                <a:tc>
                  <a:txBody>
                    <a:bodyPr/>
                    <a:lstStyle/>
                    <a:p>
                      <a:pPr algn="ctr" eaLnBrk="0" latinLnBrk="0">
                        <a:lnSpc>
                          <a:spcPct val="100000"/>
                        </a:lnSpc>
                        <a:buNone/>
                      </a:pPr>
                      <a:r>
                        <a:rPr lang="ko-KR" altLang="en-US" sz="1800" b="1" dirty="0">
                          <a:solidFill>
                            <a:srgbClr val="151515"/>
                          </a:solidFill>
                          <a:latin typeface="Consolas"/>
                          <a:ea typeface="Consolas"/>
                          <a:cs typeface="Consolas"/>
                        </a:rPr>
                        <a:t>T + 1</a:t>
                      </a:r>
                    </a:p>
                  </a:txBody>
                  <a:tcPr marL="54864" marR="54864" marT="18288" marB="18288" anchor="ctr">
                    <a:solidFill>
                      <a:srgbClr val="DDF1E4"/>
                    </a:solidFill>
                  </a:tcPr>
                </a:tc>
                <a:tc>
                  <a:txBody>
                    <a:bodyPr/>
                    <a:lstStyle/>
                    <a:p>
                      <a:pPr algn="ctr" eaLnBrk="0" latinLnBrk="0">
                        <a:lnSpc>
                          <a:spcPct val="100000"/>
                        </a:lnSpc>
                        <a:buNone/>
                      </a:pPr>
                      <a:r>
                        <a:rPr lang="ko-KR" altLang="en-US" sz="1800" b="1" dirty="0">
                          <a:solidFill>
                            <a:srgbClr val="151515"/>
                          </a:solidFill>
                          <a:latin typeface="Consolas"/>
                          <a:ea typeface="Consolas"/>
                          <a:cs typeface="Consolas"/>
                        </a:rPr>
                        <a:t>T + 4</a:t>
                      </a:r>
                    </a:p>
                  </a:txBody>
                  <a:tcPr marL="54864" marR="54864" marT="18288" marB="18288" anchor="ctr">
                    <a:solidFill>
                      <a:srgbClr val="F2F2F2"/>
                    </a:solidFill>
                  </a:tcPr>
                </a:tc>
              </a:tr>
            </a:tbl>
          </a:graphicData>
        </a:graphic>
      </p:graphicFrame>
      <p:sp>
        <p:nvSpPr>
          <p:cNvPr id="24" name="직사각형 25"/>
          <p:cNvSpPr/>
          <p:nvPr/>
        </p:nvSpPr>
        <p:spPr>
          <a:xfrm>
            <a:off x="5669280" y="3529584"/>
            <a:ext cx="1554480" cy="493776"/>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800" b="1" dirty="0">
                <a:solidFill>
                  <a:srgbClr val="B23B3B"/>
                </a:solidFill>
                <a:latin typeface="Malgun Gothic"/>
                <a:ea typeface="Malgun Gothic"/>
                <a:cs typeface="Malgun Gothic"/>
              </a:rPr>
              <a:t>합 2T + 7</a:t>
            </a:r>
          </a:p>
        </p:txBody>
      </p:sp>
      <p:sp>
        <p:nvSpPr>
          <p:cNvPr id="25" name="직사각형 26"/>
          <p:cNvSpPr/>
          <p:nvPr/>
        </p:nvSpPr>
        <p:spPr>
          <a:xfrm>
            <a:off x="5669280" y="5047488"/>
            <a:ext cx="1554480" cy="493776"/>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256B50"/>
                </a:solidFill>
                <a:latin typeface="Malgun Gothic"/>
                <a:ea typeface="Malgun Gothic"/>
                <a:cs typeface="Malgun Gothic"/>
              </a:rPr>
              <a:t>합 2T + 5</a:t>
            </a:r>
          </a:p>
        </p:txBody>
      </p:sp>
      <p:sp>
        <p:nvSpPr>
          <p:cNvPr id="26" name="직사각형 27"/>
          <p:cNvSpPr/>
          <p:nvPr/>
        </p:nvSpPr>
        <p:spPr>
          <a:xfrm>
            <a:off x="1097280" y="2340864"/>
            <a:ext cx="6309360" cy="512064"/>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예: 입력의 앞 두 사람 a = 3, b = 1 (두 사람 앞에서 마친 시각 T, 여기서는 T = 0)</a:t>
            </a:r>
          </a:p>
        </p:txBody>
      </p:sp>
      <p:sp>
        <p:nvSpPr>
          <p:cNvPr id="27" name="직사각형 28"/>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빨강: 바꾸기 전 앞사람의 마치는 시각    초록: 바꾼 뒤 줄어든 시각</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ATM 줄 세우기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191</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atm.py</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import sys</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N = int(sys.stdin.readline())</a:t>
            </a:r>
          </a:p>
          <a:p>
            <a:pPr algn="l" eaLnBrk="0" latinLnBrk="0">
              <a:lnSpc>
                <a:spcPct val="100000"/>
              </a:lnSpc>
              <a:buNone/>
            </a:pPr>
            <a:r>
              <a:rPr lang="ko-KR" altLang="en-US" sz="1800" b="0" dirty="0">
                <a:solidFill>
                  <a:srgbClr val="151515"/>
                </a:solidFill>
                <a:latin typeface="Consolas"/>
                <a:ea typeface="Consolas"/>
                <a:cs typeface="Consolas"/>
              </a:rPr>
              <a:t>times = list(map(int, sys.stdin.readline().split()))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핵심 전략: 오름차순 정렬 (그리디)</a:t>
            </a:r>
          </a:p>
          <a:p>
            <a:pPr algn="l" eaLnBrk="0" latinLnBrk="0">
              <a:lnSpc>
                <a:spcPct val="100000"/>
              </a:lnSpc>
              <a:buNone/>
            </a:pPr>
            <a:r>
              <a:rPr lang="ko-KR" altLang="en-US" sz="1800" b="0" dirty="0">
                <a:solidFill>
                  <a:srgbClr val="151515"/>
                </a:solidFill>
                <a:latin typeface="Consolas"/>
                <a:ea typeface="Consolas"/>
                <a:cs typeface="Consolas"/>
              </a:rPr>
              <a:t># 짧게 걸리는 사람이 앞에 서야 뒷사람 대기가 줄어든다</a:t>
            </a:r>
          </a:p>
          <a:p>
            <a:pPr algn="l" eaLnBrk="0" latinLnBrk="0">
              <a:lnSpc>
                <a:spcPct val="100000"/>
              </a:lnSpc>
              <a:buNone/>
            </a:pPr>
            <a:r>
              <a:rPr lang="ko-KR" altLang="en-US" sz="1800" b="0" dirty="0">
                <a:solidFill>
                  <a:srgbClr val="151515"/>
                </a:solidFill>
                <a:latin typeface="Consolas"/>
                <a:ea typeface="Consolas"/>
                <a:cs typeface="Consolas"/>
              </a:rPr>
              <a:t>times.sort()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total_sum = 0     # 모든 사람의 소요 시간 합 (정답)</a:t>
            </a:r>
          </a:p>
          <a:p>
            <a:pPr algn="l" eaLnBrk="0" latinLnBrk="0">
              <a:lnSpc>
                <a:spcPct val="100000"/>
              </a:lnSpc>
              <a:buNone/>
            </a:pPr>
            <a:r>
              <a:rPr lang="ko-KR" altLang="en-US" sz="1800" b="0" dirty="0">
                <a:solidFill>
                  <a:srgbClr val="151515"/>
                </a:solidFill>
                <a:latin typeface="Consolas"/>
                <a:ea typeface="Consolas"/>
                <a:cs typeface="Consolas"/>
              </a:rPr>
              <a:t>current_sum = 0   # 현재 사람까지의 누적 시간</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for t in times:</a:t>
            </a:r>
          </a:p>
          <a:p>
            <a:pPr algn="l" eaLnBrk="0" latinLnBrk="0">
              <a:lnSpc>
                <a:spcPct val="100000"/>
              </a:lnSpc>
              <a:buNone/>
            </a:pPr>
            <a:r>
              <a:rPr lang="ko-KR" altLang="en-US" sz="1800" b="0" dirty="0">
                <a:solidFill>
                  <a:srgbClr val="151515"/>
                </a:solidFill>
                <a:latin typeface="Consolas"/>
                <a:ea typeface="Consolas"/>
                <a:cs typeface="Consolas"/>
              </a:rPr>
              <a:t>    current_sum += t      # 대기 시간 + 내 인출 시간</a:t>
            </a:r>
          </a:p>
          <a:p>
            <a:pPr algn="l" eaLnBrk="0" latinLnBrk="0">
              <a:lnSpc>
                <a:spcPct val="100000"/>
              </a:lnSpc>
              <a:buNone/>
            </a:pPr>
            <a:r>
              <a:rPr lang="ko-KR" altLang="en-US" sz="1800" b="0" dirty="0">
                <a:solidFill>
                  <a:srgbClr val="151515"/>
                </a:solidFill>
                <a:latin typeface="Consolas"/>
                <a:ea typeface="Consolas"/>
                <a:cs typeface="Consolas"/>
              </a:rPr>
              <a:t>    total_sum += current_sum</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print(total_sum)</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ATM 줄 세우기 ① 비교 함수와 입력</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192</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atm.c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#include &lt;stdio.h&gt;</a:t>
            </a:r>
          </a:p>
          <a:p>
            <a:pPr algn="l" eaLnBrk="0" latinLnBrk="0">
              <a:lnSpc>
                <a:spcPct val="100000"/>
              </a:lnSpc>
              <a:buNone/>
            </a:pPr>
            <a:r>
              <a:rPr lang="ko-KR" altLang="en-US" sz="1800" b="0" dirty="0">
                <a:solidFill>
                  <a:srgbClr val="151515"/>
                </a:solidFill>
                <a:latin typeface="Consolas"/>
                <a:ea typeface="Consolas"/>
                <a:cs typeface="Consolas"/>
              </a:rPr>
              <a:t>#include &lt;stdlib.h&gt;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ascending(const void *a, const void *b) {</a:t>
            </a:r>
          </a:p>
          <a:p>
            <a:pPr algn="l" eaLnBrk="0" latinLnBrk="0">
              <a:lnSpc>
                <a:spcPct val="100000"/>
              </a:lnSpc>
              <a:buNone/>
            </a:pPr>
            <a:r>
              <a:rPr lang="ko-KR" altLang="en-US" sz="1800" b="0" dirty="0">
                <a:solidFill>
                  <a:srgbClr val="151515"/>
                </a:solidFill>
                <a:latin typeface="Consolas"/>
                <a:ea typeface="Consolas"/>
                <a:cs typeface="Consolas"/>
              </a:rPr>
              <a:t>    return *(const int *)a - *(const int *)b;</a:t>
            </a:r>
          </a:p>
          <a:p>
            <a:pPr algn="l" eaLnBrk="0" latinLnBrk="0">
              <a:lnSpc>
                <a:spcPct val="100000"/>
              </a:lnSpc>
              <a:buNone/>
            </a:pPr>
            <a:r>
              <a:rPr lang="ko-KR" altLang="en-US" sz="1800" b="0" dirty="0">
                <a:solidFill>
                  <a:srgbClr val="151515"/>
                </a:solidFill>
                <a:latin typeface="Consolas"/>
                <a:ea typeface="Consolas"/>
                <a:cs typeface="Consolas"/>
              </a:rPr>
              <a:t>}</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int main(void) {</a:t>
            </a:r>
          </a:p>
          <a:p>
            <a:pPr algn="l" eaLnBrk="0" latinLnBrk="0">
              <a:lnSpc>
                <a:spcPct val="100000"/>
              </a:lnSpc>
              <a:buNone/>
            </a:pPr>
            <a:r>
              <a:rPr lang="ko-KR" altLang="en-US" sz="1800" b="0" dirty="0">
                <a:solidFill>
                  <a:srgbClr val="151515"/>
                </a:solidFill>
                <a:latin typeface="Consolas"/>
                <a:ea typeface="Consolas"/>
                <a:cs typeface="Consolas"/>
              </a:rPr>
              <a:t>    int N, times[1000];</a:t>
            </a:r>
          </a:p>
          <a:p>
            <a:pPr algn="l" eaLnBrk="0" latinLnBrk="0">
              <a:lnSpc>
                <a:spcPct val="100000"/>
              </a:lnSpc>
              <a:buNone/>
            </a:pPr>
            <a:r>
              <a:rPr lang="ko-KR" altLang="en-US" sz="1800" b="0" dirty="0">
                <a:solidFill>
                  <a:srgbClr val="151515"/>
                </a:solidFill>
                <a:latin typeface="Consolas"/>
                <a:ea typeface="Consolas"/>
                <a:cs typeface="Consolas"/>
              </a:rPr>
              <a:t>    if (scanf("%d", &amp;N) != 1 || N &lt; 0 || N &gt; 1000) return 1;</a:t>
            </a:r>
          </a:p>
          <a:p>
            <a:pPr algn="l" eaLnBrk="0" latinLnBrk="0">
              <a:lnSpc>
                <a:spcPct val="100000"/>
              </a:lnSpc>
              <a:buNone/>
            </a:pPr>
            <a:r>
              <a:rPr lang="ko-KR" altLang="en-US" sz="1800" b="0" dirty="0">
                <a:solidFill>
                  <a:srgbClr val="151515"/>
                </a:solidFill>
                <a:latin typeface="Consolas"/>
                <a:ea typeface="Consolas"/>
                <a:cs typeface="Consolas"/>
              </a:rPr>
              <a:t>    for (int i = 0; i &lt; N; i++)</a:t>
            </a:r>
          </a:p>
          <a:p>
            <a:pPr algn="l" eaLnBrk="0" latinLnBrk="0">
              <a:lnSpc>
                <a:spcPct val="100000"/>
              </a:lnSpc>
              <a:buNone/>
            </a:pPr>
            <a:r>
              <a:rPr lang="ko-KR" altLang="en-US" sz="1800" b="0" dirty="0">
                <a:solidFill>
                  <a:srgbClr val="151515"/>
                </a:solidFill>
                <a:latin typeface="Consolas"/>
                <a:ea typeface="Consolas"/>
                <a:cs typeface="Consolas"/>
              </a:rPr>
              <a:t>        if (scanf("%d", &amp;times[i]) != 1) return 1;</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 ATM 줄 세우기 ② 정렬과 누적합</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193</a:t>
            </a:r>
          </a:p>
        </p:txBody>
      </p:sp>
      <p:sp>
        <p:nvSpPr>
          <p:cNvPr id="9" name="직사각형 10"/>
          <p:cNvSpPr/>
          <p:nvPr/>
        </p:nvSpPr>
        <p:spPr>
          <a:xfrm>
            <a:off x="9144000" y="1408176"/>
            <a:ext cx="2441448" cy="201168"/>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Consolas"/>
                <a:ea typeface="Consolas"/>
                <a:cs typeface="Consolas"/>
              </a:rPr>
              <a:t>atm.c</a:t>
            </a:r>
          </a:p>
        </p:txBody>
      </p:sp>
      <p:sp>
        <p:nvSpPr>
          <p:cNvPr id="10" name="직사각형 11"/>
          <p:cNvSpPr/>
          <p:nvPr/>
        </p:nvSpPr>
        <p:spPr>
          <a:xfrm>
            <a:off x="630936" y="1645920"/>
            <a:ext cx="10954512" cy="4663440"/>
          </a:xfrm>
          <a:prstGeom prst="rect">
            <a:avLst/>
          </a:prstGeom>
          <a:noFill/>
          <a:ln w="0">
            <a:noFill/>
          </a:ln>
        </p:spPr>
        <p:txBody>
          <a:bodyPr wrap="none" lIns="0" tIns="0" rIns="0" bIns="0" anchor="t">
            <a:noAutofit/>
          </a:bodyPr>
          <a:lstStyle/>
          <a:p>
            <a:pPr algn="l" eaLnBrk="0" latinLnBrk="0">
              <a:lnSpc>
                <a:spcPct val="100000"/>
              </a:lnSpc>
              <a:buNone/>
            </a:pPr>
            <a:r>
              <a:rPr lang="ko-KR" altLang="en-US" sz="1800" b="0" dirty="0">
                <a:solidFill>
                  <a:srgbClr val="151515"/>
                </a:solidFill>
                <a:latin typeface="Consolas"/>
                <a:ea typeface="Consolas"/>
                <a:cs typeface="Consolas"/>
              </a:rPr>
              <a:t>    /* 핵심 전략: 오름차순 정렬 (그리디) */</a:t>
            </a:r>
          </a:p>
          <a:p>
            <a:pPr algn="l" eaLnBrk="0" latinLnBrk="0">
              <a:lnSpc>
                <a:spcPct val="100000"/>
              </a:lnSpc>
              <a:buNone/>
            </a:pPr>
            <a:r>
              <a:rPr lang="ko-KR" altLang="en-US" sz="1800" b="0" dirty="0">
                <a:solidFill>
                  <a:srgbClr val="151515"/>
                </a:solidFill>
                <a:latin typeface="Consolas"/>
                <a:ea typeface="Consolas"/>
                <a:cs typeface="Consolas"/>
              </a:rPr>
              <a:t>    /* 짧게 걸리는 사람이 앞에 서야 뒷사람 대기가 줄어든다 */</a:t>
            </a:r>
          </a:p>
          <a:p>
            <a:pPr algn="l" eaLnBrk="0" latinLnBrk="0">
              <a:lnSpc>
                <a:spcPct val="100000"/>
              </a:lnSpc>
              <a:buNone/>
            </a:pPr>
            <a:r>
              <a:rPr lang="ko-KR" altLang="en-US" sz="1800" b="0" dirty="0">
                <a:solidFill>
                  <a:srgbClr val="151515"/>
                </a:solidFill>
                <a:latin typeface="Consolas"/>
                <a:ea typeface="Consolas"/>
                <a:cs typeface="Consolas"/>
              </a:rPr>
              <a:t>    qsort(times, N, sizeof(int), ascending);</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int total_sum = 0;      /* 모든 사람의 소요 시간 합 (정답) */</a:t>
            </a:r>
          </a:p>
          <a:p>
            <a:pPr algn="l" eaLnBrk="0" latinLnBrk="0">
              <a:lnSpc>
                <a:spcPct val="100000"/>
              </a:lnSpc>
              <a:buNone/>
            </a:pPr>
            <a:r>
              <a:rPr lang="ko-KR" altLang="en-US" sz="1800" b="0" dirty="0">
                <a:solidFill>
                  <a:srgbClr val="151515"/>
                </a:solidFill>
                <a:latin typeface="Consolas"/>
                <a:ea typeface="Consolas"/>
                <a:cs typeface="Consolas"/>
              </a:rPr>
              <a:t>    int current_sum = 0;    /* 현재 사람까지의 누적 시간 */</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for (int i = 0; i &lt; N; i++) {</a:t>
            </a:r>
          </a:p>
          <a:p>
            <a:pPr algn="l" eaLnBrk="0" latinLnBrk="0">
              <a:lnSpc>
                <a:spcPct val="100000"/>
              </a:lnSpc>
              <a:buNone/>
            </a:pPr>
            <a:r>
              <a:rPr lang="ko-KR" altLang="en-US" sz="1800" b="0" dirty="0">
                <a:solidFill>
                  <a:srgbClr val="151515"/>
                </a:solidFill>
                <a:latin typeface="Consolas"/>
                <a:ea typeface="Consolas"/>
                <a:cs typeface="Consolas"/>
              </a:rPr>
              <a:t>        current_sum += times[i];    /* 대기 시간 + 내 인출 시간 */</a:t>
            </a:r>
          </a:p>
          <a:p>
            <a:pPr algn="l" eaLnBrk="0" latinLnBrk="0">
              <a:lnSpc>
                <a:spcPct val="100000"/>
              </a:lnSpc>
              <a:buNone/>
            </a:pPr>
            <a:r>
              <a:rPr lang="ko-KR" altLang="en-US" sz="1800" b="0" dirty="0">
                <a:solidFill>
                  <a:srgbClr val="151515"/>
                </a:solidFill>
                <a:latin typeface="Consolas"/>
                <a:ea typeface="Consolas"/>
                <a:cs typeface="Consolas"/>
              </a:rPr>
              <a:t>        total_sum += current_sum;</a:t>
            </a:r>
          </a:p>
          <a:p>
            <a:pPr algn="l" eaLnBrk="0" latinLnBrk="0">
              <a:lnSpc>
                <a:spcPct val="100000"/>
              </a:lnSpc>
              <a:buNone/>
            </a:pPr>
            <a:r>
              <a:rPr lang="ko-KR" altLang="en-US" sz="1800" b="0" dirty="0">
                <a:solidFill>
                  <a:srgbClr val="151515"/>
                </a:solidFill>
                <a:latin typeface="Consolas"/>
                <a:ea typeface="Consolas"/>
                <a:cs typeface="Consolas"/>
              </a:rPr>
              <a:t>    }</a:t>
            </a:r>
          </a:p>
          <a:p>
            <a:pPr algn="l" eaLnBrk="0" latinLnBrk="0">
              <a:lnSpc>
                <a:spcPct val="100000"/>
              </a:lnSpc>
              <a:buNone/>
            </a:pPr>
            <a:endParaRPr lang="ko-KR" sz="1800"/>
          </a:p>
          <a:p>
            <a:pPr algn="l" eaLnBrk="0" latinLnBrk="0">
              <a:lnSpc>
                <a:spcPct val="100000"/>
              </a:lnSpc>
              <a:buNone/>
            </a:pPr>
            <a:r>
              <a:rPr lang="ko-KR" altLang="en-US" sz="1800" b="0" dirty="0">
                <a:solidFill>
                  <a:srgbClr val="151515"/>
                </a:solidFill>
                <a:latin typeface="Consolas"/>
                <a:ea typeface="Consolas"/>
                <a:cs typeface="Consolas"/>
              </a:rPr>
              <a:t>    printf("%d\n", total_sum);</a:t>
            </a:r>
          </a:p>
          <a:p>
            <a:pPr algn="l" eaLnBrk="0" latinLnBrk="0">
              <a:lnSpc>
                <a:spcPct val="100000"/>
              </a:lnSpc>
              <a:buNone/>
            </a:pPr>
            <a:r>
              <a:rPr lang="ko-KR" altLang="en-US" sz="1800" b="0" dirty="0">
                <a:solidFill>
                  <a:srgbClr val="151515"/>
                </a:solidFill>
                <a:latin typeface="Consolas"/>
                <a:ea typeface="Consolas"/>
                <a:cs typeface="Consolas"/>
              </a:rPr>
              <a:t>    return 0;</a:t>
            </a:r>
          </a:p>
          <a:p>
            <a:pPr algn="l" eaLnBrk="0" latinLnBrk="0">
              <a:lnSpc>
                <a:spcPct val="100000"/>
              </a:lnSpc>
              <a:buNone/>
            </a:pPr>
            <a:r>
              <a:rPr lang="ko-KR" altLang="en-US" sz="1800" b="0" dirty="0">
                <a:solidFill>
                  <a:srgbClr val="151515"/>
                </a:solidFill>
                <a:latin typeface="Consolas"/>
                <a:ea typeface="Consolas"/>
                <a:cs typeface="Consolas"/>
              </a:rPr>
              <a:t>}</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5.9  코딩 테스트 예제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CT 5.2 실행 결과와 복잡도</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194</a:t>
            </a: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입력 atm.in</a:t>
            </a:r>
          </a:p>
        </p:txBody>
      </p:sp>
      <p:sp>
        <p:nvSpPr>
          <p:cNvPr id="10" name="직사각형 11"/>
          <p:cNvSpPr/>
          <p:nvPr/>
        </p:nvSpPr>
        <p:spPr>
          <a:xfrm>
            <a:off x="612648" y="1856232"/>
            <a:ext cx="10972800" cy="649224"/>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5</a:t>
            </a:r>
          </a:p>
          <a:p>
            <a:pPr algn="l" eaLnBrk="0" latinLnBrk="0">
              <a:lnSpc>
                <a:spcPct val="100000"/>
              </a:lnSpc>
              <a:buNone/>
            </a:pPr>
            <a:r>
              <a:rPr lang="ko-KR" altLang="en-US" sz="1400" b="0" dirty="0">
                <a:solidFill>
                  <a:srgbClr val="151515"/>
                </a:solidFill>
                <a:latin typeface="Consolas"/>
                <a:ea typeface="Consolas"/>
                <a:cs typeface="Consolas"/>
              </a:rPr>
              <a:t>3 1 4 3 2</a:t>
            </a:r>
          </a:p>
        </p:txBody>
      </p:sp>
      <p:sp>
        <p:nvSpPr>
          <p:cNvPr id="11" name="직사각형 12"/>
          <p:cNvSpPr/>
          <p:nvPr/>
        </p:nvSpPr>
        <p:spPr>
          <a:xfrm>
            <a:off x="612648" y="2633472"/>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OUTPUT</a:t>
            </a:r>
          </a:p>
        </p:txBody>
      </p:sp>
      <p:sp>
        <p:nvSpPr>
          <p:cNvPr id="12" name="직사각형 13"/>
          <p:cNvSpPr/>
          <p:nvPr/>
        </p:nvSpPr>
        <p:spPr>
          <a:xfrm>
            <a:off x="612648" y="2852928"/>
            <a:ext cx="10972800" cy="438912"/>
          </a:xfrm>
          <a:prstGeom prst="rect">
            <a:avLst/>
          </a:prstGeom>
          <a:solidFill>
            <a:srgbClr val="F5F5F5"/>
          </a:solidFill>
          <a:ln w="9525">
            <a:solidFill>
              <a:srgbClr val="D4D4D4"/>
            </a:solidFill>
          </a:ln>
        </p:spPr>
        <p:txBody>
          <a:bodyPr wrap="none" lIns="91440" tIns="91440" rIns="91440" bIns="91440" anchor="t">
            <a:noAutofit/>
          </a:bodyPr>
          <a:lstStyle/>
          <a:p>
            <a:pPr algn="l" eaLnBrk="0" latinLnBrk="0">
              <a:lnSpc>
                <a:spcPct val="100000"/>
              </a:lnSpc>
              <a:buNone/>
            </a:pPr>
            <a:r>
              <a:rPr lang="ko-KR" altLang="en-US" sz="1400" b="0" dirty="0">
                <a:solidFill>
                  <a:srgbClr val="151515"/>
                </a:solidFill>
                <a:latin typeface="Consolas"/>
                <a:ea typeface="Consolas"/>
                <a:cs typeface="Consolas"/>
              </a:rPr>
              <a:t>32</a:t>
            </a:r>
          </a:p>
        </p:txBody>
      </p:sp>
      <p:sp>
        <p:nvSpPr>
          <p:cNvPr id="13" name="fit:857f5f3760e63076 14"/>
          <p:cNvSpPr/>
          <p:nvPr/>
        </p:nvSpPr>
        <p:spPr>
          <a:xfrm>
            <a:off x="612648" y="341985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정렬 [1, 2, 3, 3, 4] → 마치는 시각 1, 3, 6, 9, 13 → 합 32</a:t>
            </a:r>
          </a:p>
        </p:txBody>
      </p:sp>
      <p:sp>
        <p:nvSpPr>
          <p:cNvPr id="14" name="fit:be01fa795f0944e7 15"/>
          <p:cNvSpPr/>
          <p:nvPr/>
        </p:nvSpPr>
        <p:spPr>
          <a:xfrm>
            <a:off x="612648" y="3858768"/>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시간 복잡도 O(N log N): 정렬 O(N log N) + 누적 O(N)</a:t>
            </a:r>
          </a:p>
        </p:txBody>
      </p:sp>
      <p:sp>
        <p:nvSpPr>
          <p:cNvPr id="15" name="fit:17e1d2eedf4c3d9c 16"/>
          <p:cNvSpPr/>
          <p:nvPr/>
        </p:nvSpPr>
        <p:spPr>
          <a:xfrm>
            <a:off x="612648" y="4315968"/>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두 문제 모두 고를 기준(큰 동전부터, 짧은 사람부터)을 정하고, 그 기준이 왜 안전한지(배수 조건, 교환 논증)를 확인했습니다.</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7616952"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CHAPTER 05</a:t>
            </a:r>
          </a:p>
        </p:txBody>
      </p:sp>
      <p:sp>
        <p:nvSpPr>
          <p:cNvPr id="3" name="직사각형 4"/>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5장 정리</a:t>
            </a:r>
          </a:p>
        </p:txBody>
      </p:sp>
      <p:sp>
        <p:nvSpPr>
          <p:cNvPr id="4" name="직사각형 5"/>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5" name="직사각형 6"/>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7" name="직사각형 8"/>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195</a:t>
            </a:r>
          </a:p>
        </p:txBody>
      </p:sp>
      <p:sp>
        <p:nvSpPr>
          <p:cNvPr id="8" name="직사각형 9"/>
          <p:cNvSpPr/>
          <p:nvPr/>
        </p:nvSpPr>
        <p:spPr>
          <a:xfrm>
            <a:off x="658368" y="1645920"/>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9" name="직사각형 10"/>
          <p:cNvSpPr/>
          <p:nvPr/>
        </p:nvSpPr>
        <p:spPr>
          <a:xfrm>
            <a:off x="1517904" y="1828800"/>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그리디는 되돌아보지 않는다</a:t>
            </a:r>
          </a:p>
        </p:txBody>
      </p:sp>
      <p:sp>
        <p:nvSpPr>
          <p:cNvPr id="10" name="직사각형 11"/>
          <p:cNvSpPr/>
          <p:nvPr/>
        </p:nvSpPr>
        <p:spPr>
          <a:xfrm>
            <a:off x="1517904" y="2194560"/>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매 단계 지금 기준의 최선을 확정하고 번복하지 않습니다. 선택 → 적정성 검사 → 해답 검사를 해답이 될 때까지 반복합니다.</a:t>
            </a:r>
          </a:p>
        </p:txBody>
      </p:sp>
      <p:sp>
        <p:nvSpPr>
          <p:cNvPr id="11" name="직사각형 12"/>
          <p:cNvSpPr/>
          <p:nvPr/>
        </p:nvSpPr>
        <p:spPr>
          <a:xfrm>
            <a:off x="658368" y="1810512"/>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01</a:t>
            </a:r>
          </a:p>
        </p:txBody>
      </p:sp>
      <p:sp>
        <p:nvSpPr>
          <p:cNvPr id="12" name="직사각형 13"/>
          <p:cNvSpPr/>
          <p:nvPr/>
        </p:nvSpPr>
        <p:spPr>
          <a:xfrm>
            <a:off x="6300216" y="1645920"/>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3" name="직사각형 14"/>
          <p:cNvSpPr/>
          <p:nvPr/>
        </p:nvSpPr>
        <p:spPr>
          <a:xfrm>
            <a:off x="7159752" y="1828800"/>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최적을 보장하는 두 조건</a:t>
            </a:r>
          </a:p>
        </p:txBody>
      </p:sp>
      <p:sp>
        <p:nvSpPr>
          <p:cNvPr id="14" name="직사각형 15"/>
          <p:cNvSpPr/>
          <p:nvPr/>
        </p:nvSpPr>
        <p:spPr>
          <a:xfrm>
            <a:off x="7159752" y="2194560"/>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탐욕적 선택 속성(이 선택을 포함하는 최적해가 있다)과 최적 부분 구조. "항상 최적"은 반례 하나로 반박합니다.</a:t>
            </a:r>
          </a:p>
        </p:txBody>
      </p:sp>
      <p:sp>
        <p:nvSpPr>
          <p:cNvPr id="15" name="직사각형 16"/>
          <p:cNvSpPr/>
          <p:nvPr/>
        </p:nvSpPr>
        <p:spPr>
          <a:xfrm>
            <a:off x="6300216" y="1810512"/>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02</a:t>
            </a:r>
          </a:p>
        </p:txBody>
      </p:sp>
      <p:sp>
        <p:nvSpPr>
          <p:cNvPr id="16" name="직사각형 17"/>
          <p:cNvSpPr/>
          <p:nvPr/>
        </p:nvSpPr>
        <p:spPr>
          <a:xfrm>
            <a:off x="658368" y="3145536"/>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7" name="직사각형 18"/>
          <p:cNvSpPr/>
          <p:nvPr/>
        </p:nvSpPr>
        <p:spPr>
          <a:xfrm>
            <a:off x="1517904" y="3328416"/>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정렬 기준이 곧 전략</a:t>
            </a:r>
          </a:p>
        </p:txBody>
      </p:sp>
      <p:sp>
        <p:nvSpPr>
          <p:cNvPr id="18" name="직사각형 19"/>
          <p:cNvSpPr/>
          <p:nvPr/>
        </p:nvSpPr>
        <p:spPr>
          <a:xfrm>
            <a:off x="1517904" y="3694176"/>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활동 선택은 종료가 빠른 순, 쪼갤 수 있는 배낭은 가성비가 큰 순, 크루스칼은 가중치가 작은 순, ATM은 인출 시간이 짧은 순.</a:t>
            </a:r>
          </a:p>
        </p:txBody>
      </p:sp>
      <p:sp>
        <p:nvSpPr>
          <p:cNvPr id="19" name="직사각형 20"/>
          <p:cNvSpPr/>
          <p:nvPr/>
        </p:nvSpPr>
        <p:spPr>
          <a:xfrm>
            <a:off x="658368" y="3310128"/>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03</a:t>
            </a:r>
          </a:p>
        </p:txBody>
      </p:sp>
      <p:sp>
        <p:nvSpPr>
          <p:cNvPr id="20" name="직사각형 21"/>
          <p:cNvSpPr/>
          <p:nvPr/>
        </p:nvSpPr>
        <p:spPr>
          <a:xfrm>
            <a:off x="6300216" y="3145536"/>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21" name="직사각형 22"/>
          <p:cNvSpPr/>
          <p:nvPr/>
        </p:nvSpPr>
        <p:spPr>
          <a:xfrm>
            <a:off x="7159752" y="3328416"/>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최적을 보장하는 경우</a:t>
            </a:r>
          </a:p>
        </p:txBody>
      </p:sp>
      <p:sp>
        <p:nvSpPr>
          <p:cNvPr id="22" name="직사각형 23"/>
          <p:cNvSpPr/>
          <p:nvPr/>
        </p:nvSpPr>
        <p:spPr>
          <a:xfrm>
            <a:off x="7159752" y="3694176"/>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배수 조건의 거스름돈, 활동 선택, 쪼갤 수 있는 배낭(가성비 순), 크루스칼 MST, 다익스트라(간선 비용이 모두 0 이상일 때).</a:t>
            </a:r>
          </a:p>
        </p:txBody>
      </p:sp>
      <p:sp>
        <p:nvSpPr>
          <p:cNvPr id="23" name="직사각형 24"/>
          <p:cNvSpPr/>
          <p:nvPr/>
        </p:nvSpPr>
        <p:spPr>
          <a:xfrm>
            <a:off x="6300216" y="3310128"/>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04</a:t>
            </a:r>
          </a:p>
        </p:txBody>
      </p:sp>
      <p:sp>
        <p:nvSpPr>
          <p:cNvPr id="24" name="직사각형 25"/>
          <p:cNvSpPr/>
          <p:nvPr/>
        </p:nvSpPr>
        <p:spPr>
          <a:xfrm>
            <a:off x="658368" y="4645152"/>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25" name="직사각형 26"/>
          <p:cNvSpPr/>
          <p:nvPr/>
        </p:nvSpPr>
        <p:spPr>
          <a:xfrm>
            <a:off x="1517904" y="4828032"/>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보장하지 못하는 경우</a:t>
            </a:r>
          </a:p>
        </p:txBody>
      </p:sp>
      <p:sp>
        <p:nvSpPr>
          <p:cNvPr id="26" name="직사각형 27"/>
          <p:cNvSpPr/>
          <p:nvPr/>
        </p:nvSpPr>
        <p:spPr>
          <a:xfrm>
            <a:off x="1517904" y="5193792"/>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400원이나 {1, 3, 4} 동전, 0/1 배낭, TSP의 가장 가까운 이웃, 음수 간선이 있는 다익스트라.</a:t>
            </a:r>
          </a:p>
        </p:txBody>
      </p:sp>
      <p:sp>
        <p:nvSpPr>
          <p:cNvPr id="27" name="직사각형 28"/>
          <p:cNvSpPr/>
          <p:nvPr/>
        </p:nvSpPr>
        <p:spPr>
          <a:xfrm>
            <a:off x="658368" y="4809744"/>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05</a:t>
            </a:r>
          </a:p>
        </p:txBody>
      </p:sp>
      <p:sp>
        <p:nvSpPr>
          <p:cNvPr id="28" name="직사각형 29"/>
          <p:cNvSpPr/>
          <p:nvPr/>
        </p:nvSpPr>
        <p:spPr>
          <a:xfrm>
            <a:off x="6300216" y="4645152"/>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29" name="직사각형 30"/>
          <p:cNvSpPr/>
          <p:nvPr/>
        </p:nvSpPr>
        <p:spPr>
          <a:xfrm>
            <a:off x="7159752" y="4828032"/>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다음은 동적 계획법</a:t>
            </a:r>
          </a:p>
        </p:txBody>
      </p:sp>
      <p:sp>
        <p:nvSpPr>
          <p:cNvPr id="30" name="직사각형 31"/>
          <p:cNvSpPr/>
          <p:nvPr/>
        </p:nvSpPr>
        <p:spPr>
          <a:xfrm>
            <a:off x="7159752" y="5193792"/>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0/1 배낭, 400원 동전, TSP는 남은 상태를 기억하는 6장 동적 계획법으로 정확한 답을 구합니다(TSP는 그래도 지수 시간).</a:t>
            </a:r>
          </a:p>
        </p:txBody>
      </p:sp>
      <p:sp>
        <p:nvSpPr>
          <p:cNvPr id="31" name="직사각형 32"/>
          <p:cNvSpPr/>
          <p:nvPr/>
        </p:nvSpPr>
        <p:spPr>
          <a:xfrm>
            <a:off x="6300216" y="4809744"/>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06</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5장 정리</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 C 대응표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0" dirty="0">
                <a:solidFill>
                  <a:srgbClr val="606060"/>
                </a:solidFill>
                <a:latin typeface="Malgun Gothic"/>
                <a:ea typeface="Malgun Gothic"/>
                <a:cs typeface="Malgun Gothic"/>
              </a:rPr>
              <a:t>196</a:t>
            </a:r>
          </a:p>
        </p:txBody>
      </p:sp>
      <p:sp>
        <p:nvSpPr>
          <p:cNvPr id="9" name="fit:54c399d02d260193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같은 알고리즘을 두 언어로 쓸 때 자주 바뀌는 부분입니다.</a:t>
            </a:r>
          </a:p>
        </p:txBody>
      </p:sp>
      <p:graphicFrame>
        <p:nvGraphicFramePr>
          <p:cNvPr id="10" name="표 11"/>
          <p:cNvGraphicFramePr>
            <a:graphicFrameLocks noGrp="1"/>
          </p:cNvGraphicFramePr>
          <p:nvPr/>
        </p:nvGraphicFramePr>
        <p:xfrm>
          <a:off x="612648" y="2075688"/>
          <a:ext cx="10972800" cy="2798064"/>
        </p:xfrm>
        <a:graphic>
          <a:graphicData uri="http://schemas.openxmlformats.org/drawingml/2006/table">
            <a:tbl>
              <a:tblPr/>
              <a:tblGrid>
                <a:gridCol w="2103120"/>
                <a:gridCol w="4389120"/>
                <a:gridCol w="4480560"/>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하는 일</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Python</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C</a:t>
                      </a:r>
                    </a:p>
                  </a:txBody>
                  <a:tcPr marL="54864" marR="54864" marT="18288" marB="18288" anchor="ctr">
                    <a:solidFill>
                      <a:srgbClr val="151515"/>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정렬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list.sort(key=…, reverse=True)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qsort(배열, 개수, 크기, 비교 함수)</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큰 것부터 보기</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coins.reverse()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for (i = N - 1; i &gt;= 0; i--)</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무한대</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float("inf"), float("-inf")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INT_MAX, INT_MIN (limits.h)</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최솟값 꺼내기</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heapq.heappush / heappop</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배열을 훑어 최소 찾기 O(V)</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묶음 자료</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class Item, 튜플 (w, u, v)</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typedef struct { … } Item;</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그래프(다익스트라)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딕셔너리 {정점: {이웃: 비용}}</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2차원 배열 graph[u][v], 0 = 간선 없음</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입력</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sys.stdin.readline().split()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scanf("%d %d", &amp;N, &amp;K)</a:t>
                      </a:r>
                    </a:p>
                  </a:txBody>
                  <a:tcPr marL="54864" marR="54864" marT="18288" marB="18288" anchor="ctr">
                    <a:solidFill>
                      <a:srgbClr val="FFFFFF"/>
                    </a:solidFill>
                  </a:tcPr>
                </a:tc>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몫 · 나머지</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K // coin, K % coin</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K / coins[i], K % coins[i]</a:t>
                      </a:r>
                    </a:p>
                  </a:txBody>
                  <a:tcPr marL="54864" marR="54864" marT="18288" marB="18288" anchor="ctr">
                    <a:solidFill>
                      <a:srgbClr val="FFFFFF"/>
                    </a:solidFill>
                  </a:tcPr>
                </a:tc>
              </a:tr>
            </a:tbl>
          </a:graphicData>
        </a:graphic>
      </p:graphicFrame>
      <p:sp>
        <p:nvSpPr>
          <p:cNvPr id="11" name="fit:567673dede0672fb 12"/>
          <p:cNvSpPr/>
          <p:nvPr/>
        </p:nvSpPr>
        <p:spPr>
          <a:xfrm>
            <a:off x="612648" y="5020056"/>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비교 함수는 a가 b보다 앞에 와야 하면 음수, 같으면 0, 뒤에 와야 하면 양수를 돌려줍니다. 오름차순이면 앞이 작을 때 음수입니다(배낭의 by_ratio는 반대).</a:t>
            </a:r>
          </a:p>
        </p:txBody>
      </p:sp>
      <p:sp>
        <p:nvSpPr>
          <p:cNvPr id="12" name="fit:ba639ba1a8aa054c 13"/>
          <p:cNvSpPr/>
          <p:nvPr/>
        </p:nvSpPr>
        <p:spPr>
          <a:xfrm>
            <a:off x="612648" y="5669280"/>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INT_MAX는 진짜 무한대가 아니어서 더하면 넘칩니다.</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1060704"/>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3" name="직사각형 4"/>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4" name="직사각형 5"/>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5" name="직사각형 6"/>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ko-KR" altLang="en-US" sz="1050" b="1" dirty="0">
                <a:solidFill>
                  <a:srgbClr val="FFFFFF"/>
                </a:solidFill>
                <a:latin typeface="Malgun Gothic"/>
                <a:ea typeface="Malgun Gothic"/>
                <a:cs typeface="Malgun Gothic"/>
              </a:rPr>
              <a:t>197</a:t>
            </a:r>
          </a:p>
        </p:txBody>
      </p:sp>
      <p:sp>
        <p:nvSpPr>
          <p:cNvPr id="6" name="직사각형 7"/>
          <p:cNvSpPr/>
          <p:nvPr/>
        </p:nvSpPr>
        <p:spPr>
          <a:xfrm>
            <a:off x="612648" y="530352"/>
            <a:ext cx="9528048"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BBBBBB"/>
                </a:solidFill>
                <a:latin typeface="Malgun Gothic"/>
                <a:ea typeface="Malgun Gothic"/>
                <a:cs typeface="Malgun Gothic"/>
              </a:rPr>
              <a:t>CHAPTER 05</a:t>
            </a:r>
          </a:p>
        </p:txBody>
      </p:sp>
      <p:sp>
        <p:nvSpPr>
          <p:cNvPr id="7" name="직사각형 8"/>
          <p:cNvSpPr/>
          <p:nvPr/>
        </p:nvSpPr>
        <p:spPr>
          <a:xfrm>
            <a:off x="612648" y="2331720"/>
            <a:ext cx="10972800" cy="1380744"/>
          </a:xfrm>
          <a:prstGeom prst="rect">
            <a:avLst/>
          </a:prstGeom>
          <a:noFill/>
          <a:ln w="0">
            <a:noFill/>
          </a:ln>
        </p:spPr>
        <p:txBody>
          <a:bodyPr wrap="square" lIns="0" tIns="0" rIns="0" bIns="0" anchor="t">
            <a:noAutofit/>
          </a:bodyPr>
          <a:lstStyle/>
          <a:p>
            <a:pPr algn="l" eaLnBrk="0" latinLnBrk="0">
              <a:lnSpc>
                <a:spcPct val="100000"/>
              </a:lnSpc>
              <a:buNone/>
            </a:pPr>
            <a:r>
              <a:rPr lang="ko-KR" altLang="en-US" sz="7200" b="1" dirty="0">
                <a:solidFill>
                  <a:srgbClr val="FFFFFF"/>
                </a:solidFill>
                <a:latin typeface="Malgun Gothic"/>
                <a:ea typeface="Malgun Gothic"/>
                <a:cs typeface="Malgun Gothic"/>
              </a:rPr>
              <a:t>Q &amp; A</a:t>
            </a:r>
          </a:p>
        </p:txBody>
      </p:sp>
      <p:sp>
        <p:nvSpPr>
          <p:cNvPr id="8" name="직사각형 9"/>
          <p:cNvSpPr/>
          <p:nvPr/>
        </p:nvSpPr>
        <p:spPr>
          <a:xfrm>
            <a:off x="649224" y="4764024"/>
            <a:ext cx="10479024" cy="1234440"/>
          </a:xfrm>
          <a:prstGeom prst="rect">
            <a:avLst/>
          </a:prstGeom>
          <a:noFill/>
          <a:ln w="0">
            <a:noFill/>
          </a:ln>
        </p:spPr>
        <p:txBody>
          <a:bodyPr wrap="square" lIns="0" tIns="0" rIns="0" bIns="0" anchor="t">
            <a:noAutofit/>
          </a:bodyPr>
          <a:lstStyle/>
          <a:p>
            <a:pPr algn="l" eaLnBrk="0" latinLnBrk="0">
              <a:lnSpc>
                <a:spcPct val="110000"/>
              </a:lnSpc>
              <a:buNone/>
            </a:pPr>
            <a:r>
              <a:rPr lang="ko-KR" altLang="en-US" sz="1950" b="0" dirty="0">
                <a:solidFill>
                  <a:srgbClr val="BBBBBB"/>
                </a:solidFill>
                <a:latin typeface="Malgun Gothic"/>
                <a:ea typeface="Malgun Gothic"/>
                <a:cs typeface="Malgun Gothic"/>
              </a:rPr>
              <a:t>지금 가장 좋아 보이는 답을 골라 봅시다.</a:t>
            </a:r>
          </a:p>
          <a:p>
            <a:pPr algn="l" eaLnBrk="0" latinLnBrk="0">
              <a:lnSpc>
                <a:spcPct val="110000"/>
              </a:lnSpc>
              <a:buNone/>
            </a:pPr>
            <a:r>
              <a:rPr lang="ko-KR" altLang="en-US" sz="1950" b="0" dirty="0">
                <a:solidFill>
                  <a:srgbClr val="BBBBBB"/>
                </a:solidFill>
                <a:latin typeface="Malgun Gothic"/>
                <a:ea typeface="Malgun Gothic"/>
                <a:cs typeface="Malgun Gothic"/>
              </a:rPr>
              <a:t>틀렸다면, 왜 안전하지 않았는지 함께 따져 봅시다.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71012</Words>
  <Application>Microsoft Office PowerPoint</Application>
  <DocSecurity>0</DocSecurity>
  <PresentationFormat>와이드스크린</PresentationFormat>
  <Paragraphs>9316</Paragraphs>
  <Slides>197</Slides>
  <Notes>197</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5장 그리디 알고리즘</dc:title>
  <dc:creator>Walnut Exporter</dc:creator>
  <cp:lastModifiedBy>상돈 박</cp:lastModifiedBy>
  <cp:revision>14</cp:revision>
  <dcterms:created xsi:type="dcterms:W3CDTF">2026-09-19T13:48:20Z</dcterms:created>
  <dcterms:modified xsi:type="dcterms:W3CDTF">2026-10-11T15:04:15Z</dcterms:modified>
</cp:coreProperties>
</file>