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snapToObjects="1">
      <p:cViewPr>
        <p:scale>
          <a:sx n="1" d="1"/>
          <a:sy n="1" d="1"/>
        </p:scale>
        <p:origin x="0" y="0"/>
      </p:cViewPr>
      <p:guideLst/>
    </p:cSldViewPr>
  </p:slide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notesMaster" Target="notesMasters/notesMaster1.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slide" Target="slides/slide224.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231" Type="http://schemas.openxmlformats.org/officeDocument/2006/relationships/presProps" Target="presProps.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viewProps" Target="viewProp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theme" Target="theme/theme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분할→부분 문제 해결→결합입니다.</a:t>
            </a:r>
          </a:p>
          <a:p>
            <a:r>
              <a:t>작은 문제를 해결한 결과를 이용해 원래 문제의 답을 구성한다.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두 부분을 각각 정렬한 뒤 병합한다입니다.</a:t>
            </a:r>
          </a:p>
          <a:p>
            <a:r>
              <a:t>병합은 정렬된 두 배열을 입력으로 받는다. 중복과 홀수 길이도 처리할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p+q−1입니다.</a:t>
            </a:r>
          </a:p>
          <a:p>
            <a:r>
              <a:t>한쪽이 먼저 소진되면 남은 원소는 비교 없이 복사한다. 마지막 하나를 남길 때까지 비교할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왼쪽 부분의 원소입니다.</a:t>
            </a:r>
          </a:p>
          <a:p>
            <a:r>
              <a:t>원래 배열에서 왼쪽 부분이 앞에 있으므로 동등 키의 상대 순서를 보존한다.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T(n)=2T(n/2)+Θ(n)입니다.</a:t>
            </a:r>
          </a:p>
          <a:p>
            <a:r>
              <a:t>두 부분을 모두 재귀적으로 정렬하고 전체 길이에 비례해 병합한다.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Θ(n log n)입니다.</a:t>
            </a:r>
          </a:p>
          <a:p>
            <a:r>
              <a:t>모든 재귀 단계에서 각 원소를 병합하므로 최선 입력에서도 같은 점근적 비용이다.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Θ(n)입니다.</a:t>
            </a:r>
          </a:p>
          <a:p>
            <a:r>
              <a:t>한 번의 비교마다 원소 하나가 확정된다. 최악 n−1번 비교하므로 Θ(n)이다.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이미 정렬되어 있고 더 나눌 필요가 없다입니다.</a:t>
            </a:r>
          </a:p>
          <a:p>
            <a:r>
              <a:t>빈 배열도 정렬된 배열로 취급하면 경계 처리가 자연스럽다.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가장 큰 원소 하나입니다.</a:t>
            </a:r>
          </a:p>
          <a:p>
            <a:r>
              <a:t>빈 구간을 허용하지 않으므로 0으로 초기화하면 잘못된 답이 될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왼쪽 내부·오른쪽 내부·경계를 가로지르는 구간입니다.</a:t>
            </a:r>
          </a:p>
          <a:p>
            <a:r>
              <a:t>모든 연속 구간은 이 세 경우 중 하나에 속한다.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왼쪽 최대 접미 합+오른쪽 최대 접두 합입니다.</a:t>
            </a:r>
          </a:p>
          <a:p>
            <a:r>
              <a:t>경계를 반드시 포함해야 하므로 왼쪽 끝부분과 오른쪽 앞부분이 이어져야 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mid와 mid+1입니다.</a:t>
            </a:r>
          </a:p>
          <a:p>
            <a:r>
              <a:t>왼쪽 부분은 mid를 포함하고 오른쪽 부분은 mid+1에서 시작한다.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Θ(n log n)입니다.</a:t>
            </a:r>
          </a:p>
          <a:p>
            <a:r>
              <a:t>두 절반의 답과 선형 결합으로 T(n)=2T(n/2)+Θ(n)이다.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선택한 인덱스가 연속이어야 한다입니다.</a:t>
            </a:r>
          </a:p>
          <a:p>
            <a:r>
              <a:t>중간 음수도 구간의 일부로 포함해야 한다. 양수만 골라 더하는 문제와 다르다.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n(n−1)/2입니다.</a:t>
            </a:r>
          </a:p>
          <a:p>
            <a:r>
              <a:t>순서 없는 두 점 조합을 한 번씩 비교한다.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띠 밖 점을 포함한 교차 쌍은 거리가 d보다 작을 수 없다입니다.</a:t>
            </a:r>
          </a:p>
          <a:p>
            <a:r>
              <a:t>교차 쌍의 수평 거리만으로도 d 이상이 되면 개선할 수 없다.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세로 거리가 d 이상인 후보를 제외한다입니다.</a:t>
            </a:r>
          </a:p>
          <a:p>
            <a:r>
              <a:t>y 차이가 이미 d 이상이면 유클리드 거리도 d 이상이다.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Θ(n log² n)입니다.</a:t>
            </a:r>
          </a:p>
          <a:p>
            <a:r>
              <a:t>T(n)=2T(n/2)+Θ(n log n)을 층별로 합하면 로그 인수가 하나 더 생긴다.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y 정렬 순서를 재사용하여 결합을 선형으로 한다입니다.</a:t>
            </a:r>
          </a:p>
          <a:p>
            <a:r>
              <a:t>초기 정렬 뒤 정렬 순서를 재귀 분할과 병합으로 유지하면 각 층 비용이 선형이다.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5번, 0입니다.</a:t>
            </a:r>
          </a:p>
          <a:p>
            <a:r>
              <a:t>같은 좌표의 두 점도 서로 다른 점 항목이면 거리가 0이다.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비음수에서 제곱근이 엄격히 증가한다입니다.</a:t>
            </a:r>
          </a:p>
          <a:p>
            <a:r>
              <a:t>거리 순위는 제곱거리 순위와 같으므로 비교마다 제곱근을 구하지 않아도 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그 색 하나를 기록하고 종료한다입니다.</a:t>
            </a:r>
          </a:p>
          <a:p>
            <a:r>
              <a:t>균일 영역을 리프 하나로 표현하는 것이 압축의 핵심이다.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4입니다.</a:t>
            </a:r>
          </a:p>
          <a:p>
            <a:r>
              <a:t>좌상·우상·좌하·우하의 네 사분면으로 나눈다.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각 부분의 공간 위치를 복원해야 하기 때문이다입니다.</a:t>
            </a:r>
          </a:p>
          <a:p>
            <a:r>
              <a:t>색 목록만 같아도 자식 순서가 달라지면 복원 영상이 달라진다.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전체가 한 색인 영상입니다.</a:t>
            </a:r>
          </a:p>
          <a:p>
            <a:r>
              <a:t>전체 한 색이면 크기와 무관하게 색 기호 하나로 표현할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경계를 걸친 객체와 이웃 영역을 누락하지 않는다입니다.</a:t>
            </a:r>
          </a:p>
          <a:p>
            <a:r>
              <a:t>공간 분할은 후보를 줄이는 장치다. 실제 영역이 겹치는 객체는 경계 양쪽에도 있을 수 있다.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재귀 부분 문제의 개수입니다.</a:t>
            </a:r>
          </a:p>
          <a:p>
            <a:r>
              <a:t>b는 크기 축소 비율, f(n)은 재귀 호출 외 작업 비용이다.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Θ(n²)입니다.</a:t>
            </a:r>
          </a:p>
          <a:p>
            <a:r>
              <a:t>기준 지수 log₂4=2이고 결합 비용은 그보다 다항식 차이로 작다.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Θ(n²)입니다.</a:t>
            </a:r>
          </a:p>
          <a:p>
            <a:r>
              <a:t>각 아래 층의 전체 비용이 절반으로 줄어 최상위 층이 지배한다.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Θ(n^(log₂3))입니다.</a:t>
            </a:r>
          </a:p>
          <a:p>
            <a:r>
              <a:t>기준 지수 log₂3≈1.585가 결합 비용의 지수 1보다 크다.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부분 문제 크기가 n/b 꼴의 고정 비율이 아니다입니다.</a:t>
            </a:r>
          </a:p>
          <a:p>
            <a:r>
              <a:t>한 칸 감소 점화식은 대입이나 합으로 분석한다.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충분히 큰 모든 n에서 a·f(n/b)≤c·f(n), 어떤 0&lt;c&lt;1입니다.</a:t>
            </a:r>
          </a:p>
          <a:p>
            <a:r>
              <a:t>정규성 조건은 결합 비용이 아래 층으로 갈 때 적절히 감소하도록 보장한다.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(x₁+x₀)(y₁+y₀)−x₁y₁−x₀y₀입니다.</a:t>
            </a:r>
          </a:p>
          <a:p>
            <a:r>
              <a:t>합의 곱에서 양 끝 곱을 빼면 x₁y₀+x₀y₁이 남는다.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4번에서 3번입니다.</a:t>
            </a:r>
          </a:p>
          <a:p>
            <a:r>
              <a:t>대수적 항등식으로 교차항 둘을 하나의 곱으로 계산한다.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2번, x//10^m, x mod 10^m입니다.</a:t>
            </a:r>
          </a:p>
          <a:p>
            <a:r>
              <a:t>몫이 높은 자리, 나머지가 낮은 자리이다.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n³입니다.</a:t>
            </a:r>
          </a:p>
          <a:p>
            <a:r>
              <a:t>결과 n²칸마다 길이 n인 내적을 계산한다.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8번에서 7번입니다.</a:t>
            </a:r>
          </a:p>
          <a:p>
            <a:r>
              <a:t>추가 덧셈과 뺄셈을 사용해 한 번의 블록 곱셈을 줄인다.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4번, Θ(n^(log₂7))입니다.</a:t>
            </a:r>
          </a:p>
          <a:p>
            <a:r>
              <a:t>log₂7≈2.807이다. 결합의 이차 비용보다 재귀 곱셈의 지수가 크다.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1번, 0으로 채워 다음 2의 거듭제곱 크기로 확장한다입니다.</a:t>
            </a:r>
          </a:p>
          <a:p>
            <a:r>
              <a:t>0 패딩 후 원래 크기 결과만 취하면 원래 곱을 보존한다.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분할·결합과 복잡도을 확인하는 문항입니다. 먼저 조건과 요구한 반환값을 읽어 주세요. 다섯 보기 중 가장 적절한 하나를 골라 주세요.</a:t>
            </a:r>
          </a:p>
          <a:p>
            <a:endParaRPr/>
          </a:p>
          <a:p>
            <a:r>
              <a:t>출제 기준: 4장 강의 내용과 그 응용.</a:t>
            </a:r>
          </a:p>
          <a:p>
            <a:r>
              <a:t>배점: 정답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3번, 추가 연산과 호출 비용의 상수가 크기 때문이다입니다.</a:t>
            </a:r>
          </a:p>
          <a:p>
            <a:r>
              <a:t>점근적 성장률과 특정 크기·환경의 실제 실행 시간은 구분해야 한다.</a:t>
            </a:r>
          </a:p>
          <a:p>
            <a:r>
              <a:t>여기서는 4.1–4.8 분할·결합과 복잡도의 조건을 놓치지 않았는지 확인해 주세요.</a:t>
            </a:r>
          </a:p>
          <a:p>
            <a:endParaRPr/>
          </a:p>
          <a:p>
            <a:r>
              <a:t>채점 기준</a:t>
            </a:r>
          </a:p>
          <a:p>
            <a:r>
              <a:t>- 정답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[1,2,3,4,7,8], 5회입니다.</a:t>
            </a:r>
          </a:p>
          <a:p>
            <a:r>
              <a:t>1:2,4:2,4:3,4:8,7:8을 비교한 뒤 남은 8을 복사한다.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2회입니다.</a:t>
            </a:r>
          </a:p>
          <a:p>
            <a:r>
              <a:t>1과 3,2와 3을 비교한 뒤 오른쪽 나머지를 복사한다.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[3,8], [1,6]; [1,3,6,8]입니다.</a:t>
            </a:r>
          </a:p>
          <a:p>
            <a:r>
              <a:t>각 두 원소를 먼저 정렬한 뒤 두 정렬 배열을 병합한다.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8개, 7회입니다.</a:t>
            </a:r>
          </a:p>
          <a:p>
            <a:r>
              <a:t>리프 8개인 완전 이진 재귀 트리의 내부 노드는 7개이다.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24입니다.</a:t>
            </a:r>
          </a:p>
          <a:p>
            <a:r>
              <a:t>각 병합 층 비용이 8이고 병합 층이 3개이다.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10, [1,3]입니다.</a:t>
            </a:r>
          </a:p>
          <a:p>
            <a:r>
              <a:t>7−2+5=10이며 양옆의 −4나 −9를 포함하면 줄어든다.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 [1,1]입니다.</a:t>
            </a:r>
          </a:p>
          <a:p>
            <a:r>
              <a:t>가장 덜 작은 원소 하나를 고른다. 빈 구간 0은 허용되지 않는다.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3,5,8입니다.</a:t>
            </a:r>
          </a:p>
          <a:p>
            <a:r>
              <a:t>왼쪽은 [3]이 3, 오른쪽은 [5]가 5로 최대이다. 경계 연결 구간은 [3,5]이다.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11,6입니다.</a:t>
            </a:r>
          </a:p>
          <a:p>
            <a:r>
              <a:t>5와 6을 함께 포함하려면 −100도 포함해야 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21개입니다.</a:t>
            </a:r>
          </a:p>
          <a:p>
            <a:r>
              <a:t>길이별 6+5+4+3+2+1=n(n+1)/2이다.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2,3,2,3입니다.</a:t>
            </a:r>
          </a:p>
          <a:p>
            <a:r>
              <a:t>접두 최대는 처음 3개, 접미 최대는 전체, 연속 최대는 인덱스 0~2이다.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A–C,9입니다.</a:t>
            </a:r>
          </a:p>
          <a:p>
            <a:r>
              <a:t>A–C는 3, B–C는 4이고 다른 쌍들은 더 멀다.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25,5입니다.</a:t>
            </a:r>
          </a:p>
          <a:p>
            <a:r>
              <a:t>좌표 차가 3과 4이므로 3²+4²=25이다.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d=4, 6&lt;x&lt;14입니다.</a:t>
            </a:r>
          </a:p>
          <a:p>
            <a:r>
              <a:t>기존 거리 4보다 엄격히 작은 쌍만 찾으려면 수평 거리도 4보다 작아야 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66회입니다.</a:t>
            </a:r>
          </a:p>
          <a:p>
            <a:r>
              <a:t>12×11/2=66이다.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(0110)입니다.</a:t>
            </a:r>
          </a:p>
          <a:p>
            <a:r>
              <a:t>네 칸이 각각 0,1,1,0이므로 그 순서로 적는다.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(0110)입니다.</a:t>
            </a:r>
          </a:p>
          <a:p>
            <a:r>
              <a:t>네 사분면이 각각 한 색이므로 각 사분면을 한 기호로 기록한다.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 1개입니다.</a:t>
            </a:r>
          </a:p>
          <a:p>
            <a:r>
              <a:t>루트에서 균일하므로 자식을 만들지 않는다.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1개,4개입니다.</a:t>
            </a:r>
          </a:p>
          <a:p>
            <a:r>
              <a:t>혼합 루트 하나와 네 단위 칸 리프가 있다.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깊이 3,64개입니다.</a:t>
            </a:r>
          </a:p>
          <a:p>
            <a:r>
              <a:t>변 길이 8→4→2→1이며 마지막 칸은 8²개이다.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9,3,2입니다.</a:t>
            </a:r>
          </a:p>
          <a:p>
            <a:r>
              <a:t>부분 문제 9개가 각각 n/3 크기이고 3²=9이다.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Θ(n³)입니다.</a:t>
            </a:r>
          </a:p>
          <a:p>
            <a:r>
              <a:t>기준 지수 3이 결합 지수 2보다 크므로 재귀 하위 층이 지배한다.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Θ(n² log n)입니다.</a:t>
            </a:r>
          </a:p>
          <a:p>
            <a:r>
              <a:t>각 층 비용이 Θ(n²)이고 층 수가 Θ(log n)이다.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Θ(n log² n)입니다.</a:t>
            </a:r>
          </a:p>
          <a:p>
            <a:r>
              <a:t>층 비용은 n log n,n(log n−1),…이고 로그 길이 등차수열을 합한다.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M1=3,M2=8,M3=21입니다.</a:t>
            </a:r>
          </a:p>
          <a:p>
            <a:r>
              <a:t>x₁=1,x₀=2,y₁=3,y₀=4이다. 합의 곱은 3×7=21이다.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10,408입니다.</a:t>
            </a:r>
          </a:p>
          <a:p>
            <a:r>
              <a:t>교차항 21−3−8=10, 결과 3×100+10×10+8=408이다.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123,45입니다.</a:t>
            </a:r>
          </a:p>
          <a:p>
            <a:r>
              <a:t>12345=123×100+45이다. 두 부분 길이가 꼭 같을 필요는 없다.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[[4,4],[10,8]]입니다.</a:t>
            </a:r>
          </a:p>
          <a:p>
            <a:r>
              <a:t>각 결과 칸은 A의 행과 B의 열의 내적이다.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8회,7회입니다.</a:t>
            </a:r>
          </a:p>
          <a:p>
            <a:r>
              <a:t>표준은 결과 4칸에 곱셈 2회씩, 슈트라센은 7개 중간 곱을 재사용한다.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4.2–4.8 계산과 실행 추적을 확인하는 문항입니다. 먼저 조건과 요구한 반환값을 읽어 주세요. 결과만 적지 말고 어떻게 판단했는지도 적어 주세요.</a:t>
            </a:r>
          </a:p>
          <a:p>
            <a:endParaRPr/>
          </a:p>
          <a:p>
            <a:r>
              <a:t>출제 기준: 4장 강의 내용과 그 응용.</a:t>
            </a:r>
          </a:p>
          <a:p>
            <a:r>
              <a:t>배점: 요구한 결과를 모두 정확히 제시 2점, 비교·전이·계산의 근거 제시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343개입니다.</a:t>
            </a:r>
          </a:p>
          <a:p>
            <a:r>
              <a:t>분할 깊이가 3이고 각 내부 노드에 7개 곱셈 자식이 있어 7³=343이다.</a:t>
            </a:r>
          </a:p>
          <a:p>
            <a:r>
              <a:t>여기서는 4.2–4.8 계산과 실행 추적의 조건을 놓치지 않았는지 확인해 주세요.</a:t>
            </a:r>
          </a:p>
          <a:p>
            <a:endParaRPr/>
          </a:p>
          <a:p>
            <a:r>
              <a:t>채점 기준</a:t>
            </a:r>
          </a:p>
          <a:p>
            <a:r>
              <a:t>- 요구한 결과를 모두 정확히 제시 2점</a:t>
            </a:r>
          </a:p>
          <a:p>
            <a:r>
              <a:t>- 비교·전이·계산의 근거 제시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두 입력 정렬 전제 1점, 전체 최소 근거 3점, 반복 결론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각 입력이 정렬되어 있어 현재 원소가 그 입력의 남은 최솟값이다.입니다.</a:t>
            </a:r>
          </a:p>
          <a:p>
            <a:r>
              <a:t>두 최솟값 중 작은 값은 전체 남은 원소의 최솟값이다. 이를 반복하면 정렬 결과가 된다.</a:t>
            </a:r>
          </a:p>
          <a:p>
            <a:r>
              <a:t>여기서는 4.1–4.8 정당성·반례·설계의 조건을 놓치지 않았는지 확인해 주세요.</a:t>
            </a:r>
          </a:p>
          <a:p>
            <a:endParaRPr/>
          </a:p>
          <a:p>
            <a:r>
              <a:t>채점 기준</a:t>
            </a:r>
          </a:p>
          <a:p>
            <a:r>
              <a:t>- 두 입력 정렬 전제 1점</a:t>
            </a:r>
          </a:p>
          <a:p>
            <a:r>
              <a:t>- 전체 최소 근거 3점</a:t>
            </a:r>
          </a:p>
          <a:p>
            <a:r>
              <a:t>- 반복 결론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반례 2점, 원래 순서 비교 2점, 수정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왼쪽 [2A], 오른쪽 [2B]이면 결과가 [2B,2A]가 된다.입니다.</a:t>
            </a:r>
          </a:p>
          <a:p>
            <a:r>
              <a:t>원래 앞에 있던 A가 뒤로 이동했다. 왼쪽을 우선하면 같은 키의 상대 순서가 유지된다.</a:t>
            </a:r>
          </a:p>
          <a:p>
            <a:r>
              <a:t>여기서는 4.1–4.8 정당성·반례·설계의 조건을 놓치지 않았는지 확인해 주세요.</a:t>
            </a:r>
          </a:p>
          <a:p>
            <a:endParaRPr/>
          </a:p>
          <a:p>
            <a:r>
              <a:t>채점 기준</a:t>
            </a:r>
          </a:p>
          <a:p>
            <a:r>
              <a:t>- 반례 2점</a:t>
            </a:r>
          </a:p>
          <a:p>
            <a:r>
              <a:t>- 원래 순서 비교 2점</a:t>
            </a:r>
          </a:p>
          <a:p>
            <a:r>
              <a:t>- 수정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길이·기저 2점, 두 분할 구간 2점, 무누락 설명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길이가 hi−lo이고 hi−lo≤1이면 종료한다. 분할은 [lo,mid),[mid,hi)이다.입니다.</a:t>
            </a:r>
          </a:p>
          <a:p>
            <a:r>
              <a:t>원소가 중복되거나 빠지지 않고 빈 구간도 길이 0으로 표현된다.</a:t>
            </a:r>
          </a:p>
          <a:p>
            <a:r>
              <a:t>여기서는 4.1–4.8 정당성·반례·설계의 조건을 놓치지 않았는지 확인해 주세요.</a:t>
            </a:r>
          </a:p>
          <a:p>
            <a:endParaRPr/>
          </a:p>
          <a:p>
            <a:r>
              <a:t>채점 기준</a:t>
            </a:r>
          </a:p>
          <a:p>
            <a:r>
              <a:t>- 길이·기저 2점</a:t>
            </a:r>
          </a:p>
          <a:p>
            <a:r>
              <a:t>- 두 분할 구간 2점</a:t>
            </a:r>
          </a:p>
          <a:p>
            <a:r>
              <a:t>- 무누락 설명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반례 2점, 실제 답 1점, 누락 경우와 수정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[2,3]을 둘로 나누면 각 답은 2,3이나 전체 답은 5이다.입니다.</a:t>
            </a:r>
          </a:p>
          <a:p>
            <a:r>
              <a:t>경계를 가로지르는 구간을 빼먹었다. 왼쪽 최대 접미와 오른쪽 최대 접두를 더한 후보가 필요하다.</a:t>
            </a:r>
          </a:p>
          <a:p>
            <a:r>
              <a:t>여기서는 4.1–4.8 정당성·반례·설계의 조건을 놓치지 않았는지 확인해 주세요.</a:t>
            </a:r>
          </a:p>
          <a:p>
            <a:endParaRPr/>
          </a:p>
          <a:p>
            <a:r>
              <a:t>채점 기준</a:t>
            </a:r>
          </a:p>
          <a:p>
            <a:r>
              <a:t>- 반례 2점</a:t>
            </a:r>
          </a:p>
          <a:p>
            <a:r>
              <a:t>- 실제 답 1점</a:t>
            </a:r>
          </a:p>
          <a:p>
            <a:r>
              <a:t>- 누락 경우와 수정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반례 2점, 초기화 수정 2점, 비어 있지 않음 연결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[−5,−2]에서 잘못된 0이 남는다. 첫 유효 합이나 음의 무한대로 초기화한다.입니다.</a:t>
            </a:r>
          </a:p>
          <a:p>
            <a:r>
              <a:t>빈 구간을 허용하지 않는 계약을 초기값과 기저 사례에도 반영해야 한다.</a:t>
            </a:r>
          </a:p>
          <a:p>
            <a:r>
              <a:t>여기서는 4.1–4.8 정당성·반례·설계의 조건을 놓치지 않았는지 확인해 주세요.</a:t>
            </a:r>
          </a:p>
          <a:p>
            <a:endParaRPr/>
          </a:p>
          <a:p>
            <a:r>
              <a:t>채점 기준</a:t>
            </a:r>
          </a:p>
          <a:p>
            <a:r>
              <a:t>- 반례 2점</a:t>
            </a:r>
          </a:p>
          <a:p>
            <a:r>
              <a:t>- 초기화 수정 2점</a:t>
            </a:r>
          </a:p>
          <a:p>
            <a:r>
              <a:t>- 비어 있지 않음 연결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경계 두 위치 포함 2점, 접미·접두 도출 2점, 독립 최대화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경계를 지나는 연속 구간은 반드시 mid와 mid+1을 포함한다.입니다.</a:t>
            </a:r>
          </a:p>
          <a:p>
            <a:r>
              <a:t>따라서 왼쪽 선택은 mid에서 끝나고 오른쪽 선택은 mid+1에서 시작한다. 두 쪽을 각각 최대화해 합한다.</a:t>
            </a:r>
          </a:p>
          <a:p>
            <a:r>
              <a:t>여기서는 4.1–4.8 정당성·반례·설계의 조건을 놓치지 않았는지 확인해 주세요.</a:t>
            </a:r>
          </a:p>
          <a:p>
            <a:endParaRPr/>
          </a:p>
          <a:p>
            <a:r>
              <a:t>채점 기준</a:t>
            </a:r>
          </a:p>
          <a:p>
            <a:r>
              <a:t>- 경계 두 위치 포함 2점</a:t>
            </a:r>
          </a:p>
          <a:p>
            <a:r>
              <a:t>- 접미·접두 도출 2점</a:t>
            </a:r>
          </a:p>
          <a:p>
            <a:r>
              <a:t>- 독립 최대화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많은 점 배치 2점, 전체 수와 점당 수 구분 3점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분할선 주변에 세로로 길게 많은 점이 있을 수 있어 띠에는 Θ(n)개가 들어갈 수 있다.입니다.</a:t>
            </a:r>
          </a:p>
          <a:p>
            <a:r>
              <a:t>상수는 각 점에 대해 검사해야 하는 인접 후보 수이다. 띠 전체가 7개 이하라는 뜻이 아니다.</a:t>
            </a:r>
          </a:p>
          <a:p>
            <a:r>
              <a:t>여기서는 4.1–4.8 정당성·반례·설계의 조건을 놓치지 않았는지 확인해 주세요.</a:t>
            </a:r>
          </a:p>
          <a:p>
            <a:endParaRPr/>
          </a:p>
          <a:p>
            <a:r>
              <a:t>채점 기준</a:t>
            </a:r>
          </a:p>
          <a:p>
            <a:r>
              <a:t>- 많은 점 배치 2점</a:t>
            </a:r>
          </a:p>
          <a:p>
            <a:r>
              <a:t>- 전체 수와 점당 수 구분 3점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추가 정렬 비용 2점, 총 차수 2점, 개선 방향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결합 비용이 O(n)이 아니라 O(n log n)이 되어 전체 O(n log² n)이 된다.입니다.</a:t>
            </a:r>
          </a:p>
          <a:p>
            <a:r>
              <a:t>정렬된 y 순서를 분할·병합으로 재사용해야 층별 선형 비용을 얻는다.</a:t>
            </a:r>
          </a:p>
          <a:p>
            <a:r>
              <a:t>여기서는 4.1–4.8 정당성·반례·설계의 조건을 놓치지 않았는지 확인해 주세요.</a:t>
            </a:r>
          </a:p>
          <a:p>
            <a:endParaRPr/>
          </a:p>
          <a:p>
            <a:r>
              <a:t>채점 기준</a:t>
            </a:r>
          </a:p>
          <a:p>
            <a:r>
              <a:t>- 추가 정렬 비용 2점</a:t>
            </a:r>
          </a:p>
          <a:p>
            <a:r>
              <a:t>- 총 차수 2점</a:t>
            </a:r>
          </a:p>
          <a:p>
            <a:r>
              <a:t>- 개선 방향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0 쌍 손실 2점, 인덱스 구분 2점, 대안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서로 다른 항목의 거리 0인 최적 쌍을 삭제할 수 있다.입니다.</a:t>
            </a:r>
          </a:p>
          <a:p>
            <a:r>
              <a:t>문제의 점은 입력 인덱스로 구분한다. 중복 좌표를 허용하는 계약이면 그대로 처리하거나 즉시 0을 반환한다.</a:t>
            </a:r>
          </a:p>
          <a:p>
            <a:r>
              <a:t>여기서는 4.1–4.8 정당성·반례·설계의 조건을 놓치지 않았는지 확인해 주세요.</a:t>
            </a:r>
          </a:p>
          <a:p>
            <a:endParaRPr/>
          </a:p>
          <a:p>
            <a:r>
              <a:t>채점 기준</a:t>
            </a:r>
          </a:p>
          <a:p>
            <a:r>
              <a:t>- 0 쌍 손실 2점</a:t>
            </a:r>
          </a:p>
          <a:p>
            <a:r>
              <a:t>- 인덱스 구분 2점</a:t>
            </a:r>
          </a:p>
          <a:p>
            <a:r>
              <a:t>- 대안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위치·크기 2점, 색으로 복원 2점, 혼합 영역 구별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영역의 위치와 크기를 알고 있으므로 색 하나로 모든 칸을 채울 수 있다.입니다.</a:t>
            </a:r>
          </a:p>
          <a:p>
            <a:r>
              <a:t>혼합 영역만 정해진 순서의 네 자식을 읽는다. 리프의 색과 재귀 위치가 함께 정보를 보존한다.</a:t>
            </a:r>
          </a:p>
          <a:p>
            <a:r>
              <a:t>여기서는 4.1–4.8 정당성·반례·설계의 조건을 놓치지 않았는지 확인해 주세요.</a:t>
            </a:r>
          </a:p>
          <a:p>
            <a:endParaRPr/>
          </a:p>
          <a:p>
            <a:r>
              <a:t>채점 기준</a:t>
            </a:r>
          </a:p>
          <a:p>
            <a:r>
              <a:t>- 위치·크기 2점</a:t>
            </a:r>
          </a:p>
          <a:p>
            <a:r>
              <a:t>- 색으로 복원 2점</a:t>
            </a:r>
          </a:p>
          <a:p>
            <a:r>
              <a:t>- 혼합 영역 구별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혼합성 2점, 리프 수 2점, 출력 차수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작은 영역에도 색이 섞여 결국 1×1까지 내려가야 한다.입니다.</a:t>
            </a:r>
          </a:p>
          <a:p>
            <a:r>
              <a:t>N²개 리프 기호와 내부 구조 기호가 필요하므로 균일 영상과 달리 출력 크기가 Θ(N²)이다.</a:t>
            </a:r>
          </a:p>
          <a:p>
            <a:r>
              <a:t>여기서는 4.1–4.8 정당성·반례·설계의 조건을 놓치지 않았는지 확인해 주세요.</a:t>
            </a:r>
          </a:p>
          <a:p>
            <a:endParaRPr/>
          </a:p>
          <a:p>
            <a:r>
              <a:t>채점 기준</a:t>
            </a:r>
          </a:p>
          <a:p>
            <a:r>
              <a:t>- 혼합성 2점</a:t>
            </a:r>
          </a:p>
          <a:p>
            <a:r>
              <a:t>- 리프 수 2점</a:t>
            </a:r>
          </a:p>
          <a:p>
            <a:r>
              <a:t>- 출력 차수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경계 반례 2점, 객체 크기 고려 1점, 수정 방향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경계 양쪽에 있는 두 큰 객체의 영역이 경계를 넘어 겹칠 수 있다.입니다.</a:t>
            </a:r>
          </a:p>
          <a:p>
            <a:r>
              <a:t>서로 다른 리프에 등록됐더라도 경계·이웃 영역을 조회하거나 객체의 전체 경계 상자를 이용해야 한다.</a:t>
            </a:r>
          </a:p>
          <a:p>
            <a:r>
              <a:t>여기서는 4.1–4.8 정당성·반례·설계의 조건을 놓치지 않았는지 확인해 주세요.</a:t>
            </a:r>
          </a:p>
          <a:p>
            <a:endParaRPr/>
          </a:p>
          <a:p>
            <a:r>
              <a:t>채점 기준</a:t>
            </a:r>
          </a:p>
          <a:p>
            <a:r>
              <a:t>- 경계 반례 2점</a:t>
            </a:r>
          </a:p>
          <a:p>
            <a:r>
              <a:t>- 객체 크기 고려 1점</a:t>
            </a:r>
          </a:p>
          <a:p>
            <a:r>
              <a:t>- 수정 방향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조건 불일치 2점, 올바른 분석 2점, 차수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n log n은 Θ(n)이 아니므로 그 경우의 조건을 만족하지 않는다.입니다.</a:t>
            </a:r>
          </a:p>
          <a:p>
            <a:r>
              <a:t>층별 비용 n(log n−i)을 합하거나 확장 정리를 사용하면 Θ(n log² n)이다.</a:t>
            </a:r>
          </a:p>
          <a:p>
            <a:r>
              <a:t>여기서는 4.1–4.8 정당성·반례·설계의 조건을 놓치지 않았는지 확인해 주세요.</a:t>
            </a:r>
          </a:p>
          <a:p>
            <a:endParaRPr/>
          </a:p>
          <a:p>
            <a:r>
              <a:t>채점 기준</a:t>
            </a:r>
          </a:p>
          <a:p>
            <a:r>
              <a:t>- 조건 불일치 2점</a:t>
            </a:r>
          </a:p>
          <a:p>
            <a:r>
              <a:t>- 올바른 분석 2점</a:t>
            </a:r>
          </a:p>
          <a:p>
            <a:r>
              <a:t>- 차수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전개 2점, 합 계산 2점, 적용 범위 구별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n+(n−1)+…+1=Θ(n²)이다.입니다.</a:t>
            </a:r>
          </a:p>
          <a:p>
            <a:r>
              <a:t>부분 문제 크기가 고정 비율 감소가 아니므로 기본 마스터 정리를 억지로 적용하지 않는다.</a:t>
            </a:r>
          </a:p>
          <a:p>
            <a:r>
              <a:t>여기서는 4.1–4.8 정당성·반례·설계의 조건을 놓치지 않았는지 확인해 주세요.</a:t>
            </a:r>
          </a:p>
          <a:p>
            <a:endParaRPr/>
          </a:p>
          <a:p>
            <a:r>
              <a:t>채점 기준</a:t>
            </a:r>
          </a:p>
          <a:p>
            <a:r>
              <a:t>- 전개 2점</a:t>
            </a:r>
          </a:p>
          <a:p>
            <a:r>
              <a:t>- 합 계산 2점</a:t>
            </a:r>
          </a:p>
          <a:p>
            <a:r>
              <a:t>- 적용 범위 구별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분배법칙 전개 2점, 두 항 소거 1점, 자리 결합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(x₁+x₀)(y₁+y₀)−x₁y₁−x₀y₀=x₁y₀+x₀y₁이다.입니다.</a:t>
            </a:r>
          </a:p>
          <a:p>
            <a:r>
              <a:t>이 값을 B배하고 높은 곱에 B²를 곱해 더하면 원래 자리값을 복원한다.</a:t>
            </a:r>
          </a:p>
          <a:p>
            <a:r>
              <a:t>여기서는 4.1–4.8 정당성·반례·설계의 조건을 놓치지 않았는지 확인해 주세요.</a:t>
            </a:r>
          </a:p>
          <a:p>
            <a:endParaRPr/>
          </a:p>
          <a:p>
            <a:r>
              <a:t>채점 기준</a:t>
            </a:r>
          </a:p>
          <a:p>
            <a:r>
              <a:t>- 분배법칙 전개 2점</a:t>
            </a:r>
          </a:p>
          <a:p>
            <a:r>
              <a:t>- 두 항 소거 1점</a:t>
            </a:r>
          </a:p>
          <a:p>
            <a:r>
              <a:t>- 자리 결합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자릿수 절반 2점, 값과 구분 2점, 연산 비용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한 번 분할할 때 높은 자리와 낮은 자리로 나누므로 자릿수가 대략 절반이 된다.입니다.</a:t>
            </a:r>
          </a:p>
          <a:p>
            <a:r>
              <a:t>값은 일정 비율로 줄지 않는다. 덧셈과 자리 이동 비용도 자릿수에 따라 분석한다.</a:t>
            </a:r>
          </a:p>
          <a:p>
            <a:r>
              <a:t>여기서는 4.1–4.8 정당성·반례·설계의 조건을 놓치지 않았는지 확인해 주세요.</a:t>
            </a:r>
          </a:p>
          <a:p>
            <a:endParaRPr/>
          </a:p>
          <a:p>
            <a:r>
              <a:t>채점 기준</a:t>
            </a:r>
          </a:p>
          <a:p>
            <a:r>
              <a:t>- 자릿수 절반 2점</a:t>
            </a:r>
          </a:p>
          <a:p>
            <a:r>
              <a:t>- 값과 구분 2점</a:t>
            </a:r>
          </a:p>
          <a:p>
            <a:r>
              <a:t>- 연산 비용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성장률 의미 2점, 구체적 추가 비용 2점, 모순 아님 1점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점근적 차수는 충분히 큰 입력의 성장률이며 상수와 구현 오버헤드를 생략한다.입니다.</a:t>
            </a:r>
          </a:p>
          <a:p>
            <a:r>
              <a:t>작은 입력에서는 추가 덧셈·분할·호출 비용이 절감한 곱셈 비용보다 클 수 있다.</a:t>
            </a:r>
          </a:p>
          <a:p>
            <a:r>
              <a:t>여기서는 4.1–4.8 정당성·반례·설계의 조건을 놓치지 않았는지 확인해 주세요.</a:t>
            </a:r>
          </a:p>
          <a:p>
            <a:endParaRPr/>
          </a:p>
          <a:p>
            <a:r>
              <a:t>채점 기준</a:t>
            </a:r>
          </a:p>
          <a:p>
            <a:r>
              <a:t>- 성장률 의미 2점</a:t>
            </a:r>
          </a:p>
          <a:p>
            <a:r>
              <a:t>- 구체적 추가 비용 2점</a:t>
            </a:r>
          </a:p>
          <a:p>
            <a:r>
              <a:t>- 모순 아님 1점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0 항 설명 3점, 결과 자르기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추가된 성분은 0이므로 기존 행과 열의 내적에 추가되는 항은 모두 0이다.입니다.</a:t>
            </a:r>
          </a:p>
          <a:p>
            <a:r>
              <a:t>확장 행렬의 곱에서 원래 행·열 범위만 잘라내면 원래 곱과 같다.</a:t>
            </a:r>
          </a:p>
          <a:p>
            <a:r>
              <a:t>여기서는 4.1–4.8 정당성·반례·설계의 조건을 놓치지 않았는지 확인해 주세요.</a:t>
            </a:r>
          </a:p>
          <a:p>
            <a:endParaRPr/>
          </a:p>
          <a:p>
            <a:r>
              <a:t>채점 기준</a:t>
            </a:r>
          </a:p>
          <a:p>
            <a:r>
              <a:t>- 0 항 설명 3점</a:t>
            </a:r>
          </a:p>
          <a:p>
            <a:r>
              <a:t>- 결과 자르기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블록 원소 수 2점, 점화식 계수 1점, 전체 차수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크기 n/2 블록들의 덧셈·뺄셈은 원소별로 하므로 Θ(n²)이다. 전체 Θ(n^(log₂7))이다.입니다.</a:t>
            </a:r>
          </a:p>
          <a:p>
            <a:r>
              <a:t>재귀 곱셈 7개와 이차 결합 비용을 비교하면 기준 지수 log₂7이 2보다 크다.</a:t>
            </a:r>
          </a:p>
          <a:p>
            <a:r>
              <a:t>여기서는 4.1–4.8 정당성·반례·설계의 조건을 놓치지 않았는지 확인해 주세요.</a:t>
            </a:r>
          </a:p>
          <a:p>
            <a:endParaRPr/>
          </a:p>
          <a:p>
            <a:r>
              <a:t>채점 기준</a:t>
            </a:r>
          </a:p>
          <a:p>
            <a:r>
              <a:t>- 블록 원소 수 2점</a:t>
            </a:r>
          </a:p>
          <a:p>
            <a:r>
              <a:t>- 점화식 계수 1점</a:t>
            </a:r>
          </a:p>
          <a:p>
            <a:r>
              <a:t>- 전체 차수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4.1–4.8 정당성·반례·설계을 확인하는 문항입니다. 먼저 조건과 요구한 반환값을 읽어 주세요. 결과만 적지 말고 어떻게 판단했는지도 적어 주세요.</a:t>
            </a:r>
          </a:p>
          <a:p>
            <a:endParaRPr/>
          </a:p>
          <a:p>
            <a:r>
              <a:t>출제 기준: 4장 강의 내용과 그 응용.</a:t>
            </a:r>
          </a:p>
          <a:p>
            <a:r>
              <a:t>배점: 0 고정점 2점, 기저 수정 1점, 문제별 계약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n=0을 계속 둘로 나눠도 0이어서 종료하지 않을 수 있다. n≤1을 기저로 처리한다.입니다.</a:t>
            </a:r>
          </a:p>
          <a:p>
            <a:r>
              <a:t>빈 입력의 반환값은 문제마다 다르다. 정렬은 빈 배열을 반환하지만 비어 있지 않은 최대 연속합은 빈 입력을 금지할 수 있다.</a:t>
            </a:r>
          </a:p>
          <a:p>
            <a:r>
              <a:t>여기서는 4.1–4.8 정당성·반례·설계의 조건을 놓치지 않았는지 확인해 주세요.</a:t>
            </a:r>
          </a:p>
          <a:p>
            <a:endParaRPr/>
          </a:p>
          <a:p>
            <a:r>
              <a:t>채점 기준</a:t>
            </a:r>
          </a:p>
          <a:p>
            <a:r>
              <a:t>- 0 고정점 2점</a:t>
            </a:r>
          </a:p>
          <a:p>
            <a:r>
              <a:t>- 기저 수정 1점</a:t>
            </a:r>
          </a:p>
          <a:p>
            <a:r>
              <a:t>- 문제별 계약 2점</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정렬 배열 병합을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두 배열의 맨 앞 미처리 원소를 비교하고 작은 쪽을 출력한다.입니다.</a:t>
            </a:r>
          </a:p>
          <a:p>
            <a:r>
              <a:t>시간 O(n+m)..</a:t>
            </a:r>
          </a:p>
          <a:p>
            <a:r>
              <a:t>여기서는 정렬 배열 병합의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[[1,4,7],[2,3,8],[1,2,3,4,7,8]]</a:t>
            </a:r>
          </a:p>
          <a:p>
            <a:r>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정렬 배열 병합의 한 가지 정답 예시입니다.</a:t>
            </a:r>
          </a:p>
          <a:p>
            <a:r>
              <a:t>두 배열의 맨 앞 미처리 원소를 비교하고 작은 쪽을 출력한다.</a:t>
            </a:r>
          </a:p>
          <a:p>
            <a:r>
              <a:t>시간 O(n+m)..</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[[1,4,7],[2,3,8],[1,2,3,4,7,8]]</a:t>
            </a:r>
          </a:p>
          <a:p>
            <a:r>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정렬 배열 병합의 한 가지 정답 예시입니다.</a:t>
            </a:r>
          </a:p>
          <a:p>
            <a:r>
              <a:t>두 배열의 맨 앞 미처리 원소를 비교하고 작은 쪽을 출력한다.</a:t>
            </a:r>
          </a:p>
          <a:p>
            <a:r>
              <a:t>시간 O(n+m)..</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[[1,4,7],[2,3,8],[1,2,3,4,7,8]]</a:t>
            </a:r>
          </a:p>
          <a:p>
            <a:r>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 문제는 병합 정렬을 확인하는 문항입니다</a:t>
            </a:r>
            <a:r>
              <a:rPr lang="en-US" altLang="ko-KR"/>
              <a:t>. </a:t>
            </a:r>
            <a:r>
              <a:rPr lang="ko-KR" altLang="en-US"/>
              <a:t>먼저 조건과 요구한 반환값을 읽어 주세요</a:t>
            </a:r>
            <a:r>
              <a:rPr lang="en-US" altLang="ko-KR"/>
              <a:t>. </a:t>
            </a:r>
            <a:r>
              <a:rPr lang="ko-KR" altLang="en-US"/>
              <a:t>결과만 적지 말고 어떻게 판단했는지도 적어 주세요</a:t>
            </a:r>
            <a:r>
              <a:rPr lang="en-US" altLang="ko-KR"/>
              <a:t>.</a:t>
            </a:r>
          </a:p>
          <a:p>
            <a:endParaRPr lang="en-US" altLang="ko-KR"/>
          </a:p>
          <a:p>
            <a:r>
              <a:rPr lang="ko-KR" altLang="en-US"/>
              <a:t>출제 기준</a:t>
            </a:r>
            <a:r>
              <a:rPr lang="en-US" altLang="ko-KR"/>
              <a:t>: 4</a:t>
            </a:r>
            <a:r>
              <a:rPr lang="ko-KR" altLang="en-US"/>
              <a:t>장 강의 내용과 그 응용</a:t>
            </a:r>
            <a:r>
              <a:rPr lang="en-US" altLang="ko-KR"/>
              <a:t>.</a:t>
            </a:r>
          </a:p>
          <a:p>
            <a:r>
              <a:rPr lang="ko-KR" altLang="en-US"/>
              <a:t>배점</a:t>
            </a:r>
            <a:r>
              <a:rPr lang="en-US" altLang="ko-KR"/>
              <a:t>: </a:t>
            </a:r>
            <a:r>
              <a:rPr lang="ko-KR" altLang="en-US"/>
              <a:t>입력</a:t>
            </a:r>
            <a:r>
              <a:rPr lang="en-US" altLang="ko-KR"/>
              <a:t>·</a:t>
            </a:r>
            <a:r>
              <a:rPr lang="ko-KR" altLang="en-US"/>
              <a:t>경계 처리 </a:t>
            </a:r>
            <a:r>
              <a:rPr lang="en-US" altLang="ko-KR"/>
              <a:t>2</a:t>
            </a:r>
            <a:r>
              <a:rPr lang="ko-KR" altLang="en-US"/>
              <a:t>점</a:t>
            </a:r>
            <a:r>
              <a:rPr lang="en-US" altLang="ko-KR"/>
              <a:t>, </a:t>
            </a:r>
            <a:r>
              <a:rPr lang="ko-KR" altLang="en-US"/>
              <a:t>핵심 알고리즘 </a:t>
            </a:r>
            <a:r>
              <a:rPr lang="en-US" altLang="ko-KR"/>
              <a:t>4</a:t>
            </a:r>
            <a:r>
              <a:rPr lang="ko-KR" altLang="en-US"/>
              <a:t>점</a:t>
            </a:r>
            <a:r>
              <a:rPr lang="en-US" altLang="ko-KR"/>
              <a:t>, </a:t>
            </a:r>
            <a:r>
              <a:rPr lang="ko-KR" altLang="en-US"/>
              <a:t>정확한 반환값 </a:t>
            </a:r>
            <a:r>
              <a:rPr lang="en-US" altLang="ko-KR"/>
              <a:t>2</a:t>
            </a:r>
            <a:r>
              <a:rPr lang="ko-KR" altLang="en-US"/>
              <a:t>점</a:t>
            </a:r>
            <a:r>
              <a:rPr lang="en-US" altLang="ko-KR"/>
              <a:t>, </a:t>
            </a:r>
            <a:r>
              <a:rPr lang="ko-KR" altLang="en-US"/>
              <a:t>복잡도 설명 </a:t>
            </a:r>
            <a:r>
              <a:rPr lang="en-US" altLang="ko-KR"/>
              <a:t>2</a:t>
            </a:r>
            <a:r>
              <a:rPr lang="ko-KR" altLang="en-US"/>
              <a:t>점</a:t>
            </a:r>
          </a:p>
          <a:p>
            <a:r>
              <a:rPr lang="ko-KR" altLang="en-US"/>
              <a:t>정답과 해설은 다음 슬라이드에 있습니다</a:t>
            </a:r>
            <a:r>
              <a:rPr lang="en-US" altLang="ko-KR"/>
              <a:t>.</a:t>
            </a:r>
          </a:p>
          <a:p>
            <a:r>
              <a:rPr lang="ko-KR" altLang="en-US"/>
              <a:t>이 연습문제의 </a:t>
            </a:r>
            <a:r>
              <a:rPr lang="en-US" altLang="ko-KR"/>
              <a:t>C </a:t>
            </a:r>
            <a:r>
              <a:rPr lang="ko-KR" altLang="en-US"/>
              <a:t>함수는 </a:t>
            </a:r>
            <a:r>
              <a:rPr lang="en-US" altLang="ko-KR"/>
              <a:t>hi</a:t>
            </a:r>
            <a:r>
              <a:rPr lang="ko-KR" altLang="en-US"/>
              <a:t>를 포함하지 않습니다</a:t>
            </a:r>
            <a:r>
              <a:rPr lang="en-US" altLang="ko-KR"/>
              <a:t>. </a:t>
            </a:r>
            <a:r>
              <a:rPr lang="ko-KR" altLang="en-US"/>
              <a:t>전체 배열은 </a:t>
            </a:r>
            <a:r>
              <a:rPr lang="en-US" altLang="ko-KR"/>
              <a:t>hi</a:t>
            </a:r>
            <a:r>
              <a:rPr lang="ko-KR" altLang="en-US"/>
              <a:t>에 </a:t>
            </a:r>
            <a:r>
              <a:rPr lang="en-US" altLang="ko-KR"/>
              <a:t>n</a:t>
            </a:r>
            <a:r>
              <a:rPr lang="ko-KR" altLang="en-US"/>
              <a:t>을 넘깁니다</a:t>
            </a:r>
            <a:r>
              <a:rPr lang="en-US" altLang="ko-KR"/>
              <a:t>. </a:t>
            </a:r>
            <a:r>
              <a:rPr lang="ko-KR" altLang="en-US"/>
              <a:t>강의의 다른 병합 예제는 끝 인덱스를 포함하므로 처음 호출의 </a:t>
            </a:r>
            <a:r>
              <a:rPr lang="en-US" altLang="ko-KR"/>
              <a:t>hi</a:t>
            </a:r>
            <a:r>
              <a:rPr lang="ko-KR" altLang="en-US"/>
              <a:t>가 </a:t>
            </a:r>
            <a:r>
              <a:rPr lang="en-US" altLang="ko-KR"/>
              <a:t>n </a:t>
            </a:r>
            <a:r>
              <a:rPr lang="ko-KR" altLang="en-US"/>
              <a:t>마이너스 </a:t>
            </a:r>
            <a:r>
              <a:rPr lang="en-US" altLang="ko-KR"/>
              <a:t>1</a:t>
            </a:r>
            <a:r>
              <a:rPr lang="ko-KR" altLang="en-US"/>
              <a:t>입니다</a:t>
            </a:r>
            <a:r>
              <a:rPr lang="en-US" altLang="ko-KR"/>
              <a:t>. </a:t>
            </a:r>
            <a:r>
              <a:rPr lang="ko-KR" altLang="en-US"/>
              <a:t>두 구간 약속을 섞지 말고 문제의 함수 형식을 확인하세요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정답은 길이 </a:t>
            </a:r>
            <a:r>
              <a:rPr lang="en-US" altLang="ko-KR"/>
              <a:t>1 </a:t>
            </a:r>
            <a:r>
              <a:rPr lang="ko-KR" altLang="en-US"/>
              <a:t>이하에서 멈추고 양쪽 정렬 결과를 안정적으로 병합한다</a:t>
            </a:r>
            <a:r>
              <a:rPr lang="en-US" altLang="ko-KR"/>
              <a:t>.</a:t>
            </a:r>
            <a:r>
              <a:rPr lang="ko-KR" altLang="en-US"/>
              <a:t>입니다</a:t>
            </a:r>
            <a:r>
              <a:rPr lang="en-US" altLang="ko-KR"/>
              <a:t>.</a:t>
            </a:r>
          </a:p>
          <a:p>
            <a:r>
              <a:rPr lang="ko-KR" altLang="en-US"/>
              <a:t>시간 </a:t>
            </a:r>
            <a:r>
              <a:rPr lang="en-US" altLang="ko-KR"/>
              <a:t>O(n log(n+1)). Python</a:t>
            </a:r>
            <a:r>
              <a:rPr lang="ko-KR" altLang="en-US"/>
              <a:t>은 앞 문항 </a:t>
            </a:r>
            <a:r>
              <a:rPr lang="en-US" altLang="ko-KR"/>
              <a:t>merge_arrays</a:t>
            </a:r>
            <a:r>
              <a:rPr lang="ko-KR" altLang="en-US"/>
              <a:t>를 사용한다</a:t>
            </a:r>
            <a:r>
              <a:rPr lang="en-US" altLang="ko-KR"/>
              <a:t>.</a:t>
            </a:r>
          </a:p>
          <a:p>
            <a:r>
              <a:rPr lang="ko-KR" altLang="en-US"/>
              <a:t>여기서는 병합 정렬의 조건을 놓치지 않았는지 확인해 주세요</a:t>
            </a:r>
            <a:r>
              <a:rPr lang="en-US" altLang="ko-KR"/>
              <a:t>.</a:t>
            </a:r>
          </a:p>
          <a:p>
            <a:endParaRPr lang="en-US" altLang="ko-KR"/>
          </a:p>
          <a:p>
            <a:r>
              <a:rPr lang="ko-KR" altLang="en-US"/>
              <a:t>채점 기준</a:t>
            </a:r>
          </a:p>
          <a:p>
            <a:r>
              <a:rPr lang="en-US" altLang="ko-KR"/>
              <a:t>- </a:t>
            </a:r>
            <a:r>
              <a:rPr lang="ko-KR" altLang="en-US"/>
              <a:t>입력</a:t>
            </a:r>
            <a:r>
              <a:rPr lang="en-US" altLang="ko-KR"/>
              <a:t>·</a:t>
            </a:r>
            <a:r>
              <a:rPr lang="ko-KR" altLang="en-US"/>
              <a:t>경계 처리 </a:t>
            </a:r>
            <a:r>
              <a:rPr lang="en-US" altLang="ko-KR"/>
              <a:t>2</a:t>
            </a:r>
            <a:r>
              <a:rPr lang="ko-KR" altLang="en-US"/>
              <a:t>점</a:t>
            </a:r>
          </a:p>
          <a:p>
            <a:r>
              <a:rPr lang="en-US" altLang="ko-KR"/>
              <a:t>- </a:t>
            </a:r>
            <a:r>
              <a:rPr lang="ko-KR" altLang="en-US"/>
              <a:t>핵심 알고리즘 </a:t>
            </a:r>
            <a:r>
              <a:rPr lang="en-US" altLang="ko-KR"/>
              <a:t>4</a:t>
            </a:r>
            <a:r>
              <a:rPr lang="ko-KR" altLang="en-US"/>
              <a:t>점</a:t>
            </a:r>
          </a:p>
          <a:p>
            <a:r>
              <a:rPr lang="en-US" altLang="ko-KR"/>
              <a:t>- </a:t>
            </a:r>
            <a:r>
              <a:rPr lang="ko-KR" altLang="en-US"/>
              <a:t>정확한 반환값 </a:t>
            </a:r>
            <a:r>
              <a:rPr lang="en-US" altLang="ko-KR"/>
              <a:t>2</a:t>
            </a:r>
            <a:r>
              <a:rPr lang="ko-KR" altLang="en-US"/>
              <a:t>점</a:t>
            </a:r>
          </a:p>
          <a:p>
            <a:r>
              <a:rPr lang="en-US" altLang="ko-KR"/>
              <a:t>- </a:t>
            </a:r>
            <a:r>
              <a:rPr lang="ko-KR" altLang="en-US"/>
              <a:t>복잡도 설명 </a:t>
            </a:r>
            <a:r>
              <a:rPr lang="en-US" altLang="ko-KR"/>
              <a:t>2</a:t>
            </a:r>
            <a:r>
              <a:rPr lang="ko-KR" altLang="en-US"/>
              <a:t>점</a:t>
            </a:r>
          </a:p>
          <a:p>
            <a:r>
              <a:rPr lang="ko-KR" altLang="en-US"/>
              <a:t>검증 예시</a:t>
            </a:r>
          </a:p>
          <a:p>
            <a:r>
              <a:rPr lang="en-US" altLang="ko-KR"/>
              <a:t>[[8,3,6,1],[1,3,6,8]]</a:t>
            </a:r>
          </a:p>
          <a:p>
            <a:r>
              <a:rPr lang="en-US" altLang="ko-KR"/>
              <a:t>[[],[]]</a:t>
            </a:r>
          </a:p>
          <a:p>
            <a:r>
              <a:rPr lang="ko-KR" altLang="en-US"/>
              <a:t>이 연습문제의 </a:t>
            </a:r>
            <a:r>
              <a:rPr lang="en-US" altLang="ko-KR"/>
              <a:t>C </a:t>
            </a:r>
            <a:r>
              <a:rPr lang="ko-KR" altLang="en-US"/>
              <a:t>함수는 </a:t>
            </a:r>
            <a:r>
              <a:rPr lang="en-US" altLang="ko-KR"/>
              <a:t>hi</a:t>
            </a:r>
            <a:r>
              <a:rPr lang="ko-KR" altLang="en-US"/>
              <a:t>를 포함하지 않습니다</a:t>
            </a:r>
            <a:r>
              <a:rPr lang="en-US" altLang="ko-KR"/>
              <a:t>. </a:t>
            </a:r>
            <a:r>
              <a:rPr lang="ko-KR" altLang="en-US"/>
              <a:t>전체 배열은 </a:t>
            </a:r>
            <a:r>
              <a:rPr lang="en-US" altLang="ko-KR"/>
              <a:t>hi</a:t>
            </a:r>
            <a:r>
              <a:rPr lang="ko-KR" altLang="en-US"/>
              <a:t>에 </a:t>
            </a:r>
            <a:r>
              <a:rPr lang="en-US" altLang="ko-KR"/>
              <a:t>n</a:t>
            </a:r>
            <a:r>
              <a:rPr lang="ko-KR" altLang="en-US"/>
              <a:t>을 넘깁니다</a:t>
            </a:r>
            <a:r>
              <a:rPr lang="en-US" altLang="ko-KR"/>
              <a:t>. </a:t>
            </a:r>
            <a:r>
              <a:rPr lang="ko-KR" altLang="en-US"/>
              <a:t>강의의 다른 병합 예제는 끝 인덱스를 포함하므로 처음 호출의 </a:t>
            </a:r>
            <a:r>
              <a:rPr lang="en-US" altLang="ko-KR"/>
              <a:t>hi</a:t>
            </a:r>
            <a:r>
              <a:rPr lang="ko-KR" altLang="en-US"/>
              <a:t>가 </a:t>
            </a:r>
            <a:r>
              <a:rPr lang="en-US" altLang="ko-KR"/>
              <a:t>n </a:t>
            </a:r>
            <a:r>
              <a:rPr lang="ko-KR" altLang="en-US"/>
              <a:t>마이너스 </a:t>
            </a:r>
            <a:r>
              <a:rPr lang="en-US" altLang="ko-KR"/>
              <a:t>1</a:t>
            </a:r>
            <a:r>
              <a:rPr lang="ko-KR" altLang="en-US"/>
              <a:t>입니다</a:t>
            </a:r>
            <a:r>
              <a:rPr lang="en-US" altLang="ko-KR"/>
              <a:t>. </a:t>
            </a:r>
            <a:r>
              <a:rPr lang="ko-KR" altLang="en-US"/>
              <a:t>두 구간 약속을 섞지 말고 문제의 함수 형식을 확인하세요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 코드는 병합 정렬의 한 가지 정답 예시입니다</a:t>
            </a:r>
            <a:r>
              <a:rPr lang="en-US" altLang="ko-KR"/>
              <a:t>.</a:t>
            </a:r>
          </a:p>
          <a:p>
            <a:r>
              <a:rPr lang="ko-KR" altLang="en-US"/>
              <a:t>길이 </a:t>
            </a:r>
            <a:r>
              <a:rPr lang="en-US" altLang="ko-KR"/>
              <a:t>1 </a:t>
            </a:r>
            <a:r>
              <a:rPr lang="ko-KR" altLang="en-US"/>
              <a:t>이하에서 멈추고 양쪽 정렬 결과를 안정적으로 병합한다</a:t>
            </a:r>
            <a:r>
              <a:rPr lang="en-US" altLang="ko-KR"/>
              <a:t>.</a:t>
            </a:r>
          </a:p>
          <a:p>
            <a:r>
              <a:rPr lang="ko-KR" altLang="en-US"/>
              <a:t>시간 </a:t>
            </a:r>
            <a:r>
              <a:rPr lang="en-US" altLang="ko-KR"/>
              <a:t>O(n log(n+1)). Python</a:t>
            </a:r>
            <a:r>
              <a:rPr lang="ko-KR" altLang="en-US"/>
              <a:t>은 앞 문항 </a:t>
            </a:r>
            <a:r>
              <a:rPr lang="en-US" altLang="ko-KR"/>
              <a:t>merge_arrays</a:t>
            </a:r>
            <a:r>
              <a:rPr lang="ko-KR" altLang="en-US"/>
              <a:t>를 사용한다</a:t>
            </a:r>
            <a:r>
              <a:rPr lang="en-US" altLang="ko-KR"/>
              <a:t>.</a:t>
            </a:r>
          </a:p>
          <a:p>
            <a:r>
              <a:rPr lang="ko-KR" altLang="en-US"/>
              <a:t>동일한 명세와 복잡도를 만족하는 다른 구현도 정답으로 인정합니다</a:t>
            </a:r>
            <a:r>
              <a:rPr lang="en-US" altLang="ko-KR"/>
              <a:t>.</a:t>
            </a:r>
          </a:p>
          <a:p>
            <a:endParaRPr lang="en-US" altLang="ko-KR"/>
          </a:p>
          <a:p>
            <a:r>
              <a:rPr lang="ko-KR" altLang="en-US"/>
              <a:t>입력</a:t>
            </a:r>
            <a:r>
              <a:rPr lang="en-US" altLang="ko-KR"/>
              <a:t>·</a:t>
            </a:r>
            <a:r>
              <a:rPr lang="ko-KR" altLang="en-US"/>
              <a:t>경계 처리 </a:t>
            </a:r>
            <a:r>
              <a:rPr lang="en-US" altLang="ko-KR"/>
              <a:t>2</a:t>
            </a:r>
            <a:r>
              <a:rPr lang="ko-KR" altLang="en-US"/>
              <a:t>점</a:t>
            </a:r>
          </a:p>
          <a:p>
            <a:r>
              <a:rPr lang="ko-KR" altLang="en-US"/>
              <a:t>핵심 알고리즘 </a:t>
            </a:r>
            <a:r>
              <a:rPr lang="en-US" altLang="ko-KR"/>
              <a:t>4</a:t>
            </a:r>
            <a:r>
              <a:rPr lang="ko-KR" altLang="en-US"/>
              <a:t>점</a:t>
            </a:r>
          </a:p>
          <a:p>
            <a:r>
              <a:rPr lang="ko-KR" altLang="en-US"/>
              <a:t>정확한 반환값 </a:t>
            </a:r>
            <a:r>
              <a:rPr lang="en-US" altLang="ko-KR"/>
              <a:t>2</a:t>
            </a:r>
            <a:r>
              <a:rPr lang="ko-KR" altLang="en-US"/>
              <a:t>점</a:t>
            </a:r>
          </a:p>
          <a:p>
            <a:r>
              <a:rPr lang="ko-KR" altLang="en-US"/>
              <a:t>복잡도 설명 </a:t>
            </a:r>
            <a:r>
              <a:rPr lang="en-US" altLang="ko-KR"/>
              <a:t>2</a:t>
            </a:r>
            <a:r>
              <a:rPr lang="ko-KR" altLang="en-US"/>
              <a:t>점</a:t>
            </a:r>
          </a:p>
          <a:p>
            <a:endParaRPr lang="ko-KR" altLang="en-US"/>
          </a:p>
          <a:p>
            <a:r>
              <a:rPr lang="en-US" altLang="ko-KR"/>
              <a:t>[[8,3,6,1],[1,3,6,8]]</a:t>
            </a:r>
          </a:p>
          <a:p>
            <a:r>
              <a:rPr lang="en-US" altLang="ko-KR"/>
              <a:t>[[],[]]</a:t>
            </a:r>
          </a:p>
          <a:p>
            <a:r>
              <a:rPr lang="ko-KR" altLang="en-US"/>
              <a:t>이 연습문제의 </a:t>
            </a:r>
            <a:r>
              <a:rPr lang="en-US" altLang="ko-KR"/>
              <a:t>C </a:t>
            </a:r>
            <a:r>
              <a:rPr lang="ko-KR" altLang="en-US"/>
              <a:t>함수는 </a:t>
            </a:r>
            <a:r>
              <a:rPr lang="en-US" altLang="ko-KR"/>
              <a:t>hi</a:t>
            </a:r>
            <a:r>
              <a:rPr lang="ko-KR" altLang="en-US"/>
              <a:t>를 포함하지 않습니다</a:t>
            </a:r>
            <a:r>
              <a:rPr lang="en-US" altLang="ko-KR"/>
              <a:t>. </a:t>
            </a:r>
            <a:r>
              <a:rPr lang="ko-KR" altLang="en-US"/>
              <a:t>전체 배열은 </a:t>
            </a:r>
            <a:r>
              <a:rPr lang="en-US" altLang="ko-KR"/>
              <a:t>hi</a:t>
            </a:r>
            <a:r>
              <a:rPr lang="ko-KR" altLang="en-US"/>
              <a:t>에 </a:t>
            </a:r>
            <a:r>
              <a:rPr lang="en-US" altLang="ko-KR"/>
              <a:t>n</a:t>
            </a:r>
            <a:r>
              <a:rPr lang="ko-KR" altLang="en-US"/>
              <a:t>을 넘깁니다</a:t>
            </a:r>
            <a:r>
              <a:rPr lang="en-US" altLang="ko-KR"/>
              <a:t>. </a:t>
            </a:r>
            <a:r>
              <a:rPr lang="ko-KR" altLang="en-US"/>
              <a:t>강의의 다른 병합 예제는 끝 인덱스를 포함하므로 처음 호출의 </a:t>
            </a:r>
            <a:r>
              <a:rPr lang="en-US" altLang="ko-KR"/>
              <a:t>hi</a:t>
            </a:r>
            <a:r>
              <a:rPr lang="ko-KR" altLang="en-US"/>
              <a:t>가 </a:t>
            </a:r>
            <a:r>
              <a:rPr lang="en-US" altLang="ko-KR"/>
              <a:t>n </a:t>
            </a:r>
            <a:r>
              <a:rPr lang="ko-KR" altLang="en-US"/>
              <a:t>마이너스 </a:t>
            </a:r>
            <a:r>
              <a:rPr lang="en-US" altLang="ko-KR"/>
              <a:t>1</a:t>
            </a:r>
            <a:r>
              <a:rPr lang="ko-KR" altLang="en-US"/>
              <a:t>입니다</a:t>
            </a:r>
            <a:r>
              <a:rPr lang="en-US" altLang="ko-KR"/>
              <a:t>. </a:t>
            </a:r>
            <a:r>
              <a:rPr lang="ko-KR" altLang="en-US"/>
              <a:t>두 구간 약속을 섞지 말고 문제의 함수 형식을 확인하세요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 코드는 병합 정렬의 한 가지 정답 예시입니다</a:t>
            </a:r>
            <a:r>
              <a:rPr lang="en-US" altLang="ko-KR"/>
              <a:t>.</a:t>
            </a:r>
          </a:p>
          <a:p>
            <a:r>
              <a:rPr lang="ko-KR" altLang="en-US"/>
              <a:t>길이 </a:t>
            </a:r>
            <a:r>
              <a:rPr lang="en-US" altLang="ko-KR"/>
              <a:t>1 </a:t>
            </a:r>
            <a:r>
              <a:rPr lang="ko-KR" altLang="en-US"/>
              <a:t>이하에서 멈추고 양쪽 정렬 결과를 안정적으로 병합한다</a:t>
            </a:r>
            <a:r>
              <a:rPr lang="en-US" altLang="ko-KR"/>
              <a:t>.</a:t>
            </a:r>
          </a:p>
          <a:p>
            <a:r>
              <a:rPr lang="ko-KR" altLang="en-US"/>
              <a:t>시간 </a:t>
            </a:r>
            <a:r>
              <a:rPr lang="en-US" altLang="ko-KR"/>
              <a:t>O(n log(n+1)). Python</a:t>
            </a:r>
            <a:r>
              <a:rPr lang="ko-KR" altLang="en-US"/>
              <a:t>은 앞 문항 </a:t>
            </a:r>
            <a:r>
              <a:rPr lang="en-US" altLang="ko-KR"/>
              <a:t>merge_arrays</a:t>
            </a:r>
            <a:r>
              <a:rPr lang="ko-KR" altLang="en-US"/>
              <a:t>를 사용한다</a:t>
            </a:r>
            <a:r>
              <a:rPr lang="en-US" altLang="ko-KR"/>
              <a:t>.</a:t>
            </a:r>
          </a:p>
          <a:p>
            <a:r>
              <a:rPr lang="ko-KR" altLang="en-US"/>
              <a:t>동일한 명세와 복잡도를 만족하는 다른 구현도 정답으로 인정합니다</a:t>
            </a:r>
            <a:r>
              <a:rPr lang="en-US" altLang="ko-KR"/>
              <a:t>.</a:t>
            </a:r>
          </a:p>
          <a:p>
            <a:endParaRPr lang="en-US" altLang="ko-KR"/>
          </a:p>
          <a:p>
            <a:r>
              <a:rPr lang="ko-KR" altLang="en-US"/>
              <a:t>입력</a:t>
            </a:r>
            <a:r>
              <a:rPr lang="en-US" altLang="ko-KR"/>
              <a:t>·</a:t>
            </a:r>
            <a:r>
              <a:rPr lang="ko-KR" altLang="en-US"/>
              <a:t>경계 처리 </a:t>
            </a:r>
            <a:r>
              <a:rPr lang="en-US" altLang="ko-KR"/>
              <a:t>2</a:t>
            </a:r>
            <a:r>
              <a:rPr lang="ko-KR" altLang="en-US"/>
              <a:t>점</a:t>
            </a:r>
          </a:p>
          <a:p>
            <a:r>
              <a:rPr lang="ko-KR" altLang="en-US"/>
              <a:t>핵심 알고리즘 </a:t>
            </a:r>
            <a:r>
              <a:rPr lang="en-US" altLang="ko-KR"/>
              <a:t>4</a:t>
            </a:r>
            <a:r>
              <a:rPr lang="ko-KR" altLang="en-US"/>
              <a:t>점</a:t>
            </a:r>
          </a:p>
          <a:p>
            <a:r>
              <a:rPr lang="ko-KR" altLang="en-US"/>
              <a:t>정확한 반환값 </a:t>
            </a:r>
            <a:r>
              <a:rPr lang="en-US" altLang="ko-KR"/>
              <a:t>2</a:t>
            </a:r>
            <a:r>
              <a:rPr lang="ko-KR" altLang="en-US"/>
              <a:t>점</a:t>
            </a:r>
          </a:p>
          <a:p>
            <a:r>
              <a:rPr lang="ko-KR" altLang="en-US"/>
              <a:t>복잡도 설명 </a:t>
            </a:r>
            <a:r>
              <a:rPr lang="en-US" altLang="ko-KR"/>
              <a:t>2</a:t>
            </a:r>
            <a:r>
              <a:rPr lang="ko-KR" altLang="en-US"/>
              <a:t>점</a:t>
            </a:r>
          </a:p>
          <a:p>
            <a:endParaRPr lang="ko-KR" altLang="en-US"/>
          </a:p>
          <a:p>
            <a:r>
              <a:rPr lang="en-US" altLang="ko-KR"/>
              <a:t>[[8,3,6,1],[1,3,6,8]]</a:t>
            </a:r>
          </a:p>
          <a:p>
            <a:r>
              <a:rPr lang="en-US" altLang="ko-KR"/>
              <a:t>[[],[]]</a:t>
            </a:r>
          </a:p>
          <a:p>
            <a:r>
              <a:rPr lang="ko-KR" altLang="en-US"/>
              <a:t>이 연습문제의 </a:t>
            </a:r>
            <a:r>
              <a:rPr lang="en-US" altLang="ko-KR"/>
              <a:t>C </a:t>
            </a:r>
            <a:r>
              <a:rPr lang="ko-KR" altLang="en-US"/>
              <a:t>함수는 </a:t>
            </a:r>
            <a:r>
              <a:rPr lang="en-US" altLang="ko-KR"/>
              <a:t>hi</a:t>
            </a:r>
            <a:r>
              <a:rPr lang="ko-KR" altLang="en-US"/>
              <a:t>를 포함하지 않습니다</a:t>
            </a:r>
            <a:r>
              <a:rPr lang="en-US" altLang="ko-KR"/>
              <a:t>. </a:t>
            </a:r>
            <a:r>
              <a:rPr lang="ko-KR" altLang="en-US"/>
              <a:t>전체 배열은 </a:t>
            </a:r>
            <a:r>
              <a:rPr lang="en-US" altLang="ko-KR"/>
              <a:t>hi</a:t>
            </a:r>
            <a:r>
              <a:rPr lang="ko-KR" altLang="en-US"/>
              <a:t>에 </a:t>
            </a:r>
            <a:r>
              <a:rPr lang="en-US" altLang="ko-KR"/>
              <a:t>n</a:t>
            </a:r>
            <a:r>
              <a:rPr lang="ko-KR" altLang="en-US"/>
              <a:t>을 넘깁니다</a:t>
            </a:r>
            <a:r>
              <a:rPr lang="en-US" altLang="ko-KR"/>
              <a:t>. </a:t>
            </a:r>
            <a:r>
              <a:rPr lang="ko-KR" altLang="en-US"/>
              <a:t>강의의 다른 병합 예제는 끝 인덱스를 포함하므로 처음 호출의 </a:t>
            </a:r>
            <a:r>
              <a:rPr lang="en-US" altLang="ko-KR"/>
              <a:t>hi</a:t>
            </a:r>
            <a:r>
              <a:rPr lang="ko-KR" altLang="en-US"/>
              <a:t>가 </a:t>
            </a:r>
            <a:r>
              <a:rPr lang="en-US" altLang="ko-KR"/>
              <a:t>n </a:t>
            </a:r>
            <a:r>
              <a:rPr lang="ko-KR" altLang="en-US"/>
              <a:t>마이너스 </a:t>
            </a:r>
            <a:r>
              <a:rPr lang="en-US" altLang="ko-KR"/>
              <a:t>1</a:t>
            </a:r>
            <a:r>
              <a:rPr lang="ko-KR" altLang="en-US"/>
              <a:t>입니다</a:t>
            </a:r>
            <a:r>
              <a:rPr lang="en-US" altLang="ko-KR"/>
              <a:t>. </a:t>
            </a:r>
            <a:r>
              <a:rPr lang="ko-KR" altLang="en-US"/>
              <a:t>두 구간 약속을 섞지 말고 문제의 함수 형식을 확인하세요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경계를 가로지르는 합을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왼쪽의 최대 접미사 합과 오른쪽의 최대 접두사 합을 더한다.입니다.</a:t>
            </a:r>
          </a:p>
          <a:p>
            <a:r>
              <a:t>시간 O(hi−lo). 모두 음수여도 빈 구간을 허용하지 않는다.</a:t>
            </a:r>
          </a:p>
          <a:p>
            <a:r>
              <a:t>여기서는 경계를 가로지르는 합의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[[4,-6,3,5,-2,1],0,3,6,8]</a:t>
            </a:r>
          </a:p>
          <a:p>
            <a:r>
              <a:t>[[-5,-2],0,1,2,-7]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경계를 가로지르는 합의 한 가지 정답 예시입니다.</a:t>
            </a:r>
          </a:p>
          <a:p>
            <a:r>
              <a:t>왼쪽의 최대 접미사 합과 오른쪽의 최대 접두사 합을 더한다.</a:t>
            </a:r>
          </a:p>
          <a:p>
            <a:r>
              <a:t>시간 O(hi−lo). 모두 음수여도 빈 구간을 허용하지 않는다.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[[4,-6,3,5,-2,1],0,3,6,8]</a:t>
            </a:r>
          </a:p>
          <a:p>
            <a:r>
              <a:t>[[-5,-2],0,1,2,-7]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경계를 가로지르는 합의 한 가지 정답 예시입니다.</a:t>
            </a:r>
          </a:p>
          <a:p>
            <a:r>
              <a:t>왼쪽의 최대 접미사 합과 오른쪽의 최대 접두사 합을 더한다.</a:t>
            </a:r>
          </a:p>
          <a:p>
            <a:r>
              <a:t>시간 O(hi−lo). 모두 음수여도 빈 구간을 허용하지 않는다.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[[4,-6,3,5,-2,1],0,3,6,8]</a:t>
            </a:r>
          </a:p>
          <a:p>
            <a:r>
              <a:t>[[-5,-2],0,1,2,-7]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분할 정복 최대 연속합을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왼쪽, 오른쪽, 경계를 가로지르는 세 후보 중 최댓값을 반환한다.입니다.</a:t>
            </a:r>
          </a:p>
          <a:p>
            <a:r>
              <a:t>시간 O(n log n).</a:t>
            </a:r>
          </a:p>
          <a:p>
            <a:r>
              <a:t>여기서는 분할 정복 최대 연속합의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[[-4,7,-2,5,-9,3],0,6,10]</a:t>
            </a:r>
          </a:p>
          <a:p>
            <a:r>
              <a:t>[[-8,-3,-5],0,3,-3]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분할 정복 최대 연속합의 한 가지 정답 예시입니다.</a:t>
            </a:r>
          </a:p>
          <a:p>
            <a:r>
              <a:t>왼쪽, 오른쪽, 경계를 가로지르는 세 후보 중 최댓값을 반환한다.</a:t>
            </a:r>
          </a:p>
          <a:p>
            <a:r>
              <a:t>시간 O(n log n).</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[[-4,7,-2,5,-9,3],0,6,10]</a:t>
            </a:r>
          </a:p>
          <a:p>
            <a:r>
              <a:t>[[-8,-3,-5],0,3,-3]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분할 정복 최대 연속합의 한 가지 정답 예시입니다.</a:t>
            </a:r>
          </a:p>
          <a:p>
            <a:r>
              <a:t>왼쪽, 오른쪽, 경계를 가로지르는 세 후보 중 최댓값을 반환한다.</a:t>
            </a:r>
          </a:p>
          <a:p>
            <a:r>
              <a:t>시간 O(n log n).</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[[-4,7,-2,5,-9,3],0,6,10]</a:t>
            </a:r>
          </a:p>
          <a:p>
            <a:r>
              <a:t>[[-8,-3,-5],0,3,-3]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최근접 쌍의 기저 사례을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기저 구간의 모든 두 점을 비교하며 제곱 거리의 최솟값을 구한다.입니다.</a:t>
            </a:r>
          </a:p>
          <a:p>
            <a:r>
              <a:t>O(k²) 비교, 이 기저에서는 k≤3이므로 O(1). 전체 최근접 쌍 알고리즘의 시간과 구별한다.</a:t>
            </a:r>
          </a:p>
          <a:p>
            <a:r>
              <a:t>여기서는 최근접 쌍의 기저 사례의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[[[0,0],[3,4],[3,0]],9]</a:t>
            </a:r>
          </a:p>
          <a:p>
            <a:r>
              <a:t>[[[2,2],[2,2]],0]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최근접 쌍의 기저 사례의 한 가지 정답 예시입니다.</a:t>
            </a:r>
          </a:p>
          <a:p>
            <a:r>
              <a:t>기저 구간의 모든 두 점을 비교하며 제곱 거리의 최솟값을 구한다.</a:t>
            </a:r>
          </a:p>
          <a:p>
            <a:r>
              <a:t>O(k²) 비교, 이 기저에서는 k≤3이므로 O(1). 전체 최근접 쌍 알고리즘의 시간과 구별한다.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[[[0,0],[3,4],[3,0]],9]</a:t>
            </a:r>
          </a:p>
          <a:p>
            <a:r>
              <a:t>[[[2,2],[2,2]],0]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최근접 쌍의 기저 사례의 한 가지 정답 예시입니다.</a:t>
            </a:r>
          </a:p>
          <a:p>
            <a:r>
              <a:t>기저 구간의 모든 두 점을 비교하며 제곱 거리의 최솟값을 구한다.</a:t>
            </a:r>
          </a:p>
          <a:p>
            <a:r>
              <a:t>O(k²) 비교, 이 기저에서는 k≤3이므로 O(1). 전체 최근접 쌍 알고리즘의 시간과 구별한다.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[[[0,0],[3,4],[3,0]],9]</a:t>
            </a:r>
          </a:p>
          <a:p>
            <a:r>
              <a:t>[[[2,2],[2,2]],0]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쿼드트리 부호화을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정답은 균일성을 검사하고 서로 다르면 네 사분면을 재귀 호출한다.입니다.</a:t>
            </a:r>
          </a:p>
          <a:p>
            <a:r>
              <a:t>이 전체 균일성 검사 구현은 O(n² log(n+1)) 시간 상한. .</a:t>
            </a:r>
          </a:p>
          <a:p>
            <a:r>
              <a:t>여기서는 쿼드트리 부호화의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[[[0,1],[1,0]],0,0,2,"(0110)"]</a:t>
            </a:r>
          </a:p>
          <a:p>
            <a:r>
              <a:t>[[[1]],0,0,1,"1"]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이 코드는 쿼드트리 부호화의 한 가지 정답 예시입니다.</a:t>
            </a:r>
          </a:p>
          <a:p>
            <a:r>
              <a:t>균일성을 검사하고 서로 다르면 네 사분면을 재귀 호출한다.</a:t>
            </a:r>
          </a:p>
          <a:p>
            <a:r>
              <a:t>이 전체 균일성 검사 구현은 O(n² log(n+1)) 시간 상한. .</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[[[0,1],[1,0]],0,0,2,"(0110)"]</a:t>
            </a:r>
          </a:p>
          <a:p>
            <a:r>
              <a:t>[[[1]],0,0,1,"1"]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이 코드는 쿼드트리 부호화의 한 가지 정답 예시입니다.</a:t>
            </a:r>
          </a:p>
          <a:p>
            <a:r>
              <a:t>균일성을 검사하고 서로 다르면 네 사분면을 재귀 호출한다.</a:t>
            </a:r>
          </a:p>
          <a:p>
            <a:r>
              <a:t>이 전체 균일성 검사 구현은 O(n² log(n+1)) 시간 상한. .</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[[[0,1],[1,0]],0,0,2,"(0110)"]</a:t>
            </a:r>
          </a:p>
          <a:p>
            <a:r>
              <a:t>[[[1]],0,0,1,"1"]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카라추바 곱셈을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고위 곱, 저위 곱, 두 부분 합의 곱으로 가운데 항을 복원한다.입니다.</a:t>
            </a:r>
          </a:p>
          <a:p>
            <a:r>
              <a:t>자릿수 L의 일반화된 계산 모델에서 O(L^log₂3). 여기서는 입력·중간 곱이 long long 범위 안이다.</a:t>
            </a:r>
          </a:p>
          <a:p>
            <a:r>
              <a:t>여기서는 카라추바 곱셈의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[12,34,408]</a:t>
            </a:r>
          </a:p>
          <a:p>
            <a:r>
              <a:t>[12345,6789,83810205]</a:t>
            </a:r>
          </a:p>
          <a:p>
            <a:r>
              <a:t>[0,999,0]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카라추바 곱셈의 한 가지 정답 예시입니다.</a:t>
            </a:r>
          </a:p>
          <a:p>
            <a:r>
              <a:t>고위 곱, 저위 곱, 두 부분 합의 곱으로 가운데 항을 복원한다.</a:t>
            </a:r>
          </a:p>
          <a:p>
            <a:r>
              <a:t>자릿수 L의 일반화된 계산 모델에서 O(L^log₂3). 여기서는 입력·중간 곱이 long long 범위 안이다.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[12,34,408]</a:t>
            </a:r>
          </a:p>
          <a:p>
            <a:r>
              <a:t>[12345,6789,83810205]</a:t>
            </a:r>
          </a:p>
          <a:p>
            <a:r>
              <a:t>[0,999,0]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카라추바 곱셈의 한 가지 정답 예시입니다.</a:t>
            </a:r>
          </a:p>
          <a:p>
            <a:r>
              <a:t>고위 곱, 저위 곱, 두 부분 합의 곱으로 가운데 항을 복원한다.</a:t>
            </a:r>
          </a:p>
          <a:p>
            <a:r>
              <a:t>자릿수 L의 일반화된 계산 모델에서 O(L^log₂3). 여기서는 입력·중간 곱이 long long 범위 안이다.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[12,34,408]</a:t>
            </a:r>
          </a:p>
          <a:p>
            <a:r>
              <a:t>[12345,6789,83810205]</a:t>
            </a:r>
          </a:p>
          <a:p>
            <a:r>
              <a:t>[0,999,0]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2×2 슈트라센을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일곱 보조 곱을 만들고 덧셈과 뺄셈으로 네 성분을 결합한다.입니다.</a:t>
            </a:r>
          </a:p>
          <a:p>
            <a:r>
              <a:t>고정 크기 2×2이므로 시간 O(1). 재귀적인 n×n 일반화와 구별한다.</a:t>
            </a:r>
          </a:p>
          <a:p>
            <a:r>
              <a:t>여기서는 2×2 슈트라센의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[[[1,2],[3,4]],[[2,0],[1,2]],[[4,4],[10,8]]]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2×2 슈트라센의 한 가지 정답 예시입니다.</a:t>
            </a:r>
          </a:p>
          <a:p>
            <a:r>
              <a:t>일곱 보조 곱을 만들고 덧셈과 뺄셈으로 네 성분을 결합한다.</a:t>
            </a:r>
          </a:p>
          <a:p>
            <a:r>
              <a:t>고정 크기 2×2이므로 시간 O(1). 재귀적인 n×n 일반화와 구별한다.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[[[1,2],[3,4]],[[2,0],[1,2]],[[4,4],[10,8]]]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2×2 슈트라센의 한 가지 정답 예시입니다.</a:t>
            </a:r>
          </a:p>
          <a:p>
            <a:r>
              <a:t>일곱 보조 곱을 만들고 덧셈과 뺄셈으로 네 성분을 결합한다.</a:t>
            </a:r>
          </a:p>
          <a:p>
            <a:r>
              <a:t>고정 크기 2×2이므로 시간 O(1). 재귀적인 n×n 일반화와 구별한다.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[[[1,2],[3,4]],[[2,0],[1,2]],[[4,4],[10,8]]]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단색 종이 조각 수을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정답은 균일한 1 영역은 한 조각, 균일한 0 영역은 0개로 세고 나머지는 네 결과를 합한다.입니다.</a:t>
            </a:r>
          </a:p>
          <a:p>
            <a:r>
              <a:t>시간 O(n² log(n+1)) 상한. 1인 칸 수와 조각 수는 다르다.</a:t>
            </a:r>
          </a:p>
          <a:p>
            <a:r>
              <a:t>여기서는 단색 종이 조각 수의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[[[1,1],[1,1]],0,0,2,1]</a:t>
            </a:r>
          </a:p>
          <a:p>
            <a:r>
              <a:t>[[[0,1],[1,0]],0,0,2,2]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이 코드는 단색 종이 조각 수의 한 가지 정답 예시입니다.</a:t>
            </a:r>
          </a:p>
          <a:p>
            <a:r>
              <a:t>균일한 1 영역은 한 조각, 균일한 0 영역은 0개로 세고 나머지는 네 결과를 합한다.</a:t>
            </a:r>
          </a:p>
          <a:p>
            <a:r>
              <a:t>시간 O(n² log(n+1)) 상한. 1인 칸 수와 조각 수는 다르다.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[[[1,1],[1,1]],0,0,2,1]</a:t>
            </a:r>
          </a:p>
          <a:p>
            <a:r>
              <a:t>[[[0,1],[1,0]],0,0,2,2]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a:lstStyle/>
          <a:p>
            <a:r>
              <a:t>이 코드는 단색 종이 조각 수의 한 가지 정답 예시입니다.</a:t>
            </a:r>
          </a:p>
          <a:p>
            <a:r>
              <a:t>균일한 1 영역은 한 조각, 균일한 0 영역은 0개로 세고 나머지는 네 결과를 합한다.</a:t>
            </a:r>
          </a:p>
          <a:p>
            <a:r>
              <a:t>시간 O(n² log(n+1)) 상한. 1인 칸 수와 조각 수는 다르다.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[[[1,1],[1,1]],0,0,2,1]</a:t>
            </a:r>
          </a:p>
          <a:p>
            <a:r>
              <a:t>[[[0,1],[1,0]],0,0,2,2]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문제는 병합 중 역전 쌍 세기을 확인하는 문항입니다. 먼저 조건과 요구한 반환값을 읽어 주세요. 결과만 적지 말고 어떻게 판단했는지도 적어 주세요.</a:t>
            </a:r>
          </a:p>
          <a:p>
            <a:endParaRPr/>
          </a:p>
          <a:p>
            <a:r>
              <a:t>출제 기준: 4장 강의 내용과 그 응용.</a:t>
            </a:r>
          </a:p>
          <a:p>
            <a:r>
              <a:t>배점: 입력·경계 처리 2점, 핵심 알고리즘 4점, 정확한 반환값 2점, 복잡도 설명 2점</a:t>
            </a:r>
          </a:p>
          <a:p>
            <a:r>
              <a:t>정답과 해설은 다음 슬라이드에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정답은 오른쪽 값이 더 작으면 남은 왼쪽 원소 모두와 역전 쌍을 만든다.입니다.</a:t>
            </a:r>
          </a:p>
          <a:p>
            <a:r>
              <a:t>시간 O(n+m). 같은 값은 역전 쌍으로 세지 않는다.</a:t>
            </a:r>
          </a:p>
          <a:p>
            <a:r>
              <a:t>여기서는 병합 중 역전 쌍 세기의 조건을 놓치지 않았는지 확인해 주세요.</a:t>
            </a:r>
          </a:p>
          <a:p>
            <a:endParaRPr/>
          </a:p>
          <a:p>
            <a:r>
              <a:t>채점 기준</a:t>
            </a:r>
          </a:p>
          <a:p>
            <a:r>
              <a:t>- 입력·경계 처리 2점</a:t>
            </a:r>
          </a:p>
          <a:p>
            <a:r>
              <a:t>- 핵심 알고리즘 4점</a:t>
            </a:r>
          </a:p>
          <a:p>
            <a:r>
              <a:t>- 정확한 반환값 2점</a:t>
            </a:r>
          </a:p>
          <a:p>
            <a:r>
              <a:t>- 복잡도 설명 2점</a:t>
            </a:r>
          </a:p>
          <a:p>
            <a:r>
              <a:t>검증 예시</a:t>
            </a:r>
          </a:p>
          <a:p>
            <a:r>
              <a:t>[[1,4,7],[2,3,8],4]</a:t>
            </a:r>
          </a:p>
          <a:p>
            <a:r>
              <a:t>[[2,2],[2],0]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병합 중 역전 쌍 세기의 한 가지 정답 예시입니다.</a:t>
            </a:r>
          </a:p>
          <a:p>
            <a:r>
              <a:t>오른쪽 값이 더 작으면 남은 왼쪽 원소 모두와 역전 쌍을 만든다.</a:t>
            </a:r>
          </a:p>
          <a:p>
            <a:r>
              <a:t>시간 O(n+m). 같은 값은 역전 쌍으로 세지 않는다.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[[1,4,7],[2,3,8],4]</a:t>
            </a:r>
          </a:p>
          <a:p>
            <a:r>
              <a:t>[[2,2],[2],0]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코드는 병합 중 역전 쌍 세기의 한 가지 정답 예시입니다.</a:t>
            </a:r>
          </a:p>
          <a:p>
            <a:r>
              <a:t>오른쪽 값이 더 작으면 남은 왼쪽 원소 모두와 역전 쌍을 만든다.</a:t>
            </a:r>
          </a:p>
          <a:p>
            <a:r>
              <a:t>시간 O(n+m). 같은 값은 역전 쌍으로 세지 않는다.</a:t>
            </a:r>
          </a:p>
          <a:p>
            <a:r>
              <a:t>동일한 명세와 복잡도를 만족하는 다른 구현도 정답으로 인정합니다.</a:t>
            </a:r>
          </a:p>
          <a:p>
            <a:endParaRPr/>
          </a:p>
          <a:p>
            <a:r>
              <a:t>입력·경계 처리 2점</a:t>
            </a:r>
          </a:p>
          <a:p>
            <a:r>
              <a:t>핵심 알고리즘 4점</a:t>
            </a:r>
          </a:p>
          <a:p>
            <a:r>
              <a:t>정확한 반환값 2점</a:t>
            </a:r>
          </a:p>
          <a:p>
            <a:r>
              <a:t>복잡도 설명 2점</a:t>
            </a:r>
          </a:p>
          <a:p>
            <a:endParaRPr/>
          </a:p>
          <a:p>
            <a:r>
              <a:t>[[1,4,7],[2,3,8],4]</a:t>
            </a:r>
          </a:p>
          <a:p>
            <a:r>
              <a:t>[[2,2],[2],0]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강의에서 화살표로 따라간 분할 과정을 직접 구현하겠습니다. 구간의 양 끝을 모두 포함합니다. 가운데 위치의 숫자를 피벗으로 선택해서 끝으로 옮겨두세요. L과 R을 움직일 때는 먼저 서로 교차했는지 검사해야 배열 범위를 벗어나지 않습니다. 이 문항은 적혀 있는 순서 그대로 분할한 배열과 피벗 인덱스를 함께 확인합니다. 서로 다른 분할 방식을 섞지 말고 강의의 예제를 그대로 따라가 보세요.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07390215"/>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예제를 같이 확인하겠습니다. 피벗 6을 끝으로 보내면 1이 원래 피벗 자리에 옵니다. L은 8에서 멈추고 R은 7을 지나 3에서 멈춥니다. 두 값을 바꾸면 3, 4, 1, 8, 7, 6이 됩니다. L이 인덱스 3에 도착하고 R이 2로 이동하면 서로 교차합니다. 마지막으로 8과 피벗 6을 바꾸고 3을 반환합니다. 중요한 것은 반환값만 맞추는 게 아니라 배열도 이 순서대로 바뀌어야 한다는 점입니다.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266316"/>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그림에서 움직인 L과 R을 코드 변수로 그대로 옮겼습니다. 피벗을 마지막으로 옮긴 다음부터는 피벗 값을 별도 변수에 저장해 비교합니다. 두 while은 L 이하 R을 먼저 검사합니다. and는 앞이 거짓이면 뒤를 계산하지 않으므로 배열 접근이 안전합니다. 두 값의 교환 뒤에는 다음 반복에서 다시 같은 두 칸부터 검사합니다. 교환한 값은 자기 쪽의 조건을 만족해서 다음 칸으로 넘어갑니다. 교차하면 마지막 교환으로 피벗의 자리를 확정합니다.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78572785"/>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C도 같은 순서입니다. 가운데 인덱스는 lo에 hi 마이너스 lo의 절반을 더해 구합니다. 두 정수의 교환에는 임시 변수 t가 필요합니다. 배열 원소를 먼저 덮어쓰면 원래 값이 사라지기 때문입니다. 논리곱 조건에서도 교차 검사부터 합니다. 원소가 하나인 경우 R은 lo 마이너스 1이지만 조건이 먼저 거짓이 되어 배열을 읽지 않습니다. 마지막 자기 자신과의 교환 뒤 lo를 반환하면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64705731"/>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문제에서 만든 분할 함수를 이용해 전체 정렬을 완성하겠습니다. 실행 환경에 partition이 이미 준비되어 있으므로 이번에는 quick_sort만 작성합니다. lo와 hi가 같으면 한 개이고 lo가 더 크면 빈 구간입니다. 이때 바로 끝내세요. 피벗은 제자리를 찾았으니 다시 정렬하지 않습니다. 왼쪽은 p 마이너스 1까지, 오른쪽은 p 플러스 1부터 호출합니다. 반환값 대신 원래 배열이 바뀌었는지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353631"/>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분할이 끝나도 전체가 정렬된 것은 아닙니다. 왼쪽 3, 4, 1은 아직 순서가 틀렸죠. 이 왼쪽 구간에 똑같은 정렬 함수를 다시 부릅니다. 오른쪽도 따로 부릅니다. 피벗 자리는 두 호출에서 제외하므로 구간이 계속 줄어듭니다. 빈 배열을 넣으면 hi가 마이너스 1입니다. 종료 조건을 맨 먼저 확인하니 잘못된 배열 접근 없이 끝납니다. 평균과 최악 시간이 다른 이유는 피벗이 매번 균형 있게 나누어 준다는 보장이 없기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51220347"/>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Python 코드는 짧지만 호출 범위를 주의해서 보겠습니다. 종료 조건은 lo가 hi 이상일 때입니다. 그러면 빈 구간과 원소 한 개를 모두 처리할 수 있습니다. partition은 배열을 직접 바꾸고 피벗 인덱스를 반환합니다. 그 인덱스의 양쪽만 재귀 호출하면 됩니다. 이 함수는 새 목록을 반환하지 않습니다. 실행한 뒤 원래 a를 출력하거나 확인해야 합니다. 정렬 라이브러리로 대신하지 말고 이 재귀 구조를 직접 작성해 보세요.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02069549"/>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 실행 환경에도 앞 문항의 partition이 함께 제공됩니다. 그래서 이 슬라이드의 quick_sort만 작성해서 실습할 수 있습니다. 직접 파일을 만들어 실행할 때는 partition의 정의를 같은 파일 앞쪽에 넣거나 선언을 준비하세요. 이 함수 역시 배열을 직접 수정하는 void 함수입니다. 처음에는 길이 n의 배열에 0과 n 마이너스 1을 넘깁니다. 빈 배열도 0과 마이너스 1로 호출하면 첫 조건에서 종료합니다.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879772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71548670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213.xml"/><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215.xml"/><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216.xml"/><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217.xml"/><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218.xml"/><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219.xml"/><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220.xml"/><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221.xml"/><Relationship Id="rId1" Type="http://schemas.openxmlformats.org/officeDocument/2006/relationships/slideLayout" Target="../slideLayouts/slideLayout3.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222.xml"/><Relationship Id="rId1" Type="http://schemas.openxmlformats.org/officeDocument/2006/relationships/slideLayout" Target="../slideLayouts/slideLayout3.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223.xml"/><Relationship Id="rId1" Type="http://schemas.openxmlformats.org/officeDocument/2006/relationships/slideLayout" Target="../slideLayouts/slideLayout3.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224.xml"/><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225.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226.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227.xml"/><Relationship Id="rId1" Type="http://schemas.openxmlformats.org/officeDocument/2006/relationships/slideLayout" Target="../slideLayouts/slideLayout3.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22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04040E78-2DF7-4F1F-8F25-5A7ABDACC68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50FF9D4-8260-4184-911E-72DAF42C5A3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F69AA81-3BF6-492B-9EFB-CE5CB6D8EA4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a:t>
            </a:r>
          </a:p>
        </p:txBody>
      </p:sp>
      <p:sp>
        <p:nvSpPr>
          <p:cNvPr id="4" name="직사각형 3">
            <a:extLst>
              <a:ext uri="{FF2B5EF4-FFF2-40B4-BE49-F238E27FC236}">
                <a16:creationId xmlns:a16="http://schemas.microsoft.com/office/drawing/2014/main" id="{BDCA4381-27FF-4D06-AED0-69E75BC6FC5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53FABC6-F356-4012-9630-F21AD662354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50ECA67-F2D2-4EE5-BD4B-30CF721D419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BBE1FB9-4F0E-4173-9652-49822B80361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001</a:t>
            </a:r>
          </a:p>
        </p:txBody>
      </p:sp>
      <p:sp>
        <p:nvSpPr>
          <p:cNvPr id="8" name="text-178-64">
            <a:extLst>
              <a:ext uri="{FF2B5EF4-FFF2-40B4-BE49-F238E27FC236}">
                <a16:creationId xmlns:a16="http://schemas.microsoft.com/office/drawing/2014/main" id="{AA29E67A-F6AB-4B48-B285-201D2B01B02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분할 정복의 세 단계 순서로 옳은 것은?</a:t>
            </a:r>
          </a:p>
        </p:txBody>
      </p:sp>
      <p:sp>
        <p:nvSpPr>
          <p:cNvPr id="9" name="text-316-72">
            <a:extLst>
              <a:ext uri="{FF2B5EF4-FFF2-40B4-BE49-F238E27FC236}">
                <a16:creationId xmlns:a16="http://schemas.microsoft.com/office/drawing/2014/main" id="{7B3AF117-9156-4601-B312-32B394716416}"/>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FB03AD67-2C97-4260-A399-E76EA7052BEA}"/>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부분 문제 해결→분할→결합</a:t>
            </a:r>
          </a:p>
        </p:txBody>
      </p:sp>
      <p:sp>
        <p:nvSpPr>
          <p:cNvPr id="11" name="직사각형 10">
            <a:extLst>
              <a:ext uri="{FF2B5EF4-FFF2-40B4-BE49-F238E27FC236}">
                <a16:creationId xmlns:a16="http://schemas.microsoft.com/office/drawing/2014/main" id="{1470B9F2-706F-4D00-8D41-2D48F6FC5765}"/>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16AB51F0-1DDB-4655-9524-0321A14C8D2B}"/>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6BECA2AE-5BC7-47DD-B07A-2075D014A95A}"/>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결합→분할→부분 문제 해결</a:t>
            </a:r>
          </a:p>
        </p:txBody>
      </p:sp>
      <p:sp>
        <p:nvSpPr>
          <p:cNvPr id="14" name="직사각형 13">
            <a:extLst>
              <a:ext uri="{FF2B5EF4-FFF2-40B4-BE49-F238E27FC236}">
                <a16:creationId xmlns:a16="http://schemas.microsoft.com/office/drawing/2014/main" id="{7B65A35C-5C8A-4B63-85BF-091D0CC865F9}"/>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4BE118EF-37A6-4732-8F48-8C28F3C17625}"/>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0A229858-70C1-4DD0-A42B-A0ABA41ECD40}"/>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분할→부분 문제 해결→결합</a:t>
            </a:r>
          </a:p>
        </p:txBody>
      </p:sp>
      <p:sp>
        <p:nvSpPr>
          <p:cNvPr id="17" name="직사각형 16">
            <a:extLst>
              <a:ext uri="{FF2B5EF4-FFF2-40B4-BE49-F238E27FC236}">
                <a16:creationId xmlns:a16="http://schemas.microsoft.com/office/drawing/2014/main" id="{F32E5FA2-429C-4F98-ABE4-03D0283A78B6}"/>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538510A2-E21C-477B-9E19-924CFE2F86DD}"/>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40EC3C3C-3F20-4A30-B6F7-FF244D05CF60}"/>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부분 문제 해결→결합→분할</a:t>
            </a:r>
          </a:p>
        </p:txBody>
      </p:sp>
      <p:sp>
        <p:nvSpPr>
          <p:cNvPr id="20" name="직사각형 19">
            <a:extLst>
              <a:ext uri="{FF2B5EF4-FFF2-40B4-BE49-F238E27FC236}">
                <a16:creationId xmlns:a16="http://schemas.microsoft.com/office/drawing/2014/main" id="{E380A9DD-9DC9-461A-B12B-CF82FE7159F4}"/>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AD595732-DD41-4773-9B63-A9056D3EAA5F}"/>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4922FB90-49D8-4F4D-B289-FAA5BC003052}"/>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분할→결합→부분 문제 해결</a:t>
            </a:r>
          </a:p>
        </p:txBody>
      </p:sp>
    </p:spTree>
    <p:extLst>
      <p:ext uri="{BB962C8B-B14F-4D97-AF65-F5344CB8AC3E}">
        <p14:creationId xmlns:p14="http://schemas.microsoft.com/office/powerpoint/2010/main" val="4626855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00D2189-17C3-45AD-B161-54E284F7A24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0B7A186-7B17-46B5-BAC8-DD1DA612B63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5FBB087-BB8D-420A-A5C0-53B8D913C5F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01  정답과 해설</a:t>
            </a:r>
          </a:p>
        </p:txBody>
      </p:sp>
      <p:sp>
        <p:nvSpPr>
          <p:cNvPr id="4" name="직사각형 3">
            <a:extLst>
              <a:ext uri="{FF2B5EF4-FFF2-40B4-BE49-F238E27FC236}">
                <a16:creationId xmlns:a16="http://schemas.microsoft.com/office/drawing/2014/main" id="{E0B69E81-CC56-4294-A865-E1ABF2CD2CC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C6B0A4D-B9C2-4DE6-956C-6DC51A97566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04EE961-4990-449D-8A30-90523135A2A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71B7434-DF96-4484-B01A-ED58C1FA164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002</a:t>
            </a:r>
          </a:p>
        </p:txBody>
      </p:sp>
      <p:sp>
        <p:nvSpPr>
          <p:cNvPr id="8" name="text-178-64">
            <a:extLst>
              <a:ext uri="{FF2B5EF4-FFF2-40B4-BE49-F238E27FC236}">
                <a16:creationId xmlns:a16="http://schemas.microsoft.com/office/drawing/2014/main" id="{F386D136-75F0-43B2-BE76-00198109E86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정복의 세 단계 순서로 옳은 것은?</a:t>
            </a:r>
          </a:p>
        </p:txBody>
      </p:sp>
      <p:sp>
        <p:nvSpPr>
          <p:cNvPr id="9" name="직사각형 8">
            <a:extLst>
              <a:ext uri="{FF2B5EF4-FFF2-40B4-BE49-F238E27FC236}">
                <a16:creationId xmlns:a16="http://schemas.microsoft.com/office/drawing/2014/main" id="{FD7F2FDC-AB16-4EF6-A8ED-40A87DCFDDD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8D85F4A1-95B6-4333-AC89-FFB033A12A9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분할→부분 문제 해결→결합</a:t>
            </a:r>
          </a:p>
        </p:txBody>
      </p:sp>
      <p:sp>
        <p:nvSpPr>
          <p:cNvPr id="11" name="text-324.4-64">
            <a:extLst>
              <a:ext uri="{FF2B5EF4-FFF2-40B4-BE49-F238E27FC236}">
                <a16:creationId xmlns:a16="http://schemas.microsoft.com/office/drawing/2014/main" id="{643ADE0A-6D83-46B0-AAC4-005B8C97498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3C87C50-0807-4907-A11C-F405AE6690A2}"/>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69B81EB-D2D3-4B71-A34C-243175A64B4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작은 문제를 해결한 결과를 이용해 원래 문제의 답을 구성한다.</a:t>
            </a:r>
          </a:p>
        </p:txBody>
      </p:sp>
    </p:spTree>
    <p:extLst>
      <p:ext uri="{BB962C8B-B14F-4D97-AF65-F5344CB8AC3E}">
        <p14:creationId xmlns:p14="http://schemas.microsoft.com/office/powerpoint/2010/main" val="46268551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B722E107-2057-495A-AB9D-E220E149D2D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10459ED-4799-4FAD-B25D-01EF5953993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7BCC1E4-8B12-4087-B09F-DB0A620AAE3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a:t>
            </a:r>
          </a:p>
        </p:txBody>
      </p:sp>
      <p:sp>
        <p:nvSpPr>
          <p:cNvPr id="4" name="직사각형 3">
            <a:extLst>
              <a:ext uri="{FF2B5EF4-FFF2-40B4-BE49-F238E27FC236}">
                <a16:creationId xmlns:a16="http://schemas.microsoft.com/office/drawing/2014/main" id="{4683E169-A465-4A52-8660-04F6ED9F9D9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BE38287-5DE7-4572-BB08-86183C359D6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E0ADDC3-AE57-42BD-AAFE-5E442519C49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0C5D9E4-A59F-4231-97BB-FA0436A9806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003</a:t>
            </a:r>
          </a:p>
        </p:txBody>
      </p:sp>
      <p:sp>
        <p:nvSpPr>
          <p:cNvPr id="8" name="text-178-64">
            <a:extLst>
              <a:ext uri="{FF2B5EF4-FFF2-40B4-BE49-F238E27FC236}">
                <a16:creationId xmlns:a16="http://schemas.microsoft.com/office/drawing/2014/main" id="{FEA9E021-01FE-4AFC-AF43-00D20DD0000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합병 정렬의 분할 뒤 반드시 필요한 전제는?</a:t>
            </a:r>
          </a:p>
        </p:txBody>
      </p:sp>
      <p:sp>
        <p:nvSpPr>
          <p:cNvPr id="9" name="text-316-72">
            <a:extLst>
              <a:ext uri="{FF2B5EF4-FFF2-40B4-BE49-F238E27FC236}">
                <a16:creationId xmlns:a16="http://schemas.microsoft.com/office/drawing/2014/main" id="{1E07537A-80CA-4EDB-8A75-AFBDC02A6AC1}"/>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15D024A5-9D4D-414C-9FB2-9D1F515035A2}"/>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원소가 서로 다르다</a:t>
            </a:r>
          </a:p>
        </p:txBody>
      </p:sp>
      <p:sp>
        <p:nvSpPr>
          <p:cNvPr id="11" name="직사각형 10">
            <a:extLst>
              <a:ext uri="{FF2B5EF4-FFF2-40B4-BE49-F238E27FC236}">
                <a16:creationId xmlns:a16="http://schemas.microsoft.com/office/drawing/2014/main" id="{B94F38B4-1732-49E5-A7A8-F4FE418DD0A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B3335335-BF7E-476E-B776-B1F2F964BD30}"/>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7A4AC74C-3065-4F09-9140-BCE0D9FC61C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입력이 이미 정렬되어 있다</a:t>
            </a:r>
          </a:p>
        </p:txBody>
      </p:sp>
      <p:sp>
        <p:nvSpPr>
          <p:cNvPr id="14" name="직사각형 13">
            <a:extLst>
              <a:ext uri="{FF2B5EF4-FFF2-40B4-BE49-F238E27FC236}">
                <a16:creationId xmlns:a16="http://schemas.microsoft.com/office/drawing/2014/main" id="{75774A66-9554-4CE8-9EA2-0B9E211B21A4}"/>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56041B4-C7E3-48E9-B451-2E5BFB95E774}"/>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AF906C9B-3A42-44CD-9358-99276C918D92}"/>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부분을 각각 정렬한 뒤 병합한다</a:t>
            </a:r>
          </a:p>
        </p:txBody>
      </p:sp>
      <p:sp>
        <p:nvSpPr>
          <p:cNvPr id="17" name="직사각형 16">
            <a:extLst>
              <a:ext uri="{FF2B5EF4-FFF2-40B4-BE49-F238E27FC236}">
                <a16:creationId xmlns:a16="http://schemas.microsoft.com/office/drawing/2014/main" id="{FD7F17BD-BD1C-4C6A-A9C6-3A647906509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F554E00E-540D-4205-9578-6320DBFDA53A}"/>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237A01A3-6A79-4C2E-B819-4F4A9A8AB966}"/>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부분의 길이가 항상 같다</a:t>
            </a:r>
          </a:p>
        </p:txBody>
      </p:sp>
      <p:sp>
        <p:nvSpPr>
          <p:cNvPr id="20" name="직사각형 19">
            <a:extLst>
              <a:ext uri="{FF2B5EF4-FFF2-40B4-BE49-F238E27FC236}">
                <a16:creationId xmlns:a16="http://schemas.microsoft.com/office/drawing/2014/main" id="{66616619-8AA2-44F5-A04B-2C16EEDA7855}"/>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B122D0AC-C101-4219-9A21-48BF8FF55BDF}"/>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E99DFDBC-3100-42A4-B736-F336C93476A7}"/>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부분의 값 범위가 겹치지 않는다</a:t>
            </a:r>
          </a:p>
        </p:txBody>
      </p:sp>
    </p:spTree>
    <p:extLst>
      <p:ext uri="{BB962C8B-B14F-4D97-AF65-F5344CB8AC3E}">
        <p14:creationId xmlns:p14="http://schemas.microsoft.com/office/powerpoint/2010/main" val="4626855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A0F0BF4-95FC-4D90-968F-BF674708C90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FFD4F32-01B6-4DAF-9CD4-B6EAA2663F0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ECBFDF7-84F6-423A-9D08-EFAFF3A5A87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02  정답과 해설</a:t>
            </a:r>
          </a:p>
        </p:txBody>
      </p:sp>
      <p:sp>
        <p:nvSpPr>
          <p:cNvPr id="4" name="직사각형 3">
            <a:extLst>
              <a:ext uri="{FF2B5EF4-FFF2-40B4-BE49-F238E27FC236}">
                <a16:creationId xmlns:a16="http://schemas.microsoft.com/office/drawing/2014/main" id="{DA8E067E-6987-4991-8334-CBE8C15E61F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5ADF2E9-6351-4A3E-A64D-61E4FCD4729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26C4BA6-5E11-4B1B-887F-72860522CC2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5B722DE-052A-4705-85EB-37B047C47E3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004</a:t>
            </a:r>
          </a:p>
        </p:txBody>
      </p:sp>
      <p:sp>
        <p:nvSpPr>
          <p:cNvPr id="8" name="text-178-64">
            <a:extLst>
              <a:ext uri="{FF2B5EF4-FFF2-40B4-BE49-F238E27FC236}">
                <a16:creationId xmlns:a16="http://schemas.microsoft.com/office/drawing/2014/main" id="{5CD262E7-1D2E-40DF-8714-21F11F92ECD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합병 정렬의 분할 뒤 반드시 필요한 전제는?</a:t>
            </a:r>
          </a:p>
        </p:txBody>
      </p:sp>
      <p:sp>
        <p:nvSpPr>
          <p:cNvPr id="9" name="직사각형 8">
            <a:extLst>
              <a:ext uri="{FF2B5EF4-FFF2-40B4-BE49-F238E27FC236}">
                <a16:creationId xmlns:a16="http://schemas.microsoft.com/office/drawing/2014/main" id="{E2E1F80B-5A42-4AE2-AA13-797853B8473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DB3A49F-5F74-47D6-BBBA-E3CC3E5075F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두 부분을 각각 정렬한 뒤 병합한다</a:t>
            </a:r>
          </a:p>
        </p:txBody>
      </p:sp>
      <p:sp>
        <p:nvSpPr>
          <p:cNvPr id="11" name="text-324.4-64">
            <a:extLst>
              <a:ext uri="{FF2B5EF4-FFF2-40B4-BE49-F238E27FC236}">
                <a16:creationId xmlns:a16="http://schemas.microsoft.com/office/drawing/2014/main" id="{99967192-A19A-45B2-8B9D-D39D3FA08F8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0C8D628-08B0-45BF-BA9B-84315B127D0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EA8E369-C046-4F88-8484-91CE772A4534}"/>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병합은 정렬된 두 배열을 입력으로 받는다. 중복과 홀수 길이도 처리할 수 있다.</a:t>
            </a:r>
          </a:p>
        </p:txBody>
      </p:sp>
    </p:spTree>
    <p:extLst>
      <p:ext uri="{BB962C8B-B14F-4D97-AF65-F5344CB8AC3E}">
        <p14:creationId xmlns:p14="http://schemas.microsoft.com/office/powerpoint/2010/main" val="4626855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EC591D6A-C66F-475B-9B91-32612EAB998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2C3850B-3FC3-42E2-BF37-ED97704C51B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ADF1AC2-7918-4749-9E78-E4D5B377208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a:t>
            </a:r>
          </a:p>
        </p:txBody>
      </p:sp>
      <p:sp>
        <p:nvSpPr>
          <p:cNvPr id="4" name="직사각형 3">
            <a:extLst>
              <a:ext uri="{FF2B5EF4-FFF2-40B4-BE49-F238E27FC236}">
                <a16:creationId xmlns:a16="http://schemas.microsoft.com/office/drawing/2014/main" id="{981DAC65-9F89-4611-B57E-6D58E78A7F3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FCC4A81-9BFB-4CE0-8F8B-3B2E1C27FF4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FC83E83-787B-43F0-8E34-EF14FFD9EC6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9AC98CF-E6B1-4018-BAB8-FADDFD6EDB4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005</a:t>
            </a:r>
          </a:p>
        </p:txBody>
      </p:sp>
      <p:sp>
        <p:nvSpPr>
          <p:cNvPr id="8" name="text-178-64">
            <a:extLst>
              <a:ext uri="{FF2B5EF4-FFF2-40B4-BE49-F238E27FC236}">
                <a16:creationId xmlns:a16="http://schemas.microsoft.com/office/drawing/2014/main" id="{B3EAD1B4-3E72-448E-947F-30D780BD4E83}"/>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p,q인 정렬 배열의 표준 병합에서 최악 원소 비교 횟수는? p,q≥1이다.</a:t>
            </a:r>
          </a:p>
        </p:txBody>
      </p:sp>
      <p:sp>
        <p:nvSpPr>
          <p:cNvPr id="9" name="text-316-72">
            <a:extLst>
              <a:ext uri="{FF2B5EF4-FFF2-40B4-BE49-F238E27FC236}">
                <a16:creationId xmlns:a16="http://schemas.microsoft.com/office/drawing/2014/main" id="{2BB7EAD0-0A7C-4B8D-81AF-BAD9E796A197}"/>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3FB961AB-B7CF-499D-847C-78F8016DE94C}"/>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⌈log₂(p+q)⌉</a:t>
            </a:r>
          </a:p>
        </p:txBody>
      </p:sp>
      <p:sp>
        <p:nvSpPr>
          <p:cNvPr id="11" name="직사각형 10">
            <a:extLst>
              <a:ext uri="{FF2B5EF4-FFF2-40B4-BE49-F238E27FC236}">
                <a16:creationId xmlns:a16="http://schemas.microsoft.com/office/drawing/2014/main" id="{206E3DDF-C2BF-4483-AC49-C6C98481471E}"/>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DB1E13F2-5400-4EEF-9CA2-05209D378DA8}"/>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F17FF6EE-2B6E-43B4-8E16-5440A7E2307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min(p,q)−1</a:t>
            </a:r>
          </a:p>
        </p:txBody>
      </p:sp>
      <p:sp>
        <p:nvSpPr>
          <p:cNvPr id="14" name="직사각형 13">
            <a:extLst>
              <a:ext uri="{FF2B5EF4-FFF2-40B4-BE49-F238E27FC236}">
                <a16:creationId xmlns:a16="http://schemas.microsoft.com/office/drawing/2014/main" id="{014D6EF7-D553-40A9-80C2-BD11AC7764A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86DA79DD-8FAE-4E5F-B918-842D01B7B4EA}"/>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A69E7D0B-886B-4C70-BC68-4C62F94C5EDE}"/>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p+q</a:t>
            </a:r>
          </a:p>
        </p:txBody>
      </p:sp>
      <p:sp>
        <p:nvSpPr>
          <p:cNvPr id="17" name="직사각형 16">
            <a:extLst>
              <a:ext uri="{FF2B5EF4-FFF2-40B4-BE49-F238E27FC236}">
                <a16:creationId xmlns:a16="http://schemas.microsoft.com/office/drawing/2014/main" id="{0C3E790F-4F76-428F-898B-B87029EE9D92}"/>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33852385-D540-400D-B11A-8E4014F20D07}"/>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0F76C21-2527-41BE-BC72-323A20A8649E}"/>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pq</a:t>
            </a:r>
          </a:p>
        </p:txBody>
      </p:sp>
      <p:sp>
        <p:nvSpPr>
          <p:cNvPr id="20" name="직사각형 19">
            <a:extLst>
              <a:ext uri="{FF2B5EF4-FFF2-40B4-BE49-F238E27FC236}">
                <a16:creationId xmlns:a16="http://schemas.microsoft.com/office/drawing/2014/main" id="{4FEF3384-BCCF-4D26-BE4D-8323F08FFA72}"/>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3BE0EAF0-019F-4A31-BC03-62F104CB4481}"/>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39E30255-8459-441D-BF99-59F88DE82BED}"/>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p+q−1</a:t>
            </a:r>
          </a:p>
        </p:txBody>
      </p:sp>
    </p:spTree>
    <p:extLst>
      <p:ext uri="{BB962C8B-B14F-4D97-AF65-F5344CB8AC3E}">
        <p14:creationId xmlns:p14="http://schemas.microsoft.com/office/powerpoint/2010/main" val="4626855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B299E3A-79EE-4DF6-A313-3C2188B87A7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B1EEA0E-B734-422A-888F-C4EA9720FA8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53D1F23-9DEB-433F-92CA-3B2DBE479EB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03  정답과 해설</a:t>
            </a:r>
          </a:p>
        </p:txBody>
      </p:sp>
      <p:sp>
        <p:nvSpPr>
          <p:cNvPr id="4" name="직사각형 3">
            <a:extLst>
              <a:ext uri="{FF2B5EF4-FFF2-40B4-BE49-F238E27FC236}">
                <a16:creationId xmlns:a16="http://schemas.microsoft.com/office/drawing/2014/main" id="{24F9958E-6E71-4259-B6A3-449F5317F0C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273954C-11A8-4449-ADB7-E512EF20012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DE57794-6587-4114-8919-540452742B1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80FBACB-CD14-46B2-8D89-602E4C82A3F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006</a:t>
            </a:r>
          </a:p>
        </p:txBody>
      </p:sp>
      <p:sp>
        <p:nvSpPr>
          <p:cNvPr id="8" name="text-178-64">
            <a:extLst>
              <a:ext uri="{FF2B5EF4-FFF2-40B4-BE49-F238E27FC236}">
                <a16:creationId xmlns:a16="http://schemas.microsoft.com/office/drawing/2014/main" id="{2C97659B-68BF-4D6C-80F2-9EB0B8FAB632}"/>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 p,q인 정렬 배열의 표준 병합에서 최악 원소 비교 횟수는? p,q≥1이다.</a:t>
            </a:r>
          </a:p>
        </p:txBody>
      </p:sp>
      <p:sp>
        <p:nvSpPr>
          <p:cNvPr id="9" name="직사각형 8">
            <a:extLst>
              <a:ext uri="{FF2B5EF4-FFF2-40B4-BE49-F238E27FC236}">
                <a16:creationId xmlns:a16="http://schemas.microsoft.com/office/drawing/2014/main" id="{0393F807-3234-4A3C-80E1-83A22F854F6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B61C694E-18A7-408B-8F48-80E9F300DDA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p+q−1</a:t>
            </a:r>
          </a:p>
        </p:txBody>
      </p:sp>
      <p:sp>
        <p:nvSpPr>
          <p:cNvPr id="11" name="text-324.4-64">
            <a:extLst>
              <a:ext uri="{FF2B5EF4-FFF2-40B4-BE49-F238E27FC236}">
                <a16:creationId xmlns:a16="http://schemas.microsoft.com/office/drawing/2014/main" id="{9A6096C0-4476-4577-8353-54ED0F519A9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BC703D5F-CD9F-42C2-9167-010347BF3DB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E87E543-E682-427F-85F4-4C4FED2F68C7}"/>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한쪽이 먼저 소진되면 남은 원소는 비교 없이 복사한다. 마지막 하나를 남길 때까지 비교할 수 있다.</a:t>
            </a:r>
          </a:p>
        </p:txBody>
      </p:sp>
    </p:spTree>
    <p:extLst>
      <p:ext uri="{BB962C8B-B14F-4D97-AF65-F5344CB8AC3E}">
        <p14:creationId xmlns:p14="http://schemas.microsoft.com/office/powerpoint/2010/main" val="462685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2F91A7F3-830A-4E4C-B7AD-C7FDFEE7ADB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945EB671-A8D5-4DCE-9531-AABA74F8AB9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700932C-1027-4BD0-852C-E1872525934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a:t>
            </a:r>
          </a:p>
        </p:txBody>
      </p:sp>
      <p:sp>
        <p:nvSpPr>
          <p:cNvPr id="4" name="직사각형 3">
            <a:extLst>
              <a:ext uri="{FF2B5EF4-FFF2-40B4-BE49-F238E27FC236}">
                <a16:creationId xmlns:a16="http://schemas.microsoft.com/office/drawing/2014/main" id="{F3E95B97-ABBF-4208-83E4-8D1A965916E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5A4EA0C-853A-4A8F-A95D-B919667699A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D59D37B-EAEA-42E5-AAE5-81E0F05833F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CA99402-09DD-4D99-9612-68AEFA9D2FB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007</a:t>
            </a:r>
          </a:p>
        </p:txBody>
      </p:sp>
      <p:sp>
        <p:nvSpPr>
          <p:cNvPr id="8" name="text-178-64">
            <a:extLst>
              <a:ext uri="{FF2B5EF4-FFF2-40B4-BE49-F238E27FC236}">
                <a16:creationId xmlns:a16="http://schemas.microsoft.com/office/drawing/2014/main" id="{9465C2EE-2702-49EB-BA81-59AE6DFCFCE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안정적인 병합 정렬에서 양쪽 현재 키가 같을 때 먼저 꺼낼 원소는?</a:t>
            </a:r>
          </a:p>
        </p:txBody>
      </p:sp>
      <p:sp>
        <p:nvSpPr>
          <p:cNvPr id="9" name="text-316-72">
            <a:extLst>
              <a:ext uri="{FF2B5EF4-FFF2-40B4-BE49-F238E27FC236}">
                <a16:creationId xmlns:a16="http://schemas.microsoft.com/office/drawing/2014/main" id="{70C14A0A-7118-4839-8ADD-C8AF896C9306}"/>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93450E5C-D749-4783-BCA3-1DE2A741B288}"/>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키의 대표 하나만 남긴다</a:t>
            </a:r>
          </a:p>
        </p:txBody>
      </p:sp>
      <p:sp>
        <p:nvSpPr>
          <p:cNvPr id="11" name="직사각형 10">
            <a:extLst>
              <a:ext uri="{FF2B5EF4-FFF2-40B4-BE49-F238E27FC236}">
                <a16:creationId xmlns:a16="http://schemas.microsoft.com/office/drawing/2014/main" id="{22B45B6E-62C0-48A5-8FCF-900668754859}"/>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20C83EB4-F9E7-405B-900E-403628C58B41}"/>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912C60B9-FB8D-45EE-AEFE-864D7F23B99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오른쪽 원소를 먼저 꺼내고 끝에서 전체를 뒤집는다</a:t>
            </a:r>
          </a:p>
        </p:txBody>
      </p:sp>
      <p:sp>
        <p:nvSpPr>
          <p:cNvPr id="14" name="직사각형 13">
            <a:extLst>
              <a:ext uri="{FF2B5EF4-FFF2-40B4-BE49-F238E27FC236}">
                <a16:creationId xmlns:a16="http://schemas.microsoft.com/office/drawing/2014/main" id="{94A5AE89-E357-4290-A9BB-3E5DAEE24BFD}"/>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1B9D7FB2-47FC-4D5A-8D1A-6E5E576344B3}"/>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7EE721C1-06AC-46C4-ADFA-D40D1C67E18F}"/>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원소 중 삽입 위치가 더 뒤인 쪽을 먼저 쓴다</a:t>
            </a:r>
          </a:p>
        </p:txBody>
      </p:sp>
      <p:sp>
        <p:nvSpPr>
          <p:cNvPr id="17" name="직사각형 16">
            <a:extLst>
              <a:ext uri="{FF2B5EF4-FFF2-40B4-BE49-F238E27FC236}">
                <a16:creationId xmlns:a16="http://schemas.microsoft.com/office/drawing/2014/main" id="{CCA10692-265F-4955-9086-52EEC0FCF53B}"/>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647B3929-EAEE-4117-A744-F0D2F85C2661}"/>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D76DDC2-59EE-4A49-BAD0-E10D72E0E382}"/>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동률을 임의로 처리해도 안정성이 항상 유지된다</a:t>
            </a:r>
          </a:p>
        </p:txBody>
      </p:sp>
      <p:sp>
        <p:nvSpPr>
          <p:cNvPr id="20" name="직사각형 19">
            <a:extLst>
              <a:ext uri="{FF2B5EF4-FFF2-40B4-BE49-F238E27FC236}">
                <a16:creationId xmlns:a16="http://schemas.microsoft.com/office/drawing/2014/main" id="{E98D2E6D-32AF-4995-9D7C-8B8AE5FB40C1}"/>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FEAA14F7-F285-4C26-9D31-3F97FC01123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FE25AA18-BF36-4DC9-BCA0-95FE3029913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부분의 원소</a:t>
            </a:r>
          </a:p>
        </p:txBody>
      </p:sp>
    </p:spTree>
    <p:extLst>
      <p:ext uri="{BB962C8B-B14F-4D97-AF65-F5344CB8AC3E}">
        <p14:creationId xmlns:p14="http://schemas.microsoft.com/office/powerpoint/2010/main" val="4626855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FB370DA7-89D8-4998-8249-FC0CE02F616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6238032-EE62-44D8-B276-781877ACEA5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CDC1417-3970-4031-BECE-9570C7FC4FE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04  정답과 해설</a:t>
            </a:r>
          </a:p>
        </p:txBody>
      </p:sp>
      <p:sp>
        <p:nvSpPr>
          <p:cNvPr id="4" name="직사각형 3">
            <a:extLst>
              <a:ext uri="{FF2B5EF4-FFF2-40B4-BE49-F238E27FC236}">
                <a16:creationId xmlns:a16="http://schemas.microsoft.com/office/drawing/2014/main" id="{F2748A29-D1D3-43F0-8F3F-1E65E4AA822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7878B8F-C3BF-4761-ADDC-411AD6C729E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6CE7826-EB9E-4749-BADA-53C38BFB482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BCF21E6-8991-449F-AEF6-CF7C0A0A696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008</a:t>
            </a:r>
          </a:p>
        </p:txBody>
      </p:sp>
      <p:sp>
        <p:nvSpPr>
          <p:cNvPr id="8" name="text-178-64">
            <a:extLst>
              <a:ext uri="{FF2B5EF4-FFF2-40B4-BE49-F238E27FC236}">
                <a16:creationId xmlns:a16="http://schemas.microsoft.com/office/drawing/2014/main" id="{6D9E33D7-A0E8-426D-96FD-5742C6687B4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안정적인 병합 정렬에서 양쪽 현재 키가 같을 때 먼저 꺼낼 원소는?</a:t>
            </a:r>
          </a:p>
        </p:txBody>
      </p:sp>
      <p:sp>
        <p:nvSpPr>
          <p:cNvPr id="9" name="직사각형 8">
            <a:extLst>
              <a:ext uri="{FF2B5EF4-FFF2-40B4-BE49-F238E27FC236}">
                <a16:creationId xmlns:a16="http://schemas.microsoft.com/office/drawing/2014/main" id="{D6F812F0-7225-40AD-9556-6FB226B124E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E93A2F8-04C9-4699-8408-E65DDB1A68C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왼쪽 부분의 원소</a:t>
            </a:r>
          </a:p>
        </p:txBody>
      </p:sp>
      <p:sp>
        <p:nvSpPr>
          <p:cNvPr id="11" name="text-324.4-64">
            <a:extLst>
              <a:ext uri="{FF2B5EF4-FFF2-40B4-BE49-F238E27FC236}">
                <a16:creationId xmlns:a16="http://schemas.microsoft.com/office/drawing/2014/main" id="{40A5053E-75BF-4321-B65B-947A001C610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20D51DF3-CCBA-40BB-9BF9-C152654070E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E2A40FB-36AC-4BFC-887E-58483B6EDAC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원래 배열에서 왼쪽 부분이 앞에 있으므로 동등 키의 상대 순서를 보존한다.</a:t>
            </a:r>
          </a:p>
        </p:txBody>
      </p:sp>
    </p:spTree>
    <p:extLst>
      <p:ext uri="{BB962C8B-B14F-4D97-AF65-F5344CB8AC3E}">
        <p14:creationId xmlns:p14="http://schemas.microsoft.com/office/powerpoint/2010/main" val="4626855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F9B85B15-1135-4EE1-9D29-D86D81E7BDA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53667C4-2EA0-401A-9686-1BF4BE87E17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90245A4-E778-4955-A7C2-3CE67888F95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a:t>
            </a:r>
          </a:p>
        </p:txBody>
      </p:sp>
      <p:sp>
        <p:nvSpPr>
          <p:cNvPr id="4" name="직사각형 3">
            <a:extLst>
              <a:ext uri="{FF2B5EF4-FFF2-40B4-BE49-F238E27FC236}">
                <a16:creationId xmlns:a16="http://schemas.microsoft.com/office/drawing/2014/main" id="{B704BC78-1F0B-4F3B-953C-6A77EE7984A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B0E708F-96F6-4B46-BC59-AB96F00B7E3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8159538-BBA4-43DD-856D-85C69EF407A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C9CD1DA-EB09-4A22-A03A-E09187464D6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009</a:t>
            </a:r>
          </a:p>
        </p:txBody>
      </p:sp>
      <p:sp>
        <p:nvSpPr>
          <p:cNvPr id="8" name="text-178-64">
            <a:extLst>
              <a:ext uri="{FF2B5EF4-FFF2-40B4-BE49-F238E27FC236}">
                <a16:creationId xmlns:a16="http://schemas.microsoft.com/office/drawing/2014/main" id="{816E85AA-6968-46F0-B167-336ED466483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일반 합병 정렬의 점화식은? 분할 크기는 절반, 병합은 선형이다.</a:t>
            </a:r>
          </a:p>
        </p:txBody>
      </p:sp>
      <p:sp>
        <p:nvSpPr>
          <p:cNvPr id="9" name="text-316-72">
            <a:extLst>
              <a:ext uri="{FF2B5EF4-FFF2-40B4-BE49-F238E27FC236}">
                <a16:creationId xmlns:a16="http://schemas.microsoft.com/office/drawing/2014/main" id="{648AE666-7E69-4891-8E51-2F7FA41B47C0}"/>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4A6A2A73-3BE4-4EE2-99FE-B489CDCCA98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T(n)=T(n/2)+Θ(1)</a:t>
            </a:r>
          </a:p>
        </p:txBody>
      </p:sp>
      <p:sp>
        <p:nvSpPr>
          <p:cNvPr id="11" name="직사각형 10">
            <a:extLst>
              <a:ext uri="{FF2B5EF4-FFF2-40B4-BE49-F238E27FC236}">
                <a16:creationId xmlns:a16="http://schemas.microsoft.com/office/drawing/2014/main" id="{BCC179BD-2F97-44DD-A366-53D955D78AB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CF7BB19D-78DC-47F5-8C87-FF1BE6001F6C}"/>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4EBE0453-97E7-494D-A997-A5E98C1AF9E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T(n)=4T(n/2)+Θ(n²)</a:t>
            </a:r>
          </a:p>
        </p:txBody>
      </p:sp>
      <p:sp>
        <p:nvSpPr>
          <p:cNvPr id="14" name="직사각형 13">
            <a:extLst>
              <a:ext uri="{FF2B5EF4-FFF2-40B4-BE49-F238E27FC236}">
                <a16:creationId xmlns:a16="http://schemas.microsoft.com/office/drawing/2014/main" id="{236BF8B6-CBDA-4444-8743-85858487BBA3}"/>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520FC436-51B6-41AD-BD39-828ED5D36CB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727697D1-6167-4F9C-81D0-D3A11BDC2490}"/>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T(n)=T(n−1)+Θ(1)</a:t>
            </a:r>
          </a:p>
        </p:txBody>
      </p:sp>
      <p:sp>
        <p:nvSpPr>
          <p:cNvPr id="17" name="직사각형 16">
            <a:extLst>
              <a:ext uri="{FF2B5EF4-FFF2-40B4-BE49-F238E27FC236}">
                <a16:creationId xmlns:a16="http://schemas.microsoft.com/office/drawing/2014/main" id="{8E38B718-6864-4D77-9C2B-1BACE63C7EE7}"/>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155D88C9-6DDF-438A-AEB1-7EAF80D56C20}"/>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D3F0AC6C-9B10-4450-AE58-0D36521428FD}"/>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T(n)=2T(n−1)+Θ(1)</a:t>
            </a:r>
          </a:p>
        </p:txBody>
      </p:sp>
      <p:sp>
        <p:nvSpPr>
          <p:cNvPr id="20" name="직사각형 19">
            <a:extLst>
              <a:ext uri="{FF2B5EF4-FFF2-40B4-BE49-F238E27FC236}">
                <a16:creationId xmlns:a16="http://schemas.microsoft.com/office/drawing/2014/main" id="{1DD749D0-5465-45AA-B7E8-7A664B837972}"/>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8AA32924-C678-4F72-BC2F-6AE87F53F0FA}"/>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7F043142-EA09-4885-A3D4-FA7C57A0628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T(n)=2T(n/2)+Θ(n)</a:t>
            </a:r>
          </a:p>
        </p:txBody>
      </p:sp>
    </p:spTree>
    <p:extLst>
      <p:ext uri="{BB962C8B-B14F-4D97-AF65-F5344CB8AC3E}">
        <p14:creationId xmlns:p14="http://schemas.microsoft.com/office/powerpoint/2010/main" val="4626855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C0DFBF8F-9E9A-4988-9CD8-D8CB6F37C65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69C3E26-957A-4C8E-BD71-4AE37650323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F17AA98-22F0-4D03-91ED-D426E529C19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05  정답과 해설</a:t>
            </a:r>
          </a:p>
        </p:txBody>
      </p:sp>
      <p:sp>
        <p:nvSpPr>
          <p:cNvPr id="4" name="직사각형 3">
            <a:extLst>
              <a:ext uri="{FF2B5EF4-FFF2-40B4-BE49-F238E27FC236}">
                <a16:creationId xmlns:a16="http://schemas.microsoft.com/office/drawing/2014/main" id="{45967230-4657-48DB-82FF-C26051099F2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A4481C1-EEC2-42AE-942B-CB21F8AD98A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7F9B658-86D8-420E-84E6-84BEE05319B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73BE8D3-A512-4576-8ADD-570D24AC47C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010</a:t>
            </a:r>
          </a:p>
        </p:txBody>
      </p:sp>
      <p:sp>
        <p:nvSpPr>
          <p:cNvPr id="8" name="text-178-64">
            <a:extLst>
              <a:ext uri="{FF2B5EF4-FFF2-40B4-BE49-F238E27FC236}">
                <a16:creationId xmlns:a16="http://schemas.microsoft.com/office/drawing/2014/main" id="{04384520-F9B4-4505-95A7-658AF83E0AF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일반 합병 정렬의 점화식은? 분할 크기는 절반, 병합은 선형이다.</a:t>
            </a:r>
          </a:p>
        </p:txBody>
      </p:sp>
      <p:sp>
        <p:nvSpPr>
          <p:cNvPr id="9" name="직사각형 8">
            <a:extLst>
              <a:ext uri="{FF2B5EF4-FFF2-40B4-BE49-F238E27FC236}">
                <a16:creationId xmlns:a16="http://schemas.microsoft.com/office/drawing/2014/main" id="{FA119229-D5DD-4C59-AF68-B3C8387CB9E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AAC9078-5C6A-4A61-A926-F6018EA3890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T(n)=2T(n/2)+Θ(n)</a:t>
            </a:r>
          </a:p>
        </p:txBody>
      </p:sp>
      <p:sp>
        <p:nvSpPr>
          <p:cNvPr id="11" name="text-324.4-64">
            <a:extLst>
              <a:ext uri="{FF2B5EF4-FFF2-40B4-BE49-F238E27FC236}">
                <a16:creationId xmlns:a16="http://schemas.microsoft.com/office/drawing/2014/main" id="{D20E4C2C-223F-44C6-83AB-571EFE7B9F0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BB98FFE-EB19-45E2-B802-10F673EC955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7E0CF18F-7509-4F5D-83A9-4A79D2C1324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두 부분을 모두 재귀적으로 정렬하고 전체 길이에 비례해 병합한다.</a:t>
            </a:r>
          </a:p>
        </p:txBody>
      </p:sp>
    </p:spTree>
    <p:extLst>
      <p:ext uri="{BB962C8B-B14F-4D97-AF65-F5344CB8AC3E}">
        <p14:creationId xmlns:p14="http://schemas.microsoft.com/office/powerpoint/2010/main" val="4626855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92EC3DDD-220A-4BD0-8590-89558DF322C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C91DBC1-0D08-40C3-9597-709013A7B02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1A9A35A-6E13-44F8-8A38-EDE79D0AF66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a:t>
            </a:r>
          </a:p>
        </p:txBody>
      </p:sp>
      <p:sp>
        <p:nvSpPr>
          <p:cNvPr id="4" name="직사각형 3">
            <a:extLst>
              <a:ext uri="{FF2B5EF4-FFF2-40B4-BE49-F238E27FC236}">
                <a16:creationId xmlns:a16="http://schemas.microsoft.com/office/drawing/2014/main" id="{A52C4A98-8CA4-4D58-ADC8-5D135EA8DE8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41BE9D2-7FB1-48D0-82D7-574C5E9C8DA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1DB5026-534B-4AD3-A5E7-8E85FE29F15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32B2122-F674-416A-A9A6-7808C8980B2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011</a:t>
            </a:r>
          </a:p>
        </p:txBody>
      </p:sp>
      <p:sp>
        <p:nvSpPr>
          <p:cNvPr id="8" name="text-178-64">
            <a:extLst>
              <a:ext uri="{FF2B5EF4-FFF2-40B4-BE49-F238E27FC236}">
                <a16:creationId xmlns:a16="http://schemas.microsoft.com/office/drawing/2014/main" id="{EF7BE8D9-4C08-4C94-824B-2B7EA4895CC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이미 정렬된 입력에도 병합을 생략하지 않는 일반 합병 정렬의 시간 차수는?</a:t>
            </a:r>
          </a:p>
        </p:txBody>
      </p:sp>
      <p:sp>
        <p:nvSpPr>
          <p:cNvPr id="9" name="text-316-72">
            <a:extLst>
              <a:ext uri="{FF2B5EF4-FFF2-40B4-BE49-F238E27FC236}">
                <a16:creationId xmlns:a16="http://schemas.microsoft.com/office/drawing/2014/main" id="{CB5C2A2C-223C-4A6F-89DB-5143831B2E0F}"/>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99E2B45E-CD99-4B5C-883A-E7E6AB86D538}"/>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
        <p:nvSpPr>
          <p:cNvPr id="11" name="직사각형 10">
            <a:extLst>
              <a:ext uri="{FF2B5EF4-FFF2-40B4-BE49-F238E27FC236}">
                <a16:creationId xmlns:a16="http://schemas.microsoft.com/office/drawing/2014/main" id="{9196D5AB-061D-443A-A504-931963610A1E}"/>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C127F2DC-E12F-47B2-B978-C8398C58C321}"/>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30330EB8-D59E-46DC-AA1F-35EFE9B9FC25}"/>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4" name="직사각형 13">
            <a:extLst>
              <a:ext uri="{FF2B5EF4-FFF2-40B4-BE49-F238E27FC236}">
                <a16:creationId xmlns:a16="http://schemas.microsoft.com/office/drawing/2014/main" id="{DBB06246-8918-4FF8-9568-9C1E5B514B80}"/>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92DCA096-B987-4EDF-8D29-6D0A130CB727}"/>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1F50C66C-6FFE-4174-80C4-4CF00C296163}"/>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7" name="직사각형 16">
            <a:extLst>
              <a:ext uri="{FF2B5EF4-FFF2-40B4-BE49-F238E27FC236}">
                <a16:creationId xmlns:a16="http://schemas.microsoft.com/office/drawing/2014/main" id="{4A35DFEB-A484-40E4-9CBA-D0E901F53963}"/>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B267ABAD-B863-4574-8C87-44FF7A0A7B7B}"/>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7D0C2C19-02F8-4E96-9072-AD1400A7C000}"/>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20" name="직사각형 19">
            <a:extLst>
              <a:ext uri="{FF2B5EF4-FFF2-40B4-BE49-F238E27FC236}">
                <a16:creationId xmlns:a16="http://schemas.microsoft.com/office/drawing/2014/main" id="{7F6CC213-8A90-4954-A103-C0F1AF4028A3}"/>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B152E45A-8654-4D58-87F1-847F063EF549}"/>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5D5A3D27-4EE8-44B5-8970-2BB94395F1F7}"/>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Tree>
    <p:extLst>
      <p:ext uri="{BB962C8B-B14F-4D97-AF65-F5344CB8AC3E}">
        <p14:creationId xmlns:p14="http://schemas.microsoft.com/office/powerpoint/2010/main" val="4626855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132B3BC-196B-4A94-8B3B-76BCBA55994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B284DA52-DE3E-4E9E-AA81-832CA67DE6F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9D4F66C-65F2-4240-8D40-92F4B86D2A5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06  정답과 해설</a:t>
            </a:r>
          </a:p>
        </p:txBody>
      </p:sp>
      <p:sp>
        <p:nvSpPr>
          <p:cNvPr id="4" name="직사각형 3">
            <a:extLst>
              <a:ext uri="{FF2B5EF4-FFF2-40B4-BE49-F238E27FC236}">
                <a16:creationId xmlns:a16="http://schemas.microsoft.com/office/drawing/2014/main" id="{B879CC87-B9A2-4D28-8052-A66B4216CB0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5F4759A-CD10-40BA-98CE-37956C2C49B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0A1FD2E-7F52-4979-9C0A-5C992B61D86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F33D70A-7FB1-46AC-9064-F1A603B7F46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012</a:t>
            </a:r>
          </a:p>
        </p:txBody>
      </p:sp>
      <p:sp>
        <p:nvSpPr>
          <p:cNvPr id="8" name="text-178-64">
            <a:extLst>
              <a:ext uri="{FF2B5EF4-FFF2-40B4-BE49-F238E27FC236}">
                <a16:creationId xmlns:a16="http://schemas.microsoft.com/office/drawing/2014/main" id="{91D1C826-7326-4AA4-9D0C-F0598EB658FF}"/>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이미 정렬된 입력에도 병합을 생략하지 않는 일반 합병 정렬의 시간 차수는?</a:t>
            </a:r>
          </a:p>
        </p:txBody>
      </p:sp>
      <p:sp>
        <p:nvSpPr>
          <p:cNvPr id="9" name="직사각형 8">
            <a:extLst>
              <a:ext uri="{FF2B5EF4-FFF2-40B4-BE49-F238E27FC236}">
                <a16:creationId xmlns:a16="http://schemas.microsoft.com/office/drawing/2014/main" id="{974AE951-CA9C-4BB8-B8D0-6D2648B762A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8BEBF81-C72F-4A77-A88F-6AFC8AE97D4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Θ(n log n)</a:t>
            </a:r>
          </a:p>
        </p:txBody>
      </p:sp>
      <p:sp>
        <p:nvSpPr>
          <p:cNvPr id="11" name="text-324.4-64">
            <a:extLst>
              <a:ext uri="{FF2B5EF4-FFF2-40B4-BE49-F238E27FC236}">
                <a16:creationId xmlns:a16="http://schemas.microsoft.com/office/drawing/2014/main" id="{ABD6ED53-9FAA-4FAE-8930-811994E092E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B083B8D-B5C3-4792-A9FF-241ECF1CFE17}"/>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AACE26D-1BCF-4A6B-8C72-9E9AB47517C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모든 재귀 단계에서 각 원소를 병합하므로 최선 입력에서도 같은 점근적 비용이다.</a:t>
            </a:r>
          </a:p>
        </p:txBody>
      </p:sp>
    </p:spTree>
    <p:extLst>
      <p:ext uri="{BB962C8B-B14F-4D97-AF65-F5344CB8AC3E}">
        <p14:creationId xmlns:p14="http://schemas.microsoft.com/office/powerpoint/2010/main" val="4626855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EED87ED-EA4C-4B85-8A86-F965F999F99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23BF4D0E-AE6C-423B-8D2C-D710129B6E9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D34D87E-AB14-4792-A3D1-9303C841E07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a:t>
            </a:r>
          </a:p>
        </p:txBody>
      </p:sp>
      <p:sp>
        <p:nvSpPr>
          <p:cNvPr id="4" name="직사각형 3">
            <a:extLst>
              <a:ext uri="{FF2B5EF4-FFF2-40B4-BE49-F238E27FC236}">
                <a16:creationId xmlns:a16="http://schemas.microsoft.com/office/drawing/2014/main" id="{3CD30255-2B9D-4304-BACF-CC649EC0DBE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C06FF53-FD34-4901-B8CF-4869B607191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FDBCF58-4998-411F-9523-CD0A2835EFA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02632A4-0C49-427E-AA92-2D967E3F918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013</a:t>
            </a:r>
          </a:p>
        </p:txBody>
      </p:sp>
      <p:sp>
        <p:nvSpPr>
          <p:cNvPr id="8" name="text-178-64">
            <a:extLst>
              <a:ext uri="{FF2B5EF4-FFF2-40B4-BE49-F238E27FC236}">
                <a16:creationId xmlns:a16="http://schemas.microsoft.com/office/drawing/2014/main" id="{4AB49404-AB3C-4D1C-A4AD-2CB61C35FE2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총 n개(n≥2)의 원소를 가진 두 정렬 배열을 한 번 병합한다. 최악의 원소 비교 횟수의 차수는?</a:t>
            </a:r>
          </a:p>
        </p:txBody>
      </p:sp>
      <p:sp>
        <p:nvSpPr>
          <p:cNvPr id="9" name="text-316-72">
            <a:extLst>
              <a:ext uri="{FF2B5EF4-FFF2-40B4-BE49-F238E27FC236}">
                <a16:creationId xmlns:a16="http://schemas.microsoft.com/office/drawing/2014/main" id="{8252304E-942C-4593-840F-98E7DD67C37A}"/>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E3A5AB80-6611-49EE-B21C-A132146DE00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1" name="직사각형 10">
            <a:extLst>
              <a:ext uri="{FF2B5EF4-FFF2-40B4-BE49-F238E27FC236}">
                <a16:creationId xmlns:a16="http://schemas.microsoft.com/office/drawing/2014/main" id="{D8671EF5-D73C-470E-93A6-CE581F09955B}"/>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5AF55D84-043F-41CE-895A-AFDAF0823B43}"/>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B50ECFF7-FBF9-4A4E-92CF-9ED1DBE6762A}"/>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n)가 반드시 필요</a:t>
            </a:r>
          </a:p>
        </p:txBody>
      </p:sp>
      <p:sp>
        <p:nvSpPr>
          <p:cNvPr id="14" name="직사각형 13">
            <a:extLst>
              <a:ext uri="{FF2B5EF4-FFF2-40B4-BE49-F238E27FC236}">
                <a16:creationId xmlns:a16="http://schemas.microsoft.com/office/drawing/2014/main" id="{F11DF359-C5AB-48D1-A110-A09A1C16AD79}"/>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A6E60D66-D585-4BEA-9942-1989CD39794C}"/>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29E3670-9D66-43F0-B9EC-2B7612A7FB22}"/>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
        <p:nvSpPr>
          <p:cNvPr id="17" name="직사각형 16">
            <a:extLst>
              <a:ext uri="{FF2B5EF4-FFF2-40B4-BE49-F238E27FC236}">
                <a16:creationId xmlns:a16="http://schemas.microsoft.com/office/drawing/2014/main" id="{B068198B-17E1-4B79-AB7B-97491C8F0029}"/>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20E7F09B-3EFF-4CE9-A9EA-387A791879B9}"/>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C0C6DA80-FE89-4A42-918E-D1F82109F963}"/>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n)만 필요</a:t>
            </a:r>
          </a:p>
        </p:txBody>
      </p:sp>
      <p:sp>
        <p:nvSpPr>
          <p:cNvPr id="20" name="직사각형 19">
            <a:extLst>
              <a:ext uri="{FF2B5EF4-FFF2-40B4-BE49-F238E27FC236}">
                <a16:creationId xmlns:a16="http://schemas.microsoft.com/office/drawing/2014/main" id="{A847E33A-871D-4936-B274-7157F00F0002}"/>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692F9FDF-066F-4A60-AA5E-C577C55B1EF7}"/>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B76E2E89-F9EC-4378-B406-772CFEBF213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Tree>
    <p:extLst>
      <p:ext uri="{BB962C8B-B14F-4D97-AF65-F5344CB8AC3E}">
        <p14:creationId xmlns:p14="http://schemas.microsoft.com/office/powerpoint/2010/main" val="4626855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9365FAD-8892-4C6B-A250-142A29ADADB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B81EDF2-4F56-4493-8AFA-8573F63D443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7979235-AB31-468F-A4A6-69D94BFB530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07  정답과 해설</a:t>
            </a:r>
          </a:p>
        </p:txBody>
      </p:sp>
      <p:sp>
        <p:nvSpPr>
          <p:cNvPr id="4" name="직사각형 3">
            <a:extLst>
              <a:ext uri="{FF2B5EF4-FFF2-40B4-BE49-F238E27FC236}">
                <a16:creationId xmlns:a16="http://schemas.microsoft.com/office/drawing/2014/main" id="{695A698F-AF73-45C9-8914-14C03F23ECF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D8D5292-0278-43F7-8CAC-FA4FCA76532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B4D45E1-AEA9-46C2-9CAC-DDDC84CC66A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EE1B4B6-9851-4215-8CD1-69D5D2F9084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014</a:t>
            </a:r>
          </a:p>
        </p:txBody>
      </p:sp>
      <p:sp>
        <p:nvSpPr>
          <p:cNvPr id="8" name="text-178-64">
            <a:extLst>
              <a:ext uri="{FF2B5EF4-FFF2-40B4-BE49-F238E27FC236}">
                <a16:creationId xmlns:a16="http://schemas.microsoft.com/office/drawing/2014/main" id="{DA9E82CF-E103-48A0-8875-49B2D4F2EB3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총 n개(n≥2)의 원소를 가진 두 정렬 배열을 한 번 병합한다. 최악의 원소 비교 횟수의 차수는?</a:t>
            </a:r>
          </a:p>
        </p:txBody>
      </p:sp>
      <p:sp>
        <p:nvSpPr>
          <p:cNvPr id="9" name="직사각형 8">
            <a:extLst>
              <a:ext uri="{FF2B5EF4-FFF2-40B4-BE49-F238E27FC236}">
                <a16:creationId xmlns:a16="http://schemas.microsoft.com/office/drawing/2014/main" id="{B8EF84EF-2E79-4E14-A0F0-25339545CAE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AE53673-8542-41DE-ADD5-75691D8848E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Θ(n)</a:t>
            </a:r>
          </a:p>
        </p:txBody>
      </p:sp>
      <p:sp>
        <p:nvSpPr>
          <p:cNvPr id="11" name="text-324.4-64">
            <a:extLst>
              <a:ext uri="{FF2B5EF4-FFF2-40B4-BE49-F238E27FC236}">
                <a16:creationId xmlns:a16="http://schemas.microsoft.com/office/drawing/2014/main" id="{6D740869-BCB0-492C-85E4-2258B031005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FA1CA5A-FA49-4E51-BEAA-84DD376D7E0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FB565EFF-7373-4877-A5AA-AE1F0C3B2487}"/>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번의 비교마다 원소 하나가 확정된다. 최악 n−1번 비교하므로 Θ(n)이다.</a:t>
            </a:r>
          </a:p>
        </p:txBody>
      </p:sp>
    </p:spTree>
    <p:extLst>
      <p:ext uri="{BB962C8B-B14F-4D97-AF65-F5344CB8AC3E}">
        <p14:creationId xmlns:p14="http://schemas.microsoft.com/office/powerpoint/2010/main" val="4626855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9C3298AB-E383-4FF7-B8D4-B6F425942E0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E187267-8FAF-419E-A25A-BE2CFE632B0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DD98CD7-E188-458C-B52A-EB461753343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a:t>
            </a:r>
          </a:p>
        </p:txBody>
      </p:sp>
      <p:sp>
        <p:nvSpPr>
          <p:cNvPr id="4" name="직사각형 3">
            <a:extLst>
              <a:ext uri="{FF2B5EF4-FFF2-40B4-BE49-F238E27FC236}">
                <a16:creationId xmlns:a16="http://schemas.microsoft.com/office/drawing/2014/main" id="{5DB80AD3-95D8-43C0-A250-F0584630A68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8F60832-256C-44B2-9A2B-A30E717ECC4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95A4F6E-0BE6-4D1F-9C7B-FC0A9601DCB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5CDDEA6-52C7-4877-B769-E9BCF06634E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015</a:t>
            </a:r>
          </a:p>
        </p:txBody>
      </p:sp>
      <p:sp>
        <p:nvSpPr>
          <p:cNvPr id="8" name="text-178-64">
            <a:extLst>
              <a:ext uri="{FF2B5EF4-FFF2-40B4-BE49-F238E27FC236}">
                <a16:creationId xmlns:a16="http://schemas.microsoft.com/office/drawing/2014/main" id="{DD5D47C0-495C-446E-978A-B3C6D0E74A4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0 또는 1인 배열이 합병 정렬의 기저 사례인 이유는?</a:t>
            </a:r>
          </a:p>
        </p:txBody>
      </p:sp>
      <p:sp>
        <p:nvSpPr>
          <p:cNvPr id="9" name="text-316-72">
            <a:extLst>
              <a:ext uri="{FF2B5EF4-FFF2-40B4-BE49-F238E27FC236}">
                <a16:creationId xmlns:a16="http://schemas.microsoft.com/office/drawing/2014/main" id="{86E5A2E4-736E-492E-B26F-4563A54C2BF5}"/>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EB1A6E40-2E7A-4A78-9882-2A711F9DBD90}"/>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빈 배열에서는 비교할 값이 없어 반드시 오류가 나야 한다</a:t>
            </a:r>
          </a:p>
        </p:txBody>
      </p:sp>
      <p:sp>
        <p:nvSpPr>
          <p:cNvPr id="11" name="직사각형 10">
            <a:extLst>
              <a:ext uri="{FF2B5EF4-FFF2-40B4-BE49-F238E27FC236}">
                <a16:creationId xmlns:a16="http://schemas.microsoft.com/office/drawing/2014/main" id="{0E216A11-CF6C-4E1E-8CA2-15BBE7898FFE}"/>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E8099D7E-4B10-4DFC-A18E-67148FBD54B9}"/>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06B0B524-0B9A-403B-8B3C-482DB2BF3A8A}"/>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두 원소가 같을 때만 기저 사례로 처리할 수 있다</a:t>
            </a:r>
          </a:p>
        </p:txBody>
      </p:sp>
      <p:sp>
        <p:nvSpPr>
          <p:cNvPr id="14" name="직사각형 13">
            <a:extLst>
              <a:ext uri="{FF2B5EF4-FFF2-40B4-BE49-F238E27FC236}">
                <a16:creationId xmlns:a16="http://schemas.microsoft.com/office/drawing/2014/main" id="{87855711-86A2-4B9B-81C8-EDB690A0DBAE}"/>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7F5831D-FBF9-45E5-86EC-245AD1CB159D}"/>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9F824937-36DC-495F-8925-B77CE6363083}"/>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길이 1에서도 병합용 두 비어 있지 않은 배열이 필요하다</a:t>
            </a:r>
          </a:p>
        </p:txBody>
      </p:sp>
      <p:sp>
        <p:nvSpPr>
          <p:cNvPr id="17" name="직사각형 16">
            <a:extLst>
              <a:ext uri="{FF2B5EF4-FFF2-40B4-BE49-F238E27FC236}">
                <a16:creationId xmlns:a16="http://schemas.microsoft.com/office/drawing/2014/main" id="{3290047A-C85F-45A6-BF82-457A21DE361F}"/>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566792BD-BEAC-4417-A1B3-02B2A82DCF9F}"/>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021893B4-9282-4A71-8AC4-C2E2A47CDC09}"/>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길이가 1이면 추가로 자기 자신을 정렬해야 한다</a:t>
            </a:r>
          </a:p>
        </p:txBody>
      </p:sp>
      <p:sp>
        <p:nvSpPr>
          <p:cNvPr id="20" name="직사각형 19">
            <a:extLst>
              <a:ext uri="{FF2B5EF4-FFF2-40B4-BE49-F238E27FC236}">
                <a16:creationId xmlns:a16="http://schemas.microsoft.com/office/drawing/2014/main" id="{96247133-EEA3-45E0-9030-03D6FF9E1632}"/>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DF9F05EB-8881-4728-9351-EFED08A3670B}"/>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EB6874BF-1746-4B34-8E51-1F694BF6AAD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이미 정렬되어 있고 더 나눌 필요가 없다</a:t>
            </a:r>
          </a:p>
        </p:txBody>
      </p:sp>
    </p:spTree>
    <p:extLst>
      <p:ext uri="{BB962C8B-B14F-4D97-AF65-F5344CB8AC3E}">
        <p14:creationId xmlns:p14="http://schemas.microsoft.com/office/powerpoint/2010/main" val="4626855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BBB0803-72A7-43EA-955F-3181F33717E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B856D22A-0F2F-44F6-8427-AF6FA41328A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36C1C3F-94C7-4F1F-B39D-603EB4F99E4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08  정답과 해설</a:t>
            </a:r>
          </a:p>
        </p:txBody>
      </p:sp>
      <p:sp>
        <p:nvSpPr>
          <p:cNvPr id="4" name="직사각형 3">
            <a:extLst>
              <a:ext uri="{FF2B5EF4-FFF2-40B4-BE49-F238E27FC236}">
                <a16:creationId xmlns:a16="http://schemas.microsoft.com/office/drawing/2014/main" id="{8F1FD9A4-9F00-4414-9E6E-75F736CF5F8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FA20A6D-C54A-408B-B13C-D97ACC96E05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664DC8B-F988-4E32-878B-15E70C85633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0E3D908-132E-4F6A-BF5F-C17CA17277E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016</a:t>
            </a:r>
          </a:p>
        </p:txBody>
      </p:sp>
      <p:sp>
        <p:nvSpPr>
          <p:cNvPr id="8" name="text-178-64">
            <a:extLst>
              <a:ext uri="{FF2B5EF4-FFF2-40B4-BE49-F238E27FC236}">
                <a16:creationId xmlns:a16="http://schemas.microsoft.com/office/drawing/2014/main" id="{10AAB0F3-D8D4-41A3-B362-31DE3763263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 0 또는 1인 배열이 합병 정렬의 기저 사례인 이유는?</a:t>
            </a:r>
          </a:p>
        </p:txBody>
      </p:sp>
      <p:sp>
        <p:nvSpPr>
          <p:cNvPr id="9" name="직사각형 8">
            <a:extLst>
              <a:ext uri="{FF2B5EF4-FFF2-40B4-BE49-F238E27FC236}">
                <a16:creationId xmlns:a16="http://schemas.microsoft.com/office/drawing/2014/main" id="{31C15D20-30F2-4259-8FBE-364B78346B81}"/>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6C21D72-6681-4D6B-BB2F-C95516D86FC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이미 정렬되어 있고 더 나눌 필요가 없다</a:t>
            </a:r>
          </a:p>
        </p:txBody>
      </p:sp>
      <p:sp>
        <p:nvSpPr>
          <p:cNvPr id="11" name="text-324.4-64">
            <a:extLst>
              <a:ext uri="{FF2B5EF4-FFF2-40B4-BE49-F238E27FC236}">
                <a16:creationId xmlns:a16="http://schemas.microsoft.com/office/drawing/2014/main" id="{539115CE-9177-46C8-9000-E153ACD75FD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2E96F88-8537-444C-8D19-D467B1D6559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137FA38-E14F-4406-B55B-C3037DFB8ADB}"/>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빈 배열도 정렬된 배열로 취급하면 경계 처리가 자연스럽다.</a:t>
            </a:r>
          </a:p>
        </p:txBody>
      </p:sp>
    </p:spTree>
    <p:extLst>
      <p:ext uri="{BB962C8B-B14F-4D97-AF65-F5344CB8AC3E}">
        <p14:creationId xmlns:p14="http://schemas.microsoft.com/office/powerpoint/2010/main" val="4626855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D0728410-7A3D-423F-A691-F753023038D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D70CA41C-6A6B-4DE9-8B4C-DE93B698C56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ECCB579-8E0E-4C0B-9782-A6F370BFD1C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a:t>
            </a:r>
          </a:p>
        </p:txBody>
      </p:sp>
      <p:sp>
        <p:nvSpPr>
          <p:cNvPr id="4" name="직사각형 3">
            <a:extLst>
              <a:ext uri="{FF2B5EF4-FFF2-40B4-BE49-F238E27FC236}">
                <a16:creationId xmlns:a16="http://schemas.microsoft.com/office/drawing/2014/main" id="{9D22937D-243A-4562-9C94-D629147B2DE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F4A49B4-68B4-43DF-B288-74B58CD9903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35C07CA-486D-4D09-A5A7-E778DC0CBF6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722F512-C280-40CA-A889-B75930ADC05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017</a:t>
            </a:r>
          </a:p>
        </p:txBody>
      </p:sp>
      <p:sp>
        <p:nvSpPr>
          <p:cNvPr id="8" name="text-178-64">
            <a:extLst>
              <a:ext uri="{FF2B5EF4-FFF2-40B4-BE49-F238E27FC236}">
                <a16:creationId xmlns:a16="http://schemas.microsoft.com/office/drawing/2014/main" id="{7D219DD7-74E1-4F45-A2C5-041BB86BF2F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비어 있지 않은 최대 연속 부분배열을 찾는다. 모든 값이 음수라면 정답은?</a:t>
            </a:r>
          </a:p>
        </p:txBody>
      </p:sp>
      <p:sp>
        <p:nvSpPr>
          <p:cNvPr id="9" name="text-316-72">
            <a:extLst>
              <a:ext uri="{FF2B5EF4-FFF2-40B4-BE49-F238E27FC236}">
                <a16:creationId xmlns:a16="http://schemas.microsoft.com/office/drawing/2014/main" id="{3EFB0BDF-F467-4D17-9EF7-D72D7488D530}"/>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1A9EE71-1DA9-4578-AC8E-9DD95C175D2D}"/>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0</a:t>
            </a:r>
          </a:p>
        </p:txBody>
      </p:sp>
      <p:sp>
        <p:nvSpPr>
          <p:cNvPr id="11" name="직사각형 10">
            <a:extLst>
              <a:ext uri="{FF2B5EF4-FFF2-40B4-BE49-F238E27FC236}">
                <a16:creationId xmlns:a16="http://schemas.microsoft.com/office/drawing/2014/main" id="{4FFC5F86-EFB1-4847-99F3-A59965A8C68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59834073-BD54-411F-B912-C3FA9627976F}"/>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A54B2054-B03A-4743-B882-44A54798280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가장 큰 원소 하나</a:t>
            </a:r>
          </a:p>
        </p:txBody>
      </p:sp>
      <p:sp>
        <p:nvSpPr>
          <p:cNvPr id="14" name="직사각형 13">
            <a:extLst>
              <a:ext uri="{FF2B5EF4-FFF2-40B4-BE49-F238E27FC236}">
                <a16:creationId xmlns:a16="http://schemas.microsoft.com/office/drawing/2014/main" id="{309E714F-3151-4628-9EF7-047B14489BB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AAEC6B5-D275-4DAF-9045-3EB9314E226D}"/>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4667A32F-29D2-4D73-9852-C8B7C804551B}"/>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양 끝 원소의 합</a:t>
            </a:r>
          </a:p>
        </p:txBody>
      </p:sp>
      <p:sp>
        <p:nvSpPr>
          <p:cNvPr id="17" name="직사각형 16">
            <a:extLst>
              <a:ext uri="{FF2B5EF4-FFF2-40B4-BE49-F238E27FC236}">
                <a16:creationId xmlns:a16="http://schemas.microsoft.com/office/drawing/2014/main" id="{624125AC-4154-452E-9F11-8382A5CFE83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7B11195D-9295-4CFF-B56D-67E502C5ED92}"/>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006D324-CB4F-4790-8F8F-21F6C4FA417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전체 배열의 합</a:t>
            </a:r>
          </a:p>
        </p:txBody>
      </p:sp>
      <p:sp>
        <p:nvSpPr>
          <p:cNvPr id="20" name="직사각형 19">
            <a:extLst>
              <a:ext uri="{FF2B5EF4-FFF2-40B4-BE49-F238E27FC236}">
                <a16:creationId xmlns:a16="http://schemas.microsoft.com/office/drawing/2014/main" id="{B7A6050D-7508-45DC-A90D-DD3BD72AFDFF}"/>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C6AD6E38-0D3B-4840-AF37-999714E2A1AD}"/>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AAEB577D-C906-43F4-9321-6268CA5EABA6}"/>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가장 작은 원소 하나</a:t>
            </a:r>
          </a:p>
        </p:txBody>
      </p:sp>
    </p:spTree>
    <p:extLst>
      <p:ext uri="{BB962C8B-B14F-4D97-AF65-F5344CB8AC3E}">
        <p14:creationId xmlns:p14="http://schemas.microsoft.com/office/powerpoint/2010/main" val="4626855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6088660-E925-4D22-AE1B-FA7F05482C3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47936733-835C-4451-887A-E04CC7D01C6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91AF467-EEB9-4697-85E4-9DE186ACB9F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09  정답과 해설</a:t>
            </a:r>
          </a:p>
        </p:txBody>
      </p:sp>
      <p:sp>
        <p:nvSpPr>
          <p:cNvPr id="4" name="직사각형 3">
            <a:extLst>
              <a:ext uri="{FF2B5EF4-FFF2-40B4-BE49-F238E27FC236}">
                <a16:creationId xmlns:a16="http://schemas.microsoft.com/office/drawing/2014/main" id="{6598169E-475D-4FEA-A5AE-04FFEB32739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E76CA10-F8BC-4178-A371-310696EE8A2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FCB0C33-86D7-405A-BF6B-EA60DDCC5D3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45D5A12-8426-4E52-B93A-9827D96FAF1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018</a:t>
            </a:r>
          </a:p>
        </p:txBody>
      </p:sp>
      <p:sp>
        <p:nvSpPr>
          <p:cNvPr id="8" name="text-178-64">
            <a:extLst>
              <a:ext uri="{FF2B5EF4-FFF2-40B4-BE49-F238E27FC236}">
                <a16:creationId xmlns:a16="http://schemas.microsoft.com/office/drawing/2014/main" id="{B55F6070-80BA-41C7-A768-307B1807FAE6}"/>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비어 있지 않은 최대 연속 부분배열을 찾는다. 모든 값이 음수라면 정답은?</a:t>
            </a:r>
          </a:p>
        </p:txBody>
      </p:sp>
      <p:sp>
        <p:nvSpPr>
          <p:cNvPr id="9" name="직사각형 8">
            <a:extLst>
              <a:ext uri="{FF2B5EF4-FFF2-40B4-BE49-F238E27FC236}">
                <a16:creationId xmlns:a16="http://schemas.microsoft.com/office/drawing/2014/main" id="{15D829F5-8BC2-44B0-80DE-66C118F6E54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FC4EDF4-A364-46F4-A77F-25476BA2CAA4}"/>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가장 큰 원소 하나</a:t>
            </a:r>
          </a:p>
        </p:txBody>
      </p:sp>
      <p:sp>
        <p:nvSpPr>
          <p:cNvPr id="11" name="text-324.4-64">
            <a:extLst>
              <a:ext uri="{FF2B5EF4-FFF2-40B4-BE49-F238E27FC236}">
                <a16:creationId xmlns:a16="http://schemas.microsoft.com/office/drawing/2014/main" id="{9FE1A0FE-B5B2-4F63-9B4A-CCAE47E8A8F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E820331-CC9A-472A-8600-20876EBCADF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AAF855F-34E6-4540-A075-3D4DDFE400E0}"/>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빈 구간을 허용하지 않으므로 0으로 초기화하면 잘못된 답이 될 수 있다.</a:t>
            </a:r>
          </a:p>
        </p:txBody>
      </p:sp>
    </p:spTree>
    <p:extLst>
      <p:ext uri="{BB962C8B-B14F-4D97-AF65-F5344CB8AC3E}">
        <p14:creationId xmlns:p14="http://schemas.microsoft.com/office/powerpoint/2010/main" val="4626855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47F9361C-3C95-4872-8BD8-0EB10FEB73A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D3AB6945-6735-4A64-9505-5A3C51D6BC8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35A8149-5137-42B5-A74F-AC65D2C64BF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a:t>
            </a:r>
          </a:p>
        </p:txBody>
      </p:sp>
      <p:sp>
        <p:nvSpPr>
          <p:cNvPr id="4" name="직사각형 3">
            <a:extLst>
              <a:ext uri="{FF2B5EF4-FFF2-40B4-BE49-F238E27FC236}">
                <a16:creationId xmlns:a16="http://schemas.microsoft.com/office/drawing/2014/main" id="{65D15C51-5641-43DD-BAD3-80E220E71A9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6891BC9-7D2A-4B0E-A48C-2CED79A7537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AB3E418-20F6-4F56-954A-DE7411E48E6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3724DD5-C778-49C0-A59F-13F1A398E51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019</a:t>
            </a:r>
          </a:p>
        </p:txBody>
      </p:sp>
      <p:sp>
        <p:nvSpPr>
          <p:cNvPr id="8" name="text-178-64">
            <a:extLst>
              <a:ext uri="{FF2B5EF4-FFF2-40B4-BE49-F238E27FC236}">
                <a16:creationId xmlns:a16="http://schemas.microsoft.com/office/drawing/2014/main" id="{425A0EB0-5AEC-48F0-8DF4-9FD83373513D}"/>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분할 정복 최대 연속합에서 고려해야 할 경우는?</a:t>
            </a:r>
          </a:p>
        </p:txBody>
      </p:sp>
      <p:sp>
        <p:nvSpPr>
          <p:cNvPr id="9" name="text-316-72">
            <a:extLst>
              <a:ext uri="{FF2B5EF4-FFF2-40B4-BE49-F238E27FC236}">
                <a16:creationId xmlns:a16="http://schemas.microsoft.com/office/drawing/2014/main" id="{A5BAB63A-FFFC-470F-9969-F8CB07A1DEFD}"/>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3D5018B7-A545-48F8-B7D6-4DB0E9F06AB9}"/>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내부와 오른쪽 내부만 비교한다</a:t>
            </a:r>
          </a:p>
        </p:txBody>
      </p:sp>
      <p:sp>
        <p:nvSpPr>
          <p:cNvPr id="11" name="직사각형 10">
            <a:extLst>
              <a:ext uri="{FF2B5EF4-FFF2-40B4-BE49-F238E27FC236}">
                <a16:creationId xmlns:a16="http://schemas.microsoft.com/office/drawing/2014/main" id="{CB30D7A4-687E-4243-B568-AD36937969D7}"/>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58BAE9F6-419C-4847-81FF-C9B1D04BB19A}"/>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1DBB86BF-A33F-429C-9829-641E3FBF91F7}"/>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양쪽 전체 합과 각 끝 원소만 비교한다</a:t>
            </a:r>
          </a:p>
        </p:txBody>
      </p:sp>
      <p:sp>
        <p:nvSpPr>
          <p:cNvPr id="14" name="직사각형 13">
            <a:extLst>
              <a:ext uri="{FF2B5EF4-FFF2-40B4-BE49-F238E27FC236}">
                <a16:creationId xmlns:a16="http://schemas.microsoft.com/office/drawing/2014/main" id="{EB92F007-80D1-43DE-98DD-E754E003D44D}"/>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DC43F7A6-1C78-40AB-B994-00AA41F533CE}"/>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DE895DEA-ECFF-4BB5-9909-173D107F6A2A}"/>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경계를 가로지르는 구간만 비교한다</a:t>
            </a:r>
          </a:p>
        </p:txBody>
      </p:sp>
      <p:sp>
        <p:nvSpPr>
          <p:cNvPr id="17" name="직사각형 16">
            <a:extLst>
              <a:ext uri="{FF2B5EF4-FFF2-40B4-BE49-F238E27FC236}">
                <a16:creationId xmlns:a16="http://schemas.microsoft.com/office/drawing/2014/main" id="{9DDE93A8-05F5-4F8D-8D3E-703085ED8260}"/>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06BB2A23-3154-422C-8650-1FF056C730BC}"/>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48E7B78-7593-434E-81C6-0FDCC0F4F105}"/>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길이가 정확히 n/2인 연속 구간만 비교한다</a:t>
            </a:r>
          </a:p>
        </p:txBody>
      </p:sp>
      <p:sp>
        <p:nvSpPr>
          <p:cNvPr id="20" name="직사각형 19">
            <a:extLst>
              <a:ext uri="{FF2B5EF4-FFF2-40B4-BE49-F238E27FC236}">
                <a16:creationId xmlns:a16="http://schemas.microsoft.com/office/drawing/2014/main" id="{F5986FD8-7BBB-45DC-9949-E336AFB802C0}"/>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54E70266-2360-498C-8D83-AB9DE0CCF7B8}"/>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ECDD3B8A-993D-4583-9186-A441E936A71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내부·오른쪽 내부·경계를 가로지르는 구간</a:t>
            </a:r>
          </a:p>
        </p:txBody>
      </p:sp>
    </p:spTree>
    <p:extLst>
      <p:ext uri="{BB962C8B-B14F-4D97-AF65-F5344CB8AC3E}">
        <p14:creationId xmlns:p14="http://schemas.microsoft.com/office/powerpoint/2010/main" val="4626855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3CBC53F-EA09-4856-8384-B492F2BF51C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AA7EAAB-BEE5-4083-8EE2-299FF990BD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1FB2BC9-BDCA-4E25-B289-E96686E86E3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  정답과 해설</a:t>
            </a:r>
          </a:p>
        </p:txBody>
      </p:sp>
      <p:sp>
        <p:nvSpPr>
          <p:cNvPr id="4" name="직사각형 3">
            <a:extLst>
              <a:ext uri="{FF2B5EF4-FFF2-40B4-BE49-F238E27FC236}">
                <a16:creationId xmlns:a16="http://schemas.microsoft.com/office/drawing/2014/main" id="{53D39811-8B01-4A63-8BFC-E6840D567FF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61FDD70-9258-480F-A7C0-DEF349DBC43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13F1A35-3A33-4567-9242-DDE3CA5BE42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E083D4A-00A1-4657-84AE-DADCE90C4DE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020</a:t>
            </a:r>
          </a:p>
        </p:txBody>
      </p:sp>
      <p:sp>
        <p:nvSpPr>
          <p:cNvPr id="8" name="text-178-64">
            <a:extLst>
              <a:ext uri="{FF2B5EF4-FFF2-40B4-BE49-F238E27FC236}">
                <a16:creationId xmlns:a16="http://schemas.microsoft.com/office/drawing/2014/main" id="{71F6FC2D-F924-4699-AE89-80F71A99B66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정복 최대 연속합에서 고려해야 할 경우는?</a:t>
            </a:r>
          </a:p>
        </p:txBody>
      </p:sp>
      <p:sp>
        <p:nvSpPr>
          <p:cNvPr id="9" name="직사각형 8">
            <a:extLst>
              <a:ext uri="{FF2B5EF4-FFF2-40B4-BE49-F238E27FC236}">
                <a16:creationId xmlns:a16="http://schemas.microsoft.com/office/drawing/2014/main" id="{4E82F028-DA5C-4314-9AF5-25F32A00F8D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DE06CEC-D410-4C9A-93CB-9A23947536E6}"/>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왼쪽 내부·오른쪽 내부·경계를 가로지르는 구간</a:t>
            </a:r>
          </a:p>
        </p:txBody>
      </p:sp>
      <p:sp>
        <p:nvSpPr>
          <p:cNvPr id="11" name="text-324.4-64">
            <a:extLst>
              <a:ext uri="{FF2B5EF4-FFF2-40B4-BE49-F238E27FC236}">
                <a16:creationId xmlns:a16="http://schemas.microsoft.com/office/drawing/2014/main" id="{29B4F127-AFB3-4B30-823F-8AF5D7F2B64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F050E4F-BF6D-4F4C-8DF2-49C9DF77BB3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8AA7262-81D0-4AF6-B8D8-907F5881857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모든 연속 구간은 이 세 경우 중 하나에 속한다.</a:t>
            </a:r>
          </a:p>
        </p:txBody>
      </p:sp>
    </p:spTree>
    <p:extLst>
      <p:ext uri="{BB962C8B-B14F-4D97-AF65-F5344CB8AC3E}">
        <p14:creationId xmlns:p14="http://schemas.microsoft.com/office/powerpoint/2010/main" val="4626855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8DE31225-E908-435E-A4A0-148C8F150C9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4A51E96D-185E-4B48-85A2-9051A6ED8A3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6A4D966-A615-4CBE-8FE5-2FA0ADF0F74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a:t>
            </a:r>
          </a:p>
        </p:txBody>
      </p:sp>
      <p:sp>
        <p:nvSpPr>
          <p:cNvPr id="4" name="직사각형 3">
            <a:extLst>
              <a:ext uri="{FF2B5EF4-FFF2-40B4-BE49-F238E27FC236}">
                <a16:creationId xmlns:a16="http://schemas.microsoft.com/office/drawing/2014/main" id="{A5DD3061-0590-40C6-8439-070068986B7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8B90839-1DE6-45CF-A5CA-3CAF8C81BDA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0C6FF91-3F6F-480C-80DD-9EB109B3C3B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B93BD7A-668C-432B-AB8E-DF64BA8B831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021</a:t>
            </a:r>
          </a:p>
        </p:txBody>
      </p:sp>
      <p:sp>
        <p:nvSpPr>
          <p:cNvPr id="8" name="text-178-64">
            <a:extLst>
              <a:ext uri="{FF2B5EF4-FFF2-40B4-BE49-F238E27FC236}">
                <a16:creationId xmlns:a16="http://schemas.microsoft.com/office/drawing/2014/main" id="{4AB34C8D-C4A2-4B74-8929-BAE28734111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경계를 가로지르는 최대 연속합의 올바른 계산은?</a:t>
            </a:r>
          </a:p>
        </p:txBody>
      </p:sp>
      <p:sp>
        <p:nvSpPr>
          <p:cNvPr id="9" name="text-316-72">
            <a:extLst>
              <a:ext uri="{FF2B5EF4-FFF2-40B4-BE49-F238E27FC236}">
                <a16:creationId xmlns:a16="http://schemas.microsoft.com/office/drawing/2014/main" id="{F25C733D-834B-42D6-B594-71FDA87234AB}"/>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14009FD7-BCD4-4F39-BA6C-A71FECBD252F}"/>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정답과 오른쪽 정답 중 작은 값</a:t>
            </a:r>
          </a:p>
        </p:txBody>
      </p:sp>
      <p:sp>
        <p:nvSpPr>
          <p:cNvPr id="11" name="직사각형 10">
            <a:extLst>
              <a:ext uri="{FF2B5EF4-FFF2-40B4-BE49-F238E27FC236}">
                <a16:creationId xmlns:a16="http://schemas.microsoft.com/office/drawing/2014/main" id="{543F170E-B468-47DA-BF8E-9829EA7664A1}"/>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E670AE16-0D8E-4F15-A1B6-EEDB55752903}"/>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31C0A5F8-3948-4EA6-8D83-8E95117BC938}"/>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최대 접두 합+오른쪽 최대 접미 합</a:t>
            </a:r>
          </a:p>
        </p:txBody>
      </p:sp>
      <p:sp>
        <p:nvSpPr>
          <p:cNvPr id="14" name="직사각형 13">
            <a:extLst>
              <a:ext uri="{FF2B5EF4-FFF2-40B4-BE49-F238E27FC236}">
                <a16:creationId xmlns:a16="http://schemas.microsoft.com/office/drawing/2014/main" id="{1EBF9DB9-1EA5-479E-A03E-BE453B4093FC}"/>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6C33965-C5F9-493A-ACDB-6F2131517934}"/>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8EE49128-BF4A-4FE5-833F-D443B35B70AD}"/>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전체 최댓값+오른쪽 전체 최댓값</a:t>
            </a:r>
          </a:p>
        </p:txBody>
      </p:sp>
      <p:sp>
        <p:nvSpPr>
          <p:cNvPr id="17" name="직사각형 16">
            <a:extLst>
              <a:ext uri="{FF2B5EF4-FFF2-40B4-BE49-F238E27FC236}">
                <a16:creationId xmlns:a16="http://schemas.microsoft.com/office/drawing/2014/main" id="{6F23497E-713C-40E6-963C-6568836826EF}"/>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944BB881-8FD0-4C60-A1B9-4C722A408F28}"/>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4207A34E-9E2F-4F98-BF8C-E652B5A5ED77}"/>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왼쪽 최대 접미 합+오른쪽 최대 접두 합</a:t>
            </a:r>
          </a:p>
        </p:txBody>
      </p:sp>
      <p:sp>
        <p:nvSpPr>
          <p:cNvPr id="20" name="직사각형 19">
            <a:extLst>
              <a:ext uri="{FF2B5EF4-FFF2-40B4-BE49-F238E27FC236}">
                <a16:creationId xmlns:a16="http://schemas.microsoft.com/office/drawing/2014/main" id="{FE05EB3B-149C-4544-95C1-0C2C1336EC56}"/>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24411DFC-18F9-48B2-A575-60414071DF23}"/>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0C331BCB-0AC3-4702-8D7C-FBB4A81DA14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양쪽 전체 합의 최솟값</a:t>
            </a:r>
          </a:p>
        </p:txBody>
      </p:sp>
    </p:spTree>
    <p:extLst>
      <p:ext uri="{BB962C8B-B14F-4D97-AF65-F5344CB8AC3E}">
        <p14:creationId xmlns:p14="http://schemas.microsoft.com/office/powerpoint/2010/main" val="4626855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473628B-557D-46C4-AFB4-D829E825ED7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D81C8C9-B1DC-40AC-A0DC-B856F6B593B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8B93FA2-13A7-4EF6-9271-1B9C07CBB5D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11  정답과 해설</a:t>
            </a:r>
          </a:p>
        </p:txBody>
      </p:sp>
      <p:sp>
        <p:nvSpPr>
          <p:cNvPr id="4" name="직사각형 3">
            <a:extLst>
              <a:ext uri="{FF2B5EF4-FFF2-40B4-BE49-F238E27FC236}">
                <a16:creationId xmlns:a16="http://schemas.microsoft.com/office/drawing/2014/main" id="{E33C958C-6DBF-4243-BF06-C360B887BC2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27503A6-5E10-43DF-B859-B417BB8272D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B8A0B5F-EA52-4DFC-8393-57A8E418F4F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F807145-BA67-4A70-942F-51FDEBA95ED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022</a:t>
            </a:r>
          </a:p>
        </p:txBody>
      </p:sp>
      <p:sp>
        <p:nvSpPr>
          <p:cNvPr id="8" name="text-178-64">
            <a:extLst>
              <a:ext uri="{FF2B5EF4-FFF2-40B4-BE49-F238E27FC236}">
                <a16:creationId xmlns:a16="http://schemas.microsoft.com/office/drawing/2014/main" id="{4FAF3FDA-1B7D-4AFA-B116-C6266EC7812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경계를 가로지르는 최대 연속합의 올바른 계산은?</a:t>
            </a:r>
          </a:p>
        </p:txBody>
      </p:sp>
      <p:sp>
        <p:nvSpPr>
          <p:cNvPr id="9" name="직사각형 8">
            <a:extLst>
              <a:ext uri="{FF2B5EF4-FFF2-40B4-BE49-F238E27FC236}">
                <a16:creationId xmlns:a16="http://schemas.microsoft.com/office/drawing/2014/main" id="{211A9E2B-52B8-4E0E-A4E5-A12DF7A18E6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4949BD3-269F-4D63-8766-6CFD10EA4F2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왼쪽 최대 접미 합+오른쪽 최대 접두 합</a:t>
            </a:r>
          </a:p>
        </p:txBody>
      </p:sp>
      <p:sp>
        <p:nvSpPr>
          <p:cNvPr id="11" name="text-324.4-64">
            <a:extLst>
              <a:ext uri="{FF2B5EF4-FFF2-40B4-BE49-F238E27FC236}">
                <a16:creationId xmlns:a16="http://schemas.microsoft.com/office/drawing/2014/main" id="{224E7B27-93B1-4147-B09E-87E2F17F75E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DEA8448-A8D7-42DD-A876-0B018DF7D53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5303C7A-5E88-481E-A94E-BF8B0D8EC439}"/>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경계를 반드시 포함해야 하므로 왼쪽 끝부분과 오른쪽 앞부분이 이어져야 한다.</a:t>
            </a:r>
          </a:p>
        </p:txBody>
      </p:sp>
    </p:spTree>
    <p:extLst>
      <p:ext uri="{BB962C8B-B14F-4D97-AF65-F5344CB8AC3E}">
        <p14:creationId xmlns:p14="http://schemas.microsoft.com/office/powerpoint/2010/main" val="46268551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6E56228-7616-4EB0-8A37-2EECE6E6019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01F67C32-2ED3-4B58-8BEA-5C7A8BD71DE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EACDCEE-585D-46FD-8C7E-03FF7B5B8D5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a:t>
            </a:r>
          </a:p>
        </p:txBody>
      </p:sp>
      <p:sp>
        <p:nvSpPr>
          <p:cNvPr id="4" name="직사각형 3">
            <a:extLst>
              <a:ext uri="{FF2B5EF4-FFF2-40B4-BE49-F238E27FC236}">
                <a16:creationId xmlns:a16="http://schemas.microsoft.com/office/drawing/2014/main" id="{48AEEA03-22CE-4ED8-9658-B93A1849C97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C92A176-382E-4EB2-B498-115DAD63884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8D7247B-B36E-4527-8CB8-978C6D93CAA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8B63A33-1DD3-4B44-B8F0-12CFB68FC6E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023</a:t>
            </a:r>
          </a:p>
        </p:txBody>
      </p:sp>
      <p:sp>
        <p:nvSpPr>
          <p:cNvPr id="8" name="text-178-64">
            <a:extLst>
              <a:ext uri="{FF2B5EF4-FFF2-40B4-BE49-F238E27FC236}">
                <a16:creationId xmlns:a16="http://schemas.microsoft.com/office/drawing/2014/main" id="{A790B673-523E-4DF1-A4E7-B9366D3A456A}"/>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최대 교차합 계산에서 왼쪽과 오른쪽 스캔은 각각 어디서 시작하는가? 닫힌 구간을</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mid에서 나눈다.</a:t>
            </a:r>
          </a:p>
        </p:txBody>
      </p:sp>
      <p:sp>
        <p:nvSpPr>
          <p:cNvPr id="9" name="text-316-72">
            <a:extLst>
              <a:ext uri="{FF2B5EF4-FFF2-40B4-BE49-F238E27FC236}">
                <a16:creationId xmlns:a16="http://schemas.microsoft.com/office/drawing/2014/main" id="{5879FB8C-A902-42D5-B9B4-F420BED1D2D5}"/>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55A23CA6-2ABD-48C4-B22D-3645FCCFD1D3}"/>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lo와 hi</a:t>
            </a:r>
          </a:p>
        </p:txBody>
      </p:sp>
      <p:sp>
        <p:nvSpPr>
          <p:cNvPr id="11" name="직사각형 10">
            <a:extLst>
              <a:ext uri="{FF2B5EF4-FFF2-40B4-BE49-F238E27FC236}">
                <a16:creationId xmlns:a16="http://schemas.microsoft.com/office/drawing/2014/main" id="{81515A5B-E133-4267-AE30-7B1103B76A01}"/>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02A81EFB-8046-4CCB-9FC8-3D4E4DCCFB40}"/>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AB58783B-1E58-4853-A7CB-31110776B397}"/>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hi와 mid+1</a:t>
            </a:r>
          </a:p>
        </p:txBody>
      </p:sp>
      <p:sp>
        <p:nvSpPr>
          <p:cNvPr id="14" name="직사각형 13">
            <a:extLst>
              <a:ext uri="{FF2B5EF4-FFF2-40B4-BE49-F238E27FC236}">
                <a16:creationId xmlns:a16="http://schemas.microsoft.com/office/drawing/2014/main" id="{3A7A1FD7-E314-4F9E-BC0C-78A19A21F1E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E25B2D3-86FB-41D0-83F7-F293AC83831B}"/>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82EFCF89-04AD-4052-962A-44AA89528284}"/>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mid−1과 mid</a:t>
            </a:r>
          </a:p>
        </p:txBody>
      </p:sp>
      <p:sp>
        <p:nvSpPr>
          <p:cNvPr id="17" name="직사각형 16">
            <a:extLst>
              <a:ext uri="{FF2B5EF4-FFF2-40B4-BE49-F238E27FC236}">
                <a16:creationId xmlns:a16="http://schemas.microsoft.com/office/drawing/2014/main" id="{D16BE6FF-7DE7-44CC-A07E-6657923C4E0C}"/>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202C1500-A09A-4D81-9B90-E857A7F47CE6}"/>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67228064-F975-4821-AB34-BFD1074E195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mid와 mid+1</a:t>
            </a:r>
          </a:p>
        </p:txBody>
      </p:sp>
      <p:sp>
        <p:nvSpPr>
          <p:cNvPr id="20" name="직사각형 19">
            <a:extLst>
              <a:ext uri="{FF2B5EF4-FFF2-40B4-BE49-F238E27FC236}">
                <a16:creationId xmlns:a16="http://schemas.microsoft.com/office/drawing/2014/main" id="{87203119-BC5C-4BDB-BB6D-C31FDFA88D6F}"/>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E71F014-348C-4F92-B1DC-133B5E795ECF}"/>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59800902-FA7F-4F02-B894-50D2100CAB07}"/>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lo와 mid</a:t>
            </a:r>
          </a:p>
        </p:txBody>
      </p:sp>
    </p:spTree>
    <p:extLst>
      <p:ext uri="{BB962C8B-B14F-4D97-AF65-F5344CB8AC3E}">
        <p14:creationId xmlns:p14="http://schemas.microsoft.com/office/powerpoint/2010/main" val="4626855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203E5780-DCCA-4DC1-993A-1690B2DA8FF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597CC0E-C6D0-4A8D-8878-243C4DA7032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C70C7D9-6201-428F-BD87-CE5812AF894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12  정답과 해설</a:t>
            </a:r>
          </a:p>
        </p:txBody>
      </p:sp>
      <p:sp>
        <p:nvSpPr>
          <p:cNvPr id="4" name="직사각형 3">
            <a:extLst>
              <a:ext uri="{FF2B5EF4-FFF2-40B4-BE49-F238E27FC236}">
                <a16:creationId xmlns:a16="http://schemas.microsoft.com/office/drawing/2014/main" id="{6799E321-F1CC-4FFA-94ED-EFB62A61E87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B6F1957-1135-4D44-BB43-1D888F0F241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9E18525-F032-4FC9-A905-A469EBA9FEE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CA57BD2-2D9D-4261-9776-B37B137C5B1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024</a:t>
            </a:r>
          </a:p>
        </p:txBody>
      </p:sp>
      <p:sp>
        <p:nvSpPr>
          <p:cNvPr id="8" name="text-178-64">
            <a:extLst>
              <a:ext uri="{FF2B5EF4-FFF2-40B4-BE49-F238E27FC236}">
                <a16:creationId xmlns:a16="http://schemas.microsoft.com/office/drawing/2014/main" id="{5930C8BF-B333-4A1D-892F-A81DC2C54CF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최대 교차합 계산에서 왼쪽과 오른쪽 스캔은 각각 어디서 시작하는가? 닫힌 구간을 mid에서 나눈다.</a:t>
            </a:r>
          </a:p>
        </p:txBody>
      </p:sp>
      <p:sp>
        <p:nvSpPr>
          <p:cNvPr id="9" name="직사각형 8">
            <a:extLst>
              <a:ext uri="{FF2B5EF4-FFF2-40B4-BE49-F238E27FC236}">
                <a16:creationId xmlns:a16="http://schemas.microsoft.com/office/drawing/2014/main" id="{EBAF1150-8ADF-4F39-9066-1DCAF3F5E1C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3A9BC15-4B57-40DE-9AF7-BBBA1632437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mid와 mid+1</a:t>
            </a:r>
          </a:p>
        </p:txBody>
      </p:sp>
      <p:sp>
        <p:nvSpPr>
          <p:cNvPr id="11" name="text-324.4-64">
            <a:extLst>
              <a:ext uri="{FF2B5EF4-FFF2-40B4-BE49-F238E27FC236}">
                <a16:creationId xmlns:a16="http://schemas.microsoft.com/office/drawing/2014/main" id="{A0711C31-6BA6-43B7-9800-2BD4DD4BE52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29F25455-802D-4CF6-B262-E490F5918A8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5991303-8D18-41BD-B92D-A7F771BF682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왼쪽 부분은 mid를 포함하고 오른쪽 부분은 mid+1에서 시작한다.</a:t>
            </a:r>
          </a:p>
        </p:txBody>
      </p:sp>
    </p:spTree>
    <p:extLst>
      <p:ext uri="{BB962C8B-B14F-4D97-AF65-F5344CB8AC3E}">
        <p14:creationId xmlns:p14="http://schemas.microsoft.com/office/powerpoint/2010/main" val="4626855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5F671F6-C98F-4F03-ABF7-99346389755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1EDF403-E5D1-4B68-B488-E04EAAB9AB3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240B695-C1F5-4FBF-B442-B56DA8E2E7F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a:t>
            </a:r>
          </a:p>
        </p:txBody>
      </p:sp>
      <p:sp>
        <p:nvSpPr>
          <p:cNvPr id="4" name="직사각형 3">
            <a:extLst>
              <a:ext uri="{FF2B5EF4-FFF2-40B4-BE49-F238E27FC236}">
                <a16:creationId xmlns:a16="http://schemas.microsoft.com/office/drawing/2014/main" id="{AAED6420-CFEF-400E-8697-E20F4EA21AE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EDAAFB5-B44B-4E1D-BD99-AE079873833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A7BC804-E37B-4DEF-B4C2-A536C1AFEC8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6C7AFDA-05F2-4685-A147-D9842A23419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025</a:t>
            </a:r>
          </a:p>
        </p:txBody>
      </p:sp>
      <p:sp>
        <p:nvSpPr>
          <p:cNvPr id="8" name="text-178-64">
            <a:extLst>
              <a:ext uri="{FF2B5EF4-FFF2-40B4-BE49-F238E27FC236}">
                <a16:creationId xmlns:a16="http://schemas.microsoft.com/office/drawing/2014/main" id="{9E465F68-DA7C-4CD6-8801-956D321FFDC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교차합을 매번 선형 스캔하는 분할 정복 최대 연속합의 시간은?</a:t>
            </a:r>
          </a:p>
        </p:txBody>
      </p:sp>
      <p:sp>
        <p:nvSpPr>
          <p:cNvPr id="9" name="text-316-72">
            <a:extLst>
              <a:ext uri="{FF2B5EF4-FFF2-40B4-BE49-F238E27FC236}">
                <a16:creationId xmlns:a16="http://schemas.microsoft.com/office/drawing/2014/main" id="{60D0991C-E34D-4FAC-8CD2-A0444C970F76}"/>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E022B738-CC54-4623-B30F-8B8F5C6C8182}"/>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 log n)</a:t>
            </a:r>
          </a:p>
        </p:txBody>
      </p:sp>
      <p:sp>
        <p:nvSpPr>
          <p:cNvPr id="11" name="직사각형 10">
            <a:extLst>
              <a:ext uri="{FF2B5EF4-FFF2-40B4-BE49-F238E27FC236}">
                <a16:creationId xmlns:a16="http://schemas.microsoft.com/office/drawing/2014/main" id="{0645453F-E664-420A-B95C-79EB53CAC36D}"/>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3EFD29E2-78F1-4951-8DD7-19F3BDA5B86B}"/>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26956E46-B631-47A2-BE33-44F257812308}"/>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4" name="직사각형 13">
            <a:extLst>
              <a:ext uri="{FF2B5EF4-FFF2-40B4-BE49-F238E27FC236}">
                <a16:creationId xmlns:a16="http://schemas.microsoft.com/office/drawing/2014/main" id="{18FA7EE5-57C3-452C-B514-CEFFE82D40E9}"/>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A8B895D6-4E70-4506-8FC6-53B680A8A7C2}"/>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AD81FD30-F732-4718-A2E2-63597653D1FB}"/>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7" name="직사각형 16">
            <a:extLst>
              <a:ext uri="{FF2B5EF4-FFF2-40B4-BE49-F238E27FC236}">
                <a16:creationId xmlns:a16="http://schemas.microsoft.com/office/drawing/2014/main" id="{4F30CCC3-7342-4032-9B3F-3A0871F64FEC}"/>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AF352C93-35BA-43FE-80B8-2C01AE0F24B5}"/>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BDECC37D-90E0-4356-A24C-7CE459EE1D4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20" name="직사각형 19">
            <a:extLst>
              <a:ext uri="{FF2B5EF4-FFF2-40B4-BE49-F238E27FC236}">
                <a16:creationId xmlns:a16="http://schemas.microsoft.com/office/drawing/2014/main" id="{A50B6DDA-58D8-4BD8-956B-F69599AE8BD1}"/>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C792F97F-5021-4774-9FB6-28A26FF13BD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0F624368-B8B5-43BC-B18F-924A5F16BF35}"/>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Tree>
    <p:extLst>
      <p:ext uri="{BB962C8B-B14F-4D97-AF65-F5344CB8AC3E}">
        <p14:creationId xmlns:p14="http://schemas.microsoft.com/office/powerpoint/2010/main" val="46268551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F49795D-C2B4-4704-8A78-65939B51996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F37E3BD-B478-4909-A4B1-710ABB3AC4C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C404300-C2F9-4A31-8C76-01A809CAD2E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13  정답과 해설</a:t>
            </a:r>
          </a:p>
        </p:txBody>
      </p:sp>
      <p:sp>
        <p:nvSpPr>
          <p:cNvPr id="4" name="직사각형 3">
            <a:extLst>
              <a:ext uri="{FF2B5EF4-FFF2-40B4-BE49-F238E27FC236}">
                <a16:creationId xmlns:a16="http://schemas.microsoft.com/office/drawing/2014/main" id="{A1F810D4-8D0D-45EE-8871-90A3A7C64BE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6A70C33-BD85-4381-80E0-AAFCBAFE930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35315D1-5BD8-495F-B862-4A003ACEA4C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21A0B44-02D3-4494-8F77-72658AAAB65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026</a:t>
            </a:r>
          </a:p>
        </p:txBody>
      </p:sp>
      <p:sp>
        <p:nvSpPr>
          <p:cNvPr id="8" name="text-178-64">
            <a:extLst>
              <a:ext uri="{FF2B5EF4-FFF2-40B4-BE49-F238E27FC236}">
                <a16:creationId xmlns:a16="http://schemas.microsoft.com/office/drawing/2014/main" id="{E580B2F6-D93C-43CA-A8F7-A7223DF6B5F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교차합을 매번 선형 스캔하는 분할 정복 최대 연속합의 시간은?</a:t>
            </a:r>
          </a:p>
        </p:txBody>
      </p:sp>
      <p:sp>
        <p:nvSpPr>
          <p:cNvPr id="9" name="직사각형 8">
            <a:extLst>
              <a:ext uri="{FF2B5EF4-FFF2-40B4-BE49-F238E27FC236}">
                <a16:creationId xmlns:a16="http://schemas.microsoft.com/office/drawing/2014/main" id="{4D691764-258B-480C-AFCF-93BB21B4330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F3FAB89-B9D6-462A-B3D9-8DE2212C8EC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Θ(n log n)</a:t>
            </a:r>
          </a:p>
        </p:txBody>
      </p:sp>
      <p:sp>
        <p:nvSpPr>
          <p:cNvPr id="11" name="text-324.4-64">
            <a:extLst>
              <a:ext uri="{FF2B5EF4-FFF2-40B4-BE49-F238E27FC236}">
                <a16:creationId xmlns:a16="http://schemas.microsoft.com/office/drawing/2014/main" id="{06107C6E-E9D6-4615-9BC8-7F34DFDC75F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F8C4438-D504-46E3-ABF8-975D9F87647B}"/>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F0808DC2-2ABE-4E09-982E-8E58490B359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두 절반의 답과 선형 결합으로 T(n)=2T(n/2)+Θ(n)이다.</a:t>
            </a:r>
          </a:p>
        </p:txBody>
      </p:sp>
    </p:spTree>
    <p:extLst>
      <p:ext uri="{BB962C8B-B14F-4D97-AF65-F5344CB8AC3E}">
        <p14:creationId xmlns:p14="http://schemas.microsoft.com/office/powerpoint/2010/main" val="4626855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61F99890-9AAA-403F-A6D9-73E74A21203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D1E5DC3D-E7A6-4C99-9D7A-39297016587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80AFBC0-9421-4D64-BA30-EA9D5B3CBD5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a:t>
            </a:r>
          </a:p>
        </p:txBody>
      </p:sp>
      <p:sp>
        <p:nvSpPr>
          <p:cNvPr id="4" name="직사각형 3">
            <a:extLst>
              <a:ext uri="{FF2B5EF4-FFF2-40B4-BE49-F238E27FC236}">
                <a16:creationId xmlns:a16="http://schemas.microsoft.com/office/drawing/2014/main" id="{6216FB2D-2CD5-475B-BA53-5E727BA1E83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173E7B0-CB60-4B14-A240-AD0A9D9F811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B705B08-5DCA-4A37-BB45-C038CB21964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6E93CA7-4BA7-47B6-8ACF-6F4A25161D8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027</a:t>
            </a:r>
          </a:p>
        </p:txBody>
      </p:sp>
      <p:sp>
        <p:nvSpPr>
          <p:cNvPr id="8" name="text-178-64">
            <a:extLst>
              <a:ext uri="{FF2B5EF4-FFF2-40B4-BE49-F238E27FC236}">
                <a16:creationId xmlns:a16="http://schemas.microsoft.com/office/drawing/2014/main" id="{7E6CB6AB-D061-4671-98C1-2F629529EE92}"/>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최대 연속합과 임의 부분집합의 최대 합이 다른 이유는?</a:t>
            </a:r>
          </a:p>
        </p:txBody>
      </p:sp>
      <p:sp>
        <p:nvSpPr>
          <p:cNvPr id="9" name="text-316-72">
            <a:extLst>
              <a:ext uri="{FF2B5EF4-FFF2-40B4-BE49-F238E27FC236}">
                <a16:creationId xmlns:a16="http://schemas.microsoft.com/office/drawing/2014/main" id="{71359774-2D34-4D83-A16D-98FF67D161FB}"/>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0E60FC53-38FF-4ACA-907C-F563DDB6F26B}"/>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선택한 원소의 개수를 항상 n/2로 제한한다</a:t>
            </a:r>
          </a:p>
        </p:txBody>
      </p:sp>
      <p:sp>
        <p:nvSpPr>
          <p:cNvPr id="11" name="직사각형 10">
            <a:extLst>
              <a:ext uri="{FF2B5EF4-FFF2-40B4-BE49-F238E27FC236}">
                <a16:creationId xmlns:a16="http://schemas.microsoft.com/office/drawing/2014/main" id="{0CD4FF8C-A988-4FEA-BEF4-3E8383B4FFB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CF5B57D4-6F97-4E63-844D-4F0A6F82DA7D}"/>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41DE21F6-5DAA-4201-B5B5-560DC8EE1DFD}"/>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첫 원소와 마지막 원소를 반드시 함께 선택한다</a:t>
            </a:r>
          </a:p>
        </p:txBody>
      </p:sp>
      <p:sp>
        <p:nvSpPr>
          <p:cNvPr id="14" name="직사각형 13">
            <a:extLst>
              <a:ext uri="{FF2B5EF4-FFF2-40B4-BE49-F238E27FC236}">
                <a16:creationId xmlns:a16="http://schemas.microsoft.com/office/drawing/2014/main" id="{D9314C4E-EEFE-4E18-98A3-80E92102CEBF}"/>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08EC12C4-3AA4-4575-8DD6-081B4014CBF7}"/>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195D8CB-8BCD-483C-9574-362EA3B8651E}"/>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선택 전에 원소를 오름차순으로 재배열한다</a:t>
            </a:r>
          </a:p>
        </p:txBody>
      </p:sp>
      <p:sp>
        <p:nvSpPr>
          <p:cNvPr id="17" name="직사각형 16">
            <a:extLst>
              <a:ext uri="{FF2B5EF4-FFF2-40B4-BE49-F238E27FC236}">
                <a16:creationId xmlns:a16="http://schemas.microsoft.com/office/drawing/2014/main" id="{00437FFF-5236-4792-898F-041E7E4C1242}"/>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178CEE9D-0602-4216-AE5A-80020155E72B}"/>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97B2F92F-07D9-44CE-B418-DEBC4F2012CE}"/>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양수 원소만 입력받는다</a:t>
            </a:r>
          </a:p>
        </p:txBody>
      </p:sp>
      <p:sp>
        <p:nvSpPr>
          <p:cNvPr id="20" name="직사각형 19">
            <a:extLst>
              <a:ext uri="{FF2B5EF4-FFF2-40B4-BE49-F238E27FC236}">
                <a16:creationId xmlns:a16="http://schemas.microsoft.com/office/drawing/2014/main" id="{851D2CA7-7B77-4982-98F7-5CC01FCF6E87}"/>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0EEE73E6-C0E8-49D1-940D-5EA06B1FB613}"/>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01D5A6BE-62F8-45A3-9CD4-6D444AD7CDD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선택한 인덱스가 연속이어야 한다</a:t>
            </a:r>
          </a:p>
        </p:txBody>
      </p:sp>
    </p:spTree>
    <p:extLst>
      <p:ext uri="{BB962C8B-B14F-4D97-AF65-F5344CB8AC3E}">
        <p14:creationId xmlns:p14="http://schemas.microsoft.com/office/powerpoint/2010/main" val="46268551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95D45D0B-F475-4DFE-982D-5464F8C246A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9A892A81-1FCA-42B5-A213-9D77BCFA05C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397C3C4-2894-43E8-9E60-BE108FB2268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14  정답과 해설</a:t>
            </a:r>
          </a:p>
        </p:txBody>
      </p:sp>
      <p:sp>
        <p:nvSpPr>
          <p:cNvPr id="4" name="직사각형 3">
            <a:extLst>
              <a:ext uri="{FF2B5EF4-FFF2-40B4-BE49-F238E27FC236}">
                <a16:creationId xmlns:a16="http://schemas.microsoft.com/office/drawing/2014/main" id="{9BE8CF80-4097-48E9-92B9-935EBFB89F2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73C2B43-6F1A-45AF-B372-A8C8FA605B7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20BE02B-68E4-4234-B2BF-06CF10C43D3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9B77095-405D-4208-A473-DE34115E87C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028</a:t>
            </a:r>
          </a:p>
        </p:txBody>
      </p:sp>
      <p:sp>
        <p:nvSpPr>
          <p:cNvPr id="8" name="text-178-64">
            <a:extLst>
              <a:ext uri="{FF2B5EF4-FFF2-40B4-BE49-F238E27FC236}">
                <a16:creationId xmlns:a16="http://schemas.microsoft.com/office/drawing/2014/main" id="{02A340F0-E983-49EE-9590-B4FF9FAD76E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최대 연속합과 임의 부분집합의 최대 합이 다른 이유는?</a:t>
            </a:r>
          </a:p>
        </p:txBody>
      </p:sp>
      <p:sp>
        <p:nvSpPr>
          <p:cNvPr id="9" name="직사각형 8">
            <a:extLst>
              <a:ext uri="{FF2B5EF4-FFF2-40B4-BE49-F238E27FC236}">
                <a16:creationId xmlns:a16="http://schemas.microsoft.com/office/drawing/2014/main" id="{9C412A78-F435-44AC-A669-CECF6AEF5BC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A3F721E-4C0D-48E2-932F-758F2893F68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선택한 인덱스가 연속이어야 한다</a:t>
            </a:r>
          </a:p>
        </p:txBody>
      </p:sp>
      <p:sp>
        <p:nvSpPr>
          <p:cNvPr id="11" name="text-324.4-64">
            <a:extLst>
              <a:ext uri="{FF2B5EF4-FFF2-40B4-BE49-F238E27FC236}">
                <a16:creationId xmlns:a16="http://schemas.microsoft.com/office/drawing/2014/main" id="{71742A0D-2DFB-41E4-ADCC-EB218AE1CEF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848D7ED-628D-4049-B784-9A273FC12FC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178B549-3DF6-4339-9A0D-35491517084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중간 음수도 구간의 일부로 포함해야 한다. 양수만 골라 더하는 문제와 다르다.</a:t>
            </a:r>
          </a:p>
        </p:txBody>
      </p:sp>
    </p:spTree>
    <p:extLst>
      <p:ext uri="{BB962C8B-B14F-4D97-AF65-F5344CB8AC3E}">
        <p14:creationId xmlns:p14="http://schemas.microsoft.com/office/powerpoint/2010/main" val="46268551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44AD67CD-ECD2-4679-8F5C-DC08A3E88B8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E732092-D6A0-4F66-BC34-F58A54E4AE2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6D3FEE5-7501-4DBB-849B-E50A528C9D8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a:t>
            </a:r>
          </a:p>
        </p:txBody>
      </p:sp>
      <p:sp>
        <p:nvSpPr>
          <p:cNvPr id="4" name="직사각형 3">
            <a:extLst>
              <a:ext uri="{FF2B5EF4-FFF2-40B4-BE49-F238E27FC236}">
                <a16:creationId xmlns:a16="http://schemas.microsoft.com/office/drawing/2014/main" id="{5FBECE1D-2EEF-402D-8577-956A01522C4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D5E23AB-07F8-4B1B-B418-1583DE4622B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E369803-F3FF-4514-8157-6F1B5885710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4839478-0331-4377-ACC5-052B5B7705D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029</a:t>
            </a:r>
          </a:p>
        </p:txBody>
      </p:sp>
      <p:sp>
        <p:nvSpPr>
          <p:cNvPr id="8" name="text-178-64">
            <a:extLst>
              <a:ext uri="{FF2B5EF4-FFF2-40B4-BE49-F238E27FC236}">
                <a16:creationId xmlns:a16="http://schemas.microsoft.com/office/drawing/2014/main" id="{AD08B62C-E2A9-40CA-BC4C-5838BE76E0A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서로 다른 n개의 평면 점을 완전 탐색으로 비교할 때 점 쌍의 수는?</a:t>
            </a:r>
          </a:p>
        </p:txBody>
      </p:sp>
      <p:sp>
        <p:nvSpPr>
          <p:cNvPr id="9" name="text-316-72">
            <a:extLst>
              <a:ext uri="{FF2B5EF4-FFF2-40B4-BE49-F238E27FC236}">
                <a16:creationId xmlns:a16="http://schemas.microsoft.com/office/drawing/2014/main" id="{D7A60A9B-D834-421F-A9FC-C2FE6A8CAE77}"/>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7BA4269A-A6F9-4764-8535-6B98D8AD685E}"/>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n(n−1)/2</a:t>
            </a:r>
          </a:p>
        </p:txBody>
      </p:sp>
      <p:sp>
        <p:nvSpPr>
          <p:cNvPr id="11" name="직사각형 10">
            <a:extLst>
              <a:ext uri="{FF2B5EF4-FFF2-40B4-BE49-F238E27FC236}">
                <a16:creationId xmlns:a16="http://schemas.microsoft.com/office/drawing/2014/main" id="{00B2C7EA-405B-4D61-9A8F-22C5DB610D3E}"/>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4E9B089F-E53C-44B3-925A-09D7F1676268}"/>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BF074470-A900-4701-8F84-F3E35B049764}"/>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n²</a:t>
            </a:r>
          </a:p>
        </p:txBody>
      </p:sp>
      <p:sp>
        <p:nvSpPr>
          <p:cNvPr id="14" name="직사각형 13">
            <a:extLst>
              <a:ext uri="{FF2B5EF4-FFF2-40B4-BE49-F238E27FC236}">
                <a16:creationId xmlns:a16="http://schemas.microsoft.com/office/drawing/2014/main" id="{B611B70B-58B5-4D6A-AA14-0AA9951FF2F9}"/>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B02FB49-C12F-4934-BCB0-A854812AD0B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7DC892AE-84CD-45E5-8611-584C69019E56}"/>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a:t>
            </a:r>
          </a:p>
        </p:txBody>
      </p:sp>
      <p:sp>
        <p:nvSpPr>
          <p:cNvPr id="17" name="직사각형 16">
            <a:extLst>
              <a:ext uri="{FF2B5EF4-FFF2-40B4-BE49-F238E27FC236}">
                <a16:creationId xmlns:a16="http://schemas.microsoft.com/office/drawing/2014/main" id="{AD5B75CC-E7D6-4C09-8A70-FE72D8E327A7}"/>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879005B8-FB52-4683-BCB9-8CD8EC515850}"/>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5BD8F74-32C4-43F5-9419-D45963B08B3A}"/>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2^n</a:t>
            </a:r>
          </a:p>
        </p:txBody>
      </p:sp>
      <p:sp>
        <p:nvSpPr>
          <p:cNvPr id="20" name="직사각형 19">
            <a:extLst>
              <a:ext uri="{FF2B5EF4-FFF2-40B4-BE49-F238E27FC236}">
                <a16:creationId xmlns:a16="http://schemas.microsoft.com/office/drawing/2014/main" id="{BDC28D46-66C2-403E-9935-A266D306AD76}"/>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7A6374B5-B368-4E01-A045-FE668C16768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E2FAB7B1-1CBC-418D-AEEE-CCDE124FAD5A}"/>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n−1</a:t>
            </a:r>
          </a:p>
        </p:txBody>
      </p:sp>
    </p:spTree>
    <p:extLst>
      <p:ext uri="{BB962C8B-B14F-4D97-AF65-F5344CB8AC3E}">
        <p14:creationId xmlns:p14="http://schemas.microsoft.com/office/powerpoint/2010/main" val="4626855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F18FF305-47C6-4B7D-8CF1-3F9886D3CAB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3E334D5-0360-4E03-8F55-5E8877D384B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B7F61A2-F7AA-40F1-93BF-59C6FE97DEC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15  정답과 해설</a:t>
            </a:r>
          </a:p>
        </p:txBody>
      </p:sp>
      <p:sp>
        <p:nvSpPr>
          <p:cNvPr id="4" name="직사각형 3">
            <a:extLst>
              <a:ext uri="{FF2B5EF4-FFF2-40B4-BE49-F238E27FC236}">
                <a16:creationId xmlns:a16="http://schemas.microsoft.com/office/drawing/2014/main" id="{DA3B2D7F-BD51-4559-B864-9F312B64440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D74E2A6-7772-4BF6-9D3E-21D1CA65BA6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17B26AB-ED21-4AA3-AA0D-795DB243951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A27A33F-95E5-4631-844B-D1A42718C48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030</a:t>
            </a:r>
          </a:p>
        </p:txBody>
      </p:sp>
      <p:sp>
        <p:nvSpPr>
          <p:cNvPr id="8" name="text-178-64">
            <a:extLst>
              <a:ext uri="{FF2B5EF4-FFF2-40B4-BE49-F238E27FC236}">
                <a16:creationId xmlns:a16="http://schemas.microsoft.com/office/drawing/2014/main" id="{546C5086-92B1-4C5B-8056-AD876B045B3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서로 다른 n개의 평면 점을 완전 탐색으로 비교할 때 점 쌍의 수는?</a:t>
            </a:r>
          </a:p>
        </p:txBody>
      </p:sp>
      <p:sp>
        <p:nvSpPr>
          <p:cNvPr id="9" name="직사각형 8">
            <a:extLst>
              <a:ext uri="{FF2B5EF4-FFF2-40B4-BE49-F238E27FC236}">
                <a16:creationId xmlns:a16="http://schemas.microsoft.com/office/drawing/2014/main" id="{503F0D70-38EC-4151-9BAC-00DE1A91A6D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F4CD310-B5CB-4F99-A713-A4C9769456D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n(n−1)/2</a:t>
            </a:r>
          </a:p>
        </p:txBody>
      </p:sp>
      <p:sp>
        <p:nvSpPr>
          <p:cNvPr id="11" name="text-324.4-64">
            <a:extLst>
              <a:ext uri="{FF2B5EF4-FFF2-40B4-BE49-F238E27FC236}">
                <a16:creationId xmlns:a16="http://schemas.microsoft.com/office/drawing/2014/main" id="{9A3AAA7E-80E5-462F-85DB-B7A133577D0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1465CAE-6344-4E4C-A53A-5AB0B6D09DA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363EF96-0F8E-43B4-AFAA-B59D3D7FABF4}"/>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순서 없는 두 점 조합을 한 번씩 비교한다.</a:t>
            </a:r>
          </a:p>
        </p:txBody>
      </p:sp>
    </p:spTree>
    <p:extLst>
      <p:ext uri="{BB962C8B-B14F-4D97-AF65-F5344CB8AC3E}">
        <p14:creationId xmlns:p14="http://schemas.microsoft.com/office/powerpoint/2010/main" val="4626855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5D52A82C-9120-4E19-BDD8-C2F657AA1CC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4E8DDC95-CF34-401D-A2FF-629DA6529B9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7314760-9E7A-456F-AEFE-A611E082073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a:t>
            </a:r>
          </a:p>
        </p:txBody>
      </p:sp>
      <p:sp>
        <p:nvSpPr>
          <p:cNvPr id="4" name="직사각형 3">
            <a:extLst>
              <a:ext uri="{FF2B5EF4-FFF2-40B4-BE49-F238E27FC236}">
                <a16:creationId xmlns:a16="http://schemas.microsoft.com/office/drawing/2014/main" id="{F7713CAD-3DAA-4890-8271-EEF04DAE281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E8404D-7A6F-41D0-98A6-9517543176F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B2112E6-AF37-4BE4-A6EE-A6829B6C76E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73B7FF6-37AE-4D99-9C6F-E784EDB8772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031</a:t>
            </a:r>
          </a:p>
        </p:txBody>
      </p:sp>
      <p:sp>
        <p:nvSpPr>
          <p:cNvPr id="8" name="text-178-64">
            <a:extLst>
              <a:ext uri="{FF2B5EF4-FFF2-40B4-BE49-F238E27FC236}">
                <a16:creationId xmlns:a16="http://schemas.microsoft.com/office/drawing/2014/main" id="{C6802727-8ED8-4BFD-BE1C-C8221A6B8F99}"/>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d=min(dL,dR)이다. 교차 후보를 분할선 주변 폭 2d 띠로 제한하는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이유는?</a:t>
            </a:r>
          </a:p>
        </p:txBody>
      </p:sp>
      <p:sp>
        <p:nvSpPr>
          <p:cNvPr id="9" name="text-316-72">
            <a:extLst>
              <a:ext uri="{FF2B5EF4-FFF2-40B4-BE49-F238E27FC236}">
                <a16:creationId xmlns:a16="http://schemas.microsoft.com/office/drawing/2014/main" id="{C92BD896-147F-4F71-BFE5-CA99656E5DC1}"/>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DCBFA5CA-8DF6-4510-B6FC-832928578DF5}"/>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쪽의 답을 무시해도 되기 때문이다</a:t>
            </a:r>
          </a:p>
        </p:txBody>
      </p:sp>
      <p:sp>
        <p:nvSpPr>
          <p:cNvPr id="11" name="직사각형 10">
            <a:extLst>
              <a:ext uri="{FF2B5EF4-FFF2-40B4-BE49-F238E27FC236}">
                <a16:creationId xmlns:a16="http://schemas.microsoft.com/office/drawing/2014/main" id="{48F89A5D-02F3-4882-91B4-2BED5522BC38}"/>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8D2069A5-3A49-434E-B2E7-A837D8724753}"/>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1055E590-BF29-43E9-A847-458B495016CE}"/>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띠 밖 점을 포함한 교차 쌍은 거리가 d보다 작을 수 없다</a:t>
            </a:r>
          </a:p>
        </p:txBody>
      </p:sp>
      <p:sp>
        <p:nvSpPr>
          <p:cNvPr id="14" name="직사각형 13">
            <a:extLst>
              <a:ext uri="{FF2B5EF4-FFF2-40B4-BE49-F238E27FC236}">
                <a16:creationId xmlns:a16="http://schemas.microsoft.com/office/drawing/2014/main" id="{61C357E6-D862-4A68-8640-B8538BDD3963}"/>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FD7590B2-4F6D-4D5E-9C2F-B45FD529F634}"/>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FE2A8D18-6EAA-437F-8708-E077F6986874}"/>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띠 안의 점 수가 항상 7개이기 때문이다</a:t>
            </a:r>
          </a:p>
        </p:txBody>
      </p:sp>
      <p:sp>
        <p:nvSpPr>
          <p:cNvPr id="17" name="직사각형 16">
            <a:extLst>
              <a:ext uri="{FF2B5EF4-FFF2-40B4-BE49-F238E27FC236}">
                <a16:creationId xmlns:a16="http://schemas.microsoft.com/office/drawing/2014/main" id="{D4A6F531-038D-4BC9-A3A9-48A4FA910CA9}"/>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31ADDA4D-3F3F-43F8-B718-88DFBDF14457}"/>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F7FBE935-F5E6-444F-A30E-42D82F31D104}"/>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점의 y가 같기 때문이다</a:t>
            </a:r>
          </a:p>
        </p:txBody>
      </p:sp>
      <p:sp>
        <p:nvSpPr>
          <p:cNvPr id="20" name="직사각형 19">
            <a:extLst>
              <a:ext uri="{FF2B5EF4-FFF2-40B4-BE49-F238E27FC236}">
                <a16:creationId xmlns:a16="http://schemas.microsoft.com/office/drawing/2014/main" id="{E20CB752-D0C1-4BDB-A975-A9ACDA5F0053}"/>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0517C65B-3436-43E3-8F78-B0214FBC372E}"/>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FE9FB884-6A5F-4972-AC0F-511C70B28E0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좌표가 정수이기 때문이다</a:t>
            </a:r>
          </a:p>
        </p:txBody>
      </p:sp>
    </p:spTree>
    <p:extLst>
      <p:ext uri="{BB962C8B-B14F-4D97-AF65-F5344CB8AC3E}">
        <p14:creationId xmlns:p14="http://schemas.microsoft.com/office/powerpoint/2010/main" val="4626855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5798FF0-8635-4BFB-A643-C951C56BC43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436AB15-BF85-4885-B83C-95A4E975EE9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7E07DC5-68AF-4303-9A3C-F93A557F236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16  정답과 해설</a:t>
            </a:r>
          </a:p>
        </p:txBody>
      </p:sp>
      <p:sp>
        <p:nvSpPr>
          <p:cNvPr id="4" name="직사각형 3">
            <a:extLst>
              <a:ext uri="{FF2B5EF4-FFF2-40B4-BE49-F238E27FC236}">
                <a16:creationId xmlns:a16="http://schemas.microsoft.com/office/drawing/2014/main" id="{348CDD41-9A26-4FAD-8209-4600C75E876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F8A77A1-5608-4BE2-90F4-E66C50B9DF9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2C09F33-8FD2-400A-ABCC-99EA96F6CAA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A310E1F-DE39-4F22-B7B6-FDD7FA9FFC2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032</a:t>
            </a:r>
          </a:p>
        </p:txBody>
      </p:sp>
      <p:sp>
        <p:nvSpPr>
          <p:cNvPr id="8" name="text-178-64">
            <a:extLst>
              <a:ext uri="{FF2B5EF4-FFF2-40B4-BE49-F238E27FC236}">
                <a16:creationId xmlns:a16="http://schemas.microsoft.com/office/drawing/2014/main" id="{216F5090-9AD3-4292-BF11-217190AB4B6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d=min(dL,dR)이다. 교차 후보를 분할선 주변 폭 2d 띠로 제한하는 이유는?</a:t>
            </a:r>
          </a:p>
        </p:txBody>
      </p:sp>
      <p:sp>
        <p:nvSpPr>
          <p:cNvPr id="9" name="직사각형 8">
            <a:extLst>
              <a:ext uri="{FF2B5EF4-FFF2-40B4-BE49-F238E27FC236}">
                <a16:creationId xmlns:a16="http://schemas.microsoft.com/office/drawing/2014/main" id="{467F216A-19F5-436E-BC37-D25016E6831D}"/>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AC71E4B-56C4-46D7-BD09-0D4633B5900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띠 밖 점을 포함한 교차 쌍은 거리가 d보다 작을 수 없다</a:t>
            </a:r>
          </a:p>
        </p:txBody>
      </p:sp>
      <p:sp>
        <p:nvSpPr>
          <p:cNvPr id="11" name="text-324.4-64">
            <a:extLst>
              <a:ext uri="{FF2B5EF4-FFF2-40B4-BE49-F238E27FC236}">
                <a16:creationId xmlns:a16="http://schemas.microsoft.com/office/drawing/2014/main" id="{AB5A378B-2598-4082-A3FF-8A9F9304F7E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1BE9E43-2832-4D9B-A8A0-9CD661EC2946}"/>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5CDAD53-FB9C-4DD0-BC92-9E43C7D1B11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교차 쌍의 수평 거리만으로도 d 이상이 되면 개선할 수 없다.</a:t>
            </a:r>
          </a:p>
        </p:txBody>
      </p:sp>
    </p:spTree>
    <p:extLst>
      <p:ext uri="{BB962C8B-B14F-4D97-AF65-F5344CB8AC3E}">
        <p14:creationId xmlns:p14="http://schemas.microsoft.com/office/powerpoint/2010/main" val="4626855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0843A25-F385-4538-B53E-650CBB312BD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52B7C7A3-5049-4D01-9C65-95A7D4CFBF2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22607A6-6209-42E9-B4E2-EB076F44E28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a:t>
            </a:r>
          </a:p>
        </p:txBody>
      </p:sp>
      <p:sp>
        <p:nvSpPr>
          <p:cNvPr id="4" name="직사각형 3">
            <a:extLst>
              <a:ext uri="{FF2B5EF4-FFF2-40B4-BE49-F238E27FC236}">
                <a16:creationId xmlns:a16="http://schemas.microsoft.com/office/drawing/2014/main" id="{FD876FD5-5FC3-4A52-908D-FCE5D7427EA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4C29F2C-956B-4397-973E-8188ECE07E4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320ECAE-22CB-4EA1-8C6E-40AA81C563B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1CF9E91-6B4A-4BF9-A3F1-40A999E4C01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033</a:t>
            </a:r>
          </a:p>
        </p:txBody>
      </p:sp>
      <p:sp>
        <p:nvSpPr>
          <p:cNvPr id="8" name="text-178-64">
            <a:extLst>
              <a:ext uri="{FF2B5EF4-FFF2-40B4-BE49-F238E27FC236}">
                <a16:creationId xmlns:a16="http://schemas.microsoft.com/office/drawing/2014/main" id="{1DFB906A-B616-4AF3-BD6B-9CCE129B596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쌍의 띠를 y 순서로 보는 핵심 목적은?</a:t>
            </a:r>
          </a:p>
        </p:txBody>
      </p:sp>
      <p:sp>
        <p:nvSpPr>
          <p:cNvPr id="9" name="text-316-72">
            <a:extLst>
              <a:ext uri="{FF2B5EF4-FFF2-40B4-BE49-F238E27FC236}">
                <a16:creationId xmlns:a16="http://schemas.microsoft.com/office/drawing/2014/main" id="{12B86495-AD94-47A2-8087-6A8AB3EC86E9}"/>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5406539E-824F-4CA7-84AB-FAE44EED2FE4}"/>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세로 거리가 d 이상인 후보를 제외한다</a:t>
            </a:r>
          </a:p>
        </p:txBody>
      </p:sp>
      <p:sp>
        <p:nvSpPr>
          <p:cNvPr id="11" name="직사각형 10">
            <a:extLst>
              <a:ext uri="{FF2B5EF4-FFF2-40B4-BE49-F238E27FC236}">
                <a16:creationId xmlns:a16="http://schemas.microsoft.com/office/drawing/2014/main" id="{FA049530-7562-41F5-8E93-90E3B21C100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705A7AF1-8758-4866-95D7-F6EED63A24CB}"/>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D0E90701-FEC2-49AA-A93E-2C93D0A640C0}"/>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쪽의 최근접 거리 계산을 생략한다</a:t>
            </a:r>
          </a:p>
        </p:txBody>
      </p:sp>
      <p:sp>
        <p:nvSpPr>
          <p:cNvPr id="14" name="직사각형 13">
            <a:extLst>
              <a:ext uri="{FF2B5EF4-FFF2-40B4-BE49-F238E27FC236}">
                <a16:creationId xmlns:a16="http://schemas.microsoft.com/office/drawing/2014/main" id="{971D6E44-C6ED-4D94-B058-4C8689CD4DE3}"/>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7168661D-69D8-4B09-A0D3-DE83C105FB7D}"/>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0DAFC589-2AE4-49D6-8342-77B7AE9F8BA6}"/>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수평 거리가 d 미만인 모든 쌍의 거리를 0으로 본다</a:t>
            </a:r>
          </a:p>
        </p:txBody>
      </p:sp>
      <p:sp>
        <p:nvSpPr>
          <p:cNvPr id="17" name="직사각형 16">
            <a:extLst>
              <a:ext uri="{FF2B5EF4-FFF2-40B4-BE49-F238E27FC236}">
                <a16:creationId xmlns:a16="http://schemas.microsoft.com/office/drawing/2014/main" id="{7F3132E2-A1D2-452A-A7D8-A76759D02911}"/>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9C22E2BC-FBBF-4E42-A59B-87664A30C772}"/>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18327A68-4904-4A3D-99E2-87FA96DE82F6}"/>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y 차이가 작으면 실제 거리도 반드시 d 미만이라고 확정한다</a:t>
            </a:r>
          </a:p>
        </p:txBody>
      </p:sp>
      <p:sp>
        <p:nvSpPr>
          <p:cNvPr id="20" name="직사각형 19">
            <a:extLst>
              <a:ext uri="{FF2B5EF4-FFF2-40B4-BE49-F238E27FC236}">
                <a16:creationId xmlns:a16="http://schemas.microsoft.com/office/drawing/2014/main" id="{FEEE0C2C-D5FD-40BB-8FF8-685339DDBACB}"/>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615145ED-9CDB-4089-95D2-992914B02C14}"/>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A2DBAC44-D3A4-4C21-B760-CF5969C5F6D5}"/>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띠 안의 전체 점 수를 항상 7개 이하로 만든다</a:t>
            </a:r>
          </a:p>
        </p:txBody>
      </p:sp>
    </p:spTree>
    <p:extLst>
      <p:ext uri="{BB962C8B-B14F-4D97-AF65-F5344CB8AC3E}">
        <p14:creationId xmlns:p14="http://schemas.microsoft.com/office/powerpoint/2010/main" val="4626855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AA7025FA-B5E6-4F29-9E85-2ACCEFE65FE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6202692-C375-41FE-A2D9-264CB1282F9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5C7A065-8038-4DEF-A6C1-D386D98E817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17  정답과 해설</a:t>
            </a:r>
          </a:p>
        </p:txBody>
      </p:sp>
      <p:sp>
        <p:nvSpPr>
          <p:cNvPr id="4" name="직사각형 3">
            <a:extLst>
              <a:ext uri="{FF2B5EF4-FFF2-40B4-BE49-F238E27FC236}">
                <a16:creationId xmlns:a16="http://schemas.microsoft.com/office/drawing/2014/main" id="{043D0FBC-4F94-4D60-849C-EDB897C8B59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B4EDBA-4B0D-4A13-8572-27AFCDA966F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6CF09A5-495F-4514-A933-0D7804C5A21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D45B61F-915A-4E99-B406-06978595CBB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034</a:t>
            </a:r>
          </a:p>
        </p:txBody>
      </p:sp>
      <p:sp>
        <p:nvSpPr>
          <p:cNvPr id="8" name="text-178-64">
            <a:extLst>
              <a:ext uri="{FF2B5EF4-FFF2-40B4-BE49-F238E27FC236}">
                <a16:creationId xmlns:a16="http://schemas.microsoft.com/office/drawing/2014/main" id="{7114F45B-B5B3-4EDD-A750-1357DF932A19}"/>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쌍의 띠를 y 순서로 보는 핵심 목적은?</a:t>
            </a:r>
          </a:p>
        </p:txBody>
      </p:sp>
      <p:sp>
        <p:nvSpPr>
          <p:cNvPr id="9" name="직사각형 8">
            <a:extLst>
              <a:ext uri="{FF2B5EF4-FFF2-40B4-BE49-F238E27FC236}">
                <a16:creationId xmlns:a16="http://schemas.microsoft.com/office/drawing/2014/main" id="{30A4EDFA-28D0-495E-9C72-C1A37E43A69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49C5F97-0DA6-4A55-8AA1-440CB841ADD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세로 거리가 d 이상인 후보를 제외한다</a:t>
            </a:r>
          </a:p>
        </p:txBody>
      </p:sp>
      <p:sp>
        <p:nvSpPr>
          <p:cNvPr id="11" name="text-324.4-64">
            <a:extLst>
              <a:ext uri="{FF2B5EF4-FFF2-40B4-BE49-F238E27FC236}">
                <a16:creationId xmlns:a16="http://schemas.microsoft.com/office/drawing/2014/main" id="{31FEC4FF-E6B7-42BC-B546-08ED7222900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F110063-6285-4294-A118-056B25DBB5D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7C87DE5D-55D6-48DA-B61C-03C3DACE841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y 차이가 이미 d 이상이면 유클리드 거리도 d 이상이다.</a:t>
            </a:r>
          </a:p>
        </p:txBody>
      </p:sp>
    </p:spTree>
    <p:extLst>
      <p:ext uri="{BB962C8B-B14F-4D97-AF65-F5344CB8AC3E}">
        <p14:creationId xmlns:p14="http://schemas.microsoft.com/office/powerpoint/2010/main" val="4626855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755686C2-878D-4D89-88F0-8F4E495B3F3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20C1719-F5C2-4C06-AC83-F23A8AECC5D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EAEA5BA-E8DC-41D4-907E-A7A7B75A9B5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a:t>
            </a:r>
          </a:p>
        </p:txBody>
      </p:sp>
      <p:sp>
        <p:nvSpPr>
          <p:cNvPr id="4" name="직사각형 3">
            <a:extLst>
              <a:ext uri="{FF2B5EF4-FFF2-40B4-BE49-F238E27FC236}">
                <a16:creationId xmlns:a16="http://schemas.microsoft.com/office/drawing/2014/main" id="{76CF40CD-0D77-4D28-8ACA-0F676E7EECF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C5863C3-22D7-485A-863F-39A99D006B6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4EDA066-4F11-4AC8-8612-EADE2DDEF3D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4AD66FF-4802-46AF-9B20-1FA423100A1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035</a:t>
            </a:r>
          </a:p>
        </p:txBody>
      </p:sp>
      <p:sp>
        <p:nvSpPr>
          <p:cNvPr id="8" name="text-178-64">
            <a:extLst>
              <a:ext uri="{FF2B5EF4-FFF2-40B4-BE49-F238E27FC236}">
                <a16:creationId xmlns:a16="http://schemas.microsoft.com/office/drawing/2014/main" id="{E118A156-0AAC-4F27-9012-2F4B2C76CA9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쌍의 각 재귀 호출에서 띠를 다시 Θ(n log n)에 정렬한다. 전체 차수는?</a:t>
            </a:r>
          </a:p>
        </p:txBody>
      </p:sp>
      <p:sp>
        <p:nvSpPr>
          <p:cNvPr id="9" name="text-316-72">
            <a:extLst>
              <a:ext uri="{FF2B5EF4-FFF2-40B4-BE49-F238E27FC236}">
                <a16:creationId xmlns:a16="http://schemas.microsoft.com/office/drawing/2014/main" id="{CC50E171-2647-4481-8FDF-4CC5FFCEFECA}"/>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022AF89-AF28-42D4-8409-9BA904B0A4FC}"/>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 log² n)</a:t>
            </a:r>
          </a:p>
        </p:txBody>
      </p:sp>
      <p:sp>
        <p:nvSpPr>
          <p:cNvPr id="11" name="직사각형 10">
            <a:extLst>
              <a:ext uri="{FF2B5EF4-FFF2-40B4-BE49-F238E27FC236}">
                <a16:creationId xmlns:a16="http://schemas.microsoft.com/office/drawing/2014/main" id="{59050078-AC6A-405C-8F52-8AD557DC7F2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249A9932-3847-42FB-925E-0E9BF0398A1A}"/>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6F6CCE37-A117-4269-8755-F3F549FB98B3}"/>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4" name="직사각형 13">
            <a:extLst>
              <a:ext uri="{FF2B5EF4-FFF2-40B4-BE49-F238E27FC236}">
                <a16:creationId xmlns:a16="http://schemas.microsoft.com/office/drawing/2014/main" id="{EAAC7197-4DBB-49C3-A804-8683C52569F8}"/>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4D02EE6-6BA1-4490-92B1-313EC8CB8BE5}"/>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64814CEF-DFBD-4881-A509-0EEB888A5814}"/>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log² n)</a:t>
            </a:r>
          </a:p>
        </p:txBody>
      </p:sp>
      <p:sp>
        <p:nvSpPr>
          <p:cNvPr id="17" name="직사각형 16">
            <a:extLst>
              <a:ext uri="{FF2B5EF4-FFF2-40B4-BE49-F238E27FC236}">
                <a16:creationId xmlns:a16="http://schemas.microsoft.com/office/drawing/2014/main" id="{4E304EED-C9D7-46DF-94ED-D23852C36409}"/>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655A70AE-09F0-4AB8-9D6B-0711795C6649}"/>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2A5DF93D-A538-4C33-907B-FA6AC4C1795E}"/>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Θ(n³)</a:t>
            </a:r>
          </a:p>
        </p:txBody>
      </p:sp>
      <p:sp>
        <p:nvSpPr>
          <p:cNvPr id="20" name="직사각형 19">
            <a:extLst>
              <a:ext uri="{FF2B5EF4-FFF2-40B4-BE49-F238E27FC236}">
                <a16:creationId xmlns:a16="http://schemas.microsoft.com/office/drawing/2014/main" id="{4A07FD0A-BBF7-4DC0-90D8-CB16FFFEBDC7}"/>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D2340633-846D-4EC7-95C3-9B76D6EB3CF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65F79507-1D11-4F6A-A0DB-079E64204324}"/>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Tree>
    <p:extLst>
      <p:ext uri="{BB962C8B-B14F-4D97-AF65-F5344CB8AC3E}">
        <p14:creationId xmlns:p14="http://schemas.microsoft.com/office/powerpoint/2010/main" val="4626855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A7FE08E-26ED-44D5-B886-0AE4CD70894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E295C45A-2198-43CB-8D7B-7D36817492A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51BBDC2-7870-4336-8DBC-37E1DC12895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18  정답과 해설</a:t>
            </a:r>
          </a:p>
        </p:txBody>
      </p:sp>
      <p:sp>
        <p:nvSpPr>
          <p:cNvPr id="4" name="직사각형 3">
            <a:extLst>
              <a:ext uri="{FF2B5EF4-FFF2-40B4-BE49-F238E27FC236}">
                <a16:creationId xmlns:a16="http://schemas.microsoft.com/office/drawing/2014/main" id="{97F74C4F-F7B8-4D8C-AF8D-009D2D9C152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CA715CD-10B1-445E-A14E-98933D496B9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62580D7-C42D-4F6F-915D-EF34C633B79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33094DA-B0E0-4A5F-AEEA-32DA76E0ECE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036</a:t>
            </a:r>
          </a:p>
        </p:txBody>
      </p:sp>
      <p:sp>
        <p:nvSpPr>
          <p:cNvPr id="8" name="text-178-64">
            <a:extLst>
              <a:ext uri="{FF2B5EF4-FFF2-40B4-BE49-F238E27FC236}">
                <a16:creationId xmlns:a16="http://schemas.microsoft.com/office/drawing/2014/main" id="{8D6C7845-4ED8-4821-A06C-C5337218206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쌍의 각 재귀 호출에서 띠를 다시 Θ(n log n)에 정렬한다. 전체 차수는?</a:t>
            </a:r>
          </a:p>
        </p:txBody>
      </p:sp>
      <p:sp>
        <p:nvSpPr>
          <p:cNvPr id="9" name="직사각형 8">
            <a:extLst>
              <a:ext uri="{FF2B5EF4-FFF2-40B4-BE49-F238E27FC236}">
                <a16:creationId xmlns:a16="http://schemas.microsoft.com/office/drawing/2014/main" id="{4B5833E4-6AE3-498C-BB6A-0F21E5373B1C}"/>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26EE05B-B687-4927-864D-1AB616A2942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Θ(n log² n)</a:t>
            </a:r>
          </a:p>
        </p:txBody>
      </p:sp>
      <p:sp>
        <p:nvSpPr>
          <p:cNvPr id="11" name="text-324.4-64">
            <a:extLst>
              <a:ext uri="{FF2B5EF4-FFF2-40B4-BE49-F238E27FC236}">
                <a16:creationId xmlns:a16="http://schemas.microsoft.com/office/drawing/2014/main" id="{DD8036C4-B13C-4098-B7EA-A787A2583A7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292A8E14-B4C3-42D9-9D78-AA8BA1AEE452}"/>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ABF5F9D-EC72-4B5F-8A1B-7B104DC84AE0}"/>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T(n)=2T(n/2)+Θ(n log n)을 층별로 합하면 로그 인수가 하나 더 생긴다.</a:t>
            </a:r>
          </a:p>
        </p:txBody>
      </p:sp>
    </p:spTree>
    <p:extLst>
      <p:ext uri="{BB962C8B-B14F-4D97-AF65-F5344CB8AC3E}">
        <p14:creationId xmlns:p14="http://schemas.microsoft.com/office/powerpoint/2010/main" val="4626855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54DC20D6-7DC4-425A-BB61-9BE8C288FBC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E630185A-4CA6-4D8B-BE3A-BCAEC607904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A5CC1E1-CAF2-4328-B6CA-035B4138896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a:t>
            </a:r>
          </a:p>
        </p:txBody>
      </p:sp>
      <p:sp>
        <p:nvSpPr>
          <p:cNvPr id="4" name="직사각형 3">
            <a:extLst>
              <a:ext uri="{FF2B5EF4-FFF2-40B4-BE49-F238E27FC236}">
                <a16:creationId xmlns:a16="http://schemas.microsoft.com/office/drawing/2014/main" id="{21DE2327-C8FD-4694-BE01-1F8E928DC68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2106982-9CC9-4778-99FE-E72BC64012C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CA00208-FD87-4A62-9F8E-52E87473CD4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966E378-1C39-464A-B1FE-07C53734461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037</a:t>
            </a:r>
          </a:p>
        </p:txBody>
      </p:sp>
      <p:sp>
        <p:nvSpPr>
          <p:cNvPr id="8" name="text-178-64">
            <a:extLst>
              <a:ext uri="{FF2B5EF4-FFF2-40B4-BE49-F238E27FC236}">
                <a16:creationId xmlns:a16="http://schemas.microsoft.com/office/drawing/2014/main" id="{B72D8C66-9F02-4E64-9731-BE85E9DA4AD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쌍을 O(n log n)에 구현할 때 필요한 결합 조건은?</a:t>
            </a:r>
          </a:p>
        </p:txBody>
      </p:sp>
      <p:sp>
        <p:nvSpPr>
          <p:cNvPr id="9" name="text-316-72">
            <a:extLst>
              <a:ext uri="{FF2B5EF4-FFF2-40B4-BE49-F238E27FC236}">
                <a16:creationId xmlns:a16="http://schemas.microsoft.com/office/drawing/2014/main" id="{FD5742A3-9A35-427A-BD48-8D2562C41FE4}"/>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CD4BEFB4-494B-4367-96BD-3B86AFB7241E}"/>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y 정렬 순서를 재사용하여 결합을 선형으로 한다</a:t>
            </a:r>
          </a:p>
        </p:txBody>
      </p:sp>
      <p:sp>
        <p:nvSpPr>
          <p:cNvPr id="11" name="직사각형 10">
            <a:extLst>
              <a:ext uri="{FF2B5EF4-FFF2-40B4-BE49-F238E27FC236}">
                <a16:creationId xmlns:a16="http://schemas.microsoft.com/office/drawing/2014/main" id="{33FB38E9-26C9-428A-82F9-EB390ABB31F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A5C8D526-3128-40F3-9E81-EA20F3CD2A2A}"/>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4EB6326B-C8F8-475D-868F-CF6A74D03718}"/>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 정렬만 유지하면 띠 검사 순서는 무관하다</a:t>
            </a:r>
          </a:p>
        </p:txBody>
      </p:sp>
      <p:sp>
        <p:nvSpPr>
          <p:cNvPr id="14" name="직사각형 13">
            <a:extLst>
              <a:ext uri="{FF2B5EF4-FFF2-40B4-BE49-F238E27FC236}">
                <a16:creationId xmlns:a16="http://schemas.microsoft.com/office/drawing/2014/main" id="{CE1BBE6F-5028-4602-AE41-53834D13854E}"/>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02AD4820-5B2B-4A39-BB3E-D30BF44A9DE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2F45300E-E23E-463E-8876-E59FEA4D7DA8}"/>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띠 안의 모든 점 쌍을 제한 없이 비교한다</a:t>
            </a:r>
          </a:p>
        </p:txBody>
      </p:sp>
      <p:sp>
        <p:nvSpPr>
          <p:cNvPr id="17" name="직사각형 16">
            <a:extLst>
              <a:ext uri="{FF2B5EF4-FFF2-40B4-BE49-F238E27FC236}">
                <a16:creationId xmlns:a16="http://schemas.microsoft.com/office/drawing/2014/main" id="{24E8EAF9-7992-435F-A9C0-16CE08366468}"/>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CCA33537-144B-45D6-9E67-10A7DFA52EF8}"/>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6FADCEC5-243A-4FFC-AD3C-9DF74885B172}"/>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매 재귀 호출에서 띠 전체를 새로 비교 정렬한다</a:t>
            </a:r>
          </a:p>
        </p:txBody>
      </p:sp>
      <p:sp>
        <p:nvSpPr>
          <p:cNvPr id="20" name="직사각형 19">
            <a:extLst>
              <a:ext uri="{FF2B5EF4-FFF2-40B4-BE49-F238E27FC236}">
                <a16:creationId xmlns:a16="http://schemas.microsoft.com/office/drawing/2014/main" id="{9DCA6CD8-58DD-4319-B522-AEABD3EF7D28}"/>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BF1AFCB3-7C9E-4832-A6AE-5B4D1D72030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20B855C5-4537-46EC-AC25-72318A2E1F8D}"/>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처음에 한 번 y 정렬하면 재귀 분할 후 순서 유지가 필요 없다</a:t>
            </a:r>
          </a:p>
        </p:txBody>
      </p:sp>
    </p:spTree>
    <p:extLst>
      <p:ext uri="{BB962C8B-B14F-4D97-AF65-F5344CB8AC3E}">
        <p14:creationId xmlns:p14="http://schemas.microsoft.com/office/powerpoint/2010/main" val="46268551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2707C9FC-3EBE-4393-9F48-6310028F5FB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51CEA680-4807-4F58-B1DC-A44D848622C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E7D4F23-7511-4A72-95B6-15B1990A8CE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19  정답과 해설</a:t>
            </a:r>
          </a:p>
        </p:txBody>
      </p:sp>
      <p:sp>
        <p:nvSpPr>
          <p:cNvPr id="4" name="직사각형 3">
            <a:extLst>
              <a:ext uri="{FF2B5EF4-FFF2-40B4-BE49-F238E27FC236}">
                <a16:creationId xmlns:a16="http://schemas.microsoft.com/office/drawing/2014/main" id="{31FB13FB-A916-42E1-9964-2C1D497B390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0AE28F4-24D0-4797-A15A-34A2E6BDF65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8B2989C-34C7-468D-A70C-B5E8A5D9736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160DB6A-8E35-41B8-984C-32205301145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038</a:t>
            </a:r>
          </a:p>
        </p:txBody>
      </p:sp>
      <p:sp>
        <p:nvSpPr>
          <p:cNvPr id="8" name="text-178-64">
            <a:extLst>
              <a:ext uri="{FF2B5EF4-FFF2-40B4-BE49-F238E27FC236}">
                <a16:creationId xmlns:a16="http://schemas.microsoft.com/office/drawing/2014/main" id="{0D572165-482F-4412-A571-8ACF7BBCFA0A}"/>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쌍을 O(n log n)에 구현할 때 필요한 결합 조건은?</a:t>
            </a:r>
          </a:p>
        </p:txBody>
      </p:sp>
      <p:sp>
        <p:nvSpPr>
          <p:cNvPr id="9" name="직사각형 8">
            <a:extLst>
              <a:ext uri="{FF2B5EF4-FFF2-40B4-BE49-F238E27FC236}">
                <a16:creationId xmlns:a16="http://schemas.microsoft.com/office/drawing/2014/main" id="{34D7FA85-CA4D-4DCD-A324-4F623FD300C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7F5C3327-26F8-41C0-ADD6-F25B4356F8BC}"/>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y 정렬 순서를 재사용하여 결합을 선형으로 한다</a:t>
            </a:r>
          </a:p>
        </p:txBody>
      </p:sp>
      <p:sp>
        <p:nvSpPr>
          <p:cNvPr id="11" name="text-324.4-64">
            <a:extLst>
              <a:ext uri="{FF2B5EF4-FFF2-40B4-BE49-F238E27FC236}">
                <a16:creationId xmlns:a16="http://schemas.microsoft.com/office/drawing/2014/main" id="{023AD824-5344-4D0D-AD0B-18A3480D006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DDD09E7-5AC7-417A-93CC-C7E2E720F77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7C86549D-0E56-4ADA-BA70-060E840FE82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초기 정렬 뒤 정렬 순서를 재귀 분할과 병합으로 유지하면 각 층 비용이 선형이다.</a:t>
            </a:r>
          </a:p>
        </p:txBody>
      </p:sp>
    </p:spTree>
    <p:extLst>
      <p:ext uri="{BB962C8B-B14F-4D97-AF65-F5344CB8AC3E}">
        <p14:creationId xmlns:p14="http://schemas.microsoft.com/office/powerpoint/2010/main" val="4626855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6B513947-9443-4E51-BE02-F7F9516F260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5C52D8F2-7DD6-4416-B2E1-F1AF739D910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2E37157-EB39-4CE0-A932-67110DD1DBD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a:t>
            </a:r>
          </a:p>
        </p:txBody>
      </p:sp>
      <p:sp>
        <p:nvSpPr>
          <p:cNvPr id="4" name="직사각형 3">
            <a:extLst>
              <a:ext uri="{FF2B5EF4-FFF2-40B4-BE49-F238E27FC236}">
                <a16:creationId xmlns:a16="http://schemas.microsoft.com/office/drawing/2014/main" id="{D76AD146-E687-4A3B-A97D-7FEFCC92C41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0759832-95A5-4675-8274-B6DCA3F2FC3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9C1DBFF-9B62-48E8-80C9-E349DB2BEE5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FDC57AD-AFE5-433B-B55C-163BB2B16E7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039</a:t>
            </a:r>
          </a:p>
        </p:txBody>
      </p:sp>
      <p:sp>
        <p:nvSpPr>
          <p:cNvPr id="8" name="text-178-64">
            <a:extLst>
              <a:ext uri="{FF2B5EF4-FFF2-40B4-BE49-F238E27FC236}">
                <a16:creationId xmlns:a16="http://schemas.microsoft.com/office/drawing/2014/main" id="{2078B16C-C170-4CB5-B760-BF45B7C4662B}"/>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서로 다른 인덱스의 두 점 좌표가 같으면 최소 거리는?</a:t>
            </a:r>
          </a:p>
        </p:txBody>
      </p:sp>
      <p:sp>
        <p:nvSpPr>
          <p:cNvPr id="9" name="text-316-72">
            <a:extLst>
              <a:ext uri="{FF2B5EF4-FFF2-40B4-BE49-F238E27FC236}">
                <a16:creationId xmlns:a16="http://schemas.microsoft.com/office/drawing/2014/main" id="{71B324E8-0474-4A18-B0AB-A3EA299734BD}"/>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3715E6F0-53D8-412A-AEF7-82E6894DF0DE}"/>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무한대</a:t>
            </a:r>
          </a:p>
        </p:txBody>
      </p:sp>
      <p:sp>
        <p:nvSpPr>
          <p:cNvPr id="11" name="직사각형 10">
            <a:extLst>
              <a:ext uri="{FF2B5EF4-FFF2-40B4-BE49-F238E27FC236}">
                <a16:creationId xmlns:a16="http://schemas.microsoft.com/office/drawing/2014/main" id="{81C587D1-7EB2-4CDB-BBAF-0ED741079EE4}"/>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4E22C4EC-4E45-426D-BB10-C814A0F88685}"/>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650F8D0D-07BC-45C1-AD32-63E748BAC3F0}"/>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a:t>
            </a:r>
          </a:p>
        </p:txBody>
      </p:sp>
      <p:sp>
        <p:nvSpPr>
          <p:cNvPr id="14" name="직사각형 13">
            <a:extLst>
              <a:ext uri="{FF2B5EF4-FFF2-40B4-BE49-F238E27FC236}">
                <a16:creationId xmlns:a16="http://schemas.microsoft.com/office/drawing/2014/main" id="{57A61F34-75B1-4CAF-B1B1-88C2273AD04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7A97E21-9BCB-45BA-8867-D0DEF126242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BBCED52F-8DA6-48F7-973F-D2C025BF8E9E}"/>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a:t>
            </a:r>
          </a:p>
        </p:txBody>
      </p:sp>
      <p:sp>
        <p:nvSpPr>
          <p:cNvPr id="17" name="직사각형 16">
            <a:extLst>
              <a:ext uri="{FF2B5EF4-FFF2-40B4-BE49-F238E27FC236}">
                <a16:creationId xmlns:a16="http://schemas.microsoft.com/office/drawing/2014/main" id="{42BAEDC5-4B2F-4A2E-A4AE-0AF4A55815AC}"/>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491685E5-2D69-455F-BCE4-7997D3A1DAC6}"/>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390D9D8B-BC4B-4A78-AE52-7607840F0724}"/>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좌표 합</a:t>
            </a:r>
          </a:p>
        </p:txBody>
      </p:sp>
      <p:sp>
        <p:nvSpPr>
          <p:cNvPr id="20" name="직사각형 19">
            <a:extLst>
              <a:ext uri="{FF2B5EF4-FFF2-40B4-BE49-F238E27FC236}">
                <a16:creationId xmlns:a16="http://schemas.microsoft.com/office/drawing/2014/main" id="{D3E26294-D1C1-4D7C-8049-51C566DBF1F1}"/>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CE15BE1-4A31-404B-A6EF-3DE95327ED99}"/>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D6CA81AF-0182-4217-925A-DA7812076056}"/>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0</a:t>
            </a:r>
          </a:p>
        </p:txBody>
      </p:sp>
    </p:spTree>
    <p:extLst>
      <p:ext uri="{BB962C8B-B14F-4D97-AF65-F5344CB8AC3E}">
        <p14:creationId xmlns:p14="http://schemas.microsoft.com/office/powerpoint/2010/main" val="4626855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40BAE6E-1666-4CA9-86AB-3F15DD47BD5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E610F18-82B8-4C89-A801-129D6023BFC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BA70D63-83EE-4CC9-A96B-1A951A6559D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20  정답과 해설</a:t>
            </a:r>
          </a:p>
        </p:txBody>
      </p:sp>
      <p:sp>
        <p:nvSpPr>
          <p:cNvPr id="4" name="직사각형 3">
            <a:extLst>
              <a:ext uri="{FF2B5EF4-FFF2-40B4-BE49-F238E27FC236}">
                <a16:creationId xmlns:a16="http://schemas.microsoft.com/office/drawing/2014/main" id="{39A5715B-51F3-4608-AA36-3D3A2FBD8B5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CDC967B-97A3-4998-9C36-74562E703F7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FEB4A94-3DAB-4247-8D35-39FBB445BE8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294CFA2-95BA-4E07-A416-03933DB6232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040</a:t>
            </a:r>
          </a:p>
        </p:txBody>
      </p:sp>
      <p:sp>
        <p:nvSpPr>
          <p:cNvPr id="8" name="text-178-64">
            <a:extLst>
              <a:ext uri="{FF2B5EF4-FFF2-40B4-BE49-F238E27FC236}">
                <a16:creationId xmlns:a16="http://schemas.microsoft.com/office/drawing/2014/main" id="{42A26797-8412-4BF6-A9BC-E8125B851402}"/>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서로 다른 인덱스의 두 점 좌표가 같으면 최소 거리는?</a:t>
            </a:r>
          </a:p>
        </p:txBody>
      </p:sp>
      <p:sp>
        <p:nvSpPr>
          <p:cNvPr id="9" name="직사각형 8">
            <a:extLst>
              <a:ext uri="{FF2B5EF4-FFF2-40B4-BE49-F238E27FC236}">
                <a16:creationId xmlns:a16="http://schemas.microsoft.com/office/drawing/2014/main" id="{723F5142-2AD5-4704-9C88-F4E6A89F59E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4561DA7-E1F8-413A-BC6E-598255B704F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5번 0</a:t>
            </a:r>
          </a:p>
        </p:txBody>
      </p:sp>
      <p:sp>
        <p:nvSpPr>
          <p:cNvPr id="11" name="text-324.4-64">
            <a:extLst>
              <a:ext uri="{FF2B5EF4-FFF2-40B4-BE49-F238E27FC236}">
                <a16:creationId xmlns:a16="http://schemas.microsoft.com/office/drawing/2014/main" id="{E2D5B384-EDC3-4D1D-8FF0-C08EB20198A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78F32E0-2926-4DA8-BBFB-6B4E0DA87AB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9BB668C-A08B-4A03-A34A-891D575CA74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같은 좌표의 두 점도 서로 다른 점 항목이면 거리가 0이다.</a:t>
            </a:r>
          </a:p>
        </p:txBody>
      </p:sp>
    </p:spTree>
    <p:extLst>
      <p:ext uri="{BB962C8B-B14F-4D97-AF65-F5344CB8AC3E}">
        <p14:creationId xmlns:p14="http://schemas.microsoft.com/office/powerpoint/2010/main" val="46268551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BEF8D666-5536-4390-925D-5774E30EF0C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3D3E4FA-59AD-4F03-BA7A-20EE76FFF84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525A99B-0B4E-43D8-A203-04B3D887808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a:t>
            </a:r>
          </a:p>
        </p:txBody>
      </p:sp>
      <p:sp>
        <p:nvSpPr>
          <p:cNvPr id="4" name="직사각형 3">
            <a:extLst>
              <a:ext uri="{FF2B5EF4-FFF2-40B4-BE49-F238E27FC236}">
                <a16:creationId xmlns:a16="http://schemas.microsoft.com/office/drawing/2014/main" id="{CABEE935-A21D-4B31-9EEA-0F410DC445A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42A3B21-46F5-4246-9BD0-AD7A812FE1E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4AAB807-4397-416F-A12C-8164D08D8EC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9C26C4B-4354-4B8C-95EF-0DDF8726BBA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041</a:t>
            </a:r>
          </a:p>
        </p:txBody>
      </p:sp>
      <p:sp>
        <p:nvSpPr>
          <p:cNvPr id="8" name="text-178-64">
            <a:extLst>
              <a:ext uri="{FF2B5EF4-FFF2-40B4-BE49-F238E27FC236}">
                <a16:creationId xmlns:a16="http://schemas.microsoft.com/office/drawing/2014/main" id="{22102740-16C7-4262-B985-886620A4BFE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제곱거리로 최근접 쌍을 비교해도 되는 이유는?</a:t>
            </a:r>
          </a:p>
        </p:txBody>
      </p:sp>
      <p:sp>
        <p:nvSpPr>
          <p:cNvPr id="9" name="text-316-72">
            <a:extLst>
              <a:ext uri="{FF2B5EF4-FFF2-40B4-BE49-F238E27FC236}">
                <a16:creationId xmlns:a16="http://schemas.microsoft.com/office/drawing/2014/main" id="{E94CEEE3-A685-475D-B174-AA27D4F146B8}"/>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C4B90BDE-74F5-4094-BD8E-A8958A70AEE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제곱거리를 쓰면 좌표 차이의 오버플로도 사라진다</a:t>
            </a:r>
          </a:p>
        </p:txBody>
      </p:sp>
      <p:sp>
        <p:nvSpPr>
          <p:cNvPr id="11" name="직사각형 10">
            <a:extLst>
              <a:ext uri="{FF2B5EF4-FFF2-40B4-BE49-F238E27FC236}">
                <a16:creationId xmlns:a16="http://schemas.microsoft.com/office/drawing/2014/main" id="{FCC9C853-0D19-4BB7-92BE-577D5084DC69}"/>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6823D307-4D33-4417-B34E-747CD1A2EE09}"/>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82FEED28-21E0-43E4-8966-A16B11051DC3}"/>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제곱거리를 쓰면 최근접 쌍 후보를 비교할 필요가 없다</a:t>
            </a:r>
          </a:p>
        </p:txBody>
      </p:sp>
      <p:sp>
        <p:nvSpPr>
          <p:cNvPr id="14" name="직사각형 13">
            <a:extLst>
              <a:ext uri="{FF2B5EF4-FFF2-40B4-BE49-F238E27FC236}">
                <a16:creationId xmlns:a16="http://schemas.microsoft.com/office/drawing/2014/main" id="{CDBB9BE8-C9C8-4D5A-8347-D45143083DA3}"/>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E03A152B-12E3-4E6E-B0A1-96B9D9A95B18}"/>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3425A0C8-7D17-4E00-979A-6A6EB8C145A9}"/>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비음수에서 제곱근이 엄격히 증가한다</a:t>
            </a:r>
          </a:p>
        </p:txBody>
      </p:sp>
      <p:sp>
        <p:nvSpPr>
          <p:cNvPr id="17" name="직사각형 16">
            <a:extLst>
              <a:ext uri="{FF2B5EF4-FFF2-40B4-BE49-F238E27FC236}">
                <a16:creationId xmlns:a16="http://schemas.microsoft.com/office/drawing/2014/main" id="{53F546DA-77B1-4DE6-8309-2A824B62037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0E46573A-BA77-40AC-973D-E1DD846BB6EA}"/>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208E3860-2B52-4EDC-ACBF-3801F739906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제곱 연산은 모든 음수와 양수에서 순서를 보존한다</a:t>
            </a:r>
          </a:p>
        </p:txBody>
      </p:sp>
      <p:sp>
        <p:nvSpPr>
          <p:cNvPr id="20" name="직사각형 19">
            <a:extLst>
              <a:ext uri="{FF2B5EF4-FFF2-40B4-BE49-F238E27FC236}">
                <a16:creationId xmlns:a16="http://schemas.microsoft.com/office/drawing/2014/main" id="{E2A6E3EE-92C8-4995-9B6D-BC11782B1B7E}"/>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A3E22EDC-9572-43BA-8EAF-555FC4190ECE}"/>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2F6103A0-2C9B-41CC-921C-D6EADABE03EF}"/>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정수 좌표이면 서로 다른 모든 점 쌍의 거리가 다르다</a:t>
            </a:r>
          </a:p>
        </p:txBody>
      </p:sp>
    </p:spTree>
    <p:extLst>
      <p:ext uri="{BB962C8B-B14F-4D97-AF65-F5344CB8AC3E}">
        <p14:creationId xmlns:p14="http://schemas.microsoft.com/office/powerpoint/2010/main" val="4626855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67E94F8-7284-45B3-BF46-7CA5882FE56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822B5390-0444-443A-A74A-B6ADB8B0E42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3E4E70C-67A8-4E71-B492-A5DB9585953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21  정답과 해설</a:t>
            </a:r>
          </a:p>
        </p:txBody>
      </p:sp>
      <p:sp>
        <p:nvSpPr>
          <p:cNvPr id="4" name="직사각형 3">
            <a:extLst>
              <a:ext uri="{FF2B5EF4-FFF2-40B4-BE49-F238E27FC236}">
                <a16:creationId xmlns:a16="http://schemas.microsoft.com/office/drawing/2014/main" id="{027C9347-2E8D-413E-BC24-A649C32C45D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5EF774-6257-4C7B-BEBE-AA6B1F94F9B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A4E5D59-19CC-4AB4-9E35-4D2B5D89FB6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D781AB6-BA43-4D72-B993-58DCEAA25E4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042</a:t>
            </a:r>
          </a:p>
        </p:txBody>
      </p:sp>
      <p:sp>
        <p:nvSpPr>
          <p:cNvPr id="8" name="text-178-64">
            <a:extLst>
              <a:ext uri="{FF2B5EF4-FFF2-40B4-BE49-F238E27FC236}">
                <a16:creationId xmlns:a16="http://schemas.microsoft.com/office/drawing/2014/main" id="{113684C9-7A2D-4DE0-90F8-24A0C57FF696}"/>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제곱거리로 최근접 쌍을 비교해도 되는 이유는?</a:t>
            </a:r>
          </a:p>
        </p:txBody>
      </p:sp>
      <p:sp>
        <p:nvSpPr>
          <p:cNvPr id="9" name="직사각형 8">
            <a:extLst>
              <a:ext uri="{FF2B5EF4-FFF2-40B4-BE49-F238E27FC236}">
                <a16:creationId xmlns:a16="http://schemas.microsoft.com/office/drawing/2014/main" id="{D6B9431C-BF85-4B51-8D2E-A2DB5171F23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5683C25-88C8-4B2A-9C96-0E9010A57B4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비음수에서 제곱근이 엄격히 증가한다</a:t>
            </a:r>
          </a:p>
        </p:txBody>
      </p:sp>
      <p:sp>
        <p:nvSpPr>
          <p:cNvPr id="11" name="text-324.4-64">
            <a:extLst>
              <a:ext uri="{FF2B5EF4-FFF2-40B4-BE49-F238E27FC236}">
                <a16:creationId xmlns:a16="http://schemas.microsoft.com/office/drawing/2014/main" id="{702C4EA4-12DF-43D0-BE86-0FBB3D8E055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890FED2-8466-4D2E-8FD3-613A11302FB7}"/>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470588F9-3330-4C56-A3A2-FE7C6EF24AD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거리 순위는 제곱거리 순위와 같으므로 비교마다 제곱근을 구하지 않아도 된다.</a:t>
            </a:r>
          </a:p>
        </p:txBody>
      </p:sp>
    </p:spTree>
    <p:extLst>
      <p:ext uri="{BB962C8B-B14F-4D97-AF65-F5344CB8AC3E}">
        <p14:creationId xmlns:p14="http://schemas.microsoft.com/office/powerpoint/2010/main" val="46268551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874FCBBB-9548-44A6-AF31-746274AF3F7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A6F4C0F-E6F9-459F-B0CB-D2BC953B171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226E4FF-7300-433C-9B6A-E7DB2C98DB2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a:t>
            </a:r>
          </a:p>
        </p:txBody>
      </p:sp>
      <p:sp>
        <p:nvSpPr>
          <p:cNvPr id="4" name="직사각형 3">
            <a:extLst>
              <a:ext uri="{FF2B5EF4-FFF2-40B4-BE49-F238E27FC236}">
                <a16:creationId xmlns:a16="http://schemas.microsoft.com/office/drawing/2014/main" id="{F724EFD3-5E18-4BAA-9E92-925D8F7130B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F21E7B9-DCE9-4504-90ED-CDA02007394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0EB0C35-E6AB-4A8C-8210-A04BA321A9D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C576D38-1E44-4CFD-BBB3-893D735EB8B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043</a:t>
            </a:r>
          </a:p>
        </p:txBody>
      </p:sp>
      <p:sp>
        <p:nvSpPr>
          <p:cNvPr id="8" name="text-178-64">
            <a:extLst>
              <a:ext uri="{FF2B5EF4-FFF2-40B4-BE49-F238E27FC236}">
                <a16:creationId xmlns:a16="http://schemas.microsoft.com/office/drawing/2014/main" id="{94B3AC2E-1C20-4E13-8885-4BA66DC8EF3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흑백 쿼드트리에서 현재 영역이 한 색이면 올바른 처리는?</a:t>
            </a:r>
          </a:p>
        </p:txBody>
      </p:sp>
      <p:sp>
        <p:nvSpPr>
          <p:cNvPr id="9" name="text-316-72">
            <a:extLst>
              <a:ext uri="{FF2B5EF4-FFF2-40B4-BE49-F238E27FC236}">
                <a16:creationId xmlns:a16="http://schemas.microsoft.com/office/drawing/2014/main" id="{3E515C77-AB83-4B40-BD58-1F086F5EAADB}"/>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4563072-0725-4067-836B-362DD68BF25E}"/>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그 색 하나를 기록하고 종료한다</a:t>
            </a:r>
          </a:p>
        </p:txBody>
      </p:sp>
      <p:sp>
        <p:nvSpPr>
          <p:cNvPr id="11" name="직사각형 10">
            <a:extLst>
              <a:ext uri="{FF2B5EF4-FFF2-40B4-BE49-F238E27FC236}">
                <a16:creationId xmlns:a16="http://schemas.microsoft.com/office/drawing/2014/main" id="{88679B14-EF6E-4A62-9D20-AC80313DB6C6}"/>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7B915A98-8438-437F-A4B2-1909C14E754E}"/>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10D6AD16-3609-4C4C-80A2-17078B86B592}"/>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색 대신 영역의 넓이만 기록한다</a:t>
            </a:r>
          </a:p>
        </p:txBody>
      </p:sp>
      <p:sp>
        <p:nvSpPr>
          <p:cNvPr id="14" name="직사각형 13">
            <a:extLst>
              <a:ext uri="{FF2B5EF4-FFF2-40B4-BE49-F238E27FC236}">
                <a16:creationId xmlns:a16="http://schemas.microsoft.com/office/drawing/2014/main" id="{CAE72C79-F803-47F5-8929-4328DE2C47E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05BB76E3-0B61-4BA0-AA74-DFB23A1988F4}"/>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10710D89-6A21-4931-92F5-B915F09F9429}"/>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색 대신 검은 칸의 개수만 기록한다</a:t>
            </a:r>
          </a:p>
        </p:txBody>
      </p:sp>
      <p:sp>
        <p:nvSpPr>
          <p:cNvPr id="17" name="직사각형 16">
            <a:extLst>
              <a:ext uri="{FF2B5EF4-FFF2-40B4-BE49-F238E27FC236}">
                <a16:creationId xmlns:a16="http://schemas.microsoft.com/office/drawing/2014/main" id="{1F3D4CF8-A3BE-4A19-B3FA-CD2BA98A75B9}"/>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69CD0611-6532-4B39-86E0-3A733AAB40E4}"/>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9FA574B9-589A-4CBA-AFC1-A359DB488951}"/>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반드시 1×1이 될 때까지 나눈다</a:t>
            </a:r>
          </a:p>
        </p:txBody>
      </p:sp>
      <p:sp>
        <p:nvSpPr>
          <p:cNvPr id="20" name="직사각형 19">
            <a:extLst>
              <a:ext uri="{FF2B5EF4-FFF2-40B4-BE49-F238E27FC236}">
                <a16:creationId xmlns:a16="http://schemas.microsoft.com/office/drawing/2014/main" id="{D0EC14BF-B049-4BFE-90C9-5B4EA8559A54}"/>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027A0AA8-CD68-4331-8C6A-A8744F271EB4}"/>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2B9380FD-F2D9-46BC-8F6D-219F7F932625}"/>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같은 색이어도 네 자식의 기록을 모두 저장한다</a:t>
            </a:r>
          </a:p>
        </p:txBody>
      </p:sp>
    </p:spTree>
    <p:extLst>
      <p:ext uri="{BB962C8B-B14F-4D97-AF65-F5344CB8AC3E}">
        <p14:creationId xmlns:p14="http://schemas.microsoft.com/office/powerpoint/2010/main" val="4626855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711ED2E9-9A90-4188-90E2-A705A863D73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23F4C135-CEF6-4942-8528-FB0266BC8D6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2BA7E6F-2E5E-41D3-8571-E79BB361B4D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22  정답과 해설</a:t>
            </a:r>
          </a:p>
        </p:txBody>
      </p:sp>
      <p:sp>
        <p:nvSpPr>
          <p:cNvPr id="4" name="직사각형 3">
            <a:extLst>
              <a:ext uri="{FF2B5EF4-FFF2-40B4-BE49-F238E27FC236}">
                <a16:creationId xmlns:a16="http://schemas.microsoft.com/office/drawing/2014/main" id="{BAA077BF-2D18-416E-8C1D-F9AA47AEF70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3D70F3D-E915-4FB1-A41A-529B940B636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B160F81-2B48-44FB-B59B-AC4A1B31557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D34B7AD-1FD5-4A9C-9CBC-8B304DF054D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044</a:t>
            </a:r>
          </a:p>
        </p:txBody>
      </p:sp>
      <p:sp>
        <p:nvSpPr>
          <p:cNvPr id="8" name="text-178-64">
            <a:extLst>
              <a:ext uri="{FF2B5EF4-FFF2-40B4-BE49-F238E27FC236}">
                <a16:creationId xmlns:a16="http://schemas.microsoft.com/office/drawing/2014/main" id="{47BBFB19-2C1E-4DFC-BF7A-B0F9FAB7FA7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흑백 쿼드트리에서 현재 영역이 한 색이면 올바른 처리는?</a:t>
            </a:r>
          </a:p>
        </p:txBody>
      </p:sp>
      <p:sp>
        <p:nvSpPr>
          <p:cNvPr id="9" name="직사각형 8">
            <a:extLst>
              <a:ext uri="{FF2B5EF4-FFF2-40B4-BE49-F238E27FC236}">
                <a16:creationId xmlns:a16="http://schemas.microsoft.com/office/drawing/2014/main" id="{6032E5F5-055E-426B-803E-4765D639F15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2694375-C06F-4C25-881B-46C7E060CBD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그 색 하나를 기록하고 종료한다</a:t>
            </a:r>
          </a:p>
        </p:txBody>
      </p:sp>
      <p:sp>
        <p:nvSpPr>
          <p:cNvPr id="11" name="text-324.4-64">
            <a:extLst>
              <a:ext uri="{FF2B5EF4-FFF2-40B4-BE49-F238E27FC236}">
                <a16:creationId xmlns:a16="http://schemas.microsoft.com/office/drawing/2014/main" id="{25E46758-D36B-4699-B641-3FE36A5E92C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180F794-CCB9-46B5-8FB4-E221F7125FF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C46FF6B-CFAA-4B41-84E1-34CC1130BC7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균일 영역을 리프 하나로 표현하는 것이 압축의 핵심이다.</a:t>
            </a:r>
          </a:p>
        </p:txBody>
      </p:sp>
    </p:spTree>
    <p:extLst>
      <p:ext uri="{BB962C8B-B14F-4D97-AF65-F5344CB8AC3E}">
        <p14:creationId xmlns:p14="http://schemas.microsoft.com/office/powerpoint/2010/main" val="46268551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4A69395A-18AC-43FC-AD70-AA01B769F1D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4573629-7AFB-4077-9FA1-BFF65316468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0777013-CB52-4DA8-88D7-A5D45301008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a:t>
            </a:r>
          </a:p>
        </p:txBody>
      </p:sp>
      <p:sp>
        <p:nvSpPr>
          <p:cNvPr id="4" name="직사각형 3">
            <a:extLst>
              <a:ext uri="{FF2B5EF4-FFF2-40B4-BE49-F238E27FC236}">
                <a16:creationId xmlns:a16="http://schemas.microsoft.com/office/drawing/2014/main" id="{213280F7-8903-4078-AC62-AEF9C46B183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CD617CB-22EB-4281-8255-253B05E2DF3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CAF41CF-94DD-42C5-91FA-F40918012CC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F2116B3-6A55-402F-B7AB-859E9819D3F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045</a:t>
            </a:r>
          </a:p>
        </p:txBody>
      </p:sp>
      <p:sp>
        <p:nvSpPr>
          <p:cNvPr id="8" name="text-178-64">
            <a:extLst>
              <a:ext uri="{FF2B5EF4-FFF2-40B4-BE49-F238E27FC236}">
                <a16:creationId xmlns:a16="http://schemas.microsoft.com/office/drawing/2014/main" id="{631919BA-B155-440A-A4EB-8F3A4D5FF16C}"/>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쿼드트리에서 혼합된 정사각형을 나누는 자식 수는?</a:t>
            </a:r>
          </a:p>
        </p:txBody>
      </p:sp>
      <p:sp>
        <p:nvSpPr>
          <p:cNvPr id="9" name="text-316-72">
            <a:extLst>
              <a:ext uri="{FF2B5EF4-FFF2-40B4-BE49-F238E27FC236}">
                <a16:creationId xmlns:a16="http://schemas.microsoft.com/office/drawing/2014/main" id="{C96A52F2-C573-4361-9809-179BF06C5D79}"/>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D1F7CEC9-1244-4669-AFAB-3A51C5501070}"/>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a:t>
            </a:r>
          </a:p>
        </p:txBody>
      </p:sp>
      <p:sp>
        <p:nvSpPr>
          <p:cNvPr id="11" name="직사각형 10">
            <a:extLst>
              <a:ext uri="{FF2B5EF4-FFF2-40B4-BE49-F238E27FC236}">
                <a16:creationId xmlns:a16="http://schemas.microsoft.com/office/drawing/2014/main" id="{068A60B1-1C7B-4797-91D5-174C0984A6A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072F03BA-A61E-4C7E-899E-F3634A690550}"/>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E8678C8E-6637-423C-9558-8242D3D178A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9</a:t>
            </a:r>
          </a:p>
        </p:txBody>
      </p:sp>
      <p:sp>
        <p:nvSpPr>
          <p:cNvPr id="14" name="직사각형 13">
            <a:extLst>
              <a:ext uri="{FF2B5EF4-FFF2-40B4-BE49-F238E27FC236}">
                <a16:creationId xmlns:a16="http://schemas.microsoft.com/office/drawing/2014/main" id="{B81C70FF-8A70-46C8-990B-26906EE70FB6}"/>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9532F8BD-0BCE-4798-9DE6-7BFF853339AB}"/>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C6ABEFE6-99EB-4621-A4D4-FFE812A01314}"/>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3</a:t>
            </a:r>
          </a:p>
        </p:txBody>
      </p:sp>
      <p:sp>
        <p:nvSpPr>
          <p:cNvPr id="17" name="직사각형 16">
            <a:extLst>
              <a:ext uri="{FF2B5EF4-FFF2-40B4-BE49-F238E27FC236}">
                <a16:creationId xmlns:a16="http://schemas.microsoft.com/office/drawing/2014/main" id="{B04F2902-71FF-41E3-8BD2-DD10D376A82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A76013B7-FBCC-470E-AE2E-23B039F619CE}"/>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ABF759B-3C42-4B9B-8193-0F7D7EA0F2C7}"/>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4</a:t>
            </a:r>
          </a:p>
        </p:txBody>
      </p:sp>
      <p:sp>
        <p:nvSpPr>
          <p:cNvPr id="20" name="직사각형 19">
            <a:extLst>
              <a:ext uri="{FF2B5EF4-FFF2-40B4-BE49-F238E27FC236}">
                <a16:creationId xmlns:a16="http://schemas.microsoft.com/office/drawing/2014/main" id="{24F87A43-BF48-4579-B4EE-572A8B2D30DB}"/>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FC65787F-E731-4329-8970-AC750DAF5F71}"/>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894FBA5F-91A4-451C-BE78-B3586CD61D36}"/>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8</a:t>
            </a:r>
          </a:p>
        </p:txBody>
      </p:sp>
    </p:spTree>
    <p:extLst>
      <p:ext uri="{BB962C8B-B14F-4D97-AF65-F5344CB8AC3E}">
        <p14:creationId xmlns:p14="http://schemas.microsoft.com/office/powerpoint/2010/main" val="4626855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97359F3-7FFB-4A16-B9E1-9D87D19EE5D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80EF82C1-E2A7-402E-8EED-367E512CC72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76B5C4F-6150-453E-9281-FF967AC112B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23  정답과 해설</a:t>
            </a:r>
          </a:p>
        </p:txBody>
      </p:sp>
      <p:sp>
        <p:nvSpPr>
          <p:cNvPr id="4" name="직사각형 3">
            <a:extLst>
              <a:ext uri="{FF2B5EF4-FFF2-40B4-BE49-F238E27FC236}">
                <a16:creationId xmlns:a16="http://schemas.microsoft.com/office/drawing/2014/main" id="{D3098E83-FC34-43AB-9D53-180E6EF7D3D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3FE5B9-A4E2-4E7A-B1F0-1AD5A796D35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83C6E1C-DD97-41E4-A273-23E653F6834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2B477B0-7E71-470D-B15D-C3DF8438E02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046</a:t>
            </a:r>
          </a:p>
        </p:txBody>
      </p:sp>
      <p:sp>
        <p:nvSpPr>
          <p:cNvPr id="8" name="text-178-64">
            <a:extLst>
              <a:ext uri="{FF2B5EF4-FFF2-40B4-BE49-F238E27FC236}">
                <a16:creationId xmlns:a16="http://schemas.microsoft.com/office/drawing/2014/main" id="{F1C01F6B-EACA-4D27-A0BA-9299A2CFC27A}"/>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쿼드트리에서 혼합된 정사각형을 나누는 자식 수는?</a:t>
            </a:r>
          </a:p>
        </p:txBody>
      </p:sp>
      <p:sp>
        <p:nvSpPr>
          <p:cNvPr id="9" name="직사각형 8">
            <a:extLst>
              <a:ext uri="{FF2B5EF4-FFF2-40B4-BE49-F238E27FC236}">
                <a16:creationId xmlns:a16="http://schemas.microsoft.com/office/drawing/2014/main" id="{2DC8284D-F95F-4A76-B351-20FB6BEF3F2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84B032C6-27B6-4C6E-AE23-45069458A5A7}"/>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4</a:t>
            </a:r>
          </a:p>
        </p:txBody>
      </p:sp>
      <p:sp>
        <p:nvSpPr>
          <p:cNvPr id="11" name="text-324.4-64">
            <a:extLst>
              <a:ext uri="{FF2B5EF4-FFF2-40B4-BE49-F238E27FC236}">
                <a16:creationId xmlns:a16="http://schemas.microsoft.com/office/drawing/2014/main" id="{E2318F79-E137-4593-B86A-0E308E7C74A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A5A9520-F18A-48FF-9F93-BBE9EA8A4E2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90B0851-B51D-4E57-98FD-8DFA4519A69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좌상·우상·좌하·우하의 네 사분면으로 나눈다.</a:t>
            </a:r>
          </a:p>
        </p:txBody>
      </p:sp>
    </p:spTree>
    <p:extLst>
      <p:ext uri="{BB962C8B-B14F-4D97-AF65-F5344CB8AC3E}">
        <p14:creationId xmlns:p14="http://schemas.microsoft.com/office/powerpoint/2010/main" val="46268551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75AF6862-DA9E-4B28-B364-04653A9BB92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EC482B25-2D83-4CD8-8615-470030580AC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DF75C5A-2833-41D5-90E2-744F535DE44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a:t>
            </a:r>
          </a:p>
        </p:txBody>
      </p:sp>
      <p:sp>
        <p:nvSpPr>
          <p:cNvPr id="4" name="직사각형 3">
            <a:extLst>
              <a:ext uri="{FF2B5EF4-FFF2-40B4-BE49-F238E27FC236}">
                <a16:creationId xmlns:a16="http://schemas.microsoft.com/office/drawing/2014/main" id="{A86E5C6F-6FA6-4105-BDE2-46254D2C46B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7F2EB89-D003-4150-84AD-2DCE8215660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9DAB6C2-D1DA-4778-92F8-1512128C448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787F0D6-B25D-4604-AE23-D381AB94A96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047</a:t>
            </a:r>
          </a:p>
        </p:txBody>
      </p:sp>
      <p:sp>
        <p:nvSpPr>
          <p:cNvPr id="8" name="text-178-64">
            <a:extLst>
              <a:ext uri="{FF2B5EF4-FFF2-40B4-BE49-F238E27FC236}">
                <a16:creationId xmlns:a16="http://schemas.microsoft.com/office/drawing/2014/main" id="{20BE2ABD-C086-4D9C-B467-63E8E4DBF4F3}"/>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쿼드트리 부호화 순서를 좌상·우상·좌하·우하로 정했다. 복호화에 이 순서가 필요한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이유는?</a:t>
            </a:r>
          </a:p>
        </p:txBody>
      </p:sp>
      <p:sp>
        <p:nvSpPr>
          <p:cNvPr id="9" name="text-316-72">
            <a:extLst>
              <a:ext uri="{FF2B5EF4-FFF2-40B4-BE49-F238E27FC236}">
                <a16:creationId xmlns:a16="http://schemas.microsoft.com/office/drawing/2014/main" id="{CBAC8812-5715-4EF6-B7F8-1EFB814F52D3}"/>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29EA1A21-D9CD-4EAF-9B68-9584D5A8FA0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복호화 시 자식을 색 값으로 다시 정렬해야 한다</a:t>
            </a:r>
          </a:p>
        </p:txBody>
      </p:sp>
      <p:sp>
        <p:nvSpPr>
          <p:cNvPr id="11" name="직사각형 10">
            <a:extLst>
              <a:ext uri="{FF2B5EF4-FFF2-40B4-BE49-F238E27FC236}">
                <a16:creationId xmlns:a16="http://schemas.microsoft.com/office/drawing/2014/main" id="{C87FC41F-B837-4D5D-8ADD-97EA60107211}"/>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B12541B6-F2D3-4140-B260-F6C36CFB799E}"/>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5CFF82D3-FA2A-4799-8A53-4AAF79C5CA5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부호 길이만 같으면 방문 순서는 달라도 된다</a:t>
            </a:r>
          </a:p>
        </p:txBody>
      </p:sp>
      <p:sp>
        <p:nvSpPr>
          <p:cNvPr id="14" name="직사각형 13">
            <a:extLst>
              <a:ext uri="{FF2B5EF4-FFF2-40B4-BE49-F238E27FC236}">
                <a16:creationId xmlns:a16="http://schemas.microsoft.com/office/drawing/2014/main" id="{9A844B73-B0D9-437B-909A-661A9669710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8C87449E-252B-4378-A785-466FC050B42B}"/>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AABFAA36-CCC9-49E9-9989-D3E343332688}"/>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각 부분의 공간 위치를 복원해야 하기 때문이다</a:t>
            </a:r>
          </a:p>
        </p:txBody>
      </p:sp>
      <p:sp>
        <p:nvSpPr>
          <p:cNvPr id="17" name="직사각형 16">
            <a:extLst>
              <a:ext uri="{FF2B5EF4-FFF2-40B4-BE49-F238E27FC236}">
                <a16:creationId xmlns:a16="http://schemas.microsoft.com/office/drawing/2014/main" id="{4527AEC3-1714-4FD2-86A9-62340A751774}"/>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4797DFB2-AEE6-41B8-B179-F590CA481B4F}"/>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EB856D09-A89D-4BC5-85D8-26A0CF72D3F7}"/>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색이 두 가지이면 사분면의 순서는 정보에 영향을 주지 않는다</a:t>
            </a:r>
          </a:p>
        </p:txBody>
      </p:sp>
      <p:sp>
        <p:nvSpPr>
          <p:cNvPr id="20" name="직사각형 19">
            <a:extLst>
              <a:ext uri="{FF2B5EF4-FFF2-40B4-BE49-F238E27FC236}">
                <a16:creationId xmlns:a16="http://schemas.microsoft.com/office/drawing/2014/main" id="{7AE0B0D5-8696-4232-AC05-C1BBEC0FBA75}"/>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0519605D-E6CD-4398-9D6A-E90F349F8631}"/>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F39EA0E9-9EC0-491F-8C48-A8CB1A2D6FA5}"/>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자식들의 색 빈도만 알면 위치는 자동으로 복원된다</a:t>
            </a:r>
          </a:p>
        </p:txBody>
      </p:sp>
    </p:spTree>
    <p:extLst>
      <p:ext uri="{BB962C8B-B14F-4D97-AF65-F5344CB8AC3E}">
        <p14:creationId xmlns:p14="http://schemas.microsoft.com/office/powerpoint/2010/main" val="46268551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FED6072-E414-4532-B581-4F9DFE8F2BB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F3A6CCA-2E83-45F8-9E10-7B824AB25CD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48A7F40-4266-4057-A9B0-2E5240B6FAD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24  정답과 해설</a:t>
            </a:r>
          </a:p>
        </p:txBody>
      </p:sp>
      <p:sp>
        <p:nvSpPr>
          <p:cNvPr id="4" name="직사각형 3">
            <a:extLst>
              <a:ext uri="{FF2B5EF4-FFF2-40B4-BE49-F238E27FC236}">
                <a16:creationId xmlns:a16="http://schemas.microsoft.com/office/drawing/2014/main" id="{325AED9C-D60C-4A35-B2AC-F82B677596F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5DE5B6C-4072-4087-8A08-F8959562761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DA6A6F5-B139-49C8-B8D5-18CDAEB6743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304F5F5-4F29-4B16-A16D-073F5FE59ED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048</a:t>
            </a:r>
          </a:p>
        </p:txBody>
      </p:sp>
      <p:sp>
        <p:nvSpPr>
          <p:cNvPr id="8" name="text-178-64">
            <a:extLst>
              <a:ext uri="{FF2B5EF4-FFF2-40B4-BE49-F238E27FC236}">
                <a16:creationId xmlns:a16="http://schemas.microsoft.com/office/drawing/2014/main" id="{8765EFC7-BA2C-4D4E-B9F1-B77C09183733}"/>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 부호화 순서를 좌상·우상·좌하·우하로 정했다. 복호화에 이 순서가 필요한 이유는?</a:t>
            </a:r>
          </a:p>
        </p:txBody>
      </p:sp>
      <p:sp>
        <p:nvSpPr>
          <p:cNvPr id="9" name="직사각형 8">
            <a:extLst>
              <a:ext uri="{FF2B5EF4-FFF2-40B4-BE49-F238E27FC236}">
                <a16:creationId xmlns:a16="http://schemas.microsoft.com/office/drawing/2014/main" id="{6D4AAF8C-ABDB-4D59-A6F4-E472B76E85A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C30837F-D77C-4DF8-8DC2-57E6EFA724F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각 부분의 공간 위치를 복원해야 하기 때문이다</a:t>
            </a:r>
          </a:p>
        </p:txBody>
      </p:sp>
      <p:sp>
        <p:nvSpPr>
          <p:cNvPr id="11" name="text-324.4-64">
            <a:extLst>
              <a:ext uri="{FF2B5EF4-FFF2-40B4-BE49-F238E27FC236}">
                <a16:creationId xmlns:a16="http://schemas.microsoft.com/office/drawing/2014/main" id="{9ADFC421-3D76-4689-A36E-F328AF370B8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7DED2BA9-127A-498D-9404-907AFFA1BBC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DEF587D4-337E-4D44-96C8-00D2C578CC8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색 목록만 같아도 자식 순서가 달라지면 복원 영상이 달라진다.</a:t>
            </a:r>
          </a:p>
        </p:txBody>
      </p:sp>
    </p:spTree>
    <p:extLst>
      <p:ext uri="{BB962C8B-B14F-4D97-AF65-F5344CB8AC3E}">
        <p14:creationId xmlns:p14="http://schemas.microsoft.com/office/powerpoint/2010/main" val="4626855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987D7E29-0731-4A06-94B3-18C6D69F846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890A94B-74BC-456B-B1F2-7E2724FFFD7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0D4F678-9B17-403A-A1DA-734CAB00870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a:t>
            </a:r>
          </a:p>
        </p:txBody>
      </p:sp>
      <p:sp>
        <p:nvSpPr>
          <p:cNvPr id="4" name="직사각형 3">
            <a:extLst>
              <a:ext uri="{FF2B5EF4-FFF2-40B4-BE49-F238E27FC236}">
                <a16:creationId xmlns:a16="http://schemas.microsoft.com/office/drawing/2014/main" id="{92CE2F62-09C6-468A-A53C-C3718B5DDE7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FA91BB0-A892-4B14-B86E-99E9181B56E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A9847C7-8CF6-4019-B30F-773CDFBC093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8F3804B-D3C8-4FD6-B725-BA1D6515B12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049</a:t>
            </a:r>
          </a:p>
        </p:txBody>
      </p:sp>
      <p:sp>
        <p:nvSpPr>
          <p:cNvPr id="8" name="text-178-64">
            <a:extLst>
              <a:ext uri="{FF2B5EF4-FFF2-40B4-BE49-F238E27FC236}">
                <a16:creationId xmlns:a16="http://schemas.microsoft.com/office/drawing/2014/main" id="{7FDF566A-1AFC-4C44-BC25-29E869A8E162}"/>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흑백 쿼드트리 압축 효과가 가장 큰 예는?</a:t>
            </a:r>
          </a:p>
        </p:txBody>
      </p:sp>
      <p:sp>
        <p:nvSpPr>
          <p:cNvPr id="9" name="text-316-72">
            <a:extLst>
              <a:ext uri="{FF2B5EF4-FFF2-40B4-BE49-F238E27FC236}">
                <a16:creationId xmlns:a16="http://schemas.microsoft.com/office/drawing/2014/main" id="{9EAE0893-66C7-4AA0-AE71-D13975C7DB5E}"/>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ADAF1CBB-D8A6-4CE6-B58D-C0528F30F1A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끝까지 분할해야 하는 영상</a:t>
            </a:r>
          </a:p>
        </p:txBody>
      </p:sp>
      <p:sp>
        <p:nvSpPr>
          <p:cNvPr id="11" name="직사각형 10">
            <a:extLst>
              <a:ext uri="{FF2B5EF4-FFF2-40B4-BE49-F238E27FC236}">
                <a16:creationId xmlns:a16="http://schemas.microsoft.com/office/drawing/2014/main" id="{47140032-8A26-418F-8BC2-13C83D3851BF}"/>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29E98362-0B0D-43E8-AA10-BD6F07849226}"/>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D62D0F83-DE8A-4959-B7D1-1B597CEF6526}"/>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1칸마다 색이 바뀌는 큰 체커보드</a:t>
            </a:r>
          </a:p>
        </p:txBody>
      </p:sp>
      <p:sp>
        <p:nvSpPr>
          <p:cNvPr id="14" name="직사각형 13">
            <a:extLst>
              <a:ext uri="{FF2B5EF4-FFF2-40B4-BE49-F238E27FC236}">
                <a16:creationId xmlns:a16="http://schemas.microsoft.com/office/drawing/2014/main" id="{ECC41929-BB8B-4001-A5F7-D5D5BB5F241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CEC2F59E-C658-4620-9F98-2E6D8590E976}"/>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0DD7F43A-5C98-4506-AD08-C302D5999F7C}"/>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전체가 한 색인 영상</a:t>
            </a:r>
          </a:p>
        </p:txBody>
      </p:sp>
      <p:sp>
        <p:nvSpPr>
          <p:cNvPr id="17" name="직사각형 16">
            <a:extLst>
              <a:ext uri="{FF2B5EF4-FFF2-40B4-BE49-F238E27FC236}">
                <a16:creationId xmlns:a16="http://schemas.microsoft.com/office/drawing/2014/main" id="{D63BA242-35A8-4A6D-85C6-B8B7BC3B7CD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FF8F018B-ECDC-45DD-9BAE-FFD41BBAACEC}"/>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AC8BB74B-00EB-400D-99AE-E9EE60D501C5}"/>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리프가 1×1이 되는 큰 영상</a:t>
            </a:r>
          </a:p>
        </p:txBody>
      </p:sp>
      <p:sp>
        <p:nvSpPr>
          <p:cNvPr id="20" name="직사각형 19">
            <a:extLst>
              <a:ext uri="{FF2B5EF4-FFF2-40B4-BE49-F238E27FC236}">
                <a16:creationId xmlns:a16="http://schemas.microsoft.com/office/drawing/2014/main" id="{E01E1DD6-59AD-4E1F-A2B5-5BC97F7E2019}"/>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1DBDFCD5-B0BB-407F-AE24-62F87FC41A77}"/>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6A3AF65A-6183-4C38-93BB-212D9D3D388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2×2 블록이 혼합된 영상</a:t>
            </a:r>
          </a:p>
        </p:txBody>
      </p:sp>
    </p:spTree>
    <p:extLst>
      <p:ext uri="{BB962C8B-B14F-4D97-AF65-F5344CB8AC3E}">
        <p14:creationId xmlns:p14="http://schemas.microsoft.com/office/powerpoint/2010/main" val="46268551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9B0F5989-9ECA-45F6-B8EB-EE93AB0C715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BDD382DD-C453-4F9E-A2B0-596C24F94AE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6EA4D90-5747-4161-907E-401D170B6FB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25  정답과 해설</a:t>
            </a:r>
          </a:p>
        </p:txBody>
      </p:sp>
      <p:sp>
        <p:nvSpPr>
          <p:cNvPr id="4" name="직사각형 3">
            <a:extLst>
              <a:ext uri="{FF2B5EF4-FFF2-40B4-BE49-F238E27FC236}">
                <a16:creationId xmlns:a16="http://schemas.microsoft.com/office/drawing/2014/main" id="{0A5D8EBD-3745-479C-A1A0-9CF4A40E917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944EB3F-E013-425C-998A-CDF43BF39D4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DEA621E-124E-48F4-8283-B8074A17E4F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71878A9-97E2-4954-9AC3-93AEAB7781C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050</a:t>
            </a:r>
          </a:p>
        </p:txBody>
      </p:sp>
      <p:sp>
        <p:nvSpPr>
          <p:cNvPr id="8" name="text-178-64">
            <a:extLst>
              <a:ext uri="{FF2B5EF4-FFF2-40B4-BE49-F238E27FC236}">
                <a16:creationId xmlns:a16="http://schemas.microsoft.com/office/drawing/2014/main" id="{9100BD7D-4C2E-4FC0-A36C-95D92F44A364}"/>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흑백 쿼드트리 압축 효과가 가장 큰 예는?</a:t>
            </a:r>
          </a:p>
        </p:txBody>
      </p:sp>
      <p:sp>
        <p:nvSpPr>
          <p:cNvPr id="9" name="직사각형 8">
            <a:extLst>
              <a:ext uri="{FF2B5EF4-FFF2-40B4-BE49-F238E27FC236}">
                <a16:creationId xmlns:a16="http://schemas.microsoft.com/office/drawing/2014/main" id="{B59FA28B-1124-434C-97A5-4B0EA427B23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9CDF8BC-46AD-4279-AF7D-054EEFA3DB0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전체가 한 색인 영상</a:t>
            </a:r>
          </a:p>
        </p:txBody>
      </p:sp>
      <p:sp>
        <p:nvSpPr>
          <p:cNvPr id="11" name="text-324.4-64">
            <a:extLst>
              <a:ext uri="{FF2B5EF4-FFF2-40B4-BE49-F238E27FC236}">
                <a16:creationId xmlns:a16="http://schemas.microsoft.com/office/drawing/2014/main" id="{7F7C8A1D-CA19-4775-AB61-96EE99CA03F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A2B7EA1-BF03-43F6-BCA5-712ABA589EC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8992138-00DE-48B8-BA92-7DED95170DD0}"/>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전체 한 색이면 크기와 무관하게 색 기호 하나로 표현할 수 있다.</a:t>
            </a:r>
          </a:p>
        </p:txBody>
      </p:sp>
    </p:spTree>
    <p:extLst>
      <p:ext uri="{BB962C8B-B14F-4D97-AF65-F5344CB8AC3E}">
        <p14:creationId xmlns:p14="http://schemas.microsoft.com/office/powerpoint/2010/main" val="4626855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DE47112A-7B10-4853-B41D-7F77C685DFA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5C0AE6DC-07BA-402A-ABDD-A01BA09CBBD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D10973E-C78F-4AB0-B7AF-843803C3E41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a:t>
            </a:r>
          </a:p>
        </p:txBody>
      </p:sp>
      <p:sp>
        <p:nvSpPr>
          <p:cNvPr id="4" name="직사각형 3">
            <a:extLst>
              <a:ext uri="{FF2B5EF4-FFF2-40B4-BE49-F238E27FC236}">
                <a16:creationId xmlns:a16="http://schemas.microsoft.com/office/drawing/2014/main" id="{BF721D19-CBDE-4B1D-A784-998C15386E7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CE533A5-E00E-46A0-B42F-3CE0DEEF72C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4257D2D-FE9F-4983-99D1-804EF6541C8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D09A5DE-AB7F-4318-90CD-6E9EBA33BA8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051</a:t>
            </a:r>
          </a:p>
        </p:txBody>
      </p:sp>
      <p:sp>
        <p:nvSpPr>
          <p:cNvPr id="8" name="text-178-64">
            <a:extLst>
              <a:ext uri="{FF2B5EF4-FFF2-40B4-BE49-F238E27FC236}">
                <a16:creationId xmlns:a16="http://schemas.microsoft.com/office/drawing/2014/main" id="{BFF82593-0866-488C-BD11-ABE2777F248C}"/>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쿼드트리를 이용한 충돌 후보 탐색에서 주의할 점은?</a:t>
            </a:r>
          </a:p>
        </p:txBody>
      </p:sp>
      <p:sp>
        <p:nvSpPr>
          <p:cNvPr id="9" name="text-316-72">
            <a:extLst>
              <a:ext uri="{FF2B5EF4-FFF2-40B4-BE49-F238E27FC236}">
                <a16:creationId xmlns:a16="http://schemas.microsoft.com/office/drawing/2014/main" id="{01E8448D-0D23-4779-8B2B-65BF7F95D0DA}"/>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60C39A0F-BD0F-422E-8025-A98D4D249811}"/>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모든 객체는 점 하나와 완전히 같다</a:t>
            </a:r>
          </a:p>
        </p:txBody>
      </p:sp>
      <p:sp>
        <p:nvSpPr>
          <p:cNvPr id="11" name="직사각형 10">
            <a:extLst>
              <a:ext uri="{FF2B5EF4-FFF2-40B4-BE49-F238E27FC236}">
                <a16:creationId xmlns:a16="http://schemas.microsoft.com/office/drawing/2014/main" id="{2D36F784-DE2C-4BD5-A2EA-50F308936789}"/>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6C0CDEC5-C0C1-4510-A6E6-7A3BA6C17C3E}"/>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AC2A7F77-4861-42E2-A46B-F694563CEB23}"/>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경계를 걸친 객체와 이웃 영역을 누락하지 않는다</a:t>
            </a:r>
          </a:p>
        </p:txBody>
      </p:sp>
      <p:sp>
        <p:nvSpPr>
          <p:cNvPr id="14" name="직사각형 13">
            <a:extLst>
              <a:ext uri="{FF2B5EF4-FFF2-40B4-BE49-F238E27FC236}">
                <a16:creationId xmlns:a16="http://schemas.microsoft.com/office/drawing/2014/main" id="{BFCB9F84-8F2C-433C-9D65-DF93FC04A6B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97747D3D-0292-4D98-B187-A7770C87CD05}"/>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8D6FA278-41C0-4C0E-8687-5C6A6BBC74E5}"/>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후보만 같으면 정밀 검사는 필요 없다</a:t>
            </a:r>
          </a:p>
        </p:txBody>
      </p:sp>
      <p:sp>
        <p:nvSpPr>
          <p:cNvPr id="17" name="직사각형 16">
            <a:extLst>
              <a:ext uri="{FF2B5EF4-FFF2-40B4-BE49-F238E27FC236}">
                <a16:creationId xmlns:a16="http://schemas.microsoft.com/office/drawing/2014/main" id="{0B8961FE-40C8-4679-9F98-2D40B45BFB8A}"/>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D13AFA38-0C1E-4F1E-ADE2-97E442B265ED}"/>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D7575C34-AB0D-4F9D-BC5F-46B1332BCB83}"/>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객체 크기는 고려하지 않아도 된다</a:t>
            </a:r>
          </a:p>
        </p:txBody>
      </p:sp>
      <p:sp>
        <p:nvSpPr>
          <p:cNvPr id="20" name="직사각형 19">
            <a:extLst>
              <a:ext uri="{FF2B5EF4-FFF2-40B4-BE49-F238E27FC236}">
                <a16:creationId xmlns:a16="http://schemas.microsoft.com/office/drawing/2014/main" id="{C67F50F7-ECF6-4FE9-96F1-8FB2AC15D479}"/>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C9A843E5-CFA4-488F-B887-C8ABE34CEED4}"/>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7A3A616E-98D6-4186-B967-2C2CB67B6091}"/>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다른 리프 객체는 절대로 충돌하지 않는다</a:t>
            </a:r>
          </a:p>
        </p:txBody>
      </p:sp>
    </p:spTree>
    <p:extLst>
      <p:ext uri="{BB962C8B-B14F-4D97-AF65-F5344CB8AC3E}">
        <p14:creationId xmlns:p14="http://schemas.microsoft.com/office/powerpoint/2010/main" val="46268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455ACC8-3869-49B2-BA40-55F9523ACE9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8436E50-D493-4D66-96F5-6E6D13C89D9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4C895BD-E63D-4F2C-8E64-B51A5D46A0F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26  정답과 해설</a:t>
            </a:r>
          </a:p>
        </p:txBody>
      </p:sp>
      <p:sp>
        <p:nvSpPr>
          <p:cNvPr id="4" name="직사각형 3">
            <a:extLst>
              <a:ext uri="{FF2B5EF4-FFF2-40B4-BE49-F238E27FC236}">
                <a16:creationId xmlns:a16="http://schemas.microsoft.com/office/drawing/2014/main" id="{ECD45EAA-A32D-4018-A4FB-6B75D8C7D17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CD8218F-A6D5-4AA7-BBF0-072EC65BDCE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65C4252-5282-4BFA-B24B-0612B8E6ECD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1B16ED9-76C0-463A-B172-5A36347DED7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052</a:t>
            </a:r>
          </a:p>
        </p:txBody>
      </p:sp>
      <p:sp>
        <p:nvSpPr>
          <p:cNvPr id="8" name="text-178-64">
            <a:extLst>
              <a:ext uri="{FF2B5EF4-FFF2-40B4-BE49-F238E27FC236}">
                <a16:creationId xmlns:a16="http://schemas.microsoft.com/office/drawing/2014/main" id="{C6CE0BE7-7133-4270-845F-5BC910F8CB1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쿼드트리를 이용한 충돌 후보 탐색에서 주의할 점은?</a:t>
            </a:r>
          </a:p>
        </p:txBody>
      </p:sp>
      <p:sp>
        <p:nvSpPr>
          <p:cNvPr id="9" name="직사각형 8">
            <a:extLst>
              <a:ext uri="{FF2B5EF4-FFF2-40B4-BE49-F238E27FC236}">
                <a16:creationId xmlns:a16="http://schemas.microsoft.com/office/drawing/2014/main" id="{8DF2BB87-E332-4D2F-B616-79185007596D}"/>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6029D74-85EB-4084-AE4B-29CA399DEC5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경계를 걸친 객체와 이웃 영역을 누락하지 않는다</a:t>
            </a:r>
          </a:p>
        </p:txBody>
      </p:sp>
      <p:sp>
        <p:nvSpPr>
          <p:cNvPr id="11" name="text-324.4-64">
            <a:extLst>
              <a:ext uri="{FF2B5EF4-FFF2-40B4-BE49-F238E27FC236}">
                <a16:creationId xmlns:a16="http://schemas.microsoft.com/office/drawing/2014/main" id="{0DF73674-5253-434A-A60B-B7E5DE51F57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05007BC-AAF8-487E-9370-5D9F946B69C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B2B7A7B-8432-4D8B-8524-22CB17DC369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공간 분할은 후보를 줄이는 장치다. 실제 영역이 겹치는 객체는 경계 양쪽에도 있을 수 있다.</a:t>
            </a:r>
          </a:p>
        </p:txBody>
      </p:sp>
    </p:spTree>
    <p:extLst>
      <p:ext uri="{BB962C8B-B14F-4D97-AF65-F5344CB8AC3E}">
        <p14:creationId xmlns:p14="http://schemas.microsoft.com/office/powerpoint/2010/main" val="46268551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2BE6B324-3FA9-4C01-843F-8F283FADD0B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90A554A-CC2A-4FD5-90ED-C97C130FAC6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43A4E1F-F5E4-4CFF-929F-C1047CBC0D5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a:t>
            </a:r>
          </a:p>
        </p:txBody>
      </p:sp>
      <p:sp>
        <p:nvSpPr>
          <p:cNvPr id="4" name="직사각형 3">
            <a:extLst>
              <a:ext uri="{FF2B5EF4-FFF2-40B4-BE49-F238E27FC236}">
                <a16:creationId xmlns:a16="http://schemas.microsoft.com/office/drawing/2014/main" id="{969BEEFE-6F1C-40D9-92DF-5FDF5E53FDA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A55E4DF-0207-4F3F-A7BB-0539FCD2F36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FFDDBD5-BD5F-4B7F-9193-9BCFCF2EB04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2D05C7E-55F7-493D-A919-55B8A35EFB1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053</a:t>
            </a:r>
          </a:p>
        </p:txBody>
      </p:sp>
      <p:sp>
        <p:nvSpPr>
          <p:cNvPr id="8" name="text-178-64">
            <a:extLst>
              <a:ext uri="{FF2B5EF4-FFF2-40B4-BE49-F238E27FC236}">
                <a16:creationId xmlns:a16="http://schemas.microsoft.com/office/drawing/2014/main" id="{A0EA0DC6-A73C-4E86-8C93-90F84DB6596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마스터 정리 T(n)=aT(n/b)+f(n)에서 a의 의미는?</a:t>
            </a:r>
          </a:p>
        </p:txBody>
      </p:sp>
      <p:sp>
        <p:nvSpPr>
          <p:cNvPr id="9" name="text-316-72">
            <a:extLst>
              <a:ext uri="{FF2B5EF4-FFF2-40B4-BE49-F238E27FC236}">
                <a16:creationId xmlns:a16="http://schemas.microsoft.com/office/drawing/2014/main" id="{A1935E54-D011-4FC8-8766-54B36BA3D2C8}"/>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A77E0877-BFBD-4E8C-94ED-8FB57DA1BAE9}"/>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부분 문제의 개수</a:t>
            </a:r>
          </a:p>
        </p:txBody>
      </p:sp>
      <p:sp>
        <p:nvSpPr>
          <p:cNvPr id="11" name="직사각형 10">
            <a:extLst>
              <a:ext uri="{FF2B5EF4-FFF2-40B4-BE49-F238E27FC236}">
                <a16:creationId xmlns:a16="http://schemas.microsoft.com/office/drawing/2014/main" id="{9DBFC2A7-2947-4A63-ACD7-A852C57570C7}"/>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1C4DF6A0-18E0-4DB0-895A-65F4D806919D}"/>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87C9466D-7B55-4BB3-AEF5-40911E1C2206}"/>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부분 문제 크기를 나누는 비율</a:t>
            </a:r>
          </a:p>
        </p:txBody>
      </p:sp>
      <p:sp>
        <p:nvSpPr>
          <p:cNvPr id="14" name="직사각형 13">
            <a:extLst>
              <a:ext uri="{FF2B5EF4-FFF2-40B4-BE49-F238E27FC236}">
                <a16:creationId xmlns:a16="http://schemas.microsoft.com/office/drawing/2014/main" id="{0652857A-A225-4CA6-B078-2D2269C2957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8268002D-F4DF-4004-B8B7-403248385812}"/>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415FA58A-DDE6-465D-83D5-8B23595EEBD3}"/>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각 기저 사례에 남는 입력 크기</a:t>
            </a:r>
          </a:p>
        </p:txBody>
      </p:sp>
      <p:sp>
        <p:nvSpPr>
          <p:cNvPr id="17" name="직사각형 16">
            <a:extLst>
              <a:ext uri="{FF2B5EF4-FFF2-40B4-BE49-F238E27FC236}">
                <a16:creationId xmlns:a16="http://schemas.microsoft.com/office/drawing/2014/main" id="{28631F14-49A6-4625-AC02-97FFACC462AE}"/>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8E74B56B-4585-4313-A3D6-9D01FA4AE963}"/>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B9695331-13E8-4563-986F-F1982A9F7D45}"/>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트리의 전체 깊이</a:t>
            </a:r>
          </a:p>
        </p:txBody>
      </p:sp>
      <p:sp>
        <p:nvSpPr>
          <p:cNvPr id="20" name="직사각형 19">
            <a:extLst>
              <a:ext uri="{FF2B5EF4-FFF2-40B4-BE49-F238E27FC236}">
                <a16:creationId xmlns:a16="http://schemas.microsoft.com/office/drawing/2014/main" id="{363A6AFE-0FE3-4D8C-8814-21F5511812E8}"/>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E062898-6DBA-48FC-AE23-BA91FB2B8DB9}"/>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AFE4B53C-01B2-47A9-89FD-1A95C3C6D8DA}"/>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호출 외 결합 비용의 지수</a:t>
            </a:r>
          </a:p>
        </p:txBody>
      </p:sp>
    </p:spTree>
    <p:extLst>
      <p:ext uri="{BB962C8B-B14F-4D97-AF65-F5344CB8AC3E}">
        <p14:creationId xmlns:p14="http://schemas.microsoft.com/office/powerpoint/2010/main" val="4626855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CC78776-1AC1-4673-BF37-BBD6D6F1DBC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F807148-A63D-40B4-A180-AF0A7D826F2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6B9813D-FBC9-42D5-9F29-9A795D6400D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27  정답과 해설</a:t>
            </a:r>
          </a:p>
        </p:txBody>
      </p:sp>
      <p:sp>
        <p:nvSpPr>
          <p:cNvPr id="4" name="직사각형 3">
            <a:extLst>
              <a:ext uri="{FF2B5EF4-FFF2-40B4-BE49-F238E27FC236}">
                <a16:creationId xmlns:a16="http://schemas.microsoft.com/office/drawing/2014/main" id="{19FA1505-2622-408B-BC35-76C5857D093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5B616AA-95BA-44C0-B4A9-23DED9A0BAC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A714477-924A-480C-943B-7AB26B71F21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B7B8D04-F8E5-4E2F-8062-4E9028DA494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054</a:t>
            </a:r>
          </a:p>
        </p:txBody>
      </p:sp>
      <p:sp>
        <p:nvSpPr>
          <p:cNvPr id="8" name="text-178-64">
            <a:extLst>
              <a:ext uri="{FF2B5EF4-FFF2-40B4-BE49-F238E27FC236}">
                <a16:creationId xmlns:a16="http://schemas.microsoft.com/office/drawing/2014/main" id="{1C1418A4-B661-4381-BA4D-4587E4D05932}"/>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마스터 정리 T(n)=aT(n/b)+f(n)에서 a의 의미는?</a:t>
            </a:r>
          </a:p>
        </p:txBody>
      </p:sp>
      <p:sp>
        <p:nvSpPr>
          <p:cNvPr id="9" name="직사각형 8">
            <a:extLst>
              <a:ext uri="{FF2B5EF4-FFF2-40B4-BE49-F238E27FC236}">
                <a16:creationId xmlns:a16="http://schemas.microsoft.com/office/drawing/2014/main" id="{04BD9A21-47EB-47B9-B053-81B2A6B96C0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C83AAC4-F7A5-42E3-B2B9-BFEF1E399B0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재귀 부분 문제의 개수</a:t>
            </a:r>
          </a:p>
        </p:txBody>
      </p:sp>
      <p:sp>
        <p:nvSpPr>
          <p:cNvPr id="11" name="text-324.4-64">
            <a:extLst>
              <a:ext uri="{FF2B5EF4-FFF2-40B4-BE49-F238E27FC236}">
                <a16:creationId xmlns:a16="http://schemas.microsoft.com/office/drawing/2014/main" id="{8F59C649-199B-4AF1-B3FE-4F92C9327A5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DF52340-2229-40AD-B9E7-7AD91D4FB9D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30131CB-FCA8-41F8-B9F1-AA670192EA7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b는 크기 축소 비율, f(n)은 재귀 호출 외 작업 비용이다.</a:t>
            </a:r>
          </a:p>
        </p:txBody>
      </p:sp>
    </p:spTree>
    <p:extLst>
      <p:ext uri="{BB962C8B-B14F-4D97-AF65-F5344CB8AC3E}">
        <p14:creationId xmlns:p14="http://schemas.microsoft.com/office/powerpoint/2010/main" val="46268551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253246B6-2FB1-49B8-AB7C-EC3F30EB741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F221FF2-8E83-45D1-AB25-CE519B513F9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D68010E-FFA6-428F-89EE-6E2B1EF48C0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a:t>
            </a:r>
          </a:p>
        </p:txBody>
      </p:sp>
      <p:sp>
        <p:nvSpPr>
          <p:cNvPr id="4" name="직사각형 3">
            <a:extLst>
              <a:ext uri="{FF2B5EF4-FFF2-40B4-BE49-F238E27FC236}">
                <a16:creationId xmlns:a16="http://schemas.microsoft.com/office/drawing/2014/main" id="{D6B4E128-4872-4B71-91FF-7825CF20F6E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1C342E8-2CBA-496D-B4FA-EE046E025CA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364037C-E578-4B4B-A801-6A96337EA7F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DD04B87-19A1-47E6-90FD-FBB69909EA8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055</a:t>
            </a:r>
          </a:p>
        </p:txBody>
      </p:sp>
      <p:sp>
        <p:nvSpPr>
          <p:cNvPr id="8" name="text-178-64">
            <a:extLst>
              <a:ext uri="{FF2B5EF4-FFF2-40B4-BE49-F238E27FC236}">
                <a16:creationId xmlns:a16="http://schemas.microsoft.com/office/drawing/2014/main" id="{909AC76D-843F-46F1-A496-82884452E7BC}"/>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T(n)=4T(n/2)+Θ(n), T(1)=Θ(1)의 차수는?</a:t>
            </a:r>
          </a:p>
        </p:txBody>
      </p:sp>
      <p:sp>
        <p:nvSpPr>
          <p:cNvPr id="9" name="text-316-72">
            <a:extLst>
              <a:ext uri="{FF2B5EF4-FFF2-40B4-BE49-F238E27FC236}">
                <a16:creationId xmlns:a16="http://schemas.microsoft.com/office/drawing/2014/main" id="{87D40C61-0F1F-4A21-8F22-EBE9B839280C}"/>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29B941CB-1D89-4E7E-8B6B-CE23B33E7CB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직사각형 10">
            <a:extLst>
              <a:ext uri="{FF2B5EF4-FFF2-40B4-BE49-F238E27FC236}">
                <a16:creationId xmlns:a16="http://schemas.microsoft.com/office/drawing/2014/main" id="{4D01B8C9-43F1-4E5B-B50B-99957E781637}"/>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66ABC403-C586-4060-9EB6-739477130423}"/>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A5BDFA09-9C58-4B32-A288-99F0DDFAFDC6}"/>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4" name="직사각형 13">
            <a:extLst>
              <a:ext uri="{FF2B5EF4-FFF2-40B4-BE49-F238E27FC236}">
                <a16:creationId xmlns:a16="http://schemas.microsoft.com/office/drawing/2014/main" id="{DB9BD7D9-3A08-4CD7-B438-2479BF9D839D}"/>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19C38AE5-A373-4BE2-9166-2440E10CCD9F}"/>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8C845B0-B2AB-410E-9476-CB30B32383B5}"/>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직사각형 16">
            <a:extLst>
              <a:ext uri="{FF2B5EF4-FFF2-40B4-BE49-F238E27FC236}">
                <a16:creationId xmlns:a16="http://schemas.microsoft.com/office/drawing/2014/main" id="{5A615418-C3C5-4A34-9681-36C7C8E901E5}"/>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9725E1D5-B275-468D-A1F5-641C376275F4}"/>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6125F645-697F-46F0-BD45-EF390391D2EF}"/>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 log n)</a:t>
            </a:r>
          </a:p>
        </p:txBody>
      </p:sp>
      <p:sp>
        <p:nvSpPr>
          <p:cNvPr id="20" name="직사각형 19">
            <a:extLst>
              <a:ext uri="{FF2B5EF4-FFF2-40B4-BE49-F238E27FC236}">
                <a16:creationId xmlns:a16="http://schemas.microsoft.com/office/drawing/2014/main" id="{EFB965F8-1B69-4E5F-AAF4-83310DBD59F4}"/>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3B56C9E4-7321-403B-A157-C110ADA9B19A}"/>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800523E0-21E2-4024-857A-E4CB3001B508}"/>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Tree>
    <p:extLst>
      <p:ext uri="{BB962C8B-B14F-4D97-AF65-F5344CB8AC3E}">
        <p14:creationId xmlns:p14="http://schemas.microsoft.com/office/powerpoint/2010/main" val="4626855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C3C40D99-10EF-44F3-BC83-B663151D44E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DB1BA145-8179-4795-BED1-7D24BA77975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4786AF0-A7AA-45FB-8EA0-DA60087A631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28  정답과 해설</a:t>
            </a:r>
          </a:p>
        </p:txBody>
      </p:sp>
      <p:sp>
        <p:nvSpPr>
          <p:cNvPr id="4" name="직사각형 3">
            <a:extLst>
              <a:ext uri="{FF2B5EF4-FFF2-40B4-BE49-F238E27FC236}">
                <a16:creationId xmlns:a16="http://schemas.microsoft.com/office/drawing/2014/main" id="{586741AD-F028-47FA-9AD2-B15E94720DE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80EB6D9-E2B4-40FA-810F-DCE6663C2D8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DA38FAD-3CC5-4C8D-B473-F1510CCC61D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D2708D5-CAC6-4040-98D9-F4B757E5726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056</a:t>
            </a:r>
          </a:p>
        </p:txBody>
      </p:sp>
      <p:sp>
        <p:nvSpPr>
          <p:cNvPr id="8" name="text-178-64">
            <a:extLst>
              <a:ext uri="{FF2B5EF4-FFF2-40B4-BE49-F238E27FC236}">
                <a16:creationId xmlns:a16="http://schemas.microsoft.com/office/drawing/2014/main" id="{376D8CDC-89FD-4DDC-90B0-309AA0CD4D7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T(n)=4T(n/2)+Θ(n), T(1)=Θ(1)의 차수는?</a:t>
            </a:r>
          </a:p>
        </p:txBody>
      </p:sp>
      <p:sp>
        <p:nvSpPr>
          <p:cNvPr id="9" name="직사각형 8">
            <a:extLst>
              <a:ext uri="{FF2B5EF4-FFF2-40B4-BE49-F238E27FC236}">
                <a16:creationId xmlns:a16="http://schemas.microsoft.com/office/drawing/2014/main" id="{EEC83364-61A4-4C4C-BCF7-46B6AE14B9E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1BB8E1B-C63C-4CC3-A273-03BFBB85C8E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Θ(n²)</a:t>
            </a:r>
          </a:p>
        </p:txBody>
      </p:sp>
      <p:sp>
        <p:nvSpPr>
          <p:cNvPr id="11" name="text-324.4-64">
            <a:extLst>
              <a:ext uri="{FF2B5EF4-FFF2-40B4-BE49-F238E27FC236}">
                <a16:creationId xmlns:a16="http://schemas.microsoft.com/office/drawing/2014/main" id="{AB30C148-60AD-45C2-BE26-6A933D4860E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6328CB4-DB5E-4A12-983D-9D0014CB909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769540D-0622-496C-9114-4C22F6BEA38E}"/>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기준 지수 log₂4=2이고 결합 비용은 그보다 다항식 차이로 작다.</a:t>
            </a:r>
          </a:p>
        </p:txBody>
      </p:sp>
    </p:spTree>
    <p:extLst>
      <p:ext uri="{BB962C8B-B14F-4D97-AF65-F5344CB8AC3E}">
        <p14:creationId xmlns:p14="http://schemas.microsoft.com/office/powerpoint/2010/main" val="46268551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0B1EC3C5-1C91-45E4-8E92-A98264F57CA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71F376F1-9C4F-47F2-A58B-8F253E11CCC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D487DC8-8EB0-4E87-85A5-ECC13F652F2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a:t>
            </a:r>
          </a:p>
        </p:txBody>
      </p:sp>
      <p:sp>
        <p:nvSpPr>
          <p:cNvPr id="4" name="직사각형 3">
            <a:extLst>
              <a:ext uri="{FF2B5EF4-FFF2-40B4-BE49-F238E27FC236}">
                <a16:creationId xmlns:a16="http://schemas.microsoft.com/office/drawing/2014/main" id="{AF79BB22-4114-4C3E-8EA8-38CF563BCE0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93890CE-CC8F-417C-A4CF-1D5ABA2CE89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11F041F-425A-4256-B932-8D2137FABEC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F4AE406-5D69-45AF-B947-A406BBE8546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057</a:t>
            </a:r>
          </a:p>
        </p:txBody>
      </p:sp>
      <p:sp>
        <p:nvSpPr>
          <p:cNvPr id="8" name="text-178-64">
            <a:extLst>
              <a:ext uri="{FF2B5EF4-FFF2-40B4-BE49-F238E27FC236}">
                <a16:creationId xmlns:a16="http://schemas.microsoft.com/office/drawing/2014/main" id="{ED630635-03C4-430C-9AC9-0DA241E331CF}"/>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T(n)=2T(n/2)+Θ(n²)의 차수는?</a:t>
            </a:r>
          </a:p>
        </p:txBody>
      </p:sp>
      <p:sp>
        <p:nvSpPr>
          <p:cNvPr id="9" name="text-316-72">
            <a:extLst>
              <a:ext uri="{FF2B5EF4-FFF2-40B4-BE49-F238E27FC236}">
                <a16:creationId xmlns:a16="http://schemas.microsoft.com/office/drawing/2014/main" id="{CDA46B35-24AD-41B3-9F62-464419475AC2}"/>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D550EC9-CF9A-404D-969B-3B14135AF017}"/>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직사각형 10">
            <a:extLst>
              <a:ext uri="{FF2B5EF4-FFF2-40B4-BE49-F238E27FC236}">
                <a16:creationId xmlns:a16="http://schemas.microsoft.com/office/drawing/2014/main" id="{BE8A6A0C-4640-4E39-9290-6147CCAFD275}"/>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7E53B856-8A01-4CAB-8A73-E45362EE41C6}"/>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6D67ED8B-CC95-42A3-A3F9-73A3B2FF8BBA}"/>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4" name="직사각형 13">
            <a:extLst>
              <a:ext uri="{FF2B5EF4-FFF2-40B4-BE49-F238E27FC236}">
                <a16:creationId xmlns:a16="http://schemas.microsoft.com/office/drawing/2014/main" id="{5C88D450-6F3C-4238-8C3F-9389937A565C}"/>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B778E0C5-472F-47A3-BADB-C8023849FAB3}"/>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1751B3BE-6F88-49BC-BE6A-91D396BE13E8}"/>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7" name="직사각형 16">
            <a:extLst>
              <a:ext uri="{FF2B5EF4-FFF2-40B4-BE49-F238E27FC236}">
                <a16:creationId xmlns:a16="http://schemas.microsoft.com/office/drawing/2014/main" id="{344497BC-04D8-473A-8C85-442AA33700DC}"/>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1A4F8BBB-AE82-4C99-84ED-06248B375F70}"/>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7AF0E70-0C53-40B5-A33D-A5B6FC661E1B}"/>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20" name="직사각형 19">
            <a:extLst>
              <a:ext uri="{FF2B5EF4-FFF2-40B4-BE49-F238E27FC236}">
                <a16:creationId xmlns:a16="http://schemas.microsoft.com/office/drawing/2014/main" id="{A642455A-EA13-4756-ADCC-1137A3A64B06}"/>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D92C74BF-CCC0-4FAF-BDFC-4928EAAB0067}"/>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0B53873E-9E44-4B4D-9212-3E745F6F4B8A}"/>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Θ(n³)</a:t>
            </a:r>
          </a:p>
        </p:txBody>
      </p:sp>
    </p:spTree>
    <p:extLst>
      <p:ext uri="{BB962C8B-B14F-4D97-AF65-F5344CB8AC3E}">
        <p14:creationId xmlns:p14="http://schemas.microsoft.com/office/powerpoint/2010/main" val="46268551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54DBB3B-3111-4C89-BBF3-35D0AFD45E7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0C710455-BD53-4D09-A234-AB6356CC3CD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D66690C-651A-404B-8476-6DC18E556A6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29  정답과 해설</a:t>
            </a:r>
          </a:p>
        </p:txBody>
      </p:sp>
      <p:sp>
        <p:nvSpPr>
          <p:cNvPr id="4" name="직사각형 3">
            <a:extLst>
              <a:ext uri="{FF2B5EF4-FFF2-40B4-BE49-F238E27FC236}">
                <a16:creationId xmlns:a16="http://schemas.microsoft.com/office/drawing/2014/main" id="{086AF749-209D-490A-BF50-8E038B790FD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44CACE6-9150-4311-ACF8-48DFACFDD66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64D8287-1529-4FA1-9A4E-986D872607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835A306-BE0C-40E3-A5FC-282925AB283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058</a:t>
            </a:r>
          </a:p>
        </p:txBody>
      </p:sp>
      <p:sp>
        <p:nvSpPr>
          <p:cNvPr id="8" name="text-178-64">
            <a:extLst>
              <a:ext uri="{FF2B5EF4-FFF2-40B4-BE49-F238E27FC236}">
                <a16:creationId xmlns:a16="http://schemas.microsoft.com/office/drawing/2014/main" id="{981CD18D-5DD8-41A9-80F0-B81CBC54CDA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T(n)=2T(n/2)+Θ(n²)의 차수는?</a:t>
            </a:r>
          </a:p>
        </p:txBody>
      </p:sp>
      <p:sp>
        <p:nvSpPr>
          <p:cNvPr id="9" name="직사각형 8">
            <a:extLst>
              <a:ext uri="{FF2B5EF4-FFF2-40B4-BE49-F238E27FC236}">
                <a16:creationId xmlns:a16="http://schemas.microsoft.com/office/drawing/2014/main" id="{07655B8B-0333-4E92-9EFF-2355A7A8783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6BB17E7-C146-4179-938F-AAAD76E7426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Θ(n²)</a:t>
            </a:r>
          </a:p>
        </p:txBody>
      </p:sp>
      <p:sp>
        <p:nvSpPr>
          <p:cNvPr id="11" name="text-324.4-64">
            <a:extLst>
              <a:ext uri="{FF2B5EF4-FFF2-40B4-BE49-F238E27FC236}">
                <a16:creationId xmlns:a16="http://schemas.microsoft.com/office/drawing/2014/main" id="{21D1E4E4-1D9E-4EB7-906B-E8BF1B1B87CB}"/>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476CB6F-4198-4C60-9C2F-4261771F25E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873EE7F-6761-474E-A763-36F592F73B3B}"/>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아래 층의 전체 비용이 절반으로 줄어 최상위 층이 지배한다.</a:t>
            </a:r>
          </a:p>
        </p:txBody>
      </p:sp>
    </p:spTree>
    <p:extLst>
      <p:ext uri="{BB962C8B-B14F-4D97-AF65-F5344CB8AC3E}">
        <p14:creationId xmlns:p14="http://schemas.microsoft.com/office/powerpoint/2010/main" val="46268551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AF39FA7F-5960-456F-940B-F598F18D9FB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F421A67-84D7-4229-8835-456D7A1F772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8468D44-71CE-4C52-8602-AA97967F15D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a:t>
            </a:r>
          </a:p>
        </p:txBody>
      </p:sp>
      <p:sp>
        <p:nvSpPr>
          <p:cNvPr id="4" name="직사각형 3">
            <a:extLst>
              <a:ext uri="{FF2B5EF4-FFF2-40B4-BE49-F238E27FC236}">
                <a16:creationId xmlns:a16="http://schemas.microsoft.com/office/drawing/2014/main" id="{C3CDC2A6-038F-49F3-BEC1-943D5A27FD2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BF7471E-D157-4543-BF87-81077243F3C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FC94487-1A7B-4F37-9435-EDC72EF1C98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527F22C-E04E-4071-9DCC-1BF6554CA0F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059</a:t>
            </a:r>
          </a:p>
        </p:txBody>
      </p:sp>
      <p:sp>
        <p:nvSpPr>
          <p:cNvPr id="8" name="text-178-64">
            <a:extLst>
              <a:ext uri="{FF2B5EF4-FFF2-40B4-BE49-F238E27FC236}">
                <a16:creationId xmlns:a16="http://schemas.microsoft.com/office/drawing/2014/main" id="{9EC65FD4-D49B-4151-9154-1BBD8EB5F64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T(n)=3T(n/2)+Θ(n)의 차수는?</a:t>
            </a:r>
          </a:p>
        </p:txBody>
      </p:sp>
      <p:sp>
        <p:nvSpPr>
          <p:cNvPr id="9" name="text-316-72">
            <a:extLst>
              <a:ext uri="{FF2B5EF4-FFF2-40B4-BE49-F238E27FC236}">
                <a16:creationId xmlns:a16="http://schemas.microsoft.com/office/drawing/2014/main" id="{4D18B72B-DF5D-4BCA-ADC0-DBF72F1E869C}"/>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2CA36D2D-ED02-4E56-99C5-A2E68999AA14}"/>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Θ(n^(log₂3))</a:t>
            </a:r>
          </a:p>
        </p:txBody>
      </p:sp>
      <p:sp>
        <p:nvSpPr>
          <p:cNvPr id="11" name="직사각형 10">
            <a:extLst>
              <a:ext uri="{FF2B5EF4-FFF2-40B4-BE49-F238E27FC236}">
                <a16:creationId xmlns:a16="http://schemas.microsoft.com/office/drawing/2014/main" id="{8F34DAA3-5C98-4AB8-BDC9-40F82DC661F7}"/>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864698A6-D0AF-46D6-960D-D50E12A963AC}"/>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02BD0E0A-BD37-41B8-8442-9C1123AD3018}"/>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4" name="직사각형 13">
            <a:extLst>
              <a:ext uri="{FF2B5EF4-FFF2-40B4-BE49-F238E27FC236}">
                <a16:creationId xmlns:a16="http://schemas.microsoft.com/office/drawing/2014/main" id="{E5F61E0D-544C-4153-9DA4-112CD8406556}"/>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338F822F-9BE6-4305-8B95-34CCDEB2D43A}"/>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9DABF26-24A0-412D-BA82-F3A6202C9A7D}"/>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Θ(n³)</a:t>
            </a:r>
          </a:p>
        </p:txBody>
      </p:sp>
      <p:sp>
        <p:nvSpPr>
          <p:cNvPr id="17" name="직사각형 16">
            <a:extLst>
              <a:ext uri="{FF2B5EF4-FFF2-40B4-BE49-F238E27FC236}">
                <a16:creationId xmlns:a16="http://schemas.microsoft.com/office/drawing/2014/main" id="{ECCBA5E6-7083-4064-9CDD-033B56AF2CB8}"/>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157E9961-27CA-4A0A-907A-B591700A32C0}"/>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CE8749CB-C4CD-419B-8E6D-DA6F79889DE9}"/>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20" name="직사각형 19">
            <a:extLst>
              <a:ext uri="{FF2B5EF4-FFF2-40B4-BE49-F238E27FC236}">
                <a16:creationId xmlns:a16="http://schemas.microsoft.com/office/drawing/2014/main" id="{F20364BA-EA3B-4CE9-8155-9B6E7CE48B2F}"/>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46F457A2-C0B9-459D-A691-65220ABADF38}"/>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4268663B-0C9A-44E4-977F-A1AE947C02C1}"/>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Tree>
    <p:extLst>
      <p:ext uri="{BB962C8B-B14F-4D97-AF65-F5344CB8AC3E}">
        <p14:creationId xmlns:p14="http://schemas.microsoft.com/office/powerpoint/2010/main" val="46268551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28494BE-1FFE-4789-8D35-EDFF34FF7F0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B659D75E-6ABC-4FE0-A782-68655489014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DB7E2D1-8525-4975-BCB1-8032D570736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30  정답과 해설</a:t>
            </a:r>
          </a:p>
        </p:txBody>
      </p:sp>
      <p:sp>
        <p:nvSpPr>
          <p:cNvPr id="4" name="직사각형 3">
            <a:extLst>
              <a:ext uri="{FF2B5EF4-FFF2-40B4-BE49-F238E27FC236}">
                <a16:creationId xmlns:a16="http://schemas.microsoft.com/office/drawing/2014/main" id="{BA8D7D1F-0AD8-43B0-81F4-EE646A0AF72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318817D-CB46-4690-B17A-6F8A7143239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4749EC3-A5AD-4B5A-BFF0-BB158BF3B22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342AC75-EF15-434B-942F-72541A3D715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060</a:t>
            </a:r>
          </a:p>
        </p:txBody>
      </p:sp>
      <p:sp>
        <p:nvSpPr>
          <p:cNvPr id="8" name="text-178-64">
            <a:extLst>
              <a:ext uri="{FF2B5EF4-FFF2-40B4-BE49-F238E27FC236}">
                <a16:creationId xmlns:a16="http://schemas.microsoft.com/office/drawing/2014/main" id="{D4CDEF0B-6B34-4B32-B101-6C4C48CE98C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T(n)=3T(n/2)+Θ(n)의 차수는?</a:t>
            </a:r>
          </a:p>
        </p:txBody>
      </p:sp>
      <p:sp>
        <p:nvSpPr>
          <p:cNvPr id="9" name="직사각형 8">
            <a:extLst>
              <a:ext uri="{FF2B5EF4-FFF2-40B4-BE49-F238E27FC236}">
                <a16:creationId xmlns:a16="http://schemas.microsoft.com/office/drawing/2014/main" id="{997062CB-FE1B-4493-9F82-F52B71EC020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9D018C3-BE70-4A1E-91B5-16E54F42C54C}"/>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Θ(n^(log₂3))</a:t>
            </a:r>
          </a:p>
        </p:txBody>
      </p:sp>
      <p:sp>
        <p:nvSpPr>
          <p:cNvPr id="11" name="text-324.4-64">
            <a:extLst>
              <a:ext uri="{FF2B5EF4-FFF2-40B4-BE49-F238E27FC236}">
                <a16:creationId xmlns:a16="http://schemas.microsoft.com/office/drawing/2014/main" id="{D932CBE6-9B31-4474-8536-994DA08D0AE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923BEEB-5AD8-46ED-AD59-55270FA0367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6FB75B5-5FA5-4569-AA54-31D77F38E8B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기준 지수 log₂3≈1.585가 결합 비용의 지수 1보다 크다.</a:t>
            </a:r>
          </a:p>
        </p:txBody>
      </p:sp>
    </p:spTree>
    <p:extLst>
      <p:ext uri="{BB962C8B-B14F-4D97-AF65-F5344CB8AC3E}">
        <p14:creationId xmlns:p14="http://schemas.microsoft.com/office/powerpoint/2010/main" val="46268551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597DC77A-573B-42CF-AD9C-8807D4C92B2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869C575D-A925-4E72-BE6B-B577A59E85E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728B65C-F9D6-4A55-93BD-7488F17C078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a:t>
            </a:r>
          </a:p>
        </p:txBody>
      </p:sp>
      <p:sp>
        <p:nvSpPr>
          <p:cNvPr id="4" name="직사각형 3">
            <a:extLst>
              <a:ext uri="{FF2B5EF4-FFF2-40B4-BE49-F238E27FC236}">
                <a16:creationId xmlns:a16="http://schemas.microsoft.com/office/drawing/2014/main" id="{D6DA4B3F-DD26-4719-AAFC-EA7D268B0D5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3383414-A608-4DEC-8767-38AD1FC6BEE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7FA9772-732E-408D-859E-38C2C1DCCF1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226F3EB-0CF9-42D7-93A0-451615BE2A3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061</a:t>
            </a:r>
          </a:p>
        </p:txBody>
      </p:sp>
      <p:sp>
        <p:nvSpPr>
          <p:cNvPr id="8" name="text-178-64">
            <a:extLst>
              <a:ext uri="{FF2B5EF4-FFF2-40B4-BE49-F238E27FC236}">
                <a16:creationId xmlns:a16="http://schemas.microsoft.com/office/drawing/2014/main" id="{31803CE8-8B8A-46B1-AECB-9DE3599D5B05}"/>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T(n)=T(n−1)+n에 기본 마스터 정리를 바로 적용할 수 없는 이유는?</a:t>
            </a:r>
          </a:p>
        </p:txBody>
      </p:sp>
      <p:sp>
        <p:nvSpPr>
          <p:cNvPr id="9" name="text-316-72">
            <a:extLst>
              <a:ext uri="{FF2B5EF4-FFF2-40B4-BE49-F238E27FC236}">
                <a16:creationId xmlns:a16="http://schemas.microsoft.com/office/drawing/2014/main" id="{1E8944E0-FFB5-4AE8-91BE-3F6618E7633B}"/>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0238C205-EF02-4FD5-849B-70FAA5686650}"/>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부분 문제 크기가 n/b 꼴의 고정 비율이 아니다</a:t>
            </a:r>
          </a:p>
        </p:txBody>
      </p:sp>
      <p:sp>
        <p:nvSpPr>
          <p:cNvPr id="11" name="직사각형 10">
            <a:extLst>
              <a:ext uri="{FF2B5EF4-FFF2-40B4-BE49-F238E27FC236}">
                <a16:creationId xmlns:a16="http://schemas.microsoft.com/office/drawing/2014/main" id="{FD8B7936-430D-4D95-9841-0B8A5534D6E8}"/>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B64351CD-711F-4CD8-AADD-3E4B70196BCB}"/>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F7CDC304-23F7-4B5E-8EB1-5C4B8A2AD62D}"/>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호출 개수가 반드시 2 이상이어야 하기 때문이다</a:t>
            </a:r>
          </a:p>
        </p:txBody>
      </p:sp>
      <p:sp>
        <p:nvSpPr>
          <p:cNvPr id="14" name="직사각형 13">
            <a:extLst>
              <a:ext uri="{FF2B5EF4-FFF2-40B4-BE49-F238E27FC236}">
                <a16:creationId xmlns:a16="http://schemas.microsoft.com/office/drawing/2014/main" id="{423BE258-98B8-4BF2-96C6-8C5FB1824504}"/>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72F141E-960E-41ED-A1A7-AD13843DA5C0}"/>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FA32D81E-5D10-4328-98FA-BB70B81F2595}"/>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a와 b가 같은 값이어야 하기 때문이다</a:t>
            </a:r>
          </a:p>
        </p:txBody>
      </p:sp>
      <p:sp>
        <p:nvSpPr>
          <p:cNvPr id="17" name="직사각형 16">
            <a:extLst>
              <a:ext uri="{FF2B5EF4-FFF2-40B4-BE49-F238E27FC236}">
                <a16:creationId xmlns:a16="http://schemas.microsoft.com/office/drawing/2014/main" id="{BB92B3FC-882E-4824-B4F7-9EE3133374D0}"/>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EB3797B6-A69B-46C6-8931-8397A9A6601B}"/>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985D447B-DAD4-47C7-9D16-88A8D77FE66F}"/>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T(1)이 상수이면 정리를 쓸 수 없기 때문이다</a:t>
            </a:r>
          </a:p>
        </p:txBody>
      </p:sp>
      <p:sp>
        <p:nvSpPr>
          <p:cNvPr id="20" name="직사각형 19">
            <a:extLst>
              <a:ext uri="{FF2B5EF4-FFF2-40B4-BE49-F238E27FC236}">
                <a16:creationId xmlns:a16="http://schemas.microsoft.com/office/drawing/2014/main" id="{9F4E0E6D-AA7F-446F-A179-329B7FBB0FFF}"/>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0DA2600-4B02-455B-9007-7265BA860633}"/>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39A8B863-46DF-409B-9C41-4F4AB828A66E}"/>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결합 비용이 선형이면 정리를 쓸 수 없기 때문이다</a:t>
            </a:r>
          </a:p>
        </p:txBody>
      </p:sp>
    </p:spTree>
    <p:extLst>
      <p:ext uri="{BB962C8B-B14F-4D97-AF65-F5344CB8AC3E}">
        <p14:creationId xmlns:p14="http://schemas.microsoft.com/office/powerpoint/2010/main" val="46268551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2D0249BF-139E-4AA8-80AA-9EC19F97F20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5222D3E-6B79-4C2C-A229-BA29BB9B01B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07863DB-A170-4002-8E11-D0274777176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31  정답과 해설</a:t>
            </a:r>
          </a:p>
        </p:txBody>
      </p:sp>
      <p:sp>
        <p:nvSpPr>
          <p:cNvPr id="4" name="직사각형 3">
            <a:extLst>
              <a:ext uri="{FF2B5EF4-FFF2-40B4-BE49-F238E27FC236}">
                <a16:creationId xmlns:a16="http://schemas.microsoft.com/office/drawing/2014/main" id="{F51632C2-5E49-49AD-8758-BBBB402CB64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97154E7-68A7-4CFF-B73D-C00B12DBF8E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5908E3D-7794-4E43-9C4D-A011677B579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013D873-8A97-457E-82EB-33B819ECACB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062</a:t>
            </a:r>
          </a:p>
        </p:txBody>
      </p:sp>
      <p:sp>
        <p:nvSpPr>
          <p:cNvPr id="8" name="text-178-64">
            <a:extLst>
              <a:ext uri="{FF2B5EF4-FFF2-40B4-BE49-F238E27FC236}">
                <a16:creationId xmlns:a16="http://schemas.microsoft.com/office/drawing/2014/main" id="{B8F46DC6-EFFB-439F-A45C-68229E16C22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T(n)=T(n−1)+n에 기본 마스터 정리를 바로 적용할 수 없는 이유는?</a:t>
            </a:r>
          </a:p>
        </p:txBody>
      </p:sp>
      <p:sp>
        <p:nvSpPr>
          <p:cNvPr id="9" name="직사각형 8">
            <a:extLst>
              <a:ext uri="{FF2B5EF4-FFF2-40B4-BE49-F238E27FC236}">
                <a16:creationId xmlns:a16="http://schemas.microsoft.com/office/drawing/2014/main" id="{2634EA93-9A48-4E89-8FAB-81B5CF7E84F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936E5C2-1B70-41BE-A7B0-7F8650CDC88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부분 문제 크기가 n/b 꼴의 고정 비율이 아니다</a:t>
            </a:r>
          </a:p>
        </p:txBody>
      </p:sp>
      <p:sp>
        <p:nvSpPr>
          <p:cNvPr id="11" name="text-324.4-64">
            <a:extLst>
              <a:ext uri="{FF2B5EF4-FFF2-40B4-BE49-F238E27FC236}">
                <a16:creationId xmlns:a16="http://schemas.microsoft.com/office/drawing/2014/main" id="{DBFF50CB-2DEF-4E72-BFFF-35FA0B26A45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ADB4532-F0E9-4618-8CC4-B3077432FC67}"/>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A68CC7C-6241-4F79-8BD0-0FCA90AE5EB6}"/>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칸 감소 점화식은 대입이나 합으로 분석한다.</a:t>
            </a:r>
          </a:p>
        </p:txBody>
      </p:sp>
    </p:spTree>
    <p:extLst>
      <p:ext uri="{BB962C8B-B14F-4D97-AF65-F5344CB8AC3E}">
        <p14:creationId xmlns:p14="http://schemas.microsoft.com/office/powerpoint/2010/main" val="46268551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3085473-891A-43DA-9181-262E66F3BDB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E5433AE-73CE-4CDA-91DE-4C8BE38AFAC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3EA358D-1A12-42AB-9B26-C869A4E2F8B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a:t>
            </a:r>
          </a:p>
        </p:txBody>
      </p:sp>
      <p:sp>
        <p:nvSpPr>
          <p:cNvPr id="4" name="직사각형 3">
            <a:extLst>
              <a:ext uri="{FF2B5EF4-FFF2-40B4-BE49-F238E27FC236}">
                <a16:creationId xmlns:a16="http://schemas.microsoft.com/office/drawing/2014/main" id="{577C72EC-1CB6-4DD2-BB3E-0999A342BF3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01F98F7-6495-4EBE-8E7E-847F1A1553F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A4606CF-C0EE-4AA6-B2C6-920F887B56A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5D49139-3D4C-45A0-85A6-FE56D75A130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063</a:t>
            </a:r>
          </a:p>
        </p:txBody>
      </p:sp>
      <p:sp>
        <p:nvSpPr>
          <p:cNvPr id="8" name="text-178-64">
            <a:extLst>
              <a:ext uri="{FF2B5EF4-FFF2-40B4-BE49-F238E27FC236}">
                <a16:creationId xmlns:a16="http://schemas.microsoft.com/office/drawing/2014/main" id="{150CF40C-B075-476A-9480-47A61F6191AC}"/>
              </a:ext>
            </a:extLst>
          </p:cNvPr>
          <p:cNvSpPr>
            <a:spLocks noGrp="1"/>
          </p:cNvSpPr>
          <p:nvPr/>
        </p:nvSpPr>
        <p:spPr>
          <a:xfrm>
            <a:off x="609600" y="1695450"/>
            <a:ext cx="10972800" cy="739267"/>
          </a:xfrm>
          <a:prstGeom prst="rect">
            <a:avLst/>
          </a:prstGeom>
          <a:noFill/>
          <a:ln w="0">
            <a:noFill/>
          </a:ln>
        </p:spPr>
        <p:txBody>
          <a:bodyPr wrap="squar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n은 2의 거듭제곱이다. 병합 정렬에서 각 층의 처리량은 Θ(n), 층수는 Θ(log₂n)이다. 전체 시간 복잡도는?</a:t>
            </a:r>
          </a:p>
        </p:txBody>
      </p:sp>
      <p:sp>
        <p:nvSpPr>
          <p:cNvPr id="9" name="text-316-72">
            <a:extLst>
              <a:ext uri="{FF2B5EF4-FFF2-40B4-BE49-F238E27FC236}">
                <a16:creationId xmlns:a16="http://schemas.microsoft.com/office/drawing/2014/main" id="{139A0DF5-E738-4797-A97C-E1DC453FB7A8}"/>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796BC810-B11E-4C6D-B278-3044743B1A65}"/>
              </a:ext>
            </a:extLst>
          </p:cNvPr>
          <p:cNvSpPr>
            <a:spLocks noGrp="1"/>
          </p:cNvSpPr>
          <p:nvPr/>
        </p:nvSpPr>
        <p:spPr>
          <a:xfrm>
            <a:off x="1181100" y="300990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a:t>
            </a:r>
          </a:p>
        </p:txBody>
      </p:sp>
      <p:sp>
        <p:nvSpPr>
          <p:cNvPr id="11" name="직사각형 10">
            <a:extLst>
              <a:ext uri="{FF2B5EF4-FFF2-40B4-BE49-F238E27FC236}">
                <a16:creationId xmlns:a16="http://schemas.microsoft.com/office/drawing/2014/main" id="{B3CA0B91-F10F-41D9-9050-54010800AC0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11534A46-B1F8-464E-99E1-8A5B7C009A0C}"/>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2808860C-D05B-420F-9549-6823246535AB}"/>
              </a:ext>
            </a:extLst>
          </p:cNvPr>
          <p:cNvSpPr>
            <a:spLocks noGrp="1"/>
          </p:cNvSpPr>
          <p:nvPr/>
        </p:nvSpPr>
        <p:spPr>
          <a:xfrm>
            <a:off x="1181100" y="363855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 log n)</a:t>
            </a:r>
          </a:p>
        </p:txBody>
      </p:sp>
      <p:sp>
        <p:nvSpPr>
          <p:cNvPr id="14" name="직사각형 13">
            <a:extLst>
              <a:ext uri="{FF2B5EF4-FFF2-40B4-BE49-F238E27FC236}">
                <a16:creationId xmlns:a16="http://schemas.microsoft.com/office/drawing/2014/main" id="{2CD9B7AF-A35B-4799-997C-06D342F56D91}"/>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3A8D9990-2421-4B85-8C1E-CDA6590ACBC1}"/>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C63B78BC-1560-48BC-8B50-D02CC1B08CA7}"/>
              </a:ext>
            </a:extLst>
          </p:cNvPr>
          <p:cNvSpPr>
            <a:spLocks noGrp="1"/>
          </p:cNvSpPr>
          <p:nvPr/>
        </p:nvSpPr>
        <p:spPr>
          <a:xfrm>
            <a:off x="1181100" y="426720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7" name="직사각형 16">
            <a:extLst>
              <a:ext uri="{FF2B5EF4-FFF2-40B4-BE49-F238E27FC236}">
                <a16:creationId xmlns:a16="http://schemas.microsoft.com/office/drawing/2014/main" id="{B92659D8-F4D3-4819-BE46-99866A122DE4}"/>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2F72CC6E-17CC-477A-84AD-13AE1FDCB038}"/>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873ACCEF-E152-4D77-8F48-CF9E7B074075}"/>
              </a:ext>
            </a:extLst>
          </p:cNvPr>
          <p:cNvSpPr>
            <a:spLocks noGrp="1"/>
          </p:cNvSpPr>
          <p:nvPr/>
        </p:nvSpPr>
        <p:spPr>
          <a:xfrm>
            <a:off x="1181100" y="489585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20" name="직사각형 19">
            <a:extLst>
              <a:ext uri="{FF2B5EF4-FFF2-40B4-BE49-F238E27FC236}">
                <a16:creationId xmlns:a16="http://schemas.microsoft.com/office/drawing/2014/main" id="{55BD6914-0678-487A-AC48-17F584F68138}"/>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F6DDB20D-3635-42F5-89F1-79B831D8468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F3482660-032E-4B2C-A66E-578EFF43F909}"/>
              </a:ext>
            </a:extLst>
          </p:cNvPr>
          <p:cNvSpPr>
            <a:spLocks noGrp="1"/>
          </p:cNvSpPr>
          <p:nvPr/>
        </p:nvSpPr>
        <p:spPr>
          <a:xfrm>
            <a:off x="1181100" y="5524500"/>
            <a:ext cx="10401300" cy="333375"/>
          </a:xfrm>
          <a:prstGeom prst="rect">
            <a:avLst/>
          </a:prstGeom>
          <a:noFill/>
          <a:ln w="0">
            <a:noFill/>
          </a:ln>
        </p:spPr>
        <p:txBody>
          <a:bodyPr wrap="squar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Θ(1)</a:t>
            </a:r>
          </a:p>
        </p:txBody>
      </p:sp>
    </p:spTree>
    <p:extLst>
      <p:ext uri="{BB962C8B-B14F-4D97-AF65-F5344CB8AC3E}">
        <p14:creationId xmlns:p14="http://schemas.microsoft.com/office/powerpoint/2010/main" val="46268551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3579227-1AF8-47D8-B476-6E70340F0F3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BE3C0CF-54DE-470B-803A-AB246B8A4BB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A10AF37-AA96-4124-BD31-FEBF56CFAB2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32  정답과 해설</a:t>
            </a:r>
          </a:p>
        </p:txBody>
      </p:sp>
      <p:sp>
        <p:nvSpPr>
          <p:cNvPr id="4" name="직사각형 3">
            <a:extLst>
              <a:ext uri="{FF2B5EF4-FFF2-40B4-BE49-F238E27FC236}">
                <a16:creationId xmlns:a16="http://schemas.microsoft.com/office/drawing/2014/main" id="{F62D526A-9D45-4579-A435-34D699C939E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0B32CBF-1119-4107-8CFD-AAD2CFE7A29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8F11798-B776-43AA-8557-070F23E4F9D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00513FA-E8D2-44E4-BD9F-338DB4A6DD7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064</a:t>
            </a:r>
          </a:p>
        </p:txBody>
      </p:sp>
      <p:sp>
        <p:nvSpPr>
          <p:cNvPr id="8" name="text-178-64">
            <a:extLst>
              <a:ext uri="{FF2B5EF4-FFF2-40B4-BE49-F238E27FC236}">
                <a16:creationId xmlns:a16="http://schemas.microsoft.com/office/drawing/2014/main" id="{28D1A10A-8E15-4238-8471-69FC2B4F6A83}"/>
              </a:ext>
            </a:extLst>
          </p:cNvPr>
          <p:cNvSpPr>
            <a:spLocks noGrp="1"/>
          </p:cNvSpPr>
          <p:nvPr/>
        </p:nvSpPr>
        <p:spPr>
          <a:xfrm>
            <a:off x="609600" y="169545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n은 2의 거듭제곱이다. 병합 정렬에서 각 층의 처리량은 Θ(n), 층수는 Θ(log₂n)이다. 전체 시간 복잡도는?</a:t>
            </a:r>
          </a:p>
        </p:txBody>
      </p:sp>
      <p:sp>
        <p:nvSpPr>
          <p:cNvPr id="9" name="직사각형 8">
            <a:extLst>
              <a:ext uri="{FF2B5EF4-FFF2-40B4-BE49-F238E27FC236}">
                <a16:creationId xmlns:a16="http://schemas.microsoft.com/office/drawing/2014/main" id="{F972EE8F-9423-424C-A4AA-785911E61F32}"/>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D67EAC4-0BFA-4859-85F0-42B28E452C1C}"/>
              </a:ext>
            </a:extLst>
          </p:cNvPr>
          <p:cNvSpPr>
            <a:spLocks noGrp="1"/>
          </p:cNvSpPr>
          <p:nvPr/>
        </p:nvSpPr>
        <p:spPr>
          <a:xfrm>
            <a:off x="876300" y="2339340"/>
            <a:ext cx="10439400" cy="436245"/>
          </a:xfrm>
          <a:prstGeom prst="rect">
            <a:avLst/>
          </a:prstGeom>
          <a:noFill/>
          <a:ln w="0">
            <a:noFill/>
          </a:ln>
        </p:spPr>
        <p:txBody>
          <a:bodyPr wrap="squar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Θ(n log n)</a:t>
            </a:r>
          </a:p>
        </p:txBody>
      </p:sp>
      <p:sp>
        <p:nvSpPr>
          <p:cNvPr id="11" name="text-324.4-64">
            <a:extLst>
              <a:ext uri="{FF2B5EF4-FFF2-40B4-BE49-F238E27FC236}">
                <a16:creationId xmlns:a16="http://schemas.microsoft.com/office/drawing/2014/main" id="{2CD49EE9-8465-48B2-8A59-846E6FC76DF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801CA64-7A59-4DA4-A1F4-5BC0ED5522F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69735D2-3C5A-4F47-B5B2-52BCEF556428}"/>
              </a:ext>
            </a:extLst>
          </p:cNvPr>
          <p:cNvSpPr>
            <a:spLocks noGrp="1"/>
          </p:cNvSpPr>
          <p:nvPr/>
        </p:nvSpPr>
        <p:spPr>
          <a:xfrm>
            <a:off x="609600" y="354711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층마다 n에 비례하는 작업을 log₂n에 비례하는 횟수만큼 하므로 Θ(n log n)이다.</a:t>
            </a:r>
          </a:p>
        </p:txBody>
      </p:sp>
    </p:spTree>
    <p:extLst>
      <p:ext uri="{BB962C8B-B14F-4D97-AF65-F5344CB8AC3E}">
        <p14:creationId xmlns:p14="http://schemas.microsoft.com/office/powerpoint/2010/main" val="4626855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0F4E80B1-2ED3-4AA5-8F7E-288616708B2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9517723A-2053-4A2D-AC0F-CACB7720E21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4EDA2EC-7790-4BE2-AEB9-FB4E87CD178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a:t>
            </a:r>
          </a:p>
        </p:txBody>
      </p:sp>
      <p:sp>
        <p:nvSpPr>
          <p:cNvPr id="4" name="직사각형 3">
            <a:extLst>
              <a:ext uri="{FF2B5EF4-FFF2-40B4-BE49-F238E27FC236}">
                <a16:creationId xmlns:a16="http://schemas.microsoft.com/office/drawing/2014/main" id="{082B229E-88BA-410B-BABB-B3EEF2BA55A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7262CEF-56A2-4048-934B-C68C0C28869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3B70ABA-BD45-41F3-916B-F35C0B45FC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DD41972-8379-48E0-9028-9720A7CD136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065</a:t>
            </a:r>
          </a:p>
        </p:txBody>
      </p:sp>
      <p:sp>
        <p:nvSpPr>
          <p:cNvPr id="8" name="text-178-64">
            <a:extLst>
              <a:ext uri="{FF2B5EF4-FFF2-40B4-BE49-F238E27FC236}">
                <a16:creationId xmlns:a16="http://schemas.microsoft.com/office/drawing/2014/main" id="{133936D4-E9EE-48AD-AD05-E045A02BC7DA}"/>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카라추바에서 x=x₁B+x₀,y=y₁B+y₀이다. 필요한 교차항은?</a:t>
            </a:r>
          </a:p>
        </p:txBody>
      </p:sp>
      <p:sp>
        <p:nvSpPr>
          <p:cNvPr id="9" name="text-316-72">
            <a:extLst>
              <a:ext uri="{FF2B5EF4-FFF2-40B4-BE49-F238E27FC236}">
                <a16:creationId xmlns:a16="http://schemas.microsoft.com/office/drawing/2014/main" id="{D16E353D-20EC-4244-A088-43A3A7C9B6D4}"/>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B26051E8-3F5C-4183-BF85-34EF2631F618}"/>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x₁y₁−x₀y₀</a:t>
            </a:r>
          </a:p>
        </p:txBody>
      </p:sp>
      <p:sp>
        <p:nvSpPr>
          <p:cNvPr id="11" name="직사각형 10">
            <a:extLst>
              <a:ext uri="{FF2B5EF4-FFF2-40B4-BE49-F238E27FC236}">
                <a16:creationId xmlns:a16="http://schemas.microsoft.com/office/drawing/2014/main" id="{8D31385B-38EB-4016-BFC8-198CD28718A5}"/>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04C8E55E-997F-4B51-92F8-B61BC95455F2}"/>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EF818925-615D-4721-9F5C-E47E94F99A8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(x₁−x₀)(y₁−y₀)</a:t>
            </a:r>
          </a:p>
        </p:txBody>
      </p:sp>
      <p:sp>
        <p:nvSpPr>
          <p:cNvPr id="14" name="직사각형 13">
            <a:extLst>
              <a:ext uri="{FF2B5EF4-FFF2-40B4-BE49-F238E27FC236}">
                <a16:creationId xmlns:a16="http://schemas.microsoft.com/office/drawing/2014/main" id="{FB87F443-214B-49C2-8CB6-DECFAC75A12F}"/>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846550B2-AD31-489A-B2C3-D7145D709FB4}"/>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3BC74BFD-A1FF-490E-B04E-1D5914CBF46F}"/>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x₁y₁+x₀y₀</a:t>
            </a:r>
          </a:p>
        </p:txBody>
      </p:sp>
      <p:sp>
        <p:nvSpPr>
          <p:cNvPr id="17" name="직사각형 16">
            <a:extLst>
              <a:ext uri="{FF2B5EF4-FFF2-40B4-BE49-F238E27FC236}">
                <a16:creationId xmlns:a16="http://schemas.microsoft.com/office/drawing/2014/main" id="{04F1DAED-75F5-43D6-8A6D-F2C4A0558C23}"/>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512CADCB-AF0E-4548-B117-510FB44A80D6}"/>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25A81C6E-1D9F-4A90-8885-311A9B0F1C69}"/>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(x₁+x₀)(y₁+y₀)−x₁y₁−x₀y₀</a:t>
            </a:r>
          </a:p>
        </p:txBody>
      </p:sp>
      <p:sp>
        <p:nvSpPr>
          <p:cNvPr id="20" name="직사각형 19">
            <a:extLst>
              <a:ext uri="{FF2B5EF4-FFF2-40B4-BE49-F238E27FC236}">
                <a16:creationId xmlns:a16="http://schemas.microsoft.com/office/drawing/2014/main" id="{E9CD135A-7E73-4F7E-A589-E0B0E641271A}"/>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3CD460AC-19B1-4658-B2EF-C773C4863BC3}"/>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2C32A90A-6625-4B72-8DA7-AECA12A21370}"/>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x₁+y₁+x₀+y₀</a:t>
            </a:r>
          </a:p>
        </p:txBody>
      </p:sp>
    </p:spTree>
    <p:extLst>
      <p:ext uri="{BB962C8B-B14F-4D97-AF65-F5344CB8AC3E}">
        <p14:creationId xmlns:p14="http://schemas.microsoft.com/office/powerpoint/2010/main" val="46268551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0BB10F6-E756-4092-965A-C8119625528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D4C5B52D-A548-4A1F-8C0C-A477BA903B0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04CA033-A8FD-4F17-A024-238F6DB3F7F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33  정답과 해설</a:t>
            </a:r>
          </a:p>
        </p:txBody>
      </p:sp>
      <p:sp>
        <p:nvSpPr>
          <p:cNvPr id="4" name="직사각형 3">
            <a:extLst>
              <a:ext uri="{FF2B5EF4-FFF2-40B4-BE49-F238E27FC236}">
                <a16:creationId xmlns:a16="http://schemas.microsoft.com/office/drawing/2014/main" id="{C44F054B-8D0D-41CB-A514-017F07F589C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95B5150-D8F8-4F5D-BE4A-9ABCCB0CDED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C269730-66F6-4378-8C06-6FD4126A90B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34A2CA4-2057-47D5-964D-4AA85011711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066</a:t>
            </a:r>
          </a:p>
        </p:txBody>
      </p:sp>
      <p:sp>
        <p:nvSpPr>
          <p:cNvPr id="8" name="text-178-64">
            <a:extLst>
              <a:ext uri="{FF2B5EF4-FFF2-40B4-BE49-F238E27FC236}">
                <a16:creationId xmlns:a16="http://schemas.microsoft.com/office/drawing/2014/main" id="{08FD0176-2AAE-4EE5-A434-BB34F6DCF7A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카라추바에서 x=x₁B+x₀,y=y₁B+y₀이다. 필요한 교차항은?</a:t>
            </a:r>
          </a:p>
        </p:txBody>
      </p:sp>
      <p:sp>
        <p:nvSpPr>
          <p:cNvPr id="9" name="직사각형 8">
            <a:extLst>
              <a:ext uri="{FF2B5EF4-FFF2-40B4-BE49-F238E27FC236}">
                <a16:creationId xmlns:a16="http://schemas.microsoft.com/office/drawing/2014/main" id="{18016F15-1F6A-4469-9B15-4EDD4E3B3E1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C04C0EC-5908-4B79-BED1-2436EB67961C}"/>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(x₁+x₀)(y₁+y₀)−x₁y₁−x₀y₀</a:t>
            </a:r>
          </a:p>
        </p:txBody>
      </p:sp>
      <p:sp>
        <p:nvSpPr>
          <p:cNvPr id="11" name="text-324.4-64">
            <a:extLst>
              <a:ext uri="{FF2B5EF4-FFF2-40B4-BE49-F238E27FC236}">
                <a16:creationId xmlns:a16="http://schemas.microsoft.com/office/drawing/2014/main" id="{F2D51CDD-F245-4925-9623-6D4A6E5081F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895F2DE-F81C-4AB1-B4DA-E4542BA514D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2A4D222-1782-44F7-B718-DDC30001847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합의 곱에서 양 끝 곱을 빼면 x₁y₀+x₀y₁이 남는다.</a:t>
            </a:r>
          </a:p>
        </p:txBody>
      </p:sp>
    </p:spTree>
    <p:extLst>
      <p:ext uri="{BB962C8B-B14F-4D97-AF65-F5344CB8AC3E}">
        <p14:creationId xmlns:p14="http://schemas.microsoft.com/office/powerpoint/2010/main" val="46268551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6407DB9F-7DE6-4865-84B3-6711A701F9E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C7B502E2-F557-409E-9450-19251F2AA2A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D72B1A0-F8C0-44DE-A254-11CEAAADEB8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a:t>
            </a:r>
          </a:p>
        </p:txBody>
      </p:sp>
      <p:sp>
        <p:nvSpPr>
          <p:cNvPr id="4" name="직사각형 3">
            <a:extLst>
              <a:ext uri="{FF2B5EF4-FFF2-40B4-BE49-F238E27FC236}">
                <a16:creationId xmlns:a16="http://schemas.microsoft.com/office/drawing/2014/main" id="{4A5BBE37-9FEC-4316-B376-EDC38EEC974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85D2521-4C58-4A55-9535-E33A2787726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58E891E-6778-4E48-81EA-5ED815D363F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D6789B8-27DB-4F3C-90C3-3609288A8A2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067</a:t>
            </a:r>
          </a:p>
        </p:txBody>
      </p:sp>
      <p:sp>
        <p:nvSpPr>
          <p:cNvPr id="8" name="text-178-64">
            <a:extLst>
              <a:ext uri="{FF2B5EF4-FFF2-40B4-BE49-F238E27FC236}">
                <a16:creationId xmlns:a16="http://schemas.microsoft.com/office/drawing/2014/main" id="{50CEFB26-EB8E-41FC-9283-13001792065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카라추바가 절반 크기 곱셈을 줄이는 개수는?</a:t>
            </a:r>
          </a:p>
        </p:txBody>
      </p:sp>
      <p:sp>
        <p:nvSpPr>
          <p:cNvPr id="9" name="text-316-72">
            <a:extLst>
              <a:ext uri="{FF2B5EF4-FFF2-40B4-BE49-F238E27FC236}">
                <a16:creationId xmlns:a16="http://schemas.microsoft.com/office/drawing/2014/main" id="{0F8D48B0-4C7B-44AA-966E-2DD7AA40A0B5}"/>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AFDE19A-1E0B-4DE9-ACBC-6EC6ED047B36}"/>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n번에서 항상 1번</a:t>
            </a:r>
          </a:p>
        </p:txBody>
      </p:sp>
      <p:sp>
        <p:nvSpPr>
          <p:cNvPr id="11" name="직사각형 10">
            <a:extLst>
              <a:ext uri="{FF2B5EF4-FFF2-40B4-BE49-F238E27FC236}">
                <a16:creationId xmlns:a16="http://schemas.microsoft.com/office/drawing/2014/main" id="{1C34F105-56B2-495F-B29F-8F582FA90545}"/>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74BE9D7F-252A-42E0-82F3-5A5A4AC6B6B2}"/>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95F701E5-1AC6-4A14-984D-33539F83DEE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4번에서 3번</a:t>
            </a:r>
          </a:p>
        </p:txBody>
      </p:sp>
      <p:sp>
        <p:nvSpPr>
          <p:cNvPr id="14" name="직사각형 13">
            <a:extLst>
              <a:ext uri="{FF2B5EF4-FFF2-40B4-BE49-F238E27FC236}">
                <a16:creationId xmlns:a16="http://schemas.microsoft.com/office/drawing/2014/main" id="{84222D2D-80F7-4FA4-B3E5-E789050BCA3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9C91F2CE-BC32-473D-BE2A-1B80B51EA06B}"/>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97826A04-D447-4B72-A8CB-E489AB155685}"/>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8번에서 7번</a:t>
            </a:r>
          </a:p>
        </p:txBody>
      </p:sp>
      <p:sp>
        <p:nvSpPr>
          <p:cNvPr id="17" name="직사각형 16">
            <a:extLst>
              <a:ext uri="{FF2B5EF4-FFF2-40B4-BE49-F238E27FC236}">
                <a16:creationId xmlns:a16="http://schemas.microsoft.com/office/drawing/2014/main" id="{84B0129A-316C-4A40-8883-8C30744D528F}"/>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4628137F-94A0-4CFD-A060-2C203B0A3334}"/>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A67D086A-0D30-4202-B90C-3B21B4998DF3}"/>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4번에서 2번</a:t>
            </a:r>
          </a:p>
        </p:txBody>
      </p:sp>
      <p:sp>
        <p:nvSpPr>
          <p:cNvPr id="20" name="직사각형 19">
            <a:extLst>
              <a:ext uri="{FF2B5EF4-FFF2-40B4-BE49-F238E27FC236}">
                <a16:creationId xmlns:a16="http://schemas.microsoft.com/office/drawing/2014/main" id="{D33E9A92-8C24-44DD-A4F6-967808FFD625}"/>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F720E9C-FDA6-431E-A19E-2137A3F4C40E}"/>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5BD0DCDE-1306-48A8-9F49-0AA388FE7F84}"/>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3번에서 1번</a:t>
            </a:r>
          </a:p>
        </p:txBody>
      </p:sp>
    </p:spTree>
    <p:extLst>
      <p:ext uri="{BB962C8B-B14F-4D97-AF65-F5344CB8AC3E}">
        <p14:creationId xmlns:p14="http://schemas.microsoft.com/office/powerpoint/2010/main" val="4626855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DE69179-D617-4F13-B8AC-2F04B3A6FA9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4896793A-3CF2-4D89-B366-78E94FD3720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BB2B1C9-BB80-4F15-827B-BFB4370702B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34  정답과 해설</a:t>
            </a:r>
          </a:p>
        </p:txBody>
      </p:sp>
      <p:sp>
        <p:nvSpPr>
          <p:cNvPr id="4" name="직사각형 3">
            <a:extLst>
              <a:ext uri="{FF2B5EF4-FFF2-40B4-BE49-F238E27FC236}">
                <a16:creationId xmlns:a16="http://schemas.microsoft.com/office/drawing/2014/main" id="{3639B471-6B95-434A-8A9A-AAA2CD2BE0C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41266B7-F38A-4CFA-8195-5A1B1F207C5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D5AD738-B3D8-4D03-A42D-A8D18231BD7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ACF0FCD-E77E-4D30-AE1D-45B12D13D08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068</a:t>
            </a:r>
          </a:p>
        </p:txBody>
      </p:sp>
      <p:sp>
        <p:nvSpPr>
          <p:cNvPr id="8" name="text-178-64">
            <a:extLst>
              <a:ext uri="{FF2B5EF4-FFF2-40B4-BE49-F238E27FC236}">
                <a16:creationId xmlns:a16="http://schemas.microsoft.com/office/drawing/2014/main" id="{6D42CB65-5F4C-4191-8B8E-3925A0FD054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카라추바가 절반 크기 곱셈을 줄이는 개수는?</a:t>
            </a:r>
          </a:p>
        </p:txBody>
      </p:sp>
      <p:sp>
        <p:nvSpPr>
          <p:cNvPr id="9" name="직사각형 8">
            <a:extLst>
              <a:ext uri="{FF2B5EF4-FFF2-40B4-BE49-F238E27FC236}">
                <a16:creationId xmlns:a16="http://schemas.microsoft.com/office/drawing/2014/main" id="{766E8C35-0655-49BE-A037-024B05D727D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D3D3918-FAB9-4B69-BCAF-163E1DC4F79C}"/>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4번에서 3번</a:t>
            </a:r>
          </a:p>
        </p:txBody>
      </p:sp>
      <p:sp>
        <p:nvSpPr>
          <p:cNvPr id="11" name="text-324.4-64">
            <a:extLst>
              <a:ext uri="{FF2B5EF4-FFF2-40B4-BE49-F238E27FC236}">
                <a16:creationId xmlns:a16="http://schemas.microsoft.com/office/drawing/2014/main" id="{2E32BAC9-BADB-4B1E-A85A-C658374869A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5DDFDE1-9DCC-48AF-9D96-0A37DBD3CA07}"/>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13EEC63-BE29-4212-9FA9-8B462182113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대수적 항등식으로 교차항 둘을 하나의 곱으로 계산한다.</a:t>
            </a:r>
          </a:p>
        </p:txBody>
      </p:sp>
    </p:spTree>
    <p:extLst>
      <p:ext uri="{BB962C8B-B14F-4D97-AF65-F5344CB8AC3E}">
        <p14:creationId xmlns:p14="http://schemas.microsoft.com/office/powerpoint/2010/main" val="46268551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FCDD2E10-0EEF-481B-856B-27BA31F812B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E1CB596-C2C0-450D-B8F0-BBA4418B4B3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863E676-8822-4803-93BA-1126FD07C55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a:t>
            </a:r>
          </a:p>
        </p:txBody>
      </p:sp>
      <p:sp>
        <p:nvSpPr>
          <p:cNvPr id="4" name="직사각형 3">
            <a:extLst>
              <a:ext uri="{FF2B5EF4-FFF2-40B4-BE49-F238E27FC236}">
                <a16:creationId xmlns:a16="http://schemas.microsoft.com/office/drawing/2014/main" id="{75C68477-3C62-4EC5-B255-A8BF869776C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C004436-CD24-4722-8B6D-A7FC531FEF2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D126DE6-29C0-4E1F-9DF3-8B1488434CB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C2E77E9-0E42-4621-99D9-25270E3734F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069</a:t>
            </a:r>
          </a:p>
        </p:txBody>
      </p:sp>
      <p:sp>
        <p:nvSpPr>
          <p:cNvPr id="8" name="text-178-64">
            <a:extLst>
              <a:ext uri="{FF2B5EF4-FFF2-40B4-BE49-F238E27FC236}">
                <a16:creationId xmlns:a16="http://schemas.microsoft.com/office/drawing/2014/main" id="{7EFBDC6B-DB34-4D52-92C3-17480E04046E}"/>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자리 분할 x=x₁·10^m+x₀에서 올바른 x₁,x₀는?</a:t>
            </a:r>
          </a:p>
        </p:txBody>
      </p:sp>
      <p:sp>
        <p:nvSpPr>
          <p:cNvPr id="9" name="text-316-72">
            <a:extLst>
              <a:ext uri="{FF2B5EF4-FFF2-40B4-BE49-F238E27FC236}">
                <a16:creationId xmlns:a16="http://schemas.microsoft.com/office/drawing/2014/main" id="{41FFC4C4-CA4F-4B3D-8158-72A2DB3D98A4}"/>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86A6F8F8-5492-4184-9A1E-930952138B17}"/>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x+m, x−m</a:t>
            </a:r>
          </a:p>
        </p:txBody>
      </p:sp>
      <p:sp>
        <p:nvSpPr>
          <p:cNvPr id="11" name="직사각형 10">
            <a:extLst>
              <a:ext uri="{FF2B5EF4-FFF2-40B4-BE49-F238E27FC236}">
                <a16:creationId xmlns:a16="http://schemas.microsoft.com/office/drawing/2014/main" id="{ACAC2A61-1108-4001-BB31-4876A8C403BC}"/>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73B0AF89-0333-448F-8793-D7D519FB89B6}"/>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F41D5A54-C196-4B5F-91EC-12C78171567D}"/>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x//10^m, x mod 10^m</a:t>
            </a:r>
          </a:p>
        </p:txBody>
      </p:sp>
      <p:sp>
        <p:nvSpPr>
          <p:cNvPr id="14" name="직사각형 13">
            <a:extLst>
              <a:ext uri="{FF2B5EF4-FFF2-40B4-BE49-F238E27FC236}">
                <a16:creationId xmlns:a16="http://schemas.microsoft.com/office/drawing/2014/main" id="{B716FFF5-EC45-42C7-92B0-46D2FB9B30FB}"/>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A80007D-BABD-4DA7-85F4-9337A4EC3F16}"/>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92568C32-67EE-4E34-B249-08443A045BF4}"/>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 mod 10^m, x//10^m</a:t>
            </a:r>
          </a:p>
        </p:txBody>
      </p:sp>
      <p:sp>
        <p:nvSpPr>
          <p:cNvPr id="17" name="직사각형 16">
            <a:extLst>
              <a:ext uri="{FF2B5EF4-FFF2-40B4-BE49-F238E27FC236}">
                <a16:creationId xmlns:a16="http://schemas.microsoft.com/office/drawing/2014/main" id="{7B60C6CC-7F13-4D07-A8BF-A26D46468088}"/>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B2E3DA2F-FF07-466A-BED4-4E7E2FD2D38B}"/>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C200073-F4E8-48A7-9BE2-44CC1685889C}"/>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x−m, m</a:t>
            </a:r>
          </a:p>
        </p:txBody>
      </p:sp>
      <p:sp>
        <p:nvSpPr>
          <p:cNvPr id="20" name="직사각형 19">
            <a:extLst>
              <a:ext uri="{FF2B5EF4-FFF2-40B4-BE49-F238E27FC236}">
                <a16:creationId xmlns:a16="http://schemas.microsoft.com/office/drawing/2014/main" id="{097E8DC4-C786-4032-B1E3-840A6662E034}"/>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8EE744C5-AD05-492B-BC2A-09DE2CC9E4E8}"/>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657D56B3-5CB3-4E43-8287-B41C6616D412}"/>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x//m, x mod m</a:t>
            </a:r>
          </a:p>
        </p:txBody>
      </p:sp>
    </p:spTree>
    <p:extLst>
      <p:ext uri="{BB962C8B-B14F-4D97-AF65-F5344CB8AC3E}">
        <p14:creationId xmlns:p14="http://schemas.microsoft.com/office/powerpoint/2010/main" val="46268551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4A449389-7A32-4E0E-ADFE-F86A61DE76B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F59F1F14-D538-4CE1-AED8-18B2714F5FA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02B4493-54A3-4A90-90BE-18EAD9C67D0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35  정답과 해설</a:t>
            </a:r>
          </a:p>
        </p:txBody>
      </p:sp>
      <p:sp>
        <p:nvSpPr>
          <p:cNvPr id="4" name="직사각형 3">
            <a:extLst>
              <a:ext uri="{FF2B5EF4-FFF2-40B4-BE49-F238E27FC236}">
                <a16:creationId xmlns:a16="http://schemas.microsoft.com/office/drawing/2014/main" id="{D8E30BC7-8142-4E35-96CE-50E8394A638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1A2F45D-BA43-444F-81B0-9A4D9336D4B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8E8A25D-3613-4E64-A330-AB08EB4DE84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44B81A1-C10F-4582-848F-C401CCC0C5E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070</a:t>
            </a:r>
          </a:p>
        </p:txBody>
      </p:sp>
      <p:sp>
        <p:nvSpPr>
          <p:cNvPr id="8" name="text-178-64">
            <a:extLst>
              <a:ext uri="{FF2B5EF4-FFF2-40B4-BE49-F238E27FC236}">
                <a16:creationId xmlns:a16="http://schemas.microsoft.com/office/drawing/2014/main" id="{A77E497E-58DA-40D1-B3E5-AB2F5EBFCEC7}"/>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자리 분할 x=x₁·10^m+x₀에서 올바른 x₁,x₀는?</a:t>
            </a:r>
          </a:p>
        </p:txBody>
      </p:sp>
      <p:sp>
        <p:nvSpPr>
          <p:cNvPr id="9" name="직사각형 8">
            <a:extLst>
              <a:ext uri="{FF2B5EF4-FFF2-40B4-BE49-F238E27FC236}">
                <a16:creationId xmlns:a16="http://schemas.microsoft.com/office/drawing/2014/main" id="{7B68C977-8D5D-4FB5-9B22-19A3B186170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592A0A6-75C1-4925-A44F-528121EEECE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2번 x//10^m, x mod 10^m</a:t>
            </a:r>
          </a:p>
        </p:txBody>
      </p:sp>
      <p:sp>
        <p:nvSpPr>
          <p:cNvPr id="11" name="text-324.4-64">
            <a:extLst>
              <a:ext uri="{FF2B5EF4-FFF2-40B4-BE49-F238E27FC236}">
                <a16:creationId xmlns:a16="http://schemas.microsoft.com/office/drawing/2014/main" id="{3E9FD280-23A6-4FA7-AD6E-BC25D396364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7E6C89F-AD9B-475A-B0BB-7047BF1E835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4E510CC-90ED-4492-9614-8276575E0E6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몫이 높은 자리, 나머지가 낮은 자리이다.</a:t>
            </a:r>
          </a:p>
        </p:txBody>
      </p:sp>
    </p:spTree>
    <p:extLst>
      <p:ext uri="{BB962C8B-B14F-4D97-AF65-F5344CB8AC3E}">
        <p14:creationId xmlns:p14="http://schemas.microsoft.com/office/powerpoint/2010/main" val="46268551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4C6B7F93-EFE0-4A09-8FEC-BFA2A6522F7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1B0F1AE-B86B-4706-A685-556F19EAF8A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87633EF-890D-43F5-9B69-C03361FD509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a:t>
            </a:r>
          </a:p>
        </p:txBody>
      </p:sp>
      <p:sp>
        <p:nvSpPr>
          <p:cNvPr id="4" name="직사각형 3">
            <a:extLst>
              <a:ext uri="{FF2B5EF4-FFF2-40B4-BE49-F238E27FC236}">
                <a16:creationId xmlns:a16="http://schemas.microsoft.com/office/drawing/2014/main" id="{B65116E3-74FD-4026-ABCA-F5ADB7F231C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EB74938-49CA-42F1-AAD9-6A87D117893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3AD16FB-E813-49EB-AEC1-05C68629C9E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58C1759-5292-4C17-8438-7ADD27BE2AF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071</a:t>
            </a:r>
          </a:p>
        </p:txBody>
      </p:sp>
      <p:sp>
        <p:nvSpPr>
          <p:cNvPr id="8" name="text-178-64">
            <a:extLst>
              <a:ext uri="{FF2B5EF4-FFF2-40B4-BE49-F238E27FC236}">
                <a16:creationId xmlns:a16="http://schemas.microsoft.com/office/drawing/2014/main" id="{CC36878E-096D-4411-AD76-1E02F095C2D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표준 n×n 행렬 곱셈의 스칼라 곱셈 개수는?</a:t>
            </a:r>
          </a:p>
        </p:txBody>
      </p:sp>
      <p:sp>
        <p:nvSpPr>
          <p:cNvPr id="9" name="text-316-72">
            <a:extLst>
              <a:ext uri="{FF2B5EF4-FFF2-40B4-BE49-F238E27FC236}">
                <a16:creationId xmlns:a16="http://schemas.microsoft.com/office/drawing/2014/main" id="{A709F464-DD4A-4280-BF83-7D5AD47F9917}"/>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EF1401D3-24F9-48A1-947A-C7780C18FBCD}"/>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n²</a:t>
            </a:r>
          </a:p>
        </p:txBody>
      </p:sp>
      <p:sp>
        <p:nvSpPr>
          <p:cNvPr id="11" name="직사각형 10">
            <a:extLst>
              <a:ext uri="{FF2B5EF4-FFF2-40B4-BE49-F238E27FC236}">
                <a16:creationId xmlns:a16="http://schemas.microsoft.com/office/drawing/2014/main" id="{D4FAE554-2F03-4F8F-B196-03C960D20764}"/>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CDA3A194-67FA-4D3C-B4FA-D2A949E3DE69}"/>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8DA87BD4-A671-464C-ACAB-0846A7BB243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2n</a:t>
            </a:r>
          </a:p>
        </p:txBody>
      </p:sp>
      <p:sp>
        <p:nvSpPr>
          <p:cNvPr id="14" name="직사각형 13">
            <a:extLst>
              <a:ext uri="{FF2B5EF4-FFF2-40B4-BE49-F238E27FC236}">
                <a16:creationId xmlns:a16="http://schemas.microsoft.com/office/drawing/2014/main" id="{CF379273-C7D6-4BC2-903B-8479CF866CD2}"/>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6AFD26DC-6780-4892-8477-7DCB2610C0E6}"/>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BF6C9218-5CE4-4B16-9699-3D4942219307}"/>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log₂n</a:t>
            </a:r>
          </a:p>
        </p:txBody>
      </p:sp>
      <p:sp>
        <p:nvSpPr>
          <p:cNvPr id="17" name="직사각형 16">
            <a:extLst>
              <a:ext uri="{FF2B5EF4-FFF2-40B4-BE49-F238E27FC236}">
                <a16:creationId xmlns:a16="http://schemas.microsoft.com/office/drawing/2014/main" id="{B6CED282-A502-4800-9E65-8C54758E5936}"/>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5D01A9FE-D170-4063-BE49-DCEE84224DCA}"/>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2A90E8B-4A87-4321-903D-CD8FF055BC12}"/>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n³</a:t>
            </a:r>
          </a:p>
        </p:txBody>
      </p:sp>
      <p:sp>
        <p:nvSpPr>
          <p:cNvPr id="20" name="직사각형 19">
            <a:extLst>
              <a:ext uri="{FF2B5EF4-FFF2-40B4-BE49-F238E27FC236}">
                <a16:creationId xmlns:a16="http://schemas.microsoft.com/office/drawing/2014/main" id="{E3AC7B13-6857-4369-820A-184634C6DC93}"/>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1CE54F07-B11D-4127-9F7D-4A05461C862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61121A3D-8651-4772-A598-1F47037E7997}"/>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n</a:t>
            </a:r>
          </a:p>
        </p:txBody>
      </p:sp>
    </p:spTree>
    <p:extLst>
      <p:ext uri="{BB962C8B-B14F-4D97-AF65-F5344CB8AC3E}">
        <p14:creationId xmlns:p14="http://schemas.microsoft.com/office/powerpoint/2010/main" val="46268551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CD5A509-4227-4C46-8D22-4797FE17B26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7F0025E-E33F-4309-BC79-C404D8E7E0B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FA7F0C9-BBFD-42EB-AE73-DCC315BDE07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36  정답과 해설</a:t>
            </a:r>
          </a:p>
        </p:txBody>
      </p:sp>
      <p:sp>
        <p:nvSpPr>
          <p:cNvPr id="4" name="직사각형 3">
            <a:extLst>
              <a:ext uri="{FF2B5EF4-FFF2-40B4-BE49-F238E27FC236}">
                <a16:creationId xmlns:a16="http://schemas.microsoft.com/office/drawing/2014/main" id="{55855FA0-355E-4DDD-8198-9387A59872A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1FCB112-9EE2-44C1-9FB3-32CD7BAAC7B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32128C3-0E13-4837-972D-166E9C974E7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A5E9317-7A41-47CE-BEB2-3FC34B477FC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072</a:t>
            </a:r>
          </a:p>
        </p:txBody>
      </p:sp>
      <p:sp>
        <p:nvSpPr>
          <p:cNvPr id="8" name="text-178-64">
            <a:extLst>
              <a:ext uri="{FF2B5EF4-FFF2-40B4-BE49-F238E27FC236}">
                <a16:creationId xmlns:a16="http://schemas.microsoft.com/office/drawing/2014/main" id="{79D52E19-ABB9-4550-B0A8-AF26330DD3C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표준 n×n 행렬 곱셈의 스칼라 곱셈 개수는?</a:t>
            </a:r>
          </a:p>
        </p:txBody>
      </p:sp>
      <p:sp>
        <p:nvSpPr>
          <p:cNvPr id="9" name="직사각형 8">
            <a:extLst>
              <a:ext uri="{FF2B5EF4-FFF2-40B4-BE49-F238E27FC236}">
                <a16:creationId xmlns:a16="http://schemas.microsoft.com/office/drawing/2014/main" id="{8EB9524C-E53A-4F4A-AD92-A0D6B833121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B7334154-97F2-418C-89C5-1C72FD45449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n³</a:t>
            </a:r>
          </a:p>
        </p:txBody>
      </p:sp>
      <p:sp>
        <p:nvSpPr>
          <p:cNvPr id="11" name="text-324.4-64">
            <a:extLst>
              <a:ext uri="{FF2B5EF4-FFF2-40B4-BE49-F238E27FC236}">
                <a16:creationId xmlns:a16="http://schemas.microsoft.com/office/drawing/2014/main" id="{DBE41CD8-A6C8-4496-9DCB-BF1324887E0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29413B45-5DE3-4CB5-A177-592D424E736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92353C3-6A75-4C43-A0E4-8805C768868E}"/>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결과 n²칸마다 길이 n인 내적을 계산한다.</a:t>
            </a:r>
          </a:p>
        </p:txBody>
      </p:sp>
    </p:spTree>
    <p:extLst>
      <p:ext uri="{BB962C8B-B14F-4D97-AF65-F5344CB8AC3E}">
        <p14:creationId xmlns:p14="http://schemas.microsoft.com/office/powerpoint/2010/main" val="46268551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394981B8-7F71-4D2C-8025-5DAEDC9743F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AEC30029-8216-4CC5-A355-7E20DBF9964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0E00B78-5292-4FB3-A78A-B1E2328AAC9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a:t>
            </a:r>
          </a:p>
        </p:txBody>
      </p:sp>
      <p:sp>
        <p:nvSpPr>
          <p:cNvPr id="4" name="직사각형 3">
            <a:extLst>
              <a:ext uri="{FF2B5EF4-FFF2-40B4-BE49-F238E27FC236}">
                <a16:creationId xmlns:a16="http://schemas.microsoft.com/office/drawing/2014/main" id="{DA36D654-E2E8-4F7E-92F8-80CF0F15410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8DCA9BE-E9E0-4A38-A02C-B18F49BF232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9027047-7B82-462B-94B9-2D4C6805E53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B12AC95-86BF-4871-B450-DFCC8F99F20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073</a:t>
            </a:r>
          </a:p>
        </p:txBody>
      </p:sp>
      <p:sp>
        <p:nvSpPr>
          <p:cNvPr id="8" name="text-178-64">
            <a:extLst>
              <a:ext uri="{FF2B5EF4-FFF2-40B4-BE49-F238E27FC236}">
                <a16:creationId xmlns:a16="http://schemas.microsoft.com/office/drawing/2014/main" id="{E3C0DE1D-7313-4B08-89CE-6402373A096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슈트라센은 2×2 블록 곱셈의 재귀 곱셈 횟수를 어떻게 바꾸는가?</a:t>
            </a:r>
          </a:p>
        </p:txBody>
      </p:sp>
      <p:sp>
        <p:nvSpPr>
          <p:cNvPr id="9" name="text-316-72">
            <a:extLst>
              <a:ext uri="{FF2B5EF4-FFF2-40B4-BE49-F238E27FC236}">
                <a16:creationId xmlns:a16="http://schemas.microsoft.com/office/drawing/2014/main" id="{4BE9DA6C-F50D-403C-8BCA-D0ABC3B2F453}"/>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D1C58603-46F4-44D5-90DE-C912602C3363}"/>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8번에서 4번</a:t>
            </a:r>
          </a:p>
        </p:txBody>
      </p:sp>
      <p:sp>
        <p:nvSpPr>
          <p:cNvPr id="11" name="직사각형 10">
            <a:extLst>
              <a:ext uri="{FF2B5EF4-FFF2-40B4-BE49-F238E27FC236}">
                <a16:creationId xmlns:a16="http://schemas.microsoft.com/office/drawing/2014/main" id="{5073CF48-9E69-4B48-A2F7-4B744174C060}"/>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CA3F8F00-BC77-4575-BF4E-F6ABA556D89E}"/>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FA8BF33E-EC68-4977-8F55-B6F50FB86BA1}"/>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7번에서 2번</a:t>
            </a:r>
          </a:p>
        </p:txBody>
      </p:sp>
      <p:sp>
        <p:nvSpPr>
          <p:cNvPr id="14" name="직사각형 13">
            <a:extLst>
              <a:ext uri="{FF2B5EF4-FFF2-40B4-BE49-F238E27FC236}">
                <a16:creationId xmlns:a16="http://schemas.microsoft.com/office/drawing/2014/main" id="{733424B6-B9B3-4FD2-8F69-76BAA470BE50}"/>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27F6F5DF-8435-4681-8D35-E4324445F565}"/>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229A16FC-54D8-4729-B26C-40967CA579E9}"/>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2번에서 1번</a:t>
            </a:r>
          </a:p>
        </p:txBody>
      </p:sp>
      <p:sp>
        <p:nvSpPr>
          <p:cNvPr id="17" name="직사각형 16">
            <a:extLst>
              <a:ext uri="{FF2B5EF4-FFF2-40B4-BE49-F238E27FC236}">
                <a16:creationId xmlns:a16="http://schemas.microsoft.com/office/drawing/2014/main" id="{68D38DA8-75C3-4312-A4F4-AEE91127708D}"/>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439D8BA5-27D3-4454-AE78-07ABBFF51ABB}"/>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D92DD638-7E9E-45C7-9471-44421BF86DB9}"/>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8번에서 7번</a:t>
            </a:r>
          </a:p>
        </p:txBody>
      </p:sp>
      <p:sp>
        <p:nvSpPr>
          <p:cNvPr id="20" name="직사각형 19">
            <a:extLst>
              <a:ext uri="{FF2B5EF4-FFF2-40B4-BE49-F238E27FC236}">
                <a16:creationId xmlns:a16="http://schemas.microsoft.com/office/drawing/2014/main" id="{49C82546-AA06-449E-93E3-A1943C84109E}"/>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0F8C75BF-C2B1-416C-BA84-0CDA1B081F7B}"/>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38E37EFC-E587-4DF3-A4E7-6E9E4BD7E57E}"/>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4번에서 3번</a:t>
            </a:r>
          </a:p>
        </p:txBody>
      </p:sp>
    </p:spTree>
    <p:extLst>
      <p:ext uri="{BB962C8B-B14F-4D97-AF65-F5344CB8AC3E}">
        <p14:creationId xmlns:p14="http://schemas.microsoft.com/office/powerpoint/2010/main" val="46268551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792F87F-FB62-4A3E-AD39-FB17DCD2094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CB60709-63AB-4373-BEDD-293E184B725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D3739FB-20A0-46B1-AB33-065A4BF3C35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37  정답과 해설</a:t>
            </a:r>
          </a:p>
        </p:txBody>
      </p:sp>
      <p:sp>
        <p:nvSpPr>
          <p:cNvPr id="4" name="직사각형 3">
            <a:extLst>
              <a:ext uri="{FF2B5EF4-FFF2-40B4-BE49-F238E27FC236}">
                <a16:creationId xmlns:a16="http://schemas.microsoft.com/office/drawing/2014/main" id="{EB8678BC-85A9-4910-9043-721B116B52E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3A9AD628-9E78-4C91-A454-368A26D467B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6CCEAB7-8444-444E-BC49-0A0D8B55CEF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B066D64-489E-4A05-85A9-A09FD7A07B4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074</a:t>
            </a:r>
          </a:p>
        </p:txBody>
      </p:sp>
      <p:sp>
        <p:nvSpPr>
          <p:cNvPr id="8" name="text-178-64">
            <a:extLst>
              <a:ext uri="{FF2B5EF4-FFF2-40B4-BE49-F238E27FC236}">
                <a16:creationId xmlns:a16="http://schemas.microsoft.com/office/drawing/2014/main" id="{7C520F82-E4DB-4955-9C62-2AA5B04F91E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슈트라센은 2×2 블록 곱셈의 재귀 곱셈 횟수를 어떻게 바꾸는가?</a:t>
            </a:r>
          </a:p>
        </p:txBody>
      </p:sp>
      <p:sp>
        <p:nvSpPr>
          <p:cNvPr id="9" name="직사각형 8">
            <a:extLst>
              <a:ext uri="{FF2B5EF4-FFF2-40B4-BE49-F238E27FC236}">
                <a16:creationId xmlns:a16="http://schemas.microsoft.com/office/drawing/2014/main" id="{A85A17D0-2554-454E-96F8-074593D80C9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61408B4-4CD8-4DCD-BBD8-E6EC1717071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8번에서 7번</a:t>
            </a:r>
          </a:p>
        </p:txBody>
      </p:sp>
      <p:sp>
        <p:nvSpPr>
          <p:cNvPr id="11" name="text-324.4-64">
            <a:extLst>
              <a:ext uri="{FF2B5EF4-FFF2-40B4-BE49-F238E27FC236}">
                <a16:creationId xmlns:a16="http://schemas.microsoft.com/office/drawing/2014/main" id="{60E21936-A397-4FB0-8B36-76AF8EB2883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A44F586-0DD7-4D3E-BAC2-C83FBB3D65C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7F20DF7-ECC1-4D18-9B33-883CAEDDED6B}"/>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추가 덧셈과 뺄셈을 사용해 한 번의 블록 곱셈을 줄인다.</a:t>
            </a:r>
          </a:p>
        </p:txBody>
      </p:sp>
    </p:spTree>
    <p:extLst>
      <p:ext uri="{BB962C8B-B14F-4D97-AF65-F5344CB8AC3E}">
        <p14:creationId xmlns:p14="http://schemas.microsoft.com/office/powerpoint/2010/main" val="46268551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DAEF1EA2-08BE-43EA-B5E0-6E5D98AEE70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6E0E690E-53D1-42A7-BBCB-A572365A0AA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BF744BE-C2FD-4CBC-83DB-1C7DC3DBCFD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a:t>
            </a:r>
          </a:p>
        </p:txBody>
      </p:sp>
      <p:sp>
        <p:nvSpPr>
          <p:cNvPr id="4" name="직사각형 3">
            <a:extLst>
              <a:ext uri="{FF2B5EF4-FFF2-40B4-BE49-F238E27FC236}">
                <a16:creationId xmlns:a16="http://schemas.microsoft.com/office/drawing/2014/main" id="{824BFC05-065D-4DC0-AC3C-65555CA1333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FDFE730-0903-423F-8210-58C208021FF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362CF5F-A753-4BF1-BC29-2A3A0CD6FC7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9F391C8-B836-4C23-810B-BEAB14B50C5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075</a:t>
            </a:r>
          </a:p>
        </p:txBody>
      </p:sp>
      <p:sp>
        <p:nvSpPr>
          <p:cNvPr id="8" name="text-178-64">
            <a:extLst>
              <a:ext uri="{FF2B5EF4-FFF2-40B4-BE49-F238E27FC236}">
                <a16:creationId xmlns:a16="http://schemas.microsoft.com/office/drawing/2014/main" id="{0D82CCE7-B785-44D6-87FB-E7E2FAB713E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슈트라센의 T(n)=7T(n/2)+Θ(n²)에서 차수는?</a:t>
            </a:r>
          </a:p>
        </p:txBody>
      </p:sp>
      <p:sp>
        <p:nvSpPr>
          <p:cNvPr id="9" name="text-316-72">
            <a:extLst>
              <a:ext uri="{FF2B5EF4-FFF2-40B4-BE49-F238E27FC236}">
                <a16:creationId xmlns:a16="http://schemas.microsoft.com/office/drawing/2014/main" id="{0186BB94-9D44-4F2D-B0CC-8FF16BEB361F}"/>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420E9B55-978D-4702-A4E7-91E2C92CEE1E}"/>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a:t>
            </a:r>
          </a:p>
        </p:txBody>
      </p:sp>
      <p:sp>
        <p:nvSpPr>
          <p:cNvPr id="11" name="직사각형 10">
            <a:extLst>
              <a:ext uri="{FF2B5EF4-FFF2-40B4-BE49-F238E27FC236}">
                <a16:creationId xmlns:a16="http://schemas.microsoft.com/office/drawing/2014/main" id="{D97AE4C5-A6A9-4593-BB3B-6D23419D1819}"/>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93AC282E-B7F9-4F3D-9464-9464D11B3E2E}"/>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85E729A2-8DB6-4DB1-B4A4-3E596909EADE}"/>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Θ(log n)</a:t>
            </a:r>
          </a:p>
        </p:txBody>
      </p:sp>
      <p:sp>
        <p:nvSpPr>
          <p:cNvPr id="14" name="직사각형 13">
            <a:extLst>
              <a:ext uri="{FF2B5EF4-FFF2-40B4-BE49-F238E27FC236}">
                <a16:creationId xmlns:a16="http://schemas.microsoft.com/office/drawing/2014/main" id="{4E8685D4-23AB-44B9-9508-79AB3C4282D7}"/>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9A7FDD2D-DB5A-4D0F-B357-C1588824CB17}"/>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D05C4C20-9508-4718-94C3-736EDE8AB762}"/>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Θ(n³ log n)</a:t>
            </a:r>
          </a:p>
        </p:txBody>
      </p:sp>
      <p:sp>
        <p:nvSpPr>
          <p:cNvPr id="17" name="직사각형 16">
            <a:extLst>
              <a:ext uri="{FF2B5EF4-FFF2-40B4-BE49-F238E27FC236}">
                <a16:creationId xmlns:a16="http://schemas.microsoft.com/office/drawing/2014/main" id="{35DD793E-BBD3-4AE9-BF98-CB70B2F87349}"/>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B3C3E3A5-C585-4068-B712-3A6F7EBFB538}"/>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7FEC630B-592C-47BE-B229-272044EDB226}"/>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Θ(n^(log₂7))</a:t>
            </a:r>
          </a:p>
        </p:txBody>
      </p:sp>
      <p:sp>
        <p:nvSpPr>
          <p:cNvPr id="20" name="직사각형 19">
            <a:extLst>
              <a:ext uri="{FF2B5EF4-FFF2-40B4-BE49-F238E27FC236}">
                <a16:creationId xmlns:a16="http://schemas.microsoft.com/office/drawing/2014/main" id="{144CDB43-6E75-47E1-B75B-588965EC5BC9}"/>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69270A4A-83CA-4CF0-A1D1-83F920A6CB0F}"/>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89F3B3C3-31F9-4C2C-99BD-81DC66B78A64}"/>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Θ(n² log n)</a:t>
            </a:r>
          </a:p>
        </p:txBody>
      </p:sp>
    </p:spTree>
    <p:extLst>
      <p:ext uri="{BB962C8B-B14F-4D97-AF65-F5344CB8AC3E}">
        <p14:creationId xmlns:p14="http://schemas.microsoft.com/office/powerpoint/2010/main" val="46268551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B32B8E3-82AF-4123-8590-68023541598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348784AE-775D-4318-A3DF-33901A25B9F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71024E5-CCA0-4923-8E58-0B9D61A6C6C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38  정답과 해설</a:t>
            </a:r>
          </a:p>
        </p:txBody>
      </p:sp>
      <p:sp>
        <p:nvSpPr>
          <p:cNvPr id="4" name="직사각형 3">
            <a:extLst>
              <a:ext uri="{FF2B5EF4-FFF2-40B4-BE49-F238E27FC236}">
                <a16:creationId xmlns:a16="http://schemas.microsoft.com/office/drawing/2014/main" id="{67334FC2-10CA-4E6F-B20F-7F481B91DE2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2F2ECF8-3BFC-4C98-9BB3-24BC088678E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811975A-E274-4BA6-AE2B-FAFC9AF10CC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E8C395E-4C86-4F22-B821-DA3E914DE13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076</a:t>
            </a:r>
          </a:p>
        </p:txBody>
      </p:sp>
      <p:sp>
        <p:nvSpPr>
          <p:cNvPr id="8" name="text-178-64">
            <a:extLst>
              <a:ext uri="{FF2B5EF4-FFF2-40B4-BE49-F238E27FC236}">
                <a16:creationId xmlns:a16="http://schemas.microsoft.com/office/drawing/2014/main" id="{91ABFCC9-6411-416A-B7F0-903C53D9A18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슈트라센의 T(n)=7T(n/2)+Θ(n²)에서 차수는?</a:t>
            </a:r>
          </a:p>
        </p:txBody>
      </p:sp>
      <p:sp>
        <p:nvSpPr>
          <p:cNvPr id="9" name="직사각형 8">
            <a:extLst>
              <a:ext uri="{FF2B5EF4-FFF2-40B4-BE49-F238E27FC236}">
                <a16:creationId xmlns:a16="http://schemas.microsoft.com/office/drawing/2014/main" id="{546679FD-908F-46B1-BA9E-5B4FF04BBDF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C8AB01A9-4F5E-4E39-A592-3721E4CCFA2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4번 Θ(n^(log₂7))</a:t>
            </a:r>
          </a:p>
        </p:txBody>
      </p:sp>
      <p:sp>
        <p:nvSpPr>
          <p:cNvPr id="11" name="text-324.4-64">
            <a:extLst>
              <a:ext uri="{FF2B5EF4-FFF2-40B4-BE49-F238E27FC236}">
                <a16:creationId xmlns:a16="http://schemas.microsoft.com/office/drawing/2014/main" id="{629BB055-4870-4801-AE1F-239718692D0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25DAF4D-AA4F-4E40-9DEE-BDA949369CF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0BE3835-3D9D-459B-AA51-77D30FBCBA4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log₂7≈2.807이다. 결합의 이차 비용보다 재귀 곱셈의 지수가 크다.</a:t>
            </a:r>
          </a:p>
        </p:txBody>
      </p:sp>
    </p:spTree>
    <p:extLst>
      <p:ext uri="{BB962C8B-B14F-4D97-AF65-F5344CB8AC3E}">
        <p14:creationId xmlns:p14="http://schemas.microsoft.com/office/powerpoint/2010/main" val="46268551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A84A524A-7AFC-4B3A-ADE8-AD7EC124DBE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2EE32900-87DF-4A65-8DD6-6DB02C11F4E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ADBEB37-F3C6-4D5C-9693-C09C254A988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a:t>
            </a:r>
          </a:p>
        </p:txBody>
      </p:sp>
      <p:sp>
        <p:nvSpPr>
          <p:cNvPr id="4" name="직사각형 3">
            <a:extLst>
              <a:ext uri="{FF2B5EF4-FFF2-40B4-BE49-F238E27FC236}">
                <a16:creationId xmlns:a16="http://schemas.microsoft.com/office/drawing/2014/main" id="{82CC2454-CA61-4779-922A-4FF2D57A7D0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409EF2B-955B-44E3-B547-635C1CFEDCF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0B666FF-B540-4241-8FCE-1DDB013569C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B151152-5267-45AA-B10A-E299950465F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077</a:t>
            </a:r>
          </a:p>
        </p:txBody>
      </p:sp>
      <p:sp>
        <p:nvSpPr>
          <p:cNvPr id="8" name="text-178-64">
            <a:extLst>
              <a:ext uri="{FF2B5EF4-FFF2-40B4-BE49-F238E27FC236}">
                <a16:creationId xmlns:a16="http://schemas.microsoft.com/office/drawing/2014/main" id="{E75E802B-1C38-4B42-97C5-0907DA2571D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행렬 크기가 2의 거듭제곱이 아니어도 슈트라센을 적용하는 한 방법은?</a:t>
            </a:r>
          </a:p>
        </p:txBody>
      </p:sp>
      <p:sp>
        <p:nvSpPr>
          <p:cNvPr id="9" name="text-316-72">
            <a:extLst>
              <a:ext uri="{FF2B5EF4-FFF2-40B4-BE49-F238E27FC236}">
                <a16:creationId xmlns:a16="http://schemas.microsoft.com/office/drawing/2014/main" id="{6B68998C-6BDD-4B84-AC7F-F69796AA9ACF}"/>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C85EA806-3A98-4C4F-87B6-885A09C74BF3}"/>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0으로 채워 다음 2의 거듭제곱 크기로 확장한다</a:t>
            </a:r>
          </a:p>
        </p:txBody>
      </p:sp>
      <p:sp>
        <p:nvSpPr>
          <p:cNvPr id="11" name="직사각형 10">
            <a:extLst>
              <a:ext uri="{FF2B5EF4-FFF2-40B4-BE49-F238E27FC236}">
                <a16:creationId xmlns:a16="http://schemas.microsoft.com/office/drawing/2014/main" id="{7BA0CD3A-B096-4EF3-A32F-4400435449C8}"/>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5B878612-1148-410D-A1ED-649B5EFB197C}"/>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49F3B451-3D88-43C1-A75D-E316409A5537}"/>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입력을 반올림해 더 작은 2의 거듭제곱 크기로 줄인다</a:t>
            </a:r>
          </a:p>
        </p:txBody>
      </p:sp>
      <p:sp>
        <p:nvSpPr>
          <p:cNvPr id="14" name="직사각형 13">
            <a:extLst>
              <a:ext uri="{FF2B5EF4-FFF2-40B4-BE49-F238E27FC236}">
                <a16:creationId xmlns:a16="http://schemas.microsoft.com/office/drawing/2014/main" id="{EAA12376-7552-4F44-8CDB-5E0327820625}"/>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FCCF8316-7E7A-494A-9117-3330D13FAC36}"/>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F1137F0-8FEE-4714-80F6-1E18536EF3F0}"/>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1로 채워 확장한 뒤 원래 크기만 취한다</a:t>
            </a:r>
          </a:p>
        </p:txBody>
      </p:sp>
      <p:sp>
        <p:nvSpPr>
          <p:cNvPr id="17" name="직사각형 16">
            <a:extLst>
              <a:ext uri="{FF2B5EF4-FFF2-40B4-BE49-F238E27FC236}">
                <a16:creationId xmlns:a16="http://schemas.microsoft.com/office/drawing/2014/main" id="{424A003B-D73C-405C-A8CA-8589BDC21E0C}"/>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FFD90D64-847D-49D3-8FFA-F59E202ECBA6}"/>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5D1C3949-B239-4279-8361-FC33BE0B9CBF}"/>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행만 확장하고 열은 그대로 두어 정사각형 블록으로 나눈다</a:t>
            </a:r>
          </a:p>
        </p:txBody>
      </p:sp>
      <p:sp>
        <p:nvSpPr>
          <p:cNvPr id="20" name="직사각형 19">
            <a:extLst>
              <a:ext uri="{FF2B5EF4-FFF2-40B4-BE49-F238E27FC236}">
                <a16:creationId xmlns:a16="http://schemas.microsoft.com/office/drawing/2014/main" id="{9BBD75B6-C8DD-432A-8140-9D05EB573A7D}"/>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993D013D-A2DD-4350-9E79-60325F543775}"/>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D0DC3644-4715-43D5-B214-5FF9483682E0}"/>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남는 행과 열은 계산에서 제외한다</a:t>
            </a:r>
          </a:p>
        </p:txBody>
      </p:sp>
    </p:spTree>
    <p:extLst>
      <p:ext uri="{BB962C8B-B14F-4D97-AF65-F5344CB8AC3E}">
        <p14:creationId xmlns:p14="http://schemas.microsoft.com/office/powerpoint/2010/main" val="46268551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EFE47C3-54D9-443C-AEA8-AEA1C044481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14574848-819A-4EFA-8093-4B3090CB38C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C35002F-7AA3-448B-80BA-8B6337A9388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39  정답과 해설</a:t>
            </a:r>
          </a:p>
        </p:txBody>
      </p:sp>
      <p:sp>
        <p:nvSpPr>
          <p:cNvPr id="4" name="직사각형 3">
            <a:extLst>
              <a:ext uri="{FF2B5EF4-FFF2-40B4-BE49-F238E27FC236}">
                <a16:creationId xmlns:a16="http://schemas.microsoft.com/office/drawing/2014/main" id="{BA3DB61A-BC8F-4B9C-93A7-AD27A43D63C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A76C85C-30B5-4E45-92C9-A7CCD352876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26FE323-00DA-41CA-AD70-C0BDEF93285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38BCD2D-BD27-4B5A-BA9C-7AC3CDA96A8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078</a:t>
            </a:r>
          </a:p>
        </p:txBody>
      </p:sp>
      <p:sp>
        <p:nvSpPr>
          <p:cNvPr id="8" name="text-178-64">
            <a:extLst>
              <a:ext uri="{FF2B5EF4-FFF2-40B4-BE49-F238E27FC236}">
                <a16:creationId xmlns:a16="http://schemas.microsoft.com/office/drawing/2014/main" id="{8150BDD9-8FF2-49F9-B833-4BA33D9AD42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행렬 크기가 2의 거듭제곱이 아니어도 슈트라센을 적용하는 한 방법은?</a:t>
            </a:r>
          </a:p>
        </p:txBody>
      </p:sp>
      <p:sp>
        <p:nvSpPr>
          <p:cNvPr id="9" name="직사각형 8">
            <a:extLst>
              <a:ext uri="{FF2B5EF4-FFF2-40B4-BE49-F238E27FC236}">
                <a16:creationId xmlns:a16="http://schemas.microsoft.com/office/drawing/2014/main" id="{66CE0E3B-61AD-4D1C-91AD-2C5912095CB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FB703EF-7A6A-46C3-97FC-F153FFB426C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1번 0으로 채워 다음 2의 거듭제곱 크기로 확장한다</a:t>
            </a:r>
          </a:p>
        </p:txBody>
      </p:sp>
      <p:sp>
        <p:nvSpPr>
          <p:cNvPr id="11" name="text-324.4-64">
            <a:extLst>
              <a:ext uri="{FF2B5EF4-FFF2-40B4-BE49-F238E27FC236}">
                <a16:creationId xmlns:a16="http://schemas.microsoft.com/office/drawing/2014/main" id="{C4A0987A-2115-429B-9BF0-88B3B1B68B8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3D95EE4-1667-4F6F-BBD0-608DF010189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3E48ADF1-020D-44DC-A32D-90F545BDA56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0 패딩 후 원래 크기 결과만 취하면 원래 곱을 보존한다.</a:t>
            </a:r>
          </a:p>
        </p:txBody>
      </p:sp>
    </p:spTree>
    <p:extLst>
      <p:ext uri="{BB962C8B-B14F-4D97-AF65-F5344CB8AC3E}">
        <p14:creationId xmlns:p14="http://schemas.microsoft.com/office/powerpoint/2010/main" val="462685519"/>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79562872-9051-433B-B7D0-7E6A9911C88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785E64A4-A070-41FF-B826-74582F4DE97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AA684D5-FE5A-4051-8495-F1B064D4B70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a:t>
            </a:r>
          </a:p>
        </p:txBody>
      </p:sp>
      <p:sp>
        <p:nvSpPr>
          <p:cNvPr id="4" name="직사각형 3">
            <a:extLst>
              <a:ext uri="{FF2B5EF4-FFF2-40B4-BE49-F238E27FC236}">
                <a16:creationId xmlns:a16="http://schemas.microsoft.com/office/drawing/2014/main" id="{A3D46755-89BC-45C4-A1A3-7AB4B3BB17E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A64381B-D053-4D14-8A88-6C11AA0DA06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DADCDEE-1D22-4C4C-95A3-F25F5E60B40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27DC437-1C10-4B46-B84D-4F058A57DA4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079</a:t>
            </a:r>
          </a:p>
        </p:txBody>
      </p:sp>
      <p:sp>
        <p:nvSpPr>
          <p:cNvPr id="8" name="text-178-64">
            <a:extLst>
              <a:ext uri="{FF2B5EF4-FFF2-40B4-BE49-F238E27FC236}">
                <a16:creationId xmlns:a16="http://schemas.microsoft.com/office/drawing/2014/main" id="{B76809D8-1C84-46E5-8940-0300CDBE499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카라추바·슈트라센이 작은 입력에서 항상 더 빠르다고 할 수 없는 이유는?</a:t>
            </a:r>
          </a:p>
        </p:txBody>
      </p:sp>
      <p:sp>
        <p:nvSpPr>
          <p:cNvPr id="9" name="text-316-72">
            <a:extLst>
              <a:ext uri="{FF2B5EF4-FFF2-40B4-BE49-F238E27FC236}">
                <a16:creationId xmlns:a16="http://schemas.microsoft.com/office/drawing/2014/main" id="{CB39DA27-3282-46D8-9719-4E76387D8799}"/>
              </a:ext>
            </a:extLst>
          </p:cNvPr>
          <p:cNvSpPr>
            <a:spLocks noGrp="1"/>
          </p:cNvSpPr>
          <p:nvPr/>
        </p:nvSpPr>
        <p:spPr>
          <a:xfrm>
            <a:off x="685800" y="30099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1</a:t>
            </a:r>
          </a:p>
        </p:txBody>
      </p:sp>
      <p:sp>
        <p:nvSpPr>
          <p:cNvPr id="10" name="text-316-124">
            <a:extLst>
              <a:ext uri="{FF2B5EF4-FFF2-40B4-BE49-F238E27FC236}">
                <a16:creationId xmlns:a16="http://schemas.microsoft.com/office/drawing/2014/main" id="{1BBDFBB7-0DAA-42A7-8D4A-6616E3400663}"/>
              </a:ext>
            </a:extLst>
          </p:cNvPr>
          <p:cNvSpPr>
            <a:spLocks noGrp="1"/>
          </p:cNvSpPr>
          <p:nvPr/>
        </p:nvSpPr>
        <p:spPr>
          <a:xfrm>
            <a:off x="1181100" y="30099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재귀 곱셈 횟수 감소만으로 실제 시간을 정확히 알 수 있다</a:t>
            </a:r>
          </a:p>
        </p:txBody>
      </p:sp>
      <p:sp>
        <p:nvSpPr>
          <p:cNvPr id="11" name="직사각형 10">
            <a:extLst>
              <a:ext uri="{FF2B5EF4-FFF2-40B4-BE49-F238E27FC236}">
                <a16:creationId xmlns:a16="http://schemas.microsoft.com/office/drawing/2014/main" id="{2BF9E363-48D3-4FAE-A51D-33B884F243C2}"/>
              </a:ext>
            </a:extLst>
          </p:cNvPr>
          <p:cNvSpPr>
            <a:spLocks noGrp="1"/>
          </p:cNvSpPr>
          <p:nvPr/>
        </p:nvSpPr>
        <p:spPr>
          <a:xfrm>
            <a:off x="1181100" y="3552825"/>
            <a:ext cx="10401300" cy="9525"/>
          </a:xfrm>
          <a:prstGeom prst="rect">
            <a:avLst/>
          </a:prstGeom>
          <a:solidFill>
            <a:srgbClr val="E7E7E7"/>
          </a:solidFill>
          <a:ln w="0">
            <a:noFill/>
          </a:ln>
        </p:spPr>
      </p:sp>
      <p:sp>
        <p:nvSpPr>
          <p:cNvPr id="12" name="text-382-72">
            <a:extLst>
              <a:ext uri="{FF2B5EF4-FFF2-40B4-BE49-F238E27FC236}">
                <a16:creationId xmlns:a16="http://schemas.microsoft.com/office/drawing/2014/main" id="{2232E95E-9EC6-4F99-B4F7-836EE28D7CF5}"/>
              </a:ext>
            </a:extLst>
          </p:cNvPr>
          <p:cNvSpPr>
            <a:spLocks noGrp="1"/>
          </p:cNvSpPr>
          <p:nvPr/>
        </p:nvSpPr>
        <p:spPr>
          <a:xfrm>
            <a:off x="685800" y="36385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2</a:t>
            </a:r>
          </a:p>
        </p:txBody>
      </p:sp>
      <p:sp>
        <p:nvSpPr>
          <p:cNvPr id="13" name="text-382-124">
            <a:extLst>
              <a:ext uri="{FF2B5EF4-FFF2-40B4-BE49-F238E27FC236}">
                <a16:creationId xmlns:a16="http://schemas.microsoft.com/office/drawing/2014/main" id="{82513331-7A1A-42C8-9C71-88ECED95D74B}"/>
              </a:ext>
            </a:extLst>
          </p:cNvPr>
          <p:cNvSpPr>
            <a:spLocks noGrp="1"/>
          </p:cNvSpPr>
          <p:nvPr/>
        </p:nvSpPr>
        <p:spPr>
          <a:xfrm>
            <a:off x="1181100" y="36385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기저 사례를 없애면 작은 입력에서 반드시 더 빠르다</a:t>
            </a:r>
          </a:p>
        </p:txBody>
      </p:sp>
      <p:sp>
        <p:nvSpPr>
          <p:cNvPr id="14" name="직사각형 13">
            <a:extLst>
              <a:ext uri="{FF2B5EF4-FFF2-40B4-BE49-F238E27FC236}">
                <a16:creationId xmlns:a16="http://schemas.microsoft.com/office/drawing/2014/main" id="{CE2B150D-46EB-4C4C-A135-F3F52886CB21}"/>
              </a:ext>
            </a:extLst>
          </p:cNvPr>
          <p:cNvSpPr>
            <a:spLocks noGrp="1"/>
          </p:cNvSpPr>
          <p:nvPr/>
        </p:nvSpPr>
        <p:spPr>
          <a:xfrm>
            <a:off x="1181100" y="4181475"/>
            <a:ext cx="10401300" cy="9525"/>
          </a:xfrm>
          <a:prstGeom prst="rect">
            <a:avLst/>
          </a:prstGeom>
          <a:solidFill>
            <a:srgbClr val="E7E7E7"/>
          </a:solidFill>
          <a:ln w="0">
            <a:noFill/>
          </a:ln>
        </p:spPr>
      </p:sp>
      <p:sp>
        <p:nvSpPr>
          <p:cNvPr id="15" name="text-448-72">
            <a:extLst>
              <a:ext uri="{FF2B5EF4-FFF2-40B4-BE49-F238E27FC236}">
                <a16:creationId xmlns:a16="http://schemas.microsoft.com/office/drawing/2014/main" id="{A73D7564-1DC8-4170-90AA-B40543A07030}"/>
              </a:ext>
            </a:extLst>
          </p:cNvPr>
          <p:cNvSpPr>
            <a:spLocks noGrp="1"/>
          </p:cNvSpPr>
          <p:nvPr/>
        </p:nvSpPr>
        <p:spPr>
          <a:xfrm>
            <a:off x="685800" y="42672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3</a:t>
            </a:r>
          </a:p>
        </p:txBody>
      </p:sp>
      <p:sp>
        <p:nvSpPr>
          <p:cNvPr id="16" name="text-448-124">
            <a:extLst>
              <a:ext uri="{FF2B5EF4-FFF2-40B4-BE49-F238E27FC236}">
                <a16:creationId xmlns:a16="http://schemas.microsoft.com/office/drawing/2014/main" id="{5BD41CFA-8972-4799-9ADA-35E445C5F8FB}"/>
              </a:ext>
            </a:extLst>
          </p:cNvPr>
          <p:cNvSpPr>
            <a:spLocks noGrp="1"/>
          </p:cNvSpPr>
          <p:nvPr/>
        </p:nvSpPr>
        <p:spPr>
          <a:xfrm>
            <a:off x="1181100" y="42672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추가 연산과 호출 비용의 상수가 크기 때문이다</a:t>
            </a:r>
          </a:p>
        </p:txBody>
      </p:sp>
      <p:sp>
        <p:nvSpPr>
          <p:cNvPr id="17" name="직사각형 16">
            <a:extLst>
              <a:ext uri="{FF2B5EF4-FFF2-40B4-BE49-F238E27FC236}">
                <a16:creationId xmlns:a16="http://schemas.microsoft.com/office/drawing/2014/main" id="{1F6F1B2C-2D7B-4648-8E12-8CF8219A3A80}"/>
              </a:ext>
            </a:extLst>
          </p:cNvPr>
          <p:cNvSpPr>
            <a:spLocks noGrp="1"/>
          </p:cNvSpPr>
          <p:nvPr/>
        </p:nvSpPr>
        <p:spPr>
          <a:xfrm>
            <a:off x="1181100" y="4810125"/>
            <a:ext cx="10401300" cy="9525"/>
          </a:xfrm>
          <a:prstGeom prst="rect">
            <a:avLst/>
          </a:prstGeom>
          <a:solidFill>
            <a:srgbClr val="E7E7E7"/>
          </a:solidFill>
          <a:ln w="0">
            <a:noFill/>
          </a:ln>
        </p:spPr>
      </p:sp>
      <p:sp>
        <p:nvSpPr>
          <p:cNvPr id="18" name="text-514-72">
            <a:extLst>
              <a:ext uri="{FF2B5EF4-FFF2-40B4-BE49-F238E27FC236}">
                <a16:creationId xmlns:a16="http://schemas.microsoft.com/office/drawing/2014/main" id="{15381F99-67EF-4403-AB91-52164E145B6E}"/>
              </a:ext>
            </a:extLst>
          </p:cNvPr>
          <p:cNvSpPr>
            <a:spLocks noGrp="1"/>
          </p:cNvSpPr>
          <p:nvPr/>
        </p:nvSpPr>
        <p:spPr>
          <a:xfrm>
            <a:off x="685800" y="489585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4</a:t>
            </a:r>
          </a:p>
        </p:txBody>
      </p:sp>
      <p:sp>
        <p:nvSpPr>
          <p:cNvPr id="19" name="text-514-124">
            <a:extLst>
              <a:ext uri="{FF2B5EF4-FFF2-40B4-BE49-F238E27FC236}">
                <a16:creationId xmlns:a16="http://schemas.microsoft.com/office/drawing/2014/main" id="{859BF0F7-77F7-4C65-8245-76C7F5DAF037}"/>
              </a:ext>
            </a:extLst>
          </p:cNvPr>
          <p:cNvSpPr>
            <a:spLocks noGrp="1"/>
          </p:cNvSpPr>
          <p:nvPr/>
        </p:nvSpPr>
        <p:spPr>
          <a:xfrm>
            <a:off x="1181100" y="489585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추가 덧셈은 곱셈을 줄여도 실행 시간에 영향을 주지 않는다</a:t>
            </a:r>
          </a:p>
        </p:txBody>
      </p:sp>
      <p:sp>
        <p:nvSpPr>
          <p:cNvPr id="20" name="직사각형 19">
            <a:extLst>
              <a:ext uri="{FF2B5EF4-FFF2-40B4-BE49-F238E27FC236}">
                <a16:creationId xmlns:a16="http://schemas.microsoft.com/office/drawing/2014/main" id="{6DDD4BA5-2974-4851-9118-B125BAA1F256}"/>
              </a:ext>
            </a:extLst>
          </p:cNvPr>
          <p:cNvSpPr>
            <a:spLocks noGrp="1"/>
          </p:cNvSpPr>
          <p:nvPr/>
        </p:nvSpPr>
        <p:spPr>
          <a:xfrm>
            <a:off x="1181100" y="5438775"/>
            <a:ext cx="10401300" cy="9525"/>
          </a:xfrm>
          <a:prstGeom prst="rect">
            <a:avLst/>
          </a:prstGeom>
          <a:solidFill>
            <a:srgbClr val="E7E7E7"/>
          </a:solidFill>
          <a:ln w="0">
            <a:noFill/>
          </a:ln>
        </p:spPr>
      </p:sp>
      <p:sp>
        <p:nvSpPr>
          <p:cNvPr id="21" name="text-580-72">
            <a:extLst>
              <a:ext uri="{FF2B5EF4-FFF2-40B4-BE49-F238E27FC236}">
                <a16:creationId xmlns:a16="http://schemas.microsoft.com/office/drawing/2014/main" id="{2541BEFC-917A-4BE4-875B-740BC3AF7452}"/>
              </a:ext>
            </a:extLst>
          </p:cNvPr>
          <p:cNvSpPr>
            <a:spLocks noGrp="1"/>
          </p:cNvSpPr>
          <p:nvPr/>
        </p:nvSpPr>
        <p:spPr>
          <a:xfrm>
            <a:off x="685800" y="5524500"/>
            <a:ext cx="400050" cy="381000"/>
          </a:xfrm>
          <a:prstGeom prst="rect">
            <a:avLst/>
          </a:prstGeom>
          <a:noFill/>
          <a:ln w="0">
            <a:noFill/>
          </a:ln>
        </p:spPr>
        <p:txBody>
          <a:bodyPr wrap="none" lIns="0" tIns="0" rIns="0" bIns="0" anchor="t">
            <a:noAutofit/>
          </a:bodyPr>
          <a:lstStyle/>
          <a:p>
            <a:pPr algn="l">
              <a:lnSpc>
                <a:spcPct val="108000"/>
              </a:lnSpc>
              <a:buNone/>
              <a:defRPr sz="1950" b="1" i="0">
                <a:solidFill>
                  <a:srgbClr val="171717"/>
                </a:solidFill>
                <a:latin typeface="Consolas"/>
                <a:ea typeface="Consolas"/>
                <a:cs typeface="Consolas"/>
              </a:defRPr>
            </a:pPr>
            <a:r>
              <a:rPr sz="1950" b="1" i="0">
                <a:solidFill>
                  <a:srgbClr val="171717"/>
                </a:solidFill>
                <a:latin typeface="Consolas"/>
                <a:ea typeface="Consolas"/>
                <a:cs typeface="Consolas"/>
              </a:rPr>
              <a:t>5</a:t>
            </a:r>
          </a:p>
        </p:txBody>
      </p:sp>
      <p:sp>
        <p:nvSpPr>
          <p:cNvPr id="22" name="text-580-124">
            <a:extLst>
              <a:ext uri="{FF2B5EF4-FFF2-40B4-BE49-F238E27FC236}">
                <a16:creationId xmlns:a16="http://schemas.microsoft.com/office/drawing/2014/main" id="{5A720F3E-AFFB-43F5-B743-C73A4E378243}"/>
              </a:ext>
            </a:extLst>
          </p:cNvPr>
          <p:cNvSpPr>
            <a:spLocks noGrp="1"/>
          </p:cNvSpPr>
          <p:nvPr/>
        </p:nvSpPr>
        <p:spPr>
          <a:xfrm>
            <a:off x="1181100" y="5524500"/>
            <a:ext cx="10401300" cy="333375"/>
          </a:xfrm>
          <a:prstGeom prst="rect">
            <a:avLst/>
          </a:prstGeom>
          <a:noFill/>
          <a:ln w="0">
            <a:noFill/>
          </a:ln>
        </p:spPr>
        <p:txBody>
          <a:bodyPr wrap="none" lIns="0" tIns="0" rIns="0" bIns="0" anchor="t">
            <a:noAutofit/>
          </a:bodyPr>
          <a:lstStyle/>
          <a:p>
            <a:pPr algn="l">
              <a:lnSpc>
                <a:spcPct val="108000"/>
              </a:lnSpc>
              <a:buNone/>
              <a:defRPr sz="1875" b="0" i="0">
                <a:solidFill>
                  <a:srgbClr val="171717"/>
                </a:solidFill>
                <a:latin typeface="Malgun Gothic"/>
                <a:ea typeface="Malgun Gothic"/>
                <a:cs typeface="Malgun Gothic"/>
              </a:defRPr>
            </a:pPr>
            <a:r>
              <a:rPr sz="1875" b="0" i="0">
                <a:solidFill>
                  <a:srgbClr val="171717"/>
                </a:solidFill>
                <a:latin typeface="Malgun Gothic"/>
                <a:ea typeface="Malgun Gothic"/>
                <a:cs typeface="Malgun Gothic"/>
              </a:rPr>
              <a:t>점근 차수가 작으면 모든 입력 크기에서 더 빠르다</a:t>
            </a:r>
          </a:p>
        </p:txBody>
      </p:sp>
    </p:spTree>
    <p:extLst>
      <p:ext uri="{BB962C8B-B14F-4D97-AF65-F5344CB8AC3E}">
        <p14:creationId xmlns:p14="http://schemas.microsoft.com/office/powerpoint/2010/main" val="46268551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A5DD1E3-8A26-4CBF-83EA-CEE2309756E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객관식</a:t>
            </a:r>
          </a:p>
        </p:txBody>
      </p:sp>
      <p:sp>
        <p:nvSpPr>
          <p:cNvPr id="2" name="text-28-1080">
            <a:extLst>
              <a:ext uri="{FF2B5EF4-FFF2-40B4-BE49-F238E27FC236}">
                <a16:creationId xmlns:a16="http://schemas.microsoft.com/office/drawing/2014/main" id="{85831F61-32C4-473A-8393-368587BC8F6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668721B-A438-49DE-8D7C-BC0BF997026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40  정답과 해설</a:t>
            </a:r>
          </a:p>
        </p:txBody>
      </p:sp>
      <p:sp>
        <p:nvSpPr>
          <p:cNvPr id="4" name="직사각형 3">
            <a:extLst>
              <a:ext uri="{FF2B5EF4-FFF2-40B4-BE49-F238E27FC236}">
                <a16:creationId xmlns:a16="http://schemas.microsoft.com/office/drawing/2014/main" id="{6280CD09-5709-46A8-B4CC-F34BB0E7B85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C7F8B53-7C3B-466D-AE99-FC9B530B281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EB9E992-C8DF-436E-B091-BDA8E13274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DC30922-C916-4455-AE4B-166BA37BF10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080</a:t>
            </a:r>
          </a:p>
        </p:txBody>
      </p:sp>
      <p:sp>
        <p:nvSpPr>
          <p:cNvPr id="8" name="text-178-64">
            <a:extLst>
              <a:ext uri="{FF2B5EF4-FFF2-40B4-BE49-F238E27FC236}">
                <a16:creationId xmlns:a16="http://schemas.microsoft.com/office/drawing/2014/main" id="{395E7C3D-F980-4C82-AAFC-98F282812E04}"/>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카라추바·슈트라센이 작은 입력에서 항상 더 빠르다고 할 수 없는 이유는?</a:t>
            </a:r>
          </a:p>
        </p:txBody>
      </p:sp>
      <p:sp>
        <p:nvSpPr>
          <p:cNvPr id="9" name="직사각형 8">
            <a:extLst>
              <a:ext uri="{FF2B5EF4-FFF2-40B4-BE49-F238E27FC236}">
                <a16:creationId xmlns:a16="http://schemas.microsoft.com/office/drawing/2014/main" id="{4F304B36-BC96-4FCB-9285-14CDDFC4522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B0736691-8DCB-4778-936A-965FCC48F75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3번 추가 연산과 호출 비용의 상수가 크기 때문이다</a:t>
            </a:r>
          </a:p>
        </p:txBody>
      </p:sp>
      <p:sp>
        <p:nvSpPr>
          <p:cNvPr id="11" name="text-324.4-64">
            <a:extLst>
              <a:ext uri="{FF2B5EF4-FFF2-40B4-BE49-F238E27FC236}">
                <a16:creationId xmlns:a16="http://schemas.microsoft.com/office/drawing/2014/main" id="{679939F5-58F0-4826-BA6B-20C62A1D752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2D78BC2-BE75-44EB-B92A-CAC2C6DBD72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47157607-C875-4493-A6C8-1D98BE4553C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점근적 성장률과 특정 크기·환경의 실제 실행 시간은 구분해야 한다.</a:t>
            </a:r>
          </a:p>
        </p:txBody>
      </p:sp>
    </p:spTree>
    <p:extLst>
      <p:ext uri="{BB962C8B-B14F-4D97-AF65-F5344CB8AC3E}">
        <p14:creationId xmlns:p14="http://schemas.microsoft.com/office/powerpoint/2010/main" val="46268551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82C6963-8DFF-4768-981A-AA5CD452895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D857FF44-AFEE-4715-8E28-080238DF57E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FB3F817-26A8-4F3E-965D-6814B0D68D6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a:t>
            </a:r>
          </a:p>
        </p:txBody>
      </p:sp>
      <p:sp>
        <p:nvSpPr>
          <p:cNvPr id="4" name="직사각형 3">
            <a:extLst>
              <a:ext uri="{FF2B5EF4-FFF2-40B4-BE49-F238E27FC236}">
                <a16:creationId xmlns:a16="http://schemas.microsoft.com/office/drawing/2014/main" id="{62319243-6F70-47FD-BE2A-E59FAB7B2A5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0B64ACF-7456-4641-9AB5-E57A5F4159D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31060D0-C659-46F4-A829-F4FB7F766EE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FECB941-88ED-4AF7-98DC-0D4E0CE628C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081</a:t>
            </a:r>
          </a:p>
        </p:txBody>
      </p:sp>
      <p:sp>
        <p:nvSpPr>
          <p:cNvPr id="8" name="text-178-64">
            <a:extLst>
              <a:ext uri="{FF2B5EF4-FFF2-40B4-BE49-F238E27FC236}">
                <a16:creationId xmlns:a16="http://schemas.microsoft.com/office/drawing/2014/main" id="{F4B17206-BDA1-422C-BA51-564F51430EDB}"/>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[1,4,7]과 [2,3,8]을 표준 병합한다. 결과와 원소 비교 횟수를 쓰시오.</a:t>
            </a:r>
          </a:p>
        </p:txBody>
      </p:sp>
      <p:sp>
        <p:nvSpPr>
          <p:cNvPr id="9" name="text-405-64">
            <a:extLst>
              <a:ext uri="{FF2B5EF4-FFF2-40B4-BE49-F238E27FC236}">
                <a16:creationId xmlns:a16="http://schemas.microsoft.com/office/drawing/2014/main" id="{5A68AEE1-9AA2-4F89-BB93-0A50787B24C2}"/>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F08989B-5D24-4F04-9851-86E53AC8E0C4}"/>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D0EF2614-1367-4240-AE1A-4FF731A41B4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C203C27-E1F6-4F15-B565-C2508AA2346B}"/>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4C14BC9B-E4D6-4C9D-86C6-022C47EE064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90FAE9C-C48C-409E-BDF6-2B475C1632A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344B1B7-11A2-4CF1-8649-15A03686B9B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41  정답과 해설</a:t>
            </a:r>
          </a:p>
        </p:txBody>
      </p:sp>
      <p:sp>
        <p:nvSpPr>
          <p:cNvPr id="4" name="직사각형 3">
            <a:extLst>
              <a:ext uri="{FF2B5EF4-FFF2-40B4-BE49-F238E27FC236}">
                <a16:creationId xmlns:a16="http://schemas.microsoft.com/office/drawing/2014/main" id="{5E72A576-A88A-4055-BB68-269BA49DF33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A03B1D4-4973-4110-80A6-392E1AA51AC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4878FBA-9049-4A2F-9419-F04CE78C9EA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46678DC-5646-41EB-AA7D-A61DCFF9169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082</a:t>
            </a:r>
          </a:p>
        </p:txBody>
      </p:sp>
      <p:sp>
        <p:nvSpPr>
          <p:cNvPr id="8" name="text-178-64">
            <a:extLst>
              <a:ext uri="{FF2B5EF4-FFF2-40B4-BE49-F238E27FC236}">
                <a16:creationId xmlns:a16="http://schemas.microsoft.com/office/drawing/2014/main" id="{DC634086-6CDC-4CB8-9C50-C9BA436DDB46}"/>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[1,4,7]과 [2,3,8]을 표준 병합한다. 결과와 원소 비교 횟수를 쓰시오.</a:t>
            </a:r>
          </a:p>
        </p:txBody>
      </p:sp>
      <p:sp>
        <p:nvSpPr>
          <p:cNvPr id="9" name="직사각형 8">
            <a:extLst>
              <a:ext uri="{FF2B5EF4-FFF2-40B4-BE49-F238E27FC236}">
                <a16:creationId xmlns:a16="http://schemas.microsoft.com/office/drawing/2014/main" id="{E2887921-AC9C-49D5-AD3E-D43629B8234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7470453-A817-48E4-855D-99169DBD327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[1,2,3,4,7,8], 5회</a:t>
            </a:r>
          </a:p>
        </p:txBody>
      </p:sp>
      <p:sp>
        <p:nvSpPr>
          <p:cNvPr id="11" name="text-324.4-64">
            <a:extLst>
              <a:ext uri="{FF2B5EF4-FFF2-40B4-BE49-F238E27FC236}">
                <a16:creationId xmlns:a16="http://schemas.microsoft.com/office/drawing/2014/main" id="{F8FD6CB9-5786-44E2-BAD2-A6C46B7DCD3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9E75DE3-5FF4-4A96-9170-006658CA303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B2A400A-9ED1-47D3-AF46-AACF3FB4B64C}"/>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1:2,4:2,4:3,4:8,7:8을 비교한 뒤 남은 8을 복사한다.</a:t>
            </a:r>
          </a:p>
        </p:txBody>
      </p:sp>
    </p:spTree>
    <p:extLst>
      <p:ext uri="{BB962C8B-B14F-4D97-AF65-F5344CB8AC3E}">
        <p14:creationId xmlns:p14="http://schemas.microsoft.com/office/powerpoint/2010/main" val="46268551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D9C31F90-4605-4A7D-B7BE-85D7A844FEC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3913E547-AFB5-479C-8558-652567E59E7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4C41BA4-62F5-4573-9505-4C7460BD17F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a:t>
            </a:r>
          </a:p>
        </p:txBody>
      </p:sp>
      <p:sp>
        <p:nvSpPr>
          <p:cNvPr id="4" name="직사각형 3">
            <a:extLst>
              <a:ext uri="{FF2B5EF4-FFF2-40B4-BE49-F238E27FC236}">
                <a16:creationId xmlns:a16="http://schemas.microsoft.com/office/drawing/2014/main" id="{5E48963D-C3FE-42B0-8C16-E1D50DEC52C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CECFDD0-6670-444E-9659-F71057AF374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413C724-D33D-4E8D-81AE-758201C444A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7058758-4871-4688-A86C-ABDD4D2AAF9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083</a:t>
            </a:r>
          </a:p>
        </p:txBody>
      </p:sp>
      <p:sp>
        <p:nvSpPr>
          <p:cNvPr id="8" name="text-178-64">
            <a:extLst>
              <a:ext uri="{FF2B5EF4-FFF2-40B4-BE49-F238E27FC236}">
                <a16:creationId xmlns:a16="http://schemas.microsoft.com/office/drawing/2014/main" id="{DF405BA7-CB23-4864-B136-140A444844C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[1,2]와 [3,4,5]를 병합한다. 양쪽 현재 값의 비교 횟수는?</a:t>
            </a:r>
          </a:p>
        </p:txBody>
      </p:sp>
      <p:sp>
        <p:nvSpPr>
          <p:cNvPr id="9" name="text-405-64">
            <a:extLst>
              <a:ext uri="{FF2B5EF4-FFF2-40B4-BE49-F238E27FC236}">
                <a16:creationId xmlns:a16="http://schemas.microsoft.com/office/drawing/2014/main" id="{CF2A58B4-96FD-4872-AD5D-9903D6069D33}"/>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F9A2480-9589-479C-B823-81AD17109BC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C8AE4AB1-8504-4886-9003-C8A74D1274DE}"/>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3540DD3-CA3F-4A1A-990D-935BAF62B72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A52AF2E-7116-4037-9B57-68527D64FAC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FD07E8FB-5719-4B29-9583-DA4DB030382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AD7A298-0423-4B77-9C57-53A43114D7B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42  정답과 해설</a:t>
            </a:r>
          </a:p>
        </p:txBody>
      </p:sp>
      <p:sp>
        <p:nvSpPr>
          <p:cNvPr id="4" name="직사각형 3">
            <a:extLst>
              <a:ext uri="{FF2B5EF4-FFF2-40B4-BE49-F238E27FC236}">
                <a16:creationId xmlns:a16="http://schemas.microsoft.com/office/drawing/2014/main" id="{93ACFBEC-B18F-453C-8EC2-8E54E0510E3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21677A1-AADD-424E-9055-C63F70236B4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61D421C-DA98-44E1-B014-5B97280836C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31E8BA9-755E-41FE-839A-163797F78AB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084</a:t>
            </a:r>
          </a:p>
        </p:txBody>
      </p:sp>
      <p:sp>
        <p:nvSpPr>
          <p:cNvPr id="8" name="text-178-64">
            <a:extLst>
              <a:ext uri="{FF2B5EF4-FFF2-40B4-BE49-F238E27FC236}">
                <a16:creationId xmlns:a16="http://schemas.microsoft.com/office/drawing/2014/main" id="{99E6EF77-E576-4C61-A1E8-2719D31500A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[1,2]와 [3,4,5]를 병합한다. 양쪽 현재 값의 비교 횟수는?</a:t>
            </a:r>
          </a:p>
        </p:txBody>
      </p:sp>
      <p:sp>
        <p:nvSpPr>
          <p:cNvPr id="9" name="직사각형 8">
            <a:extLst>
              <a:ext uri="{FF2B5EF4-FFF2-40B4-BE49-F238E27FC236}">
                <a16:creationId xmlns:a16="http://schemas.microsoft.com/office/drawing/2014/main" id="{D93CB13E-6541-4B23-B5F8-1395EFF73B01}"/>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1F31C78-D37C-4853-9511-F312A90092E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2회</a:t>
            </a:r>
          </a:p>
        </p:txBody>
      </p:sp>
      <p:sp>
        <p:nvSpPr>
          <p:cNvPr id="11" name="text-324.4-64">
            <a:extLst>
              <a:ext uri="{FF2B5EF4-FFF2-40B4-BE49-F238E27FC236}">
                <a16:creationId xmlns:a16="http://schemas.microsoft.com/office/drawing/2014/main" id="{1FDC5172-F049-4D81-9E07-250152471DD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1A4151F-725F-4102-B7AA-0EDAC9CF535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0C1DF4F-8085-494A-96D9-B8070BAE0FFC}"/>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1과 3,2와 3을 비교한 뒤 오른쪽 나머지를 복사한다.</a:t>
            </a:r>
          </a:p>
        </p:txBody>
      </p:sp>
    </p:spTree>
    <p:extLst>
      <p:ext uri="{BB962C8B-B14F-4D97-AF65-F5344CB8AC3E}">
        <p14:creationId xmlns:p14="http://schemas.microsoft.com/office/powerpoint/2010/main" val="46268551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0A217808-6B40-44B0-AC21-CF202EA0622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8098C0B5-ECEE-4EF1-9F36-6E069BB3F37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772D818-01EA-4CDA-AB97-4F9850439A5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a:t>
            </a:r>
          </a:p>
        </p:txBody>
      </p:sp>
      <p:sp>
        <p:nvSpPr>
          <p:cNvPr id="4" name="직사각형 3">
            <a:extLst>
              <a:ext uri="{FF2B5EF4-FFF2-40B4-BE49-F238E27FC236}">
                <a16:creationId xmlns:a16="http://schemas.microsoft.com/office/drawing/2014/main" id="{29A81D69-E652-4096-B204-A8513505650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837432D-6F2C-4C04-A8FE-E3BD6A0EC3E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375ED0B-A1B2-4DBB-9830-1B2D93BE3E3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D1B9ADB-2A1A-4BFD-928F-170F8E23B86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085</a:t>
            </a:r>
          </a:p>
        </p:txBody>
      </p:sp>
      <p:sp>
        <p:nvSpPr>
          <p:cNvPr id="8" name="text-178-64">
            <a:extLst>
              <a:ext uri="{FF2B5EF4-FFF2-40B4-BE49-F238E27FC236}">
                <a16:creationId xmlns:a16="http://schemas.microsoft.com/office/drawing/2014/main" id="{E371DF78-D777-4D6E-8A4C-41CB1222422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[8,3,6,1]을 합병 정렬한다. 가장 아래의 두 병합 결과와 최종 결과를 쓰시오.</a:t>
            </a:r>
          </a:p>
        </p:txBody>
      </p:sp>
      <p:sp>
        <p:nvSpPr>
          <p:cNvPr id="9" name="text-405-64">
            <a:extLst>
              <a:ext uri="{FF2B5EF4-FFF2-40B4-BE49-F238E27FC236}">
                <a16:creationId xmlns:a16="http://schemas.microsoft.com/office/drawing/2014/main" id="{52AC8388-7D85-4F8D-B81F-4AAEDD78AE0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7761EDE0-AF8A-470F-8736-5A2783663B5D}"/>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60AE4A8-C20E-44DE-9461-EA461B3390E6}"/>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7C5491A4-A4C9-437E-AFED-F681991654A1}"/>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A5E2C085-D73A-43F9-A054-6B2DC3EBB24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0A25B9A4-D205-4FFA-874D-99F1F202651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4387397-9757-41AC-8A10-4E0796208C3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43  정답과 해설</a:t>
            </a:r>
          </a:p>
        </p:txBody>
      </p:sp>
      <p:sp>
        <p:nvSpPr>
          <p:cNvPr id="4" name="직사각형 3">
            <a:extLst>
              <a:ext uri="{FF2B5EF4-FFF2-40B4-BE49-F238E27FC236}">
                <a16:creationId xmlns:a16="http://schemas.microsoft.com/office/drawing/2014/main" id="{15B84F47-96BC-4387-8346-7BE0F4D7A72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C9DA9D4-8657-4EAD-8A67-2C609C12E61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A4236BA-56A7-4F5C-879D-73F465E0351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914B8D5-A9E1-4573-A259-C9441D05C39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086</a:t>
            </a:r>
          </a:p>
        </p:txBody>
      </p:sp>
      <p:sp>
        <p:nvSpPr>
          <p:cNvPr id="8" name="text-178-64">
            <a:extLst>
              <a:ext uri="{FF2B5EF4-FFF2-40B4-BE49-F238E27FC236}">
                <a16:creationId xmlns:a16="http://schemas.microsoft.com/office/drawing/2014/main" id="{8A3112E6-CCB8-4670-A808-9BF4BF7C052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[8,3,6,1]을 합병 정렬한다. 가장 아래의 두 병합 결과와 최종 결과를 쓰시오.</a:t>
            </a:r>
          </a:p>
        </p:txBody>
      </p:sp>
      <p:sp>
        <p:nvSpPr>
          <p:cNvPr id="9" name="직사각형 8">
            <a:extLst>
              <a:ext uri="{FF2B5EF4-FFF2-40B4-BE49-F238E27FC236}">
                <a16:creationId xmlns:a16="http://schemas.microsoft.com/office/drawing/2014/main" id="{A4B22327-7D52-4469-8765-9B56E72F98A1}"/>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D5EB43A-49C2-48CB-ABF7-31EBAF2E5A5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[3,8], [1,6]; [1,3,6,8]</a:t>
            </a:r>
          </a:p>
        </p:txBody>
      </p:sp>
      <p:sp>
        <p:nvSpPr>
          <p:cNvPr id="11" name="text-324.4-64">
            <a:extLst>
              <a:ext uri="{FF2B5EF4-FFF2-40B4-BE49-F238E27FC236}">
                <a16:creationId xmlns:a16="http://schemas.microsoft.com/office/drawing/2014/main" id="{7D995617-391A-4D9A-8219-E175956B57E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8061342-A26E-450E-A758-5EE7B3A0A81B}"/>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8472848-DB7D-43D1-9AC9-FE51F952F58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두 원소를 먼저 정렬한 뒤 두 정렬 배열을 병합한다.</a:t>
            </a:r>
          </a:p>
        </p:txBody>
      </p:sp>
    </p:spTree>
    <p:extLst>
      <p:ext uri="{BB962C8B-B14F-4D97-AF65-F5344CB8AC3E}">
        <p14:creationId xmlns:p14="http://schemas.microsoft.com/office/powerpoint/2010/main" val="46268551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66ECFB29-AA80-44DA-9BD8-82775DDDB7E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00CC3559-3BCC-4858-925F-89DDF9D9664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4C1B958-B6C8-4156-8F32-BBFD8477F91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a:t>
            </a:r>
          </a:p>
        </p:txBody>
      </p:sp>
      <p:sp>
        <p:nvSpPr>
          <p:cNvPr id="4" name="직사각형 3">
            <a:extLst>
              <a:ext uri="{FF2B5EF4-FFF2-40B4-BE49-F238E27FC236}">
                <a16:creationId xmlns:a16="http://schemas.microsoft.com/office/drawing/2014/main" id="{DBD540F2-DA8C-4EE4-BE29-FF1D96C6616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D3A4CC8-1906-45ED-B9A7-10E8E9C2222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33DC4C9-4620-4D1C-BA64-168033C811A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498ABA2-8205-491D-BED6-6D5E0E7F4E0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087</a:t>
            </a:r>
          </a:p>
        </p:txBody>
      </p:sp>
      <p:sp>
        <p:nvSpPr>
          <p:cNvPr id="8" name="text-178-64">
            <a:extLst>
              <a:ext uri="{FF2B5EF4-FFF2-40B4-BE49-F238E27FC236}">
                <a16:creationId xmlns:a16="http://schemas.microsoft.com/office/drawing/2014/main" id="{211C8191-D5E5-487A-B96D-7D17D193721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8의 배열을 한 원소까지 반으로 나눈다. 리프 수와 내부 병합 호출 수는?</a:t>
            </a:r>
          </a:p>
        </p:txBody>
      </p:sp>
      <p:sp>
        <p:nvSpPr>
          <p:cNvPr id="9" name="text-405-64">
            <a:extLst>
              <a:ext uri="{FF2B5EF4-FFF2-40B4-BE49-F238E27FC236}">
                <a16:creationId xmlns:a16="http://schemas.microsoft.com/office/drawing/2014/main" id="{E46B9F4D-6A85-4483-9A68-870EF4CD799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8016AD9E-E8A8-4C72-8FBF-38BAB3C5115E}"/>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2E1B5B5-EEF0-46F4-84F3-204548C3D22F}"/>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A7728AB-D9CE-451E-A554-D0B1AE5F285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0548FBC-F608-4E3E-9F7C-7740DC28E84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208C1D6-C915-415C-8E44-BD40A4B0111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13181AB-712E-4787-BF6B-23DAF2044F1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44  정답과 해설</a:t>
            </a:r>
          </a:p>
        </p:txBody>
      </p:sp>
      <p:sp>
        <p:nvSpPr>
          <p:cNvPr id="4" name="직사각형 3">
            <a:extLst>
              <a:ext uri="{FF2B5EF4-FFF2-40B4-BE49-F238E27FC236}">
                <a16:creationId xmlns:a16="http://schemas.microsoft.com/office/drawing/2014/main" id="{3D85A310-BBFD-49C3-8238-D415A9AA401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0A00EBD-C18F-4839-867E-F33D17997E6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4756A1A-21FE-49DB-BE52-B32756FE878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4C79E13-A2A5-4F33-A589-A2DF1F5CF7E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088</a:t>
            </a:r>
          </a:p>
        </p:txBody>
      </p:sp>
      <p:sp>
        <p:nvSpPr>
          <p:cNvPr id="8" name="text-178-64">
            <a:extLst>
              <a:ext uri="{FF2B5EF4-FFF2-40B4-BE49-F238E27FC236}">
                <a16:creationId xmlns:a16="http://schemas.microsoft.com/office/drawing/2014/main" id="{06643C82-B8EE-4937-9642-F6BE759FEAC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 8의 배열을 한 원소까지 반으로 나눈다. 리프 수와 내부 병합 호출 수는?</a:t>
            </a:r>
          </a:p>
        </p:txBody>
      </p:sp>
      <p:sp>
        <p:nvSpPr>
          <p:cNvPr id="9" name="직사각형 8">
            <a:extLst>
              <a:ext uri="{FF2B5EF4-FFF2-40B4-BE49-F238E27FC236}">
                <a16:creationId xmlns:a16="http://schemas.microsoft.com/office/drawing/2014/main" id="{74258947-0956-4542-8F53-AB8753A00A8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BC1A1A8-2692-4772-86CA-D2AE6F3568E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8개, 7회</a:t>
            </a:r>
          </a:p>
        </p:txBody>
      </p:sp>
      <p:sp>
        <p:nvSpPr>
          <p:cNvPr id="11" name="text-324.4-64">
            <a:extLst>
              <a:ext uri="{FF2B5EF4-FFF2-40B4-BE49-F238E27FC236}">
                <a16:creationId xmlns:a16="http://schemas.microsoft.com/office/drawing/2014/main" id="{189718F1-9C77-42DE-A8CE-C45AE6D2C09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3529CEB-E31A-472D-A5BA-C72AC2E5C896}"/>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6C9740FB-690E-460E-A773-2052D0EB8065}"/>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리프 8개인 완전 이진 재귀 트리의 내부 노드는 7개이다.</a:t>
            </a:r>
          </a:p>
        </p:txBody>
      </p:sp>
    </p:spTree>
    <p:extLst>
      <p:ext uri="{BB962C8B-B14F-4D97-AF65-F5344CB8AC3E}">
        <p14:creationId xmlns:p14="http://schemas.microsoft.com/office/powerpoint/2010/main" val="46268551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1784D28-39EA-4FE1-BA81-8D0B720EC9E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DC1106F-440A-432D-8772-457AD06C27E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EDA5FA9-4510-4DED-B9E9-189FEE6322A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a:t>
            </a:r>
          </a:p>
        </p:txBody>
      </p:sp>
      <p:sp>
        <p:nvSpPr>
          <p:cNvPr id="4" name="직사각형 3">
            <a:extLst>
              <a:ext uri="{FF2B5EF4-FFF2-40B4-BE49-F238E27FC236}">
                <a16:creationId xmlns:a16="http://schemas.microsoft.com/office/drawing/2014/main" id="{DB5F425F-E545-4AFD-958A-3732722580D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A532AB3-9F6A-4196-AE88-3C2836025EE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234FA7D-B220-4298-9A22-2DDFDDDA92B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134E4A8-3117-4678-956E-EE85740EF8F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089</a:t>
            </a:r>
          </a:p>
        </p:txBody>
      </p:sp>
      <p:sp>
        <p:nvSpPr>
          <p:cNvPr id="8" name="text-178-64">
            <a:extLst>
              <a:ext uri="{FF2B5EF4-FFF2-40B4-BE49-F238E27FC236}">
                <a16:creationId xmlns:a16="http://schemas.microsoft.com/office/drawing/2014/main" id="{AEEA4CC1-9104-4DD2-8590-AFE6E495348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T(1)=0, T(n)=2T(n/2)+n이다. T(8)을 구하시오.</a:t>
            </a:r>
          </a:p>
        </p:txBody>
      </p:sp>
      <p:sp>
        <p:nvSpPr>
          <p:cNvPr id="9" name="text-405-64">
            <a:extLst>
              <a:ext uri="{FF2B5EF4-FFF2-40B4-BE49-F238E27FC236}">
                <a16:creationId xmlns:a16="http://schemas.microsoft.com/office/drawing/2014/main" id="{14B3FCF5-6E9A-428E-BC5B-2E601A1CC654}"/>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9E3C7E9C-7EB8-4A6D-B845-C2189793CCD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7579591-C47B-4933-8F51-13D41EE708A8}"/>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18A6A03-3B69-402D-8DE6-EC83BACF12C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B77817A-537D-4E5D-8AA6-614D7181334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9492D005-F44C-4C26-ABEC-6E9350246E9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9D2DA85-D2B4-4194-958E-E4BE19C5D49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45  정답과 해설</a:t>
            </a:r>
          </a:p>
        </p:txBody>
      </p:sp>
      <p:sp>
        <p:nvSpPr>
          <p:cNvPr id="4" name="직사각형 3">
            <a:extLst>
              <a:ext uri="{FF2B5EF4-FFF2-40B4-BE49-F238E27FC236}">
                <a16:creationId xmlns:a16="http://schemas.microsoft.com/office/drawing/2014/main" id="{D63A9B5C-87A1-4D4C-B851-893955513B6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E13E1D9-9E34-4E0F-8408-B8DDB7D8608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10CF83B-9104-4231-8626-88C69794AF2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25AD8AD-4825-4265-8B62-53A8A7E667A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090</a:t>
            </a:r>
          </a:p>
        </p:txBody>
      </p:sp>
      <p:sp>
        <p:nvSpPr>
          <p:cNvPr id="8" name="text-178-64">
            <a:extLst>
              <a:ext uri="{FF2B5EF4-FFF2-40B4-BE49-F238E27FC236}">
                <a16:creationId xmlns:a16="http://schemas.microsoft.com/office/drawing/2014/main" id="{2378A442-2F83-409E-B11D-4D5E4D57996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T(1)=0, T(n)=2T(n/2)+n이다. T(8)을 구하시오.</a:t>
            </a:r>
          </a:p>
        </p:txBody>
      </p:sp>
      <p:sp>
        <p:nvSpPr>
          <p:cNvPr id="9" name="직사각형 8">
            <a:extLst>
              <a:ext uri="{FF2B5EF4-FFF2-40B4-BE49-F238E27FC236}">
                <a16:creationId xmlns:a16="http://schemas.microsoft.com/office/drawing/2014/main" id="{8FF58CCF-78DE-4A77-B502-48E745A483A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42447968-2872-49F0-875A-0AF374E9EEE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24</a:t>
            </a:r>
          </a:p>
        </p:txBody>
      </p:sp>
      <p:sp>
        <p:nvSpPr>
          <p:cNvPr id="11" name="text-324.4-64">
            <a:extLst>
              <a:ext uri="{FF2B5EF4-FFF2-40B4-BE49-F238E27FC236}">
                <a16:creationId xmlns:a16="http://schemas.microsoft.com/office/drawing/2014/main" id="{40749010-BBDF-4A14-B880-8EE1579C3D7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1B7E025-469A-450E-823C-8E91786604F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1B6C154-5FE8-4E24-81AD-B37D428CE9C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병합 층 비용이 8이고 병합 층이 3개이다.</a:t>
            </a:r>
          </a:p>
        </p:txBody>
      </p:sp>
    </p:spTree>
    <p:extLst>
      <p:ext uri="{BB962C8B-B14F-4D97-AF65-F5344CB8AC3E}">
        <p14:creationId xmlns:p14="http://schemas.microsoft.com/office/powerpoint/2010/main" val="462685519"/>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ADCA095B-EB23-4445-ADA9-9C805DEADFD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6DFBBE5B-7D8A-4B1B-B5E0-3887F038D65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CA82E16-7526-40EC-88CA-F03A9FA4722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a:t>
            </a:r>
          </a:p>
        </p:txBody>
      </p:sp>
      <p:sp>
        <p:nvSpPr>
          <p:cNvPr id="4" name="직사각형 3">
            <a:extLst>
              <a:ext uri="{FF2B5EF4-FFF2-40B4-BE49-F238E27FC236}">
                <a16:creationId xmlns:a16="http://schemas.microsoft.com/office/drawing/2014/main" id="{4B2E5BDA-B39B-47F5-8EE6-64739A6B12D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82FB260-9ABD-4E2C-AD0C-B49942CCFD0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2A04E47-F30F-40E8-A54E-7CEB9FB3BFF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DE5262A-960C-4992-A14E-D48904F71EC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091</a:t>
            </a:r>
          </a:p>
        </p:txBody>
      </p:sp>
      <p:sp>
        <p:nvSpPr>
          <p:cNvPr id="8" name="text-178-64">
            <a:extLst>
              <a:ext uri="{FF2B5EF4-FFF2-40B4-BE49-F238E27FC236}">
                <a16:creationId xmlns:a16="http://schemas.microsoft.com/office/drawing/2014/main" id="{47942BEC-8E80-4B52-9EE4-B4FBFFBD2474}"/>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[−4,7,−2,5,−9,3]의 비어 있지 않은 최대 연속합과 해당 구간을 쓰시오. 인덱스는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0부터이다.</a:t>
            </a:r>
          </a:p>
        </p:txBody>
      </p:sp>
      <p:sp>
        <p:nvSpPr>
          <p:cNvPr id="9" name="text-405-64">
            <a:extLst>
              <a:ext uri="{FF2B5EF4-FFF2-40B4-BE49-F238E27FC236}">
                <a16:creationId xmlns:a16="http://schemas.microsoft.com/office/drawing/2014/main" id="{164011B6-EAEE-438B-8F55-97FA30E639DB}"/>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9F6FAA1F-0067-42C5-BAF8-00853AFE943F}"/>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F8C2C1B4-84F9-48A9-83BF-46D459336133}"/>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0D051A7-B971-4482-B5E6-794B95B2AAB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E619CBD-07A1-43B8-8971-290CA4D7305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120C33B-AB02-4E19-921B-479B46936DC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D963649-995B-48AE-A9C2-E7D40EA2321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46  정답과 해설</a:t>
            </a:r>
          </a:p>
        </p:txBody>
      </p:sp>
      <p:sp>
        <p:nvSpPr>
          <p:cNvPr id="4" name="직사각형 3">
            <a:extLst>
              <a:ext uri="{FF2B5EF4-FFF2-40B4-BE49-F238E27FC236}">
                <a16:creationId xmlns:a16="http://schemas.microsoft.com/office/drawing/2014/main" id="{988761E4-D134-4054-BA2C-C35A2452081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805CA2F-47B1-4C57-B80D-779D3B196CC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D588CA4-2160-4DC1-813D-39D86F6DF84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4574CF4-7BF2-413C-A817-0FEB4A6FF6B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092</a:t>
            </a:r>
          </a:p>
        </p:txBody>
      </p:sp>
      <p:sp>
        <p:nvSpPr>
          <p:cNvPr id="8" name="text-178-64">
            <a:extLst>
              <a:ext uri="{FF2B5EF4-FFF2-40B4-BE49-F238E27FC236}">
                <a16:creationId xmlns:a16="http://schemas.microsoft.com/office/drawing/2014/main" id="{4F73B54B-5F94-47B0-900A-1594946A4DCA}"/>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[−4,7,−2,5,−9,3]의 비어 있지 않은 최대 연속합과 해당 구간을 쓰시오. 인덱스는 0부터이다.</a:t>
            </a:r>
          </a:p>
        </p:txBody>
      </p:sp>
      <p:sp>
        <p:nvSpPr>
          <p:cNvPr id="9" name="직사각형 8">
            <a:extLst>
              <a:ext uri="{FF2B5EF4-FFF2-40B4-BE49-F238E27FC236}">
                <a16:creationId xmlns:a16="http://schemas.microsoft.com/office/drawing/2014/main" id="{FE259BBB-3D47-4448-B35E-E56A0635538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828EACE-7B2A-4A86-A886-A49787972A5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10, [1,3]</a:t>
            </a:r>
          </a:p>
        </p:txBody>
      </p:sp>
      <p:sp>
        <p:nvSpPr>
          <p:cNvPr id="11" name="text-324.4-64">
            <a:extLst>
              <a:ext uri="{FF2B5EF4-FFF2-40B4-BE49-F238E27FC236}">
                <a16:creationId xmlns:a16="http://schemas.microsoft.com/office/drawing/2014/main" id="{98375F5B-F54C-4397-856F-F06DF009C949}"/>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F597BDF-A0C5-4A76-B463-39B2D24F6BA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CCD6A71-E671-40A0-A383-6704E8F636A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7−2+5=10이며 양옆의 −4나 −9를 포함하면 줄어든다.</a:t>
            </a:r>
          </a:p>
        </p:txBody>
      </p:sp>
    </p:spTree>
    <p:extLst>
      <p:ext uri="{BB962C8B-B14F-4D97-AF65-F5344CB8AC3E}">
        <p14:creationId xmlns:p14="http://schemas.microsoft.com/office/powerpoint/2010/main" val="46268551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3D67311D-2766-43FD-AE6C-E53925DBA14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FA287741-D4AA-4BCC-B5EA-5D5853C1637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31DC316-9C91-49FC-98A0-B87A5961524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a:t>
            </a:r>
          </a:p>
        </p:txBody>
      </p:sp>
      <p:sp>
        <p:nvSpPr>
          <p:cNvPr id="4" name="직사각형 3">
            <a:extLst>
              <a:ext uri="{FF2B5EF4-FFF2-40B4-BE49-F238E27FC236}">
                <a16:creationId xmlns:a16="http://schemas.microsoft.com/office/drawing/2014/main" id="{7641D3AA-7BD5-48BF-A5F6-2C1A801382B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30494CC1-7091-464E-8420-B6A4E3CD50C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1169A59-2006-4B89-B616-E5F4154AEE1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7425084-BD69-412F-A3F6-B1ACD685553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093</a:t>
            </a:r>
          </a:p>
        </p:txBody>
      </p:sp>
      <p:sp>
        <p:nvSpPr>
          <p:cNvPr id="8" name="text-178-64">
            <a:extLst>
              <a:ext uri="{FF2B5EF4-FFF2-40B4-BE49-F238E27FC236}">
                <a16:creationId xmlns:a16="http://schemas.microsoft.com/office/drawing/2014/main" id="{07B3439C-79DD-4A56-A012-551AD5C7FDED}"/>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[−8,−3,−5]의 비어 있지 않은 최대 연속합과 구간을 쓰시오.</a:t>
            </a:r>
          </a:p>
        </p:txBody>
      </p:sp>
      <p:sp>
        <p:nvSpPr>
          <p:cNvPr id="9" name="text-405-64">
            <a:extLst>
              <a:ext uri="{FF2B5EF4-FFF2-40B4-BE49-F238E27FC236}">
                <a16:creationId xmlns:a16="http://schemas.microsoft.com/office/drawing/2014/main" id="{9E2B3272-AF8C-437A-AA99-E629C253CF6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F1C4B601-5901-4546-8D43-0D21203EC1E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DC3D8EB3-1874-490F-898E-AF76A363B7D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67474175-72FE-4805-88EE-044D3F4BDA39}"/>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AB38DB7-97E4-4F1A-AF68-10F28E527B9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32F6EB2F-256E-4C61-B1AD-65D5866CF1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8606E0C-590A-4CD2-AA29-D69E18E6B2E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47  정답과 해설</a:t>
            </a:r>
          </a:p>
        </p:txBody>
      </p:sp>
      <p:sp>
        <p:nvSpPr>
          <p:cNvPr id="4" name="직사각형 3">
            <a:extLst>
              <a:ext uri="{FF2B5EF4-FFF2-40B4-BE49-F238E27FC236}">
                <a16:creationId xmlns:a16="http://schemas.microsoft.com/office/drawing/2014/main" id="{C09FDB92-2CE7-4F9D-89D9-BFFD5AC4C04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23E0891-F641-4FF6-88F8-03F850F628F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3CA4A96-B4BA-43E1-B8C4-C32F50A77A6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0DBD692-867A-4C9B-BDCC-BD0941780A5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094</a:t>
            </a:r>
          </a:p>
        </p:txBody>
      </p:sp>
      <p:sp>
        <p:nvSpPr>
          <p:cNvPr id="8" name="text-178-64">
            <a:extLst>
              <a:ext uri="{FF2B5EF4-FFF2-40B4-BE49-F238E27FC236}">
                <a16:creationId xmlns:a16="http://schemas.microsoft.com/office/drawing/2014/main" id="{EF0C4F88-EC0B-4924-8BE8-603BEEC34FA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[−8,−3,−5]의 비어 있지 않은 최대 연속합과 구간을 쓰시오.</a:t>
            </a:r>
          </a:p>
        </p:txBody>
      </p:sp>
      <p:sp>
        <p:nvSpPr>
          <p:cNvPr id="9" name="직사각형 8">
            <a:extLst>
              <a:ext uri="{FF2B5EF4-FFF2-40B4-BE49-F238E27FC236}">
                <a16:creationId xmlns:a16="http://schemas.microsoft.com/office/drawing/2014/main" id="{1EFD714F-AADF-4B07-B602-0557F96A174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8B88DFA-8646-4A18-B560-65A832D6C87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 [1,1]</a:t>
            </a:r>
          </a:p>
        </p:txBody>
      </p:sp>
      <p:sp>
        <p:nvSpPr>
          <p:cNvPr id="11" name="text-324.4-64">
            <a:extLst>
              <a:ext uri="{FF2B5EF4-FFF2-40B4-BE49-F238E27FC236}">
                <a16:creationId xmlns:a16="http://schemas.microsoft.com/office/drawing/2014/main" id="{4175AE5B-D7BF-484B-B0DD-D05B77956F0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569BE65-8678-478E-AB2E-5095F9A6E24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7F713CF6-50C8-4115-AF7F-E909EF8F3CE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가장 덜 작은 원소 하나를 고른다. 빈 구간 0은 허용되지 않는다.</a:t>
            </a:r>
          </a:p>
        </p:txBody>
      </p:sp>
    </p:spTree>
    <p:extLst>
      <p:ext uri="{BB962C8B-B14F-4D97-AF65-F5344CB8AC3E}">
        <p14:creationId xmlns:p14="http://schemas.microsoft.com/office/powerpoint/2010/main" val="46268551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BF0EC2E4-E2AC-4B84-8FAB-D513C3DB3A6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956A340C-273F-454F-9349-F44D8C7AE96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2EE870D-B791-400B-99BA-73BCCA73D35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a:t>
            </a:r>
          </a:p>
        </p:txBody>
      </p:sp>
      <p:sp>
        <p:nvSpPr>
          <p:cNvPr id="4" name="직사각형 3">
            <a:extLst>
              <a:ext uri="{FF2B5EF4-FFF2-40B4-BE49-F238E27FC236}">
                <a16:creationId xmlns:a16="http://schemas.microsoft.com/office/drawing/2014/main" id="{83187439-987A-42CE-8CE3-9353E4E3F5F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393C2B7-810C-406E-AEA4-8FBD93C1345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242885F-2AFD-4E31-A220-86D6682B1BA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8FF2A83-5818-48E5-8BAF-7C29E846ED6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095</a:t>
            </a:r>
          </a:p>
        </p:txBody>
      </p:sp>
      <p:sp>
        <p:nvSpPr>
          <p:cNvPr id="8" name="text-178-64">
            <a:extLst>
              <a:ext uri="{FF2B5EF4-FFF2-40B4-BE49-F238E27FC236}">
                <a16:creationId xmlns:a16="http://schemas.microsoft.com/office/drawing/2014/main" id="{46A215F6-8F36-4623-9372-368B40E0F5AB}"/>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[4,−6,3,5,−2,1]을 인덱스 [0,2]와 [3,5]로 나눈다. 왼쪽 최대 접미 합, 오른쪽 최대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접두 합, 교차합은? 각 구간은 비어 있지 않다.</a:t>
            </a:r>
          </a:p>
        </p:txBody>
      </p:sp>
      <p:sp>
        <p:nvSpPr>
          <p:cNvPr id="9" name="text-405-64">
            <a:extLst>
              <a:ext uri="{FF2B5EF4-FFF2-40B4-BE49-F238E27FC236}">
                <a16:creationId xmlns:a16="http://schemas.microsoft.com/office/drawing/2014/main" id="{A80D645D-6504-4CF4-A95D-14D400B71693}"/>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00E17B87-BA4D-430B-A126-6AD6A87FAEA9}"/>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7E8CF221-1B4F-4CF6-AC64-E19A2429EE0E}"/>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3D2CF377-7AE7-43FA-A60A-81B7C1AC3853}"/>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42409C2D-8245-44FD-9C74-787D31080B4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68147ED-4F5B-45C4-A811-3B5A902E561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9C45886-BE4A-4CA2-9221-29E2665729A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48  정답과 해설</a:t>
            </a:r>
          </a:p>
        </p:txBody>
      </p:sp>
      <p:sp>
        <p:nvSpPr>
          <p:cNvPr id="4" name="직사각형 3">
            <a:extLst>
              <a:ext uri="{FF2B5EF4-FFF2-40B4-BE49-F238E27FC236}">
                <a16:creationId xmlns:a16="http://schemas.microsoft.com/office/drawing/2014/main" id="{52C1778B-B4A6-4FD0-B222-409373F00BF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65D8C21-B40B-4CF3-B2A0-F5A41D55422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D27148E-B5E9-4232-BCF3-EF7E771347C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CC0C489-0DE6-471E-99C5-563EA0AE09F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096</a:t>
            </a:r>
          </a:p>
        </p:txBody>
      </p:sp>
      <p:sp>
        <p:nvSpPr>
          <p:cNvPr id="8" name="text-178-64">
            <a:extLst>
              <a:ext uri="{FF2B5EF4-FFF2-40B4-BE49-F238E27FC236}">
                <a16:creationId xmlns:a16="http://schemas.microsoft.com/office/drawing/2014/main" id="{24C7097B-85BA-40CE-95EB-730222AF8DA5}"/>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[4,−6,3,5,−2,1]을 인덱스 [0,2]와 [3,5]로 나눈다. 왼쪽 최대 접미 합, 오른쪽 최대 접두 합,</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교차합은? 각 구간은 비어 있지 않다.</a:t>
            </a:r>
          </a:p>
        </p:txBody>
      </p:sp>
      <p:sp>
        <p:nvSpPr>
          <p:cNvPr id="9" name="직사각형 8">
            <a:extLst>
              <a:ext uri="{FF2B5EF4-FFF2-40B4-BE49-F238E27FC236}">
                <a16:creationId xmlns:a16="http://schemas.microsoft.com/office/drawing/2014/main" id="{D5F3A4D3-2A15-403A-8152-868D2707404A}"/>
              </a:ext>
            </a:extLst>
          </p:cNvPr>
          <p:cNvSpPr>
            <a:spLocks noGrp="1"/>
          </p:cNvSpPr>
          <p:nvPr/>
        </p:nvSpPr>
        <p:spPr>
          <a:xfrm>
            <a:off x="609600" y="2526030"/>
            <a:ext cx="10972800" cy="626745"/>
          </a:xfrm>
          <a:prstGeom prst="rect">
            <a:avLst/>
          </a:prstGeom>
          <a:solidFill>
            <a:srgbClr val="171717"/>
          </a:solidFill>
          <a:ln w="0">
            <a:noFill/>
          </a:ln>
        </p:spPr>
      </p:sp>
      <p:sp>
        <p:nvSpPr>
          <p:cNvPr id="10" name="text-279.2-92">
            <a:extLst>
              <a:ext uri="{FF2B5EF4-FFF2-40B4-BE49-F238E27FC236}">
                <a16:creationId xmlns:a16="http://schemas.microsoft.com/office/drawing/2014/main" id="{5A695464-D0F4-4413-AE18-0D0626873E72}"/>
              </a:ext>
            </a:extLst>
          </p:cNvPr>
          <p:cNvSpPr>
            <a:spLocks noGrp="1"/>
          </p:cNvSpPr>
          <p:nvPr/>
        </p:nvSpPr>
        <p:spPr>
          <a:xfrm>
            <a:off x="876300" y="265938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3,5,8</a:t>
            </a:r>
          </a:p>
        </p:txBody>
      </p:sp>
      <p:sp>
        <p:nvSpPr>
          <p:cNvPr id="11" name="text-358-64">
            <a:extLst>
              <a:ext uri="{FF2B5EF4-FFF2-40B4-BE49-F238E27FC236}">
                <a16:creationId xmlns:a16="http://schemas.microsoft.com/office/drawing/2014/main" id="{02EAD239-B248-40BD-BE16-0F90B6A8D3FF}"/>
              </a:ext>
            </a:extLst>
          </p:cNvPr>
          <p:cNvSpPr>
            <a:spLocks noGrp="1"/>
          </p:cNvSpPr>
          <p:nvPr/>
        </p:nvSpPr>
        <p:spPr>
          <a:xfrm>
            <a:off x="609600" y="340995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67E0061-3218-44A7-93D8-C7885F3D610C}"/>
              </a:ext>
            </a:extLst>
          </p:cNvPr>
          <p:cNvSpPr>
            <a:spLocks noGrp="1"/>
          </p:cNvSpPr>
          <p:nvPr/>
        </p:nvSpPr>
        <p:spPr>
          <a:xfrm>
            <a:off x="1752600" y="3581400"/>
            <a:ext cx="9829800" cy="9525"/>
          </a:xfrm>
          <a:prstGeom prst="rect">
            <a:avLst/>
          </a:prstGeom>
          <a:solidFill>
            <a:srgbClr val="D4D4D4"/>
          </a:solidFill>
          <a:ln w="0">
            <a:noFill/>
          </a:ln>
        </p:spPr>
      </p:sp>
      <p:sp>
        <p:nvSpPr>
          <p:cNvPr id="13" name="text-406-64">
            <a:extLst>
              <a:ext uri="{FF2B5EF4-FFF2-40B4-BE49-F238E27FC236}">
                <a16:creationId xmlns:a16="http://schemas.microsoft.com/office/drawing/2014/main" id="{D00BD1BD-19B5-40AD-9FDD-554853BCDA38}"/>
              </a:ext>
            </a:extLst>
          </p:cNvPr>
          <p:cNvSpPr>
            <a:spLocks noGrp="1"/>
          </p:cNvSpPr>
          <p:nvPr/>
        </p:nvSpPr>
        <p:spPr>
          <a:xfrm>
            <a:off x="609600" y="38671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왼쪽은 [3]이 3, 오른쪽은 [5]가 5로 최대이다. 경계 연결 구간은 [3,5]이다.</a:t>
            </a:r>
          </a:p>
        </p:txBody>
      </p:sp>
    </p:spTree>
    <p:extLst>
      <p:ext uri="{BB962C8B-B14F-4D97-AF65-F5344CB8AC3E}">
        <p14:creationId xmlns:p14="http://schemas.microsoft.com/office/powerpoint/2010/main" val="46268551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5227339-220C-4605-A580-DF1DF28D9FA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68A7470B-D04B-4742-979B-3AA9B8F33E0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E7EEC7B-446C-470C-A098-6FFDCE56E25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a:t>
            </a:r>
          </a:p>
        </p:txBody>
      </p:sp>
      <p:sp>
        <p:nvSpPr>
          <p:cNvPr id="4" name="직사각형 3">
            <a:extLst>
              <a:ext uri="{FF2B5EF4-FFF2-40B4-BE49-F238E27FC236}">
                <a16:creationId xmlns:a16="http://schemas.microsoft.com/office/drawing/2014/main" id="{8714C6A2-68BB-448E-B024-6341030B8AA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8F77A68-BE1C-4011-9CBB-95BA7C33E76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8418B78-5713-4714-B722-AEE8CB4FB0A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704BCBA-B79C-4C95-8CF9-9D06C1750B1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097</a:t>
            </a:r>
          </a:p>
        </p:txBody>
      </p:sp>
      <p:sp>
        <p:nvSpPr>
          <p:cNvPr id="8" name="text-178-64">
            <a:extLst>
              <a:ext uri="{FF2B5EF4-FFF2-40B4-BE49-F238E27FC236}">
                <a16:creationId xmlns:a16="http://schemas.microsoft.com/office/drawing/2014/main" id="{65CF95EE-8F82-492D-80CC-D1454F025C4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[5,−100,6]에서 양수만 더한 값과 실제 최대 연속합을 각각 쓰시오.</a:t>
            </a:r>
          </a:p>
        </p:txBody>
      </p:sp>
      <p:sp>
        <p:nvSpPr>
          <p:cNvPr id="9" name="text-405-64">
            <a:extLst>
              <a:ext uri="{FF2B5EF4-FFF2-40B4-BE49-F238E27FC236}">
                <a16:creationId xmlns:a16="http://schemas.microsoft.com/office/drawing/2014/main" id="{1C764C2F-62FB-4E21-A056-AEF839C5F57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76F0A55-ABA3-4AF2-8DD2-4E52D54C54C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BC0DF4ED-4CA5-44D1-9049-70A322EED20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F627A44-F717-4FCD-830B-54E27F937F3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1166B17-93D8-49C1-8B22-79B1839D160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08F8D88C-893B-4BED-9FFF-85294971586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41ABE37-40EE-4C62-8208-56C7B5F98EF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49  정답과 해설</a:t>
            </a:r>
          </a:p>
        </p:txBody>
      </p:sp>
      <p:sp>
        <p:nvSpPr>
          <p:cNvPr id="4" name="직사각형 3">
            <a:extLst>
              <a:ext uri="{FF2B5EF4-FFF2-40B4-BE49-F238E27FC236}">
                <a16:creationId xmlns:a16="http://schemas.microsoft.com/office/drawing/2014/main" id="{56F6103B-5837-4501-92B6-4F687FCBE4F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B319445-698B-47A0-A84C-2D409D9F2E0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605D747-DD2A-4C3D-92FF-E2FA7A82E98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27B43C2-C75D-4BC7-A039-ED343C29C32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098</a:t>
            </a:r>
          </a:p>
        </p:txBody>
      </p:sp>
      <p:sp>
        <p:nvSpPr>
          <p:cNvPr id="8" name="text-178-64">
            <a:extLst>
              <a:ext uri="{FF2B5EF4-FFF2-40B4-BE49-F238E27FC236}">
                <a16:creationId xmlns:a16="http://schemas.microsoft.com/office/drawing/2014/main" id="{512558F6-D4B6-4AB0-94FB-BD1D7FF0DCDF}"/>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[5,−100,6]에서 양수만 더한 값과 실제 최대 연속합을 각각 쓰시오.</a:t>
            </a:r>
          </a:p>
        </p:txBody>
      </p:sp>
      <p:sp>
        <p:nvSpPr>
          <p:cNvPr id="9" name="직사각형 8">
            <a:extLst>
              <a:ext uri="{FF2B5EF4-FFF2-40B4-BE49-F238E27FC236}">
                <a16:creationId xmlns:a16="http://schemas.microsoft.com/office/drawing/2014/main" id="{100CFEE8-659E-437E-A6CB-0FAE198F00C2}"/>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A485108-2186-47C0-A32A-3A36F41E2B2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11,6</a:t>
            </a:r>
          </a:p>
        </p:txBody>
      </p:sp>
      <p:sp>
        <p:nvSpPr>
          <p:cNvPr id="11" name="text-324.4-64">
            <a:extLst>
              <a:ext uri="{FF2B5EF4-FFF2-40B4-BE49-F238E27FC236}">
                <a16:creationId xmlns:a16="http://schemas.microsoft.com/office/drawing/2014/main" id="{AC8AF875-B341-415B-904C-61AAE945348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EA1618B7-4990-452F-84A7-9210770641F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F8A90DA8-6C59-422C-A519-A93356282F1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5와 6을 함께 포함하려면 −100도 포함해야 한다.</a:t>
            </a:r>
          </a:p>
        </p:txBody>
      </p:sp>
    </p:spTree>
    <p:extLst>
      <p:ext uri="{BB962C8B-B14F-4D97-AF65-F5344CB8AC3E}">
        <p14:creationId xmlns:p14="http://schemas.microsoft.com/office/powerpoint/2010/main" val="46268551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AFA6A182-E594-44EA-AD1C-7FE416FFC01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76B4FAE4-A1A9-4B3E-9318-BAE5C97DFB7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33453E9-7031-4188-99A7-E05E36934C5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a:t>
            </a:r>
          </a:p>
        </p:txBody>
      </p:sp>
      <p:sp>
        <p:nvSpPr>
          <p:cNvPr id="4" name="직사각형 3">
            <a:extLst>
              <a:ext uri="{FF2B5EF4-FFF2-40B4-BE49-F238E27FC236}">
                <a16:creationId xmlns:a16="http://schemas.microsoft.com/office/drawing/2014/main" id="{A3C6C642-493A-4FCB-B6C3-0CCD0998D0E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9CA06F9-036F-48EF-BF06-C817BE1A98B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1F2EC34-CEF6-4E14-BE04-ED7BFF0A9DE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8D2F868-98FF-4E0A-9CDC-E8A4FB30880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099</a:t>
            </a:r>
          </a:p>
        </p:txBody>
      </p:sp>
      <p:sp>
        <p:nvSpPr>
          <p:cNvPr id="8" name="text-178-64">
            <a:extLst>
              <a:ext uri="{FF2B5EF4-FFF2-40B4-BE49-F238E27FC236}">
                <a16:creationId xmlns:a16="http://schemas.microsoft.com/office/drawing/2014/main" id="{2330AB72-746D-40E2-8F6F-7C92A8B2819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길이 6인 배열의 비어 있지 않은 연속 구간 개수를 구하시오.</a:t>
            </a:r>
          </a:p>
        </p:txBody>
      </p:sp>
      <p:sp>
        <p:nvSpPr>
          <p:cNvPr id="9" name="text-405-64">
            <a:extLst>
              <a:ext uri="{FF2B5EF4-FFF2-40B4-BE49-F238E27FC236}">
                <a16:creationId xmlns:a16="http://schemas.microsoft.com/office/drawing/2014/main" id="{0DE63FC7-2B52-40DD-AABC-0FFBF4641F0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2A6C5D2C-CB5D-4C99-B7CF-5B65E24664D6}"/>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10092165-602A-4127-B37D-9E8FC95AF01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8EE22FE-3677-4CAC-9949-4BA031E7E9F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78AB5135-91A2-47D7-B23D-F08B9A022C8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EB75F5E7-7CB0-4776-8E95-57A4E25BDA3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B3CC99C-4F7B-4317-B4D0-1E216E9723A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50  정답과 해설</a:t>
            </a:r>
          </a:p>
        </p:txBody>
      </p:sp>
      <p:sp>
        <p:nvSpPr>
          <p:cNvPr id="4" name="직사각형 3">
            <a:extLst>
              <a:ext uri="{FF2B5EF4-FFF2-40B4-BE49-F238E27FC236}">
                <a16:creationId xmlns:a16="http://schemas.microsoft.com/office/drawing/2014/main" id="{40AC2C24-92CD-4ED5-AF90-AD15B7480F4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9E2E9B4-FA0C-4ACD-B139-0EF0710678E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A5DD12A-6285-438A-81AA-AB602AB1651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806B968-4CD6-4ECF-AB4F-4D04844FAB0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100</a:t>
            </a:r>
          </a:p>
        </p:txBody>
      </p:sp>
      <p:sp>
        <p:nvSpPr>
          <p:cNvPr id="8" name="text-178-64">
            <a:extLst>
              <a:ext uri="{FF2B5EF4-FFF2-40B4-BE49-F238E27FC236}">
                <a16:creationId xmlns:a16="http://schemas.microsoft.com/office/drawing/2014/main" id="{8909C7F1-6A75-4ACF-96AC-E1DC1763F718}"/>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 6인 배열의 비어 있지 않은 연속 구간 개수를 구하시오.</a:t>
            </a:r>
          </a:p>
        </p:txBody>
      </p:sp>
      <p:sp>
        <p:nvSpPr>
          <p:cNvPr id="9" name="직사각형 8">
            <a:extLst>
              <a:ext uri="{FF2B5EF4-FFF2-40B4-BE49-F238E27FC236}">
                <a16:creationId xmlns:a16="http://schemas.microsoft.com/office/drawing/2014/main" id="{5BF20E64-FE41-4470-AB7D-C462E5E1483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B1C971F-3B2F-4FA3-8C11-430E7BAA30FD}"/>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21개</a:t>
            </a:r>
          </a:p>
        </p:txBody>
      </p:sp>
      <p:sp>
        <p:nvSpPr>
          <p:cNvPr id="11" name="text-324.4-64">
            <a:extLst>
              <a:ext uri="{FF2B5EF4-FFF2-40B4-BE49-F238E27FC236}">
                <a16:creationId xmlns:a16="http://schemas.microsoft.com/office/drawing/2014/main" id="{E694A23E-6308-45F5-884C-F00D9689B32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55D90F2-7FFB-4AA2-8B23-3025B773466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8E6AA48-ED94-404A-AE73-38F1866F8927}"/>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길이별 6+5+4+3+2+1=n(n+1)/2이다.</a:t>
            </a:r>
          </a:p>
        </p:txBody>
      </p:sp>
    </p:spTree>
    <p:extLst>
      <p:ext uri="{BB962C8B-B14F-4D97-AF65-F5344CB8AC3E}">
        <p14:creationId xmlns:p14="http://schemas.microsoft.com/office/powerpoint/2010/main" val="46268551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922F0CCA-540D-46D4-8055-C3365EE90BD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4D88A12E-0BBD-44C7-9EC0-98419C2C8B3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01F6A5D-3D71-4B09-92F1-25BD954625B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a:t>
            </a:r>
          </a:p>
        </p:txBody>
      </p:sp>
      <p:sp>
        <p:nvSpPr>
          <p:cNvPr id="4" name="직사각형 3">
            <a:extLst>
              <a:ext uri="{FF2B5EF4-FFF2-40B4-BE49-F238E27FC236}">
                <a16:creationId xmlns:a16="http://schemas.microsoft.com/office/drawing/2014/main" id="{74AFC73B-F2BC-456C-B947-7A0EDC8493A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C30F245-247F-47A1-8AC1-0411551743D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96BECDC-6009-4DC3-AB19-AE14F6C3F4E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B37CE76-3F14-4596-A7D6-C436B6DEF08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101</a:t>
            </a:r>
          </a:p>
        </p:txBody>
      </p:sp>
      <p:sp>
        <p:nvSpPr>
          <p:cNvPr id="8" name="text-178-64">
            <a:extLst>
              <a:ext uri="{FF2B5EF4-FFF2-40B4-BE49-F238E27FC236}">
                <a16:creationId xmlns:a16="http://schemas.microsoft.com/office/drawing/2014/main" id="{A3A2789C-AB00-4940-BD90-5614F05CC5F4}"/>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[2,−1,2,−1]의 전체 합, 최대 접두 합, 최대 접미 합, 최대 연속합을 쓰시오.</a:t>
            </a:r>
          </a:p>
        </p:txBody>
      </p:sp>
      <p:sp>
        <p:nvSpPr>
          <p:cNvPr id="9" name="text-405-64">
            <a:extLst>
              <a:ext uri="{FF2B5EF4-FFF2-40B4-BE49-F238E27FC236}">
                <a16:creationId xmlns:a16="http://schemas.microsoft.com/office/drawing/2014/main" id="{D19DE0B2-F016-4018-973A-4DEBF56DF88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0FD94CD0-A834-48BF-BC98-7B4A02767619}"/>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C5B75A95-EF15-497A-97DE-76F1B9FAC0F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FAED778-E4CC-4499-BEB4-26BCF1C54A2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2787CB50-AAB3-4CC4-80CE-1408EE98A99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59AEC3C-8A41-4637-AEE7-C9265B2C684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5351313-1E0F-4282-9302-FFD0EBD5801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51  정답과 해설</a:t>
            </a:r>
          </a:p>
        </p:txBody>
      </p:sp>
      <p:sp>
        <p:nvSpPr>
          <p:cNvPr id="4" name="직사각형 3">
            <a:extLst>
              <a:ext uri="{FF2B5EF4-FFF2-40B4-BE49-F238E27FC236}">
                <a16:creationId xmlns:a16="http://schemas.microsoft.com/office/drawing/2014/main" id="{4FB4F1A1-028A-4A80-975E-62CEC09F59D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F920DDB-DFBC-4A4C-AB9C-02CFD7B9A9A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B593096-5CC3-4F75-A79E-74E8BE6E5E6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5011BA6-90CC-4B77-89DE-ECD32B238B4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102</a:t>
            </a:r>
          </a:p>
        </p:txBody>
      </p:sp>
      <p:sp>
        <p:nvSpPr>
          <p:cNvPr id="8" name="text-178-64">
            <a:extLst>
              <a:ext uri="{FF2B5EF4-FFF2-40B4-BE49-F238E27FC236}">
                <a16:creationId xmlns:a16="http://schemas.microsoft.com/office/drawing/2014/main" id="{9364B4A7-577A-494A-A1A3-D34BADD996A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[2,−1,2,−1]의 전체 합, 최대 접두 합, 최대 접미 합, 최대 연속합을 쓰시오.</a:t>
            </a:r>
          </a:p>
        </p:txBody>
      </p:sp>
      <p:sp>
        <p:nvSpPr>
          <p:cNvPr id="9" name="직사각형 8">
            <a:extLst>
              <a:ext uri="{FF2B5EF4-FFF2-40B4-BE49-F238E27FC236}">
                <a16:creationId xmlns:a16="http://schemas.microsoft.com/office/drawing/2014/main" id="{2FFAC438-73AE-4A0B-9416-76DE6B3465F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8711BD4-5AF0-4A55-A479-59B9F36F5B6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2,3,2,3</a:t>
            </a:r>
          </a:p>
        </p:txBody>
      </p:sp>
      <p:sp>
        <p:nvSpPr>
          <p:cNvPr id="11" name="text-324.4-64">
            <a:extLst>
              <a:ext uri="{FF2B5EF4-FFF2-40B4-BE49-F238E27FC236}">
                <a16:creationId xmlns:a16="http://schemas.microsoft.com/office/drawing/2014/main" id="{773A204C-0565-4FD4-A88B-7A4E9779247B}"/>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769A145-5AF3-4FF5-9F0D-19A6CE17C3E9}"/>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EC64A8C-6BFA-4328-B12A-A7EEF1CB468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접두 최대는 처음 3개, 접미 최대는 전체, 연속 최대는 인덱스 0~2이다.</a:t>
            </a:r>
          </a:p>
        </p:txBody>
      </p:sp>
    </p:spTree>
    <p:extLst>
      <p:ext uri="{BB962C8B-B14F-4D97-AF65-F5344CB8AC3E}">
        <p14:creationId xmlns:p14="http://schemas.microsoft.com/office/powerpoint/2010/main" val="46268551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9101861-4823-41F2-8694-EF57C87139A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95B1EEC7-6B60-4DFE-9D4B-90C2587C3B5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2E774FE-BB92-4744-9816-A0CE69288B4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a:t>
            </a:r>
          </a:p>
        </p:txBody>
      </p:sp>
      <p:sp>
        <p:nvSpPr>
          <p:cNvPr id="4" name="직사각형 3">
            <a:extLst>
              <a:ext uri="{FF2B5EF4-FFF2-40B4-BE49-F238E27FC236}">
                <a16:creationId xmlns:a16="http://schemas.microsoft.com/office/drawing/2014/main" id="{BD9D4013-3E83-4217-BC94-56FD1115B97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D39EC7B-7F0D-46BF-9365-3E1397D151D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5948E15-D816-477E-8E1B-A91444DB6E1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F1B4DB3-067D-4001-B635-3E5ED0319B5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103</a:t>
            </a:r>
          </a:p>
        </p:txBody>
      </p:sp>
      <p:sp>
        <p:nvSpPr>
          <p:cNvPr id="8" name="text-178-64">
            <a:extLst>
              <a:ext uri="{FF2B5EF4-FFF2-40B4-BE49-F238E27FC236}">
                <a16:creationId xmlns:a16="http://schemas.microsoft.com/office/drawing/2014/main" id="{B2121A58-4171-4283-9F49-F5D507932E83}"/>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점 A(0,0),B(3,4),C(3,0),D(10,10)의 최근접 쌍과 제곱거리를 쓰시오.</a:t>
            </a:r>
          </a:p>
        </p:txBody>
      </p:sp>
      <p:sp>
        <p:nvSpPr>
          <p:cNvPr id="9" name="text-405-64">
            <a:extLst>
              <a:ext uri="{FF2B5EF4-FFF2-40B4-BE49-F238E27FC236}">
                <a16:creationId xmlns:a16="http://schemas.microsoft.com/office/drawing/2014/main" id="{B12EDB31-67F4-404B-99C2-2C4373DA835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82B2EC3F-0ECE-4187-9C02-73F44E7762E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807718A9-05DD-4A63-93CD-69E4B2A2B083}"/>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54D0F73-844A-4E22-AE25-F7A1E2D67DF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5A6355C-C8DA-46A4-A412-84F06E7CBCD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DDB72767-231A-40CC-8960-75BC251EA9B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8ED2643-6A5F-4425-85F9-999BB9A5592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52  정답과 해설</a:t>
            </a:r>
          </a:p>
        </p:txBody>
      </p:sp>
      <p:sp>
        <p:nvSpPr>
          <p:cNvPr id="4" name="직사각형 3">
            <a:extLst>
              <a:ext uri="{FF2B5EF4-FFF2-40B4-BE49-F238E27FC236}">
                <a16:creationId xmlns:a16="http://schemas.microsoft.com/office/drawing/2014/main" id="{806B38D9-4058-4AD7-B97A-A112E96F5DB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EBF8E38-232E-4AF1-AAD5-DA7D32B3E77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A6C5409-A053-41FE-81CC-31699F9CA1E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BAB38F6-EE4D-4289-A13A-66F5E9176BE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104</a:t>
            </a:r>
          </a:p>
        </p:txBody>
      </p:sp>
      <p:sp>
        <p:nvSpPr>
          <p:cNvPr id="8" name="text-178-64">
            <a:extLst>
              <a:ext uri="{FF2B5EF4-FFF2-40B4-BE49-F238E27FC236}">
                <a16:creationId xmlns:a16="http://schemas.microsoft.com/office/drawing/2014/main" id="{2F1A85C3-E4DA-43F1-BE48-014836E77347}"/>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점 A(0,0),B(3,4),C(3,0),D(10,10)의 최근접 쌍과 제곱거리를 쓰시오.</a:t>
            </a:r>
          </a:p>
        </p:txBody>
      </p:sp>
      <p:sp>
        <p:nvSpPr>
          <p:cNvPr id="9" name="직사각형 8">
            <a:extLst>
              <a:ext uri="{FF2B5EF4-FFF2-40B4-BE49-F238E27FC236}">
                <a16:creationId xmlns:a16="http://schemas.microsoft.com/office/drawing/2014/main" id="{3D93A653-992D-4B25-8C98-4EE10A2208F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97529A1-DD50-4590-80E0-4CBF453B8524}"/>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A–C,9</a:t>
            </a:r>
          </a:p>
        </p:txBody>
      </p:sp>
      <p:sp>
        <p:nvSpPr>
          <p:cNvPr id="11" name="text-324.4-64">
            <a:extLst>
              <a:ext uri="{FF2B5EF4-FFF2-40B4-BE49-F238E27FC236}">
                <a16:creationId xmlns:a16="http://schemas.microsoft.com/office/drawing/2014/main" id="{58750935-675A-42D2-991E-474AB0893AF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7F3027F4-FFB6-4458-B218-B550CFE852D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778D848-9CEB-4DCD-B429-16DF1E86E74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A–C는 3, B–C는 4이고 다른 쌍들은 더 멀다.</a:t>
            </a:r>
          </a:p>
        </p:txBody>
      </p:sp>
    </p:spTree>
    <p:extLst>
      <p:ext uri="{BB962C8B-B14F-4D97-AF65-F5344CB8AC3E}">
        <p14:creationId xmlns:p14="http://schemas.microsoft.com/office/powerpoint/2010/main" val="46268551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EE85B357-7EE9-40BF-A434-41458AEC001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CE14F1F-6197-438F-8BE5-25D23E4ACBD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AC6570E-D49D-42BD-BA61-94FDFACF2B8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a:t>
            </a:r>
          </a:p>
        </p:txBody>
      </p:sp>
      <p:sp>
        <p:nvSpPr>
          <p:cNvPr id="4" name="직사각형 3">
            <a:extLst>
              <a:ext uri="{FF2B5EF4-FFF2-40B4-BE49-F238E27FC236}">
                <a16:creationId xmlns:a16="http://schemas.microsoft.com/office/drawing/2014/main" id="{09D4F8EE-5080-4A19-B58C-7F17EA4AD91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813A574-ED28-4341-9F04-88536FA3007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84B761F-2615-4D24-B121-5753367BF9A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0699779-A825-40BF-B189-3F3ABA306D0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105</a:t>
            </a:r>
          </a:p>
        </p:txBody>
      </p:sp>
      <p:sp>
        <p:nvSpPr>
          <p:cNvPr id="8" name="text-178-64">
            <a:extLst>
              <a:ext uri="{FF2B5EF4-FFF2-40B4-BE49-F238E27FC236}">
                <a16:creationId xmlns:a16="http://schemas.microsoft.com/office/drawing/2014/main" id="{74F249B1-1BBB-4581-85EA-96483CF84E5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점 (−2,1)과 (1,5)의 제곱거리와 거리를 쓰시오.</a:t>
            </a:r>
          </a:p>
        </p:txBody>
      </p:sp>
      <p:sp>
        <p:nvSpPr>
          <p:cNvPr id="9" name="text-405-64">
            <a:extLst>
              <a:ext uri="{FF2B5EF4-FFF2-40B4-BE49-F238E27FC236}">
                <a16:creationId xmlns:a16="http://schemas.microsoft.com/office/drawing/2014/main" id="{E42F12F5-3F26-49EB-AC1A-CB07A899D41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DB9CDF41-E18A-4C90-9E19-97AC8C093128}"/>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E715DBB-2C9B-4A54-98B6-617753AE2D64}"/>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7C63E414-3381-4492-850A-DBE4082E961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01E19AC-A364-4FDB-A8D9-9FE78ECD137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F3CC0434-E054-4CDE-802F-CA333BD4354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3ADBF99-9BA0-4910-BDD6-D96EAEFDB6B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53  정답과 해설</a:t>
            </a:r>
          </a:p>
        </p:txBody>
      </p:sp>
      <p:sp>
        <p:nvSpPr>
          <p:cNvPr id="4" name="직사각형 3">
            <a:extLst>
              <a:ext uri="{FF2B5EF4-FFF2-40B4-BE49-F238E27FC236}">
                <a16:creationId xmlns:a16="http://schemas.microsoft.com/office/drawing/2014/main" id="{D4B72548-E3FC-4A33-BB89-BB1BF262AFE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B12CF00-20A6-434B-B475-BA45BDA1BB8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8AF1F89-1B50-4C60-86C3-0A9A4CB1D0B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DADD3AD-7016-4FAF-A1E0-2903F1B3544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106</a:t>
            </a:r>
          </a:p>
        </p:txBody>
      </p:sp>
      <p:sp>
        <p:nvSpPr>
          <p:cNvPr id="8" name="text-178-64">
            <a:extLst>
              <a:ext uri="{FF2B5EF4-FFF2-40B4-BE49-F238E27FC236}">
                <a16:creationId xmlns:a16="http://schemas.microsoft.com/office/drawing/2014/main" id="{811E6027-CE7E-4CF5-8B03-14312B5B7EC9}"/>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점 (−2,1)과 (1,5)의 제곱거리와 거리를 쓰시오.</a:t>
            </a:r>
          </a:p>
        </p:txBody>
      </p:sp>
      <p:sp>
        <p:nvSpPr>
          <p:cNvPr id="9" name="직사각형 8">
            <a:extLst>
              <a:ext uri="{FF2B5EF4-FFF2-40B4-BE49-F238E27FC236}">
                <a16:creationId xmlns:a16="http://schemas.microsoft.com/office/drawing/2014/main" id="{1D4A6F97-7A39-44A6-86DA-F634F80D9B7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83C7E89-E458-4DFD-BC05-5D44D5D582C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25,5</a:t>
            </a:r>
          </a:p>
        </p:txBody>
      </p:sp>
      <p:sp>
        <p:nvSpPr>
          <p:cNvPr id="11" name="text-324.4-64">
            <a:extLst>
              <a:ext uri="{FF2B5EF4-FFF2-40B4-BE49-F238E27FC236}">
                <a16:creationId xmlns:a16="http://schemas.microsoft.com/office/drawing/2014/main" id="{D4CB600C-D1A1-42A8-B48F-70F6E7DC01F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24764D4-2C37-41DF-A524-937E564B8B49}"/>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A37926E-E987-4541-AF4A-454952D2628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좌표 차가 3과 4이므로 3²+4²=25이다.</a:t>
            </a:r>
          </a:p>
        </p:txBody>
      </p:sp>
    </p:spTree>
    <p:extLst>
      <p:ext uri="{BB962C8B-B14F-4D97-AF65-F5344CB8AC3E}">
        <p14:creationId xmlns:p14="http://schemas.microsoft.com/office/powerpoint/2010/main" val="46268551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8C29865F-26C5-4B66-9475-2EA2DB9DA6B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D8C2EA47-82CC-4C91-BBF4-403FBB911C0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E1F251F-5786-4133-9853-0BB75AD9414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a:t>
            </a:r>
          </a:p>
        </p:txBody>
      </p:sp>
      <p:sp>
        <p:nvSpPr>
          <p:cNvPr id="4" name="직사각형 3">
            <a:extLst>
              <a:ext uri="{FF2B5EF4-FFF2-40B4-BE49-F238E27FC236}">
                <a16:creationId xmlns:a16="http://schemas.microsoft.com/office/drawing/2014/main" id="{0F21C7CD-C0C7-4F2D-8C62-0237A41091E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B9B2305-09E5-4C9F-A033-5D7D4432FE4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C4D920E-F318-4426-A8D1-3859E616959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28E3DF5-8BD4-4E83-9F4E-BC974642A5E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107</a:t>
            </a:r>
          </a:p>
        </p:txBody>
      </p:sp>
      <p:sp>
        <p:nvSpPr>
          <p:cNvPr id="8" name="text-178-64">
            <a:extLst>
              <a:ext uri="{FF2B5EF4-FFF2-40B4-BE49-F238E27FC236}">
                <a16:creationId xmlns:a16="http://schemas.microsoft.com/office/drawing/2014/main" id="{FA5ABB25-1D74-4ACA-9CC1-03F466937DC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dL=6,dR=4인 최근접 쌍 분할에서 d와 분할선 x=10 주변의 개선 후보 조건을 쓰시오.</a:t>
            </a:r>
          </a:p>
        </p:txBody>
      </p:sp>
      <p:sp>
        <p:nvSpPr>
          <p:cNvPr id="9" name="text-405-64">
            <a:extLst>
              <a:ext uri="{FF2B5EF4-FFF2-40B4-BE49-F238E27FC236}">
                <a16:creationId xmlns:a16="http://schemas.microsoft.com/office/drawing/2014/main" id="{45AAD08B-2F61-4064-B0E5-0AB1E9FF2B79}"/>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BCC1FC50-2693-4E51-A48F-97CD5638A683}"/>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73BDD6D-ED01-4BA6-BE49-377F85B9EC5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62BDDB73-904C-4367-AB21-2E09C5064905}"/>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C961E715-5708-42A1-AF76-2E3CDE200A7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7956A78F-B01C-4F17-883A-43FF52652DC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39436FF-91BE-4D6F-A68A-2334146240C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54  정답과 해설</a:t>
            </a:r>
          </a:p>
        </p:txBody>
      </p:sp>
      <p:sp>
        <p:nvSpPr>
          <p:cNvPr id="4" name="직사각형 3">
            <a:extLst>
              <a:ext uri="{FF2B5EF4-FFF2-40B4-BE49-F238E27FC236}">
                <a16:creationId xmlns:a16="http://schemas.microsoft.com/office/drawing/2014/main" id="{3419D93D-81DA-4736-8C96-265153552D1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1135D0C-0A62-45FC-930D-FCFFDA0CBFB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6F4997E-4845-4652-828D-5920029CD32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D2ABE2D-68FC-4648-9BE5-13B0E8D2C80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108</a:t>
            </a:r>
          </a:p>
        </p:txBody>
      </p:sp>
      <p:sp>
        <p:nvSpPr>
          <p:cNvPr id="8" name="text-178-64">
            <a:extLst>
              <a:ext uri="{FF2B5EF4-FFF2-40B4-BE49-F238E27FC236}">
                <a16:creationId xmlns:a16="http://schemas.microsoft.com/office/drawing/2014/main" id="{7A2D41F4-6E3A-48DA-8ECF-011B6C328B0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dL=6,dR=4인 최근접 쌍 분할에서 d와 분할선 x=10 주변의 개선 후보 조건을 쓰시오.</a:t>
            </a:r>
          </a:p>
        </p:txBody>
      </p:sp>
      <p:sp>
        <p:nvSpPr>
          <p:cNvPr id="9" name="직사각형 8">
            <a:extLst>
              <a:ext uri="{FF2B5EF4-FFF2-40B4-BE49-F238E27FC236}">
                <a16:creationId xmlns:a16="http://schemas.microsoft.com/office/drawing/2014/main" id="{EC62F679-D993-4677-A4DF-0B7CF70BF72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DBCA725-AFDD-47CB-8A63-DEDAAFB1540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d=4, 6&lt;x&lt;14</a:t>
            </a:r>
          </a:p>
        </p:txBody>
      </p:sp>
      <p:sp>
        <p:nvSpPr>
          <p:cNvPr id="11" name="text-324.4-64">
            <a:extLst>
              <a:ext uri="{FF2B5EF4-FFF2-40B4-BE49-F238E27FC236}">
                <a16:creationId xmlns:a16="http://schemas.microsoft.com/office/drawing/2014/main" id="{E840989F-C9E2-4CE9-AD4E-25ABEC7F3C8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22F928E-6EBF-48C2-AA96-C75B3DF85D5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02F254C-C007-41EC-9EA8-A9A1E8DDAB66}"/>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기존 거리 4보다 엄격히 작은 쌍만 찾으려면 수평 거리도 4보다 작아야 한다.</a:t>
            </a:r>
          </a:p>
        </p:txBody>
      </p:sp>
    </p:spTree>
    <p:extLst>
      <p:ext uri="{BB962C8B-B14F-4D97-AF65-F5344CB8AC3E}">
        <p14:creationId xmlns:p14="http://schemas.microsoft.com/office/powerpoint/2010/main" val="46268551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F31FF4F-BEEB-4431-88F1-AA817CF790A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8B890E2-3D69-414B-A304-85EAA5EB1AD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9F864C2-E655-4D0E-9087-793F761A181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a:t>
            </a:r>
          </a:p>
        </p:txBody>
      </p:sp>
      <p:sp>
        <p:nvSpPr>
          <p:cNvPr id="4" name="직사각형 3">
            <a:extLst>
              <a:ext uri="{FF2B5EF4-FFF2-40B4-BE49-F238E27FC236}">
                <a16:creationId xmlns:a16="http://schemas.microsoft.com/office/drawing/2014/main" id="{96AE62BD-99CD-425F-9819-40C265535C1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FE8A04E-29CF-405C-9BC1-078124EBC2B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D9F8343-FE9A-4A64-907E-7DAD512C6F6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8B63BD2-D366-41EF-BDA9-710E93C43E0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109</a:t>
            </a:r>
          </a:p>
        </p:txBody>
      </p:sp>
      <p:sp>
        <p:nvSpPr>
          <p:cNvPr id="8" name="text-178-64">
            <a:extLst>
              <a:ext uri="{FF2B5EF4-FFF2-40B4-BE49-F238E27FC236}">
                <a16:creationId xmlns:a16="http://schemas.microsoft.com/office/drawing/2014/main" id="{F958C058-0077-4B42-AC73-99891EE0EAA6}"/>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점 12개의 모든 순서 없는 쌍을 비교한다. 거리 계산 횟수는?</a:t>
            </a:r>
          </a:p>
        </p:txBody>
      </p:sp>
      <p:sp>
        <p:nvSpPr>
          <p:cNvPr id="9" name="text-405-64">
            <a:extLst>
              <a:ext uri="{FF2B5EF4-FFF2-40B4-BE49-F238E27FC236}">
                <a16:creationId xmlns:a16="http://schemas.microsoft.com/office/drawing/2014/main" id="{B40DC02D-EC78-49CF-8062-6039E833BAE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01DDD7FD-3874-4F36-950E-9394FA8832D7}"/>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B65B6438-845B-4C7B-B1F3-2AC1F301E8F1}"/>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0FF72E3C-7B8F-4CBF-8459-F02ACEA5AFC1}"/>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4B912D1B-71F0-4EBB-9BE9-9F0AE85817A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07C9F6EA-B79B-40E7-83F2-EF1CF39F189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1AAB361-4FF9-4284-8ECB-8D2DCBBCECC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55  정답과 해설</a:t>
            </a:r>
          </a:p>
        </p:txBody>
      </p:sp>
      <p:sp>
        <p:nvSpPr>
          <p:cNvPr id="4" name="직사각형 3">
            <a:extLst>
              <a:ext uri="{FF2B5EF4-FFF2-40B4-BE49-F238E27FC236}">
                <a16:creationId xmlns:a16="http://schemas.microsoft.com/office/drawing/2014/main" id="{EF759CBE-952A-430A-8C32-9CA0549F57F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D9F76F9-2A31-44C1-9933-7AF247C8756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91FAC31-A6D4-4B48-884E-4D3CFF3C2FC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230635F-DDF3-4A8E-B13C-A2DF4F9B2BB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110</a:t>
            </a:r>
          </a:p>
        </p:txBody>
      </p:sp>
      <p:sp>
        <p:nvSpPr>
          <p:cNvPr id="8" name="text-178-64">
            <a:extLst>
              <a:ext uri="{FF2B5EF4-FFF2-40B4-BE49-F238E27FC236}">
                <a16:creationId xmlns:a16="http://schemas.microsoft.com/office/drawing/2014/main" id="{16C35E8E-64DE-40CE-9DF2-5D1B6790178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점 12개의 모든 순서 없는 쌍을 비교한다. 거리 계산 횟수는?</a:t>
            </a:r>
          </a:p>
        </p:txBody>
      </p:sp>
      <p:sp>
        <p:nvSpPr>
          <p:cNvPr id="9" name="직사각형 8">
            <a:extLst>
              <a:ext uri="{FF2B5EF4-FFF2-40B4-BE49-F238E27FC236}">
                <a16:creationId xmlns:a16="http://schemas.microsoft.com/office/drawing/2014/main" id="{3822DAEC-D5D7-4430-AFB8-7536B949098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FD5F854-FB11-4D0B-B549-CECB498832B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66회</a:t>
            </a:r>
          </a:p>
        </p:txBody>
      </p:sp>
      <p:sp>
        <p:nvSpPr>
          <p:cNvPr id="11" name="text-324.4-64">
            <a:extLst>
              <a:ext uri="{FF2B5EF4-FFF2-40B4-BE49-F238E27FC236}">
                <a16:creationId xmlns:a16="http://schemas.microsoft.com/office/drawing/2014/main" id="{4655B8EA-19EA-451C-826E-5890007250F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EB43F044-B832-4E29-92C9-1D5F85B7455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406033A9-364B-4B1E-B36D-BBC97560F3C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12×11/2=66이다.</a:t>
            </a:r>
          </a:p>
        </p:txBody>
      </p:sp>
    </p:spTree>
    <p:extLst>
      <p:ext uri="{BB962C8B-B14F-4D97-AF65-F5344CB8AC3E}">
        <p14:creationId xmlns:p14="http://schemas.microsoft.com/office/powerpoint/2010/main" val="462685519"/>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0D2F4C1A-CB02-49D7-AD99-FCA9982405D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99AB0B60-2B99-41FA-99EE-6EC3E57CCE6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EA105AF-D483-4DF5-A9F9-C67AC1F8F6D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a:t>
            </a:r>
          </a:p>
        </p:txBody>
      </p:sp>
      <p:sp>
        <p:nvSpPr>
          <p:cNvPr id="4" name="직사각형 3">
            <a:extLst>
              <a:ext uri="{FF2B5EF4-FFF2-40B4-BE49-F238E27FC236}">
                <a16:creationId xmlns:a16="http://schemas.microsoft.com/office/drawing/2014/main" id="{558B789B-BA42-4F59-A679-BA9E8E8C401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3DE9B4F-58C8-401E-8706-E3D0BE8861D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F267588-A94A-4BA4-951B-1851DFC6BB7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6662B5B-E526-4B16-8AE7-FEF6F6AA804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111</a:t>
            </a:r>
          </a:p>
        </p:txBody>
      </p:sp>
      <p:sp>
        <p:nvSpPr>
          <p:cNvPr id="8" name="text-178-64">
            <a:extLst>
              <a:ext uri="{FF2B5EF4-FFF2-40B4-BE49-F238E27FC236}">
                <a16:creationId xmlns:a16="http://schemas.microsoft.com/office/drawing/2014/main" id="{2E3B3F73-3470-4D9F-A66B-55EDC9A6D4DE}"/>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2×2 영상의 행이 01,10이다. 혼합 영역은 괄호로 감싸고 좌상·우상·좌하·우하 순으로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부호화하시오.</a:t>
            </a:r>
          </a:p>
        </p:txBody>
      </p:sp>
      <p:sp>
        <p:nvSpPr>
          <p:cNvPr id="9" name="text-405-64">
            <a:extLst>
              <a:ext uri="{FF2B5EF4-FFF2-40B4-BE49-F238E27FC236}">
                <a16:creationId xmlns:a16="http://schemas.microsoft.com/office/drawing/2014/main" id="{84107955-0D97-484B-8258-520CB9810B6B}"/>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1E008AAA-3AE3-44DD-A842-0D8CEA17CC5F}"/>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2AA4FB6-8579-4046-9406-EA28642BE0B7}"/>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ECA24AFC-02D2-48F9-AF9B-AAE596F36DB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FC1C861-85C0-442C-8E0E-B8386C8207F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4CA8358-6AAF-422C-A50D-6EA05C3BAAE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FC42C95-519C-496E-B6F8-ACABF081FC6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56  정답과 해설</a:t>
            </a:r>
          </a:p>
        </p:txBody>
      </p:sp>
      <p:sp>
        <p:nvSpPr>
          <p:cNvPr id="4" name="직사각형 3">
            <a:extLst>
              <a:ext uri="{FF2B5EF4-FFF2-40B4-BE49-F238E27FC236}">
                <a16:creationId xmlns:a16="http://schemas.microsoft.com/office/drawing/2014/main" id="{B9F9FE8D-ED81-4BD6-9C74-01A333E1105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37BFA0A-C15A-4F76-A21B-B0F5EC8C5BC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8389C2C-E5D1-4807-B7FD-4FF1D8CD757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2EEB73B-924E-48D7-B0EB-C70DBFE4892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112</a:t>
            </a:r>
          </a:p>
        </p:txBody>
      </p:sp>
      <p:sp>
        <p:nvSpPr>
          <p:cNvPr id="8" name="text-178-64">
            <a:extLst>
              <a:ext uri="{FF2B5EF4-FFF2-40B4-BE49-F238E27FC236}">
                <a16:creationId xmlns:a16="http://schemas.microsoft.com/office/drawing/2014/main" id="{BBDA5177-BC14-4588-B6E7-B60478DA73A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2×2 영상의 행이 01,10이다. 혼합 영역은 괄호로 감싸고 좌상·우상·좌하·우하 순으로 부호화하시오.</a:t>
            </a:r>
          </a:p>
        </p:txBody>
      </p:sp>
      <p:sp>
        <p:nvSpPr>
          <p:cNvPr id="9" name="직사각형 8">
            <a:extLst>
              <a:ext uri="{FF2B5EF4-FFF2-40B4-BE49-F238E27FC236}">
                <a16:creationId xmlns:a16="http://schemas.microsoft.com/office/drawing/2014/main" id="{90CAD2AD-08AE-441C-93BA-51F9016DA2F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C1722EFE-7752-4862-83D3-08727D67171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(0110)</a:t>
            </a:r>
          </a:p>
        </p:txBody>
      </p:sp>
      <p:sp>
        <p:nvSpPr>
          <p:cNvPr id="11" name="text-324.4-64">
            <a:extLst>
              <a:ext uri="{FF2B5EF4-FFF2-40B4-BE49-F238E27FC236}">
                <a16:creationId xmlns:a16="http://schemas.microsoft.com/office/drawing/2014/main" id="{AA796FE6-A7C0-483A-BAF6-ACF51A34575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62D5945-2053-444C-B36C-4D7AD5A03AA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ADC6834-EF67-40BD-A2FB-40C35ECCFFC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네 칸이 각각 0,1,1,0이므로 그 순서로 적는다.</a:t>
            </a:r>
          </a:p>
        </p:txBody>
      </p:sp>
    </p:spTree>
    <p:extLst>
      <p:ext uri="{BB962C8B-B14F-4D97-AF65-F5344CB8AC3E}">
        <p14:creationId xmlns:p14="http://schemas.microsoft.com/office/powerpoint/2010/main" val="46268551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F9BEB1E-B9A8-4A10-B99D-75B9EF87FFC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18DF4FC-E60D-49B7-AA71-590DCF0CE7E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0A4ED85-E245-42CD-B7B6-7DF2708397C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a:t>
            </a:r>
          </a:p>
        </p:txBody>
      </p:sp>
      <p:sp>
        <p:nvSpPr>
          <p:cNvPr id="4" name="직사각형 3">
            <a:extLst>
              <a:ext uri="{FF2B5EF4-FFF2-40B4-BE49-F238E27FC236}">
                <a16:creationId xmlns:a16="http://schemas.microsoft.com/office/drawing/2014/main" id="{7E3D163D-0213-4A07-A3C1-70C0C52682D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DE2FE74-9918-4C35-A447-A693178508B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1D93EDA-1C92-4FA5-92E9-AB42DBE18AA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2F84A9F-7DAD-4D6C-95B3-E97E957E03A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113</a:t>
            </a:r>
          </a:p>
        </p:txBody>
      </p:sp>
      <p:sp>
        <p:nvSpPr>
          <p:cNvPr id="8" name="text-178-64">
            <a:extLst>
              <a:ext uri="{FF2B5EF4-FFF2-40B4-BE49-F238E27FC236}">
                <a16:creationId xmlns:a16="http://schemas.microsoft.com/office/drawing/2014/main" id="{8F46FA86-EE10-42AF-9CC5-D6DA5750A7F8}"/>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4×4 영상의 네 행이 0011,0011,1100,1100이다. 균일하면 색 하나, 혼합이면 (좌상</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우상 좌하 우하) 순으로 부호화한 결과는?</a:t>
            </a:r>
          </a:p>
        </p:txBody>
      </p:sp>
      <p:sp>
        <p:nvSpPr>
          <p:cNvPr id="9" name="text-405-64">
            <a:extLst>
              <a:ext uri="{FF2B5EF4-FFF2-40B4-BE49-F238E27FC236}">
                <a16:creationId xmlns:a16="http://schemas.microsoft.com/office/drawing/2014/main" id="{6EC874B4-41A5-4F1D-871B-7856A7837452}"/>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DBFD59EB-6F7E-4BEE-B4D4-F2CFECA15FE6}"/>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B4B41F92-CBA5-491D-9E2A-66ABC0255B9F}"/>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3D23C0F0-9AF5-4475-9B90-8423BF2B2A3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E08FF6D-9448-49CD-A65E-9EC22845C35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C7118EFE-93A3-4A71-8C31-BC8C5FD9B3E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B243E15-19B9-4A37-9D3D-CC54118310A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57  정답과 해설</a:t>
            </a:r>
          </a:p>
        </p:txBody>
      </p:sp>
      <p:sp>
        <p:nvSpPr>
          <p:cNvPr id="4" name="직사각형 3">
            <a:extLst>
              <a:ext uri="{FF2B5EF4-FFF2-40B4-BE49-F238E27FC236}">
                <a16:creationId xmlns:a16="http://schemas.microsoft.com/office/drawing/2014/main" id="{A962406E-44E9-4B81-94FF-AA79C06AC4A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E290A72-D1BB-4F0B-A478-8F5EAE3D681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C261565-64A4-4522-903B-25E6186FF91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F59C87C-8CC4-4D4D-BF3C-6340F40A027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114</a:t>
            </a:r>
          </a:p>
        </p:txBody>
      </p:sp>
      <p:sp>
        <p:nvSpPr>
          <p:cNvPr id="8" name="text-178-64">
            <a:extLst>
              <a:ext uri="{FF2B5EF4-FFF2-40B4-BE49-F238E27FC236}">
                <a16:creationId xmlns:a16="http://schemas.microsoft.com/office/drawing/2014/main" id="{09E93092-FA61-4510-8685-98D8D71A05EC}"/>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4×4 영상의 네 행이 0011,0011,1100,1100이다. 균일하면 색 하나, 혼합이면 (좌상 우상 좌하 우하)</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순으로 부호화한 결과는?</a:t>
            </a:r>
          </a:p>
        </p:txBody>
      </p:sp>
      <p:sp>
        <p:nvSpPr>
          <p:cNvPr id="9" name="직사각형 8">
            <a:extLst>
              <a:ext uri="{FF2B5EF4-FFF2-40B4-BE49-F238E27FC236}">
                <a16:creationId xmlns:a16="http://schemas.microsoft.com/office/drawing/2014/main" id="{414BB7D0-DB66-4E09-8470-CB6244863D21}"/>
              </a:ext>
            </a:extLst>
          </p:cNvPr>
          <p:cNvSpPr>
            <a:spLocks noGrp="1"/>
          </p:cNvSpPr>
          <p:nvPr/>
        </p:nvSpPr>
        <p:spPr>
          <a:xfrm>
            <a:off x="609600" y="2526030"/>
            <a:ext cx="10972800" cy="626745"/>
          </a:xfrm>
          <a:prstGeom prst="rect">
            <a:avLst/>
          </a:prstGeom>
          <a:solidFill>
            <a:srgbClr val="171717"/>
          </a:solidFill>
          <a:ln w="0">
            <a:noFill/>
          </a:ln>
        </p:spPr>
      </p:sp>
      <p:sp>
        <p:nvSpPr>
          <p:cNvPr id="10" name="text-279.2-92">
            <a:extLst>
              <a:ext uri="{FF2B5EF4-FFF2-40B4-BE49-F238E27FC236}">
                <a16:creationId xmlns:a16="http://schemas.microsoft.com/office/drawing/2014/main" id="{08F91E3F-26E0-4391-8B91-1D7C0F59AB3A}"/>
              </a:ext>
            </a:extLst>
          </p:cNvPr>
          <p:cNvSpPr>
            <a:spLocks noGrp="1"/>
          </p:cNvSpPr>
          <p:nvPr/>
        </p:nvSpPr>
        <p:spPr>
          <a:xfrm>
            <a:off x="876300" y="265938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(0110)</a:t>
            </a:r>
          </a:p>
        </p:txBody>
      </p:sp>
      <p:sp>
        <p:nvSpPr>
          <p:cNvPr id="11" name="text-358-64">
            <a:extLst>
              <a:ext uri="{FF2B5EF4-FFF2-40B4-BE49-F238E27FC236}">
                <a16:creationId xmlns:a16="http://schemas.microsoft.com/office/drawing/2014/main" id="{4DEAA3CB-330C-4C25-B36C-95CD62AE630A}"/>
              </a:ext>
            </a:extLst>
          </p:cNvPr>
          <p:cNvSpPr>
            <a:spLocks noGrp="1"/>
          </p:cNvSpPr>
          <p:nvPr/>
        </p:nvSpPr>
        <p:spPr>
          <a:xfrm>
            <a:off x="609600" y="340995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B5AC5D5-5320-4781-B359-E47151D57E22}"/>
              </a:ext>
            </a:extLst>
          </p:cNvPr>
          <p:cNvSpPr>
            <a:spLocks noGrp="1"/>
          </p:cNvSpPr>
          <p:nvPr/>
        </p:nvSpPr>
        <p:spPr>
          <a:xfrm>
            <a:off x="1752600" y="3581400"/>
            <a:ext cx="9829800" cy="9525"/>
          </a:xfrm>
          <a:prstGeom prst="rect">
            <a:avLst/>
          </a:prstGeom>
          <a:solidFill>
            <a:srgbClr val="D4D4D4"/>
          </a:solidFill>
          <a:ln w="0">
            <a:noFill/>
          </a:ln>
        </p:spPr>
      </p:sp>
      <p:sp>
        <p:nvSpPr>
          <p:cNvPr id="13" name="text-406-64">
            <a:extLst>
              <a:ext uri="{FF2B5EF4-FFF2-40B4-BE49-F238E27FC236}">
                <a16:creationId xmlns:a16="http://schemas.microsoft.com/office/drawing/2014/main" id="{681968DF-4458-40B0-8144-55FE7846B32E}"/>
              </a:ext>
            </a:extLst>
          </p:cNvPr>
          <p:cNvSpPr>
            <a:spLocks noGrp="1"/>
          </p:cNvSpPr>
          <p:nvPr/>
        </p:nvSpPr>
        <p:spPr>
          <a:xfrm>
            <a:off x="609600" y="38671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네 사분면이 각각 한 색이므로 각 사분면을 한 기호로 기록한다.</a:t>
            </a:r>
          </a:p>
        </p:txBody>
      </p:sp>
    </p:spTree>
    <p:extLst>
      <p:ext uri="{BB962C8B-B14F-4D97-AF65-F5344CB8AC3E}">
        <p14:creationId xmlns:p14="http://schemas.microsoft.com/office/powerpoint/2010/main" val="462685519"/>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F90C356-09F2-4EF9-96BB-5E9085AEB92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4100287B-5DAE-4D48-B59E-2A699274DD9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FC072E3-7095-498E-8BD6-8202B0FACE3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a:t>
            </a:r>
          </a:p>
        </p:txBody>
      </p:sp>
      <p:sp>
        <p:nvSpPr>
          <p:cNvPr id="4" name="직사각형 3">
            <a:extLst>
              <a:ext uri="{FF2B5EF4-FFF2-40B4-BE49-F238E27FC236}">
                <a16:creationId xmlns:a16="http://schemas.microsoft.com/office/drawing/2014/main" id="{B05C67B3-1F3A-41BF-98D2-38506B35272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E5FFD6A-74A5-4DA5-8632-69A4C50FC34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CA03193-1661-430E-AF7C-43989708059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3A4B782-8C71-4E68-A5E4-58C444C6764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115</a:t>
            </a:r>
          </a:p>
        </p:txBody>
      </p:sp>
      <p:sp>
        <p:nvSpPr>
          <p:cNvPr id="8" name="text-178-64">
            <a:extLst>
              <a:ext uri="{FF2B5EF4-FFF2-40B4-BE49-F238E27FC236}">
                <a16:creationId xmlns:a16="http://schemas.microsoft.com/office/drawing/2014/main" id="{26FEF9F4-EDD3-4097-8BC0-7BD1C8F942DC}"/>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4×4 영상 전체가 1이다. 쿼드트리 부호와 리프 수는?</a:t>
            </a:r>
          </a:p>
        </p:txBody>
      </p:sp>
      <p:sp>
        <p:nvSpPr>
          <p:cNvPr id="9" name="text-405-64">
            <a:extLst>
              <a:ext uri="{FF2B5EF4-FFF2-40B4-BE49-F238E27FC236}">
                <a16:creationId xmlns:a16="http://schemas.microsoft.com/office/drawing/2014/main" id="{12F1C999-A835-47D5-A564-4B7C2545C38F}"/>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F509C8F-EB6C-438B-B004-5D3726D3DD62}"/>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A943F9FD-7A99-4F51-BDF8-98E5DD79C7A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0E986965-C946-4CC8-95F2-D4E8EB9CB9E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C465D58-CFD4-4E5C-B2F3-5C9E1DA3A8E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C34CF39C-C4F1-4AF8-90BD-98BF4A8B44C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1C7628E-3DB4-40E4-AE97-53EB794A8F2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58  정답과 해설</a:t>
            </a:r>
          </a:p>
        </p:txBody>
      </p:sp>
      <p:sp>
        <p:nvSpPr>
          <p:cNvPr id="4" name="직사각형 3">
            <a:extLst>
              <a:ext uri="{FF2B5EF4-FFF2-40B4-BE49-F238E27FC236}">
                <a16:creationId xmlns:a16="http://schemas.microsoft.com/office/drawing/2014/main" id="{43FBC1D5-60D9-4B20-B699-0488700F019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7155E35-1CAC-4E48-9CCF-94E7D57F824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8195D34-BE0A-40DC-A4DD-0E9A352AE25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FBD7683-ED37-4851-8F05-C0EE9445A8D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116</a:t>
            </a:r>
          </a:p>
        </p:txBody>
      </p:sp>
      <p:sp>
        <p:nvSpPr>
          <p:cNvPr id="8" name="text-178-64">
            <a:extLst>
              <a:ext uri="{FF2B5EF4-FFF2-40B4-BE49-F238E27FC236}">
                <a16:creationId xmlns:a16="http://schemas.microsoft.com/office/drawing/2014/main" id="{7F6442A3-5FDD-4C83-A78A-310265A98BFA}"/>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4×4 영상 전체가 1이다. 쿼드트리 부호와 리프 수는?</a:t>
            </a:r>
          </a:p>
        </p:txBody>
      </p:sp>
      <p:sp>
        <p:nvSpPr>
          <p:cNvPr id="9" name="직사각형 8">
            <a:extLst>
              <a:ext uri="{FF2B5EF4-FFF2-40B4-BE49-F238E27FC236}">
                <a16:creationId xmlns:a16="http://schemas.microsoft.com/office/drawing/2014/main" id="{AEFE7817-FA64-476B-8BAD-40892F13CE2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792368F4-1693-4831-B591-47A2A4EC5B5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 1개</a:t>
            </a:r>
          </a:p>
        </p:txBody>
      </p:sp>
      <p:sp>
        <p:nvSpPr>
          <p:cNvPr id="11" name="text-324.4-64">
            <a:extLst>
              <a:ext uri="{FF2B5EF4-FFF2-40B4-BE49-F238E27FC236}">
                <a16:creationId xmlns:a16="http://schemas.microsoft.com/office/drawing/2014/main" id="{A849A064-7431-45C8-9121-12B208C238D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2F2DAFA-A54C-4055-BAB9-1D55B34005B7}"/>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77BD57D-D1A9-452F-9FEB-D9A762CB2CCC}"/>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루트에서 균일하므로 자식을 만들지 않는다.</a:t>
            </a:r>
          </a:p>
        </p:txBody>
      </p:sp>
    </p:spTree>
    <p:extLst>
      <p:ext uri="{BB962C8B-B14F-4D97-AF65-F5344CB8AC3E}">
        <p14:creationId xmlns:p14="http://schemas.microsoft.com/office/powerpoint/2010/main" val="462685519"/>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2E2B76B6-9272-45CE-A119-99387FEBA17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AF796AF6-25FB-4166-8F30-6BC1DF0C3D6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33187B2-5CFF-4207-A392-DD891B62BF3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a:t>
            </a:r>
          </a:p>
        </p:txBody>
      </p:sp>
      <p:sp>
        <p:nvSpPr>
          <p:cNvPr id="4" name="직사각형 3">
            <a:extLst>
              <a:ext uri="{FF2B5EF4-FFF2-40B4-BE49-F238E27FC236}">
                <a16:creationId xmlns:a16="http://schemas.microsoft.com/office/drawing/2014/main" id="{846A4B6A-91BE-4BE4-940D-23AD9839945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50D0281-8D6F-4598-BCB7-2F1125BCFF5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7A78E96-ABFE-438D-A113-A7FC529716A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1DD4E6B-A8A8-4B96-A53F-9BF1DBA3359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117</a:t>
            </a:r>
          </a:p>
        </p:txBody>
      </p:sp>
      <p:sp>
        <p:nvSpPr>
          <p:cNvPr id="8" name="text-178-64">
            <a:extLst>
              <a:ext uri="{FF2B5EF4-FFF2-40B4-BE49-F238E27FC236}">
                <a16:creationId xmlns:a16="http://schemas.microsoft.com/office/drawing/2014/main" id="{CBFAB43D-84D9-45F1-A116-35AE67A31BE0}"/>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2×2 영상의 각 칸까지 모두 분할했다. 내부 노드 수와 리프 수는?</a:t>
            </a:r>
          </a:p>
        </p:txBody>
      </p:sp>
      <p:sp>
        <p:nvSpPr>
          <p:cNvPr id="9" name="text-405-64">
            <a:extLst>
              <a:ext uri="{FF2B5EF4-FFF2-40B4-BE49-F238E27FC236}">
                <a16:creationId xmlns:a16="http://schemas.microsoft.com/office/drawing/2014/main" id="{31274448-F98F-4DC8-8679-57942F42FD6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2FA3333A-46B3-4D86-9D07-7A812E1144A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3F8899B-05CC-4169-BED6-C4C70050D80D}"/>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53943A81-47C9-4064-80F6-A04A3E48332A}"/>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5A5A7FA-3517-4A1C-A7AE-E13F701111C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77F439FA-D2B9-48FB-8630-15D7A5B30AE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8EF1271-0948-4DFE-9989-F5C4626902C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59  정답과 해설</a:t>
            </a:r>
          </a:p>
        </p:txBody>
      </p:sp>
      <p:sp>
        <p:nvSpPr>
          <p:cNvPr id="4" name="직사각형 3">
            <a:extLst>
              <a:ext uri="{FF2B5EF4-FFF2-40B4-BE49-F238E27FC236}">
                <a16:creationId xmlns:a16="http://schemas.microsoft.com/office/drawing/2014/main" id="{9633A5AD-4D02-4F0F-9F40-51B7086D64E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071FFDF-B1A1-4E50-9F88-442FA10CDCD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077118D-0FB9-459C-88C4-1D87BB0BB03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DEB56FA-2A08-4300-BF56-824263DF651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118</a:t>
            </a:r>
          </a:p>
        </p:txBody>
      </p:sp>
      <p:sp>
        <p:nvSpPr>
          <p:cNvPr id="8" name="text-178-64">
            <a:extLst>
              <a:ext uri="{FF2B5EF4-FFF2-40B4-BE49-F238E27FC236}">
                <a16:creationId xmlns:a16="http://schemas.microsoft.com/office/drawing/2014/main" id="{565FCBB5-351A-403D-B381-9F580AE84182}"/>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2×2 영상의 각 칸까지 모두 분할했다. 내부 노드 수와 리프 수는?</a:t>
            </a:r>
          </a:p>
        </p:txBody>
      </p:sp>
      <p:sp>
        <p:nvSpPr>
          <p:cNvPr id="9" name="직사각형 8">
            <a:extLst>
              <a:ext uri="{FF2B5EF4-FFF2-40B4-BE49-F238E27FC236}">
                <a16:creationId xmlns:a16="http://schemas.microsoft.com/office/drawing/2014/main" id="{8DDC56DE-317A-4BFB-B3A6-B93D3F59352D}"/>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71483726-06BD-4B86-A5AB-97A0FDD0DF4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1개,4개</a:t>
            </a:r>
          </a:p>
        </p:txBody>
      </p:sp>
      <p:sp>
        <p:nvSpPr>
          <p:cNvPr id="11" name="text-324.4-64">
            <a:extLst>
              <a:ext uri="{FF2B5EF4-FFF2-40B4-BE49-F238E27FC236}">
                <a16:creationId xmlns:a16="http://schemas.microsoft.com/office/drawing/2014/main" id="{EFDCA9F7-67C4-4BC3-9235-46E600348E2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9818D09-C663-4109-9AAD-CC49351C38A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DEDE1CD-D7E4-476A-8533-3F23C1698E2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혼합 루트 하나와 네 단위 칸 리프가 있다.</a:t>
            </a:r>
          </a:p>
        </p:txBody>
      </p:sp>
    </p:spTree>
    <p:extLst>
      <p:ext uri="{BB962C8B-B14F-4D97-AF65-F5344CB8AC3E}">
        <p14:creationId xmlns:p14="http://schemas.microsoft.com/office/powerpoint/2010/main" val="46268551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5D4A71B4-0B68-4ED7-AC3D-C7C4C7AB9CB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E620969E-FB28-4BD0-AA9A-89593E9F3E5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01FD56D-8AAE-48B4-8BDB-D18F2572B33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a:t>
            </a:r>
          </a:p>
        </p:txBody>
      </p:sp>
      <p:sp>
        <p:nvSpPr>
          <p:cNvPr id="4" name="직사각형 3">
            <a:extLst>
              <a:ext uri="{FF2B5EF4-FFF2-40B4-BE49-F238E27FC236}">
                <a16:creationId xmlns:a16="http://schemas.microsoft.com/office/drawing/2014/main" id="{316E4716-5818-4936-AF2A-82C7EA5FA80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11C6885-1847-476B-802A-3469F0C9782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D718309-931D-4D10-B72B-0F1BBBECF30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AB62D36-D62C-481E-A1EA-C27E377DC16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119</a:t>
            </a:r>
          </a:p>
        </p:txBody>
      </p:sp>
      <p:sp>
        <p:nvSpPr>
          <p:cNvPr id="8" name="text-178-64">
            <a:extLst>
              <a:ext uri="{FF2B5EF4-FFF2-40B4-BE49-F238E27FC236}">
                <a16:creationId xmlns:a16="http://schemas.microsoft.com/office/drawing/2014/main" id="{85A4CF0A-58D4-49C6-8AEB-0FF395D8C30D}"/>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한 변 8인 영상을 끝까지 쿼드트리로 분할한다. 루트 깊이를 0이라 할 때 리프 깊이와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리프 수는?</a:t>
            </a:r>
          </a:p>
        </p:txBody>
      </p:sp>
      <p:sp>
        <p:nvSpPr>
          <p:cNvPr id="9" name="text-405-64">
            <a:extLst>
              <a:ext uri="{FF2B5EF4-FFF2-40B4-BE49-F238E27FC236}">
                <a16:creationId xmlns:a16="http://schemas.microsoft.com/office/drawing/2014/main" id="{AF1AEF6D-8674-499D-AD0F-427F4BF04482}"/>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47B82533-5267-4247-AA83-953EC61414C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0C6BCD0A-6529-4B75-AB6D-1E3082800E3D}"/>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47F1F1E2-2AE2-4FD6-B4C8-E02B2AE5F1E5}"/>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D348747-6475-4AB5-92BC-C6C0F756537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F43E2F9F-8AE6-4796-8213-F6A3C038B90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4AD5E7B-D35B-4554-9E41-676EC535572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60  정답과 해설</a:t>
            </a:r>
          </a:p>
        </p:txBody>
      </p:sp>
      <p:sp>
        <p:nvSpPr>
          <p:cNvPr id="4" name="직사각형 3">
            <a:extLst>
              <a:ext uri="{FF2B5EF4-FFF2-40B4-BE49-F238E27FC236}">
                <a16:creationId xmlns:a16="http://schemas.microsoft.com/office/drawing/2014/main" id="{58EC416D-CD05-4493-A523-320FC474CFB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0152051-E46F-4A6D-998F-D1D63BD4BB8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87245DA-4C7D-4B33-87E8-9C95BE2EFB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08D249B-3797-4727-8BE2-1083803FA05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120</a:t>
            </a:r>
          </a:p>
        </p:txBody>
      </p:sp>
      <p:sp>
        <p:nvSpPr>
          <p:cNvPr id="8" name="text-178-64">
            <a:extLst>
              <a:ext uri="{FF2B5EF4-FFF2-40B4-BE49-F238E27FC236}">
                <a16:creationId xmlns:a16="http://schemas.microsoft.com/office/drawing/2014/main" id="{0EB3A2A7-0F24-4813-898F-F540AD56B894}"/>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변 8인 영상을 끝까지 쿼드트리로 분할한다. 루트 깊이를 0이라 할 때 리프 깊이와 리프 수는?</a:t>
            </a:r>
          </a:p>
        </p:txBody>
      </p:sp>
      <p:sp>
        <p:nvSpPr>
          <p:cNvPr id="9" name="직사각형 8">
            <a:extLst>
              <a:ext uri="{FF2B5EF4-FFF2-40B4-BE49-F238E27FC236}">
                <a16:creationId xmlns:a16="http://schemas.microsoft.com/office/drawing/2014/main" id="{1948B42B-8673-40D1-8225-6C6BAA5ECE3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A0A5A6A-81C4-46C0-8779-CD71F88B9F7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깊이 3,64개</a:t>
            </a:r>
          </a:p>
        </p:txBody>
      </p:sp>
      <p:sp>
        <p:nvSpPr>
          <p:cNvPr id="11" name="text-324.4-64">
            <a:extLst>
              <a:ext uri="{FF2B5EF4-FFF2-40B4-BE49-F238E27FC236}">
                <a16:creationId xmlns:a16="http://schemas.microsoft.com/office/drawing/2014/main" id="{1444D575-497C-4F8C-B935-FD9E7D5FC58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360069F-B634-4B1F-8360-9CEB84D30E9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AE825E4-399F-4948-B339-E6F213949574}"/>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변 길이 8→4→2→1이며 마지막 칸은 8²개이다.</a:t>
            </a:r>
          </a:p>
        </p:txBody>
      </p:sp>
    </p:spTree>
    <p:extLst>
      <p:ext uri="{BB962C8B-B14F-4D97-AF65-F5344CB8AC3E}">
        <p14:creationId xmlns:p14="http://schemas.microsoft.com/office/powerpoint/2010/main" val="46268551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DD09C996-587A-4BD9-8837-A424FEFA2F7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7370A3D6-42CD-49FF-88F3-4E76F956F5D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F5A371C-4E1F-49D4-93E3-4F7F0D429B6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61  </a:t>
            </a:r>
          </a:p>
        </p:txBody>
      </p:sp>
      <p:sp>
        <p:nvSpPr>
          <p:cNvPr id="4" name="직사각형 3">
            <a:extLst>
              <a:ext uri="{FF2B5EF4-FFF2-40B4-BE49-F238E27FC236}">
                <a16:creationId xmlns:a16="http://schemas.microsoft.com/office/drawing/2014/main" id="{B29D8005-C544-46F9-92E9-32FCD5291BA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0984326-7767-4EAC-9F14-02DE4E297E7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419B1FB-0458-4D22-9E3F-601E1DC9E00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4082485-6F6C-494E-BC3B-B0D77F8FB94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121</a:t>
            </a:r>
          </a:p>
        </p:txBody>
      </p:sp>
      <p:sp>
        <p:nvSpPr>
          <p:cNvPr id="8" name="text-178-64">
            <a:extLst>
              <a:ext uri="{FF2B5EF4-FFF2-40B4-BE49-F238E27FC236}">
                <a16:creationId xmlns:a16="http://schemas.microsoft.com/office/drawing/2014/main" id="{E898A3FB-AC2D-4652-8DAB-281103F50D8F}"/>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T(n)=9T(n/3)+Θ(n)에서 a,b,기준 지수 log_b a를 쓰시오.</a:t>
            </a:r>
          </a:p>
        </p:txBody>
      </p:sp>
      <p:sp>
        <p:nvSpPr>
          <p:cNvPr id="9" name="text-405-64">
            <a:extLst>
              <a:ext uri="{FF2B5EF4-FFF2-40B4-BE49-F238E27FC236}">
                <a16:creationId xmlns:a16="http://schemas.microsoft.com/office/drawing/2014/main" id="{7B95210C-6D00-4710-955B-DD257B5ABAC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2DDA2537-9E88-4B39-B3AD-468820A0E27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4346D889-7106-4E71-AE1C-5B3D14CD5A9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9E9A96E8-B9D9-4418-AF98-9A6F1E84EAC3}"/>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076C5C1-8837-45B8-8C36-8C1B1F1D1B4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E2DFC4A-11E9-44F9-BF85-92ECF9CB6A0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F4D2869-D076-465A-8CEE-6909EC25B8D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61  정답과 해설</a:t>
            </a:r>
          </a:p>
        </p:txBody>
      </p:sp>
      <p:sp>
        <p:nvSpPr>
          <p:cNvPr id="4" name="직사각형 3">
            <a:extLst>
              <a:ext uri="{FF2B5EF4-FFF2-40B4-BE49-F238E27FC236}">
                <a16:creationId xmlns:a16="http://schemas.microsoft.com/office/drawing/2014/main" id="{A6BFD366-2F48-425A-8D07-42D602FDAC8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979381A-B811-4DDD-9B46-8A4EBCEBFA8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C8ECA27-CE03-4BB6-B21A-CB768AA561B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5701261-CF70-4C3C-B5FB-4E042BCB7FB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122</a:t>
            </a:r>
          </a:p>
        </p:txBody>
      </p:sp>
      <p:sp>
        <p:nvSpPr>
          <p:cNvPr id="8" name="text-178-64">
            <a:extLst>
              <a:ext uri="{FF2B5EF4-FFF2-40B4-BE49-F238E27FC236}">
                <a16:creationId xmlns:a16="http://schemas.microsoft.com/office/drawing/2014/main" id="{83BA0ADF-2CC9-4016-9337-95F4821EBCD7}"/>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T(n)=9T(n/3)+Θ(n)에서 a,b,기준 지수 log_b a를 쓰시오.</a:t>
            </a:r>
          </a:p>
        </p:txBody>
      </p:sp>
      <p:sp>
        <p:nvSpPr>
          <p:cNvPr id="9" name="직사각형 8">
            <a:extLst>
              <a:ext uri="{FF2B5EF4-FFF2-40B4-BE49-F238E27FC236}">
                <a16:creationId xmlns:a16="http://schemas.microsoft.com/office/drawing/2014/main" id="{28928E33-7024-44ED-B349-829123F7C64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D3168BD-2A11-4EA1-A7C0-0A7418F3618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9,3,2</a:t>
            </a:r>
          </a:p>
        </p:txBody>
      </p:sp>
      <p:sp>
        <p:nvSpPr>
          <p:cNvPr id="11" name="text-324.4-64">
            <a:extLst>
              <a:ext uri="{FF2B5EF4-FFF2-40B4-BE49-F238E27FC236}">
                <a16:creationId xmlns:a16="http://schemas.microsoft.com/office/drawing/2014/main" id="{7053ACAE-8B1C-4707-83B5-A28C5280EAF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30C7C24-D3C5-4A1D-AEA7-9AAE08E3000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76007B3-D144-4331-94CB-3E6BE8700B9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부분 문제 9개가 각각 n/3 크기이고 3²=9이다.</a:t>
            </a:r>
          </a:p>
        </p:txBody>
      </p:sp>
    </p:spTree>
    <p:extLst>
      <p:ext uri="{BB962C8B-B14F-4D97-AF65-F5344CB8AC3E}">
        <p14:creationId xmlns:p14="http://schemas.microsoft.com/office/powerpoint/2010/main" val="46268551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EA41E47-78EF-4CDF-9B6F-47EBF736C1A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EFA48D97-6499-421D-B6F2-3997206467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0881542-F455-4A35-83AF-BD417BD5ED6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62  </a:t>
            </a:r>
          </a:p>
        </p:txBody>
      </p:sp>
      <p:sp>
        <p:nvSpPr>
          <p:cNvPr id="4" name="직사각형 3">
            <a:extLst>
              <a:ext uri="{FF2B5EF4-FFF2-40B4-BE49-F238E27FC236}">
                <a16:creationId xmlns:a16="http://schemas.microsoft.com/office/drawing/2014/main" id="{EC0B16E2-022D-47AB-85DF-6E1C395DEAB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3AE679BC-2CCA-40C7-9ED4-CBCBC3716B2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B41807C-D4F6-41FD-BD9E-600210C83B0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A6BA769-2308-4EA4-87C7-9FA69DD94D8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123</a:t>
            </a:r>
          </a:p>
        </p:txBody>
      </p:sp>
      <p:sp>
        <p:nvSpPr>
          <p:cNvPr id="8" name="text-178-64">
            <a:extLst>
              <a:ext uri="{FF2B5EF4-FFF2-40B4-BE49-F238E27FC236}">
                <a16:creationId xmlns:a16="http://schemas.microsoft.com/office/drawing/2014/main" id="{7385C15A-1322-47FC-9578-BA60A77E4E85}"/>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T(n)=8T(n/2)+Θ(n²)의 차수를 쓰시오.</a:t>
            </a:r>
          </a:p>
        </p:txBody>
      </p:sp>
      <p:sp>
        <p:nvSpPr>
          <p:cNvPr id="9" name="text-405-64">
            <a:extLst>
              <a:ext uri="{FF2B5EF4-FFF2-40B4-BE49-F238E27FC236}">
                <a16:creationId xmlns:a16="http://schemas.microsoft.com/office/drawing/2014/main" id="{51E5DDCE-1169-4A47-8701-E399BB8E39BE}"/>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FBDB38AA-DE78-437D-8BA2-8B1006567C9B}"/>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81384691-8457-4B75-B9F1-8F147BF231BC}"/>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06815D89-442E-41E3-917B-CAD9B34C5EA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E1CFDC6-4FFF-4776-A048-F99F6580B26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81F47C01-088F-46BA-937E-67887F9BB0E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59E2BAB-3B93-4554-83A0-CBA03311A63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62  정답과 해설</a:t>
            </a:r>
          </a:p>
        </p:txBody>
      </p:sp>
      <p:sp>
        <p:nvSpPr>
          <p:cNvPr id="4" name="직사각형 3">
            <a:extLst>
              <a:ext uri="{FF2B5EF4-FFF2-40B4-BE49-F238E27FC236}">
                <a16:creationId xmlns:a16="http://schemas.microsoft.com/office/drawing/2014/main" id="{600E2EBC-0939-422E-8EEB-4EC563A4C1E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CDE4ACB-813E-497E-979E-9FA109AC3ED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D302EC2-539D-4CD8-95E5-679C71E3DEA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C47227D-7762-49F5-963E-6BD20A057A6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124</a:t>
            </a:r>
          </a:p>
        </p:txBody>
      </p:sp>
      <p:sp>
        <p:nvSpPr>
          <p:cNvPr id="8" name="text-178-64">
            <a:extLst>
              <a:ext uri="{FF2B5EF4-FFF2-40B4-BE49-F238E27FC236}">
                <a16:creationId xmlns:a16="http://schemas.microsoft.com/office/drawing/2014/main" id="{4AE8F3EC-31B0-47AD-A8DD-02A01FA25B1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T(n)=8T(n/2)+Θ(n²)의 차수를 쓰시오.</a:t>
            </a:r>
          </a:p>
        </p:txBody>
      </p:sp>
      <p:sp>
        <p:nvSpPr>
          <p:cNvPr id="9" name="직사각형 8">
            <a:extLst>
              <a:ext uri="{FF2B5EF4-FFF2-40B4-BE49-F238E27FC236}">
                <a16:creationId xmlns:a16="http://schemas.microsoft.com/office/drawing/2014/main" id="{F2AF619A-97B9-48F9-BA84-A0F9A6E5BA0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540AE0D-4644-4652-98CC-A6E38D2694C7}"/>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Θ(n³)</a:t>
            </a:r>
          </a:p>
        </p:txBody>
      </p:sp>
      <p:sp>
        <p:nvSpPr>
          <p:cNvPr id="11" name="text-324.4-64">
            <a:extLst>
              <a:ext uri="{FF2B5EF4-FFF2-40B4-BE49-F238E27FC236}">
                <a16:creationId xmlns:a16="http://schemas.microsoft.com/office/drawing/2014/main" id="{FCCD3D4A-9A08-4BA7-AFCF-92525F23D93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2211EB3-8A96-4BB2-8628-816CF749684B}"/>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921C687D-92DF-4B30-BC34-2BB2CEF141FE}"/>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기준 지수 3이 결합 지수 2보다 크므로 재귀 하위 층이 지배한다.</a:t>
            </a:r>
          </a:p>
        </p:txBody>
      </p:sp>
    </p:spTree>
    <p:extLst>
      <p:ext uri="{BB962C8B-B14F-4D97-AF65-F5344CB8AC3E}">
        <p14:creationId xmlns:p14="http://schemas.microsoft.com/office/powerpoint/2010/main" val="46268551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D3B708B2-05D9-4A8F-A176-191BF92C45B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28DE3DB1-B016-473C-AA0A-FD8DEB0CAD5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77722DD-3715-4C08-8301-ED21F8D83BF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63  </a:t>
            </a:r>
          </a:p>
        </p:txBody>
      </p:sp>
      <p:sp>
        <p:nvSpPr>
          <p:cNvPr id="4" name="직사각형 3">
            <a:extLst>
              <a:ext uri="{FF2B5EF4-FFF2-40B4-BE49-F238E27FC236}">
                <a16:creationId xmlns:a16="http://schemas.microsoft.com/office/drawing/2014/main" id="{AFB915FF-2AE9-4064-A96B-7ADAE27E4A2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2E4A24C-2BA3-47F4-8BCA-3315F2230EB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09BD747-855E-4157-AD54-2FD8E2DEE64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133CE84-BA65-4FA0-956D-CBBFA6CC0B3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125</a:t>
            </a:r>
          </a:p>
        </p:txBody>
      </p:sp>
      <p:sp>
        <p:nvSpPr>
          <p:cNvPr id="8" name="text-178-64">
            <a:extLst>
              <a:ext uri="{FF2B5EF4-FFF2-40B4-BE49-F238E27FC236}">
                <a16:creationId xmlns:a16="http://schemas.microsoft.com/office/drawing/2014/main" id="{A132B84F-3ACA-421B-A00B-9562FE08517A}"/>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T(n)=4T(n/2)+Θ(n²)의 차수를 쓰시오.</a:t>
            </a:r>
          </a:p>
        </p:txBody>
      </p:sp>
      <p:sp>
        <p:nvSpPr>
          <p:cNvPr id="9" name="text-405-64">
            <a:extLst>
              <a:ext uri="{FF2B5EF4-FFF2-40B4-BE49-F238E27FC236}">
                <a16:creationId xmlns:a16="http://schemas.microsoft.com/office/drawing/2014/main" id="{B3792137-4963-4652-81E6-B5079B65865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9D955271-D1AF-4436-B271-4467D4FE8F9D}"/>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5C729360-CEE0-49FD-A472-AB8F4F81801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56A6454B-542D-4BED-80C5-FEF3BC14E881}"/>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62E0615-CF34-4421-911D-9D2C6A8F98C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1F6D8EEA-945F-4482-B91F-E5389862F70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B4E2814-5576-4F35-8CB1-E23BFDE80F8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63  정답과 해설</a:t>
            </a:r>
          </a:p>
        </p:txBody>
      </p:sp>
      <p:sp>
        <p:nvSpPr>
          <p:cNvPr id="4" name="직사각형 3">
            <a:extLst>
              <a:ext uri="{FF2B5EF4-FFF2-40B4-BE49-F238E27FC236}">
                <a16:creationId xmlns:a16="http://schemas.microsoft.com/office/drawing/2014/main" id="{842B50D4-F1CA-4AF5-AED0-BC1A6F41C66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9E978EF-1E3F-403B-B9CA-0FD97B7B7EA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7E042BB-DE42-43C2-8DC6-206E4B58186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2847020-344B-4D0C-AC9B-81071060E08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126</a:t>
            </a:r>
          </a:p>
        </p:txBody>
      </p:sp>
      <p:sp>
        <p:nvSpPr>
          <p:cNvPr id="8" name="text-178-64">
            <a:extLst>
              <a:ext uri="{FF2B5EF4-FFF2-40B4-BE49-F238E27FC236}">
                <a16:creationId xmlns:a16="http://schemas.microsoft.com/office/drawing/2014/main" id="{25BEDEFD-39E5-43E3-AD19-693683695C7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T(n)=4T(n/2)+Θ(n²)의 차수를 쓰시오.</a:t>
            </a:r>
          </a:p>
        </p:txBody>
      </p:sp>
      <p:sp>
        <p:nvSpPr>
          <p:cNvPr id="9" name="직사각형 8">
            <a:extLst>
              <a:ext uri="{FF2B5EF4-FFF2-40B4-BE49-F238E27FC236}">
                <a16:creationId xmlns:a16="http://schemas.microsoft.com/office/drawing/2014/main" id="{1D6BE1D6-8453-4D4F-AAD5-65E722CCACB1}"/>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EF747E0-5D3A-4E71-8384-B7A2C9EDBD96}"/>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Θ(n² log n)</a:t>
            </a:r>
          </a:p>
        </p:txBody>
      </p:sp>
      <p:sp>
        <p:nvSpPr>
          <p:cNvPr id="11" name="text-324.4-64">
            <a:extLst>
              <a:ext uri="{FF2B5EF4-FFF2-40B4-BE49-F238E27FC236}">
                <a16:creationId xmlns:a16="http://schemas.microsoft.com/office/drawing/2014/main" id="{98700FDF-9465-4D17-9F26-FD441DE8A91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CA55F87-9AA4-464A-BA40-93DA34724AE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5BCE068-FF46-4188-9FA4-F0B76F2B389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층 비용이 Θ(n²)이고 층 수가 Θ(log n)이다.</a:t>
            </a:r>
          </a:p>
        </p:txBody>
      </p:sp>
    </p:spTree>
    <p:extLst>
      <p:ext uri="{BB962C8B-B14F-4D97-AF65-F5344CB8AC3E}">
        <p14:creationId xmlns:p14="http://schemas.microsoft.com/office/powerpoint/2010/main" val="46268551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B3369773-A3B2-4BE0-B702-15D2801E5E1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407AAE2A-701E-4B49-98E6-911B6036A58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0E8DFE2-5439-4613-8AFA-3F2229CDA0D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64  </a:t>
            </a:r>
          </a:p>
        </p:txBody>
      </p:sp>
      <p:sp>
        <p:nvSpPr>
          <p:cNvPr id="4" name="직사각형 3">
            <a:extLst>
              <a:ext uri="{FF2B5EF4-FFF2-40B4-BE49-F238E27FC236}">
                <a16:creationId xmlns:a16="http://schemas.microsoft.com/office/drawing/2014/main" id="{8CAF45CB-8869-4682-9355-8F9D7E8038E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F27FE41-A3F2-451A-B760-CEACB60C6DE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0719A36-EFC5-4EDF-BA43-B416919AF00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42F87B2-5FE2-43F6-AA93-959FFB2EC44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127</a:t>
            </a:r>
          </a:p>
        </p:txBody>
      </p:sp>
      <p:sp>
        <p:nvSpPr>
          <p:cNvPr id="8" name="text-178-64">
            <a:extLst>
              <a:ext uri="{FF2B5EF4-FFF2-40B4-BE49-F238E27FC236}">
                <a16:creationId xmlns:a16="http://schemas.microsoft.com/office/drawing/2014/main" id="{83C3381C-A233-43D6-AC5D-AF2A20AA80C1}"/>
              </a:ext>
            </a:extLst>
          </p:cNvPr>
          <p:cNvSpPr>
            <a:spLocks noGrp="1"/>
          </p:cNvSpPr>
          <p:nvPr/>
        </p:nvSpPr>
        <p:spPr>
          <a:xfrm>
            <a:off x="609600" y="1695450"/>
            <a:ext cx="10972800" cy="373380"/>
          </a:xfrm>
          <a:prstGeom prst="rect">
            <a:avLst/>
          </a:prstGeom>
          <a:noFill/>
          <a:ln w="0">
            <a:noFill/>
          </a:ln>
        </p:spPr>
        <p:txBody>
          <a:bodyPr wrap="squar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재귀식 T(n)=2T(n/2)+n, T(1)=1이 주어졌다. T(2), T(4), T(8)을 이 순서로 구하시오.</a:t>
            </a:r>
          </a:p>
        </p:txBody>
      </p:sp>
      <p:sp>
        <p:nvSpPr>
          <p:cNvPr id="9" name="text-405-64">
            <a:extLst>
              <a:ext uri="{FF2B5EF4-FFF2-40B4-BE49-F238E27FC236}">
                <a16:creationId xmlns:a16="http://schemas.microsoft.com/office/drawing/2014/main" id="{69878798-F020-455E-B5D4-F5E373C69000}"/>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654E868B-F3D6-418F-B020-9AF0FF4D8BF1}"/>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C67DA7E0-98D6-4BF1-8021-D2FB78D4F4AC}"/>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D32ABF3-4EA1-42BE-B96D-C74F324ED4D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2A60BA2-D18B-4BDA-887C-0EB13B53F4D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3C7A7274-B66A-49EA-B1B2-0DBFCB74441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3BF5B1D-26A2-409A-B45B-60EE0D94724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64  정답과 해설</a:t>
            </a:r>
          </a:p>
        </p:txBody>
      </p:sp>
      <p:sp>
        <p:nvSpPr>
          <p:cNvPr id="4" name="직사각형 3">
            <a:extLst>
              <a:ext uri="{FF2B5EF4-FFF2-40B4-BE49-F238E27FC236}">
                <a16:creationId xmlns:a16="http://schemas.microsoft.com/office/drawing/2014/main" id="{1983ADC8-CECE-4883-828F-D6A942D86FE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99989A7-0507-402A-B743-064A69D9B27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06E9221-3674-4F6B-B80A-8DF52ADA8FF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4E2FB6F-6689-47DE-B34D-B87BB0FB4DD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128</a:t>
            </a:r>
          </a:p>
        </p:txBody>
      </p:sp>
      <p:sp>
        <p:nvSpPr>
          <p:cNvPr id="8" name="text-178-64">
            <a:extLst>
              <a:ext uri="{FF2B5EF4-FFF2-40B4-BE49-F238E27FC236}">
                <a16:creationId xmlns:a16="http://schemas.microsoft.com/office/drawing/2014/main" id="{CCE5186F-DD87-43B7-BF84-3672A1BB0D05}"/>
              </a:ext>
            </a:extLst>
          </p:cNvPr>
          <p:cNvSpPr>
            <a:spLocks noGrp="1"/>
          </p:cNvSpPr>
          <p:nvPr/>
        </p:nvSpPr>
        <p:spPr>
          <a:xfrm>
            <a:off x="609600" y="169545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재귀식 T(n)=2T(n/2)+n, T(1)=1이 주어졌다. T(2), T(4), T(8)을 이 순서로 구하시오.</a:t>
            </a:r>
          </a:p>
        </p:txBody>
      </p:sp>
      <p:sp>
        <p:nvSpPr>
          <p:cNvPr id="9" name="직사각형 8">
            <a:extLst>
              <a:ext uri="{FF2B5EF4-FFF2-40B4-BE49-F238E27FC236}">
                <a16:creationId xmlns:a16="http://schemas.microsoft.com/office/drawing/2014/main" id="{072438B5-D1E4-4FC2-BEE6-949E423788F7}"/>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8D366E5-FD1B-4EBD-965D-4B0842D290B5}"/>
              </a:ext>
            </a:extLst>
          </p:cNvPr>
          <p:cNvSpPr>
            <a:spLocks noGrp="1"/>
          </p:cNvSpPr>
          <p:nvPr/>
        </p:nvSpPr>
        <p:spPr>
          <a:xfrm>
            <a:off x="876300" y="2339340"/>
            <a:ext cx="10439400" cy="436245"/>
          </a:xfrm>
          <a:prstGeom prst="rect">
            <a:avLst/>
          </a:prstGeom>
          <a:noFill/>
          <a:ln w="0">
            <a:noFill/>
          </a:ln>
        </p:spPr>
        <p:txBody>
          <a:bodyPr wrap="squar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T(2)=4, T(4)=12, T(8)=32</a:t>
            </a:r>
          </a:p>
        </p:txBody>
      </p:sp>
      <p:sp>
        <p:nvSpPr>
          <p:cNvPr id="11" name="text-324.4-64">
            <a:extLst>
              <a:ext uri="{FF2B5EF4-FFF2-40B4-BE49-F238E27FC236}">
                <a16:creationId xmlns:a16="http://schemas.microsoft.com/office/drawing/2014/main" id="{74A6BB9C-94DF-45B6-B518-F2637179CA21}"/>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E315B8D9-D24A-45F0-A9EF-782A7319B716}"/>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3B344AE4-3CFF-4128-B656-439377CB5369}"/>
              </a:ext>
            </a:extLst>
          </p:cNvPr>
          <p:cNvSpPr>
            <a:spLocks noGrp="1"/>
          </p:cNvSpPr>
          <p:nvPr/>
        </p:nvSpPr>
        <p:spPr>
          <a:xfrm>
            <a:off x="609600" y="354711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T(2)=2×1+2=4, T(4)=2×4+4=12, T(8)=2×12+8=32이다.</a:t>
            </a:r>
          </a:p>
        </p:txBody>
      </p:sp>
    </p:spTree>
    <p:extLst>
      <p:ext uri="{BB962C8B-B14F-4D97-AF65-F5344CB8AC3E}">
        <p14:creationId xmlns:p14="http://schemas.microsoft.com/office/powerpoint/2010/main" val="462685519"/>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62248D69-970D-43B2-8A4F-22BA7DF2173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6BD3547A-4597-4C81-91D2-8977BB97344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0437670-81ED-4AAD-9BF7-4103DABF97B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65  </a:t>
            </a:r>
          </a:p>
        </p:txBody>
      </p:sp>
      <p:sp>
        <p:nvSpPr>
          <p:cNvPr id="4" name="직사각형 3">
            <a:extLst>
              <a:ext uri="{FF2B5EF4-FFF2-40B4-BE49-F238E27FC236}">
                <a16:creationId xmlns:a16="http://schemas.microsoft.com/office/drawing/2014/main" id="{5AA32C72-2264-4E91-BA2B-C43C4BAD7F1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7C9D4EC-0DE2-497E-BBBC-67C825BA4DD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BBEC777-BE14-401F-810C-FCBBA93C47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8A1F79C-96A1-414F-8A86-B31A03A3848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129</a:t>
            </a:r>
          </a:p>
        </p:txBody>
      </p:sp>
      <p:sp>
        <p:nvSpPr>
          <p:cNvPr id="8" name="text-178-64">
            <a:extLst>
              <a:ext uri="{FF2B5EF4-FFF2-40B4-BE49-F238E27FC236}">
                <a16:creationId xmlns:a16="http://schemas.microsoft.com/office/drawing/2014/main" id="{CA451DD6-F548-4417-AE88-EE582BD51AFD}"/>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12×34를 B=10으로 카라추바 계산한다.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M1=x₁y₁,M2=x₀y₀,M3=(x₁+x₀)(y₁+y₀)를 쓰시오.</a:t>
            </a:r>
          </a:p>
        </p:txBody>
      </p:sp>
      <p:sp>
        <p:nvSpPr>
          <p:cNvPr id="9" name="text-405-64">
            <a:extLst>
              <a:ext uri="{FF2B5EF4-FFF2-40B4-BE49-F238E27FC236}">
                <a16:creationId xmlns:a16="http://schemas.microsoft.com/office/drawing/2014/main" id="{902DD27E-E87C-41DE-8D6E-27D85B27A285}"/>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513E6EAC-00D3-4E42-8F44-A2F753C7328D}"/>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B531E75-5AF8-4FE6-AA97-7F41A75C6FFB}"/>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5813DA6E-3CA2-4994-B9D7-74BED6025C9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F913941-CD81-4EFA-A953-290496E673E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1467DEF5-B8AC-4C9B-AC79-DFB3F9CD255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C9577C1-31E8-4A64-95E3-599BA12F858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65  정답과 해설</a:t>
            </a:r>
          </a:p>
        </p:txBody>
      </p:sp>
      <p:sp>
        <p:nvSpPr>
          <p:cNvPr id="4" name="직사각형 3">
            <a:extLst>
              <a:ext uri="{FF2B5EF4-FFF2-40B4-BE49-F238E27FC236}">
                <a16:creationId xmlns:a16="http://schemas.microsoft.com/office/drawing/2014/main" id="{42516D11-EE54-4B3F-96C3-226226251A6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E04FBCE-B15A-404F-8E16-73CDCF005B3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558BEDE-56A3-4F29-91F5-8E68415BB7D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8325BDA-FE53-463D-B4A7-2FCF1767B5B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130</a:t>
            </a:r>
          </a:p>
        </p:txBody>
      </p:sp>
      <p:sp>
        <p:nvSpPr>
          <p:cNvPr id="8" name="text-178-64">
            <a:extLst>
              <a:ext uri="{FF2B5EF4-FFF2-40B4-BE49-F238E27FC236}">
                <a16:creationId xmlns:a16="http://schemas.microsoft.com/office/drawing/2014/main" id="{ED368850-3BA9-4EAA-8C95-248C0BAAAD4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12×34를 B=10으로 카라추바 계산한다. M1=x₁y₁,M2=x₀y₀,M3=(x₁+x₀)(y₁+y₀)를 쓰시오.</a:t>
            </a:r>
          </a:p>
        </p:txBody>
      </p:sp>
      <p:sp>
        <p:nvSpPr>
          <p:cNvPr id="9" name="직사각형 8">
            <a:extLst>
              <a:ext uri="{FF2B5EF4-FFF2-40B4-BE49-F238E27FC236}">
                <a16:creationId xmlns:a16="http://schemas.microsoft.com/office/drawing/2014/main" id="{3339E998-EC52-4CE7-ABA5-D58D67B4426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EE0DDED-8180-4D27-A051-C0EB493EDC7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M1=3,M2=8,M3=21</a:t>
            </a:r>
          </a:p>
        </p:txBody>
      </p:sp>
      <p:sp>
        <p:nvSpPr>
          <p:cNvPr id="11" name="text-324.4-64">
            <a:extLst>
              <a:ext uri="{FF2B5EF4-FFF2-40B4-BE49-F238E27FC236}">
                <a16:creationId xmlns:a16="http://schemas.microsoft.com/office/drawing/2014/main" id="{2EF106F2-38AE-4D4D-BD73-3AC6D54F597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199C785-6997-4637-A628-89C6CA70AF5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B65D04A-8CA7-4497-B617-4E2712491C6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x₁=1,x₀=2,y₁=3,y₀=4이다. 합의 곱은 3×7=21이다.</a:t>
            </a:r>
          </a:p>
        </p:txBody>
      </p:sp>
    </p:spTree>
    <p:extLst>
      <p:ext uri="{BB962C8B-B14F-4D97-AF65-F5344CB8AC3E}">
        <p14:creationId xmlns:p14="http://schemas.microsoft.com/office/powerpoint/2010/main" val="46268551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E2568FEF-25A7-4C53-B6A9-F9684B026DF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C9B096C1-9F42-4089-BA31-1BC5D8A05CA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0317767-CB8C-43CF-813A-EBBD09280A2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66  </a:t>
            </a:r>
          </a:p>
        </p:txBody>
      </p:sp>
      <p:sp>
        <p:nvSpPr>
          <p:cNvPr id="4" name="직사각형 3">
            <a:extLst>
              <a:ext uri="{FF2B5EF4-FFF2-40B4-BE49-F238E27FC236}">
                <a16:creationId xmlns:a16="http://schemas.microsoft.com/office/drawing/2014/main" id="{A9FA32CF-F6A7-4959-BCD9-98B2E344BE8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8FEF6A7-3CC5-4B9A-950F-266A699DC61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00940C5-7AFC-4043-9408-94EFFA697ED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002D96E-4920-423B-B99A-D89456A46AB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131</a:t>
            </a:r>
          </a:p>
        </p:txBody>
      </p:sp>
      <p:sp>
        <p:nvSpPr>
          <p:cNvPr id="8" name="text-178-64">
            <a:extLst>
              <a:ext uri="{FF2B5EF4-FFF2-40B4-BE49-F238E27FC236}">
                <a16:creationId xmlns:a16="http://schemas.microsoft.com/office/drawing/2014/main" id="{4488488C-CD6A-427A-BD60-07D5BEF14DD5}"/>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12×34를 B=10의 카라추바로 계산한다. 고위 곱 3, 저위 곱 8, 두 부분 합의 곱 21이다.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교차항과 최종 곱을 쓰시오.</a:t>
            </a:r>
          </a:p>
        </p:txBody>
      </p:sp>
      <p:sp>
        <p:nvSpPr>
          <p:cNvPr id="9" name="text-405-64">
            <a:extLst>
              <a:ext uri="{FF2B5EF4-FFF2-40B4-BE49-F238E27FC236}">
                <a16:creationId xmlns:a16="http://schemas.microsoft.com/office/drawing/2014/main" id="{CD11425E-A4C8-4752-AE66-61804F5A0D25}"/>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CB668660-75D2-43B3-AC2C-44E5BB4EC6E4}"/>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715D4DEA-9045-46C8-B4FF-48854490921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D6D98733-0A76-4E4B-AD11-C4B716B5FEA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A7554B22-DFF2-4238-B87C-2F49DFDDA23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DE5E9EE-9F91-43F0-891D-05726DFCD0B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DC77F13-89D1-4991-B583-5E1448CC4DC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66  정답과 해설</a:t>
            </a:r>
          </a:p>
        </p:txBody>
      </p:sp>
      <p:sp>
        <p:nvSpPr>
          <p:cNvPr id="4" name="직사각형 3">
            <a:extLst>
              <a:ext uri="{FF2B5EF4-FFF2-40B4-BE49-F238E27FC236}">
                <a16:creationId xmlns:a16="http://schemas.microsoft.com/office/drawing/2014/main" id="{56A01397-D18E-4874-B49A-98788B5D45B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5484DAE-8B4A-48BC-8F31-A6C97B25669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5878A17-233F-45EA-9533-2B5467C1600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756F4F6-5412-4E4C-8A2F-5A84528B375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132</a:t>
            </a:r>
          </a:p>
        </p:txBody>
      </p:sp>
      <p:sp>
        <p:nvSpPr>
          <p:cNvPr id="8" name="text-178-64">
            <a:extLst>
              <a:ext uri="{FF2B5EF4-FFF2-40B4-BE49-F238E27FC236}">
                <a16:creationId xmlns:a16="http://schemas.microsoft.com/office/drawing/2014/main" id="{D6C52414-C267-417F-99E6-9F6133DBF58B}"/>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12×34를 B=10의 카라추바로 계산한다. 고위 곱 3, 저위 곱 8, 두 부분 합의 곱 21이다. 교차항과 최종</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곱을 쓰시오.</a:t>
            </a:r>
          </a:p>
        </p:txBody>
      </p:sp>
      <p:sp>
        <p:nvSpPr>
          <p:cNvPr id="9" name="직사각형 8">
            <a:extLst>
              <a:ext uri="{FF2B5EF4-FFF2-40B4-BE49-F238E27FC236}">
                <a16:creationId xmlns:a16="http://schemas.microsoft.com/office/drawing/2014/main" id="{1775AA0A-CA21-4D46-9B63-E963EBF1C5F9}"/>
              </a:ext>
            </a:extLst>
          </p:cNvPr>
          <p:cNvSpPr>
            <a:spLocks noGrp="1"/>
          </p:cNvSpPr>
          <p:nvPr/>
        </p:nvSpPr>
        <p:spPr>
          <a:xfrm>
            <a:off x="609600" y="2526030"/>
            <a:ext cx="10972800" cy="626745"/>
          </a:xfrm>
          <a:prstGeom prst="rect">
            <a:avLst/>
          </a:prstGeom>
          <a:solidFill>
            <a:srgbClr val="171717"/>
          </a:solidFill>
          <a:ln w="0">
            <a:noFill/>
          </a:ln>
        </p:spPr>
      </p:sp>
      <p:sp>
        <p:nvSpPr>
          <p:cNvPr id="10" name="text-279.2-92">
            <a:extLst>
              <a:ext uri="{FF2B5EF4-FFF2-40B4-BE49-F238E27FC236}">
                <a16:creationId xmlns:a16="http://schemas.microsoft.com/office/drawing/2014/main" id="{1272CE74-BD1F-4059-BCED-92F358872953}"/>
              </a:ext>
            </a:extLst>
          </p:cNvPr>
          <p:cNvSpPr>
            <a:spLocks noGrp="1"/>
          </p:cNvSpPr>
          <p:nvPr/>
        </p:nvSpPr>
        <p:spPr>
          <a:xfrm>
            <a:off x="876300" y="265938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10,408</a:t>
            </a:r>
          </a:p>
        </p:txBody>
      </p:sp>
      <p:sp>
        <p:nvSpPr>
          <p:cNvPr id="11" name="text-358-64">
            <a:extLst>
              <a:ext uri="{FF2B5EF4-FFF2-40B4-BE49-F238E27FC236}">
                <a16:creationId xmlns:a16="http://schemas.microsoft.com/office/drawing/2014/main" id="{66A4C9A7-5989-4EF9-BB9D-B4CF8C52E847}"/>
              </a:ext>
            </a:extLst>
          </p:cNvPr>
          <p:cNvSpPr>
            <a:spLocks noGrp="1"/>
          </p:cNvSpPr>
          <p:nvPr/>
        </p:nvSpPr>
        <p:spPr>
          <a:xfrm>
            <a:off x="609600" y="340995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E097BA1-197A-429B-8FD0-C56CE6EB419E}"/>
              </a:ext>
            </a:extLst>
          </p:cNvPr>
          <p:cNvSpPr>
            <a:spLocks noGrp="1"/>
          </p:cNvSpPr>
          <p:nvPr/>
        </p:nvSpPr>
        <p:spPr>
          <a:xfrm>
            <a:off x="1752600" y="3581400"/>
            <a:ext cx="9829800" cy="9525"/>
          </a:xfrm>
          <a:prstGeom prst="rect">
            <a:avLst/>
          </a:prstGeom>
          <a:solidFill>
            <a:srgbClr val="D4D4D4"/>
          </a:solidFill>
          <a:ln w="0">
            <a:noFill/>
          </a:ln>
        </p:spPr>
      </p:sp>
      <p:sp>
        <p:nvSpPr>
          <p:cNvPr id="13" name="text-406-64">
            <a:extLst>
              <a:ext uri="{FF2B5EF4-FFF2-40B4-BE49-F238E27FC236}">
                <a16:creationId xmlns:a16="http://schemas.microsoft.com/office/drawing/2014/main" id="{4CCA1870-415D-4851-975A-025DC270D738}"/>
              </a:ext>
            </a:extLst>
          </p:cNvPr>
          <p:cNvSpPr>
            <a:spLocks noGrp="1"/>
          </p:cNvSpPr>
          <p:nvPr/>
        </p:nvSpPr>
        <p:spPr>
          <a:xfrm>
            <a:off x="609600" y="38671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교차항 21−3−8=10, 결과 3×100+10×10+8=408이다.</a:t>
            </a:r>
          </a:p>
        </p:txBody>
      </p:sp>
    </p:spTree>
    <p:extLst>
      <p:ext uri="{BB962C8B-B14F-4D97-AF65-F5344CB8AC3E}">
        <p14:creationId xmlns:p14="http://schemas.microsoft.com/office/powerpoint/2010/main" val="46268551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5F231710-1F63-4947-A010-0CDD5495917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78E82E86-E0C0-4CD6-B56A-5CEFE4449B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680AAD4-CEDA-49B5-920F-0F406187D14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67  </a:t>
            </a:r>
          </a:p>
        </p:txBody>
      </p:sp>
      <p:sp>
        <p:nvSpPr>
          <p:cNvPr id="4" name="직사각형 3">
            <a:extLst>
              <a:ext uri="{FF2B5EF4-FFF2-40B4-BE49-F238E27FC236}">
                <a16:creationId xmlns:a16="http://schemas.microsoft.com/office/drawing/2014/main" id="{0AE50970-674D-4676-906E-F902A382591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FD5C71B-4492-49E4-93F1-A5B01496FA4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6B8B939-DD4D-4EC0-914B-6C1E4BAE294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EEA470F-E755-4375-80AC-B8709F59625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133</a:t>
            </a:r>
          </a:p>
        </p:txBody>
      </p:sp>
      <p:sp>
        <p:nvSpPr>
          <p:cNvPr id="8" name="text-178-64">
            <a:extLst>
              <a:ext uri="{FF2B5EF4-FFF2-40B4-BE49-F238E27FC236}">
                <a16:creationId xmlns:a16="http://schemas.microsoft.com/office/drawing/2014/main" id="{695EF2E4-CD09-4C57-9DC7-091D024A7C65}"/>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12345를 m=2자리로 나눈다. 높은 부분과 낮은 부분을 쓰시오.</a:t>
            </a:r>
          </a:p>
        </p:txBody>
      </p:sp>
      <p:sp>
        <p:nvSpPr>
          <p:cNvPr id="9" name="text-405-64">
            <a:extLst>
              <a:ext uri="{FF2B5EF4-FFF2-40B4-BE49-F238E27FC236}">
                <a16:creationId xmlns:a16="http://schemas.microsoft.com/office/drawing/2014/main" id="{BA62C198-8C40-4E9B-9835-CDED0FFDE5B0}"/>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3C47424D-875D-47A2-A96E-6E219C766868}"/>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0F2F16A9-8C35-4042-B1F5-A0C9F1872147}"/>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4CFBDE7-51F5-4111-A4B2-1D9593E5C688}"/>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5661E30-AA30-496F-ABF6-0B1C5719835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CE8F39C6-6270-487F-88F2-C37AC3D347C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52FEF3A-2456-4141-B1BB-F276A4B6DA8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67  정답과 해설</a:t>
            </a:r>
          </a:p>
        </p:txBody>
      </p:sp>
      <p:sp>
        <p:nvSpPr>
          <p:cNvPr id="4" name="직사각형 3">
            <a:extLst>
              <a:ext uri="{FF2B5EF4-FFF2-40B4-BE49-F238E27FC236}">
                <a16:creationId xmlns:a16="http://schemas.microsoft.com/office/drawing/2014/main" id="{2CA761C9-DA8F-49A6-9530-3098E8624DB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7C153B9-47BC-4831-812B-CE9A7118D35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64BA4EA-2285-4397-82B3-6E0D83141C4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996EE80-2EFA-4C9C-97B6-784F1D6D7C6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134</a:t>
            </a:r>
          </a:p>
        </p:txBody>
      </p:sp>
      <p:sp>
        <p:nvSpPr>
          <p:cNvPr id="8" name="text-178-64">
            <a:extLst>
              <a:ext uri="{FF2B5EF4-FFF2-40B4-BE49-F238E27FC236}">
                <a16:creationId xmlns:a16="http://schemas.microsoft.com/office/drawing/2014/main" id="{2D6C3505-BF82-48AD-9AFB-A99456D28B4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12345를 m=2자리로 나눈다. 높은 부분과 낮은 부분을 쓰시오.</a:t>
            </a:r>
          </a:p>
        </p:txBody>
      </p:sp>
      <p:sp>
        <p:nvSpPr>
          <p:cNvPr id="9" name="직사각형 8">
            <a:extLst>
              <a:ext uri="{FF2B5EF4-FFF2-40B4-BE49-F238E27FC236}">
                <a16:creationId xmlns:a16="http://schemas.microsoft.com/office/drawing/2014/main" id="{EE3D00F3-EAA8-453D-B511-2DEF3B4632E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11D2F86-D709-4C6E-93BC-370890FB4C4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123,45</a:t>
            </a:r>
          </a:p>
        </p:txBody>
      </p:sp>
      <p:sp>
        <p:nvSpPr>
          <p:cNvPr id="11" name="text-324.4-64">
            <a:extLst>
              <a:ext uri="{FF2B5EF4-FFF2-40B4-BE49-F238E27FC236}">
                <a16:creationId xmlns:a16="http://schemas.microsoft.com/office/drawing/2014/main" id="{05E36CD9-05BD-4809-9F06-D51F43688C8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7672F46D-8DE6-43F3-A19F-29D6189258D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01DCD52-41F8-4D7A-A270-538B8A9B6ED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12345=123×100+45이다. 두 부분 길이가 꼭 같을 필요는 없다.</a:t>
            </a:r>
          </a:p>
        </p:txBody>
      </p:sp>
    </p:spTree>
    <p:extLst>
      <p:ext uri="{BB962C8B-B14F-4D97-AF65-F5344CB8AC3E}">
        <p14:creationId xmlns:p14="http://schemas.microsoft.com/office/powerpoint/2010/main" val="462685519"/>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5DCA38A-1A7C-4FB1-831E-2B7EE364F6E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B3AA3A57-D9F6-463B-9EF0-06F1847EA40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F997560-2E2A-490E-B4CA-6B8B104B42A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68  </a:t>
            </a:r>
          </a:p>
        </p:txBody>
      </p:sp>
      <p:sp>
        <p:nvSpPr>
          <p:cNvPr id="4" name="직사각형 3">
            <a:extLst>
              <a:ext uri="{FF2B5EF4-FFF2-40B4-BE49-F238E27FC236}">
                <a16:creationId xmlns:a16="http://schemas.microsoft.com/office/drawing/2014/main" id="{CDD93C2B-C308-401A-BAA5-AF4FE993DBE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5379CCD-E45A-4FA0-A43E-0EFBA4CBC94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9ED99D3-9409-4655-8C29-DD30A920E28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6F8E028-3A09-4AFF-9FFA-17F07C48215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135</a:t>
            </a:r>
          </a:p>
        </p:txBody>
      </p:sp>
      <p:sp>
        <p:nvSpPr>
          <p:cNvPr id="8" name="text-178-64">
            <a:extLst>
              <a:ext uri="{FF2B5EF4-FFF2-40B4-BE49-F238E27FC236}">
                <a16:creationId xmlns:a16="http://schemas.microsoft.com/office/drawing/2014/main" id="{83E59114-4E15-471E-AB7C-53677F6ECE1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A=[[1,2],[3,4]], B=[[2,0],[1,2]]의 곱을 구하시오.</a:t>
            </a:r>
          </a:p>
        </p:txBody>
      </p:sp>
      <p:sp>
        <p:nvSpPr>
          <p:cNvPr id="9" name="text-405-64">
            <a:extLst>
              <a:ext uri="{FF2B5EF4-FFF2-40B4-BE49-F238E27FC236}">
                <a16:creationId xmlns:a16="http://schemas.microsoft.com/office/drawing/2014/main" id="{19345D21-8AAD-4B79-B600-66C60C8AC324}"/>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8793572F-CCB0-474A-B38D-A09742A325B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8B895C2D-050D-419C-B6B7-62CF032EE2E3}"/>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603EC058-F52F-42C2-9EE8-8D6AB8D88024}"/>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C3201381-EB53-40FC-8754-368FD3B4292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E41828FB-0887-4C2A-8590-84DBCAA22F0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BDCCAA7-E574-4F68-80CC-352C71E11F1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68  정답과 해설</a:t>
            </a:r>
          </a:p>
        </p:txBody>
      </p:sp>
      <p:sp>
        <p:nvSpPr>
          <p:cNvPr id="4" name="직사각형 3">
            <a:extLst>
              <a:ext uri="{FF2B5EF4-FFF2-40B4-BE49-F238E27FC236}">
                <a16:creationId xmlns:a16="http://schemas.microsoft.com/office/drawing/2014/main" id="{8C968268-2292-40A7-80A2-341B8B07477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B64CE7A-7BF0-480A-BA79-A74AF28D7A8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695A7F9-19A9-4F83-9885-7AED2915551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A1B8F88-738B-4BBB-8C5B-B5EBCCBFE6C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136</a:t>
            </a:r>
          </a:p>
        </p:txBody>
      </p:sp>
      <p:sp>
        <p:nvSpPr>
          <p:cNvPr id="8" name="text-178-64">
            <a:extLst>
              <a:ext uri="{FF2B5EF4-FFF2-40B4-BE49-F238E27FC236}">
                <a16:creationId xmlns:a16="http://schemas.microsoft.com/office/drawing/2014/main" id="{411AE90E-5A4A-44BC-B6B5-BBC14DC90353}"/>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A=[[1,2],[3,4]], B=[[2,0],[1,2]]의 곱을 구하시오.</a:t>
            </a:r>
          </a:p>
        </p:txBody>
      </p:sp>
      <p:sp>
        <p:nvSpPr>
          <p:cNvPr id="9" name="직사각형 8">
            <a:extLst>
              <a:ext uri="{FF2B5EF4-FFF2-40B4-BE49-F238E27FC236}">
                <a16:creationId xmlns:a16="http://schemas.microsoft.com/office/drawing/2014/main" id="{C0B07534-D92E-49F9-BCB7-B58CF360A80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F872898-2946-4751-9851-896EBE32AF6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[[4,4],[10,8]]</a:t>
            </a:r>
          </a:p>
        </p:txBody>
      </p:sp>
      <p:sp>
        <p:nvSpPr>
          <p:cNvPr id="11" name="text-324.4-64">
            <a:extLst>
              <a:ext uri="{FF2B5EF4-FFF2-40B4-BE49-F238E27FC236}">
                <a16:creationId xmlns:a16="http://schemas.microsoft.com/office/drawing/2014/main" id="{C50E9B84-B983-4289-89F7-1609DAB2709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DCE5E03C-E6EE-4D9F-928C-88BF3F56BBA9}"/>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AD637CA2-9268-46F3-9660-03B085E0FDC7}"/>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결과 칸은 A의 행과 B의 열의 내적이다.</a:t>
            </a:r>
          </a:p>
        </p:txBody>
      </p:sp>
    </p:spTree>
    <p:extLst>
      <p:ext uri="{BB962C8B-B14F-4D97-AF65-F5344CB8AC3E}">
        <p14:creationId xmlns:p14="http://schemas.microsoft.com/office/powerpoint/2010/main" val="462685519"/>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99BF110C-32BC-47CD-906C-C9EA6265BD2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4FBB3330-DC82-426A-A33D-92E0CED19BC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04F7237-96BD-48FC-A81C-5A4B39D362EA}"/>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69  </a:t>
            </a:r>
          </a:p>
        </p:txBody>
      </p:sp>
      <p:sp>
        <p:nvSpPr>
          <p:cNvPr id="4" name="직사각형 3">
            <a:extLst>
              <a:ext uri="{FF2B5EF4-FFF2-40B4-BE49-F238E27FC236}">
                <a16:creationId xmlns:a16="http://schemas.microsoft.com/office/drawing/2014/main" id="{F8D2DA5B-C3FA-4AFB-A4D7-045C7697729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E5E0F6D-8096-4979-8A02-8F8ED6FCE6A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844C039-D490-4814-B132-9CBBDB13985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2FF51B4-319B-4124-BE75-EA02896A17C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137</a:t>
            </a:r>
          </a:p>
        </p:txBody>
      </p:sp>
      <p:sp>
        <p:nvSpPr>
          <p:cNvPr id="8" name="text-178-64">
            <a:extLst>
              <a:ext uri="{FF2B5EF4-FFF2-40B4-BE49-F238E27FC236}">
                <a16:creationId xmlns:a16="http://schemas.microsoft.com/office/drawing/2014/main" id="{22C9CCC8-CF1B-4CA5-A5E4-19CD467EA00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2×2 행렬 두 개를 표준 방식과 슈트라센 한 단계로 곱한다. 각각의 스칼라 곱셈 횟수는?</a:t>
            </a:r>
          </a:p>
        </p:txBody>
      </p:sp>
      <p:sp>
        <p:nvSpPr>
          <p:cNvPr id="9" name="text-405-64">
            <a:extLst>
              <a:ext uri="{FF2B5EF4-FFF2-40B4-BE49-F238E27FC236}">
                <a16:creationId xmlns:a16="http://schemas.microsoft.com/office/drawing/2014/main" id="{67E1942A-6C7D-4F69-8411-28F8170D14BB}"/>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861FD857-281D-41CC-81E3-5544E7D028C7}"/>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AE1B355B-9CA2-4F36-8E0D-03814D2FB2FB}"/>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562F2E1-AFE2-46AF-8A35-4FF3868EDBDC}"/>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0935C75-7E07-47D4-8BAC-304EFB02144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E81CAF6E-59DD-4040-A09C-354C415FC20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4B03769-1258-4402-912C-BA30C898B40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69  정답과 해설</a:t>
            </a:r>
          </a:p>
        </p:txBody>
      </p:sp>
      <p:sp>
        <p:nvSpPr>
          <p:cNvPr id="4" name="직사각형 3">
            <a:extLst>
              <a:ext uri="{FF2B5EF4-FFF2-40B4-BE49-F238E27FC236}">
                <a16:creationId xmlns:a16="http://schemas.microsoft.com/office/drawing/2014/main" id="{D6036786-4186-4089-A369-EA5FC80D6EB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CE82F3B-BA09-4632-BF40-F40DDF8143B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A7FC17B-CDC2-4AB0-BC74-9836D14D973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2DBB348-296C-48FC-9175-3850522DF00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138</a:t>
            </a:r>
          </a:p>
        </p:txBody>
      </p:sp>
      <p:sp>
        <p:nvSpPr>
          <p:cNvPr id="8" name="text-178-64">
            <a:extLst>
              <a:ext uri="{FF2B5EF4-FFF2-40B4-BE49-F238E27FC236}">
                <a16:creationId xmlns:a16="http://schemas.microsoft.com/office/drawing/2014/main" id="{F6A0078E-8075-44C8-A764-88491E388C03}"/>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2×2 행렬 두 개를 표준 방식과 슈트라센 한 단계로 곱한다. 각각의 스칼라 곱셈 횟수는?</a:t>
            </a:r>
          </a:p>
        </p:txBody>
      </p:sp>
      <p:sp>
        <p:nvSpPr>
          <p:cNvPr id="9" name="직사각형 8">
            <a:extLst>
              <a:ext uri="{FF2B5EF4-FFF2-40B4-BE49-F238E27FC236}">
                <a16:creationId xmlns:a16="http://schemas.microsoft.com/office/drawing/2014/main" id="{EEA8540A-307A-49BE-8D9F-41E67D8CD52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418755D9-2684-41E0-BE11-4DD5824E682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8회,7회</a:t>
            </a:r>
          </a:p>
        </p:txBody>
      </p:sp>
      <p:sp>
        <p:nvSpPr>
          <p:cNvPr id="11" name="text-324.4-64">
            <a:extLst>
              <a:ext uri="{FF2B5EF4-FFF2-40B4-BE49-F238E27FC236}">
                <a16:creationId xmlns:a16="http://schemas.microsoft.com/office/drawing/2014/main" id="{CB8613EC-E367-489C-8EB8-8128ABA75C1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E8A5C21D-B356-4BCB-8709-92D53A482C2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8EA543E-BE04-4B3B-AF2A-6343E2BA474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표준은 결과 4칸에 곱셈 2회씩, 슈트라센은 7개 중간 곱을 재사용한다.</a:t>
            </a:r>
          </a:p>
        </p:txBody>
      </p:sp>
    </p:spTree>
    <p:extLst>
      <p:ext uri="{BB962C8B-B14F-4D97-AF65-F5344CB8AC3E}">
        <p14:creationId xmlns:p14="http://schemas.microsoft.com/office/powerpoint/2010/main" val="462685519"/>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D88EF0EA-A16A-4E20-87D6-F5CA430F01B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1BF30382-0058-4A31-82D1-9FA404C42D1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CE82800-FEF4-4BCD-B317-27279C339CE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70  </a:t>
            </a:r>
          </a:p>
        </p:txBody>
      </p:sp>
      <p:sp>
        <p:nvSpPr>
          <p:cNvPr id="4" name="직사각형 3">
            <a:extLst>
              <a:ext uri="{FF2B5EF4-FFF2-40B4-BE49-F238E27FC236}">
                <a16:creationId xmlns:a16="http://schemas.microsoft.com/office/drawing/2014/main" id="{B9A3E6E4-0831-4BE0-BFD2-6F28EF744960}"/>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9EFC589-D1CB-42AF-827A-03EF0357345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E3594B0-1C80-4316-B0B0-34344D9F05C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10EC925-B2EF-4643-BB0D-675D1EECAB4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139</a:t>
            </a:r>
          </a:p>
        </p:txBody>
      </p:sp>
      <p:sp>
        <p:nvSpPr>
          <p:cNvPr id="8" name="text-178-64">
            <a:extLst>
              <a:ext uri="{FF2B5EF4-FFF2-40B4-BE49-F238E27FC236}">
                <a16:creationId xmlns:a16="http://schemas.microsoft.com/office/drawing/2014/main" id="{2E36F908-FD77-4209-B20D-119F5E7764AB}"/>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한 변 8의 행렬을 스칼라까지 슈트라센으로 재귀 처리한다. 곱셈 리프 개수는?</a:t>
            </a:r>
          </a:p>
        </p:txBody>
      </p:sp>
      <p:sp>
        <p:nvSpPr>
          <p:cNvPr id="9" name="text-405-64">
            <a:extLst>
              <a:ext uri="{FF2B5EF4-FFF2-40B4-BE49-F238E27FC236}">
                <a16:creationId xmlns:a16="http://schemas.microsoft.com/office/drawing/2014/main" id="{57CB4C3B-4B0E-47FB-AA88-F7FA8B1A0CA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DFF4AC3-AB67-4FE8-8F7E-861C0354391B}"/>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5EE2E483-D320-4BFC-A972-62197E4AA3A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E86AAF5A-D401-4D95-A4CD-B232A01EA7E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A8C7BEF8-5F55-45CA-A2CD-C00BC1F2D3C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계산·추적</a:t>
            </a:r>
          </a:p>
        </p:txBody>
      </p:sp>
      <p:sp>
        <p:nvSpPr>
          <p:cNvPr id="2" name="text-28-1080">
            <a:extLst>
              <a:ext uri="{FF2B5EF4-FFF2-40B4-BE49-F238E27FC236}">
                <a16:creationId xmlns:a16="http://schemas.microsoft.com/office/drawing/2014/main" id="{C5D8D311-37CD-4B47-8EB0-850B83DFEC2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8548176-5044-4CE5-AF9F-31FB996EC4E3}"/>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70  정답과 해설</a:t>
            </a:r>
          </a:p>
        </p:txBody>
      </p:sp>
      <p:sp>
        <p:nvSpPr>
          <p:cNvPr id="4" name="직사각형 3">
            <a:extLst>
              <a:ext uri="{FF2B5EF4-FFF2-40B4-BE49-F238E27FC236}">
                <a16:creationId xmlns:a16="http://schemas.microsoft.com/office/drawing/2014/main" id="{F2FB1B84-3BE1-49E9-BAEF-095457F2066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7FC43E0-A552-442C-A88D-2F5E875BE43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87D29CE-AA63-4F85-92AE-1E356EE46FC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114AF6D-69FD-4BAE-8C3C-072D6367D8E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140</a:t>
            </a:r>
          </a:p>
        </p:txBody>
      </p:sp>
      <p:sp>
        <p:nvSpPr>
          <p:cNvPr id="8" name="text-178-64">
            <a:extLst>
              <a:ext uri="{FF2B5EF4-FFF2-40B4-BE49-F238E27FC236}">
                <a16:creationId xmlns:a16="http://schemas.microsoft.com/office/drawing/2014/main" id="{2BC1D3B3-E913-4F34-A0BD-4E0FBC0D7C39}"/>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 변 8의 행렬을 스칼라까지 슈트라센으로 재귀 처리한다. 곱셈 리프 개수는?</a:t>
            </a:r>
          </a:p>
        </p:txBody>
      </p:sp>
      <p:sp>
        <p:nvSpPr>
          <p:cNvPr id="9" name="직사각형 8">
            <a:extLst>
              <a:ext uri="{FF2B5EF4-FFF2-40B4-BE49-F238E27FC236}">
                <a16:creationId xmlns:a16="http://schemas.microsoft.com/office/drawing/2014/main" id="{ED21A067-77D9-4E6C-AE68-67415C7DABD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E51D0CB-A783-4B0D-ACD2-7E908DFF587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343개</a:t>
            </a:r>
          </a:p>
        </p:txBody>
      </p:sp>
      <p:sp>
        <p:nvSpPr>
          <p:cNvPr id="11" name="text-324.4-64">
            <a:extLst>
              <a:ext uri="{FF2B5EF4-FFF2-40B4-BE49-F238E27FC236}">
                <a16:creationId xmlns:a16="http://schemas.microsoft.com/office/drawing/2014/main" id="{BED0642A-17D9-4D66-B3E2-34285E075DB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2558815-BF43-411B-BFFF-2DF82F100E20}"/>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FD635A7F-3DAD-486D-AD6D-A7128BEA05A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깊이가 3이고 각 내부 노드에 7개 곱셈 자식이 있어 7³=343이다.</a:t>
            </a:r>
          </a:p>
        </p:txBody>
      </p:sp>
    </p:spTree>
    <p:extLst>
      <p:ext uri="{BB962C8B-B14F-4D97-AF65-F5344CB8AC3E}">
        <p14:creationId xmlns:p14="http://schemas.microsoft.com/office/powerpoint/2010/main" val="462685519"/>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B028569-5FF9-4664-B1F0-E1C44D1AEEF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A0829432-6756-4196-A7F0-0A8239BB917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932D058-221E-4BD5-8075-5A455B0D819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71  </a:t>
            </a:r>
          </a:p>
        </p:txBody>
      </p:sp>
      <p:sp>
        <p:nvSpPr>
          <p:cNvPr id="4" name="직사각형 3">
            <a:extLst>
              <a:ext uri="{FF2B5EF4-FFF2-40B4-BE49-F238E27FC236}">
                <a16:creationId xmlns:a16="http://schemas.microsoft.com/office/drawing/2014/main" id="{7F844444-090E-4621-9D57-69770A3DEB7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C37CEE4-167D-4179-BF95-33ED98D7280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F119B5A-C3E9-4E3F-8A56-7F80D6E59B9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5793F8F-489D-4A60-B9F1-1222930A1D5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141</a:t>
            </a:r>
          </a:p>
        </p:txBody>
      </p:sp>
      <p:sp>
        <p:nvSpPr>
          <p:cNvPr id="8" name="text-178-64">
            <a:extLst>
              <a:ext uri="{FF2B5EF4-FFF2-40B4-BE49-F238E27FC236}">
                <a16:creationId xmlns:a16="http://schemas.microsoft.com/office/drawing/2014/main" id="{639A160F-C9D4-4C70-898D-B1C9FE3F23B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표준 병합에서 두 현재 원소 중 작은 것을 먼저 출력해도 되는 이유를 설명하시오.</a:t>
            </a:r>
          </a:p>
        </p:txBody>
      </p:sp>
      <p:sp>
        <p:nvSpPr>
          <p:cNvPr id="9" name="text-405-64">
            <a:extLst>
              <a:ext uri="{FF2B5EF4-FFF2-40B4-BE49-F238E27FC236}">
                <a16:creationId xmlns:a16="http://schemas.microsoft.com/office/drawing/2014/main" id="{C8EADFEF-59BC-42A1-84A3-9FB748687C3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90731074-BCDC-4371-8824-ED3E141A6461}"/>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0F2FF81-ABB1-4714-B7A8-36E1DDCA145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FA1044A3-1541-40F8-98A4-B65DC5DD863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35B8D5E-0FD6-4DB4-A456-BC27844E40F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D572C52-F089-4F9D-80D9-17C4EE46E35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FF36315-9176-408D-AA1C-F39F21DE736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71  정답과 해설</a:t>
            </a:r>
          </a:p>
        </p:txBody>
      </p:sp>
      <p:sp>
        <p:nvSpPr>
          <p:cNvPr id="4" name="직사각형 3">
            <a:extLst>
              <a:ext uri="{FF2B5EF4-FFF2-40B4-BE49-F238E27FC236}">
                <a16:creationId xmlns:a16="http://schemas.microsoft.com/office/drawing/2014/main" id="{AC85AD57-0478-49C9-80CD-2E30CC65108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9C288C4-2AD7-4BBA-8118-028919310B9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278BB1A-78AF-40CF-8234-ACE1F598873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F3692A9-5B7C-4861-97F0-7407A89FF9A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142</a:t>
            </a:r>
          </a:p>
        </p:txBody>
      </p:sp>
      <p:sp>
        <p:nvSpPr>
          <p:cNvPr id="8" name="text-178-64">
            <a:extLst>
              <a:ext uri="{FF2B5EF4-FFF2-40B4-BE49-F238E27FC236}">
                <a16:creationId xmlns:a16="http://schemas.microsoft.com/office/drawing/2014/main" id="{3B787F4E-FE7B-40C8-A45E-99F7AC26BA59}"/>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표준 병합에서 두 현재 원소 중 작은 것을 먼저 출력해도 되는 이유를 설명하시오.</a:t>
            </a:r>
          </a:p>
        </p:txBody>
      </p:sp>
      <p:sp>
        <p:nvSpPr>
          <p:cNvPr id="9" name="직사각형 8">
            <a:extLst>
              <a:ext uri="{FF2B5EF4-FFF2-40B4-BE49-F238E27FC236}">
                <a16:creationId xmlns:a16="http://schemas.microsoft.com/office/drawing/2014/main" id="{0772E13B-8A84-4F3C-8C21-E08D76421C6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82316B56-487C-479F-874E-E38C2EEA1FC1}"/>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각 입력이 정렬되어 있어 현재 원소가 그 입력의 남은 최솟값이다.</a:t>
            </a:r>
          </a:p>
        </p:txBody>
      </p:sp>
      <p:sp>
        <p:nvSpPr>
          <p:cNvPr id="11" name="text-324.4-64">
            <a:extLst>
              <a:ext uri="{FF2B5EF4-FFF2-40B4-BE49-F238E27FC236}">
                <a16:creationId xmlns:a16="http://schemas.microsoft.com/office/drawing/2014/main" id="{18E618EB-DBC1-455A-8E30-A1529540623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E4D85F9-E3CA-4C35-A626-3A356EDAB91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DC6FFD06-2265-4AC4-A293-918876119F1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두 최솟값 중 작은 값은 전체 남은 원소의 최솟값이다. 이를 반복하면 정렬 결과가 된다.</a:t>
            </a:r>
          </a:p>
        </p:txBody>
      </p:sp>
    </p:spTree>
    <p:extLst>
      <p:ext uri="{BB962C8B-B14F-4D97-AF65-F5344CB8AC3E}">
        <p14:creationId xmlns:p14="http://schemas.microsoft.com/office/powerpoint/2010/main" val="46268551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A93D6CBB-C19D-4E4F-8D16-7375BE54CA0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4D13B400-E342-45B2-81A3-1BCCD3B1F40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DFC0C8E-6FD4-4DD6-8C34-F65DFAF5A12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72  </a:t>
            </a:r>
          </a:p>
        </p:txBody>
      </p:sp>
      <p:sp>
        <p:nvSpPr>
          <p:cNvPr id="4" name="직사각형 3">
            <a:extLst>
              <a:ext uri="{FF2B5EF4-FFF2-40B4-BE49-F238E27FC236}">
                <a16:creationId xmlns:a16="http://schemas.microsoft.com/office/drawing/2014/main" id="{E3CCB6FA-35A4-4E2C-AF4B-8D4170BE30B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83A8FFE-5E00-4C1A-8C19-CF071972F7F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E4024B7-E39A-4214-B238-880694DB886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E89F2F1-56D5-4A1A-8FD9-8A040D207DE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143</a:t>
            </a:r>
          </a:p>
        </p:txBody>
      </p:sp>
      <p:sp>
        <p:nvSpPr>
          <p:cNvPr id="8" name="text-178-64">
            <a:extLst>
              <a:ext uri="{FF2B5EF4-FFF2-40B4-BE49-F238E27FC236}">
                <a16:creationId xmlns:a16="http://schemas.microsoft.com/office/drawing/2014/main" id="{5AF92B4B-1E29-4B90-8C6C-12CFA5F48A6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병합의 동등 키에서 오른쪽을 우선하면 안정성이 깨지는 최소 반례를 제시하시오.</a:t>
            </a:r>
          </a:p>
        </p:txBody>
      </p:sp>
      <p:sp>
        <p:nvSpPr>
          <p:cNvPr id="9" name="text-405-64">
            <a:extLst>
              <a:ext uri="{FF2B5EF4-FFF2-40B4-BE49-F238E27FC236}">
                <a16:creationId xmlns:a16="http://schemas.microsoft.com/office/drawing/2014/main" id="{4B15EB33-107E-4021-B517-9FFD72791EC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BD5461BF-DF85-4598-8BB3-5FEC083E4879}"/>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D24D521-618F-4B95-96E8-E38D0C2A5F75}"/>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5470C89B-EC8B-4F80-9BF1-CEC40AA737F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D7FA371-4793-4BED-9045-78665B8ABD9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263D0629-0BDC-4A9B-BA41-9774E9F9419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79E3A0F-EE83-45C9-89DD-4E57551C5A9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72  정답과 해설</a:t>
            </a:r>
          </a:p>
        </p:txBody>
      </p:sp>
      <p:sp>
        <p:nvSpPr>
          <p:cNvPr id="4" name="직사각형 3">
            <a:extLst>
              <a:ext uri="{FF2B5EF4-FFF2-40B4-BE49-F238E27FC236}">
                <a16:creationId xmlns:a16="http://schemas.microsoft.com/office/drawing/2014/main" id="{66DE09D4-66AD-4328-849D-5EA2D02BF03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F235AD2-6D00-4F88-AD84-51E3EAB1829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667D946-5BEB-4338-B648-24D47DDBC49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CFB469C-5C08-4E6B-90DB-177E09A46EF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144</a:t>
            </a:r>
          </a:p>
        </p:txBody>
      </p:sp>
      <p:sp>
        <p:nvSpPr>
          <p:cNvPr id="8" name="text-178-64">
            <a:extLst>
              <a:ext uri="{FF2B5EF4-FFF2-40B4-BE49-F238E27FC236}">
                <a16:creationId xmlns:a16="http://schemas.microsoft.com/office/drawing/2014/main" id="{93175CF3-F580-4640-AF42-E60AFF93EDD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병합의 동등 키에서 오른쪽을 우선하면 안정성이 깨지는 최소 반례를 제시하시오.</a:t>
            </a:r>
          </a:p>
        </p:txBody>
      </p:sp>
      <p:sp>
        <p:nvSpPr>
          <p:cNvPr id="9" name="직사각형 8">
            <a:extLst>
              <a:ext uri="{FF2B5EF4-FFF2-40B4-BE49-F238E27FC236}">
                <a16:creationId xmlns:a16="http://schemas.microsoft.com/office/drawing/2014/main" id="{FE79C3E3-28C8-4EEF-A173-FD4C7876B7A9}"/>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C0805A99-B882-4F71-A02F-EB4C5290647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왼쪽 [2A], 오른쪽 [2B]이면 결과가 [2B,2A]가 된다.</a:t>
            </a:r>
          </a:p>
        </p:txBody>
      </p:sp>
      <p:sp>
        <p:nvSpPr>
          <p:cNvPr id="11" name="text-324.4-64">
            <a:extLst>
              <a:ext uri="{FF2B5EF4-FFF2-40B4-BE49-F238E27FC236}">
                <a16:creationId xmlns:a16="http://schemas.microsoft.com/office/drawing/2014/main" id="{77258399-7A15-49E5-B55B-5E6862E38B07}"/>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95E5F7E-61E0-4A5B-8E11-17851E3443F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41D5C746-BD13-44FB-9DB5-37B1EACE4D45}"/>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원래 앞에 있던 A가 뒤로 이동했다. 왼쪽을 우선하면 같은 키의 상대 순서가 유지된다.</a:t>
            </a:r>
          </a:p>
        </p:txBody>
      </p:sp>
    </p:spTree>
    <p:extLst>
      <p:ext uri="{BB962C8B-B14F-4D97-AF65-F5344CB8AC3E}">
        <p14:creationId xmlns:p14="http://schemas.microsoft.com/office/powerpoint/2010/main" val="462685519"/>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F7CFC4CE-3935-4FC8-94E3-AD4C7D1268F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34A6EA7F-BAD2-46BF-9922-A0975DED16D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E3FD62E-4E30-4FB7-A87D-48D6CBF2683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73  </a:t>
            </a:r>
          </a:p>
        </p:txBody>
      </p:sp>
      <p:sp>
        <p:nvSpPr>
          <p:cNvPr id="4" name="직사각형 3">
            <a:extLst>
              <a:ext uri="{FF2B5EF4-FFF2-40B4-BE49-F238E27FC236}">
                <a16:creationId xmlns:a16="http://schemas.microsoft.com/office/drawing/2014/main" id="{8E8A3777-87F1-4B03-977E-BF183A7D39A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9D47123-FE8A-428C-A24A-8385A2CF73D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E1BB89B-ADAD-4309-907C-65190700C3D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E5CF0FD-A77B-487B-ABDE-7B57765731E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145</a:t>
            </a:r>
          </a:p>
        </p:txBody>
      </p:sp>
      <p:sp>
        <p:nvSpPr>
          <p:cNvPr id="8" name="text-178-64">
            <a:extLst>
              <a:ext uri="{FF2B5EF4-FFF2-40B4-BE49-F238E27FC236}">
                <a16:creationId xmlns:a16="http://schemas.microsoft.com/office/drawing/2014/main" id="{7469984E-9855-494A-9E6B-40A99AB966A1}"/>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합병 정렬에서 반열린 구간 [lo,hi)를 쓰는 장점과 기저 조건을 설명하시오.</a:t>
            </a:r>
          </a:p>
        </p:txBody>
      </p:sp>
      <p:sp>
        <p:nvSpPr>
          <p:cNvPr id="9" name="text-405-64">
            <a:extLst>
              <a:ext uri="{FF2B5EF4-FFF2-40B4-BE49-F238E27FC236}">
                <a16:creationId xmlns:a16="http://schemas.microsoft.com/office/drawing/2014/main" id="{DDCC6347-3BCD-4C7D-8693-F4F340B28A7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5C9E08CC-A5A8-4532-9E16-9E957D9824BA}"/>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5FE2FE2D-100F-41B6-841E-D23BDEC3AC57}"/>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AD67722B-1C52-47F3-83BE-54DEA1BE0A3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1A271A5-226C-4014-B273-5FA0D4A2EC8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B861810C-B323-41DD-840F-A09744FC1EA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BBEC944-7871-4FA1-B113-E9832E4C777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73  정답과 해설</a:t>
            </a:r>
          </a:p>
        </p:txBody>
      </p:sp>
      <p:sp>
        <p:nvSpPr>
          <p:cNvPr id="4" name="직사각형 3">
            <a:extLst>
              <a:ext uri="{FF2B5EF4-FFF2-40B4-BE49-F238E27FC236}">
                <a16:creationId xmlns:a16="http://schemas.microsoft.com/office/drawing/2014/main" id="{3BC44D6E-199D-4AE9-A479-45F27C6EF1E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94513F8-6653-4BC3-8D35-223BC135212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C5D8AE9-474A-4DC3-8DA3-0CD754092AB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9CE3239-7E2B-4743-B612-94B1AB881DD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146</a:t>
            </a:r>
          </a:p>
        </p:txBody>
      </p:sp>
      <p:sp>
        <p:nvSpPr>
          <p:cNvPr id="8" name="text-178-64">
            <a:extLst>
              <a:ext uri="{FF2B5EF4-FFF2-40B4-BE49-F238E27FC236}">
                <a16:creationId xmlns:a16="http://schemas.microsoft.com/office/drawing/2014/main" id="{AA240DB2-1263-4408-8AC4-EB96E93E7BD3}"/>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합병 정렬에서 반열린 구간 [lo,hi)를 쓰는 장점과 기저 조건을 설명하시오.</a:t>
            </a:r>
          </a:p>
        </p:txBody>
      </p:sp>
      <p:sp>
        <p:nvSpPr>
          <p:cNvPr id="9" name="직사각형 8">
            <a:extLst>
              <a:ext uri="{FF2B5EF4-FFF2-40B4-BE49-F238E27FC236}">
                <a16:creationId xmlns:a16="http://schemas.microsoft.com/office/drawing/2014/main" id="{FD8E54EB-E664-44FC-8381-96B0DA9490B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FDB1A55-BD8A-4788-BA5F-3E4C649A8D78}"/>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길이가 hi−lo이고 hi−lo≤1이면 종료한다. 분할은 [lo,mid),[mid,hi)이다.</a:t>
            </a:r>
          </a:p>
        </p:txBody>
      </p:sp>
      <p:sp>
        <p:nvSpPr>
          <p:cNvPr id="11" name="text-324.4-64">
            <a:extLst>
              <a:ext uri="{FF2B5EF4-FFF2-40B4-BE49-F238E27FC236}">
                <a16:creationId xmlns:a16="http://schemas.microsoft.com/office/drawing/2014/main" id="{1B794292-26D7-4934-B573-FE610752FD2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04BBFFB-0D61-4574-8C48-27B849254B06}"/>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54E2B75-E948-4467-B8F2-3AB054AC5F2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원소가 중복되거나 빠지지 않고 빈 구간도 길이 0으로 표현된다.</a:t>
            </a:r>
          </a:p>
        </p:txBody>
      </p:sp>
    </p:spTree>
    <p:extLst>
      <p:ext uri="{BB962C8B-B14F-4D97-AF65-F5344CB8AC3E}">
        <p14:creationId xmlns:p14="http://schemas.microsoft.com/office/powerpoint/2010/main" val="462685519"/>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9949024E-B6DC-4B14-B2C5-2F14502976B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9123544-3636-48AE-8954-88A4CA89E69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F2BCECC-B4D7-4634-8360-3C4B899E038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74  </a:t>
            </a:r>
          </a:p>
        </p:txBody>
      </p:sp>
      <p:sp>
        <p:nvSpPr>
          <p:cNvPr id="4" name="직사각형 3">
            <a:extLst>
              <a:ext uri="{FF2B5EF4-FFF2-40B4-BE49-F238E27FC236}">
                <a16:creationId xmlns:a16="http://schemas.microsoft.com/office/drawing/2014/main" id="{90706630-BB2C-4DD6-BA8D-B795CF5F751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6529681-DC42-4A52-878E-74F3768B785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01E9B60-819F-4E0C-8BFA-FF17B9042A5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58386F7-2086-473C-9007-618C712B809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147</a:t>
            </a:r>
          </a:p>
        </p:txBody>
      </p:sp>
      <p:sp>
        <p:nvSpPr>
          <p:cNvPr id="8" name="text-178-64">
            <a:extLst>
              <a:ext uri="{FF2B5EF4-FFF2-40B4-BE49-F238E27FC236}">
                <a16:creationId xmlns:a16="http://schemas.microsoft.com/office/drawing/2014/main" id="{A231C73A-4383-4AE6-9B87-DB36E143F1B9}"/>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최대 연속합을 왼쪽 정답과 오른쪽 정답만 비교하면 틀리는 반례를 제시하시오.</a:t>
            </a:r>
          </a:p>
        </p:txBody>
      </p:sp>
      <p:sp>
        <p:nvSpPr>
          <p:cNvPr id="9" name="text-405-64">
            <a:extLst>
              <a:ext uri="{FF2B5EF4-FFF2-40B4-BE49-F238E27FC236}">
                <a16:creationId xmlns:a16="http://schemas.microsoft.com/office/drawing/2014/main" id="{5B13BA3E-EEE8-4E9E-981B-8FAC8AC9AC5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03260BBE-DACE-4FDD-86D8-C25F782ADF3E}"/>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1B32B1D8-9BE8-49A9-9D6B-6F6FBA5AD4AB}"/>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7CA8CE42-7FC2-4DD4-A409-6912E17C5A1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9CE7D5C4-57D1-4503-8E65-EF6689AA63E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C09265B3-377E-47B7-87B0-680C8E9809C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F0892BA-BC4A-42FF-8591-72F2FA0965F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74  정답과 해설</a:t>
            </a:r>
          </a:p>
        </p:txBody>
      </p:sp>
      <p:sp>
        <p:nvSpPr>
          <p:cNvPr id="4" name="직사각형 3">
            <a:extLst>
              <a:ext uri="{FF2B5EF4-FFF2-40B4-BE49-F238E27FC236}">
                <a16:creationId xmlns:a16="http://schemas.microsoft.com/office/drawing/2014/main" id="{123FC224-E110-40BD-B012-D07913B793E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7778C49-4AF4-41D3-AD82-25AE1562315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E56B4CD-E236-483E-9804-46CC1F196B3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4006310-653A-4771-96D6-AC90BAC2059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148</a:t>
            </a:r>
          </a:p>
        </p:txBody>
      </p:sp>
      <p:sp>
        <p:nvSpPr>
          <p:cNvPr id="8" name="text-178-64">
            <a:extLst>
              <a:ext uri="{FF2B5EF4-FFF2-40B4-BE49-F238E27FC236}">
                <a16:creationId xmlns:a16="http://schemas.microsoft.com/office/drawing/2014/main" id="{E57A84F5-D130-452A-87A6-8B736B3BF83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최대 연속합을 왼쪽 정답과 오른쪽 정답만 비교하면 틀리는 반례를 제시하시오.</a:t>
            </a:r>
          </a:p>
        </p:txBody>
      </p:sp>
      <p:sp>
        <p:nvSpPr>
          <p:cNvPr id="9" name="직사각형 8">
            <a:extLst>
              <a:ext uri="{FF2B5EF4-FFF2-40B4-BE49-F238E27FC236}">
                <a16:creationId xmlns:a16="http://schemas.microsoft.com/office/drawing/2014/main" id="{665015B0-3B0B-4C2D-8D6F-0DB1DF9C3FB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02CFF26-DC7A-4487-B859-5005463F9AE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[2,3]을 둘로 나누면 각 답은 2,3이나 전체 답은 5이다.</a:t>
            </a:r>
          </a:p>
        </p:txBody>
      </p:sp>
      <p:sp>
        <p:nvSpPr>
          <p:cNvPr id="11" name="text-324.4-64">
            <a:extLst>
              <a:ext uri="{FF2B5EF4-FFF2-40B4-BE49-F238E27FC236}">
                <a16:creationId xmlns:a16="http://schemas.microsoft.com/office/drawing/2014/main" id="{4EFA8A7E-4587-4279-A27D-F697E3D7D80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708EB65D-8C09-41A3-ADC5-69D1FAB90832}"/>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6A139B2-1761-409B-839A-CE0EC539973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경계를 가로지르는 구간을 빼먹었다. 왼쪽 최대 접미와 오른쪽 최대 접두를 더한 후보가 필요하다.</a:t>
            </a:r>
          </a:p>
        </p:txBody>
      </p:sp>
    </p:spTree>
    <p:extLst>
      <p:ext uri="{BB962C8B-B14F-4D97-AF65-F5344CB8AC3E}">
        <p14:creationId xmlns:p14="http://schemas.microsoft.com/office/powerpoint/2010/main" val="46268551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2F93254-39FE-417B-8684-D3586C582AF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A382D8CD-A243-4677-98AA-E6AD92CC55F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A6C903A-F5B3-4FB9-8F88-0B17A35FF18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75  </a:t>
            </a:r>
          </a:p>
        </p:txBody>
      </p:sp>
      <p:sp>
        <p:nvSpPr>
          <p:cNvPr id="4" name="직사각형 3">
            <a:extLst>
              <a:ext uri="{FF2B5EF4-FFF2-40B4-BE49-F238E27FC236}">
                <a16:creationId xmlns:a16="http://schemas.microsoft.com/office/drawing/2014/main" id="{4FBF54C6-E66E-4B84-8A9F-8A3FAD996EC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0DC9536-E12E-49DC-9E97-40530DFC912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AC943A5-8407-4B17-96B1-02829A3CE5A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B56EAA8-A342-4093-B0EB-5F57D3B0F6A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149</a:t>
            </a:r>
          </a:p>
        </p:txBody>
      </p:sp>
      <p:sp>
        <p:nvSpPr>
          <p:cNvPr id="8" name="text-178-64">
            <a:extLst>
              <a:ext uri="{FF2B5EF4-FFF2-40B4-BE49-F238E27FC236}">
                <a16:creationId xmlns:a16="http://schemas.microsoft.com/office/drawing/2014/main" id="{49B3D67C-E2FB-4EA4-8C52-E26833C2BCAF}"/>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비어 있지 않은 최대 연속합에서 최댓값을 0으로 초기화하는 코드의 반례와 수정</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원칙을 쓰시오.</a:t>
            </a:r>
          </a:p>
        </p:txBody>
      </p:sp>
      <p:sp>
        <p:nvSpPr>
          <p:cNvPr id="9" name="text-405-64">
            <a:extLst>
              <a:ext uri="{FF2B5EF4-FFF2-40B4-BE49-F238E27FC236}">
                <a16:creationId xmlns:a16="http://schemas.microsoft.com/office/drawing/2014/main" id="{981228BA-F89F-444F-B620-CD6B69BCC2C8}"/>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D55F5B9E-2E33-4C2A-897E-454B2C2218B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A2A52225-8BE8-4ED7-A0EF-99D829A2FEF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4269BFC2-6053-4A53-B212-8CEE7F4400CD}"/>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578DEC3-8D4E-4582-BE84-02FB6689A00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CA6E2446-4605-4578-905E-5F6CF73346B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A0EDB8F-B2B4-47C5-9706-27F19D4E376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75  정답과 해설</a:t>
            </a:r>
          </a:p>
        </p:txBody>
      </p:sp>
      <p:sp>
        <p:nvSpPr>
          <p:cNvPr id="4" name="직사각형 3">
            <a:extLst>
              <a:ext uri="{FF2B5EF4-FFF2-40B4-BE49-F238E27FC236}">
                <a16:creationId xmlns:a16="http://schemas.microsoft.com/office/drawing/2014/main" id="{30FF08B7-7446-4B59-949E-44C538B2087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57DF1DB-E86A-4516-AED5-F0DE46D7A93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6A7C932-7D82-404B-B250-D42EAB07EFB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1235BC5-3D4C-4CD0-8D61-FB4C2CCF6D5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150</a:t>
            </a:r>
          </a:p>
        </p:txBody>
      </p:sp>
      <p:sp>
        <p:nvSpPr>
          <p:cNvPr id="8" name="text-178-64">
            <a:extLst>
              <a:ext uri="{FF2B5EF4-FFF2-40B4-BE49-F238E27FC236}">
                <a16:creationId xmlns:a16="http://schemas.microsoft.com/office/drawing/2014/main" id="{86D85C47-D9AE-4415-B54C-B3214066A57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비어 있지 않은 최대 연속합에서 최댓값을 0으로 초기화하는 코드의 반례와 수정 원칙을 쓰시오.</a:t>
            </a:r>
          </a:p>
        </p:txBody>
      </p:sp>
      <p:sp>
        <p:nvSpPr>
          <p:cNvPr id="9" name="직사각형 8">
            <a:extLst>
              <a:ext uri="{FF2B5EF4-FFF2-40B4-BE49-F238E27FC236}">
                <a16:creationId xmlns:a16="http://schemas.microsoft.com/office/drawing/2014/main" id="{08D98B81-47EC-4354-A90F-A059A36BAF47}"/>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D0FA8BB-8956-460F-BD4F-137F9E74BAD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[−5,−2]에서 잘못된 0이 남는다. 첫 유효 합이나 음의 무한대로 초기화한다.</a:t>
            </a:r>
          </a:p>
        </p:txBody>
      </p:sp>
      <p:sp>
        <p:nvSpPr>
          <p:cNvPr id="11" name="text-324.4-64">
            <a:extLst>
              <a:ext uri="{FF2B5EF4-FFF2-40B4-BE49-F238E27FC236}">
                <a16:creationId xmlns:a16="http://schemas.microsoft.com/office/drawing/2014/main" id="{3DD1841D-6B99-48E2-9113-5EF47AA0D21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8E4F4F6-1BCE-4773-8749-BF614EA1F79B}"/>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BD0FAAF-C300-418E-B606-4FD7FABD0D2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빈 구간을 허용하지 않는 계약을 초기값과 기저 사례에도 반영해야 한다.</a:t>
            </a:r>
          </a:p>
        </p:txBody>
      </p:sp>
    </p:spTree>
    <p:extLst>
      <p:ext uri="{BB962C8B-B14F-4D97-AF65-F5344CB8AC3E}">
        <p14:creationId xmlns:p14="http://schemas.microsoft.com/office/powerpoint/2010/main" val="462685519"/>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71A02D00-8102-4FDE-8949-B6A82EE63C5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FD2856F7-72BA-4BD1-9DA7-83946093EB6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CC22117-4BF7-415F-92DB-62D46F87432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76  </a:t>
            </a:r>
          </a:p>
        </p:txBody>
      </p:sp>
      <p:sp>
        <p:nvSpPr>
          <p:cNvPr id="4" name="직사각형 3">
            <a:extLst>
              <a:ext uri="{FF2B5EF4-FFF2-40B4-BE49-F238E27FC236}">
                <a16:creationId xmlns:a16="http://schemas.microsoft.com/office/drawing/2014/main" id="{2FB7EB4A-C34E-4451-8E51-98A86D538E2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AB94375-540F-4F15-A381-C879908F8EB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CB9A977-0044-4AFE-BC29-5EAF6C9324F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D331331-ED1C-4DA3-9199-D63BE0D98B7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151</a:t>
            </a:r>
          </a:p>
        </p:txBody>
      </p:sp>
      <p:sp>
        <p:nvSpPr>
          <p:cNvPr id="8" name="text-178-64">
            <a:extLst>
              <a:ext uri="{FF2B5EF4-FFF2-40B4-BE49-F238E27FC236}">
                <a16:creationId xmlns:a16="http://schemas.microsoft.com/office/drawing/2014/main" id="{2C06A21F-5357-4E8E-9051-EA758CF3B3AF}"/>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최대 교차합이 왼쪽 접미와 오른쪽 접두의 합인 이유를 연속성으로 설명하시오.</a:t>
            </a:r>
          </a:p>
        </p:txBody>
      </p:sp>
      <p:sp>
        <p:nvSpPr>
          <p:cNvPr id="9" name="text-405-64">
            <a:extLst>
              <a:ext uri="{FF2B5EF4-FFF2-40B4-BE49-F238E27FC236}">
                <a16:creationId xmlns:a16="http://schemas.microsoft.com/office/drawing/2014/main" id="{B8BAFE40-AB92-4F2A-860C-DBDD29D06ACF}"/>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F7E0CB4A-4E99-40BB-BAA5-F5CB8D915D21}"/>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A7CB0CB4-2CA3-4B29-A1E4-D45F2E8406CF}"/>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48EB60A5-758D-4434-8B88-8DD9A87C0CF4}"/>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07D4465D-6C20-4879-A888-3DE8D2054D6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34B8DDB7-31BA-440C-9932-0FFA5A7A1CD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73226DC-359E-4AFC-B547-72AACB8135D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76  정답과 해설</a:t>
            </a:r>
          </a:p>
        </p:txBody>
      </p:sp>
      <p:sp>
        <p:nvSpPr>
          <p:cNvPr id="4" name="직사각형 3">
            <a:extLst>
              <a:ext uri="{FF2B5EF4-FFF2-40B4-BE49-F238E27FC236}">
                <a16:creationId xmlns:a16="http://schemas.microsoft.com/office/drawing/2014/main" id="{60E90E5C-ACF9-4F23-B66B-818E90A2595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EEC1696-C3E7-43DE-B8C7-53680C67783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EC54ABE-35B7-45DC-9885-C0FCF699545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258AF27-D244-4E75-8E0A-5D7354748BC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152</a:t>
            </a:r>
          </a:p>
        </p:txBody>
      </p:sp>
      <p:sp>
        <p:nvSpPr>
          <p:cNvPr id="8" name="text-178-64">
            <a:extLst>
              <a:ext uri="{FF2B5EF4-FFF2-40B4-BE49-F238E27FC236}">
                <a16:creationId xmlns:a16="http://schemas.microsoft.com/office/drawing/2014/main" id="{F88DDB4F-595A-460F-BD3F-A12B2C96259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최대 교차합이 왼쪽 접미와 오른쪽 접두의 합인 이유를 연속성으로 설명하시오.</a:t>
            </a:r>
          </a:p>
        </p:txBody>
      </p:sp>
      <p:sp>
        <p:nvSpPr>
          <p:cNvPr id="9" name="직사각형 8">
            <a:extLst>
              <a:ext uri="{FF2B5EF4-FFF2-40B4-BE49-F238E27FC236}">
                <a16:creationId xmlns:a16="http://schemas.microsoft.com/office/drawing/2014/main" id="{8D2BA2CF-E7DC-4670-85D7-A0B3DA1DA2F4}"/>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8E7DAC8-1515-4234-92A5-065955E3CCF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경계를 지나는 연속 구간은 반드시 mid와 mid+1을 포함한다.</a:t>
            </a:r>
          </a:p>
        </p:txBody>
      </p:sp>
      <p:sp>
        <p:nvSpPr>
          <p:cNvPr id="11" name="text-324.4-64">
            <a:extLst>
              <a:ext uri="{FF2B5EF4-FFF2-40B4-BE49-F238E27FC236}">
                <a16:creationId xmlns:a16="http://schemas.microsoft.com/office/drawing/2014/main" id="{F6B5622E-EF4C-4987-A7C2-2FEAF0EDE0BD}"/>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70D2322-3EDA-4EFF-873E-5966A475B3C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C4B35AE6-F05C-49D0-9DA6-1051D1F246B4}"/>
              </a:ext>
            </a:extLst>
          </p:cNvPr>
          <p:cNvSpPr>
            <a:spLocks noGrp="1"/>
          </p:cNvSpPr>
          <p:nvPr/>
        </p:nvSpPr>
        <p:spPr>
          <a:xfrm>
            <a:off x="609600" y="354711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따라서 왼쪽 선택은 mid에서 끝나고 오른쪽 선택은 mid+1에서 시작한다. 두 쪽을 각각 최대화해</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합한다.</a:t>
            </a:r>
          </a:p>
        </p:txBody>
      </p:sp>
    </p:spTree>
    <p:extLst>
      <p:ext uri="{BB962C8B-B14F-4D97-AF65-F5344CB8AC3E}">
        <p14:creationId xmlns:p14="http://schemas.microsoft.com/office/powerpoint/2010/main" val="46268551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416C3767-311C-4915-86A5-8BFF78EF40D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4CCD9C00-37DA-4B75-B95F-A94B45E049A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9DB2310-E23B-401B-B6B9-5DB773DCDE3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77  </a:t>
            </a:r>
          </a:p>
        </p:txBody>
      </p:sp>
      <p:sp>
        <p:nvSpPr>
          <p:cNvPr id="4" name="직사각형 3">
            <a:extLst>
              <a:ext uri="{FF2B5EF4-FFF2-40B4-BE49-F238E27FC236}">
                <a16:creationId xmlns:a16="http://schemas.microsoft.com/office/drawing/2014/main" id="{3E8A0EE9-550A-4DDE-BA2B-6F1FEC0098A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6E8ABD1-47A4-43B7-ADC2-FED165F7CA4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6E9B463-FCDD-4045-B78C-8AA35A00710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151950E-7753-4217-8207-AAAA7E515D9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153</a:t>
            </a:r>
          </a:p>
        </p:txBody>
      </p:sp>
      <p:sp>
        <p:nvSpPr>
          <p:cNvPr id="8" name="text-178-64">
            <a:extLst>
              <a:ext uri="{FF2B5EF4-FFF2-40B4-BE49-F238E27FC236}">
                <a16:creationId xmlns:a16="http://schemas.microsoft.com/office/drawing/2014/main" id="{F8B44906-EF31-4B68-AABB-943BD687753E}"/>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교차 후보 띠의 전체 점 수가 상수라는 주장이 틀리는 이유를</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a:ext uri="{FF2B5EF4-FFF2-40B4-BE49-F238E27FC236}">
                <a16:creationId xmlns:a16="http://schemas.microsoft.com/office/drawing/2014/main" id="{8B3C4DA5-8EE0-4638-8D05-8C30B2A0350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406F6BE-E54C-42E8-8E55-3F7EBA397467}"/>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8C8E06C-FB87-4AC3-A51B-0440A83DA9B5}"/>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59BFCEE8-6C37-401D-9EA3-07380F6FEBA9}"/>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E99DE69-9FED-47E3-AA5C-E347D3D8063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E7293409-3A6A-4733-90A4-FAC27DA8DC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795FE39-5423-406A-BAA7-6CB69D70C05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77  정답과 해설</a:t>
            </a:r>
          </a:p>
        </p:txBody>
      </p:sp>
      <p:sp>
        <p:nvSpPr>
          <p:cNvPr id="4" name="직사각형 3">
            <a:extLst>
              <a:ext uri="{FF2B5EF4-FFF2-40B4-BE49-F238E27FC236}">
                <a16:creationId xmlns:a16="http://schemas.microsoft.com/office/drawing/2014/main" id="{E765E606-1C57-4871-A038-F1439F6DE0D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0881273-5835-4D17-9D60-F159DFF22F7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E68BCC9-00FE-494D-A5C3-992D80769E2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AE7CF75-81A3-45C1-8B9F-DCD3964951F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154</a:t>
            </a:r>
          </a:p>
        </p:txBody>
      </p:sp>
      <p:sp>
        <p:nvSpPr>
          <p:cNvPr id="8" name="text-178-64">
            <a:extLst>
              <a:ext uri="{FF2B5EF4-FFF2-40B4-BE49-F238E27FC236}">
                <a16:creationId xmlns:a16="http://schemas.microsoft.com/office/drawing/2014/main" id="{636D508D-07C3-4093-8E3F-DADA962B24A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교차 후보 띠의 전체 점 수가 상수라는 주장이 틀리는 이유를 설명하시오.</a:t>
            </a:r>
          </a:p>
        </p:txBody>
      </p:sp>
      <p:sp>
        <p:nvSpPr>
          <p:cNvPr id="9" name="직사각형 8">
            <a:extLst>
              <a:ext uri="{FF2B5EF4-FFF2-40B4-BE49-F238E27FC236}">
                <a16:creationId xmlns:a16="http://schemas.microsoft.com/office/drawing/2014/main" id="{2D7AAD1C-EE14-41C4-86D3-14C5E39373A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A13F05D-8767-4FEE-B26A-DBA086711ED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분할선 주변에 세로로 길게 많은 점이 있을 수 있어 띠에는 Θ(n)개가 들어갈 수 있다.</a:t>
            </a:r>
          </a:p>
        </p:txBody>
      </p:sp>
      <p:sp>
        <p:nvSpPr>
          <p:cNvPr id="11" name="text-324.4-64">
            <a:extLst>
              <a:ext uri="{FF2B5EF4-FFF2-40B4-BE49-F238E27FC236}">
                <a16:creationId xmlns:a16="http://schemas.microsoft.com/office/drawing/2014/main" id="{6FBF34BB-6C42-4550-BF40-C38FA62B3E5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89F3A19-DEFF-4384-B88E-A95728A338DA}"/>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E818E57-85F8-42F0-97A2-DC6A88F3F569}"/>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상수는 각 점에 대해 검사해야 하는 인접 후보 수이다. 띠 전체가 7개 이하라는 뜻이 아니다.</a:t>
            </a:r>
          </a:p>
        </p:txBody>
      </p:sp>
    </p:spTree>
    <p:extLst>
      <p:ext uri="{BB962C8B-B14F-4D97-AF65-F5344CB8AC3E}">
        <p14:creationId xmlns:p14="http://schemas.microsoft.com/office/powerpoint/2010/main" val="462685519"/>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3DC8A14-FEC9-45F1-97C2-C83AA75D4C4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DE12E8DB-A07B-41D4-B509-A1319CEF7A1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5675E88-2DD7-4DC8-9065-CCECC7E6D02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78  </a:t>
            </a:r>
          </a:p>
        </p:txBody>
      </p:sp>
      <p:sp>
        <p:nvSpPr>
          <p:cNvPr id="4" name="직사각형 3">
            <a:extLst>
              <a:ext uri="{FF2B5EF4-FFF2-40B4-BE49-F238E27FC236}">
                <a16:creationId xmlns:a16="http://schemas.microsoft.com/office/drawing/2014/main" id="{61133A92-1E6E-4C97-8B3F-2F2ECBCD862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E316759-FD07-44C9-9494-BF2561BF219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E278718-64C8-4866-A6A9-EEF6C6313C1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31A0C16-FD51-4DD1-8B8A-FFB66FCBB34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155</a:t>
            </a:r>
          </a:p>
        </p:txBody>
      </p:sp>
      <p:sp>
        <p:nvSpPr>
          <p:cNvPr id="8" name="text-178-64">
            <a:extLst>
              <a:ext uri="{FF2B5EF4-FFF2-40B4-BE49-F238E27FC236}">
                <a16:creationId xmlns:a16="http://schemas.microsoft.com/office/drawing/2014/main" id="{0A6D9BC7-5A10-4988-ADB8-9EAEB1770B86}"/>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모든 재귀 호출마다 y 정렬을 다시 하면 O(n log n) 분석이 깨지는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이유를 설명하시오.</a:t>
            </a:r>
          </a:p>
        </p:txBody>
      </p:sp>
      <p:sp>
        <p:nvSpPr>
          <p:cNvPr id="9" name="text-405-64">
            <a:extLst>
              <a:ext uri="{FF2B5EF4-FFF2-40B4-BE49-F238E27FC236}">
                <a16:creationId xmlns:a16="http://schemas.microsoft.com/office/drawing/2014/main" id="{0EC51B40-5871-4AD6-AC93-32065B1052B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E1604C8A-3A54-4847-B22E-B1157A3F5DE3}"/>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C9768ED0-78AD-41F3-9816-5C2DBA61A3D5}"/>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7523BE7-D745-40F1-BF7B-A6915E06B75A}"/>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8B6178C-8609-4F35-B150-AC8B76493D0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FB5BA0F-6551-4864-B8FA-8370F3A9559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4A4A81F-ABB8-4C12-9720-F15077E4C81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78  정답과 해설</a:t>
            </a:r>
          </a:p>
        </p:txBody>
      </p:sp>
      <p:sp>
        <p:nvSpPr>
          <p:cNvPr id="4" name="직사각형 3">
            <a:extLst>
              <a:ext uri="{FF2B5EF4-FFF2-40B4-BE49-F238E27FC236}">
                <a16:creationId xmlns:a16="http://schemas.microsoft.com/office/drawing/2014/main" id="{A5A243F5-1E41-4730-8D64-59B3CC36AD2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694F2DA-2491-47F9-B3B9-A386F91D456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D6D3D72-5B29-4FBB-800D-BF6506F27FD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E82B920-A471-49B8-A28B-303367CD858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156</a:t>
            </a:r>
          </a:p>
        </p:txBody>
      </p:sp>
      <p:sp>
        <p:nvSpPr>
          <p:cNvPr id="8" name="text-178-64">
            <a:extLst>
              <a:ext uri="{FF2B5EF4-FFF2-40B4-BE49-F238E27FC236}">
                <a16:creationId xmlns:a16="http://schemas.microsoft.com/office/drawing/2014/main" id="{2D1B5C02-1A41-46A0-88F8-7E7FBA8737B7}"/>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모든 재귀 호출마다 y 정렬을 다시 하면 O(n log n) 분석이 깨지는 이유를 설명하시오.</a:t>
            </a:r>
          </a:p>
        </p:txBody>
      </p:sp>
      <p:sp>
        <p:nvSpPr>
          <p:cNvPr id="9" name="직사각형 8">
            <a:extLst>
              <a:ext uri="{FF2B5EF4-FFF2-40B4-BE49-F238E27FC236}">
                <a16:creationId xmlns:a16="http://schemas.microsoft.com/office/drawing/2014/main" id="{A1F105B4-DB1D-4DB0-900F-1588E37A2756}"/>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D214567-A2B3-4366-9FD5-98B39CC09DE3}"/>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결합 비용이 O(n)이 아니라 O(n log n)이 되어 전체 O(n log² n)이 된다.</a:t>
            </a:r>
          </a:p>
        </p:txBody>
      </p:sp>
      <p:sp>
        <p:nvSpPr>
          <p:cNvPr id="11" name="text-324.4-64">
            <a:extLst>
              <a:ext uri="{FF2B5EF4-FFF2-40B4-BE49-F238E27FC236}">
                <a16:creationId xmlns:a16="http://schemas.microsoft.com/office/drawing/2014/main" id="{3B0C5C36-7CB9-43AD-9077-7BCCDE03154E}"/>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10F720A4-7CB2-40E4-86A0-208124D48D1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B6953EB-0193-4028-AD38-FE23427CF1F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정렬된 y 순서를 분할·병합으로 재사용해야 층별 선형 비용을 얻는다.</a:t>
            </a:r>
          </a:p>
        </p:txBody>
      </p:sp>
    </p:spTree>
    <p:extLst>
      <p:ext uri="{BB962C8B-B14F-4D97-AF65-F5344CB8AC3E}">
        <p14:creationId xmlns:p14="http://schemas.microsoft.com/office/powerpoint/2010/main" val="462685519"/>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B72E95E-A8AA-4AA5-8477-570751A3127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F578A42C-DA76-4C2F-AA28-E42ADDB3009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0D2BCF6-1ED9-4FE3-A016-EFE95A96887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79  </a:t>
            </a:r>
          </a:p>
        </p:txBody>
      </p:sp>
      <p:sp>
        <p:nvSpPr>
          <p:cNvPr id="4" name="직사각형 3">
            <a:extLst>
              <a:ext uri="{FF2B5EF4-FFF2-40B4-BE49-F238E27FC236}">
                <a16:creationId xmlns:a16="http://schemas.microsoft.com/office/drawing/2014/main" id="{9ADA12B7-FB6E-4034-9493-B63F3EA5563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538623F-D576-4ACE-BD1C-8E3423B1365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88CF47F-A6D1-4BD3-8479-B9F46169F8A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7811D17-4A12-4F72-A011-9E2739D0864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157</a:t>
            </a:r>
          </a:p>
        </p:txBody>
      </p:sp>
      <p:sp>
        <p:nvSpPr>
          <p:cNvPr id="8" name="text-178-64">
            <a:extLst>
              <a:ext uri="{FF2B5EF4-FFF2-40B4-BE49-F238E27FC236}">
                <a16:creationId xmlns:a16="http://schemas.microsoft.com/office/drawing/2014/main" id="{51921E71-2A28-45DB-9B00-8C53E6A7B31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쌍에서 좌표가 같은 두 입력 점을 집합으로 중복 제거하면 생길 수 있는 문제는?</a:t>
            </a:r>
          </a:p>
        </p:txBody>
      </p:sp>
      <p:sp>
        <p:nvSpPr>
          <p:cNvPr id="9" name="text-405-64">
            <a:extLst>
              <a:ext uri="{FF2B5EF4-FFF2-40B4-BE49-F238E27FC236}">
                <a16:creationId xmlns:a16="http://schemas.microsoft.com/office/drawing/2014/main" id="{A599F5CE-65F6-4D3E-940E-2B96DDC1C1D9}"/>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FA33966F-44C6-4A78-9742-E0CBF8B50CB4}"/>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CFD513C-4C17-40A4-894B-76BE88E025F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EEA1DDD8-A021-4C7A-A8C4-0F8CE8C5DE3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41A5836F-E183-4A97-8AA9-C708603A7DF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2DE10D80-3409-4993-8530-F6A22B3DFBA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51BB1D6-5297-4788-B5DD-82677534D86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79  정답과 해설</a:t>
            </a:r>
          </a:p>
        </p:txBody>
      </p:sp>
      <p:sp>
        <p:nvSpPr>
          <p:cNvPr id="4" name="직사각형 3">
            <a:extLst>
              <a:ext uri="{FF2B5EF4-FFF2-40B4-BE49-F238E27FC236}">
                <a16:creationId xmlns:a16="http://schemas.microsoft.com/office/drawing/2014/main" id="{D31CC06B-09D2-4805-9527-C175A065559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831F9AA-AAD2-455D-B4A2-E8C47823C9B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2A3B1F5-C442-4303-A79B-BB3FD12986D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7442952-DAD1-4947-841F-2801D4355F3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158</a:t>
            </a:r>
          </a:p>
        </p:txBody>
      </p:sp>
      <p:sp>
        <p:nvSpPr>
          <p:cNvPr id="8" name="text-178-64">
            <a:extLst>
              <a:ext uri="{FF2B5EF4-FFF2-40B4-BE49-F238E27FC236}">
                <a16:creationId xmlns:a16="http://schemas.microsoft.com/office/drawing/2014/main" id="{A3D6BA1B-6DCE-40F4-ADC0-1AE88388290C}"/>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쌍에서 좌표가 같은 두 입력 점을 집합으로 중복 제거하면 생길 수 있는 문제는?</a:t>
            </a:r>
          </a:p>
        </p:txBody>
      </p:sp>
      <p:sp>
        <p:nvSpPr>
          <p:cNvPr id="9" name="직사각형 8">
            <a:extLst>
              <a:ext uri="{FF2B5EF4-FFF2-40B4-BE49-F238E27FC236}">
                <a16:creationId xmlns:a16="http://schemas.microsoft.com/office/drawing/2014/main" id="{8B1FF68E-133D-4457-ADC6-795D6AAAD192}"/>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E18EE91-CAB2-49F0-AC1B-329602035847}"/>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서로 다른 항목의 거리 0인 최적 쌍을 삭제할 수 있다.</a:t>
            </a:r>
          </a:p>
        </p:txBody>
      </p:sp>
      <p:sp>
        <p:nvSpPr>
          <p:cNvPr id="11" name="text-324.4-64">
            <a:extLst>
              <a:ext uri="{FF2B5EF4-FFF2-40B4-BE49-F238E27FC236}">
                <a16:creationId xmlns:a16="http://schemas.microsoft.com/office/drawing/2014/main" id="{104E3872-E621-4823-92D4-85417014EC3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26E7039-0EDF-4FB5-B5CE-CA1C404AC73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8D20A969-6413-401C-B7C9-234F4174D9A2}"/>
              </a:ext>
            </a:extLst>
          </p:cNvPr>
          <p:cNvSpPr>
            <a:spLocks noGrp="1"/>
          </p:cNvSpPr>
          <p:nvPr/>
        </p:nvSpPr>
        <p:spPr>
          <a:xfrm>
            <a:off x="609600" y="354711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문제의 점은 입력 인덱스로 구분한다. 중복 좌표를 허용하는 계약이면 그대로 처리하거나 즉시 0을</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반환한다.</a:t>
            </a:r>
          </a:p>
        </p:txBody>
      </p:sp>
    </p:spTree>
    <p:extLst>
      <p:ext uri="{BB962C8B-B14F-4D97-AF65-F5344CB8AC3E}">
        <p14:creationId xmlns:p14="http://schemas.microsoft.com/office/powerpoint/2010/main" val="462685519"/>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562FC858-9628-4EE7-8E6F-33EF257AEC0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A8AF96C7-D8A2-4360-9086-C01933A3DE6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44C473E-C19C-49BB-BB86-C7703E450EA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80  </a:t>
            </a:r>
          </a:p>
        </p:txBody>
      </p:sp>
      <p:sp>
        <p:nvSpPr>
          <p:cNvPr id="4" name="직사각형 3">
            <a:extLst>
              <a:ext uri="{FF2B5EF4-FFF2-40B4-BE49-F238E27FC236}">
                <a16:creationId xmlns:a16="http://schemas.microsoft.com/office/drawing/2014/main" id="{B8E54141-2D8B-400F-9AD4-06F09AB2C78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AFE5392-5160-4A70-9030-02166FBBD7B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E5ED546-047F-4ACA-A058-F07491C9D2E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1D70E27-2A0F-4D04-8795-0C6422F52B8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159</a:t>
            </a:r>
          </a:p>
        </p:txBody>
      </p:sp>
      <p:sp>
        <p:nvSpPr>
          <p:cNvPr id="8" name="text-178-64">
            <a:extLst>
              <a:ext uri="{FF2B5EF4-FFF2-40B4-BE49-F238E27FC236}">
                <a16:creationId xmlns:a16="http://schemas.microsoft.com/office/drawing/2014/main" id="{66B596FC-2D52-45FB-BC9F-84A8068AB492}"/>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쿼드트리 부호화에서 균일 영역의 자식을 더 만들지 않아도 원본을 복원할 수 있는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이유는?</a:t>
            </a:r>
          </a:p>
        </p:txBody>
      </p:sp>
      <p:sp>
        <p:nvSpPr>
          <p:cNvPr id="9" name="text-405-64">
            <a:extLst>
              <a:ext uri="{FF2B5EF4-FFF2-40B4-BE49-F238E27FC236}">
                <a16:creationId xmlns:a16="http://schemas.microsoft.com/office/drawing/2014/main" id="{BDD8AA15-7633-4FD8-9E5F-06292284401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429AC48E-7DE2-4100-BB7A-CCEC697F563B}"/>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238565C-3068-4EA3-AE93-C0335918C28F}"/>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2461B37-BE30-4D33-AFF0-DC554A11629B}"/>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91523862-D381-472C-AC0B-1291D9A1AED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AEAD6C1A-3E57-417D-BBF9-0BAE84D25B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C1DDBA9-1E46-4617-B9B4-6F479C4FC7F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80  정답과 해설</a:t>
            </a:r>
          </a:p>
        </p:txBody>
      </p:sp>
      <p:sp>
        <p:nvSpPr>
          <p:cNvPr id="4" name="직사각형 3">
            <a:extLst>
              <a:ext uri="{FF2B5EF4-FFF2-40B4-BE49-F238E27FC236}">
                <a16:creationId xmlns:a16="http://schemas.microsoft.com/office/drawing/2014/main" id="{58CD3FA8-E30D-4216-B734-D124D41108C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B354D2A-2103-4E0F-96B1-690B6E51F83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DBE804C-5C90-4696-8B7C-F7F108FE58F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27A9778-7626-43A4-AC7B-3354846178B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160</a:t>
            </a:r>
          </a:p>
        </p:txBody>
      </p:sp>
      <p:sp>
        <p:nvSpPr>
          <p:cNvPr id="8" name="text-178-64">
            <a:extLst>
              <a:ext uri="{FF2B5EF4-FFF2-40B4-BE49-F238E27FC236}">
                <a16:creationId xmlns:a16="http://schemas.microsoft.com/office/drawing/2014/main" id="{7EB2A89C-2FC8-4541-AAD3-AFC055498187}"/>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 부호화에서 균일 영역의 자식을 더 만들지 않아도 원본을 복원할 수 있는 이유는?</a:t>
            </a:r>
          </a:p>
        </p:txBody>
      </p:sp>
      <p:sp>
        <p:nvSpPr>
          <p:cNvPr id="9" name="직사각형 8">
            <a:extLst>
              <a:ext uri="{FF2B5EF4-FFF2-40B4-BE49-F238E27FC236}">
                <a16:creationId xmlns:a16="http://schemas.microsoft.com/office/drawing/2014/main" id="{E40F1312-2BA3-4C0F-8846-D47D584AA66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159C1F67-432B-48FA-8357-BEEC1D44CAA0}"/>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영역의 위치와 크기를 알고 있으므로 색 하나로 모든 칸을 채울 수 있다.</a:t>
            </a:r>
          </a:p>
        </p:txBody>
      </p:sp>
      <p:sp>
        <p:nvSpPr>
          <p:cNvPr id="11" name="text-324.4-64">
            <a:extLst>
              <a:ext uri="{FF2B5EF4-FFF2-40B4-BE49-F238E27FC236}">
                <a16:creationId xmlns:a16="http://schemas.microsoft.com/office/drawing/2014/main" id="{98F677F3-157E-4B91-8EC8-6429742542A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C68DD5B-E61C-4672-A57E-BE72919AEB4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EB7E8BC-C7F6-4C38-9814-29821FA36E08}"/>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혼합 영역만 정해진 순서의 네 자식을 읽는다. 리프의 색과 재귀 위치가 함께 정보를 보존한다.</a:t>
            </a:r>
          </a:p>
        </p:txBody>
      </p:sp>
    </p:spTree>
    <p:extLst>
      <p:ext uri="{BB962C8B-B14F-4D97-AF65-F5344CB8AC3E}">
        <p14:creationId xmlns:p14="http://schemas.microsoft.com/office/powerpoint/2010/main" val="462685519"/>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72CF18B8-95D5-4399-8BD9-AB754869110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FA965AED-225F-4120-9F5E-D9763E340DE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995D5D7-75FB-456A-BC0F-3A8F86A4433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81  </a:t>
            </a:r>
          </a:p>
        </p:txBody>
      </p:sp>
      <p:sp>
        <p:nvSpPr>
          <p:cNvPr id="4" name="직사각형 3">
            <a:extLst>
              <a:ext uri="{FF2B5EF4-FFF2-40B4-BE49-F238E27FC236}">
                <a16:creationId xmlns:a16="http://schemas.microsoft.com/office/drawing/2014/main" id="{C9BE548E-3257-4445-BC37-CCF1406454A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2E59143-4239-4BE9-9C23-574C6F1D85F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E427342-4B82-45F2-995B-B90D7F29594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A5A3D1B7-87FD-448A-8128-7ED8D3FDDD6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161</a:t>
            </a:r>
          </a:p>
        </p:txBody>
      </p:sp>
      <p:sp>
        <p:nvSpPr>
          <p:cNvPr id="8" name="text-178-64">
            <a:extLst>
              <a:ext uri="{FF2B5EF4-FFF2-40B4-BE49-F238E27FC236}">
                <a16:creationId xmlns:a16="http://schemas.microsoft.com/office/drawing/2014/main" id="{15DE5DB2-7AB1-4E1B-B1C6-AB67F26B90D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체커보드 영상에서 쿼드트리가 압축 효과를 거의 내지 못하는 이유를 설명하시오.</a:t>
            </a:r>
          </a:p>
        </p:txBody>
      </p:sp>
      <p:sp>
        <p:nvSpPr>
          <p:cNvPr id="9" name="text-405-64">
            <a:extLst>
              <a:ext uri="{FF2B5EF4-FFF2-40B4-BE49-F238E27FC236}">
                <a16:creationId xmlns:a16="http://schemas.microsoft.com/office/drawing/2014/main" id="{B012774E-250F-47B8-81D5-57B1831E4269}"/>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1C9F78FB-3DFB-43DF-A827-E4372E39ADA9}"/>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1C1A4EDF-E73D-418F-80EF-97811A9B927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B6072CA-F676-4C28-B152-4189416726DE}"/>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618A940-AEFA-4968-AD34-9AD665D2BB5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91B0BD2E-5C26-4DB7-894B-8652C906027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DE89264-02A4-4137-B51C-ACEB4FB82CA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81  정답과 해설</a:t>
            </a:r>
          </a:p>
        </p:txBody>
      </p:sp>
      <p:sp>
        <p:nvSpPr>
          <p:cNvPr id="4" name="직사각형 3">
            <a:extLst>
              <a:ext uri="{FF2B5EF4-FFF2-40B4-BE49-F238E27FC236}">
                <a16:creationId xmlns:a16="http://schemas.microsoft.com/office/drawing/2014/main" id="{F6FBEBE0-7EE0-48E7-8C26-B86DE2269E4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3386624-EE84-4E9A-A14E-BCDD8E1DD13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24C8674-866F-4F60-B768-1629ED1718A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61D3404-AADD-4B1A-8461-AB8EF6E4AA0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162</a:t>
            </a:r>
          </a:p>
        </p:txBody>
      </p:sp>
      <p:sp>
        <p:nvSpPr>
          <p:cNvPr id="8" name="text-178-64">
            <a:extLst>
              <a:ext uri="{FF2B5EF4-FFF2-40B4-BE49-F238E27FC236}">
                <a16:creationId xmlns:a16="http://schemas.microsoft.com/office/drawing/2014/main" id="{21B8F38E-40E5-45F6-933A-5172E396BDD1}"/>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체커보드 영상에서 쿼드트리가 압축 효과를 거의 내지 못하는 이유를 설명하시오.</a:t>
            </a:r>
          </a:p>
        </p:txBody>
      </p:sp>
      <p:sp>
        <p:nvSpPr>
          <p:cNvPr id="9" name="직사각형 8">
            <a:extLst>
              <a:ext uri="{FF2B5EF4-FFF2-40B4-BE49-F238E27FC236}">
                <a16:creationId xmlns:a16="http://schemas.microsoft.com/office/drawing/2014/main" id="{C05502DF-15A3-419E-BF6D-D053778249A7}"/>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B87DE0F-8D1E-4F6B-8E74-9D252E793515}"/>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작은 영역에도 색이 섞여 결국 1×1까지 내려가야 한다.</a:t>
            </a:r>
          </a:p>
        </p:txBody>
      </p:sp>
      <p:sp>
        <p:nvSpPr>
          <p:cNvPr id="11" name="text-324.4-64">
            <a:extLst>
              <a:ext uri="{FF2B5EF4-FFF2-40B4-BE49-F238E27FC236}">
                <a16:creationId xmlns:a16="http://schemas.microsoft.com/office/drawing/2014/main" id="{57143135-0C1A-4D11-B4DB-88225D54953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8BEBD2B-7E25-4514-B90C-097EF23B5DB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44527701-9AE8-4845-8E88-F087DBC13622}"/>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N²개 리프 기호와 내부 구조 기호가 필요하므로 균일 영상과 달리 출력 크기가 Θ(N²)이다.</a:t>
            </a:r>
          </a:p>
        </p:txBody>
      </p:sp>
    </p:spTree>
    <p:extLst>
      <p:ext uri="{BB962C8B-B14F-4D97-AF65-F5344CB8AC3E}">
        <p14:creationId xmlns:p14="http://schemas.microsoft.com/office/powerpoint/2010/main" val="462685519"/>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421519B3-1B98-463A-8492-2320B8254B6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2FB9342D-AF0A-4248-873C-1ACB5831BB0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593F240-08DB-4D4C-9F88-E2E510BD5F4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82  </a:t>
            </a:r>
          </a:p>
        </p:txBody>
      </p:sp>
      <p:sp>
        <p:nvSpPr>
          <p:cNvPr id="4" name="직사각형 3">
            <a:extLst>
              <a:ext uri="{FF2B5EF4-FFF2-40B4-BE49-F238E27FC236}">
                <a16:creationId xmlns:a16="http://schemas.microsoft.com/office/drawing/2014/main" id="{A1F165FE-A4A3-4F65-BCC9-A528277780F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023318D-19B1-419D-8C09-70C82393DC8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9C81CDA-E4C6-4B3D-96D3-74735256A80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D489D25-2D97-4AE3-B0C6-6DA62B7A437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163</a:t>
            </a:r>
          </a:p>
        </p:txBody>
      </p:sp>
      <p:sp>
        <p:nvSpPr>
          <p:cNvPr id="8" name="text-178-64">
            <a:extLst>
              <a:ext uri="{FF2B5EF4-FFF2-40B4-BE49-F238E27FC236}">
                <a16:creationId xmlns:a16="http://schemas.microsoft.com/office/drawing/2014/main" id="{EC42114A-62E4-4827-A34E-2BDDFDE2F707}"/>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충돌 탐색에서 같은 쿼드트리 리프의 객체끼리만 검사하는 구현의 반례를 설명하시오.</a:t>
            </a:r>
          </a:p>
        </p:txBody>
      </p:sp>
      <p:sp>
        <p:nvSpPr>
          <p:cNvPr id="9" name="text-405-64">
            <a:extLst>
              <a:ext uri="{FF2B5EF4-FFF2-40B4-BE49-F238E27FC236}">
                <a16:creationId xmlns:a16="http://schemas.microsoft.com/office/drawing/2014/main" id="{21302838-7420-43C4-B169-1E4298845025}"/>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7D663780-8951-4C40-8EBF-DBEEC42EE1DD}"/>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7D5A99A6-5B75-4147-8F4E-2BA8FFD946C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FB2C55F-C506-4766-B9AE-0E8D425F679A}"/>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6E76B88-9514-456B-9711-0D22B039623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B35A9C4D-8AA2-4921-A6A6-105FECFBC0E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78F8214-C00C-4891-9DC6-32159DF38EB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82  정답과 해설</a:t>
            </a:r>
          </a:p>
        </p:txBody>
      </p:sp>
      <p:sp>
        <p:nvSpPr>
          <p:cNvPr id="4" name="직사각형 3">
            <a:extLst>
              <a:ext uri="{FF2B5EF4-FFF2-40B4-BE49-F238E27FC236}">
                <a16:creationId xmlns:a16="http://schemas.microsoft.com/office/drawing/2014/main" id="{0A3FDF87-1964-4AA3-B1BA-45E7F310DDC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01EEB20-E826-4D24-A0F2-A7F7503A3A5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21CEF7C-7280-4DC1-AA06-3D843EDDD52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DDDDA8F-BC4C-4E3F-AF91-7CB1E6DEB30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164</a:t>
            </a:r>
          </a:p>
        </p:txBody>
      </p:sp>
      <p:sp>
        <p:nvSpPr>
          <p:cNvPr id="8" name="text-178-64">
            <a:extLst>
              <a:ext uri="{FF2B5EF4-FFF2-40B4-BE49-F238E27FC236}">
                <a16:creationId xmlns:a16="http://schemas.microsoft.com/office/drawing/2014/main" id="{96429930-B5A7-4B0F-B2D5-642A4E80EF50}"/>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충돌 탐색에서 같은 쿼드트리 리프의 객체끼리만 검사하는 구현의 반례를 설명하시오.</a:t>
            </a:r>
          </a:p>
        </p:txBody>
      </p:sp>
      <p:sp>
        <p:nvSpPr>
          <p:cNvPr id="9" name="직사각형 8">
            <a:extLst>
              <a:ext uri="{FF2B5EF4-FFF2-40B4-BE49-F238E27FC236}">
                <a16:creationId xmlns:a16="http://schemas.microsoft.com/office/drawing/2014/main" id="{1EFAFAA0-BB1B-4F66-94BE-6E37B8AA4B4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15EC81A-DB97-400E-988B-4862685163F1}"/>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경계 양쪽에 있는 두 큰 객체의 영역이 경계를 넘어 겹칠 수 있다.</a:t>
            </a:r>
          </a:p>
        </p:txBody>
      </p:sp>
      <p:sp>
        <p:nvSpPr>
          <p:cNvPr id="11" name="text-324.4-64">
            <a:extLst>
              <a:ext uri="{FF2B5EF4-FFF2-40B4-BE49-F238E27FC236}">
                <a16:creationId xmlns:a16="http://schemas.microsoft.com/office/drawing/2014/main" id="{FA9D7BF8-5B26-4606-A71C-2FABB57C489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F9B122A-A454-4538-9180-A10B91B8258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355B16E3-9712-4D2D-9EA2-C1D1D23699F1}"/>
              </a:ext>
            </a:extLst>
          </p:cNvPr>
          <p:cNvSpPr>
            <a:spLocks noGrp="1"/>
          </p:cNvSpPr>
          <p:nvPr/>
        </p:nvSpPr>
        <p:spPr>
          <a:xfrm>
            <a:off x="609600" y="354711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서로 다른 리프에 등록됐더라도 경계·이웃 영역을 조회하거나 객체의 전체 경계 상자를 이용해야</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한다.</a:t>
            </a:r>
          </a:p>
        </p:txBody>
      </p:sp>
    </p:spTree>
    <p:extLst>
      <p:ext uri="{BB962C8B-B14F-4D97-AF65-F5344CB8AC3E}">
        <p14:creationId xmlns:p14="http://schemas.microsoft.com/office/powerpoint/2010/main" val="46268551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68C0D89B-034D-4D0A-81B2-651C633C4EB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1EC4153B-46FF-4E0C-94F1-9DC22C29601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A17956B-7AAA-4310-9F29-2F0560C549F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83  </a:t>
            </a:r>
          </a:p>
        </p:txBody>
      </p:sp>
      <p:sp>
        <p:nvSpPr>
          <p:cNvPr id="4" name="직사각형 3">
            <a:extLst>
              <a:ext uri="{FF2B5EF4-FFF2-40B4-BE49-F238E27FC236}">
                <a16:creationId xmlns:a16="http://schemas.microsoft.com/office/drawing/2014/main" id="{6DBB3878-D12D-4DAA-BADF-7C77FA72161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E072B8A-64FA-4BF8-ACE0-A4F0BDFA415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847198D-A9A7-4027-A03F-8279E5B5714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6B40488-6AAC-434D-8C84-30525357C31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165</a:t>
            </a:r>
          </a:p>
        </p:txBody>
      </p:sp>
      <p:sp>
        <p:nvSpPr>
          <p:cNvPr id="8" name="text-178-64">
            <a:extLst>
              <a:ext uri="{FF2B5EF4-FFF2-40B4-BE49-F238E27FC236}">
                <a16:creationId xmlns:a16="http://schemas.microsoft.com/office/drawing/2014/main" id="{FB2740E1-6338-4AC4-96A3-E4C2D69AB8B0}"/>
              </a:ext>
            </a:extLst>
          </p:cNvPr>
          <p:cNvSpPr>
            <a:spLocks noGrp="1"/>
          </p:cNvSpPr>
          <p:nvPr/>
        </p:nvSpPr>
        <p:spPr>
          <a:xfrm>
            <a:off x="609600" y="1695450"/>
            <a:ext cx="10972800" cy="746760"/>
          </a:xfrm>
          <a:prstGeom prst="rect">
            <a:avLst/>
          </a:prstGeom>
          <a:noFill/>
          <a:ln w="0">
            <a:noFill/>
          </a:ln>
        </p:spPr>
        <p:txBody>
          <a:bodyPr wrap="squar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병합 정렬이 [4,1,3,2]를 [4,1]과 [3,2]로 나눈 뒤 각 절반을 정렬한다. 정렬된 두 절반과 최종 병합 결과를 쓰고, 병합 때 두 배열의 맨 앞 원소 중 어느 쪽을 먼저 고르는지 설명하시오.</a:t>
            </a:r>
          </a:p>
        </p:txBody>
      </p:sp>
      <p:sp>
        <p:nvSpPr>
          <p:cNvPr id="9" name="text-405-64">
            <a:extLst>
              <a:ext uri="{FF2B5EF4-FFF2-40B4-BE49-F238E27FC236}">
                <a16:creationId xmlns:a16="http://schemas.microsoft.com/office/drawing/2014/main" id="{EC643740-6DC8-4E54-B2F1-A4578E0010DD}"/>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C100498B-33A7-4F74-88DC-A3ACCF43F9C0}"/>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FC89582-C75E-4584-8F86-B5AD02B137F9}"/>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4B58650-AD35-46EF-92E2-7E976B5E7DC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CAB82A12-631F-4276-A231-B599329C4D5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1BE9FB45-04A2-4268-B5BB-88C1B29CEA4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D1AA843-2CD7-4F11-A5A0-2C40E8CBC8A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83  정답과 해설</a:t>
            </a:r>
          </a:p>
        </p:txBody>
      </p:sp>
      <p:sp>
        <p:nvSpPr>
          <p:cNvPr id="4" name="직사각형 3">
            <a:extLst>
              <a:ext uri="{FF2B5EF4-FFF2-40B4-BE49-F238E27FC236}">
                <a16:creationId xmlns:a16="http://schemas.microsoft.com/office/drawing/2014/main" id="{AF2D3D7A-7B04-47BE-B2C7-87A4F4B5F21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A352B00-9544-4E32-8307-E424AA46549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AE6C1FA-353C-496F-A464-B76070B3195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398C505-5D43-4A76-A7F4-1C6FF872213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166</a:t>
            </a:r>
          </a:p>
        </p:txBody>
      </p:sp>
      <p:sp>
        <p:nvSpPr>
          <p:cNvPr id="8" name="text-178-64">
            <a:extLst>
              <a:ext uri="{FF2B5EF4-FFF2-40B4-BE49-F238E27FC236}">
                <a16:creationId xmlns:a16="http://schemas.microsoft.com/office/drawing/2014/main" id="{C82AD231-0796-4F51-BAC7-75EC3C2727E9}"/>
              </a:ext>
            </a:extLst>
          </p:cNvPr>
          <p:cNvSpPr>
            <a:spLocks noGrp="1"/>
          </p:cNvSpPr>
          <p:nvPr/>
        </p:nvSpPr>
        <p:spPr>
          <a:xfrm>
            <a:off x="609600" y="1695450"/>
            <a:ext cx="10972800" cy="644589"/>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 정렬이 [4,1,3,2]를 [4,1]과 [3,2]로 나눈 뒤 각 절반을 정렬한다. 정렬된 두 절반과 최종 병합 결과를 쓰고, 병합 때 두 배열의 맨 앞 원소 중 어느 쪽을 먼저 고르는지 설명하시오.</a:t>
            </a:r>
          </a:p>
        </p:txBody>
      </p:sp>
      <p:sp>
        <p:nvSpPr>
          <p:cNvPr id="9" name="직사각형 8">
            <a:extLst>
              <a:ext uri="{FF2B5EF4-FFF2-40B4-BE49-F238E27FC236}">
                <a16:creationId xmlns:a16="http://schemas.microsoft.com/office/drawing/2014/main" id="{97FA0A53-38C3-4B7A-9BFF-D569B00EF94E}"/>
              </a:ext>
            </a:extLst>
          </p:cNvPr>
          <p:cNvSpPr>
            <a:spLocks noGrp="1"/>
          </p:cNvSpPr>
          <p:nvPr/>
        </p:nvSpPr>
        <p:spPr>
          <a:xfrm>
            <a:off x="609600" y="2468055"/>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F6AAA4BD-2F48-474F-8ABC-47D8E6DE5F3D}"/>
              </a:ext>
            </a:extLst>
          </p:cNvPr>
          <p:cNvSpPr>
            <a:spLocks noGrp="1"/>
          </p:cNvSpPr>
          <p:nvPr/>
        </p:nvSpPr>
        <p:spPr>
          <a:xfrm>
            <a:off x="876300" y="2601405"/>
            <a:ext cx="10439400" cy="436245"/>
          </a:xfrm>
          <a:prstGeom prst="rect">
            <a:avLst/>
          </a:prstGeom>
          <a:noFill/>
          <a:ln w="0">
            <a:noFill/>
          </a:ln>
        </p:spPr>
        <p:txBody>
          <a:bodyPr wrap="squar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[1,4], [2,3] → [1,2,3,4]. 남은 두 배열의 맨 앞 원소 중 작은 값을 고른다.</a:t>
            </a:r>
          </a:p>
        </p:txBody>
      </p:sp>
      <p:sp>
        <p:nvSpPr>
          <p:cNvPr id="11" name="text-324.4-64">
            <a:extLst>
              <a:ext uri="{FF2B5EF4-FFF2-40B4-BE49-F238E27FC236}">
                <a16:creationId xmlns:a16="http://schemas.microsoft.com/office/drawing/2014/main" id="{65DBE22B-DF63-4E33-BDFD-D2F90DCF6119}"/>
              </a:ext>
            </a:extLst>
          </p:cNvPr>
          <p:cNvSpPr>
            <a:spLocks noGrp="1"/>
          </p:cNvSpPr>
          <p:nvPr/>
        </p:nvSpPr>
        <p:spPr>
          <a:xfrm>
            <a:off x="609600" y="335197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EE9B86C-EF4B-4AB3-9AEC-3A18657A1A32}"/>
              </a:ext>
            </a:extLst>
          </p:cNvPr>
          <p:cNvSpPr>
            <a:spLocks noGrp="1"/>
          </p:cNvSpPr>
          <p:nvPr/>
        </p:nvSpPr>
        <p:spPr>
          <a:xfrm>
            <a:off x="1752600" y="3523425"/>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29ADB71-28D8-4EB8-8B9D-9AF49A42AB42}"/>
              </a:ext>
            </a:extLst>
          </p:cNvPr>
          <p:cNvSpPr>
            <a:spLocks noGrp="1"/>
          </p:cNvSpPr>
          <p:nvPr/>
        </p:nvSpPr>
        <p:spPr>
          <a:xfrm>
            <a:off x="609600" y="3809175"/>
            <a:ext cx="10972800" cy="644589"/>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각 절반이 정렬되어 있으므로 남은 원소 중 최솟값은 두 맨 앞 원소 중 하나다. 둘 중 작은 것을 결과에 옮긴다.</a:t>
            </a:r>
          </a:p>
        </p:txBody>
      </p:sp>
    </p:spTree>
    <p:extLst>
      <p:ext uri="{BB962C8B-B14F-4D97-AF65-F5344CB8AC3E}">
        <p14:creationId xmlns:p14="http://schemas.microsoft.com/office/powerpoint/2010/main" val="462685519"/>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0A3B3A2-372E-45D3-840B-9F68FE5E839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058CC139-65A4-4844-A4E7-B984DEBAB07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C3D372D-676A-436D-AF28-2147CF9FBEE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84  </a:t>
            </a:r>
          </a:p>
        </p:txBody>
      </p:sp>
      <p:sp>
        <p:nvSpPr>
          <p:cNvPr id="4" name="직사각형 3">
            <a:extLst>
              <a:ext uri="{FF2B5EF4-FFF2-40B4-BE49-F238E27FC236}">
                <a16:creationId xmlns:a16="http://schemas.microsoft.com/office/drawing/2014/main" id="{4C3CB846-FB0A-45C2-A533-46B829BBA0C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DA5C62C5-095E-414D-8CE6-AB62A11A4F7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72BA4E46-E0AE-4EF5-A5CC-1B6174FE390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B7033D9-4AF3-465A-A791-00EF14081EA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167</a:t>
            </a:r>
          </a:p>
        </p:txBody>
      </p:sp>
      <p:sp>
        <p:nvSpPr>
          <p:cNvPr id="8" name="text-178-64">
            <a:extLst>
              <a:ext uri="{FF2B5EF4-FFF2-40B4-BE49-F238E27FC236}">
                <a16:creationId xmlns:a16="http://schemas.microsoft.com/office/drawing/2014/main" id="{0B2E2FA2-9101-4DB3-BF3A-26E1B81CA438}"/>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T(n)=T(n−1)+n을 직접 전개하여 차수를 증명하시오.</a:t>
            </a:r>
          </a:p>
        </p:txBody>
      </p:sp>
      <p:sp>
        <p:nvSpPr>
          <p:cNvPr id="9" name="text-405-64">
            <a:extLst>
              <a:ext uri="{FF2B5EF4-FFF2-40B4-BE49-F238E27FC236}">
                <a16:creationId xmlns:a16="http://schemas.microsoft.com/office/drawing/2014/main" id="{CA0280EE-590F-4E48-B6FB-B61DDDA2AE5B}"/>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A57B83E9-E1CF-48A4-A3B4-7707A65BF8F6}"/>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55440600-8CC3-4E54-8C05-8A3F7BE0D76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6E7741E4-7DE4-494D-8B0E-96067890299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7346C6F-00AD-43B8-BC89-5E11E511176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56D9F238-2D9F-4411-B640-439DF3349E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EEF1EBF-1814-4F9F-A69B-A4102F59021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84  정답과 해설</a:t>
            </a:r>
          </a:p>
        </p:txBody>
      </p:sp>
      <p:sp>
        <p:nvSpPr>
          <p:cNvPr id="4" name="직사각형 3">
            <a:extLst>
              <a:ext uri="{FF2B5EF4-FFF2-40B4-BE49-F238E27FC236}">
                <a16:creationId xmlns:a16="http://schemas.microsoft.com/office/drawing/2014/main" id="{9EBACE41-2599-4C37-AECB-9C106AE3A41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957D043-2E32-4CBA-906C-ECB505EC01F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D890126-A746-4E42-B099-6DD9A8B773E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DFE52E0-38DA-4FD6-89A7-644E3EB33B9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168</a:t>
            </a:r>
          </a:p>
        </p:txBody>
      </p:sp>
      <p:sp>
        <p:nvSpPr>
          <p:cNvPr id="8" name="text-178-64">
            <a:extLst>
              <a:ext uri="{FF2B5EF4-FFF2-40B4-BE49-F238E27FC236}">
                <a16:creationId xmlns:a16="http://schemas.microsoft.com/office/drawing/2014/main" id="{8B0E0E5B-21DF-4E51-B138-62F07650B7EB}"/>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T(n)=T(n−1)+n을 직접 전개하여 차수를 증명하시오.</a:t>
            </a:r>
          </a:p>
        </p:txBody>
      </p:sp>
      <p:sp>
        <p:nvSpPr>
          <p:cNvPr id="9" name="직사각형 8">
            <a:extLst>
              <a:ext uri="{FF2B5EF4-FFF2-40B4-BE49-F238E27FC236}">
                <a16:creationId xmlns:a16="http://schemas.microsoft.com/office/drawing/2014/main" id="{17555A4A-B97B-4F1E-90E6-A386166180E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4AECD6E-DB59-4A48-8384-A0FF3B8F18FD}"/>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n+(n−1)+…+1=Θ(n²)이다.</a:t>
            </a:r>
          </a:p>
        </p:txBody>
      </p:sp>
      <p:sp>
        <p:nvSpPr>
          <p:cNvPr id="11" name="text-324.4-64">
            <a:extLst>
              <a:ext uri="{FF2B5EF4-FFF2-40B4-BE49-F238E27FC236}">
                <a16:creationId xmlns:a16="http://schemas.microsoft.com/office/drawing/2014/main" id="{2A29E5B9-BB43-410F-9AAB-73D9F5DAB2BF}"/>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82CC2EBE-057E-4BE1-AB22-5A045769C79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55B97FB-C6BD-485B-971B-3156F8AD1931}"/>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부분 문제 크기가 고정 비율 감소가 아니므로 기본 마스터 정리를 억지로 적용하지 않는다.</a:t>
            </a:r>
          </a:p>
        </p:txBody>
      </p:sp>
    </p:spTree>
    <p:extLst>
      <p:ext uri="{BB962C8B-B14F-4D97-AF65-F5344CB8AC3E}">
        <p14:creationId xmlns:p14="http://schemas.microsoft.com/office/powerpoint/2010/main" val="46268551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6B498273-7131-43F1-ADA7-C0D90503333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CAD17BDF-83BB-4324-A8E1-8CC7A92F28B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9AEE58E-C799-45A2-A101-A972CA013FC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85  </a:t>
            </a:r>
          </a:p>
        </p:txBody>
      </p:sp>
      <p:sp>
        <p:nvSpPr>
          <p:cNvPr id="4" name="직사각형 3">
            <a:extLst>
              <a:ext uri="{FF2B5EF4-FFF2-40B4-BE49-F238E27FC236}">
                <a16:creationId xmlns:a16="http://schemas.microsoft.com/office/drawing/2014/main" id="{67DD616E-E0C6-4AA6-B867-7EFC24A26F6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D005F70-7082-4BA8-990A-C54613E0442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417B1D5-D8AF-42A4-9496-165F8EB7ABA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8ADB825-1172-47D0-A5BB-93195827BD6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169</a:t>
            </a:r>
          </a:p>
        </p:txBody>
      </p:sp>
      <p:sp>
        <p:nvSpPr>
          <p:cNvPr id="8" name="text-178-64">
            <a:extLst>
              <a:ext uri="{FF2B5EF4-FFF2-40B4-BE49-F238E27FC236}">
                <a16:creationId xmlns:a16="http://schemas.microsoft.com/office/drawing/2014/main" id="{D253D6E5-B4EC-4E55-9C56-77CD0D27A40B}"/>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카라추바 교차항 공식을 전개해 정확성을 보이시오.</a:t>
            </a:r>
          </a:p>
        </p:txBody>
      </p:sp>
      <p:sp>
        <p:nvSpPr>
          <p:cNvPr id="9" name="text-405-64">
            <a:extLst>
              <a:ext uri="{FF2B5EF4-FFF2-40B4-BE49-F238E27FC236}">
                <a16:creationId xmlns:a16="http://schemas.microsoft.com/office/drawing/2014/main" id="{46F46C3C-4934-4D8A-9E7B-ECB5E59FB193}"/>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C7D780B3-0771-45B4-9A6F-211A916BCF99}"/>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442B73E0-2FC1-4C5B-9090-328B88FA54E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751C6CEF-8D78-456E-9923-669940A7A38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909FDA88-DAC2-4F6F-9E7E-A136A9E95E9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BE63D8EE-1D9E-422A-B454-C4992F4EA1E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C0A2630-014E-4413-BFFB-C653A954DA9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85  정답과 해설</a:t>
            </a:r>
          </a:p>
        </p:txBody>
      </p:sp>
      <p:sp>
        <p:nvSpPr>
          <p:cNvPr id="4" name="직사각형 3">
            <a:extLst>
              <a:ext uri="{FF2B5EF4-FFF2-40B4-BE49-F238E27FC236}">
                <a16:creationId xmlns:a16="http://schemas.microsoft.com/office/drawing/2014/main" id="{E5128B80-02F1-4281-AA7C-27B6BD51EFC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4C9D5E1-582C-44A2-B2FB-06D79A1F345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72B4B46-088B-49EB-9E84-A16FAC4C280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8CF5B44-669A-41BA-8917-B16F740BB34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170</a:t>
            </a:r>
          </a:p>
        </p:txBody>
      </p:sp>
      <p:sp>
        <p:nvSpPr>
          <p:cNvPr id="8" name="text-178-64">
            <a:extLst>
              <a:ext uri="{FF2B5EF4-FFF2-40B4-BE49-F238E27FC236}">
                <a16:creationId xmlns:a16="http://schemas.microsoft.com/office/drawing/2014/main" id="{152FBCD0-4D37-4AE0-819B-94E6DCA55442}"/>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카라추바 교차항 공식을 전개해 정확성을 보이시오.</a:t>
            </a:r>
          </a:p>
        </p:txBody>
      </p:sp>
      <p:sp>
        <p:nvSpPr>
          <p:cNvPr id="9" name="직사각형 8">
            <a:extLst>
              <a:ext uri="{FF2B5EF4-FFF2-40B4-BE49-F238E27FC236}">
                <a16:creationId xmlns:a16="http://schemas.microsoft.com/office/drawing/2014/main" id="{6AC5D54A-76A3-47BF-BC20-139DF2F6A99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714C041A-7A19-4378-8C1F-6E512479E72D}"/>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(x₁+x₀)(y₁+y₀)−x₁y₁−x₀y₀=x₁y₀+x₀y₁이다.</a:t>
            </a:r>
          </a:p>
        </p:txBody>
      </p:sp>
      <p:sp>
        <p:nvSpPr>
          <p:cNvPr id="11" name="text-324.4-64">
            <a:extLst>
              <a:ext uri="{FF2B5EF4-FFF2-40B4-BE49-F238E27FC236}">
                <a16:creationId xmlns:a16="http://schemas.microsoft.com/office/drawing/2014/main" id="{5C7721D9-13F7-4178-B91C-66766E1B388C}"/>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2772E19-0575-4AB9-BB00-D2787E11B2B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D5E7CFEC-3023-429A-B311-0521E6DFC3CD}"/>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 값을 B배하고 높은 곱에 B²를 곱해 더하면 원래 자리값을 복원한다.</a:t>
            </a:r>
          </a:p>
        </p:txBody>
      </p:sp>
    </p:spTree>
    <p:extLst>
      <p:ext uri="{BB962C8B-B14F-4D97-AF65-F5344CB8AC3E}">
        <p14:creationId xmlns:p14="http://schemas.microsoft.com/office/powerpoint/2010/main" val="462685519"/>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2CF85D96-A959-42A8-A46A-2573840659C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DEB62F34-932B-43F4-9F79-BDA6D6B23B6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BB9AAEA-F6A0-4D54-9B60-B560518FDE3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86  </a:t>
            </a:r>
          </a:p>
        </p:txBody>
      </p:sp>
      <p:sp>
        <p:nvSpPr>
          <p:cNvPr id="4" name="직사각형 3">
            <a:extLst>
              <a:ext uri="{FF2B5EF4-FFF2-40B4-BE49-F238E27FC236}">
                <a16:creationId xmlns:a16="http://schemas.microsoft.com/office/drawing/2014/main" id="{7D047970-CBF9-4540-B8DB-3D9130077AC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1F847E4-2D95-48F0-879B-1BD0E845EE4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B8BBA54-9148-4C14-9DBB-5B8A22D92AD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F48235E-B827-471E-95D5-4D25E970AAC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171</a:t>
            </a:r>
          </a:p>
        </p:txBody>
      </p:sp>
      <p:sp>
        <p:nvSpPr>
          <p:cNvPr id="8" name="text-178-64">
            <a:extLst>
              <a:ext uri="{FF2B5EF4-FFF2-40B4-BE49-F238E27FC236}">
                <a16:creationId xmlns:a16="http://schemas.microsoft.com/office/drawing/2014/main" id="{E5A9DE87-1900-46D7-9574-3916B3D7FDCA}"/>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카라추바의 입력 크기를 정수의 값 자체가 아니라 자릿수로 잡는 이유를 설명하시오.</a:t>
            </a:r>
          </a:p>
        </p:txBody>
      </p:sp>
      <p:sp>
        <p:nvSpPr>
          <p:cNvPr id="9" name="text-405-64">
            <a:extLst>
              <a:ext uri="{FF2B5EF4-FFF2-40B4-BE49-F238E27FC236}">
                <a16:creationId xmlns:a16="http://schemas.microsoft.com/office/drawing/2014/main" id="{09E8CE89-451A-41B5-A888-27E296614553}"/>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DE22230B-39DA-40D7-A113-E41C36C5A40C}"/>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892AC954-AAC3-4D46-A571-14E3802EDF4E}"/>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C9F5AE9D-0E3B-40FA-AFEC-F53F0029EE3B}"/>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1DB0279-29F6-4762-BAD9-3C03AD2AEA4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9D17A924-4A53-403E-B714-D176FB9241E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BFBF712-64FF-45B2-A619-01170B5A91C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86  정답과 해설</a:t>
            </a:r>
          </a:p>
        </p:txBody>
      </p:sp>
      <p:sp>
        <p:nvSpPr>
          <p:cNvPr id="4" name="직사각형 3">
            <a:extLst>
              <a:ext uri="{FF2B5EF4-FFF2-40B4-BE49-F238E27FC236}">
                <a16:creationId xmlns:a16="http://schemas.microsoft.com/office/drawing/2014/main" id="{4774B1BC-9B5E-4EAA-9688-C2A746295A3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AB35CF7-2F95-4E54-AB88-AB45CA175EC3}"/>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EED34B2-2203-4B23-981A-91411CE28E1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9AC8FB6-BA20-4AD1-BC3A-02806D2A45B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172</a:t>
            </a:r>
          </a:p>
        </p:txBody>
      </p:sp>
      <p:sp>
        <p:nvSpPr>
          <p:cNvPr id="8" name="text-178-64">
            <a:extLst>
              <a:ext uri="{FF2B5EF4-FFF2-40B4-BE49-F238E27FC236}">
                <a16:creationId xmlns:a16="http://schemas.microsoft.com/office/drawing/2014/main" id="{E58BCF59-ACFD-4A9F-9344-5F426FB8D09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카라추바의 입력 크기를 정수의 값 자체가 아니라 자릿수로 잡는 이유를 설명하시오.</a:t>
            </a:r>
          </a:p>
        </p:txBody>
      </p:sp>
      <p:sp>
        <p:nvSpPr>
          <p:cNvPr id="9" name="직사각형 8">
            <a:extLst>
              <a:ext uri="{FF2B5EF4-FFF2-40B4-BE49-F238E27FC236}">
                <a16:creationId xmlns:a16="http://schemas.microsoft.com/office/drawing/2014/main" id="{42D77565-9B8F-4284-98FD-2D83E8E5D308}"/>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333D0CAC-9653-4386-9773-41E84F9271F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한 번 분할할 때 높은 자리와 낮은 자리로 나누므로 자릿수가 대략 절반이 된다.</a:t>
            </a:r>
          </a:p>
        </p:txBody>
      </p:sp>
      <p:sp>
        <p:nvSpPr>
          <p:cNvPr id="11" name="text-324.4-64">
            <a:extLst>
              <a:ext uri="{FF2B5EF4-FFF2-40B4-BE49-F238E27FC236}">
                <a16:creationId xmlns:a16="http://schemas.microsoft.com/office/drawing/2014/main" id="{56047AC3-57D1-4F5E-AE31-0F1849F7C403}"/>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1385972-102F-4C0E-8DB0-2D5C60E9C064}"/>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410FD51-4900-42BB-AC09-DB58B1E45D6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값은 일정 비율로 줄지 않는다. 덧셈과 자리 이동 비용도 자릿수에 따라 분석한다.</a:t>
            </a:r>
          </a:p>
        </p:txBody>
      </p:sp>
    </p:spTree>
    <p:extLst>
      <p:ext uri="{BB962C8B-B14F-4D97-AF65-F5344CB8AC3E}">
        <p14:creationId xmlns:p14="http://schemas.microsoft.com/office/powerpoint/2010/main" val="46268551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E8E86AD2-40BD-4CA6-93FD-822D0810D89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CB940CB-57DD-4C00-9A8D-B22B3FCDE7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5BCD7A1-8FF4-49DD-A20E-EEF851DBA78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87  </a:t>
            </a:r>
          </a:p>
        </p:txBody>
      </p:sp>
      <p:sp>
        <p:nvSpPr>
          <p:cNvPr id="4" name="직사각형 3">
            <a:extLst>
              <a:ext uri="{FF2B5EF4-FFF2-40B4-BE49-F238E27FC236}">
                <a16:creationId xmlns:a16="http://schemas.microsoft.com/office/drawing/2014/main" id="{AE4ED58B-01FE-4024-A827-55727ECFAA98}"/>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D8A30F5-4673-4B80-85A4-38F2FDD098C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6367061-BAB9-48FC-856B-ABB88C0626A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EEE3744-53BB-4423-98C6-E625F1422D8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173</a:t>
            </a:r>
          </a:p>
        </p:txBody>
      </p:sp>
      <p:sp>
        <p:nvSpPr>
          <p:cNvPr id="8" name="text-178-64">
            <a:extLst>
              <a:ext uri="{FF2B5EF4-FFF2-40B4-BE49-F238E27FC236}">
                <a16:creationId xmlns:a16="http://schemas.microsoft.com/office/drawing/2014/main" id="{C853B149-84B3-4749-957A-3301B5598D1D}"/>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작은 정수 입력에서 카라추바가 표준 곱셈보다 느려도 점근적 분석과 모순되지 않는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이유를 설명하시오.</a:t>
            </a:r>
          </a:p>
        </p:txBody>
      </p:sp>
      <p:sp>
        <p:nvSpPr>
          <p:cNvPr id="9" name="text-405-64">
            <a:extLst>
              <a:ext uri="{FF2B5EF4-FFF2-40B4-BE49-F238E27FC236}">
                <a16:creationId xmlns:a16="http://schemas.microsoft.com/office/drawing/2014/main" id="{6F6FBCEE-64BA-41FB-AB12-9B4F160D893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72949368-39E0-4F9B-975F-4F129477057B}"/>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4A89E03-E98D-46AA-AB27-E3F58521864B}"/>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C07E762-ED62-49FC-8AAB-B6FD8DBB68FC}"/>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500635A1-33B2-4996-A2FA-4ACC26083A3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517DB7C-2FC8-4DF5-9306-FB9E01E09D3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C6D3581-8FFF-4EBB-BBC0-928A0514F89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87  정답과 해설</a:t>
            </a:r>
          </a:p>
        </p:txBody>
      </p:sp>
      <p:sp>
        <p:nvSpPr>
          <p:cNvPr id="4" name="직사각형 3">
            <a:extLst>
              <a:ext uri="{FF2B5EF4-FFF2-40B4-BE49-F238E27FC236}">
                <a16:creationId xmlns:a16="http://schemas.microsoft.com/office/drawing/2014/main" id="{EE13C99A-0C09-4089-A6D6-68A3DCD447A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C7F2009-80E0-47C7-84DF-BF9490E1D66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BD790BB0-8E81-4845-81C3-0B3F55C7D5D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1DBC2FF-BEB9-4C84-B106-239E289F83F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174</a:t>
            </a:r>
          </a:p>
        </p:txBody>
      </p:sp>
      <p:sp>
        <p:nvSpPr>
          <p:cNvPr id="8" name="text-178-64">
            <a:extLst>
              <a:ext uri="{FF2B5EF4-FFF2-40B4-BE49-F238E27FC236}">
                <a16:creationId xmlns:a16="http://schemas.microsoft.com/office/drawing/2014/main" id="{E5EA1DEE-B076-4397-A166-E5812BF09537}"/>
              </a:ext>
            </a:extLst>
          </p:cNvPr>
          <p:cNvSpPr>
            <a:spLocks noGrp="1"/>
          </p:cNvSpPr>
          <p:nvPr/>
        </p:nvSpPr>
        <p:spPr>
          <a:xfrm>
            <a:off x="609600" y="169545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작은 정수 입력에서 카라추바가 표준 곱셈보다 느려도 점근적 분석과 모순되지 않는 이유를</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설명하시오.</a:t>
            </a:r>
          </a:p>
        </p:txBody>
      </p:sp>
      <p:sp>
        <p:nvSpPr>
          <p:cNvPr id="9" name="직사각형 8">
            <a:extLst>
              <a:ext uri="{FF2B5EF4-FFF2-40B4-BE49-F238E27FC236}">
                <a16:creationId xmlns:a16="http://schemas.microsoft.com/office/drawing/2014/main" id="{EA084F35-CDEC-43E2-84FE-9AD092983FDD}"/>
              </a:ext>
            </a:extLst>
          </p:cNvPr>
          <p:cNvSpPr>
            <a:spLocks noGrp="1"/>
          </p:cNvSpPr>
          <p:nvPr/>
        </p:nvSpPr>
        <p:spPr>
          <a:xfrm>
            <a:off x="609600" y="2526030"/>
            <a:ext cx="10972800" cy="626745"/>
          </a:xfrm>
          <a:prstGeom prst="rect">
            <a:avLst/>
          </a:prstGeom>
          <a:solidFill>
            <a:srgbClr val="171717"/>
          </a:solidFill>
          <a:ln w="0">
            <a:noFill/>
          </a:ln>
        </p:spPr>
      </p:sp>
      <p:sp>
        <p:nvSpPr>
          <p:cNvPr id="10" name="text-279.2-92">
            <a:extLst>
              <a:ext uri="{FF2B5EF4-FFF2-40B4-BE49-F238E27FC236}">
                <a16:creationId xmlns:a16="http://schemas.microsoft.com/office/drawing/2014/main" id="{51D91615-3CBE-440F-8040-4BBE46B4A4A8}"/>
              </a:ext>
            </a:extLst>
          </p:cNvPr>
          <p:cNvSpPr>
            <a:spLocks noGrp="1"/>
          </p:cNvSpPr>
          <p:nvPr/>
        </p:nvSpPr>
        <p:spPr>
          <a:xfrm>
            <a:off x="876300" y="265938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점근적 차수는 충분히 큰 입력의 성장률이며 상수와 구현 오버헤드를 생략한다.</a:t>
            </a:r>
          </a:p>
        </p:txBody>
      </p:sp>
      <p:sp>
        <p:nvSpPr>
          <p:cNvPr id="11" name="text-358-64">
            <a:extLst>
              <a:ext uri="{FF2B5EF4-FFF2-40B4-BE49-F238E27FC236}">
                <a16:creationId xmlns:a16="http://schemas.microsoft.com/office/drawing/2014/main" id="{FE343FAB-A8FF-4C7C-908F-3F4E39D4F919}"/>
              </a:ext>
            </a:extLst>
          </p:cNvPr>
          <p:cNvSpPr>
            <a:spLocks noGrp="1"/>
          </p:cNvSpPr>
          <p:nvPr/>
        </p:nvSpPr>
        <p:spPr>
          <a:xfrm>
            <a:off x="609600" y="340995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7EF684F-72F9-45E2-A525-2DC5E393097E}"/>
              </a:ext>
            </a:extLst>
          </p:cNvPr>
          <p:cNvSpPr>
            <a:spLocks noGrp="1"/>
          </p:cNvSpPr>
          <p:nvPr/>
        </p:nvSpPr>
        <p:spPr>
          <a:xfrm>
            <a:off x="1752600" y="3581400"/>
            <a:ext cx="9829800" cy="9525"/>
          </a:xfrm>
          <a:prstGeom prst="rect">
            <a:avLst/>
          </a:prstGeom>
          <a:solidFill>
            <a:srgbClr val="D4D4D4"/>
          </a:solidFill>
          <a:ln w="0">
            <a:noFill/>
          </a:ln>
        </p:spPr>
      </p:sp>
      <p:sp>
        <p:nvSpPr>
          <p:cNvPr id="13" name="text-406-64">
            <a:extLst>
              <a:ext uri="{FF2B5EF4-FFF2-40B4-BE49-F238E27FC236}">
                <a16:creationId xmlns:a16="http://schemas.microsoft.com/office/drawing/2014/main" id="{BCD56084-4CEA-47A0-AF5A-083682157072}"/>
              </a:ext>
            </a:extLst>
          </p:cNvPr>
          <p:cNvSpPr>
            <a:spLocks noGrp="1"/>
          </p:cNvSpPr>
          <p:nvPr/>
        </p:nvSpPr>
        <p:spPr>
          <a:xfrm>
            <a:off x="609600" y="38671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작은 입력에서는 추가 덧셈·분할·호출 비용이 절감한 곱셈 비용보다 클 수 있다.</a:t>
            </a:r>
          </a:p>
        </p:txBody>
      </p:sp>
    </p:spTree>
    <p:extLst>
      <p:ext uri="{BB962C8B-B14F-4D97-AF65-F5344CB8AC3E}">
        <p14:creationId xmlns:p14="http://schemas.microsoft.com/office/powerpoint/2010/main" val="462685519"/>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82F2514D-2F58-4ACB-A002-729F8BE9DE1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56407CDE-9076-4DEC-8EB6-4EBB155E16B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E3ADC842-318B-4320-A8F2-619891FCA6D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88  </a:t>
            </a:r>
          </a:p>
        </p:txBody>
      </p:sp>
      <p:sp>
        <p:nvSpPr>
          <p:cNvPr id="4" name="직사각형 3">
            <a:extLst>
              <a:ext uri="{FF2B5EF4-FFF2-40B4-BE49-F238E27FC236}">
                <a16:creationId xmlns:a16="http://schemas.microsoft.com/office/drawing/2014/main" id="{47866020-38DF-4107-B1BF-A8E0439117F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9C95A3E-BF42-4C9E-81DC-98C373E72D3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F945390-097E-42BA-8A15-3002A63E8B1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84D4399-F5D2-42CA-86BD-B9E23E4A3C9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175</a:t>
            </a:r>
          </a:p>
        </p:txBody>
      </p:sp>
      <p:sp>
        <p:nvSpPr>
          <p:cNvPr id="8" name="text-178-64">
            <a:extLst>
              <a:ext uri="{FF2B5EF4-FFF2-40B4-BE49-F238E27FC236}">
                <a16:creationId xmlns:a16="http://schemas.microsoft.com/office/drawing/2014/main" id="{DAA99F77-FBE0-42C5-9508-D7F895173740}"/>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행렬을 0으로 패딩한 뒤 곱해도 원래 크기 영역의 결과가 유지되는 이유를 내적으로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설명하시오.</a:t>
            </a:r>
          </a:p>
        </p:txBody>
      </p:sp>
      <p:sp>
        <p:nvSpPr>
          <p:cNvPr id="9" name="text-405-64">
            <a:extLst>
              <a:ext uri="{FF2B5EF4-FFF2-40B4-BE49-F238E27FC236}">
                <a16:creationId xmlns:a16="http://schemas.microsoft.com/office/drawing/2014/main" id="{B224456F-1AAF-483D-B070-23849BF7A7B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23801048-3D0C-4B8B-9D29-DB0A674B8EB4}"/>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D41360F-6F2D-4BB3-BCF0-21980A94287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0D30B6F3-2971-4720-A248-C35F18948FE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823CB36D-7865-479C-96BB-ADAD12223D5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029E6F50-8434-48CB-8F40-355F32ABCDD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DBEACF2-2C19-41A3-920D-817F25A6E4B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88  정답과 해설</a:t>
            </a:r>
          </a:p>
        </p:txBody>
      </p:sp>
      <p:sp>
        <p:nvSpPr>
          <p:cNvPr id="4" name="직사각형 3">
            <a:extLst>
              <a:ext uri="{FF2B5EF4-FFF2-40B4-BE49-F238E27FC236}">
                <a16:creationId xmlns:a16="http://schemas.microsoft.com/office/drawing/2014/main" id="{B44444D9-DF0C-429F-813C-C897BFD14C5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ED6940C-DE48-48E4-9B23-A05792FE880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2614F2B-CA34-460E-8A28-7FDF52A5B75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EFE4030-E810-4709-BCA6-0541AAEE86F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176</a:t>
            </a:r>
          </a:p>
        </p:txBody>
      </p:sp>
      <p:sp>
        <p:nvSpPr>
          <p:cNvPr id="8" name="text-178-64">
            <a:extLst>
              <a:ext uri="{FF2B5EF4-FFF2-40B4-BE49-F238E27FC236}">
                <a16:creationId xmlns:a16="http://schemas.microsoft.com/office/drawing/2014/main" id="{7EE138C5-E164-454F-B787-F7F1C815F0AF}"/>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행렬을 0으로 패딩한 뒤 곱해도 원래 크기 영역의 결과가 유지되는 이유를 내적으로 설명하시오.</a:t>
            </a:r>
          </a:p>
        </p:txBody>
      </p:sp>
      <p:sp>
        <p:nvSpPr>
          <p:cNvPr id="9" name="직사각형 8">
            <a:extLst>
              <a:ext uri="{FF2B5EF4-FFF2-40B4-BE49-F238E27FC236}">
                <a16:creationId xmlns:a16="http://schemas.microsoft.com/office/drawing/2014/main" id="{F6E31A29-D255-440B-95DA-02D8BD8F8BB1}"/>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8418B5BC-2575-46A9-8C02-2F2758BB3CD9}"/>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추가된 성분은 0이므로 기존 행과 열의 내적에 추가되는 항은 모두 0이다.</a:t>
            </a:r>
          </a:p>
        </p:txBody>
      </p:sp>
      <p:sp>
        <p:nvSpPr>
          <p:cNvPr id="11" name="text-324.4-64">
            <a:extLst>
              <a:ext uri="{FF2B5EF4-FFF2-40B4-BE49-F238E27FC236}">
                <a16:creationId xmlns:a16="http://schemas.microsoft.com/office/drawing/2014/main" id="{69053954-7118-4DE5-B908-A943639ADE1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8480C94-957E-4353-B37E-8083FEEDFE18}"/>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D7D91ED5-87F8-403B-81B6-D5702255E420}"/>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확장 행렬의 곱에서 원래 행·열 범위만 잘라내면 원래 곱과 같다.</a:t>
            </a:r>
          </a:p>
        </p:txBody>
      </p:sp>
    </p:spTree>
    <p:extLst>
      <p:ext uri="{BB962C8B-B14F-4D97-AF65-F5344CB8AC3E}">
        <p14:creationId xmlns:p14="http://schemas.microsoft.com/office/powerpoint/2010/main" val="46268551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140014D2-6681-4EAA-9126-E69D1B06B44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E44E06E0-AD58-4FE7-94B7-CFE933B11B6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7C9BA7C-861F-42EE-80A4-7F56A75807F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89  </a:t>
            </a:r>
          </a:p>
        </p:txBody>
      </p:sp>
      <p:sp>
        <p:nvSpPr>
          <p:cNvPr id="4" name="직사각형 3">
            <a:extLst>
              <a:ext uri="{FF2B5EF4-FFF2-40B4-BE49-F238E27FC236}">
                <a16:creationId xmlns:a16="http://schemas.microsoft.com/office/drawing/2014/main" id="{BCB7E090-46E6-4099-91E0-47EB454BB10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2F0DB8B-F5EF-4F98-BF87-F670F888B52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67E0D9C-5527-4BDC-9F37-2142987CAEA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5E27A08-4927-44DA-BC9A-97DC0AC58B2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177</a:t>
            </a:r>
          </a:p>
        </p:txBody>
      </p:sp>
      <p:sp>
        <p:nvSpPr>
          <p:cNvPr id="8" name="text-178-64">
            <a:extLst>
              <a:ext uri="{FF2B5EF4-FFF2-40B4-BE49-F238E27FC236}">
                <a16:creationId xmlns:a16="http://schemas.microsoft.com/office/drawing/2014/main" id="{247F84AF-31F8-47C2-9742-C8D64EBE347A}"/>
              </a:ext>
            </a:extLst>
          </p:cNvPr>
          <p:cNvSpPr>
            <a:spLocks noGrp="1"/>
          </p:cNvSpPr>
          <p:nvPr/>
        </p:nvSpPr>
        <p:spPr>
          <a:xfrm>
            <a:off x="609600" y="1695450"/>
            <a:ext cx="10972800" cy="37338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슈트라센 점화식에서 결합 비용 Θ(n²)이 생기는 이유와 전체 차수를 설명하시오.</a:t>
            </a:r>
          </a:p>
        </p:txBody>
      </p:sp>
      <p:sp>
        <p:nvSpPr>
          <p:cNvPr id="9" name="text-405-64">
            <a:extLst>
              <a:ext uri="{FF2B5EF4-FFF2-40B4-BE49-F238E27FC236}">
                <a16:creationId xmlns:a16="http://schemas.microsoft.com/office/drawing/2014/main" id="{4E9DB261-EE41-431A-85CF-F7D36AB38D45}"/>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099ACF10-2A8F-4FBB-AC32-42017DF2318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DE50D163-3B56-4BE8-81AE-563BEEC75F14}"/>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D03DB6C6-09AE-4E40-A6C0-C14C77ED56AA}"/>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F734702-234C-4081-897D-CFB90C9DEA7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D0CD1F76-BF51-4793-BAA5-94F4E00FCEB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2E9337E-C585-4809-A389-0F1FB2357CC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89  정답과 해설</a:t>
            </a:r>
          </a:p>
        </p:txBody>
      </p:sp>
      <p:sp>
        <p:nvSpPr>
          <p:cNvPr id="4" name="직사각형 3">
            <a:extLst>
              <a:ext uri="{FF2B5EF4-FFF2-40B4-BE49-F238E27FC236}">
                <a16:creationId xmlns:a16="http://schemas.microsoft.com/office/drawing/2014/main" id="{B266F9D8-66AB-40AE-8452-F590286B52A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8A032E1-D187-467A-97C3-65D6827B9A8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F64D75E-88A2-4FFC-BBA5-F9F03818C77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7CA98CB-4F54-4F84-A32F-00CD63839D0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178</a:t>
            </a:r>
          </a:p>
        </p:txBody>
      </p:sp>
      <p:sp>
        <p:nvSpPr>
          <p:cNvPr id="8" name="text-178-64">
            <a:extLst>
              <a:ext uri="{FF2B5EF4-FFF2-40B4-BE49-F238E27FC236}">
                <a16:creationId xmlns:a16="http://schemas.microsoft.com/office/drawing/2014/main" id="{AA1D9A71-54B7-460C-A306-32FD8318C32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슈트라센 점화식에서 결합 비용 Θ(n²)이 생기는 이유와 전체 차수를 설명하시오.</a:t>
            </a:r>
          </a:p>
        </p:txBody>
      </p:sp>
      <p:sp>
        <p:nvSpPr>
          <p:cNvPr id="9" name="직사각형 8">
            <a:extLst>
              <a:ext uri="{FF2B5EF4-FFF2-40B4-BE49-F238E27FC236}">
                <a16:creationId xmlns:a16="http://schemas.microsoft.com/office/drawing/2014/main" id="{555A6AA4-5BEE-412F-BFB6-C27C03F26F73}"/>
              </a:ext>
            </a:extLst>
          </p:cNvPr>
          <p:cNvSpPr>
            <a:spLocks noGrp="1"/>
          </p:cNvSpPr>
          <p:nvPr/>
        </p:nvSpPr>
        <p:spPr>
          <a:xfrm>
            <a:off x="609600" y="2205990"/>
            <a:ext cx="10972800" cy="986790"/>
          </a:xfrm>
          <a:prstGeom prst="rect">
            <a:avLst/>
          </a:prstGeom>
          <a:solidFill>
            <a:srgbClr val="171717"/>
          </a:solidFill>
          <a:ln w="0">
            <a:noFill/>
          </a:ln>
        </p:spPr>
      </p:sp>
      <p:sp>
        <p:nvSpPr>
          <p:cNvPr id="10" name="text-245.6-92">
            <a:extLst>
              <a:ext uri="{FF2B5EF4-FFF2-40B4-BE49-F238E27FC236}">
                <a16:creationId xmlns:a16="http://schemas.microsoft.com/office/drawing/2014/main" id="{F8E532CE-0264-48DD-9FCE-DCAA4BC7F967}"/>
              </a:ext>
            </a:extLst>
          </p:cNvPr>
          <p:cNvSpPr>
            <a:spLocks noGrp="1"/>
          </p:cNvSpPr>
          <p:nvPr/>
        </p:nvSpPr>
        <p:spPr>
          <a:xfrm>
            <a:off x="876300" y="2339340"/>
            <a:ext cx="10439400" cy="796290"/>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크기 n/2 블록들의 덧셈·뺄셈은 원소별로 하므로 Θ(n²)이다. 전체</a:t>
            </a:r>
          </a:p>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Θ(n^(log₂7))이다.</a:t>
            </a:r>
          </a:p>
        </p:txBody>
      </p:sp>
      <p:sp>
        <p:nvSpPr>
          <p:cNvPr id="11" name="text-362.2-64">
            <a:extLst>
              <a:ext uri="{FF2B5EF4-FFF2-40B4-BE49-F238E27FC236}">
                <a16:creationId xmlns:a16="http://schemas.microsoft.com/office/drawing/2014/main" id="{4BC953D5-2374-4020-8AF3-4094875CF9D5}"/>
              </a:ext>
            </a:extLst>
          </p:cNvPr>
          <p:cNvSpPr>
            <a:spLocks noGrp="1"/>
          </p:cNvSpPr>
          <p:nvPr/>
        </p:nvSpPr>
        <p:spPr>
          <a:xfrm>
            <a:off x="609600" y="3449955"/>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618180A6-6BEB-4C96-BD47-DBA59B6C555F}"/>
              </a:ext>
            </a:extLst>
          </p:cNvPr>
          <p:cNvSpPr>
            <a:spLocks noGrp="1"/>
          </p:cNvSpPr>
          <p:nvPr/>
        </p:nvSpPr>
        <p:spPr>
          <a:xfrm>
            <a:off x="1752600" y="3621405"/>
            <a:ext cx="9829800" cy="9525"/>
          </a:xfrm>
          <a:prstGeom prst="rect">
            <a:avLst/>
          </a:prstGeom>
          <a:solidFill>
            <a:srgbClr val="D4D4D4"/>
          </a:solidFill>
          <a:ln w="0">
            <a:noFill/>
          </a:ln>
        </p:spPr>
      </p:sp>
      <p:sp>
        <p:nvSpPr>
          <p:cNvPr id="13" name="text-410.2-64">
            <a:extLst>
              <a:ext uri="{FF2B5EF4-FFF2-40B4-BE49-F238E27FC236}">
                <a16:creationId xmlns:a16="http://schemas.microsoft.com/office/drawing/2014/main" id="{589D0CDC-2B92-48FF-9C14-051EECC5ABA1}"/>
              </a:ext>
            </a:extLst>
          </p:cNvPr>
          <p:cNvSpPr>
            <a:spLocks noGrp="1"/>
          </p:cNvSpPr>
          <p:nvPr/>
        </p:nvSpPr>
        <p:spPr>
          <a:xfrm>
            <a:off x="609600" y="3907155"/>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재귀 곱셈 7개와 이차 결합 비용을 비교하면 기준 지수 log₂7이 2보다 크다.</a:t>
            </a:r>
          </a:p>
        </p:txBody>
      </p:sp>
    </p:spTree>
    <p:extLst>
      <p:ext uri="{BB962C8B-B14F-4D97-AF65-F5344CB8AC3E}">
        <p14:creationId xmlns:p14="http://schemas.microsoft.com/office/powerpoint/2010/main" val="46268551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982BECB1-6236-4B29-8980-E9ED857D3A2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0EBA5742-7C5F-4E58-8C19-272EBA3D20B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EA4A04C-2AD1-4C6C-9D7D-043A40A7835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90  </a:t>
            </a:r>
          </a:p>
        </p:txBody>
      </p:sp>
      <p:sp>
        <p:nvSpPr>
          <p:cNvPr id="4" name="직사각형 3">
            <a:extLst>
              <a:ext uri="{FF2B5EF4-FFF2-40B4-BE49-F238E27FC236}">
                <a16:creationId xmlns:a16="http://schemas.microsoft.com/office/drawing/2014/main" id="{E5CBCB43-AF3F-48B3-AB18-6905BA372E5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AFE4CCC-5F12-4DB4-9A8D-5C2378E908D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E5E86CA-3DD6-4461-9361-DFE7C6EC102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BC627D0-89E5-4B22-990E-4D30CF5AAD9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179</a:t>
            </a:r>
          </a:p>
        </p:txBody>
      </p:sp>
      <p:sp>
        <p:nvSpPr>
          <p:cNvPr id="8" name="text-178-64">
            <a:extLst>
              <a:ext uri="{FF2B5EF4-FFF2-40B4-BE49-F238E27FC236}">
                <a16:creationId xmlns:a16="http://schemas.microsoft.com/office/drawing/2014/main" id="{B7992288-C57F-4369-B7D5-BE575C828D58}"/>
              </a:ext>
            </a:extLst>
          </p:cNvPr>
          <p:cNvSpPr>
            <a:spLocks noGrp="1"/>
          </p:cNvSpPr>
          <p:nvPr/>
        </p:nvSpPr>
        <p:spPr>
          <a:xfrm>
            <a:off x="609600" y="1695450"/>
            <a:ext cx="10972800" cy="74676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분할 정복 함수의 기저 사례를 n==1로만 둘 때 빈 입력에서 생길 수 있는 문제와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수정안을 쓰시오.</a:t>
            </a:r>
          </a:p>
        </p:txBody>
      </p:sp>
      <p:sp>
        <p:nvSpPr>
          <p:cNvPr id="9" name="text-405-64">
            <a:extLst>
              <a:ext uri="{FF2B5EF4-FFF2-40B4-BE49-F238E27FC236}">
                <a16:creationId xmlns:a16="http://schemas.microsoft.com/office/drawing/2014/main" id="{2ADA7DC1-1B22-49EB-8025-58FF4ECFDD8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풀이 과정과 판단 근거를 함께 쓰시오.</a:t>
            </a:r>
          </a:p>
        </p:txBody>
      </p:sp>
      <p:sp>
        <p:nvSpPr>
          <p:cNvPr id="10" name="직사각형 9">
            <a:extLst>
              <a:ext uri="{FF2B5EF4-FFF2-40B4-BE49-F238E27FC236}">
                <a16:creationId xmlns:a16="http://schemas.microsoft.com/office/drawing/2014/main" id="{71384E60-A701-4DA3-838F-7288B7751775}"/>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9D3AD6CE-1FF9-405B-ABFB-44F6FA99BDB0}"/>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3A07F57E-4711-4946-B4D4-3E7978BC990E}"/>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B3312982-8E7E-4F69-A628-B7FD4A89A45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서술·설계</a:t>
            </a:r>
          </a:p>
        </p:txBody>
      </p:sp>
      <p:sp>
        <p:nvSpPr>
          <p:cNvPr id="2" name="text-28-1080">
            <a:extLst>
              <a:ext uri="{FF2B5EF4-FFF2-40B4-BE49-F238E27FC236}">
                <a16:creationId xmlns:a16="http://schemas.microsoft.com/office/drawing/2014/main" id="{7881EC91-9415-461B-AA62-805B1916287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7E24EAD-8AA0-43BF-8AD1-15EF0C01454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90  정답과 해설</a:t>
            </a:r>
          </a:p>
        </p:txBody>
      </p:sp>
      <p:sp>
        <p:nvSpPr>
          <p:cNvPr id="4" name="직사각형 3">
            <a:extLst>
              <a:ext uri="{FF2B5EF4-FFF2-40B4-BE49-F238E27FC236}">
                <a16:creationId xmlns:a16="http://schemas.microsoft.com/office/drawing/2014/main" id="{7392EB0D-53EB-4A15-9623-8787D2C6B5B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141CA2A-3E98-4866-8009-2262B75FA5F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70CF761-3B76-4B46-8909-85141047F6E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C5B7DDF-B7FF-4956-8E9F-FB8F89D93F2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180</a:t>
            </a:r>
          </a:p>
        </p:txBody>
      </p:sp>
      <p:sp>
        <p:nvSpPr>
          <p:cNvPr id="8" name="text-178-64">
            <a:extLst>
              <a:ext uri="{FF2B5EF4-FFF2-40B4-BE49-F238E27FC236}">
                <a16:creationId xmlns:a16="http://schemas.microsoft.com/office/drawing/2014/main" id="{07D30F56-C820-4268-AAD6-835C2E60BFF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정복 함수의 기저 사례를 n==1로만 둘 때 빈 입력에서 생길 수 있는 문제와 수정안을 쓰시오.</a:t>
            </a:r>
          </a:p>
        </p:txBody>
      </p:sp>
      <p:sp>
        <p:nvSpPr>
          <p:cNvPr id="9" name="직사각형 8">
            <a:extLst>
              <a:ext uri="{FF2B5EF4-FFF2-40B4-BE49-F238E27FC236}">
                <a16:creationId xmlns:a16="http://schemas.microsoft.com/office/drawing/2014/main" id="{E174D1AA-14E3-45CB-BDB4-E5659B3E74BF}"/>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A2886DB-78C0-4A75-A649-61FDB003D65A}"/>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n=0을 계속 둘로 나눠도 0이어서 종료하지 않을 수 있다. n≤1을 기저로 처리한다.</a:t>
            </a:r>
          </a:p>
        </p:txBody>
      </p:sp>
      <p:sp>
        <p:nvSpPr>
          <p:cNvPr id="11" name="text-324.4-64">
            <a:extLst>
              <a:ext uri="{FF2B5EF4-FFF2-40B4-BE49-F238E27FC236}">
                <a16:creationId xmlns:a16="http://schemas.microsoft.com/office/drawing/2014/main" id="{59E22EB7-04D2-411D-8A60-BAE9045D59B2}"/>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9751365-A23A-4661-9528-2E546CEE9C9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EC5D7E51-783E-4D49-8783-62D48E8801D4}"/>
              </a:ext>
            </a:extLst>
          </p:cNvPr>
          <p:cNvSpPr>
            <a:spLocks noGrp="1"/>
          </p:cNvSpPr>
          <p:nvPr/>
        </p:nvSpPr>
        <p:spPr>
          <a:xfrm>
            <a:off x="609600" y="3547110"/>
            <a:ext cx="10972800" cy="64008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빈 입력의 반환값은 문제마다 다르다. 정렬은 빈 배열을 반환하지만 비어 있지 않은 최대 연속합은 빈</a:t>
            </a:r>
          </a:p>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입력을 금지할 수 있다.</a:t>
            </a:r>
          </a:p>
        </p:txBody>
      </p:sp>
    </p:spTree>
    <p:extLst>
      <p:ext uri="{BB962C8B-B14F-4D97-AF65-F5344CB8AC3E}">
        <p14:creationId xmlns:p14="http://schemas.microsoft.com/office/powerpoint/2010/main" val="462685519"/>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D703B21F-6807-4D4E-AC82-2F8A1AC627F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96FA138C-61D7-4534-8FE3-2BE8C40AB09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FBB719E-8E54-4DFB-9F69-63A22694C3C1}"/>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a:t>
            </a:r>
          </a:p>
        </p:txBody>
      </p:sp>
      <p:sp>
        <p:nvSpPr>
          <p:cNvPr id="4" name="직사각형 3">
            <a:extLst>
              <a:ext uri="{FF2B5EF4-FFF2-40B4-BE49-F238E27FC236}">
                <a16:creationId xmlns:a16="http://schemas.microsoft.com/office/drawing/2014/main" id="{B211C7B3-12D4-4823-A91A-86E0B53577B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34B88891-444C-4F04-A801-0B180B75BA1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FD23902-1277-4617-8DEE-042AD0071AE3}"/>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43AF986-B302-4082-879E-83410D127E0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181</a:t>
            </a:r>
          </a:p>
        </p:txBody>
      </p:sp>
      <p:sp>
        <p:nvSpPr>
          <p:cNvPr id="8" name="text-178-64">
            <a:extLst>
              <a:ext uri="{FF2B5EF4-FFF2-40B4-BE49-F238E27FC236}">
                <a16:creationId xmlns:a16="http://schemas.microsoft.com/office/drawing/2014/main" id="{5EF69335-EF58-4A11-9236-AB740971848C}"/>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오름차순 정수 배열 a,b를 합친 정렬 결과를 merge_arrays로 구한다. 각 길이는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0..500. 같은 값이면 a를 먼저 쓴다. C는 충분한 out 배열에 기록한다. Python 또는 C</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중 하나로 함수를 작성하시오.</a:t>
            </a:r>
          </a:p>
        </p:txBody>
      </p:sp>
      <p:sp>
        <p:nvSpPr>
          <p:cNvPr id="9" name="text-405-64">
            <a:extLst>
              <a:ext uri="{FF2B5EF4-FFF2-40B4-BE49-F238E27FC236}">
                <a16:creationId xmlns:a16="http://schemas.microsoft.com/office/drawing/2014/main" id="{3188563A-E08A-40FE-AFD9-12E06DF6970C}"/>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C1C20BFB-B706-48B0-9EA8-E1B7852E0B32}"/>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89C21AFC-9D92-43A3-8CA9-F5A55775D607}"/>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F335AB87-82DA-400F-9B3F-81276D90E560}"/>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D16B6B8-9606-4270-BE14-32D99495A69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B367CFCC-EFFE-46E2-81E3-88A3CD4A0CA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59426D69-7BB9-45C1-AAA2-475EC1358F1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정답과 해설</a:t>
            </a:r>
          </a:p>
        </p:txBody>
      </p:sp>
      <p:sp>
        <p:nvSpPr>
          <p:cNvPr id="4" name="직사각형 3">
            <a:extLst>
              <a:ext uri="{FF2B5EF4-FFF2-40B4-BE49-F238E27FC236}">
                <a16:creationId xmlns:a16="http://schemas.microsoft.com/office/drawing/2014/main" id="{A90625C4-8884-47C0-83B2-13CE552CF47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6505163-F3F6-49E6-A07A-E91FAAACB79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27FC851-CC50-49DA-9733-47F062E5D60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8D4A491-5353-4145-A6A2-068EBF32D7A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182</a:t>
            </a:r>
          </a:p>
        </p:txBody>
      </p:sp>
      <p:sp>
        <p:nvSpPr>
          <p:cNvPr id="8" name="text-178-64">
            <a:extLst>
              <a:ext uri="{FF2B5EF4-FFF2-40B4-BE49-F238E27FC236}">
                <a16:creationId xmlns:a16="http://schemas.microsoft.com/office/drawing/2014/main" id="{462C90EC-CD97-47D4-8233-D75C16B96AC0}"/>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정렬 배열 병합</a:t>
            </a:r>
          </a:p>
        </p:txBody>
      </p:sp>
      <p:sp>
        <p:nvSpPr>
          <p:cNvPr id="9" name="직사각형 8">
            <a:extLst>
              <a:ext uri="{FF2B5EF4-FFF2-40B4-BE49-F238E27FC236}">
                <a16:creationId xmlns:a16="http://schemas.microsoft.com/office/drawing/2014/main" id="{5394BA50-1B45-42E0-B767-DED660927C9A}"/>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4435399-748F-4F89-850B-B6E6338613F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두 배열의 맨 앞 미처리 원소를 비교하고 작은 쪽을 출력한다.</a:t>
            </a:r>
          </a:p>
        </p:txBody>
      </p:sp>
      <p:sp>
        <p:nvSpPr>
          <p:cNvPr id="11" name="text-324.4-64">
            <a:extLst>
              <a:ext uri="{FF2B5EF4-FFF2-40B4-BE49-F238E27FC236}">
                <a16:creationId xmlns:a16="http://schemas.microsoft.com/office/drawing/2014/main" id="{2E72BDEB-1E6E-4BEC-8329-AC567B1ABA08}"/>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526C7EF-91A0-47AD-9C6D-0792A7E4112E}"/>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EC050F9-0D16-4ABA-8249-74E7D58F8873}"/>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a:t>
            </a:r>
            <a:r>
              <a:rPr lang="en-US" sz="1800" b="0" i="0">
                <a:solidFill>
                  <a:srgbClr val="606060"/>
                </a:solidFill>
                <a:latin typeface="Malgun Gothic"/>
                <a:ea typeface="Malgun Gothic"/>
                <a:cs typeface="Malgun Gothic"/>
              </a:rPr>
              <a:t>O(n+m).</a:t>
            </a:r>
            <a:endParaRPr sz="1800" b="0" i="0">
              <a:solidFill>
                <a:srgbClr val="606060"/>
              </a:solidFill>
              <a:latin typeface="Malgun Gothic"/>
              <a:ea typeface="Malgun Gothic"/>
              <a:cs typeface="Malgun Gothic"/>
            </a:endParaRPr>
          </a:p>
        </p:txBody>
      </p:sp>
    </p:spTree>
    <p:extLst>
      <p:ext uri="{BB962C8B-B14F-4D97-AF65-F5344CB8AC3E}">
        <p14:creationId xmlns:p14="http://schemas.microsoft.com/office/powerpoint/2010/main" val="462685519"/>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text-28-64">
            <a:extLst>
              <a:ext uri="{FF2B5EF4-FFF2-40B4-BE49-F238E27FC236}">
                <a16:creationId xmlns:a16="http://schemas.microsoft.com/office/drawing/2014/main" id="{FFE67429-3ABC-4F88-B776-3759C0DF45F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5D0E0D8-090E-4C17-B149-1FEA213B71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D3FD3C9-3B50-44D4-B1E9-5955325EC4C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Python 구현</a:t>
            </a:r>
          </a:p>
        </p:txBody>
      </p:sp>
      <p:sp>
        <p:nvSpPr>
          <p:cNvPr id="4" name="직사각형 3">
            <a:extLst>
              <a:ext uri="{FF2B5EF4-FFF2-40B4-BE49-F238E27FC236}">
                <a16:creationId xmlns:a16="http://schemas.microsoft.com/office/drawing/2014/main" id="{030F1F70-5BD4-4914-8F11-62CC0201187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CDEB4B9-73A2-4536-9AB8-0B1DC8C68E2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DE48764-2034-43FA-99AC-518718F7163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2F09B76-9FE0-46C8-8C2B-5A121DA2718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183</a:t>
            </a:r>
          </a:p>
        </p:txBody>
      </p:sp>
      <p:sp>
        <p:nvSpPr>
          <p:cNvPr id="8" name="text-163-64">
            <a:extLst>
              <a:ext uri="{FF2B5EF4-FFF2-40B4-BE49-F238E27FC236}">
                <a16:creationId xmlns:a16="http://schemas.microsoft.com/office/drawing/2014/main" id="{775A4D3C-F4B6-409E-8AB6-9A6C625C9EE3}"/>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정렬 배열 병합</a:t>
            </a:r>
          </a:p>
        </p:txBody>
      </p:sp>
      <p:sp>
        <p:nvSpPr>
          <p:cNvPr id="9" name="직사각형 8">
            <a:extLst>
              <a:ext uri="{FF2B5EF4-FFF2-40B4-BE49-F238E27FC236}">
                <a16:creationId xmlns:a16="http://schemas.microsoft.com/office/drawing/2014/main" id="{D879A8D5-0322-472C-A81A-179AE7D9CC2A}"/>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577AFA1A-2F7F-431C-B111-DB6D7B563BB5}"/>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B411D210-D93D-4AD8-BF63-A5E22D2791EC}"/>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merge_arrays(a, b):</a:t>
            </a:r>
          </a:p>
        </p:txBody>
      </p:sp>
      <p:sp>
        <p:nvSpPr>
          <p:cNvPr id="12" name="text-242.5-81">
            <a:extLst>
              <a:ext uri="{FF2B5EF4-FFF2-40B4-BE49-F238E27FC236}">
                <a16:creationId xmlns:a16="http://schemas.microsoft.com/office/drawing/2014/main" id="{01BA847A-7F7B-491C-8EDB-473F55E79A56}"/>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0DBEE8DE-DFC3-4D72-900D-CB4F7AEDC017}"/>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 = j = 0</a:t>
            </a:r>
          </a:p>
        </p:txBody>
      </p:sp>
      <p:sp>
        <p:nvSpPr>
          <p:cNvPr id="14" name="text-263-81">
            <a:extLst>
              <a:ext uri="{FF2B5EF4-FFF2-40B4-BE49-F238E27FC236}">
                <a16:creationId xmlns:a16="http://schemas.microsoft.com/office/drawing/2014/main" id="{F9E51429-625C-408B-8F5A-ADA88BB6F930}"/>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8FD21F40-577A-4605-A809-E47392A4645C}"/>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out = []</a:t>
            </a:r>
          </a:p>
        </p:txBody>
      </p:sp>
      <p:sp>
        <p:nvSpPr>
          <p:cNvPr id="16" name="text-283.5-81">
            <a:extLst>
              <a:ext uri="{FF2B5EF4-FFF2-40B4-BE49-F238E27FC236}">
                <a16:creationId xmlns:a16="http://schemas.microsoft.com/office/drawing/2014/main" id="{BA684A90-BF30-4E09-AFE7-D5CB3F7E8B5E}"/>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9A0E78B8-EBC2-4CB6-BC4A-22B1926F58F2}"/>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 &lt; len(a) and j &lt; len(b):</a:t>
            </a:r>
          </a:p>
        </p:txBody>
      </p:sp>
      <p:sp>
        <p:nvSpPr>
          <p:cNvPr id="18" name="text-304-81">
            <a:extLst>
              <a:ext uri="{FF2B5EF4-FFF2-40B4-BE49-F238E27FC236}">
                <a16:creationId xmlns:a16="http://schemas.microsoft.com/office/drawing/2014/main" id="{5DFF150E-EDE7-4932-AF06-703A4E747FE6}"/>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AC7951D4-8DD0-41EA-8519-562FA847AB43}"/>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 &lt;= b[j]:</a:t>
            </a:r>
          </a:p>
        </p:txBody>
      </p:sp>
      <p:sp>
        <p:nvSpPr>
          <p:cNvPr id="20" name="text-324.5-81">
            <a:extLst>
              <a:ext uri="{FF2B5EF4-FFF2-40B4-BE49-F238E27FC236}">
                <a16:creationId xmlns:a16="http://schemas.microsoft.com/office/drawing/2014/main" id="{59C860FC-9F1A-4143-9692-C7DD4297B2B8}"/>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FC43E2EF-9915-48EF-B79F-FF009D330A1E}"/>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out.append(a[i]); i += 1</a:t>
            </a:r>
          </a:p>
        </p:txBody>
      </p:sp>
      <p:sp>
        <p:nvSpPr>
          <p:cNvPr id="22" name="text-345-81">
            <a:extLst>
              <a:ext uri="{FF2B5EF4-FFF2-40B4-BE49-F238E27FC236}">
                <a16:creationId xmlns:a16="http://schemas.microsoft.com/office/drawing/2014/main" id="{A08EC294-3522-436B-BF0D-8752E5E808E6}"/>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D00B6D1B-AC5F-4F05-82AA-0AB110F10172}"/>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a:t>
            </a:r>
          </a:p>
        </p:txBody>
      </p:sp>
      <p:sp>
        <p:nvSpPr>
          <p:cNvPr id="24" name="text-365.5-81">
            <a:extLst>
              <a:ext uri="{FF2B5EF4-FFF2-40B4-BE49-F238E27FC236}">
                <a16:creationId xmlns:a16="http://schemas.microsoft.com/office/drawing/2014/main" id="{93EBE967-1431-4243-ABB4-B58F15E419EA}"/>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9A794541-E2D4-4AC0-BD73-028F7AA9075A}"/>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out.append(b[j]); j += 1</a:t>
            </a:r>
          </a:p>
        </p:txBody>
      </p:sp>
      <p:sp>
        <p:nvSpPr>
          <p:cNvPr id="26" name="text-386-81">
            <a:extLst>
              <a:ext uri="{FF2B5EF4-FFF2-40B4-BE49-F238E27FC236}">
                <a16:creationId xmlns:a16="http://schemas.microsoft.com/office/drawing/2014/main" id="{EE08D4CF-FBE3-4025-AC22-6F7443DB5942}"/>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6A341580-4C83-440C-86FF-CCABB9A36E09}"/>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out.extend(a[i:])</a:t>
            </a:r>
          </a:p>
        </p:txBody>
      </p:sp>
      <p:sp>
        <p:nvSpPr>
          <p:cNvPr id="28" name="text-406.5-81">
            <a:extLst>
              <a:ext uri="{FF2B5EF4-FFF2-40B4-BE49-F238E27FC236}">
                <a16:creationId xmlns:a16="http://schemas.microsoft.com/office/drawing/2014/main" id="{CD86CE2C-99BD-43F5-B6BD-D38242D2C3BB}"/>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F91A2D80-DCD2-450E-BFC4-0D55B326F99B}"/>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out.extend(b[j:])</a:t>
            </a:r>
          </a:p>
        </p:txBody>
      </p:sp>
      <p:sp>
        <p:nvSpPr>
          <p:cNvPr id="30" name="text-427-81">
            <a:extLst>
              <a:ext uri="{FF2B5EF4-FFF2-40B4-BE49-F238E27FC236}">
                <a16:creationId xmlns:a16="http://schemas.microsoft.com/office/drawing/2014/main" id="{CD94AF3D-197F-4B2D-A0A7-DE828C4613E8}"/>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C2C4BBF2-22BE-46FC-A3A8-7668235F2AB6}"/>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out</a:t>
            </a:r>
          </a:p>
        </p:txBody>
      </p:sp>
      <p:sp>
        <p:nvSpPr>
          <p:cNvPr id="32" name="text-635-64">
            <a:extLst>
              <a:ext uri="{FF2B5EF4-FFF2-40B4-BE49-F238E27FC236}">
                <a16:creationId xmlns:a16="http://schemas.microsoft.com/office/drawing/2014/main" id="{6346A824-2D67-4C83-BBAA-3E04CB3EF527}"/>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a:t>
            </a:r>
            <a:r>
              <a:rPr lang="en-US" sz="1200" b="0" i="0">
                <a:solidFill>
                  <a:srgbClr val="606060"/>
                </a:solidFill>
                <a:latin typeface="Malgun Gothic"/>
                <a:ea typeface="Malgun Gothic"/>
                <a:cs typeface="Malgun Gothic"/>
              </a:rPr>
              <a:t>O(n+m).</a:t>
            </a:r>
            <a:endParaRPr sz="1200" b="0" i="0">
              <a:solidFill>
                <a:srgbClr val="606060"/>
              </a:solidFill>
              <a:latin typeface="Malgun Gothic"/>
              <a:ea typeface="Malgun Gothic"/>
              <a:cs typeface="Malgun Gothic"/>
            </a:endParaRPr>
          </a:p>
        </p:txBody>
      </p:sp>
    </p:spTree>
    <p:extLst>
      <p:ext uri="{BB962C8B-B14F-4D97-AF65-F5344CB8AC3E}">
        <p14:creationId xmlns:p14="http://schemas.microsoft.com/office/powerpoint/2010/main" val="462685519"/>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text-28-64">
            <a:extLst>
              <a:ext uri="{FF2B5EF4-FFF2-40B4-BE49-F238E27FC236}">
                <a16:creationId xmlns:a16="http://schemas.microsoft.com/office/drawing/2014/main" id="{00DB33EB-361F-4F81-BB35-EE65BCE4E9D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D100A05-DA42-4C13-8499-D4848F4E1C3F}"/>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E3A377F-07D1-4DEF-9C84-2E5778993AE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91  C 구현</a:t>
            </a:r>
          </a:p>
        </p:txBody>
      </p:sp>
      <p:sp>
        <p:nvSpPr>
          <p:cNvPr id="4" name="직사각형 3">
            <a:extLst>
              <a:ext uri="{FF2B5EF4-FFF2-40B4-BE49-F238E27FC236}">
                <a16:creationId xmlns:a16="http://schemas.microsoft.com/office/drawing/2014/main" id="{59A907F4-490C-4FF3-BE99-29CEF1894AA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CE324B6-7A55-4D54-BBEC-D8D30AF59AD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19681009-0668-44DD-ADC0-53EA5B4A25F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FC01065-53B2-4274-BA93-C75B8159288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184</a:t>
            </a:r>
          </a:p>
        </p:txBody>
      </p:sp>
      <p:sp>
        <p:nvSpPr>
          <p:cNvPr id="8" name="text-163-64">
            <a:extLst>
              <a:ext uri="{FF2B5EF4-FFF2-40B4-BE49-F238E27FC236}">
                <a16:creationId xmlns:a16="http://schemas.microsoft.com/office/drawing/2014/main" id="{07A0A0B3-199D-45F7-B23B-7DCD3DB81148}"/>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정렬 배열 병합</a:t>
            </a:r>
          </a:p>
        </p:txBody>
      </p:sp>
      <p:sp>
        <p:nvSpPr>
          <p:cNvPr id="9" name="직사각형 8">
            <a:extLst>
              <a:ext uri="{FF2B5EF4-FFF2-40B4-BE49-F238E27FC236}">
                <a16:creationId xmlns:a16="http://schemas.microsoft.com/office/drawing/2014/main" id="{AD1BC7F3-4AFF-4EC2-882C-90EC038F1336}"/>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AB86A7ED-3420-463E-A933-DC3B2734114A}"/>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ED340B26-2BA3-4A33-AE68-2B2A6DCF22E2}"/>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void merge_arrays(const int a[], int n, const int b[],</a:t>
            </a:r>
          </a:p>
        </p:txBody>
      </p:sp>
      <p:sp>
        <p:nvSpPr>
          <p:cNvPr id="12" name="text-242.5-81">
            <a:extLst>
              <a:ext uri="{FF2B5EF4-FFF2-40B4-BE49-F238E27FC236}">
                <a16:creationId xmlns:a16="http://schemas.microsoft.com/office/drawing/2014/main" id="{677F7A1F-C7D0-47DF-8DE9-937FD9311FAE}"/>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C7A85FB6-2193-435C-8300-5B1D84E974ED}"/>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 int out[]) {</a:t>
            </a:r>
          </a:p>
        </p:txBody>
      </p:sp>
      <p:sp>
        <p:nvSpPr>
          <p:cNvPr id="14" name="text-263-81">
            <a:extLst>
              <a:ext uri="{FF2B5EF4-FFF2-40B4-BE49-F238E27FC236}">
                <a16:creationId xmlns:a16="http://schemas.microsoft.com/office/drawing/2014/main" id="{8DA19FD0-5029-43C7-BF69-10C74A4460EA}"/>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ADAE69E6-60AA-4CFE-9DBC-5E97EF92B389}"/>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i=0, j=0, k=0;</a:t>
            </a:r>
          </a:p>
        </p:txBody>
      </p:sp>
      <p:sp>
        <p:nvSpPr>
          <p:cNvPr id="16" name="text-283.5-81">
            <a:extLst>
              <a:ext uri="{FF2B5EF4-FFF2-40B4-BE49-F238E27FC236}">
                <a16:creationId xmlns:a16="http://schemas.microsoft.com/office/drawing/2014/main" id="{F434739C-775D-4569-8B6C-B35434F9CD8A}"/>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A3714468-74FE-48DB-A621-974CE1580527}"/>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(i&lt;n &amp;&amp; j&lt;m) {</a:t>
            </a:r>
          </a:p>
        </p:txBody>
      </p:sp>
      <p:sp>
        <p:nvSpPr>
          <p:cNvPr id="18" name="text-304-81">
            <a:extLst>
              <a:ext uri="{FF2B5EF4-FFF2-40B4-BE49-F238E27FC236}">
                <a16:creationId xmlns:a16="http://schemas.microsoft.com/office/drawing/2014/main" id="{796C36E3-36D0-44EF-A577-17B0309D4004}"/>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DA601F64-A712-4A58-9A52-266FC4672F09}"/>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(a[i]&lt;=b[j]) out[k++]=a[i++];</a:t>
            </a:r>
          </a:p>
        </p:txBody>
      </p:sp>
      <p:sp>
        <p:nvSpPr>
          <p:cNvPr id="20" name="text-324.5-81">
            <a:extLst>
              <a:ext uri="{FF2B5EF4-FFF2-40B4-BE49-F238E27FC236}">
                <a16:creationId xmlns:a16="http://schemas.microsoft.com/office/drawing/2014/main" id="{3E8A304E-8B61-4524-A9CD-92193BD38812}"/>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080CDE26-1221-4B3C-AB39-E58DE2C0DE4E}"/>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 out[k++]=b[j++];</a:t>
            </a:r>
          </a:p>
        </p:txBody>
      </p:sp>
      <p:sp>
        <p:nvSpPr>
          <p:cNvPr id="22" name="text-345-81">
            <a:extLst>
              <a:ext uri="{FF2B5EF4-FFF2-40B4-BE49-F238E27FC236}">
                <a16:creationId xmlns:a16="http://schemas.microsoft.com/office/drawing/2014/main" id="{7958FD53-F012-4B13-B2E7-4908A120EEF7}"/>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D7CED501-BD40-4B2E-A178-839ED40F5B98}"/>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4" name="text-365.5-81">
            <a:extLst>
              <a:ext uri="{FF2B5EF4-FFF2-40B4-BE49-F238E27FC236}">
                <a16:creationId xmlns:a16="http://schemas.microsoft.com/office/drawing/2014/main" id="{A336042E-A0B9-4494-8A9D-9ABA253324DC}"/>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A9ECC481-9E35-42D2-A697-872B2F3E90FF}"/>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(i&lt;n) out[k++]=a[i++];</a:t>
            </a:r>
          </a:p>
        </p:txBody>
      </p:sp>
      <p:sp>
        <p:nvSpPr>
          <p:cNvPr id="26" name="text-386-81">
            <a:extLst>
              <a:ext uri="{FF2B5EF4-FFF2-40B4-BE49-F238E27FC236}">
                <a16:creationId xmlns:a16="http://schemas.microsoft.com/office/drawing/2014/main" id="{52A5EA2C-1FE4-4807-B05B-25BA8B997DF5}"/>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7D0081E7-A709-4438-B2DF-0D5301E7DC09}"/>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(j&lt;m) out[k++]=b[j++];</a:t>
            </a:r>
          </a:p>
        </p:txBody>
      </p:sp>
      <p:sp>
        <p:nvSpPr>
          <p:cNvPr id="28" name="text-406.5-81">
            <a:extLst>
              <a:ext uri="{FF2B5EF4-FFF2-40B4-BE49-F238E27FC236}">
                <a16:creationId xmlns:a16="http://schemas.microsoft.com/office/drawing/2014/main" id="{6299DC03-6CD9-43F1-857B-CAFE97B1D80F}"/>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ED222F2D-A267-4DF1-A2DC-D648C69BE6E7}"/>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0" name="text-635-64">
            <a:extLst>
              <a:ext uri="{FF2B5EF4-FFF2-40B4-BE49-F238E27FC236}">
                <a16:creationId xmlns:a16="http://schemas.microsoft.com/office/drawing/2014/main" id="{5255FD67-CE24-4E6F-84EA-E365072D8D00}"/>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a:t>
            </a:r>
            <a:r>
              <a:rPr lang="en-US" sz="1200" b="0" i="0">
                <a:solidFill>
                  <a:srgbClr val="606060"/>
                </a:solidFill>
                <a:latin typeface="Malgun Gothic"/>
                <a:ea typeface="Malgun Gothic"/>
                <a:cs typeface="Malgun Gothic"/>
              </a:rPr>
              <a:t>O(n+m).</a:t>
            </a:r>
            <a:endParaRPr sz="1200" b="0" i="0">
              <a:solidFill>
                <a:srgbClr val="606060"/>
              </a:solidFill>
              <a:latin typeface="Malgun Gothic"/>
              <a:ea typeface="Malgun Gothic"/>
              <a:cs typeface="Malgun Gothic"/>
            </a:endParaRPr>
          </a:p>
        </p:txBody>
      </p:sp>
    </p:spTree>
    <p:extLst>
      <p:ext uri="{BB962C8B-B14F-4D97-AF65-F5344CB8AC3E}">
        <p14:creationId xmlns:p14="http://schemas.microsoft.com/office/powerpoint/2010/main" val="462685519"/>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45CB4A2E-6B96-4ABC-9CA6-1597360D181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panose="020B0503020000020004" pitchFamily="50" charset="-127"/>
                <a:ea typeface="Malgun Gothic"/>
                <a:cs typeface="Malgun Gothic"/>
              </a:rPr>
              <a:t>4장 분할 정복  /  Python/C 구현</a:t>
            </a:r>
          </a:p>
        </p:txBody>
      </p:sp>
      <p:sp>
        <p:nvSpPr>
          <p:cNvPr id="2" name="text-28-1080">
            <a:extLst>
              <a:ext uri="{FF2B5EF4-FFF2-40B4-BE49-F238E27FC236}">
                <a16:creationId xmlns:a16="http://schemas.microsoft.com/office/drawing/2014/main" id="{EA6B63EB-056C-4D81-BEC2-A437767A723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Malgun Gothic" panose="020B0503020000020004" pitchFamily="50" charset="-127"/>
                <a:ea typeface="Consolas"/>
                <a:cs typeface="Consolas"/>
              </a:rPr>
              <a:t>ALGORITHMS</a:t>
            </a:r>
          </a:p>
        </p:txBody>
      </p:sp>
      <p:sp>
        <p:nvSpPr>
          <p:cNvPr id="3" name="text-72-62">
            <a:extLst>
              <a:ext uri="{FF2B5EF4-FFF2-40B4-BE49-F238E27FC236}">
                <a16:creationId xmlns:a16="http://schemas.microsoft.com/office/drawing/2014/main" id="{C3E937CA-5179-42C1-887E-56757CCC9B9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panose="020B0503020000020004" pitchFamily="50" charset="-127"/>
                <a:ea typeface="Malgun Gothic"/>
                <a:cs typeface="Malgun Gothic"/>
              </a:rPr>
              <a:t>문제 92  </a:t>
            </a:r>
          </a:p>
        </p:txBody>
      </p:sp>
      <p:sp>
        <p:nvSpPr>
          <p:cNvPr id="4" name="직사각형 3">
            <a:extLst>
              <a:ext uri="{FF2B5EF4-FFF2-40B4-BE49-F238E27FC236}">
                <a16:creationId xmlns:a16="http://schemas.microsoft.com/office/drawing/2014/main" id="{6688364E-6278-4F4A-A132-056336B93B2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A06FD03-D167-4D81-B2EA-4A78410EC8C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2BA4D4E-F221-4410-9A3F-11AC6049DC6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Malgun Gothic" panose="020B0503020000020004" pitchFamily="50" charset="-127"/>
                <a:ea typeface="Consolas"/>
                <a:cs typeface="Consolas"/>
              </a:rPr>
              <a:t>04 / DIVIDE AND CONQUER · EXERCISES</a:t>
            </a:r>
          </a:p>
        </p:txBody>
      </p:sp>
      <p:sp>
        <p:nvSpPr>
          <p:cNvPr id="7" name="text-689-1160">
            <a:extLst>
              <a:ext uri="{FF2B5EF4-FFF2-40B4-BE49-F238E27FC236}">
                <a16:creationId xmlns:a16="http://schemas.microsoft.com/office/drawing/2014/main" id="{2D4FFA1A-4F58-4D67-8648-FA6A7A55696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Malgun Gothic" panose="020B0503020000020004" pitchFamily="50" charset="-127"/>
                <a:ea typeface="Consolas"/>
                <a:cs typeface="Consolas"/>
              </a:rPr>
              <a:t>185</a:t>
            </a:r>
          </a:p>
        </p:txBody>
      </p:sp>
      <p:sp>
        <p:nvSpPr>
          <p:cNvPr id="9" name="text-405-64">
            <a:extLst>
              <a:ext uri="{FF2B5EF4-FFF2-40B4-BE49-F238E27FC236}">
                <a16:creationId xmlns:a16="http://schemas.microsoft.com/office/drawing/2014/main" id="{BC3172A3-8B0A-42D1-9692-0B92484FDBFA}"/>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panose="020B0503020000020004" pitchFamily="50" charset="-127"/>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FAD1552B-E9B0-4BC2-A285-6E0824CC44C3}"/>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668028A8-D8FA-4574-A481-D5F998D5B5DE}"/>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682C0C8-DEEA-44B2-9A82-552DCB20E4CB}"/>
              </a:ext>
            </a:extLst>
          </p:cNvPr>
          <p:cNvSpPr>
            <a:spLocks noGrp="1"/>
          </p:cNvSpPr>
          <p:nvPr/>
        </p:nvSpPr>
        <p:spPr>
          <a:xfrm>
            <a:off x="609600" y="5867400"/>
            <a:ext cx="10972800" cy="9525"/>
          </a:xfrm>
          <a:prstGeom prst="rect">
            <a:avLst/>
          </a:prstGeom>
          <a:solidFill>
            <a:srgbClr val="D4D4D4"/>
          </a:solidFill>
          <a:ln w="0">
            <a:noFill/>
          </a:ln>
        </p:spPr>
      </p:sp>
      <p:sp>
        <p:nvSpPr>
          <p:cNvPr id="14" name="merge-question">
            <a:extLst>
              <a:ext uri="{FF2B5EF4-FFF2-40B4-BE49-F238E27FC236}">
                <a16:creationId xmlns:a16="http://schemas.microsoft.com/office/drawing/2014/main" id="{AA665BF2-B376-83A4-5FE7-B7AA53AA592C}"/>
              </a:ext>
            </a:extLst>
          </p:cNvPr>
          <p:cNvSpPr>
            <a:spLocks noGrp="1"/>
          </p:cNvSpPr>
          <p:nvPr/>
        </p:nvSpPr>
        <p:spPr>
          <a:xfrm>
            <a:off x="609600" y="1695450"/>
            <a:ext cx="10972800" cy="1857375"/>
          </a:xfrm>
          <a:prstGeom prst="rect">
            <a:avLst/>
          </a:prstGeom>
          <a:noFill/>
          <a:ln w="0">
            <a:noFill/>
          </a:ln>
        </p:spPr>
        <p:txBody>
          <a:bodyPr/>
          <a:lstStyle>
            <a:defPPr>
              <a:defRPr sz="1950" b="0">
                <a:solidFill>
                  <a:srgbClr val="151515"/>
                </a:solidFill>
                <a:latin typeface="Malgun Gothic"/>
                <a:ea typeface="Malgun Gothic"/>
                <a:cs typeface="Malgun Gothic"/>
              </a:defRPr>
            </a:defPPr>
          </a:lstStyle>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길이 0..1000의 정수 배열을 병합 정렬하시오.</a:t>
            </a:r>
          </a:p>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Python merge_sort(a)는 새 배열을 반환한다.</a:t>
            </a:r>
          </a:p>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C merge_sort(a,lo,hi,tmp)는 lo 이상 hi 미만인 [lo,hi)를 제자리 정렬한다.</a:t>
            </a:r>
          </a:p>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전체 배열의 C 호출은 merge_sort(a,0,n,tmp)이며 tmp는 길이 n이다.</a:t>
            </a:r>
          </a:p>
          <a:p>
            <a:pPr>
              <a:defRPr sz="1950" b="0">
                <a:solidFill>
                  <a:srgbClr val="151515"/>
                </a:solidFill>
                <a:latin typeface="Malgun Gothic"/>
                <a:ea typeface="Malgun Gothic"/>
                <a:cs typeface="Malgun Gothic"/>
              </a:defRPr>
            </a:pPr>
            <a:r>
              <a:rPr sz="1950" b="0">
                <a:solidFill>
                  <a:srgbClr val="151515"/>
                </a:solidFill>
                <a:latin typeface="Malgun Gothic" panose="020B0503020000020004" pitchFamily="50" charset="-127"/>
                <a:ea typeface="Malgun Gothic"/>
                <a:cs typeface="Malgun Gothic"/>
              </a:rPr>
              <a:t>Python의 merge_arrays는 제공된다. Python 또는 C로 함수를 작성하시오.</a:t>
            </a:r>
          </a:p>
        </p:txBody>
      </p:sp>
    </p:spTree>
    <p:extLst>
      <p:ext uri="{BB962C8B-B14F-4D97-AF65-F5344CB8AC3E}">
        <p14:creationId xmlns:p14="http://schemas.microsoft.com/office/powerpoint/2010/main" val="46268551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62DE6D6E-D4FA-4319-84E6-173A29458D7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64E4C01C-0519-4608-85AB-E753CF3392E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263D561-2D2C-44DD-A694-9017D1D6873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정답과 해설</a:t>
            </a:r>
          </a:p>
        </p:txBody>
      </p:sp>
      <p:sp>
        <p:nvSpPr>
          <p:cNvPr id="4" name="직사각형 3">
            <a:extLst>
              <a:ext uri="{FF2B5EF4-FFF2-40B4-BE49-F238E27FC236}">
                <a16:creationId xmlns:a16="http://schemas.microsoft.com/office/drawing/2014/main" id="{840F235B-71A4-4655-A221-5AD1DA559AA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E375154-5168-4FF5-8CFF-BCD9386F9299}"/>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E8D699A-DFFF-47D7-9013-91567DA0579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49466B5-5CA3-4DF5-B9A4-83C094770E3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186</a:t>
            </a:r>
          </a:p>
        </p:txBody>
      </p:sp>
      <p:sp>
        <p:nvSpPr>
          <p:cNvPr id="8" name="text-178-64">
            <a:extLst>
              <a:ext uri="{FF2B5EF4-FFF2-40B4-BE49-F238E27FC236}">
                <a16:creationId xmlns:a16="http://schemas.microsoft.com/office/drawing/2014/main" id="{EB29A44B-CFA5-4E03-99DC-A2427F380185}"/>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 정렬</a:t>
            </a:r>
          </a:p>
        </p:txBody>
      </p:sp>
      <p:sp>
        <p:nvSpPr>
          <p:cNvPr id="9" name="직사각형 8">
            <a:extLst>
              <a:ext uri="{FF2B5EF4-FFF2-40B4-BE49-F238E27FC236}">
                <a16:creationId xmlns:a16="http://schemas.microsoft.com/office/drawing/2014/main" id="{0EF7B60E-EA6F-49A0-B7BF-A123085CBC0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D6B560AA-1EA6-4AB6-AAA6-0BC0A218DF62}"/>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길이 1 이하에서 멈추고 양쪽 정렬 결과를 안정적으로 병합한다.</a:t>
            </a:r>
          </a:p>
        </p:txBody>
      </p:sp>
      <p:sp>
        <p:nvSpPr>
          <p:cNvPr id="11" name="text-324.4-64">
            <a:extLst>
              <a:ext uri="{FF2B5EF4-FFF2-40B4-BE49-F238E27FC236}">
                <a16:creationId xmlns:a16="http://schemas.microsoft.com/office/drawing/2014/main" id="{B7D0DE78-1EA1-4DC3-A9DE-CD8F979CF06B}"/>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34062165-48EF-4293-9718-CCCAE68B0C2D}"/>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B15FD8B-3F9F-498C-BC19-4F726228C01F}"/>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O(n log(n+1)). Python은 앞 문항 merge_arrays를 사용한다.</a:t>
            </a:r>
          </a:p>
        </p:txBody>
      </p:sp>
    </p:spTree>
    <p:extLst>
      <p:ext uri="{BB962C8B-B14F-4D97-AF65-F5344CB8AC3E}">
        <p14:creationId xmlns:p14="http://schemas.microsoft.com/office/powerpoint/2010/main" val="462685519"/>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8F04A76A-3778-46EB-BE03-AEA791DB527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A3DFCEA-5CF6-4B0B-95BF-95CAF93A258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EBF1B4D-4C52-4217-82C3-3053BE2E7FE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Python 구현</a:t>
            </a:r>
          </a:p>
        </p:txBody>
      </p:sp>
      <p:sp>
        <p:nvSpPr>
          <p:cNvPr id="4" name="직사각형 3">
            <a:extLst>
              <a:ext uri="{FF2B5EF4-FFF2-40B4-BE49-F238E27FC236}">
                <a16:creationId xmlns:a16="http://schemas.microsoft.com/office/drawing/2014/main" id="{3ABDC855-2787-4E63-8543-CDF20023F4B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1351C1D-F56A-4363-B2A2-5A22DD0F301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B3A55C3-F9E9-41D6-A5B2-98EB705FB55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A590B26-58EE-4964-A8D4-98ACA48737D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187</a:t>
            </a:r>
          </a:p>
        </p:txBody>
      </p:sp>
      <p:sp>
        <p:nvSpPr>
          <p:cNvPr id="8" name="text-163-64">
            <a:extLst>
              <a:ext uri="{FF2B5EF4-FFF2-40B4-BE49-F238E27FC236}">
                <a16:creationId xmlns:a16="http://schemas.microsoft.com/office/drawing/2014/main" id="{C8EBCF12-3E82-4D0D-AA58-CD0154BD9545}"/>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병합 정렬</a:t>
            </a:r>
          </a:p>
        </p:txBody>
      </p:sp>
      <p:sp>
        <p:nvSpPr>
          <p:cNvPr id="9" name="직사각형 8">
            <a:extLst>
              <a:ext uri="{FF2B5EF4-FFF2-40B4-BE49-F238E27FC236}">
                <a16:creationId xmlns:a16="http://schemas.microsoft.com/office/drawing/2014/main" id="{12AFB8A6-F256-454A-9E50-15677CCD84D9}"/>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DE9AD4E4-3952-463D-AEBE-70342E6AB33C}"/>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F4778A98-DC0B-455A-B944-89B93F2092BC}"/>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merge_sort(a):</a:t>
            </a:r>
          </a:p>
        </p:txBody>
      </p:sp>
      <p:sp>
        <p:nvSpPr>
          <p:cNvPr id="12" name="text-242.5-81">
            <a:extLst>
              <a:ext uri="{FF2B5EF4-FFF2-40B4-BE49-F238E27FC236}">
                <a16:creationId xmlns:a16="http://schemas.microsoft.com/office/drawing/2014/main" id="{F415C4F6-0755-4897-9F24-B59BAEBB028F}"/>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B03FEFE2-28C8-4A04-B9AA-B8FA3FA9AEC8}"/>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len(a) &lt;= 1:</a:t>
            </a:r>
          </a:p>
        </p:txBody>
      </p:sp>
      <p:sp>
        <p:nvSpPr>
          <p:cNvPr id="14" name="text-263-81">
            <a:extLst>
              <a:ext uri="{FF2B5EF4-FFF2-40B4-BE49-F238E27FC236}">
                <a16:creationId xmlns:a16="http://schemas.microsoft.com/office/drawing/2014/main" id="{B230E91F-5014-4EC6-87C2-9BBC5F96BAA0}"/>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9156D342-3AE1-471F-B416-172D6802C127}"/>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a[:]</a:t>
            </a:r>
          </a:p>
        </p:txBody>
      </p:sp>
      <p:sp>
        <p:nvSpPr>
          <p:cNvPr id="16" name="text-283.5-81">
            <a:extLst>
              <a:ext uri="{FF2B5EF4-FFF2-40B4-BE49-F238E27FC236}">
                <a16:creationId xmlns:a16="http://schemas.microsoft.com/office/drawing/2014/main" id="{12EF6A3B-03FC-40C2-947A-F5DA272A2985}"/>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D3E176DA-F92F-4798-8B3B-3DE5F2BF2419}"/>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mid = len(a) // 2</a:t>
            </a:r>
          </a:p>
        </p:txBody>
      </p:sp>
      <p:sp>
        <p:nvSpPr>
          <p:cNvPr id="18" name="text-304-81">
            <a:extLst>
              <a:ext uri="{FF2B5EF4-FFF2-40B4-BE49-F238E27FC236}">
                <a16:creationId xmlns:a16="http://schemas.microsoft.com/office/drawing/2014/main" id="{07E0D67E-751E-47EF-AB8A-7E6C4B234411}"/>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E31B5F9B-4F7B-4A53-9B60-96765DC0A620}"/>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merge_arrays(merge_sort(a[:mid]),</a:t>
            </a:r>
          </a:p>
        </p:txBody>
      </p:sp>
      <p:sp>
        <p:nvSpPr>
          <p:cNvPr id="20" name="text-324.5-81">
            <a:extLst>
              <a:ext uri="{FF2B5EF4-FFF2-40B4-BE49-F238E27FC236}">
                <a16:creationId xmlns:a16="http://schemas.microsoft.com/office/drawing/2014/main" id="{33AE02D3-4FA2-40F1-8C7E-94F887947820}"/>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E16424F5-1B08-4F82-B283-97489B682330}"/>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merge_sort(a[mid:]))</a:t>
            </a:r>
          </a:p>
        </p:txBody>
      </p:sp>
      <p:sp>
        <p:nvSpPr>
          <p:cNvPr id="22" name="text-635-64">
            <a:extLst>
              <a:ext uri="{FF2B5EF4-FFF2-40B4-BE49-F238E27FC236}">
                <a16:creationId xmlns:a16="http://schemas.microsoft.com/office/drawing/2014/main" id="{746DD2DD-24A2-4F00-8FFA-156E2EA7AE6A}"/>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log(n+1)). Python은 앞 문항 merge_arrays를 사용한다.</a:t>
            </a:r>
          </a:p>
        </p:txBody>
      </p:sp>
    </p:spTree>
    <p:extLst>
      <p:ext uri="{BB962C8B-B14F-4D97-AF65-F5344CB8AC3E}">
        <p14:creationId xmlns:p14="http://schemas.microsoft.com/office/powerpoint/2010/main" val="462685519"/>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text-28-64">
            <a:extLst>
              <a:ext uri="{FF2B5EF4-FFF2-40B4-BE49-F238E27FC236}">
                <a16:creationId xmlns:a16="http://schemas.microsoft.com/office/drawing/2014/main" id="{C099F8D1-6BFC-4B32-B8FB-85D273E481E1}"/>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E5A71E4E-2126-4697-8A58-0B349F8848B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9B6CE00-9FC1-4655-95D8-F736B41C45C7}"/>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92  C 구현</a:t>
            </a:r>
          </a:p>
        </p:txBody>
      </p:sp>
      <p:sp>
        <p:nvSpPr>
          <p:cNvPr id="4" name="직사각형 3">
            <a:extLst>
              <a:ext uri="{FF2B5EF4-FFF2-40B4-BE49-F238E27FC236}">
                <a16:creationId xmlns:a16="http://schemas.microsoft.com/office/drawing/2014/main" id="{71E0DFC2-67E6-4A00-AA67-0F101B648B3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B4BECFD-D2DD-4E01-8C2C-5DF9CCB5389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52387AE-BBB6-4BA9-986F-C4256A42E9D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CBEB7FA9-A673-40BA-AE4B-881A4763C46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188</a:t>
            </a:r>
          </a:p>
        </p:txBody>
      </p:sp>
      <p:sp>
        <p:nvSpPr>
          <p:cNvPr id="8" name="text-163-64">
            <a:extLst>
              <a:ext uri="{FF2B5EF4-FFF2-40B4-BE49-F238E27FC236}">
                <a16:creationId xmlns:a16="http://schemas.microsoft.com/office/drawing/2014/main" id="{C581655A-1669-489A-8169-BA10259ADF2F}"/>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병합 정렬</a:t>
            </a:r>
          </a:p>
        </p:txBody>
      </p:sp>
      <p:sp>
        <p:nvSpPr>
          <p:cNvPr id="9" name="직사각형 8">
            <a:extLst>
              <a:ext uri="{FF2B5EF4-FFF2-40B4-BE49-F238E27FC236}">
                <a16:creationId xmlns:a16="http://schemas.microsoft.com/office/drawing/2014/main" id="{1EA3B848-597B-41BF-9E7B-AC058398C367}"/>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E006C6A4-59AF-43FD-9310-4358D267D3F7}"/>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259A58C1-3573-4FB9-9625-5AC4994FF281}"/>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void merge_sort(int a[], int lo, int hi, int tmp[]) {</a:t>
            </a:r>
          </a:p>
        </p:txBody>
      </p:sp>
      <p:sp>
        <p:nvSpPr>
          <p:cNvPr id="12" name="text-242.5-81">
            <a:extLst>
              <a:ext uri="{FF2B5EF4-FFF2-40B4-BE49-F238E27FC236}">
                <a16:creationId xmlns:a16="http://schemas.microsoft.com/office/drawing/2014/main" id="{BCB86B0C-330F-42FC-870C-EB2BE983D427}"/>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8F0164B8-05D2-49F1-8FFE-DA801A6A4A3F}"/>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(hi-lo &lt;= 1) return;</a:t>
            </a:r>
          </a:p>
        </p:txBody>
      </p:sp>
      <p:sp>
        <p:nvSpPr>
          <p:cNvPr id="14" name="text-263-81">
            <a:extLst>
              <a:ext uri="{FF2B5EF4-FFF2-40B4-BE49-F238E27FC236}">
                <a16:creationId xmlns:a16="http://schemas.microsoft.com/office/drawing/2014/main" id="{CFA2F736-DF97-4969-8CB8-2E88CB6F524F}"/>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09802F7F-C2E5-473D-9553-F6BE89357949}"/>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mid=(lo+hi)/2;</a:t>
            </a:r>
          </a:p>
        </p:txBody>
      </p:sp>
      <p:sp>
        <p:nvSpPr>
          <p:cNvPr id="16" name="text-283.5-81">
            <a:extLst>
              <a:ext uri="{FF2B5EF4-FFF2-40B4-BE49-F238E27FC236}">
                <a16:creationId xmlns:a16="http://schemas.microsoft.com/office/drawing/2014/main" id="{FA5C2A9F-E973-48D4-8ACF-F0BE964613A8}"/>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83EA565C-9DCD-4D2C-B345-8FDC715553B0}"/>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merge_sort(a,lo,mid,tmp);</a:t>
            </a:r>
          </a:p>
        </p:txBody>
      </p:sp>
      <p:sp>
        <p:nvSpPr>
          <p:cNvPr id="18" name="text-304-81">
            <a:extLst>
              <a:ext uri="{FF2B5EF4-FFF2-40B4-BE49-F238E27FC236}">
                <a16:creationId xmlns:a16="http://schemas.microsoft.com/office/drawing/2014/main" id="{2509F46D-1D46-4969-8DD4-F1C8E5A43F52}"/>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34721F34-1EC0-4B18-905D-04C6DE97133E}"/>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merge_sort(a,mid,hi,tmp);</a:t>
            </a:r>
          </a:p>
        </p:txBody>
      </p:sp>
      <p:sp>
        <p:nvSpPr>
          <p:cNvPr id="20" name="text-324.5-81">
            <a:extLst>
              <a:ext uri="{FF2B5EF4-FFF2-40B4-BE49-F238E27FC236}">
                <a16:creationId xmlns:a16="http://schemas.microsoft.com/office/drawing/2014/main" id="{8997C10B-F9C1-406F-8ADF-228896A942DB}"/>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230AA800-BF6A-4B22-B9A2-2C31C91F979A}"/>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i=lo, j=mid, k=lo;</a:t>
            </a:r>
          </a:p>
        </p:txBody>
      </p:sp>
      <p:sp>
        <p:nvSpPr>
          <p:cNvPr id="22" name="text-345-81">
            <a:extLst>
              <a:ext uri="{FF2B5EF4-FFF2-40B4-BE49-F238E27FC236}">
                <a16:creationId xmlns:a16="http://schemas.microsoft.com/office/drawing/2014/main" id="{123CA49A-33B9-4643-91AB-965E85818D3D}"/>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896E0A49-1BC6-4D76-BA07-7EDEA677BE14}"/>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(i&lt;mid &amp;&amp; j&lt;hi) {</a:t>
            </a:r>
          </a:p>
        </p:txBody>
      </p:sp>
      <p:sp>
        <p:nvSpPr>
          <p:cNvPr id="24" name="text-365.5-81">
            <a:extLst>
              <a:ext uri="{FF2B5EF4-FFF2-40B4-BE49-F238E27FC236}">
                <a16:creationId xmlns:a16="http://schemas.microsoft.com/office/drawing/2014/main" id="{826406FE-735B-4EB7-B6D8-61CCD4E2D33D}"/>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3868398D-D20B-4BF7-AEC2-D6DF4B33A6ED}"/>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(a[i]&lt;=a[j]) tmp[k++]=a[i++];</a:t>
            </a:r>
          </a:p>
        </p:txBody>
      </p:sp>
      <p:sp>
        <p:nvSpPr>
          <p:cNvPr id="26" name="text-386-81">
            <a:extLst>
              <a:ext uri="{FF2B5EF4-FFF2-40B4-BE49-F238E27FC236}">
                <a16:creationId xmlns:a16="http://schemas.microsoft.com/office/drawing/2014/main" id="{1AF10E35-3EE7-4516-A25A-B9D85F63C6E2}"/>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F2260924-DA94-4701-AF22-32ECB8EC6493}"/>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 tmp[k++]=a[j++];</a:t>
            </a:r>
          </a:p>
        </p:txBody>
      </p:sp>
      <p:sp>
        <p:nvSpPr>
          <p:cNvPr id="28" name="text-406.5-81">
            <a:extLst>
              <a:ext uri="{FF2B5EF4-FFF2-40B4-BE49-F238E27FC236}">
                <a16:creationId xmlns:a16="http://schemas.microsoft.com/office/drawing/2014/main" id="{30CD2C67-6BBA-45FE-9A88-C257C1839531}"/>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9D6332E9-9C9F-4093-8C9B-A92B99CD49A6}"/>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30" name="text-427-81">
            <a:extLst>
              <a:ext uri="{FF2B5EF4-FFF2-40B4-BE49-F238E27FC236}">
                <a16:creationId xmlns:a16="http://schemas.microsoft.com/office/drawing/2014/main" id="{74AAA4C8-D9AA-47B0-A93A-75F204443387}"/>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F5650B08-2F60-4393-85B5-3265A42427D3}"/>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(i&lt;mid) tmp[k++]=a[i++];</a:t>
            </a:r>
          </a:p>
        </p:txBody>
      </p:sp>
      <p:sp>
        <p:nvSpPr>
          <p:cNvPr id="32" name="text-447.5-81">
            <a:extLst>
              <a:ext uri="{FF2B5EF4-FFF2-40B4-BE49-F238E27FC236}">
                <a16:creationId xmlns:a16="http://schemas.microsoft.com/office/drawing/2014/main" id="{BA438DA6-2461-4E85-8F1D-6E71A3EBD1C8}"/>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3A876BE3-A6EF-4A8F-BE28-382D0F17C6BE}"/>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(j&lt;hi) tmp[k++]=a[j++];</a:t>
            </a:r>
          </a:p>
        </p:txBody>
      </p:sp>
      <p:sp>
        <p:nvSpPr>
          <p:cNvPr id="34" name="text-468-81">
            <a:extLst>
              <a:ext uri="{FF2B5EF4-FFF2-40B4-BE49-F238E27FC236}">
                <a16:creationId xmlns:a16="http://schemas.microsoft.com/office/drawing/2014/main" id="{6D2FBE1F-B2BE-4271-B77C-40A3D4B38CC4}"/>
              </a:ext>
            </a:extLst>
          </p:cNvPr>
          <p:cNvSpPr>
            <a:spLocks noGrp="1"/>
          </p:cNvSpPr>
          <p:nvPr/>
        </p:nvSpPr>
        <p:spPr>
          <a:xfrm>
            <a:off x="771525" y="44577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13</a:t>
            </a:r>
          </a:p>
        </p:txBody>
      </p:sp>
      <p:sp>
        <p:nvSpPr>
          <p:cNvPr id="35" name="text-468-135">
            <a:extLst>
              <a:ext uri="{FF2B5EF4-FFF2-40B4-BE49-F238E27FC236}">
                <a16:creationId xmlns:a16="http://schemas.microsoft.com/office/drawing/2014/main" id="{0F2FAEE6-E0FC-4FC7-ADAD-68924FC501E3}"/>
              </a:ext>
            </a:extLst>
          </p:cNvPr>
          <p:cNvSpPr>
            <a:spLocks noGrp="1"/>
          </p:cNvSpPr>
          <p:nvPr/>
        </p:nvSpPr>
        <p:spPr>
          <a:xfrm>
            <a:off x="1285875" y="44577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(i=lo; i&lt;hi; ++i) a[i]=tmp[i];</a:t>
            </a:r>
          </a:p>
        </p:txBody>
      </p:sp>
      <p:sp>
        <p:nvSpPr>
          <p:cNvPr id="36" name="text-488.5-81">
            <a:extLst>
              <a:ext uri="{FF2B5EF4-FFF2-40B4-BE49-F238E27FC236}">
                <a16:creationId xmlns:a16="http://schemas.microsoft.com/office/drawing/2014/main" id="{9AD6F39B-1424-4B00-8509-6639E1BD15AB}"/>
              </a:ext>
            </a:extLst>
          </p:cNvPr>
          <p:cNvSpPr>
            <a:spLocks noGrp="1"/>
          </p:cNvSpPr>
          <p:nvPr/>
        </p:nvSpPr>
        <p:spPr>
          <a:xfrm>
            <a:off x="771525" y="46529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14</a:t>
            </a:r>
          </a:p>
        </p:txBody>
      </p:sp>
      <p:sp>
        <p:nvSpPr>
          <p:cNvPr id="37" name="text-488.5-135">
            <a:extLst>
              <a:ext uri="{FF2B5EF4-FFF2-40B4-BE49-F238E27FC236}">
                <a16:creationId xmlns:a16="http://schemas.microsoft.com/office/drawing/2014/main" id="{E9666210-A589-4966-827F-C906AA771CB3}"/>
              </a:ext>
            </a:extLst>
          </p:cNvPr>
          <p:cNvSpPr>
            <a:spLocks noGrp="1"/>
          </p:cNvSpPr>
          <p:nvPr/>
        </p:nvSpPr>
        <p:spPr>
          <a:xfrm>
            <a:off x="1285875" y="46529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8" name="text-635-64">
            <a:extLst>
              <a:ext uri="{FF2B5EF4-FFF2-40B4-BE49-F238E27FC236}">
                <a16:creationId xmlns:a16="http://schemas.microsoft.com/office/drawing/2014/main" id="{B51E676F-081C-440A-BAFB-ABB9E000ED92}"/>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log(n+1)). Python은 앞 문항 merge_arrays를 사용한다.</a:t>
            </a:r>
          </a:p>
        </p:txBody>
      </p:sp>
    </p:spTree>
    <p:extLst>
      <p:ext uri="{BB962C8B-B14F-4D97-AF65-F5344CB8AC3E}">
        <p14:creationId xmlns:p14="http://schemas.microsoft.com/office/powerpoint/2010/main" val="46268551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3C4D8410-6996-44CB-9D71-E0D5DC04C3F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44D50F5-59E4-4121-A01E-AC1F2A74BE7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B33BB9F-1788-4023-BA70-F339308F9C2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a:t>
            </a:r>
          </a:p>
        </p:txBody>
      </p:sp>
      <p:sp>
        <p:nvSpPr>
          <p:cNvPr id="4" name="직사각형 3">
            <a:extLst>
              <a:ext uri="{FF2B5EF4-FFF2-40B4-BE49-F238E27FC236}">
                <a16:creationId xmlns:a16="http://schemas.microsoft.com/office/drawing/2014/main" id="{456F4132-BD6B-4D43-8F3A-14D34D19D01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407FED0-A496-4871-820D-770DEEAF9A9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EBD7E91-C81E-4EAC-B30B-91161EE2E11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592E1C3-A3E0-46B6-8D91-6ABF0E77E04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189</a:t>
            </a:r>
          </a:p>
        </p:txBody>
      </p:sp>
      <p:sp>
        <p:nvSpPr>
          <p:cNvPr id="8" name="text-178-64">
            <a:extLst>
              <a:ext uri="{FF2B5EF4-FFF2-40B4-BE49-F238E27FC236}">
                <a16:creationId xmlns:a16="http://schemas.microsoft.com/office/drawing/2014/main" id="{D292DA55-A050-4B0F-AE37-5C83FC626467}"/>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정수 배열의 [lo,hi)에서 lo&lt;mid&lt;hi다. 양쪽에 적어도 한 원소를 포함하는 최대 연속합</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cross_sum을 작성한다. n≤1000, 값은 −10⁶..10⁶. Python 또는 C 중 하나로</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함수를 작성하시오.</a:t>
            </a:r>
          </a:p>
        </p:txBody>
      </p:sp>
      <p:sp>
        <p:nvSpPr>
          <p:cNvPr id="9" name="text-405-64">
            <a:extLst>
              <a:ext uri="{FF2B5EF4-FFF2-40B4-BE49-F238E27FC236}">
                <a16:creationId xmlns:a16="http://schemas.microsoft.com/office/drawing/2014/main" id="{17866F94-822B-41CF-942E-D30DD4DFBA17}"/>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D78E9887-47F4-467F-81D1-A5EE7BBA7256}"/>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342B63B-A605-4A43-9CB9-44CF93EF0D6B}"/>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0938341F-4BDE-470E-B28F-CE2048360128}"/>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8EDF9CE-0EB2-4BB9-9D36-F11B2D59779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0B41F60F-C563-4C0C-85FB-8150339F0ED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307DBA2-D8EF-451F-A7F1-78AD5A7641B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정답과 해설</a:t>
            </a:r>
          </a:p>
        </p:txBody>
      </p:sp>
      <p:sp>
        <p:nvSpPr>
          <p:cNvPr id="4" name="직사각형 3">
            <a:extLst>
              <a:ext uri="{FF2B5EF4-FFF2-40B4-BE49-F238E27FC236}">
                <a16:creationId xmlns:a16="http://schemas.microsoft.com/office/drawing/2014/main" id="{4FBD6B9A-4797-4006-9824-A522E4751C6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AD45EF9-556F-4E48-B413-252D79F2CE7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2743C37-8746-424E-8CCD-2EB061FBE49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89EFF3F-99C1-4740-A97C-44930E0CFCA3}"/>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190</a:t>
            </a:r>
          </a:p>
        </p:txBody>
      </p:sp>
      <p:sp>
        <p:nvSpPr>
          <p:cNvPr id="8" name="text-178-64">
            <a:extLst>
              <a:ext uri="{FF2B5EF4-FFF2-40B4-BE49-F238E27FC236}">
                <a16:creationId xmlns:a16="http://schemas.microsoft.com/office/drawing/2014/main" id="{0FAB0ECC-5C09-4959-96D2-14E7818FD1AD}"/>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경계를 가로지르는 합</a:t>
            </a:r>
          </a:p>
        </p:txBody>
      </p:sp>
      <p:sp>
        <p:nvSpPr>
          <p:cNvPr id="9" name="직사각형 8">
            <a:extLst>
              <a:ext uri="{FF2B5EF4-FFF2-40B4-BE49-F238E27FC236}">
                <a16:creationId xmlns:a16="http://schemas.microsoft.com/office/drawing/2014/main" id="{F9D651A1-E5BC-488F-B0EC-C5C7D942F86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4C574492-7881-412E-8CFD-D3EEF69FC0FB}"/>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왼쪽의 최대 접미사 합과 오른쪽의 최대 접두사 합을 더한다.</a:t>
            </a:r>
          </a:p>
        </p:txBody>
      </p:sp>
      <p:sp>
        <p:nvSpPr>
          <p:cNvPr id="11" name="text-324.4-64">
            <a:extLst>
              <a:ext uri="{FF2B5EF4-FFF2-40B4-BE49-F238E27FC236}">
                <a16:creationId xmlns:a16="http://schemas.microsoft.com/office/drawing/2014/main" id="{E898781A-5D10-451D-94A5-2F8878805C5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0D299E49-859B-450E-9007-F7CEF652E71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27CDF117-2219-442D-AF4D-3ACFD833C9B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O(hi−lo). 모두 음수여도 빈 구간을 허용하지 않는다.</a:t>
            </a:r>
          </a:p>
        </p:txBody>
      </p:sp>
    </p:spTree>
    <p:extLst>
      <p:ext uri="{BB962C8B-B14F-4D97-AF65-F5344CB8AC3E}">
        <p14:creationId xmlns:p14="http://schemas.microsoft.com/office/powerpoint/2010/main" val="462685519"/>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ext-28-64">
            <a:extLst>
              <a:ext uri="{FF2B5EF4-FFF2-40B4-BE49-F238E27FC236}">
                <a16:creationId xmlns:a16="http://schemas.microsoft.com/office/drawing/2014/main" id="{667B4306-9AE9-4818-8E93-ACFC266ECC7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EE833A5B-C376-4557-BFFD-91A0FD2DE64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FC2BA00-CF7D-4076-B293-7CC2CA23A67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Python 구현</a:t>
            </a:r>
          </a:p>
        </p:txBody>
      </p:sp>
      <p:sp>
        <p:nvSpPr>
          <p:cNvPr id="4" name="직사각형 3">
            <a:extLst>
              <a:ext uri="{FF2B5EF4-FFF2-40B4-BE49-F238E27FC236}">
                <a16:creationId xmlns:a16="http://schemas.microsoft.com/office/drawing/2014/main" id="{EF990A09-09C7-4BC1-A281-9623D84BC59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E83B683-E695-4359-ADAD-5AB01AE29CA5}"/>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A15C7CA-CD24-4BFD-8788-9F380539C8B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542651F-6341-471F-A6BF-8CE14BB4E59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191</a:t>
            </a:r>
          </a:p>
        </p:txBody>
      </p:sp>
      <p:sp>
        <p:nvSpPr>
          <p:cNvPr id="8" name="text-163-64">
            <a:extLst>
              <a:ext uri="{FF2B5EF4-FFF2-40B4-BE49-F238E27FC236}">
                <a16:creationId xmlns:a16="http://schemas.microsoft.com/office/drawing/2014/main" id="{C84B2278-815D-40D5-9055-9C200609EF55}"/>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경계를 가로지르는 합</a:t>
            </a:r>
          </a:p>
        </p:txBody>
      </p:sp>
      <p:sp>
        <p:nvSpPr>
          <p:cNvPr id="9" name="직사각형 8">
            <a:extLst>
              <a:ext uri="{FF2B5EF4-FFF2-40B4-BE49-F238E27FC236}">
                <a16:creationId xmlns:a16="http://schemas.microsoft.com/office/drawing/2014/main" id="{BCFFFCDC-D74C-4FB0-8812-824FF72B0E27}"/>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752143ED-FB2C-47D0-A089-2299E86ADE60}"/>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5D88B421-8FFE-49FC-A99F-CBB50CB459E3}"/>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cross_sum(a, lo, mid, hi):</a:t>
            </a:r>
          </a:p>
        </p:txBody>
      </p:sp>
      <p:sp>
        <p:nvSpPr>
          <p:cNvPr id="12" name="text-242.5-81">
            <a:extLst>
              <a:ext uri="{FF2B5EF4-FFF2-40B4-BE49-F238E27FC236}">
                <a16:creationId xmlns:a16="http://schemas.microsoft.com/office/drawing/2014/main" id="{466CA9DE-9C81-4BF3-ADDA-FB3B8139FA05}"/>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12EB8BDE-272C-4682-9379-8982B7DFA2C7}"/>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total = 0</a:t>
            </a:r>
          </a:p>
        </p:txBody>
      </p:sp>
      <p:sp>
        <p:nvSpPr>
          <p:cNvPr id="14" name="text-263-81">
            <a:extLst>
              <a:ext uri="{FF2B5EF4-FFF2-40B4-BE49-F238E27FC236}">
                <a16:creationId xmlns:a16="http://schemas.microsoft.com/office/drawing/2014/main" id="{ABC7D886-7143-4AC9-8DF6-161DD0E78547}"/>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3CFF1169-C4E7-4DCE-B5D6-13B50F5A1260}"/>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left = a[mid - 1]</a:t>
            </a:r>
          </a:p>
        </p:txBody>
      </p:sp>
      <p:sp>
        <p:nvSpPr>
          <p:cNvPr id="16" name="text-283.5-81">
            <a:extLst>
              <a:ext uri="{FF2B5EF4-FFF2-40B4-BE49-F238E27FC236}">
                <a16:creationId xmlns:a16="http://schemas.microsoft.com/office/drawing/2014/main" id="{5C68E946-2C3E-4EF8-BC68-715F2A3C3C87}"/>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73C4692C-0EC7-478E-8A81-EA571C8F208A}"/>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range(mid - 1, lo - 1, -1):</a:t>
            </a:r>
          </a:p>
        </p:txBody>
      </p:sp>
      <p:sp>
        <p:nvSpPr>
          <p:cNvPr id="18" name="text-304-81">
            <a:extLst>
              <a:ext uri="{FF2B5EF4-FFF2-40B4-BE49-F238E27FC236}">
                <a16:creationId xmlns:a16="http://schemas.microsoft.com/office/drawing/2014/main" id="{DFEBD2F6-4757-491C-A788-F9574E0B58A8}"/>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250F7C4E-113D-4457-BD3F-2EACFB4CD4B5}"/>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total += a[i]</a:t>
            </a:r>
          </a:p>
        </p:txBody>
      </p:sp>
      <p:sp>
        <p:nvSpPr>
          <p:cNvPr id="20" name="text-324.5-81">
            <a:extLst>
              <a:ext uri="{FF2B5EF4-FFF2-40B4-BE49-F238E27FC236}">
                <a16:creationId xmlns:a16="http://schemas.microsoft.com/office/drawing/2014/main" id="{E3C54103-19C4-4ECD-BE1A-B59805BCD788}"/>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D38CFF19-9062-4FE7-B1F9-F8F8DF2C39E8}"/>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left = max(left, total)</a:t>
            </a:r>
          </a:p>
        </p:txBody>
      </p:sp>
      <p:sp>
        <p:nvSpPr>
          <p:cNvPr id="22" name="text-345-81">
            <a:extLst>
              <a:ext uri="{FF2B5EF4-FFF2-40B4-BE49-F238E27FC236}">
                <a16:creationId xmlns:a16="http://schemas.microsoft.com/office/drawing/2014/main" id="{F8892CB8-E423-4178-A431-0E3540FA7763}"/>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57742B90-BFC5-4D11-9EEC-097589A4FC95}"/>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total = 0</a:t>
            </a:r>
          </a:p>
        </p:txBody>
      </p:sp>
      <p:sp>
        <p:nvSpPr>
          <p:cNvPr id="24" name="text-365.5-81">
            <a:extLst>
              <a:ext uri="{FF2B5EF4-FFF2-40B4-BE49-F238E27FC236}">
                <a16:creationId xmlns:a16="http://schemas.microsoft.com/office/drawing/2014/main" id="{916990C1-914F-49DD-B012-A40CC7E1EE1C}"/>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429D39FD-561A-472D-A3D2-B26DF5808D29}"/>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right = a[mid]</a:t>
            </a:r>
          </a:p>
        </p:txBody>
      </p:sp>
      <p:sp>
        <p:nvSpPr>
          <p:cNvPr id="26" name="text-386-81">
            <a:extLst>
              <a:ext uri="{FF2B5EF4-FFF2-40B4-BE49-F238E27FC236}">
                <a16:creationId xmlns:a16="http://schemas.microsoft.com/office/drawing/2014/main" id="{471E9503-7384-447E-B063-C67315C2FA64}"/>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50523E53-737F-4788-AB9B-FB73D2D1A1D4}"/>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range(mid, hi):</a:t>
            </a:r>
          </a:p>
        </p:txBody>
      </p:sp>
      <p:sp>
        <p:nvSpPr>
          <p:cNvPr id="28" name="text-406.5-81">
            <a:extLst>
              <a:ext uri="{FF2B5EF4-FFF2-40B4-BE49-F238E27FC236}">
                <a16:creationId xmlns:a16="http://schemas.microsoft.com/office/drawing/2014/main" id="{E028C8AA-DAAC-42E6-A1BF-580C87D5F791}"/>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9C886FA8-BB2B-46FE-9B9F-5F4EB612809E}"/>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total += a[i]</a:t>
            </a:r>
          </a:p>
        </p:txBody>
      </p:sp>
      <p:sp>
        <p:nvSpPr>
          <p:cNvPr id="30" name="text-427-81">
            <a:extLst>
              <a:ext uri="{FF2B5EF4-FFF2-40B4-BE49-F238E27FC236}">
                <a16:creationId xmlns:a16="http://schemas.microsoft.com/office/drawing/2014/main" id="{B15FC21A-CF8D-4623-BBB7-E419D171927D}"/>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59644B9A-1856-4516-8BB5-E7385BD5D14A}"/>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right = max(right, total)</a:t>
            </a:r>
          </a:p>
        </p:txBody>
      </p:sp>
      <p:sp>
        <p:nvSpPr>
          <p:cNvPr id="32" name="text-447.5-81">
            <a:extLst>
              <a:ext uri="{FF2B5EF4-FFF2-40B4-BE49-F238E27FC236}">
                <a16:creationId xmlns:a16="http://schemas.microsoft.com/office/drawing/2014/main" id="{CB325FF2-F6B6-495D-B6F7-B5AB298939C4}"/>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2AD5B0F8-957B-45F8-AA34-AA52809725A3}"/>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left + right</a:t>
            </a:r>
          </a:p>
        </p:txBody>
      </p:sp>
      <p:sp>
        <p:nvSpPr>
          <p:cNvPr id="34" name="text-635-64">
            <a:extLst>
              <a:ext uri="{FF2B5EF4-FFF2-40B4-BE49-F238E27FC236}">
                <a16:creationId xmlns:a16="http://schemas.microsoft.com/office/drawing/2014/main" id="{CC115E36-0669-4992-A7AB-E1E6166D41E4}"/>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O(hi−lo). 모두 음수여도 빈 구간을 허용하지 않는다.</a:t>
            </a:r>
          </a:p>
        </p:txBody>
      </p:sp>
    </p:spTree>
    <p:extLst>
      <p:ext uri="{BB962C8B-B14F-4D97-AF65-F5344CB8AC3E}">
        <p14:creationId xmlns:p14="http://schemas.microsoft.com/office/powerpoint/2010/main" val="462685519"/>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text-28-64">
            <a:extLst>
              <a:ext uri="{FF2B5EF4-FFF2-40B4-BE49-F238E27FC236}">
                <a16:creationId xmlns:a16="http://schemas.microsoft.com/office/drawing/2014/main" id="{B1051255-C174-4445-8C01-2B4AA980940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E5B089BA-F09A-4437-A22C-F54ACB2D361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9AB49DF-7350-4D8F-A5BB-3B2C7A72793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93  C 구현</a:t>
            </a:r>
          </a:p>
        </p:txBody>
      </p:sp>
      <p:sp>
        <p:nvSpPr>
          <p:cNvPr id="4" name="직사각형 3">
            <a:extLst>
              <a:ext uri="{FF2B5EF4-FFF2-40B4-BE49-F238E27FC236}">
                <a16:creationId xmlns:a16="http://schemas.microsoft.com/office/drawing/2014/main" id="{185CC7EF-5AC3-4F9D-BF25-65356E19C92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470D03E4-0E30-4FFB-BFAE-C5C3B200632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87321E8-27B6-4464-BEC4-37F3CCCACE6A}"/>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0EFB0F4-8505-4B59-B015-A0C67B84F57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192</a:t>
            </a:r>
          </a:p>
        </p:txBody>
      </p:sp>
      <p:sp>
        <p:nvSpPr>
          <p:cNvPr id="8" name="text-163-64">
            <a:extLst>
              <a:ext uri="{FF2B5EF4-FFF2-40B4-BE49-F238E27FC236}">
                <a16:creationId xmlns:a16="http://schemas.microsoft.com/office/drawing/2014/main" id="{CE505D66-040C-4240-A3A9-77EA07FA2835}"/>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경계를 가로지르는 합</a:t>
            </a:r>
          </a:p>
        </p:txBody>
      </p:sp>
      <p:sp>
        <p:nvSpPr>
          <p:cNvPr id="9" name="직사각형 8">
            <a:extLst>
              <a:ext uri="{FF2B5EF4-FFF2-40B4-BE49-F238E27FC236}">
                <a16:creationId xmlns:a16="http://schemas.microsoft.com/office/drawing/2014/main" id="{8CC068BE-E63B-421A-8482-26A5A431EE5A}"/>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511F4F18-74ED-461B-8FB8-90B5DD33DE00}"/>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AB53C328-1402-436F-A0A8-8C086271CD14}"/>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long long cross_sum(const int a[], int lo, int mid, int hi) {</a:t>
            </a:r>
          </a:p>
        </p:txBody>
      </p:sp>
      <p:sp>
        <p:nvSpPr>
          <p:cNvPr id="12" name="text-242.5-81">
            <a:extLst>
              <a:ext uri="{FF2B5EF4-FFF2-40B4-BE49-F238E27FC236}">
                <a16:creationId xmlns:a16="http://schemas.microsoft.com/office/drawing/2014/main" id="{49EC7406-7D23-44BD-A7DB-732C8F0EB9FC}"/>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C81766FB-5630-4105-BCC5-3F1671F5EEE7}"/>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sum=0, left=a[mid-1], right=a[mid];</a:t>
            </a:r>
          </a:p>
        </p:txBody>
      </p:sp>
      <p:sp>
        <p:nvSpPr>
          <p:cNvPr id="14" name="text-263-81">
            <a:extLst>
              <a:ext uri="{FF2B5EF4-FFF2-40B4-BE49-F238E27FC236}">
                <a16:creationId xmlns:a16="http://schemas.microsoft.com/office/drawing/2014/main" id="{15C4E1A4-DB28-461B-A856-5E2DE658F395}"/>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2254106B-9041-4994-9591-226948241E11}"/>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i=mid-1; i&gt;=lo; --i) {</a:t>
            </a:r>
          </a:p>
        </p:txBody>
      </p:sp>
      <p:sp>
        <p:nvSpPr>
          <p:cNvPr id="16" name="text-283.5-81">
            <a:extLst>
              <a:ext uri="{FF2B5EF4-FFF2-40B4-BE49-F238E27FC236}">
                <a16:creationId xmlns:a16="http://schemas.microsoft.com/office/drawing/2014/main" id="{6BB57565-63AF-4BC5-BFF0-F40407E86A43}"/>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B0C25CE9-CFE5-4B16-B7A4-B3BFFA84F4F1}"/>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sum+=a[i];</a:t>
            </a:r>
          </a:p>
        </p:txBody>
      </p:sp>
      <p:sp>
        <p:nvSpPr>
          <p:cNvPr id="18" name="text-304-81">
            <a:extLst>
              <a:ext uri="{FF2B5EF4-FFF2-40B4-BE49-F238E27FC236}">
                <a16:creationId xmlns:a16="http://schemas.microsoft.com/office/drawing/2014/main" id="{60F179AE-7D32-4EED-A5D6-585CFF764B1E}"/>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A5BF98EB-4E54-40B2-8C95-43107257A293}"/>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(sum&gt;left) left=sum;</a:t>
            </a:r>
          </a:p>
        </p:txBody>
      </p:sp>
      <p:sp>
        <p:nvSpPr>
          <p:cNvPr id="20" name="text-324.5-81">
            <a:extLst>
              <a:ext uri="{FF2B5EF4-FFF2-40B4-BE49-F238E27FC236}">
                <a16:creationId xmlns:a16="http://schemas.microsoft.com/office/drawing/2014/main" id="{F26D8FC7-64CD-4976-81E2-EC0465482388}"/>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F2109EA8-5EEB-4EEA-86BC-EC01FE442EEB}"/>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2" name="text-345-81">
            <a:extLst>
              <a:ext uri="{FF2B5EF4-FFF2-40B4-BE49-F238E27FC236}">
                <a16:creationId xmlns:a16="http://schemas.microsoft.com/office/drawing/2014/main" id="{0CA3C930-5BD4-4401-B158-1FC213B7A917}"/>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9F9E6769-DBD4-49F6-ACD9-68CF0D14B80C}"/>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sum=0;</a:t>
            </a:r>
          </a:p>
        </p:txBody>
      </p:sp>
      <p:sp>
        <p:nvSpPr>
          <p:cNvPr id="24" name="text-365.5-81">
            <a:extLst>
              <a:ext uri="{FF2B5EF4-FFF2-40B4-BE49-F238E27FC236}">
                <a16:creationId xmlns:a16="http://schemas.microsoft.com/office/drawing/2014/main" id="{6C59AF74-CCD8-4902-B7A3-891AB2C30058}"/>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F53BE238-0109-4A2E-A48D-D83FFD91D91D}"/>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i=mid; i&lt;hi; ++i) {</a:t>
            </a:r>
          </a:p>
        </p:txBody>
      </p:sp>
      <p:sp>
        <p:nvSpPr>
          <p:cNvPr id="26" name="text-386-81">
            <a:extLst>
              <a:ext uri="{FF2B5EF4-FFF2-40B4-BE49-F238E27FC236}">
                <a16:creationId xmlns:a16="http://schemas.microsoft.com/office/drawing/2014/main" id="{2A58FD33-C767-46B9-BD46-8D828343D14F}"/>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FCE1A649-64D8-4246-92E4-2C60EEB31CAE}"/>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sum+=a[i];</a:t>
            </a:r>
          </a:p>
        </p:txBody>
      </p:sp>
      <p:sp>
        <p:nvSpPr>
          <p:cNvPr id="28" name="text-406.5-81">
            <a:extLst>
              <a:ext uri="{FF2B5EF4-FFF2-40B4-BE49-F238E27FC236}">
                <a16:creationId xmlns:a16="http://schemas.microsoft.com/office/drawing/2014/main" id="{443F1C0B-9D32-48DF-8BD3-08E4B3D3B5F8}"/>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6C4D6E83-847F-40AE-8BD2-9D9770B49542}"/>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(sum&gt;right) right=sum;</a:t>
            </a:r>
          </a:p>
        </p:txBody>
      </p:sp>
      <p:sp>
        <p:nvSpPr>
          <p:cNvPr id="30" name="text-427-81">
            <a:extLst>
              <a:ext uri="{FF2B5EF4-FFF2-40B4-BE49-F238E27FC236}">
                <a16:creationId xmlns:a16="http://schemas.microsoft.com/office/drawing/2014/main" id="{70988222-1309-4DF1-A6A1-C37103DAEF36}"/>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9474BBF3-AF4F-490C-9B9D-30ECFFBFFB46}"/>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32" name="text-447.5-81">
            <a:extLst>
              <a:ext uri="{FF2B5EF4-FFF2-40B4-BE49-F238E27FC236}">
                <a16:creationId xmlns:a16="http://schemas.microsoft.com/office/drawing/2014/main" id="{D39CF56A-7A96-4376-91F6-9C03D1C49AF9}"/>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8C90BDE0-D180-404C-AB04-58C304765021}"/>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left+right;</a:t>
            </a:r>
          </a:p>
        </p:txBody>
      </p:sp>
      <p:sp>
        <p:nvSpPr>
          <p:cNvPr id="34" name="text-468-81">
            <a:extLst>
              <a:ext uri="{FF2B5EF4-FFF2-40B4-BE49-F238E27FC236}">
                <a16:creationId xmlns:a16="http://schemas.microsoft.com/office/drawing/2014/main" id="{579D4F02-2D53-42AE-9834-B7EB4C5C8D3F}"/>
              </a:ext>
            </a:extLst>
          </p:cNvPr>
          <p:cNvSpPr>
            <a:spLocks noGrp="1"/>
          </p:cNvSpPr>
          <p:nvPr/>
        </p:nvSpPr>
        <p:spPr>
          <a:xfrm>
            <a:off x="771525" y="44577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13</a:t>
            </a:r>
          </a:p>
        </p:txBody>
      </p:sp>
      <p:sp>
        <p:nvSpPr>
          <p:cNvPr id="35" name="text-468-135">
            <a:extLst>
              <a:ext uri="{FF2B5EF4-FFF2-40B4-BE49-F238E27FC236}">
                <a16:creationId xmlns:a16="http://schemas.microsoft.com/office/drawing/2014/main" id="{C33CED8B-818C-4446-AD77-AC0A571849B1}"/>
              </a:ext>
            </a:extLst>
          </p:cNvPr>
          <p:cNvSpPr>
            <a:spLocks noGrp="1"/>
          </p:cNvSpPr>
          <p:nvPr/>
        </p:nvSpPr>
        <p:spPr>
          <a:xfrm>
            <a:off x="1285875" y="44577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6" name="text-635-64">
            <a:extLst>
              <a:ext uri="{FF2B5EF4-FFF2-40B4-BE49-F238E27FC236}">
                <a16:creationId xmlns:a16="http://schemas.microsoft.com/office/drawing/2014/main" id="{9B546910-890E-4F86-BC93-5A996D35185D}"/>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O(hi−lo). 모두 음수여도 빈 구간을 허용하지 않는다.</a:t>
            </a:r>
          </a:p>
        </p:txBody>
      </p:sp>
    </p:spTree>
    <p:extLst>
      <p:ext uri="{BB962C8B-B14F-4D97-AF65-F5344CB8AC3E}">
        <p14:creationId xmlns:p14="http://schemas.microsoft.com/office/powerpoint/2010/main" val="462685519"/>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2352DCA-FE3C-46F5-9BC9-FDF3C4F9E75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ED0E02E9-9EB6-4324-ADF5-87D30C35C8E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4BCD2B9-611F-4797-8E14-FFC5703784D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a:t>
            </a:r>
          </a:p>
        </p:txBody>
      </p:sp>
      <p:sp>
        <p:nvSpPr>
          <p:cNvPr id="4" name="직사각형 3">
            <a:extLst>
              <a:ext uri="{FF2B5EF4-FFF2-40B4-BE49-F238E27FC236}">
                <a16:creationId xmlns:a16="http://schemas.microsoft.com/office/drawing/2014/main" id="{575E4E91-C59C-4127-9279-135B1810CB7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60DF10B-0452-45F7-AC79-0ED89AD2042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C733FC5-1A5E-43FB-B5AA-0D1295D886E8}"/>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3B9DAC4-4921-4821-972F-8F84A33A07F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193</a:t>
            </a:r>
          </a:p>
        </p:txBody>
      </p:sp>
      <p:sp>
        <p:nvSpPr>
          <p:cNvPr id="8" name="text-178-64">
            <a:extLst>
              <a:ext uri="{FF2B5EF4-FFF2-40B4-BE49-F238E27FC236}">
                <a16:creationId xmlns:a16="http://schemas.microsoft.com/office/drawing/2014/main" id="{EB76EB69-A9FB-457B-AC7D-504F73D5FA09}"/>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비어 있지 않은 배열 [lo,hi)의 최대 연속합 max_subarray를 분할 정복으로 구하시오.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빈 구간은 금지한다. n≤1000, 값은 −10⁶..10⁶. cross_sum은 제공된다. Python</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또는 C 중 하나로 함수를 작성하시오.</a:t>
            </a:r>
          </a:p>
        </p:txBody>
      </p:sp>
      <p:sp>
        <p:nvSpPr>
          <p:cNvPr id="9" name="text-405-64">
            <a:extLst>
              <a:ext uri="{FF2B5EF4-FFF2-40B4-BE49-F238E27FC236}">
                <a16:creationId xmlns:a16="http://schemas.microsoft.com/office/drawing/2014/main" id="{1C8D40F0-40D0-417D-A0BF-0CD8F3042316}"/>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990A3C54-C17B-4170-8C10-B03E8873C47A}"/>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26C3AFAA-66A2-43C3-A51B-24B2F543A748}"/>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4349E5D9-57D1-49F1-A251-0AEB857F0E6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3B616C1F-5068-43FD-8B91-94229D1CF63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BB41E968-BB18-4197-B291-6FCBA4962B6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3DC27028-2B8F-47B8-A686-514F2DCC6BC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정답과 해설</a:t>
            </a:r>
          </a:p>
        </p:txBody>
      </p:sp>
      <p:sp>
        <p:nvSpPr>
          <p:cNvPr id="4" name="직사각형 3">
            <a:extLst>
              <a:ext uri="{FF2B5EF4-FFF2-40B4-BE49-F238E27FC236}">
                <a16:creationId xmlns:a16="http://schemas.microsoft.com/office/drawing/2014/main" id="{0C774490-E6BD-4859-8D05-7F70A1DFD38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45D0249-852B-4438-BC3A-D9B677F16C8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2A0DD2E-BDA9-4BAF-BD8C-67F9C8CDF8D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68A1BAF-3AEE-4A66-9DEF-7DE66566CB52}"/>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194</a:t>
            </a:r>
          </a:p>
        </p:txBody>
      </p:sp>
      <p:sp>
        <p:nvSpPr>
          <p:cNvPr id="8" name="text-178-64">
            <a:extLst>
              <a:ext uri="{FF2B5EF4-FFF2-40B4-BE49-F238E27FC236}">
                <a16:creationId xmlns:a16="http://schemas.microsoft.com/office/drawing/2014/main" id="{43A966C0-95FD-467B-9E67-2631CAB11FB3}"/>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분할 정복 최대 연속합</a:t>
            </a:r>
          </a:p>
        </p:txBody>
      </p:sp>
      <p:sp>
        <p:nvSpPr>
          <p:cNvPr id="9" name="직사각형 8">
            <a:extLst>
              <a:ext uri="{FF2B5EF4-FFF2-40B4-BE49-F238E27FC236}">
                <a16:creationId xmlns:a16="http://schemas.microsoft.com/office/drawing/2014/main" id="{A543BF0A-EBA0-403A-A520-A2B73B206DA5}"/>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609E89D9-06C7-4103-B8EE-2EEF2CC490AD}"/>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왼쪽, 오른쪽, 경계를 가로지르는 세 후보 중 최댓값을 반환한다.</a:t>
            </a:r>
          </a:p>
        </p:txBody>
      </p:sp>
      <p:sp>
        <p:nvSpPr>
          <p:cNvPr id="11" name="text-324.4-64">
            <a:extLst>
              <a:ext uri="{FF2B5EF4-FFF2-40B4-BE49-F238E27FC236}">
                <a16:creationId xmlns:a16="http://schemas.microsoft.com/office/drawing/2014/main" id="{A829AD6B-8AD3-4881-9811-485B8F89CAA4}"/>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9AEC9692-A479-465A-97D5-59867694D89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B02DE4C-B78D-489E-B416-14DABF15F7BB}"/>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O(n log n).</a:t>
            </a:r>
          </a:p>
        </p:txBody>
      </p:sp>
    </p:spTree>
    <p:extLst>
      <p:ext uri="{BB962C8B-B14F-4D97-AF65-F5344CB8AC3E}">
        <p14:creationId xmlns:p14="http://schemas.microsoft.com/office/powerpoint/2010/main" val="462685519"/>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text-28-64">
            <a:extLst>
              <a:ext uri="{FF2B5EF4-FFF2-40B4-BE49-F238E27FC236}">
                <a16:creationId xmlns:a16="http://schemas.microsoft.com/office/drawing/2014/main" id="{E867776B-4423-4A1B-8844-0B2DED556558}"/>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1A443B0E-96F4-4411-B879-EC65BB0F482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8F45B0A-C92A-487A-85CA-6E20F3EB599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Python 구현</a:t>
            </a:r>
          </a:p>
        </p:txBody>
      </p:sp>
      <p:sp>
        <p:nvSpPr>
          <p:cNvPr id="4" name="직사각형 3">
            <a:extLst>
              <a:ext uri="{FF2B5EF4-FFF2-40B4-BE49-F238E27FC236}">
                <a16:creationId xmlns:a16="http://schemas.microsoft.com/office/drawing/2014/main" id="{C6D5962F-1AC9-4433-B53B-5E270F38D99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E7FE3F5-E1C6-467F-8024-694F7E7C12F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44CEA49-98FE-4D09-9D43-6C762B1E724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7195748-4874-4278-88F2-D958A5FEAEAC}"/>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195</a:t>
            </a:r>
          </a:p>
        </p:txBody>
      </p:sp>
      <p:sp>
        <p:nvSpPr>
          <p:cNvPr id="8" name="text-163-64">
            <a:extLst>
              <a:ext uri="{FF2B5EF4-FFF2-40B4-BE49-F238E27FC236}">
                <a16:creationId xmlns:a16="http://schemas.microsoft.com/office/drawing/2014/main" id="{D48F5B82-52BB-4965-91DA-FE8CC36CA305}"/>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분할 정복 최대 연속합</a:t>
            </a:r>
          </a:p>
        </p:txBody>
      </p:sp>
      <p:sp>
        <p:nvSpPr>
          <p:cNvPr id="9" name="직사각형 8">
            <a:extLst>
              <a:ext uri="{FF2B5EF4-FFF2-40B4-BE49-F238E27FC236}">
                <a16:creationId xmlns:a16="http://schemas.microsoft.com/office/drawing/2014/main" id="{11A59B3A-0739-4838-BA1E-2DD090A6465F}"/>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50E21E62-2289-4D28-8A3A-2C0E0FCD944C}"/>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D791440F-4831-458B-A761-B932CD8643B8}"/>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max_subarray(a, lo, hi):</a:t>
            </a:r>
          </a:p>
        </p:txBody>
      </p:sp>
      <p:sp>
        <p:nvSpPr>
          <p:cNvPr id="12" name="text-242.5-81">
            <a:extLst>
              <a:ext uri="{FF2B5EF4-FFF2-40B4-BE49-F238E27FC236}">
                <a16:creationId xmlns:a16="http://schemas.microsoft.com/office/drawing/2014/main" id="{37EBFC2E-9203-4812-A08E-AE50663C2593}"/>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D3D334B4-F97A-4814-AEAB-826F4240FD58}"/>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hi - lo == 1:</a:t>
            </a:r>
          </a:p>
        </p:txBody>
      </p:sp>
      <p:sp>
        <p:nvSpPr>
          <p:cNvPr id="14" name="text-263-81">
            <a:extLst>
              <a:ext uri="{FF2B5EF4-FFF2-40B4-BE49-F238E27FC236}">
                <a16:creationId xmlns:a16="http://schemas.microsoft.com/office/drawing/2014/main" id="{3BE7D9E1-2F03-45D2-ACC4-3CB78511C2C6}"/>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52AC325F-7681-4A7A-BFD7-42D3FCE814A9}"/>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a[lo]</a:t>
            </a:r>
          </a:p>
        </p:txBody>
      </p:sp>
      <p:sp>
        <p:nvSpPr>
          <p:cNvPr id="16" name="text-283.5-81">
            <a:extLst>
              <a:ext uri="{FF2B5EF4-FFF2-40B4-BE49-F238E27FC236}">
                <a16:creationId xmlns:a16="http://schemas.microsoft.com/office/drawing/2014/main" id="{A2831B7C-3D70-408A-97CC-709F6766C7AB}"/>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711AF8C1-7A11-44AB-B78D-D9A48600B160}"/>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mid = (lo + hi) // 2</a:t>
            </a:r>
          </a:p>
        </p:txBody>
      </p:sp>
      <p:sp>
        <p:nvSpPr>
          <p:cNvPr id="18" name="text-304-81">
            <a:extLst>
              <a:ext uri="{FF2B5EF4-FFF2-40B4-BE49-F238E27FC236}">
                <a16:creationId xmlns:a16="http://schemas.microsoft.com/office/drawing/2014/main" id="{3A4B7ACC-CBD0-4B7C-B797-1C5F998DC5E9}"/>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BA91A93F-DD13-40CF-9AC1-8D53004DCC8A}"/>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max(max_subarray(a, lo, mid),</a:t>
            </a:r>
          </a:p>
        </p:txBody>
      </p:sp>
      <p:sp>
        <p:nvSpPr>
          <p:cNvPr id="20" name="text-324.5-81">
            <a:extLst>
              <a:ext uri="{FF2B5EF4-FFF2-40B4-BE49-F238E27FC236}">
                <a16:creationId xmlns:a16="http://schemas.microsoft.com/office/drawing/2014/main" id="{DC84D66F-8D51-4522-9F13-0023CDB162A1}"/>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C86B58B1-F53C-440D-9634-BA7F7C17AA5E}"/>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max_subarray(a, mid, hi),</a:t>
            </a:r>
          </a:p>
        </p:txBody>
      </p:sp>
      <p:sp>
        <p:nvSpPr>
          <p:cNvPr id="22" name="text-345-81">
            <a:extLst>
              <a:ext uri="{FF2B5EF4-FFF2-40B4-BE49-F238E27FC236}">
                <a16:creationId xmlns:a16="http://schemas.microsoft.com/office/drawing/2014/main" id="{9DE0AD4A-ECD5-4365-B55A-2F4BF3E79FC2}"/>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82621CD1-42C4-4D39-8A73-67EBE6B3361F}"/>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cross_sum(a, lo, mid, hi))</a:t>
            </a:r>
          </a:p>
        </p:txBody>
      </p:sp>
      <p:sp>
        <p:nvSpPr>
          <p:cNvPr id="24" name="text-635-64">
            <a:extLst>
              <a:ext uri="{FF2B5EF4-FFF2-40B4-BE49-F238E27FC236}">
                <a16:creationId xmlns:a16="http://schemas.microsoft.com/office/drawing/2014/main" id="{EF9C9A77-92E3-471C-AF80-052A4E1AAA4C}"/>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log n).</a:t>
            </a:r>
          </a:p>
        </p:txBody>
      </p:sp>
    </p:spTree>
    <p:extLst>
      <p:ext uri="{BB962C8B-B14F-4D97-AF65-F5344CB8AC3E}">
        <p14:creationId xmlns:p14="http://schemas.microsoft.com/office/powerpoint/2010/main" val="462685519"/>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28-64">
            <a:extLst>
              <a:ext uri="{FF2B5EF4-FFF2-40B4-BE49-F238E27FC236}">
                <a16:creationId xmlns:a16="http://schemas.microsoft.com/office/drawing/2014/main" id="{0B1CD6A9-5E62-44DF-A1D2-88158DCFFBD4}"/>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9BE3370-E1B0-41B5-AC42-6482E39FBBC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797C0A5-62D4-4F7C-B646-2226FC2A854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94  C 구현</a:t>
            </a:r>
          </a:p>
        </p:txBody>
      </p:sp>
      <p:sp>
        <p:nvSpPr>
          <p:cNvPr id="4" name="직사각형 3">
            <a:extLst>
              <a:ext uri="{FF2B5EF4-FFF2-40B4-BE49-F238E27FC236}">
                <a16:creationId xmlns:a16="http://schemas.microsoft.com/office/drawing/2014/main" id="{A0B00E14-5E05-4A2E-9AC0-D36B30BB9AD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E44DFB6-AB5B-4F03-BD15-E05E00D70A2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6ADBF137-102E-4713-8072-73A234C5E22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94943BF6-CAED-453F-8E88-B4D3E1792C5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196</a:t>
            </a:r>
          </a:p>
        </p:txBody>
      </p:sp>
      <p:sp>
        <p:nvSpPr>
          <p:cNvPr id="8" name="text-163-64">
            <a:extLst>
              <a:ext uri="{FF2B5EF4-FFF2-40B4-BE49-F238E27FC236}">
                <a16:creationId xmlns:a16="http://schemas.microsoft.com/office/drawing/2014/main" id="{8C042624-7F62-42C6-8B2E-9AB579C9CD54}"/>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분할 정복 최대 연속합</a:t>
            </a:r>
          </a:p>
        </p:txBody>
      </p:sp>
      <p:sp>
        <p:nvSpPr>
          <p:cNvPr id="9" name="직사각형 8">
            <a:extLst>
              <a:ext uri="{FF2B5EF4-FFF2-40B4-BE49-F238E27FC236}">
                <a16:creationId xmlns:a16="http://schemas.microsoft.com/office/drawing/2014/main" id="{156DA38C-A9F2-49BB-9893-E7ADE9DFC685}"/>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F7674759-3D41-4A8F-A38E-C6DC1B9083C6}"/>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33F4CA22-9081-497C-9F74-5FE84A1E34EA}"/>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long long max_subarray(const int a[], int lo, int hi) {</a:t>
            </a:r>
          </a:p>
        </p:txBody>
      </p:sp>
      <p:sp>
        <p:nvSpPr>
          <p:cNvPr id="12" name="text-242.5-81">
            <a:extLst>
              <a:ext uri="{FF2B5EF4-FFF2-40B4-BE49-F238E27FC236}">
                <a16:creationId xmlns:a16="http://schemas.microsoft.com/office/drawing/2014/main" id="{F9D8B941-FF80-4953-A509-5DA9E88046A0}"/>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1B79ED85-9407-41D2-89CC-0A4CADB09384}"/>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(hi-lo == 1) return a[lo];</a:t>
            </a:r>
          </a:p>
        </p:txBody>
      </p:sp>
      <p:sp>
        <p:nvSpPr>
          <p:cNvPr id="14" name="text-263-81">
            <a:extLst>
              <a:ext uri="{FF2B5EF4-FFF2-40B4-BE49-F238E27FC236}">
                <a16:creationId xmlns:a16="http://schemas.microsoft.com/office/drawing/2014/main" id="{B53C26B2-527A-4085-A66D-DE24B934A356}"/>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95C154FE-0402-4EC7-B7C6-B8B5E3C27586}"/>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mid=(lo+hi)/2;</a:t>
            </a:r>
          </a:p>
        </p:txBody>
      </p:sp>
      <p:sp>
        <p:nvSpPr>
          <p:cNvPr id="16" name="text-283.5-81">
            <a:extLst>
              <a:ext uri="{FF2B5EF4-FFF2-40B4-BE49-F238E27FC236}">
                <a16:creationId xmlns:a16="http://schemas.microsoft.com/office/drawing/2014/main" id="{3B8FC092-792E-4EF6-8CF1-DD22198F2AA3}"/>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76FCF16C-930C-424B-8F04-2E3633C49DB7}"/>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left=max_subarray(a,lo,mid);</a:t>
            </a:r>
          </a:p>
        </p:txBody>
      </p:sp>
      <p:sp>
        <p:nvSpPr>
          <p:cNvPr id="18" name="text-304-81">
            <a:extLst>
              <a:ext uri="{FF2B5EF4-FFF2-40B4-BE49-F238E27FC236}">
                <a16:creationId xmlns:a16="http://schemas.microsoft.com/office/drawing/2014/main" id="{35D2D888-3BFF-48CA-9681-A72F2E226DFB}"/>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CD465FD2-B179-4361-B9BD-FED57849BA35}"/>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right=max_subarray(a,mid,hi);</a:t>
            </a:r>
          </a:p>
        </p:txBody>
      </p:sp>
      <p:sp>
        <p:nvSpPr>
          <p:cNvPr id="20" name="text-324.5-81">
            <a:extLst>
              <a:ext uri="{FF2B5EF4-FFF2-40B4-BE49-F238E27FC236}">
                <a16:creationId xmlns:a16="http://schemas.microsoft.com/office/drawing/2014/main" id="{A07F6DAE-8CEF-416E-AF80-D20D90B0B94D}"/>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15DE735C-C0D7-44EF-B25D-BC2B7DC5C4C7}"/>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cross=cross_sum(a,lo,mid,hi);</a:t>
            </a:r>
          </a:p>
        </p:txBody>
      </p:sp>
      <p:sp>
        <p:nvSpPr>
          <p:cNvPr id="22" name="text-345-81">
            <a:extLst>
              <a:ext uri="{FF2B5EF4-FFF2-40B4-BE49-F238E27FC236}">
                <a16:creationId xmlns:a16="http://schemas.microsoft.com/office/drawing/2014/main" id="{590E6C20-1A9E-4494-8D7D-661B99AD0126}"/>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92A0D6B4-7D82-4949-BD78-DFAAD363E785}"/>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best=left&gt;right ? left:right;</a:t>
            </a:r>
          </a:p>
        </p:txBody>
      </p:sp>
      <p:sp>
        <p:nvSpPr>
          <p:cNvPr id="24" name="text-365.5-81">
            <a:extLst>
              <a:ext uri="{FF2B5EF4-FFF2-40B4-BE49-F238E27FC236}">
                <a16:creationId xmlns:a16="http://schemas.microsoft.com/office/drawing/2014/main" id="{D308A536-C0A5-4D81-8350-B5AFB0799CD4}"/>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7E8363A7-6BAE-4F91-B616-79F2ABA5B03F}"/>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best&gt;cross ? best:cross;</a:t>
            </a:r>
          </a:p>
        </p:txBody>
      </p:sp>
      <p:sp>
        <p:nvSpPr>
          <p:cNvPr id="26" name="text-386-81">
            <a:extLst>
              <a:ext uri="{FF2B5EF4-FFF2-40B4-BE49-F238E27FC236}">
                <a16:creationId xmlns:a16="http://schemas.microsoft.com/office/drawing/2014/main" id="{439EEE1A-4E44-47A1-A13E-4B94B09855FD}"/>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B9806B9D-D69A-4467-B470-2C1D119EB72A}"/>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28" name="text-635-64">
            <a:extLst>
              <a:ext uri="{FF2B5EF4-FFF2-40B4-BE49-F238E27FC236}">
                <a16:creationId xmlns:a16="http://schemas.microsoft.com/office/drawing/2014/main" id="{3527C051-12CB-44D2-949E-5D591B291188}"/>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 log n).</a:t>
            </a:r>
          </a:p>
        </p:txBody>
      </p:sp>
    </p:spTree>
    <p:extLst>
      <p:ext uri="{BB962C8B-B14F-4D97-AF65-F5344CB8AC3E}">
        <p14:creationId xmlns:p14="http://schemas.microsoft.com/office/powerpoint/2010/main" val="462685519"/>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40712BD2-4680-4C6E-A8F1-37A77238FB2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7A5FA034-DB00-48D4-A82A-C3DFF2507267}"/>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5A60F2B-3E8F-4268-A43D-E5DC863DB7F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a:t>
            </a:r>
          </a:p>
        </p:txBody>
      </p:sp>
      <p:sp>
        <p:nvSpPr>
          <p:cNvPr id="4" name="직사각형 3">
            <a:extLst>
              <a:ext uri="{FF2B5EF4-FFF2-40B4-BE49-F238E27FC236}">
                <a16:creationId xmlns:a16="http://schemas.microsoft.com/office/drawing/2014/main" id="{7D644268-34C5-4624-9685-416633B883A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9C4F2380-F22E-4F6B-A305-3DF07AE53C1D}"/>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476B7AC-BC8D-474F-9068-335106BFE90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DDC4B6F-2686-46B8-994A-68800FE0D3A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197</a:t>
            </a:r>
          </a:p>
        </p:txBody>
      </p:sp>
      <p:sp>
        <p:nvSpPr>
          <p:cNvPr id="8" name="text-178-64">
            <a:extLst>
              <a:ext uri="{FF2B5EF4-FFF2-40B4-BE49-F238E27FC236}">
                <a16:creationId xmlns:a16="http://schemas.microsoft.com/office/drawing/2014/main" id="{60BB214E-1007-442C-9B43-85DA45B1D2B6}"/>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최근접 쌍 분할 정복의 기저 함수 closest_base를 작성한다. 점 2~3개이며 좌표는</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−10000..10000의 정수다. 최소 거리의 제곱을 반환한다. C 입력은 x[],y[],n이다.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Python 또는 C 중 하나로 함수를 작성하시오.</a:t>
            </a:r>
          </a:p>
        </p:txBody>
      </p:sp>
      <p:sp>
        <p:nvSpPr>
          <p:cNvPr id="9" name="text-405-64">
            <a:extLst>
              <a:ext uri="{FF2B5EF4-FFF2-40B4-BE49-F238E27FC236}">
                <a16:creationId xmlns:a16="http://schemas.microsoft.com/office/drawing/2014/main" id="{480A05C8-5426-4785-8D4D-75C56820984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C4F192A6-69E6-49A7-8A73-91456BA0E74F}"/>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EB40A46F-7326-44DE-9E50-50EE52D8802E}"/>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C9A6255-ECC0-4F88-956B-BAB3E7275E9F}"/>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FA23CB0A-B5AD-4595-AD0A-B8203BC659B2}"/>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D3D179E7-53D2-4418-887D-16B73BBC11A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B378E3C-826C-4091-A982-257BE416094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정답과 해설</a:t>
            </a:r>
          </a:p>
        </p:txBody>
      </p:sp>
      <p:sp>
        <p:nvSpPr>
          <p:cNvPr id="4" name="직사각형 3">
            <a:extLst>
              <a:ext uri="{FF2B5EF4-FFF2-40B4-BE49-F238E27FC236}">
                <a16:creationId xmlns:a16="http://schemas.microsoft.com/office/drawing/2014/main" id="{11A58383-AF0B-4E9A-95B7-02D47546103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D4C4B01-629E-4CE8-B2D8-4C2E81C5797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0695E5C-4CD7-484D-8B16-A53CF52B47C5}"/>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AE63233-1E65-4F13-AC03-64916450931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198</a:t>
            </a:r>
          </a:p>
        </p:txBody>
      </p:sp>
      <p:sp>
        <p:nvSpPr>
          <p:cNvPr id="8" name="text-178-64">
            <a:extLst>
              <a:ext uri="{FF2B5EF4-FFF2-40B4-BE49-F238E27FC236}">
                <a16:creationId xmlns:a16="http://schemas.microsoft.com/office/drawing/2014/main" id="{B352CBD6-5EF3-4269-8522-D54A347ECF00}"/>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최근접 쌍의 기저 사례</a:t>
            </a:r>
          </a:p>
        </p:txBody>
      </p:sp>
      <p:sp>
        <p:nvSpPr>
          <p:cNvPr id="9" name="직사각형 8">
            <a:extLst>
              <a:ext uri="{FF2B5EF4-FFF2-40B4-BE49-F238E27FC236}">
                <a16:creationId xmlns:a16="http://schemas.microsoft.com/office/drawing/2014/main" id="{4F47ADF5-4C5A-407E-81DD-4D88588D786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A6C4D02D-053A-48F5-AC29-1183742F25E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기저 구간의 모든 두 점을 비교하며 제곱 거리의 최솟값을 구한다.</a:t>
            </a:r>
          </a:p>
        </p:txBody>
      </p:sp>
      <p:sp>
        <p:nvSpPr>
          <p:cNvPr id="11" name="text-324.4-64">
            <a:extLst>
              <a:ext uri="{FF2B5EF4-FFF2-40B4-BE49-F238E27FC236}">
                <a16:creationId xmlns:a16="http://schemas.microsoft.com/office/drawing/2014/main" id="{6597D395-3A0E-4CF9-9AF4-5FD0C7AEC466}"/>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5F345002-7BE2-4A12-A8E6-EFE3992C181C}"/>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B4C42E75-4FE3-4B02-8E2B-EB20F211014E}"/>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O(k²) 비교, 이 기저에서는 k≤3이므로 O(1). 전체 최근접 쌍 알고리즘의 시간과 구별한다.</a:t>
            </a:r>
          </a:p>
        </p:txBody>
      </p:sp>
    </p:spTree>
    <p:extLst>
      <p:ext uri="{BB962C8B-B14F-4D97-AF65-F5344CB8AC3E}">
        <p14:creationId xmlns:p14="http://schemas.microsoft.com/office/powerpoint/2010/main" val="46268551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7" name="text-28-64">
            <a:extLst>
              <a:ext uri="{FF2B5EF4-FFF2-40B4-BE49-F238E27FC236}">
                <a16:creationId xmlns:a16="http://schemas.microsoft.com/office/drawing/2014/main" id="{A343F1FB-EF03-47B3-BC53-FCCDCB69901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8B3DC27D-8A41-40AB-9A5D-0E10BCC145F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DC0E3C40-9D58-4B1B-A5C7-CCED7E97581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Python 구현</a:t>
            </a:r>
          </a:p>
        </p:txBody>
      </p:sp>
      <p:sp>
        <p:nvSpPr>
          <p:cNvPr id="4" name="직사각형 3">
            <a:extLst>
              <a:ext uri="{FF2B5EF4-FFF2-40B4-BE49-F238E27FC236}">
                <a16:creationId xmlns:a16="http://schemas.microsoft.com/office/drawing/2014/main" id="{95B73315-0EF6-41C3-9925-2C92E5B9ED9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170EEBB3-8602-491F-A59B-A6A6915CE87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E36580E-7333-4168-AF2D-5BD9FE0FFF7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68580E5-DCAA-4067-8859-DAD7A1A21E0D}"/>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199</a:t>
            </a:r>
          </a:p>
        </p:txBody>
      </p:sp>
      <p:sp>
        <p:nvSpPr>
          <p:cNvPr id="8" name="text-163-64">
            <a:extLst>
              <a:ext uri="{FF2B5EF4-FFF2-40B4-BE49-F238E27FC236}">
                <a16:creationId xmlns:a16="http://schemas.microsoft.com/office/drawing/2014/main" id="{9A45E572-2C63-4FD1-9826-41AC81890728}"/>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최근접 쌍의 기저 사례</a:t>
            </a:r>
          </a:p>
        </p:txBody>
      </p:sp>
      <p:sp>
        <p:nvSpPr>
          <p:cNvPr id="9" name="직사각형 8">
            <a:extLst>
              <a:ext uri="{FF2B5EF4-FFF2-40B4-BE49-F238E27FC236}">
                <a16:creationId xmlns:a16="http://schemas.microsoft.com/office/drawing/2014/main" id="{3974D448-5369-4629-847B-B43F6A467181}"/>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9C075156-BB74-4A15-BE1A-C58BB6088B99}"/>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2FD5D7B3-F2ED-4B30-908E-A7A6BF757326}"/>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closest_base(points):</a:t>
            </a:r>
          </a:p>
        </p:txBody>
      </p:sp>
      <p:sp>
        <p:nvSpPr>
          <p:cNvPr id="12" name="text-242.5-81">
            <a:extLst>
              <a:ext uri="{FF2B5EF4-FFF2-40B4-BE49-F238E27FC236}">
                <a16:creationId xmlns:a16="http://schemas.microsoft.com/office/drawing/2014/main" id="{1675B3EA-D54B-408B-B2B9-F0C33BCC2E8E}"/>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329CE053-7753-4215-9E33-BAFFE9F6F15B}"/>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best = float('inf')</a:t>
            </a:r>
          </a:p>
        </p:txBody>
      </p:sp>
      <p:sp>
        <p:nvSpPr>
          <p:cNvPr id="14" name="text-263-81">
            <a:extLst>
              <a:ext uri="{FF2B5EF4-FFF2-40B4-BE49-F238E27FC236}">
                <a16:creationId xmlns:a16="http://schemas.microsoft.com/office/drawing/2014/main" id="{A44C000E-38C5-4BBA-B0D3-3CE610013ECD}"/>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891C7271-D542-4025-A74E-21ECA7E13BAE}"/>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range(len(points)):</a:t>
            </a:r>
          </a:p>
        </p:txBody>
      </p:sp>
      <p:sp>
        <p:nvSpPr>
          <p:cNvPr id="16" name="text-283.5-81">
            <a:extLst>
              <a:ext uri="{FF2B5EF4-FFF2-40B4-BE49-F238E27FC236}">
                <a16:creationId xmlns:a16="http://schemas.microsoft.com/office/drawing/2014/main" id="{711483F1-6D4A-4095-833A-F5BE9413CB8B}"/>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4C4D8431-03A4-4051-BE4C-1CDFC79A750F}"/>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range(i + 1, len(points)):</a:t>
            </a:r>
          </a:p>
        </p:txBody>
      </p:sp>
      <p:sp>
        <p:nvSpPr>
          <p:cNvPr id="18" name="text-304-81">
            <a:extLst>
              <a:ext uri="{FF2B5EF4-FFF2-40B4-BE49-F238E27FC236}">
                <a16:creationId xmlns:a16="http://schemas.microsoft.com/office/drawing/2014/main" id="{30569EFA-3F5D-4563-8237-CDE52D834382}"/>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4FC8EE1E-572B-4603-A162-4350219D9630}"/>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dx = points[i][0] - points[j][0]</a:t>
            </a:r>
          </a:p>
        </p:txBody>
      </p:sp>
      <p:sp>
        <p:nvSpPr>
          <p:cNvPr id="20" name="text-324.5-81">
            <a:extLst>
              <a:ext uri="{FF2B5EF4-FFF2-40B4-BE49-F238E27FC236}">
                <a16:creationId xmlns:a16="http://schemas.microsoft.com/office/drawing/2014/main" id="{75FDEDCD-DB92-465D-8354-31A33EEA89FF}"/>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04854A25-5A16-470E-9F49-78E71422A366}"/>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dy = points[i][1] - points[j][1]</a:t>
            </a:r>
          </a:p>
        </p:txBody>
      </p:sp>
      <p:sp>
        <p:nvSpPr>
          <p:cNvPr id="22" name="text-345-81">
            <a:extLst>
              <a:ext uri="{FF2B5EF4-FFF2-40B4-BE49-F238E27FC236}">
                <a16:creationId xmlns:a16="http://schemas.microsoft.com/office/drawing/2014/main" id="{FB601333-9658-4F73-845F-BD01E0E81A01}"/>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95AD24E4-7772-416B-B9FE-FC9E2B9CCD99}"/>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best = min(best, dx * dx + dy * dy)</a:t>
            </a:r>
          </a:p>
        </p:txBody>
      </p:sp>
      <p:sp>
        <p:nvSpPr>
          <p:cNvPr id="24" name="text-365.5-81">
            <a:extLst>
              <a:ext uri="{FF2B5EF4-FFF2-40B4-BE49-F238E27FC236}">
                <a16:creationId xmlns:a16="http://schemas.microsoft.com/office/drawing/2014/main" id="{50449E90-251F-4748-8D03-F2673159500A}"/>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AC450BF2-8632-4C60-B242-0A577A571B89}"/>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best</a:t>
            </a:r>
          </a:p>
        </p:txBody>
      </p:sp>
      <p:sp>
        <p:nvSpPr>
          <p:cNvPr id="26" name="text-635-64">
            <a:extLst>
              <a:ext uri="{FF2B5EF4-FFF2-40B4-BE49-F238E27FC236}">
                <a16:creationId xmlns:a16="http://schemas.microsoft.com/office/drawing/2014/main" id="{2F6131C8-4AB9-4B51-ADF3-ED700E5D8527}"/>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O(k²) 비교, 이 기저에서는 k≤3이므로 O(1). 전체 최근접 쌍 알고리즘의 시간과 구별한다.</a:t>
            </a:r>
          </a:p>
        </p:txBody>
      </p:sp>
    </p:spTree>
    <p:extLst>
      <p:ext uri="{BB962C8B-B14F-4D97-AF65-F5344CB8AC3E}">
        <p14:creationId xmlns:p14="http://schemas.microsoft.com/office/powerpoint/2010/main" val="462685519"/>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ext-28-64">
            <a:extLst>
              <a:ext uri="{FF2B5EF4-FFF2-40B4-BE49-F238E27FC236}">
                <a16:creationId xmlns:a16="http://schemas.microsoft.com/office/drawing/2014/main" id="{F1E12C9E-FD74-473C-90DD-6EF1F218D8E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4FA4E953-97ED-473A-962B-5D73D22FF71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8923873-BCBB-452D-BA21-78C4BC37B6B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95  C 구현</a:t>
            </a:r>
          </a:p>
        </p:txBody>
      </p:sp>
      <p:sp>
        <p:nvSpPr>
          <p:cNvPr id="4" name="직사각형 3">
            <a:extLst>
              <a:ext uri="{FF2B5EF4-FFF2-40B4-BE49-F238E27FC236}">
                <a16:creationId xmlns:a16="http://schemas.microsoft.com/office/drawing/2014/main" id="{CDCCCF29-05F2-49A5-9024-3C62E90F469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D791464-A321-4417-81C3-890519DF259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441E8F58-2B0A-4675-88C8-689D335F93C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23C0865-A338-4AE6-9F3C-3462FE8C784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200</a:t>
            </a:r>
          </a:p>
        </p:txBody>
      </p:sp>
      <p:sp>
        <p:nvSpPr>
          <p:cNvPr id="8" name="text-163-64">
            <a:extLst>
              <a:ext uri="{FF2B5EF4-FFF2-40B4-BE49-F238E27FC236}">
                <a16:creationId xmlns:a16="http://schemas.microsoft.com/office/drawing/2014/main" id="{B44ACF18-16A0-4546-B99C-5A0411189680}"/>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최근접 쌍의 기저 사례</a:t>
            </a:r>
          </a:p>
        </p:txBody>
      </p:sp>
      <p:sp>
        <p:nvSpPr>
          <p:cNvPr id="9" name="직사각형 8">
            <a:extLst>
              <a:ext uri="{FF2B5EF4-FFF2-40B4-BE49-F238E27FC236}">
                <a16:creationId xmlns:a16="http://schemas.microsoft.com/office/drawing/2014/main" id="{D8449EBB-0826-457E-8A3A-EEF44496C51C}"/>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D23BC8B6-E5E3-48DD-97ED-375AAC1676AD}"/>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EFF5C23C-44C7-49E7-BD23-66366A5BED54}"/>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long long closest_base(const int x[], const int y[], int n) {</a:t>
            </a:r>
          </a:p>
        </p:txBody>
      </p:sp>
      <p:sp>
        <p:nvSpPr>
          <p:cNvPr id="12" name="text-242.5-81">
            <a:extLst>
              <a:ext uri="{FF2B5EF4-FFF2-40B4-BE49-F238E27FC236}">
                <a16:creationId xmlns:a16="http://schemas.microsoft.com/office/drawing/2014/main" id="{32354EBF-CDAA-4D59-A69C-8C1358A41025}"/>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287E99B0-3133-46C3-998C-9EFF56DEC9C4}"/>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best=800000001LL;</a:t>
            </a:r>
          </a:p>
        </p:txBody>
      </p:sp>
      <p:sp>
        <p:nvSpPr>
          <p:cNvPr id="14" name="text-263-81">
            <a:extLst>
              <a:ext uri="{FF2B5EF4-FFF2-40B4-BE49-F238E27FC236}">
                <a16:creationId xmlns:a16="http://schemas.microsoft.com/office/drawing/2014/main" id="{AE14B509-7F49-45B7-8177-04026FF5D2E7}"/>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261DD105-6FD3-4B3D-AE24-EA1FDC10E460}"/>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i=0; i&lt;n; ++i) {</a:t>
            </a:r>
          </a:p>
        </p:txBody>
      </p:sp>
      <p:sp>
        <p:nvSpPr>
          <p:cNvPr id="16" name="text-283.5-81">
            <a:extLst>
              <a:ext uri="{FF2B5EF4-FFF2-40B4-BE49-F238E27FC236}">
                <a16:creationId xmlns:a16="http://schemas.microsoft.com/office/drawing/2014/main" id="{1D4E3F25-444D-4F93-BE19-CD6F866C83C7}"/>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D54ECAB6-4497-47CA-8773-C4FC8A266D22}"/>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j=i+1; j&lt;n; ++j) {</a:t>
            </a:r>
          </a:p>
        </p:txBody>
      </p:sp>
      <p:sp>
        <p:nvSpPr>
          <p:cNvPr id="18" name="text-304-81">
            <a:extLst>
              <a:ext uri="{FF2B5EF4-FFF2-40B4-BE49-F238E27FC236}">
                <a16:creationId xmlns:a16="http://schemas.microsoft.com/office/drawing/2014/main" id="{1995842E-222B-4596-968D-75578A9E5B3E}"/>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C038473C-A091-4925-9C38-FEA42C1BCBF8}"/>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dx=(long long)x[i]-x[j];</a:t>
            </a:r>
          </a:p>
        </p:txBody>
      </p:sp>
      <p:sp>
        <p:nvSpPr>
          <p:cNvPr id="20" name="text-324.5-81">
            <a:extLst>
              <a:ext uri="{FF2B5EF4-FFF2-40B4-BE49-F238E27FC236}">
                <a16:creationId xmlns:a16="http://schemas.microsoft.com/office/drawing/2014/main" id="{948D884F-979B-40EB-B872-721229BEA3C2}"/>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0A58D4A3-DBED-4098-B65D-D42C4EA7A920}"/>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dy=(long long)y[i]-y[j];</a:t>
            </a:r>
          </a:p>
        </p:txBody>
      </p:sp>
      <p:sp>
        <p:nvSpPr>
          <p:cNvPr id="22" name="text-345-81">
            <a:extLst>
              <a:ext uri="{FF2B5EF4-FFF2-40B4-BE49-F238E27FC236}">
                <a16:creationId xmlns:a16="http://schemas.microsoft.com/office/drawing/2014/main" id="{D06CA131-6FDF-4717-BBB8-D320F11D7E5D}"/>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DF7C6760-9CA2-4058-B12F-1A4B424ABDAA}"/>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d=dx*dx+dy*dy;</a:t>
            </a:r>
          </a:p>
        </p:txBody>
      </p:sp>
      <p:sp>
        <p:nvSpPr>
          <p:cNvPr id="24" name="text-365.5-81">
            <a:extLst>
              <a:ext uri="{FF2B5EF4-FFF2-40B4-BE49-F238E27FC236}">
                <a16:creationId xmlns:a16="http://schemas.microsoft.com/office/drawing/2014/main" id="{AA59847C-9BCE-4A5F-A2A0-E8966C581236}"/>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6879EB09-8332-4758-9B45-9EC5CAC85C70}"/>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(d&lt;best) best=d;</a:t>
            </a:r>
          </a:p>
        </p:txBody>
      </p:sp>
      <p:sp>
        <p:nvSpPr>
          <p:cNvPr id="26" name="text-386-81">
            <a:extLst>
              <a:ext uri="{FF2B5EF4-FFF2-40B4-BE49-F238E27FC236}">
                <a16:creationId xmlns:a16="http://schemas.microsoft.com/office/drawing/2014/main" id="{9100E8BB-14DF-4903-8BF8-90BB24910510}"/>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B3CF4987-E9E3-49B7-9DD1-5AA85466D559}"/>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8" name="text-406.5-81">
            <a:extLst>
              <a:ext uri="{FF2B5EF4-FFF2-40B4-BE49-F238E27FC236}">
                <a16:creationId xmlns:a16="http://schemas.microsoft.com/office/drawing/2014/main" id="{D6763A76-7220-4BDE-A338-227A8ADC7B8C}"/>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B03AB9C9-A7EA-4213-A256-E0DDD4F89CFF}"/>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30" name="text-427-81">
            <a:extLst>
              <a:ext uri="{FF2B5EF4-FFF2-40B4-BE49-F238E27FC236}">
                <a16:creationId xmlns:a16="http://schemas.microsoft.com/office/drawing/2014/main" id="{159374EF-4BCB-4D40-9FB6-C359E0F97A6D}"/>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9B104897-AD1A-4D10-BB9B-75344E349024}"/>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best;</a:t>
            </a:r>
          </a:p>
        </p:txBody>
      </p:sp>
      <p:sp>
        <p:nvSpPr>
          <p:cNvPr id="32" name="text-447.5-81">
            <a:extLst>
              <a:ext uri="{FF2B5EF4-FFF2-40B4-BE49-F238E27FC236}">
                <a16:creationId xmlns:a16="http://schemas.microsoft.com/office/drawing/2014/main" id="{F8B143C5-57FE-4B83-8163-F2D347D6A873}"/>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93760311-A1A5-494E-AFBE-B94EC031ECF6}"/>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4" name="text-635-64">
            <a:extLst>
              <a:ext uri="{FF2B5EF4-FFF2-40B4-BE49-F238E27FC236}">
                <a16:creationId xmlns:a16="http://schemas.microsoft.com/office/drawing/2014/main" id="{2A35C405-7819-4DD4-87B5-9739146AB47B}"/>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O(k²) 비교, 이 기저에서는 k≤3이므로 O(1). 전체 최근접 쌍 알고리즘의 시간과 구별한다.</a:t>
            </a:r>
          </a:p>
        </p:txBody>
      </p:sp>
    </p:spTree>
    <p:extLst>
      <p:ext uri="{BB962C8B-B14F-4D97-AF65-F5344CB8AC3E}">
        <p14:creationId xmlns:p14="http://schemas.microsoft.com/office/powerpoint/2010/main" val="46268551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82EFFF6-7FCE-467C-8F39-7A61797D015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079EB455-8866-47DD-91E5-F0C1B872882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E371965-9D1C-4EAC-8B5B-41051BFA4A8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a:t>
            </a:r>
          </a:p>
        </p:txBody>
      </p:sp>
      <p:sp>
        <p:nvSpPr>
          <p:cNvPr id="4" name="직사각형 3">
            <a:extLst>
              <a:ext uri="{FF2B5EF4-FFF2-40B4-BE49-F238E27FC236}">
                <a16:creationId xmlns:a16="http://schemas.microsoft.com/office/drawing/2014/main" id="{57E55CEB-DB07-47A4-9A0C-5FF5757584A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37BDE0D-239F-4210-8F45-A8CF5AD0789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67EA10B-4803-46E9-AD03-42A2BC8631A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BC5AD892-0712-411D-ACEE-4620B74E5AE1}"/>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201</a:t>
            </a:r>
          </a:p>
        </p:txBody>
      </p:sp>
      <p:sp>
        <p:nvSpPr>
          <p:cNvPr id="8" name="text-178-64">
            <a:extLst>
              <a:ext uri="{FF2B5EF4-FFF2-40B4-BE49-F238E27FC236}">
                <a16:creationId xmlns:a16="http://schemas.microsoft.com/office/drawing/2014/main" id="{5A7B5C0D-0E10-4A98-AB29-3D8A7EB45908}"/>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n=2ᵏ, 1≤n≤32인 0/1 정사각형을 부호화한다. 균일하면 값 하나, 아니면 (왼위</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오른위 왼아래 오른아래) 순서로 붙인다. quad(a,r,c,n)을 작성한다. C a의 열 폭은</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32다. Python 또는 C 중 하나로 함수를 작성하시오.</a:t>
            </a:r>
          </a:p>
        </p:txBody>
      </p:sp>
      <p:sp>
        <p:nvSpPr>
          <p:cNvPr id="9" name="text-405-64">
            <a:extLst>
              <a:ext uri="{FF2B5EF4-FFF2-40B4-BE49-F238E27FC236}">
                <a16:creationId xmlns:a16="http://schemas.microsoft.com/office/drawing/2014/main" id="{CC5BA834-210C-45A9-985C-48A5FB7F7211}"/>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2FB2630D-1CC9-4DA4-A48F-0E5876526878}"/>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5A73A64E-463A-44C1-A61C-A475744C249A}"/>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C75F2DA-49FA-4B7F-9C27-F4D4760ED936}"/>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DD8F27A0-8794-422D-BEE0-45552EBA6F9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CA5E69D9-0E18-42E9-BA97-7382E58B7C2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7901450-1A96-4F59-A153-39E5A66814A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정답과 해설</a:t>
            </a:r>
          </a:p>
        </p:txBody>
      </p:sp>
      <p:sp>
        <p:nvSpPr>
          <p:cNvPr id="4" name="직사각형 3">
            <a:extLst>
              <a:ext uri="{FF2B5EF4-FFF2-40B4-BE49-F238E27FC236}">
                <a16:creationId xmlns:a16="http://schemas.microsoft.com/office/drawing/2014/main" id="{D5191512-B2E1-4DD1-8301-2766ADE4E65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AE11C0D-DC42-4D1B-9E80-B79E1BECA31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6D77717-21A7-468D-B61E-94A573D4686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578D87A0-EA99-400F-88B7-8A2B01B5F14E}"/>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202</a:t>
            </a:r>
          </a:p>
        </p:txBody>
      </p:sp>
      <p:sp>
        <p:nvSpPr>
          <p:cNvPr id="8" name="text-178-64">
            <a:extLst>
              <a:ext uri="{FF2B5EF4-FFF2-40B4-BE49-F238E27FC236}">
                <a16:creationId xmlns:a16="http://schemas.microsoft.com/office/drawing/2014/main" id="{8254D2D9-4B5D-4AD8-997C-38E0B93D839F}"/>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쿼드트리 부호화</a:t>
            </a:r>
          </a:p>
        </p:txBody>
      </p:sp>
      <p:sp>
        <p:nvSpPr>
          <p:cNvPr id="9" name="직사각형 8">
            <a:extLst>
              <a:ext uri="{FF2B5EF4-FFF2-40B4-BE49-F238E27FC236}">
                <a16:creationId xmlns:a16="http://schemas.microsoft.com/office/drawing/2014/main" id="{4383A3B1-E46D-4F54-AB37-1206BF24E992}"/>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239D8522-1C8C-4F79-95BF-ED30E32157C6}"/>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균일성을 검사하고 서로 다르면 네 사분면을 재귀 호출한다.</a:t>
            </a:r>
          </a:p>
        </p:txBody>
      </p:sp>
      <p:sp>
        <p:nvSpPr>
          <p:cNvPr id="11" name="text-324.4-64">
            <a:extLst>
              <a:ext uri="{FF2B5EF4-FFF2-40B4-BE49-F238E27FC236}">
                <a16:creationId xmlns:a16="http://schemas.microsoft.com/office/drawing/2014/main" id="{0782E2BE-E151-4606-B195-31CF867F218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B1014F91-5A57-4F26-BC03-B3B2F77DA14F}"/>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1B7DFF98-FEF7-40D0-A097-B6CFDB80FEDB}"/>
              </a:ext>
            </a:extLst>
          </p:cNvPr>
          <p:cNvSpPr>
            <a:spLocks noGrp="1"/>
          </p:cNvSpPr>
          <p:nvPr/>
        </p:nvSpPr>
        <p:spPr>
          <a:xfrm>
            <a:off x="609600" y="354711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이 전체 균일성 검사 구현은 O(n² log(n+1)) 시간 상한. .</a:t>
            </a:r>
          </a:p>
        </p:txBody>
      </p:sp>
    </p:spTree>
    <p:extLst>
      <p:ext uri="{BB962C8B-B14F-4D97-AF65-F5344CB8AC3E}">
        <p14:creationId xmlns:p14="http://schemas.microsoft.com/office/powerpoint/2010/main" val="462685519"/>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28-64">
            <a:extLst>
              <a:ext uri="{FF2B5EF4-FFF2-40B4-BE49-F238E27FC236}">
                <a16:creationId xmlns:a16="http://schemas.microsoft.com/office/drawing/2014/main" id="{6339A17C-5921-41C9-A7BB-DA652373C29F}"/>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9998DF94-D3DF-4327-A6DF-348CEDFA3C2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B2B5C14-8BB3-4984-8E47-36910365ED5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Python 구현</a:t>
            </a:r>
          </a:p>
        </p:txBody>
      </p:sp>
      <p:sp>
        <p:nvSpPr>
          <p:cNvPr id="4" name="직사각형 3">
            <a:extLst>
              <a:ext uri="{FF2B5EF4-FFF2-40B4-BE49-F238E27FC236}">
                <a16:creationId xmlns:a16="http://schemas.microsoft.com/office/drawing/2014/main" id="{694EA297-D111-4534-A729-78273E13769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6DFF8311-B8AB-4E3D-B762-499D4294ACC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C5CD42E7-FD36-46D3-BE23-88961CCE18C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1BB76F7A-F4D2-4547-82F0-766D4EE104C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203</a:t>
            </a:r>
          </a:p>
        </p:txBody>
      </p:sp>
      <p:sp>
        <p:nvSpPr>
          <p:cNvPr id="8" name="text-163-64">
            <a:extLst>
              <a:ext uri="{FF2B5EF4-FFF2-40B4-BE49-F238E27FC236}">
                <a16:creationId xmlns:a16="http://schemas.microsoft.com/office/drawing/2014/main" id="{12F0148C-3BEF-480D-80B4-5E36942BC53A}"/>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쿼드트리 부호화</a:t>
            </a:r>
          </a:p>
        </p:txBody>
      </p:sp>
      <p:sp>
        <p:nvSpPr>
          <p:cNvPr id="9" name="직사각형 8">
            <a:extLst>
              <a:ext uri="{FF2B5EF4-FFF2-40B4-BE49-F238E27FC236}">
                <a16:creationId xmlns:a16="http://schemas.microsoft.com/office/drawing/2014/main" id="{39C932F0-2644-4826-A4C6-97684DEDB236}"/>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03A885F6-9DAC-436A-9E6B-81FFDEA253B7}"/>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87BED8DA-52BE-459B-99D2-1099ACE6A831}"/>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quad(a, r, c, n):</a:t>
            </a:r>
          </a:p>
        </p:txBody>
      </p:sp>
      <p:sp>
        <p:nvSpPr>
          <p:cNvPr id="12" name="text-242.5-81">
            <a:extLst>
              <a:ext uri="{FF2B5EF4-FFF2-40B4-BE49-F238E27FC236}">
                <a16:creationId xmlns:a16="http://schemas.microsoft.com/office/drawing/2014/main" id="{0D9879D2-4072-41DD-A9AF-8B10ADA0E80C}"/>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B805A815-97FE-42C8-B832-4066B6EB6F2D}"/>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value = a[r][c]</a:t>
            </a:r>
          </a:p>
        </p:txBody>
      </p:sp>
      <p:sp>
        <p:nvSpPr>
          <p:cNvPr id="14" name="text-263-81">
            <a:extLst>
              <a:ext uri="{FF2B5EF4-FFF2-40B4-BE49-F238E27FC236}">
                <a16:creationId xmlns:a16="http://schemas.microsoft.com/office/drawing/2014/main" id="{66F64B0E-5147-4461-B95E-598388BDABB1}"/>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BFF28367-366E-4496-861F-380088423610}"/>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all(a[i][j] == value</a:t>
            </a:r>
          </a:p>
        </p:txBody>
      </p:sp>
      <p:sp>
        <p:nvSpPr>
          <p:cNvPr id="16" name="text-283.5-81">
            <a:extLst>
              <a:ext uri="{FF2B5EF4-FFF2-40B4-BE49-F238E27FC236}">
                <a16:creationId xmlns:a16="http://schemas.microsoft.com/office/drawing/2014/main" id="{245089E3-E605-4620-8A91-895F928EBA22}"/>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A01A0A22-72B7-4DA2-9A86-08BAEA27AB8A}"/>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range(r, r + n)</a:t>
            </a:r>
          </a:p>
        </p:txBody>
      </p:sp>
      <p:sp>
        <p:nvSpPr>
          <p:cNvPr id="18" name="text-304-81">
            <a:extLst>
              <a:ext uri="{FF2B5EF4-FFF2-40B4-BE49-F238E27FC236}">
                <a16:creationId xmlns:a16="http://schemas.microsoft.com/office/drawing/2014/main" id="{56549AB6-0CEB-48BD-A7B8-6E4065CDDAB5}"/>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478F6F86-76AE-4251-9BE9-11D9AF38617F}"/>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j in range(c, c + n)):</a:t>
            </a:r>
          </a:p>
        </p:txBody>
      </p:sp>
      <p:sp>
        <p:nvSpPr>
          <p:cNvPr id="20" name="text-324.5-81">
            <a:extLst>
              <a:ext uri="{FF2B5EF4-FFF2-40B4-BE49-F238E27FC236}">
                <a16:creationId xmlns:a16="http://schemas.microsoft.com/office/drawing/2014/main" id="{3B02F0A6-983C-40E3-B485-F0056721746D}"/>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2CF13B85-316A-4A9F-B9D0-4E6453C9926D}"/>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str(value)</a:t>
            </a:r>
          </a:p>
        </p:txBody>
      </p:sp>
      <p:sp>
        <p:nvSpPr>
          <p:cNvPr id="22" name="text-345-81">
            <a:extLst>
              <a:ext uri="{FF2B5EF4-FFF2-40B4-BE49-F238E27FC236}">
                <a16:creationId xmlns:a16="http://schemas.microsoft.com/office/drawing/2014/main" id="{4BF567B0-C768-4C80-BEAC-66E84E4ADAFD}"/>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673DA8CE-A8EB-4759-996A-92E853E6DA8E}"/>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h = n // 2</a:t>
            </a:r>
          </a:p>
        </p:txBody>
      </p:sp>
      <p:sp>
        <p:nvSpPr>
          <p:cNvPr id="24" name="text-365.5-81">
            <a:extLst>
              <a:ext uri="{FF2B5EF4-FFF2-40B4-BE49-F238E27FC236}">
                <a16:creationId xmlns:a16="http://schemas.microsoft.com/office/drawing/2014/main" id="{D38B65EA-F06A-49B1-ACD8-295AEC47FC96}"/>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3F35378C-A198-4E66-9270-A3FAF8A5C65B}"/>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 + quad(a,r,c,h) + quad(a,r,c+h,h)</a:t>
            </a:r>
          </a:p>
        </p:txBody>
      </p:sp>
      <p:sp>
        <p:nvSpPr>
          <p:cNvPr id="26" name="text-386-81">
            <a:extLst>
              <a:ext uri="{FF2B5EF4-FFF2-40B4-BE49-F238E27FC236}">
                <a16:creationId xmlns:a16="http://schemas.microsoft.com/office/drawing/2014/main" id="{4FF36A85-BBC7-4CDD-9F93-197BEC75D819}"/>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B27838F3-DC47-4CEE-AB8F-3D744293DEAF}"/>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 quad(a,r+h,c,h) + quad(a,r+h,c+h,h) + ')')</a:t>
            </a:r>
          </a:p>
        </p:txBody>
      </p:sp>
      <p:sp>
        <p:nvSpPr>
          <p:cNvPr id="28" name="text-635-64">
            <a:extLst>
              <a:ext uri="{FF2B5EF4-FFF2-40B4-BE49-F238E27FC236}">
                <a16:creationId xmlns:a16="http://schemas.microsoft.com/office/drawing/2014/main" id="{B6EB443A-F7DE-46E9-A2F8-7BD8248708F4}"/>
              </a:ext>
            </a:extLst>
          </p:cNvPr>
          <p:cNvSpPr>
            <a:spLocks noGrp="1"/>
          </p:cNvSpPr>
          <p:nvPr/>
        </p:nvSpPr>
        <p:spPr>
          <a:xfrm>
            <a:off x="609600" y="6048375"/>
            <a:ext cx="10972800" cy="213360"/>
          </a:xfrm>
          <a:prstGeom prst="rect">
            <a:avLst/>
          </a:prstGeom>
          <a:noFill/>
          <a:ln w="0">
            <a:noFill/>
          </a:ln>
        </p:spPr>
        <p:txBody>
          <a:bodyPr wrap="squar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이 전체 균일성 검사 구현은 O(n² log(n+1)) 시간 상한. .</a:t>
            </a:r>
          </a:p>
        </p:txBody>
      </p:sp>
    </p:spTree>
    <p:extLst>
      <p:ext uri="{BB962C8B-B14F-4D97-AF65-F5344CB8AC3E}">
        <p14:creationId xmlns:p14="http://schemas.microsoft.com/office/powerpoint/2010/main" val="462685519"/>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3" name="text-28-64">
            <a:extLst>
              <a:ext uri="{FF2B5EF4-FFF2-40B4-BE49-F238E27FC236}">
                <a16:creationId xmlns:a16="http://schemas.microsoft.com/office/drawing/2014/main" id="{13FFF9FD-1928-4F3B-A2B2-FFA47EC0304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4E9B2EBA-7A30-4EA4-9D7C-6451D5E3B321}"/>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5A9BCB4-D8C9-406A-A0F7-7FA1D3985AC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96  C 구현</a:t>
            </a:r>
          </a:p>
        </p:txBody>
      </p:sp>
      <p:sp>
        <p:nvSpPr>
          <p:cNvPr id="4" name="직사각형 3">
            <a:extLst>
              <a:ext uri="{FF2B5EF4-FFF2-40B4-BE49-F238E27FC236}">
                <a16:creationId xmlns:a16="http://schemas.microsoft.com/office/drawing/2014/main" id="{D647065C-B950-4E2F-A49A-D61844F1516B}"/>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68D74A6-6DB6-4849-96B1-28D90CA1099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56C1B103-C5C8-4388-B160-A56B8AC0CEE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88E62BA-217B-46A8-B1A6-C6C8487F20B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204</a:t>
            </a:r>
          </a:p>
        </p:txBody>
      </p:sp>
      <p:sp>
        <p:nvSpPr>
          <p:cNvPr id="8" name="text-163-64">
            <a:extLst>
              <a:ext uri="{FF2B5EF4-FFF2-40B4-BE49-F238E27FC236}">
                <a16:creationId xmlns:a16="http://schemas.microsoft.com/office/drawing/2014/main" id="{0A1822AB-47D1-4453-8FE3-20BAFD498542}"/>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쿼드트리 부호화</a:t>
            </a:r>
          </a:p>
        </p:txBody>
      </p:sp>
      <p:sp>
        <p:nvSpPr>
          <p:cNvPr id="9" name="직사각형 8">
            <a:extLst>
              <a:ext uri="{FF2B5EF4-FFF2-40B4-BE49-F238E27FC236}">
                <a16:creationId xmlns:a16="http://schemas.microsoft.com/office/drawing/2014/main" id="{B78A9B75-BFDE-4DE7-A94B-826E855D28DD}"/>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B9E6B09F-3C87-4202-A860-1F822A61BBA6}"/>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621D2103-D60F-4A28-980D-2F8E4BB871C1}"/>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out has &gt;= 4*n*n+1 bytes; start *p=0. */</a:t>
            </a:r>
          </a:p>
        </p:txBody>
      </p:sp>
      <p:sp>
        <p:nvSpPr>
          <p:cNvPr id="12" name="text-242.5-81">
            <a:extLst>
              <a:ext uri="{FF2B5EF4-FFF2-40B4-BE49-F238E27FC236}">
                <a16:creationId xmlns:a16="http://schemas.microsoft.com/office/drawing/2014/main" id="{CF700A86-B56F-4EBA-A74B-E2E464C7D3B7}"/>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A87B2B76-7434-418F-A76D-644DBBF471E4}"/>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void quad(const int a[][32], int r, int c, int n,</a:t>
            </a:r>
          </a:p>
        </p:txBody>
      </p:sp>
      <p:sp>
        <p:nvSpPr>
          <p:cNvPr id="14" name="text-263-81">
            <a:extLst>
              <a:ext uri="{FF2B5EF4-FFF2-40B4-BE49-F238E27FC236}">
                <a16:creationId xmlns:a16="http://schemas.microsoft.com/office/drawing/2014/main" id="{9CB14500-BFF0-472A-8E0E-88B39A461F93}"/>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092C7F07-F2B7-473D-AE99-16A44C21197C}"/>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char out[], int *p) {</a:t>
            </a:r>
          </a:p>
        </p:txBody>
      </p:sp>
      <p:sp>
        <p:nvSpPr>
          <p:cNvPr id="16" name="text-283.5-81">
            <a:extLst>
              <a:ext uri="{FF2B5EF4-FFF2-40B4-BE49-F238E27FC236}">
                <a16:creationId xmlns:a16="http://schemas.microsoft.com/office/drawing/2014/main" id="{9F869DD4-5DEA-4769-8C2D-E51E1A08552C}"/>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6848CB6C-5262-4956-9517-C45FA3FCB4D0}"/>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same=1, value=a[r][c];</a:t>
            </a:r>
          </a:p>
        </p:txBody>
      </p:sp>
      <p:sp>
        <p:nvSpPr>
          <p:cNvPr id="18" name="text-304-81">
            <a:extLst>
              <a:ext uri="{FF2B5EF4-FFF2-40B4-BE49-F238E27FC236}">
                <a16:creationId xmlns:a16="http://schemas.microsoft.com/office/drawing/2014/main" id="{192CB023-BB55-43C6-AFE8-D128EFE70DE8}"/>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1CC5A011-AEA5-4509-B277-4680D1FDF29A}"/>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i=r; i&lt;r+n; ++i)</a:t>
            </a:r>
          </a:p>
        </p:txBody>
      </p:sp>
      <p:sp>
        <p:nvSpPr>
          <p:cNvPr id="20" name="text-324.5-81">
            <a:extLst>
              <a:ext uri="{FF2B5EF4-FFF2-40B4-BE49-F238E27FC236}">
                <a16:creationId xmlns:a16="http://schemas.microsoft.com/office/drawing/2014/main" id="{8DC84CAB-AF1B-4396-8855-ACB017617AF6}"/>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36A83CC6-BEE0-4C2B-B128-7DB29020FD0E}"/>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j=c; j&lt;c+n; ++j)</a:t>
            </a:r>
          </a:p>
        </p:txBody>
      </p:sp>
      <p:sp>
        <p:nvSpPr>
          <p:cNvPr id="22" name="text-345-81">
            <a:extLst>
              <a:ext uri="{FF2B5EF4-FFF2-40B4-BE49-F238E27FC236}">
                <a16:creationId xmlns:a16="http://schemas.microsoft.com/office/drawing/2014/main" id="{60055C31-6934-4F59-989F-2D4F6CB9CC9A}"/>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8B4A879F-C22E-4BE7-A91D-5C5036E61C13}"/>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(a[i][j]!=value) same=0;</a:t>
            </a:r>
          </a:p>
        </p:txBody>
      </p:sp>
      <p:sp>
        <p:nvSpPr>
          <p:cNvPr id="24" name="text-365.5-81">
            <a:extLst>
              <a:ext uri="{FF2B5EF4-FFF2-40B4-BE49-F238E27FC236}">
                <a16:creationId xmlns:a16="http://schemas.microsoft.com/office/drawing/2014/main" id="{68DDE3B4-4047-406B-B0A4-225988265D8A}"/>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A1624FDA-F5D0-449E-89B3-06C9CF75DEFC}"/>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(same) out[(*p)++]=(char)('0'+value);</a:t>
            </a:r>
          </a:p>
        </p:txBody>
      </p:sp>
      <p:sp>
        <p:nvSpPr>
          <p:cNvPr id="26" name="text-386-81">
            <a:extLst>
              <a:ext uri="{FF2B5EF4-FFF2-40B4-BE49-F238E27FC236}">
                <a16:creationId xmlns:a16="http://schemas.microsoft.com/office/drawing/2014/main" id="{E41BBFB0-4CBA-40B0-B979-86D47C036F09}"/>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2BD928E7-2F05-482E-A46A-B55099687EC4}"/>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 {</a:t>
            </a:r>
          </a:p>
        </p:txBody>
      </p:sp>
      <p:sp>
        <p:nvSpPr>
          <p:cNvPr id="28" name="text-406.5-81">
            <a:extLst>
              <a:ext uri="{FF2B5EF4-FFF2-40B4-BE49-F238E27FC236}">
                <a16:creationId xmlns:a16="http://schemas.microsoft.com/office/drawing/2014/main" id="{53A49649-FD9B-4B6E-A5FE-BA04C622BD7D}"/>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E142041B-5683-42EB-BF50-29DE01ADAEB5}"/>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h=n/2; out[(*p)++]='(';</a:t>
            </a:r>
          </a:p>
        </p:txBody>
      </p:sp>
      <p:sp>
        <p:nvSpPr>
          <p:cNvPr id="30" name="text-427-81">
            <a:extLst>
              <a:ext uri="{FF2B5EF4-FFF2-40B4-BE49-F238E27FC236}">
                <a16:creationId xmlns:a16="http://schemas.microsoft.com/office/drawing/2014/main" id="{3865C81F-00C1-4600-A3FF-6B5394E27E6E}"/>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DEE0448D-738E-441D-B067-DDCF32149B04}"/>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quad(a,r,c,h,out,p); quad(a,r,c+h,h,out,p);</a:t>
            </a:r>
          </a:p>
        </p:txBody>
      </p:sp>
      <p:sp>
        <p:nvSpPr>
          <p:cNvPr id="32" name="text-447.5-81">
            <a:extLst>
              <a:ext uri="{FF2B5EF4-FFF2-40B4-BE49-F238E27FC236}">
                <a16:creationId xmlns:a16="http://schemas.microsoft.com/office/drawing/2014/main" id="{36B0DC33-C0D8-41F3-8DEA-D81D131DEB13}"/>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2A59B6CC-986F-42AE-B96A-2F6CD3739819}"/>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quad(a,r+h,c,h,out,p); quad(a,r+h,c+h,h,out,p);</a:t>
            </a:r>
          </a:p>
        </p:txBody>
      </p:sp>
      <p:sp>
        <p:nvSpPr>
          <p:cNvPr id="34" name="text-468-81">
            <a:extLst>
              <a:ext uri="{FF2B5EF4-FFF2-40B4-BE49-F238E27FC236}">
                <a16:creationId xmlns:a16="http://schemas.microsoft.com/office/drawing/2014/main" id="{E5E8A332-35C0-469A-B04E-CBFDC4CC49F8}"/>
              </a:ext>
            </a:extLst>
          </p:cNvPr>
          <p:cNvSpPr>
            <a:spLocks noGrp="1"/>
          </p:cNvSpPr>
          <p:nvPr/>
        </p:nvSpPr>
        <p:spPr>
          <a:xfrm>
            <a:off x="771525" y="44577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13</a:t>
            </a:r>
          </a:p>
        </p:txBody>
      </p:sp>
      <p:sp>
        <p:nvSpPr>
          <p:cNvPr id="35" name="text-468-135">
            <a:extLst>
              <a:ext uri="{FF2B5EF4-FFF2-40B4-BE49-F238E27FC236}">
                <a16:creationId xmlns:a16="http://schemas.microsoft.com/office/drawing/2014/main" id="{B21DE588-3968-4345-B74F-9063EC7B5F20}"/>
              </a:ext>
            </a:extLst>
          </p:cNvPr>
          <p:cNvSpPr>
            <a:spLocks noGrp="1"/>
          </p:cNvSpPr>
          <p:nvPr/>
        </p:nvSpPr>
        <p:spPr>
          <a:xfrm>
            <a:off x="1285875" y="44577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out[(*p)++]=')';</a:t>
            </a:r>
          </a:p>
        </p:txBody>
      </p:sp>
      <p:sp>
        <p:nvSpPr>
          <p:cNvPr id="36" name="text-488.5-81">
            <a:extLst>
              <a:ext uri="{FF2B5EF4-FFF2-40B4-BE49-F238E27FC236}">
                <a16:creationId xmlns:a16="http://schemas.microsoft.com/office/drawing/2014/main" id="{B010380E-1980-409B-82ED-257212DA2641}"/>
              </a:ext>
            </a:extLst>
          </p:cNvPr>
          <p:cNvSpPr>
            <a:spLocks noGrp="1"/>
          </p:cNvSpPr>
          <p:nvPr/>
        </p:nvSpPr>
        <p:spPr>
          <a:xfrm>
            <a:off x="771525" y="46529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14</a:t>
            </a:r>
          </a:p>
        </p:txBody>
      </p:sp>
      <p:sp>
        <p:nvSpPr>
          <p:cNvPr id="37" name="text-488.5-135">
            <a:extLst>
              <a:ext uri="{FF2B5EF4-FFF2-40B4-BE49-F238E27FC236}">
                <a16:creationId xmlns:a16="http://schemas.microsoft.com/office/drawing/2014/main" id="{1CC37A75-1B40-4DDD-B332-94FD55B64C7C}"/>
              </a:ext>
            </a:extLst>
          </p:cNvPr>
          <p:cNvSpPr>
            <a:spLocks noGrp="1"/>
          </p:cNvSpPr>
          <p:nvPr/>
        </p:nvSpPr>
        <p:spPr>
          <a:xfrm>
            <a:off x="1285875" y="46529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38" name="text-509-81">
            <a:extLst>
              <a:ext uri="{FF2B5EF4-FFF2-40B4-BE49-F238E27FC236}">
                <a16:creationId xmlns:a16="http://schemas.microsoft.com/office/drawing/2014/main" id="{E247AF16-66DA-44E2-8B59-662F34BD05EB}"/>
              </a:ext>
            </a:extLst>
          </p:cNvPr>
          <p:cNvSpPr>
            <a:spLocks noGrp="1"/>
          </p:cNvSpPr>
          <p:nvPr/>
        </p:nvSpPr>
        <p:spPr>
          <a:xfrm>
            <a:off x="771525" y="48482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15</a:t>
            </a:r>
          </a:p>
        </p:txBody>
      </p:sp>
      <p:sp>
        <p:nvSpPr>
          <p:cNvPr id="39" name="text-509-135">
            <a:extLst>
              <a:ext uri="{FF2B5EF4-FFF2-40B4-BE49-F238E27FC236}">
                <a16:creationId xmlns:a16="http://schemas.microsoft.com/office/drawing/2014/main" id="{4E20A197-0F22-4C36-81F3-93EB2763225E}"/>
              </a:ext>
            </a:extLst>
          </p:cNvPr>
          <p:cNvSpPr>
            <a:spLocks noGrp="1"/>
          </p:cNvSpPr>
          <p:nvPr/>
        </p:nvSpPr>
        <p:spPr>
          <a:xfrm>
            <a:off x="1285875" y="48482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out[*p]='\0';</a:t>
            </a:r>
          </a:p>
        </p:txBody>
      </p:sp>
      <p:sp>
        <p:nvSpPr>
          <p:cNvPr id="40" name="text-529.5-81">
            <a:extLst>
              <a:ext uri="{FF2B5EF4-FFF2-40B4-BE49-F238E27FC236}">
                <a16:creationId xmlns:a16="http://schemas.microsoft.com/office/drawing/2014/main" id="{76B468B0-A34B-4196-9C98-738C9891465A}"/>
              </a:ext>
            </a:extLst>
          </p:cNvPr>
          <p:cNvSpPr>
            <a:spLocks noGrp="1"/>
          </p:cNvSpPr>
          <p:nvPr/>
        </p:nvSpPr>
        <p:spPr>
          <a:xfrm>
            <a:off x="771525" y="50434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16</a:t>
            </a:r>
          </a:p>
        </p:txBody>
      </p:sp>
      <p:sp>
        <p:nvSpPr>
          <p:cNvPr id="41" name="text-529.5-135">
            <a:extLst>
              <a:ext uri="{FF2B5EF4-FFF2-40B4-BE49-F238E27FC236}">
                <a16:creationId xmlns:a16="http://schemas.microsoft.com/office/drawing/2014/main" id="{482A40FE-6CE3-4CE2-869E-00FE2DEAACF2}"/>
              </a:ext>
            </a:extLst>
          </p:cNvPr>
          <p:cNvSpPr>
            <a:spLocks noGrp="1"/>
          </p:cNvSpPr>
          <p:nvPr/>
        </p:nvSpPr>
        <p:spPr>
          <a:xfrm>
            <a:off x="1285875" y="50434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42" name="text-635-64">
            <a:extLst>
              <a:ext uri="{FF2B5EF4-FFF2-40B4-BE49-F238E27FC236}">
                <a16:creationId xmlns:a16="http://schemas.microsoft.com/office/drawing/2014/main" id="{0E32B825-C87D-4298-925A-2BD0829509C0}"/>
              </a:ext>
            </a:extLst>
          </p:cNvPr>
          <p:cNvSpPr>
            <a:spLocks noGrp="1"/>
          </p:cNvSpPr>
          <p:nvPr/>
        </p:nvSpPr>
        <p:spPr>
          <a:xfrm>
            <a:off x="609600" y="6048375"/>
            <a:ext cx="10972800" cy="213360"/>
          </a:xfrm>
          <a:prstGeom prst="rect">
            <a:avLst/>
          </a:prstGeom>
          <a:noFill/>
          <a:ln w="0">
            <a:noFill/>
          </a:ln>
        </p:spPr>
        <p:txBody>
          <a:bodyPr wrap="squar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이 전체 균일성 검사 구현은 O(n² log(n+1)) 시간 상한. .</a:t>
            </a:r>
          </a:p>
        </p:txBody>
      </p:sp>
    </p:spTree>
    <p:extLst>
      <p:ext uri="{BB962C8B-B14F-4D97-AF65-F5344CB8AC3E}">
        <p14:creationId xmlns:p14="http://schemas.microsoft.com/office/powerpoint/2010/main" val="462685519"/>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CB017896-BDC1-41AF-8E90-0783D3ADACF7}"/>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F69701C3-E796-4902-9040-1ECB83DD2A82}"/>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E0EC37C-FDBD-4A3B-9419-99106E0B4EB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a:t>
            </a:r>
          </a:p>
        </p:txBody>
      </p:sp>
      <p:sp>
        <p:nvSpPr>
          <p:cNvPr id="4" name="직사각형 3">
            <a:extLst>
              <a:ext uri="{FF2B5EF4-FFF2-40B4-BE49-F238E27FC236}">
                <a16:creationId xmlns:a16="http://schemas.microsoft.com/office/drawing/2014/main" id="{06709EAB-B5FB-4880-A182-D4A872ED3A4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42DD381-24F4-47DF-B5E5-298D53526F22}"/>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E8F6550F-0A9E-497D-9DB0-D70D8DC7A2A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FB3F513-7814-4A4C-A64B-1744D3E4EBF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205</a:t>
            </a:r>
          </a:p>
        </p:txBody>
      </p:sp>
      <p:sp>
        <p:nvSpPr>
          <p:cNvPr id="8" name="text-178-64">
            <a:extLst>
              <a:ext uri="{FF2B5EF4-FFF2-40B4-BE49-F238E27FC236}">
                <a16:creationId xmlns:a16="http://schemas.microsoft.com/office/drawing/2014/main" id="{E60D3090-4865-4B15-B299-41296DDAD56E}"/>
              </a:ext>
            </a:extLst>
          </p:cNvPr>
          <p:cNvSpPr>
            <a:spLocks noGrp="1"/>
          </p:cNvSpPr>
          <p:nvPr/>
        </p:nvSpPr>
        <p:spPr>
          <a:xfrm>
            <a:off x="609600" y="1695450"/>
            <a:ext cx="10972800" cy="3566160"/>
          </a:xfrm>
          <a:prstGeom prst="rect">
            <a:avLst/>
          </a:prstGeom>
          <a:noFill/>
          <a:ln w="0">
            <a:noFill/>
          </a:ln>
        </p:spPr>
        <p:txBody>
          <a:bodyPr wrap="squar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0≤x,y&lt;10⁸인 정수 곱 karatsuba(x,y)를 Python 또는 C로 작성하시오. C는 long long을 쓴다. 다음 식을 사용해 재귀 곱셈을 세 번 수행한다.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한 수라도 10 미만이면 x*y를 반환한다. 그 외에는 더 큰 수의 자릿수를 L, m은 10의 (L//2)제곱으로 둔다.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x=a*m+b, y=c*m+d로 나눈다.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p=karatsuba(a,c), q=karatsuba(b,d), r=karatsuba(a+b,c+d)</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반환값은 p*m*m+(r-p-q)*m+q이다.</a:t>
            </a:r>
          </a:p>
        </p:txBody>
      </p:sp>
      <p:sp>
        <p:nvSpPr>
          <p:cNvPr id="9" name="text-405-64">
            <a:extLst>
              <a:ext uri="{FF2B5EF4-FFF2-40B4-BE49-F238E27FC236}">
                <a16:creationId xmlns:a16="http://schemas.microsoft.com/office/drawing/2014/main" id="{FC8C1219-C194-4987-8A8C-5A9C3713A4CC}"/>
              </a:ext>
            </a:extLst>
          </p:cNvPr>
          <p:cNvSpPr>
            <a:spLocks noGrp="1"/>
          </p:cNvSpPr>
          <p:nvPr/>
        </p:nvSpPr>
        <p:spPr>
          <a:xfrm>
            <a:off x="609600" y="5486400"/>
            <a:ext cx="10972800" cy="36576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E17F75F0-D2ED-452A-9D4C-A5477A52566F}"/>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A9BC91BE-D939-40BE-9839-EE3C28035521}"/>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D2EDC538-8D5A-4F63-B105-D1415053B427}"/>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AEB91E53-D455-48BC-9683-846BBB3D07AC}"/>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DDDBCC08-1A42-49FE-A192-A8681757CABB}"/>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FF8BE1F8-5E65-4099-9BCE-D28511D6089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정답과 해설</a:t>
            </a:r>
          </a:p>
        </p:txBody>
      </p:sp>
      <p:sp>
        <p:nvSpPr>
          <p:cNvPr id="4" name="직사각형 3">
            <a:extLst>
              <a:ext uri="{FF2B5EF4-FFF2-40B4-BE49-F238E27FC236}">
                <a16:creationId xmlns:a16="http://schemas.microsoft.com/office/drawing/2014/main" id="{B8D0983B-ADB1-432A-B8B6-C7BB9160849F}"/>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8153338-A0E4-4892-B098-EAB02F4D921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E542D12-6F68-4388-B131-8901AA13C0F4}"/>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E88599E-EAB2-4AF8-AADE-2B35C1678DD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206</a:t>
            </a:r>
          </a:p>
        </p:txBody>
      </p:sp>
      <p:sp>
        <p:nvSpPr>
          <p:cNvPr id="8" name="text-178-64">
            <a:extLst>
              <a:ext uri="{FF2B5EF4-FFF2-40B4-BE49-F238E27FC236}">
                <a16:creationId xmlns:a16="http://schemas.microsoft.com/office/drawing/2014/main" id="{4C8C790D-F1BA-4BB7-80FF-30AE1ECA481F}"/>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카라추바 곱셈</a:t>
            </a:r>
          </a:p>
        </p:txBody>
      </p:sp>
      <p:sp>
        <p:nvSpPr>
          <p:cNvPr id="9" name="직사각형 8">
            <a:extLst>
              <a:ext uri="{FF2B5EF4-FFF2-40B4-BE49-F238E27FC236}">
                <a16:creationId xmlns:a16="http://schemas.microsoft.com/office/drawing/2014/main" id="{CDC9E9FA-5C88-47F9-AFC2-95E13D518B7E}"/>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E2BCD831-A6DE-4340-A50E-12FCA4B946FE}"/>
              </a:ext>
            </a:extLst>
          </p:cNvPr>
          <p:cNvSpPr>
            <a:spLocks noGrp="1"/>
          </p:cNvSpPr>
          <p:nvPr/>
        </p:nvSpPr>
        <p:spPr>
          <a:xfrm>
            <a:off x="876300" y="2339340"/>
            <a:ext cx="10439400" cy="436245"/>
          </a:xfrm>
          <a:prstGeom prst="rect">
            <a:avLst/>
          </a:prstGeom>
          <a:noFill/>
          <a:ln w="0">
            <a:noFill/>
          </a:ln>
        </p:spPr>
        <p:txBody>
          <a:bodyPr wrap="squar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주어진 세 곱 p, q, r을 재귀로 구하고 결합식에 대입한다.</a:t>
            </a:r>
          </a:p>
        </p:txBody>
      </p:sp>
      <p:sp>
        <p:nvSpPr>
          <p:cNvPr id="11" name="text-324.4-64">
            <a:extLst>
              <a:ext uri="{FF2B5EF4-FFF2-40B4-BE49-F238E27FC236}">
                <a16:creationId xmlns:a16="http://schemas.microsoft.com/office/drawing/2014/main" id="{1199F776-B9AD-4CC9-863E-997BAE260D40}"/>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A0A8E97A-4AD8-433A-BF7B-D538097CEE14}"/>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7D3CE16C-6B42-4825-AB58-1D710E4F6F5E}"/>
              </a:ext>
            </a:extLst>
          </p:cNvPr>
          <p:cNvSpPr>
            <a:spLocks noGrp="1"/>
          </p:cNvSpPr>
          <p:nvPr/>
        </p:nvSpPr>
        <p:spPr>
          <a:xfrm>
            <a:off x="609600" y="3547110"/>
            <a:ext cx="10972800" cy="644589"/>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x나 y가 한 자리면 직접 곱한다. 나머지는 같은 m으로 나누고 p, q, r 세 번만 재귀 호출한다. 시간은 자릿수 L을 기준으로 O(L^log₂3)이다.</a:t>
            </a:r>
          </a:p>
        </p:txBody>
      </p:sp>
    </p:spTree>
    <p:extLst>
      <p:ext uri="{BB962C8B-B14F-4D97-AF65-F5344CB8AC3E}">
        <p14:creationId xmlns:p14="http://schemas.microsoft.com/office/powerpoint/2010/main" val="462685519"/>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text-28-64">
            <a:extLst>
              <a:ext uri="{FF2B5EF4-FFF2-40B4-BE49-F238E27FC236}">
                <a16:creationId xmlns:a16="http://schemas.microsoft.com/office/drawing/2014/main" id="{50F474CC-F505-411C-A267-FE2912C0D0C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2B302898-790E-4D7B-A742-7D3BD7EB8F7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0E81A90-53CA-4103-B11E-E38ED484C46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Python 구현</a:t>
            </a:r>
          </a:p>
        </p:txBody>
      </p:sp>
      <p:sp>
        <p:nvSpPr>
          <p:cNvPr id="4" name="직사각형 3">
            <a:extLst>
              <a:ext uri="{FF2B5EF4-FFF2-40B4-BE49-F238E27FC236}">
                <a16:creationId xmlns:a16="http://schemas.microsoft.com/office/drawing/2014/main" id="{44FFE869-C184-457D-9F5A-F31EB2E6A90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F8A396CF-58DA-418E-BC9B-B4BD3B14E947}"/>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3945238-C29F-4A9D-995B-05F36AC9AFB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00FC9C0-A93A-4FFA-BFD6-97D08AFB8C4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207</a:t>
            </a:r>
          </a:p>
        </p:txBody>
      </p:sp>
      <p:sp>
        <p:nvSpPr>
          <p:cNvPr id="8" name="text-163-64">
            <a:extLst>
              <a:ext uri="{FF2B5EF4-FFF2-40B4-BE49-F238E27FC236}">
                <a16:creationId xmlns:a16="http://schemas.microsoft.com/office/drawing/2014/main" id="{6ECD87A5-1DA7-46E5-B767-F2BF415961A1}"/>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카라추바 곱셈</a:t>
            </a:r>
          </a:p>
        </p:txBody>
      </p:sp>
      <p:sp>
        <p:nvSpPr>
          <p:cNvPr id="9" name="직사각형 8">
            <a:extLst>
              <a:ext uri="{FF2B5EF4-FFF2-40B4-BE49-F238E27FC236}">
                <a16:creationId xmlns:a16="http://schemas.microsoft.com/office/drawing/2014/main" id="{2EE1EC44-3840-4E2F-9599-E921A74DD08A}"/>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0AA10E24-9805-49DC-BACF-BC603D04A337}"/>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708992C7-231E-479A-B570-FE320F852D55}"/>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karatsuba(x, y):</a:t>
            </a:r>
          </a:p>
        </p:txBody>
      </p:sp>
      <p:sp>
        <p:nvSpPr>
          <p:cNvPr id="12" name="text-242.5-81">
            <a:extLst>
              <a:ext uri="{FF2B5EF4-FFF2-40B4-BE49-F238E27FC236}">
                <a16:creationId xmlns:a16="http://schemas.microsoft.com/office/drawing/2014/main" id="{5F4A1A79-EE0B-48DE-BD0A-B0969F864308}"/>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DC1894D6-5209-4128-AF05-55ED600C1319}"/>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x &lt; 10 or y &lt; 10:</a:t>
            </a:r>
          </a:p>
        </p:txBody>
      </p:sp>
      <p:sp>
        <p:nvSpPr>
          <p:cNvPr id="14" name="text-263-81">
            <a:extLst>
              <a:ext uri="{FF2B5EF4-FFF2-40B4-BE49-F238E27FC236}">
                <a16:creationId xmlns:a16="http://schemas.microsoft.com/office/drawing/2014/main" id="{4121E5B4-4151-45EE-B3E1-76EAF74F13D3}"/>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8E427EC0-ABC5-4033-8456-2C45ADC2C637}"/>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x * y</a:t>
            </a:r>
          </a:p>
        </p:txBody>
      </p:sp>
      <p:sp>
        <p:nvSpPr>
          <p:cNvPr id="16" name="text-283.5-81">
            <a:extLst>
              <a:ext uri="{FF2B5EF4-FFF2-40B4-BE49-F238E27FC236}">
                <a16:creationId xmlns:a16="http://schemas.microsoft.com/office/drawing/2014/main" id="{043B4267-1D6D-49BF-AA51-E69E68634161}"/>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5F1D0F9B-DF97-4E3C-8562-17276A49E92D}"/>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digits = len(str(max(x, y)))</a:t>
            </a:r>
          </a:p>
        </p:txBody>
      </p:sp>
      <p:sp>
        <p:nvSpPr>
          <p:cNvPr id="18" name="text-304-81">
            <a:extLst>
              <a:ext uri="{FF2B5EF4-FFF2-40B4-BE49-F238E27FC236}">
                <a16:creationId xmlns:a16="http://schemas.microsoft.com/office/drawing/2014/main" id="{3C9EBE45-35A0-409D-AE49-0C768BA7F283}"/>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407B1940-2B25-4513-A4B7-FE47046B5C9F}"/>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base = 10 ** (digits // 2)</a:t>
            </a:r>
          </a:p>
        </p:txBody>
      </p:sp>
      <p:sp>
        <p:nvSpPr>
          <p:cNvPr id="20" name="text-324.5-81">
            <a:extLst>
              <a:ext uri="{FF2B5EF4-FFF2-40B4-BE49-F238E27FC236}">
                <a16:creationId xmlns:a16="http://schemas.microsoft.com/office/drawing/2014/main" id="{C5ADAB55-6297-4EBF-AB9A-D1E7567ADB81}"/>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E6100239-159E-4375-B3E0-D6A3D90DECD1}"/>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 b = divmod(x, base)</a:t>
            </a:r>
          </a:p>
        </p:txBody>
      </p:sp>
      <p:sp>
        <p:nvSpPr>
          <p:cNvPr id="22" name="text-345-81">
            <a:extLst>
              <a:ext uri="{FF2B5EF4-FFF2-40B4-BE49-F238E27FC236}">
                <a16:creationId xmlns:a16="http://schemas.microsoft.com/office/drawing/2014/main" id="{8EE06613-3A88-4750-B731-6F8313739BA9}"/>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2C86E526-C358-4036-BE2D-6D9BBAA7BDA9}"/>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 d = divmod(y, base)</a:t>
            </a:r>
          </a:p>
        </p:txBody>
      </p:sp>
      <p:sp>
        <p:nvSpPr>
          <p:cNvPr id="24" name="text-365.5-81">
            <a:extLst>
              <a:ext uri="{FF2B5EF4-FFF2-40B4-BE49-F238E27FC236}">
                <a16:creationId xmlns:a16="http://schemas.microsoft.com/office/drawing/2014/main" id="{97ED4DCE-AC27-4A4D-9462-436584633D0E}"/>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D7338D6A-A27F-40E9-AC4C-7BC6696550C7}"/>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ac = karatsuba(a, c)</a:t>
            </a:r>
          </a:p>
        </p:txBody>
      </p:sp>
      <p:sp>
        <p:nvSpPr>
          <p:cNvPr id="26" name="text-386-81">
            <a:extLst>
              <a:ext uri="{FF2B5EF4-FFF2-40B4-BE49-F238E27FC236}">
                <a16:creationId xmlns:a16="http://schemas.microsoft.com/office/drawing/2014/main" id="{0CB0A529-053E-4AAE-B596-3882ED753621}"/>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8D51A18F-4186-4809-B073-703EE38F7226}"/>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bd = karatsuba(b, d)</a:t>
            </a:r>
          </a:p>
        </p:txBody>
      </p:sp>
      <p:sp>
        <p:nvSpPr>
          <p:cNvPr id="28" name="text-406.5-81">
            <a:extLst>
              <a:ext uri="{FF2B5EF4-FFF2-40B4-BE49-F238E27FC236}">
                <a16:creationId xmlns:a16="http://schemas.microsoft.com/office/drawing/2014/main" id="{5A25C271-076E-4CD8-844F-88BEE0D0C110}"/>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C99EA7DC-ABA4-4725-8BC7-C6AFEAB23AAC}"/>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cross = karatsuba(a + b, c + d) - ac - bd</a:t>
            </a:r>
          </a:p>
        </p:txBody>
      </p:sp>
      <p:sp>
        <p:nvSpPr>
          <p:cNvPr id="30" name="text-427-81">
            <a:extLst>
              <a:ext uri="{FF2B5EF4-FFF2-40B4-BE49-F238E27FC236}">
                <a16:creationId xmlns:a16="http://schemas.microsoft.com/office/drawing/2014/main" id="{ABCD97CE-B033-4B96-A19C-780AF439791E}"/>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DF6D3907-3DCF-4B48-B761-AB5449B663A6}"/>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ac * base * base + cross * base + bd</a:t>
            </a:r>
          </a:p>
        </p:txBody>
      </p:sp>
      <p:sp>
        <p:nvSpPr>
          <p:cNvPr id="32" name="text-635-64">
            <a:extLst>
              <a:ext uri="{FF2B5EF4-FFF2-40B4-BE49-F238E27FC236}">
                <a16:creationId xmlns:a16="http://schemas.microsoft.com/office/drawing/2014/main" id="{8C919747-D5CD-41D4-B6C7-651C4B51D643}"/>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자릿수 L의 일반화된 계산 모델에서 O(L^log₂3). 여기서는 입력·중간 곱이 long long 범위 안이다.</a:t>
            </a:r>
          </a:p>
        </p:txBody>
      </p:sp>
    </p:spTree>
    <p:extLst>
      <p:ext uri="{BB962C8B-B14F-4D97-AF65-F5344CB8AC3E}">
        <p14:creationId xmlns:p14="http://schemas.microsoft.com/office/powerpoint/2010/main" val="46268551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text-28-64">
            <a:extLst>
              <a:ext uri="{FF2B5EF4-FFF2-40B4-BE49-F238E27FC236}">
                <a16:creationId xmlns:a16="http://schemas.microsoft.com/office/drawing/2014/main" id="{2D170E1F-9124-441F-BE0E-6EC71003BB53}"/>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D7FCDBBD-A56D-4BDD-BE74-532AF055A926}"/>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603379F5-1718-4878-B39B-44FCF758529D}"/>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97  C 구현</a:t>
            </a:r>
          </a:p>
        </p:txBody>
      </p:sp>
      <p:sp>
        <p:nvSpPr>
          <p:cNvPr id="4" name="직사각형 3">
            <a:extLst>
              <a:ext uri="{FF2B5EF4-FFF2-40B4-BE49-F238E27FC236}">
                <a16:creationId xmlns:a16="http://schemas.microsoft.com/office/drawing/2014/main" id="{62E51AE9-DA02-4E9E-B6D6-8936CD1387D6}"/>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CA122D5C-7FE7-4D38-A0E0-8F603BCB902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9F27B31-C554-4D86-9B2B-F2A7DDFA601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0718BB59-5EF7-4E1E-AD3B-BFACA35E3E8F}"/>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208</a:t>
            </a:r>
          </a:p>
        </p:txBody>
      </p:sp>
      <p:sp>
        <p:nvSpPr>
          <p:cNvPr id="8" name="text-163-64">
            <a:extLst>
              <a:ext uri="{FF2B5EF4-FFF2-40B4-BE49-F238E27FC236}">
                <a16:creationId xmlns:a16="http://schemas.microsoft.com/office/drawing/2014/main" id="{1707C3CE-8BC4-4359-9322-1BEED7F4F230}"/>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카라추바 곱셈</a:t>
            </a:r>
          </a:p>
        </p:txBody>
      </p:sp>
      <p:sp>
        <p:nvSpPr>
          <p:cNvPr id="9" name="직사각형 8">
            <a:extLst>
              <a:ext uri="{FF2B5EF4-FFF2-40B4-BE49-F238E27FC236}">
                <a16:creationId xmlns:a16="http://schemas.microsoft.com/office/drawing/2014/main" id="{F8DFE374-C88A-499E-994F-35885F3B2849}"/>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C39764A4-F4FE-48E8-95C5-6FC0B66CEB67}"/>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77BD9CE2-0F92-47D0-85D7-2FD401772320}"/>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long long karatsuba(long long x, long long y) {</a:t>
            </a:r>
          </a:p>
        </p:txBody>
      </p:sp>
      <p:sp>
        <p:nvSpPr>
          <p:cNvPr id="12" name="text-242.5-81">
            <a:extLst>
              <a:ext uri="{FF2B5EF4-FFF2-40B4-BE49-F238E27FC236}">
                <a16:creationId xmlns:a16="http://schemas.microsoft.com/office/drawing/2014/main" id="{2CCEBFEC-9DF3-4F7F-968D-C68EF9395A9B}"/>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656D86BB-90AC-4041-99C1-1AABB5FCA344}"/>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(x&lt;10 || y&lt;10) return x*y;</a:t>
            </a:r>
          </a:p>
        </p:txBody>
      </p:sp>
      <p:sp>
        <p:nvSpPr>
          <p:cNvPr id="14" name="text-263-81">
            <a:extLst>
              <a:ext uri="{FF2B5EF4-FFF2-40B4-BE49-F238E27FC236}">
                <a16:creationId xmlns:a16="http://schemas.microsoft.com/office/drawing/2014/main" id="{53C80FDD-6D3D-4FC6-99EB-036FFFC0A328}"/>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D25FC168-4935-4028-8543-869A74AACE8B}"/>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t=x&gt;y ? x:y, base=1;</a:t>
            </a:r>
          </a:p>
        </p:txBody>
      </p:sp>
      <p:sp>
        <p:nvSpPr>
          <p:cNvPr id="16" name="text-283.5-81">
            <a:extLst>
              <a:ext uri="{FF2B5EF4-FFF2-40B4-BE49-F238E27FC236}">
                <a16:creationId xmlns:a16="http://schemas.microsoft.com/office/drawing/2014/main" id="{677DA057-3C43-45A3-A4E8-83F5BB49CD06}"/>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770746D1-5C7C-40BD-866B-AF72EB218430}"/>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digits=0;</a:t>
            </a:r>
          </a:p>
        </p:txBody>
      </p:sp>
      <p:sp>
        <p:nvSpPr>
          <p:cNvPr id="18" name="text-304-81">
            <a:extLst>
              <a:ext uri="{FF2B5EF4-FFF2-40B4-BE49-F238E27FC236}">
                <a16:creationId xmlns:a16="http://schemas.microsoft.com/office/drawing/2014/main" id="{A0EE27FF-AF91-4283-A517-13DAFDD55E09}"/>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DE3BD474-7C54-4628-AAD7-2CABF5CA5961}"/>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(t) { ++digits; t/=10; }</a:t>
            </a:r>
          </a:p>
        </p:txBody>
      </p:sp>
      <p:sp>
        <p:nvSpPr>
          <p:cNvPr id="20" name="text-324.5-81">
            <a:extLst>
              <a:ext uri="{FF2B5EF4-FFF2-40B4-BE49-F238E27FC236}">
                <a16:creationId xmlns:a16="http://schemas.microsoft.com/office/drawing/2014/main" id="{95EDA7FA-69AC-475C-A816-27FB99A5334C}"/>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223435B4-27ED-4625-8861-86829121EF77}"/>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i=0; i&lt;digits/2; ++i) base*=10;</a:t>
            </a:r>
          </a:p>
        </p:txBody>
      </p:sp>
      <p:sp>
        <p:nvSpPr>
          <p:cNvPr id="22" name="text-345-81">
            <a:extLst>
              <a:ext uri="{FF2B5EF4-FFF2-40B4-BE49-F238E27FC236}">
                <a16:creationId xmlns:a16="http://schemas.microsoft.com/office/drawing/2014/main" id="{567181A1-92FD-4C7B-AD56-8C7E71FCB9F9}"/>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DBB31A02-44D6-4E27-998A-B9430A21305E}"/>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a=x/base, b=x%base, c=y/base, d=y%base;</a:t>
            </a:r>
          </a:p>
        </p:txBody>
      </p:sp>
      <p:sp>
        <p:nvSpPr>
          <p:cNvPr id="24" name="text-365.5-81">
            <a:extLst>
              <a:ext uri="{FF2B5EF4-FFF2-40B4-BE49-F238E27FC236}">
                <a16:creationId xmlns:a16="http://schemas.microsoft.com/office/drawing/2014/main" id="{AB0312DA-4F61-4D3C-AA03-E98389319AA0}"/>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5C152407-4012-41A7-9C65-EEA25F9FD626}"/>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ac=karatsuba(a,c), bd=karatsuba(b,d);</a:t>
            </a:r>
          </a:p>
        </p:txBody>
      </p:sp>
      <p:sp>
        <p:nvSpPr>
          <p:cNvPr id="26" name="text-386-81">
            <a:extLst>
              <a:ext uri="{FF2B5EF4-FFF2-40B4-BE49-F238E27FC236}">
                <a16:creationId xmlns:a16="http://schemas.microsoft.com/office/drawing/2014/main" id="{4A2ABEA4-4F67-4157-8E82-313F34FF837A}"/>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3DFEDE76-3EFA-483B-9C07-DBC2CB4C5422}"/>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cross=karatsuba(a+b,c+d)-ac-bd;</a:t>
            </a:r>
          </a:p>
        </p:txBody>
      </p:sp>
      <p:sp>
        <p:nvSpPr>
          <p:cNvPr id="28" name="text-406.5-81">
            <a:extLst>
              <a:ext uri="{FF2B5EF4-FFF2-40B4-BE49-F238E27FC236}">
                <a16:creationId xmlns:a16="http://schemas.microsoft.com/office/drawing/2014/main" id="{43A1627D-9939-43FA-8338-0A955499A90C}"/>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8861C98F-B3C7-4F10-8126-6D5CD16A1969}"/>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ac*base*base+cross*base+bd;</a:t>
            </a:r>
          </a:p>
        </p:txBody>
      </p:sp>
      <p:sp>
        <p:nvSpPr>
          <p:cNvPr id="30" name="text-427-81">
            <a:extLst>
              <a:ext uri="{FF2B5EF4-FFF2-40B4-BE49-F238E27FC236}">
                <a16:creationId xmlns:a16="http://schemas.microsoft.com/office/drawing/2014/main" id="{C44DFA66-3C2A-4F34-B897-6F90003E2300}"/>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24867A9C-7DAD-481B-AB33-83952489D7D3}"/>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2" name="text-635-64">
            <a:extLst>
              <a:ext uri="{FF2B5EF4-FFF2-40B4-BE49-F238E27FC236}">
                <a16:creationId xmlns:a16="http://schemas.microsoft.com/office/drawing/2014/main" id="{51A3026C-D61C-4D3A-BA7E-6052530BE677}"/>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자릿수 L의 일반화된 계산 모델에서 O(L^log₂3). 여기서는 입력·중간 곱이 long long 범위 안이다.</a:t>
            </a:r>
          </a:p>
        </p:txBody>
      </p:sp>
    </p:spTree>
    <p:extLst>
      <p:ext uri="{BB962C8B-B14F-4D97-AF65-F5344CB8AC3E}">
        <p14:creationId xmlns:p14="http://schemas.microsoft.com/office/powerpoint/2010/main" val="462685519"/>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F5C259F7-163B-430A-A4FE-DA6670B9BCA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4833C60B-31D8-4BAD-9C3D-243DCC7CD22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D17C08A-011A-4ADD-9A1A-7FB4B3D0385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a:t>
            </a:r>
          </a:p>
        </p:txBody>
      </p:sp>
      <p:sp>
        <p:nvSpPr>
          <p:cNvPr id="4" name="직사각형 3">
            <a:extLst>
              <a:ext uri="{FF2B5EF4-FFF2-40B4-BE49-F238E27FC236}">
                <a16:creationId xmlns:a16="http://schemas.microsoft.com/office/drawing/2014/main" id="{CC205E8A-4960-4436-AF1A-0FC428306657}"/>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37A4C61-78F9-4DDD-8643-139FD3ACC9E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4890C1A-2719-4081-AF74-C6D5F34C93F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DBD5EBB-C2A5-47F1-88C9-DCFB3E6A08A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209</a:t>
            </a:r>
          </a:p>
        </p:txBody>
      </p:sp>
      <p:sp>
        <p:nvSpPr>
          <p:cNvPr id="8" name="text-178-64">
            <a:extLst>
              <a:ext uri="{FF2B5EF4-FFF2-40B4-BE49-F238E27FC236}">
                <a16:creationId xmlns:a16="http://schemas.microsoft.com/office/drawing/2014/main" id="{122F601C-4A65-484E-83BF-E5276B947F98}"/>
              </a:ext>
            </a:extLst>
          </p:cNvPr>
          <p:cNvSpPr>
            <a:spLocks noGrp="1"/>
          </p:cNvSpPr>
          <p:nvPr/>
        </p:nvSpPr>
        <p:spPr>
          <a:xfrm>
            <a:off x="609600" y="1695450"/>
            <a:ext cx="10972800" cy="3566160"/>
          </a:xfrm>
          <a:prstGeom prst="rect">
            <a:avLst/>
          </a:prstGeom>
          <a:noFill/>
          <a:ln w="0">
            <a:noFill/>
          </a:ln>
        </p:spPr>
        <p:txBody>
          <a:bodyPr wrap="squar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000" b="0" i="0">
                <a:solidFill>
                  <a:srgbClr val="171717"/>
                </a:solidFill>
                <a:latin typeface="Malgun Gothic"/>
                <a:ea typeface="Malgun Gothic"/>
                <a:cs typeface="Malgun Gothic"/>
              </a:rPr>
              <a:t>각 성분이 −1000..1000인 2×2 행렬 A,B의 곱 strassen2를 Python 또는 C로 작성하시오. C는 결과 C[2][2]에 기록한다. 아래 식을 그대로 사용하며 스칼라 곱셈은 7번이다.</a:t>
            </a:r>
          </a:p>
          <a:p>
            <a:pPr algn="l">
              <a:lnSpc>
                <a:spcPct val="108000"/>
              </a:lnSpc>
              <a:buNone/>
              <a:defRPr sz="2100" b="0" i="0">
                <a:solidFill>
                  <a:srgbClr val="171717"/>
                </a:solidFill>
                <a:latin typeface="Malgun Gothic"/>
                <a:ea typeface="Malgun Gothic"/>
                <a:cs typeface="Malgun Gothic"/>
              </a:defRPr>
            </a:pPr>
            <a:r>
              <a:rPr sz="2000" b="0" i="0">
                <a:solidFill>
                  <a:srgbClr val="171717"/>
                </a:solidFill>
                <a:latin typeface="Malgun Gothic"/>
                <a:ea typeface="Malgun Gothic"/>
                <a:cs typeface="Malgun Gothic"/>
              </a:rPr>
              <a:t>A=[[a,b],[c,d]], B=[[e,f],[g,h]]로 둔다.</a:t>
            </a:r>
          </a:p>
          <a:p>
            <a:pPr algn="l">
              <a:lnSpc>
                <a:spcPct val="108000"/>
              </a:lnSpc>
              <a:buNone/>
              <a:defRPr sz="2100" b="0" i="0">
                <a:solidFill>
                  <a:srgbClr val="171717"/>
                </a:solidFill>
                <a:latin typeface="Malgun Gothic"/>
                <a:ea typeface="Malgun Gothic"/>
                <a:cs typeface="Malgun Gothic"/>
              </a:defRPr>
            </a:pPr>
            <a:r>
              <a:rPr sz="2000" b="0" i="0">
                <a:solidFill>
                  <a:srgbClr val="171717"/>
                </a:solidFill>
                <a:latin typeface="Malgun Gothic"/>
                <a:ea typeface="Malgun Gothic"/>
                <a:cs typeface="Malgun Gothic"/>
              </a:rPr>
              <a:t>M1=(a+d)*(e+h), M2=(c+d)*e, M3=a*(f-h)</a:t>
            </a:r>
          </a:p>
          <a:p>
            <a:pPr algn="l">
              <a:lnSpc>
                <a:spcPct val="108000"/>
              </a:lnSpc>
              <a:buNone/>
              <a:defRPr sz="2100" b="0" i="0">
                <a:solidFill>
                  <a:srgbClr val="171717"/>
                </a:solidFill>
                <a:latin typeface="Malgun Gothic"/>
                <a:ea typeface="Malgun Gothic"/>
                <a:cs typeface="Malgun Gothic"/>
              </a:defRPr>
            </a:pPr>
            <a:r>
              <a:rPr sz="2000" b="0" i="0">
                <a:solidFill>
                  <a:srgbClr val="171717"/>
                </a:solidFill>
                <a:latin typeface="Malgun Gothic"/>
                <a:ea typeface="Malgun Gothic"/>
                <a:cs typeface="Malgun Gothic"/>
              </a:rPr>
              <a:t>M4=d*(g-e), M5=(a+b)*h, M6=(c-a)*(e+f), M7=(b-d)*(g+h)</a:t>
            </a:r>
          </a:p>
          <a:p>
            <a:pPr algn="l">
              <a:lnSpc>
                <a:spcPct val="108000"/>
              </a:lnSpc>
              <a:buNone/>
              <a:defRPr sz="2100" b="0" i="0">
                <a:solidFill>
                  <a:srgbClr val="171717"/>
                </a:solidFill>
                <a:latin typeface="Malgun Gothic"/>
                <a:ea typeface="Malgun Gothic"/>
                <a:cs typeface="Malgun Gothic"/>
              </a:defRPr>
            </a:pPr>
            <a:r>
              <a:rPr sz="2000" b="0" i="0">
                <a:solidFill>
                  <a:srgbClr val="171717"/>
                </a:solidFill>
                <a:latin typeface="Malgun Gothic"/>
                <a:ea typeface="Malgun Gothic"/>
                <a:cs typeface="Malgun Gothic"/>
              </a:rPr>
              <a:t>C=[[M1+M4-M5+M7, M3+M5], [M2+M4, M1-M2+M3+M6]]</a:t>
            </a:r>
          </a:p>
        </p:txBody>
      </p:sp>
      <p:sp>
        <p:nvSpPr>
          <p:cNvPr id="9" name="text-405-64">
            <a:extLst>
              <a:ext uri="{FF2B5EF4-FFF2-40B4-BE49-F238E27FC236}">
                <a16:creationId xmlns:a16="http://schemas.microsoft.com/office/drawing/2014/main" id="{EF76541F-1E06-4D26-AC7D-7148AE24AD71}"/>
              </a:ext>
            </a:extLst>
          </p:cNvPr>
          <p:cNvSpPr>
            <a:spLocks noGrp="1"/>
          </p:cNvSpPr>
          <p:nvPr/>
        </p:nvSpPr>
        <p:spPr>
          <a:xfrm>
            <a:off x="609600" y="5486400"/>
            <a:ext cx="10972800" cy="36576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4EBDAD35-843A-46C5-99A1-A571B46BC50C}"/>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3694E1FC-1A96-425D-978A-69308D48FBE5}"/>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12DCE19A-3D5F-44BD-83D1-7882F5126C6B}"/>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13037E61-255F-43D1-B488-870F7616D09A}"/>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558CF806-087B-4BBC-BE2A-52E6CCB8820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25E4FD0D-DA91-4864-804D-2E2712D671C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정답과 해설</a:t>
            </a:r>
          </a:p>
        </p:txBody>
      </p:sp>
      <p:sp>
        <p:nvSpPr>
          <p:cNvPr id="4" name="직사각형 3">
            <a:extLst>
              <a:ext uri="{FF2B5EF4-FFF2-40B4-BE49-F238E27FC236}">
                <a16:creationId xmlns:a16="http://schemas.microsoft.com/office/drawing/2014/main" id="{15A3074F-B4B8-495D-9AAF-4D0093781F22}"/>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0234FB2-7BAC-4FA8-A555-6E9B6A35E3E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ABDB173D-A599-4A02-995C-846373CD0ED7}"/>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4B4C616-A804-4302-9F71-E506E3EEE935}"/>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210</a:t>
            </a:r>
          </a:p>
        </p:txBody>
      </p:sp>
      <p:sp>
        <p:nvSpPr>
          <p:cNvPr id="8" name="text-178-64">
            <a:extLst>
              <a:ext uri="{FF2B5EF4-FFF2-40B4-BE49-F238E27FC236}">
                <a16:creationId xmlns:a16="http://schemas.microsoft.com/office/drawing/2014/main" id="{A26EBA1C-705A-4B85-B6FC-844B06101C4E}"/>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2×2 슈트라센</a:t>
            </a:r>
          </a:p>
        </p:txBody>
      </p:sp>
      <p:sp>
        <p:nvSpPr>
          <p:cNvPr id="9" name="직사각형 8">
            <a:extLst>
              <a:ext uri="{FF2B5EF4-FFF2-40B4-BE49-F238E27FC236}">
                <a16:creationId xmlns:a16="http://schemas.microsoft.com/office/drawing/2014/main" id="{9A37FE23-83A5-413A-80ED-8978544E61BB}"/>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0B3970A8-5687-4746-9FF7-A685F7EAE930}"/>
              </a:ext>
            </a:extLst>
          </p:cNvPr>
          <p:cNvSpPr>
            <a:spLocks noGrp="1"/>
          </p:cNvSpPr>
          <p:nvPr/>
        </p:nvSpPr>
        <p:spPr>
          <a:xfrm>
            <a:off x="876300" y="2339340"/>
            <a:ext cx="10439400" cy="436245"/>
          </a:xfrm>
          <a:prstGeom prst="rect">
            <a:avLst/>
          </a:prstGeom>
          <a:noFill/>
          <a:ln w="0">
            <a:noFill/>
          </a:ln>
        </p:spPr>
        <p:txBody>
          <a:bodyPr wrap="squar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제공된 M1~M7을 구한 뒤 C의 네 성분을 조합한다.</a:t>
            </a:r>
          </a:p>
        </p:txBody>
      </p:sp>
      <p:sp>
        <p:nvSpPr>
          <p:cNvPr id="11" name="text-324.4-64">
            <a:extLst>
              <a:ext uri="{FF2B5EF4-FFF2-40B4-BE49-F238E27FC236}">
                <a16:creationId xmlns:a16="http://schemas.microsoft.com/office/drawing/2014/main" id="{F76249AC-4358-4416-A8E4-832056913BD9}"/>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F8ACFA1C-9C4D-4DD7-B7E4-1A825170AA73}"/>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B7FB82C-0A11-4571-815C-3AE7C228C537}"/>
              </a:ext>
            </a:extLst>
          </p:cNvPr>
          <p:cNvSpPr>
            <a:spLocks noGrp="1"/>
          </p:cNvSpPr>
          <p:nvPr/>
        </p:nvSpPr>
        <p:spPr>
          <a:xfrm>
            <a:off x="609600" y="3547110"/>
            <a:ext cx="10972800" cy="644589"/>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곱셈은 M1~M7에서 한 번씩 총 7번이다. 2×2 고정 크기이므로 시간은 O(1)이다. 공식을 외우는 것이 아니라 주어진 식을 코드로 옮기는 문제다.</a:t>
            </a:r>
          </a:p>
        </p:txBody>
      </p:sp>
    </p:spTree>
    <p:extLst>
      <p:ext uri="{BB962C8B-B14F-4D97-AF65-F5344CB8AC3E}">
        <p14:creationId xmlns:p14="http://schemas.microsoft.com/office/powerpoint/2010/main" val="462685519"/>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5" name="text-28-64">
            <a:extLst>
              <a:ext uri="{FF2B5EF4-FFF2-40B4-BE49-F238E27FC236}">
                <a16:creationId xmlns:a16="http://schemas.microsoft.com/office/drawing/2014/main" id="{286EEC7D-2F2F-4A2E-B5F7-228DD04070E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80314731-9846-4A2F-8A00-13317C4E0E2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2BC417F-B089-4CA7-8AEE-2F05B0A4A60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Python 구현</a:t>
            </a:r>
          </a:p>
        </p:txBody>
      </p:sp>
      <p:sp>
        <p:nvSpPr>
          <p:cNvPr id="4" name="직사각형 3">
            <a:extLst>
              <a:ext uri="{FF2B5EF4-FFF2-40B4-BE49-F238E27FC236}">
                <a16:creationId xmlns:a16="http://schemas.microsoft.com/office/drawing/2014/main" id="{2309B9E4-6BFD-4F16-8141-C3CDD1D8B0F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6EBE922-2600-492E-9943-EEF5D248530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5AEAE3F-FF80-4A4A-9180-CB94380C352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47C272EE-E523-40CF-8A03-3D44F623262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211</a:t>
            </a:r>
          </a:p>
        </p:txBody>
      </p:sp>
      <p:sp>
        <p:nvSpPr>
          <p:cNvPr id="8" name="text-163-64">
            <a:extLst>
              <a:ext uri="{FF2B5EF4-FFF2-40B4-BE49-F238E27FC236}">
                <a16:creationId xmlns:a16="http://schemas.microsoft.com/office/drawing/2014/main" id="{7870F670-3213-4E86-86F3-938E6E96EE44}"/>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2×2 슈트라센</a:t>
            </a:r>
          </a:p>
        </p:txBody>
      </p:sp>
      <p:sp>
        <p:nvSpPr>
          <p:cNvPr id="9" name="직사각형 8">
            <a:extLst>
              <a:ext uri="{FF2B5EF4-FFF2-40B4-BE49-F238E27FC236}">
                <a16:creationId xmlns:a16="http://schemas.microsoft.com/office/drawing/2014/main" id="{D46895BD-888B-4FC5-8774-5AB4B4B0C5A2}"/>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CA6CADF2-86BE-4D5E-9C1D-E2836EF996FC}"/>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3E43D66B-C4F6-4F1B-9D6D-1B2E33090CED}"/>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strassen2(A, B):</a:t>
            </a:r>
          </a:p>
        </p:txBody>
      </p:sp>
      <p:sp>
        <p:nvSpPr>
          <p:cNvPr id="12" name="text-242.5-81">
            <a:extLst>
              <a:ext uri="{FF2B5EF4-FFF2-40B4-BE49-F238E27FC236}">
                <a16:creationId xmlns:a16="http://schemas.microsoft.com/office/drawing/2014/main" id="{A806130A-224E-4511-9CF5-0E148F9EC620}"/>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20AF58CC-D416-4C0C-9F9A-CA6AFDA05259}"/>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a,b = A[0]; c,d = A[1]</a:t>
            </a:r>
          </a:p>
        </p:txBody>
      </p:sp>
      <p:sp>
        <p:nvSpPr>
          <p:cNvPr id="14" name="text-263-81">
            <a:extLst>
              <a:ext uri="{FF2B5EF4-FFF2-40B4-BE49-F238E27FC236}">
                <a16:creationId xmlns:a16="http://schemas.microsoft.com/office/drawing/2014/main" id="{434DABA9-B04E-43DF-B1A2-7EC24D544B6B}"/>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B67C18CD-D3D0-4169-9641-49379F2AEF76}"/>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e,f = B[0]; g,h = B[1]</a:t>
            </a:r>
          </a:p>
        </p:txBody>
      </p:sp>
      <p:sp>
        <p:nvSpPr>
          <p:cNvPr id="16" name="text-283.5-81">
            <a:extLst>
              <a:ext uri="{FF2B5EF4-FFF2-40B4-BE49-F238E27FC236}">
                <a16:creationId xmlns:a16="http://schemas.microsoft.com/office/drawing/2014/main" id="{65DB8CBD-3FAB-4909-A9FE-925175D1E7E8}"/>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D18502C2-93DE-4283-A297-EDD7D8A18AB1}"/>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m1 = (a+d)*(e+h)</a:t>
            </a:r>
          </a:p>
        </p:txBody>
      </p:sp>
      <p:sp>
        <p:nvSpPr>
          <p:cNvPr id="18" name="text-304-81">
            <a:extLst>
              <a:ext uri="{FF2B5EF4-FFF2-40B4-BE49-F238E27FC236}">
                <a16:creationId xmlns:a16="http://schemas.microsoft.com/office/drawing/2014/main" id="{C7B1EE70-BE69-4830-AF40-5AEF0C510E10}"/>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B65E7E7F-34A7-4A99-A73D-1A5ADDA8201E}"/>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m2 = (c+d)*e</a:t>
            </a:r>
          </a:p>
        </p:txBody>
      </p:sp>
      <p:sp>
        <p:nvSpPr>
          <p:cNvPr id="20" name="text-324.5-81">
            <a:extLst>
              <a:ext uri="{FF2B5EF4-FFF2-40B4-BE49-F238E27FC236}">
                <a16:creationId xmlns:a16="http://schemas.microsoft.com/office/drawing/2014/main" id="{DC795C5E-A3F7-47C6-982E-67659F1D1C35}"/>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98539364-DC65-40E3-80CE-CF9C6692D801}"/>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m3 = a*(f-h)</a:t>
            </a:r>
          </a:p>
        </p:txBody>
      </p:sp>
      <p:sp>
        <p:nvSpPr>
          <p:cNvPr id="22" name="text-345-81">
            <a:extLst>
              <a:ext uri="{FF2B5EF4-FFF2-40B4-BE49-F238E27FC236}">
                <a16:creationId xmlns:a16="http://schemas.microsoft.com/office/drawing/2014/main" id="{876D8338-7900-409A-95E2-375F944C7870}"/>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D299519E-ED7E-4DCF-9DE8-4B15AE4A0ED9}"/>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m4 = d*(g-e)</a:t>
            </a:r>
          </a:p>
        </p:txBody>
      </p:sp>
      <p:sp>
        <p:nvSpPr>
          <p:cNvPr id="24" name="text-365.5-81">
            <a:extLst>
              <a:ext uri="{FF2B5EF4-FFF2-40B4-BE49-F238E27FC236}">
                <a16:creationId xmlns:a16="http://schemas.microsoft.com/office/drawing/2014/main" id="{3BECEB38-8F40-4A41-BA8F-9C08B6EBCC05}"/>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E0CB2006-D15C-4318-B0A8-58A1DC8CBAAF}"/>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m5 = (a+b)*h</a:t>
            </a:r>
          </a:p>
        </p:txBody>
      </p:sp>
      <p:sp>
        <p:nvSpPr>
          <p:cNvPr id="26" name="text-386-81">
            <a:extLst>
              <a:ext uri="{FF2B5EF4-FFF2-40B4-BE49-F238E27FC236}">
                <a16:creationId xmlns:a16="http://schemas.microsoft.com/office/drawing/2014/main" id="{7D49C2D1-DF05-4F30-B4E4-3C3CA5A2CA5F}"/>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B401AB9C-254C-4364-A6D8-40C326272ADB}"/>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m6 = (c-a)*(e+f)</a:t>
            </a:r>
          </a:p>
        </p:txBody>
      </p:sp>
      <p:sp>
        <p:nvSpPr>
          <p:cNvPr id="28" name="text-406.5-81">
            <a:extLst>
              <a:ext uri="{FF2B5EF4-FFF2-40B4-BE49-F238E27FC236}">
                <a16:creationId xmlns:a16="http://schemas.microsoft.com/office/drawing/2014/main" id="{3D218B8C-36AC-42C7-AC88-CA456E4F5FC2}"/>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CDF58210-A9F1-4A3D-BFA1-7D9091F928A8}"/>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m7 = (b-d)*(g+h)</a:t>
            </a:r>
          </a:p>
        </p:txBody>
      </p:sp>
      <p:sp>
        <p:nvSpPr>
          <p:cNvPr id="30" name="text-427-81">
            <a:extLst>
              <a:ext uri="{FF2B5EF4-FFF2-40B4-BE49-F238E27FC236}">
                <a16:creationId xmlns:a16="http://schemas.microsoft.com/office/drawing/2014/main" id="{876C6973-29B1-4488-8C5E-6EE95424F6FA}"/>
              </a:ext>
            </a:extLst>
          </p:cNvPr>
          <p:cNvSpPr>
            <a:spLocks noGrp="1"/>
          </p:cNvSpPr>
          <p:nvPr/>
        </p:nvSpPr>
        <p:spPr>
          <a:xfrm>
            <a:off x="771525" y="40671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11</a:t>
            </a:r>
          </a:p>
        </p:txBody>
      </p:sp>
      <p:sp>
        <p:nvSpPr>
          <p:cNvPr id="31" name="text-427-135">
            <a:extLst>
              <a:ext uri="{FF2B5EF4-FFF2-40B4-BE49-F238E27FC236}">
                <a16:creationId xmlns:a16="http://schemas.microsoft.com/office/drawing/2014/main" id="{66A23D49-8A8A-4E92-9412-275E9AA5236B}"/>
              </a:ext>
            </a:extLst>
          </p:cNvPr>
          <p:cNvSpPr>
            <a:spLocks noGrp="1"/>
          </p:cNvSpPr>
          <p:nvPr/>
        </p:nvSpPr>
        <p:spPr>
          <a:xfrm>
            <a:off x="1285875" y="40671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[[m1+m4-m5+m7, m3+m5],</a:t>
            </a:r>
          </a:p>
        </p:txBody>
      </p:sp>
      <p:sp>
        <p:nvSpPr>
          <p:cNvPr id="32" name="text-447.5-81">
            <a:extLst>
              <a:ext uri="{FF2B5EF4-FFF2-40B4-BE49-F238E27FC236}">
                <a16:creationId xmlns:a16="http://schemas.microsoft.com/office/drawing/2014/main" id="{936597AD-01E4-440E-A2A6-10477CE72F28}"/>
              </a:ext>
            </a:extLst>
          </p:cNvPr>
          <p:cNvSpPr>
            <a:spLocks noGrp="1"/>
          </p:cNvSpPr>
          <p:nvPr/>
        </p:nvSpPr>
        <p:spPr>
          <a:xfrm>
            <a:off x="771525" y="42624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12</a:t>
            </a:r>
          </a:p>
        </p:txBody>
      </p:sp>
      <p:sp>
        <p:nvSpPr>
          <p:cNvPr id="33" name="text-447.5-135">
            <a:extLst>
              <a:ext uri="{FF2B5EF4-FFF2-40B4-BE49-F238E27FC236}">
                <a16:creationId xmlns:a16="http://schemas.microsoft.com/office/drawing/2014/main" id="{181048B0-6EDC-4DAA-A0E1-1629EB00EF69}"/>
              </a:ext>
            </a:extLst>
          </p:cNvPr>
          <p:cNvSpPr>
            <a:spLocks noGrp="1"/>
          </p:cNvSpPr>
          <p:nvPr/>
        </p:nvSpPr>
        <p:spPr>
          <a:xfrm>
            <a:off x="1285875" y="42624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[m2+m4, m1-m2+m3+m6]]</a:t>
            </a:r>
          </a:p>
        </p:txBody>
      </p:sp>
      <p:sp>
        <p:nvSpPr>
          <p:cNvPr id="34" name="text-635-64">
            <a:extLst>
              <a:ext uri="{FF2B5EF4-FFF2-40B4-BE49-F238E27FC236}">
                <a16:creationId xmlns:a16="http://schemas.microsoft.com/office/drawing/2014/main" id="{ACA01060-E116-433E-BEEC-734D3B85B7C7}"/>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고정 크기 2×2이므로 시간 O(1). 재귀적인 n×n 일반화와 구별한다.</a:t>
            </a:r>
          </a:p>
        </p:txBody>
      </p:sp>
    </p:spTree>
    <p:extLst>
      <p:ext uri="{BB962C8B-B14F-4D97-AF65-F5344CB8AC3E}">
        <p14:creationId xmlns:p14="http://schemas.microsoft.com/office/powerpoint/2010/main" val="46268551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28-64">
            <a:extLst>
              <a:ext uri="{FF2B5EF4-FFF2-40B4-BE49-F238E27FC236}">
                <a16:creationId xmlns:a16="http://schemas.microsoft.com/office/drawing/2014/main" id="{0B983E92-D507-433E-80B8-0DE062537C1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B4D1DC49-B9CE-44DE-8E93-B5CA42414CB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11116B56-E49B-48C1-96FF-1C5295B03C29}"/>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98  C 구현</a:t>
            </a:r>
          </a:p>
        </p:txBody>
      </p:sp>
      <p:sp>
        <p:nvSpPr>
          <p:cNvPr id="4" name="직사각형 3">
            <a:extLst>
              <a:ext uri="{FF2B5EF4-FFF2-40B4-BE49-F238E27FC236}">
                <a16:creationId xmlns:a16="http://schemas.microsoft.com/office/drawing/2014/main" id="{64312127-4F2A-4454-A095-BE02C83DA40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5FD2E7F1-8F24-4643-A87E-A3D3B05925BE}"/>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B4D5D9C-1EBC-4911-8C45-AAD7DD278AC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E0077B9B-D7B7-4683-9B8C-05FBEDD8145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212</a:t>
            </a:r>
          </a:p>
        </p:txBody>
      </p:sp>
      <p:sp>
        <p:nvSpPr>
          <p:cNvPr id="8" name="text-163-64">
            <a:extLst>
              <a:ext uri="{FF2B5EF4-FFF2-40B4-BE49-F238E27FC236}">
                <a16:creationId xmlns:a16="http://schemas.microsoft.com/office/drawing/2014/main" id="{869A0AAA-BFD3-4B5F-82AA-3BC50D640A4E}"/>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2×2 슈트라센</a:t>
            </a:r>
          </a:p>
        </p:txBody>
      </p:sp>
      <p:sp>
        <p:nvSpPr>
          <p:cNvPr id="9" name="직사각형 8">
            <a:extLst>
              <a:ext uri="{FF2B5EF4-FFF2-40B4-BE49-F238E27FC236}">
                <a16:creationId xmlns:a16="http://schemas.microsoft.com/office/drawing/2014/main" id="{326AE119-FCC8-41BF-A231-8AB06AA2F23B}"/>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977AD20E-F325-4B1C-9D37-494551EA49CD}"/>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4B48DE4C-596E-400C-832C-A0245555C909}"/>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void strassen2(const int A[][2], const int B[][2], int C[][2]) {</a:t>
            </a:r>
          </a:p>
        </p:txBody>
      </p:sp>
      <p:sp>
        <p:nvSpPr>
          <p:cNvPr id="12" name="text-242.5-81">
            <a:extLst>
              <a:ext uri="{FF2B5EF4-FFF2-40B4-BE49-F238E27FC236}">
                <a16:creationId xmlns:a16="http://schemas.microsoft.com/office/drawing/2014/main" id="{7CD58C01-1B07-4985-AD52-928E934C5F3E}"/>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AAD0F087-3287-4975-818F-B7FCDBE0F69D}"/>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a=A[0][0], b=A[0][1], c=A[1][0], d=A[1][1];</a:t>
            </a:r>
          </a:p>
        </p:txBody>
      </p:sp>
      <p:sp>
        <p:nvSpPr>
          <p:cNvPr id="14" name="text-263-81">
            <a:extLst>
              <a:ext uri="{FF2B5EF4-FFF2-40B4-BE49-F238E27FC236}">
                <a16:creationId xmlns:a16="http://schemas.microsoft.com/office/drawing/2014/main" id="{441BA7FE-A3FD-48AC-8026-AEC099796469}"/>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9C87AADF-24D8-43A7-AEAA-635C7BCC349A}"/>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e=B[0][0], f=B[0][1], g=B[1][0], h=B[1][1];</a:t>
            </a:r>
          </a:p>
        </p:txBody>
      </p:sp>
      <p:sp>
        <p:nvSpPr>
          <p:cNvPr id="16" name="text-283.5-81">
            <a:extLst>
              <a:ext uri="{FF2B5EF4-FFF2-40B4-BE49-F238E27FC236}">
                <a16:creationId xmlns:a16="http://schemas.microsoft.com/office/drawing/2014/main" id="{00FF48CA-62E8-4DE9-9583-07A9BC31D098}"/>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192EE0B0-3E9C-42BF-80C4-ED0477008975}"/>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m1=(a+d)*(e+h), m2=(c+d)*e;</a:t>
            </a:r>
          </a:p>
        </p:txBody>
      </p:sp>
      <p:sp>
        <p:nvSpPr>
          <p:cNvPr id="18" name="text-304-81">
            <a:extLst>
              <a:ext uri="{FF2B5EF4-FFF2-40B4-BE49-F238E27FC236}">
                <a16:creationId xmlns:a16="http://schemas.microsoft.com/office/drawing/2014/main" id="{016E8542-791F-4945-AA34-8A9FF89CCAA4}"/>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FA9E71B2-F93F-4ECF-8AD4-F8D81731655B}"/>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m3=a*(f-h), m4=d*(g-e), m5=(a+b)*h;</a:t>
            </a:r>
          </a:p>
        </p:txBody>
      </p:sp>
      <p:sp>
        <p:nvSpPr>
          <p:cNvPr id="20" name="text-324.5-81">
            <a:extLst>
              <a:ext uri="{FF2B5EF4-FFF2-40B4-BE49-F238E27FC236}">
                <a16:creationId xmlns:a16="http://schemas.microsoft.com/office/drawing/2014/main" id="{338EF049-7EA0-4D11-B2D0-89F36D6590E8}"/>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E746E799-9070-4915-9650-76773ABB0029}"/>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m6=(c-a)*(e+f), m7=(b-d)*(g+h);</a:t>
            </a:r>
          </a:p>
        </p:txBody>
      </p:sp>
      <p:sp>
        <p:nvSpPr>
          <p:cNvPr id="22" name="text-345-81">
            <a:extLst>
              <a:ext uri="{FF2B5EF4-FFF2-40B4-BE49-F238E27FC236}">
                <a16:creationId xmlns:a16="http://schemas.microsoft.com/office/drawing/2014/main" id="{93D0F06E-DAB5-402A-A81C-2827D518FB56}"/>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C12323CF-4DC4-4503-B430-952C62A1B918}"/>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C[0][0]=m1+m4-m5+m7; C[0][1]=m3+m5;</a:t>
            </a:r>
          </a:p>
        </p:txBody>
      </p:sp>
      <p:sp>
        <p:nvSpPr>
          <p:cNvPr id="24" name="text-365.5-81">
            <a:extLst>
              <a:ext uri="{FF2B5EF4-FFF2-40B4-BE49-F238E27FC236}">
                <a16:creationId xmlns:a16="http://schemas.microsoft.com/office/drawing/2014/main" id="{B885C32E-F64E-4650-AC65-7FA54661BD10}"/>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5DEBBFA4-B249-404E-9153-F465860A6BEC}"/>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C[1][0]=m2+m4; C[1][1]=m1-m2+m3+m6;</a:t>
            </a:r>
          </a:p>
        </p:txBody>
      </p:sp>
      <p:sp>
        <p:nvSpPr>
          <p:cNvPr id="26" name="text-386-81">
            <a:extLst>
              <a:ext uri="{FF2B5EF4-FFF2-40B4-BE49-F238E27FC236}">
                <a16:creationId xmlns:a16="http://schemas.microsoft.com/office/drawing/2014/main" id="{498A8AAA-7712-467F-B79A-88137DD36564}"/>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FD6723CC-C00E-47D6-A11B-2FE81FEC7FFA}"/>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28" name="text-635-64">
            <a:extLst>
              <a:ext uri="{FF2B5EF4-FFF2-40B4-BE49-F238E27FC236}">
                <a16:creationId xmlns:a16="http://schemas.microsoft.com/office/drawing/2014/main" id="{2CAD92D7-04BF-4DE3-A2DE-65461579B7B2}"/>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고정 크기 2×2이므로 시간 O(1). 재귀적인 n×n 일반화와 구별한다.</a:t>
            </a:r>
          </a:p>
        </p:txBody>
      </p:sp>
    </p:spTree>
    <p:extLst>
      <p:ext uri="{BB962C8B-B14F-4D97-AF65-F5344CB8AC3E}">
        <p14:creationId xmlns:p14="http://schemas.microsoft.com/office/powerpoint/2010/main" val="462685519"/>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67C57034-DA85-41F1-BD23-E8AFD58E8885}"/>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120A0A1B-E722-4C35-AEEF-B0E160636E05}"/>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E230E6C-8249-4AA8-90FE-60EE1A3BB750}"/>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a:t>
            </a:r>
          </a:p>
        </p:txBody>
      </p:sp>
      <p:sp>
        <p:nvSpPr>
          <p:cNvPr id="4" name="직사각형 3">
            <a:extLst>
              <a:ext uri="{FF2B5EF4-FFF2-40B4-BE49-F238E27FC236}">
                <a16:creationId xmlns:a16="http://schemas.microsoft.com/office/drawing/2014/main" id="{E719C47E-5C52-4175-BFFC-FC9A7E84014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10FB529-764E-4810-83AA-DFC8C8E7D47A}"/>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C6A54F1-F12E-4BE2-8F86-5B89FB135DE2}"/>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8377572B-AC90-475C-8951-B026383705E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213</a:t>
            </a:r>
          </a:p>
        </p:txBody>
      </p:sp>
      <p:sp>
        <p:nvSpPr>
          <p:cNvPr id="8" name="text-178-64">
            <a:extLst>
              <a:ext uri="{FF2B5EF4-FFF2-40B4-BE49-F238E27FC236}">
                <a16:creationId xmlns:a16="http://schemas.microsoft.com/office/drawing/2014/main" id="{C4B0DDF9-B451-43CB-90A1-1771ADBF1729}"/>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0/1 정사각형을 균일할 때까지 네 등분한 뒤 값 1인 최종 조각의 수를 반환한다.</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n=2ᵏ≤32. white_count(a,r,c,n)을 작성한다. C 열 폭은 32다. Python 또는 C 중</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하나로 함수를 작성하시오.</a:t>
            </a:r>
          </a:p>
        </p:txBody>
      </p:sp>
      <p:sp>
        <p:nvSpPr>
          <p:cNvPr id="9" name="text-405-64">
            <a:extLst>
              <a:ext uri="{FF2B5EF4-FFF2-40B4-BE49-F238E27FC236}">
                <a16:creationId xmlns:a16="http://schemas.microsoft.com/office/drawing/2014/main" id="{AE0C3E96-4D4B-4387-A67E-96A602622E0B}"/>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A2738C79-2E4A-4835-A27E-774D97E4821B}"/>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719FD1A2-1640-4D18-9CBE-F0C590B51492}"/>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2E1B0818-97C2-4521-AF22-0CADEFCFA1CC}"/>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E55BF6BF-8F27-4E6D-84B8-EA45A111A73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DE542465-47C5-4478-8FA7-BE22EC9EFB3D}"/>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CFE273F1-EE3D-4C8D-BBFB-49119B7BB27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정답과 해설</a:t>
            </a:r>
          </a:p>
        </p:txBody>
      </p:sp>
      <p:sp>
        <p:nvSpPr>
          <p:cNvPr id="4" name="직사각형 3">
            <a:extLst>
              <a:ext uri="{FF2B5EF4-FFF2-40B4-BE49-F238E27FC236}">
                <a16:creationId xmlns:a16="http://schemas.microsoft.com/office/drawing/2014/main" id="{3EDE3AD8-2DC3-4260-9AAC-028243CF8AF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0191AAA7-2C5F-4978-82E1-C5A7A9CD1CD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2BDBE68C-0155-4506-8999-C73FEB491C51}"/>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2938D6B9-1008-4525-AAA3-5212060DC80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214</a:t>
            </a:r>
          </a:p>
        </p:txBody>
      </p:sp>
      <p:sp>
        <p:nvSpPr>
          <p:cNvPr id="8" name="text-178-64">
            <a:extLst>
              <a:ext uri="{FF2B5EF4-FFF2-40B4-BE49-F238E27FC236}">
                <a16:creationId xmlns:a16="http://schemas.microsoft.com/office/drawing/2014/main" id="{CB051D76-7E8B-4835-8201-582CFB460999}"/>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단색 종이 조각 수</a:t>
            </a:r>
          </a:p>
        </p:txBody>
      </p:sp>
      <p:sp>
        <p:nvSpPr>
          <p:cNvPr id="9" name="직사각형 8">
            <a:extLst>
              <a:ext uri="{FF2B5EF4-FFF2-40B4-BE49-F238E27FC236}">
                <a16:creationId xmlns:a16="http://schemas.microsoft.com/office/drawing/2014/main" id="{3806DD82-60FA-4BDD-9ACF-7BF076987290}"/>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96C2AD5B-827A-4123-9767-F36166458BEE}"/>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균일한 1 영역은 한 조각, 균일한 0 영역은 0개로 세고 나머지는 네 결과를 합한다.</a:t>
            </a:r>
          </a:p>
        </p:txBody>
      </p:sp>
      <p:sp>
        <p:nvSpPr>
          <p:cNvPr id="11" name="text-324.4-64">
            <a:extLst>
              <a:ext uri="{FF2B5EF4-FFF2-40B4-BE49-F238E27FC236}">
                <a16:creationId xmlns:a16="http://schemas.microsoft.com/office/drawing/2014/main" id="{7B037945-64C3-4A30-AB90-097933923175}"/>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C4F44A85-4A7A-4093-B2C3-DB299A89E195}"/>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5857B8FD-6906-434E-BC57-AF54714FE21C}"/>
              </a:ext>
            </a:extLst>
          </p:cNvPr>
          <p:cNvSpPr>
            <a:spLocks noGrp="1"/>
          </p:cNvSpPr>
          <p:nvPr/>
        </p:nvSpPr>
        <p:spPr>
          <a:xfrm>
            <a:off x="609600" y="3547110"/>
            <a:ext cx="10972800" cy="320040"/>
          </a:xfrm>
          <a:prstGeom prst="rect">
            <a:avLst/>
          </a:prstGeom>
          <a:noFill/>
          <a:ln w="0">
            <a:noFill/>
          </a:ln>
        </p:spPr>
        <p:txBody>
          <a:bodyPr wrap="squar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O(n² log(n+1)) 상한. 1인 칸 수와 조각 수는 다르다.</a:t>
            </a:r>
          </a:p>
        </p:txBody>
      </p:sp>
    </p:spTree>
    <p:extLst>
      <p:ext uri="{BB962C8B-B14F-4D97-AF65-F5344CB8AC3E}">
        <p14:creationId xmlns:p14="http://schemas.microsoft.com/office/powerpoint/2010/main" val="462685519"/>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28-64">
            <a:extLst>
              <a:ext uri="{FF2B5EF4-FFF2-40B4-BE49-F238E27FC236}">
                <a16:creationId xmlns:a16="http://schemas.microsoft.com/office/drawing/2014/main" id="{4F8A67A3-F90E-4B26-AB12-F8BC9325919E}"/>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5E4893B4-C14B-446F-8837-84ED8F40281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9ACF15EA-59AA-43EE-833C-6BDB1010F3F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Python 구현</a:t>
            </a:r>
          </a:p>
        </p:txBody>
      </p:sp>
      <p:sp>
        <p:nvSpPr>
          <p:cNvPr id="4" name="직사각형 3">
            <a:extLst>
              <a:ext uri="{FF2B5EF4-FFF2-40B4-BE49-F238E27FC236}">
                <a16:creationId xmlns:a16="http://schemas.microsoft.com/office/drawing/2014/main" id="{01C5FAF6-2F2A-469C-A35E-F806E14C7B91}"/>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309CC91E-7193-41A1-B288-A0258332E91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3601060-1189-44E3-B3B8-1B3858F270F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D00BC31A-BB4D-45A0-A05D-EC0936EEB28A}"/>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215</a:t>
            </a:r>
          </a:p>
        </p:txBody>
      </p:sp>
      <p:sp>
        <p:nvSpPr>
          <p:cNvPr id="8" name="text-163-64">
            <a:extLst>
              <a:ext uri="{FF2B5EF4-FFF2-40B4-BE49-F238E27FC236}">
                <a16:creationId xmlns:a16="http://schemas.microsoft.com/office/drawing/2014/main" id="{4DBAC3B2-F712-49E4-8421-46DEF6F59631}"/>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단색 종이 조각 수</a:t>
            </a:r>
          </a:p>
        </p:txBody>
      </p:sp>
      <p:sp>
        <p:nvSpPr>
          <p:cNvPr id="9" name="직사각형 8">
            <a:extLst>
              <a:ext uri="{FF2B5EF4-FFF2-40B4-BE49-F238E27FC236}">
                <a16:creationId xmlns:a16="http://schemas.microsoft.com/office/drawing/2014/main" id="{6E0F1482-C356-4C66-8F47-8D107ABBA43C}"/>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9BDB6568-D13C-45A9-A8BC-D4E169B81805}"/>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D622C776-484F-4107-946E-2180E65AC341}"/>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white_count(a, r, c, n):</a:t>
            </a:r>
          </a:p>
        </p:txBody>
      </p:sp>
      <p:sp>
        <p:nvSpPr>
          <p:cNvPr id="12" name="text-242.5-81">
            <a:extLst>
              <a:ext uri="{FF2B5EF4-FFF2-40B4-BE49-F238E27FC236}">
                <a16:creationId xmlns:a16="http://schemas.microsoft.com/office/drawing/2014/main" id="{C0EF1DB7-6226-4253-9305-447926EB324F}"/>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1D936580-3BB8-4039-8445-C43C4319CCD8}"/>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value = a[r][c]</a:t>
            </a:r>
          </a:p>
        </p:txBody>
      </p:sp>
      <p:sp>
        <p:nvSpPr>
          <p:cNvPr id="14" name="text-263-81">
            <a:extLst>
              <a:ext uri="{FF2B5EF4-FFF2-40B4-BE49-F238E27FC236}">
                <a16:creationId xmlns:a16="http://schemas.microsoft.com/office/drawing/2014/main" id="{CFB5BDE6-4052-4B3E-BD26-642E24B697DA}"/>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020C5776-7820-4BD1-9D33-1D3DED659EEA}"/>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all(a[i][j] == value</a:t>
            </a:r>
          </a:p>
        </p:txBody>
      </p:sp>
      <p:sp>
        <p:nvSpPr>
          <p:cNvPr id="16" name="text-283.5-81">
            <a:extLst>
              <a:ext uri="{FF2B5EF4-FFF2-40B4-BE49-F238E27FC236}">
                <a16:creationId xmlns:a16="http://schemas.microsoft.com/office/drawing/2014/main" id="{C0DDFD9A-03C3-4E65-95AA-59D1B3617D04}"/>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D0F380A1-B31C-4F68-A0DD-553363BE07DA}"/>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 in range(r, r+n) for j in range(c, c+n)):</a:t>
            </a:r>
          </a:p>
        </p:txBody>
      </p:sp>
      <p:sp>
        <p:nvSpPr>
          <p:cNvPr id="18" name="text-304-81">
            <a:extLst>
              <a:ext uri="{FF2B5EF4-FFF2-40B4-BE49-F238E27FC236}">
                <a16:creationId xmlns:a16="http://schemas.microsoft.com/office/drawing/2014/main" id="{3BBAF8EE-AD7E-4F69-9AC4-57D3E8729568}"/>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488223FD-6259-4AFC-A988-E7105FCCB2B6}"/>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value</a:t>
            </a:r>
          </a:p>
        </p:txBody>
      </p:sp>
      <p:sp>
        <p:nvSpPr>
          <p:cNvPr id="20" name="text-324.5-81">
            <a:extLst>
              <a:ext uri="{FF2B5EF4-FFF2-40B4-BE49-F238E27FC236}">
                <a16:creationId xmlns:a16="http://schemas.microsoft.com/office/drawing/2014/main" id="{A3D101B3-12ED-4909-86F5-EA3F8A1FE342}"/>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9AEBA387-A05E-4D0E-AA3D-2907EF42379C}"/>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h = n // 2</a:t>
            </a:r>
          </a:p>
        </p:txBody>
      </p:sp>
      <p:sp>
        <p:nvSpPr>
          <p:cNvPr id="22" name="text-345-81">
            <a:extLst>
              <a:ext uri="{FF2B5EF4-FFF2-40B4-BE49-F238E27FC236}">
                <a16:creationId xmlns:a16="http://schemas.microsoft.com/office/drawing/2014/main" id="{F2121400-A50C-429E-85A4-2A9BCAAB955F}"/>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3131FBB0-FE68-4B35-A0E9-83FC29B8CCDE}"/>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(white_count(a,r,c,h) + white_count(a,r,c+h,h)</a:t>
            </a:r>
          </a:p>
        </p:txBody>
      </p:sp>
      <p:sp>
        <p:nvSpPr>
          <p:cNvPr id="24" name="text-365.5-81">
            <a:extLst>
              <a:ext uri="{FF2B5EF4-FFF2-40B4-BE49-F238E27FC236}">
                <a16:creationId xmlns:a16="http://schemas.microsoft.com/office/drawing/2014/main" id="{326BEE00-00E8-4D6F-B486-86F13AEF684B}"/>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FE6ADD01-B713-41D4-B47F-3F454FDA7DAE}"/>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 white_count(a,r+h,c,h)</a:t>
            </a:r>
          </a:p>
        </p:txBody>
      </p:sp>
      <p:sp>
        <p:nvSpPr>
          <p:cNvPr id="26" name="text-386-81">
            <a:extLst>
              <a:ext uri="{FF2B5EF4-FFF2-40B4-BE49-F238E27FC236}">
                <a16:creationId xmlns:a16="http://schemas.microsoft.com/office/drawing/2014/main" id="{7936460E-753D-4E78-824A-4368169B6ADE}"/>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275799EE-7935-416A-81B3-C6865663FBEE}"/>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 white_count(a,r+h,c+h,h))</a:t>
            </a:r>
          </a:p>
        </p:txBody>
      </p:sp>
      <p:sp>
        <p:nvSpPr>
          <p:cNvPr id="28" name="text-635-64">
            <a:extLst>
              <a:ext uri="{FF2B5EF4-FFF2-40B4-BE49-F238E27FC236}">
                <a16:creationId xmlns:a16="http://schemas.microsoft.com/office/drawing/2014/main" id="{B3FC7CE0-4DE1-40BE-8D7C-1AC79222A03F}"/>
              </a:ext>
            </a:extLst>
          </p:cNvPr>
          <p:cNvSpPr>
            <a:spLocks noGrp="1"/>
          </p:cNvSpPr>
          <p:nvPr/>
        </p:nvSpPr>
        <p:spPr>
          <a:xfrm>
            <a:off x="609600" y="6048375"/>
            <a:ext cx="10972800" cy="213360"/>
          </a:xfrm>
          <a:prstGeom prst="rect">
            <a:avLst/>
          </a:prstGeom>
          <a:noFill/>
          <a:ln w="0">
            <a:noFill/>
          </a:ln>
        </p:spPr>
        <p:txBody>
          <a:bodyPr wrap="squar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O(n² log(n+1)) 상한. 1인 칸 수와 조각 수는 다르다.</a:t>
            </a:r>
          </a:p>
        </p:txBody>
      </p:sp>
    </p:spTree>
    <p:extLst>
      <p:ext uri="{BB962C8B-B14F-4D97-AF65-F5344CB8AC3E}">
        <p14:creationId xmlns:p14="http://schemas.microsoft.com/office/powerpoint/2010/main" val="462685519"/>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text-28-64">
            <a:extLst>
              <a:ext uri="{FF2B5EF4-FFF2-40B4-BE49-F238E27FC236}">
                <a16:creationId xmlns:a16="http://schemas.microsoft.com/office/drawing/2014/main" id="{CDDC7FDC-B4BE-40AB-825D-17DD9B34E69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46F321E6-5098-4D60-8F50-35DFBA256788}"/>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2A38DE3-296E-46E2-876E-4D84B8E120DB}"/>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99  C 구현</a:t>
            </a:r>
          </a:p>
        </p:txBody>
      </p:sp>
      <p:sp>
        <p:nvSpPr>
          <p:cNvPr id="4" name="직사각형 3">
            <a:extLst>
              <a:ext uri="{FF2B5EF4-FFF2-40B4-BE49-F238E27FC236}">
                <a16:creationId xmlns:a16="http://schemas.microsoft.com/office/drawing/2014/main" id="{D7E1F9DF-14FB-4604-897E-95C68C3215C9}"/>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8454FFFA-4EF8-4370-9B16-2F48F615BB10}"/>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C6E4209-9E19-458C-98F3-FFD2AF94CE0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FA6B395A-92CA-4ADD-A306-8E0774BF1A39}"/>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216</a:t>
            </a:r>
          </a:p>
        </p:txBody>
      </p:sp>
      <p:sp>
        <p:nvSpPr>
          <p:cNvPr id="8" name="text-163-64">
            <a:extLst>
              <a:ext uri="{FF2B5EF4-FFF2-40B4-BE49-F238E27FC236}">
                <a16:creationId xmlns:a16="http://schemas.microsoft.com/office/drawing/2014/main" id="{9CAA364F-2A27-428E-B377-C1545241CA97}"/>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단색 종이 조각 수</a:t>
            </a:r>
          </a:p>
        </p:txBody>
      </p:sp>
      <p:sp>
        <p:nvSpPr>
          <p:cNvPr id="9" name="직사각형 8">
            <a:extLst>
              <a:ext uri="{FF2B5EF4-FFF2-40B4-BE49-F238E27FC236}">
                <a16:creationId xmlns:a16="http://schemas.microsoft.com/office/drawing/2014/main" id="{E64E9CDC-725E-40E6-993D-A16BE99A03DD}"/>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9AD9BABD-83CD-4633-8EFB-E05BEF193678}"/>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B68AAD8F-A6F2-4CED-99E0-EA7235B83B9C}"/>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int white_count(const int a[][32], int r, int c, int n) {</a:t>
            </a:r>
          </a:p>
        </p:txBody>
      </p:sp>
      <p:sp>
        <p:nvSpPr>
          <p:cNvPr id="12" name="text-242.5-81">
            <a:extLst>
              <a:ext uri="{FF2B5EF4-FFF2-40B4-BE49-F238E27FC236}">
                <a16:creationId xmlns:a16="http://schemas.microsoft.com/office/drawing/2014/main" id="{D18848DE-1435-47FF-9F40-663199E883EB}"/>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EE80F4B0-C849-47EE-86B1-CDF6747B94A2}"/>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same=1, value=a[r][c];</a:t>
            </a:r>
          </a:p>
        </p:txBody>
      </p:sp>
      <p:sp>
        <p:nvSpPr>
          <p:cNvPr id="14" name="text-263-81">
            <a:extLst>
              <a:ext uri="{FF2B5EF4-FFF2-40B4-BE49-F238E27FC236}">
                <a16:creationId xmlns:a16="http://schemas.microsoft.com/office/drawing/2014/main" id="{639E7028-AD7A-4E80-B283-9CEF0B578B8C}"/>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32F589C5-000F-41F3-AE03-A4130D5B6A1F}"/>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i=r; i&lt;r+n; ++i)</a:t>
            </a:r>
          </a:p>
        </p:txBody>
      </p:sp>
      <p:sp>
        <p:nvSpPr>
          <p:cNvPr id="16" name="text-283.5-81">
            <a:extLst>
              <a:ext uri="{FF2B5EF4-FFF2-40B4-BE49-F238E27FC236}">
                <a16:creationId xmlns:a16="http://schemas.microsoft.com/office/drawing/2014/main" id="{77C671EA-34E4-478A-8F3D-2F42F7E1477E}"/>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CFFA37F9-A2AD-4D31-A3BF-DDC453D40495}"/>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j=c; j&lt;c+n; ++j)</a:t>
            </a:r>
          </a:p>
        </p:txBody>
      </p:sp>
      <p:sp>
        <p:nvSpPr>
          <p:cNvPr id="18" name="text-304-81">
            <a:extLst>
              <a:ext uri="{FF2B5EF4-FFF2-40B4-BE49-F238E27FC236}">
                <a16:creationId xmlns:a16="http://schemas.microsoft.com/office/drawing/2014/main" id="{C809FB36-7E9E-40AA-9C31-26314FAB6AFA}"/>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E7157BEA-6CAA-4F10-ACEC-3524DE97BD1E}"/>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(a[i][j]!=value) same=0;</a:t>
            </a:r>
          </a:p>
        </p:txBody>
      </p:sp>
      <p:sp>
        <p:nvSpPr>
          <p:cNvPr id="20" name="text-324.5-81">
            <a:extLst>
              <a:ext uri="{FF2B5EF4-FFF2-40B4-BE49-F238E27FC236}">
                <a16:creationId xmlns:a16="http://schemas.microsoft.com/office/drawing/2014/main" id="{1329F2EF-1034-454C-AE86-1F133CA8D8A4}"/>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F9EB5723-E42B-46C3-998C-326F5F167C65}"/>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(same) return value;</a:t>
            </a:r>
          </a:p>
        </p:txBody>
      </p:sp>
      <p:sp>
        <p:nvSpPr>
          <p:cNvPr id="22" name="text-345-81">
            <a:extLst>
              <a:ext uri="{FF2B5EF4-FFF2-40B4-BE49-F238E27FC236}">
                <a16:creationId xmlns:a16="http://schemas.microsoft.com/office/drawing/2014/main" id="{02BAB3E4-E1A1-4085-BF4A-129D716C28C2}"/>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0E5E2BE1-3691-4468-880D-A459E6EF9CEC}"/>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h=n/2;</a:t>
            </a:r>
          </a:p>
        </p:txBody>
      </p:sp>
      <p:sp>
        <p:nvSpPr>
          <p:cNvPr id="24" name="text-365.5-81">
            <a:extLst>
              <a:ext uri="{FF2B5EF4-FFF2-40B4-BE49-F238E27FC236}">
                <a16:creationId xmlns:a16="http://schemas.microsoft.com/office/drawing/2014/main" id="{800AFD82-9DD8-4AE7-BEDB-13061628E53C}"/>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88DE2C6B-FB7D-483B-9823-A76BA38C824D}"/>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white_count(a,r,c,h)+white_count(a,r,c+h,h)</a:t>
            </a:r>
          </a:p>
        </p:txBody>
      </p:sp>
      <p:sp>
        <p:nvSpPr>
          <p:cNvPr id="26" name="text-386-81">
            <a:extLst>
              <a:ext uri="{FF2B5EF4-FFF2-40B4-BE49-F238E27FC236}">
                <a16:creationId xmlns:a16="http://schemas.microsoft.com/office/drawing/2014/main" id="{7B40F0B3-DC4C-414D-9CAF-1968CF4BF9ED}"/>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08F61A3F-A529-4100-BFB0-AF7387A61B26}"/>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 white_count(a,r+h,c,h)+white_count(a,r+h,c+h,h);</a:t>
            </a:r>
          </a:p>
        </p:txBody>
      </p:sp>
      <p:sp>
        <p:nvSpPr>
          <p:cNvPr id="28" name="text-406.5-81">
            <a:extLst>
              <a:ext uri="{FF2B5EF4-FFF2-40B4-BE49-F238E27FC236}">
                <a16:creationId xmlns:a16="http://schemas.microsoft.com/office/drawing/2014/main" id="{C2C4DFF7-2F2E-479D-9310-457C90F0EE68}"/>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1E00AE93-1F08-4626-9D69-B1836C5C1FB8}"/>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0" name="text-635-64">
            <a:extLst>
              <a:ext uri="{FF2B5EF4-FFF2-40B4-BE49-F238E27FC236}">
                <a16:creationId xmlns:a16="http://schemas.microsoft.com/office/drawing/2014/main" id="{7B416694-ED8C-4729-A9F2-168508CDE2EE}"/>
              </a:ext>
            </a:extLst>
          </p:cNvPr>
          <p:cNvSpPr>
            <a:spLocks noGrp="1"/>
          </p:cNvSpPr>
          <p:nvPr/>
        </p:nvSpPr>
        <p:spPr>
          <a:xfrm>
            <a:off x="609600" y="6048375"/>
            <a:ext cx="10972800" cy="213360"/>
          </a:xfrm>
          <a:prstGeom prst="rect">
            <a:avLst/>
          </a:prstGeom>
          <a:noFill/>
          <a:ln w="0">
            <a:noFill/>
          </a:ln>
        </p:spPr>
        <p:txBody>
          <a:bodyPr wrap="squar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O(n² log(n+1)) 상한. 1인 칸 수와 조각 수는 다르다.</a:t>
            </a:r>
          </a:p>
        </p:txBody>
      </p:sp>
    </p:spTree>
    <p:extLst>
      <p:ext uri="{BB962C8B-B14F-4D97-AF65-F5344CB8AC3E}">
        <p14:creationId xmlns:p14="http://schemas.microsoft.com/office/powerpoint/2010/main" val="462685519"/>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text-28-64">
            <a:extLst>
              <a:ext uri="{FF2B5EF4-FFF2-40B4-BE49-F238E27FC236}">
                <a16:creationId xmlns:a16="http://schemas.microsoft.com/office/drawing/2014/main" id="{9F57FAF8-EE1C-44F4-B9C3-9B7E7D209F7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0C9E1313-0369-4A90-9D2B-1A45BD599C2C}"/>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80461CD7-3152-4F8E-B550-88537CA92642}"/>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a:t>
            </a:r>
          </a:p>
        </p:txBody>
      </p:sp>
      <p:sp>
        <p:nvSpPr>
          <p:cNvPr id="4" name="직사각형 3">
            <a:extLst>
              <a:ext uri="{FF2B5EF4-FFF2-40B4-BE49-F238E27FC236}">
                <a16:creationId xmlns:a16="http://schemas.microsoft.com/office/drawing/2014/main" id="{D8BDD1DE-7DF9-41B1-B1F6-3131BB93B3B3}"/>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764B4645-C2F0-4D3B-AC9F-44461643C701}"/>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6E600C1-FA14-4319-878D-88F1AE5DAE6D}"/>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639B88CB-54CA-4C64-AE7E-7A9F43FE5CA0}"/>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217</a:t>
            </a:r>
          </a:p>
        </p:txBody>
      </p:sp>
      <p:sp>
        <p:nvSpPr>
          <p:cNvPr id="8" name="text-178-64">
            <a:extLst>
              <a:ext uri="{FF2B5EF4-FFF2-40B4-BE49-F238E27FC236}">
                <a16:creationId xmlns:a16="http://schemas.microsoft.com/office/drawing/2014/main" id="{A3A496FB-B1A2-459B-AB3D-9FD9FE977C7E}"/>
              </a:ext>
            </a:extLst>
          </p:cNvPr>
          <p:cNvSpPr>
            <a:spLocks noGrp="1"/>
          </p:cNvSpPr>
          <p:nvPr/>
        </p:nvSpPr>
        <p:spPr>
          <a:xfrm>
            <a:off x="609600" y="1695450"/>
            <a:ext cx="10972800" cy="1120140"/>
          </a:xfrm>
          <a:prstGeom prst="rect">
            <a:avLst/>
          </a:prstGeom>
          <a:noFill/>
          <a:ln w="0">
            <a:noFill/>
          </a:ln>
        </p:spPr>
        <p:txBody>
          <a:bodyPr wrap="none" lIns="0" tIns="0" rIns="0" bIns="0" anchor="t">
            <a:noAutofit/>
          </a:bodyPr>
          <a:lstStyle/>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오름차순 배열 a,b는 원래 배열의 왼쪽·오른쪽 절반이다. a[i]&gt;b[j]인 교차 역전 쌍 수</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cross_inversions를 병합식 순회로 구하시오. 각 길이 0..1000. Python 또는 C 중</a:t>
            </a:r>
          </a:p>
          <a:p>
            <a:pPr algn="l">
              <a:lnSpc>
                <a:spcPct val="108000"/>
              </a:lnSpc>
              <a:buNone/>
              <a:defRPr sz="2100" b="0" i="0">
                <a:solidFill>
                  <a:srgbClr val="171717"/>
                </a:solidFill>
                <a:latin typeface="Malgun Gothic"/>
                <a:ea typeface="Malgun Gothic"/>
                <a:cs typeface="Malgun Gothic"/>
              </a:defRPr>
            </a:pPr>
            <a:r>
              <a:rPr sz="2100" b="0" i="0">
                <a:solidFill>
                  <a:srgbClr val="171717"/>
                </a:solidFill>
                <a:latin typeface="Malgun Gothic"/>
                <a:ea typeface="Malgun Gothic"/>
                <a:cs typeface="Malgun Gothic"/>
              </a:rPr>
              <a:t>하나로 함수를 작성하시오.</a:t>
            </a:r>
          </a:p>
        </p:txBody>
      </p:sp>
      <p:sp>
        <p:nvSpPr>
          <p:cNvPr id="9" name="text-405-64">
            <a:extLst>
              <a:ext uri="{FF2B5EF4-FFF2-40B4-BE49-F238E27FC236}">
                <a16:creationId xmlns:a16="http://schemas.microsoft.com/office/drawing/2014/main" id="{CDD6A78A-C7E8-462A-ADFE-3348349B0575}"/>
              </a:ext>
            </a:extLst>
          </p:cNvPr>
          <p:cNvSpPr>
            <a:spLocks noGrp="1"/>
          </p:cNvSpPr>
          <p:nvPr/>
        </p:nvSpPr>
        <p:spPr>
          <a:xfrm>
            <a:off x="609600" y="3857625"/>
            <a:ext cx="10972800" cy="342900"/>
          </a:xfrm>
          <a:prstGeom prst="rect">
            <a:avLst/>
          </a:prstGeom>
          <a:noFill/>
          <a:ln w="0">
            <a:noFill/>
          </a:ln>
        </p:spPr>
        <p:txBody>
          <a:bodyPr wrap="none" lIns="0" tIns="0" rIns="0" bIns="0" anchor="t">
            <a:noAutofit/>
          </a:bodyPr>
          <a:lstStyle/>
          <a:p>
            <a:pPr algn="l">
              <a:lnSpc>
                <a:spcPct val="108000"/>
              </a:lnSpc>
              <a:buNone/>
              <a:defRPr sz="1575" b="0" i="0">
                <a:solidFill>
                  <a:srgbClr val="606060"/>
                </a:solidFill>
                <a:latin typeface="Malgun Gothic"/>
                <a:ea typeface="Malgun Gothic"/>
                <a:cs typeface="Malgun Gothic"/>
              </a:defRPr>
            </a:pPr>
            <a:r>
              <a:rPr sz="1575" b="0" i="0">
                <a:solidFill>
                  <a:srgbClr val="606060"/>
                </a:solidFill>
                <a:latin typeface="Malgun Gothic"/>
                <a:ea typeface="Malgun Gothic"/>
                <a:cs typeface="Malgun Gothic"/>
              </a:rPr>
              <a:t>함수의 동작, 경계 처리, 시간 복잡도를 함께 작성하시오.</a:t>
            </a:r>
          </a:p>
        </p:txBody>
      </p:sp>
      <p:sp>
        <p:nvSpPr>
          <p:cNvPr id="10" name="직사각형 9">
            <a:extLst>
              <a:ext uri="{FF2B5EF4-FFF2-40B4-BE49-F238E27FC236}">
                <a16:creationId xmlns:a16="http://schemas.microsoft.com/office/drawing/2014/main" id="{6487EC03-8471-4DCD-A65D-C0AE9CDD26CC}"/>
              </a:ext>
            </a:extLst>
          </p:cNvPr>
          <p:cNvSpPr>
            <a:spLocks noGrp="1"/>
          </p:cNvSpPr>
          <p:nvPr/>
        </p:nvSpPr>
        <p:spPr>
          <a:xfrm>
            <a:off x="609600" y="4495800"/>
            <a:ext cx="10972800" cy="9525"/>
          </a:xfrm>
          <a:prstGeom prst="rect">
            <a:avLst/>
          </a:prstGeom>
          <a:solidFill>
            <a:srgbClr val="D4D4D4"/>
          </a:solidFill>
          <a:ln w="0">
            <a:noFill/>
          </a:ln>
        </p:spPr>
      </p:sp>
      <p:sp>
        <p:nvSpPr>
          <p:cNvPr id="11" name="직사각형 10">
            <a:extLst>
              <a:ext uri="{FF2B5EF4-FFF2-40B4-BE49-F238E27FC236}">
                <a16:creationId xmlns:a16="http://schemas.microsoft.com/office/drawing/2014/main" id="{495B8705-3CBB-4AAF-819A-F65AC04F76C7}"/>
              </a:ext>
            </a:extLst>
          </p:cNvPr>
          <p:cNvSpPr>
            <a:spLocks noGrp="1"/>
          </p:cNvSpPr>
          <p:nvPr/>
        </p:nvSpPr>
        <p:spPr>
          <a:xfrm>
            <a:off x="609600" y="5181600"/>
            <a:ext cx="10972800" cy="9525"/>
          </a:xfrm>
          <a:prstGeom prst="rect">
            <a:avLst/>
          </a:prstGeom>
          <a:solidFill>
            <a:srgbClr val="D4D4D4"/>
          </a:solidFill>
          <a:ln w="0">
            <a:noFill/>
          </a:ln>
        </p:spPr>
      </p:sp>
      <p:sp>
        <p:nvSpPr>
          <p:cNvPr id="12" name="직사각형 11">
            <a:extLst>
              <a:ext uri="{FF2B5EF4-FFF2-40B4-BE49-F238E27FC236}">
                <a16:creationId xmlns:a16="http://schemas.microsoft.com/office/drawing/2014/main" id="{89361DDA-3ABB-4EE1-9D31-10F271D4B542}"/>
              </a:ext>
            </a:extLst>
          </p:cNvPr>
          <p:cNvSpPr>
            <a:spLocks noGrp="1"/>
          </p:cNvSpPr>
          <p:nvPr/>
        </p:nvSpPr>
        <p:spPr>
          <a:xfrm>
            <a:off x="609600" y="5867400"/>
            <a:ext cx="10972800" cy="9525"/>
          </a:xfrm>
          <a:prstGeom prst="rect">
            <a:avLst/>
          </a:prstGeom>
          <a:solidFill>
            <a:srgbClr val="D4D4D4"/>
          </a:solidFill>
          <a:ln w="0">
            <a:noFill/>
          </a:ln>
        </p:spPr>
      </p:sp>
    </p:spTree>
    <p:extLst>
      <p:ext uri="{BB962C8B-B14F-4D97-AF65-F5344CB8AC3E}">
        <p14:creationId xmlns:p14="http://schemas.microsoft.com/office/powerpoint/2010/main" val="462685519"/>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text-28-64">
            <a:extLst>
              <a:ext uri="{FF2B5EF4-FFF2-40B4-BE49-F238E27FC236}">
                <a16:creationId xmlns:a16="http://schemas.microsoft.com/office/drawing/2014/main" id="{7910BB4D-E430-4AF1-97A2-F2ED1F6E6C8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FF07ED32-DA07-406F-8932-9298DBC02324}"/>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171700D-0FE9-4492-A59B-AB9718232FD5}"/>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정답과 해설</a:t>
            </a:r>
          </a:p>
        </p:txBody>
      </p:sp>
      <p:sp>
        <p:nvSpPr>
          <p:cNvPr id="4" name="직사각형 3">
            <a:extLst>
              <a:ext uri="{FF2B5EF4-FFF2-40B4-BE49-F238E27FC236}">
                <a16:creationId xmlns:a16="http://schemas.microsoft.com/office/drawing/2014/main" id="{38F8AAA6-4013-4161-8F37-9BF329DF579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86A4A7D-9C75-4627-A532-2294AD2CC95B}"/>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12E93B3-F0B5-4297-8268-8C95C61B6140}"/>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DDFB6DF-6E94-4F7F-982C-AEDBE119BA88}"/>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218</a:t>
            </a:r>
          </a:p>
        </p:txBody>
      </p:sp>
      <p:sp>
        <p:nvSpPr>
          <p:cNvPr id="8" name="text-178-64">
            <a:extLst>
              <a:ext uri="{FF2B5EF4-FFF2-40B4-BE49-F238E27FC236}">
                <a16:creationId xmlns:a16="http://schemas.microsoft.com/office/drawing/2014/main" id="{5CEDBFF3-02BA-4CFA-9E6A-2DFE8E28C2A0}"/>
              </a:ext>
            </a:extLst>
          </p:cNvPr>
          <p:cNvSpPr>
            <a:spLocks noGrp="1"/>
          </p:cNvSpPr>
          <p:nvPr/>
        </p:nvSpPr>
        <p:spPr>
          <a:xfrm>
            <a:off x="609600" y="169545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병합 중 역전 쌍 세기</a:t>
            </a:r>
          </a:p>
        </p:txBody>
      </p:sp>
      <p:sp>
        <p:nvSpPr>
          <p:cNvPr id="9" name="직사각형 8">
            <a:extLst>
              <a:ext uri="{FF2B5EF4-FFF2-40B4-BE49-F238E27FC236}">
                <a16:creationId xmlns:a16="http://schemas.microsoft.com/office/drawing/2014/main" id="{1C6D212F-BC0C-4E8D-8683-6DCE0DBE71D3}"/>
              </a:ext>
            </a:extLst>
          </p:cNvPr>
          <p:cNvSpPr>
            <a:spLocks noGrp="1"/>
          </p:cNvSpPr>
          <p:nvPr/>
        </p:nvSpPr>
        <p:spPr>
          <a:xfrm>
            <a:off x="609600" y="2205990"/>
            <a:ext cx="10972800" cy="626745"/>
          </a:xfrm>
          <a:prstGeom prst="rect">
            <a:avLst/>
          </a:prstGeom>
          <a:solidFill>
            <a:srgbClr val="171717"/>
          </a:solidFill>
          <a:ln w="0">
            <a:noFill/>
          </a:ln>
        </p:spPr>
      </p:sp>
      <p:sp>
        <p:nvSpPr>
          <p:cNvPr id="10" name="text-245.6-92">
            <a:extLst>
              <a:ext uri="{FF2B5EF4-FFF2-40B4-BE49-F238E27FC236}">
                <a16:creationId xmlns:a16="http://schemas.microsoft.com/office/drawing/2014/main" id="{50FAF124-8E83-4FC2-8735-65B3F9ACB49F}"/>
              </a:ext>
            </a:extLst>
          </p:cNvPr>
          <p:cNvSpPr>
            <a:spLocks noGrp="1"/>
          </p:cNvSpPr>
          <p:nvPr/>
        </p:nvSpPr>
        <p:spPr>
          <a:xfrm>
            <a:off x="876300" y="2339340"/>
            <a:ext cx="10439400" cy="436245"/>
          </a:xfrm>
          <a:prstGeom prst="rect">
            <a:avLst/>
          </a:prstGeom>
          <a:noFill/>
          <a:ln w="0">
            <a:noFill/>
          </a:ln>
        </p:spPr>
        <p:txBody>
          <a:bodyPr wrap="none" lIns="0" tIns="0" rIns="0" bIns="0" anchor="t">
            <a:noAutofit/>
          </a:bodyPr>
          <a:lstStyle/>
          <a:p>
            <a:pPr algn="l">
              <a:lnSpc>
                <a:spcPct val="108000"/>
              </a:lnSpc>
              <a:buNone/>
              <a:defRPr sz="2025" b="1" i="0">
                <a:solidFill>
                  <a:srgbClr val="FFFFFF"/>
                </a:solidFill>
                <a:latin typeface="Malgun Gothic"/>
                <a:ea typeface="Malgun Gothic"/>
                <a:cs typeface="Malgun Gothic"/>
              </a:defRPr>
            </a:pPr>
            <a:r>
              <a:rPr sz="2025" b="1" i="0">
                <a:solidFill>
                  <a:srgbClr val="FFFFFF"/>
                </a:solidFill>
                <a:latin typeface="Malgun Gothic"/>
                <a:ea typeface="Malgun Gothic"/>
                <a:cs typeface="Malgun Gothic"/>
              </a:rPr>
              <a:t>오른쪽 값이 더 작으면 남은 왼쪽 원소 모두와 역전 쌍을 만든다.</a:t>
            </a:r>
          </a:p>
        </p:txBody>
      </p:sp>
      <p:sp>
        <p:nvSpPr>
          <p:cNvPr id="11" name="text-324.4-64">
            <a:extLst>
              <a:ext uri="{FF2B5EF4-FFF2-40B4-BE49-F238E27FC236}">
                <a16:creationId xmlns:a16="http://schemas.microsoft.com/office/drawing/2014/main" id="{7E0A048B-FEC0-443C-B8D2-C15F0164CD5A}"/>
              </a:ext>
            </a:extLst>
          </p:cNvPr>
          <p:cNvSpPr>
            <a:spLocks noGrp="1"/>
          </p:cNvSpPr>
          <p:nvPr/>
        </p:nvSpPr>
        <p:spPr>
          <a:xfrm>
            <a:off x="609600" y="3089910"/>
            <a:ext cx="1181100" cy="361950"/>
          </a:xfrm>
          <a:prstGeom prst="rect">
            <a:avLst/>
          </a:prstGeom>
          <a:noFill/>
          <a:ln w="0">
            <a:noFill/>
          </a:ln>
        </p:spPr>
        <p:txBody>
          <a:bodyPr wrap="none" lIns="0" tIns="0" rIns="0" bIns="0" anchor="t">
            <a:noAutofit/>
          </a:bodyPr>
          <a:lstStyle/>
          <a:p>
            <a:pPr algn="l">
              <a:lnSpc>
                <a:spcPct val="108000"/>
              </a:lnSpc>
              <a:buNone/>
              <a:defRPr sz="1725" b="1" i="0">
                <a:solidFill>
                  <a:srgbClr val="171717"/>
                </a:solidFill>
                <a:latin typeface="Malgun Gothic"/>
                <a:ea typeface="Malgun Gothic"/>
                <a:cs typeface="Malgun Gothic"/>
              </a:defRPr>
            </a:pPr>
            <a:r>
              <a:rPr sz="1725" b="1" i="0">
                <a:solidFill>
                  <a:srgbClr val="171717"/>
                </a:solidFill>
                <a:latin typeface="Malgun Gothic"/>
                <a:ea typeface="Malgun Gothic"/>
                <a:cs typeface="Malgun Gothic"/>
              </a:rPr>
              <a:t>해설</a:t>
            </a:r>
          </a:p>
        </p:txBody>
      </p:sp>
      <p:sp>
        <p:nvSpPr>
          <p:cNvPr id="12" name="직사각형 11">
            <a:extLst>
              <a:ext uri="{FF2B5EF4-FFF2-40B4-BE49-F238E27FC236}">
                <a16:creationId xmlns:a16="http://schemas.microsoft.com/office/drawing/2014/main" id="{42792181-7E1A-47C1-B5A3-8A7FF3BE3591}"/>
              </a:ext>
            </a:extLst>
          </p:cNvPr>
          <p:cNvSpPr>
            <a:spLocks noGrp="1"/>
          </p:cNvSpPr>
          <p:nvPr/>
        </p:nvSpPr>
        <p:spPr>
          <a:xfrm>
            <a:off x="1752600" y="3261360"/>
            <a:ext cx="9829800" cy="9525"/>
          </a:xfrm>
          <a:prstGeom prst="rect">
            <a:avLst/>
          </a:prstGeom>
          <a:solidFill>
            <a:srgbClr val="D4D4D4"/>
          </a:solidFill>
          <a:ln w="0">
            <a:noFill/>
          </a:ln>
        </p:spPr>
      </p:sp>
      <p:sp>
        <p:nvSpPr>
          <p:cNvPr id="13" name="text-372.4-64">
            <a:extLst>
              <a:ext uri="{FF2B5EF4-FFF2-40B4-BE49-F238E27FC236}">
                <a16:creationId xmlns:a16="http://schemas.microsoft.com/office/drawing/2014/main" id="{01674E4A-134B-4DFB-9434-ABE6A61F1AAA}"/>
              </a:ext>
            </a:extLst>
          </p:cNvPr>
          <p:cNvSpPr>
            <a:spLocks noGrp="1"/>
          </p:cNvSpPr>
          <p:nvPr/>
        </p:nvSpPr>
        <p:spPr>
          <a:xfrm>
            <a:off x="609600" y="3547110"/>
            <a:ext cx="10972800" cy="320040"/>
          </a:xfrm>
          <a:prstGeom prst="rect">
            <a:avLst/>
          </a:prstGeom>
          <a:noFill/>
          <a:ln w="0">
            <a:noFill/>
          </a:ln>
        </p:spPr>
        <p:txBody>
          <a:bodyPr wrap="none" lIns="0" tIns="0" rIns="0" bIns="0" anchor="t">
            <a:noAutofit/>
          </a:bodyPr>
          <a:lstStyle/>
          <a:p>
            <a:pPr algn="l">
              <a:lnSpc>
                <a:spcPct val="108000"/>
              </a:lnSpc>
              <a:buNone/>
              <a:defRPr sz="1800" b="0" i="0">
                <a:solidFill>
                  <a:srgbClr val="606060"/>
                </a:solidFill>
                <a:latin typeface="Malgun Gothic"/>
                <a:ea typeface="Malgun Gothic"/>
                <a:cs typeface="Malgun Gothic"/>
              </a:defRPr>
            </a:pPr>
            <a:r>
              <a:rPr sz="1800" b="0" i="0">
                <a:solidFill>
                  <a:srgbClr val="606060"/>
                </a:solidFill>
                <a:latin typeface="Malgun Gothic"/>
                <a:ea typeface="Malgun Gothic"/>
                <a:cs typeface="Malgun Gothic"/>
              </a:rPr>
              <a:t>시간 O(n+m). 같은 값은 역전 쌍으로 세지 않는다.</a:t>
            </a:r>
          </a:p>
        </p:txBody>
      </p:sp>
    </p:spTree>
    <p:extLst>
      <p:ext uri="{BB962C8B-B14F-4D97-AF65-F5344CB8AC3E}">
        <p14:creationId xmlns:p14="http://schemas.microsoft.com/office/powerpoint/2010/main" val="462685519"/>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9" name="text-28-64">
            <a:extLst>
              <a:ext uri="{FF2B5EF4-FFF2-40B4-BE49-F238E27FC236}">
                <a16:creationId xmlns:a16="http://schemas.microsoft.com/office/drawing/2014/main" id="{3CC7A8AD-8D91-4C57-ABAA-16699DEBDAE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27B69C55-6338-4339-8E22-933D7812459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720D6A7F-CB56-475A-98AE-B76AEE58B9DC}"/>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Python 구현</a:t>
            </a:r>
          </a:p>
        </p:txBody>
      </p:sp>
      <p:sp>
        <p:nvSpPr>
          <p:cNvPr id="4" name="직사각형 3">
            <a:extLst>
              <a:ext uri="{FF2B5EF4-FFF2-40B4-BE49-F238E27FC236}">
                <a16:creationId xmlns:a16="http://schemas.microsoft.com/office/drawing/2014/main" id="{2E498019-672D-4756-9627-D5C16A3686DA}"/>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C34B2AE-E40D-492B-A55B-3446C73058B6}"/>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DB39D8FF-3112-4BF8-A179-F82CDA2CB3FF}"/>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39871336-D0C8-4AB7-819F-018DFE4DCAB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219</a:t>
            </a:r>
          </a:p>
        </p:txBody>
      </p:sp>
      <p:sp>
        <p:nvSpPr>
          <p:cNvPr id="8" name="text-163-64">
            <a:extLst>
              <a:ext uri="{FF2B5EF4-FFF2-40B4-BE49-F238E27FC236}">
                <a16:creationId xmlns:a16="http://schemas.microsoft.com/office/drawing/2014/main" id="{37608DD2-2818-47AD-90F9-354BE1BCE4D7}"/>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병합 중 역전 쌍 세기</a:t>
            </a:r>
          </a:p>
        </p:txBody>
      </p:sp>
      <p:sp>
        <p:nvSpPr>
          <p:cNvPr id="9" name="직사각형 8">
            <a:extLst>
              <a:ext uri="{FF2B5EF4-FFF2-40B4-BE49-F238E27FC236}">
                <a16:creationId xmlns:a16="http://schemas.microsoft.com/office/drawing/2014/main" id="{FF5AC79E-84AF-4271-9615-49AC32B6B440}"/>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4ACD4495-1B3F-4770-A18E-D78F63D86CCD}"/>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BAA9837C-83C6-4FBC-8837-0E59B78BB768}"/>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cross_inversions(a, b):</a:t>
            </a:r>
          </a:p>
        </p:txBody>
      </p:sp>
      <p:sp>
        <p:nvSpPr>
          <p:cNvPr id="12" name="text-242.5-81">
            <a:extLst>
              <a:ext uri="{FF2B5EF4-FFF2-40B4-BE49-F238E27FC236}">
                <a16:creationId xmlns:a16="http://schemas.microsoft.com/office/drawing/2014/main" id="{69905A98-9913-479F-9779-3E59CF61F583}"/>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B6DD5219-4FD8-4A47-B4CB-DF9EEF68152D}"/>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 = j = count = 0</a:t>
            </a:r>
          </a:p>
        </p:txBody>
      </p:sp>
      <p:sp>
        <p:nvSpPr>
          <p:cNvPr id="14" name="text-263-81">
            <a:extLst>
              <a:ext uri="{FF2B5EF4-FFF2-40B4-BE49-F238E27FC236}">
                <a16:creationId xmlns:a16="http://schemas.microsoft.com/office/drawing/2014/main" id="{4877BE11-88D5-421B-8ED1-F56E0685DF38}"/>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58C6D5C3-400D-4912-8170-5DDDEB45A188}"/>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 &lt; len(a) and j &lt; len(b):</a:t>
            </a:r>
          </a:p>
        </p:txBody>
      </p:sp>
      <p:sp>
        <p:nvSpPr>
          <p:cNvPr id="16" name="text-283.5-81">
            <a:extLst>
              <a:ext uri="{FF2B5EF4-FFF2-40B4-BE49-F238E27FC236}">
                <a16:creationId xmlns:a16="http://schemas.microsoft.com/office/drawing/2014/main" id="{B4D5631B-DCE5-4046-BFD9-A125B4DE4855}"/>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1CE0D048-1F14-4258-A93F-8431843D8F47}"/>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 &lt;= b[j]:</a:t>
            </a:r>
          </a:p>
        </p:txBody>
      </p:sp>
      <p:sp>
        <p:nvSpPr>
          <p:cNvPr id="18" name="text-304-81">
            <a:extLst>
              <a:ext uri="{FF2B5EF4-FFF2-40B4-BE49-F238E27FC236}">
                <a16:creationId xmlns:a16="http://schemas.microsoft.com/office/drawing/2014/main" id="{B66BC90E-28CA-4583-B649-69FE0EADA43F}"/>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7DF5AC8E-276F-4839-AC52-958B3CB763B4}"/>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 += 1</a:t>
            </a:r>
          </a:p>
        </p:txBody>
      </p:sp>
      <p:sp>
        <p:nvSpPr>
          <p:cNvPr id="20" name="text-324.5-81">
            <a:extLst>
              <a:ext uri="{FF2B5EF4-FFF2-40B4-BE49-F238E27FC236}">
                <a16:creationId xmlns:a16="http://schemas.microsoft.com/office/drawing/2014/main" id="{29345799-75A7-4C7E-9AC3-238668145427}"/>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C06CB03B-88BC-4FA1-AD33-DD70DC68E718}"/>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a:t>
            </a:r>
          </a:p>
        </p:txBody>
      </p:sp>
      <p:sp>
        <p:nvSpPr>
          <p:cNvPr id="22" name="text-345-81">
            <a:extLst>
              <a:ext uri="{FF2B5EF4-FFF2-40B4-BE49-F238E27FC236}">
                <a16:creationId xmlns:a16="http://schemas.microsoft.com/office/drawing/2014/main" id="{4EAACB57-1F9C-4F80-80CE-B332CDBE6189}"/>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FA3882E3-3579-4C51-B14D-C16046D671CC}"/>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 += len(a) - i</a:t>
            </a:r>
          </a:p>
        </p:txBody>
      </p:sp>
      <p:sp>
        <p:nvSpPr>
          <p:cNvPr id="24" name="text-365.5-81">
            <a:extLst>
              <a:ext uri="{FF2B5EF4-FFF2-40B4-BE49-F238E27FC236}">
                <a16:creationId xmlns:a16="http://schemas.microsoft.com/office/drawing/2014/main" id="{8C0D87B1-63EB-44E4-B3EA-3FA456E6E446}"/>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627D347D-5512-4026-9BB2-17DFA73A3C6B}"/>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j += 1</a:t>
            </a:r>
          </a:p>
        </p:txBody>
      </p:sp>
      <p:sp>
        <p:nvSpPr>
          <p:cNvPr id="26" name="text-386-81">
            <a:extLst>
              <a:ext uri="{FF2B5EF4-FFF2-40B4-BE49-F238E27FC236}">
                <a16:creationId xmlns:a16="http://schemas.microsoft.com/office/drawing/2014/main" id="{749B8F5C-1DFA-4F78-B6E8-9BE0EF6D88E1}"/>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48156DB7-ECFD-4937-BF64-310B70C8933E}"/>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count</a:t>
            </a:r>
          </a:p>
        </p:txBody>
      </p:sp>
      <p:sp>
        <p:nvSpPr>
          <p:cNvPr id="28" name="text-635-64">
            <a:extLst>
              <a:ext uri="{FF2B5EF4-FFF2-40B4-BE49-F238E27FC236}">
                <a16:creationId xmlns:a16="http://schemas.microsoft.com/office/drawing/2014/main" id="{E1812EE8-F378-4FA3-9CA7-7DF676C66DC9}"/>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O(n+m). 같은 값은 역전 쌍으로 세지 않는다.</a:t>
            </a:r>
          </a:p>
        </p:txBody>
      </p:sp>
    </p:spTree>
    <p:extLst>
      <p:ext uri="{BB962C8B-B14F-4D97-AF65-F5344CB8AC3E}">
        <p14:creationId xmlns:p14="http://schemas.microsoft.com/office/powerpoint/2010/main" val="46268551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text-28-64">
            <a:extLst>
              <a:ext uri="{FF2B5EF4-FFF2-40B4-BE49-F238E27FC236}">
                <a16:creationId xmlns:a16="http://schemas.microsoft.com/office/drawing/2014/main" id="{72622186-19B2-4D76-BB58-57EE6711A236}"/>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4장 분할 정복  /  Python/C 구현</a:t>
            </a:r>
          </a:p>
        </p:txBody>
      </p:sp>
      <p:sp>
        <p:nvSpPr>
          <p:cNvPr id="2" name="text-28-1080">
            <a:extLst>
              <a:ext uri="{FF2B5EF4-FFF2-40B4-BE49-F238E27FC236}">
                <a16:creationId xmlns:a16="http://schemas.microsoft.com/office/drawing/2014/main" id="{35DCB988-3A01-4C79-96E7-491EE8BAB61E}"/>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0CA95E4C-42D6-42A4-9732-0EBC6CFAD8F8}"/>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문제 100  C 구현</a:t>
            </a:r>
          </a:p>
        </p:txBody>
      </p:sp>
      <p:sp>
        <p:nvSpPr>
          <p:cNvPr id="4" name="직사각형 3">
            <a:extLst>
              <a:ext uri="{FF2B5EF4-FFF2-40B4-BE49-F238E27FC236}">
                <a16:creationId xmlns:a16="http://schemas.microsoft.com/office/drawing/2014/main" id="{1CBB0C9F-F2B9-4D02-8593-28284839C59D}"/>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5C395E9-19B4-472B-8C1B-1AF2338AAF3C}"/>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9ABCEA5E-0F94-48FE-AC34-CE860B20657B}"/>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04 / DIVIDE AND CONQUER · EXERCISES</a:t>
            </a:r>
          </a:p>
        </p:txBody>
      </p:sp>
      <p:sp>
        <p:nvSpPr>
          <p:cNvPr id="7" name="text-689-1160">
            <a:extLst>
              <a:ext uri="{FF2B5EF4-FFF2-40B4-BE49-F238E27FC236}">
                <a16:creationId xmlns:a16="http://schemas.microsoft.com/office/drawing/2014/main" id="{7FD0ABDB-54B8-4587-85C4-DAA1316BF60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sz="1050" b="1" i="0">
                <a:solidFill>
                  <a:srgbClr val="171717"/>
                </a:solidFill>
                <a:latin typeface="Consolas"/>
                <a:ea typeface="Consolas"/>
                <a:cs typeface="Consolas"/>
              </a:rPr>
              <a:t>220</a:t>
            </a:r>
          </a:p>
        </p:txBody>
      </p:sp>
      <p:sp>
        <p:nvSpPr>
          <p:cNvPr id="8" name="text-163-64">
            <a:extLst>
              <a:ext uri="{FF2B5EF4-FFF2-40B4-BE49-F238E27FC236}">
                <a16:creationId xmlns:a16="http://schemas.microsoft.com/office/drawing/2014/main" id="{F2B93C21-C393-4750-9787-D33059640421}"/>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병합 중 역전 쌍 세기</a:t>
            </a:r>
          </a:p>
        </p:txBody>
      </p:sp>
      <p:sp>
        <p:nvSpPr>
          <p:cNvPr id="9" name="직사각형 8">
            <a:extLst>
              <a:ext uri="{FF2B5EF4-FFF2-40B4-BE49-F238E27FC236}">
                <a16:creationId xmlns:a16="http://schemas.microsoft.com/office/drawing/2014/main" id="{319569D7-E290-4542-9710-77CF6B906724}"/>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B889074A-B8D4-4D19-85D7-6388A6550585}"/>
              </a:ext>
            </a:extLst>
          </p:cNvPr>
          <p:cNvSpPr>
            <a:spLocks noGrp="1"/>
          </p:cNvSpPr>
          <p:nvPr/>
        </p:nvSpPr>
        <p:spPr>
          <a:xfrm>
            <a:off x="771525" y="21145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218972C6-4343-4404-A9D6-DEF27AC422E6}"/>
              </a:ext>
            </a:extLst>
          </p:cNvPr>
          <p:cNvSpPr>
            <a:spLocks noGrp="1"/>
          </p:cNvSpPr>
          <p:nvPr/>
        </p:nvSpPr>
        <p:spPr>
          <a:xfrm>
            <a:off x="1285875" y="21145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long long cross_inversions(const int a[], int n,</a:t>
            </a:r>
          </a:p>
        </p:txBody>
      </p:sp>
      <p:sp>
        <p:nvSpPr>
          <p:cNvPr id="12" name="text-242.5-81">
            <a:extLst>
              <a:ext uri="{FF2B5EF4-FFF2-40B4-BE49-F238E27FC236}">
                <a16:creationId xmlns:a16="http://schemas.microsoft.com/office/drawing/2014/main" id="{C4D43483-8C16-4A05-A61C-F3607BCB9FAC}"/>
              </a:ext>
            </a:extLst>
          </p:cNvPr>
          <p:cNvSpPr>
            <a:spLocks noGrp="1"/>
          </p:cNvSpPr>
          <p:nvPr/>
        </p:nvSpPr>
        <p:spPr>
          <a:xfrm>
            <a:off x="771525" y="23098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72E7C309-1D34-4E26-89E8-0EB9D4262ED5}"/>
              </a:ext>
            </a:extLst>
          </p:cNvPr>
          <p:cNvSpPr>
            <a:spLocks noGrp="1"/>
          </p:cNvSpPr>
          <p:nvPr/>
        </p:nvSpPr>
        <p:spPr>
          <a:xfrm>
            <a:off x="1285875" y="23098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const int b[], int m) {</a:t>
            </a:r>
          </a:p>
        </p:txBody>
      </p:sp>
      <p:sp>
        <p:nvSpPr>
          <p:cNvPr id="14" name="text-263-81">
            <a:extLst>
              <a:ext uri="{FF2B5EF4-FFF2-40B4-BE49-F238E27FC236}">
                <a16:creationId xmlns:a16="http://schemas.microsoft.com/office/drawing/2014/main" id="{53E13CFF-9DB9-4862-8E70-2D046AA8C245}"/>
              </a:ext>
            </a:extLst>
          </p:cNvPr>
          <p:cNvSpPr>
            <a:spLocks noGrp="1"/>
          </p:cNvSpPr>
          <p:nvPr/>
        </p:nvSpPr>
        <p:spPr>
          <a:xfrm>
            <a:off x="771525" y="250507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C526E841-33C0-46BE-8937-A37A3C90737E}"/>
              </a:ext>
            </a:extLst>
          </p:cNvPr>
          <p:cNvSpPr>
            <a:spLocks noGrp="1"/>
          </p:cNvSpPr>
          <p:nvPr/>
        </p:nvSpPr>
        <p:spPr>
          <a:xfrm>
            <a:off x="1285875" y="250507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i=0, j=0;</a:t>
            </a:r>
          </a:p>
        </p:txBody>
      </p:sp>
      <p:sp>
        <p:nvSpPr>
          <p:cNvPr id="16" name="text-283.5-81">
            <a:extLst>
              <a:ext uri="{FF2B5EF4-FFF2-40B4-BE49-F238E27FC236}">
                <a16:creationId xmlns:a16="http://schemas.microsoft.com/office/drawing/2014/main" id="{F6965616-7EB3-471D-AC05-687BDD314314}"/>
              </a:ext>
            </a:extLst>
          </p:cNvPr>
          <p:cNvSpPr>
            <a:spLocks noGrp="1"/>
          </p:cNvSpPr>
          <p:nvPr/>
        </p:nvSpPr>
        <p:spPr>
          <a:xfrm>
            <a:off x="771525" y="270033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E889D48E-0272-4C66-B99A-8FD02431E123}"/>
              </a:ext>
            </a:extLst>
          </p:cNvPr>
          <p:cNvSpPr>
            <a:spLocks noGrp="1"/>
          </p:cNvSpPr>
          <p:nvPr/>
        </p:nvSpPr>
        <p:spPr>
          <a:xfrm>
            <a:off x="1285875" y="270033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long long count=0;</a:t>
            </a:r>
          </a:p>
        </p:txBody>
      </p:sp>
      <p:sp>
        <p:nvSpPr>
          <p:cNvPr id="18" name="text-304-81">
            <a:extLst>
              <a:ext uri="{FF2B5EF4-FFF2-40B4-BE49-F238E27FC236}">
                <a16:creationId xmlns:a16="http://schemas.microsoft.com/office/drawing/2014/main" id="{7F1B7C67-3066-4AD3-AC84-667133945CE9}"/>
              </a:ext>
            </a:extLst>
          </p:cNvPr>
          <p:cNvSpPr>
            <a:spLocks noGrp="1"/>
          </p:cNvSpPr>
          <p:nvPr/>
        </p:nvSpPr>
        <p:spPr>
          <a:xfrm>
            <a:off x="771525" y="289560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07E9A239-801A-408A-8C7F-44A9A4556A0C}"/>
              </a:ext>
            </a:extLst>
          </p:cNvPr>
          <p:cNvSpPr>
            <a:spLocks noGrp="1"/>
          </p:cNvSpPr>
          <p:nvPr/>
        </p:nvSpPr>
        <p:spPr>
          <a:xfrm>
            <a:off x="1285875" y="289560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while (i&lt;n &amp;&amp; j&lt;m) {</a:t>
            </a:r>
          </a:p>
        </p:txBody>
      </p:sp>
      <p:sp>
        <p:nvSpPr>
          <p:cNvPr id="20" name="text-324.5-81">
            <a:extLst>
              <a:ext uri="{FF2B5EF4-FFF2-40B4-BE49-F238E27FC236}">
                <a16:creationId xmlns:a16="http://schemas.microsoft.com/office/drawing/2014/main" id="{D5755151-DA05-4700-94CC-B5B9FC4E2F9C}"/>
              </a:ext>
            </a:extLst>
          </p:cNvPr>
          <p:cNvSpPr>
            <a:spLocks noGrp="1"/>
          </p:cNvSpPr>
          <p:nvPr/>
        </p:nvSpPr>
        <p:spPr>
          <a:xfrm>
            <a:off x="771525" y="309086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CBA6F795-C3D7-417B-995B-855EECF74155}"/>
              </a:ext>
            </a:extLst>
          </p:cNvPr>
          <p:cNvSpPr>
            <a:spLocks noGrp="1"/>
          </p:cNvSpPr>
          <p:nvPr/>
        </p:nvSpPr>
        <p:spPr>
          <a:xfrm>
            <a:off x="1285875" y="309086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(a[i]&lt;=b[j]) ++i;</a:t>
            </a:r>
          </a:p>
        </p:txBody>
      </p:sp>
      <p:sp>
        <p:nvSpPr>
          <p:cNvPr id="22" name="text-345-81">
            <a:extLst>
              <a:ext uri="{FF2B5EF4-FFF2-40B4-BE49-F238E27FC236}">
                <a16:creationId xmlns:a16="http://schemas.microsoft.com/office/drawing/2014/main" id="{DD142619-5DAC-4E98-ACCB-3AE236A512D9}"/>
              </a:ext>
            </a:extLst>
          </p:cNvPr>
          <p:cNvSpPr>
            <a:spLocks noGrp="1"/>
          </p:cNvSpPr>
          <p:nvPr/>
        </p:nvSpPr>
        <p:spPr>
          <a:xfrm>
            <a:off x="771525" y="328612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87D06E0D-BF4F-459B-B122-49FED0F69665}"/>
              </a:ext>
            </a:extLst>
          </p:cNvPr>
          <p:cNvSpPr>
            <a:spLocks noGrp="1"/>
          </p:cNvSpPr>
          <p:nvPr/>
        </p:nvSpPr>
        <p:spPr>
          <a:xfrm>
            <a:off x="1285875" y="328612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else { count+=n-i; ++j; }</a:t>
            </a:r>
          </a:p>
        </p:txBody>
      </p:sp>
      <p:sp>
        <p:nvSpPr>
          <p:cNvPr id="24" name="text-365.5-81">
            <a:extLst>
              <a:ext uri="{FF2B5EF4-FFF2-40B4-BE49-F238E27FC236}">
                <a16:creationId xmlns:a16="http://schemas.microsoft.com/office/drawing/2014/main" id="{3C8A3E5E-FA54-493F-8DF2-92728C0F97AE}"/>
              </a:ext>
            </a:extLst>
          </p:cNvPr>
          <p:cNvSpPr>
            <a:spLocks noGrp="1"/>
          </p:cNvSpPr>
          <p:nvPr/>
        </p:nvSpPr>
        <p:spPr>
          <a:xfrm>
            <a:off x="771525" y="348138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8DFA1FDE-B6D7-4634-A837-76611BBFA3CF}"/>
              </a:ext>
            </a:extLst>
          </p:cNvPr>
          <p:cNvSpPr>
            <a:spLocks noGrp="1"/>
          </p:cNvSpPr>
          <p:nvPr/>
        </p:nvSpPr>
        <p:spPr>
          <a:xfrm>
            <a:off x="1285875" y="348138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6" name="text-386-81">
            <a:extLst>
              <a:ext uri="{FF2B5EF4-FFF2-40B4-BE49-F238E27FC236}">
                <a16:creationId xmlns:a16="http://schemas.microsoft.com/office/drawing/2014/main" id="{16065666-0BEC-4F93-AA80-F5506E14079C}"/>
              </a:ext>
            </a:extLst>
          </p:cNvPr>
          <p:cNvSpPr>
            <a:spLocks noGrp="1"/>
          </p:cNvSpPr>
          <p:nvPr/>
        </p:nvSpPr>
        <p:spPr>
          <a:xfrm>
            <a:off x="771525" y="367665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ED02BBF6-E8CA-43E5-AC18-B940A1AEA193}"/>
              </a:ext>
            </a:extLst>
          </p:cNvPr>
          <p:cNvSpPr>
            <a:spLocks noGrp="1"/>
          </p:cNvSpPr>
          <p:nvPr/>
        </p:nvSpPr>
        <p:spPr>
          <a:xfrm>
            <a:off x="1285875" y="367665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count;</a:t>
            </a:r>
          </a:p>
        </p:txBody>
      </p:sp>
      <p:sp>
        <p:nvSpPr>
          <p:cNvPr id="28" name="text-406.5-81">
            <a:extLst>
              <a:ext uri="{FF2B5EF4-FFF2-40B4-BE49-F238E27FC236}">
                <a16:creationId xmlns:a16="http://schemas.microsoft.com/office/drawing/2014/main" id="{FDD887F4-B5C4-4EFC-A4C7-2EC2E818284C}"/>
              </a:ext>
            </a:extLst>
          </p:cNvPr>
          <p:cNvSpPr>
            <a:spLocks noGrp="1"/>
          </p:cNvSpPr>
          <p:nvPr/>
        </p:nvSpPr>
        <p:spPr>
          <a:xfrm>
            <a:off x="771525" y="38719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CFC43825-28BE-48A1-BC0B-AFA51ADC2A41}"/>
              </a:ext>
            </a:extLst>
          </p:cNvPr>
          <p:cNvSpPr>
            <a:spLocks noGrp="1"/>
          </p:cNvSpPr>
          <p:nvPr/>
        </p:nvSpPr>
        <p:spPr>
          <a:xfrm>
            <a:off x="1285875" y="38719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0" name="text-635-64">
            <a:extLst>
              <a:ext uri="{FF2B5EF4-FFF2-40B4-BE49-F238E27FC236}">
                <a16:creationId xmlns:a16="http://schemas.microsoft.com/office/drawing/2014/main" id="{41472F92-EC06-43E3-B7E6-B413E43E4C09}"/>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시간 O(n+m). 같은 값은 역전 쌍으로 세지 않는다.</a:t>
            </a:r>
          </a:p>
        </p:txBody>
      </p:sp>
    </p:spTree>
    <p:extLst>
      <p:ext uri="{BB962C8B-B14F-4D97-AF65-F5344CB8AC3E}">
        <p14:creationId xmlns:p14="http://schemas.microsoft.com/office/powerpoint/2010/main" val="462685519"/>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E3E0E95D-FF05-4921-A728-27EB4E269265}"/>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CB23627B-F692-414B-B2E0-59E541F9F311}"/>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7754708B-4656-47FF-965A-DD1444CE383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101</a:t>
            </a:r>
          </a:p>
        </p:txBody>
      </p:sp>
      <p:sp>
        <p:nvSpPr>
          <p:cNvPr id="4" name="직사각형 3">
            <a:extLst>
              <a:ext uri="{FF2B5EF4-FFF2-40B4-BE49-F238E27FC236}">
                <a16:creationId xmlns:a16="http://schemas.microsoft.com/office/drawing/2014/main" id="{75A174ED-1405-4C76-A527-0D90394D3D34}"/>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1FC73BDC-ECD2-4AB0-84B4-F3BE7635D838}"/>
              </a:ext>
            </a:extLst>
          </p:cNvPr>
          <p:cNvSpPr>
            <a:spLocks noGrp="1"/>
          </p:cNvSpPr>
          <p:nvPr/>
        </p:nvSpPr>
        <p:spPr>
          <a:xfrm>
            <a:off x="609600" y="1695450"/>
            <a:ext cx="10972800" cy="3333750"/>
          </a:xfrm>
          <a:prstGeom prst="rect">
            <a:avLst/>
          </a:prstGeom>
          <a:noFill/>
          <a:ln w="0">
            <a:noFill/>
          </a:ln>
        </p:spPr>
        <p:txBody>
          <a:bodyPr/>
          <a:lstStyle>
            <a:defPPr>
              <a:defRPr sz="1800" b="0">
                <a:solidFill>
                  <a:srgbClr val="151515"/>
                </a:solidFill>
                <a:latin typeface="Malgun Gothic"/>
                <a:ea typeface="Malgun Gothic"/>
                <a:cs typeface="Malgun Gothic"/>
              </a:defRPr>
            </a:defPPr>
          </a:lstStyle>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정수 배열 a의 [lo,hi]를 다음 순서대로 분할하는 partition(a,lo,hi)를 작성하시오.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양 끝을 포함하며 0≤lo≤hi&lt;n≤1000이다.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① 가운데 인덱스 (lo+hi)//2의 값을 hi로 교환해 피벗으로 둔다.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   L=lo, R=hi-1이다.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② L≤R이고 a[L]≤피벗인 동안 L을 계속 증가시킨다.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   이어 L≤R이고 a[R]&gt;피벗인 동안 R을 계속 감소시킨다.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③ L&gt;R이면 탐색을 끝내고, 아니면 a[L]과 a[R]을 교환한 뒤 ②를 반복한다.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④ a[L]과 a[hi]를 교환하고 L을 반환한다. 구간 밖의 값은 바꾸지 않는다.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Python 또는 C로 작성하시오.</a:t>
            </a:r>
          </a:p>
        </p:txBody>
      </p:sp>
      <p:sp>
        <p:nvSpPr>
          <p:cNvPr id="6" name="직사각형 5">
            <a:extLst>
              <a:ext uri="{FF2B5EF4-FFF2-40B4-BE49-F238E27FC236}">
                <a16:creationId xmlns:a16="http://schemas.microsoft.com/office/drawing/2014/main" id="{33FFF779-CB3A-4E1D-A18C-B3728A29D19C}"/>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7" name="직사각형 6">
            <a:extLst>
              <a:ext uri="{FF2B5EF4-FFF2-40B4-BE49-F238E27FC236}">
                <a16:creationId xmlns:a16="http://schemas.microsoft.com/office/drawing/2014/main" id="{5DD29EFB-5C24-45CB-9A69-9094E28F248A}"/>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221</a:t>
            </a:r>
          </a:p>
        </p:txBody>
      </p:sp>
      <p:sp>
        <p:nvSpPr>
          <p:cNvPr id="8" name="직사각형 7">
            <a:extLst>
              <a:ext uri="{FF2B5EF4-FFF2-40B4-BE49-F238E27FC236}">
                <a16:creationId xmlns:a16="http://schemas.microsoft.com/office/drawing/2014/main" id="{2A1B10D7-E8C6-4627-8C84-B85E95A4E12B}"/>
              </a:ext>
            </a:extLst>
          </p:cNvPr>
          <p:cNvSpPr>
            <a:spLocks noGrp="1"/>
          </p:cNvSpPr>
          <p:nvPr/>
        </p:nvSpPr>
        <p:spPr>
          <a:xfrm>
            <a:off x="609600" y="5238750"/>
            <a:ext cx="10972800" cy="304800"/>
          </a:xfrm>
          <a:prstGeom prst="rect">
            <a:avLst/>
          </a:prstGeom>
          <a:noFill/>
          <a:ln w="0">
            <a:noFill/>
          </a:ln>
        </p:spPr>
        <p:txBody>
          <a:bodyPr/>
          <a:lstStyle>
            <a:defPPr>
              <a:defRPr sz="1575" b="0">
                <a:solidFill>
                  <a:srgbClr val="5B5B5B"/>
                </a:solidFill>
                <a:latin typeface="Malgun Gothic"/>
                <a:ea typeface="Malgun Gothic"/>
                <a:cs typeface="Malgun Gothic"/>
              </a:defRPr>
            </a:defPPr>
          </a:lstStyle>
          <a:p>
            <a:pPr>
              <a:defRPr sz="1575" b="0">
                <a:solidFill>
                  <a:srgbClr val="5B5B5B"/>
                </a:solidFill>
                <a:latin typeface="Malgun Gothic"/>
                <a:ea typeface="Malgun Gothic"/>
                <a:cs typeface="Malgun Gothic"/>
              </a:defRPr>
            </a:pPr>
            <a:r>
              <a:rPr sz="1575" b="0">
                <a:solidFill>
                  <a:srgbClr val="5B5B5B"/>
                </a:solidFill>
                <a:latin typeface="Malgun Gothic" panose="020B0503020000020004" pitchFamily="50" charset="-127"/>
                <a:ea typeface="Malgun Gothic"/>
                <a:cs typeface="Malgun Gothic"/>
              </a:rPr>
              <a:t>함수의 동작, 경계 처리, 시간 복잡도를 함께 작성하시오.</a:t>
            </a:r>
          </a:p>
        </p:txBody>
      </p:sp>
      <p:sp>
        <p:nvSpPr>
          <p:cNvPr id="9" name="직사각형 8">
            <a:extLst>
              <a:ext uri="{FF2B5EF4-FFF2-40B4-BE49-F238E27FC236}">
                <a16:creationId xmlns:a16="http://schemas.microsoft.com/office/drawing/2014/main" id="{EA05AA79-A4C9-4ADB-8E7E-E2D161C0AF81}"/>
              </a:ext>
            </a:extLst>
          </p:cNvPr>
          <p:cNvSpPr>
            <a:spLocks noGrp="1"/>
          </p:cNvSpPr>
          <p:nvPr/>
        </p:nvSpPr>
        <p:spPr>
          <a:xfrm>
            <a:off x="609600" y="5676900"/>
            <a:ext cx="10972800" cy="571500"/>
          </a:xfrm>
          <a:prstGeom prst="rect">
            <a:avLst/>
          </a:prstGeom>
          <a:noFill/>
          <a:ln w="0">
            <a:noFill/>
          </a:ln>
        </p:spPr>
        <p:txBody>
          <a:bodyPr/>
          <a:lstStyle>
            <a:defPPr>
              <a:defRPr sz="1500" b="0">
                <a:solidFill>
                  <a:srgbClr val="151515"/>
                </a:solidFill>
                <a:latin typeface="Malgun Gothic"/>
                <a:ea typeface="Malgun Gothic"/>
                <a:cs typeface="Malgun Gothic"/>
              </a:defRPr>
            </a:defPPr>
          </a:lstStyle>
          <a:p>
            <a:pPr>
              <a:defRPr sz="1500" b="0">
                <a:solidFill>
                  <a:srgbClr val="151515"/>
                </a:solidFill>
                <a:latin typeface="Malgun Gothic"/>
                <a:ea typeface="Malgun Gothic"/>
                <a:cs typeface="Malgun Gothic"/>
              </a:defRPr>
            </a:pPr>
            <a:r>
              <a:rPr sz="1500" b="0">
                <a:solidFill>
                  <a:srgbClr val="151515"/>
                </a:solidFill>
                <a:latin typeface="Malgun Gothic" panose="020B0503020000020004" pitchFamily="50" charset="-127"/>
                <a:ea typeface="Malgun Gothic"/>
                <a:cs typeface="Malgun Gothic"/>
              </a:rPr>
              <a:t>예: partition([8,4,6,3,7,1],0,5) → 3</a:t>
            </a:r>
          </a:p>
          <a:p>
            <a:pPr>
              <a:defRPr sz="1500" b="0">
                <a:solidFill>
                  <a:srgbClr val="151515"/>
                </a:solidFill>
                <a:latin typeface="Malgun Gothic"/>
                <a:ea typeface="Malgun Gothic"/>
                <a:cs typeface="Malgun Gothic"/>
              </a:defRPr>
            </a:pPr>
            <a:r>
              <a:rPr sz="1500" b="0">
                <a:solidFill>
                  <a:srgbClr val="151515"/>
                </a:solidFill>
                <a:latin typeface="Malgun Gothic" panose="020B0503020000020004" pitchFamily="50" charset="-127"/>
                <a:ea typeface="Malgun Gothic"/>
                <a:cs typeface="Malgun Gothic"/>
              </a:rPr>
              <a:t>분할 후 a = [3,4,1,6,7,8]</a:t>
            </a:r>
          </a:p>
        </p:txBody>
      </p:sp>
    </p:spTree>
    <p:extLst>
      <p:ext uri="{BB962C8B-B14F-4D97-AF65-F5344CB8AC3E}">
        <p14:creationId xmlns:p14="http://schemas.microsoft.com/office/powerpoint/2010/main" val="3279004400"/>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20B7B238-1577-4CA2-8557-7848BCA5A16D}"/>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5CC7D776-DC9D-4A50-A651-34E6C7334E13}"/>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670D8E5E-FF41-4205-B9D0-00961D6BD00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101  정답과 해설</a:t>
            </a:r>
          </a:p>
        </p:txBody>
      </p:sp>
      <p:sp>
        <p:nvSpPr>
          <p:cNvPr id="4" name="직사각형 3">
            <a:extLst>
              <a:ext uri="{FF2B5EF4-FFF2-40B4-BE49-F238E27FC236}">
                <a16:creationId xmlns:a16="http://schemas.microsoft.com/office/drawing/2014/main" id="{D1E2E4BC-7EBA-4A6A-829E-69F946382D99}"/>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9A1BC019-8B85-45FB-871B-3F895BA54D6B}"/>
              </a:ext>
            </a:extLst>
          </p:cNvPr>
          <p:cNvSpPr>
            <a:spLocks noGrp="1"/>
          </p:cNvSpPr>
          <p:nvPr/>
        </p:nvSpPr>
        <p:spPr>
          <a:xfrm>
            <a:off x="609600" y="1695450"/>
            <a:ext cx="10972800" cy="3333750"/>
          </a:xfrm>
          <a:prstGeom prst="rect">
            <a:avLst/>
          </a:prstGeom>
          <a:noFill/>
          <a:ln w="0">
            <a:noFill/>
          </a:ln>
        </p:spPr>
        <p:txBody>
          <a:bodyPr/>
          <a:lstStyle>
            <a:defPPr>
              <a:defRPr sz="1800" b="0">
                <a:solidFill>
                  <a:srgbClr val="151515"/>
                </a:solidFill>
                <a:latin typeface="Malgun Gothic"/>
                <a:ea typeface="Malgun Gothic"/>
                <a:cs typeface="Malgun Gothic"/>
              </a:defRPr>
            </a:defPPr>
          </a:lstStyle>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가운데 값 6을 끝으로 옮긴다: [8,4,1,3,7,6]</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L=0의 8과 R=3의 3을 교환한다: [3,4,1,8,7,6]</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L=3, R=2로 교차하면 8과 피벗 6을 교환한다.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반환값은 3, 분할 후 배열은 [3,4,1,6,7,8]이다.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원소가 하나이면 그 인덱스를 반환하고 배열은 그대로다.</a:t>
            </a:r>
          </a:p>
        </p:txBody>
      </p:sp>
      <p:sp>
        <p:nvSpPr>
          <p:cNvPr id="6" name="직사각형 5">
            <a:extLst>
              <a:ext uri="{FF2B5EF4-FFF2-40B4-BE49-F238E27FC236}">
                <a16:creationId xmlns:a16="http://schemas.microsoft.com/office/drawing/2014/main" id="{7018E6C2-4032-4810-ACEE-6DD5E019D7D4}"/>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7" name="직사각형 6">
            <a:extLst>
              <a:ext uri="{FF2B5EF4-FFF2-40B4-BE49-F238E27FC236}">
                <a16:creationId xmlns:a16="http://schemas.microsoft.com/office/drawing/2014/main" id="{045D831A-6804-41A5-919F-5D15E7968838}"/>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222</a:t>
            </a:r>
          </a:p>
        </p:txBody>
      </p:sp>
    </p:spTree>
    <p:extLst>
      <p:ext uri="{BB962C8B-B14F-4D97-AF65-F5344CB8AC3E}">
        <p14:creationId xmlns:p14="http://schemas.microsoft.com/office/powerpoint/2010/main" val="1280639059"/>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직사각형 39">
            <a:extLst>
              <a:ext uri="{FF2B5EF4-FFF2-40B4-BE49-F238E27FC236}">
                <a16:creationId xmlns:a16="http://schemas.microsoft.com/office/drawing/2014/main" id="{C7B2515E-3CCB-413A-B2F9-2D44742A3B94}"/>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D41698FD-E036-4E4D-9A66-0872CCC9D3BF}"/>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5358FA17-3BFC-46C4-A829-D6B0BFF7435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101  Python 구현</a:t>
            </a:r>
          </a:p>
        </p:txBody>
      </p:sp>
      <p:sp>
        <p:nvSpPr>
          <p:cNvPr id="4" name="직사각형 3">
            <a:extLst>
              <a:ext uri="{FF2B5EF4-FFF2-40B4-BE49-F238E27FC236}">
                <a16:creationId xmlns:a16="http://schemas.microsoft.com/office/drawing/2014/main" id="{A0D0AB10-2807-44D4-A8A4-ED4D2486B073}"/>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44426D07-D8CE-4677-8E57-5D280091F68B}"/>
              </a:ext>
            </a:extLst>
          </p:cNvPr>
          <p:cNvSpPr>
            <a:spLocks noGrp="1"/>
          </p:cNvSpPr>
          <p:nvPr/>
        </p:nvSpPr>
        <p:spPr>
          <a:xfrm>
            <a:off x="609600" y="1552575"/>
            <a:ext cx="10972800" cy="266700"/>
          </a:xfrm>
          <a:prstGeom prst="rect">
            <a:avLst/>
          </a:prstGeom>
          <a:noFill/>
          <a:ln w="0">
            <a:noFill/>
          </a:ln>
        </p:spPr>
        <p:txBody>
          <a:bodyPr/>
          <a:lstStyle>
            <a:defPPr>
              <a:defRPr sz="1500" b="0">
                <a:solidFill>
                  <a:srgbClr val="5B5B5B"/>
                </a:solidFill>
                <a:latin typeface="Malgun Gothic"/>
                <a:ea typeface="Malgun Gothic"/>
                <a:cs typeface="Malgun Gothic"/>
              </a:defRPr>
            </a:defPPr>
          </a:lstStyle>
          <a:p>
            <a:pPr>
              <a:defRPr sz="1500" b="0">
                <a:solidFill>
                  <a:srgbClr val="5B5B5B"/>
                </a:solidFill>
                <a:latin typeface="Malgun Gothic"/>
                <a:ea typeface="Malgun Gothic"/>
                <a:cs typeface="Malgun Gothic"/>
              </a:defRPr>
            </a:pPr>
            <a:r>
              <a:rPr sz="1500" b="0">
                <a:solidFill>
                  <a:srgbClr val="5B5B5B"/>
                </a:solidFill>
                <a:latin typeface="Malgun Gothic" panose="020B0503020000020004" pitchFamily="50" charset="-127"/>
                <a:ea typeface="Malgun Gothic"/>
                <a:cs typeface="Malgun Gothic"/>
              </a:rPr>
              <a:t>퀵 정렬의 분할 함수</a:t>
            </a:r>
          </a:p>
        </p:txBody>
      </p:sp>
      <p:sp>
        <p:nvSpPr>
          <p:cNvPr id="6" name="직사각형 5">
            <a:extLst>
              <a:ext uri="{FF2B5EF4-FFF2-40B4-BE49-F238E27FC236}">
                <a16:creationId xmlns:a16="http://schemas.microsoft.com/office/drawing/2014/main" id="{9B65918C-BFB0-4BE8-9837-0FC167D494B5}"/>
              </a:ext>
            </a:extLst>
          </p:cNvPr>
          <p:cNvSpPr>
            <a:spLocks noGrp="1"/>
          </p:cNvSpPr>
          <p:nvPr/>
        </p:nvSpPr>
        <p:spPr>
          <a:xfrm>
            <a:off x="609600" y="1981200"/>
            <a:ext cx="10972800" cy="3962400"/>
          </a:xfrm>
          <a:prstGeom prst="rect">
            <a:avLst/>
          </a:prstGeom>
          <a:solidFill>
            <a:srgbClr val="171717"/>
          </a:solidFill>
          <a:ln w="0">
            <a:noFill/>
          </a:ln>
        </p:spPr>
      </p:sp>
      <p:sp>
        <p:nvSpPr>
          <p:cNvPr id="7" name="code-number">
            <a:extLst>
              <a:ext uri="{FF2B5EF4-FFF2-40B4-BE49-F238E27FC236}">
                <a16:creationId xmlns:a16="http://schemas.microsoft.com/office/drawing/2014/main" id="{80AD34FC-2084-4533-9962-BA56CD3031EC}"/>
              </a:ext>
            </a:extLst>
          </p:cNvPr>
          <p:cNvSpPr>
            <a:spLocks noGrp="1"/>
          </p:cNvSpPr>
          <p:nvPr/>
        </p:nvSpPr>
        <p:spPr>
          <a:xfrm>
            <a:off x="771525" y="21145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01</a:t>
            </a:r>
          </a:p>
        </p:txBody>
      </p:sp>
      <p:sp>
        <p:nvSpPr>
          <p:cNvPr id="8" name="code-line">
            <a:extLst>
              <a:ext uri="{FF2B5EF4-FFF2-40B4-BE49-F238E27FC236}">
                <a16:creationId xmlns:a16="http://schemas.microsoft.com/office/drawing/2014/main" id="{3B685DB6-E73B-4FFE-A907-B9BD9400C502}"/>
              </a:ext>
            </a:extLst>
          </p:cNvPr>
          <p:cNvSpPr>
            <a:spLocks noGrp="1"/>
          </p:cNvSpPr>
          <p:nvPr/>
        </p:nvSpPr>
        <p:spPr>
          <a:xfrm>
            <a:off x="1285875" y="21145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def partition(a, lo, hi):</a:t>
            </a:r>
          </a:p>
        </p:txBody>
      </p:sp>
      <p:sp>
        <p:nvSpPr>
          <p:cNvPr id="9" name="code-number">
            <a:extLst>
              <a:ext uri="{FF2B5EF4-FFF2-40B4-BE49-F238E27FC236}">
                <a16:creationId xmlns:a16="http://schemas.microsoft.com/office/drawing/2014/main" id="{B86FCFD5-6FA7-406C-A168-535B048E6F90}"/>
              </a:ext>
            </a:extLst>
          </p:cNvPr>
          <p:cNvSpPr>
            <a:spLocks noGrp="1"/>
          </p:cNvSpPr>
          <p:nvPr/>
        </p:nvSpPr>
        <p:spPr>
          <a:xfrm>
            <a:off x="771525" y="23241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02</a:t>
            </a:r>
          </a:p>
        </p:txBody>
      </p:sp>
      <p:sp>
        <p:nvSpPr>
          <p:cNvPr id="10" name="code-line">
            <a:extLst>
              <a:ext uri="{FF2B5EF4-FFF2-40B4-BE49-F238E27FC236}">
                <a16:creationId xmlns:a16="http://schemas.microsoft.com/office/drawing/2014/main" id="{6FCF245A-B334-4201-9C38-04C9A1E8A29D}"/>
              </a:ext>
            </a:extLst>
          </p:cNvPr>
          <p:cNvSpPr>
            <a:spLocks noGrp="1"/>
          </p:cNvSpPr>
          <p:nvPr/>
        </p:nvSpPr>
        <p:spPr>
          <a:xfrm>
            <a:off x="1285875" y="23241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m = (lo + hi) // 2</a:t>
            </a:r>
          </a:p>
        </p:txBody>
      </p:sp>
      <p:sp>
        <p:nvSpPr>
          <p:cNvPr id="11" name="code-number">
            <a:extLst>
              <a:ext uri="{FF2B5EF4-FFF2-40B4-BE49-F238E27FC236}">
                <a16:creationId xmlns:a16="http://schemas.microsoft.com/office/drawing/2014/main" id="{8F6C0F69-65B9-4DD8-95B7-B62911D904A8}"/>
              </a:ext>
            </a:extLst>
          </p:cNvPr>
          <p:cNvSpPr>
            <a:spLocks noGrp="1"/>
          </p:cNvSpPr>
          <p:nvPr/>
        </p:nvSpPr>
        <p:spPr>
          <a:xfrm>
            <a:off x="771525" y="25336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03</a:t>
            </a:r>
          </a:p>
        </p:txBody>
      </p:sp>
      <p:sp>
        <p:nvSpPr>
          <p:cNvPr id="12" name="code-line">
            <a:extLst>
              <a:ext uri="{FF2B5EF4-FFF2-40B4-BE49-F238E27FC236}">
                <a16:creationId xmlns:a16="http://schemas.microsoft.com/office/drawing/2014/main" id="{78727814-6272-42EC-B214-A1D09EE977F1}"/>
              </a:ext>
            </a:extLst>
          </p:cNvPr>
          <p:cNvSpPr>
            <a:spLocks noGrp="1"/>
          </p:cNvSpPr>
          <p:nvPr/>
        </p:nvSpPr>
        <p:spPr>
          <a:xfrm>
            <a:off x="1285875" y="25336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a[m], a[hi] = a[hi], a[m]</a:t>
            </a:r>
          </a:p>
        </p:txBody>
      </p:sp>
      <p:sp>
        <p:nvSpPr>
          <p:cNvPr id="13" name="code-number">
            <a:extLst>
              <a:ext uri="{FF2B5EF4-FFF2-40B4-BE49-F238E27FC236}">
                <a16:creationId xmlns:a16="http://schemas.microsoft.com/office/drawing/2014/main" id="{3B46DBC6-FE62-464D-8DA6-EA6ADEF570E9}"/>
              </a:ext>
            </a:extLst>
          </p:cNvPr>
          <p:cNvSpPr>
            <a:spLocks noGrp="1"/>
          </p:cNvSpPr>
          <p:nvPr/>
        </p:nvSpPr>
        <p:spPr>
          <a:xfrm>
            <a:off x="771525" y="27432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04</a:t>
            </a:r>
          </a:p>
        </p:txBody>
      </p:sp>
      <p:sp>
        <p:nvSpPr>
          <p:cNvPr id="14" name="code-line">
            <a:extLst>
              <a:ext uri="{FF2B5EF4-FFF2-40B4-BE49-F238E27FC236}">
                <a16:creationId xmlns:a16="http://schemas.microsoft.com/office/drawing/2014/main" id="{6F354785-AD2F-49FA-B5D5-3BD753BA7AEE}"/>
              </a:ext>
            </a:extLst>
          </p:cNvPr>
          <p:cNvSpPr>
            <a:spLocks noGrp="1"/>
          </p:cNvSpPr>
          <p:nvPr/>
        </p:nvSpPr>
        <p:spPr>
          <a:xfrm>
            <a:off x="1285875" y="27432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pivot = a[hi]</a:t>
            </a:r>
          </a:p>
        </p:txBody>
      </p:sp>
      <p:sp>
        <p:nvSpPr>
          <p:cNvPr id="15" name="code-number">
            <a:extLst>
              <a:ext uri="{FF2B5EF4-FFF2-40B4-BE49-F238E27FC236}">
                <a16:creationId xmlns:a16="http://schemas.microsoft.com/office/drawing/2014/main" id="{0E2DEAEF-CFAC-4A55-80AC-2564EB570D96}"/>
              </a:ext>
            </a:extLst>
          </p:cNvPr>
          <p:cNvSpPr>
            <a:spLocks noGrp="1"/>
          </p:cNvSpPr>
          <p:nvPr/>
        </p:nvSpPr>
        <p:spPr>
          <a:xfrm>
            <a:off x="771525" y="29527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05</a:t>
            </a:r>
          </a:p>
        </p:txBody>
      </p:sp>
      <p:sp>
        <p:nvSpPr>
          <p:cNvPr id="16" name="code-line">
            <a:extLst>
              <a:ext uri="{FF2B5EF4-FFF2-40B4-BE49-F238E27FC236}">
                <a16:creationId xmlns:a16="http://schemas.microsoft.com/office/drawing/2014/main" id="{6E109A6D-0760-4DE3-93D8-88554B87C15C}"/>
              </a:ext>
            </a:extLst>
          </p:cNvPr>
          <p:cNvSpPr>
            <a:spLocks noGrp="1"/>
          </p:cNvSpPr>
          <p:nvPr/>
        </p:nvSpPr>
        <p:spPr>
          <a:xfrm>
            <a:off x="1285875" y="29527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L, R = lo, hi - 1</a:t>
            </a:r>
          </a:p>
        </p:txBody>
      </p:sp>
      <p:sp>
        <p:nvSpPr>
          <p:cNvPr id="17" name="code-number">
            <a:extLst>
              <a:ext uri="{FF2B5EF4-FFF2-40B4-BE49-F238E27FC236}">
                <a16:creationId xmlns:a16="http://schemas.microsoft.com/office/drawing/2014/main" id="{BEEF2700-98F1-4969-B9A7-D0AE830DABD5}"/>
              </a:ext>
            </a:extLst>
          </p:cNvPr>
          <p:cNvSpPr>
            <a:spLocks noGrp="1"/>
          </p:cNvSpPr>
          <p:nvPr/>
        </p:nvSpPr>
        <p:spPr>
          <a:xfrm>
            <a:off x="771525" y="31623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06</a:t>
            </a:r>
          </a:p>
        </p:txBody>
      </p:sp>
      <p:sp>
        <p:nvSpPr>
          <p:cNvPr id="18" name="code-line">
            <a:extLst>
              <a:ext uri="{FF2B5EF4-FFF2-40B4-BE49-F238E27FC236}">
                <a16:creationId xmlns:a16="http://schemas.microsoft.com/office/drawing/2014/main" id="{02EAB297-EFB4-4338-BED4-2227D7D990EF}"/>
              </a:ext>
            </a:extLst>
          </p:cNvPr>
          <p:cNvSpPr>
            <a:spLocks noGrp="1"/>
          </p:cNvSpPr>
          <p:nvPr/>
        </p:nvSpPr>
        <p:spPr>
          <a:xfrm>
            <a:off x="1285875" y="31623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while True:</a:t>
            </a:r>
          </a:p>
        </p:txBody>
      </p:sp>
      <p:sp>
        <p:nvSpPr>
          <p:cNvPr id="19" name="code-number">
            <a:extLst>
              <a:ext uri="{FF2B5EF4-FFF2-40B4-BE49-F238E27FC236}">
                <a16:creationId xmlns:a16="http://schemas.microsoft.com/office/drawing/2014/main" id="{515D5926-0FD4-4C9B-B867-7FD065E40FB0}"/>
              </a:ext>
            </a:extLst>
          </p:cNvPr>
          <p:cNvSpPr>
            <a:spLocks noGrp="1"/>
          </p:cNvSpPr>
          <p:nvPr/>
        </p:nvSpPr>
        <p:spPr>
          <a:xfrm>
            <a:off x="771525" y="33718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07</a:t>
            </a:r>
          </a:p>
        </p:txBody>
      </p:sp>
      <p:sp>
        <p:nvSpPr>
          <p:cNvPr id="20" name="code-line">
            <a:extLst>
              <a:ext uri="{FF2B5EF4-FFF2-40B4-BE49-F238E27FC236}">
                <a16:creationId xmlns:a16="http://schemas.microsoft.com/office/drawing/2014/main" id="{8BDFC894-C2E7-43E3-BDDC-E250EAD40516}"/>
              </a:ext>
            </a:extLst>
          </p:cNvPr>
          <p:cNvSpPr>
            <a:spLocks noGrp="1"/>
          </p:cNvSpPr>
          <p:nvPr/>
        </p:nvSpPr>
        <p:spPr>
          <a:xfrm>
            <a:off x="1285875" y="33718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while L &lt;= R and a[L] &lt;= pivot:</a:t>
            </a:r>
          </a:p>
        </p:txBody>
      </p:sp>
      <p:sp>
        <p:nvSpPr>
          <p:cNvPr id="21" name="code-number">
            <a:extLst>
              <a:ext uri="{FF2B5EF4-FFF2-40B4-BE49-F238E27FC236}">
                <a16:creationId xmlns:a16="http://schemas.microsoft.com/office/drawing/2014/main" id="{3167ADBE-418F-4A3E-B48D-C04F14092003}"/>
              </a:ext>
            </a:extLst>
          </p:cNvPr>
          <p:cNvSpPr>
            <a:spLocks noGrp="1"/>
          </p:cNvSpPr>
          <p:nvPr/>
        </p:nvSpPr>
        <p:spPr>
          <a:xfrm>
            <a:off x="771525" y="35814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08</a:t>
            </a:r>
          </a:p>
        </p:txBody>
      </p:sp>
      <p:sp>
        <p:nvSpPr>
          <p:cNvPr id="22" name="code-line">
            <a:extLst>
              <a:ext uri="{FF2B5EF4-FFF2-40B4-BE49-F238E27FC236}">
                <a16:creationId xmlns:a16="http://schemas.microsoft.com/office/drawing/2014/main" id="{6B6F68CB-1505-4B73-843C-C6C3AD582F55}"/>
              </a:ext>
            </a:extLst>
          </p:cNvPr>
          <p:cNvSpPr>
            <a:spLocks noGrp="1"/>
          </p:cNvSpPr>
          <p:nvPr/>
        </p:nvSpPr>
        <p:spPr>
          <a:xfrm>
            <a:off x="1285875" y="35814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L += 1</a:t>
            </a:r>
          </a:p>
        </p:txBody>
      </p:sp>
      <p:sp>
        <p:nvSpPr>
          <p:cNvPr id="23" name="code-number">
            <a:extLst>
              <a:ext uri="{FF2B5EF4-FFF2-40B4-BE49-F238E27FC236}">
                <a16:creationId xmlns:a16="http://schemas.microsoft.com/office/drawing/2014/main" id="{F5554C7B-3D85-4B2B-A26C-B081EC99BA2D}"/>
              </a:ext>
            </a:extLst>
          </p:cNvPr>
          <p:cNvSpPr>
            <a:spLocks noGrp="1"/>
          </p:cNvSpPr>
          <p:nvPr/>
        </p:nvSpPr>
        <p:spPr>
          <a:xfrm>
            <a:off x="771525" y="37909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09</a:t>
            </a:r>
          </a:p>
        </p:txBody>
      </p:sp>
      <p:sp>
        <p:nvSpPr>
          <p:cNvPr id="24" name="code-line">
            <a:extLst>
              <a:ext uri="{FF2B5EF4-FFF2-40B4-BE49-F238E27FC236}">
                <a16:creationId xmlns:a16="http://schemas.microsoft.com/office/drawing/2014/main" id="{F786E7CA-FCF8-4D92-A684-6021083C488E}"/>
              </a:ext>
            </a:extLst>
          </p:cNvPr>
          <p:cNvSpPr>
            <a:spLocks noGrp="1"/>
          </p:cNvSpPr>
          <p:nvPr/>
        </p:nvSpPr>
        <p:spPr>
          <a:xfrm>
            <a:off x="1285875" y="37909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while L &lt;= R and a[R] &gt; pivot:</a:t>
            </a:r>
          </a:p>
        </p:txBody>
      </p:sp>
      <p:sp>
        <p:nvSpPr>
          <p:cNvPr id="25" name="code-number">
            <a:extLst>
              <a:ext uri="{FF2B5EF4-FFF2-40B4-BE49-F238E27FC236}">
                <a16:creationId xmlns:a16="http://schemas.microsoft.com/office/drawing/2014/main" id="{A44AB588-7DF2-44F9-8B3B-3185135B39B3}"/>
              </a:ext>
            </a:extLst>
          </p:cNvPr>
          <p:cNvSpPr>
            <a:spLocks noGrp="1"/>
          </p:cNvSpPr>
          <p:nvPr/>
        </p:nvSpPr>
        <p:spPr>
          <a:xfrm>
            <a:off x="771525" y="40005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10</a:t>
            </a:r>
          </a:p>
        </p:txBody>
      </p:sp>
      <p:sp>
        <p:nvSpPr>
          <p:cNvPr id="26" name="code-line">
            <a:extLst>
              <a:ext uri="{FF2B5EF4-FFF2-40B4-BE49-F238E27FC236}">
                <a16:creationId xmlns:a16="http://schemas.microsoft.com/office/drawing/2014/main" id="{14EEF547-3597-4FA5-8C0A-D55815CD1B0C}"/>
              </a:ext>
            </a:extLst>
          </p:cNvPr>
          <p:cNvSpPr>
            <a:spLocks noGrp="1"/>
          </p:cNvSpPr>
          <p:nvPr/>
        </p:nvSpPr>
        <p:spPr>
          <a:xfrm>
            <a:off x="1285875" y="40005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R -= 1</a:t>
            </a:r>
          </a:p>
        </p:txBody>
      </p:sp>
      <p:sp>
        <p:nvSpPr>
          <p:cNvPr id="27" name="code-number">
            <a:extLst>
              <a:ext uri="{FF2B5EF4-FFF2-40B4-BE49-F238E27FC236}">
                <a16:creationId xmlns:a16="http://schemas.microsoft.com/office/drawing/2014/main" id="{B58F9256-972A-4162-B06A-0E0684F077C4}"/>
              </a:ext>
            </a:extLst>
          </p:cNvPr>
          <p:cNvSpPr>
            <a:spLocks noGrp="1"/>
          </p:cNvSpPr>
          <p:nvPr/>
        </p:nvSpPr>
        <p:spPr>
          <a:xfrm>
            <a:off x="771525" y="42100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11</a:t>
            </a:r>
          </a:p>
        </p:txBody>
      </p:sp>
      <p:sp>
        <p:nvSpPr>
          <p:cNvPr id="28" name="code-line">
            <a:extLst>
              <a:ext uri="{FF2B5EF4-FFF2-40B4-BE49-F238E27FC236}">
                <a16:creationId xmlns:a16="http://schemas.microsoft.com/office/drawing/2014/main" id="{10B87FA5-8A0E-4C27-AEE1-36C88EBEAFFE}"/>
              </a:ext>
            </a:extLst>
          </p:cNvPr>
          <p:cNvSpPr>
            <a:spLocks noGrp="1"/>
          </p:cNvSpPr>
          <p:nvPr/>
        </p:nvSpPr>
        <p:spPr>
          <a:xfrm>
            <a:off x="1285875" y="42100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if L &gt; R:</a:t>
            </a:r>
          </a:p>
        </p:txBody>
      </p:sp>
      <p:sp>
        <p:nvSpPr>
          <p:cNvPr id="29" name="code-number">
            <a:extLst>
              <a:ext uri="{FF2B5EF4-FFF2-40B4-BE49-F238E27FC236}">
                <a16:creationId xmlns:a16="http://schemas.microsoft.com/office/drawing/2014/main" id="{86ADD45F-98F8-4D60-A1EC-98BA766EBF13}"/>
              </a:ext>
            </a:extLst>
          </p:cNvPr>
          <p:cNvSpPr>
            <a:spLocks noGrp="1"/>
          </p:cNvSpPr>
          <p:nvPr/>
        </p:nvSpPr>
        <p:spPr>
          <a:xfrm>
            <a:off x="771525" y="44196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12</a:t>
            </a:r>
          </a:p>
        </p:txBody>
      </p:sp>
      <p:sp>
        <p:nvSpPr>
          <p:cNvPr id="30" name="code-line">
            <a:extLst>
              <a:ext uri="{FF2B5EF4-FFF2-40B4-BE49-F238E27FC236}">
                <a16:creationId xmlns:a16="http://schemas.microsoft.com/office/drawing/2014/main" id="{A5673EA0-694D-4738-ACA2-78E783825963}"/>
              </a:ext>
            </a:extLst>
          </p:cNvPr>
          <p:cNvSpPr>
            <a:spLocks noGrp="1"/>
          </p:cNvSpPr>
          <p:nvPr/>
        </p:nvSpPr>
        <p:spPr>
          <a:xfrm>
            <a:off x="1285875" y="44196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break</a:t>
            </a:r>
          </a:p>
        </p:txBody>
      </p:sp>
      <p:sp>
        <p:nvSpPr>
          <p:cNvPr id="31" name="code-number">
            <a:extLst>
              <a:ext uri="{FF2B5EF4-FFF2-40B4-BE49-F238E27FC236}">
                <a16:creationId xmlns:a16="http://schemas.microsoft.com/office/drawing/2014/main" id="{88D48C84-00F4-4A82-9194-654D7B4E3CAB}"/>
              </a:ext>
            </a:extLst>
          </p:cNvPr>
          <p:cNvSpPr>
            <a:spLocks noGrp="1"/>
          </p:cNvSpPr>
          <p:nvPr/>
        </p:nvSpPr>
        <p:spPr>
          <a:xfrm>
            <a:off x="771525" y="46291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13</a:t>
            </a:r>
          </a:p>
        </p:txBody>
      </p:sp>
      <p:sp>
        <p:nvSpPr>
          <p:cNvPr id="32" name="code-line">
            <a:extLst>
              <a:ext uri="{FF2B5EF4-FFF2-40B4-BE49-F238E27FC236}">
                <a16:creationId xmlns:a16="http://schemas.microsoft.com/office/drawing/2014/main" id="{00130529-0275-4688-AF2D-000E67054AE4}"/>
              </a:ext>
            </a:extLst>
          </p:cNvPr>
          <p:cNvSpPr>
            <a:spLocks noGrp="1"/>
          </p:cNvSpPr>
          <p:nvPr/>
        </p:nvSpPr>
        <p:spPr>
          <a:xfrm>
            <a:off x="1285875" y="46291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a[L], a[R] = a[R], a[L]</a:t>
            </a:r>
          </a:p>
        </p:txBody>
      </p:sp>
      <p:sp>
        <p:nvSpPr>
          <p:cNvPr id="33" name="code-number">
            <a:extLst>
              <a:ext uri="{FF2B5EF4-FFF2-40B4-BE49-F238E27FC236}">
                <a16:creationId xmlns:a16="http://schemas.microsoft.com/office/drawing/2014/main" id="{5D91B674-6167-4120-8CF7-22F5F8330179}"/>
              </a:ext>
            </a:extLst>
          </p:cNvPr>
          <p:cNvSpPr>
            <a:spLocks noGrp="1"/>
          </p:cNvSpPr>
          <p:nvPr/>
        </p:nvSpPr>
        <p:spPr>
          <a:xfrm>
            <a:off x="771525" y="48387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14</a:t>
            </a:r>
          </a:p>
        </p:txBody>
      </p:sp>
      <p:sp>
        <p:nvSpPr>
          <p:cNvPr id="34" name="code-line">
            <a:extLst>
              <a:ext uri="{FF2B5EF4-FFF2-40B4-BE49-F238E27FC236}">
                <a16:creationId xmlns:a16="http://schemas.microsoft.com/office/drawing/2014/main" id="{F709D21F-039A-4B3C-B1D5-CE6CD8DA43B8}"/>
              </a:ext>
            </a:extLst>
          </p:cNvPr>
          <p:cNvSpPr>
            <a:spLocks noGrp="1"/>
          </p:cNvSpPr>
          <p:nvPr/>
        </p:nvSpPr>
        <p:spPr>
          <a:xfrm>
            <a:off x="1285875" y="48387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a[L], a[hi] = a[hi], a[L]</a:t>
            </a:r>
          </a:p>
        </p:txBody>
      </p:sp>
      <p:sp>
        <p:nvSpPr>
          <p:cNvPr id="35" name="code-number">
            <a:extLst>
              <a:ext uri="{FF2B5EF4-FFF2-40B4-BE49-F238E27FC236}">
                <a16:creationId xmlns:a16="http://schemas.microsoft.com/office/drawing/2014/main" id="{04FC97F1-E4F2-4EC1-B281-730BC09EB179}"/>
              </a:ext>
            </a:extLst>
          </p:cNvPr>
          <p:cNvSpPr>
            <a:spLocks noGrp="1"/>
          </p:cNvSpPr>
          <p:nvPr/>
        </p:nvSpPr>
        <p:spPr>
          <a:xfrm>
            <a:off x="771525" y="50482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15</a:t>
            </a:r>
          </a:p>
        </p:txBody>
      </p:sp>
      <p:sp>
        <p:nvSpPr>
          <p:cNvPr id="36" name="code-line">
            <a:extLst>
              <a:ext uri="{FF2B5EF4-FFF2-40B4-BE49-F238E27FC236}">
                <a16:creationId xmlns:a16="http://schemas.microsoft.com/office/drawing/2014/main" id="{B76D91B6-E2E1-44CE-8742-C154EFB2FAB0}"/>
              </a:ext>
            </a:extLst>
          </p:cNvPr>
          <p:cNvSpPr>
            <a:spLocks noGrp="1"/>
          </p:cNvSpPr>
          <p:nvPr/>
        </p:nvSpPr>
        <p:spPr>
          <a:xfrm>
            <a:off x="1285875" y="50482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return L</a:t>
            </a:r>
          </a:p>
        </p:txBody>
      </p:sp>
      <p:sp>
        <p:nvSpPr>
          <p:cNvPr id="37" name="직사각형 36">
            <a:extLst>
              <a:ext uri="{FF2B5EF4-FFF2-40B4-BE49-F238E27FC236}">
                <a16:creationId xmlns:a16="http://schemas.microsoft.com/office/drawing/2014/main" id="{FDA385F7-1D11-4040-9697-A889423BD22E}"/>
              </a:ext>
            </a:extLst>
          </p:cNvPr>
          <p:cNvSpPr>
            <a:spLocks noGrp="1"/>
          </p:cNvSpPr>
          <p:nvPr/>
        </p:nvSpPr>
        <p:spPr>
          <a:xfrm>
            <a:off x="609600" y="6048375"/>
            <a:ext cx="10972800" cy="238125"/>
          </a:xfrm>
          <a:prstGeom prst="rect">
            <a:avLst/>
          </a:prstGeom>
          <a:noFill/>
          <a:ln w="0">
            <a:noFill/>
          </a:ln>
        </p:spPr>
        <p:txBody>
          <a:bodyPr/>
          <a:lstStyle>
            <a:defPPr>
              <a:defRPr sz="1200" b="0">
                <a:solidFill>
                  <a:srgbClr val="5B5B5B"/>
                </a:solidFill>
                <a:latin typeface="Malgun Gothic"/>
                <a:ea typeface="Malgun Gothic"/>
                <a:cs typeface="Malgun Gothic"/>
              </a:defRPr>
            </a:defPPr>
          </a:lstStyle>
          <a:p>
            <a:pPr>
              <a:defRPr sz="1200" b="0">
                <a:solidFill>
                  <a:srgbClr val="5B5B5B"/>
                </a:solidFill>
                <a:latin typeface="Malgun Gothic"/>
                <a:ea typeface="Malgun Gothic"/>
                <a:cs typeface="Malgun Gothic"/>
              </a:defRPr>
            </a:pPr>
            <a:r>
              <a:rPr sz="1200" b="0">
                <a:solidFill>
                  <a:srgbClr val="5B5B5B"/>
                </a:solidFill>
                <a:latin typeface="Malgun Gothic" panose="020B0503020000020004" pitchFamily="50" charset="-127"/>
                <a:ea typeface="Malgun Gothic"/>
                <a:cs typeface="Malgun Gothic"/>
              </a:rPr>
              <a:t>길이가 k인 구간에서 시간 O(k). 같은 값은 피벗의 왼쪽으로 보낸다.</a:t>
            </a:r>
          </a:p>
        </p:txBody>
      </p:sp>
      <p:sp>
        <p:nvSpPr>
          <p:cNvPr id="38" name="직사각형 37">
            <a:extLst>
              <a:ext uri="{FF2B5EF4-FFF2-40B4-BE49-F238E27FC236}">
                <a16:creationId xmlns:a16="http://schemas.microsoft.com/office/drawing/2014/main" id="{A1473BB6-3DE1-44A3-B6AD-306D5A0474CB}"/>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39" name="직사각형 38">
            <a:extLst>
              <a:ext uri="{FF2B5EF4-FFF2-40B4-BE49-F238E27FC236}">
                <a16:creationId xmlns:a16="http://schemas.microsoft.com/office/drawing/2014/main" id="{37B45D4B-B06A-41F5-A4E8-0888DE0D675A}"/>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223</a:t>
            </a:r>
          </a:p>
        </p:txBody>
      </p:sp>
    </p:spTree>
    <p:extLst>
      <p:ext uri="{BB962C8B-B14F-4D97-AF65-F5344CB8AC3E}">
        <p14:creationId xmlns:p14="http://schemas.microsoft.com/office/powerpoint/2010/main" val="112496937"/>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직사각형 35">
            <a:extLst>
              <a:ext uri="{FF2B5EF4-FFF2-40B4-BE49-F238E27FC236}">
                <a16:creationId xmlns:a16="http://schemas.microsoft.com/office/drawing/2014/main" id="{37514484-7CD2-4648-9E70-A7B046451B24}"/>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3C687923-FF52-4A21-BECC-098FFE354606}"/>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933F7B8C-A906-431B-B1C6-4B7A4A26475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101  C 구현</a:t>
            </a:r>
          </a:p>
        </p:txBody>
      </p:sp>
      <p:sp>
        <p:nvSpPr>
          <p:cNvPr id="4" name="직사각형 3">
            <a:extLst>
              <a:ext uri="{FF2B5EF4-FFF2-40B4-BE49-F238E27FC236}">
                <a16:creationId xmlns:a16="http://schemas.microsoft.com/office/drawing/2014/main" id="{7860148E-C0A1-4B54-AE42-6C3003AF26F5}"/>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A2FDE181-5531-4E66-9F14-11289889976E}"/>
              </a:ext>
            </a:extLst>
          </p:cNvPr>
          <p:cNvSpPr>
            <a:spLocks noGrp="1"/>
          </p:cNvSpPr>
          <p:nvPr/>
        </p:nvSpPr>
        <p:spPr>
          <a:xfrm>
            <a:off x="609600" y="1552575"/>
            <a:ext cx="10972800" cy="266700"/>
          </a:xfrm>
          <a:prstGeom prst="rect">
            <a:avLst/>
          </a:prstGeom>
          <a:noFill/>
          <a:ln w="0">
            <a:noFill/>
          </a:ln>
        </p:spPr>
        <p:txBody>
          <a:bodyPr/>
          <a:lstStyle>
            <a:defPPr>
              <a:defRPr sz="1500" b="0">
                <a:solidFill>
                  <a:srgbClr val="5B5B5B"/>
                </a:solidFill>
                <a:latin typeface="Malgun Gothic"/>
                <a:ea typeface="Malgun Gothic"/>
                <a:cs typeface="Malgun Gothic"/>
              </a:defRPr>
            </a:defPPr>
          </a:lstStyle>
          <a:p>
            <a:pPr>
              <a:defRPr sz="1500" b="0">
                <a:solidFill>
                  <a:srgbClr val="5B5B5B"/>
                </a:solidFill>
                <a:latin typeface="Malgun Gothic"/>
                <a:ea typeface="Malgun Gothic"/>
                <a:cs typeface="Malgun Gothic"/>
              </a:defRPr>
            </a:pPr>
            <a:r>
              <a:rPr sz="1500" b="0">
                <a:solidFill>
                  <a:srgbClr val="5B5B5B"/>
                </a:solidFill>
                <a:latin typeface="Malgun Gothic" panose="020B0503020000020004" pitchFamily="50" charset="-127"/>
                <a:ea typeface="Malgun Gothic"/>
                <a:cs typeface="Malgun Gothic"/>
              </a:rPr>
              <a:t>퀵 정렬의 분할 함수</a:t>
            </a:r>
          </a:p>
        </p:txBody>
      </p:sp>
      <p:sp>
        <p:nvSpPr>
          <p:cNvPr id="6" name="직사각형 5">
            <a:extLst>
              <a:ext uri="{FF2B5EF4-FFF2-40B4-BE49-F238E27FC236}">
                <a16:creationId xmlns:a16="http://schemas.microsoft.com/office/drawing/2014/main" id="{6F748706-B01C-4817-9E1A-8A2D60826C04}"/>
              </a:ext>
            </a:extLst>
          </p:cNvPr>
          <p:cNvSpPr>
            <a:spLocks noGrp="1"/>
          </p:cNvSpPr>
          <p:nvPr/>
        </p:nvSpPr>
        <p:spPr>
          <a:xfrm>
            <a:off x="609600" y="1981200"/>
            <a:ext cx="10972800" cy="3962400"/>
          </a:xfrm>
          <a:prstGeom prst="rect">
            <a:avLst/>
          </a:prstGeom>
          <a:solidFill>
            <a:srgbClr val="171717"/>
          </a:solidFill>
          <a:ln w="0">
            <a:noFill/>
          </a:ln>
        </p:spPr>
      </p:sp>
      <p:sp>
        <p:nvSpPr>
          <p:cNvPr id="7" name="code-number">
            <a:extLst>
              <a:ext uri="{FF2B5EF4-FFF2-40B4-BE49-F238E27FC236}">
                <a16:creationId xmlns:a16="http://schemas.microsoft.com/office/drawing/2014/main" id="{3DBC04AB-549B-453C-965A-F47698909F7B}"/>
              </a:ext>
            </a:extLst>
          </p:cNvPr>
          <p:cNvSpPr>
            <a:spLocks noGrp="1"/>
          </p:cNvSpPr>
          <p:nvPr/>
        </p:nvSpPr>
        <p:spPr>
          <a:xfrm>
            <a:off x="771525" y="21145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01</a:t>
            </a:r>
          </a:p>
        </p:txBody>
      </p:sp>
      <p:sp>
        <p:nvSpPr>
          <p:cNvPr id="8" name="code-line">
            <a:extLst>
              <a:ext uri="{FF2B5EF4-FFF2-40B4-BE49-F238E27FC236}">
                <a16:creationId xmlns:a16="http://schemas.microsoft.com/office/drawing/2014/main" id="{7A08020C-B7F8-48D8-B489-315651B57146}"/>
              </a:ext>
            </a:extLst>
          </p:cNvPr>
          <p:cNvSpPr>
            <a:spLocks noGrp="1"/>
          </p:cNvSpPr>
          <p:nvPr/>
        </p:nvSpPr>
        <p:spPr>
          <a:xfrm>
            <a:off x="1285875" y="21145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int partition(int a[], int lo, int hi) {</a:t>
            </a:r>
          </a:p>
        </p:txBody>
      </p:sp>
      <p:sp>
        <p:nvSpPr>
          <p:cNvPr id="9" name="code-number">
            <a:extLst>
              <a:ext uri="{FF2B5EF4-FFF2-40B4-BE49-F238E27FC236}">
                <a16:creationId xmlns:a16="http://schemas.microsoft.com/office/drawing/2014/main" id="{228FAEF3-C134-4AE4-B3F8-F3918BD5D489}"/>
              </a:ext>
            </a:extLst>
          </p:cNvPr>
          <p:cNvSpPr>
            <a:spLocks noGrp="1"/>
          </p:cNvSpPr>
          <p:nvPr/>
        </p:nvSpPr>
        <p:spPr>
          <a:xfrm>
            <a:off x="771525" y="23241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02</a:t>
            </a:r>
          </a:p>
        </p:txBody>
      </p:sp>
      <p:sp>
        <p:nvSpPr>
          <p:cNvPr id="10" name="code-line">
            <a:extLst>
              <a:ext uri="{FF2B5EF4-FFF2-40B4-BE49-F238E27FC236}">
                <a16:creationId xmlns:a16="http://schemas.microsoft.com/office/drawing/2014/main" id="{C9D09456-3E62-48F3-BDE5-AC22A93E4FDA}"/>
              </a:ext>
            </a:extLst>
          </p:cNvPr>
          <p:cNvSpPr>
            <a:spLocks noGrp="1"/>
          </p:cNvSpPr>
          <p:nvPr/>
        </p:nvSpPr>
        <p:spPr>
          <a:xfrm>
            <a:off x="1285875" y="23241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int m = lo + (hi - lo) / 2;</a:t>
            </a:r>
          </a:p>
        </p:txBody>
      </p:sp>
      <p:sp>
        <p:nvSpPr>
          <p:cNvPr id="11" name="code-number">
            <a:extLst>
              <a:ext uri="{FF2B5EF4-FFF2-40B4-BE49-F238E27FC236}">
                <a16:creationId xmlns:a16="http://schemas.microsoft.com/office/drawing/2014/main" id="{2F0B6109-3456-4C25-9F25-A58D8FBF5D26}"/>
              </a:ext>
            </a:extLst>
          </p:cNvPr>
          <p:cNvSpPr>
            <a:spLocks noGrp="1"/>
          </p:cNvSpPr>
          <p:nvPr/>
        </p:nvSpPr>
        <p:spPr>
          <a:xfrm>
            <a:off x="771525" y="25336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03</a:t>
            </a:r>
          </a:p>
        </p:txBody>
      </p:sp>
      <p:sp>
        <p:nvSpPr>
          <p:cNvPr id="12" name="code-line">
            <a:extLst>
              <a:ext uri="{FF2B5EF4-FFF2-40B4-BE49-F238E27FC236}">
                <a16:creationId xmlns:a16="http://schemas.microsoft.com/office/drawing/2014/main" id="{3EDD6F62-67DF-47B3-A72E-FCB83F38B7FF}"/>
              </a:ext>
            </a:extLst>
          </p:cNvPr>
          <p:cNvSpPr>
            <a:spLocks noGrp="1"/>
          </p:cNvSpPr>
          <p:nvPr/>
        </p:nvSpPr>
        <p:spPr>
          <a:xfrm>
            <a:off x="1285875" y="25336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int t = a[m]; a[m] = a[hi]; a[hi] = t;</a:t>
            </a:r>
          </a:p>
        </p:txBody>
      </p:sp>
      <p:sp>
        <p:nvSpPr>
          <p:cNvPr id="13" name="code-number">
            <a:extLst>
              <a:ext uri="{FF2B5EF4-FFF2-40B4-BE49-F238E27FC236}">
                <a16:creationId xmlns:a16="http://schemas.microsoft.com/office/drawing/2014/main" id="{41D3ACE7-EE28-4687-BCDA-C4CC79CA8387}"/>
              </a:ext>
            </a:extLst>
          </p:cNvPr>
          <p:cNvSpPr>
            <a:spLocks noGrp="1"/>
          </p:cNvSpPr>
          <p:nvPr/>
        </p:nvSpPr>
        <p:spPr>
          <a:xfrm>
            <a:off x="771525" y="27432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04</a:t>
            </a:r>
          </a:p>
        </p:txBody>
      </p:sp>
      <p:sp>
        <p:nvSpPr>
          <p:cNvPr id="14" name="code-line">
            <a:extLst>
              <a:ext uri="{FF2B5EF4-FFF2-40B4-BE49-F238E27FC236}">
                <a16:creationId xmlns:a16="http://schemas.microsoft.com/office/drawing/2014/main" id="{DEA77976-0190-470C-980F-54694A2FFD2E}"/>
              </a:ext>
            </a:extLst>
          </p:cNvPr>
          <p:cNvSpPr>
            <a:spLocks noGrp="1"/>
          </p:cNvSpPr>
          <p:nvPr/>
        </p:nvSpPr>
        <p:spPr>
          <a:xfrm>
            <a:off x="1285875" y="27432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int pivot = a[hi], L = lo, R = hi - 1;</a:t>
            </a:r>
          </a:p>
        </p:txBody>
      </p:sp>
      <p:sp>
        <p:nvSpPr>
          <p:cNvPr id="15" name="code-number">
            <a:extLst>
              <a:ext uri="{FF2B5EF4-FFF2-40B4-BE49-F238E27FC236}">
                <a16:creationId xmlns:a16="http://schemas.microsoft.com/office/drawing/2014/main" id="{31A29BA2-0BA6-4DCE-9F3C-BE730C22BE7A}"/>
              </a:ext>
            </a:extLst>
          </p:cNvPr>
          <p:cNvSpPr>
            <a:spLocks noGrp="1"/>
          </p:cNvSpPr>
          <p:nvPr/>
        </p:nvSpPr>
        <p:spPr>
          <a:xfrm>
            <a:off x="771525" y="29527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05</a:t>
            </a:r>
          </a:p>
        </p:txBody>
      </p:sp>
      <p:sp>
        <p:nvSpPr>
          <p:cNvPr id="16" name="code-line">
            <a:extLst>
              <a:ext uri="{FF2B5EF4-FFF2-40B4-BE49-F238E27FC236}">
                <a16:creationId xmlns:a16="http://schemas.microsoft.com/office/drawing/2014/main" id="{4F58B55B-1142-4004-9494-5FC08F04B877}"/>
              </a:ext>
            </a:extLst>
          </p:cNvPr>
          <p:cNvSpPr>
            <a:spLocks noGrp="1"/>
          </p:cNvSpPr>
          <p:nvPr/>
        </p:nvSpPr>
        <p:spPr>
          <a:xfrm>
            <a:off x="1285875" y="29527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while (1) {</a:t>
            </a:r>
          </a:p>
        </p:txBody>
      </p:sp>
      <p:sp>
        <p:nvSpPr>
          <p:cNvPr id="17" name="code-number">
            <a:extLst>
              <a:ext uri="{FF2B5EF4-FFF2-40B4-BE49-F238E27FC236}">
                <a16:creationId xmlns:a16="http://schemas.microsoft.com/office/drawing/2014/main" id="{CBCC3A77-EBEA-47A1-939A-F49D2D31FE05}"/>
              </a:ext>
            </a:extLst>
          </p:cNvPr>
          <p:cNvSpPr>
            <a:spLocks noGrp="1"/>
          </p:cNvSpPr>
          <p:nvPr/>
        </p:nvSpPr>
        <p:spPr>
          <a:xfrm>
            <a:off x="771525" y="31623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06</a:t>
            </a:r>
          </a:p>
        </p:txBody>
      </p:sp>
      <p:sp>
        <p:nvSpPr>
          <p:cNvPr id="18" name="code-line">
            <a:extLst>
              <a:ext uri="{FF2B5EF4-FFF2-40B4-BE49-F238E27FC236}">
                <a16:creationId xmlns:a16="http://schemas.microsoft.com/office/drawing/2014/main" id="{CDC4B2EB-B283-4995-9BAA-B71F380FDD72}"/>
              </a:ext>
            </a:extLst>
          </p:cNvPr>
          <p:cNvSpPr>
            <a:spLocks noGrp="1"/>
          </p:cNvSpPr>
          <p:nvPr/>
        </p:nvSpPr>
        <p:spPr>
          <a:xfrm>
            <a:off x="1285875" y="31623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while (L &lt;= R &amp;&amp; a[L] &lt;= pivot) L++;</a:t>
            </a:r>
          </a:p>
        </p:txBody>
      </p:sp>
      <p:sp>
        <p:nvSpPr>
          <p:cNvPr id="19" name="code-number">
            <a:extLst>
              <a:ext uri="{FF2B5EF4-FFF2-40B4-BE49-F238E27FC236}">
                <a16:creationId xmlns:a16="http://schemas.microsoft.com/office/drawing/2014/main" id="{B4F93CDE-2F77-4E88-8A86-BCE87612883C}"/>
              </a:ext>
            </a:extLst>
          </p:cNvPr>
          <p:cNvSpPr>
            <a:spLocks noGrp="1"/>
          </p:cNvSpPr>
          <p:nvPr/>
        </p:nvSpPr>
        <p:spPr>
          <a:xfrm>
            <a:off x="771525" y="33718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07</a:t>
            </a:r>
          </a:p>
        </p:txBody>
      </p:sp>
      <p:sp>
        <p:nvSpPr>
          <p:cNvPr id="20" name="code-line">
            <a:extLst>
              <a:ext uri="{FF2B5EF4-FFF2-40B4-BE49-F238E27FC236}">
                <a16:creationId xmlns:a16="http://schemas.microsoft.com/office/drawing/2014/main" id="{314E9B05-E94B-4D68-9881-C9035591F53F}"/>
              </a:ext>
            </a:extLst>
          </p:cNvPr>
          <p:cNvSpPr>
            <a:spLocks noGrp="1"/>
          </p:cNvSpPr>
          <p:nvPr/>
        </p:nvSpPr>
        <p:spPr>
          <a:xfrm>
            <a:off x="1285875" y="33718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while (L &lt;= R &amp;&amp; a[R] &gt; pivot) R--;</a:t>
            </a:r>
          </a:p>
        </p:txBody>
      </p:sp>
      <p:sp>
        <p:nvSpPr>
          <p:cNvPr id="21" name="code-number">
            <a:extLst>
              <a:ext uri="{FF2B5EF4-FFF2-40B4-BE49-F238E27FC236}">
                <a16:creationId xmlns:a16="http://schemas.microsoft.com/office/drawing/2014/main" id="{14809CB9-845A-4E6A-931D-534859FA903A}"/>
              </a:ext>
            </a:extLst>
          </p:cNvPr>
          <p:cNvSpPr>
            <a:spLocks noGrp="1"/>
          </p:cNvSpPr>
          <p:nvPr/>
        </p:nvSpPr>
        <p:spPr>
          <a:xfrm>
            <a:off x="771525" y="35814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08</a:t>
            </a:r>
          </a:p>
        </p:txBody>
      </p:sp>
      <p:sp>
        <p:nvSpPr>
          <p:cNvPr id="22" name="code-line">
            <a:extLst>
              <a:ext uri="{FF2B5EF4-FFF2-40B4-BE49-F238E27FC236}">
                <a16:creationId xmlns:a16="http://schemas.microsoft.com/office/drawing/2014/main" id="{1D6865DF-E536-4275-A5A5-4BF0D9BA90D3}"/>
              </a:ext>
            </a:extLst>
          </p:cNvPr>
          <p:cNvSpPr>
            <a:spLocks noGrp="1"/>
          </p:cNvSpPr>
          <p:nvPr/>
        </p:nvSpPr>
        <p:spPr>
          <a:xfrm>
            <a:off x="1285875" y="35814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if (L &gt; R) break;</a:t>
            </a:r>
          </a:p>
        </p:txBody>
      </p:sp>
      <p:sp>
        <p:nvSpPr>
          <p:cNvPr id="23" name="code-number">
            <a:extLst>
              <a:ext uri="{FF2B5EF4-FFF2-40B4-BE49-F238E27FC236}">
                <a16:creationId xmlns:a16="http://schemas.microsoft.com/office/drawing/2014/main" id="{C51AF70D-649A-4FBA-A68C-5BC2119A7A9F}"/>
              </a:ext>
            </a:extLst>
          </p:cNvPr>
          <p:cNvSpPr>
            <a:spLocks noGrp="1"/>
          </p:cNvSpPr>
          <p:nvPr/>
        </p:nvSpPr>
        <p:spPr>
          <a:xfrm>
            <a:off x="771525" y="37909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09</a:t>
            </a:r>
          </a:p>
        </p:txBody>
      </p:sp>
      <p:sp>
        <p:nvSpPr>
          <p:cNvPr id="24" name="code-line">
            <a:extLst>
              <a:ext uri="{FF2B5EF4-FFF2-40B4-BE49-F238E27FC236}">
                <a16:creationId xmlns:a16="http://schemas.microsoft.com/office/drawing/2014/main" id="{BB2C5EA1-0B22-47B7-99CD-02F08586087F}"/>
              </a:ext>
            </a:extLst>
          </p:cNvPr>
          <p:cNvSpPr>
            <a:spLocks noGrp="1"/>
          </p:cNvSpPr>
          <p:nvPr/>
        </p:nvSpPr>
        <p:spPr>
          <a:xfrm>
            <a:off x="1285875" y="37909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t = a[L]; a[L] = a[R]; a[R] = t;</a:t>
            </a:r>
          </a:p>
        </p:txBody>
      </p:sp>
      <p:sp>
        <p:nvSpPr>
          <p:cNvPr id="25" name="code-number">
            <a:extLst>
              <a:ext uri="{FF2B5EF4-FFF2-40B4-BE49-F238E27FC236}">
                <a16:creationId xmlns:a16="http://schemas.microsoft.com/office/drawing/2014/main" id="{0CD04E8C-675E-4847-B7E8-EBD8EB7433C7}"/>
              </a:ext>
            </a:extLst>
          </p:cNvPr>
          <p:cNvSpPr>
            <a:spLocks noGrp="1"/>
          </p:cNvSpPr>
          <p:nvPr/>
        </p:nvSpPr>
        <p:spPr>
          <a:xfrm>
            <a:off x="771525" y="40005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10</a:t>
            </a:r>
          </a:p>
        </p:txBody>
      </p:sp>
      <p:sp>
        <p:nvSpPr>
          <p:cNvPr id="26" name="code-line">
            <a:extLst>
              <a:ext uri="{FF2B5EF4-FFF2-40B4-BE49-F238E27FC236}">
                <a16:creationId xmlns:a16="http://schemas.microsoft.com/office/drawing/2014/main" id="{B1905135-2299-467F-8F70-B2D5C0F83957}"/>
              </a:ext>
            </a:extLst>
          </p:cNvPr>
          <p:cNvSpPr>
            <a:spLocks noGrp="1"/>
          </p:cNvSpPr>
          <p:nvPr/>
        </p:nvSpPr>
        <p:spPr>
          <a:xfrm>
            <a:off x="1285875" y="40005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a:t>
            </a:r>
          </a:p>
        </p:txBody>
      </p:sp>
      <p:sp>
        <p:nvSpPr>
          <p:cNvPr id="27" name="code-number">
            <a:extLst>
              <a:ext uri="{FF2B5EF4-FFF2-40B4-BE49-F238E27FC236}">
                <a16:creationId xmlns:a16="http://schemas.microsoft.com/office/drawing/2014/main" id="{C1B80CFC-4D94-4082-86A8-13B944800970}"/>
              </a:ext>
            </a:extLst>
          </p:cNvPr>
          <p:cNvSpPr>
            <a:spLocks noGrp="1"/>
          </p:cNvSpPr>
          <p:nvPr/>
        </p:nvSpPr>
        <p:spPr>
          <a:xfrm>
            <a:off x="771525" y="42100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11</a:t>
            </a:r>
          </a:p>
        </p:txBody>
      </p:sp>
      <p:sp>
        <p:nvSpPr>
          <p:cNvPr id="28" name="code-line">
            <a:extLst>
              <a:ext uri="{FF2B5EF4-FFF2-40B4-BE49-F238E27FC236}">
                <a16:creationId xmlns:a16="http://schemas.microsoft.com/office/drawing/2014/main" id="{AA3242C0-3542-489A-91FA-ABF424A29F28}"/>
              </a:ext>
            </a:extLst>
          </p:cNvPr>
          <p:cNvSpPr>
            <a:spLocks noGrp="1"/>
          </p:cNvSpPr>
          <p:nvPr/>
        </p:nvSpPr>
        <p:spPr>
          <a:xfrm>
            <a:off x="1285875" y="42100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t = a[L]; a[L] = a[hi]; a[hi] = t;</a:t>
            </a:r>
          </a:p>
        </p:txBody>
      </p:sp>
      <p:sp>
        <p:nvSpPr>
          <p:cNvPr id="29" name="code-number">
            <a:extLst>
              <a:ext uri="{FF2B5EF4-FFF2-40B4-BE49-F238E27FC236}">
                <a16:creationId xmlns:a16="http://schemas.microsoft.com/office/drawing/2014/main" id="{6B137FA0-D2C9-41D0-A1A0-1052A53E2C7E}"/>
              </a:ext>
            </a:extLst>
          </p:cNvPr>
          <p:cNvSpPr>
            <a:spLocks noGrp="1"/>
          </p:cNvSpPr>
          <p:nvPr/>
        </p:nvSpPr>
        <p:spPr>
          <a:xfrm>
            <a:off x="771525" y="44196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12</a:t>
            </a:r>
          </a:p>
        </p:txBody>
      </p:sp>
      <p:sp>
        <p:nvSpPr>
          <p:cNvPr id="30" name="code-line">
            <a:extLst>
              <a:ext uri="{FF2B5EF4-FFF2-40B4-BE49-F238E27FC236}">
                <a16:creationId xmlns:a16="http://schemas.microsoft.com/office/drawing/2014/main" id="{170B9CC7-8746-402B-8986-454AA1B740B1}"/>
              </a:ext>
            </a:extLst>
          </p:cNvPr>
          <p:cNvSpPr>
            <a:spLocks noGrp="1"/>
          </p:cNvSpPr>
          <p:nvPr/>
        </p:nvSpPr>
        <p:spPr>
          <a:xfrm>
            <a:off x="1285875" y="44196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return L;</a:t>
            </a:r>
          </a:p>
        </p:txBody>
      </p:sp>
      <p:sp>
        <p:nvSpPr>
          <p:cNvPr id="31" name="code-number">
            <a:extLst>
              <a:ext uri="{FF2B5EF4-FFF2-40B4-BE49-F238E27FC236}">
                <a16:creationId xmlns:a16="http://schemas.microsoft.com/office/drawing/2014/main" id="{D37EE770-CCCD-41B8-BB4C-D10BF6D34B17}"/>
              </a:ext>
            </a:extLst>
          </p:cNvPr>
          <p:cNvSpPr>
            <a:spLocks noGrp="1"/>
          </p:cNvSpPr>
          <p:nvPr/>
        </p:nvSpPr>
        <p:spPr>
          <a:xfrm>
            <a:off x="771525" y="46291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13</a:t>
            </a:r>
          </a:p>
        </p:txBody>
      </p:sp>
      <p:sp>
        <p:nvSpPr>
          <p:cNvPr id="32" name="code-line">
            <a:extLst>
              <a:ext uri="{FF2B5EF4-FFF2-40B4-BE49-F238E27FC236}">
                <a16:creationId xmlns:a16="http://schemas.microsoft.com/office/drawing/2014/main" id="{CE14E2CC-FAFF-404A-AA1A-0E49FC31F842}"/>
              </a:ext>
            </a:extLst>
          </p:cNvPr>
          <p:cNvSpPr>
            <a:spLocks noGrp="1"/>
          </p:cNvSpPr>
          <p:nvPr/>
        </p:nvSpPr>
        <p:spPr>
          <a:xfrm>
            <a:off x="1285875" y="46291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a:t>
            </a:r>
          </a:p>
        </p:txBody>
      </p:sp>
      <p:sp>
        <p:nvSpPr>
          <p:cNvPr id="33" name="직사각형 32">
            <a:extLst>
              <a:ext uri="{FF2B5EF4-FFF2-40B4-BE49-F238E27FC236}">
                <a16:creationId xmlns:a16="http://schemas.microsoft.com/office/drawing/2014/main" id="{9FE7D6C2-5A6D-4EB2-B399-935BE7ECF49D}"/>
              </a:ext>
            </a:extLst>
          </p:cNvPr>
          <p:cNvSpPr>
            <a:spLocks noGrp="1"/>
          </p:cNvSpPr>
          <p:nvPr/>
        </p:nvSpPr>
        <p:spPr>
          <a:xfrm>
            <a:off x="609600" y="6048375"/>
            <a:ext cx="10972800" cy="238125"/>
          </a:xfrm>
          <a:prstGeom prst="rect">
            <a:avLst/>
          </a:prstGeom>
          <a:noFill/>
          <a:ln w="0">
            <a:noFill/>
          </a:ln>
        </p:spPr>
        <p:txBody>
          <a:bodyPr/>
          <a:lstStyle>
            <a:defPPr>
              <a:defRPr sz="1200" b="0">
                <a:solidFill>
                  <a:srgbClr val="5B5B5B"/>
                </a:solidFill>
                <a:latin typeface="Malgun Gothic"/>
                <a:ea typeface="Malgun Gothic"/>
                <a:cs typeface="Malgun Gothic"/>
              </a:defRPr>
            </a:defPPr>
          </a:lstStyle>
          <a:p>
            <a:pPr>
              <a:defRPr sz="1200" b="0">
                <a:solidFill>
                  <a:srgbClr val="5B5B5B"/>
                </a:solidFill>
                <a:latin typeface="Malgun Gothic"/>
                <a:ea typeface="Malgun Gothic"/>
                <a:cs typeface="Malgun Gothic"/>
              </a:defRPr>
            </a:pPr>
            <a:r>
              <a:rPr sz="1200" b="0">
                <a:solidFill>
                  <a:srgbClr val="5B5B5B"/>
                </a:solidFill>
                <a:latin typeface="Malgun Gothic" panose="020B0503020000020004" pitchFamily="50" charset="-127"/>
                <a:ea typeface="Malgun Gothic"/>
                <a:cs typeface="Malgun Gothic"/>
              </a:rPr>
              <a:t>길이가 k인 구간에서 시간 O(k). 같은 값은 피벗의 왼쪽으로 보낸다.</a:t>
            </a:r>
          </a:p>
        </p:txBody>
      </p:sp>
      <p:sp>
        <p:nvSpPr>
          <p:cNvPr id="34" name="직사각형 33">
            <a:extLst>
              <a:ext uri="{FF2B5EF4-FFF2-40B4-BE49-F238E27FC236}">
                <a16:creationId xmlns:a16="http://schemas.microsoft.com/office/drawing/2014/main" id="{765348E1-6B95-46D2-BA00-C1A2F27304F1}"/>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35" name="직사각형 34">
            <a:extLst>
              <a:ext uri="{FF2B5EF4-FFF2-40B4-BE49-F238E27FC236}">
                <a16:creationId xmlns:a16="http://schemas.microsoft.com/office/drawing/2014/main" id="{ADD20C2C-8B10-402C-950B-EA68CEE7605E}"/>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224</a:t>
            </a:r>
          </a:p>
        </p:txBody>
      </p:sp>
    </p:spTree>
    <p:extLst>
      <p:ext uri="{BB962C8B-B14F-4D97-AF65-F5344CB8AC3E}">
        <p14:creationId xmlns:p14="http://schemas.microsoft.com/office/powerpoint/2010/main" val="2581685519"/>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487C7688-EA36-47FC-861A-8E0CA3123794}"/>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866DA827-33BF-4F09-8BEF-7B24F356708D}"/>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A0D6BCF0-6CB4-4325-AAF7-C96ADC2F309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102</a:t>
            </a:r>
          </a:p>
        </p:txBody>
      </p:sp>
      <p:sp>
        <p:nvSpPr>
          <p:cNvPr id="4" name="직사각형 3">
            <a:extLst>
              <a:ext uri="{FF2B5EF4-FFF2-40B4-BE49-F238E27FC236}">
                <a16:creationId xmlns:a16="http://schemas.microsoft.com/office/drawing/2014/main" id="{A1EA6375-A330-415C-8880-DAAE51A4F13B}"/>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1414C6FE-DD27-4DD3-A279-994B35477C56}"/>
              </a:ext>
            </a:extLst>
          </p:cNvPr>
          <p:cNvSpPr>
            <a:spLocks noGrp="1"/>
          </p:cNvSpPr>
          <p:nvPr/>
        </p:nvSpPr>
        <p:spPr>
          <a:xfrm>
            <a:off x="609600" y="1695450"/>
            <a:ext cx="10972800" cy="3333750"/>
          </a:xfrm>
          <a:prstGeom prst="rect">
            <a:avLst/>
          </a:prstGeom>
          <a:noFill/>
          <a:ln w="0">
            <a:noFill/>
          </a:ln>
        </p:spPr>
        <p:txBody>
          <a:bodyPr/>
          <a:lstStyle>
            <a:defPPr>
              <a:defRPr sz="1800" b="0">
                <a:solidFill>
                  <a:srgbClr val="151515"/>
                </a:solidFill>
                <a:latin typeface="Malgun Gothic"/>
                <a:ea typeface="Malgun Gothic"/>
                <a:cs typeface="Malgun Gothic"/>
              </a:defRPr>
            </a:defPPr>
          </a:lstStyle>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정수 배열 a의 [lo,hi]를 제자리 오름차순으로 정렬하는 quick_sort(a,lo,hi)를 작성하시오.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양 끝을 포함하며 길이 n은 0..1000이다.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전체 배열의 첫 호출은 (a,0,n-1)이다. 빈 배열은 lo=0, hi=-1로 호출하며 즉시 끝낸다.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앞 문항의 partition이 Python과 C 실행 환경에 제공된다.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lo≥hi이면 종료하고, 피벗 인덱스 p를 제외한</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[lo,p-1]과 [p+1,hi]를 재귀 정렬한다.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구간 밖의 값은 바꾸지 않는다. 반환값 대신 배열 a를 검사한다.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sort·sorted·qsort 등 정렬 라이브러리는 쓰지 않는다.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Python 또는 C로 작성하시오.</a:t>
            </a:r>
          </a:p>
        </p:txBody>
      </p:sp>
      <p:sp>
        <p:nvSpPr>
          <p:cNvPr id="6" name="직사각형 5">
            <a:extLst>
              <a:ext uri="{FF2B5EF4-FFF2-40B4-BE49-F238E27FC236}">
                <a16:creationId xmlns:a16="http://schemas.microsoft.com/office/drawing/2014/main" id="{15DB79F7-3E87-4C5E-99EE-B667356BA2FA}"/>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7" name="직사각형 6">
            <a:extLst>
              <a:ext uri="{FF2B5EF4-FFF2-40B4-BE49-F238E27FC236}">
                <a16:creationId xmlns:a16="http://schemas.microsoft.com/office/drawing/2014/main" id="{1EDD8A1B-CBB8-481F-8351-C9D40ECF9D3A}"/>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225</a:t>
            </a:r>
          </a:p>
        </p:txBody>
      </p:sp>
      <p:sp>
        <p:nvSpPr>
          <p:cNvPr id="8" name="직사각형 7">
            <a:extLst>
              <a:ext uri="{FF2B5EF4-FFF2-40B4-BE49-F238E27FC236}">
                <a16:creationId xmlns:a16="http://schemas.microsoft.com/office/drawing/2014/main" id="{17A2E482-648B-43F9-A75F-DD9CB0B3A5CD}"/>
              </a:ext>
            </a:extLst>
          </p:cNvPr>
          <p:cNvSpPr>
            <a:spLocks noGrp="1"/>
          </p:cNvSpPr>
          <p:nvPr/>
        </p:nvSpPr>
        <p:spPr>
          <a:xfrm>
            <a:off x="609600" y="5238750"/>
            <a:ext cx="10972800" cy="304800"/>
          </a:xfrm>
          <a:prstGeom prst="rect">
            <a:avLst/>
          </a:prstGeom>
          <a:noFill/>
          <a:ln w="0">
            <a:noFill/>
          </a:ln>
        </p:spPr>
        <p:txBody>
          <a:bodyPr/>
          <a:lstStyle>
            <a:defPPr>
              <a:defRPr sz="1575" b="0">
                <a:solidFill>
                  <a:srgbClr val="5B5B5B"/>
                </a:solidFill>
                <a:latin typeface="Malgun Gothic"/>
                <a:ea typeface="Malgun Gothic"/>
                <a:cs typeface="Malgun Gothic"/>
              </a:defRPr>
            </a:defPPr>
          </a:lstStyle>
          <a:p>
            <a:pPr>
              <a:defRPr sz="1575" b="0">
                <a:solidFill>
                  <a:srgbClr val="5B5B5B"/>
                </a:solidFill>
                <a:latin typeface="Malgun Gothic"/>
                <a:ea typeface="Malgun Gothic"/>
                <a:cs typeface="Malgun Gothic"/>
              </a:defRPr>
            </a:pPr>
            <a:r>
              <a:rPr sz="1575" b="0">
                <a:solidFill>
                  <a:srgbClr val="5B5B5B"/>
                </a:solidFill>
                <a:latin typeface="Malgun Gothic" panose="020B0503020000020004" pitchFamily="50" charset="-127"/>
                <a:ea typeface="Malgun Gothic"/>
                <a:cs typeface="Malgun Gothic"/>
              </a:rPr>
              <a:t>함수의 동작, 경계 처리, 시간 복잡도를 함께 작성하시오.</a:t>
            </a:r>
          </a:p>
        </p:txBody>
      </p:sp>
      <p:sp>
        <p:nvSpPr>
          <p:cNvPr id="9" name="직사각형 8">
            <a:extLst>
              <a:ext uri="{FF2B5EF4-FFF2-40B4-BE49-F238E27FC236}">
                <a16:creationId xmlns:a16="http://schemas.microsoft.com/office/drawing/2014/main" id="{629DECB5-E935-4D0C-91D5-EAA936C9C33F}"/>
              </a:ext>
            </a:extLst>
          </p:cNvPr>
          <p:cNvSpPr>
            <a:spLocks noGrp="1"/>
          </p:cNvSpPr>
          <p:nvPr/>
        </p:nvSpPr>
        <p:spPr>
          <a:xfrm>
            <a:off x="609600" y="5676900"/>
            <a:ext cx="10972800" cy="571500"/>
          </a:xfrm>
          <a:prstGeom prst="rect">
            <a:avLst/>
          </a:prstGeom>
          <a:noFill/>
          <a:ln w="0">
            <a:noFill/>
          </a:ln>
        </p:spPr>
        <p:txBody>
          <a:bodyPr/>
          <a:lstStyle>
            <a:defPPr>
              <a:defRPr sz="1500" b="0">
                <a:solidFill>
                  <a:srgbClr val="151515"/>
                </a:solidFill>
                <a:latin typeface="Malgun Gothic"/>
                <a:ea typeface="Malgun Gothic"/>
                <a:cs typeface="Malgun Gothic"/>
              </a:defRPr>
            </a:defPPr>
          </a:lstStyle>
          <a:p>
            <a:pPr>
              <a:defRPr sz="1500" b="0">
                <a:solidFill>
                  <a:srgbClr val="151515"/>
                </a:solidFill>
                <a:latin typeface="Malgun Gothic"/>
                <a:ea typeface="Malgun Gothic"/>
                <a:cs typeface="Malgun Gothic"/>
              </a:defRPr>
            </a:pPr>
            <a:r>
              <a:rPr sz="1500" b="0">
                <a:solidFill>
                  <a:srgbClr val="151515"/>
                </a:solidFill>
                <a:latin typeface="Malgun Gothic" panose="020B0503020000020004" pitchFamily="50" charset="-127"/>
                <a:ea typeface="Malgun Gothic"/>
                <a:cs typeface="Malgun Gothic"/>
              </a:rPr>
              <a:t>예: quick_sort([8,4,6,3,7,1],0,5)</a:t>
            </a:r>
          </a:p>
          <a:p>
            <a:pPr>
              <a:defRPr sz="1500" b="0">
                <a:solidFill>
                  <a:srgbClr val="151515"/>
                </a:solidFill>
                <a:latin typeface="Malgun Gothic"/>
                <a:ea typeface="Malgun Gothic"/>
                <a:cs typeface="Malgun Gothic"/>
              </a:defRPr>
            </a:pPr>
            <a:r>
              <a:rPr sz="1500" b="0">
                <a:solidFill>
                  <a:srgbClr val="151515"/>
                </a:solidFill>
                <a:latin typeface="Malgun Gothic" panose="020B0503020000020004" pitchFamily="50" charset="-127"/>
                <a:ea typeface="Malgun Gothic"/>
                <a:cs typeface="Malgun Gothic"/>
              </a:rPr>
              <a:t>정렬 후 a = [1,3,4,6,7,8]</a:t>
            </a:r>
          </a:p>
        </p:txBody>
      </p:sp>
    </p:spTree>
    <p:extLst>
      <p:ext uri="{BB962C8B-B14F-4D97-AF65-F5344CB8AC3E}">
        <p14:creationId xmlns:p14="http://schemas.microsoft.com/office/powerpoint/2010/main" val="689789494"/>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29BD8338-CD7C-4916-89FF-6B9E63799749}"/>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3F4382BC-4B68-42A4-B97C-441C4AAC86BF}"/>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511B8D11-592B-423A-8B4B-D62CB27C23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102  정답과 해설</a:t>
            </a:r>
          </a:p>
        </p:txBody>
      </p:sp>
      <p:sp>
        <p:nvSpPr>
          <p:cNvPr id="4" name="직사각형 3">
            <a:extLst>
              <a:ext uri="{FF2B5EF4-FFF2-40B4-BE49-F238E27FC236}">
                <a16:creationId xmlns:a16="http://schemas.microsoft.com/office/drawing/2014/main" id="{101805E4-DCCD-4800-BA88-FC5CF71F05A8}"/>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4D800A1F-EC91-4682-88B9-99835EACCA8F}"/>
              </a:ext>
            </a:extLst>
          </p:cNvPr>
          <p:cNvSpPr>
            <a:spLocks noGrp="1"/>
          </p:cNvSpPr>
          <p:nvPr/>
        </p:nvSpPr>
        <p:spPr>
          <a:xfrm>
            <a:off x="609600" y="1695450"/>
            <a:ext cx="10972800" cy="3333750"/>
          </a:xfrm>
          <a:prstGeom prst="rect">
            <a:avLst/>
          </a:prstGeom>
          <a:noFill/>
          <a:ln w="0">
            <a:noFill/>
          </a:ln>
        </p:spPr>
        <p:txBody>
          <a:bodyPr/>
          <a:lstStyle>
            <a:defPPr>
              <a:defRPr sz="1800" b="0">
                <a:solidFill>
                  <a:srgbClr val="151515"/>
                </a:solidFill>
                <a:latin typeface="Malgun Gothic"/>
                <a:ea typeface="Malgun Gothic"/>
                <a:cs typeface="Malgun Gothic"/>
              </a:defRPr>
            </a:defPPr>
          </a:lstStyle>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분할 후 피벗 6의 자리는 p=3으로 확정된다.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왼쪽 [3,4,1]과 오른쪽 [7,8]을 각각 정렬한다.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호출 구간은 [lo,p-1]과 [p+1,hi]이다.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빈 구간이나 원소 한 개이면 즉시 종료한다.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평균 O(n log n), 최악 O(n²)이다.</a:t>
            </a:r>
          </a:p>
          <a:p>
            <a:pPr>
              <a:defRPr sz="1800" b="0">
                <a:solidFill>
                  <a:srgbClr val="151515"/>
                </a:solidFill>
                <a:latin typeface="Malgun Gothic"/>
                <a:ea typeface="Malgun Gothic"/>
                <a:cs typeface="Malgun Gothic"/>
              </a:defRPr>
            </a:pPr>
            <a:r>
              <a:rPr sz="1800" b="0">
                <a:solidFill>
                  <a:srgbClr val="151515"/>
                </a:solidFill>
                <a:latin typeface="Malgun Gothic" panose="020B0503020000020004" pitchFamily="50" charset="-127"/>
                <a:ea typeface="Malgun Gothic"/>
                <a:cs typeface="Malgun Gothic"/>
              </a:rPr>
              <a:t>동작 검사는 결과를 확인한다. 지정 알고리즘은 풀이로도 점검한다.</a:t>
            </a:r>
          </a:p>
        </p:txBody>
      </p:sp>
      <p:sp>
        <p:nvSpPr>
          <p:cNvPr id="6" name="직사각형 5">
            <a:extLst>
              <a:ext uri="{FF2B5EF4-FFF2-40B4-BE49-F238E27FC236}">
                <a16:creationId xmlns:a16="http://schemas.microsoft.com/office/drawing/2014/main" id="{DEE80B1F-171F-4AC5-9573-6A5CD7FA0353}"/>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7" name="직사각형 6">
            <a:extLst>
              <a:ext uri="{FF2B5EF4-FFF2-40B4-BE49-F238E27FC236}">
                <a16:creationId xmlns:a16="http://schemas.microsoft.com/office/drawing/2014/main" id="{B2414BA4-1D7D-479A-BE31-5928235237A3}"/>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226</a:t>
            </a:r>
          </a:p>
        </p:txBody>
      </p:sp>
    </p:spTree>
    <p:extLst>
      <p:ext uri="{BB962C8B-B14F-4D97-AF65-F5344CB8AC3E}">
        <p14:creationId xmlns:p14="http://schemas.microsoft.com/office/powerpoint/2010/main" val="1619238643"/>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직사각형 21">
            <a:extLst>
              <a:ext uri="{FF2B5EF4-FFF2-40B4-BE49-F238E27FC236}">
                <a16:creationId xmlns:a16="http://schemas.microsoft.com/office/drawing/2014/main" id="{E6DB8BCB-77C7-4CB7-8C17-E6528B619330}"/>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B379CAD7-3601-4A07-9142-D7B151838B0C}"/>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BDFEB691-A1D7-44EC-995B-6BC8573936D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102  Python 구현</a:t>
            </a:r>
          </a:p>
        </p:txBody>
      </p:sp>
      <p:sp>
        <p:nvSpPr>
          <p:cNvPr id="4" name="직사각형 3">
            <a:extLst>
              <a:ext uri="{FF2B5EF4-FFF2-40B4-BE49-F238E27FC236}">
                <a16:creationId xmlns:a16="http://schemas.microsoft.com/office/drawing/2014/main" id="{8167DEAE-5290-42DE-A159-0A746ED2096B}"/>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5267F999-4912-4A56-9A22-9F72D29C1082}"/>
              </a:ext>
            </a:extLst>
          </p:cNvPr>
          <p:cNvSpPr>
            <a:spLocks noGrp="1"/>
          </p:cNvSpPr>
          <p:nvPr/>
        </p:nvSpPr>
        <p:spPr>
          <a:xfrm>
            <a:off x="609600" y="1552575"/>
            <a:ext cx="10972800" cy="266700"/>
          </a:xfrm>
          <a:prstGeom prst="rect">
            <a:avLst/>
          </a:prstGeom>
          <a:noFill/>
          <a:ln w="0">
            <a:noFill/>
          </a:ln>
        </p:spPr>
        <p:txBody>
          <a:bodyPr/>
          <a:lstStyle>
            <a:defPPr>
              <a:defRPr sz="1500" b="0">
                <a:solidFill>
                  <a:srgbClr val="5B5B5B"/>
                </a:solidFill>
                <a:latin typeface="Malgun Gothic"/>
                <a:ea typeface="Malgun Gothic"/>
                <a:cs typeface="Malgun Gothic"/>
              </a:defRPr>
            </a:defPPr>
          </a:lstStyle>
          <a:p>
            <a:pPr>
              <a:defRPr sz="1500" b="0">
                <a:solidFill>
                  <a:srgbClr val="5B5B5B"/>
                </a:solidFill>
                <a:latin typeface="Malgun Gothic"/>
                <a:ea typeface="Malgun Gothic"/>
                <a:cs typeface="Malgun Gothic"/>
              </a:defRPr>
            </a:pPr>
            <a:r>
              <a:rPr sz="1500" b="0">
                <a:solidFill>
                  <a:srgbClr val="5B5B5B"/>
                </a:solidFill>
                <a:latin typeface="Malgun Gothic" panose="020B0503020000020004" pitchFamily="50" charset="-127"/>
                <a:ea typeface="Malgun Gothic"/>
                <a:cs typeface="Malgun Gothic"/>
              </a:rPr>
              <a:t>퀵 정렬</a:t>
            </a:r>
          </a:p>
        </p:txBody>
      </p:sp>
      <p:sp>
        <p:nvSpPr>
          <p:cNvPr id="6" name="직사각형 5">
            <a:extLst>
              <a:ext uri="{FF2B5EF4-FFF2-40B4-BE49-F238E27FC236}">
                <a16:creationId xmlns:a16="http://schemas.microsoft.com/office/drawing/2014/main" id="{F1DB75B6-0EC9-4A2D-85CC-21E608E65074}"/>
              </a:ext>
            </a:extLst>
          </p:cNvPr>
          <p:cNvSpPr>
            <a:spLocks noGrp="1"/>
          </p:cNvSpPr>
          <p:nvPr/>
        </p:nvSpPr>
        <p:spPr>
          <a:xfrm>
            <a:off x="609600" y="1981200"/>
            <a:ext cx="10972800" cy="3962400"/>
          </a:xfrm>
          <a:prstGeom prst="rect">
            <a:avLst/>
          </a:prstGeom>
          <a:solidFill>
            <a:srgbClr val="171717"/>
          </a:solidFill>
          <a:ln w="0">
            <a:noFill/>
          </a:ln>
        </p:spPr>
      </p:sp>
      <p:sp>
        <p:nvSpPr>
          <p:cNvPr id="7" name="code-number">
            <a:extLst>
              <a:ext uri="{FF2B5EF4-FFF2-40B4-BE49-F238E27FC236}">
                <a16:creationId xmlns:a16="http://schemas.microsoft.com/office/drawing/2014/main" id="{ADECEDA3-7873-49C2-BD72-D0296C1F3E00}"/>
              </a:ext>
            </a:extLst>
          </p:cNvPr>
          <p:cNvSpPr>
            <a:spLocks noGrp="1"/>
          </p:cNvSpPr>
          <p:nvPr/>
        </p:nvSpPr>
        <p:spPr>
          <a:xfrm>
            <a:off x="771525" y="21145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01</a:t>
            </a:r>
          </a:p>
        </p:txBody>
      </p:sp>
      <p:sp>
        <p:nvSpPr>
          <p:cNvPr id="8" name="code-line">
            <a:extLst>
              <a:ext uri="{FF2B5EF4-FFF2-40B4-BE49-F238E27FC236}">
                <a16:creationId xmlns:a16="http://schemas.microsoft.com/office/drawing/2014/main" id="{D64C5E51-272E-4121-9CCC-E52A1F5518C3}"/>
              </a:ext>
            </a:extLst>
          </p:cNvPr>
          <p:cNvSpPr>
            <a:spLocks noGrp="1"/>
          </p:cNvSpPr>
          <p:nvPr/>
        </p:nvSpPr>
        <p:spPr>
          <a:xfrm>
            <a:off x="1285875" y="21145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def quick_sort(a, lo, hi):</a:t>
            </a:r>
          </a:p>
        </p:txBody>
      </p:sp>
      <p:sp>
        <p:nvSpPr>
          <p:cNvPr id="9" name="code-number">
            <a:extLst>
              <a:ext uri="{FF2B5EF4-FFF2-40B4-BE49-F238E27FC236}">
                <a16:creationId xmlns:a16="http://schemas.microsoft.com/office/drawing/2014/main" id="{CB86FA4D-DCBC-4B0C-BA44-EB02D356E247}"/>
              </a:ext>
            </a:extLst>
          </p:cNvPr>
          <p:cNvSpPr>
            <a:spLocks noGrp="1"/>
          </p:cNvSpPr>
          <p:nvPr/>
        </p:nvSpPr>
        <p:spPr>
          <a:xfrm>
            <a:off x="771525" y="23241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02</a:t>
            </a:r>
          </a:p>
        </p:txBody>
      </p:sp>
      <p:sp>
        <p:nvSpPr>
          <p:cNvPr id="10" name="code-line">
            <a:extLst>
              <a:ext uri="{FF2B5EF4-FFF2-40B4-BE49-F238E27FC236}">
                <a16:creationId xmlns:a16="http://schemas.microsoft.com/office/drawing/2014/main" id="{41D029EE-7044-40BB-AC3F-11EAFFB73AD8}"/>
              </a:ext>
            </a:extLst>
          </p:cNvPr>
          <p:cNvSpPr>
            <a:spLocks noGrp="1"/>
          </p:cNvSpPr>
          <p:nvPr/>
        </p:nvSpPr>
        <p:spPr>
          <a:xfrm>
            <a:off x="1285875" y="23241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if lo &gt;= hi:</a:t>
            </a:r>
          </a:p>
        </p:txBody>
      </p:sp>
      <p:sp>
        <p:nvSpPr>
          <p:cNvPr id="11" name="code-number">
            <a:extLst>
              <a:ext uri="{FF2B5EF4-FFF2-40B4-BE49-F238E27FC236}">
                <a16:creationId xmlns:a16="http://schemas.microsoft.com/office/drawing/2014/main" id="{D841A222-2A67-4744-BFFC-4404D4EBD6F5}"/>
              </a:ext>
            </a:extLst>
          </p:cNvPr>
          <p:cNvSpPr>
            <a:spLocks noGrp="1"/>
          </p:cNvSpPr>
          <p:nvPr/>
        </p:nvSpPr>
        <p:spPr>
          <a:xfrm>
            <a:off x="771525" y="25336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03</a:t>
            </a:r>
          </a:p>
        </p:txBody>
      </p:sp>
      <p:sp>
        <p:nvSpPr>
          <p:cNvPr id="12" name="code-line">
            <a:extLst>
              <a:ext uri="{FF2B5EF4-FFF2-40B4-BE49-F238E27FC236}">
                <a16:creationId xmlns:a16="http://schemas.microsoft.com/office/drawing/2014/main" id="{8747AC82-8099-4570-8616-FA401273D7CC}"/>
              </a:ext>
            </a:extLst>
          </p:cNvPr>
          <p:cNvSpPr>
            <a:spLocks noGrp="1"/>
          </p:cNvSpPr>
          <p:nvPr/>
        </p:nvSpPr>
        <p:spPr>
          <a:xfrm>
            <a:off x="1285875" y="25336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return</a:t>
            </a:r>
          </a:p>
        </p:txBody>
      </p:sp>
      <p:sp>
        <p:nvSpPr>
          <p:cNvPr id="13" name="code-number">
            <a:extLst>
              <a:ext uri="{FF2B5EF4-FFF2-40B4-BE49-F238E27FC236}">
                <a16:creationId xmlns:a16="http://schemas.microsoft.com/office/drawing/2014/main" id="{310818F8-26E1-424E-A7F7-11A68A289C54}"/>
              </a:ext>
            </a:extLst>
          </p:cNvPr>
          <p:cNvSpPr>
            <a:spLocks noGrp="1"/>
          </p:cNvSpPr>
          <p:nvPr/>
        </p:nvSpPr>
        <p:spPr>
          <a:xfrm>
            <a:off x="771525" y="27432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04</a:t>
            </a:r>
          </a:p>
        </p:txBody>
      </p:sp>
      <p:sp>
        <p:nvSpPr>
          <p:cNvPr id="14" name="code-line">
            <a:extLst>
              <a:ext uri="{FF2B5EF4-FFF2-40B4-BE49-F238E27FC236}">
                <a16:creationId xmlns:a16="http://schemas.microsoft.com/office/drawing/2014/main" id="{700E3BBC-39D7-45F1-9407-B7582A55D658}"/>
              </a:ext>
            </a:extLst>
          </p:cNvPr>
          <p:cNvSpPr>
            <a:spLocks noGrp="1"/>
          </p:cNvSpPr>
          <p:nvPr/>
        </p:nvSpPr>
        <p:spPr>
          <a:xfrm>
            <a:off x="1285875" y="27432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p = partition(a, lo, hi)</a:t>
            </a:r>
          </a:p>
        </p:txBody>
      </p:sp>
      <p:sp>
        <p:nvSpPr>
          <p:cNvPr id="15" name="code-number">
            <a:extLst>
              <a:ext uri="{FF2B5EF4-FFF2-40B4-BE49-F238E27FC236}">
                <a16:creationId xmlns:a16="http://schemas.microsoft.com/office/drawing/2014/main" id="{72038E01-3A17-4B49-A167-2F2073B110CD}"/>
              </a:ext>
            </a:extLst>
          </p:cNvPr>
          <p:cNvSpPr>
            <a:spLocks noGrp="1"/>
          </p:cNvSpPr>
          <p:nvPr/>
        </p:nvSpPr>
        <p:spPr>
          <a:xfrm>
            <a:off x="771525" y="29527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05</a:t>
            </a:r>
          </a:p>
        </p:txBody>
      </p:sp>
      <p:sp>
        <p:nvSpPr>
          <p:cNvPr id="16" name="code-line">
            <a:extLst>
              <a:ext uri="{FF2B5EF4-FFF2-40B4-BE49-F238E27FC236}">
                <a16:creationId xmlns:a16="http://schemas.microsoft.com/office/drawing/2014/main" id="{38017828-BA88-4F0D-9F08-9C4D29B708A2}"/>
              </a:ext>
            </a:extLst>
          </p:cNvPr>
          <p:cNvSpPr>
            <a:spLocks noGrp="1"/>
          </p:cNvSpPr>
          <p:nvPr/>
        </p:nvSpPr>
        <p:spPr>
          <a:xfrm>
            <a:off x="1285875" y="29527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quick_sort(a, lo, p - 1)</a:t>
            </a:r>
          </a:p>
        </p:txBody>
      </p:sp>
      <p:sp>
        <p:nvSpPr>
          <p:cNvPr id="17" name="code-number">
            <a:extLst>
              <a:ext uri="{FF2B5EF4-FFF2-40B4-BE49-F238E27FC236}">
                <a16:creationId xmlns:a16="http://schemas.microsoft.com/office/drawing/2014/main" id="{D524A9D6-7A07-4575-B4B8-6B7E01FA2E31}"/>
              </a:ext>
            </a:extLst>
          </p:cNvPr>
          <p:cNvSpPr>
            <a:spLocks noGrp="1"/>
          </p:cNvSpPr>
          <p:nvPr/>
        </p:nvSpPr>
        <p:spPr>
          <a:xfrm>
            <a:off x="771525" y="31623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06</a:t>
            </a:r>
          </a:p>
        </p:txBody>
      </p:sp>
      <p:sp>
        <p:nvSpPr>
          <p:cNvPr id="18" name="code-line">
            <a:extLst>
              <a:ext uri="{FF2B5EF4-FFF2-40B4-BE49-F238E27FC236}">
                <a16:creationId xmlns:a16="http://schemas.microsoft.com/office/drawing/2014/main" id="{42E5F7DC-BF07-4C1D-9CD5-E96BA88EDD66}"/>
              </a:ext>
            </a:extLst>
          </p:cNvPr>
          <p:cNvSpPr>
            <a:spLocks noGrp="1"/>
          </p:cNvSpPr>
          <p:nvPr/>
        </p:nvSpPr>
        <p:spPr>
          <a:xfrm>
            <a:off x="1285875" y="31623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quick_sort(a, p + 1, hi)</a:t>
            </a:r>
          </a:p>
        </p:txBody>
      </p:sp>
      <p:sp>
        <p:nvSpPr>
          <p:cNvPr id="19" name="직사각형 18">
            <a:extLst>
              <a:ext uri="{FF2B5EF4-FFF2-40B4-BE49-F238E27FC236}">
                <a16:creationId xmlns:a16="http://schemas.microsoft.com/office/drawing/2014/main" id="{19C3162F-9626-4B27-92ED-301987D14DAF}"/>
              </a:ext>
            </a:extLst>
          </p:cNvPr>
          <p:cNvSpPr>
            <a:spLocks noGrp="1"/>
          </p:cNvSpPr>
          <p:nvPr/>
        </p:nvSpPr>
        <p:spPr>
          <a:xfrm>
            <a:off x="609600" y="6048375"/>
            <a:ext cx="10972800" cy="238125"/>
          </a:xfrm>
          <a:prstGeom prst="rect">
            <a:avLst/>
          </a:prstGeom>
          <a:noFill/>
          <a:ln w="0">
            <a:noFill/>
          </a:ln>
        </p:spPr>
        <p:txBody>
          <a:bodyPr/>
          <a:lstStyle>
            <a:defPPr>
              <a:defRPr sz="1200" b="0">
                <a:solidFill>
                  <a:srgbClr val="5B5B5B"/>
                </a:solidFill>
                <a:latin typeface="Malgun Gothic"/>
                <a:ea typeface="Malgun Gothic"/>
                <a:cs typeface="Malgun Gothic"/>
              </a:defRPr>
            </a:defPPr>
          </a:lstStyle>
          <a:p>
            <a:pPr>
              <a:defRPr sz="1200" b="0">
                <a:solidFill>
                  <a:srgbClr val="5B5B5B"/>
                </a:solidFill>
                <a:latin typeface="Malgun Gothic"/>
                <a:ea typeface="Malgun Gothic"/>
                <a:cs typeface="Malgun Gothic"/>
              </a:defRPr>
            </a:pPr>
            <a:r>
              <a:rPr sz="1200" b="0">
                <a:solidFill>
                  <a:srgbClr val="5B5B5B"/>
                </a:solidFill>
                <a:latin typeface="Malgun Gothic" panose="020B0503020000020004" pitchFamily="50" charset="-127"/>
                <a:ea typeface="Malgun Gothic"/>
                <a:cs typeface="Malgun Gothic"/>
              </a:rPr>
              <a:t>평균 O(n log n), 최악 O(n²). 가운데 인덱스의 값이 중앙값이라는 보장은 없다.</a:t>
            </a:r>
          </a:p>
        </p:txBody>
      </p:sp>
      <p:sp>
        <p:nvSpPr>
          <p:cNvPr id="20" name="직사각형 19">
            <a:extLst>
              <a:ext uri="{FF2B5EF4-FFF2-40B4-BE49-F238E27FC236}">
                <a16:creationId xmlns:a16="http://schemas.microsoft.com/office/drawing/2014/main" id="{677C72B1-D0D8-40F7-81C0-F696FABC1E41}"/>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21" name="직사각형 20">
            <a:extLst>
              <a:ext uri="{FF2B5EF4-FFF2-40B4-BE49-F238E27FC236}">
                <a16:creationId xmlns:a16="http://schemas.microsoft.com/office/drawing/2014/main" id="{B6D6490F-EBEF-4CF0-82B4-32E94B4F5CBE}"/>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227</a:t>
            </a:r>
          </a:p>
        </p:txBody>
      </p:sp>
    </p:spTree>
    <p:extLst>
      <p:ext uri="{BB962C8B-B14F-4D97-AF65-F5344CB8AC3E}">
        <p14:creationId xmlns:p14="http://schemas.microsoft.com/office/powerpoint/2010/main" val="2078967921"/>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직사각형 21">
            <a:extLst>
              <a:ext uri="{FF2B5EF4-FFF2-40B4-BE49-F238E27FC236}">
                <a16:creationId xmlns:a16="http://schemas.microsoft.com/office/drawing/2014/main" id="{BD13B399-7CE0-448B-A2FB-C4B0A550BB1D}"/>
              </a:ext>
            </a:extLst>
          </p:cNvPr>
          <p:cNvSpPr>
            <a:spLocks noGrp="1"/>
          </p:cNvSpPr>
          <p:nvPr/>
        </p:nvSpPr>
        <p:spPr>
          <a:xfrm>
            <a:off x="609600" y="266700"/>
            <a:ext cx="8096250" cy="247650"/>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Malgun Gothic" panose="020B0503020000020004" pitchFamily="50" charset="-127"/>
                <a:ea typeface="Malgun Gothic"/>
                <a:cs typeface="Malgun Gothic"/>
              </a:rPr>
              <a:t>4장 분할 정복  /  Python/C 구현</a:t>
            </a:r>
          </a:p>
        </p:txBody>
      </p:sp>
      <p:sp>
        <p:nvSpPr>
          <p:cNvPr id="2" name="직사각형 1">
            <a:extLst>
              <a:ext uri="{FF2B5EF4-FFF2-40B4-BE49-F238E27FC236}">
                <a16:creationId xmlns:a16="http://schemas.microsoft.com/office/drawing/2014/main" id="{6EFCFBEC-3DA7-497D-948C-0331EB6EA348}"/>
              </a:ext>
            </a:extLst>
          </p:cNvPr>
          <p:cNvSpPr>
            <a:spLocks noGrp="1"/>
          </p:cNvSpPr>
          <p:nvPr/>
        </p:nvSpPr>
        <p:spPr>
          <a:xfrm>
            <a:off x="10287000" y="266700"/>
            <a:ext cx="1295400" cy="238125"/>
          </a:xfrm>
          <a:prstGeom prst="rect">
            <a:avLst/>
          </a:prstGeom>
          <a:noFill/>
          <a:ln w="0">
            <a:noFill/>
          </a:ln>
        </p:spPr>
        <p:txBody>
          <a:bodyPr/>
          <a:lstStyle>
            <a:defPPr>
              <a:defRPr sz="900" b="0">
                <a:solidFill>
                  <a:srgbClr val="151515"/>
                </a:solidFill>
                <a:latin typeface="Malgun Gothic"/>
                <a:ea typeface="Malgun Gothic"/>
                <a:cs typeface="Malgun Gothic"/>
              </a:defRPr>
            </a:defPPr>
          </a:lstStyle>
          <a:p>
            <a:pPr>
              <a:defRPr sz="900" b="0">
                <a:solidFill>
                  <a:srgbClr val="151515"/>
                </a:solidFill>
                <a:latin typeface="Malgun Gothic"/>
                <a:ea typeface="Malgun Gothic"/>
                <a:cs typeface="Malgun Gothic"/>
              </a:defRPr>
            </a:pPr>
            <a:r>
              <a:rPr sz="900" b="0">
                <a:solidFill>
                  <a:srgbClr val="151515"/>
                </a:solidFill>
                <a:latin typeface="Malgun Gothic" panose="020B0503020000020004" pitchFamily="50" charset="-127"/>
                <a:ea typeface="Malgun Gothic"/>
                <a:cs typeface="Malgun Gothic"/>
              </a:rPr>
              <a:t>ALGORITHMS</a:t>
            </a:r>
          </a:p>
        </p:txBody>
      </p:sp>
      <p:sp>
        <p:nvSpPr>
          <p:cNvPr id="3" name="직사각형 2">
            <a:extLst>
              <a:ext uri="{FF2B5EF4-FFF2-40B4-BE49-F238E27FC236}">
                <a16:creationId xmlns:a16="http://schemas.microsoft.com/office/drawing/2014/main" id="{49401A0D-5D65-4EF7-86FA-E5076C919BC3}"/>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latin typeface="Malgun Gothic"/>
                <a:ea typeface="Malgun Gothic"/>
                <a:cs typeface="Malgun Gothic"/>
              </a:defRPr>
            </a:defPPr>
          </a:lstStyle>
          <a:p>
            <a:pPr>
              <a:defRPr sz="3000" b="1">
                <a:solidFill>
                  <a:srgbClr val="151515"/>
                </a:solidFill>
                <a:latin typeface="Malgun Gothic"/>
                <a:ea typeface="Malgun Gothic"/>
                <a:cs typeface="Malgun Gothic"/>
              </a:defRPr>
            </a:pPr>
            <a:r>
              <a:rPr sz="3000" b="1">
                <a:solidFill>
                  <a:srgbClr val="151515"/>
                </a:solidFill>
                <a:latin typeface="Malgun Gothic" panose="020B0503020000020004" pitchFamily="50" charset="-127"/>
                <a:ea typeface="Malgun Gothic"/>
                <a:cs typeface="Malgun Gothic"/>
              </a:rPr>
              <a:t>문제 102  C 구현</a:t>
            </a:r>
          </a:p>
        </p:txBody>
      </p:sp>
      <p:sp>
        <p:nvSpPr>
          <p:cNvPr id="4" name="직사각형 3">
            <a:extLst>
              <a:ext uri="{FF2B5EF4-FFF2-40B4-BE49-F238E27FC236}">
                <a16:creationId xmlns:a16="http://schemas.microsoft.com/office/drawing/2014/main" id="{554FF7D5-6D32-498E-8F5C-4174451C0DE8}"/>
              </a:ext>
            </a:extLst>
          </p:cNvPr>
          <p:cNvSpPr>
            <a:spLocks noGrp="1"/>
          </p:cNvSpPr>
          <p:nvPr/>
        </p:nvSpPr>
        <p:spPr>
          <a:xfrm>
            <a:off x="609600" y="1381125"/>
            <a:ext cx="10972800" cy="19050"/>
          </a:xfrm>
          <a:prstGeom prst="rect">
            <a:avLst/>
          </a:prstGeom>
          <a:solidFill>
            <a:srgbClr val="151515"/>
          </a:solidFill>
          <a:ln w="0">
            <a:noFill/>
          </a:ln>
        </p:spPr>
      </p:sp>
      <p:sp>
        <p:nvSpPr>
          <p:cNvPr id="5" name="직사각형 4">
            <a:extLst>
              <a:ext uri="{FF2B5EF4-FFF2-40B4-BE49-F238E27FC236}">
                <a16:creationId xmlns:a16="http://schemas.microsoft.com/office/drawing/2014/main" id="{24232269-478A-4320-A02E-BF5D9BC4156A}"/>
              </a:ext>
            </a:extLst>
          </p:cNvPr>
          <p:cNvSpPr>
            <a:spLocks noGrp="1"/>
          </p:cNvSpPr>
          <p:nvPr/>
        </p:nvSpPr>
        <p:spPr>
          <a:xfrm>
            <a:off x="609600" y="1552575"/>
            <a:ext cx="10972800" cy="266700"/>
          </a:xfrm>
          <a:prstGeom prst="rect">
            <a:avLst/>
          </a:prstGeom>
          <a:noFill/>
          <a:ln w="0">
            <a:noFill/>
          </a:ln>
        </p:spPr>
        <p:txBody>
          <a:bodyPr/>
          <a:lstStyle>
            <a:defPPr>
              <a:defRPr sz="1500" b="0">
                <a:solidFill>
                  <a:srgbClr val="5B5B5B"/>
                </a:solidFill>
                <a:latin typeface="Malgun Gothic"/>
                <a:ea typeface="Malgun Gothic"/>
                <a:cs typeface="Malgun Gothic"/>
              </a:defRPr>
            </a:defPPr>
          </a:lstStyle>
          <a:p>
            <a:pPr>
              <a:defRPr sz="1500" b="0">
                <a:solidFill>
                  <a:srgbClr val="5B5B5B"/>
                </a:solidFill>
                <a:latin typeface="Malgun Gothic"/>
                <a:ea typeface="Malgun Gothic"/>
                <a:cs typeface="Malgun Gothic"/>
              </a:defRPr>
            </a:pPr>
            <a:r>
              <a:rPr sz="1500" b="0">
                <a:solidFill>
                  <a:srgbClr val="5B5B5B"/>
                </a:solidFill>
                <a:latin typeface="Malgun Gothic" panose="020B0503020000020004" pitchFamily="50" charset="-127"/>
                <a:ea typeface="Malgun Gothic"/>
                <a:cs typeface="Malgun Gothic"/>
              </a:rPr>
              <a:t>퀵 정렬</a:t>
            </a:r>
          </a:p>
        </p:txBody>
      </p:sp>
      <p:sp>
        <p:nvSpPr>
          <p:cNvPr id="6" name="직사각형 5">
            <a:extLst>
              <a:ext uri="{FF2B5EF4-FFF2-40B4-BE49-F238E27FC236}">
                <a16:creationId xmlns:a16="http://schemas.microsoft.com/office/drawing/2014/main" id="{30EB53CD-DB0E-4ACD-8A42-DE9F8D9A86D1}"/>
              </a:ext>
            </a:extLst>
          </p:cNvPr>
          <p:cNvSpPr>
            <a:spLocks noGrp="1"/>
          </p:cNvSpPr>
          <p:nvPr/>
        </p:nvSpPr>
        <p:spPr>
          <a:xfrm>
            <a:off x="609600" y="1981200"/>
            <a:ext cx="10972800" cy="3962400"/>
          </a:xfrm>
          <a:prstGeom prst="rect">
            <a:avLst/>
          </a:prstGeom>
          <a:solidFill>
            <a:srgbClr val="171717"/>
          </a:solidFill>
          <a:ln w="0">
            <a:noFill/>
          </a:ln>
        </p:spPr>
      </p:sp>
      <p:sp>
        <p:nvSpPr>
          <p:cNvPr id="7" name="code-number">
            <a:extLst>
              <a:ext uri="{FF2B5EF4-FFF2-40B4-BE49-F238E27FC236}">
                <a16:creationId xmlns:a16="http://schemas.microsoft.com/office/drawing/2014/main" id="{FAEEC476-B6F7-4D84-822D-EF16F6730A03}"/>
              </a:ext>
            </a:extLst>
          </p:cNvPr>
          <p:cNvSpPr>
            <a:spLocks noGrp="1"/>
          </p:cNvSpPr>
          <p:nvPr/>
        </p:nvSpPr>
        <p:spPr>
          <a:xfrm>
            <a:off x="771525" y="21145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01</a:t>
            </a:r>
          </a:p>
        </p:txBody>
      </p:sp>
      <p:sp>
        <p:nvSpPr>
          <p:cNvPr id="8" name="code-line">
            <a:extLst>
              <a:ext uri="{FF2B5EF4-FFF2-40B4-BE49-F238E27FC236}">
                <a16:creationId xmlns:a16="http://schemas.microsoft.com/office/drawing/2014/main" id="{A4069E7D-839A-4F6C-AD6E-8B9B3407E1B3}"/>
              </a:ext>
            </a:extLst>
          </p:cNvPr>
          <p:cNvSpPr>
            <a:spLocks noGrp="1"/>
          </p:cNvSpPr>
          <p:nvPr/>
        </p:nvSpPr>
        <p:spPr>
          <a:xfrm>
            <a:off x="1285875" y="21145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void quick_sort(int a[], int lo, int hi) {</a:t>
            </a:r>
          </a:p>
        </p:txBody>
      </p:sp>
      <p:sp>
        <p:nvSpPr>
          <p:cNvPr id="9" name="code-number">
            <a:extLst>
              <a:ext uri="{FF2B5EF4-FFF2-40B4-BE49-F238E27FC236}">
                <a16:creationId xmlns:a16="http://schemas.microsoft.com/office/drawing/2014/main" id="{5DCB8E04-9926-4C68-AEEF-33ECBBF20F7B}"/>
              </a:ext>
            </a:extLst>
          </p:cNvPr>
          <p:cNvSpPr>
            <a:spLocks noGrp="1"/>
          </p:cNvSpPr>
          <p:nvPr/>
        </p:nvSpPr>
        <p:spPr>
          <a:xfrm>
            <a:off x="771525" y="23241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02</a:t>
            </a:r>
          </a:p>
        </p:txBody>
      </p:sp>
      <p:sp>
        <p:nvSpPr>
          <p:cNvPr id="10" name="code-line">
            <a:extLst>
              <a:ext uri="{FF2B5EF4-FFF2-40B4-BE49-F238E27FC236}">
                <a16:creationId xmlns:a16="http://schemas.microsoft.com/office/drawing/2014/main" id="{A976BCBF-DB61-47BE-9912-48B37632CFAA}"/>
              </a:ext>
            </a:extLst>
          </p:cNvPr>
          <p:cNvSpPr>
            <a:spLocks noGrp="1"/>
          </p:cNvSpPr>
          <p:nvPr/>
        </p:nvSpPr>
        <p:spPr>
          <a:xfrm>
            <a:off x="1285875" y="23241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if (lo &gt;= hi) return;</a:t>
            </a:r>
          </a:p>
        </p:txBody>
      </p:sp>
      <p:sp>
        <p:nvSpPr>
          <p:cNvPr id="11" name="code-number">
            <a:extLst>
              <a:ext uri="{FF2B5EF4-FFF2-40B4-BE49-F238E27FC236}">
                <a16:creationId xmlns:a16="http://schemas.microsoft.com/office/drawing/2014/main" id="{BD45CBFE-CE4E-4239-9025-B194402FB73E}"/>
              </a:ext>
            </a:extLst>
          </p:cNvPr>
          <p:cNvSpPr>
            <a:spLocks noGrp="1"/>
          </p:cNvSpPr>
          <p:nvPr/>
        </p:nvSpPr>
        <p:spPr>
          <a:xfrm>
            <a:off x="771525" y="25336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03</a:t>
            </a:r>
          </a:p>
        </p:txBody>
      </p:sp>
      <p:sp>
        <p:nvSpPr>
          <p:cNvPr id="12" name="code-line">
            <a:extLst>
              <a:ext uri="{FF2B5EF4-FFF2-40B4-BE49-F238E27FC236}">
                <a16:creationId xmlns:a16="http://schemas.microsoft.com/office/drawing/2014/main" id="{3ECBCC72-218A-4AA6-83D1-C008F9E77E54}"/>
              </a:ext>
            </a:extLst>
          </p:cNvPr>
          <p:cNvSpPr>
            <a:spLocks noGrp="1"/>
          </p:cNvSpPr>
          <p:nvPr/>
        </p:nvSpPr>
        <p:spPr>
          <a:xfrm>
            <a:off x="1285875" y="25336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int p = partition(a, lo, hi);</a:t>
            </a:r>
          </a:p>
        </p:txBody>
      </p:sp>
      <p:sp>
        <p:nvSpPr>
          <p:cNvPr id="13" name="code-number">
            <a:extLst>
              <a:ext uri="{FF2B5EF4-FFF2-40B4-BE49-F238E27FC236}">
                <a16:creationId xmlns:a16="http://schemas.microsoft.com/office/drawing/2014/main" id="{B1FC7445-3C02-471C-9CAE-41F170FB6EC1}"/>
              </a:ext>
            </a:extLst>
          </p:cNvPr>
          <p:cNvSpPr>
            <a:spLocks noGrp="1"/>
          </p:cNvSpPr>
          <p:nvPr/>
        </p:nvSpPr>
        <p:spPr>
          <a:xfrm>
            <a:off x="771525" y="27432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04</a:t>
            </a:r>
          </a:p>
        </p:txBody>
      </p:sp>
      <p:sp>
        <p:nvSpPr>
          <p:cNvPr id="14" name="code-line">
            <a:extLst>
              <a:ext uri="{FF2B5EF4-FFF2-40B4-BE49-F238E27FC236}">
                <a16:creationId xmlns:a16="http://schemas.microsoft.com/office/drawing/2014/main" id="{1ADAEEA4-EA8F-462E-80B9-1B00B9F94C06}"/>
              </a:ext>
            </a:extLst>
          </p:cNvPr>
          <p:cNvSpPr>
            <a:spLocks noGrp="1"/>
          </p:cNvSpPr>
          <p:nvPr/>
        </p:nvSpPr>
        <p:spPr>
          <a:xfrm>
            <a:off x="1285875" y="27432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quick_sort(a, lo, p - 1);</a:t>
            </a:r>
          </a:p>
        </p:txBody>
      </p:sp>
      <p:sp>
        <p:nvSpPr>
          <p:cNvPr id="15" name="code-number">
            <a:extLst>
              <a:ext uri="{FF2B5EF4-FFF2-40B4-BE49-F238E27FC236}">
                <a16:creationId xmlns:a16="http://schemas.microsoft.com/office/drawing/2014/main" id="{138CB9B2-A1E8-4257-BBFC-B3977310184F}"/>
              </a:ext>
            </a:extLst>
          </p:cNvPr>
          <p:cNvSpPr>
            <a:spLocks noGrp="1"/>
          </p:cNvSpPr>
          <p:nvPr/>
        </p:nvSpPr>
        <p:spPr>
          <a:xfrm>
            <a:off x="771525" y="295275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05</a:t>
            </a:r>
          </a:p>
        </p:txBody>
      </p:sp>
      <p:sp>
        <p:nvSpPr>
          <p:cNvPr id="16" name="code-line">
            <a:extLst>
              <a:ext uri="{FF2B5EF4-FFF2-40B4-BE49-F238E27FC236}">
                <a16:creationId xmlns:a16="http://schemas.microsoft.com/office/drawing/2014/main" id="{4E3FD061-B49F-4E86-BC8C-A896F6D7E567}"/>
              </a:ext>
            </a:extLst>
          </p:cNvPr>
          <p:cNvSpPr>
            <a:spLocks noGrp="1"/>
          </p:cNvSpPr>
          <p:nvPr/>
        </p:nvSpPr>
        <p:spPr>
          <a:xfrm>
            <a:off x="1285875" y="295275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    quick_sort(a, p + 1, hi);</a:t>
            </a:r>
          </a:p>
        </p:txBody>
      </p:sp>
      <p:sp>
        <p:nvSpPr>
          <p:cNvPr id="17" name="code-number">
            <a:extLst>
              <a:ext uri="{FF2B5EF4-FFF2-40B4-BE49-F238E27FC236}">
                <a16:creationId xmlns:a16="http://schemas.microsoft.com/office/drawing/2014/main" id="{9F294A60-A455-4575-BEE1-DCC7F78B245E}"/>
              </a:ext>
            </a:extLst>
          </p:cNvPr>
          <p:cNvSpPr>
            <a:spLocks noGrp="1"/>
          </p:cNvSpPr>
          <p:nvPr/>
        </p:nvSpPr>
        <p:spPr>
          <a:xfrm>
            <a:off x="771525" y="3162300"/>
            <a:ext cx="361950" cy="238125"/>
          </a:xfrm>
          <a:prstGeom prst="rect">
            <a:avLst/>
          </a:prstGeom>
          <a:noFill/>
          <a:ln w="0">
            <a:noFill/>
          </a:ln>
        </p:spPr>
        <p:txBody>
          <a:bodyPr/>
          <a:lstStyle>
            <a:defPPr>
              <a:defRPr sz="1200" b="0">
                <a:solidFill>
                  <a:srgbClr val="929292"/>
                </a:solidFill>
                <a:latin typeface="Malgun Gothic"/>
                <a:ea typeface="Malgun Gothic"/>
                <a:cs typeface="Malgun Gothic"/>
              </a:defRPr>
            </a:defPPr>
          </a:lstStyle>
          <a:p>
            <a:pPr>
              <a:defRPr sz="1200" b="0">
                <a:solidFill>
                  <a:srgbClr val="929292"/>
                </a:solidFill>
                <a:latin typeface="Malgun Gothic"/>
                <a:ea typeface="Malgun Gothic"/>
                <a:cs typeface="Malgun Gothic"/>
              </a:defRPr>
            </a:pPr>
            <a:r>
              <a:rPr sz="1200" b="0">
                <a:solidFill>
                  <a:srgbClr val="929292"/>
                </a:solidFill>
                <a:latin typeface="Consolas" panose="020B0609020204030204" pitchFamily="49" charset="0"/>
                <a:ea typeface="Malgun Gothic"/>
                <a:cs typeface="Malgun Gothic"/>
              </a:rPr>
              <a:t>06</a:t>
            </a:r>
          </a:p>
        </p:txBody>
      </p:sp>
      <p:sp>
        <p:nvSpPr>
          <p:cNvPr id="18" name="code-line">
            <a:extLst>
              <a:ext uri="{FF2B5EF4-FFF2-40B4-BE49-F238E27FC236}">
                <a16:creationId xmlns:a16="http://schemas.microsoft.com/office/drawing/2014/main" id="{8EF6449B-31A7-4F5C-8A49-103ECFBB738F}"/>
              </a:ext>
            </a:extLst>
          </p:cNvPr>
          <p:cNvSpPr>
            <a:spLocks noGrp="1"/>
          </p:cNvSpPr>
          <p:nvPr/>
        </p:nvSpPr>
        <p:spPr>
          <a:xfrm>
            <a:off x="1285875" y="3162300"/>
            <a:ext cx="10115550" cy="247650"/>
          </a:xfrm>
          <a:prstGeom prst="rect">
            <a:avLst/>
          </a:prstGeom>
          <a:noFill/>
          <a:ln w="0">
            <a:noFill/>
          </a:ln>
        </p:spPr>
        <p:txBody>
          <a:bodyPr/>
          <a:lstStyle>
            <a:defPPr>
              <a:defRPr sz="1575" b="0">
                <a:solidFill>
                  <a:srgbClr val="FFFFFF"/>
                </a:solidFill>
                <a:latin typeface="Malgun Gothic"/>
                <a:ea typeface="Malgun Gothic"/>
                <a:cs typeface="Malgun Gothic"/>
              </a:defRPr>
            </a:defPPr>
          </a:lstStyle>
          <a:p>
            <a:pPr>
              <a:defRPr sz="1575" b="0">
                <a:solidFill>
                  <a:srgbClr val="FFFFFF"/>
                </a:solidFill>
                <a:latin typeface="Malgun Gothic"/>
                <a:ea typeface="Malgun Gothic"/>
                <a:cs typeface="Malgun Gothic"/>
              </a:defRPr>
            </a:pPr>
            <a:r>
              <a:rPr sz="1575" b="0">
                <a:solidFill>
                  <a:srgbClr val="FFFFFF"/>
                </a:solidFill>
                <a:latin typeface="Consolas" panose="020B0609020204030204" pitchFamily="49" charset="0"/>
                <a:ea typeface="Malgun Gothic"/>
                <a:cs typeface="Malgun Gothic"/>
              </a:rPr>
              <a:t>}</a:t>
            </a:r>
          </a:p>
        </p:txBody>
      </p:sp>
      <p:sp>
        <p:nvSpPr>
          <p:cNvPr id="19" name="직사각형 18">
            <a:extLst>
              <a:ext uri="{FF2B5EF4-FFF2-40B4-BE49-F238E27FC236}">
                <a16:creationId xmlns:a16="http://schemas.microsoft.com/office/drawing/2014/main" id="{6B22A6C1-AF65-47E6-A742-CBAB6E5A8B08}"/>
              </a:ext>
            </a:extLst>
          </p:cNvPr>
          <p:cNvSpPr>
            <a:spLocks noGrp="1"/>
          </p:cNvSpPr>
          <p:nvPr/>
        </p:nvSpPr>
        <p:spPr>
          <a:xfrm>
            <a:off x="609600" y="6048375"/>
            <a:ext cx="10972800" cy="238125"/>
          </a:xfrm>
          <a:prstGeom prst="rect">
            <a:avLst/>
          </a:prstGeom>
          <a:noFill/>
          <a:ln w="0">
            <a:noFill/>
          </a:ln>
        </p:spPr>
        <p:txBody>
          <a:bodyPr/>
          <a:lstStyle>
            <a:defPPr>
              <a:defRPr sz="1200" b="0">
                <a:solidFill>
                  <a:srgbClr val="5B5B5B"/>
                </a:solidFill>
                <a:latin typeface="Malgun Gothic"/>
                <a:ea typeface="Malgun Gothic"/>
                <a:cs typeface="Malgun Gothic"/>
              </a:defRPr>
            </a:defPPr>
          </a:lstStyle>
          <a:p>
            <a:pPr>
              <a:defRPr sz="1200" b="0">
                <a:solidFill>
                  <a:srgbClr val="5B5B5B"/>
                </a:solidFill>
                <a:latin typeface="Malgun Gothic"/>
                <a:ea typeface="Malgun Gothic"/>
                <a:cs typeface="Malgun Gothic"/>
              </a:defRPr>
            </a:pPr>
            <a:r>
              <a:rPr sz="1200" b="0">
                <a:solidFill>
                  <a:srgbClr val="5B5B5B"/>
                </a:solidFill>
                <a:latin typeface="Malgun Gothic" panose="020B0503020000020004" pitchFamily="50" charset="-127"/>
                <a:ea typeface="Malgun Gothic"/>
                <a:cs typeface="Malgun Gothic"/>
              </a:rPr>
              <a:t>평균 O(n log n), 최악 O(n²). 가운데 인덱스의 값이 중앙값이라는 보장은 없다.</a:t>
            </a:r>
          </a:p>
        </p:txBody>
      </p:sp>
      <p:sp>
        <p:nvSpPr>
          <p:cNvPr id="20" name="직사각형 19">
            <a:extLst>
              <a:ext uri="{FF2B5EF4-FFF2-40B4-BE49-F238E27FC236}">
                <a16:creationId xmlns:a16="http://schemas.microsoft.com/office/drawing/2014/main" id="{82886004-ED53-43A1-9C65-1F9B0529103E}"/>
              </a:ext>
            </a:extLst>
          </p:cNvPr>
          <p:cNvSpPr>
            <a:spLocks noGrp="1"/>
          </p:cNvSpPr>
          <p:nvPr/>
        </p:nvSpPr>
        <p:spPr>
          <a:xfrm>
            <a:off x="609600" y="6600825"/>
            <a:ext cx="9906000" cy="190500"/>
          </a:xfrm>
          <a:prstGeom prst="rect">
            <a:avLst/>
          </a:prstGeom>
          <a:noFill/>
          <a:ln w="0">
            <a:noFill/>
          </a:ln>
        </p:spPr>
        <p:txBody>
          <a:bodyPr/>
          <a:lstStyle>
            <a:defPPr>
              <a:defRPr sz="825" b="0">
                <a:solidFill>
                  <a:srgbClr val="151515"/>
                </a:solidFill>
                <a:latin typeface="Malgun Gothic"/>
                <a:ea typeface="Malgun Gothic"/>
                <a:cs typeface="Malgun Gothic"/>
              </a:defRPr>
            </a:defPPr>
          </a:lstStyle>
          <a:p>
            <a:pPr>
              <a:defRPr sz="825" b="0">
                <a:solidFill>
                  <a:srgbClr val="151515"/>
                </a:solidFill>
                <a:latin typeface="Malgun Gothic"/>
                <a:ea typeface="Malgun Gothic"/>
                <a:cs typeface="Malgun Gothic"/>
              </a:defRPr>
            </a:pPr>
            <a:r>
              <a:rPr sz="825" b="0">
                <a:solidFill>
                  <a:srgbClr val="151515"/>
                </a:solidFill>
                <a:latin typeface="Consolas" panose="020B0609020204030204" pitchFamily="49" charset="0"/>
                <a:ea typeface="Malgun Gothic"/>
                <a:cs typeface="Malgun Gothic"/>
              </a:rPr>
              <a:t>04 / DIVIDE AND CONQUER · EXERCISES</a:t>
            </a:r>
          </a:p>
        </p:txBody>
      </p:sp>
      <p:sp>
        <p:nvSpPr>
          <p:cNvPr id="21" name="직사각형 20">
            <a:extLst>
              <a:ext uri="{FF2B5EF4-FFF2-40B4-BE49-F238E27FC236}">
                <a16:creationId xmlns:a16="http://schemas.microsoft.com/office/drawing/2014/main" id="{CD1FF901-0BEF-4826-9FE0-2E9ECCA8628C}"/>
              </a:ext>
            </a:extLst>
          </p:cNvPr>
          <p:cNvSpPr>
            <a:spLocks noGrp="1"/>
          </p:cNvSpPr>
          <p:nvPr/>
        </p:nvSpPr>
        <p:spPr>
          <a:xfrm>
            <a:off x="11049000" y="6562725"/>
            <a:ext cx="533400" cy="238125"/>
          </a:xfrm>
          <a:prstGeom prst="rect">
            <a:avLst/>
          </a:prstGeom>
          <a:noFill/>
          <a:ln w="0">
            <a:noFill/>
          </a:ln>
        </p:spPr>
        <p:txBody>
          <a:bodyPr/>
          <a:lstStyle>
            <a:defPPr>
              <a:defRPr sz="1050" b="0">
                <a:solidFill>
                  <a:srgbClr val="151515"/>
                </a:solidFill>
                <a:latin typeface="Malgun Gothic"/>
                <a:ea typeface="Malgun Gothic"/>
                <a:cs typeface="Malgun Gothic"/>
              </a:defRPr>
            </a:defPPr>
          </a:lstStyle>
          <a:p>
            <a:pPr>
              <a:defRPr sz="1050" b="0">
                <a:solidFill>
                  <a:srgbClr val="151515"/>
                </a:solidFill>
                <a:latin typeface="Malgun Gothic"/>
                <a:ea typeface="Malgun Gothic"/>
                <a:cs typeface="Malgun Gothic"/>
              </a:defRPr>
            </a:pPr>
            <a:r>
              <a:rPr sz="1050" b="0">
                <a:solidFill>
                  <a:srgbClr val="151515"/>
                </a:solidFill>
                <a:latin typeface="Consolas" panose="020B0609020204030204" pitchFamily="49" charset="0"/>
                <a:ea typeface="Malgun Gothic"/>
                <a:cs typeface="Malgun Gothic"/>
              </a:rPr>
              <a:t>228</a:t>
            </a:r>
          </a:p>
        </p:txBody>
      </p:sp>
    </p:spTree>
    <p:extLst>
      <p:ext uri="{BB962C8B-B14F-4D97-AF65-F5344CB8AC3E}">
        <p14:creationId xmlns:p14="http://schemas.microsoft.com/office/powerpoint/2010/main" val="167488855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29654</Words>
  <Application>Microsoft Office PowerPoint</Application>
  <DocSecurity>0</DocSecurity>
  <PresentationFormat>와이드스크린</PresentationFormat>
  <Paragraphs>4211</Paragraphs>
  <Slides>228</Slides>
  <Notes>228</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228</vt:i4>
      </vt:variant>
    </vt:vector>
  </HeadingPairs>
  <TitlesOfParts>
    <vt:vector size="233"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1</cp:revision>
  <dcterms:created xsi:type="dcterms:W3CDTF">2026-09-19T14:52:50Z</dcterms:created>
  <dcterms:modified xsi:type="dcterms:W3CDTF">2026-10-11T09:04:51Z</dcterms:modified>
</cp:coreProperties>
</file>