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552" r:id="rId30"/>
    <p:sldId id="553" r:id="rId31"/>
    <p:sldId id="550" r:id="rId32"/>
    <p:sldId id="551" r:id="rId33"/>
    <p:sldId id="548" r:id="rId34"/>
    <p:sldId id="549" r:id="rId35"/>
    <p:sldId id="546" r:id="rId36"/>
    <p:sldId id="547" r:id="rId37"/>
    <p:sldId id="544" r:id="rId38"/>
    <p:sldId id="545" r:id="rId39"/>
    <p:sldId id="542" r:id="rId40"/>
    <p:sldId id="543" r:id="rId41"/>
    <p:sldId id="540" r:id="rId42"/>
    <p:sldId id="541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484" r:id="rId66"/>
    <p:sldId id="485" r:id="rId67"/>
    <p:sldId id="486" r:id="rId68"/>
    <p:sldId id="487" r:id="rId69"/>
    <p:sldId id="488" r:id="rId70"/>
    <p:sldId id="489" r:id="rId71"/>
    <p:sldId id="490" r:id="rId72"/>
    <p:sldId id="491" r:id="rId73"/>
    <p:sldId id="492" r:id="rId74"/>
    <p:sldId id="493" r:id="rId75"/>
    <p:sldId id="494" r:id="rId76"/>
    <p:sldId id="495" r:id="rId77"/>
    <p:sldId id="496" r:id="rId78"/>
    <p:sldId id="497" r:id="rId79"/>
    <p:sldId id="498" r:id="rId80"/>
    <p:sldId id="499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538" r:id="rId104"/>
    <p:sldId id="539" r:id="rId105"/>
    <p:sldId id="536" r:id="rId106"/>
    <p:sldId id="537" r:id="rId107"/>
    <p:sldId id="534" r:id="rId108"/>
    <p:sldId id="535" r:id="rId109"/>
    <p:sldId id="532" r:id="rId110"/>
    <p:sldId id="533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500" r:id="rId130"/>
    <p:sldId id="501" r:id="rId131"/>
    <p:sldId id="502" r:id="rId132"/>
    <p:sldId id="503" r:id="rId133"/>
    <p:sldId id="504" r:id="rId134"/>
    <p:sldId id="505" r:id="rId135"/>
    <p:sldId id="506" r:id="rId136"/>
    <p:sldId id="507" r:id="rId137"/>
    <p:sldId id="508" r:id="rId138"/>
    <p:sldId id="509" r:id="rId139"/>
    <p:sldId id="510" r:id="rId140"/>
    <p:sldId id="511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530" r:id="rId154"/>
    <p:sldId id="531" r:id="rId155"/>
    <p:sldId id="528" r:id="rId156"/>
    <p:sldId id="529" r:id="rId157"/>
    <p:sldId id="526" r:id="rId158"/>
    <p:sldId id="527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512" r:id="rId170"/>
    <p:sldId id="513" r:id="rId171"/>
    <p:sldId id="514" r:id="rId172"/>
    <p:sldId id="515" r:id="rId173"/>
    <p:sldId id="516" r:id="rId174"/>
    <p:sldId id="517" r:id="rId175"/>
    <p:sldId id="518" r:id="rId176"/>
    <p:sldId id="519" r:id="rId177"/>
    <p:sldId id="520" r:id="rId178"/>
    <p:sldId id="521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522" r:id="rId198"/>
    <p:sldId id="523" r:id="rId199"/>
    <p:sldId id="524" r:id="rId200"/>
    <p:sldId id="525" r:id="rId201"/>
    <p:sldId id="456" r:id="rId202"/>
    <p:sldId id="457" r:id="rId203"/>
    <p:sldId id="458" r:id="rId204"/>
    <p:sldId id="459" r:id="rId205"/>
    <p:sldId id="476" r:id="rId206"/>
    <p:sldId id="477" r:id="rId207"/>
    <p:sldId id="478" r:id="rId208"/>
    <p:sldId id="479" r:id="rId209"/>
    <p:sldId id="480" r:id="rId210"/>
    <p:sldId id="481" r:id="rId211"/>
    <p:sldId id="482" r:id="rId212"/>
    <p:sldId id="483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notesMaster" Target="notesMasters/notes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presProps" Target="pres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viewProps" Target="viewProp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3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분할→부분 문제 해결→결합입니다</a:t>
            </a:r>
            <a:r>
              <a:rPr lang="en-US" altLang="ko-KR"/>
              <a:t>.</a:t>
            </a:r>
          </a:p>
          <a:p>
            <a:r>
              <a:rPr lang="ko-KR" altLang="en-US"/>
              <a:t>작은 문제를 해결한 결과를 이용해 원래 문제의 답을 구성한다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3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두 부분을 각각 정렬한 뒤 병합한다입니다</a:t>
            </a:r>
            <a:r>
              <a:rPr lang="en-US" altLang="ko-KR"/>
              <a:t>.</a:t>
            </a:r>
          </a:p>
          <a:p>
            <a:r>
              <a:rPr lang="ko-KR" altLang="en-US"/>
              <a:t>병합은 정렬된 두 배열을 입력으로 받는다</a:t>
            </a:r>
            <a:r>
              <a:rPr lang="en-US" altLang="ko-KR"/>
              <a:t>. </a:t>
            </a:r>
            <a:r>
              <a:rPr lang="ko-KR" altLang="en-US"/>
              <a:t>중복과 홀수 길이도 처리할 수 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5</a:t>
            </a:r>
            <a:r>
              <a:rPr lang="ko-KR" altLang="en-US"/>
              <a:t>번</a:t>
            </a:r>
            <a:r>
              <a:rPr lang="en-US" altLang="ko-KR"/>
              <a:t>, p+q−1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한쪽이 먼저 소진되면 남은 원소는 비교 없이 복사한다</a:t>
            </a:r>
            <a:r>
              <a:rPr lang="en-US" altLang="ko-KR"/>
              <a:t>. </a:t>
            </a:r>
            <a:r>
              <a:rPr lang="ko-KR" altLang="en-US"/>
              <a:t>마지막 하나를 남길 때까지 비교할 수 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5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왼쪽 부분의 원소입니다</a:t>
            </a:r>
            <a:r>
              <a:rPr lang="en-US" altLang="ko-KR"/>
              <a:t>.</a:t>
            </a:r>
          </a:p>
          <a:p>
            <a:r>
              <a:rPr lang="ko-KR" altLang="en-US"/>
              <a:t>원래 배열에서 왼쪽 부분이 앞에 있으므로 동등 키의 상대 순서를 보존한다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5</a:t>
            </a:r>
            <a:r>
              <a:rPr lang="ko-KR" altLang="en-US"/>
              <a:t>번</a:t>
            </a:r>
            <a:r>
              <a:rPr lang="en-US" altLang="ko-KR"/>
              <a:t>, T(n)=2T(n/2)+Θ(n)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두 부분을 모두 재귀적으로 정렬하고 전체 길이에 비례해 병합한다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3</a:t>
            </a:r>
            <a:r>
              <a:rPr lang="ko-KR" altLang="en-US"/>
              <a:t>번</a:t>
            </a:r>
            <a:r>
              <a:rPr lang="en-US" altLang="ko-KR"/>
              <a:t>, Θ(n log n)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모든 재귀 단계에서 각 원소를 병합하므로 최선 입력에서도 같은 점근적 비용이다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5</a:t>
            </a:r>
            <a:r>
              <a:rPr lang="ko-KR" altLang="en-US"/>
              <a:t>번</a:t>
            </a:r>
            <a:r>
              <a:rPr lang="en-US" altLang="ko-KR"/>
              <a:t>, Θ(n)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한 번의 비교마다 원소 하나가 확정된다</a:t>
            </a:r>
            <a:r>
              <a:rPr lang="en-US" altLang="ko-KR"/>
              <a:t>. </a:t>
            </a:r>
            <a:r>
              <a:rPr lang="ko-KR" altLang="en-US"/>
              <a:t>최악 </a:t>
            </a:r>
            <a:r>
              <a:rPr lang="en-US" altLang="ko-KR"/>
              <a:t>n−1</a:t>
            </a:r>
            <a:r>
              <a:rPr lang="ko-KR" altLang="en-US"/>
              <a:t>번 비교하므로 </a:t>
            </a:r>
            <a:r>
              <a:rPr lang="en-US" altLang="ko-KR"/>
              <a:t>Θ(n)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5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이미 정렬되어 있고 더 나눌 필요가 없다입니다</a:t>
            </a:r>
            <a:r>
              <a:rPr lang="en-US" altLang="ko-KR"/>
              <a:t>.</a:t>
            </a:r>
          </a:p>
          <a:p>
            <a:r>
              <a:rPr lang="ko-KR" altLang="en-US"/>
              <a:t>빈 배열도 정렬된 배열로 취급하면 경계 처리가 자연스럽다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가장 큰 원소 하나입니다</a:t>
            </a:r>
            <a:r>
              <a:rPr lang="en-US" altLang="ko-KR"/>
              <a:t>.</a:t>
            </a:r>
          </a:p>
          <a:p>
            <a:r>
              <a:rPr lang="ko-KR" altLang="en-US"/>
              <a:t>빈 구간을 허용하지 않으므로 </a:t>
            </a:r>
            <a:r>
              <a:rPr lang="en-US" altLang="ko-KR"/>
              <a:t>0</a:t>
            </a:r>
            <a:r>
              <a:rPr lang="ko-KR" altLang="en-US"/>
              <a:t>으로 초기화하면 잘못된 답이 될 수 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5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왼쪽 내부</a:t>
            </a:r>
            <a:r>
              <a:rPr lang="en-US" altLang="ko-KR"/>
              <a:t>·</a:t>
            </a:r>
            <a:r>
              <a:rPr lang="ko-KR" altLang="en-US"/>
              <a:t>오른쪽 내부</a:t>
            </a:r>
            <a:r>
              <a:rPr lang="en-US" altLang="ko-KR"/>
              <a:t>·</a:t>
            </a:r>
            <a:r>
              <a:rPr lang="ko-KR" altLang="en-US"/>
              <a:t>경계를 가로지르는 구간입니다</a:t>
            </a:r>
            <a:r>
              <a:rPr lang="en-US" altLang="ko-KR"/>
              <a:t>.</a:t>
            </a:r>
          </a:p>
          <a:p>
            <a:r>
              <a:rPr lang="ko-KR" altLang="en-US"/>
              <a:t>모든 연속 구간은 이 세 경우 중 하나에 속한다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4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왼쪽 최대 접미 합</a:t>
            </a:r>
            <a:r>
              <a:rPr lang="en-US" altLang="ko-KR"/>
              <a:t>+</a:t>
            </a:r>
            <a:r>
              <a:rPr lang="ko-KR" altLang="en-US"/>
              <a:t>오른쪽 최대 접두 합입니다</a:t>
            </a:r>
            <a:r>
              <a:rPr lang="en-US" altLang="ko-KR"/>
              <a:t>.</a:t>
            </a:r>
          </a:p>
          <a:p>
            <a:r>
              <a:rPr lang="ko-KR" altLang="en-US"/>
              <a:t>경계를 반드시 포함해야 하므로 왼쪽 끝부분과 오른쪽 앞부분이 이어져야 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4</a:t>
            </a:r>
            <a:r>
              <a:rPr lang="ko-KR" altLang="en-US"/>
              <a:t>번</a:t>
            </a:r>
            <a:r>
              <a:rPr lang="en-US" altLang="ko-KR"/>
              <a:t>, mid</a:t>
            </a:r>
            <a:r>
              <a:rPr lang="ko-KR" altLang="en-US"/>
              <a:t>와 </a:t>
            </a:r>
            <a:r>
              <a:rPr lang="en-US" altLang="ko-KR"/>
              <a:t>mid+1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왼쪽 부분은 </a:t>
            </a:r>
            <a:r>
              <a:rPr lang="en-US" altLang="ko-KR"/>
              <a:t>mid</a:t>
            </a:r>
            <a:r>
              <a:rPr lang="ko-KR" altLang="en-US"/>
              <a:t>를 포함하고 오른쪽 부분은 </a:t>
            </a:r>
            <a:r>
              <a:rPr lang="en-US" altLang="ko-KR"/>
              <a:t>mid+1</a:t>
            </a:r>
            <a:r>
              <a:rPr lang="ko-KR" altLang="en-US"/>
              <a:t>에서 시작한다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, Θ(n log n)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두 절반의 답과 선형 결합으로 </a:t>
            </a:r>
            <a:r>
              <a:rPr lang="en-US" altLang="ko-KR"/>
              <a:t>T(n)=2T(n/2)+Θ(n)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5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선택한 인덱스가 연속이어야 한다입니다</a:t>
            </a:r>
            <a:r>
              <a:rPr lang="en-US" altLang="ko-KR"/>
              <a:t>.</a:t>
            </a:r>
          </a:p>
          <a:p>
            <a:r>
              <a:rPr lang="ko-KR" altLang="en-US"/>
              <a:t>중간 음수도 구간의 일부로 포함해야 한다</a:t>
            </a:r>
            <a:r>
              <a:rPr lang="en-US" altLang="ko-KR"/>
              <a:t>. </a:t>
            </a:r>
            <a:r>
              <a:rPr lang="ko-KR" altLang="en-US"/>
              <a:t>양수만 골라 더하는 문제와 다르다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</a:t>
            </a:r>
            <a:r>
              <a:rPr lang="ko-KR" altLang="en-US"/>
              <a:t>퀵 정렬에서 </a:t>
            </a:r>
            <a:r>
              <a:rPr lang="en-US" altLang="ko-KR"/>
              <a:t>a=[8,4,6,3,7,1]</a:t>
            </a:r>
            <a:r>
              <a:rPr lang="ko-KR" altLang="en-US"/>
              <a:t>의 가운데 값 </a:t>
            </a:r>
            <a:r>
              <a:rPr lang="en-US" altLang="ko-KR"/>
              <a:t>6</a:t>
            </a:r>
            <a:r>
              <a:rPr lang="ko-KR" altLang="en-US"/>
              <a:t>을 피벗으로 정한다</a:t>
            </a:r>
            <a:r>
              <a:rPr lang="en-US" altLang="ko-KR"/>
              <a:t>. </a:t>
            </a:r>
            <a:r>
              <a:rPr lang="ko-KR" altLang="en-US"/>
              <a:t>분할 전에 피벗과 맨 끝 값을 교환한 직후의 배열은</a:t>
            </a:r>
            <a:r>
              <a:rPr lang="en-US" altLang="ko-KR"/>
              <a:t>? </a:t>
            </a:r>
            <a:r>
              <a:rPr lang="ko-KR" altLang="en-US"/>
              <a:t>보기 중 하나를 골라 보세요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90023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1</a:t>
            </a:r>
            <a:r>
              <a:rPr lang="ko-KR" altLang="en-US"/>
              <a:t>번 </a:t>
            </a:r>
            <a:r>
              <a:rPr lang="en-US" altLang="ko-KR"/>
              <a:t>[8,4,1,3,7,6] </a:t>
            </a:r>
            <a:r>
              <a:rPr lang="ko-KR" altLang="en-US"/>
              <a:t>가운데 인덱스는 </a:t>
            </a:r>
            <a:r>
              <a:rPr lang="en-US" altLang="ko-KR"/>
              <a:t>2, </a:t>
            </a:r>
            <a:r>
              <a:rPr lang="ko-KR" altLang="en-US"/>
              <a:t>맨 끝 인덱스는 </a:t>
            </a:r>
            <a:r>
              <a:rPr lang="en-US" altLang="ko-KR"/>
              <a:t>5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두 칸의 값 </a:t>
            </a:r>
            <a:r>
              <a:rPr lang="en-US" altLang="ko-KR"/>
              <a:t>6</a:t>
            </a:r>
            <a:r>
              <a:rPr lang="ko-KR" altLang="en-US"/>
              <a:t>과 </a:t>
            </a:r>
            <a:r>
              <a:rPr lang="en-US" altLang="ko-KR"/>
              <a:t>1</a:t>
            </a:r>
            <a:r>
              <a:rPr lang="ko-KR" altLang="en-US"/>
              <a:t>만 교환하므로 </a:t>
            </a:r>
            <a:r>
              <a:rPr lang="en-US" altLang="ko-KR"/>
              <a:t>[8,4,1,3,7,6]</a:t>
            </a:r>
            <a:r>
              <a:rPr lang="ko-KR" altLang="en-US"/>
              <a:t>이 된다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9283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a=[2,7,1,6,5]</a:t>
            </a:r>
            <a:r>
              <a:rPr lang="ko-KR" altLang="en-US"/>
              <a:t>에서 피벗은 맨 끝의 </a:t>
            </a:r>
            <a:r>
              <a:rPr lang="en-US" altLang="ko-KR"/>
              <a:t>5, L=0, R=3</a:t>
            </a:r>
            <a:r>
              <a:rPr lang="ko-KR" altLang="en-US"/>
              <a:t>이다</a:t>
            </a:r>
            <a:r>
              <a:rPr lang="en-US" altLang="ko-KR"/>
              <a:t>. L≤R</a:t>
            </a:r>
            <a:r>
              <a:rPr lang="ko-KR" altLang="en-US"/>
              <a:t>이고 </a:t>
            </a:r>
            <a:r>
              <a:rPr lang="en-US" altLang="ko-KR"/>
              <a:t>a[L]≤5</a:t>
            </a:r>
            <a:r>
              <a:rPr lang="ko-KR" altLang="en-US"/>
              <a:t>인 동안 </a:t>
            </a:r>
            <a:r>
              <a:rPr lang="en-US" altLang="ko-KR"/>
              <a:t>L</a:t>
            </a:r>
            <a:r>
              <a:rPr lang="ko-KR" altLang="en-US"/>
              <a:t>을 늘린 뒤</a:t>
            </a:r>
            <a:r>
              <a:rPr lang="en-US" altLang="ko-KR"/>
              <a:t>, L≤R</a:t>
            </a:r>
            <a:r>
              <a:rPr lang="ko-KR" altLang="en-US"/>
              <a:t>이고 </a:t>
            </a:r>
            <a:r>
              <a:rPr lang="en-US" altLang="ko-KR"/>
              <a:t>a[R]&gt;5</a:t>
            </a:r>
            <a:r>
              <a:rPr lang="ko-KR" altLang="en-US"/>
              <a:t>인 동안 </a:t>
            </a:r>
            <a:r>
              <a:rPr lang="en-US" altLang="ko-KR"/>
              <a:t>R</a:t>
            </a:r>
            <a:r>
              <a:rPr lang="ko-KR" altLang="en-US"/>
              <a:t>을 줄인다</a:t>
            </a:r>
            <a:r>
              <a:rPr lang="en-US" altLang="ko-KR"/>
              <a:t>. </a:t>
            </a:r>
            <a:r>
              <a:rPr lang="ko-KR" altLang="en-US"/>
              <a:t>멈춘 </a:t>
            </a:r>
            <a:r>
              <a:rPr lang="en-US" altLang="ko-KR"/>
              <a:t>L, R</a:t>
            </a:r>
            <a:r>
              <a:rPr lang="ko-KR" altLang="en-US"/>
              <a:t>은</a:t>
            </a:r>
            <a:r>
              <a:rPr lang="en-US" altLang="ko-KR"/>
              <a:t>? </a:t>
            </a:r>
            <a:r>
              <a:rPr lang="ko-KR" altLang="en-US"/>
              <a:t>보기 중 하나를 골라 보세요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02354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2</a:t>
            </a:r>
            <a:r>
              <a:rPr lang="ko-KR" altLang="en-US"/>
              <a:t>번 </a:t>
            </a:r>
            <a:r>
              <a:rPr lang="en-US" altLang="ko-KR"/>
              <a:t>L=1, R=2 L</a:t>
            </a:r>
            <a:r>
              <a:rPr lang="ko-KR" altLang="en-US"/>
              <a:t>은 </a:t>
            </a:r>
            <a:r>
              <a:rPr lang="en-US" altLang="ko-KR"/>
              <a:t>2</a:t>
            </a:r>
            <a:r>
              <a:rPr lang="ko-KR" altLang="en-US"/>
              <a:t>를 지나 </a:t>
            </a:r>
            <a:r>
              <a:rPr lang="en-US" altLang="ko-KR"/>
              <a:t>7</a:t>
            </a:r>
            <a:r>
              <a:rPr lang="ko-KR" altLang="en-US"/>
              <a:t>에서 멈춰 </a:t>
            </a:r>
            <a:r>
              <a:rPr lang="en-US" altLang="ko-KR"/>
              <a:t>1</a:t>
            </a:r>
            <a:r>
              <a:rPr lang="ko-KR" altLang="en-US"/>
              <a:t>이다</a:t>
            </a:r>
            <a:r>
              <a:rPr lang="en-US" altLang="ko-KR"/>
              <a:t>. R</a:t>
            </a:r>
            <a:r>
              <a:rPr lang="ko-KR" altLang="en-US"/>
              <a:t>은 </a:t>
            </a:r>
            <a:r>
              <a:rPr lang="en-US" altLang="ko-KR"/>
              <a:t>6</a:t>
            </a:r>
            <a:r>
              <a:rPr lang="ko-KR" altLang="en-US"/>
              <a:t>을 지나 </a:t>
            </a:r>
            <a:r>
              <a:rPr lang="en-US" altLang="ko-KR"/>
              <a:t>1</a:t>
            </a:r>
            <a:r>
              <a:rPr lang="ko-KR" altLang="en-US"/>
              <a:t>에서 멈춰 </a:t>
            </a:r>
            <a:r>
              <a:rPr lang="en-US" altLang="ko-KR"/>
              <a:t>2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60852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a=[2,7,1,6,5]</a:t>
            </a:r>
            <a:r>
              <a:rPr lang="ko-KR" altLang="en-US"/>
              <a:t>에서 피벗은 </a:t>
            </a:r>
            <a:r>
              <a:rPr lang="en-US" altLang="ko-KR"/>
              <a:t>5</a:t>
            </a:r>
            <a:r>
              <a:rPr lang="ko-KR" altLang="en-US"/>
              <a:t>이고 </a:t>
            </a:r>
            <a:r>
              <a:rPr lang="en-US" altLang="ko-KR"/>
              <a:t>L=1, R=2</a:t>
            </a:r>
            <a:r>
              <a:rPr lang="ko-KR" altLang="en-US"/>
              <a:t>에서 멈췄다</a:t>
            </a:r>
            <a:r>
              <a:rPr lang="en-US" altLang="ko-KR"/>
              <a:t>. L≤R</a:t>
            </a:r>
            <a:r>
              <a:rPr lang="ko-KR" altLang="en-US"/>
              <a:t>이므로 </a:t>
            </a:r>
            <a:r>
              <a:rPr lang="en-US" altLang="ko-KR"/>
              <a:t>a[L]</a:t>
            </a:r>
            <a:r>
              <a:rPr lang="ko-KR" altLang="en-US"/>
              <a:t>과 </a:t>
            </a:r>
            <a:r>
              <a:rPr lang="en-US" altLang="ko-KR"/>
              <a:t>a[R]</a:t>
            </a:r>
            <a:r>
              <a:rPr lang="ko-KR" altLang="en-US"/>
              <a:t>을 교환한다</a:t>
            </a:r>
            <a:r>
              <a:rPr lang="en-US" altLang="ko-KR"/>
              <a:t>. </a:t>
            </a:r>
            <a:r>
              <a:rPr lang="ko-KR" altLang="en-US"/>
              <a:t>교환 직후의 배열은</a:t>
            </a:r>
            <a:r>
              <a:rPr lang="en-US" altLang="ko-KR"/>
              <a:t>? </a:t>
            </a:r>
            <a:r>
              <a:rPr lang="ko-KR" altLang="en-US"/>
              <a:t>보기 중 하나를 골라 보세요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64763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3</a:t>
            </a:r>
            <a:r>
              <a:rPr lang="ko-KR" altLang="en-US"/>
              <a:t>번 </a:t>
            </a:r>
            <a:r>
              <a:rPr lang="en-US" altLang="ko-KR"/>
              <a:t>[2,1,7,6,5] </a:t>
            </a:r>
            <a:r>
              <a:rPr lang="ko-KR" altLang="en-US"/>
              <a:t>현재 </a:t>
            </a:r>
            <a:r>
              <a:rPr lang="en-US" altLang="ko-KR"/>
              <a:t>a[1]=7</a:t>
            </a:r>
            <a:r>
              <a:rPr lang="ko-KR" altLang="en-US"/>
              <a:t>은 오른쪽으로</a:t>
            </a:r>
            <a:r>
              <a:rPr lang="en-US" altLang="ko-KR"/>
              <a:t>, a[2]=1</a:t>
            </a:r>
            <a:r>
              <a:rPr lang="ko-KR" altLang="en-US"/>
              <a:t>은 왼쪽으로 보낸다</a:t>
            </a:r>
            <a:r>
              <a:rPr lang="en-US" altLang="ko-KR"/>
              <a:t>. </a:t>
            </a:r>
            <a:r>
              <a:rPr lang="ko-KR" altLang="en-US"/>
              <a:t>두 값만 교환하면 </a:t>
            </a:r>
            <a:r>
              <a:rPr lang="en-US" altLang="ko-KR"/>
              <a:t>[2,1,7,6,5]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전체 정렬은 아직 끝나지 않았다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31527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</a:t>
            </a:r>
            <a:r>
              <a:rPr lang="ko-KR" altLang="en-US"/>
              <a:t>퀵 정렬의 분할은 피벗 이하의 값을 모두 왼쪽으로 보낸다</a:t>
            </a:r>
            <a:r>
              <a:rPr lang="en-US" altLang="ko-KR"/>
              <a:t>. </a:t>
            </a:r>
            <a:r>
              <a:rPr lang="ko-KR" altLang="en-US"/>
              <a:t>입력 </a:t>
            </a:r>
            <a:r>
              <a:rPr lang="en-US" altLang="ko-KR"/>
              <a:t>n</a:t>
            </a:r>
            <a:r>
              <a:rPr lang="ko-KR" altLang="en-US"/>
              <a:t>개가 모두 같은 값이면 매번 </a:t>
            </a:r>
            <a:r>
              <a:rPr lang="en-US" altLang="ko-KR"/>
              <a:t>n−1</a:t>
            </a:r>
            <a:r>
              <a:rPr lang="ko-KR" altLang="en-US"/>
              <a:t>개인 왼쪽 구간만 남는다</a:t>
            </a:r>
            <a:r>
              <a:rPr lang="en-US" altLang="ko-KR"/>
              <a:t>. </a:t>
            </a:r>
            <a:r>
              <a:rPr lang="ko-KR" altLang="en-US"/>
              <a:t>이 경우 전체 시간 복잡도는</a:t>
            </a:r>
            <a:r>
              <a:rPr lang="en-US" altLang="ko-KR"/>
              <a:t>? </a:t>
            </a:r>
            <a:r>
              <a:rPr lang="ko-KR" altLang="en-US"/>
              <a:t>보기 중 하나를 골라 보세요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79786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3</a:t>
            </a:r>
            <a:r>
              <a:rPr lang="ko-KR" altLang="en-US"/>
              <a:t>번 </a:t>
            </a:r>
            <a:r>
              <a:rPr lang="en-US" altLang="ko-KR"/>
              <a:t>O(n²) </a:t>
            </a:r>
            <a:r>
              <a:rPr lang="ko-KR" altLang="en-US"/>
              <a:t>남는 길이가 </a:t>
            </a:r>
            <a:r>
              <a:rPr lang="en-US" altLang="ko-KR"/>
              <a:t>n−1, n−2, …</a:t>
            </a:r>
            <a:r>
              <a:rPr lang="ko-KR" altLang="en-US"/>
              <a:t>로 줄어드는 긴 재귀 사슬이다</a:t>
            </a:r>
            <a:r>
              <a:rPr lang="en-US" altLang="ko-KR"/>
              <a:t>. </a:t>
            </a:r>
            <a:r>
              <a:rPr lang="ko-KR" altLang="en-US"/>
              <a:t>각 구간의 선형 분할 비용을 합하면 </a:t>
            </a:r>
            <a:r>
              <a:rPr lang="en-US" altLang="ko-KR"/>
              <a:t>O(n²)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67906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</a:t>
            </a:r>
            <a:r>
              <a:rPr lang="ko-KR" altLang="en-US"/>
              <a:t>빠른 거듭제곱은 </a:t>
            </a:r>
            <a:r>
              <a:rPr lang="en-US" altLang="ko-KR"/>
              <a:t>half=mod_power(a,b//2,m)</a:t>
            </a:r>
            <a:r>
              <a:rPr lang="ko-KR" altLang="en-US"/>
              <a:t>을 한 번 구한 뒤 </a:t>
            </a:r>
            <a:r>
              <a:rPr lang="en-US" altLang="ko-KR"/>
              <a:t>(half * half)%m</a:t>
            </a:r>
            <a:r>
              <a:rPr lang="ko-KR" altLang="en-US"/>
              <a:t>을 계산한다</a:t>
            </a:r>
            <a:r>
              <a:rPr lang="en-US" altLang="ko-KR"/>
              <a:t>. half</a:t>
            </a:r>
            <a:r>
              <a:rPr lang="ko-KR" altLang="en-US"/>
              <a:t>에 결과를 저장하는 이유는</a:t>
            </a:r>
            <a:r>
              <a:rPr lang="en-US" altLang="ko-KR"/>
              <a:t>? </a:t>
            </a:r>
            <a:r>
              <a:rPr lang="ko-KR" altLang="en-US"/>
              <a:t>보기 중 하나를 골라 보세요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42899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2</a:t>
            </a:r>
            <a:r>
              <a:rPr lang="ko-KR" altLang="en-US"/>
              <a:t>번 같은 절반 지수의 결과를 재귀로 두 번 계산하지 않기 위해 절반 지수의 결과를 한 번만 구하고 그 숫자를 재사용한다</a:t>
            </a:r>
            <a:r>
              <a:rPr lang="en-US" altLang="ko-KR"/>
              <a:t>. </a:t>
            </a:r>
            <a:r>
              <a:rPr lang="ko-KR" altLang="en-US"/>
              <a:t>같은 작은 문제를 두 번 호출할 필요가 없다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51783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</a:t>
            </a:r>
            <a:r>
              <a:rPr lang="ko-KR" altLang="en-US"/>
              <a:t>쿼드 트리의 현재 영역은 시작 행 </a:t>
            </a:r>
            <a:r>
              <a:rPr lang="en-US" altLang="ko-KR"/>
              <a:t>r=2, </a:t>
            </a:r>
            <a:r>
              <a:rPr lang="ko-KR" altLang="en-US"/>
              <a:t>시작 열 </a:t>
            </a:r>
            <a:r>
              <a:rPr lang="en-US" altLang="ko-KR"/>
              <a:t>c=4, </a:t>
            </a:r>
            <a:r>
              <a:rPr lang="ko-KR" altLang="en-US"/>
              <a:t>한 변 </a:t>
            </a:r>
            <a:r>
              <a:rPr lang="en-US" altLang="ko-KR"/>
              <a:t>n=4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네 등분할 때 우상 영역의 </a:t>
            </a:r>
            <a:r>
              <a:rPr lang="en-US" altLang="ko-KR"/>
              <a:t>(</a:t>
            </a:r>
            <a:r>
              <a:rPr lang="ko-KR" altLang="en-US"/>
              <a:t>시작 행</a:t>
            </a:r>
            <a:r>
              <a:rPr lang="en-US" altLang="ko-KR"/>
              <a:t>, </a:t>
            </a:r>
            <a:r>
              <a:rPr lang="ko-KR" altLang="en-US"/>
              <a:t>시작 열</a:t>
            </a:r>
            <a:r>
              <a:rPr lang="en-US" altLang="ko-KR"/>
              <a:t>, </a:t>
            </a:r>
            <a:r>
              <a:rPr lang="ko-KR" altLang="en-US"/>
              <a:t>한 변</a:t>
            </a:r>
            <a:r>
              <a:rPr lang="en-US" altLang="ko-KR"/>
              <a:t>)</a:t>
            </a:r>
            <a:r>
              <a:rPr lang="ko-KR" altLang="en-US"/>
              <a:t>은</a:t>
            </a:r>
            <a:r>
              <a:rPr lang="en-US" altLang="ko-KR"/>
              <a:t>? </a:t>
            </a:r>
            <a:r>
              <a:rPr lang="ko-KR" altLang="en-US"/>
              <a:t>보기 중 하나를 골라 보세요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62651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4</a:t>
            </a:r>
            <a:r>
              <a:rPr lang="ko-KR" altLang="en-US"/>
              <a:t>번 </a:t>
            </a:r>
            <a:r>
              <a:rPr lang="en-US" altLang="ko-KR"/>
              <a:t>(2,6,2) </a:t>
            </a:r>
            <a:r>
              <a:rPr lang="ko-KR" altLang="en-US"/>
              <a:t>우상은 아래로 이동하지 않고 오른쪽으로 </a:t>
            </a:r>
            <a:r>
              <a:rPr lang="en-US" altLang="ko-KR"/>
              <a:t>half=2</a:t>
            </a:r>
            <a:r>
              <a:rPr lang="ko-KR" altLang="en-US"/>
              <a:t>칸 이동한다</a:t>
            </a:r>
            <a:r>
              <a:rPr lang="en-US" altLang="ko-KR"/>
              <a:t>. </a:t>
            </a:r>
            <a:r>
              <a:rPr lang="ko-KR" altLang="en-US"/>
              <a:t>따라서 행은 </a:t>
            </a:r>
            <a:r>
              <a:rPr lang="en-US" altLang="ko-KR"/>
              <a:t>2, </a:t>
            </a:r>
            <a:r>
              <a:rPr lang="ko-KR" altLang="en-US"/>
              <a:t>열은 </a:t>
            </a:r>
            <a:r>
              <a:rPr lang="en-US" altLang="ko-KR"/>
              <a:t>4+2=6, </a:t>
            </a:r>
            <a:r>
              <a:rPr lang="ko-KR" altLang="en-US"/>
              <a:t>한 변은 </a:t>
            </a:r>
            <a:r>
              <a:rPr lang="en-US" altLang="ko-KR"/>
              <a:t>2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4767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</a:t>
            </a:r>
            <a:r>
              <a:rPr lang="ko-KR" altLang="en-US"/>
              <a:t>빠른 거듭제곱 함수는 지수 </a:t>
            </a:r>
            <a:r>
              <a:rPr lang="en-US" altLang="ko-KR"/>
              <a:t>b</a:t>
            </a:r>
            <a:r>
              <a:rPr lang="ko-KR" altLang="en-US"/>
              <a:t>가 </a:t>
            </a:r>
            <a:r>
              <a:rPr lang="en-US" altLang="ko-KR"/>
              <a:t>0</a:t>
            </a:r>
            <a:r>
              <a:rPr lang="ko-KR" altLang="en-US"/>
              <a:t>이 아니면 </a:t>
            </a:r>
            <a:r>
              <a:rPr lang="en-US" altLang="ko-KR"/>
              <a:t>b//2</a:t>
            </a:r>
            <a:r>
              <a:rPr lang="ko-KR" altLang="en-US"/>
              <a:t>를 다음 지수로 쓴다</a:t>
            </a:r>
            <a:r>
              <a:rPr lang="en-US" altLang="ko-KR"/>
              <a:t>. </a:t>
            </a:r>
            <a:r>
              <a:rPr lang="ko-KR" altLang="en-US"/>
              <a:t>현재 </a:t>
            </a:r>
            <a:r>
              <a:rPr lang="en-US" altLang="ko-KR"/>
              <a:t>b=13</a:t>
            </a:r>
            <a:r>
              <a:rPr lang="ko-KR" altLang="en-US"/>
              <a:t>일 때 바로 다음 재귀 호출의 지수는</a:t>
            </a:r>
            <a:r>
              <a:rPr lang="en-US" altLang="ko-KR"/>
              <a:t>? //</a:t>
            </a:r>
            <a:r>
              <a:rPr lang="ko-KR" altLang="en-US"/>
              <a:t>는 정수 나눗셈이다</a:t>
            </a:r>
            <a:r>
              <a:rPr lang="en-US" altLang="ko-KR"/>
              <a:t>. </a:t>
            </a:r>
            <a:r>
              <a:rPr lang="ko-KR" altLang="en-US"/>
              <a:t>보기 중 하나를 골라 보세요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870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5</a:t>
            </a:r>
            <a:r>
              <a:rPr lang="ko-KR" altLang="en-US"/>
              <a:t>번 </a:t>
            </a:r>
            <a:r>
              <a:rPr lang="en-US" altLang="ko-KR"/>
              <a:t>6 13//2</a:t>
            </a:r>
            <a:r>
              <a:rPr lang="ko-KR" altLang="en-US"/>
              <a:t>는 소수 부분을 버린 정수 </a:t>
            </a:r>
            <a:r>
              <a:rPr lang="en-US" altLang="ko-KR"/>
              <a:t>6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다음 호출에서는 지수 </a:t>
            </a:r>
            <a:r>
              <a:rPr lang="en-US" altLang="ko-KR"/>
              <a:t>6</a:t>
            </a:r>
            <a:r>
              <a:rPr lang="ko-KR" altLang="en-US"/>
              <a:t>을 처리한다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48162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1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그 색 하나를 기록하고 종료한다입니다</a:t>
            </a:r>
            <a:r>
              <a:rPr lang="en-US" altLang="ko-KR"/>
              <a:t>.</a:t>
            </a:r>
          </a:p>
          <a:p>
            <a:r>
              <a:rPr lang="ko-KR" altLang="en-US"/>
              <a:t>균일 영역을 리프 하나로 표현하는 것이 압축의 핵심이다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4</a:t>
            </a:r>
            <a:r>
              <a:rPr lang="ko-KR" altLang="en-US"/>
              <a:t>번</a:t>
            </a:r>
            <a:r>
              <a:rPr lang="en-US" altLang="ko-KR"/>
              <a:t>, 4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좌상</a:t>
            </a:r>
            <a:r>
              <a:rPr lang="en-US" altLang="ko-KR"/>
              <a:t>·</a:t>
            </a:r>
            <a:r>
              <a:rPr lang="ko-KR" altLang="en-US"/>
              <a:t>우상</a:t>
            </a:r>
            <a:r>
              <a:rPr lang="en-US" altLang="ko-KR"/>
              <a:t>·</a:t>
            </a:r>
            <a:r>
              <a:rPr lang="ko-KR" altLang="en-US"/>
              <a:t>좌하</a:t>
            </a:r>
            <a:r>
              <a:rPr lang="en-US" altLang="ko-KR"/>
              <a:t>·</a:t>
            </a:r>
            <a:r>
              <a:rPr lang="ko-KR" altLang="en-US"/>
              <a:t>우하의 네 사분면으로 나눈다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3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각 부분의 공간 위치를 복원해야 하기 때문이다입니다</a:t>
            </a:r>
            <a:r>
              <a:rPr lang="en-US" altLang="ko-KR"/>
              <a:t>.</a:t>
            </a:r>
          </a:p>
          <a:p>
            <a:r>
              <a:rPr lang="ko-KR" altLang="en-US"/>
              <a:t>색 목록만 같아도 자식 순서가 달라지면 복원 영상이 달라진다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3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전체가 한 색인 영상입니다</a:t>
            </a:r>
            <a:r>
              <a:rPr lang="en-US" altLang="ko-KR"/>
              <a:t>.</a:t>
            </a:r>
          </a:p>
          <a:p>
            <a:r>
              <a:rPr lang="ko-KR" altLang="en-US"/>
              <a:t>전체 한 색이면 크기와 무관하게 색 기호 하나로 표현할 수 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경계를 걸친 객체와 이웃 영역을 누락하지 않는다입니다</a:t>
            </a:r>
            <a:r>
              <a:rPr lang="en-US" altLang="ko-KR"/>
              <a:t>.</a:t>
            </a:r>
          </a:p>
          <a:p>
            <a:r>
              <a:rPr lang="ko-KR" altLang="en-US"/>
              <a:t>공간 분할은 후보를 줄이는 장치다</a:t>
            </a:r>
            <a:r>
              <a:rPr lang="en-US" altLang="ko-KR"/>
              <a:t>. </a:t>
            </a:r>
            <a:r>
              <a:rPr lang="ko-KR" altLang="en-US"/>
              <a:t>실제 영역이 겹치는 객체는 경계 양쪽에도 있을 수 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1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재귀 부분 문제의 개수입니다</a:t>
            </a:r>
            <a:r>
              <a:rPr lang="en-US" altLang="ko-KR"/>
              <a:t>.</a:t>
            </a:r>
          </a:p>
          <a:p>
            <a:r>
              <a:rPr lang="en-US" altLang="ko-KR"/>
              <a:t>b</a:t>
            </a:r>
            <a:r>
              <a:rPr lang="ko-KR" altLang="en-US"/>
              <a:t>는 크기 축소 비율</a:t>
            </a:r>
            <a:r>
              <a:rPr lang="en-US" altLang="ko-KR"/>
              <a:t>, f(n)</a:t>
            </a:r>
            <a:r>
              <a:rPr lang="ko-KR" altLang="en-US"/>
              <a:t>은 재귀 호출 외 작업 비용이다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, Θ(n²)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기준 지수 </a:t>
            </a:r>
            <a:r>
              <a:rPr lang="en-US" altLang="ko-KR"/>
              <a:t>log₂4=2</a:t>
            </a:r>
            <a:r>
              <a:rPr lang="ko-KR" altLang="en-US"/>
              <a:t>이고 결합 비용은 그보다 다항식 차이로 작다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4</a:t>
            </a:r>
            <a:r>
              <a:rPr lang="ko-KR" altLang="en-US"/>
              <a:t>번</a:t>
            </a:r>
            <a:r>
              <a:rPr lang="en-US" altLang="ko-KR"/>
              <a:t>, Θ(n²)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각 아래 층의 전체 비용이 절반으로 줄어 최상위 층이 지배한다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1</a:t>
            </a:r>
            <a:r>
              <a:rPr lang="ko-KR" altLang="en-US"/>
              <a:t>번</a:t>
            </a:r>
            <a:r>
              <a:rPr lang="en-US" altLang="ko-KR"/>
              <a:t>, Θ(n^(log₂3))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기준 지수 </a:t>
            </a:r>
            <a:r>
              <a:rPr lang="en-US" altLang="ko-KR"/>
              <a:t>log₂3≈1.585</a:t>
            </a:r>
            <a:r>
              <a:rPr lang="ko-KR" altLang="en-US"/>
              <a:t>가 결합 비용의 지수 </a:t>
            </a:r>
            <a:r>
              <a:rPr lang="en-US" altLang="ko-KR"/>
              <a:t>1</a:t>
            </a:r>
            <a:r>
              <a:rPr lang="ko-KR" altLang="en-US"/>
              <a:t>보다 크다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1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부분 문제 크기가 </a:t>
            </a:r>
            <a:r>
              <a:rPr lang="en-US" altLang="ko-KR"/>
              <a:t>n/b </a:t>
            </a:r>
            <a:r>
              <a:rPr lang="ko-KR" altLang="en-US"/>
              <a:t>꼴의 고정 비율이 아니다입니다</a:t>
            </a:r>
            <a:r>
              <a:rPr lang="en-US" altLang="ko-KR"/>
              <a:t>.</a:t>
            </a:r>
          </a:p>
          <a:p>
            <a:r>
              <a:rPr lang="ko-KR" altLang="en-US"/>
              <a:t>한 칸 감소 점화식은 대입이나 합으로 분석한다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다섯 보기 중 가장 적절한 하나를 골라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충분히 큰 모든 </a:t>
            </a:r>
            <a:r>
              <a:rPr lang="en-US" altLang="ko-KR"/>
              <a:t>n</a:t>
            </a:r>
            <a:r>
              <a:rPr lang="ko-KR" altLang="en-US"/>
              <a:t>에서 </a:t>
            </a:r>
            <a:r>
              <a:rPr lang="en-US" altLang="ko-KR"/>
              <a:t>a·f(n/b)≤c·f(n), </a:t>
            </a:r>
            <a:r>
              <a:rPr lang="ko-KR" altLang="en-US"/>
              <a:t>어떤 </a:t>
            </a:r>
            <a:r>
              <a:rPr lang="en-US" altLang="ko-KR"/>
              <a:t>0&lt;c&lt;1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정규성 조건은 결합 비용이 아래 층으로 갈 때 적절히 감소하도록 보장한다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분할</a:t>
            </a:r>
            <a:r>
              <a:rPr lang="en-US" altLang="ko-KR"/>
              <a:t>·</a:t>
            </a:r>
            <a:r>
              <a:rPr lang="ko-KR" altLang="en-US"/>
              <a:t>결합과 복잡도의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정답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정렬된 </a:t>
            </a:r>
            <a:r>
              <a:rPr lang="en-US" altLang="ko-KR"/>
              <a:t>A=[1,4], B=[2,3]</a:t>
            </a:r>
            <a:r>
              <a:rPr lang="ko-KR" altLang="en-US"/>
              <a:t>을 오름차순으로 병합한다</a:t>
            </a:r>
            <a:r>
              <a:rPr lang="en-US" altLang="ko-KR"/>
              <a:t>. </a:t>
            </a:r>
            <a:r>
              <a:rPr lang="ko-KR" altLang="en-US"/>
              <a:t>완성된 배열은</a:t>
            </a:r>
            <a:r>
              <a:rPr lang="en-US" altLang="ko-KR"/>
              <a:t>?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569087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2</a:t>
            </a:r>
            <a:r>
              <a:rPr lang="ko-KR" altLang="en-US"/>
              <a:t>번 </a:t>
            </a:r>
            <a:r>
              <a:rPr lang="en-US" altLang="ko-KR"/>
              <a:t>[1,2,3,4]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두 배열의 맨 앞에서 남아 있는 값 중 작은 값을 고른다</a:t>
            </a:r>
            <a:r>
              <a:rPr lang="en-US" altLang="ko-KR"/>
              <a:t>. 1, 2, 3, 4 </a:t>
            </a:r>
            <a:r>
              <a:rPr lang="ko-KR" altLang="en-US"/>
              <a:t>순서로 결과에 넣는다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01021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A=[1,4], B=[2,5]</a:t>
            </a:r>
            <a:r>
              <a:rPr lang="ko-KR" altLang="en-US"/>
              <a:t>를 병합하는 중 </a:t>
            </a:r>
            <a:r>
              <a:rPr lang="en-US" altLang="ko-KR"/>
              <a:t>i=1, j=0</a:t>
            </a:r>
            <a:r>
              <a:rPr lang="ko-KR" altLang="en-US"/>
              <a:t>이다</a:t>
            </a:r>
            <a:r>
              <a:rPr lang="en-US" altLang="ko-KR"/>
              <a:t>. A[i]</a:t>
            </a:r>
            <a:r>
              <a:rPr lang="ko-KR" altLang="en-US"/>
              <a:t>와 </a:t>
            </a:r>
            <a:r>
              <a:rPr lang="en-US" altLang="ko-KR"/>
              <a:t>B[j] </a:t>
            </a:r>
            <a:r>
              <a:rPr lang="ko-KR" altLang="en-US"/>
              <a:t>중 다음에 넣을 값과 갱신할 인덱스는</a:t>
            </a:r>
            <a:r>
              <a:rPr lang="en-US" altLang="ko-KR"/>
              <a:t>?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130113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4</a:t>
            </a:r>
            <a:r>
              <a:rPr lang="ko-KR" altLang="en-US"/>
              <a:t>번 </a:t>
            </a:r>
            <a:r>
              <a:rPr lang="en-US" altLang="ko-KR"/>
              <a:t>2</a:t>
            </a:r>
            <a:r>
              <a:rPr lang="ko-KR" altLang="en-US"/>
              <a:t>를 넣고 </a:t>
            </a:r>
            <a:r>
              <a:rPr lang="en-US" altLang="ko-KR"/>
              <a:t>j</a:t>
            </a:r>
            <a:r>
              <a:rPr lang="ko-KR" altLang="en-US"/>
              <a:t>를 </a:t>
            </a:r>
            <a:r>
              <a:rPr lang="en-US" altLang="ko-KR"/>
              <a:t>1</a:t>
            </a:r>
            <a:r>
              <a:rPr lang="ko-KR" altLang="en-US"/>
              <a:t>로 바꾼다입니다</a:t>
            </a:r>
            <a:r>
              <a:rPr lang="en-US" altLang="ko-KR"/>
              <a:t>. </a:t>
            </a:r>
            <a:r>
              <a:rPr lang="ko-KR" altLang="en-US"/>
              <a:t>현재 값은 </a:t>
            </a:r>
            <a:r>
              <a:rPr lang="en-US" altLang="ko-KR"/>
              <a:t>A[1]=4</a:t>
            </a:r>
            <a:r>
              <a:rPr lang="ko-KR" altLang="en-US"/>
              <a:t>와 </a:t>
            </a:r>
            <a:r>
              <a:rPr lang="en-US" altLang="ko-KR"/>
              <a:t>B[0]=2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작은 값 </a:t>
            </a:r>
            <a:r>
              <a:rPr lang="en-US" altLang="ko-KR"/>
              <a:t>2</a:t>
            </a:r>
            <a:r>
              <a:rPr lang="ko-KR" altLang="en-US"/>
              <a:t>를 넣는다</a:t>
            </a:r>
            <a:r>
              <a:rPr lang="en-US" altLang="ko-KR"/>
              <a:t>. B</a:t>
            </a:r>
            <a:r>
              <a:rPr lang="ko-KR" altLang="en-US"/>
              <a:t>에서 값을 꺼냈으므로 </a:t>
            </a:r>
            <a:r>
              <a:rPr lang="en-US" altLang="ko-KR"/>
              <a:t>j</a:t>
            </a:r>
            <a:r>
              <a:rPr lang="ko-KR" altLang="en-US"/>
              <a:t>만 </a:t>
            </a:r>
            <a:r>
              <a:rPr lang="en-US" altLang="ko-KR"/>
              <a:t>0</a:t>
            </a:r>
            <a:r>
              <a:rPr lang="ko-KR" altLang="en-US"/>
              <a:t>에서 </a:t>
            </a:r>
            <a:r>
              <a:rPr lang="en-US" altLang="ko-KR"/>
              <a:t>1</a:t>
            </a:r>
            <a:r>
              <a:rPr lang="ko-KR" altLang="en-US"/>
              <a:t>로 늘린다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57607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병합 중 </a:t>
            </a:r>
            <a:r>
              <a:rPr lang="en-US" altLang="ko-KR"/>
              <a:t>A</a:t>
            </a:r>
            <a:r>
              <a:rPr lang="ko-KR" altLang="en-US"/>
              <a:t>의 원소는 모두 사용했고 </a:t>
            </a:r>
            <a:r>
              <a:rPr lang="en-US" altLang="ko-KR"/>
              <a:t>B</a:t>
            </a:r>
            <a:r>
              <a:rPr lang="ko-KR" altLang="en-US"/>
              <a:t>에는 </a:t>
            </a:r>
            <a:r>
              <a:rPr lang="en-US" altLang="ko-KR"/>
              <a:t>[3,7]</a:t>
            </a:r>
            <a:r>
              <a:rPr lang="ko-KR" altLang="en-US"/>
              <a:t>이 남았다</a:t>
            </a:r>
            <a:r>
              <a:rPr lang="en-US" altLang="ko-KR"/>
              <a:t>. </a:t>
            </a:r>
            <a:r>
              <a:rPr lang="ko-KR" altLang="en-US"/>
              <a:t>남은 원소를 처리하는 올바른 방법은</a:t>
            </a:r>
            <a:r>
              <a:rPr lang="en-US" altLang="ko-KR"/>
              <a:t>?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439356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1</a:t>
            </a:r>
            <a:r>
              <a:rPr lang="ko-KR" altLang="en-US"/>
              <a:t>번 </a:t>
            </a:r>
            <a:r>
              <a:rPr lang="en-US" altLang="ko-KR"/>
              <a:t>3</a:t>
            </a:r>
            <a:r>
              <a:rPr lang="ko-KR" altLang="en-US"/>
              <a:t>과 </a:t>
            </a:r>
            <a:r>
              <a:rPr lang="en-US" altLang="ko-KR"/>
              <a:t>7</a:t>
            </a:r>
            <a:r>
              <a:rPr lang="ko-KR" altLang="en-US"/>
              <a:t>을 그 순서대로 결과 뒤에 붙인다입니다</a:t>
            </a:r>
            <a:r>
              <a:rPr lang="en-US" altLang="ko-KR"/>
              <a:t>. B </a:t>
            </a:r>
            <a:r>
              <a:rPr lang="ko-KR" altLang="en-US"/>
              <a:t>자체가 정렬되어 있으므로 남은 </a:t>
            </a:r>
            <a:r>
              <a:rPr lang="en-US" altLang="ko-KR"/>
              <a:t>3, 7</a:t>
            </a:r>
            <a:r>
              <a:rPr lang="ko-KR" altLang="en-US"/>
              <a:t>의 순서를 유지한다</a:t>
            </a:r>
            <a:r>
              <a:rPr lang="en-US" altLang="ko-KR"/>
              <a:t>. </a:t>
            </a:r>
            <a:r>
              <a:rPr lang="ko-KR" altLang="en-US"/>
              <a:t>반대쪽 배열이 비었으므로 두 배열 사이의 비교는 더 필요 없다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253688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A=[2,6], B=[1,5]</a:t>
            </a:r>
            <a:r>
              <a:rPr lang="ko-KR" altLang="en-US"/>
              <a:t>를 </a:t>
            </a:r>
            <a:r>
              <a:rPr lang="en-US" altLang="ko-KR"/>
              <a:t>i=0, j=0</a:t>
            </a:r>
            <a:r>
              <a:rPr lang="ko-KR" altLang="en-US"/>
              <a:t>부터 병합한다</a:t>
            </a:r>
            <a:r>
              <a:rPr lang="en-US" altLang="ko-KR"/>
              <a:t>. 1, 2</a:t>
            </a:r>
            <a:r>
              <a:rPr lang="ko-KR" altLang="en-US"/>
              <a:t>를 차례로 결과에 넣은 직후의 </a:t>
            </a:r>
            <a:r>
              <a:rPr lang="en-US" altLang="ko-KR"/>
              <a:t>i, j</a:t>
            </a:r>
            <a:r>
              <a:rPr lang="ko-KR" altLang="en-US"/>
              <a:t>는</a:t>
            </a:r>
            <a:r>
              <a:rPr lang="en-US" altLang="ko-KR"/>
              <a:t>?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673093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5</a:t>
            </a:r>
            <a:r>
              <a:rPr lang="ko-KR" altLang="en-US"/>
              <a:t>번 </a:t>
            </a:r>
            <a:r>
              <a:rPr lang="en-US" altLang="ko-KR"/>
              <a:t>i=1, j=1</a:t>
            </a:r>
            <a:r>
              <a:rPr lang="ko-KR" altLang="en-US"/>
              <a:t>입니다</a:t>
            </a:r>
            <a:r>
              <a:rPr lang="en-US" altLang="ko-KR"/>
              <a:t>. 1</a:t>
            </a:r>
            <a:r>
              <a:rPr lang="ko-KR" altLang="en-US"/>
              <a:t>은 </a:t>
            </a:r>
            <a:r>
              <a:rPr lang="en-US" altLang="ko-KR"/>
              <a:t>B</a:t>
            </a:r>
            <a:r>
              <a:rPr lang="ko-KR" altLang="en-US"/>
              <a:t>에서 꺼냈으므로 </a:t>
            </a:r>
            <a:r>
              <a:rPr lang="en-US" altLang="ko-KR"/>
              <a:t>j</a:t>
            </a:r>
            <a:r>
              <a:rPr lang="ko-KR" altLang="en-US"/>
              <a:t>가 </a:t>
            </a:r>
            <a:r>
              <a:rPr lang="en-US" altLang="ko-KR"/>
              <a:t>1</a:t>
            </a:r>
            <a:r>
              <a:rPr lang="ko-KR" altLang="en-US"/>
              <a:t>이 된다</a:t>
            </a:r>
            <a:r>
              <a:rPr lang="en-US" altLang="ko-KR"/>
              <a:t>. 2</a:t>
            </a:r>
            <a:r>
              <a:rPr lang="ko-KR" altLang="en-US"/>
              <a:t>는 </a:t>
            </a:r>
            <a:r>
              <a:rPr lang="en-US" altLang="ko-KR"/>
              <a:t>A</a:t>
            </a:r>
            <a:r>
              <a:rPr lang="ko-KR" altLang="en-US"/>
              <a:t>에서 꺼냈으므로 </a:t>
            </a:r>
            <a:r>
              <a:rPr lang="en-US" altLang="ko-KR"/>
              <a:t>i</a:t>
            </a:r>
            <a:r>
              <a:rPr lang="ko-KR" altLang="en-US"/>
              <a:t>도 </a:t>
            </a:r>
            <a:r>
              <a:rPr lang="en-US" altLang="ko-KR"/>
              <a:t>1</a:t>
            </a:r>
            <a:r>
              <a:rPr lang="ko-KR" altLang="en-US"/>
              <a:t>이 된다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192358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퀵 정렬에서 </a:t>
            </a:r>
            <a:r>
              <a:rPr lang="en-US" altLang="ko-KR"/>
              <a:t>a=[8,4,6,3,7,1], lo=0, hi=5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가운데 인덱스 </a:t>
            </a:r>
            <a:r>
              <a:rPr lang="en-US" altLang="ko-KR"/>
              <a:t>(lo+hi)//2</a:t>
            </a:r>
            <a:r>
              <a:rPr lang="ko-KR" altLang="en-US"/>
              <a:t>의 값을 피벗으로 고르면 피벗 값은</a:t>
            </a:r>
            <a:r>
              <a:rPr lang="en-US" altLang="ko-KR"/>
              <a:t>?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485347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3</a:t>
            </a:r>
            <a:r>
              <a:rPr lang="ko-KR" altLang="en-US"/>
              <a:t>번 </a:t>
            </a:r>
            <a:r>
              <a:rPr lang="en-US" altLang="ko-KR"/>
              <a:t>6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가운데 인덱스는 </a:t>
            </a:r>
            <a:r>
              <a:rPr lang="en-US" altLang="ko-KR"/>
              <a:t>(0+5)//2=2</a:t>
            </a:r>
            <a:r>
              <a:rPr lang="ko-KR" altLang="en-US"/>
              <a:t>이고 </a:t>
            </a:r>
            <a:r>
              <a:rPr lang="en-US" altLang="ko-KR"/>
              <a:t>a[2]=6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인덱스 </a:t>
            </a:r>
            <a:r>
              <a:rPr lang="en-US" altLang="ko-KR"/>
              <a:t>2</a:t>
            </a:r>
            <a:r>
              <a:rPr lang="ko-KR" altLang="en-US"/>
              <a:t>와 그 위치의 값 </a:t>
            </a:r>
            <a:r>
              <a:rPr lang="en-US" altLang="ko-KR"/>
              <a:t>6</a:t>
            </a:r>
            <a:r>
              <a:rPr lang="ko-KR" altLang="en-US"/>
              <a:t>을 구분한다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358022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피벗은 </a:t>
            </a:r>
            <a:r>
              <a:rPr lang="en-US" altLang="ko-KR"/>
              <a:t>a[5]=6</a:t>
            </a:r>
            <a:r>
              <a:rPr lang="ko-KR" altLang="en-US"/>
              <a:t>이고 </a:t>
            </a:r>
            <a:r>
              <a:rPr lang="en-US" altLang="ko-KR"/>
              <a:t>a=[3,4,1,8,7,6], L=3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마지막에 </a:t>
            </a:r>
            <a:r>
              <a:rPr lang="en-US" altLang="ko-KR"/>
              <a:t>a[L]</a:t>
            </a:r>
            <a:r>
              <a:rPr lang="ko-KR" altLang="en-US"/>
              <a:t>과 </a:t>
            </a:r>
            <a:r>
              <a:rPr lang="en-US" altLang="ko-KR"/>
              <a:t>a[5]</a:t>
            </a:r>
            <a:r>
              <a:rPr lang="ko-KR" altLang="en-US"/>
              <a:t>를 교환하면 피벗의 인덱스는</a:t>
            </a:r>
            <a:r>
              <a:rPr lang="en-US" altLang="ko-KR"/>
              <a:t>?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62293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4</a:t>
            </a:r>
            <a:r>
              <a:rPr lang="ko-KR" altLang="en-US"/>
              <a:t>번 </a:t>
            </a:r>
            <a:r>
              <a:rPr lang="en-US" altLang="ko-KR"/>
              <a:t>3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마지막 교환으로 피벗 </a:t>
            </a:r>
            <a:r>
              <a:rPr lang="en-US" altLang="ko-KR"/>
              <a:t>6</a:t>
            </a:r>
            <a:r>
              <a:rPr lang="ko-KR" altLang="en-US"/>
              <a:t>이 </a:t>
            </a:r>
            <a:r>
              <a:rPr lang="en-US" altLang="ko-KR"/>
              <a:t>L</a:t>
            </a:r>
            <a:r>
              <a:rPr lang="ko-KR" altLang="en-US"/>
              <a:t>이 가리킨 자리로 이동한다</a:t>
            </a:r>
            <a:r>
              <a:rPr lang="en-US" altLang="ko-KR"/>
              <a:t>. L=3</a:t>
            </a:r>
            <a:r>
              <a:rPr lang="ko-KR" altLang="en-US"/>
              <a:t>이므로 확정된 피벗 인덱스는 </a:t>
            </a:r>
            <a:r>
              <a:rPr lang="en-US" altLang="ko-KR"/>
              <a:t>3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899525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퀵 정렬의 </a:t>
            </a:r>
            <a:r>
              <a:rPr lang="en-US" altLang="ko-KR"/>
              <a:t>[2,7] </a:t>
            </a:r>
            <a:r>
              <a:rPr lang="ko-KR" altLang="en-US"/>
              <a:t>구간에서 피벗 인덱스 </a:t>
            </a:r>
            <a:r>
              <a:rPr lang="en-US" altLang="ko-KR"/>
              <a:t>p=4</a:t>
            </a:r>
            <a:r>
              <a:rPr lang="ko-KR" altLang="en-US"/>
              <a:t>가 확정되었다</a:t>
            </a:r>
            <a:r>
              <a:rPr lang="en-US" altLang="ko-KR"/>
              <a:t>. </a:t>
            </a:r>
            <a:r>
              <a:rPr lang="ko-KR" altLang="en-US"/>
              <a:t>피벗을 제외하고 재귀 정렬할 두 구간은</a:t>
            </a:r>
            <a:r>
              <a:rPr lang="en-US" altLang="ko-KR"/>
              <a:t>? </a:t>
            </a:r>
            <a:r>
              <a:rPr lang="ko-KR" altLang="en-US"/>
              <a:t>양 끝을 포함한다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237767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2</a:t>
            </a:r>
            <a:r>
              <a:rPr lang="ko-KR" altLang="en-US"/>
              <a:t>번 </a:t>
            </a:r>
            <a:r>
              <a:rPr lang="en-US" altLang="ko-KR"/>
              <a:t>[2,3]</a:t>
            </a:r>
            <a:r>
              <a:rPr lang="ko-KR" altLang="en-US"/>
              <a:t>와 </a:t>
            </a:r>
            <a:r>
              <a:rPr lang="en-US" altLang="ko-KR"/>
              <a:t>[5,7]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피벗 </a:t>
            </a:r>
            <a:r>
              <a:rPr lang="en-US" altLang="ko-KR"/>
              <a:t>p=4</a:t>
            </a:r>
            <a:r>
              <a:rPr lang="ko-KR" altLang="en-US"/>
              <a:t>는 이미 제자리를 찾았다</a:t>
            </a:r>
            <a:r>
              <a:rPr lang="en-US" altLang="ko-KR"/>
              <a:t>. </a:t>
            </a:r>
            <a:r>
              <a:rPr lang="ko-KR" altLang="en-US"/>
              <a:t>왼쪽은 </a:t>
            </a:r>
            <a:r>
              <a:rPr lang="en-US" altLang="ko-KR"/>
              <a:t>[lo,p-1]=[2,3], </a:t>
            </a:r>
            <a:r>
              <a:rPr lang="ko-KR" altLang="en-US"/>
              <a:t>오른쪽은 </a:t>
            </a:r>
            <a:r>
              <a:rPr lang="en-US" altLang="ko-KR"/>
              <a:t>[p+1,hi]=[5,7]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692804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퀵 정렬의 포인터 탐색에서 배열 값을 읽기 전에 </a:t>
            </a:r>
            <a:r>
              <a:rPr lang="en-US" altLang="ko-KR"/>
              <a:t>L≤R</a:t>
            </a:r>
            <a:r>
              <a:rPr lang="ko-KR" altLang="en-US"/>
              <a:t>인지 먼저 확인하는 주된 이유는</a:t>
            </a:r>
            <a:r>
              <a:rPr lang="en-US" altLang="ko-KR"/>
              <a:t>?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702311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1</a:t>
            </a:r>
            <a:r>
              <a:rPr lang="ko-KR" altLang="en-US"/>
              <a:t>번 현재 탐색 구간 밖의 값을 읽지 않기 위해입니다</a:t>
            </a:r>
            <a:r>
              <a:rPr lang="en-US" altLang="ko-KR"/>
              <a:t>. </a:t>
            </a:r>
            <a:r>
              <a:rPr lang="ko-KR" altLang="en-US"/>
              <a:t>포인터가 서로 지나친 뒤에는 현재 탐색 구간이 비어 있다</a:t>
            </a:r>
            <a:r>
              <a:rPr lang="en-US" altLang="ko-KR"/>
              <a:t>. L≤R</a:t>
            </a:r>
            <a:r>
              <a:rPr lang="ko-KR" altLang="en-US"/>
              <a:t>을 먼저 검사하면 구간 밖의 값을 읽지 않고 탐색을 끝낸다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212790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[1,2,3,4,7,8], 5</a:t>
            </a:r>
            <a:r>
              <a:rPr lang="ko-KR" altLang="en-US"/>
              <a:t>회입니다</a:t>
            </a:r>
            <a:r>
              <a:rPr lang="en-US" altLang="ko-KR"/>
              <a:t>.</a:t>
            </a:r>
          </a:p>
          <a:p>
            <a:r>
              <a:rPr lang="en-US" altLang="ko-KR"/>
              <a:t>1:2,4:2,4:3,4:8,7:8</a:t>
            </a:r>
            <a:r>
              <a:rPr lang="ko-KR" altLang="en-US"/>
              <a:t>을 비교한 뒤 남은 </a:t>
            </a:r>
            <a:r>
              <a:rPr lang="en-US" altLang="ko-KR"/>
              <a:t>8</a:t>
            </a:r>
            <a:r>
              <a:rPr lang="ko-KR" altLang="en-US"/>
              <a:t>을 복사한다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</a:t>
            </a:r>
            <a:r>
              <a:rPr lang="ko-KR" altLang="en-US"/>
              <a:t>회입니다</a:t>
            </a:r>
            <a:r>
              <a:rPr lang="en-US" altLang="ko-KR"/>
              <a:t>.</a:t>
            </a:r>
          </a:p>
          <a:p>
            <a:r>
              <a:rPr lang="en-US" altLang="ko-KR"/>
              <a:t>1</a:t>
            </a:r>
            <a:r>
              <a:rPr lang="ko-KR" altLang="en-US"/>
              <a:t>과 </a:t>
            </a:r>
            <a:r>
              <a:rPr lang="en-US" altLang="ko-KR"/>
              <a:t>3,2</a:t>
            </a:r>
            <a:r>
              <a:rPr lang="ko-KR" altLang="en-US"/>
              <a:t>와 </a:t>
            </a:r>
            <a:r>
              <a:rPr lang="en-US" altLang="ko-KR"/>
              <a:t>3</a:t>
            </a:r>
            <a:r>
              <a:rPr lang="ko-KR" altLang="en-US"/>
              <a:t>을 비교한 뒤 오른쪽 나머지를 복사한다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[3,8], [1,6]; [1,3,6,8]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각 두 원소를 먼저 정렬한 뒤 두 정렬 배열을 병합한다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8</a:t>
            </a:r>
            <a:r>
              <a:rPr lang="ko-KR" altLang="en-US"/>
              <a:t>개</a:t>
            </a:r>
            <a:r>
              <a:rPr lang="en-US" altLang="ko-KR"/>
              <a:t>, 7</a:t>
            </a:r>
            <a:r>
              <a:rPr lang="ko-KR" altLang="en-US"/>
              <a:t>회입니다</a:t>
            </a:r>
            <a:r>
              <a:rPr lang="en-US" altLang="ko-KR"/>
              <a:t>.</a:t>
            </a:r>
          </a:p>
          <a:p>
            <a:r>
              <a:rPr lang="ko-KR" altLang="en-US"/>
              <a:t>리프 </a:t>
            </a:r>
            <a:r>
              <a:rPr lang="en-US" altLang="ko-KR"/>
              <a:t>8</a:t>
            </a:r>
            <a:r>
              <a:rPr lang="ko-KR" altLang="en-US"/>
              <a:t>개인 완전 이진 재귀 트리의 내부 노드는 </a:t>
            </a:r>
            <a:r>
              <a:rPr lang="en-US" altLang="ko-KR"/>
              <a:t>7</a:t>
            </a:r>
            <a:r>
              <a:rPr lang="ko-KR" altLang="en-US"/>
              <a:t>개이다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24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각 병합 층 비용이 </a:t>
            </a:r>
            <a:r>
              <a:rPr lang="en-US" altLang="ko-KR"/>
              <a:t>8</a:t>
            </a:r>
            <a:r>
              <a:rPr lang="ko-KR" altLang="en-US"/>
              <a:t>이고 병합 층이 </a:t>
            </a:r>
            <a:r>
              <a:rPr lang="en-US" altLang="ko-KR"/>
              <a:t>3</a:t>
            </a:r>
            <a:r>
              <a:rPr lang="ko-KR" altLang="en-US"/>
              <a:t>개이다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10, [1,3]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7−2+5=10</a:t>
            </a:r>
            <a:r>
              <a:rPr lang="ko-KR" altLang="en-US"/>
              <a:t>이며 양옆의 −</a:t>
            </a:r>
            <a:r>
              <a:rPr lang="en-US" altLang="ko-KR"/>
              <a:t>4</a:t>
            </a:r>
            <a:r>
              <a:rPr lang="ko-KR" altLang="en-US"/>
              <a:t>나 −</a:t>
            </a:r>
            <a:r>
              <a:rPr lang="en-US" altLang="ko-KR"/>
              <a:t>9</a:t>
            </a:r>
            <a:r>
              <a:rPr lang="ko-KR" altLang="en-US"/>
              <a:t>를 포함하면 줄어든다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−</a:t>
            </a:r>
            <a:r>
              <a:rPr lang="en-US" altLang="ko-KR"/>
              <a:t>3, [1,1]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가장 덜 작은 원소 하나를 고른다</a:t>
            </a:r>
            <a:r>
              <a:rPr lang="en-US" altLang="ko-KR"/>
              <a:t>. </a:t>
            </a:r>
            <a:r>
              <a:rPr lang="ko-KR" altLang="en-US"/>
              <a:t>빈 구간 </a:t>
            </a:r>
            <a:r>
              <a:rPr lang="en-US" altLang="ko-KR"/>
              <a:t>0</a:t>
            </a:r>
            <a:r>
              <a:rPr lang="ko-KR" altLang="en-US"/>
              <a:t>은 허용되지 않는다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3,5,8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왼쪽은 </a:t>
            </a:r>
            <a:r>
              <a:rPr lang="en-US" altLang="ko-KR"/>
              <a:t>[3]</a:t>
            </a:r>
            <a:r>
              <a:rPr lang="ko-KR" altLang="en-US"/>
              <a:t>이 </a:t>
            </a:r>
            <a:r>
              <a:rPr lang="en-US" altLang="ko-KR"/>
              <a:t>3, </a:t>
            </a:r>
            <a:r>
              <a:rPr lang="ko-KR" altLang="en-US"/>
              <a:t>오른쪽은 </a:t>
            </a:r>
            <a:r>
              <a:rPr lang="en-US" altLang="ko-KR"/>
              <a:t>[5]</a:t>
            </a:r>
            <a:r>
              <a:rPr lang="ko-KR" altLang="en-US"/>
              <a:t>가 </a:t>
            </a:r>
            <a:r>
              <a:rPr lang="en-US" altLang="ko-KR"/>
              <a:t>5</a:t>
            </a:r>
            <a:r>
              <a:rPr lang="ko-KR" altLang="en-US"/>
              <a:t>로 최대이다</a:t>
            </a:r>
            <a:r>
              <a:rPr lang="en-US" altLang="ko-KR"/>
              <a:t>. </a:t>
            </a:r>
            <a:r>
              <a:rPr lang="ko-KR" altLang="en-US"/>
              <a:t>경계 연결 구간은 </a:t>
            </a:r>
            <a:r>
              <a:rPr lang="en-US" altLang="ko-KR"/>
              <a:t>[3,5]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11,6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5</a:t>
            </a:r>
            <a:r>
              <a:rPr lang="ko-KR" altLang="en-US"/>
              <a:t>와 </a:t>
            </a:r>
            <a:r>
              <a:rPr lang="en-US" altLang="ko-KR"/>
              <a:t>6</a:t>
            </a:r>
            <a:r>
              <a:rPr lang="ko-KR" altLang="en-US"/>
              <a:t>을 함께 포함하려면 −</a:t>
            </a:r>
            <a:r>
              <a:rPr lang="en-US" altLang="ko-KR"/>
              <a:t>100</a:t>
            </a:r>
            <a:r>
              <a:rPr lang="ko-KR" altLang="en-US"/>
              <a:t>도 포함해야 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21</a:t>
            </a:r>
            <a:r>
              <a:rPr lang="ko-KR" altLang="en-US"/>
              <a:t>개입니다</a:t>
            </a:r>
            <a:r>
              <a:rPr lang="en-US" altLang="ko-KR"/>
              <a:t>.</a:t>
            </a:r>
          </a:p>
          <a:p>
            <a:r>
              <a:rPr lang="ko-KR" altLang="en-US"/>
              <a:t>길이별 </a:t>
            </a:r>
            <a:r>
              <a:rPr lang="en-US" altLang="ko-KR"/>
              <a:t>6+5+4+3+2+1=n(n+1)/2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2,3,2,3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접두 최대는 처음 </a:t>
            </a:r>
            <a:r>
              <a:rPr lang="en-US" altLang="ko-KR"/>
              <a:t>3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접미 최대는 전체</a:t>
            </a:r>
            <a:r>
              <a:rPr lang="en-US" altLang="ko-KR"/>
              <a:t>, </a:t>
            </a:r>
            <a:r>
              <a:rPr lang="ko-KR" altLang="en-US"/>
              <a:t>연속 최대는 인덱스 </a:t>
            </a:r>
            <a:r>
              <a:rPr lang="en-US" altLang="ko-KR"/>
              <a:t>0~2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a=[2,7,1,6,5]</a:t>
            </a:r>
            <a:r>
              <a:rPr lang="ko-KR" altLang="en-US"/>
              <a:t>에서 피벗은 맨 끝의 </a:t>
            </a:r>
            <a:r>
              <a:rPr lang="en-US" altLang="ko-KR"/>
              <a:t>5, L=1, R=2</a:t>
            </a:r>
            <a:r>
              <a:rPr lang="ko-KR" altLang="en-US"/>
              <a:t>이다</a:t>
            </a:r>
            <a:r>
              <a:rPr lang="en-US" altLang="ko-KR"/>
              <a:t>. a[L]</a:t>
            </a:r>
            <a:r>
              <a:rPr lang="ko-KR" altLang="en-US"/>
              <a:t>과 </a:t>
            </a:r>
            <a:r>
              <a:rPr lang="en-US" altLang="ko-KR"/>
              <a:t>a[R]</a:t>
            </a:r>
            <a:r>
              <a:rPr lang="ko-KR" altLang="en-US"/>
              <a:t>을 교환한 직후의 배열을 쓰고</a:t>
            </a:r>
            <a:r>
              <a:rPr lang="en-US" altLang="ko-KR"/>
              <a:t>, </a:t>
            </a:r>
            <a:r>
              <a:rPr lang="ko-KR" altLang="en-US"/>
              <a:t>각 값 </a:t>
            </a:r>
            <a:r>
              <a:rPr lang="en-US" altLang="ko-KR"/>
              <a:t>7</a:t>
            </a:r>
            <a:r>
              <a:rPr lang="ko-KR" altLang="en-US"/>
              <a:t>과 </a:t>
            </a:r>
            <a:r>
              <a:rPr lang="en-US" altLang="ko-KR"/>
              <a:t>1</a:t>
            </a:r>
            <a:r>
              <a:rPr lang="ko-KR" altLang="en-US"/>
              <a:t>을 서로 바꾸는 이유를 설명하시오</a:t>
            </a:r>
            <a:r>
              <a:rPr lang="en-US" altLang="ko-KR"/>
              <a:t>. </a:t>
            </a:r>
            <a:r>
              <a:rPr lang="ko-KR" altLang="en-US"/>
              <a:t>요구한 답과 짧은 판단 근거를 적어 주세요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819903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[2,1,7,6,5]. 7</a:t>
            </a:r>
            <a:r>
              <a:rPr lang="ko-KR" altLang="en-US"/>
              <a:t>은 피벗보다 커서 오른쪽</a:t>
            </a:r>
            <a:r>
              <a:rPr lang="en-US" altLang="ko-KR"/>
              <a:t>, 1</a:t>
            </a:r>
            <a:r>
              <a:rPr lang="ko-KR" altLang="en-US"/>
              <a:t>은 피벗 이하라서 왼쪽으로 보낸다</a:t>
            </a:r>
            <a:r>
              <a:rPr lang="en-US" altLang="ko-KR"/>
              <a:t>. </a:t>
            </a:r>
            <a:r>
              <a:rPr lang="ko-KR" altLang="en-US"/>
              <a:t>인덱스 </a:t>
            </a:r>
            <a:r>
              <a:rPr lang="en-US" altLang="ko-KR"/>
              <a:t>1</a:t>
            </a:r>
            <a:r>
              <a:rPr lang="ko-KR" altLang="en-US"/>
              <a:t>과 </a:t>
            </a:r>
            <a:r>
              <a:rPr lang="en-US" altLang="ko-KR"/>
              <a:t>2</a:t>
            </a:r>
            <a:r>
              <a:rPr lang="ko-KR" altLang="en-US"/>
              <a:t>의 값만 교환한다</a:t>
            </a:r>
            <a:r>
              <a:rPr lang="en-US" altLang="ko-KR"/>
              <a:t>. </a:t>
            </a:r>
            <a:r>
              <a:rPr lang="ko-KR" altLang="en-US"/>
              <a:t>분할은 피벗을 기준으로 값을 보내는 단계이며</a:t>
            </a:r>
            <a:r>
              <a:rPr lang="en-US" altLang="ko-KR"/>
              <a:t>, </a:t>
            </a:r>
            <a:r>
              <a:rPr lang="ko-KR" altLang="en-US"/>
              <a:t>전체 정렬이 끝난 상태는 아니다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9188168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mod_power(a,b,m)</a:t>
            </a:r>
            <a:r>
              <a:rPr lang="ko-KR" altLang="en-US"/>
              <a:t>은 </a:t>
            </a:r>
            <a:r>
              <a:rPr lang="en-US" altLang="ko-KR"/>
              <a:t>a</a:t>
            </a:r>
            <a:r>
              <a:rPr lang="ko-KR" altLang="en-US"/>
              <a:t>의 </a:t>
            </a:r>
            <a:r>
              <a:rPr lang="en-US" altLang="ko-KR"/>
              <a:t>b</a:t>
            </a:r>
            <a:r>
              <a:rPr lang="ko-KR" altLang="en-US"/>
              <a:t>제곱을 </a:t>
            </a:r>
            <a:r>
              <a:rPr lang="en-US" altLang="ko-KR"/>
              <a:t>m</a:t>
            </a:r>
            <a:r>
              <a:rPr lang="ko-KR" altLang="en-US"/>
              <a:t>으로 나눈 나머지를 반환한다</a:t>
            </a:r>
            <a:r>
              <a:rPr lang="en-US" altLang="ko-KR"/>
              <a:t>. a=3, b=5, m=7</a:t>
            </a:r>
            <a:r>
              <a:rPr lang="ko-KR" altLang="en-US"/>
              <a:t>이고 </a:t>
            </a:r>
            <a:r>
              <a:rPr lang="en-US" altLang="ko-KR"/>
              <a:t>half=mod_power(3,2,7)=2</a:t>
            </a:r>
            <a:r>
              <a:rPr lang="ko-KR" altLang="en-US"/>
              <a:t>까지 구했다</a:t>
            </a:r>
            <a:r>
              <a:rPr lang="en-US" altLang="ko-KR"/>
              <a:t>. b</a:t>
            </a:r>
            <a:r>
              <a:rPr lang="ko-KR" altLang="en-US"/>
              <a:t>가 홀수이므로 결과는 </a:t>
            </a:r>
            <a:r>
              <a:rPr lang="en-US" altLang="ko-KR"/>
              <a:t>(half * half * a)%m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결과와 계산식을 쓰시오</a:t>
            </a:r>
            <a:r>
              <a:rPr lang="en-US" altLang="ko-KR"/>
              <a:t>. %</a:t>
            </a:r>
            <a:r>
              <a:rPr lang="ko-KR" altLang="en-US"/>
              <a:t>는 나머지 연산이다</a:t>
            </a:r>
            <a:r>
              <a:rPr lang="en-US" altLang="ko-KR"/>
              <a:t>. </a:t>
            </a:r>
            <a:r>
              <a:rPr lang="ko-KR" altLang="en-US"/>
              <a:t>요구한 답과 짧은 판단 근거를 적어 주세요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00201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5. (2×2×3)%7 = 12%7 = 5. half=2</a:t>
            </a:r>
            <a:r>
              <a:rPr lang="ko-KR" altLang="en-US"/>
              <a:t>를 두 번 곱하고 홀수 지수에 필요한 </a:t>
            </a:r>
            <a:r>
              <a:rPr lang="en-US" altLang="ko-KR"/>
              <a:t>a=3</a:t>
            </a:r>
            <a:r>
              <a:rPr lang="ko-KR" altLang="en-US"/>
              <a:t>을 한 번 곱한다</a:t>
            </a:r>
            <a:r>
              <a:rPr lang="en-US" altLang="ko-KR"/>
              <a:t>. 12</a:t>
            </a:r>
            <a:r>
              <a:rPr lang="ko-KR" altLang="en-US"/>
              <a:t>를 </a:t>
            </a:r>
            <a:r>
              <a:rPr lang="en-US" altLang="ko-KR"/>
              <a:t>7</a:t>
            </a:r>
            <a:r>
              <a:rPr lang="ko-KR" altLang="en-US"/>
              <a:t>로 나눈 나머지는 </a:t>
            </a:r>
            <a:r>
              <a:rPr lang="en-US" altLang="ko-KR"/>
              <a:t>5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161569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2×2 </a:t>
            </a:r>
            <a:r>
              <a:rPr lang="ko-KR" altLang="en-US"/>
              <a:t>영상의 쿼드 트리 표현이 </a:t>
            </a:r>
            <a:r>
              <a:rPr lang="en-US" altLang="ko-KR"/>
              <a:t>(0100)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괄호 안은 좌상</a:t>
            </a:r>
            <a:r>
              <a:rPr lang="en-US" altLang="ko-KR"/>
              <a:t>·</a:t>
            </a:r>
            <a:r>
              <a:rPr lang="ko-KR" altLang="en-US"/>
              <a:t>우상</a:t>
            </a:r>
            <a:r>
              <a:rPr lang="en-US" altLang="ko-KR"/>
              <a:t>·</a:t>
            </a:r>
            <a:r>
              <a:rPr lang="ko-KR" altLang="en-US"/>
              <a:t>좌하</a:t>
            </a:r>
            <a:r>
              <a:rPr lang="en-US" altLang="ko-KR"/>
              <a:t>·</a:t>
            </a:r>
            <a:r>
              <a:rPr lang="ko-KR" altLang="en-US"/>
              <a:t>우하 순이며 </a:t>
            </a:r>
            <a:r>
              <a:rPr lang="en-US" altLang="ko-KR"/>
              <a:t>0</a:t>
            </a:r>
            <a:r>
              <a:rPr lang="ko-KR" altLang="en-US"/>
              <a:t>은 흰색</a:t>
            </a:r>
            <a:r>
              <a:rPr lang="en-US" altLang="ko-KR"/>
              <a:t>, 1</a:t>
            </a:r>
            <a:r>
              <a:rPr lang="ko-KR" altLang="en-US"/>
              <a:t>은 검은색이다</a:t>
            </a:r>
            <a:r>
              <a:rPr lang="en-US" altLang="ko-KR"/>
              <a:t>. </a:t>
            </a:r>
            <a:r>
              <a:rPr lang="ko-KR" altLang="en-US"/>
              <a:t>복원된 영상의 두 행을 쓰고</a:t>
            </a:r>
            <a:r>
              <a:rPr lang="en-US" altLang="ko-KR"/>
              <a:t>, </a:t>
            </a:r>
            <a:r>
              <a:rPr lang="ko-KR" altLang="en-US"/>
              <a:t>검은 칸의 </a:t>
            </a:r>
            <a:r>
              <a:rPr lang="en-US" altLang="ko-KR"/>
              <a:t>(</a:t>
            </a:r>
            <a:r>
              <a:rPr lang="ko-KR" altLang="en-US"/>
              <a:t>행</a:t>
            </a:r>
            <a:r>
              <a:rPr lang="en-US" altLang="ko-KR"/>
              <a:t>,</a:t>
            </a:r>
            <a:r>
              <a:rPr lang="ko-KR" altLang="en-US"/>
              <a:t>열</a:t>
            </a:r>
            <a:r>
              <a:rPr lang="en-US" altLang="ko-KR"/>
              <a:t>)</a:t>
            </a:r>
            <a:r>
              <a:rPr lang="ko-KR" altLang="en-US"/>
              <a:t>을 쓰시오</a:t>
            </a:r>
            <a:r>
              <a:rPr lang="en-US" altLang="ko-KR"/>
              <a:t>. </a:t>
            </a:r>
            <a:r>
              <a:rPr lang="ko-KR" altLang="en-US"/>
              <a:t>행</a:t>
            </a:r>
            <a:r>
              <a:rPr lang="en-US" altLang="ko-KR"/>
              <a:t>·</a:t>
            </a:r>
            <a:r>
              <a:rPr lang="ko-KR" altLang="en-US"/>
              <a:t>열은 </a:t>
            </a:r>
            <a:r>
              <a:rPr lang="en-US" altLang="ko-KR"/>
              <a:t>0</a:t>
            </a:r>
            <a:r>
              <a:rPr lang="ko-KR" altLang="en-US"/>
              <a:t>부터 센다</a:t>
            </a:r>
            <a:r>
              <a:rPr lang="en-US" altLang="ko-KR"/>
              <a:t>. </a:t>
            </a:r>
            <a:r>
              <a:rPr lang="ko-KR" altLang="en-US"/>
              <a:t>요구한 답과 짧은 판단 근거를 적어 주세요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246141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</a:t>
            </a:r>
            <a:r>
              <a:rPr lang="ko-KR" altLang="en-US"/>
              <a:t>첫 행 </a:t>
            </a:r>
            <a:r>
              <a:rPr lang="en-US" altLang="ko-KR"/>
              <a:t>01, </a:t>
            </a:r>
            <a:r>
              <a:rPr lang="ko-KR" altLang="en-US"/>
              <a:t>둘째 행 </a:t>
            </a:r>
            <a:r>
              <a:rPr lang="en-US" altLang="ko-KR"/>
              <a:t>00. </a:t>
            </a:r>
            <a:r>
              <a:rPr lang="ko-KR" altLang="en-US"/>
              <a:t>검은 칸은 </a:t>
            </a:r>
            <a:r>
              <a:rPr lang="en-US" altLang="ko-KR"/>
              <a:t>(0,1). </a:t>
            </a:r>
            <a:r>
              <a:rPr lang="ko-KR" altLang="en-US"/>
              <a:t>좌상 </a:t>
            </a:r>
            <a:r>
              <a:rPr lang="en-US" altLang="ko-KR"/>
              <a:t>0</a:t>
            </a:r>
            <a:r>
              <a:rPr lang="ko-KR" altLang="en-US"/>
              <a:t>과 우상 </a:t>
            </a:r>
            <a:r>
              <a:rPr lang="en-US" altLang="ko-KR"/>
              <a:t>1</a:t>
            </a:r>
            <a:r>
              <a:rPr lang="ko-KR" altLang="en-US"/>
              <a:t>이 첫 행이고 좌하 </a:t>
            </a:r>
            <a:r>
              <a:rPr lang="en-US" altLang="ko-KR"/>
              <a:t>0</a:t>
            </a:r>
            <a:r>
              <a:rPr lang="ko-KR" altLang="en-US"/>
              <a:t>과 우하 </a:t>
            </a:r>
            <a:r>
              <a:rPr lang="en-US" altLang="ko-KR"/>
              <a:t>0</a:t>
            </a:r>
            <a:r>
              <a:rPr lang="ko-KR" altLang="en-US"/>
              <a:t>이 둘째 행이다</a:t>
            </a:r>
            <a:r>
              <a:rPr lang="en-US" altLang="ko-KR"/>
              <a:t>. </a:t>
            </a:r>
            <a:r>
              <a:rPr lang="ko-KR" altLang="en-US"/>
              <a:t>따라서 검은 칸은 위쪽 오른쪽</a:t>
            </a:r>
            <a:r>
              <a:rPr lang="en-US" altLang="ko-KR"/>
              <a:t>, </a:t>
            </a:r>
            <a:r>
              <a:rPr lang="ko-KR" altLang="en-US"/>
              <a:t>즉 행 </a:t>
            </a:r>
            <a:r>
              <a:rPr lang="en-US" altLang="ko-KR"/>
              <a:t>0</a:t>
            </a:r>
            <a:r>
              <a:rPr lang="ko-KR" altLang="en-US"/>
              <a:t>과 열 </a:t>
            </a:r>
            <a:r>
              <a:rPr lang="en-US" altLang="ko-KR"/>
              <a:t>1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698146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4×4 </a:t>
            </a:r>
            <a:r>
              <a:rPr lang="ko-KR" altLang="en-US"/>
              <a:t>영상의 모든 값이 </a:t>
            </a:r>
            <a:r>
              <a:rPr lang="en-US" altLang="ko-KR"/>
              <a:t>0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쿼드 트리 함수는 현재 영역의 모든 칸을 기준값과 비교하여 같은 색인지 확인하고</a:t>
            </a:r>
            <a:r>
              <a:rPr lang="en-US" altLang="ko-KR"/>
              <a:t>, </a:t>
            </a:r>
            <a:r>
              <a:rPr lang="ko-KR" altLang="en-US"/>
              <a:t>균일하면 색 한 글자를 반환한다</a:t>
            </a:r>
            <a:r>
              <a:rPr lang="en-US" altLang="ko-KR"/>
              <a:t>. </a:t>
            </a:r>
            <a:r>
              <a:rPr lang="ko-KR" altLang="en-US"/>
              <a:t>첫 호출에서 검사하는 칸 수와 반환하는 문자열을 쓰시오</a:t>
            </a:r>
            <a:r>
              <a:rPr lang="en-US" altLang="ko-KR"/>
              <a:t>. </a:t>
            </a:r>
            <a:r>
              <a:rPr lang="ko-KR" altLang="en-US"/>
              <a:t>첫 칸도 검사에 포함한다</a:t>
            </a:r>
            <a:r>
              <a:rPr lang="en-US" altLang="ko-KR"/>
              <a:t>. </a:t>
            </a:r>
            <a:r>
              <a:rPr lang="ko-KR" altLang="en-US"/>
              <a:t>요구한 답과 짧은 판단 근거를 적어 주세요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147610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16</a:t>
            </a:r>
            <a:r>
              <a:rPr lang="ko-KR" altLang="en-US"/>
              <a:t>칸</a:t>
            </a:r>
            <a:r>
              <a:rPr lang="en-US" altLang="ko-KR"/>
              <a:t>, "0". 4</a:t>
            </a:r>
            <a:r>
              <a:rPr lang="ko-KR" altLang="en-US"/>
              <a:t>행</a:t>
            </a:r>
            <a:r>
              <a:rPr lang="en-US" altLang="ko-KR"/>
              <a:t>×4</a:t>
            </a:r>
            <a:r>
              <a:rPr lang="ko-KR" altLang="en-US"/>
              <a:t>열이므로 검사하는 칸은 </a:t>
            </a:r>
            <a:r>
              <a:rPr lang="en-US" altLang="ko-KR"/>
              <a:t>16</a:t>
            </a:r>
            <a:r>
              <a:rPr lang="ko-KR" altLang="en-US"/>
              <a:t>개다</a:t>
            </a:r>
            <a:r>
              <a:rPr lang="en-US" altLang="ko-KR"/>
              <a:t>. </a:t>
            </a:r>
            <a:r>
              <a:rPr lang="ko-KR" altLang="en-US"/>
              <a:t>모두 </a:t>
            </a:r>
            <a:r>
              <a:rPr lang="en-US" altLang="ko-KR"/>
              <a:t>0</a:t>
            </a:r>
            <a:r>
              <a:rPr lang="ko-KR" altLang="en-US"/>
              <a:t>이라서 더 나누지 않고 </a:t>
            </a:r>
            <a:r>
              <a:rPr lang="en-US" altLang="ko-KR"/>
              <a:t>"0" </a:t>
            </a:r>
            <a:r>
              <a:rPr lang="ko-KR" altLang="en-US"/>
              <a:t>한 글자를 반환한다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855664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(0110)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네 칸이 각각 </a:t>
            </a:r>
            <a:r>
              <a:rPr lang="en-US" altLang="ko-KR"/>
              <a:t>0,1,1,0</a:t>
            </a:r>
            <a:r>
              <a:rPr lang="ko-KR" altLang="en-US"/>
              <a:t>이므로 그 순서로 적는다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(0110)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네 사분면이 각각 한 색이므로 각 사분면을 한 기호로 기록한다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1, 1</a:t>
            </a:r>
            <a:r>
              <a:rPr lang="ko-KR" altLang="en-US"/>
              <a:t>개입니다</a:t>
            </a:r>
            <a:r>
              <a:rPr lang="en-US" altLang="ko-KR"/>
              <a:t>.</a:t>
            </a:r>
          </a:p>
          <a:p>
            <a:r>
              <a:rPr lang="ko-KR" altLang="en-US"/>
              <a:t>루트에서 균일하므로 자식을 만들지 않는다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1</a:t>
            </a:r>
            <a:r>
              <a:rPr lang="ko-KR" altLang="en-US"/>
              <a:t>개</a:t>
            </a:r>
            <a:r>
              <a:rPr lang="en-US" altLang="ko-KR"/>
              <a:t>,4</a:t>
            </a:r>
            <a:r>
              <a:rPr lang="ko-KR" altLang="en-US"/>
              <a:t>개입니다</a:t>
            </a:r>
            <a:r>
              <a:rPr lang="en-US" altLang="ko-KR"/>
              <a:t>.</a:t>
            </a:r>
          </a:p>
          <a:p>
            <a:r>
              <a:rPr lang="ko-KR" altLang="en-US"/>
              <a:t>혼합 루트 하나와 네 단위 칸 리프가 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깊이 </a:t>
            </a:r>
            <a:r>
              <a:rPr lang="en-US" altLang="ko-KR"/>
              <a:t>3,64</a:t>
            </a:r>
            <a:r>
              <a:rPr lang="ko-KR" altLang="en-US"/>
              <a:t>개입니다</a:t>
            </a:r>
            <a:r>
              <a:rPr lang="en-US" altLang="ko-KR"/>
              <a:t>.</a:t>
            </a:r>
          </a:p>
          <a:p>
            <a:r>
              <a:rPr lang="ko-KR" altLang="en-US"/>
              <a:t>변 길이 </a:t>
            </a:r>
            <a:r>
              <a:rPr lang="en-US" altLang="ko-KR"/>
              <a:t>8→4→2→1</a:t>
            </a:r>
            <a:r>
              <a:rPr lang="ko-KR" altLang="en-US"/>
              <a:t>이며 마지막 칸은 </a:t>
            </a:r>
            <a:r>
              <a:rPr lang="en-US" altLang="ko-KR"/>
              <a:t>8²</a:t>
            </a:r>
            <a:r>
              <a:rPr lang="ko-KR" altLang="en-US"/>
              <a:t>개이다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9,3,2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부분 문제 </a:t>
            </a:r>
            <a:r>
              <a:rPr lang="en-US" altLang="ko-KR"/>
              <a:t>9</a:t>
            </a:r>
            <a:r>
              <a:rPr lang="ko-KR" altLang="en-US"/>
              <a:t>개가 각각 </a:t>
            </a:r>
            <a:r>
              <a:rPr lang="en-US" altLang="ko-KR"/>
              <a:t>n/3 </a:t>
            </a:r>
            <a:r>
              <a:rPr lang="ko-KR" altLang="en-US"/>
              <a:t>크기이고 </a:t>
            </a:r>
            <a:r>
              <a:rPr lang="en-US" altLang="ko-KR"/>
              <a:t>3²=9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Θ(n³)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기준 지수 </a:t>
            </a:r>
            <a:r>
              <a:rPr lang="en-US" altLang="ko-KR"/>
              <a:t>3</a:t>
            </a:r>
            <a:r>
              <a:rPr lang="ko-KR" altLang="en-US"/>
              <a:t>이 결합 지수 </a:t>
            </a:r>
            <a:r>
              <a:rPr lang="en-US" altLang="ko-KR"/>
              <a:t>2</a:t>
            </a:r>
            <a:r>
              <a:rPr lang="ko-KR" altLang="en-US"/>
              <a:t>보다 크므로 재귀 하위 층이 지배한다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Θ(n² log n)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각 층 비용이 </a:t>
            </a:r>
            <a:r>
              <a:rPr lang="en-US" altLang="ko-KR"/>
              <a:t>Θ(n²)</a:t>
            </a:r>
            <a:r>
              <a:rPr lang="ko-KR" altLang="en-US"/>
              <a:t>이고 층 수가 </a:t>
            </a:r>
            <a:r>
              <a:rPr lang="en-US" altLang="ko-KR"/>
              <a:t>Θ(log n)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4.2–4.7 </a:t>
            </a:r>
            <a:r>
              <a:rPr lang="ko-KR" altLang="en-US"/>
              <a:t>계산과 실행 추적을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Θ(n log² n)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층 비용은 </a:t>
            </a:r>
            <a:r>
              <a:rPr lang="en-US" altLang="ko-KR"/>
              <a:t>n log n,n(log n−1),…</a:t>
            </a:r>
            <a:r>
              <a:rPr lang="ko-KR" altLang="en-US"/>
              <a:t>이고 로그 길이 등차수열을 합한다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4.2–4.7 </a:t>
            </a:r>
            <a:r>
              <a:rPr lang="ko-KR" altLang="en-US"/>
              <a:t>계산과 실행 추적의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요구한 결과를 모두 정확히 제시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비교</a:t>
            </a:r>
            <a:r>
              <a:rPr lang="en-US" altLang="ko-KR"/>
              <a:t>·</a:t>
            </a:r>
            <a:r>
              <a:rPr lang="ko-KR" altLang="en-US"/>
              <a:t>전이</a:t>
            </a:r>
            <a:r>
              <a:rPr lang="en-US" altLang="ko-KR"/>
              <a:t>·</a:t>
            </a:r>
            <a:r>
              <a:rPr lang="ko-KR" altLang="en-US"/>
              <a:t>계산의 근거 제시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병합 정렬로 </a:t>
            </a:r>
            <a:r>
              <a:rPr lang="en-US" altLang="ko-KR"/>
              <a:t>[6,2,5,1]</a:t>
            </a:r>
            <a:r>
              <a:rPr lang="ko-KR" altLang="en-US"/>
              <a:t>을 정렬하려 한다</a:t>
            </a:r>
            <a:r>
              <a:rPr lang="en-US" altLang="ko-KR"/>
              <a:t>. </a:t>
            </a:r>
            <a:r>
              <a:rPr lang="ko-KR" altLang="en-US"/>
              <a:t>처음에 배열을 가운데에서 같은 길이로 나눌 때 왼쪽 배열과 오른쪽 배열을 각각 쓰시오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4411222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</a:t>
            </a:r>
            <a:r>
              <a:rPr lang="ko-KR" altLang="en-US"/>
              <a:t>왼쪽 </a:t>
            </a:r>
            <a:r>
              <a:rPr lang="en-US" altLang="ko-KR"/>
              <a:t>[6,2], </a:t>
            </a:r>
            <a:r>
              <a:rPr lang="ko-KR" altLang="en-US"/>
              <a:t>오른쪽 </a:t>
            </a:r>
            <a:r>
              <a:rPr lang="en-US" altLang="ko-KR"/>
              <a:t>[5,1]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첫 두 원소가 왼쪽 부분이고 뒤의 두 원소가 오른쪽 부분이다</a:t>
            </a:r>
            <a:r>
              <a:rPr lang="en-US" altLang="ko-KR"/>
              <a:t>. </a:t>
            </a:r>
            <a:r>
              <a:rPr lang="ko-KR" altLang="en-US"/>
              <a:t>분할 단계에서는 원소를 정렬하거나 위치를 바꾸지 않는다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983624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병합 정렬에서 한 원소씩 나눈 </a:t>
            </a:r>
            <a:r>
              <a:rPr lang="en-US" altLang="ko-KR"/>
              <a:t>[6], [2]</a:t>
            </a:r>
            <a:r>
              <a:rPr lang="ko-KR" altLang="en-US"/>
              <a:t>를 병합하고</a:t>
            </a:r>
            <a:r>
              <a:rPr lang="en-US" altLang="ko-KR"/>
              <a:t>, [5], [1]</a:t>
            </a:r>
            <a:r>
              <a:rPr lang="ko-KR" altLang="en-US"/>
              <a:t>도 병합한다</a:t>
            </a:r>
            <a:r>
              <a:rPr lang="en-US" altLang="ko-KR"/>
              <a:t>. </a:t>
            </a:r>
            <a:r>
              <a:rPr lang="ko-KR" altLang="en-US"/>
              <a:t>두 병합 결과를 순서대로 쓰시오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448325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[2,6], [1,5]</a:t>
            </a:r>
            <a:r>
              <a:rPr lang="ko-KR" altLang="en-US"/>
              <a:t>입니다</a:t>
            </a:r>
            <a:r>
              <a:rPr lang="en-US" altLang="ko-KR"/>
              <a:t>. 6</a:t>
            </a:r>
            <a:r>
              <a:rPr lang="ko-KR" altLang="en-US"/>
              <a:t>과 </a:t>
            </a:r>
            <a:r>
              <a:rPr lang="en-US" altLang="ko-KR"/>
              <a:t>2 </a:t>
            </a:r>
            <a:r>
              <a:rPr lang="ko-KR" altLang="en-US"/>
              <a:t>중 작은 값 </a:t>
            </a:r>
            <a:r>
              <a:rPr lang="en-US" altLang="ko-KR"/>
              <a:t>2</a:t>
            </a:r>
            <a:r>
              <a:rPr lang="ko-KR" altLang="en-US"/>
              <a:t>를 먼저 넣으면 </a:t>
            </a:r>
            <a:r>
              <a:rPr lang="en-US" altLang="ko-KR"/>
              <a:t>[2,6]</a:t>
            </a:r>
            <a:r>
              <a:rPr lang="ko-KR" altLang="en-US"/>
              <a:t>이 된다</a:t>
            </a:r>
            <a:r>
              <a:rPr lang="en-US" altLang="ko-KR"/>
              <a:t>. 5</a:t>
            </a:r>
            <a:r>
              <a:rPr lang="ko-KR" altLang="en-US"/>
              <a:t>와 </a:t>
            </a:r>
            <a:r>
              <a:rPr lang="en-US" altLang="ko-KR"/>
              <a:t>1 </a:t>
            </a:r>
            <a:r>
              <a:rPr lang="ko-KR" altLang="en-US"/>
              <a:t>중 작은 값 </a:t>
            </a:r>
            <a:r>
              <a:rPr lang="en-US" altLang="ko-KR"/>
              <a:t>1</a:t>
            </a:r>
            <a:r>
              <a:rPr lang="ko-KR" altLang="en-US"/>
              <a:t>을 먼저 넣으면 </a:t>
            </a:r>
            <a:r>
              <a:rPr lang="en-US" altLang="ko-KR"/>
              <a:t>[1,5]</a:t>
            </a:r>
            <a:r>
              <a:rPr lang="ko-KR" altLang="en-US"/>
              <a:t>가 된다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5436944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정렬된 </a:t>
            </a:r>
            <a:r>
              <a:rPr lang="en-US" altLang="ko-KR"/>
              <a:t>[2,6]</a:t>
            </a:r>
            <a:r>
              <a:rPr lang="ko-KR" altLang="en-US"/>
              <a:t>과 </a:t>
            </a:r>
            <a:r>
              <a:rPr lang="en-US" altLang="ko-KR"/>
              <a:t>[1,5]</a:t>
            </a:r>
            <a:r>
              <a:rPr lang="ko-KR" altLang="en-US"/>
              <a:t>를 오름차순으로 병합한다</a:t>
            </a:r>
            <a:r>
              <a:rPr lang="en-US" altLang="ko-KR"/>
              <a:t>. </a:t>
            </a:r>
            <a:r>
              <a:rPr lang="ko-KR" altLang="en-US"/>
              <a:t>작은 값을 차례로 넣어 완성된 배열을 쓰시오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419131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[1,2,5,6]</a:t>
            </a:r>
            <a:r>
              <a:rPr lang="ko-KR" altLang="en-US"/>
              <a:t>입니다</a:t>
            </a:r>
            <a:r>
              <a:rPr lang="en-US" altLang="ko-KR"/>
              <a:t>. 2</a:t>
            </a:r>
            <a:r>
              <a:rPr lang="ko-KR" altLang="en-US"/>
              <a:t>와 </a:t>
            </a:r>
            <a:r>
              <a:rPr lang="en-US" altLang="ko-KR"/>
              <a:t>1 </a:t>
            </a:r>
            <a:r>
              <a:rPr lang="ko-KR" altLang="en-US"/>
              <a:t>중 </a:t>
            </a:r>
            <a:r>
              <a:rPr lang="en-US" altLang="ko-KR"/>
              <a:t>1, 2</a:t>
            </a:r>
            <a:r>
              <a:rPr lang="ko-KR" altLang="en-US"/>
              <a:t>와 </a:t>
            </a:r>
            <a:r>
              <a:rPr lang="en-US" altLang="ko-KR"/>
              <a:t>5 </a:t>
            </a:r>
            <a:r>
              <a:rPr lang="ko-KR" altLang="en-US"/>
              <a:t>중 </a:t>
            </a:r>
            <a:r>
              <a:rPr lang="en-US" altLang="ko-KR"/>
              <a:t>2, 6</a:t>
            </a:r>
            <a:r>
              <a:rPr lang="ko-KR" altLang="en-US"/>
              <a:t>과 </a:t>
            </a:r>
            <a:r>
              <a:rPr lang="en-US" altLang="ko-KR"/>
              <a:t>5 </a:t>
            </a:r>
            <a:r>
              <a:rPr lang="ko-KR" altLang="en-US"/>
              <a:t>중 </a:t>
            </a:r>
            <a:r>
              <a:rPr lang="en-US" altLang="ko-KR"/>
              <a:t>5</a:t>
            </a:r>
            <a:r>
              <a:rPr lang="ko-KR" altLang="en-US"/>
              <a:t>를 고른다</a:t>
            </a:r>
            <a:r>
              <a:rPr lang="en-US" altLang="ko-KR"/>
              <a:t>. </a:t>
            </a:r>
            <a:r>
              <a:rPr lang="ko-KR" altLang="en-US"/>
              <a:t>오른쪽이 비면 왼쪽에 남은 </a:t>
            </a:r>
            <a:r>
              <a:rPr lang="en-US" altLang="ko-KR"/>
              <a:t>6</a:t>
            </a:r>
            <a:r>
              <a:rPr lang="ko-KR" altLang="en-US"/>
              <a:t>을 마지막에 붙인다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191427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퀵 정렬의 분할이 끝나 </a:t>
            </a:r>
            <a:r>
              <a:rPr lang="en-US" altLang="ko-KR"/>
              <a:t>a=[3,4,1,8,7,6], L=3, hi=5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피벗 </a:t>
            </a:r>
            <a:r>
              <a:rPr lang="en-US" altLang="ko-KR"/>
              <a:t>6</a:t>
            </a:r>
            <a:r>
              <a:rPr lang="ko-KR" altLang="en-US"/>
              <a:t>을 제자리에 놓으려고 </a:t>
            </a:r>
            <a:r>
              <a:rPr lang="en-US" altLang="ko-KR"/>
              <a:t>a[L]</a:t>
            </a:r>
            <a:r>
              <a:rPr lang="ko-KR" altLang="en-US"/>
              <a:t>과 </a:t>
            </a:r>
            <a:r>
              <a:rPr lang="en-US" altLang="ko-KR"/>
              <a:t>a[hi]</a:t>
            </a:r>
            <a:r>
              <a:rPr lang="ko-KR" altLang="en-US"/>
              <a:t>를 교환한다</a:t>
            </a:r>
            <a:r>
              <a:rPr lang="en-US" altLang="ko-KR"/>
              <a:t>. </a:t>
            </a:r>
            <a:r>
              <a:rPr lang="ko-KR" altLang="en-US"/>
              <a:t>교환 후 배열과 피벗 인덱스를 쓰시오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6589620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</a:t>
            </a:r>
            <a:r>
              <a:rPr lang="ko-KR" altLang="en-US"/>
              <a:t>배열 </a:t>
            </a:r>
            <a:r>
              <a:rPr lang="en-US" altLang="ko-KR"/>
              <a:t>[3,4,1,6,7,8], </a:t>
            </a:r>
            <a:r>
              <a:rPr lang="ko-KR" altLang="en-US"/>
              <a:t>피벗 인덱스 </a:t>
            </a:r>
            <a:r>
              <a:rPr lang="en-US" altLang="ko-KR"/>
              <a:t>3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인덱스 </a:t>
            </a:r>
            <a:r>
              <a:rPr lang="en-US" altLang="ko-KR"/>
              <a:t>3</a:t>
            </a:r>
            <a:r>
              <a:rPr lang="ko-KR" altLang="en-US"/>
              <a:t>의 값 </a:t>
            </a:r>
            <a:r>
              <a:rPr lang="en-US" altLang="ko-KR"/>
              <a:t>8</a:t>
            </a:r>
            <a:r>
              <a:rPr lang="ko-KR" altLang="en-US"/>
              <a:t>과 인덱스 </a:t>
            </a:r>
            <a:r>
              <a:rPr lang="en-US" altLang="ko-KR"/>
              <a:t>5</a:t>
            </a:r>
            <a:r>
              <a:rPr lang="ko-KR" altLang="en-US"/>
              <a:t>의 피벗 </a:t>
            </a:r>
            <a:r>
              <a:rPr lang="en-US" altLang="ko-KR"/>
              <a:t>6</a:t>
            </a:r>
            <a:r>
              <a:rPr lang="ko-KR" altLang="en-US"/>
              <a:t>을 교환한다</a:t>
            </a:r>
            <a:r>
              <a:rPr lang="en-US" altLang="ko-KR"/>
              <a:t>. </a:t>
            </a:r>
            <a:r>
              <a:rPr lang="ko-KR" altLang="en-US"/>
              <a:t>피벗의 왼쪽 값은 </a:t>
            </a:r>
            <a:r>
              <a:rPr lang="en-US" altLang="ko-KR"/>
              <a:t>6 </a:t>
            </a:r>
            <a:r>
              <a:rPr lang="ko-KR" altLang="en-US"/>
              <a:t>이하이고 오른쪽 값은 </a:t>
            </a:r>
            <a:r>
              <a:rPr lang="en-US" altLang="ko-KR"/>
              <a:t>6</a:t>
            </a:r>
            <a:r>
              <a:rPr lang="ko-KR" altLang="en-US"/>
              <a:t>보다 크다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0818195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a=[8,4,1,3,7,6]</a:t>
            </a:r>
            <a:r>
              <a:rPr lang="ko-KR" altLang="en-US"/>
              <a:t>에서 피벗은 </a:t>
            </a:r>
            <a:r>
              <a:rPr lang="en-US" altLang="ko-KR"/>
              <a:t>a[5]=6, L=0, R=4</a:t>
            </a:r>
            <a:r>
              <a:rPr lang="ko-KR" altLang="en-US"/>
              <a:t>이다</a:t>
            </a:r>
            <a:r>
              <a:rPr lang="en-US" altLang="ko-KR"/>
              <a:t>. L≤R</a:t>
            </a:r>
            <a:r>
              <a:rPr lang="ko-KR" altLang="en-US"/>
              <a:t>이고 </a:t>
            </a:r>
            <a:r>
              <a:rPr lang="en-US" altLang="ko-KR"/>
              <a:t>a[L]≤6</a:t>
            </a:r>
            <a:r>
              <a:rPr lang="ko-KR" altLang="en-US"/>
              <a:t>인 동안 </a:t>
            </a:r>
            <a:r>
              <a:rPr lang="en-US" altLang="ko-KR"/>
              <a:t>L</a:t>
            </a:r>
            <a:r>
              <a:rPr lang="ko-KR" altLang="en-US"/>
              <a:t>을 늘린 뒤</a:t>
            </a:r>
            <a:r>
              <a:rPr lang="en-US" altLang="ko-KR"/>
              <a:t>, L≤R</a:t>
            </a:r>
            <a:r>
              <a:rPr lang="ko-KR" altLang="en-US"/>
              <a:t>이고 </a:t>
            </a:r>
            <a:r>
              <a:rPr lang="en-US" altLang="ko-KR"/>
              <a:t>a[R]&gt;6</a:t>
            </a:r>
            <a:r>
              <a:rPr lang="ko-KR" altLang="en-US"/>
              <a:t>인 동안 </a:t>
            </a:r>
            <a:r>
              <a:rPr lang="en-US" altLang="ko-KR"/>
              <a:t>R</a:t>
            </a:r>
            <a:r>
              <a:rPr lang="ko-KR" altLang="en-US"/>
              <a:t>을 줄인다</a:t>
            </a:r>
            <a:r>
              <a:rPr lang="en-US" altLang="ko-KR"/>
              <a:t>. </a:t>
            </a:r>
            <a:r>
              <a:rPr lang="ko-KR" altLang="en-US"/>
              <a:t>멈춘 </a:t>
            </a:r>
            <a:r>
              <a:rPr lang="en-US" altLang="ko-KR"/>
              <a:t>L, R</a:t>
            </a:r>
            <a:r>
              <a:rPr lang="ko-KR" altLang="en-US"/>
              <a:t>은</a:t>
            </a:r>
            <a:r>
              <a:rPr lang="en-US" altLang="ko-KR"/>
              <a:t>?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0543780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L=0, R=3</a:t>
            </a:r>
            <a:r>
              <a:rPr lang="ko-KR" altLang="en-US"/>
              <a:t>입니다</a:t>
            </a:r>
            <a:r>
              <a:rPr lang="en-US" altLang="ko-KR"/>
              <a:t>. a[0]=8</a:t>
            </a:r>
            <a:r>
              <a:rPr lang="ko-KR" altLang="en-US"/>
              <a:t>은 </a:t>
            </a:r>
            <a:r>
              <a:rPr lang="en-US" altLang="ko-KR"/>
              <a:t>6</a:t>
            </a:r>
            <a:r>
              <a:rPr lang="ko-KR" altLang="en-US"/>
              <a:t>보다 크므로 </a:t>
            </a:r>
            <a:r>
              <a:rPr lang="en-US" altLang="ko-KR"/>
              <a:t>L</a:t>
            </a:r>
            <a:r>
              <a:rPr lang="ko-KR" altLang="en-US"/>
              <a:t>은 </a:t>
            </a:r>
            <a:r>
              <a:rPr lang="en-US" altLang="ko-KR"/>
              <a:t>0</a:t>
            </a:r>
            <a:r>
              <a:rPr lang="ko-KR" altLang="en-US"/>
              <a:t>에서 멈춘다</a:t>
            </a:r>
            <a:r>
              <a:rPr lang="en-US" altLang="ko-KR"/>
              <a:t>. a[4]=7</a:t>
            </a:r>
            <a:r>
              <a:rPr lang="ko-KR" altLang="en-US"/>
              <a:t>은 </a:t>
            </a:r>
            <a:r>
              <a:rPr lang="en-US" altLang="ko-KR"/>
              <a:t>6</a:t>
            </a:r>
            <a:r>
              <a:rPr lang="ko-KR" altLang="en-US"/>
              <a:t>보다 커서 </a:t>
            </a:r>
            <a:r>
              <a:rPr lang="en-US" altLang="ko-KR"/>
              <a:t>R</a:t>
            </a:r>
            <a:r>
              <a:rPr lang="ko-KR" altLang="en-US"/>
              <a:t>을 </a:t>
            </a:r>
            <a:r>
              <a:rPr lang="en-US" altLang="ko-KR"/>
              <a:t>3</a:t>
            </a:r>
            <a:r>
              <a:rPr lang="ko-KR" altLang="en-US"/>
              <a:t>으로 줄인다</a:t>
            </a:r>
            <a:r>
              <a:rPr lang="en-US" altLang="ko-KR"/>
              <a:t>. a[3]=3</a:t>
            </a:r>
            <a:r>
              <a:rPr lang="ko-KR" altLang="en-US"/>
              <a:t>에서 멈춘다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786757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퀵 정렬의 </a:t>
            </a:r>
            <a:r>
              <a:rPr lang="en-US" altLang="ko-KR"/>
              <a:t>[0,5] </a:t>
            </a:r>
            <a:r>
              <a:rPr lang="ko-KR" altLang="en-US"/>
              <a:t>구간에서 피벗 인덱스 </a:t>
            </a:r>
            <a:r>
              <a:rPr lang="en-US" altLang="ko-KR"/>
              <a:t>p=3</a:t>
            </a:r>
            <a:r>
              <a:rPr lang="ko-KR" altLang="en-US"/>
              <a:t>이 확정되었다</a:t>
            </a:r>
            <a:r>
              <a:rPr lang="en-US" altLang="ko-KR"/>
              <a:t>. </a:t>
            </a:r>
            <a:r>
              <a:rPr lang="ko-KR" altLang="en-US"/>
              <a:t>피벗을 제외하고 재귀 정렬할 왼쪽</a:t>
            </a:r>
            <a:r>
              <a:rPr lang="en-US" altLang="ko-KR"/>
              <a:t>·</a:t>
            </a:r>
            <a:r>
              <a:rPr lang="ko-KR" altLang="en-US"/>
              <a:t>오른쪽 구간을 쓰시오</a:t>
            </a:r>
            <a:r>
              <a:rPr lang="en-US" altLang="ko-KR"/>
              <a:t>. </a:t>
            </a:r>
            <a:r>
              <a:rPr lang="ko-KR" altLang="en-US"/>
              <a:t>구간은 양 끝 인덱스를 포함한다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82725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</a:t>
            </a:r>
            <a:r>
              <a:rPr lang="ko-KR" altLang="en-US"/>
              <a:t>왼쪽 </a:t>
            </a:r>
            <a:r>
              <a:rPr lang="en-US" altLang="ko-KR"/>
              <a:t>[0,2], </a:t>
            </a:r>
            <a:r>
              <a:rPr lang="ko-KR" altLang="en-US"/>
              <a:t>오른쪽 </a:t>
            </a:r>
            <a:r>
              <a:rPr lang="en-US" altLang="ko-KR"/>
              <a:t>[4,5]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피벗 인덱스 </a:t>
            </a:r>
            <a:r>
              <a:rPr lang="en-US" altLang="ko-KR"/>
              <a:t>3</a:t>
            </a:r>
            <a:r>
              <a:rPr lang="ko-KR" altLang="en-US"/>
              <a:t>은 다시 정렬하지 않는다</a:t>
            </a:r>
            <a:r>
              <a:rPr lang="en-US" altLang="ko-KR"/>
              <a:t>. </a:t>
            </a:r>
            <a:r>
              <a:rPr lang="ko-KR" altLang="en-US"/>
              <a:t>왼쪽은 </a:t>
            </a:r>
            <a:r>
              <a:rPr lang="en-US" altLang="ko-KR"/>
              <a:t>[lo,p-1]=[0,2], </a:t>
            </a:r>
            <a:r>
              <a:rPr lang="ko-KR" altLang="en-US"/>
              <a:t>오른쪽은 </a:t>
            </a:r>
            <a:r>
              <a:rPr lang="en-US" altLang="ko-KR"/>
              <a:t>[p+1,hi]=[4,5]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006267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두 입력 정렬 전제 </a:t>
            </a:r>
            <a:r>
              <a:rPr lang="en-US" altLang="ko-KR"/>
              <a:t>1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전체 최소 근거 </a:t>
            </a:r>
            <a:r>
              <a:rPr lang="en-US" altLang="ko-KR"/>
              <a:t>3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반복 결론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각 입력이 정렬되어 있어 현재 원소가 그 입력의 남은 최솟값이다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두 최솟값 중 작은 값은 전체 남은 원소의 최솟값이다</a:t>
            </a:r>
            <a:r>
              <a:rPr lang="en-US" altLang="ko-KR"/>
              <a:t>. </a:t>
            </a:r>
            <a:r>
              <a:rPr lang="ko-KR" altLang="en-US"/>
              <a:t>이를 반복하면 정렬 결과가 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두 입력 정렬 전제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전체 최소 근거 </a:t>
            </a:r>
            <a:r>
              <a:rPr lang="en-US" altLang="ko-KR"/>
              <a:t>3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반복 결론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반례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원래 순서 비교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수정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왼쪽 </a:t>
            </a:r>
            <a:r>
              <a:rPr lang="en-US" altLang="ko-KR"/>
              <a:t>[2A], </a:t>
            </a:r>
            <a:r>
              <a:rPr lang="ko-KR" altLang="en-US"/>
              <a:t>오른쪽 </a:t>
            </a:r>
            <a:r>
              <a:rPr lang="en-US" altLang="ko-KR"/>
              <a:t>[2B]</a:t>
            </a:r>
            <a:r>
              <a:rPr lang="ko-KR" altLang="en-US"/>
              <a:t>이면 결과가 </a:t>
            </a:r>
            <a:r>
              <a:rPr lang="en-US" altLang="ko-KR"/>
              <a:t>[2B,2A]</a:t>
            </a:r>
            <a:r>
              <a:rPr lang="ko-KR" altLang="en-US"/>
              <a:t>가 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원래 앞에 있던 </a:t>
            </a:r>
            <a:r>
              <a:rPr lang="en-US" altLang="ko-KR"/>
              <a:t>A</a:t>
            </a:r>
            <a:r>
              <a:rPr lang="ko-KR" altLang="en-US"/>
              <a:t>가 뒤로 이동했다</a:t>
            </a:r>
            <a:r>
              <a:rPr lang="en-US" altLang="ko-KR"/>
              <a:t>. </a:t>
            </a:r>
            <a:r>
              <a:rPr lang="ko-KR" altLang="en-US"/>
              <a:t>왼쪽을 우선하면 같은 키의 상대 순서가 유지된다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반례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원래 순서 비교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수정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길이</a:t>
            </a:r>
            <a:r>
              <a:rPr lang="en-US" altLang="ko-KR"/>
              <a:t>·</a:t>
            </a:r>
            <a:r>
              <a:rPr lang="ko-KR" altLang="en-US"/>
              <a:t>기저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두 분할 구간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무누락 설명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길이가 </a:t>
            </a:r>
            <a:r>
              <a:rPr lang="en-US" altLang="ko-KR"/>
              <a:t>hi−lo</a:t>
            </a:r>
            <a:r>
              <a:rPr lang="ko-KR" altLang="en-US"/>
              <a:t>이고 </a:t>
            </a:r>
            <a:r>
              <a:rPr lang="en-US" altLang="ko-KR"/>
              <a:t>hi−lo≤1</a:t>
            </a:r>
            <a:r>
              <a:rPr lang="ko-KR" altLang="en-US"/>
              <a:t>이면 종료한다</a:t>
            </a:r>
            <a:r>
              <a:rPr lang="en-US" altLang="ko-KR"/>
              <a:t>. </a:t>
            </a:r>
            <a:r>
              <a:rPr lang="ko-KR" altLang="en-US"/>
              <a:t>분할은 </a:t>
            </a:r>
            <a:r>
              <a:rPr lang="en-US" altLang="ko-KR"/>
              <a:t>[lo,mid),[mid,hi)</a:t>
            </a:r>
            <a:r>
              <a:rPr lang="ko-KR" altLang="en-US"/>
              <a:t>이다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원소가 중복되거나 빠지지 않고 빈 구간도 길이 </a:t>
            </a:r>
            <a:r>
              <a:rPr lang="en-US" altLang="ko-KR"/>
              <a:t>0</a:t>
            </a:r>
            <a:r>
              <a:rPr lang="ko-KR" altLang="en-US"/>
              <a:t>으로 표현된다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길이</a:t>
            </a:r>
            <a:r>
              <a:rPr lang="en-US" altLang="ko-KR"/>
              <a:t>·</a:t>
            </a:r>
            <a:r>
              <a:rPr lang="ko-KR" altLang="en-US"/>
              <a:t>기저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두 분할 구간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무누락 설명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반례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실제 답 </a:t>
            </a:r>
            <a:r>
              <a:rPr lang="en-US" altLang="ko-KR"/>
              <a:t>1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누락 경우와 수정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[2,3]</a:t>
            </a:r>
            <a:r>
              <a:rPr lang="ko-KR" altLang="en-US"/>
              <a:t>을 둘로 나누면 각 답은 </a:t>
            </a:r>
            <a:r>
              <a:rPr lang="en-US" altLang="ko-KR"/>
              <a:t>2,3</a:t>
            </a:r>
            <a:r>
              <a:rPr lang="ko-KR" altLang="en-US"/>
              <a:t>이나 전체 답은 </a:t>
            </a:r>
            <a:r>
              <a:rPr lang="en-US" altLang="ko-KR"/>
              <a:t>5</a:t>
            </a:r>
            <a:r>
              <a:rPr lang="ko-KR" altLang="en-US"/>
              <a:t>이다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경계를 가로지르는 구간을 빼먹었다</a:t>
            </a:r>
            <a:r>
              <a:rPr lang="en-US" altLang="ko-KR"/>
              <a:t>. </a:t>
            </a:r>
            <a:r>
              <a:rPr lang="ko-KR" altLang="en-US"/>
              <a:t>왼쪽 최대 접미와 오른쪽 최대 접두를 더한 후보가 필요하다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반례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실제 답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누락 경우와 수정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반례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초기화 수정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비어 있지 않음 연결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[−5,−2]</a:t>
            </a:r>
            <a:r>
              <a:rPr lang="ko-KR" altLang="en-US"/>
              <a:t>에서 잘못된 </a:t>
            </a:r>
            <a:r>
              <a:rPr lang="en-US" altLang="ko-KR"/>
              <a:t>0</a:t>
            </a:r>
            <a:r>
              <a:rPr lang="ko-KR" altLang="en-US"/>
              <a:t>이 남는다</a:t>
            </a:r>
            <a:r>
              <a:rPr lang="en-US" altLang="ko-KR"/>
              <a:t>. </a:t>
            </a:r>
            <a:r>
              <a:rPr lang="ko-KR" altLang="en-US"/>
              <a:t>첫 유효 합이나 음의 무한대로 초기화한다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빈 구간을 허용하지 않는 계약을 초기값과 기저 사례에도 반영해야 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반례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초기화 수정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비어 있지 않음 연결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경계 두 위치 포함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접미</a:t>
            </a:r>
            <a:r>
              <a:rPr lang="en-US" altLang="ko-KR"/>
              <a:t>·</a:t>
            </a:r>
            <a:r>
              <a:rPr lang="ko-KR" altLang="en-US"/>
              <a:t>접두 도출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독립 최대화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경계를 지나는 연속 구간은 반드시 </a:t>
            </a:r>
            <a:r>
              <a:rPr lang="en-US" altLang="ko-KR"/>
              <a:t>mid</a:t>
            </a:r>
            <a:r>
              <a:rPr lang="ko-KR" altLang="en-US"/>
              <a:t>와 </a:t>
            </a:r>
            <a:r>
              <a:rPr lang="en-US" altLang="ko-KR"/>
              <a:t>mid+1</a:t>
            </a:r>
            <a:r>
              <a:rPr lang="ko-KR" altLang="en-US"/>
              <a:t>을 포함한다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따라서 왼쪽 선택은 </a:t>
            </a:r>
            <a:r>
              <a:rPr lang="en-US" altLang="ko-KR"/>
              <a:t>mid</a:t>
            </a:r>
            <a:r>
              <a:rPr lang="ko-KR" altLang="en-US"/>
              <a:t>에서 끝나고 오른쪽 선택은 </a:t>
            </a:r>
            <a:r>
              <a:rPr lang="en-US" altLang="ko-KR"/>
              <a:t>mid+1</a:t>
            </a:r>
            <a:r>
              <a:rPr lang="ko-KR" altLang="en-US"/>
              <a:t>에서 시작한다</a:t>
            </a:r>
            <a:r>
              <a:rPr lang="en-US" altLang="ko-KR"/>
              <a:t>. </a:t>
            </a:r>
            <a:r>
              <a:rPr lang="ko-KR" altLang="en-US"/>
              <a:t>두 쪽을 각각 최대화해 합한다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경계 두 위치 포함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접미</a:t>
            </a:r>
            <a:r>
              <a:rPr lang="en-US" altLang="ko-KR"/>
              <a:t>·</a:t>
            </a:r>
            <a:r>
              <a:rPr lang="ko-KR" altLang="en-US"/>
              <a:t>접두 도출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독립 최대화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</a:t>
            </a:r>
            <a:r>
              <a:rPr lang="ko-KR" altLang="en-US"/>
              <a:t>퀵 정렬의 탐색 조건은 </a:t>
            </a:r>
            <a:r>
              <a:rPr lang="en-US" altLang="ko-KR"/>
              <a:t>L≤R and a[L]≤pivot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왼쪽 조건이 거짓이면 오른쪽을 평가하지 않는다고 할 때</a:t>
            </a:r>
            <a:r>
              <a:rPr lang="en-US" altLang="ko-KR"/>
              <a:t>, a[L]</a:t>
            </a:r>
            <a:r>
              <a:rPr lang="ko-KR" altLang="en-US"/>
              <a:t>을 읽기 전에 </a:t>
            </a:r>
            <a:r>
              <a:rPr lang="en-US" altLang="ko-KR"/>
              <a:t>L≤R</a:t>
            </a:r>
            <a:r>
              <a:rPr lang="ko-KR" altLang="en-US"/>
              <a:t>을 먼저 확인하는 이유를 설명하시오</a:t>
            </a:r>
            <a:r>
              <a:rPr lang="en-US" altLang="ko-KR"/>
              <a:t>. </a:t>
            </a:r>
            <a:r>
              <a:rPr lang="ko-KR" altLang="en-US"/>
              <a:t>요구한 답과 짧은 판단 근거를 적어 주세요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6576885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</a:t>
            </a:r>
            <a:r>
              <a:rPr lang="ko-KR" altLang="en-US"/>
              <a:t>포인터가 교차한 뒤 탐색 구간 밖의 배열 값을 읽지 않기 위해서이다</a:t>
            </a:r>
            <a:r>
              <a:rPr lang="en-US" altLang="ko-KR"/>
              <a:t>. L&gt;R</a:t>
            </a:r>
            <a:r>
              <a:rPr lang="ko-KR" altLang="en-US"/>
              <a:t>이면 아직 검사할 구간이 비어 있다</a:t>
            </a:r>
            <a:r>
              <a:rPr lang="en-US" altLang="ko-KR"/>
              <a:t>. </a:t>
            </a:r>
            <a:r>
              <a:rPr lang="ko-KR" altLang="en-US"/>
              <a:t>조건의 왼쪽에서 이를 확인하면 </a:t>
            </a:r>
            <a:r>
              <a:rPr lang="en-US" altLang="ko-KR"/>
              <a:t>a[L] </a:t>
            </a:r>
            <a:r>
              <a:rPr lang="ko-KR" altLang="en-US"/>
              <a:t>접근을 생략하고 탐색을 끝낼 수 있다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149553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</a:t>
            </a:r>
            <a:r>
              <a:rPr lang="ko-KR" altLang="en-US"/>
              <a:t>빠른 거듭제곱에서 같은 절반 지수의 함수 호출을 두 번 곱하지 않고</a:t>
            </a:r>
            <a:r>
              <a:rPr lang="en-US" altLang="ko-KR"/>
              <a:t>, half=mod_power(a,b//2,m)</a:t>
            </a:r>
            <a:r>
              <a:rPr lang="ko-KR" altLang="en-US"/>
              <a:t>을 한 번 호출한 뒤 </a:t>
            </a:r>
            <a:r>
              <a:rPr lang="en-US" altLang="ko-KR"/>
              <a:t>half * half</a:t>
            </a:r>
            <a:r>
              <a:rPr lang="ko-KR" altLang="en-US"/>
              <a:t>를 쓴다</a:t>
            </a:r>
            <a:r>
              <a:rPr lang="en-US" altLang="ko-KR"/>
              <a:t>. </a:t>
            </a:r>
            <a:r>
              <a:rPr lang="ko-KR" altLang="en-US"/>
              <a:t>두 방식의 결과는 같아도 저장한 </a:t>
            </a:r>
            <a:r>
              <a:rPr lang="en-US" altLang="ko-KR"/>
              <a:t>half</a:t>
            </a:r>
            <a:r>
              <a:rPr lang="ko-KR" altLang="en-US"/>
              <a:t>를 재사용하는 방식이 효율적인 이유를 설명하시오</a:t>
            </a:r>
            <a:r>
              <a:rPr lang="en-US" altLang="ko-KR"/>
              <a:t>. </a:t>
            </a:r>
            <a:r>
              <a:rPr lang="ko-KR" altLang="en-US"/>
              <a:t>요구한 답과 짧은 판단 근거를 적어 주세요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8027723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</a:t>
            </a:r>
            <a:r>
              <a:rPr lang="ko-KR" altLang="en-US"/>
              <a:t>같은 작은 문제를 한 번만 계산하고 저장된 결과를 두 번 사용하므로 중복 재귀 계산을 줄인다</a:t>
            </a:r>
            <a:r>
              <a:rPr lang="en-US" altLang="ko-KR"/>
              <a:t>. half * half</a:t>
            </a:r>
            <a:r>
              <a:rPr lang="ko-KR" altLang="en-US"/>
              <a:t>는 함수 호출 두 번이 아니라 저장된 숫자 두 개의 곱셈이다</a:t>
            </a:r>
            <a:r>
              <a:rPr lang="en-US" altLang="ko-KR"/>
              <a:t>. </a:t>
            </a:r>
            <a:r>
              <a:rPr lang="ko-KR" altLang="en-US"/>
              <a:t>지수를 절반으로 줄이는 재귀는 각 단계에서 한 번만 실행된다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327516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</a:t>
            </a:r>
            <a:r>
              <a:rPr lang="ko-KR" altLang="en-US"/>
              <a:t>영상 배열 </a:t>
            </a:r>
            <a:r>
              <a:rPr lang="en-US" altLang="ko-KR"/>
              <a:t>image[r][c]</a:t>
            </a:r>
            <a:r>
              <a:rPr lang="ko-KR" altLang="en-US"/>
              <a:t>에서 </a:t>
            </a:r>
            <a:r>
              <a:rPr lang="en-US" altLang="ko-KR"/>
              <a:t>r</a:t>
            </a:r>
            <a:r>
              <a:rPr lang="ko-KR" altLang="en-US"/>
              <a:t>은 행</a:t>
            </a:r>
            <a:r>
              <a:rPr lang="en-US" altLang="ko-KR"/>
              <a:t>, c</a:t>
            </a:r>
            <a:r>
              <a:rPr lang="ko-KR" altLang="en-US"/>
              <a:t>는 열이다</a:t>
            </a:r>
            <a:r>
              <a:rPr lang="en-US" altLang="ko-KR"/>
              <a:t>. </a:t>
            </a:r>
            <a:r>
              <a:rPr lang="ko-KR" altLang="en-US"/>
              <a:t>쿼드 트리의 좌하 자식은 </a:t>
            </a:r>
            <a:r>
              <a:rPr lang="en-US" altLang="ko-KR"/>
              <a:t>(r+half,c,half)</a:t>
            </a:r>
            <a:r>
              <a:rPr lang="ko-KR" altLang="en-US"/>
              <a:t>로 호출한다</a:t>
            </a:r>
            <a:r>
              <a:rPr lang="en-US" altLang="ko-KR"/>
              <a:t>. (c</a:t>
            </a:r>
            <a:r>
              <a:rPr lang="ko-KR" altLang="en-US"/>
              <a:t>에 </a:t>
            </a:r>
            <a:r>
              <a:rPr lang="en-US" altLang="ko-KR"/>
              <a:t>half</a:t>
            </a:r>
            <a:r>
              <a:rPr lang="ko-KR" altLang="en-US"/>
              <a:t>를 더하는 대신</a:t>
            </a:r>
            <a:r>
              <a:rPr lang="en-US" altLang="ko-KR"/>
              <a:t>) r</a:t>
            </a:r>
            <a:r>
              <a:rPr lang="ko-KR" altLang="en-US"/>
              <a:t>에 </a:t>
            </a:r>
            <a:r>
              <a:rPr lang="en-US" altLang="ko-KR"/>
              <a:t>half</a:t>
            </a:r>
            <a:r>
              <a:rPr lang="ko-KR" altLang="en-US"/>
              <a:t>를 더하는 이유를 위치와 연결해 설명하시오</a:t>
            </a:r>
            <a:r>
              <a:rPr lang="en-US" altLang="ko-KR"/>
              <a:t>. </a:t>
            </a:r>
            <a:r>
              <a:rPr lang="ko-KR" altLang="en-US"/>
              <a:t>요구한 답과 짧은 판단 근거를 적어 주세요</a:t>
            </a:r>
            <a:r>
              <a:rPr lang="en-US" altLang="ko-KR"/>
              <a:t>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9667753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</a:t>
            </a:r>
            <a:r>
              <a:rPr lang="ko-KR" altLang="en-US"/>
              <a:t>행 번호가 증가하면 아래로 이동하고</a:t>
            </a:r>
            <a:r>
              <a:rPr lang="en-US" altLang="ko-KR"/>
              <a:t>, </a:t>
            </a:r>
            <a:r>
              <a:rPr lang="ko-KR" altLang="en-US"/>
              <a:t>좌하이므로 열은 그대로 유지해야 한다</a:t>
            </a:r>
            <a:r>
              <a:rPr lang="en-US" altLang="ko-KR"/>
              <a:t>. r+half</a:t>
            </a:r>
            <a:r>
              <a:rPr lang="ko-KR" altLang="en-US"/>
              <a:t>는 현재 영역의 아래 절반을 가리킨다</a:t>
            </a:r>
            <a:r>
              <a:rPr lang="en-US" altLang="ko-KR"/>
              <a:t>. c+half</a:t>
            </a:r>
            <a:r>
              <a:rPr lang="ko-KR" altLang="en-US"/>
              <a:t>로 바꾸면 오른쪽으로 이동하므로 좌하가 아니라 우상이 된다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1695985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위치</a:t>
            </a:r>
            <a:r>
              <a:rPr lang="en-US" altLang="ko-KR"/>
              <a:t>·</a:t>
            </a:r>
            <a:r>
              <a:rPr lang="ko-KR" altLang="en-US"/>
              <a:t>크기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색으로 복원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혼합 영역 구별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영역의 위치와 크기를 알고 있으므로 색 하나로 모든 칸을 채울 수 있다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혼합 영역만 정해진 순서의 네 자식을 읽는다</a:t>
            </a:r>
            <a:r>
              <a:rPr lang="en-US" altLang="ko-KR"/>
              <a:t>. </a:t>
            </a:r>
            <a:r>
              <a:rPr lang="ko-KR" altLang="en-US"/>
              <a:t>리프의 색과 재귀 위치가 함께 정보를 보존한다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위치</a:t>
            </a:r>
            <a:r>
              <a:rPr lang="en-US" altLang="ko-KR"/>
              <a:t>·</a:t>
            </a:r>
            <a:r>
              <a:rPr lang="ko-KR" altLang="en-US"/>
              <a:t>크기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색으로 복원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혼합 영역 구별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혼합성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리프 수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출력 차수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작은 영역에도 색이 섞여 결국 </a:t>
            </a:r>
            <a:r>
              <a:rPr lang="en-US" altLang="ko-KR"/>
              <a:t>1×1</a:t>
            </a:r>
            <a:r>
              <a:rPr lang="ko-KR" altLang="en-US"/>
              <a:t>까지 내려가야 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N²</a:t>
            </a:r>
            <a:r>
              <a:rPr lang="ko-KR" altLang="en-US"/>
              <a:t>개 리프 기호와 내부 구조 기호가 필요하므로 균일 영상과 달리 출력 크기가 </a:t>
            </a:r>
            <a:r>
              <a:rPr lang="en-US" altLang="ko-KR"/>
              <a:t>Θ(N²)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혼합성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리프 수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출력 차수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경계 반례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객체 크기 고려 </a:t>
            </a:r>
            <a:r>
              <a:rPr lang="en-US" altLang="ko-KR"/>
              <a:t>1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수정 방향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경계 양쪽에 있는 두 큰 객체의 영역이 경계를 넘어 겹칠 수 있다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서로 다른 리프에 등록됐더라도 경계</a:t>
            </a:r>
            <a:r>
              <a:rPr lang="en-US" altLang="ko-KR"/>
              <a:t>·</a:t>
            </a:r>
            <a:r>
              <a:rPr lang="ko-KR" altLang="en-US"/>
              <a:t>이웃 영역을 조회하거나 객체의 전체 경계 상자를 이용해야 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경계 반례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객체 크기 고려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수정 방향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조건 불일치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올바른 분석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차수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n log n</a:t>
            </a:r>
            <a:r>
              <a:rPr lang="ko-KR" altLang="en-US"/>
              <a:t>은 </a:t>
            </a:r>
            <a:r>
              <a:rPr lang="en-US" altLang="ko-KR"/>
              <a:t>Θ(n)</a:t>
            </a:r>
            <a:r>
              <a:rPr lang="ko-KR" altLang="en-US"/>
              <a:t>이 아니므로 그 경우의 조건을 만족하지 않는다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층별 비용 </a:t>
            </a:r>
            <a:r>
              <a:rPr lang="en-US" altLang="ko-KR"/>
              <a:t>n(log n−i)</a:t>
            </a:r>
            <a:r>
              <a:rPr lang="ko-KR" altLang="en-US"/>
              <a:t>을 합하거나 확장 정리를 사용하면 </a:t>
            </a:r>
            <a:r>
              <a:rPr lang="en-US" altLang="ko-KR"/>
              <a:t>Θ(n log² n)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조건 불일치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올바른 분석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차수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전개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합 계산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적용 범위 구별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n+(n−1)+…+1=Θ(n²)</a:t>
            </a:r>
            <a:r>
              <a:rPr lang="ko-KR" altLang="en-US"/>
              <a:t>이다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부분 문제 크기가 고정 비율 감소가 아니므로 기본 마스터 정리를 억지로 적용하지 않는다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전개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합 계산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적용 범위 구별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정렬된 두 배열을 병합하다 한쪽 배열을 모두 사용했다</a:t>
            </a:r>
            <a:r>
              <a:rPr lang="en-US" altLang="ko-KR"/>
              <a:t>. </a:t>
            </a:r>
            <a:r>
              <a:rPr lang="ko-KR" altLang="en-US"/>
              <a:t>다른 배열의 남은 원소를 순서대로 붙여도 되는 이유를 설명하시오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2314678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</a:t>
            </a:r>
            <a:r>
              <a:rPr lang="ko-KR" altLang="en-US"/>
              <a:t>남은 배열도 정렬되어 있고 비교할 반대쪽 원소가 없다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병합 과정에서 앞의 작은 값들을 이미 결과에 넣었다</a:t>
            </a:r>
            <a:r>
              <a:rPr lang="en-US" altLang="ko-KR"/>
              <a:t>. </a:t>
            </a:r>
            <a:r>
              <a:rPr lang="ko-KR" altLang="en-US"/>
              <a:t>남은 배열 내부의 순서를 유지하면 전체 오름차순도 유지된다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4917763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[1,5]</a:t>
            </a:r>
            <a:r>
              <a:rPr lang="ko-KR" altLang="en-US"/>
              <a:t>와 </a:t>
            </a:r>
            <a:r>
              <a:rPr lang="en-US" altLang="ko-KR"/>
              <a:t>[2,4]</a:t>
            </a:r>
            <a:r>
              <a:rPr lang="ko-KR" altLang="en-US"/>
              <a:t>는 각각 정렬되어 있다</a:t>
            </a:r>
            <a:r>
              <a:rPr lang="en-US" altLang="ko-KR"/>
              <a:t>. </a:t>
            </a:r>
            <a:r>
              <a:rPr lang="ko-KR" altLang="en-US"/>
              <a:t>그대로 이어 붙이면 </a:t>
            </a:r>
            <a:r>
              <a:rPr lang="en-US" altLang="ko-KR"/>
              <a:t>[1,5,2,4]</a:t>
            </a:r>
            <a:r>
              <a:rPr lang="ko-KR" altLang="en-US"/>
              <a:t>가 된다</a:t>
            </a:r>
            <a:r>
              <a:rPr lang="en-US" altLang="ko-KR"/>
              <a:t>. </a:t>
            </a:r>
            <a:r>
              <a:rPr lang="ko-KR" altLang="en-US"/>
              <a:t>이 결과가 정렬되지 않은 이유와 올바르게 병합하는 방법을 설명하시오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672010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5 </a:t>
            </a:r>
            <a:r>
              <a:rPr lang="ko-KR" altLang="en-US"/>
              <a:t>뒤의 </a:t>
            </a:r>
            <a:r>
              <a:rPr lang="en-US" altLang="ko-KR"/>
              <a:t>2</a:t>
            </a:r>
            <a:r>
              <a:rPr lang="ko-KR" altLang="en-US"/>
              <a:t>가 더 작다</a:t>
            </a:r>
            <a:r>
              <a:rPr lang="en-US" altLang="ko-KR"/>
              <a:t>. </a:t>
            </a:r>
            <a:r>
              <a:rPr lang="ko-KR" altLang="en-US"/>
              <a:t>양쪽 현재 값 중 작은 값을 먼저 넣는다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각 부분이 정렬되어 있어도 두 부분의 값 범위는 겹칠 수 있다</a:t>
            </a:r>
            <a:r>
              <a:rPr lang="en-US" altLang="ko-KR"/>
              <a:t>. </a:t>
            </a:r>
            <a:r>
              <a:rPr lang="ko-KR" altLang="en-US"/>
              <a:t>양쪽 앞의 값을 비교해 </a:t>
            </a:r>
            <a:r>
              <a:rPr lang="en-US" altLang="ko-KR"/>
              <a:t>1, 2, 4, 5 </a:t>
            </a:r>
            <a:r>
              <a:rPr lang="ko-KR" altLang="en-US"/>
              <a:t>순서로 결과를 만든다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8918575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(</a:t>
            </a:r>
            <a:r>
              <a:rPr lang="ko-KR" altLang="en-US"/>
              <a:t>점수</a:t>
            </a:r>
            <a:r>
              <a:rPr lang="en-US" altLang="ko-KR"/>
              <a:t>,</a:t>
            </a:r>
            <a:r>
              <a:rPr lang="ko-KR" altLang="en-US"/>
              <a:t>이름</a:t>
            </a:r>
            <a:r>
              <a:rPr lang="en-US" altLang="ko-KR"/>
              <a:t>)</a:t>
            </a:r>
            <a:r>
              <a:rPr lang="ko-KR" altLang="en-US"/>
              <a:t>이 </a:t>
            </a:r>
            <a:r>
              <a:rPr lang="en-US" altLang="ko-KR"/>
              <a:t>[(2,A),(1,B),(2,C)]</a:t>
            </a:r>
            <a:r>
              <a:rPr lang="ko-KR" altLang="en-US"/>
              <a:t>인 배열을 점수로 정렬한다</a:t>
            </a:r>
            <a:r>
              <a:rPr lang="en-US" altLang="ko-KR"/>
              <a:t>. </a:t>
            </a:r>
            <a:r>
              <a:rPr lang="ko-KR" altLang="en-US"/>
              <a:t>안정 정렬은 같은 점수의 원래 순서를 유지한다</a:t>
            </a:r>
            <a:r>
              <a:rPr lang="en-US" altLang="ko-KR"/>
              <a:t>. </a:t>
            </a:r>
            <a:r>
              <a:rPr lang="ko-KR" altLang="en-US"/>
              <a:t>안정적인 병합 정렬의 결과와 </a:t>
            </a:r>
            <a:r>
              <a:rPr lang="en-US" altLang="ko-KR"/>
              <a:t>A·C</a:t>
            </a:r>
            <a:r>
              <a:rPr lang="ko-KR" altLang="en-US"/>
              <a:t>의 순서를 설명하시오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3144747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[(1,B),(2,A),(2,C)]. </a:t>
            </a:r>
            <a:r>
              <a:rPr lang="ko-KR" altLang="en-US"/>
              <a:t>같은 점수에서 </a:t>
            </a:r>
            <a:r>
              <a:rPr lang="en-US" altLang="ko-KR"/>
              <a:t>A</a:t>
            </a:r>
            <a:r>
              <a:rPr lang="ko-KR" altLang="en-US"/>
              <a:t>가 </a:t>
            </a:r>
            <a:r>
              <a:rPr lang="en-US" altLang="ko-KR"/>
              <a:t>C</a:t>
            </a:r>
            <a:r>
              <a:rPr lang="ko-KR" altLang="en-US"/>
              <a:t>보다 앞선다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점수 </a:t>
            </a:r>
            <a:r>
              <a:rPr lang="en-US" altLang="ko-KR"/>
              <a:t>1</a:t>
            </a:r>
            <a:r>
              <a:rPr lang="ko-KR" altLang="en-US"/>
              <a:t>인 </a:t>
            </a:r>
            <a:r>
              <a:rPr lang="en-US" altLang="ko-KR"/>
              <a:t>B</a:t>
            </a:r>
            <a:r>
              <a:rPr lang="ko-KR" altLang="en-US"/>
              <a:t>를 먼저 놓고 점수 </a:t>
            </a:r>
            <a:r>
              <a:rPr lang="en-US" altLang="ko-KR"/>
              <a:t>2</a:t>
            </a:r>
            <a:r>
              <a:rPr lang="ko-KR" altLang="en-US"/>
              <a:t>인 </a:t>
            </a:r>
            <a:r>
              <a:rPr lang="en-US" altLang="ko-KR"/>
              <a:t>A</a:t>
            </a:r>
            <a:r>
              <a:rPr lang="ko-KR" altLang="en-US"/>
              <a:t>와 </a:t>
            </a:r>
            <a:r>
              <a:rPr lang="en-US" altLang="ko-KR"/>
              <a:t>C</a:t>
            </a:r>
            <a:r>
              <a:rPr lang="ko-KR" altLang="en-US"/>
              <a:t>를 놓는다</a:t>
            </a:r>
            <a:r>
              <a:rPr lang="en-US" altLang="ko-KR"/>
              <a:t>. A</a:t>
            </a:r>
            <a:r>
              <a:rPr lang="ko-KR" altLang="en-US"/>
              <a:t>가 원래 먼저였으므로 같은 점수에서도 </a:t>
            </a:r>
            <a:r>
              <a:rPr lang="en-US" altLang="ko-KR"/>
              <a:t>A, C </a:t>
            </a:r>
            <a:r>
              <a:rPr lang="ko-KR" altLang="en-US"/>
              <a:t>순서를 보존한다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4511740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양 끝 인덱스를 포함하는 </a:t>
            </a:r>
            <a:r>
              <a:rPr lang="en-US" altLang="ko-KR"/>
              <a:t>quick_sort(a,lo,hi)</a:t>
            </a:r>
            <a:r>
              <a:rPr lang="ko-KR" altLang="en-US"/>
              <a:t>에서 </a:t>
            </a:r>
            <a:r>
              <a:rPr lang="en-US" altLang="ko-KR"/>
              <a:t>lo≥hi</a:t>
            </a:r>
            <a:r>
              <a:rPr lang="ko-KR" altLang="en-US"/>
              <a:t>이면 바로 종료한다</a:t>
            </a:r>
            <a:r>
              <a:rPr lang="en-US" altLang="ko-KR"/>
              <a:t>. lo=hi</a:t>
            </a:r>
            <a:r>
              <a:rPr lang="ko-KR" altLang="en-US"/>
              <a:t>일 때와 </a:t>
            </a:r>
            <a:r>
              <a:rPr lang="en-US" altLang="ko-KR"/>
              <a:t>lo&gt;hi</a:t>
            </a:r>
            <a:r>
              <a:rPr lang="ko-KR" altLang="en-US"/>
              <a:t>일 때 각각 종료해도 되는 이유를 설명하시오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696022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lo=hi</a:t>
            </a:r>
            <a:r>
              <a:rPr lang="ko-KR" altLang="en-US"/>
              <a:t>는 원소 </a:t>
            </a:r>
            <a:r>
              <a:rPr lang="en-US" altLang="ko-KR"/>
              <a:t>1</a:t>
            </a:r>
            <a:r>
              <a:rPr lang="ko-KR" altLang="en-US"/>
              <a:t>개</a:t>
            </a:r>
            <a:r>
              <a:rPr lang="en-US" altLang="ko-KR"/>
              <a:t>, lo&gt;hi</a:t>
            </a:r>
            <a:r>
              <a:rPr lang="ko-KR" altLang="en-US"/>
              <a:t>는 빈 구간이므로 이미 정렬되었다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원소가 하나이면 비교할 다른 값이 없고</a:t>
            </a:r>
            <a:r>
              <a:rPr lang="en-US" altLang="ko-KR"/>
              <a:t>, </a:t>
            </a:r>
            <a:r>
              <a:rPr lang="ko-KR" altLang="en-US"/>
              <a:t>빈 구간에는 원소가 없다</a:t>
            </a:r>
            <a:r>
              <a:rPr lang="en-US" altLang="ko-KR"/>
              <a:t>. </a:t>
            </a:r>
            <a:r>
              <a:rPr lang="ko-KR" altLang="en-US"/>
              <a:t>두 경우 모두 더 나누거나 피벗을 고를 필요가 없다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569685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퀵 정렬에서 피벗이 인덱스 </a:t>
            </a:r>
            <a:r>
              <a:rPr lang="en-US" altLang="ko-KR"/>
              <a:t>p</a:t>
            </a:r>
            <a:r>
              <a:rPr lang="ko-KR" altLang="en-US"/>
              <a:t>에 확정되면 </a:t>
            </a:r>
            <a:r>
              <a:rPr lang="en-US" altLang="ko-KR"/>
              <a:t>[lo,p-1]</a:t>
            </a:r>
            <a:r>
              <a:rPr lang="ko-KR" altLang="en-US"/>
              <a:t>과 </a:t>
            </a:r>
            <a:r>
              <a:rPr lang="en-US" altLang="ko-KR"/>
              <a:t>[p+1,hi]</a:t>
            </a:r>
            <a:r>
              <a:rPr lang="ko-KR" altLang="en-US"/>
              <a:t>만 재귀 정렬한다</a:t>
            </a:r>
            <a:r>
              <a:rPr lang="en-US" altLang="ko-KR"/>
              <a:t>. </a:t>
            </a:r>
            <a:r>
              <a:rPr lang="ko-KR" altLang="en-US"/>
              <a:t>피벗을 다시 포함하지 않는 이유를 설명하시오</a:t>
            </a:r>
            <a:r>
              <a:rPr lang="en-US" altLang="ko-KR"/>
              <a:t>. </a:t>
            </a:r>
            <a:r>
              <a:rPr lang="ko-KR" altLang="en-US"/>
              <a:t>지금은 큰 계산을 할 필요가 없습니다</a:t>
            </a:r>
            <a:r>
              <a:rPr lang="en-US" altLang="ko-KR"/>
              <a:t>. </a:t>
            </a:r>
            <a:r>
              <a:rPr lang="ko-KR" altLang="en-US"/>
              <a:t>문제에 주어진 배열이나 구간을 그대로 보고</a:t>
            </a:r>
            <a:r>
              <a:rPr lang="en-US" altLang="ko-KR"/>
              <a:t>, </a:t>
            </a:r>
            <a:r>
              <a:rPr lang="ko-KR" altLang="en-US"/>
              <a:t>현재 상태에서 어떤 값을 고르는지 차례로 확인해 보세요</a:t>
            </a:r>
            <a:r>
              <a:rPr lang="en-US" altLang="ko-KR"/>
              <a:t>. </a:t>
            </a:r>
            <a:r>
              <a:rPr lang="ko-KR" altLang="en-US"/>
              <a:t>답과 함께 짧은 판단 근거도 적어주세요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4592962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같이 확인하겠습니다</a:t>
            </a:r>
            <a:r>
              <a:rPr lang="en-US" altLang="ko-KR"/>
              <a:t>. </a:t>
            </a:r>
            <a:r>
              <a:rPr lang="ko-KR" altLang="en-US"/>
              <a:t>피벗은 이미 제자리이고</a:t>
            </a:r>
            <a:r>
              <a:rPr lang="en-US" altLang="ko-KR"/>
              <a:t>, </a:t>
            </a:r>
            <a:r>
              <a:rPr lang="ko-KR" altLang="en-US"/>
              <a:t>남은 두 구간만 정렬하면 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분할 후 피벗 왼쪽은 피벗 이하</a:t>
            </a:r>
            <a:r>
              <a:rPr lang="en-US" altLang="ko-KR"/>
              <a:t>, </a:t>
            </a:r>
            <a:r>
              <a:rPr lang="ko-KR" altLang="en-US"/>
              <a:t>오른쪽은 피벗보다 크다</a:t>
            </a:r>
            <a:r>
              <a:rPr lang="en-US" altLang="ko-KR"/>
              <a:t>. </a:t>
            </a:r>
            <a:r>
              <a:rPr lang="ko-KR" altLang="en-US"/>
              <a:t>확정된 피벗을 제외하면 재귀 구간이 작아지고 종료할 수 있다</a:t>
            </a:r>
            <a:r>
              <a:rPr lang="en-US" altLang="ko-KR"/>
              <a:t>. </a:t>
            </a:r>
            <a:r>
              <a:rPr lang="ko-KR" altLang="en-US"/>
              <a:t>결과만 외우지 말고 문제에 나온 상태에서 이 답이 나오는 과정을 다시 따라가 보세요</a:t>
            </a:r>
            <a:r>
              <a:rPr lang="en-US" altLang="ko-KR"/>
              <a:t>. </a:t>
            </a:r>
            <a:r>
              <a:rPr lang="ko-KR" altLang="en-US"/>
              <a:t>같은 뜻으로 설명했다면 표현이 달라도 맞는 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001325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0 </a:t>
            </a:r>
            <a:r>
              <a:rPr lang="ko-KR" altLang="en-US"/>
              <a:t>고정점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기저 수정 </a:t>
            </a:r>
            <a:r>
              <a:rPr lang="en-US" altLang="ko-KR"/>
              <a:t>1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문제별 계약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</a:t>
            </a:r>
            <a:r>
              <a:rPr lang="en-US" altLang="ko-KR"/>
              <a:t>n=0</a:t>
            </a:r>
            <a:r>
              <a:rPr lang="ko-KR" altLang="en-US"/>
              <a:t>을 계속 둘로 나눠도 </a:t>
            </a:r>
            <a:r>
              <a:rPr lang="en-US" altLang="ko-KR"/>
              <a:t>0</a:t>
            </a:r>
            <a:r>
              <a:rPr lang="ko-KR" altLang="en-US"/>
              <a:t>이어서 종료하지 않을 수 있다</a:t>
            </a:r>
            <a:r>
              <a:rPr lang="en-US" altLang="ko-KR"/>
              <a:t>. n≤1</a:t>
            </a:r>
            <a:r>
              <a:rPr lang="ko-KR" altLang="en-US"/>
              <a:t>을 기저로 처리한다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빈 입력의 반환값은 문제마다 다르다</a:t>
            </a:r>
            <a:r>
              <a:rPr lang="en-US" altLang="ko-KR"/>
              <a:t>. </a:t>
            </a:r>
            <a:r>
              <a:rPr lang="ko-KR" altLang="en-US"/>
              <a:t>정렬은 빈 배열을 반환하지만 비어 있지 않은 최대 연속합은 빈 입력을 금지할 수 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4.1–4.7 </a:t>
            </a:r>
            <a:r>
              <a:rPr lang="ko-KR" altLang="en-US"/>
              <a:t>정당성</a:t>
            </a:r>
            <a:r>
              <a:rPr lang="en-US" altLang="ko-KR"/>
              <a:t>·</a:t>
            </a:r>
            <a:r>
              <a:rPr lang="ko-KR" altLang="en-US"/>
              <a:t>반례</a:t>
            </a:r>
            <a:r>
              <a:rPr lang="en-US" altLang="ko-KR"/>
              <a:t>·</a:t>
            </a:r>
            <a:r>
              <a:rPr lang="ko-KR" altLang="en-US"/>
              <a:t>설계의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- 0 </a:t>
            </a:r>
            <a:r>
              <a:rPr lang="ko-KR" altLang="en-US"/>
              <a:t>고정점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기저 수정 </a:t>
            </a:r>
            <a:r>
              <a:rPr lang="en-US" altLang="ko-KR"/>
              <a:t>1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문제별 계약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정렬 배열 병합을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두 배열의 맨 앞 미처리 원소를 비교하고 작은 쪽을 출력한다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O(n+m)..</a:t>
            </a:r>
          </a:p>
          <a:p>
            <a:r>
              <a:rPr lang="ko-KR" altLang="en-US"/>
              <a:t>여기서는 정렬 배열 병합의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[[1,4,7],[2,3,8],[1,2,3,4,7,8]]</a:t>
            </a:r>
          </a:p>
          <a:p>
            <a:r>
              <a:rPr lang="en-US" altLang="ko-KR"/>
              <a:t>[[],[],[]]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이미 정렬된 두 배열 </a:t>
            </a:r>
            <a:r>
              <a:rPr lang="en-US" altLang="ko-KR"/>
              <a:t>a</a:t>
            </a:r>
            <a:r>
              <a:rPr lang="ko-KR" altLang="en-US"/>
              <a:t>와 </a:t>
            </a:r>
            <a:r>
              <a:rPr lang="en-US" altLang="ko-KR"/>
              <a:t>b</a:t>
            </a:r>
            <a:r>
              <a:rPr lang="ko-KR" altLang="en-US"/>
              <a:t>를 하나의 정렬된 배열로 합치는 예시입니다</a:t>
            </a:r>
            <a:r>
              <a:rPr lang="en-US" altLang="ko-KR"/>
              <a:t>. </a:t>
            </a:r>
            <a:r>
              <a:rPr lang="ko-KR" altLang="en-US"/>
              <a:t>아이와 제이는 각 배열에서 다음에 읽을 위치이고</a:t>
            </a:r>
            <a:r>
              <a:rPr lang="en-US" altLang="ko-KR"/>
              <a:t>, out</a:t>
            </a:r>
            <a:r>
              <a:rPr lang="ko-KR" altLang="en-US"/>
              <a:t>은 결과를 모을 빈 리스트입니다</a:t>
            </a:r>
            <a:r>
              <a:rPr lang="en-US" altLang="ko-KR"/>
              <a:t>. </a:t>
            </a:r>
            <a:r>
              <a:rPr lang="ko-KR" altLang="en-US"/>
              <a:t>맨 위 </a:t>
            </a:r>
            <a:r>
              <a:rPr lang="en-US" altLang="ko-KR"/>
              <a:t>while</a:t>
            </a:r>
            <a:r>
              <a:rPr lang="ko-KR" altLang="en-US"/>
              <a:t>에서는 양쪽에 값이 남아 있는지 확인하고 현재 값을 비교합니다</a:t>
            </a:r>
            <a:r>
              <a:rPr lang="en-US" altLang="ko-KR"/>
              <a:t>. </a:t>
            </a:r>
            <a:r>
              <a:rPr lang="ko-KR" altLang="en-US"/>
              <a:t>작은 쪽의 값을 </a:t>
            </a:r>
            <a:r>
              <a:rPr lang="en-US" altLang="ko-KR"/>
              <a:t>append</a:t>
            </a:r>
            <a:r>
              <a:rPr lang="ko-KR" altLang="en-US"/>
              <a:t>로 하나 붙인 뒤</a:t>
            </a:r>
            <a:r>
              <a:rPr lang="en-US" altLang="ko-KR"/>
              <a:t>, </a:t>
            </a:r>
            <a:r>
              <a:rPr lang="ko-KR" altLang="en-US"/>
              <a:t>그쪽 인덱스만 </a:t>
            </a:r>
            <a:r>
              <a:rPr lang="en-US" altLang="ko-KR"/>
              <a:t>1 </a:t>
            </a:r>
            <a:r>
              <a:rPr lang="ko-KR" altLang="en-US"/>
              <a:t>늘립니다</a:t>
            </a:r>
            <a:r>
              <a:rPr lang="en-US" altLang="ko-KR"/>
              <a:t>. </a:t>
            </a:r>
            <a:r>
              <a:rPr lang="ko-KR" altLang="en-US"/>
              <a:t>같은 값이면 </a:t>
            </a:r>
            <a:r>
              <a:rPr lang="en-US" altLang="ko-KR"/>
              <a:t>a </a:t>
            </a:r>
            <a:r>
              <a:rPr lang="ko-KR" altLang="en-US"/>
              <a:t>쪽을 먼저 넣습니다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예를 들어 </a:t>
            </a:r>
            <a:r>
              <a:rPr lang="en-US" altLang="ko-KR"/>
              <a:t>a</a:t>
            </a:r>
            <a:r>
              <a:rPr lang="ko-KR" altLang="en-US"/>
              <a:t>가 </a:t>
            </a:r>
            <a:r>
              <a:rPr lang="en-US" altLang="ko-KR"/>
              <a:t>1, 4, 7</a:t>
            </a:r>
            <a:r>
              <a:rPr lang="ko-KR" altLang="en-US"/>
              <a:t>이고 </a:t>
            </a:r>
            <a:r>
              <a:rPr lang="en-US" altLang="ko-KR"/>
              <a:t>b</a:t>
            </a:r>
            <a:r>
              <a:rPr lang="ko-KR" altLang="en-US"/>
              <a:t>가 </a:t>
            </a:r>
            <a:r>
              <a:rPr lang="en-US" altLang="ko-KR"/>
              <a:t>2, 3, 8</a:t>
            </a:r>
            <a:r>
              <a:rPr lang="ko-KR" altLang="en-US"/>
              <a:t>이면</a:t>
            </a:r>
            <a:r>
              <a:rPr lang="en-US" altLang="ko-KR"/>
              <a:t>, 1</a:t>
            </a:r>
            <a:r>
              <a:rPr lang="ko-KR" altLang="en-US"/>
              <a:t>과 </a:t>
            </a:r>
            <a:r>
              <a:rPr lang="en-US" altLang="ko-KR"/>
              <a:t>2</a:t>
            </a:r>
            <a:r>
              <a:rPr lang="ko-KR" altLang="en-US"/>
              <a:t>를 비교해 </a:t>
            </a:r>
            <a:r>
              <a:rPr lang="en-US" altLang="ko-KR"/>
              <a:t>1</a:t>
            </a:r>
            <a:r>
              <a:rPr lang="ko-KR" altLang="en-US"/>
              <a:t>을 넣습니다</a:t>
            </a:r>
            <a:r>
              <a:rPr lang="en-US" altLang="ko-KR"/>
              <a:t>. </a:t>
            </a:r>
            <a:r>
              <a:rPr lang="ko-KR" altLang="en-US"/>
              <a:t>다음에는 </a:t>
            </a:r>
            <a:r>
              <a:rPr lang="en-US" altLang="ko-KR"/>
              <a:t>4</a:t>
            </a:r>
            <a:r>
              <a:rPr lang="ko-KR" altLang="en-US"/>
              <a:t>와 </a:t>
            </a:r>
            <a:r>
              <a:rPr lang="en-US" altLang="ko-KR"/>
              <a:t>2</a:t>
            </a:r>
            <a:r>
              <a:rPr lang="ko-KR" altLang="en-US"/>
              <a:t>를 비교해 </a:t>
            </a:r>
            <a:r>
              <a:rPr lang="en-US" altLang="ko-KR"/>
              <a:t>2</a:t>
            </a:r>
            <a:r>
              <a:rPr lang="ko-KR" altLang="en-US"/>
              <a:t>를 넣고</a:t>
            </a:r>
            <a:r>
              <a:rPr lang="en-US" altLang="ko-KR"/>
              <a:t>, </a:t>
            </a:r>
            <a:r>
              <a:rPr lang="ko-KR" altLang="en-US"/>
              <a:t>이어 </a:t>
            </a:r>
            <a:r>
              <a:rPr lang="en-US" altLang="ko-KR"/>
              <a:t>4</a:t>
            </a:r>
            <a:r>
              <a:rPr lang="ko-KR" altLang="en-US"/>
              <a:t>와 </a:t>
            </a:r>
            <a:r>
              <a:rPr lang="en-US" altLang="ko-KR"/>
              <a:t>3</a:t>
            </a:r>
            <a:r>
              <a:rPr lang="ko-KR" altLang="en-US"/>
              <a:t>을 비교해 </a:t>
            </a:r>
            <a:r>
              <a:rPr lang="en-US" altLang="ko-KR"/>
              <a:t>3</a:t>
            </a:r>
            <a:r>
              <a:rPr lang="ko-KR" altLang="en-US"/>
              <a:t>을 넣습니다</a:t>
            </a:r>
            <a:r>
              <a:rPr lang="en-US" altLang="ko-KR"/>
              <a:t>. </a:t>
            </a:r>
            <a:r>
              <a:rPr lang="ko-KR" altLang="en-US"/>
              <a:t>그다음 </a:t>
            </a:r>
            <a:r>
              <a:rPr lang="en-US" altLang="ko-KR"/>
              <a:t>4</a:t>
            </a:r>
            <a:r>
              <a:rPr lang="ko-KR" altLang="en-US"/>
              <a:t>와 </a:t>
            </a:r>
            <a:r>
              <a:rPr lang="en-US" altLang="ko-KR"/>
              <a:t>8</a:t>
            </a:r>
            <a:r>
              <a:rPr lang="ko-KR" altLang="en-US"/>
              <a:t>에서 </a:t>
            </a:r>
            <a:r>
              <a:rPr lang="en-US" altLang="ko-KR"/>
              <a:t>4</a:t>
            </a:r>
            <a:r>
              <a:rPr lang="ko-KR" altLang="en-US"/>
              <a:t>를</a:t>
            </a:r>
            <a:r>
              <a:rPr lang="en-US" altLang="ko-KR"/>
              <a:t>, 7</a:t>
            </a:r>
            <a:r>
              <a:rPr lang="ko-KR" altLang="en-US"/>
              <a:t>과 </a:t>
            </a:r>
            <a:r>
              <a:rPr lang="en-US" altLang="ko-KR"/>
              <a:t>8</a:t>
            </a:r>
            <a:r>
              <a:rPr lang="ko-KR" altLang="en-US"/>
              <a:t>에서 </a:t>
            </a:r>
            <a:r>
              <a:rPr lang="en-US" altLang="ko-KR"/>
              <a:t>7</a:t>
            </a:r>
            <a:r>
              <a:rPr lang="ko-KR" altLang="en-US"/>
              <a:t>을 넣으면 </a:t>
            </a:r>
            <a:r>
              <a:rPr lang="en-US" altLang="ko-KR"/>
              <a:t>a</a:t>
            </a:r>
            <a:r>
              <a:rPr lang="ko-KR" altLang="en-US"/>
              <a:t>를 모두 사용하게 됩니다</a:t>
            </a:r>
            <a:r>
              <a:rPr lang="en-US" altLang="ko-KR"/>
              <a:t>. </a:t>
            </a:r>
            <a:r>
              <a:rPr lang="ko-KR" altLang="en-US"/>
              <a:t>첫 번째 </a:t>
            </a:r>
            <a:r>
              <a:rPr lang="en-US" altLang="ko-KR"/>
              <a:t>while</a:t>
            </a:r>
            <a:r>
              <a:rPr lang="ko-KR" altLang="en-US"/>
              <a:t>은 여기서 끝나지만 </a:t>
            </a:r>
            <a:r>
              <a:rPr lang="en-US" altLang="ko-KR"/>
              <a:t>b</a:t>
            </a:r>
            <a:r>
              <a:rPr lang="ko-KR" altLang="en-US"/>
              <a:t>에는 아직 </a:t>
            </a:r>
            <a:r>
              <a:rPr lang="en-US" altLang="ko-KR"/>
              <a:t>8</a:t>
            </a:r>
            <a:r>
              <a:rPr lang="ko-KR" altLang="en-US"/>
              <a:t>이 남아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아래의 두 </a:t>
            </a:r>
            <a:r>
              <a:rPr lang="en-US" altLang="ko-KR"/>
              <a:t>while</a:t>
            </a:r>
            <a:r>
              <a:rPr lang="ko-KR" altLang="en-US"/>
              <a:t>이 남은 값을 처리합니다</a:t>
            </a:r>
            <a:r>
              <a:rPr lang="en-US" altLang="ko-KR"/>
              <a:t>. </a:t>
            </a:r>
            <a:r>
              <a:rPr lang="ko-KR" altLang="en-US"/>
              <a:t>두 번째 </a:t>
            </a:r>
            <a:r>
              <a:rPr lang="en-US" altLang="ko-KR"/>
              <a:t>while</a:t>
            </a:r>
            <a:r>
              <a:rPr lang="ko-KR" altLang="en-US"/>
              <a:t>은 </a:t>
            </a:r>
            <a:r>
              <a:rPr lang="en-US" altLang="ko-KR"/>
              <a:t>a</a:t>
            </a:r>
            <a:r>
              <a:rPr lang="ko-KR" altLang="en-US"/>
              <a:t>에 남은 값이 있으면 하나씩 붙입니다</a:t>
            </a:r>
            <a:r>
              <a:rPr lang="en-US" altLang="ko-KR"/>
              <a:t>. </a:t>
            </a:r>
            <a:r>
              <a:rPr lang="ko-KR" altLang="en-US"/>
              <a:t>이번에는 </a:t>
            </a:r>
            <a:r>
              <a:rPr lang="en-US" altLang="ko-KR"/>
              <a:t>a</a:t>
            </a:r>
            <a:r>
              <a:rPr lang="ko-KR" altLang="en-US"/>
              <a:t>를 다 사용했으므로 건너뜁니다</a:t>
            </a:r>
            <a:r>
              <a:rPr lang="en-US" altLang="ko-KR"/>
              <a:t>. </a:t>
            </a:r>
            <a:r>
              <a:rPr lang="ko-KR" altLang="en-US"/>
              <a:t>세 번째 </a:t>
            </a:r>
            <a:r>
              <a:rPr lang="en-US" altLang="ko-KR"/>
              <a:t>while</a:t>
            </a:r>
            <a:r>
              <a:rPr lang="ko-KR" altLang="en-US"/>
              <a:t>은 </a:t>
            </a:r>
            <a:r>
              <a:rPr lang="en-US" altLang="ko-KR"/>
              <a:t>b</a:t>
            </a:r>
            <a:r>
              <a:rPr lang="ko-KR" altLang="en-US"/>
              <a:t>에 남은 </a:t>
            </a:r>
            <a:r>
              <a:rPr lang="en-US" altLang="ko-KR"/>
              <a:t>8</a:t>
            </a:r>
            <a:r>
              <a:rPr lang="ko-KR" altLang="en-US"/>
              <a:t>을 붙이고 제이를 </a:t>
            </a:r>
            <a:r>
              <a:rPr lang="en-US" altLang="ko-KR"/>
              <a:t>1 </a:t>
            </a:r>
            <a:r>
              <a:rPr lang="ko-KR" altLang="en-US"/>
              <a:t>늘립니다</a:t>
            </a:r>
            <a:r>
              <a:rPr lang="en-US" altLang="ko-KR"/>
              <a:t>. </a:t>
            </a:r>
            <a:r>
              <a:rPr lang="ko-KR" altLang="en-US"/>
              <a:t>결과는 </a:t>
            </a:r>
            <a:r>
              <a:rPr lang="en-US" altLang="ko-KR"/>
              <a:t>1, 2, 3, 4, 7, 8</a:t>
            </a:r>
            <a:r>
              <a:rPr lang="ko-KR" altLang="en-US"/>
              <a:t>이고 </a:t>
            </a:r>
            <a:r>
              <a:rPr lang="en-US" altLang="ko-KR"/>
              <a:t>return</a:t>
            </a:r>
            <a:r>
              <a:rPr lang="ko-KR" altLang="en-US"/>
              <a:t>으로 돌려줍니다</a:t>
            </a:r>
            <a:r>
              <a:rPr lang="en-US" altLang="ko-KR"/>
              <a:t>. a</a:t>
            </a:r>
            <a:r>
              <a:rPr lang="ko-KR" altLang="en-US"/>
              <a:t>가 먼저 끝나든 </a:t>
            </a:r>
            <a:r>
              <a:rPr lang="en-US" altLang="ko-KR"/>
              <a:t>b</a:t>
            </a:r>
            <a:r>
              <a:rPr lang="ko-KR" altLang="en-US"/>
              <a:t>가 먼저 끝나든 같은 코드로 처리하며</a:t>
            </a:r>
            <a:r>
              <a:rPr lang="en-US" altLang="ko-KR"/>
              <a:t>, </a:t>
            </a:r>
            <a:r>
              <a:rPr lang="ko-KR" altLang="en-US"/>
              <a:t>빈 배열도 이 조건으로 처리됩니다</a:t>
            </a:r>
            <a:r>
              <a:rPr lang="en-US" altLang="ko-KR"/>
              <a:t>. </a:t>
            </a:r>
            <a:r>
              <a:rPr lang="ko-KR" altLang="en-US"/>
              <a:t>모든 원소를 한 번씩 결과에 넣으므로 두 배열의 길이가 </a:t>
            </a:r>
            <a:r>
              <a:rPr lang="en-US" altLang="ko-KR"/>
              <a:t>n</a:t>
            </a:r>
            <a:r>
              <a:rPr lang="ko-KR" altLang="en-US"/>
              <a:t>과 </a:t>
            </a:r>
            <a:r>
              <a:rPr lang="en-US" altLang="ko-KR"/>
              <a:t>m</a:t>
            </a:r>
            <a:r>
              <a:rPr lang="ko-KR" altLang="en-US"/>
              <a:t>일 때 시간은 </a:t>
            </a:r>
            <a:r>
              <a:rPr lang="en-US" altLang="ko-KR"/>
              <a:t>O(n+m)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[[1,4,7],[2,3,8],[1,2,3,4,7,8]]</a:t>
            </a:r>
          </a:p>
          <a:p>
            <a:r>
              <a:rPr lang="en-US" altLang="ko-KR"/>
              <a:t>[[],[],[]]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정렬 배열 병합의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두 배열의 맨 앞 미처리 원소를 비교하고 작은 쪽을 출력한다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O(n+m)..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[[1,4,7],[2,3,8],[1,2,3,4,7,8]]</a:t>
            </a:r>
          </a:p>
          <a:p>
            <a:r>
              <a:rPr lang="en-US" altLang="ko-KR"/>
              <a:t>[[],[],[]]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병합 정렬을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 연습문제의 </a:t>
            </a:r>
            <a:r>
              <a:rPr lang="en-US" altLang="ko-KR"/>
              <a:t>C </a:t>
            </a:r>
            <a:r>
              <a:rPr lang="ko-KR" altLang="en-US"/>
              <a:t>함수는 </a:t>
            </a:r>
            <a:r>
              <a:rPr lang="en-US" altLang="ko-KR"/>
              <a:t>hi</a:t>
            </a:r>
            <a:r>
              <a:rPr lang="ko-KR" altLang="en-US"/>
              <a:t>를 포함하지 않습니다</a:t>
            </a:r>
            <a:r>
              <a:rPr lang="en-US" altLang="ko-KR"/>
              <a:t>. </a:t>
            </a:r>
            <a:r>
              <a:rPr lang="ko-KR" altLang="en-US"/>
              <a:t>전체 배열은 </a:t>
            </a:r>
            <a:r>
              <a:rPr lang="en-US" altLang="ko-KR"/>
              <a:t>hi</a:t>
            </a:r>
            <a:r>
              <a:rPr lang="ko-KR" altLang="en-US"/>
              <a:t>에 </a:t>
            </a:r>
            <a:r>
              <a:rPr lang="en-US" altLang="ko-KR"/>
              <a:t>n</a:t>
            </a:r>
            <a:r>
              <a:rPr lang="ko-KR" altLang="en-US"/>
              <a:t>을 넘깁니다</a:t>
            </a:r>
            <a:r>
              <a:rPr lang="en-US" altLang="ko-KR"/>
              <a:t>. </a:t>
            </a:r>
            <a:r>
              <a:rPr lang="ko-KR" altLang="en-US"/>
              <a:t>강의의 다른 병합 예제는 끝 인덱스를 포함하므로 처음 호출의 </a:t>
            </a:r>
            <a:r>
              <a:rPr lang="en-US" altLang="ko-KR"/>
              <a:t>hi</a:t>
            </a:r>
            <a:r>
              <a:rPr lang="ko-KR" altLang="en-US"/>
              <a:t>가 </a:t>
            </a:r>
            <a:r>
              <a:rPr lang="en-US" altLang="ko-KR"/>
              <a:t>n </a:t>
            </a:r>
            <a:r>
              <a:rPr lang="ko-KR" altLang="en-US"/>
              <a:t>마이너스 </a:t>
            </a:r>
            <a:r>
              <a:rPr lang="en-US" altLang="ko-KR"/>
              <a:t>1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두 구간 약속을 섞지 말고 문제의 함수 형식을 확인하세요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길이 </a:t>
            </a:r>
            <a:r>
              <a:rPr lang="en-US" altLang="ko-KR"/>
              <a:t>1 </a:t>
            </a:r>
            <a:r>
              <a:rPr lang="ko-KR" altLang="en-US"/>
              <a:t>이하에서 멈추고 양쪽 정렬 결과를 안정적으로 병합한다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 log(n+1)). Python</a:t>
            </a:r>
            <a:r>
              <a:rPr lang="ko-KR" altLang="en-US"/>
              <a:t>은 앞 문항 </a:t>
            </a:r>
            <a:r>
              <a:rPr lang="en-US" altLang="ko-KR"/>
              <a:t>merge_arrays</a:t>
            </a:r>
            <a:r>
              <a:rPr lang="ko-KR" altLang="en-US"/>
              <a:t>를 사용한다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병합 정렬의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[[8,3,6,1],[1,3,6,8]]</a:t>
            </a:r>
          </a:p>
          <a:p>
            <a:r>
              <a:rPr lang="en-US" altLang="ko-KR"/>
              <a:t>[[],[]]</a:t>
            </a:r>
          </a:p>
          <a:p>
            <a:r>
              <a:rPr lang="ko-KR" altLang="en-US"/>
              <a:t>이 연습문제의 </a:t>
            </a:r>
            <a:r>
              <a:rPr lang="en-US" altLang="ko-KR"/>
              <a:t>C </a:t>
            </a:r>
            <a:r>
              <a:rPr lang="ko-KR" altLang="en-US"/>
              <a:t>함수는 </a:t>
            </a:r>
            <a:r>
              <a:rPr lang="en-US" altLang="ko-KR"/>
              <a:t>hi</a:t>
            </a:r>
            <a:r>
              <a:rPr lang="ko-KR" altLang="en-US"/>
              <a:t>를 포함하지 않습니다</a:t>
            </a:r>
            <a:r>
              <a:rPr lang="en-US" altLang="ko-KR"/>
              <a:t>. </a:t>
            </a:r>
            <a:r>
              <a:rPr lang="ko-KR" altLang="en-US"/>
              <a:t>전체 배열은 </a:t>
            </a:r>
            <a:r>
              <a:rPr lang="en-US" altLang="ko-KR"/>
              <a:t>hi</a:t>
            </a:r>
            <a:r>
              <a:rPr lang="ko-KR" altLang="en-US"/>
              <a:t>에 </a:t>
            </a:r>
            <a:r>
              <a:rPr lang="en-US" altLang="ko-KR"/>
              <a:t>n</a:t>
            </a:r>
            <a:r>
              <a:rPr lang="ko-KR" altLang="en-US"/>
              <a:t>을 넘깁니다</a:t>
            </a:r>
            <a:r>
              <a:rPr lang="en-US" altLang="ko-KR"/>
              <a:t>. </a:t>
            </a:r>
            <a:r>
              <a:rPr lang="ko-KR" altLang="en-US"/>
              <a:t>강의의 다른 병합 예제는 끝 인덱스를 포함하므로 처음 호출의 </a:t>
            </a:r>
            <a:r>
              <a:rPr lang="en-US" altLang="ko-KR"/>
              <a:t>hi</a:t>
            </a:r>
            <a:r>
              <a:rPr lang="ko-KR" altLang="en-US"/>
              <a:t>가 </a:t>
            </a:r>
            <a:r>
              <a:rPr lang="en-US" altLang="ko-KR"/>
              <a:t>n </a:t>
            </a:r>
            <a:r>
              <a:rPr lang="ko-KR" altLang="en-US"/>
              <a:t>마이너스 </a:t>
            </a:r>
            <a:r>
              <a:rPr lang="en-US" altLang="ko-KR"/>
              <a:t>1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두 구간 약속을 섞지 말고 문제의 함수 형식을 확인하세요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병합 정렬의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길이 </a:t>
            </a:r>
            <a:r>
              <a:rPr lang="en-US" altLang="ko-KR"/>
              <a:t>1 </a:t>
            </a:r>
            <a:r>
              <a:rPr lang="ko-KR" altLang="en-US"/>
              <a:t>이하에서 멈추고 양쪽 정렬 결과를 안정적으로 병합한다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 log(n+1)). Python</a:t>
            </a:r>
            <a:r>
              <a:rPr lang="ko-KR" altLang="en-US"/>
              <a:t>은 앞 문항 </a:t>
            </a:r>
            <a:r>
              <a:rPr lang="en-US" altLang="ko-KR"/>
              <a:t>merge_arrays</a:t>
            </a:r>
            <a:r>
              <a:rPr lang="ko-KR" altLang="en-US"/>
              <a:t>를 사용한다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[[8,3,6,1],[1,3,6,8]]</a:t>
            </a:r>
          </a:p>
          <a:p>
            <a:r>
              <a:rPr lang="en-US" altLang="ko-KR"/>
              <a:t>[[],[]]</a:t>
            </a:r>
          </a:p>
          <a:p>
            <a:r>
              <a:rPr lang="ko-KR" altLang="en-US"/>
              <a:t>이 연습문제의 </a:t>
            </a:r>
            <a:r>
              <a:rPr lang="en-US" altLang="ko-KR"/>
              <a:t>C </a:t>
            </a:r>
            <a:r>
              <a:rPr lang="ko-KR" altLang="en-US"/>
              <a:t>함수는 </a:t>
            </a:r>
            <a:r>
              <a:rPr lang="en-US" altLang="ko-KR"/>
              <a:t>hi</a:t>
            </a:r>
            <a:r>
              <a:rPr lang="ko-KR" altLang="en-US"/>
              <a:t>를 포함하지 않습니다</a:t>
            </a:r>
            <a:r>
              <a:rPr lang="en-US" altLang="ko-KR"/>
              <a:t>. </a:t>
            </a:r>
            <a:r>
              <a:rPr lang="ko-KR" altLang="en-US"/>
              <a:t>전체 배열은 </a:t>
            </a:r>
            <a:r>
              <a:rPr lang="en-US" altLang="ko-KR"/>
              <a:t>hi</a:t>
            </a:r>
            <a:r>
              <a:rPr lang="ko-KR" altLang="en-US"/>
              <a:t>에 </a:t>
            </a:r>
            <a:r>
              <a:rPr lang="en-US" altLang="ko-KR"/>
              <a:t>n</a:t>
            </a:r>
            <a:r>
              <a:rPr lang="ko-KR" altLang="en-US"/>
              <a:t>을 넘깁니다</a:t>
            </a:r>
            <a:r>
              <a:rPr lang="en-US" altLang="ko-KR"/>
              <a:t>. </a:t>
            </a:r>
            <a:r>
              <a:rPr lang="ko-KR" altLang="en-US"/>
              <a:t>강의의 다른 병합 예제는 끝 인덱스를 포함하므로 처음 호출의 </a:t>
            </a:r>
            <a:r>
              <a:rPr lang="en-US" altLang="ko-KR"/>
              <a:t>hi</a:t>
            </a:r>
            <a:r>
              <a:rPr lang="ko-KR" altLang="en-US"/>
              <a:t>가 </a:t>
            </a:r>
            <a:r>
              <a:rPr lang="en-US" altLang="ko-KR"/>
              <a:t>n </a:t>
            </a:r>
            <a:r>
              <a:rPr lang="ko-KR" altLang="en-US"/>
              <a:t>마이너스 </a:t>
            </a:r>
            <a:r>
              <a:rPr lang="en-US" altLang="ko-KR"/>
              <a:t>1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두 구간 약속을 섞지 말고 문제의 함수 형식을 확인하세요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병합 정렬의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길이 </a:t>
            </a:r>
            <a:r>
              <a:rPr lang="en-US" altLang="ko-KR"/>
              <a:t>1 </a:t>
            </a:r>
            <a:r>
              <a:rPr lang="ko-KR" altLang="en-US"/>
              <a:t>이하에서 멈추고 양쪽 정렬 결과를 안정적으로 병합한다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 log(n+1)). Python</a:t>
            </a:r>
            <a:r>
              <a:rPr lang="ko-KR" altLang="en-US"/>
              <a:t>은 앞 문항 </a:t>
            </a:r>
            <a:r>
              <a:rPr lang="en-US" altLang="ko-KR"/>
              <a:t>merge_arrays</a:t>
            </a:r>
            <a:r>
              <a:rPr lang="ko-KR" altLang="en-US"/>
              <a:t>를 사용한다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[[8,3,6,1],[1,3,6,8]]</a:t>
            </a:r>
          </a:p>
          <a:p>
            <a:r>
              <a:rPr lang="en-US" altLang="ko-KR"/>
              <a:t>[[],[]]</a:t>
            </a:r>
          </a:p>
          <a:p>
            <a:r>
              <a:rPr lang="ko-KR" altLang="en-US"/>
              <a:t>이 연습문제의 </a:t>
            </a:r>
            <a:r>
              <a:rPr lang="en-US" altLang="ko-KR"/>
              <a:t>C </a:t>
            </a:r>
            <a:r>
              <a:rPr lang="ko-KR" altLang="en-US"/>
              <a:t>함수는 </a:t>
            </a:r>
            <a:r>
              <a:rPr lang="en-US" altLang="ko-KR"/>
              <a:t>hi</a:t>
            </a:r>
            <a:r>
              <a:rPr lang="ko-KR" altLang="en-US"/>
              <a:t>를 포함하지 않습니다</a:t>
            </a:r>
            <a:r>
              <a:rPr lang="en-US" altLang="ko-KR"/>
              <a:t>. </a:t>
            </a:r>
            <a:r>
              <a:rPr lang="ko-KR" altLang="en-US"/>
              <a:t>전체 배열은 </a:t>
            </a:r>
            <a:r>
              <a:rPr lang="en-US" altLang="ko-KR"/>
              <a:t>hi</a:t>
            </a:r>
            <a:r>
              <a:rPr lang="ko-KR" altLang="en-US"/>
              <a:t>에 </a:t>
            </a:r>
            <a:r>
              <a:rPr lang="en-US" altLang="ko-KR"/>
              <a:t>n</a:t>
            </a:r>
            <a:r>
              <a:rPr lang="ko-KR" altLang="en-US"/>
              <a:t>을 넘깁니다</a:t>
            </a:r>
            <a:r>
              <a:rPr lang="en-US" altLang="ko-KR"/>
              <a:t>. </a:t>
            </a:r>
            <a:r>
              <a:rPr lang="ko-KR" altLang="en-US"/>
              <a:t>강의의 다른 병합 예제는 끝 인덱스를 포함하므로 처음 호출의 </a:t>
            </a:r>
            <a:r>
              <a:rPr lang="en-US" altLang="ko-KR"/>
              <a:t>hi</a:t>
            </a:r>
            <a:r>
              <a:rPr lang="ko-KR" altLang="en-US"/>
              <a:t>가 </a:t>
            </a:r>
            <a:r>
              <a:rPr lang="en-US" altLang="ko-KR"/>
              <a:t>n </a:t>
            </a:r>
            <a:r>
              <a:rPr lang="ko-KR" altLang="en-US"/>
              <a:t>마이너스 </a:t>
            </a:r>
            <a:r>
              <a:rPr lang="en-US" altLang="ko-KR"/>
              <a:t>1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두 구간 약속을 섞지 말고 문제의 함수 형식을 확인하세요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경계를 가로지르는 합을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왼쪽의 최대 접미사 합과 오른쪽의 최대 접두사 합을 더한다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O(hi−lo). </a:t>
            </a:r>
            <a:r>
              <a:rPr lang="ko-KR" altLang="en-US"/>
              <a:t>모두 음수여도 빈 구간을 허용하지 않는다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경계를 가로지르는 합의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[[4,-6,3,5,-2,1],0,3,6,8]</a:t>
            </a:r>
          </a:p>
          <a:p>
            <a:r>
              <a:rPr lang="en-US" altLang="ko-KR"/>
              <a:t>[[-5,-2],0,1,2,-7]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경계를 가로지르는 합의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왼쪽의 최대 접미사 합과 오른쪽의 최대 접두사 합을 더한다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O(hi−lo). </a:t>
            </a:r>
            <a:r>
              <a:rPr lang="ko-KR" altLang="en-US"/>
              <a:t>모두 음수여도 빈 구간을 허용하지 않는다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[[4,-6,3,5,-2,1],0,3,6,8]</a:t>
            </a:r>
          </a:p>
          <a:p>
            <a:r>
              <a:rPr lang="en-US" altLang="ko-KR"/>
              <a:t>[[-5,-2],0,1,2,-7]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경계를 가로지르는 합의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왼쪽의 최대 접미사 합과 오른쪽의 최대 접두사 합을 더한다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O(hi−lo). </a:t>
            </a:r>
            <a:r>
              <a:rPr lang="ko-KR" altLang="en-US"/>
              <a:t>모두 음수여도 빈 구간을 허용하지 않는다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[[4,-6,3,5,-2,1],0,3,6,8]</a:t>
            </a:r>
          </a:p>
          <a:p>
            <a:r>
              <a:rPr lang="en-US" altLang="ko-KR"/>
              <a:t>[[-5,-2],0,1,2,-7]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분할 정복 최대 연속합을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정답은 왼쪽</a:t>
            </a:r>
            <a:r>
              <a:rPr lang="en-US" altLang="ko-KR"/>
              <a:t>, </a:t>
            </a:r>
            <a:r>
              <a:rPr lang="ko-KR" altLang="en-US"/>
              <a:t>오른쪽</a:t>
            </a:r>
            <a:r>
              <a:rPr lang="en-US" altLang="ko-KR"/>
              <a:t>, </a:t>
            </a:r>
            <a:r>
              <a:rPr lang="ko-KR" altLang="en-US"/>
              <a:t>경계를 가로지르는 세 후보 중 최댓값을 반환한다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 log n).</a:t>
            </a:r>
          </a:p>
          <a:p>
            <a:r>
              <a:rPr lang="ko-KR" altLang="en-US"/>
              <a:t>여기서는 분할 정복 최대 연속합의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[[-4,7,-2,5,-9,3],0,6,10]</a:t>
            </a:r>
          </a:p>
          <a:p>
            <a:r>
              <a:rPr lang="en-US" altLang="ko-KR"/>
              <a:t>[[-8,-3,-5],0,3,-3]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분할 정복 최대 연속합의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왼쪽</a:t>
            </a:r>
            <a:r>
              <a:rPr lang="en-US" altLang="ko-KR"/>
              <a:t>, </a:t>
            </a:r>
            <a:r>
              <a:rPr lang="ko-KR" altLang="en-US"/>
              <a:t>오른쪽</a:t>
            </a:r>
            <a:r>
              <a:rPr lang="en-US" altLang="ko-KR"/>
              <a:t>, </a:t>
            </a:r>
            <a:r>
              <a:rPr lang="ko-KR" altLang="en-US"/>
              <a:t>경계를 가로지르는 세 후보 중 최댓값을 반환한다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 log n).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[[-4,7,-2,5,-9,3],0,6,10]</a:t>
            </a:r>
          </a:p>
          <a:p>
            <a:r>
              <a:rPr lang="en-US" altLang="ko-KR"/>
              <a:t>[[-8,-3,-5],0,3,-3]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분할 정복 최대 연속합의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왼쪽</a:t>
            </a:r>
            <a:r>
              <a:rPr lang="en-US" altLang="ko-KR"/>
              <a:t>, </a:t>
            </a:r>
            <a:r>
              <a:rPr lang="ko-KR" altLang="en-US"/>
              <a:t>오른쪽</a:t>
            </a:r>
            <a:r>
              <a:rPr lang="en-US" altLang="ko-KR"/>
              <a:t>, </a:t>
            </a:r>
            <a:r>
              <a:rPr lang="ko-KR" altLang="en-US"/>
              <a:t>경계를 가로지르는 세 후보 중 최댓값을 반환한다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 log n).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[[-4,7,-2,5,-9,3],0,6,10]</a:t>
            </a:r>
          </a:p>
          <a:p>
            <a:r>
              <a:rPr lang="en-US" altLang="ko-KR"/>
              <a:t>[[-8,-3,-5],0,3,-3]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문제 조건을 먼저 같이 확인하겠습니다</a:t>
            </a:r>
            <a:r>
              <a:rPr lang="en-US" altLang="ko-KR"/>
              <a:t>. a</a:t>
            </a:r>
            <a:r>
              <a:rPr lang="ko-KR" altLang="en-US"/>
              <a:t>의 </a:t>
            </a:r>
            <a:r>
              <a:rPr lang="en-US" altLang="ko-KR"/>
              <a:t>b</a:t>
            </a:r>
            <a:r>
              <a:rPr lang="ko-KR" altLang="en-US"/>
              <a:t>제곱을 </a:t>
            </a:r>
            <a:r>
              <a:rPr lang="en-US" altLang="ko-KR"/>
              <a:t>m</a:t>
            </a:r>
            <a:r>
              <a:rPr lang="ko-KR" altLang="en-US"/>
              <a:t>으로 나눈 나머지를 반환하는 </a:t>
            </a:r>
            <a:r>
              <a:rPr lang="en-US" altLang="ko-KR"/>
              <a:t>mod_power(a,b,m)</a:t>
            </a:r>
            <a:r>
              <a:rPr lang="ko-KR" altLang="en-US"/>
              <a:t>을 작성하시오</a:t>
            </a:r>
            <a:r>
              <a:rPr lang="en-US" altLang="ko-KR"/>
              <a:t>. 0≤a≤10⁹, 0≤b≤10⁹, 1≤m≤10⁹</a:t>
            </a:r>
            <a:r>
              <a:rPr lang="ko-KR" altLang="en-US"/>
              <a:t>이다</a:t>
            </a:r>
            <a:r>
              <a:rPr lang="en-US" altLang="ko-KR"/>
              <a:t>. b=0</a:t>
            </a:r>
            <a:r>
              <a:rPr lang="ko-KR" altLang="en-US"/>
              <a:t>이면 </a:t>
            </a:r>
            <a:r>
              <a:rPr lang="en-US" altLang="ko-KR"/>
              <a:t>1%m</a:t>
            </a:r>
            <a:r>
              <a:rPr lang="ko-KR" altLang="en-US"/>
              <a:t>을 반환한다</a:t>
            </a:r>
            <a:r>
              <a:rPr lang="en-US" altLang="ko-KR"/>
              <a:t>. </a:t>
            </a:r>
            <a:r>
              <a:rPr lang="ko-KR" altLang="en-US"/>
              <a:t>그 외에는 </a:t>
            </a:r>
            <a:r>
              <a:rPr lang="en-US" altLang="ko-KR"/>
              <a:t>b//2</a:t>
            </a:r>
            <a:r>
              <a:rPr lang="ko-KR" altLang="en-US"/>
              <a:t>의 재귀 결과를 한 번만 구해 </a:t>
            </a:r>
            <a:r>
              <a:rPr lang="en-US" altLang="ko-KR"/>
              <a:t>half</a:t>
            </a:r>
            <a:r>
              <a:rPr lang="ko-KR" altLang="en-US"/>
              <a:t>에 저장하고 제곱한다</a:t>
            </a:r>
            <a:r>
              <a:rPr lang="en-US" altLang="ko-KR"/>
              <a:t>. b</a:t>
            </a:r>
            <a:r>
              <a:rPr lang="ko-KR" altLang="en-US"/>
              <a:t>가 홀수이면 </a:t>
            </a:r>
            <a:r>
              <a:rPr lang="en-US" altLang="ko-KR"/>
              <a:t>a</a:t>
            </a:r>
            <a:r>
              <a:rPr lang="ko-KR" altLang="en-US"/>
              <a:t>를 한 번 더 곱하며</a:t>
            </a:r>
            <a:r>
              <a:rPr lang="en-US" altLang="ko-KR"/>
              <a:t>, </a:t>
            </a:r>
            <a:r>
              <a:rPr lang="ko-KR" altLang="en-US"/>
              <a:t>곱셈 후마다 </a:t>
            </a:r>
            <a:r>
              <a:rPr lang="en-US" altLang="ko-KR"/>
              <a:t>m</a:t>
            </a:r>
            <a:r>
              <a:rPr lang="ko-KR" altLang="en-US"/>
              <a:t>으로 나눈 나머지를 저장한다</a:t>
            </a:r>
            <a:r>
              <a:rPr lang="en-US" altLang="ko-KR"/>
              <a:t>. Python </a:t>
            </a:r>
            <a:r>
              <a:rPr lang="ko-KR" altLang="en-US"/>
              <a:t>또는 </a:t>
            </a:r>
            <a:r>
              <a:rPr lang="en-US" altLang="ko-KR"/>
              <a:t>C </a:t>
            </a:r>
            <a:r>
              <a:rPr lang="ko-KR" altLang="en-US"/>
              <a:t>중 하나로 함수를 작성하시오</a:t>
            </a:r>
            <a:r>
              <a:rPr lang="en-US" altLang="ko-KR"/>
              <a:t>. </a:t>
            </a:r>
            <a:r>
              <a:rPr lang="ko-KR" altLang="en-US"/>
              <a:t>요구한 답과 짧은 판단 근거를 적어 주세요</a:t>
            </a:r>
            <a:r>
              <a:rPr lang="en-US" altLang="ko-KR"/>
              <a:t>. </a:t>
            </a:r>
            <a:r>
              <a:rPr lang="ko-KR" altLang="en-US"/>
              <a:t>지수와 나머지 조건이 모두 주어져 있습니다</a:t>
            </a:r>
            <a:r>
              <a:rPr lang="en-US" altLang="ko-KR"/>
              <a:t>. b</a:t>
            </a:r>
            <a:r>
              <a:rPr lang="ko-KR" altLang="en-US"/>
              <a:t>가 영일 때 종료하고</a:t>
            </a:r>
            <a:r>
              <a:rPr lang="en-US" altLang="ko-KR"/>
              <a:t>, </a:t>
            </a:r>
            <a:r>
              <a:rPr lang="ko-KR" altLang="en-US"/>
              <a:t>절반 지수의 결과는 한 번만 계산하도록 작성하세요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8552288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정답을 확인하겠습니다</a:t>
            </a:r>
            <a:r>
              <a:rPr lang="en-US" altLang="ko-KR"/>
              <a:t>. </a:t>
            </a:r>
            <a:r>
              <a:rPr lang="ko-KR" altLang="en-US"/>
              <a:t>절반 지수의 결과를 한 번 구해 저장하고</a:t>
            </a:r>
            <a:r>
              <a:rPr lang="en-US" altLang="ko-KR"/>
              <a:t>, </a:t>
            </a:r>
            <a:r>
              <a:rPr lang="ko-KR" altLang="en-US"/>
              <a:t>제곱한 뒤 홀수일 때만 </a:t>
            </a:r>
            <a:r>
              <a:rPr lang="en-US" altLang="ko-KR"/>
              <a:t>a</a:t>
            </a:r>
            <a:r>
              <a:rPr lang="ko-KR" altLang="en-US"/>
              <a:t>를 추가로 곱한다</a:t>
            </a:r>
            <a:r>
              <a:rPr lang="en-US" altLang="ko-KR"/>
              <a:t>. </a:t>
            </a:r>
            <a:r>
              <a:rPr lang="ko-KR" altLang="en-US"/>
              <a:t>시간 </a:t>
            </a:r>
            <a:r>
              <a:rPr lang="en-US" altLang="ko-KR"/>
              <a:t>O(log(b+1)). </a:t>
            </a:r>
            <a:r>
              <a:rPr lang="ko-KR" altLang="en-US"/>
              <a:t>지수를 절반으로 줄이는 호출은 한 번이며</a:t>
            </a:r>
            <a:r>
              <a:rPr lang="en-US" altLang="ko-KR"/>
              <a:t>, </a:t>
            </a:r>
            <a:r>
              <a:rPr lang="ko-KR" altLang="en-US"/>
              <a:t>저장한 </a:t>
            </a:r>
            <a:r>
              <a:rPr lang="en-US" altLang="ko-KR"/>
              <a:t>half</a:t>
            </a:r>
            <a:r>
              <a:rPr lang="ko-KR" altLang="en-US"/>
              <a:t>를 재사용한다</a:t>
            </a:r>
            <a:r>
              <a:rPr lang="en-US" altLang="ko-KR"/>
              <a:t>. </a:t>
            </a:r>
            <a:r>
              <a:rPr lang="ko-KR" altLang="en-US"/>
              <a:t>같은 의미를 담은 설명은 표현이 달라도 맞는 답입니다</a:t>
            </a:r>
            <a:r>
              <a:rPr lang="en-US" altLang="ko-KR"/>
              <a:t>. </a:t>
            </a:r>
            <a:r>
              <a:rPr lang="ko-KR" altLang="en-US"/>
              <a:t>숫자만 외우기보다 주어진 배열</a:t>
            </a:r>
            <a:r>
              <a:rPr lang="en-US" altLang="ko-KR"/>
              <a:t>, 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지수에서 이 결과가 나오는 과정을 확인해 주세요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9918477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빠른 거듭제곱과 나머지의 한 가지 구현입니다</a:t>
            </a:r>
            <a:r>
              <a:rPr lang="en-US" altLang="ko-KR"/>
              <a:t>. </a:t>
            </a:r>
            <a:r>
              <a:rPr lang="ko-KR" altLang="en-US"/>
              <a:t>먼저 지수가 영인지 확인하고</a:t>
            </a:r>
            <a:r>
              <a:rPr lang="en-US" altLang="ko-KR"/>
              <a:t>, </a:t>
            </a:r>
            <a:r>
              <a:rPr lang="ko-KR" altLang="en-US"/>
              <a:t>그때는 일의 나머지를 바로 반환합니다</a:t>
            </a:r>
            <a:r>
              <a:rPr lang="en-US" altLang="ko-KR"/>
              <a:t>. </a:t>
            </a:r>
            <a:r>
              <a:rPr lang="ko-KR" altLang="en-US"/>
              <a:t>그 외에는 절반 지수의 함수를 한 번만 호출해서 </a:t>
            </a:r>
            <a:r>
              <a:rPr lang="en-US" altLang="ko-KR"/>
              <a:t>half</a:t>
            </a:r>
            <a:r>
              <a:rPr lang="ko-KR" altLang="en-US"/>
              <a:t>에 저장합니다</a:t>
            </a:r>
            <a:r>
              <a:rPr lang="en-US" altLang="ko-KR"/>
              <a:t>. </a:t>
            </a:r>
            <a:r>
              <a:rPr lang="ko-KR" altLang="en-US"/>
              <a:t>이 값을 자기 자신과 곱하면 짝수 부분의 제곱이 됩니다</a:t>
            </a:r>
            <a:r>
              <a:rPr lang="en-US" altLang="ko-KR"/>
              <a:t>. </a:t>
            </a:r>
            <a:r>
              <a:rPr lang="ko-KR" altLang="en-US"/>
              <a:t>원래 지수가 홀수이면 </a:t>
            </a:r>
            <a:r>
              <a:rPr lang="en-US" altLang="ko-KR"/>
              <a:t>a</a:t>
            </a:r>
            <a:r>
              <a:rPr lang="ko-KR" altLang="en-US"/>
              <a:t>를 한 번 더 곱합니다</a:t>
            </a:r>
            <a:r>
              <a:rPr lang="en-US" altLang="ko-KR"/>
              <a:t>. </a:t>
            </a:r>
            <a:r>
              <a:rPr lang="ko-KR" altLang="en-US"/>
              <a:t>매번 나머지를 저장해 숫자가 계속 커지는 것을 막습니다</a:t>
            </a:r>
            <a:r>
              <a:rPr lang="en-US" altLang="ko-KR"/>
              <a:t>. C</a:t>
            </a:r>
            <a:r>
              <a:rPr lang="ko-KR" altLang="en-US"/>
              <a:t>에서는 중간 곱셈을 </a:t>
            </a:r>
            <a:r>
              <a:rPr lang="en-US" altLang="ko-KR"/>
              <a:t>long long</a:t>
            </a:r>
            <a:r>
              <a:rPr lang="ko-KR" altLang="en-US"/>
              <a:t>으로 처리합니다</a:t>
            </a:r>
            <a:r>
              <a:rPr lang="en-US" altLang="ko-KR"/>
              <a:t>. </a:t>
            </a:r>
            <a:r>
              <a:rPr lang="ko-KR" altLang="en-US"/>
              <a:t>주어진 범위에서 중간 곱셈은 이 자료형 안에 들어갑니다</a:t>
            </a:r>
            <a:r>
              <a:rPr lang="en-US" altLang="ko-KR"/>
              <a:t>. </a:t>
            </a:r>
            <a:r>
              <a:rPr lang="ko-KR" altLang="en-US"/>
              <a:t>결과는 </a:t>
            </a:r>
            <a:r>
              <a:rPr lang="en-US" altLang="ko-KR"/>
              <a:t>m</a:t>
            </a:r>
            <a:r>
              <a:rPr lang="ko-KR" altLang="en-US"/>
              <a:t>보다 작은 정수이므로 마지막에는 </a:t>
            </a:r>
            <a:r>
              <a:rPr lang="en-US" altLang="ko-KR"/>
              <a:t>int</a:t>
            </a:r>
            <a:r>
              <a:rPr lang="ko-KR" altLang="en-US"/>
              <a:t>로 반환해도 됩니다</a:t>
            </a:r>
            <a:r>
              <a:rPr lang="en-US" altLang="ko-KR"/>
              <a:t>. </a:t>
            </a:r>
            <a:r>
              <a:rPr lang="ko-KR" altLang="en-US"/>
              <a:t>시간은 시간 </a:t>
            </a:r>
            <a:r>
              <a:rPr lang="en-US" altLang="ko-KR"/>
              <a:t>O(log(b+1)). </a:t>
            </a:r>
            <a:r>
              <a:rPr lang="ko-KR" altLang="en-US"/>
              <a:t>지수를 절반으로 줄이는 호출은 한 번이며</a:t>
            </a:r>
            <a:r>
              <a:rPr lang="en-US" altLang="ko-KR"/>
              <a:t>, </a:t>
            </a:r>
            <a:r>
              <a:rPr lang="ko-KR" altLang="en-US"/>
              <a:t>저장한 </a:t>
            </a:r>
            <a:r>
              <a:rPr lang="en-US" altLang="ko-KR"/>
              <a:t>half</a:t>
            </a:r>
            <a:r>
              <a:rPr lang="ko-KR" altLang="en-US"/>
              <a:t>를 재사용한다</a:t>
            </a:r>
            <a:r>
              <a:rPr lang="en-US" altLang="ko-KR"/>
              <a:t>. b</a:t>
            </a:r>
            <a:r>
              <a:rPr lang="ko-KR" altLang="en-US"/>
              <a:t>가 영이고 </a:t>
            </a:r>
            <a:r>
              <a:rPr lang="en-US" altLang="ko-KR"/>
              <a:t>m</a:t>
            </a:r>
            <a:r>
              <a:rPr lang="ko-KR" altLang="en-US"/>
              <a:t>이 일이면 반환값은 영이며</a:t>
            </a:r>
            <a:r>
              <a:rPr lang="en-US" altLang="ko-KR"/>
              <a:t>, </a:t>
            </a:r>
            <a:r>
              <a:rPr lang="ko-KR" altLang="en-US"/>
              <a:t>이 경우도 명세에 포함됩니다</a:t>
            </a:r>
            <a:r>
              <a:rPr lang="en-US" altLang="ko-KR"/>
              <a:t>. </a:t>
            </a:r>
            <a:r>
              <a:rPr lang="ko-KR" altLang="en-US"/>
              <a:t>같은 결과와 지정한 재귀 조건을 만족하는 다른 구현도 정답입니다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1223403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빠른 거듭제곱과 나머지의 한 가지 구현입니다</a:t>
            </a:r>
            <a:r>
              <a:rPr lang="en-US" altLang="ko-KR"/>
              <a:t>. </a:t>
            </a:r>
            <a:r>
              <a:rPr lang="ko-KR" altLang="en-US"/>
              <a:t>먼저 지수가 영인지 확인하고</a:t>
            </a:r>
            <a:r>
              <a:rPr lang="en-US" altLang="ko-KR"/>
              <a:t>, </a:t>
            </a:r>
            <a:r>
              <a:rPr lang="ko-KR" altLang="en-US"/>
              <a:t>그때는 일의 나머지를 바로 반환합니다</a:t>
            </a:r>
            <a:r>
              <a:rPr lang="en-US" altLang="ko-KR"/>
              <a:t>. </a:t>
            </a:r>
            <a:r>
              <a:rPr lang="ko-KR" altLang="en-US"/>
              <a:t>그 외에는 절반 지수의 함수를 한 번만 호출해서 </a:t>
            </a:r>
            <a:r>
              <a:rPr lang="en-US" altLang="ko-KR"/>
              <a:t>half</a:t>
            </a:r>
            <a:r>
              <a:rPr lang="ko-KR" altLang="en-US"/>
              <a:t>에 저장합니다</a:t>
            </a:r>
            <a:r>
              <a:rPr lang="en-US" altLang="ko-KR"/>
              <a:t>. </a:t>
            </a:r>
            <a:r>
              <a:rPr lang="ko-KR" altLang="en-US"/>
              <a:t>이 값을 자기 자신과 곱하면 짝수 부분의 제곱이 됩니다</a:t>
            </a:r>
            <a:r>
              <a:rPr lang="en-US" altLang="ko-KR"/>
              <a:t>. </a:t>
            </a:r>
            <a:r>
              <a:rPr lang="ko-KR" altLang="en-US"/>
              <a:t>원래 지수가 홀수이면 </a:t>
            </a:r>
            <a:r>
              <a:rPr lang="en-US" altLang="ko-KR"/>
              <a:t>a</a:t>
            </a:r>
            <a:r>
              <a:rPr lang="ko-KR" altLang="en-US"/>
              <a:t>를 한 번 더 곱합니다</a:t>
            </a:r>
            <a:r>
              <a:rPr lang="en-US" altLang="ko-KR"/>
              <a:t>. </a:t>
            </a:r>
            <a:r>
              <a:rPr lang="ko-KR" altLang="en-US"/>
              <a:t>매번 나머지를 저장해 숫자가 계속 커지는 것을 막습니다</a:t>
            </a:r>
            <a:r>
              <a:rPr lang="en-US" altLang="ko-KR"/>
              <a:t>. C</a:t>
            </a:r>
            <a:r>
              <a:rPr lang="ko-KR" altLang="en-US"/>
              <a:t>에서는 중간 곱셈을 </a:t>
            </a:r>
            <a:r>
              <a:rPr lang="en-US" altLang="ko-KR"/>
              <a:t>long long</a:t>
            </a:r>
            <a:r>
              <a:rPr lang="ko-KR" altLang="en-US"/>
              <a:t>으로 처리합니다</a:t>
            </a:r>
            <a:r>
              <a:rPr lang="en-US" altLang="ko-KR"/>
              <a:t>. </a:t>
            </a:r>
            <a:r>
              <a:rPr lang="ko-KR" altLang="en-US"/>
              <a:t>주어진 범위에서 중간 곱셈은 이 자료형 안에 들어갑니다</a:t>
            </a:r>
            <a:r>
              <a:rPr lang="en-US" altLang="ko-KR"/>
              <a:t>. </a:t>
            </a:r>
            <a:r>
              <a:rPr lang="ko-KR" altLang="en-US"/>
              <a:t>결과는 </a:t>
            </a:r>
            <a:r>
              <a:rPr lang="en-US" altLang="ko-KR"/>
              <a:t>m</a:t>
            </a:r>
            <a:r>
              <a:rPr lang="ko-KR" altLang="en-US"/>
              <a:t>보다 작은 정수이므로 마지막에는 </a:t>
            </a:r>
            <a:r>
              <a:rPr lang="en-US" altLang="ko-KR"/>
              <a:t>int</a:t>
            </a:r>
            <a:r>
              <a:rPr lang="ko-KR" altLang="en-US"/>
              <a:t>로 반환해도 됩니다</a:t>
            </a:r>
            <a:r>
              <a:rPr lang="en-US" altLang="ko-KR"/>
              <a:t>. </a:t>
            </a:r>
            <a:r>
              <a:rPr lang="ko-KR" altLang="en-US"/>
              <a:t>시간은 시간 </a:t>
            </a:r>
            <a:r>
              <a:rPr lang="en-US" altLang="ko-KR"/>
              <a:t>O(log(b+1)). </a:t>
            </a:r>
            <a:r>
              <a:rPr lang="ko-KR" altLang="en-US"/>
              <a:t>지수를 절반으로 줄이는 호출은 한 번이며</a:t>
            </a:r>
            <a:r>
              <a:rPr lang="en-US" altLang="ko-KR"/>
              <a:t>, </a:t>
            </a:r>
            <a:r>
              <a:rPr lang="ko-KR" altLang="en-US"/>
              <a:t>저장한 </a:t>
            </a:r>
            <a:r>
              <a:rPr lang="en-US" altLang="ko-KR"/>
              <a:t>half</a:t>
            </a:r>
            <a:r>
              <a:rPr lang="ko-KR" altLang="en-US"/>
              <a:t>를 재사용한다</a:t>
            </a:r>
            <a:r>
              <a:rPr lang="en-US" altLang="ko-KR"/>
              <a:t>. b</a:t>
            </a:r>
            <a:r>
              <a:rPr lang="ko-KR" altLang="en-US"/>
              <a:t>가 영이고 </a:t>
            </a:r>
            <a:r>
              <a:rPr lang="en-US" altLang="ko-KR"/>
              <a:t>m</a:t>
            </a:r>
            <a:r>
              <a:rPr lang="ko-KR" altLang="en-US"/>
              <a:t>이 일이면 반환값은 영이며</a:t>
            </a:r>
            <a:r>
              <a:rPr lang="en-US" altLang="ko-KR"/>
              <a:t>, </a:t>
            </a:r>
            <a:r>
              <a:rPr lang="ko-KR" altLang="en-US"/>
              <a:t>이 경우도 명세에 포함됩니다</a:t>
            </a:r>
            <a:r>
              <a:rPr lang="en-US" altLang="ko-KR"/>
              <a:t>. </a:t>
            </a:r>
            <a:r>
              <a:rPr lang="ko-KR" altLang="en-US"/>
              <a:t>같은 결과와 지정한 재귀 조건을 만족하는 다른 구현도 정답입니다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8104502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쿼드트리 부호화을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ko-KR" altLang="en-US"/>
              <a:t>정답은 균일성을 검사하고 서로 다르면 네 사분면을 재귀 호출한다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이 전체 균일성 검사 구현은 </a:t>
            </a:r>
            <a:r>
              <a:rPr lang="en-US" altLang="ko-KR"/>
              <a:t>O(n² log(n+1)) </a:t>
            </a:r>
            <a:r>
              <a:rPr lang="ko-KR" altLang="en-US"/>
              <a:t>시간 상한</a:t>
            </a:r>
            <a:r>
              <a:rPr lang="en-US" altLang="ko-KR"/>
              <a:t>. .</a:t>
            </a:r>
          </a:p>
          <a:p>
            <a:r>
              <a:rPr lang="ko-KR" altLang="en-US"/>
              <a:t>여기서는 쿼드트리 부호화의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[[[0,1],[1,0]],0,0,2,"(0110)"]</a:t>
            </a:r>
          </a:p>
          <a:p>
            <a:r>
              <a:rPr lang="en-US" altLang="ko-KR"/>
              <a:t>[[[1]],0,0,1,"1"]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ko-KR" altLang="en-US"/>
              <a:t>이 코드는 쿼드트리 부호화의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균일성을 검사하고 서로 다르면 네 사분면을 재귀 호출한다</a:t>
            </a:r>
            <a:r>
              <a:rPr lang="en-US" altLang="ko-KR"/>
              <a:t>.</a:t>
            </a:r>
          </a:p>
          <a:p>
            <a:r>
              <a:rPr lang="ko-KR" altLang="en-US"/>
              <a:t>이 전체 균일성 검사 구현은 </a:t>
            </a:r>
            <a:r>
              <a:rPr lang="en-US" altLang="ko-KR"/>
              <a:t>O(n² log(n+1)) </a:t>
            </a:r>
            <a:r>
              <a:rPr lang="ko-KR" altLang="en-US"/>
              <a:t>시간 상한</a:t>
            </a:r>
            <a:r>
              <a:rPr lang="en-US" altLang="ko-KR"/>
              <a:t>. 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[[[0,1],[1,0]],0,0,2,"(0110)"]</a:t>
            </a:r>
          </a:p>
          <a:p>
            <a:r>
              <a:rPr lang="en-US" altLang="ko-KR"/>
              <a:t>[[[1]],0,0,1,"1"]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ko-KR" altLang="en-US"/>
              <a:t>이 코드는 쿼드트리 부호화의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균일성을 검사하고 서로 다르면 네 사분면을 재귀 호출한다</a:t>
            </a:r>
            <a:r>
              <a:rPr lang="en-US" altLang="ko-KR"/>
              <a:t>.</a:t>
            </a:r>
          </a:p>
          <a:p>
            <a:r>
              <a:rPr lang="ko-KR" altLang="en-US"/>
              <a:t>이 전체 균일성 검사 구현은 </a:t>
            </a:r>
            <a:r>
              <a:rPr lang="en-US" altLang="ko-KR"/>
              <a:t>O(n² log(n+1)) </a:t>
            </a:r>
            <a:r>
              <a:rPr lang="ko-KR" altLang="en-US"/>
              <a:t>시간 상한</a:t>
            </a:r>
            <a:r>
              <a:rPr lang="en-US" altLang="ko-KR"/>
              <a:t>. 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[[[0,1],[1,0]],0,0,2,"(0110)"]</a:t>
            </a:r>
          </a:p>
          <a:p>
            <a:r>
              <a:rPr lang="en-US" altLang="ko-KR"/>
              <a:t>[[[1]],0,0,1,"1"]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이번에는 강의에서 화살표로 따라간 분할 과정을 직접 구현하겠습니다</a:t>
            </a:r>
            <a:r>
              <a:rPr lang="en-US" altLang="ko-KR"/>
              <a:t>. </a:t>
            </a:r>
            <a:r>
              <a:rPr lang="ko-KR" altLang="en-US"/>
              <a:t>구간의 양 끝을 모두 포함합니다</a:t>
            </a:r>
            <a:r>
              <a:rPr lang="en-US" altLang="ko-KR"/>
              <a:t>. </a:t>
            </a:r>
            <a:r>
              <a:rPr lang="ko-KR" altLang="en-US"/>
              <a:t>가운데 위치의 숫자를 피벗으로 선택해서 끝으로 옮겨두세요</a:t>
            </a:r>
            <a:r>
              <a:rPr lang="en-US" altLang="ko-KR"/>
              <a:t>. L</a:t>
            </a:r>
            <a:r>
              <a:rPr lang="ko-KR" altLang="en-US"/>
              <a:t>과 </a:t>
            </a:r>
            <a:r>
              <a:rPr lang="en-US" altLang="ko-KR"/>
              <a:t>R</a:t>
            </a:r>
            <a:r>
              <a:rPr lang="ko-KR" altLang="en-US"/>
              <a:t>을 움직일 때는 먼저 서로 교차했는지 검사해야 배열 범위를 벗어나지 않습니다</a:t>
            </a:r>
            <a:r>
              <a:rPr lang="en-US" altLang="ko-KR"/>
              <a:t>. </a:t>
            </a:r>
            <a:r>
              <a:rPr lang="ko-KR" altLang="en-US"/>
              <a:t>이 문항은 적혀 있는 순서 그대로 분할한 배열과 피벗 인덱스를 함께 확인합니다</a:t>
            </a:r>
            <a:r>
              <a:rPr lang="en-US" altLang="ko-KR"/>
              <a:t>. </a:t>
            </a:r>
            <a:r>
              <a:rPr lang="ko-KR" altLang="en-US"/>
              <a:t>서로 다른 분할 방식을 섞지 말고 강의의 예제를 그대로 따라가 보세요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7390215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첫 예제를 같이 확인하겠습니다</a:t>
            </a:r>
            <a:r>
              <a:rPr lang="en-US" altLang="ko-KR"/>
              <a:t>. </a:t>
            </a:r>
            <a:r>
              <a:rPr lang="ko-KR" altLang="en-US"/>
              <a:t>피벗 </a:t>
            </a:r>
            <a:r>
              <a:rPr lang="en-US" altLang="ko-KR"/>
              <a:t>6</a:t>
            </a:r>
            <a:r>
              <a:rPr lang="ko-KR" altLang="en-US"/>
              <a:t>을 끝으로 보내면 </a:t>
            </a:r>
            <a:r>
              <a:rPr lang="en-US" altLang="ko-KR"/>
              <a:t>1</a:t>
            </a:r>
            <a:r>
              <a:rPr lang="ko-KR" altLang="en-US"/>
              <a:t>이 원래 피벗 자리에 옵니다</a:t>
            </a:r>
            <a:r>
              <a:rPr lang="en-US" altLang="ko-KR"/>
              <a:t>. L</a:t>
            </a:r>
            <a:r>
              <a:rPr lang="ko-KR" altLang="en-US"/>
              <a:t>은 </a:t>
            </a:r>
            <a:r>
              <a:rPr lang="en-US" altLang="ko-KR"/>
              <a:t>8</a:t>
            </a:r>
            <a:r>
              <a:rPr lang="ko-KR" altLang="en-US"/>
              <a:t>에서 멈추고 </a:t>
            </a:r>
            <a:r>
              <a:rPr lang="en-US" altLang="ko-KR"/>
              <a:t>R</a:t>
            </a:r>
            <a:r>
              <a:rPr lang="ko-KR" altLang="en-US"/>
              <a:t>은 </a:t>
            </a:r>
            <a:r>
              <a:rPr lang="en-US" altLang="ko-KR"/>
              <a:t>7</a:t>
            </a:r>
            <a:r>
              <a:rPr lang="ko-KR" altLang="en-US"/>
              <a:t>을 지나 </a:t>
            </a:r>
            <a:r>
              <a:rPr lang="en-US" altLang="ko-KR"/>
              <a:t>3</a:t>
            </a:r>
            <a:r>
              <a:rPr lang="ko-KR" altLang="en-US"/>
              <a:t>에서 멈춥니다</a:t>
            </a:r>
            <a:r>
              <a:rPr lang="en-US" altLang="ko-KR"/>
              <a:t>. </a:t>
            </a:r>
            <a:r>
              <a:rPr lang="ko-KR" altLang="en-US"/>
              <a:t>두 값을 바꾸면 </a:t>
            </a:r>
            <a:r>
              <a:rPr lang="en-US" altLang="ko-KR"/>
              <a:t>3, 4, 1, 8, 7, 6</a:t>
            </a:r>
            <a:r>
              <a:rPr lang="ko-KR" altLang="en-US"/>
              <a:t>이 됩니다</a:t>
            </a:r>
            <a:r>
              <a:rPr lang="en-US" altLang="ko-KR"/>
              <a:t>. L</a:t>
            </a:r>
            <a:r>
              <a:rPr lang="ko-KR" altLang="en-US"/>
              <a:t>이 인덱스 </a:t>
            </a:r>
            <a:r>
              <a:rPr lang="en-US" altLang="ko-KR"/>
              <a:t>3</a:t>
            </a:r>
            <a:r>
              <a:rPr lang="ko-KR" altLang="en-US"/>
              <a:t>에 도착하고 </a:t>
            </a:r>
            <a:r>
              <a:rPr lang="en-US" altLang="ko-KR"/>
              <a:t>R</a:t>
            </a:r>
            <a:r>
              <a:rPr lang="ko-KR" altLang="en-US"/>
              <a:t>이 </a:t>
            </a:r>
            <a:r>
              <a:rPr lang="en-US" altLang="ko-KR"/>
              <a:t>2</a:t>
            </a:r>
            <a:r>
              <a:rPr lang="ko-KR" altLang="en-US"/>
              <a:t>로 이동하면 서로 교차합니다</a:t>
            </a:r>
            <a:r>
              <a:rPr lang="en-US" altLang="ko-KR"/>
              <a:t>. </a:t>
            </a:r>
            <a:r>
              <a:rPr lang="ko-KR" altLang="en-US"/>
              <a:t>마지막으로 </a:t>
            </a:r>
            <a:r>
              <a:rPr lang="en-US" altLang="ko-KR"/>
              <a:t>8</a:t>
            </a:r>
            <a:r>
              <a:rPr lang="ko-KR" altLang="en-US"/>
              <a:t>과 피벗 </a:t>
            </a:r>
            <a:r>
              <a:rPr lang="en-US" altLang="ko-KR"/>
              <a:t>6</a:t>
            </a:r>
            <a:r>
              <a:rPr lang="ko-KR" altLang="en-US"/>
              <a:t>을 바꾸고 </a:t>
            </a:r>
            <a:r>
              <a:rPr lang="en-US" altLang="ko-KR"/>
              <a:t>3</a:t>
            </a:r>
            <a:r>
              <a:rPr lang="ko-KR" altLang="en-US"/>
              <a:t>을 반환합니다</a:t>
            </a:r>
            <a:r>
              <a:rPr lang="en-US" altLang="ko-KR"/>
              <a:t>. </a:t>
            </a:r>
            <a:r>
              <a:rPr lang="ko-KR" altLang="en-US"/>
              <a:t>중요한 것은 반환값만 맞추는 게 아니라 배열도 이 순서대로 바뀌어야 한다는 점입니다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266316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그림에서 움직인 </a:t>
            </a:r>
            <a:r>
              <a:rPr lang="en-US" altLang="ko-KR"/>
              <a:t>L</a:t>
            </a:r>
            <a:r>
              <a:rPr lang="ko-KR" altLang="en-US"/>
              <a:t>과 </a:t>
            </a:r>
            <a:r>
              <a:rPr lang="en-US" altLang="ko-KR"/>
              <a:t>R</a:t>
            </a:r>
            <a:r>
              <a:rPr lang="ko-KR" altLang="en-US"/>
              <a:t>을 코드 변수로 그대로 옮겼습니다</a:t>
            </a:r>
            <a:r>
              <a:rPr lang="en-US" altLang="ko-KR"/>
              <a:t>. </a:t>
            </a:r>
            <a:r>
              <a:rPr lang="ko-KR" altLang="en-US"/>
              <a:t>피벗을 마지막으로 옮긴 다음부터는 피벗 값을 별도 변수에 저장해 비교합니다</a:t>
            </a:r>
            <a:r>
              <a:rPr lang="en-US" altLang="ko-KR"/>
              <a:t>. </a:t>
            </a:r>
            <a:r>
              <a:rPr lang="ko-KR" altLang="en-US"/>
              <a:t>두 </a:t>
            </a:r>
            <a:r>
              <a:rPr lang="en-US" altLang="ko-KR"/>
              <a:t>while</a:t>
            </a:r>
            <a:r>
              <a:rPr lang="ko-KR" altLang="en-US"/>
              <a:t>은 </a:t>
            </a:r>
            <a:r>
              <a:rPr lang="en-US" altLang="ko-KR"/>
              <a:t>L </a:t>
            </a:r>
            <a:r>
              <a:rPr lang="ko-KR" altLang="en-US"/>
              <a:t>이하 </a:t>
            </a:r>
            <a:r>
              <a:rPr lang="en-US" altLang="ko-KR"/>
              <a:t>R</a:t>
            </a:r>
            <a:r>
              <a:rPr lang="ko-KR" altLang="en-US"/>
              <a:t>을 먼저 검사합니다</a:t>
            </a:r>
            <a:r>
              <a:rPr lang="en-US" altLang="ko-KR"/>
              <a:t>. and</a:t>
            </a:r>
            <a:r>
              <a:rPr lang="ko-KR" altLang="en-US"/>
              <a:t>는 앞이 거짓이면 뒤를 계산하지 않으므로 배열 접근이 안전합니다</a:t>
            </a:r>
            <a:r>
              <a:rPr lang="en-US" altLang="ko-KR"/>
              <a:t>. </a:t>
            </a:r>
            <a:r>
              <a:rPr lang="ko-KR" altLang="en-US"/>
              <a:t>두 값의 교환 뒤에는 다음 반복에서 다시 같은 두 칸부터 검사합니다</a:t>
            </a:r>
            <a:r>
              <a:rPr lang="en-US" altLang="ko-KR"/>
              <a:t>. </a:t>
            </a:r>
            <a:r>
              <a:rPr lang="ko-KR" altLang="en-US"/>
              <a:t>교환한 값은 자기 쪽의 조건을 만족해서 다음 칸으로 넘어갑니다</a:t>
            </a:r>
            <a:r>
              <a:rPr lang="en-US" altLang="ko-KR"/>
              <a:t>. </a:t>
            </a:r>
            <a:r>
              <a:rPr lang="ko-KR" altLang="en-US"/>
              <a:t>교차하면 마지막 교환으로 피벗의 자리를 확정합니다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8572785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C</a:t>
            </a:r>
            <a:r>
              <a:rPr lang="ko-KR" altLang="en-US"/>
              <a:t>도 같은 순서입니다</a:t>
            </a:r>
            <a:r>
              <a:rPr lang="en-US" altLang="ko-KR"/>
              <a:t>. </a:t>
            </a:r>
            <a:r>
              <a:rPr lang="ko-KR" altLang="en-US"/>
              <a:t>가운데 인덱스는 </a:t>
            </a:r>
            <a:r>
              <a:rPr lang="en-US" altLang="ko-KR"/>
              <a:t>lo</a:t>
            </a:r>
            <a:r>
              <a:rPr lang="ko-KR" altLang="en-US"/>
              <a:t>에 </a:t>
            </a:r>
            <a:r>
              <a:rPr lang="en-US" altLang="ko-KR"/>
              <a:t>hi </a:t>
            </a:r>
            <a:r>
              <a:rPr lang="ko-KR" altLang="en-US"/>
              <a:t>마이너스 </a:t>
            </a:r>
            <a:r>
              <a:rPr lang="en-US" altLang="ko-KR"/>
              <a:t>lo</a:t>
            </a:r>
            <a:r>
              <a:rPr lang="ko-KR" altLang="en-US"/>
              <a:t>의 절반을 더해 구합니다</a:t>
            </a:r>
            <a:r>
              <a:rPr lang="en-US" altLang="ko-KR"/>
              <a:t>. </a:t>
            </a:r>
            <a:r>
              <a:rPr lang="ko-KR" altLang="en-US"/>
              <a:t>두 정수의 교환에는 임시 변수 </a:t>
            </a:r>
            <a:r>
              <a:rPr lang="en-US" altLang="ko-KR"/>
              <a:t>t</a:t>
            </a:r>
            <a:r>
              <a:rPr lang="ko-KR" altLang="en-US"/>
              <a:t>가 필요합니다</a:t>
            </a:r>
            <a:r>
              <a:rPr lang="en-US" altLang="ko-KR"/>
              <a:t>. </a:t>
            </a:r>
            <a:r>
              <a:rPr lang="ko-KR" altLang="en-US"/>
              <a:t>배열 원소를 먼저 덮어쓰면 원래 값이 사라지기 때문입니다</a:t>
            </a:r>
            <a:r>
              <a:rPr lang="en-US" altLang="ko-KR"/>
              <a:t>. </a:t>
            </a:r>
            <a:r>
              <a:rPr lang="ko-KR" altLang="en-US"/>
              <a:t>논리곱 조건에서도 교차 검사부터 합니다</a:t>
            </a:r>
            <a:r>
              <a:rPr lang="en-US" altLang="ko-KR"/>
              <a:t>. </a:t>
            </a:r>
            <a:r>
              <a:rPr lang="ko-KR" altLang="en-US"/>
              <a:t>원소가 하나인 경우 </a:t>
            </a:r>
            <a:r>
              <a:rPr lang="en-US" altLang="ko-KR"/>
              <a:t>R</a:t>
            </a:r>
            <a:r>
              <a:rPr lang="ko-KR" altLang="en-US"/>
              <a:t>은 </a:t>
            </a:r>
            <a:r>
              <a:rPr lang="en-US" altLang="ko-KR"/>
              <a:t>lo </a:t>
            </a:r>
            <a:r>
              <a:rPr lang="ko-KR" altLang="en-US"/>
              <a:t>마이너스 </a:t>
            </a:r>
            <a:r>
              <a:rPr lang="en-US" altLang="ko-KR"/>
              <a:t>1</a:t>
            </a:r>
            <a:r>
              <a:rPr lang="ko-KR" altLang="en-US"/>
              <a:t>이지만 조건이 먼저 거짓이 되어 배열을 읽지 않습니다</a:t>
            </a:r>
            <a:r>
              <a:rPr lang="en-US" altLang="ko-KR"/>
              <a:t>. </a:t>
            </a:r>
            <a:r>
              <a:rPr lang="ko-KR" altLang="en-US"/>
              <a:t>마지막 자기 자신과의 교환 뒤 </a:t>
            </a:r>
            <a:r>
              <a:rPr lang="en-US" altLang="ko-KR"/>
              <a:t>lo</a:t>
            </a:r>
            <a:r>
              <a:rPr lang="ko-KR" altLang="en-US"/>
              <a:t>를 반환하면 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470573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 문제에서 만든 분할 함수를 이용해 전체 정렬을 완성하겠습니다</a:t>
            </a:r>
            <a:r>
              <a:rPr lang="en-US" altLang="ko-KR"/>
              <a:t>. </a:t>
            </a:r>
            <a:r>
              <a:rPr lang="ko-KR" altLang="en-US"/>
              <a:t>실행 환경에 </a:t>
            </a:r>
            <a:r>
              <a:rPr lang="en-US" altLang="ko-KR"/>
              <a:t>partition</a:t>
            </a:r>
            <a:r>
              <a:rPr lang="ko-KR" altLang="en-US"/>
              <a:t>이 이미 준비되어 있으므로 이번에는 </a:t>
            </a:r>
            <a:r>
              <a:rPr lang="en-US" altLang="ko-KR"/>
              <a:t>quick_sort</a:t>
            </a:r>
            <a:r>
              <a:rPr lang="ko-KR" altLang="en-US"/>
              <a:t>만 작성합니다</a:t>
            </a:r>
            <a:r>
              <a:rPr lang="en-US" altLang="ko-KR"/>
              <a:t>. lo</a:t>
            </a:r>
            <a:r>
              <a:rPr lang="ko-KR" altLang="en-US"/>
              <a:t>와 </a:t>
            </a:r>
            <a:r>
              <a:rPr lang="en-US" altLang="ko-KR"/>
              <a:t>hi</a:t>
            </a:r>
            <a:r>
              <a:rPr lang="ko-KR" altLang="en-US"/>
              <a:t>가 같으면 한 개이고 </a:t>
            </a:r>
            <a:r>
              <a:rPr lang="en-US" altLang="ko-KR"/>
              <a:t>lo</a:t>
            </a:r>
            <a:r>
              <a:rPr lang="ko-KR" altLang="en-US"/>
              <a:t>가 더 크면 빈 구간입니다</a:t>
            </a:r>
            <a:r>
              <a:rPr lang="en-US" altLang="ko-KR"/>
              <a:t>. </a:t>
            </a:r>
            <a:r>
              <a:rPr lang="ko-KR" altLang="en-US"/>
              <a:t>이때 바로 끝내세요</a:t>
            </a:r>
            <a:r>
              <a:rPr lang="en-US" altLang="ko-KR"/>
              <a:t>. </a:t>
            </a:r>
            <a:r>
              <a:rPr lang="ko-KR" altLang="en-US"/>
              <a:t>피벗은 제자리를 찾았으니 다시 정렬하지 않습니다</a:t>
            </a:r>
            <a:r>
              <a:rPr lang="en-US" altLang="ko-KR"/>
              <a:t>. </a:t>
            </a:r>
            <a:r>
              <a:rPr lang="ko-KR" altLang="en-US"/>
              <a:t>왼쪽은 </a:t>
            </a:r>
            <a:r>
              <a:rPr lang="en-US" altLang="ko-KR"/>
              <a:t>p </a:t>
            </a:r>
            <a:r>
              <a:rPr lang="ko-KR" altLang="en-US"/>
              <a:t>마이너스 </a:t>
            </a:r>
            <a:r>
              <a:rPr lang="en-US" altLang="ko-KR"/>
              <a:t>1</a:t>
            </a:r>
            <a:r>
              <a:rPr lang="ko-KR" altLang="en-US"/>
              <a:t>까지</a:t>
            </a:r>
            <a:r>
              <a:rPr lang="en-US" altLang="ko-KR"/>
              <a:t>, </a:t>
            </a:r>
            <a:r>
              <a:rPr lang="ko-KR" altLang="en-US"/>
              <a:t>오른쪽은 </a:t>
            </a:r>
            <a:r>
              <a:rPr lang="en-US" altLang="ko-KR"/>
              <a:t>p </a:t>
            </a:r>
            <a:r>
              <a:rPr lang="ko-KR" altLang="en-US"/>
              <a:t>플러스 </a:t>
            </a:r>
            <a:r>
              <a:rPr lang="en-US" altLang="ko-KR"/>
              <a:t>1</a:t>
            </a:r>
            <a:r>
              <a:rPr lang="ko-KR" altLang="en-US"/>
              <a:t>부터 호출합니다</a:t>
            </a:r>
            <a:r>
              <a:rPr lang="en-US" altLang="ko-KR"/>
              <a:t>. </a:t>
            </a:r>
            <a:r>
              <a:rPr lang="ko-KR" altLang="en-US"/>
              <a:t>반환값 대신 원래 배열이 바뀌었는지 확인합니다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5363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첫 분할이 끝나도 전체가 정렬된 것은 아닙니다</a:t>
            </a:r>
            <a:r>
              <a:rPr lang="en-US" altLang="ko-KR"/>
              <a:t>. </a:t>
            </a:r>
            <a:r>
              <a:rPr lang="ko-KR" altLang="en-US"/>
              <a:t>왼쪽 </a:t>
            </a:r>
            <a:r>
              <a:rPr lang="en-US" altLang="ko-KR"/>
              <a:t>3, 4, 1</a:t>
            </a:r>
            <a:r>
              <a:rPr lang="ko-KR" altLang="en-US"/>
              <a:t>은 아직 순서가 틀렸죠</a:t>
            </a:r>
            <a:r>
              <a:rPr lang="en-US" altLang="ko-KR"/>
              <a:t>. </a:t>
            </a:r>
            <a:r>
              <a:rPr lang="ko-KR" altLang="en-US"/>
              <a:t>이 왼쪽 구간에 똑같은 정렬 함수를 다시 부릅니다</a:t>
            </a:r>
            <a:r>
              <a:rPr lang="en-US" altLang="ko-KR"/>
              <a:t>. </a:t>
            </a:r>
            <a:r>
              <a:rPr lang="ko-KR" altLang="en-US"/>
              <a:t>오른쪽도 따로 부릅니다</a:t>
            </a:r>
            <a:r>
              <a:rPr lang="en-US" altLang="ko-KR"/>
              <a:t>. </a:t>
            </a:r>
            <a:r>
              <a:rPr lang="ko-KR" altLang="en-US"/>
              <a:t>피벗 자리는 두 호출에서 제외하므로 구간이 계속 줄어듭니다</a:t>
            </a:r>
            <a:r>
              <a:rPr lang="en-US" altLang="ko-KR"/>
              <a:t>. </a:t>
            </a:r>
            <a:r>
              <a:rPr lang="ko-KR" altLang="en-US"/>
              <a:t>빈 배열을 넣으면 </a:t>
            </a:r>
            <a:r>
              <a:rPr lang="en-US" altLang="ko-KR"/>
              <a:t>hi</a:t>
            </a:r>
            <a:r>
              <a:rPr lang="ko-KR" altLang="en-US"/>
              <a:t>가 마이너스 </a:t>
            </a:r>
            <a:r>
              <a:rPr lang="en-US" altLang="ko-KR"/>
              <a:t>1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종료 조건을 맨 먼저 확인하니 잘못된 배열 접근 없이 끝납니다</a:t>
            </a:r>
            <a:r>
              <a:rPr lang="en-US" altLang="ko-KR"/>
              <a:t>. </a:t>
            </a:r>
            <a:r>
              <a:rPr lang="ko-KR" altLang="en-US"/>
              <a:t>평균과 최악 시간이 다른 이유는 피벗이 매번 균형 있게 나누어 준다는 보장이 없기 때문입니다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1220347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Python </a:t>
            </a:r>
            <a:r>
              <a:rPr lang="ko-KR" altLang="en-US"/>
              <a:t>코드는 짧지만 호출 범위를 주의해서 보겠습니다</a:t>
            </a:r>
            <a:r>
              <a:rPr lang="en-US" altLang="ko-KR"/>
              <a:t>. </a:t>
            </a:r>
            <a:r>
              <a:rPr lang="ko-KR" altLang="en-US"/>
              <a:t>종료 조건은 </a:t>
            </a:r>
            <a:r>
              <a:rPr lang="en-US" altLang="ko-KR"/>
              <a:t>lo</a:t>
            </a:r>
            <a:r>
              <a:rPr lang="ko-KR" altLang="en-US"/>
              <a:t>가 </a:t>
            </a:r>
            <a:r>
              <a:rPr lang="en-US" altLang="ko-KR"/>
              <a:t>hi </a:t>
            </a:r>
            <a:r>
              <a:rPr lang="ko-KR" altLang="en-US"/>
              <a:t>이상일 때입니다</a:t>
            </a:r>
            <a:r>
              <a:rPr lang="en-US" altLang="ko-KR"/>
              <a:t>. </a:t>
            </a:r>
            <a:r>
              <a:rPr lang="ko-KR" altLang="en-US"/>
              <a:t>그러면 빈 구간과 원소 한 개를 모두 처리할 수 있습니다</a:t>
            </a:r>
            <a:r>
              <a:rPr lang="en-US" altLang="ko-KR"/>
              <a:t>. partition</a:t>
            </a:r>
            <a:r>
              <a:rPr lang="ko-KR" altLang="en-US"/>
              <a:t>은 배열을 직접 바꾸고 피벗 인덱스를 반환합니다</a:t>
            </a:r>
            <a:r>
              <a:rPr lang="en-US" altLang="ko-KR"/>
              <a:t>. </a:t>
            </a:r>
            <a:r>
              <a:rPr lang="ko-KR" altLang="en-US"/>
              <a:t>그 인덱스의 양쪽만 재귀 호출하면 됩니다</a:t>
            </a:r>
            <a:r>
              <a:rPr lang="en-US" altLang="ko-KR"/>
              <a:t>. </a:t>
            </a:r>
            <a:r>
              <a:rPr lang="ko-KR" altLang="en-US"/>
              <a:t>이 함수는 새 목록을 반환하지 않습니다</a:t>
            </a:r>
            <a:r>
              <a:rPr lang="en-US" altLang="ko-KR"/>
              <a:t>. </a:t>
            </a:r>
            <a:r>
              <a:rPr lang="ko-KR" altLang="en-US"/>
              <a:t>실행한 뒤 원래 </a:t>
            </a:r>
            <a:r>
              <a:rPr lang="en-US" altLang="ko-KR"/>
              <a:t>a</a:t>
            </a:r>
            <a:r>
              <a:rPr lang="ko-KR" altLang="en-US"/>
              <a:t>를 출력하거나 확인해야 합니다</a:t>
            </a:r>
            <a:r>
              <a:rPr lang="en-US" altLang="ko-KR"/>
              <a:t>. </a:t>
            </a:r>
            <a:r>
              <a:rPr lang="ko-KR" altLang="en-US"/>
              <a:t>정렬 라이브러리로 대신하지 말고 이 재귀 구조를 직접 작성해 보세요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2069549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C </a:t>
            </a:r>
            <a:r>
              <a:rPr lang="ko-KR" altLang="en-US"/>
              <a:t>실행 환경에도 앞 문항의 </a:t>
            </a:r>
            <a:r>
              <a:rPr lang="en-US" altLang="ko-KR"/>
              <a:t>partition</a:t>
            </a:r>
            <a:r>
              <a:rPr lang="ko-KR" altLang="en-US"/>
              <a:t>이 함께 제공됩니다</a:t>
            </a:r>
            <a:r>
              <a:rPr lang="en-US" altLang="ko-KR"/>
              <a:t>. </a:t>
            </a:r>
            <a:r>
              <a:rPr lang="ko-KR" altLang="en-US"/>
              <a:t>그래서 이 슬라이드의 </a:t>
            </a:r>
            <a:r>
              <a:rPr lang="en-US" altLang="ko-KR"/>
              <a:t>quick_sort</a:t>
            </a:r>
            <a:r>
              <a:rPr lang="ko-KR" altLang="en-US"/>
              <a:t>만 작성해서 실습할 수 있습니다</a:t>
            </a:r>
            <a:r>
              <a:rPr lang="en-US" altLang="ko-KR"/>
              <a:t>. </a:t>
            </a:r>
            <a:r>
              <a:rPr lang="ko-KR" altLang="en-US"/>
              <a:t>직접 파일을 만들어 실행할 때는 </a:t>
            </a:r>
            <a:r>
              <a:rPr lang="en-US" altLang="ko-KR"/>
              <a:t>partition</a:t>
            </a:r>
            <a:r>
              <a:rPr lang="ko-KR" altLang="en-US"/>
              <a:t>의 정의를 같은 파일 앞쪽에 넣거나 선언을 준비하세요</a:t>
            </a:r>
            <a:r>
              <a:rPr lang="en-US" altLang="ko-KR"/>
              <a:t>. </a:t>
            </a:r>
            <a:r>
              <a:rPr lang="ko-KR" altLang="en-US"/>
              <a:t>이 함수 역시 배열을 직접 수정하는 </a:t>
            </a:r>
            <a:r>
              <a:rPr lang="en-US" altLang="ko-KR"/>
              <a:t>void </a:t>
            </a:r>
            <a:r>
              <a:rPr lang="ko-KR" altLang="en-US"/>
              <a:t>함수입니다</a:t>
            </a:r>
            <a:r>
              <a:rPr lang="en-US" altLang="ko-KR"/>
              <a:t>. </a:t>
            </a:r>
            <a:r>
              <a:rPr lang="ko-KR" altLang="en-US"/>
              <a:t>처음에는 길이 </a:t>
            </a:r>
            <a:r>
              <a:rPr lang="en-US" altLang="ko-KR"/>
              <a:t>n</a:t>
            </a:r>
            <a:r>
              <a:rPr lang="ko-KR" altLang="en-US"/>
              <a:t>의 배열에 </a:t>
            </a:r>
            <a:r>
              <a:rPr lang="en-US" altLang="ko-KR"/>
              <a:t>0</a:t>
            </a:r>
            <a:r>
              <a:rPr lang="ko-KR" altLang="en-US"/>
              <a:t>과 </a:t>
            </a:r>
            <a:r>
              <a:rPr lang="en-US" altLang="ko-KR"/>
              <a:t>n </a:t>
            </a:r>
            <a:r>
              <a:rPr lang="ko-KR" altLang="en-US"/>
              <a:t>마이너스 </a:t>
            </a:r>
            <a:r>
              <a:rPr lang="en-US" altLang="ko-KR"/>
              <a:t>1</a:t>
            </a:r>
            <a:r>
              <a:rPr lang="ko-KR" altLang="en-US"/>
              <a:t>을 넘깁니다</a:t>
            </a:r>
            <a:r>
              <a:rPr lang="en-US" altLang="ko-KR"/>
              <a:t>. </a:t>
            </a:r>
            <a:r>
              <a:rPr lang="ko-KR" altLang="en-US"/>
              <a:t>빈 배열도 </a:t>
            </a:r>
            <a:r>
              <a:rPr lang="en-US" altLang="ko-KR"/>
              <a:t>0</a:t>
            </a:r>
            <a:r>
              <a:rPr lang="ko-KR" altLang="en-US"/>
              <a:t>과 마이너스 </a:t>
            </a:r>
            <a:r>
              <a:rPr lang="en-US" altLang="ko-KR"/>
              <a:t>1</a:t>
            </a:r>
            <a:r>
              <a:rPr lang="ko-KR" altLang="en-US"/>
              <a:t>로 호출하면 첫 조건에서 종료합니다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7977286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문제는 단색 종이 조각 수을 확인하는 문항입니다</a:t>
            </a:r>
            <a:r>
              <a:rPr lang="en-US" altLang="ko-KR"/>
              <a:t>. </a:t>
            </a:r>
            <a:r>
              <a:rPr lang="ko-KR" altLang="en-US"/>
              <a:t>먼저 조건과 요구한 반환값을 읽어 주세요</a:t>
            </a:r>
            <a:r>
              <a:rPr lang="en-US" altLang="ko-KR"/>
              <a:t>. </a:t>
            </a:r>
            <a:r>
              <a:rPr lang="ko-KR" altLang="en-US"/>
              <a:t>결과만 적지 말고 어떻게 판단했는지도 적어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출제 기준</a:t>
            </a:r>
            <a:r>
              <a:rPr lang="en-US" altLang="ko-KR"/>
              <a:t>: 4</a:t>
            </a:r>
            <a:r>
              <a:rPr lang="ko-KR" altLang="en-US"/>
              <a:t>장 강의 내용과 그 응용</a:t>
            </a:r>
            <a:r>
              <a:rPr lang="en-US" altLang="ko-KR"/>
              <a:t>.</a:t>
            </a:r>
          </a:p>
          <a:p>
            <a:r>
              <a:rPr lang="ko-KR" altLang="en-US"/>
              <a:t>배점</a:t>
            </a:r>
            <a:r>
              <a:rPr lang="en-US" altLang="ko-KR"/>
              <a:t>: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  <a:r>
              <a:rPr lang="en-US" altLang="ko-KR"/>
              <a:t>,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정답과 해설은 다음 슬라이드에 있습니다</a:t>
            </a:r>
            <a:r>
              <a:rPr lang="en-US" altLang="ko-KR"/>
              <a:t>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ko-KR" altLang="en-US"/>
              <a:t>정답은 균일한 </a:t>
            </a:r>
            <a:r>
              <a:rPr lang="en-US" altLang="ko-KR"/>
              <a:t>1 </a:t>
            </a:r>
            <a:r>
              <a:rPr lang="ko-KR" altLang="en-US"/>
              <a:t>영역은 한 조각</a:t>
            </a:r>
            <a:r>
              <a:rPr lang="en-US" altLang="ko-KR"/>
              <a:t>, </a:t>
            </a:r>
            <a:r>
              <a:rPr lang="ko-KR" altLang="en-US"/>
              <a:t>균일한 </a:t>
            </a:r>
            <a:r>
              <a:rPr lang="en-US" altLang="ko-KR"/>
              <a:t>0 </a:t>
            </a:r>
            <a:r>
              <a:rPr lang="ko-KR" altLang="en-US"/>
              <a:t>영역은 </a:t>
            </a:r>
            <a:r>
              <a:rPr lang="en-US" altLang="ko-KR"/>
              <a:t>0</a:t>
            </a:r>
            <a:r>
              <a:rPr lang="ko-KR" altLang="en-US"/>
              <a:t>개로 세고 나머지는 네 결과를 합한다</a:t>
            </a:r>
            <a:r>
              <a:rPr lang="en-US" altLang="ko-KR"/>
              <a:t>.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O(n² log(n+1)) </a:t>
            </a:r>
            <a:r>
              <a:rPr lang="ko-KR" altLang="en-US"/>
              <a:t>상한</a:t>
            </a:r>
            <a:r>
              <a:rPr lang="en-US" altLang="ko-KR"/>
              <a:t>. 1</a:t>
            </a:r>
            <a:r>
              <a:rPr lang="ko-KR" altLang="en-US"/>
              <a:t>인 칸 수와 조각 수는 다르다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단색 종이 조각 수의 조건을 놓치지 않았는지 확인해 주세요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채점 기준</a:t>
            </a:r>
          </a:p>
          <a:p>
            <a:r>
              <a:rPr lang="en-US" altLang="ko-KR"/>
              <a:t>- </a:t>
            </a:r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en-US" altLang="ko-KR"/>
              <a:t>- </a:t>
            </a:r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검증 예시</a:t>
            </a:r>
          </a:p>
          <a:p>
            <a:r>
              <a:rPr lang="en-US" altLang="ko-KR"/>
              <a:t>[[[1,1],[1,1]],0,0,2,1]</a:t>
            </a:r>
          </a:p>
          <a:p>
            <a:r>
              <a:rPr lang="en-US" altLang="ko-KR"/>
              <a:t>[[[0,1],[1,0]],0,0,2,2]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ko-KR" altLang="en-US"/>
              <a:t>이 코드는 단색 종이 조각 수의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균일한 </a:t>
            </a:r>
            <a:r>
              <a:rPr lang="en-US" altLang="ko-KR"/>
              <a:t>1 </a:t>
            </a:r>
            <a:r>
              <a:rPr lang="ko-KR" altLang="en-US"/>
              <a:t>영역은 한 조각</a:t>
            </a:r>
            <a:r>
              <a:rPr lang="en-US" altLang="ko-KR"/>
              <a:t>, </a:t>
            </a:r>
            <a:r>
              <a:rPr lang="ko-KR" altLang="en-US"/>
              <a:t>균일한 </a:t>
            </a:r>
            <a:r>
              <a:rPr lang="en-US" altLang="ko-KR"/>
              <a:t>0 </a:t>
            </a:r>
            <a:r>
              <a:rPr lang="ko-KR" altLang="en-US"/>
              <a:t>영역은 </a:t>
            </a:r>
            <a:r>
              <a:rPr lang="en-US" altLang="ko-KR"/>
              <a:t>0</a:t>
            </a:r>
            <a:r>
              <a:rPr lang="ko-KR" altLang="en-US"/>
              <a:t>개로 세고 나머지는 네 결과를 합한다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O(n² log(n+1)) </a:t>
            </a:r>
            <a:r>
              <a:rPr lang="ko-KR" altLang="en-US"/>
              <a:t>상한</a:t>
            </a:r>
            <a:r>
              <a:rPr lang="en-US" altLang="ko-KR"/>
              <a:t>. 1</a:t>
            </a:r>
            <a:r>
              <a:rPr lang="ko-KR" altLang="en-US"/>
              <a:t>인 칸 수와 조각 수는 다르다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[[[1,1],[1,1]],0,0,2,1]</a:t>
            </a:r>
          </a:p>
          <a:p>
            <a:r>
              <a:rPr lang="en-US" altLang="ko-KR"/>
              <a:t>[[[0,1],[1,0]],0,0,2,2]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ko-KR" altLang="en-US"/>
              <a:t>이 코드는 단색 종이 조각 수의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균일한 </a:t>
            </a:r>
            <a:r>
              <a:rPr lang="en-US" altLang="ko-KR"/>
              <a:t>1 </a:t>
            </a:r>
            <a:r>
              <a:rPr lang="ko-KR" altLang="en-US"/>
              <a:t>영역은 한 조각</a:t>
            </a:r>
            <a:r>
              <a:rPr lang="en-US" altLang="ko-KR"/>
              <a:t>, </a:t>
            </a:r>
            <a:r>
              <a:rPr lang="ko-KR" altLang="en-US"/>
              <a:t>균일한 </a:t>
            </a:r>
            <a:r>
              <a:rPr lang="en-US" altLang="ko-KR"/>
              <a:t>0 </a:t>
            </a:r>
            <a:r>
              <a:rPr lang="ko-KR" altLang="en-US"/>
              <a:t>영역은 </a:t>
            </a:r>
            <a:r>
              <a:rPr lang="en-US" altLang="ko-KR"/>
              <a:t>0</a:t>
            </a:r>
            <a:r>
              <a:rPr lang="ko-KR" altLang="en-US"/>
              <a:t>개로 세고 나머지는 네 결과를 합한다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O(n² log(n+1)) </a:t>
            </a:r>
            <a:r>
              <a:rPr lang="ko-KR" altLang="en-US"/>
              <a:t>상한</a:t>
            </a:r>
            <a:r>
              <a:rPr lang="en-US" altLang="ko-KR"/>
              <a:t>. 1</a:t>
            </a:r>
            <a:r>
              <a:rPr lang="ko-KR" altLang="en-US"/>
              <a:t>인 칸 수와 조각 수는 다르다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[[[1,1],[1,1]],0,0,2,1]</a:t>
            </a:r>
          </a:p>
          <a:p>
            <a:r>
              <a:rPr lang="en-US" altLang="ko-KR"/>
              <a:t>[[[0,1],[1,0]],0,0,2,2]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역전 쌍이라는 말부터 볼게요. 배열에서 앞에 있던 숫자가 뒤에 있던 숫자보다 크면, 이 둘의 크기 순서가 뒤집혀 있다고 해서 역전 쌍이라고 합니다. 이 문제는 왼쪽 부분에서 하나, 오른쪽 부분에서 하나를 고른 경우만 셉니다. 왼쪽 부분의 원소들은 원래 오른쪽 부분의 원소들보다 앞에 있었어요. 그래서 a의 값이 b의 값보다 큰지만 보면 됩니다. 각 부분 안의 순서는 이미 오름차순으로 정렬되어 있습니다. 예를 들어 왼쪽이 1, 4, 7이고 오른쪽이 2, 3, 8이면, 4와 2, 4와 3, 7과 2, 7과 3이 역전 쌍이에요. 모두 네 쌍입니다. 4와 8은 앞의 4가 더 작아서 세지 않고, 같은 값도 크다고 할 수 없으니 세지 않습니다. 모든 조합을 이중 반복문으로 확인할 수도 있지만, 이번 문제에서는 두 배열이 정렬되어 있다는 점을 이용해 병합하듯이 앞에서부터 살펴보겠습니다. 한쪽 배열이 비어 있으면 고를 원소가 없으므로 답은 0입니다.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실제로 포인터를 움직여 볼게요. i는 왼쪽 배열에서 아직 확인하지 않은 첫 위치이고, j는 오른쪽 배열에서 아직 확인하지 않은 첫 위치예요. 처음에는 둘 다 0이고, 센 쌍의 개수도 0입니다. 처음 보는 값은 왼쪽 1과 오른쪽 2예요. 1은 2보다 작습니다. 오른쪽은 정렬되어 있으니 그 뒤의 3과 8도 1보다 크겠죠. 그러면 이 왼쪽 1은 오른쪽의 어떤 값과도 역전 쌍을 만들지 않아요. 그래서 왼쪽 포인터 i만 하나 늘립니다. 이제 왼쪽 4와 오른쪽 2를 봅니다. 4가 2보다 크네요. 왼쪽에서 4 뒤에 남아 있는 7은 4보다 크거나 같으니까, 7 역시 2보다 큽니다. 따라서 4와 2, 7과 2의 두 쌍을 한꺼번에 셀 수 있어요. 왼쪽 길이 3에서 i가 1이니까, 남은 개수는 3 빼기 1, 즉 2개입니다. 이것이 count에 n-i를 더하는 이유입니다. 오른쪽 2에 대한 쌍을 전부 셌으니 이번에는 j만 늘립니다. i를 같이 늘리면 4와 다음 오른쪽 값의 쌍을 놓칠 수 있어요. 이제 왼쪽 4와 오른쪽 3을 봅니다. 똑같이 남은 왼쪽 4와 7이 모두 3보다 커서 두 쌍을 더합니다. 누적 개수는 4가 되고 j를 늘려 오른쪽 8을 봅니다. 4는 8보다 작으니 i만 늘리고, 7도 8보다 작으니 i를 한 번 더 늘립니다. 왼쪽 배열이 끝났으니 반복을 마칩니다. 이미 오른쪽 2와 3에 대한 쌍은 다 세었으므로 중복도 없습니다. 매번 i나 j 가운데 하나가 한 칸씩만 앞으로 갑니다. 왼쪽 길이가 n, 오른쪽 길이가 m이면 이 이동을 합쳐도 n+m번 이내이므로 시간 복잡도는 O(n+m)입니다. 같은 값일 때는 역전이 아니므로 왼쪽을 넘기는 이하 비교를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병합 중 역전 쌍 세기의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오른쪽 값이 더 작으면 남은 왼쪽 원소 모두와 역전 쌍을 만든다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O(n+m). </a:t>
            </a:r>
            <a:r>
              <a:rPr lang="ko-KR" altLang="en-US"/>
              <a:t>같은 값은 역전 쌍으로 세지 않는다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[[1,4,7],[2,3,8],4]</a:t>
            </a:r>
          </a:p>
          <a:p>
            <a:r>
              <a:rPr lang="en-US" altLang="ko-KR"/>
              <a:t>[[2,2],[2],0]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코드는 병합 중 역전 쌍 세기의 한 가지 정답 예시입니다</a:t>
            </a:r>
            <a:r>
              <a:rPr lang="en-US" altLang="ko-KR"/>
              <a:t>.</a:t>
            </a:r>
          </a:p>
          <a:p>
            <a:r>
              <a:rPr lang="ko-KR" altLang="en-US"/>
              <a:t>오른쪽 값이 더 작으면 남은 왼쪽 원소 모두와 역전 쌍을 만든다</a:t>
            </a:r>
            <a:r>
              <a:rPr lang="en-US" altLang="ko-KR"/>
              <a:t>.</a:t>
            </a:r>
          </a:p>
          <a:p>
            <a:r>
              <a:rPr lang="ko-KR" altLang="en-US"/>
              <a:t>시간 </a:t>
            </a:r>
            <a:r>
              <a:rPr lang="en-US" altLang="ko-KR"/>
              <a:t>O(n+m). </a:t>
            </a:r>
            <a:r>
              <a:rPr lang="ko-KR" altLang="en-US"/>
              <a:t>같은 값은 역전 쌍으로 세지 않는다</a:t>
            </a:r>
            <a:r>
              <a:rPr lang="en-US" altLang="ko-KR"/>
              <a:t>.</a:t>
            </a:r>
          </a:p>
          <a:p>
            <a:r>
              <a:rPr lang="ko-KR" altLang="en-US"/>
              <a:t>동일한 명세와 복잡도를 만족하는 다른 구현도 정답으로 인정합니다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입력</a:t>
            </a:r>
            <a:r>
              <a:rPr lang="en-US" altLang="ko-KR"/>
              <a:t>·</a:t>
            </a:r>
            <a:r>
              <a:rPr lang="ko-KR" altLang="en-US"/>
              <a:t>경계 처리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핵심 알고리즘 </a:t>
            </a:r>
            <a:r>
              <a:rPr lang="en-US" altLang="ko-KR"/>
              <a:t>4</a:t>
            </a:r>
            <a:r>
              <a:rPr lang="ko-KR" altLang="en-US"/>
              <a:t>점</a:t>
            </a:r>
          </a:p>
          <a:p>
            <a:r>
              <a:rPr lang="ko-KR" altLang="en-US"/>
              <a:t>정확한 반환값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r>
              <a:rPr lang="ko-KR" altLang="en-US"/>
              <a:t>복잡도 설명 </a:t>
            </a:r>
            <a:r>
              <a:rPr lang="en-US" altLang="ko-KR"/>
              <a:t>2</a:t>
            </a:r>
            <a:r>
              <a:rPr lang="ko-KR" altLang="en-US"/>
              <a:t>점</a:t>
            </a:r>
          </a:p>
          <a:p>
            <a:endParaRPr lang="ko-KR" altLang="en-US"/>
          </a:p>
          <a:p>
            <a:r>
              <a:rPr lang="en-US" altLang="ko-KR"/>
              <a:t>[[1,4,7],[2,3,8],4]</a:t>
            </a:r>
          </a:p>
          <a:p>
            <a:r>
              <a:rPr lang="en-US" altLang="ko-KR"/>
              <a:t>[[2,2],[2],0]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48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3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3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3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3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3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3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3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3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3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3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3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3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3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3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3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3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3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04040E78-2DF7-4F1F-8F25-5A7ABDACC6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50FF9D4-8260-4184-911E-72DAF42C5A3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F69AA81-3BF6-492B-9EFB-CE5CB6D8EA4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CA4381-27FF-4D06-AED0-69E75BC6FC5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3FABC6-F356-4012-9630-F21AD662354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50ECA67-F2D2-4EE5-BD4B-30CF721D419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BBE1FB9-4F0E-4173-9652-49822B80361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A29E67A-F6AB-4B48-B285-201D2B01B02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 정복의 세 단계 순서로 옳은 것은?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7B3AF117-9156-4601-B312-32B394716416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FB03AD67-2C97-4260-A399-E76EA7052BEA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문제 해결→분할→결합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70B9F2-706F-4D00-8D41-2D48F6FC5765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16AB51F0-1DDB-4655-9524-0321A14C8D2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6BECA2AE-5BC7-47DD-B07A-2075D014A95A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결합→분할→부분 문제 해결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65A35C-5C8A-4B63-85BF-091D0CC865F9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4BE118EF-37A6-4732-8F48-8C28F3C17625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0A229858-70C1-4DD0-A42B-A0ABA41ECD40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분할→부분 문제 해결→결합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2E5FA2-429C-4F98-ABE4-03D0283A78B6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538510A2-E21C-477B-9E19-924CFE2F86DD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40EC3C3C-3F20-4A30-B6F7-FF244D05CF60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문제 해결→결합→분할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80A9DD-9DC9-461A-B12B-CF82FE7159F4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AD595732-DD41-4773-9B63-A9056D3EAA5F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4922FB90-49D8-4F4D-B289-FAA5BC003052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분할→결합→부분 문제 해결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00D2189-17C3-45AD-B161-54E284F7A24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0B7A186-7B17-46B5-BAC8-DD1DA612B63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5FBB087-BB8D-420A-A5C0-53B8D913C5F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B69E81-CC56-4294-A865-E1ABF2CD2CC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6B0A4D-B9C2-4DE6-956C-6DC51A97566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04EE961-4990-449D-8A30-90523135A2A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71B7434-DF96-4484-B01A-ED58C1FA164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386D136-75F0-43B2-BE76-00198109E86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정복의 세 단계 순서로 옳은 것은?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7F2FDC-AB16-4EF6-A8ED-40A87DCFDDDE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8D85F4A1-95B6-4333-AC89-FFB033A12A99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분할→부분 문제 해결→결합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643ADE0A-6D83-46B0-AAC4-005B8C974983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3C87C50-0807-4907-A11C-F405AE6690A2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169B81EB-D2D3-4B71-A34C-243175A64B4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작은 문제를 해결한 결과를 이용해 원래 문제의 답을 구성한다.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B722E107-2057-495A-AB9D-E220E149D2D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10459ED-4799-4FAD-B25D-01EF5953993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7BCC1E4-8B12-4087-B09F-DB0A620AAE3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83E169-A465-4A52-8660-04F6ED9F9D9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E38287-5DE7-4572-BB08-86183C359D6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E0ADDC3-AE57-42BD-AAFE-5E442519C49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0C5D9E4-A59F-4231-97BB-FA0436A9806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EA9E021-01FE-4AFC-AF43-00D20DD0000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합병 정렬의 분할 뒤 반드시 필요한 전제는?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1E07537A-80CA-4EDB-8A75-AFBDC02A6AC1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15D024A5-9D4D-414C-9FB2-9D1F515035A2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원소가 서로 다르다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4F38B4-1732-49E5-A7A8-F4FE418DD0A2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B3335335-BF7E-476E-B776-B1F2F964BD30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7A4AC74C-3065-4F09-9140-BCE0D9FC61C5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입력이 이미 정렬되어 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774A66-9554-4CE8-9EA2-0B9E211B21A4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256041B4-C7E3-48E9-B451-2E5BFB95E774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AF906C9B-3A42-44CD-9358-99276C918D92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두 부분을 각각 정렬한 뒤 병합한다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7F17BD-BD1C-4C6A-A9C6-3A647906509A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F554E00E-540D-4205-9578-6320DBFDA53A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237A01A3-6A79-4C2E-B819-4F4A9A8AB966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두 부분의 길이가 항상 같다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616619-8AA2-44F5-A04B-2C16EEDA7855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B122D0AC-C101-4219-9A21-48BF8FF55BDF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E99DFDBC-3100-42A4-B736-F336C93476A7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두 부분의 값 범위가 겹치지 않는다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A0F0BF4-95FC-4D90-968F-BF674708C90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FFD4F32-01B6-4DAF-9CD4-B6EAA2663F0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ECBFDF7-84F6-423A-9D08-EFAFF3A5A87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8E067E-6987-4991-8334-CBE8C15E61F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ADF2E9-6351-4A3E-A64D-61E4FCD4729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26C4BA6-5E11-4B1B-887F-72860522CC2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5B722DE-052A-4705-85EB-37B047C47E3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CD262E7-1D2E-40DF-8714-21F11F92ECD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합병 정렬의 분할 뒤 반드시 필요한 전제는?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E1F80B-5A42-4AE2-AA13-797853B8473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DB3A49F-5F74-47D6-BBBA-E3CC3E5075F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두 부분을 각각 정렬한 뒤 병합한다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99967192-A19A-45B2-8B9D-D39D3FA08F8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C8D628-08B0-45BF-BA9B-84315B127D0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0EA8E369-C046-4F88-8484-91CE772A4534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병합은 정렬된 두 배열을 입력으로 받는다. 중복과 홀수 길이도 처리할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EC591D6A-C66F-475B-9B91-32612EAB998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2C3850B-3FC3-42E2-BF37-ED97704C51B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ADF1AC2-7918-4749-9E78-E4D5B377208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1DAC65-9F89-4611-B57E-6D58E78A7F3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CC4A81-9BFB-4CE0-8F8B-3B2E1C27FF4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FC83E83-787B-43F0-8E34-EF14FFD9EC6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9AC98CF-E6B1-4018-BAB8-FADDFD6EDB4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3EAD1B4-3E72-448E-947F-30D780BD4E8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 p,q인 정렬 배열의 표준 병합에서 최악 원소 비교 횟수는? p,q≥1이다.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2BB7EAD0-0A7C-4B8D-81AF-BAD9E796A197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3FB961AB-B7CF-499D-847C-78F8016DE94C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⌈log₂(p+q)⌉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6E3DDF-C2BF-4483-AC49-C6C98481471E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DB1E13F2-5400-4EEF-9CA2-05209D378DA8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F17FF6EE-2B6E-43B4-8E16-5440A7E23075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min(p,q)−1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4D6EF7-D553-40A9-80C2-BD11AC7764A7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86DA79DD-8FAE-4E5F-B918-842D01B7B4EA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A69E7D0B-886B-4C70-BC68-4C62F94C5EDE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p+q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3E790F-4F76-428F-898B-B87029EE9D92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33852385-D540-400D-B11A-8E4014F20D07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0F76C21-2527-41BE-BC72-323A20A8649E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pq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EF3384-BCCF-4D26-BE4D-8323F08FFA72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3BE0EAF0-019F-4A31-BC03-62F104CB4481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39E30255-8459-441D-BF99-59F88DE82BED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p+q−1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B299E3A-79EE-4DF6-A313-3C2188B87A7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B1EEA0E-B734-422A-888F-C4EA9720FA8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53D1F23-9DEB-433F-92CA-3B2DBE479EB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F9958E-6E71-4259-B6A3-449F5317F0C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73954C-11A8-4449-ADB7-E512EF20012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DE57794-6587-4114-8919-540452742B1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80FBACB-CD14-46B2-8D89-602E4C82A3F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C97659B-68BF-4D6C-80F2-9EB0B8FAB63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길이 p,q인 정렬 배열의 표준 병합에서 최악 원소 비교 횟수는? p,q≥1이다.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93F807-3234-4A3C-80E1-83A22F854F6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B61C694E-18A7-408B-8F48-80E9F300DDA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p+q−1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9A6096C0-4476-4577-8353-54ED0F519A9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703D5F-CD9F-42C2-9167-010347BF3DB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0E87E543-E682-427F-85F4-4C4FED2F68C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한쪽이 먼저 소진되면 남은 원소는 비교 없이 복사한다. 마지막 하나를 남길 때까지 비교할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2F91A7F3-830A-4E4C-B7AD-C7FDFEE7ADB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45EB671-A8D5-4DCE-9531-AABA74F8AB9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700932C-1027-4BD0-852C-E1872525934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E95B97-ABBF-4208-83E4-8D1A965916E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A4EA0C-853A-4A8F-A95D-B919667699A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D59D37B-EAEA-42E5-AAE5-81E0F05833F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CA99402-09DD-4D99-9612-68AEFA9D2FB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465C2EE-2702-49EB-BA81-59AE6DFCFCE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안정적인 병합 정렬에서 양쪽 현재 키가 같을 때 먼저 꺼낼 원소는?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70C14A0A-7118-4839-8ADD-C8AF896C9306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93450E5C-D749-4783-BCA3-1DE2A741B288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같은 키의 대표 하나만 남긴다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B45B6E-62C0-48A5-8FCF-900668754859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20C83EB4-F9E7-405B-900E-403628C58B41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912C60B9-FB8D-45EE-AEFE-864D7F23B995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오른쪽 원소를 먼저 꺼내고 끝에서 전체를 뒤집는다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A5AE89-E357-4290-A9BB-3E5DAEE24BFD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1B9D7FB2-47FC-4D5A-8D1A-6E5E576344B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7EE721C1-06AC-46C4-ADFA-D40D1C67E18F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두 원소 중 삽입 위치가 더 뒤인 쪽을 먼저 쓴다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A10692-265F-4955-9086-52EEC0FCF53B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647B3929-EAEE-4117-A744-F0D2F85C2661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5D76DDC2-59EE-4A49-BAD0-E10D72E0E382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동률을 임의로 처리해도 안정성이 항상 유지된다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8D2E6D-32AF-4995-9D7C-8B8AE5FB40C1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FEAA14F7-F285-4C26-9D31-3F97FC011235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FE25AA18-BF36-4DC9-BCA0-95FE3029913F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부분의 원소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FB370DA7-89D8-4998-8249-FC0CE02F616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6238032-EE62-44D8-B276-781877ACEA5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CDC1417-3970-4031-BECE-9570C7FC4FE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48A29-D1D3-43F0-8F3F-1E65E4AA822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878B8F-C3BF-4761-ADDC-411AD6C729E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6CE7826-EB9E-4749-BADA-53C38BFB482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BCF21E6-8991-449F-AEF6-CF7C0A0A696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D9E33D7-A0E8-426D-96FD-5742C6687B4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안정적인 병합 정렬에서 양쪽 현재 키가 같을 때 먼저 꺼낼 원소는?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F812F0-7225-40AD-9556-6FB226B124E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E93A2F8-04C9-4699-8408-E65DDB1A68C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왼쪽 부분의 원소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40A5053E-75BF-4321-B65B-947A001C6105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D51DF3-CCBA-40BB-9BF9-C152654070E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8E2A40FB-36AC-4BFC-887E-58483B6EDAC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원래 배열에서 왼쪽 부분이 앞에 있으므로 동등 키의 상대 순서를 보존한다.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F9B85B15-1135-4EE1-9D29-D86D81E7BDA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53667C4-2EA0-401A-9686-1BF4BE87E17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90245A4-E778-4955-A7C2-3CE67888F95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04BC78-1F0B-4F3B-953C-6A77EE7984A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0E708F-96F6-4B46-BC59-AB96F00B7E3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8159538-BBA4-43DD-856D-85C69EF407A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C9CD1DA-EB09-4A22-A03A-E09187464D6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16E85AA-6968-46F0-B167-336ED466483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일반 합병 정렬의 점화식은? 분할 크기는 절반, 병합은 선형이다.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648AE666-7E69-4891-8E51-2F7FA41B47C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4A6A2A73-3BE4-4EE2-99FE-B489CDCCA986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T(n)=T(n/2)+Θ(1)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C179BD-2F97-44DD-A366-53D955D78AB6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CF7BB19D-78DC-47F5-8C87-FF1BE6001F6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4EBE0453-97E7-494D-A997-A5E98C1AF9E5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T(n)=4T(n/2)+Θ(n²)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6BF8B6-CBDA-4444-8743-85858487BBA3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520FC436-51B6-41AD-BD39-828ED5D36CB1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727697D1-6167-4F9C-81D0-D3A11BDC2490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T(n)=T(n−1)+Θ(1)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38B718-6864-4D77-9C2B-1BACE63C7EE7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155D88C9-6DDF-438A-AEB1-7EAF80D56C20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D3F0AC6C-9B10-4450-AE58-0D36521428FD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T(n)=2T(n−1)+Θ(1)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D749D0-5465-45AA-B7E8-7A664B837972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8AA32924-C678-4F72-BC2F-6AE87F53F0FA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7F043142-EA09-4885-A3D4-FA7C57A0628F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T(n)=2T(n/2)+Θ(n)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0DFBF8F-9E9A-4988-9CD8-D8CB6F37C65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69C3E26-957A-4C8E-BD71-4AE37650323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F17AA98-22F0-4D03-91ED-D426E529C19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967230-4657-48DB-82FF-C26051099F2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4481C1-EEC2-42AE-942B-CB21F8AD98A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7F9B658-86D8-420E-84E6-84BEE05319B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73BE8D3-A512-4576-8ADD-570D24AC47C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4384520-F9B4-4505-95A7-658AF83E0AF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일반 합병 정렬의 점화식은? 분할 크기는 절반, 병합은 선형이다.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119229-D5DD-4C59-AF68-B3C8387CB9E0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AAC9078-5C6A-4A61-A926-F6018EA3890E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T(n)=2T(n/2)+Θ(n)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D20E4C2C-223F-44C6-83AB-571EFE7B9F0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B98FFE-EB19-45E2-B802-10F673EC955E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7E0CF18F-7509-4F5D-83A9-4A79D2C1324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두 부분을 모두 재귀적으로 정렬하고 전체 길이에 비례해 병합한다.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92EC3DDD-220A-4BD0-8590-89558DF322C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C91DBC1-0D08-40C3-9597-709013A7B02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1A9A35A-6E13-44F8-8A38-EDE79D0AF66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2C4A98-8CA4-4D58-ADC8-5D135EA8DE8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1BE9D2-7FB1-48D0-82D7-574C5E9C8DA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1DB5026-534B-4AD3-A5E7-8E85FE29F15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32B2122-F674-416A-A9A6-7808C8980B2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F7BE8D9-4C08-4C94-824B-2B7EA4895CC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이미 정렬된 입력에도 병합을 생략하지 않는 일반 합병 정렬의 시간 차수는?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CB5C2A2C-223C-4A6F-89DB-5143831B2E0F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99E2B45E-CD99-4B5C-883A-E7E6AB86D538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Θ(1)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96D5AB-061D-443A-A504-931963610A1E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C127F2DC-E12F-47B2-B978-C8398C58C321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30330EB8-D59E-46DC-AA1F-35EFE9B9FC25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B06246-8918-4FF8-9568-9C1E5B514B80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92DCA096-B987-4EDF-8D29-6D0A130CB72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1F50C66C-6FFE-4174-80C4-4CF00C296163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 log n)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35DFEB-A484-40E4-9CBA-D0E901F53963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B267ABAD-B863-4574-8C87-44FF7A0A7B7B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7D0C2C19-02F8-4E96-9072-AD1400A7C000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n)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F6CC213-8A90-4954-A103-C0F1AF4028A3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B152E45A-8654-4D58-87F1-847F063EF549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5D5A3D27-4EE8-44B5-8970-2BB94395F1F7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132B3BC-196B-4A94-8B3B-76BCBA55994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284DA52-DE3E-4E9E-AA81-832CA67DE6F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9D4F66C-65F2-4240-8D40-92F4B86D2A5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9CC87-B9A2-4D28-8052-A66B4216CB0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F4759A-CD10-40BA-98CE-37956C2C49B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0A1FD2E-7F52-4979-9C0A-5C992B61D86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F33D70A-7FB1-46AC-9064-F1A603B7F46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1D1C826-7326-4AA4-9D0C-F0598EB658F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이미 정렬된 입력에도 병합을 생략하지 않는 일반 합병 정렬의 시간 차수는?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4AE951-CA9C-4BB8-B8D0-6D2648B762A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8BEBF81-C72F-4A77-A88F-6AFC8AE97D4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Θ(n log n)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BD6ED53-9FAA-4FAE-8930-811994E092E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083B8D-B5C3-4792-A9FF-241ECF1CFE17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AACE26D-1BCF-4A6B-8C72-9E9AB47517C2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모든 재귀 단계에서 각 원소를 병합하므로 최선 입력에서도 같은 점근적 비용이다.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3EED87ED-EA4C-4B85-8A86-F965F999F99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3BF4D0E-AE6C-423B-8D2C-D710129B6E9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D34D87E-AB14-4792-A3D1-9303C841E07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D30255-2B9D-4304-BACF-CC649EC0DBE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06FF53-FD34-4901-B8CF-4869B607191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FDBCF58-4998-411F-9523-CD0A2835EFA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02632A4-0C49-427E-AA92-2D967E3F918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AB49404-AB3C-4D1C-A4AD-2CB61C35FE2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총 n개(n≥2)의 원소를 가진 두 정렬 배열을 한 번 병합한다. 최악의 원소 비교 횟수의 차수는?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8252304E-942C-4593-840F-98E7DD67C37A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E3A5AB80-6611-49EE-B21C-A132146DE006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671EF5-D73C-470E-93A6-CE581F09955B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5AF55D84-043F-41CE-895A-AFDAF0823B43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B50ECFF7-FBF9-4A4E-92CF-9ED1DBE6762A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 log n)가 반드시 필요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1DF359-C5AB-48D1-A110-A09A1C16AD79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A6E60D66-D585-4BEA-9942-1989CD39794C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529E3670-9D66-43F0-B9EC-2B7612A7FB22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Θ(1)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68198B-17E1-4B79-AB7B-97491C8F0029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20E7F09B-3EFF-4CE9-A9EA-387A791879B9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C0C6DA80-FE89-4A42-918E-D1F82109F96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n)만 필요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847E33A-871D-4936-B274-7157F00F0002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692F9FDF-066F-4A60-AA5E-C577C55B1EF7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B76E2E89-F9EC-4378-B406-772CFEBF2133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9365FAD-8892-4C6B-A250-142A29ADADB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B81EDF2-4F56-4493-8AFA-8573F63D443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7979235-AB31-468F-A4A6-69D94BFB530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5A698F-AF73-45C9-8914-14C03F23ECF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8D5292-0278-43F7-8CAC-FA4FCA76532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B4D45E1-AEA9-46C2-9CAC-DDDC84CC66A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EE1B4B6-9851-4215-8CD1-69D5D2F9084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A9E82CF-E103-48A0-8875-49B2D4F2EB3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총 n개(n≥2)의 원소를 가진 두 정렬 배열을 한 번 병합한다. 최악의 원소 비교 횟수의 차수는?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EF84EF-2E79-4E14-A0F0-25339545CAE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AE53673-8542-41DE-ADD5-75691D8848E9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Θ(n)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6D740869-BCB0-492C-85E4-2258B0310058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A1CA5A-FA49-4E51-BEAA-84DD376D7E0E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FB565EFF-7373-4877-A5AA-AE1F0C3B248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번의 비교마다 원소 하나가 확정된다. 최악 n−1번 비교하므로 Θ(n)이다.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9C3298AB-E383-4FF7-B8D4-B6F425942E0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E187267-8FAF-419E-A25A-BE2CFE632B0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DD98CD7-E188-458C-B52A-EB461753343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B80AD3-95D8-43C0-A250-F0584630A68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F60832-256C-44B2-9A2B-A30E717ECC4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95A4F6E-0BE6-4D1F-9C7B-FC0A9601DCB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5CDDEA6-52C7-4877-B769-E9BCF06634E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D5D47C0-495C-446E-978A-B3C6D0E74A4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 0 또는 1인 배열이 합병 정렬의 기저 사례인 이유는?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86E5A2E4-736E-492E-B26F-4563A54C2BF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EB1A6E40-2E7A-4A78-9882-2A711F9DBD90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빈 배열에서는 비교할 값이 없어 반드시 오류가 나야 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216A11-CF6C-4E1E-8CA2-15BBE7898FFE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E8099D7E-4B10-4DFC-A18E-67148FBD54B9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06B0B524-0B9A-403B-8B3C-482DB2BF3A8A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두 원소가 같을 때만 기저 사례로 처리할 수 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855711-86A2-4B9B-81C8-EDB690A0DBAE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B7F5831D-FBF9-45E5-86EC-245AD1CB159D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9F824937-36DC-495F-8925-B77CE6363083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 1에서도 병합용 두 비어 있지 않은 배열이 필요하다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90047A-C85F-45A6-BF82-457A21DE361F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566792BD-BEAC-4417-A1B3-02B2A82DCF9F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021893B4-9282-4A71-8AC4-C2E2A47CDC09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길이가 1이면 추가로 자기 자신을 정렬해야 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247133-EEA3-45E0-9030-03D6FF9E1632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DF9F05EB-8881-4728-9351-EFED08A3670B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EB6874BF-1746-4B34-8E51-1F694BF6AAD3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이미 정렬되어 있고 더 나눌 필요가 없다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BBB0803-72A7-43EA-955F-3181F33717E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856D22A-0F2F-44F6-8427-AF6FA41328A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36C1C3F-94C7-4F1F-B39D-603EB4F99E4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1FD9A4-9F00-4414-9E6E-75F736CF5F8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A20A6D-C54A-408B-B13C-D97ACC96E05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664DC8B-F988-4E32-878B-15E70C85633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0E3D908-132E-4F6A-BF5F-C17CA17277E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0AAB0F3-D8D4-41A3-B362-31DE3763263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길이 0 또는 1인 배열이 합병 정렬의 기저 사례인 이유는?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C15D20-30F2-4259-8FBE-364B78346B81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6C21D72-6681-4D6B-BB2F-C95516D86FCB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이미 정렬되어 있고 더 나눌 필요가 없다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39115CE-9177-46C8-9000-E153ACD75FDC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E96F88-8537-444C-8D19-D467B1D6559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137FA38-E14F-4406-B55B-C3037DFB8ADB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빈 배열도 정렬된 배열로 취급하면 경계 처리가 자연스럽다.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D0728410-7A3D-423F-A691-F753023038D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70CA41C-6A6B-4DE9-8B4C-DE93B698C56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ECCB579-8E0E-4C0B-9782-A6F370BFD1C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22937D-243A-4562-9C94-D629147B2DE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4A49B4-68B4-43DF-B288-74B58CD9903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35C07CA-486D-4D09-A5A7-E778DC0CBF6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722F512-C280-40CA-A889-B75930ADC05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D219DD7-74E1-4F45-A2C5-041BB86BF2F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비어 있지 않은 최대 연속 부분배열을 찾는다. 모든 값이 음수라면 정답은?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3EFB0BDF-F467-4D17-9EF7-D72D7488D53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81A9EE71-1DA9-4578-AC8E-9DD95C175D2D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FC5F86-EFB1-4847-99F3-A59965A8C682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59834073-BD54-411F-B912-C3FA9627976F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A54B2054-B03A-4743-B882-44A547982801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가장 큰 원소 하나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9E714F-3151-4628-9EF7-047B14489BB2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BAAEC6B5-D275-4DAF-9045-3EB9314E226D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4667A32F-29D2-4D73-9852-C8B7C804551B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양 끝 원소의 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4125AC-4154-452E-9F11-8382A5CFE83A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7B11195D-9295-4CFF-B56D-67E502C5ED92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006D324-CB4F-4790-8F8F-21F6C4FA4171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전체 배열의 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A6050D-7508-45DC-A90D-DD3BD72AFDFF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C6AD6E38-0D3B-4840-AF37-999714E2A1AD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AAEB577D-C906-43F4-9321-6268CA5EABA6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가장 작은 원소 하나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56088660-E925-4D22-AE1B-FA7F05482C3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7936733-835C-4451-887A-E04CC7D01C6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91AF467-EEB9-4697-85E4-9DE186ACB9F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98169E-475D-4FEA-A5AE-04FFEB32739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76CA10-F8BC-4178-A371-310696EE8A2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FCB0C33-86D7-405A-BF6B-EA60DDCC5D3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45D5A12-8426-4E52-B93A-9827D96FAF1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55F6070-80BA-41C7-A768-307B1807FAE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비어 있지 않은 최대 연속 부분배열을 찾는다. 모든 값이 음수라면 정답은?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D829F5-8BC2-44B0-80DE-66C118F6E546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EFC4EDF4-A364-46F4-A77F-25476BA2CAA4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가장 큰 원소 하나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9FE1A0FE-B5B2-4F63-9B4A-CCAE47E8A8F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820331-CC9A-472A-8600-20876EBCADF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EAAF855F-34E6-4540-A075-3D4DDFE400E0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빈 구간을 허용하지 않으므로 0으로 초기화하면 잘못된 답이 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47F9361C-3C95-4872-8BD8-0EB10FEB73A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3AB6945-6735-4A64-9505-5A3C51D6BC8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35A8149-5137-42B5-A74F-AC65D2C64BF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D15C51-5641-43DD-BAD3-80E220E71A9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891BC9-7D2A-4B0E-A48C-2CED79A7537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AB3E418-20F6-4F56-954A-DE7411E48E6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3724DD5-C778-49C0-A59F-13F1A398E51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25A0EB0-5AEC-48F0-8DF4-9FD83373513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 정복 최대 연속합에서 고려해야 할 경우는?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A5BAB63A-FFFC-470F-9969-F8CB07A1DEFD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3D5018B7-A545-48F8-B7D6-4DB0E9F06AB9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내부와 오른쪽 내부만 비교한다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30D7A4-687E-4243-B568-AD36937969D7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58BAE9F6-419C-4847-81FF-C9B1D04BB19A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1DBB86BF-A33F-429C-9829-641E3FBF91F7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양쪽 전체 합과 각 끝 원소만 비교한다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92F007-80D1-43DE-98DD-E754E003D44D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DC43F7A6-1C78-40AB-B994-00AA41F533CE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DE895DEA-ECFF-4BB5-9909-173D107F6A2A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경계를 가로지르는 구간만 비교한다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DE93A8-05F5-4F8D-8D3E-703085ED8260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06BB2A23-3154-422C-8650-1FF056C730BC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48E7B78-7593-434E-81C6-0FDCC0F4F105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길이가 정확히 n/2인 연속 구간만 비교한다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986FD8-7BBB-45DC-9949-E336AFB802C0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54E70266-2360-498C-8D83-AB9DE0CCF7B8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ECDD3B8A-993D-4583-9186-A441E936A713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내부·오른쪽 내부·경계를 가로지르는 구간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3CBC53F-EA09-4856-8384-B492F2BF51C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AA7EAAB-BEE5-4083-8EE2-299FF990BDD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1FB2BC9-BDCA-4E25-B289-E96686E86E3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D39811-8B01-4A63-8BFC-E6840D567FF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1FDD70-9258-480F-A7C0-DEF349DBC43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13F1A35-3A33-4567-9242-DDE3CA5BE42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E083D4A-00A1-4657-84AE-DADCE90C4DE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1F6FC2D-F924-4699-AE89-80F71A99B66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정복 최대 연속합에서 고려해야 할 경우는?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82F028-DA5C-4314-9AF5-25F32A00F8D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DE06CEC-D410-4C9A-93CB-9A23947536E6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왼쪽 내부·오른쪽 내부·경계를 가로지르는 구간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9B4F127-AFB3-4B30-823F-8AF5D7F2B64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050E4F-BF6D-4F4C-8DF2-49C9DF77BB30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28AA7262-81D0-4AF6-B8D8-907F5881857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모든 연속 구간은 이 세 경우 중 하나에 속한다.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8DE31225-E908-435E-A4A0-148C8F150C9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A51E96D-185E-4B48-85A2-9051A6ED8A3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6A4D966-A615-4CBE-8FE5-2FA0ADF0F74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DD3061-0590-40C6-8439-070068986B7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B90839-1DE6-45CF-A5CA-3CAF8C81BDA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0C6FF91-3F6F-480C-80DD-9EB109B3C3B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B93BD7A-668C-432B-AB8E-DF64BA8B831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AB34C8D-C4A2-4B74-8929-BAE28734111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경계를 가로지르는 최대 연속합의 올바른 계산은?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F25C733D-834B-42D6-B594-71FDA87234AB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14009FD7-BCD4-4F39-BA6C-A71FECBD252F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정답과 오른쪽 정답 중 작은 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43F170E-B468-47DA-BF8E-9829EA7664A1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E670AE16-0D8E-4F15-A1B6-EEDB55752903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31C0A5F8-3948-4EA6-8D83-8E95117BC938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최대 접두 합+오른쪽 최대 접미 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BF9DB9-1EA5-479E-A03E-BE453B4093FC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26C33965-C5F9-493A-ACDB-6F2131517934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8EE49128-BF4A-4FE5-833F-D443B35B70AD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전체 최댓값+오른쪽 전체 최댓값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23497E-713C-40E6-963C-6568836826EF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944BB881-8FD0-4C60-A1B9-4C722A408F28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4207A34E-9E2F-4F98-BF8C-E652B5A5ED77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최대 접미 합+오른쪽 최대 접두 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05EB3B-149C-4544-95C1-0C2C1336EC56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24411DFC-18F9-48B2-A575-60414071DF23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0C331BCB-0AC3-4702-8D7C-FBB4A81DA14F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양쪽 전체 합의 최솟값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5473628B-557D-46C4-AFB4-D829E825ED7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D81C8C9-B1DC-40AC-A0DC-B856F6B593B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8B93FA2-13A7-4EF6-9271-1B9C07CBB5D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3C958C-6DBF-4243-BF06-C360B887BC2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7503A6-5E10-43DF-B859-B417BB8272D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B8A0B5F-EA52-4DFC-8393-57A8E418F4F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F807145-BA67-4A70-942F-51FDEBA95ED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FAF3FDA-1B7D-4AFA-B116-C6266EC7812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경계를 가로지르는 최대 연속합의 올바른 계산은?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1A9E2B-52B8-4E0E-A4E5-A12DF7A18E6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24949BD3-269F-4D63-8766-6CFD10EA4F2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왼쪽 최대 접미 합+오른쪽 최대 접두 합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24E7B27-93B1-4147-B09E-87E2F17F75E5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EA8448-A8D7-42DD-A876-0B018DF7D53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5303C7A-5E88-481E-A94E-BF8B0D8EC439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경계를 반드시 포함해야 하므로 왼쪽 끝부분과 오른쪽 앞부분이 이어져야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36E56228-7616-4EB0-8A37-2EECE6E6019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1F67C32-2ED3-4B58-8BEA-5C7A8BD71DE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EACDCEE-585D-46FD-8C7E-03FF7B5B8D5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AEEA03-22CE-4ED8-9658-B93A1849C97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92A176-382E-4EB2-B498-115DAD63884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8D7247B-B36E-4527-8CB8-978C6D93CAA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8B63A33-1DD3-4B44-B8F0-12CFB68FC6E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790B673-523E-4DF1-A4E7-B9366D3A456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최대 교차합 계산에서 왼쪽과 오른쪽 스캔은 각각 어디서 시작하는가? 닫힌 구간을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mid에서 나눈다.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5879FB8C-A902-42D5-B9B4-F420BED1D2D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55A23CA6-2ABD-48C4-B22D-3645FCCFD1D3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lo와 hi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515A5B-E133-4267-AE30-7B1103B76A01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02A81EFB-8046-4CCB-9FC8-3D4E4DCCFB40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AB58783B-1E58-4853-A7CB-31110776B397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hi와 mid+1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7A1FD7-E314-4F9E-BC0C-78A19A21F1E2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2E25B2D3-86FB-41D0-83F7-F293AC83831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82EFCF89-04AD-4052-962A-44AA89528284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mid−1과 mid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16BE6FF-7DE7-44CC-A07E-6657923C4E0C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202C1500-A09A-4D81-9B90-E857A7F47CE6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67228064-F975-4821-AB34-BFD1074E1951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mid와 mid+1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203119-BC5C-4BDB-BB6D-C31FDFA88D6F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9E71F014-348C-4F92-B1DC-133B5E795ECF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59800902-FA7F-4F02-B894-50D2100CAB07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lo와 mid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203E5780-DCCA-4DC1-993A-1690B2DA8FF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597CC0E-C6D0-4A8D-8878-243C4DA7032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C70C7D9-6201-428F-BD87-CE5812AF894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99E321-F1CC-4FFA-94ED-EFB62A61E87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F1957-1135-4D44-BB43-1D888F0F241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9E18525-F032-4FC9-A905-A469EBA9FEE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CA57BD2-2D9D-4261-9776-B37B137C5B1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930C8BF-B333-4A1D-892F-A81DC2C54CF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최대 교차합 계산에서 왼쪽과 오른쪽 스캔은 각각 어디서 시작하는가? 닫힌 구간을 mid에서 나눈다.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AF1150-8ADF-4F39-9066-1DCAF3F5E1C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33A9BC15-4B57-40DE-9AF7-BBBA1632437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mid와 mid+1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0711C31-6BA6-43B7-9800-2BD4DD4BE523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F25455-802D-4CF6-B262-E490F5918A8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5991303-8D18-41BD-B92D-A7F771BF6822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왼쪽 부분은 mid를 포함하고 오른쪽 부분은 mid+1에서 시작한다.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35F671F6-C98F-4F03-ABF7-99346389755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1EDF403-E5D1-4B68-B488-E04EAAB9AB3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240B695-C1F5-4FBF-B442-B56DA8E2E7F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ED6420-CFEF-400E-8697-E20F4EA21AE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DAAFB5-B44B-4E1D-BD99-AE079873833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A7BC804-E37B-4DEF-B4C2-A536C1AFEC8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6C7AFDA-05F2-4685-A147-D9842A23419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E465F68-DA7C-4CD6-8801-956D321FFDC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교차합을 매번 선형 스캔하는 분할 정복 최대 연속합의 시간은?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60D0991C-E34D-4FAC-8CD2-A0444C970F76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E022B738-CC54-4623-B30F-8B8F5C6C8182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 log n)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45453F-E664-420A-B95C-79EB53CAC36D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3EFD29E2-78F1-4951-8DD7-19F3BDA5B86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26956E46-B631-47A2-BE33-44F257812308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 log n)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FA7EE5-57C3-452C-B514-CEFFE82D40E9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A8B895D6-4E70-4506-8FC6-53B680A8A7C2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AD81FD30-F732-4718-A2E2-63597653D1FB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30CCC3-7342-4032-9B3F-3A0871F64FEC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AF352C93-35BA-43FE-80B8-2C01AE0F24B5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BDECC37D-90E0-4356-A24C-7CE459EE1D41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0B6DDA-58D8-4BD8-956B-F69599AE8BD1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C792F97F-5021-4774-9FB6-28A26FF13BD5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0F624368-B8B5-43BC-B18F-924A5F16BF35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n)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0F49795D-C2B4-4704-8A78-65939B51996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F37E3BD-B478-4909-A4B1-710ABB3AC4C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C404300-C2F9-4A31-8C76-01A809CAD2E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F810D4-8D0D-45EE-8871-90A3A7C64BE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A70C33-BD85-4381-80E0-AAFCBAFE930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35315D1-5BD8-495F-B862-4A003ACEA4C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21A0B44-02D3-4494-8F77-72658AAAB65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580B2F6-D93C-43CA-A8F7-A7223DF6B5F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교차합을 매번 선형 스캔하는 분할 정복 최대 연속합의 시간은?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691764-258B-480C-AFCF-93BB21B43309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DF3FAB89-B9D6-462A-B3D9-8DE2212C8EC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Θ(n log n)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06107C6E-E9D6-4615-9BC8-7F34DFDC75F4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8C4438-D504-46E3-ABF8-975D9F87647B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F0808DC2-2ABE-4E09-982E-8E58490B359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두 절반의 답과 선형 결합으로 T(n)=2T(n/2)+Θ(n)이다.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61F99890-9AAA-403F-A6D9-73E74A21203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1E5DC3D-E7A6-4C99-9D7A-39297016587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80AFBC0-9421-4D64-BA30-EA9D5B3CBD5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16FB2D-2CD5-475B-BA53-5E727BA1E83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73E7B0-CB60-4B14-A240-AD0A9D9F811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B705B08-5DCA-4A37-BB45-C038CB21964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6E93CA7-4BA7-47B6-8ACF-6F4A25161D8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E6CB6AB-D061-4671-98C1-2F629529EE9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최대 연속합과 임의 부분집합의 최대 합이 다른 이유는?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71359774-2D34-4D83-A16D-98FF67D161FB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0E60FC53-38FF-4ACA-907C-F563DDB6F26B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선택한 원소의 개수를 항상 n/2로 제한한다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D4FF8C-A988-4FEA-BEF4-3E8383B4FFB6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CF5B57D4-6F97-4E63-844D-4F0A6F82DA7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41DE21F6-5DAA-4201-B5B5-560DC8EE1DFD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첫 원소와 마지막 원소를 반드시 함께 선택한다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314C4E-EEFE-4E18-98A3-80E92102CEBF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08EC12C4-3AA4-4575-8DD6-081B4014CBF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5195D8CB-8BCD-483C-9574-362EA3B8651E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선택 전에 원소를 오름차순으로 재배열한다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0437FFF-5236-4792-898F-041E7E4C1242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178CEE9D-0602-4216-AE5A-80020155E72B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97B2F92F-07D9-44CE-B418-DEBC4F2012CE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양수 원소만 입력받는다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1D2CA7-7B77-4982-98F7-5CC01FCF6E87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0EEE73E6-C0E8-49D1-940D-5EA06B1FB613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01D5A6BE-62F8-45A3-9CD4-6D444AD7CDD3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선택한 인덱스가 연속이어야 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95D45D0B-F475-4DFE-982D-5464F8C246A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A892A81-1FCA-42B5-A213-9D77BCFA05C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397C3C4-2894-43E8-9E60-BE108FB2268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E8CF80-4097-48E9-92B9-935EBFB89F2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3C2B43-6F1A-45AF-B372-A8C8FA605B7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20BE02B-68E4-4234-B2BF-06CF10C43D3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9B77095-405D-4208-A473-DE34115E87C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2A340F0-E983-49EE-9590-B4FF9FAD76E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최대 연속합과 임의 부분집합의 최대 합이 다른 이유는?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412A78-F435-44AC-A669-CECF6AEF5BC8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A3F721E-4C0D-48E2-932F-758F2893F68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선택한 인덱스가 연속이어야 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1742A0D-2DFB-41E4-ADCC-EB218AE1CEF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48D7ED-628D-4049-B784-9A273FC12FC3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8178B549-3DF6-4339-9A0D-35491517084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중간 음수도 구간의 일부로 포함해야 한다. 양수만 골라 더하는 문제와 다르다.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3CB32445-7B6F-4E1A-A2C1-255ED3D9D81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4EA2DCFA-70B8-4D56-8F01-C24458BB009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D478C03-B892-422B-8ECB-0E13994A89D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15</a:t>
            </a:r>
          </a:p>
        </p:txBody>
      </p:sp>
      <p:sp>
        <p:nvSpPr>
          <p:cNvPr id="4" name="rule-0">
            <a:extLst>
              <a:ext uri="{FF2B5EF4-FFF2-40B4-BE49-F238E27FC236}">
                <a16:creationId xmlns:a16="http://schemas.microsoft.com/office/drawing/2014/main" id="{2EB56B82-90CE-4974-9A27-0FF8DB7BC71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A8607C2-EA2D-4508-9256-B8A3B4FA9EB9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72E12B85-F515-4548-9CB8-1CC5D0CD1C8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029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3EDC9115-5C00-4946-9BE4-F43BD3103035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퀵 정렬에서 a=[8,4,6,3,7,1]의 가운데 값 6을 피벗으로 정한다.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분할 전에 피벗과 맨 끝 값을 교환한 직후의 배열은?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D7E90992-6FF4-4D70-B594-A60A8C50D2B6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C99E25E2-7B97-4520-B8C5-567D7BC9EFE1}"/>
              </a:ext>
            </a:extLst>
          </p:cNvPr>
          <p:cNvSpPr>
            <a:spLocks noGrp="1"/>
          </p:cNvSpPr>
          <p:nvPr/>
        </p:nvSpPr>
        <p:spPr>
          <a:xfrm>
            <a:off x="1181100" y="31337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[8,4,1,3,7,6]</a:t>
            </a:r>
          </a:p>
        </p:txBody>
      </p:sp>
      <p:sp>
        <p:nvSpPr>
          <p:cNvPr id="10" name="rule-1">
            <a:extLst>
              <a:ext uri="{FF2B5EF4-FFF2-40B4-BE49-F238E27FC236}">
                <a16:creationId xmlns:a16="http://schemas.microsoft.com/office/drawing/2014/main" id="{69FF13E1-1F29-4939-92F3-0DAAA3F3D1FF}"/>
              </a:ext>
            </a:extLst>
          </p:cNvPr>
          <p:cNvSpPr>
            <a:spLocks noGrp="1"/>
          </p:cNvSpPr>
          <p:nvPr/>
        </p:nvSpPr>
        <p:spPr>
          <a:xfrm>
            <a:off x="1181100" y="362902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1A93332F-267F-4754-AA03-74FFB4300C68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7FCB4B13-29C3-4F56-80D8-E125779B1A96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[6,4,8,3,7,1]</a:t>
            </a:r>
          </a:p>
        </p:txBody>
      </p:sp>
      <p:sp>
        <p:nvSpPr>
          <p:cNvPr id="13" name="rule-2">
            <a:extLst>
              <a:ext uri="{FF2B5EF4-FFF2-40B4-BE49-F238E27FC236}">
                <a16:creationId xmlns:a16="http://schemas.microsoft.com/office/drawing/2014/main" id="{8980FFD4-3F2C-4CF4-88EC-874A5CE4E7A9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D6FEABC1-E1A3-405C-9E3A-65DDE89F3F36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2F9D364E-27A9-4401-9129-CCA14B14FFFA}"/>
              </a:ext>
            </a:extLst>
          </p:cNvPr>
          <p:cNvSpPr>
            <a:spLocks noGrp="1"/>
          </p:cNvSpPr>
          <p:nvPr/>
        </p:nvSpPr>
        <p:spPr>
          <a:xfrm>
            <a:off x="1181100" y="437197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[1,3,4,6,7,8]</a:t>
            </a:r>
          </a:p>
        </p:txBody>
      </p:sp>
      <p:sp>
        <p:nvSpPr>
          <p:cNvPr id="16" name="rule-3">
            <a:extLst>
              <a:ext uri="{FF2B5EF4-FFF2-40B4-BE49-F238E27FC236}">
                <a16:creationId xmlns:a16="http://schemas.microsoft.com/office/drawing/2014/main" id="{123A99F3-7983-40A4-AF37-74037C723967}"/>
              </a:ext>
            </a:extLst>
          </p:cNvPr>
          <p:cNvSpPr>
            <a:spLocks noGrp="1"/>
          </p:cNvSpPr>
          <p:nvPr/>
        </p:nvSpPr>
        <p:spPr>
          <a:xfrm>
            <a:off x="1181100" y="486727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D0CDE98E-9626-49DB-8218-DF7A159372AA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5D7337F5-21DB-42A5-B11D-322A53DC4F95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[8,4,6,3,1,7]</a:t>
            </a:r>
          </a:p>
        </p:txBody>
      </p:sp>
      <p:sp>
        <p:nvSpPr>
          <p:cNvPr id="19" name="rule-4">
            <a:extLst>
              <a:ext uri="{FF2B5EF4-FFF2-40B4-BE49-F238E27FC236}">
                <a16:creationId xmlns:a16="http://schemas.microsoft.com/office/drawing/2014/main" id="{319BF90A-847E-43DA-BA19-ED85F6B3D853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0657221F-68E0-4E31-AAF5-731916EA0320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1211339B-AD05-4E97-AD97-90E038C07D6D}"/>
              </a:ext>
            </a:extLst>
          </p:cNvPr>
          <p:cNvSpPr>
            <a:spLocks noGrp="1"/>
          </p:cNvSpPr>
          <p:nvPr/>
        </p:nvSpPr>
        <p:spPr>
          <a:xfrm>
            <a:off x="1181100" y="56102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[1,4,6,3,7,8]</a:t>
            </a:r>
          </a:p>
        </p:txBody>
      </p:sp>
    </p:spTree>
    <p:extLst>
      <p:ext uri="{BB962C8B-B14F-4D97-AF65-F5344CB8AC3E}">
        <p14:creationId xmlns:p14="http://schemas.microsoft.com/office/powerpoint/2010/main" val="3031956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395CBDE4-26B8-42A0-85DA-3F67FE6E7A0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46B22300-17A2-4E6D-885B-1EF18DFF791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D644B42-0F6F-432E-9C4E-A6E67C58FD1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15  정답과 해설</a:t>
            </a:r>
          </a:p>
        </p:txBody>
      </p:sp>
      <p:sp>
        <p:nvSpPr>
          <p:cNvPr id="4" name="rule-5">
            <a:extLst>
              <a:ext uri="{FF2B5EF4-FFF2-40B4-BE49-F238E27FC236}">
                <a16:creationId xmlns:a16="http://schemas.microsoft.com/office/drawing/2014/main" id="{43F3EF20-16E7-4EB5-9183-1C77A87326B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1C45C56-DF6C-49EA-9886-AF59916C67C3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9AE612C6-B5DC-47F4-B4C0-FD933054765B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030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626665DB-8AD7-423F-894B-147517DD6BCB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퀵 정렬에서 a=[8,4,6,3,7,1]의 가운데 값 6을 피벗으로 정한다.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분할 전에 피벗과 맨 끝 값을 교환한 직후의 배열은?</a:t>
            </a:r>
          </a:p>
        </p:txBody>
      </p:sp>
      <p:sp>
        <p:nvSpPr>
          <p:cNvPr id="8" name="rule-6">
            <a:extLst>
              <a:ext uri="{FF2B5EF4-FFF2-40B4-BE49-F238E27FC236}">
                <a16:creationId xmlns:a16="http://schemas.microsoft.com/office/drawing/2014/main" id="{D8227391-135B-40A4-8656-CCA3ACB5DA6B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BFE0B7AF-3DCC-4E39-82CA-05B832092A96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1번 [8,4,1,3,7,6]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C4F4E600-EFD0-4434-9874-D9D4A244B872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FF1EAC23-936F-4217-8B40-7B8599C8280D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가운데 인덱스는 2, 맨 끝 인덱스는 5이다.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두 칸의 값 6과 1만 교환하므로 [8,4,1,3,7,6]이 된다.</a:t>
            </a:r>
          </a:p>
        </p:txBody>
      </p:sp>
    </p:spTree>
    <p:extLst>
      <p:ext uri="{BB962C8B-B14F-4D97-AF65-F5344CB8AC3E}">
        <p14:creationId xmlns:p14="http://schemas.microsoft.com/office/powerpoint/2010/main" val="1249487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A9FA24A6-34F8-4480-9B86-874BDE3978F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8226A46C-7810-4FC0-BC81-22125EF9AF4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90A0623-1999-466A-AD82-50D94213F5A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16</a:t>
            </a:r>
          </a:p>
        </p:txBody>
      </p:sp>
      <p:sp>
        <p:nvSpPr>
          <p:cNvPr id="4" name="rule-7">
            <a:extLst>
              <a:ext uri="{FF2B5EF4-FFF2-40B4-BE49-F238E27FC236}">
                <a16:creationId xmlns:a16="http://schemas.microsoft.com/office/drawing/2014/main" id="{0FA2658C-9E2C-4B91-8F94-D0070C04689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81AEA56-C131-4C92-BB80-07C57F85B7C6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6D6CFD47-A8EE-465B-B9F9-3034AA855FBB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031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E42641CC-138F-4904-A11C-D28764955143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a=[2,7,1,6,5]에서 피벗은 맨 끝의 5, L=0, R=3이다.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L≤R이고 a[L]≤5인 동안 L을 늘린 뒤,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L≤R이고 a[R]&gt;5인 동안 R을 줄인다. 멈춘 L, R은?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48FCD2F1-DB14-4EA9-AD63-0CD698464494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AD50CBC7-AD2D-4260-BD56-B64E19B22D46}"/>
              </a:ext>
            </a:extLst>
          </p:cNvPr>
          <p:cNvSpPr>
            <a:spLocks noGrp="1"/>
          </p:cNvSpPr>
          <p:nvPr/>
        </p:nvSpPr>
        <p:spPr>
          <a:xfrm>
            <a:off x="1181100" y="31337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L=0, R=3</a:t>
            </a:r>
          </a:p>
        </p:txBody>
      </p:sp>
      <p:sp>
        <p:nvSpPr>
          <p:cNvPr id="10" name="rule-8">
            <a:extLst>
              <a:ext uri="{FF2B5EF4-FFF2-40B4-BE49-F238E27FC236}">
                <a16:creationId xmlns:a16="http://schemas.microsoft.com/office/drawing/2014/main" id="{5EB85229-2D14-4992-990A-6090948E8C2E}"/>
              </a:ext>
            </a:extLst>
          </p:cNvPr>
          <p:cNvSpPr>
            <a:spLocks noGrp="1"/>
          </p:cNvSpPr>
          <p:nvPr/>
        </p:nvSpPr>
        <p:spPr>
          <a:xfrm>
            <a:off x="1181100" y="362902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079D5C8A-A9FE-46CE-ABC3-7D9810711376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5386A67D-E6F5-4E39-8B5D-1DCACB27E4B5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L=1, R=2</a:t>
            </a:r>
          </a:p>
        </p:txBody>
      </p:sp>
      <p:sp>
        <p:nvSpPr>
          <p:cNvPr id="13" name="rule-9">
            <a:extLst>
              <a:ext uri="{FF2B5EF4-FFF2-40B4-BE49-F238E27FC236}">
                <a16:creationId xmlns:a16="http://schemas.microsoft.com/office/drawing/2014/main" id="{A40AB3C6-2DAF-48EF-9B42-C557F66C9312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708D914D-9058-499C-8309-54C22F2F9F55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019ED6F7-5A3D-4B51-A72A-7CB46FF012E3}"/>
              </a:ext>
            </a:extLst>
          </p:cNvPr>
          <p:cNvSpPr>
            <a:spLocks noGrp="1"/>
          </p:cNvSpPr>
          <p:nvPr/>
        </p:nvSpPr>
        <p:spPr>
          <a:xfrm>
            <a:off x="1181100" y="437197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L=2, R=1</a:t>
            </a:r>
          </a:p>
        </p:txBody>
      </p:sp>
      <p:sp>
        <p:nvSpPr>
          <p:cNvPr id="16" name="rule-10">
            <a:extLst>
              <a:ext uri="{FF2B5EF4-FFF2-40B4-BE49-F238E27FC236}">
                <a16:creationId xmlns:a16="http://schemas.microsoft.com/office/drawing/2014/main" id="{F586792D-0949-442B-8142-9B79816BDB4F}"/>
              </a:ext>
            </a:extLst>
          </p:cNvPr>
          <p:cNvSpPr>
            <a:spLocks noGrp="1"/>
          </p:cNvSpPr>
          <p:nvPr/>
        </p:nvSpPr>
        <p:spPr>
          <a:xfrm>
            <a:off x="1181100" y="486727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4D913ACF-A294-4D2B-950F-9E0A8B8D5C3E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8E370124-4996-49D9-BE39-7D65DA33B315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L=4, R=0</a:t>
            </a:r>
          </a:p>
        </p:txBody>
      </p:sp>
      <p:sp>
        <p:nvSpPr>
          <p:cNvPr id="19" name="rule-11">
            <a:extLst>
              <a:ext uri="{FF2B5EF4-FFF2-40B4-BE49-F238E27FC236}">
                <a16:creationId xmlns:a16="http://schemas.microsoft.com/office/drawing/2014/main" id="{812D6CA1-C4F3-4C75-89B4-F40A1F9C342E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AA89C7DB-79C1-431F-9CE6-035E0FD054BD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8C1281B4-E0A2-45CA-8DC7-0C8E3FB0B0C8}"/>
              </a:ext>
            </a:extLst>
          </p:cNvPr>
          <p:cNvSpPr>
            <a:spLocks noGrp="1"/>
          </p:cNvSpPr>
          <p:nvPr/>
        </p:nvSpPr>
        <p:spPr>
          <a:xfrm>
            <a:off x="1181100" y="56102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L=1, R=3</a:t>
            </a:r>
          </a:p>
        </p:txBody>
      </p:sp>
    </p:spTree>
    <p:extLst>
      <p:ext uri="{BB962C8B-B14F-4D97-AF65-F5344CB8AC3E}">
        <p14:creationId xmlns:p14="http://schemas.microsoft.com/office/powerpoint/2010/main" val="3999722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20509D4A-F9E3-4E97-87B5-993E9C6BA25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288A297C-9025-4A23-99AD-0F05D73181B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3295507-D516-485E-A367-7AA5FE40ED7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16  정답과 해설</a:t>
            </a:r>
          </a:p>
        </p:txBody>
      </p:sp>
      <p:sp>
        <p:nvSpPr>
          <p:cNvPr id="4" name="rule-12">
            <a:extLst>
              <a:ext uri="{FF2B5EF4-FFF2-40B4-BE49-F238E27FC236}">
                <a16:creationId xmlns:a16="http://schemas.microsoft.com/office/drawing/2014/main" id="{58B93F69-5312-49AE-ABA3-C27D23462CF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95D30C8-3284-4F3C-BB93-BF0A70260928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51E4318E-02E0-4D18-96E9-634296D4C6C1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032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78ED901E-930F-4ED7-A1F3-59DCE2845144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a=[2,7,1,6,5]에서 피벗은 맨 끝의 5, L=0, R=3이다.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L≤R이고 a[L]≤5인 동안 L을 늘린 뒤,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L≤R이고 a[R]&gt;5인 동안 R을 줄인다. 멈춘 L, R은?</a:t>
            </a:r>
          </a:p>
        </p:txBody>
      </p:sp>
      <p:sp>
        <p:nvSpPr>
          <p:cNvPr id="8" name="rule-13">
            <a:extLst>
              <a:ext uri="{FF2B5EF4-FFF2-40B4-BE49-F238E27FC236}">
                <a16:creationId xmlns:a16="http://schemas.microsoft.com/office/drawing/2014/main" id="{AA4229EF-7D0A-4217-820C-5DCE4DE19C43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8E64F621-443C-400C-96A3-6EA996DB3FE7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2번 L=1, R=2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6249040A-009F-437C-8864-6C975280D497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B8EB75B6-5CE9-4D34-83DF-6C4D400D3B12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L은 2를 지나 7에서 멈춰 1이다.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R은 6을 지나 1에서 멈춰 2이다.</a:t>
            </a:r>
          </a:p>
        </p:txBody>
      </p:sp>
    </p:spTree>
    <p:extLst>
      <p:ext uri="{BB962C8B-B14F-4D97-AF65-F5344CB8AC3E}">
        <p14:creationId xmlns:p14="http://schemas.microsoft.com/office/powerpoint/2010/main" val="2090700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FD3202CE-177B-4EDA-BA8D-D61D909BE95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AB0C2174-90B2-4277-95A6-D93948A5631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522878-DCBA-4068-B9C8-377B1BF1F28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17</a:t>
            </a:r>
          </a:p>
        </p:txBody>
      </p:sp>
      <p:sp>
        <p:nvSpPr>
          <p:cNvPr id="4" name="rule-14">
            <a:extLst>
              <a:ext uri="{FF2B5EF4-FFF2-40B4-BE49-F238E27FC236}">
                <a16:creationId xmlns:a16="http://schemas.microsoft.com/office/drawing/2014/main" id="{5F42BCA8-8249-4BE4-92C4-3D3BD8FF2EE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303FBDAF-1B59-4464-A220-53602D0410D1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090F9EA4-C5E1-48A1-AED2-0978D3349FF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033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F6125B83-B13D-48EE-8320-66AC381B1837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a=[2,7,1,6,5]에서 피벗은 5이고 L=1, R=2에서 멈췄다.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L≤R이므로 a[L]과 a[R]을 교환한다. 교환 직후의 배열은?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907F19C6-92F1-4543-8D72-EA55E91E7E8C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2BCB67B8-DEBB-4807-AD71-290F096972BE}"/>
              </a:ext>
            </a:extLst>
          </p:cNvPr>
          <p:cNvSpPr>
            <a:spLocks noGrp="1"/>
          </p:cNvSpPr>
          <p:nvPr/>
        </p:nvSpPr>
        <p:spPr>
          <a:xfrm>
            <a:off x="1181100" y="31337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[2,7,5,6,1]</a:t>
            </a:r>
          </a:p>
        </p:txBody>
      </p:sp>
      <p:sp>
        <p:nvSpPr>
          <p:cNvPr id="10" name="rule-15">
            <a:extLst>
              <a:ext uri="{FF2B5EF4-FFF2-40B4-BE49-F238E27FC236}">
                <a16:creationId xmlns:a16="http://schemas.microsoft.com/office/drawing/2014/main" id="{D00524C0-AE43-42A9-938C-718499834586}"/>
              </a:ext>
            </a:extLst>
          </p:cNvPr>
          <p:cNvSpPr>
            <a:spLocks noGrp="1"/>
          </p:cNvSpPr>
          <p:nvPr/>
        </p:nvSpPr>
        <p:spPr>
          <a:xfrm>
            <a:off x="1181100" y="362902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84E5EF88-8D40-4ABF-BF00-DC776A6B2811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2A7871A6-65FD-4B80-B9E7-9D6B4FB625D5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[1,2,7,6,5]</a:t>
            </a:r>
          </a:p>
        </p:txBody>
      </p:sp>
      <p:sp>
        <p:nvSpPr>
          <p:cNvPr id="13" name="rule-16">
            <a:extLst>
              <a:ext uri="{FF2B5EF4-FFF2-40B4-BE49-F238E27FC236}">
                <a16:creationId xmlns:a16="http://schemas.microsoft.com/office/drawing/2014/main" id="{0B95046F-C8F3-4B60-B843-BCE97213A3AE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447F0382-C451-46C3-9B0F-C94C414C2FF2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6C01EECE-6906-456E-93F7-65B13322C10E}"/>
              </a:ext>
            </a:extLst>
          </p:cNvPr>
          <p:cNvSpPr>
            <a:spLocks noGrp="1"/>
          </p:cNvSpPr>
          <p:nvPr/>
        </p:nvSpPr>
        <p:spPr>
          <a:xfrm>
            <a:off x="1181100" y="437197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[2,1,7,6,5]</a:t>
            </a:r>
          </a:p>
        </p:txBody>
      </p:sp>
      <p:sp>
        <p:nvSpPr>
          <p:cNvPr id="16" name="rule-17">
            <a:extLst>
              <a:ext uri="{FF2B5EF4-FFF2-40B4-BE49-F238E27FC236}">
                <a16:creationId xmlns:a16="http://schemas.microsoft.com/office/drawing/2014/main" id="{EBF4AF23-EEE3-4660-B5C7-121719F62DD6}"/>
              </a:ext>
            </a:extLst>
          </p:cNvPr>
          <p:cNvSpPr>
            <a:spLocks noGrp="1"/>
          </p:cNvSpPr>
          <p:nvPr/>
        </p:nvSpPr>
        <p:spPr>
          <a:xfrm>
            <a:off x="1181100" y="486727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AA390182-3C19-4AE0-B501-A7AE264F9EE4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6F46B75C-2D07-491B-B1EA-C8D7934AE1C8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[2,5,1,6,7]</a:t>
            </a:r>
          </a:p>
        </p:txBody>
      </p:sp>
      <p:sp>
        <p:nvSpPr>
          <p:cNvPr id="19" name="rule-18">
            <a:extLst>
              <a:ext uri="{FF2B5EF4-FFF2-40B4-BE49-F238E27FC236}">
                <a16:creationId xmlns:a16="http://schemas.microsoft.com/office/drawing/2014/main" id="{B75D6B94-9766-40C9-96F3-6A7B4CA3920F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D0BC77C4-4A66-44A1-ABB3-59732C230FC9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9CFBEFF7-457F-4375-81B6-5504BEEA0F82}"/>
              </a:ext>
            </a:extLst>
          </p:cNvPr>
          <p:cNvSpPr>
            <a:spLocks noGrp="1"/>
          </p:cNvSpPr>
          <p:nvPr/>
        </p:nvSpPr>
        <p:spPr>
          <a:xfrm>
            <a:off x="1181100" y="56102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[1,2,5,6,7]</a:t>
            </a:r>
          </a:p>
        </p:txBody>
      </p:sp>
    </p:spTree>
    <p:extLst>
      <p:ext uri="{BB962C8B-B14F-4D97-AF65-F5344CB8AC3E}">
        <p14:creationId xmlns:p14="http://schemas.microsoft.com/office/powerpoint/2010/main" val="1817768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70CB9A83-0EBB-4FAA-A29C-60ACA7A5005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92243FE5-8357-4CD1-BD00-C23C4B27E12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8252F6F-0321-48E7-8D24-3820F8AC864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17  정답과 해설</a:t>
            </a:r>
          </a:p>
        </p:txBody>
      </p:sp>
      <p:sp>
        <p:nvSpPr>
          <p:cNvPr id="4" name="rule-19">
            <a:extLst>
              <a:ext uri="{FF2B5EF4-FFF2-40B4-BE49-F238E27FC236}">
                <a16:creationId xmlns:a16="http://schemas.microsoft.com/office/drawing/2014/main" id="{013E586D-0DCC-4032-BDF4-6F22547FBE4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0DE1BCA-8E40-464C-B9D8-F5A3BAB9B6D2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CD7AF645-3E19-4131-A1DF-BFE4F0C5E75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034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BD697564-FF1E-4550-A22E-BBA2F03F93EB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a=[2,7,1,6,5]에서 피벗은 5이고 L=1, R=2에서 멈췄다.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L≤R이므로 a[L]과 a[R]을 교환한다. 교환 직후의 배열은?</a:t>
            </a:r>
          </a:p>
        </p:txBody>
      </p:sp>
      <p:sp>
        <p:nvSpPr>
          <p:cNvPr id="8" name="rule-20">
            <a:extLst>
              <a:ext uri="{FF2B5EF4-FFF2-40B4-BE49-F238E27FC236}">
                <a16:creationId xmlns:a16="http://schemas.microsoft.com/office/drawing/2014/main" id="{C97AC460-8200-448A-ADC0-9469394CB1B0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5647553B-E9C9-42E5-B420-BE2BC8A1F6CC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3번 [2,1,7,6,5]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3E0FAF65-F48A-4960-B988-466CCB1853E0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361F7EBB-C9FC-427E-A80D-724A13A84A37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현재 a[1]=7은 오른쪽으로, a[2]=1은 왼쪽으로 보낸다.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두 값만 교환하면 [2,1,7,6,5]이다. 전체 정렬은 아직 끝나지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919118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C68956A6-39D9-404D-8936-A6D596928A8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65CF4014-F2B8-403B-8B8E-D6524183745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F2D5C51-D80D-4679-A413-D07E9C9AAFA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18</a:t>
            </a:r>
          </a:p>
        </p:txBody>
      </p:sp>
      <p:sp>
        <p:nvSpPr>
          <p:cNvPr id="4" name="rule-21">
            <a:extLst>
              <a:ext uri="{FF2B5EF4-FFF2-40B4-BE49-F238E27FC236}">
                <a16:creationId xmlns:a16="http://schemas.microsoft.com/office/drawing/2014/main" id="{44150573-AB97-4937-9752-DBCF3BD0741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BD66947-A9EC-4B41-B642-4E2FAB649C78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F3F60690-3A61-464B-8E99-7D0E182ED9B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035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594DDA77-3A99-4C33-B880-659A0392D316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퀵 정렬의 분할은 피벗 이하의 값을 모두 왼쪽으로 보낸다.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입력 n개가 모두 같은 값이면 매번 n−1개인 왼쪽 구간만 남는다.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이 경우 전체 시간 복잡도는?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3D02A8F5-65AB-46EC-8545-6D3DDC72C22D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4A2E53F8-5DE6-4917-BE1F-BD418F7C3B58}"/>
              </a:ext>
            </a:extLst>
          </p:cNvPr>
          <p:cNvSpPr>
            <a:spLocks noGrp="1"/>
          </p:cNvSpPr>
          <p:nvPr/>
        </p:nvSpPr>
        <p:spPr>
          <a:xfrm>
            <a:off x="1181100" y="31337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O(1)</a:t>
            </a:r>
          </a:p>
        </p:txBody>
      </p:sp>
      <p:sp>
        <p:nvSpPr>
          <p:cNvPr id="10" name="rule-22">
            <a:extLst>
              <a:ext uri="{FF2B5EF4-FFF2-40B4-BE49-F238E27FC236}">
                <a16:creationId xmlns:a16="http://schemas.microsoft.com/office/drawing/2014/main" id="{83763069-A0A3-460A-B635-F4E74255BABF}"/>
              </a:ext>
            </a:extLst>
          </p:cNvPr>
          <p:cNvSpPr>
            <a:spLocks noGrp="1"/>
          </p:cNvSpPr>
          <p:nvPr/>
        </p:nvSpPr>
        <p:spPr>
          <a:xfrm>
            <a:off x="1181100" y="362902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7065338D-C747-4196-9975-B8DA95BD9114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ED840503-01EB-4F58-916F-718313BACFBD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O(log n)</a:t>
            </a:r>
          </a:p>
        </p:txBody>
      </p:sp>
      <p:sp>
        <p:nvSpPr>
          <p:cNvPr id="13" name="rule-23">
            <a:extLst>
              <a:ext uri="{FF2B5EF4-FFF2-40B4-BE49-F238E27FC236}">
                <a16:creationId xmlns:a16="http://schemas.microsoft.com/office/drawing/2014/main" id="{B33B2A28-4510-4997-9892-9390C3E6DFEA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9EBFB9B1-3B94-43D0-99BD-D8CF177948DE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DD5BD1CD-455B-49B0-9451-4805A62D7E88}"/>
              </a:ext>
            </a:extLst>
          </p:cNvPr>
          <p:cNvSpPr>
            <a:spLocks noGrp="1"/>
          </p:cNvSpPr>
          <p:nvPr/>
        </p:nvSpPr>
        <p:spPr>
          <a:xfrm>
            <a:off x="1181100" y="437197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O(n²)</a:t>
            </a:r>
          </a:p>
        </p:txBody>
      </p:sp>
      <p:sp>
        <p:nvSpPr>
          <p:cNvPr id="16" name="rule-24">
            <a:extLst>
              <a:ext uri="{FF2B5EF4-FFF2-40B4-BE49-F238E27FC236}">
                <a16:creationId xmlns:a16="http://schemas.microsoft.com/office/drawing/2014/main" id="{34F883B8-589A-4857-AD33-77A4FCED74CB}"/>
              </a:ext>
            </a:extLst>
          </p:cNvPr>
          <p:cNvSpPr>
            <a:spLocks noGrp="1"/>
          </p:cNvSpPr>
          <p:nvPr/>
        </p:nvSpPr>
        <p:spPr>
          <a:xfrm>
            <a:off x="1181100" y="486727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F7F2C023-2596-4E43-81E8-4CEDD83A1AEC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3297E391-358C-46C8-9045-633E19A426AE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O(n)</a:t>
            </a:r>
          </a:p>
        </p:txBody>
      </p:sp>
      <p:sp>
        <p:nvSpPr>
          <p:cNvPr id="19" name="rule-25">
            <a:extLst>
              <a:ext uri="{FF2B5EF4-FFF2-40B4-BE49-F238E27FC236}">
                <a16:creationId xmlns:a16="http://schemas.microsoft.com/office/drawing/2014/main" id="{CCA93AB3-E637-4551-81D1-0EAEDB9649D4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FFC04C0C-71F2-4D73-98C2-710493F69F4A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0F958297-5D89-485D-80CE-42C9BA249A89}"/>
              </a:ext>
            </a:extLst>
          </p:cNvPr>
          <p:cNvSpPr>
            <a:spLocks noGrp="1"/>
          </p:cNvSpPr>
          <p:nvPr/>
        </p:nvSpPr>
        <p:spPr>
          <a:xfrm>
            <a:off x="1181100" y="56102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O(n log n)</a:t>
            </a:r>
          </a:p>
        </p:txBody>
      </p:sp>
    </p:spTree>
    <p:extLst>
      <p:ext uri="{BB962C8B-B14F-4D97-AF65-F5344CB8AC3E}">
        <p14:creationId xmlns:p14="http://schemas.microsoft.com/office/powerpoint/2010/main" val="35250827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88BF6B89-7954-4FAD-8D35-2879116FAAD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D8ED02F3-0031-4654-8018-673F7B1868B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2F9A95B-3B79-4E00-A3CD-F6344A71297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18  정답과 해설</a:t>
            </a:r>
          </a:p>
        </p:txBody>
      </p:sp>
      <p:sp>
        <p:nvSpPr>
          <p:cNvPr id="4" name="rule-26">
            <a:extLst>
              <a:ext uri="{FF2B5EF4-FFF2-40B4-BE49-F238E27FC236}">
                <a16:creationId xmlns:a16="http://schemas.microsoft.com/office/drawing/2014/main" id="{C2C0479D-F4AA-41B8-A77D-7D5DC6117A5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3D9D527E-857C-4BDD-A5AE-8B6C7AA6E116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F8E74F31-260E-4E85-B3E9-499AF0B26060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036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B9722571-69B2-47EB-9656-1D7724694A4D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퀵 정렬의 분할은 피벗 이하의 값을 모두 왼쪽으로 보낸다.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입력 n개가 모두 같은 값이면 매번 n−1개인 왼쪽 구간만 남는다.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이 경우 전체 시간 복잡도는?</a:t>
            </a:r>
          </a:p>
        </p:txBody>
      </p:sp>
      <p:sp>
        <p:nvSpPr>
          <p:cNvPr id="8" name="rule-27">
            <a:extLst>
              <a:ext uri="{FF2B5EF4-FFF2-40B4-BE49-F238E27FC236}">
                <a16:creationId xmlns:a16="http://schemas.microsoft.com/office/drawing/2014/main" id="{EF18B0DD-16CF-4393-8D44-F2464793E9CE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905427B1-BED7-4AFD-9C7C-30DF3E5240D3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3번 O(n²)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E1363B55-9355-48EA-8B65-045B8A9A6192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FD1B4540-6B6E-4295-B34B-FD730FB89BBA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남는 길이가 n−1, n−2, …로 줄어드는 긴 재귀 사슬이다.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각 구간의 선형 분할 비용을 합하면 O(n²)이다.</a:t>
            </a:r>
          </a:p>
        </p:txBody>
      </p:sp>
    </p:spTree>
    <p:extLst>
      <p:ext uri="{BB962C8B-B14F-4D97-AF65-F5344CB8AC3E}">
        <p14:creationId xmlns:p14="http://schemas.microsoft.com/office/powerpoint/2010/main" val="3004066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A0F0F876-5DDF-4775-9D8B-750EB775A79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4FB0A116-C9EE-4C60-B275-98389C104BB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04D7E6B-B7FF-4508-8D3F-CAF1A818FD0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19</a:t>
            </a:r>
          </a:p>
        </p:txBody>
      </p:sp>
      <p:sp>
        <p:nvSpPr>
          <p:cNvPr id="4" name="rule-28">
            <a:extLst>
              <a:ext uri="{FF2B5EF4-FFF2-40B4-BE49-F238E27FC236}">
                <a16:creationId xmlns:a16="http://schemas.microsoft.com/office/drawing/2014/main" id="{52E3FA3D-317C-4B6E-8836-7F32DD4A581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3500846B-CE1F-4F40-BD41-385BA2976E7A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0D17ED6C-D708-421E-AD03-6EF0307E9FFB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037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B3AB7714-3980-47F4-9DE3-BF077B8B1534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빠른 거듭제곱은 half=mod_power(a,b//2,m)을 한 번 구한 뒤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(half * half)%m을 계산한다. half에 결과를 저장하는 이유는?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838B37FC-6662-4733-BB90-D10C7BDBCD1D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4EAD5F15-417C-492B-BB33-397F7DB558E8}"/>
              </a:ext>
            </a:extLst>
          </p:cNvPr>
          <p:cNvSpPr>
            <a:spLocks noGrp="1"/>
          </p:cNvSpPr>
          <p:nvPr/>
        </p:nvSpPr>
        <p:spPr>
          <a:xfrm>
            <a:off x="1181100" y="31337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지수를 무조건 0으로 바꾸기 위해</a:t>
            </a:r>
          </a:p>
        </p:txBody>
      </p:sp>
      <p:sp>
        <p:nvSpPr>
          <p:cNvPr id="10" name="rule-29">
            <a:extLst>
              <a:ext uri="{FF2B5EF4-FFF2-40B4-BE49-F238E27FC236}">
                <a16:creationId xmlns:a16="http://schemas.microsoft.com/office/drawing/2014/main" id="{E275A1A1-F037-425F-A876-DA7A4BD9201E}"/>
              </a:ext>
            </a:extLst>
          </p:cNvPr>
          <p:cNvSpPr>
            <a:spLocks noGrp="1"/>
          </p:cNvSpPr>
          <p:nvPr/>
        </p:nvSpPr>
        <p:spPr>
          <a:xfrm>
            <a:off x="1181100" y="362902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5EF16556-FF3C-4F6E-868B-F2D0714E35C2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E4B97317-9C13-4D61-901B-DBBDAFA1E1D6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같은 절반 지수의 결과를 재귀로 두 번 계산하지 않기 위해</a:t>
            </a:r>
          </a:p>
        </p:txBody>
      </p:sp>
      <p:sp>
        <p:nvSpPr>
          <p:cNvPr id="13" name="rule-30">
            <a:extLst>
              <a:ext uri="{FF2B5EF4-FFF2-40B4-BE49-F238E27FC236}">
                <a16:creationId xmlns:a16="http://schemas.microsoft.com/office/drawing/2014/main" id="{DF5AE3F7-6BE3-4BB3-BC4D-472AD7193A22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D8F7BC30-350B-444E-8768-EFA4F12A0C64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55AA3D81-E260-44B7-9FC3-0DCE82A91935}"/>
              </a:ext>
            </a:extLst>
          </p:cNvPr>
          <p:cNvSpPr>
            <a:spLocks noGrp="1"/>
          </p:cNvSpPr>
          <p:nvPr/>
        </p:nvSpPr>
        <p:spPr>
          <a:xfrm>
            <a:off x="1181100" y="437197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배열을 정렬하기 위해</a:t>
            </a:r>
          </a:p>
        </p:txBody>
      </p:sp>
      <p:sp>
        <p:nvSpPr>
          <p:cNvPr id="16" name="rule-31">
            <a:extLst>
              <a:ext uri="{FF2B5EF4-FFF2-40B4-BE49-F238E27FC236}">
                <a16:creationId xmlns:a16="http://schemas.microsoft.com/office/drawing/2014/main" id="{037536CF-2077-44DB-B959-FE8E32D0DF31}"/>
              </a:ext>
            </a:extLst>
          </p:cNvPr>
          <p:cNvSpPr>
            <a:spLocks noGrp="1"/>
          </p:cNvSpPr>
          <p:nvPr/>
        </p:nvSpPr>
        <p:spPr>
          <a:xfrm>
            <a:off x="1181100" y="486727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82056B12-C731-489E-BC15-FD3C5CFD35E8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8C62DB77-50E0-445D-9C6A-3E0EAB2CDEA3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m을 절반으로 줄이기 위해</a:t>
            </a:r>
          </a:p>
        </p:txBody>
      </p:sp>
      <p:sp>
        <p:nvSpPr>
          <p:cNvPr id="19" name="rule-32">
            <a:extLst>
              <a:ext uri="{FF2B5EF4-FFF2-40B4-BE49-F238E27FC236}">
                <a16:creationId xmlns:a16="http://schemas.microsoft.com/office/drawing/2014/main" id="{7057411B-6945-494F-8595-3303E9E3FEDF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FC1B9444-6285-47E7-8AF7-F314EC726522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BA68F272-A19E-4289-8715-F0612F5452D4}"/>
              </a:ext>
            </a:extLst>
          </p:cNvPr>
          <p:cNvSpPr>
            <a:spLocks noGrp="1"/>
          </p:cNvSpPr>
          <p:nvPr/>
        </p:nvSpPr>
        <p:spPr>
          <a:xfrm>
            <a:off x="1181100" y="56102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나머지 연산을 없애기 위해</a:t>
            </a:r>
          </a:p>
        </p:txBody>
      </p:sp>
    </p:spTree>
    <p:extLst>
      <p:ext uri="{BB962C8B-B14F-4D97-AF65-F5344CB8AC3E}">
        <p14:creationId xmlns:p14="http://schemas.microsoft.com/office/powerpoint/2010/main" val="22092137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E8E91A17-B203-45E2-8A12-CDEF9FF8A8E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CA9B5677-80DF-4E91-A5B9-439F6E9C943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522FB7C-F0B8-4737-8E07-FD5F1EFDB94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19  정답과 해설</a:t>
            </a:r>
          </a:p>
        </p:txBody>
      </p:sp>
      <p:sp>
        <p:nvSpPr>
          <p:cNvPr id="4" name="rule-33">
            <a:extLst>
              <a:ext uri="{FF2B5EF4-FFF2-40B4-BE49-F238E27FC236}">
                <a16:creationId xmlns:a16="http://schemas.microsoft.com/office/drawing/2014/main" id="{3F451B9A-A0C1-47FA-8C85-8BEE2B4D6E4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0168B5A9-DDE3-4636-B312-943387A6341B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17D9F726-6D59-4917-BB21-5B42B20F71EA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038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339D2A18-3C2A-4870-ADF0-A50135FA9D5C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빠른 거듭제곱은 half=mod_power(a,b//2,m)을 한 번 구한 뒤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(half * half)%m을 계산한다. half에 결과를 저장하는 이유는?</a:t>
            </a:r>
          </a:p>
        </p:txBody>
      </p:sp>
      <p:sp>
        <p:nvSpPr>
          <p:cNvPr id="8" name="rule-34">
            <a:extLst>
              <a:ext uri="{FF2B5EF4-FFF2-40B4-BE49-F238E27FC236}">
                <a16:creationId xmlns:a16="http://schemas.microsoft.com/office/drawing/2014/main" id="{80F0D47B-B61A-4CB7-B043-F24CEFEF1B9F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6CC41C57-6B9C-4E06-A388-04B37A8AF639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2번 같은 절반 지수의 결과를 재귀로 두 번 계산하지 않기 위해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12650825-0D3E-4484-8B74-937A0D5A5E3E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709A58EC-587D-48FC-95B4-F6C311952349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절반 지수의 결과를 한 번만 구하고 그 숫자를 재사용한다.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같은 작은 문제를 두 번 호출할 필요가 없다.</a:t>
            </a:r>
          </a:p>
        </p:txBody>
      </p:sp>
    </p:spTree>
    <p:extLst>
      <p:ext uri="{BB962C8B-B14F-4D97-AF65-F5344CB8AC3E}">
        <p14:creationId xmlns:p14="http://schemas.microsoft.com/office/powerpoint/2010/main" val="14734413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8D4920C1-7AD3-4CCA-93BC-1A09EBA2C0B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B04D90D3-E5AC-48BC-BB8A-CF66915652A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CA66D81-990F-42E0-8EB7-709E6B4A716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20</a:t>
            </a:r>
          </a:p>
        </p:txBody>
      </p:sp>
      <p:sp>
        <p:nvSpPr>
          <p:cNvPr id="4" name="rule-35">
            <a:extLst>
              <a:ext uri="{FF2B5EF4-FFF2-40B4-BE49-F238E27FC236}">
                <a16:creationId xmlns:a16="http://schemas.microsoft.com/office/drawing/2014/main" id="{68AF3439-FFB7-42D0-8B5D-A1AB5411708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3ED7709A-7EBB-493B-8863-95D8194D99F0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C3D362A-D48C-4765-94DF-0D00CD151AD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039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34E2E251-4294-4446-997A-4038F140AA6E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쿼드 트리의 현재 영역은 시작 행 r=2, 시작 열 c=4, 한 변 n=4이다.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네 등분할 때 우상 영역의 (시작 행, 시작 열, 한 변)은?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90D7044D-C8D9-42CA-A40D-4888B65488FA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C634438E-5200-4826-9927-953642583007}"/>
              </a:ext>
            </a:extLst>
          </p:cNvPr>
          <p:cNvSpPr>
            <a:spLocks noGrp="1"/>
          </p:cNvSpPr>
          <p:nvPr/>
        </p:nvSpPr>
        <p:spPr>
          <a:xfrm>
            <a:off x="1181100" y="31337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(4,4,2)</a:t>
            </a:r>
          </a:p>
        </p:txBody>
      </p:sp>
      <p:sp>
        <p:nvSpPr>
          <p:cNvPr id="10" name="rule-36">
            <a:extLst>
              <a:ext uri="{FF2B5EF4-FFF2-40B4-BE49-F238E27FC236}">
                <a16:creationId xmlns:a16="http://schemas.microsoft.com/office/drawing/2014/main" id="{3143A329-716B-48F6-A4E2-B130AC9F4E80}"/>
              </a:ext>
            </a:extLst>
          </p:cNvPr>
          <p:cNvSpPr>
            <a:spLocks noGrp="1"/>
          </p:cNvSpPr>
          <p:nvPr/>
        </p:nvSpPr>
        <p:spPr>
          <a:xfrm>
            <a:off x="1181100" y="362902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4EB8971D-C2F0-4431-8535-4639A7292392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C18C3E56-077E-4F16-8AEB-5B83AC305BAF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(2,4,2)</a:t>
            </a:r>
          </a:p>
        </p:txBody>
      </p:sp>
      <p:sp>
        <p:nvSpPr>
          <p:cNvPr id="13" name="rule-37">
            <a:extLst>
              <a:ext uri="{FF2B5EF4-FFF2-40B4-BE49-F238E27FC236}">
                <a16:creationId xmlns:a16="http://schemas.microsoft.com/office/drawing/2014/main" id="{08C5F514-C153-41AA-B143-4029BE93BC88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94140862-D7C3-4693-84D4-44B824348B63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A3483426-85A8-4C3A-B197-176E2710BE35}"/>
              </a:ext>
            </a:extLst>
          </p:cNvPr>
          <p:cNvSpPr>
            <a:spLocks noGrp="1"/>
          </p:cNvSpPr>
          <p:nvPr/>
        </p:nvSpPr>
        <p:spPr>
          <a:xfrm>
            <a:off x="1181100" y="437197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(4,6,2)</a:t>
            </a:r>
          </a:p>
        </p:txBody>
      </p:sp>
      <p:sp>
        <p:nvSpPr>
          <p:cNvPr id="16" name="rule-38">
            <a:extLst>
              <a:ext uri="{FF2B5EF4-FFF2-40B4-BE49-F238E27FC236}">
                <a16:creationId xmlns:a16="http://schemas.microsoft.com/office/drawing/2014/main" id="{99BF03A8-3682-409F-B829-1F3E8B1189C1}"/>
              </a:ext>
            </a:extLst>
          </p:cNvPr>
          <p:cNvSpPr>
            <a:spLocks noGrp="1"/>
          </p:cNvSpPr>
          <p:nvPr/>
        </p:nvSpPr>
        <p:spPr>
          <a:xfrm>
            <a:off x="1181100" y="486727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C2E566E0-DDED-40EB-A7C8-AEA392936514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68D96255-C433-46AF-8D86-F190B0B26DEA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(2,6,2)</a:t>
            </a:r>
          </a:p>
        </p:txBody>
      </p:sp>
      <p:sp>
        <p:nvSpPr>
          <p:cNvPr id="19" name="rule-39">
            <a:extLst>
              <a:ext uri="{FF2B5EF4-FFF2-40B4-BE49-F238E27FC236}">
                <a16:creationId xmlns:a16="http://schemas.microsoft.com/office/drawing/2014/main" id="{02AE8F42-54A8-4AA4-A250-603FB713A5FC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F320AB49-349C-43D7-9A10-3C8FB729F051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3B1B2CB7-3D10-4D0C-A9DF-1BE2B438D177}"/>
              </a:ext>
            </a:extLst>
          </p:cNvPr>
          <p:cNvSpPr>
            <a:spLocks noGrp="1"/>
          </p:cNvSpPr>
          <p:nvPr/>
        </p:nvSpPr>
        <p:spPr>
          <a:xfrm>
            <a:off x="1181100" y="56102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(2,8,4)</a:t>
            </a:r>
          </a:p>
        </p:txBody>
      </p:sp>
    </p:spTree>
    <p:extLst>
      <p:ext uri="{BB962C8B-B14F-4D97-AF65-F5344CB8AC3E}">
        <p14:creationId xmlns:p14="http://schemas.microsoft.com/office/powerpoint/2010/main" val="3537020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9F1295D5-E284-47A4-AF25-3D7693AAB23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B2281116-D12F-49FF-BCD7-438EBF95A7E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576C860-3F74-43CA-B067-0DA4E88441A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20  정답과 해설</a:t>
            </a:r>
          </a:p>
        </p:txBody>
      </p:sp>
      <p:sp>
        <p:nvSpPr>
          <p:cNvPr id="4" name="rule-40">
            <a:extLst>
              <a:ext uri="{FF2B5EF4-FFF2-40B4-BE49-F238E27FC236}">
                <a16:creationId xmlns:a16="http://schemas.microsoft.com/office/drawing/2014/main" id="{35470475-003D-42B2-A8B6-34C927C530A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0C18E6E-F95F-444B-BD7D-C4FBD81A2AFD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332D51E1-53AF-40E2-828D-30A8A9E0F6AB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040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CBDD8115-7872-4B21-B03E-23CFAD669300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쿼드 트리의 현재 영역은 시작 행 r=2, 시작 열 c=4, 한 변 n=4이다.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네 등분할 때 우상 영역의 (시작 행, 시작 열, 한 변)은?</a:t>
            </a:r>
          </a:p>
        </p:txBody>
      </p:sp>
      <p:sp>
        <p:nvSpPr>
          <p:cNvPr id="8" name="rule-41">
            <a:extLst>
              <a:ext uri="{FF2B5EF4-FFF2-40B4-BE49-F238E27FC236}">
                <a16:creationId xmlns:a16="http://schemas.microsoft.com/office/drawing/2014/main" id="{D34C7D1D-343D-4068-852A-CF07616E0087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B582E211-58BA-4BB3-95AF-FFEDADD25DDE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4번 (2,6,2)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0E45D13F-3A02-4E50-A691-178227BFB052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04D8C7CA-BB77-493D-95CF-9E15F1D09F89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우상은 아래로 이동하지 않고 오른쪽으로 half=2칸 이동한다.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따라서 행은 2, 열은 4+2=6, 한 변은 2이다.</a:t>
            </a:r>
          </a:p>
        </p:txBody>
      </p:sp>
    </p:spTree>
    <p:extLst>
      <p:ext uri="{BB962C8B-B14F-4D97-AF65-F5344CB8AC3E}">
        <p14:creationId xmlns:p14="http://schemas.microsoft.com/office/powerpoint/2010/main" val="25304900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8842CAD7-4A3B-4E09-80D7-C9C082EE113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93607AE0-6B35-4F24-AD93-221B69C8CB9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143BF8-2E14-4D0B-90C2-649DECCF35B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21</a:t>
            </a:r>
          </a:p>
        </p:txBody>
      </p:sp>
      <p:sp>
        <p:nvSpPr>
          <p:cNvPr id="4" name="rule-42">
            <a:extLst>
              <a:ext uri="{FF2B5EF4-FFF2-40B4-BE49-F238E27FC236}">
                <a16:creationId xmlns:a16="http://schemas.microsoft.com/office/drawing/2014/main" id="{4BCA697D-0BDB-449D-A3F2-1B7903D7C2F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02D92E-86A3-4F57-9617-87D3E7922225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4D869168-0C90-41E0-96EA-8C16CB9B75E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041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9DCB5AB3-DF5B-4197-B397-687DE8B63856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빠른 거듭제곱 함수는 지수 b가 0이 아니면 b//2를 다음 지수로 쓴다.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현재 b=13일 때 바로 다음 재귀 호출의 지수는? //는 정수 나눗셈이다.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FBB06CE8-C8D0-4812-90EE-0B89D574B832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1223CD7C-04CD-4DE9-971B-F296D877E50B}"/>
              </a:ext>
            </a:extLst>
          </p:cNvPr>
          <p:cNvSpPr>
            <a:spLocks noGrp="1"/>
          </p:cNvSpPr>
          <p:nvPr/>
        </p:nvSpPr>
        <p:spPr>
          <a:xfrm>
            <a:off x="1181100" y="31337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10" name="rule-43">
            <a:extLst>
              <a:ext uri="{FF2B5EF4-FFF2-40B4-BE49-F238E27FC236}">
                <a16:creationId xmlns:a16="http://schemas.microsoft.com/office/drawing/2014/main" id="{5478C4CB-7894-4B02-8CD3-756548983DE3}"/>
              </a:ext>
            </a:extLst>
          </p:cNvPr>
          <p:cNvSpPr>
            <a:spLocks noGrp="1"/>
          </p:cNvSpPr>
          <p:nvPr/>
        </p:nvSpPr>
        <p:spPr>
          <a:xfrm>
            <a:off x="1181100" y="362902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24CC266A-2FF5-4FF0-825B-8E6DB5E9E39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A0704BC5-50ED-4890-B0FB-B4CFA8B1B1BC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3" name="rule-44">
            <a:extLst>
              <a:ext uri="{FF2B5EF4-FFF2-40B4-BE49-F238E27FC236}">
                <a16:creationId xmlns:a16="http://schemas.microsoft.com/office/drawing/2014/main" id="{383DA953-3D17-4F9A-A24A-2A6B5765DD3B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684981BE-17A4-4AC7-8F80-15E292A740F2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C3863973-694A-450D-A248-F27969AD9CAD}"/>
              </a:ext>
            </a:extLst>
          </p:cNvPr>
          <p:cNvSpPr>
            <a:spLocks noGrp="1"/>
          </p:cNvSpPr>
          <p:nvPr/>
        </p:nvSpPr>
        <p:spPr>
          <a:xfrm>
            <a:off x="1181100" y="437197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6.5</a:t>
            </a:r>
          </a:p>
        </p:txBody>
      </p:sp>
      <p:sp>
        <p:nvSpPr>
          <p:cNvPr id="16" name="rule-45">
            <a:extLst>
              <a:ext uri="{FF2B5EF4-FFF2-40B4-BE49-F238E27FC236}">
                <a16:creationId xmlns:a16="http://schemas.microsoft.com/office/drawing/2014/main" id="{BF389791-7E47-4193-837F-D5B8AC33DCA8}"/>
              </a:ext>
            </a:extLst>
          </p:cNvPr>
          <p:cNvSpPr>
            <a:spLocks noGrp="1"/>
          </p:cNvSpPr>
          <p:nvPr/>
        </p:nvSpPr>
        <p:spPr>
          <a:xfrm>
            <a:off x="1181100" y="4867275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EE9AC64D-4AD0-4087-B44B-1B7EF67DC4AD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87430B04-4EC6-46BE-A0EA-631472D86B46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9" name="rule-46">
            <a:extLst>
              <a:ext uri="{FF2B5EF4-FFF2-40B4-BE49-F238E27FC236}">
                <a16:creationId xmlns:a16="http://schemas.microsoft.com/office/drawing/2014/main" id="{2DE05FF1-8D1B-441D-87F0-F44E93BBAEFD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104013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BC0FAC03-9DA6-4516-A9A7-5FF506D3BADE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11AFAC71-744B-4F0F-A5FE-C9B30DC73B4F}"/>
              </a:ext>
            </a:extLst>
          </p:cNvPr>
          <p:cNvSpPr>
            <a:spLocks noGrp="1"/>
          </p:cNvSpPr>
          <p:nvPr/>
        </p:nvSpPr>
        <p:spPr>
          <a:xfrm>
            <a:off x="1181100" y="5610225"/>
            <a:ext cx="104013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64063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3FB915FA-795A-4719-A534-8860004CE6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49717FB9-D72D-41DD-BF96-7DAEB75E784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013E93C-8563-4D07-A9EB-3845AEB8F3B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21  정답과 해설</a:t>
            </a:r>
          </a:p>
        </p:txBody>
      </p:sp>
      <p:sp>
        <p:nvSpPr>
          <p:cNvPr id="4" name="rule-47">
            <a:extLst>
              <a:ext uri="{FF2B5EF4-FFF2-40B4-BE49-F238E27FC236}">
                <a16:creationId xmlns:a16="http://schemas.microsoft.com/office/drawing/2014/main" id="{55E06F4E-D5C9-498E-A222-DC21D5B77E1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8D81B7A4-DAA8-40E4-9650-1428EAE75497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DEC24E31-179F-4A5F-8D44-51A2043EBA5B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042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B77ED946-7618-443B-B100-5D76FF79E04E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빠른 거듭제곱 함수는 지수 b가 0이 아니면 b//2를 다음 지수로 쓴다.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현재 b=13일 때 바로 다음 재귀 호출의 지수는? //는 정수 나눗셈이다.</a:t>
            </a:r>
          </a:p>
        </p:txBody>
      </p:sp>
      <p:sp>
        <p:nvSpPr>
          <p:cNvPr id="8" name="rule-48">
            <a:extLst>
              <a:ext uri="{FF2B5EF4-FFF2-40B4-BE49-F238E27FC236}">
                <a16:creationId xmlns:a16="http://schemas.microsoft.com/office/drawing/2014/main" id="{EC218B82-16E7-4DAB-AB42-79DB199D980E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52C41325-1D49-44F8-AF14-A51BEE4ACC68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5번 6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F1FEF8FB-C448-4239-B360-5080E87E3D16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643F5F3F-4FF3-4833-A8EB-4C419DE865AD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13//2는 소수 부분을 버린 정수 6이다.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다음 호출에서는 지수 6을 처리한다.</a:t>
            </a:r>
          </a:p>
        </p:txBody>
      </p:sp>
    </p:spTree>
    <p:extLst>
      <p:ext uri="{BB962C8B-B14F-4D97-AF65-F5344CB8AC3E}">
        <p14:creationId xmlns:p14="http://schemas.microsoft.com/office/powerpoint/2010/main" val="1691830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874FCBBB-9548-44A6-AF31-746274AF3F7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A6F4C0F-E6F9-459F-B0CB-D2BC953B171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226E4FF-7300-433C-9B6A-E7DB2C98DB2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24EFD3-5E18-4BAA-9E92-925D8F7130B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21E7B9-DCE9-4504-90ED-CDA02007394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0EB0C35-E6AB-4A8C-8210-A04BA321A9D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C576D38-1E44-4CFD-BBB3-893D735EB8B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4B3AC2E-1C20-4E13-8885-4BA66DC8EF3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흑백 쿼드트리에서 현재 영역이 한 색이면 올바른 처리는?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3E515C77-AB83-4B40-BD58-1F086F5EAADB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84563072-0725-4067-836B-362DD68BF25E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그 색 하나를 기록하고 종료한다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679B14-EF6E-4A62-9D20-AC80313DB6C6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7B915A98-8438-437F-A4B2-1909C14E754E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10D6AD16-3609-4C4C-80A2-17078B86B592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색 대신 영역의 넓이만 기록한다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E72C79-F803-47F5-8929-4328DE2C47E7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05BB76E3-0B61-4BA0-AA74-DFB23A1988F4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10710D89-6A21-4931-92F5-B915F09F9429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색 대신 검은 칸의 개수만 기록한다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F3D4CF8-A3BE-4A19-B3FA-CD2BA98A75B9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69CD0611-6532-4B39-86E0-3A733AAB40E4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9FA574B9-589A-4CBA-AFC1-A359DB488951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반드시 1×1이 될 때까지 나눈다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EC14BF-B049-4BFE-90C9-5B4EA8559A54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027A0AA8-CD68-4331-8C6A-A8744F271EB4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2B9380FD-F2D9-46BC-8F6D-219F7F932625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같은 색이어도 네 자식의 기록을 모두 저장한다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711ED2E9-9A90-4188-90E2-A705A863D73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3F4C135-CEF6-4942-8528-FB0266BC8D6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2BA7E6F-2E5E-41D3-8571-E79BB361B4D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A077BF-2D18-416E-8C1D-F9AA47AEF70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D70F3D-E915-4FB1-A41A-529B940B636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B160F81-2B48-44FB-B59B-AC4A1B31557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D34B7AD-1FD5-4A9C-9CBC-8B304DF054D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7BBFB19-2C1E-4DFC-BF7A-B0F9FAB7FA7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흑백 쿼드트리에서 현재 영역이 한 색이면 올바른 처리는?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32E5F5-055E-426B-803E-4765D639F15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2694375-C06F-4C25-881B-46C7E060CBD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그 색 하나를 기록하고 종료한다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5E46758-D36B-4699-B641-3FE36A5E92CD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80F794-CCB9-46B5-8FB4-E221F7125FF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0C46FF6B-CFAA-4B41-84E1-34CC1130BC7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균일 영역을 리프 하나로 표현하는 것이 압축의 핵심이다.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4A69395A-18AC-43FC-AD70-AA01B769F1D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4573629-7AFB-4077-9FA1-BFF65316468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0777013-CB52-4DA8-88D7-A5D45301008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3280F7-8903-4078-AC62-AEF9C46B183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D617CB-22EB-4281-8255-253B05E2DF3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CAF41CF-94DD-42C5-91FA-F40918012CC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F2116B3-6A55-402F-B7AB-859E9819D3F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31919BA-B155-440A-A4EB-8F3A4D5FF16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쿼드트리에서 혼합된 정사각형을 나누는 자식 수는?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C96A52F2-C573-4361-9809-179BF06C5D79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D1F7CEC9-1244-4669-AFAB-3A51C5501070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8A60B1-1C7B-4797-91D5-174C0984A6A2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072F03BA-A61E-4C7E-899E-F3634A690550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E8678C8E-6637-423C-9558-8242D3D178A1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1C70FF-8A70-46C8-990B-26906EE70FB6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9532F8BD-0BCE-4798-9DE6-7BFF853339A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C6ABEFE6-99EB-4621-A4D4-FFE812A01314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4F2902-71FF-41E3-8BD2-DD10D376A82A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A76013B7-FBCC-470E-AE2E-23B039F619CE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ABF759B-3C42-4B9B-8193-0F7D7EA0F2C7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4F87A43-BF48-4579-B4EE-572A8B2D30DB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FC65787F-E731-4329-8970-AC750DAF5F71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894FBA5F-91A4-451C-BE78-B3586CD61D36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97359F3-7FFB-4A16-B9E1-9D87D19EE5D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0EF82C1-E2A7-402E-8EED-367E512CC72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76B5C4F-6150-453E-9281-FF967AC112B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098E83-FC34-43AB-9D53-180E6EF7D3D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3FE5B9-A4E2-4E7A-B1F0-1AD5A796D35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83C6E1C-DD97-41E4-A273-23E653F6834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2B477B0-7E71-470D-B15D-C3DF8438E02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1C01F6B-EACA-4D27-A0BA-9299A2CFC27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쿼드트리에서 혼합된 정사각형을 나누는 자식 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C8284D-F95F-4A76-B351-20FB6BEF3F2E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84B032C6-27B6-4C6E-AE23-45069458A5A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4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E2318F79-E137-4593-B86A-0E308E7C74A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5A9520-F18A-48FF-9F93-BBE9EA8A4E2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A90B0851-B51D-4E57-98FD-8DFA4519A69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좌상·우상·좌하·우하의 네 사분면으로 나눈다.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75AF6862-DA9E-4B28-B364-04653A9BB92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C482B25-2D83-4CD8-8615-470030580AC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DF75C5A-2833-41D5-90E2-744F535DE44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6E5C6F-6FA6-4105-BDE2-46254D2C46B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F2EB89-D003-4150-84AD-2DCE8215660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9DAB6C2-D1DA-4778-92F8-1512128C448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787F0D6-B25D-4604-AE23-D381AB94A96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0BE2ABD-C086-4D9C-B467-63E8E4DBF4F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쿼드트리 부호화 순서를 좌상·우상·좌하·우하로 정했다. 복호화에 이 순서가 필요한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이유는?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CBAC8812-5715-4EF6-B7F8-1EFB814F52D3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29EA1A21-D9CD-4EAF-9B68-9584D5A8FA06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복호화 시 자식을 색 값으로 다시 정렬해야 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7FC41F-B837-4D5D-8ADD-97EA60107211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B12541B6-F2D3-4140-B260-F6C36CFB799E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5CFF82D3-FA2A-4799-8A53-4AAF79C5CA51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부호 길이만 같으면 방문 순서는 달라도 된다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844B73-B0D9-437B-909A-661A96697102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8C87449E-252B-4378-A785-466FC050B42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AABFAA36-CCC9-49E9-9989-D3E343332688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부분의 공간 위치를 복원해야 하기 때문이다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27AEC3-1714-4FD2-86A9-62340A751774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4797DFB2-AEE6-41B8-B179-F590CA481B4F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EB856D09-A89D-4BC5-85D8-26A0CF72D3F7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색이 두 가지이면 사분면의 순서는 정보에 영향을 주지 않는다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AE0B0D5-8696-4232-AC05-C1BBEC0FBA75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0519605D-E6CD-4398-9D6A-E90F349F8631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F39EA0E9-9EC0-491F-8C48-A8CB1A2D6FA5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자식들의 색 빈도만 알면 위치는 자동으로 복원된다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FED6072-E414-4532-B581-4F9DFE8F2BB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F3A6CCA-2E83-45F8-9E10-7B824AB25CD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48A7F40-4266-4057-A9B0-2E5240B6FAD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5AED9C-D60C-4A35-B2AC-F82B677596F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DE5B6C-4072-4087-8A08-F8959562761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DA6A6F5-B139-49C8-B8D5-18CDAEB6743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304F5F5-4F29-4B16-A16D-073F5FE59ED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765EFC7-BA2C-4D4E-B9F1-B77C0918373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쿼드트리 부호화 순서를 좌상·우상·좌하·우하로 정했다. 복호화에 이 순서가 필요한 이유는?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4AAF8C-ABDB-4D59-A6F4-E472B76E85A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C30837F-D77C-4DF8-8DC2-57E6EFA724F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각 부분의 공간 위치를 복원해야 하기 때문이다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9ADFC421-3D76-4689-A36E-F328AF370B80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ED2BA9-127A-498D-9404-907AFFA1BBC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DEF587D4-337E-4D44-96C8-00D2C578CC8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색 목록만 같아도 자식 순서가 달라지면 복원 영상이 달라진다.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987D7E29-0731-4A06-94B3-18C6D69F846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890A94B-74BC-456B-B1F2-7E2724FFFD7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0D4F678-9B17-403A-A1DA-734CAB00870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CE2F62-09C6-468A-A53C-C3718B5DDE7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A91BB0-A892-4B14-B86E-99E9181B56E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A9847C7-8CF6-4019-B30F-773CDFBC093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8F3804B-D3C8-4FD6-B725-BA1D6515B12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FDF566A-1AFC-4C44-BC25-29E869A8E16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흑백 쿼드트리 압축 효과가 가장 큰 예는?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9EAE0893-66C7-4AA0-AE71-D13975C7DB5E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ADAF1CBB-D8A6-4CE6-B58D-C0528F30F1A6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끝까지 분할해야 하는 영상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140032-8A26-418F-8BC2-13C83D3851BF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29E98362-0B0D-43E8-AA10-BD6F0784922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D62D0F83-DE8A-4959-B7D1-1B597CEF6526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1칸마다 색이 바뀌는 큰 체커보드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C41929-BB8B-4001-A5F7-D5D5BB5F2417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CEC2F59E-C658-4620-9F98-2E6D8590E976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0DD7F43A-5C98-4506-AD08-C302D5999F7C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전체가 한 색인 영상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3BA242-35A8-4A6D-85C6-B8B7BC3B7CDA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FF8F018B-ECDC-45DD-9BAE-FFD41BBAACEC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AC8BB74B-00EB-400D-99AE-E9EE60D501C5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리프가 1×1이 되는 큰 영상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1E1DD6-59AD-4E1F-A2B5-5BC97F7E2019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1DBDFCD5-B0BB-407F-AE24-62F87FC41A77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6A3AF65A-6183-4C38-93BB-212D9D3D3883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2×2 블록이 혼합된 영상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9B0F5989-9ECA-45F6-B8EB-EE93AB0C715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DD382DD-C453-4F9E-A2B0-596C24F94AE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6EA4D90-5747-4161-907E-401D170B6FB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5D8EBD-3745-479C-A1A0-9CF4A40E917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44EB3F-E013-425C-998A-CDF43BF39D4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DEA621E-124E-48F4-8283-B8074A17E4F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71878A9-97E2-4954-9AC3-93AEAB7781C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100BD7D-4C2E-4FC0-A36C-95D92F44A36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흑백 쿼드트리 압축 효과가 가장 큰 예는?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9FA28B-1124-434C-97A5-4B0EA427B23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9CDF8BC-46AD-4279-AF7D-054EEFA3DB0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전체가 한 색인 영상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F7C8A1D-CA19-4775-AB61-96EE99CA03F6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2B7EA1-BF03-43F6-BCA5-712ABA589ECA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8992138-00DE-48B8-BA92-7DED95170DD0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전체 한 색이면 크기와 무관하게 색 기호 하나로 표현할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DE47112A-7B10-4853-B41D-7F77C685DFA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C0AE6DC-07BA-402A-ABDD-A01BA09CBBD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D10973E-C78F-4AB0-B7AF-843803C3E41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721D19-CBDE-4B1D-A784-998C15386E7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E533A5-E00E-46A0-B42F-3CE0DEEF72C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4257D2D-FE9F-4983-99D1-804EF6541C8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D09A5DE-AB7F-4318-90CD-6E9EBA33BA8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FF82593-0866-488C-BD11-ABE2777F248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쿼드트리를 이용한 충돌 후보 탐색에서 주의할 점은?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01E8448D-0D23-4779-8B2B-65BF7F95D0DA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60C39A0F-BD0F-422E-8025-A98D4D249811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객체는 점 하나와 완전히 같다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36F784-DE2C-4BD5-A2EA-50F308936789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6C0CDEC5-C0C1-4510-A6E6-7A3BA6C17C3E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AC2A7F77-4861-42E2-A46B-F694563CEB23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경계를 걸친 객체와 이웃 영역을 누락하지 않는다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CB9F84-8F2C-433C-9D65-DF93FC04A6B2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97747D3D-0292-4D98-B187-A7770C87CD05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8D6FA278-41C0-4C0E-8687-5C6A6BBC74E5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후보만 같으면 정밀 검사는 필요 없다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8961FE-40C8-4679-9F98-2D40B45BFB8A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D13AFA38-0C1E-4F1E-ADE2-97E442B265ED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D7575C34-AB0D-4F9D-BC5F-46B1332BCB83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객체 크기는 고려하지 않아도 된다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7F50F7-ECF6-4FE9-96F1-8FB2AC15D479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C9A843E5-CFA4-488F-B887-C8ABE34CEED4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7A3A616E-98D6-4186-B967-2C2CB67B6091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다른 리프 객체는 절대로 충돌하지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455ACC8-3869-49B2-BA40-55F9523ACE9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8436E50-D493-4D66-96F5-6E6D13C89D9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4C895BD-E63D-4F2C-8E64-B51A5D46A0F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D45EAA-A32D-4018-A4FB-6B75D8C7D17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D8218F-A6D5-4AA7-BBF0-072EC65BDCE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65C4252-5282-4BFA-B24B-0612B8E6ECD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1B16ED9-76C0-463A-B172-5A36347DED7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6CE0BE7-7133-4270-845F-5BC910F8CB1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쿼드트리를 이용한 충돌 후보 탐색에서 주의할 점은?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F2BB87-E332-4D2F-B616-79185007596D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26029D74-85EB-4084-AE4B-29CA399DEC53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경계를 걸친 객체와 이웃 영역을 누락하지 않는다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0DF73674-5253-434A-A60B-B7E5DE51F574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5007BC-AAF8-487E-9370-5D9F946B69C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B2B7A7B-8432-4D8B-8524-22CB17DC369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공간 분할은 후보를 줄이는 장치다. 실제 영역이 겹치는 객체는 경계 양쪽에도 있을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2BE6B324-3FA9-4C01-843F-8F283FADD0B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90A554A-CC2A-4FD5-90ED-C97C130FAC6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43A4E1F-F5E4-4CFF-929F-C1047CBC0D5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9BEEFE-6F1C-40D9-92DF-5FDF5E53FDA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55E4DF-0207-4F3F-A7BB-0539FCD2F36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FFDDBD5-BD5F-4B7F-9193-9BCFCF2EB04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2D05C7E-55F7-493D-A919-55B8A35EFB1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0EA0DC6-A73C-4E86-8C93-90F84DB6596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마스터 정리 T(n)=aT(n/b)+f(n)에서 a의 의미는?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A1935E54-D011-4FC8-8766-54B36BA3D2C8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A77E0877-BFBD-4E8C-94ED-8FB57DA1BAE9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 부분 문제의 개수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BFC2A7-2947-4A63-ACD7-A852C57570C7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1C4DF6A0-18E0-4DB0-895A-65F4D806919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87C9466D-7B55-4BB3-AEF5-40911E1C2206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문제 크기를 나누는 비율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52857A-A225-4CA6-B078-2D2269C29572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8268002D-F4DF-4004-B8B7-403248385812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415FA58A-DDE6-465D-83D5-8B23595EEBD3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기저 사례에 남는 입력 크기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631F14-49A6-4625-AC02-97FFACC462AE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8E74B56B-4585-4313-A3D6-9D01FA4AE963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B9695331-13E8-4563-986F-F1982A9F7D45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 트리의 전체 깊이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3A6AFE-0FE3-4D8C-8814-21F5511812E8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9E062898-6DBA-48FC-AE23-BA91FB2B8DB9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AFE4B53C-01B2-47A9-89FD-1A95C3C6D8DA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 호출 외 결합 비용의 지수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5CC78776-1AC1-4673-BF37-BBD6D6F1DBC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F807148-A63D-40B4-A180-AF0A7D826F2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6B9813D-FBC9-42D5-9F29-9A795D6400D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FA1505-2622-408B-BC35-76C5857D093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B616AA-95BA-44C0-B4A9-23DED9A0BAC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A714477-924A-480C-943B-7AB26B71F21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B7B8D04-F8E5-4E2F-8062-4E9028DA494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C1418A4-B661-4381-BA4D-4587E4D0593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마스터 정리 T(n)=aT(n/b)+f(n)에서 a의 의미는?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BD9A21-47EB-47B9-B053-81B2A6B96C0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C83AAC4-F7A5-42E3-B2B9-BFEF1E399B0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재귀 부분 문제의 개수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8F59C649-199B-4AF1-B3FE-4F92C9327A55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F52340-2229-40AD-B9E7-7AD91D4FB9D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30131CB-FCA8-41F8-B9F1-AA670192EA7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b는 크기 축소 비율, f(n)은 재귀 호출 외 작업 비용이다.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253246B6-2FB1-49B8-AB7C-EC3F30EB741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F221FF2-8E83-45D1-AB25-CE519B513F9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D68010E-FFA6-428F-89EE-6E2B1EF48C0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B4E128-4872-4B71-91FF-7825CF20F6E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C342E8-2CBA-496D-B4FA-EE046E025CA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364037C-E578-4B4B-A801-6A96337EA7F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DD04B87-19A1-47E6-90FD-FBB69909EA8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09AC76D-843F-46F1-A496-82884452E7B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T(n)=4T(n/2)+Θ(n), T(1)=Θ(1)의 차수는?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87D40C61-0F1F-4A21-8F22-EBE9B839280C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29B941CB-1D89-4E7E-8B6B-CE23B33E7CB6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01B8C9-43F1-4E5B-B50B-99957E781637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66ABC403-C586-4060-9EB6-739477130423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A5BDFA09-9C58-4B32-A288-99F0DDFAFDC6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9BD7D9-3A08-4CD7-B438-2479BF9D839D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19C38AE5-A373-4BE2-9166-2440E10CCD9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58C845B0-B2AB-410E-9476-CB30B32383B5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n)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615418-C3C5-4A34-9681-36C7C8E901E5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9725E1D5-B275-468D-A1F5-641C376275F4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6125F645-697F-46F0-BD45-EF390391D2EF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 log n)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B965F8-1B69-4E5F-AAF4-83310DBD59F4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3B56C9E4-7321-403B-A157-C110ADA9B19A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800523E0-21E2-4024-857A-E4CB3001B508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 log n)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3C40D99-10EF-44F3-BC83-B663151D44E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B1BA145-8179-4795-BED1-7D24BA77975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4786AF0-A7AA-45FB-8EA0-DA60087A631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6741AD-F028-47FA-9AD2-B15E94720DE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0EB6D9-E2B4-40FA-810F-DCE6663C2D8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DA38FAD-3CC5-4C8D-B473-F1510CCC61D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D2708D5-CAC6-4040-98D9-F4B757E5726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76D8CDC-89FD-4DDC-90B0-309AA0CD4D7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T(n)=4T(n/2)+Θ(n), T(1)=Θ(1)의 차수는?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C83364-61A4-4C4C-BCF7-46B6AE14B9E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1BB8E1B-C63C-4CC3-A273-03BFBB85C8E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Θ(n²)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B30C148-60AD-45C2-BE26-6A933D4860E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328CB4-DB5E-4A12-983D-9D0014CB9090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E769540D-0622-496C-9114-4C22F6BEA38E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기준 지수 log₂4=2이고 결합 비용은 그보다 다항식 차이로 작다.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0B1EC3C5-1C91-45E4-8E92-A98264F57CA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1F376F1-9C4F-47F2-A58B-8F253E11CCC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D487DC8-8EB0-4E87-85A5-ECC13F652F2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79BB22-4114-4C3E-8EA8-38CF563BCE0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3890CE-CC8F-417C-A4CF-1D5ABA2CE89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11F041F-425A-4256-B932-8D2137FABEC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F4AE406-5D69-45AF-B947-A406BBE8546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D630635-03C4-430C-9AC9-0DA241E331C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T(n)=2T(n/2)+Θ(n²)의 차수는?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CDA46B35-24AD-41B3-9F62-464419475AC2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8D550EC9-CF9A-404D-969B-3B14135AF017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8A6A0C-4640-4E39-9290-6147CCAFD275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7E53B856-8A01-4CAB-8A73-E45362EE41C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6D67ED8B-CC95-42A3-A3F9-73A3B2FF8BBA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n)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88D450-6F3C-4238-8C3F-9389937A565C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B778E0C5-472F-47A3-BADB-C8023849FAB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1751B3BE-6F88-49BC-BE6A-91D396BE13E8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 log n)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4497BC-04D8-473A-8C85-442AA33700DC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1A4F8BBB-AE82-4C99-84ED-06248B375F70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57AF0E70-0C53-40B5-A33D-A5B6FC661E1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642455A-EA13-4756-ADCC-1137A3A64B06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D92C74BF-CCC0-4FAF-BDFC-4928EAAB0067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0B53873E-9E44-4B4D-9212-3E745F6F4B8A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Θ(n³)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54DBB3B-3111-4C89-BBF3-35D0AFD45E7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C710455-BD53-4D09-A234-AB6356CC3CD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D66690C-651A-404B-8476-6DC18E556A6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6AF749-209D-490A-BF50-8E038B790FD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4CACE6-9150-4311-ACF8-48DFACFDD66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64D8287-1529-4FA1-9A4E-986D872607A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835A306-BE0C-40E3-A5FC-282925AB283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81CD18D-5DD8-41A9-80F0-B81CBC54CDA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T(n)=2T(n/2)+Θ(n²)의 차수는?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655B8B-0333-4E92-9EFF-2355A7A8783E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6BB17E7-C146-4179-938F-AAAD76E74269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Θ(n²)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1D1E4E4-1D9E-4EB7-906B-E8BF1B1B87CB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76CB6F-4198-4C60-9C2F-4261771F25E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873EE7F-6761-474E-A763-36F592F73B3B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아래 층의 전체 비용이 절반으로 줄어 최상위 층이 지배한다.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AF39FA7F-5960-456F-940B-F598F18D9FB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F421A67-84D7-4229-8835-456D7A1F772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8468D44-71CE-4C52-8602-AA97967F15D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CDC2A6-038F-49F3-BEC1-943D5A27FD2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F7471E-D157-4543-BF87-81077243F3C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FC94487-1A7B-4F37-9435-EDC72EF1C98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527F22C-E04E-4071-9DCC-1BF6554CA0F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EC65FD4-D49B-4151-9154-1BBD8EB5F64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T(n)=3T(n/2)+Θ(n)의 차수는?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4D18B72B-DF5D-4BCA-ADC0-DBF72F1E869C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2CA36D2D-ED02-4E56-99C5-A2E68999AA14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Θ(n^(log₂3))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34DAA3-5C98-4AB8-BDC9-40F82DC661F7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864698A6-D0AF-46D6-960D-D50E12A963A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02BD0E0A-BD37-41B8-8442-9C1123AD3018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n)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F61E0D-544C-4153-9DA4-112CD8406556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338F822F-9BE6-4305-8B95-34CCDEB2D43A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59DABF26-24A0-412D-BA82-F3A6202C9A7D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Θ(n³)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CBA5E6-7083-4064-9CDD-033B56AF2CB8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157E9961-27CA-4A0A-907A-B591700A32C0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CE8749CB-C4CD-419B-8E6D-DA6F79889DE9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 log n)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0364BA-EA3B-4CE9-8155-9B6E7CE48B2F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46F457A2-C0B9-459D-A691-65220ABADF38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4268663B-0C9A-44E4-977F-A1AE947C02C1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28494BE-1FFE-4789-8D35-EDFF34FF7F0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659D75E-6ABC-4FE0-A782-68655489014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DB7E2D1-8525-4975-BCB1-8032D570736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8D7D1F-0AD8-43B0-81F4-EE646A0AF72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18817D-CB46-4690-B17A-6F8A7143239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4749EC3-A5AD-4B5A-BFF0-BB158BF3B22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342AC75-EF15-434B-942F-72541A3D715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4CDEF0B-6B34-4B32-B101-6C4C48CE98C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T(n)=3T(n/2)+Θ(n)의 차수는?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7062CB-FE1B-4493-9F82-F52B71EC0206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9D018C3-BE70-4A1E-91B5-16E54F42C54C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Θ(n^(log₂3))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D932CBE6-9B31-4474-8536-994DA08D0AE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23BEEB-5AD8-46ED-AD59-55270FA03670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6FB75B5-5FA5-4569-AA54-31D77F38E8B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기준 지수 log₂3≈1.585가 결합 비용의 지수 1보다 크다.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597DC77A-573B-42CF-AD9C-8807D4C92B2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69C575D-A925-4E72-BE6B-B577A59E85E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728B65C-F9D6-4A55-93BD-7488F17C078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DA4B3F-DD26-4719-AAFC-EA7D268B0D5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383414-A608-4DEC-8767-38AD1FC6BEE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7FA9772-732E-408D-859E-38C2C1DCCF1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226F3EB-0CF9-42D7-93A0-451615BE2A3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1803CE8-8B8A-46B1-AECB-9DE3599D5B0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T(n)=T(n−1)+n에 기본 마스터 정리를 바로 적용할 수 없는 이유는?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1E8944E0-FFB5-4AE8-91BE-3F6618E7633B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0238C205-EF02-4FD5-849B-70FAA5686650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문제 크기가 n/b 꼴의 고정 비율이 아니다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8B7936-430D-4D95-9841-0B8A5534D6E8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B64351CD-711F-4CD8-AADD-3E4B70196BC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F7CDC304-23F7-4B5E-8EB1-5C4B8A2AD62D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 호출 개수가 반드시 2 이상이어야 하기 때문이다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3BE258-98B8-4BF2-96C6-8C5FB1824504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272F141E-960E-41ED-A1A7-AD13843DA5C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FA32D81E-5D10-4328-98FA-BB70B81F2595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a와 b가 같은 값이어야 하기 때문이다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92B3FC-882E-4824-B4F7-9EE3133374D0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EB3797B6-A69B-46C6-8931-8397A9A6601B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985D447B-DAD4-47C7-9D16-88A8D77FE66F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T(1)이 상수이면 정리를 쓸 수 없기 때문이다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4E0E6D-AA7F-446F-A179-329B7FBB0FFF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90DA2600-4B02-455B-9007-7265BA860633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39A8B863-46DF-409B-9C41-4F4AB828A66E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결합 비용이 선형이면 정리를 쓸 수 없기 때문이다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2D0249BF-139E-4AA8-80AA-9EC19F97F20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5222D3E-6B79-4C2C-A229-BA29BB9B01B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07863DB-A170-4002-8E11-D0274777176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1632C2-5E49-49AD-8758-BBBB402CB64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7154E7-68A7-4CFF-B73D-C00B12DBF8E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5908E3D-7794-4E43-9C4D-A011677B579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013D873-8A97-457E-82EB-33B819ECACB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8F46DC6-EFFB-439F-A45C-68229E16C22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T(n)=T(n−1)+n에 기본 마스터 정리를 바로 적용할 수 없는 이유는?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34EA93-9A48-4E89-8FAB-81B5CF7E84F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E936E5C2-1B70-41BE-A7B0-7F8650CDC883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부분 문제 크기가 n/b 꼴의 고정 비율이 아니다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DBFF50CB-2DEF-4E72-BFFF-35FA0B26A45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DB4532-F0E9-4618-8CC4-B3077432FC67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8A68CC7C-6241-4F79-8BD0-0FCA90AE5EB6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칸 감소 점화식은 대입이나 합으로 분석한다.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33085473-891A-43DA-9181-262E66F3BDB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E5433AE-73CE-4CDA-91DE-4C8BE38AFAC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3EA358D-1A12-42AB-9B26-C869A4E2F8B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7C72EC-1CB6-4DD2-BB3E-0999A342BF3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1F98F7-6495-4EBE-8E7E-847F1A1553F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A4606CF-C0EE-4AA6-B2C6-920F887B56A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5D49139-3D4C-45A0-85A6-FE56D75A130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50CF40C-B075-476A-9480-47A61F6191A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3926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n은 2의 거듭제곱이다. 병합 정렬에서 각 층의 처리량은 Θ(n), 층수는 Θ(log₂n)이다. 전체 시간 복잡도는?</a:t>
            </a:r>
          </a:p>
        </p:txBody>
      </p:sp>
      <p:sp>
        <p:nvSpPr>
          <p:cNvPr id="9" name="text-316-72">
            <a:extLst>
              <a:ext uri="{FF2B5EF4-FFF2-40B4-BE49-F238E27FC236}">
                <a16:creationId xmlns:a16="http://schemas.microsoft.com/office/drawing/2014/main" id="{139A0DF5-E738-4797-A97C-E1DC453FB7A8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>
              <a:ext uri="{FF2B5EF4-FFF2-40B4-BE49-F238E27FC236}">
                <a16:creationId xmlns:a16="http://schemas.microsoft.com/office/drawing/2014/main" id="{796BC810-B11E-4C6D-B278-3044743B1A65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CA0B91-F10F-41D9-9050-54010800AC02}"/>
              </a:ext>
            </a:extLst>
          </p:cNvPr>
          <p:cNvSpPr>
            <a:spLocks noGrp="1"/>
          </p:cNvSpPr>
          <p:nvPr/>
        </p:nvSpPr>
        <p:spPr>
          <a:xfrm>
            <a:off x="1181100" y="35528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2" name="text-382-72">
            <a:extLst>
              <a:ext uri="{FF2B5EF4-FFF2-40B4-BE49-F238E27FC236}">
                <a16:creationId xmlns:a16="http://schemas.microsoft.com/office/drawing/2014/main" id="{11534A46-B1F8-464E-99E1-8A5B7C009A0C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>
              <a:ext uri="{FF2B5EF4-FFF2-40B4-BE49-F238E27FC236}">
                <a16:creationId xmlns:a16="http://schemas.microsoft.com/office/drawing/2014/main" id="{2808860C-D05B-420F-9549-6823246535AB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 log n)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D9B7AF-A35B-4799-997C-06D342F56D91}"/>
              </a:ext>
            </a:extLst>
          </p:cNvPr>
          <p:cNvSpPr>
            <a:spLocks noGrp="1"/>
          </p:cNvSpPr>
          <p:nvPr/>
        </p:nvSpPr>
        <p:spPr>
          <a:xfrm>
            <a:off x="1181100" y="41814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5" name="text-448-72">
            <a:extLst>
              <a:ext uri="{FF2B5EF4-FFF2-40B4-BE49-F238E27FC236}">
                <a16:creationId xmlns:a16="http://schemas.microsoft.com/office/drawing/2014/main" id="{3A8D9990-2421-4B85-8C1E-CDA6590ACBC1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>
              <a:ext uri="{FF2B5EF4-FFF2-40B4-BE49-F238E27FC236}">
                <a16:creationId xmlns:a16="http://schemas.microsoft.com/office/drawing/2014/main" id="{C63B78BC-1560-48BC-8B50-D02CC1B08CA7}"/>
              </a:ext>
            </a:extLst>
          </p:cNvPr>
          <p:cNvSpPr>
            <a:spLocks noGrp="1"/>
          </p:cNvSpPr>
          <p:nvPr/>
        </p:nvSpPr>
        <p:spPr>
          <a:xfrm>
            <a:off x="1181100" y="42672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n)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2659D8-F4D3-4819-BE46-99866A122DE4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18" name="text-514-72">
            <a:extLst>
              <a:ext uri="{FF2B5EF4-FFF2-40B4-BE49-F238E27FC236}">
                <a16:creationId xmlns:a16="http://schemas.microsoft.com/office/drawing/2014/main" id="{2F72CC6E-17CC-477A-84AD-13AE1FDCB038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>
              <a:ext uri="{FF2B5EF4-FFF2-40B4-BE49-F238E27FC236}">
                <a16:creationId xmlns:a16="http://schemas.microsoft.com/office/drawing/2014/main" id="{873ACCEF-E152-4D77-8F48-CF9E7B074075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5BD6914-0678-487A-AC48-17F584F68138}"/>
              </a:ext>
            </a:extLst>
          </p:cNvPr>
          <p:cNvSpPr>
            <a:spLocks noGrp="1"/>
          </p:cNvSpPr>
          <p:nvPr/>
        </p:nvSpPr>
        <p:spPr>
          <a:xfrm>
            <a:off x="1181100" y="5438775"/>
            <a:ext cx="10401300" cy="9525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</p:sp>
      <p:sp>
        <p:nvSpPr>
          <p:cNvPr id="21" name="text-580-72">
            <a:extLst>
              <a:ext uri="{FF2B5EF4-FFF2-40B4-BE49-F238E27FC236}">
                <a16:creationId xmlns:a16="http://schemas.microsoft.com/office/drawing/2014/main" id="{F6DDB20D-3635-42F5-89F1-79B831D84685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>
              <a:ext uri="{FF2B5EF4-FFF2-40B4-BE49-F238E27FC236}">
                <a16:creationId xmlns:a16="http://schemas.microsoft.com/office/drawing/2014/main" id="{F3482660-032E-4B2C-A66E-578EFF43F909}"/>
              </a:ext>
            </a:extLst>
          </p:cNvPr>
          <p:cNvSpPr>
            <a:spLocks noGrp="1"/>
          </p:cNvSpPr>
          <p:nvPr/>
        </p:nvSpPr>
        <p:spPr>
          <a:xfrm>
            <a:off x="1181100" y="5524500"/>
            <a:ext cx="10401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Θ(1)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3579227-1AF8-47D8-B476-6E70340F0F3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BE3C0CF-54DE-470B-803A-AB246B8A4BB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A10AF37-AA96-4124-BD31-FEBF56CFAB2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2D526A-9D45-4579-A435-34D699C939E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B32CBF-1119-4107-8CFD-AAD2CFE7A29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8F11798-B776-43AA-8557-070F23E4F9D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00513FA-E8D2-44E4-BD9F-338DB4A6DD7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8D1A10A-8E15-4238-8471-69FC2B4F6A8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n은 2의 거듭제곱이다. 병합 정렬에서 각 층의 처리량은 Θ(n), 층수는 Θ(log₂n)이다. 전체 시간 복잡도는?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72EE8F-9423-424C-A4AA-785911E61F32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D67EAC4-0BFA-4859-85F0-42B28E452C1C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Θ(n log n)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CD49EE9-8465-48B2-8A59-846E6FC76DF4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01CA64-7A59-4DA4-A1F4-5BC0ED5522F0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169735D2-3C5A-4F47-B5B2-52BCEF556428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층마다 n에 비례하는 작업을 log₂n에 비례하는 횟수만큼 하므로 Θ(n log n)이다.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1FF54CB2-F419-47C8-AA38-3506D02E698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F55AA634-2DA9-42A8-A043-36690A4475A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73CF5BB-8E58-49E5-8A2C-601C3D02F8F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33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31C8A89-9AC6-4D45-BFCB-49753715CC08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C56D0527-10A3-4471-8C42-A782C7F11AA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065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4D9D9B-0528-448E-85A6-0392B51531B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D7CF2D79-4D45-4099-98CB-1572E5C959C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정렬된 A=[1,4], B=[2,3]을 오름차순으로 병합한다.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완성된 배열은?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C4DFC9E4-6A8B-414D-86FD-72F5EE6A1A06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E7427C9C-DDCC-4AC2-94C5-5F082FD1A762}"/>
              </a:ext>
            </a:extLst>
          </p:cNvPr>
          <p:cNvSpPr>
            <a:spLocks noGrp="1"/>
          </p:cNvSpPr>
          <p:nvPr/>
        </p:nvSpPr>
        <p:spPr>
          <a:xfrm>
            <a:off x="1181100" y="30480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[1,4,2,3]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447B8-9A2F-4950-BCBE-DD91DF4F844A}"/>
              </a:ext>
            </a:extLst>
          </p:cNvPr>
          <p:cNvSpPr>
            <a:spLocks noGrp="1"/>
          </p:cNvSpPr>
          <p:nvPr/>
        </p:nvSpPr>
        <p:spPr>
          <a:xfrm>
            <a:off x="1181100" y="35623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AC6EBCE4-720D-40CB-BF24-97B65C9DEC80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0647BA49-7EFB-4D27-B988-28E6C5CDE16C}"/>
              </a:ext>
            </a:extLst>
          </p:cNvPr>
          <p:cNvSpPr>
            <a:spLocks noGrp="1"/>
          </p:cNvSpPr>
          <p:nvPr/>
        </p:nvSpPr>
        <p:spPr>
          <a:xfrm>
            <a:off x="1181100" y="36766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[1,2,3,4]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7B6C92-490C-4C8D-B458-5C3EBFD956F8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F7557B48-7574-4D28-B6A4-D588BF6D5F02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05781046-ACFF-4745-9555-F630501820DD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[2,3,1,4]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CD76FF-A611-4ADA-B8EE-A1C251DA702A}"/>
              </a:ext>
            </a:extLst>
          </p:cNvPr>
          <p:cNvSpPr>
            <a:spLocks noGrp="1"/>
          </p:cNvSpPr>
          <p:nvPr/>
        </p:nvSpPr>
        <p:spPr>
          <a:xfrm>
            <a:off x="1181100" y="48196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147164B4-89B9-4205-86C0-C10D049585B7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0BE9AF54-4D89-41D1-8F31-E7B23896B304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[4,3,2,1]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D7980C-1083-432B-AFA1-A5127C030763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95E5C3AA-E9C8-49E9-854E-94BE1EB7D2AF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501A0A86-DC71-4012-93F4-B15ED714F91F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[1,2,4,3]</a:t>
            </a:r>
          </a:p>
        </p:txBody>
      </p:sp>
    </p:spTree>
    <p:extLst>
      <p:ext uri="{BB962C8B-B14F-4D97-AF65-F5344CB8AC3E}">
        <p14:creationId xmlns:p14="http://schemas.microsoft.com/office/powerpoint/2010/main" val="29540692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618DD907-79A0-432B-9C82-8D5329F8455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7ADC62F4-4A96-474E-83FE-0C2A9942F9A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83B5B9-BD33-4D1B-AEDE-A69E4603C6D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33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7D8709F-ABA8-4067-83A7-ADBDA3C637CC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634AC390-D5B9-471A-9A8F-945B6D7C8CA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066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BD2B38-CCB8-41E4-BAC5-763D60D036D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3CF838-6202-433B-9677-AEBECB9EDAA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D5674523-050F-4E7E-A9B3-9666B17515F2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정렬된 A=[1,4], B=[2,3]을 오름차순으로 병합한다.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완성된 배열은?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0C4F850A-D072-4E31-9628-DD2D3B93D46B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4571260C-FCAA-4428-A79A-B84A8886D164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[1,2,3,4]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4E3C68F3-6DB7-4E1D-8B35-BB36D0EAC557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CEEE20-8DD6-47A3-ABF4-BA766F5CE9CB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5DC5C459-3BB8-4A87-B024-A2A75EE704E4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두 배열의 맨 앞에서 남아 있는 값 중 작은 값을 고른다.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1, 2, 3, 4 순서로 결과에 넣는다.</a:t>
            </a:r>
          </a:p>
        </p:txBody>
      </p:sp>
    </p:spTree>
    <p:extLst>
      <p:ext uri="{BB962C8B-B14F-4D97-AF65-F5344CB8AC3E}">
        <p14:creationId xmlns:p14="http://schemas.microsoft.com/office/powerpoint/2010/main" val="11644804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0F57CC62-C798-468C-887B-F26F6393488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F6314AA5-BF79-4F17-B754-CBFBE60DFA8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B4D0FFE-6344-4F7D-82C1-5A12BD06A67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34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2DC6404-11B3-4558-9FAC-D1208E897C8A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56CCE846-BCAC-4D36-A0B0-E9F98BCE563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067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7B4450-4ADB-4178-9498-0AAEA555378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BF340462-8ECF-4B0F-BACC-626A88338C9B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A=[1,4], B=[2,5]를 병합하는 중 i=1, j=0이다.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A[i]와 B[j] 중 다음에 넣을 값과 갱신할 인덱스는?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2A6A023D-DFB3-4D03-840B-49AF5DFFF289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23B09FD5-DDCB-4560-B7B0-BB8BEEF10987}"/>
              </a:ext>
            </a:extLst>
          </p:cNvPr>
          <p:cNvSpPr>
            <a:spLocks noGrp="1"/>
          </p:cNvSpPr>
          <p:nvPr/>
        </p:nvSpPr>
        <p:spPr>
          <a:xfrm>
            <a:off x="1181100" y="30480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4를 넣고 i를 2로 바꾼다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681FD24-62D3-4B48-820B-53EDFE8004A5}"/>
              </a:ext>
            </a:extLst>
          </p:cNvPr>
          <p:cNvSpPr>
            <a:spLocks noGrp="1"/>
          </p:cNvSpPr>
          <p:nvPr/>
        </p:nvSpPr>
        <p:spPr>
          <a:xfrm>
            <a:off x="1181100" y="35623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1C8532C2-14AD-41C0-9AF8-3561466ECD88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845482E7-63A0-4408-9DF7-8540AD9E9503}"/>
              </a:ext>
            </a:extLst>
          </p:cNvPr>
          <p:cNvSpPr>
            <a:spLocks noGrp="1"/>
          </p:cNvSpPr>
          <p:nvPr/>
        </p:nvSpPr>
        <p:spPr>
          <a:xfrm>
            <a:off x="1181100" y="36766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2를 넣고 i를 2로 바꾼다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CF9DD5-C92C-43F7-A7CF-8D5C54199A10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AEEDFA29-6104-468E-9641-89E19047E07E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455D486F-F466-4BAD-913D-352731A60C09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4를 넣고 j를 1로 바꾼다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97813B-4036-4DF0-9EE1-81CCC8A7F30F}"/>
              </a:ext>
            </a:extLst>
          </p:cNvPr>
          <p:cNvSpPr>
            <a:spLocks noGrp="1"/>
          </p:cNvSpPr>
          <p:nvPr/>
        </p:nvSpPr>
        <p:spPr>
          <a:xfrm>
            <a:off x="1181100" y="48196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5F27169B-FF83-4132-BA3E-F326DD792D77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FE648A4E-84FC-45B0-8ACA-09A10FA794D2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2를 넣고 j를 1로 바꾼다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3FA949-0337-496D-90ED-2B63F6FAD2E6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81E23986-DF23-453D-BE48-CD688AB71FC3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A82F2D98-B77C-42ED-9730-9752ABA680E6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2를 넣고 i와 j를 모두 늘린다</a:t>
            </a:r>
          </a:p>
        </p:txBody>
      </p:sp>
    </p:spTree>
    <p:extLst>
      <p:ext uri="{BB962C8B-B14F-4D97-AF65-F5344CB8AC3E}">
        <p14:creationId xmlns:p14="http://schemas.microsoft.com/office/powerpoint/2010/main" val="35475118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07321085-30CF-4D12-930E-976DC9D81B7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52F30F2E-7B9C-43DE-97B9-348AB620340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DD09836-C0AF-4544-965E-5D194B4DF25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34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48AC3AA-A975-4CA1-B46F-CFE445D06BF1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3038B838-ED5C-41CB-B868-3AEF9A41C67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068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BEAF3F-BE29-4BD9-BD63-0346513E5DC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61372D-A4EB-4DF7-82C2-6AC1C3E0E6C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4BBC19C2-5C61-4BA0-81BF-6A92D7129D5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A=[1,4], B=[2,5]를 병합하는 중 i=1, j=0이다.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A[i]와 B[j] 중 다음에 넣을 값과 갱신할 인덱스는?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934C09A8-299A-4E08-85D0-5CB0F771505C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95831A4C-3897-4D94-B2F8-CCA33B55D771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2를 넣고 j를 1로 바꾼다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65984373-2D6F-42E0-B2A5-62E131C21A04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CDFE2C-03A6-48FA-9C90-47C70082FACF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5550D6C9-38BB-4F0D-AC81-3034ECF8C8E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현재 값은 A[1]=4와 B[0]=2이다. 작은 값 2를 넣는다.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B에서 값을 꺼냈으므로 j만 0에서 1로 늘린다.</a:t>
            </a:r>
          </a:p>
        </p:txBody>
      </p:sp>
    </p:spTree>
    <p:extLst>
      <p:ext uri="{BB962C8B-B14F-4D97-AF65-F5344CB8AC3E}">
        <p14:creationId xmlns:p14="http://schemas.microsoft.com/office/powerpoint/2010/main" val="37568836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66561855-F8EA-47EC-A81E-33C2836D475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2A2F7FC3-A083-4493-816D-A585DF48FB8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75F0253-A7B2-4FC3-908E-F09E26E06AB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35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8AF76863-C8AE-4CEB-B3DB-8633A2D5FD1A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A8E7265A-2BD1-4329-BD84-FAADEADB6930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069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5DE00E-168C-4963-A715-4055EA7A92A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43534F1D-E413-4FD9-98FB-450DE36DAC2E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병합 중 A의 원소는 모두 사용했고 B에는 [3,7]이 남았다.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남은 원소를 처리하는 올바른 방법은?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8798BD0F-2730-4AC3-BA8B-37A73D3C05C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B34A8BC9-5B84-429E-8241-C59A3C16F68E}"/>
              </a:ext>
            </a:extLst>
          </p:cNvPr>
          <p:cNvSpPr>
            <a:spLocks noGrp="1"/>
          </p:cNvSpPr>
          <p:nvPr/>
        </p:nvSpPr>
        <p:spPr>
          <a:xfrm>
            <a:off x="1181100" y="30480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3과 7을 그 순서대로 결과 뒤에 붙인다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21DFDE-5252-4F70-B1FF-822B447E48E9}"/>
              </a:ext>
            </a:extLst>
          </p:cNvPr>
          <p:cNvSpPr>
            <a:spLocks noGrp="1"/>
          </p:cNvSpPr>
          <p:nvPr/>
        </p:nvSpPr>
        <p:spPr>
          <a:xfrm>
            <a:off x="1181100" y="35623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2D987829-6D98-4BA5-AE34-C1D9C5A932D7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4DF9C297-6459-4C27-9724-DD314EDB51E7}"/>
              </a:ext>
            </a:extLst>
          </p:cNvPr>
          <p:cNvSpPr>
            <a:spLocks noGrp="1"/>
          </p:cNvSpPr>
          <p:nvPr/>
        </p:nvSpPr>
        <p:spPr>
          <a:xfrm>
            <a:off x="1181100" y="36766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7과 3을 그 순서대로 결과 뒤에 붙인다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13BCD7-C3F8-4A32-96A9-2AC62CF30042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3B94DDE4-516C-4BA8-9BF6-DAD45849EB5E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6021E018-726A-4478-B382-0571B30CD899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남은 두 원소를 버린다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F4F928-016B-40D7-8CD1-B833236D658D}"/>
              </a:ext>
            </a:extLst>
          </p:cNvPr>
          <p:cNvSpPr>
            <a:spLocks noGrp="1"/>
          </p:cNvSpPr>
          <p:nvPr/>
        </p:nvSpPr>
        <p:spPr>
          <a:xfrm>
            <a:off x="1181100" y="48196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58903454-1801-4A7C-BA20-CE095C7F4940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A16540EA-DA7D-412E-9959-9DC858215CE8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3만 넣고 7은 버린다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E84478-EECF-4179-92B6-8D3C823C9B12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83E61105-F19F-4658-ABFA-A6609B4D5168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264C4C14-F60E-402C-AF65-05CD2E01BBA0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병합을 처음부터 다시 시작한다</a:t>
            </a:r>
          </a:p>
        </p:txBody>
      </p:sp>
    </p:spTree>
    <p:extLst>
      <p:ext uri="{BB962C8B-B14F-4D97-AF65-F5344CB8AC3E}">
        <p14:creationId xmlns:p14="http://schemas.microsoft.com/office/powerpoint/2010/main" val="25380346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3DE2B5EA-A7FC-4716-A3B3-AE37F4ED5E3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7175A3A2-4BAA-45C1-95BD-FBBE6911A64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4B741F4-42A2-47CD-8574-ED0903CAD7F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35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CEB7D9A-1419-41B7-A323-C4F4F1575F99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D44B6322-7653-4989-BEB7-7B0DB512639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070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D678E4-76BB-4310-8119-491B1675603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D066B9-7484-4BD9-B22C-F629ECCE657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3BD0A643-6275-428F-9E91-83B30B0457D3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병합 중 A의 원소는 모두 사용했고 B에는 [3,7]이 남았다.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남은 원소를 처리하는 올바른 방법은?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7A063016-69F6-436C-888B-57092C8D6ACF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6EBD7D84-5AFE-479C-A12F-C8E16E629AA3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3과 7을 그 순서대로 결과 뒤에 붙인다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6952A4D8-898D-4575-BDC2-454633B71975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7F376B-86B8-479E-94F1-D11C3E04C2BC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DC548FC8-20EC-4272-82ED-AAEDCC2CCAC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B 자체가 정렬되어 있으므로 남은 3, 7의 순서를 유지한다.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반대쪽 배열이 비었으므로 두 배열 사이의 비교는 더 필요 없다.</a:t>
            </a:r>
          </a:p>
        </p:txBody>
      </p:sp>
    </p:spTree>
    <p:extLst>
      <p:ext uri="{BB962C8B-B14F-4D97-AF65-F5344CB8AC3E}">
        <p14:creationId xmlns:p14="http://schemas.microsoft.com/office/powerpoint/2010/main" val="14110541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34D82751-3AEA-486A-A66A-68331083950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096E4A2A-9984-46F2-BEB8-FE4D4C688C4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9F1F6F5-67A1-4364-8BFF-4C99E2751A0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36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AE786AB-BD1A-456A-A656-082665678A9D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9BD246DA-3BC7-4011-BE9C-48DDE1B4954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071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9DBD9E-B638-47DF-85FD-7D5676985D8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B1841C19-AFDF-4EE3-BB12-A2373EAAF89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A=[2,6], B=[1,5]를 i=0, j=0부터 병합한다.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1, 2를 차례로 결과에 넣은 직후의 i, j는?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93E8FD4E-B700-46EE-ADDE-692C13B1DCB6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E253B3D3-FE76-4469-9B40-5A27B23065E0}"/>
              </a:ext>
            </a:extLst>
          </p:cNvPr>
          <p:cNvSpPr>
            <a:spLocks noGrp="1"/>
          </p:cNvSpPr>
          <p:nvPr/>
        </p:nvSpPr>
        <p:spPr>
          <a:xfrm>
            <a:off x="1181100" y="30480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i=2, j=0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C969D3-9D49-4224-A4A7-3701B52C8E8C}"/>
              </a:ext>
            </a:extLst>
          </p:cNvPr>
          <p:cNvSpPr>
            <a:spLocks noGrp="1"/>
          </p:cNvSpPr>
          <p:nvPr/>
        </p:nvSpPr>
        <p:spPr>
          <a:xfrm>
            <a:off x="1181100" y="35623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AFC61BFF-35BD-41A9-8883-A665282BF66F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A1E84AD3-2594-4C80-841E-A4E788339986}"/>
              </a:ext>
            </a:extLst>
          </p:cNvPr>
          <p:cNvSpPr>
            <a:spLocks noGrp="1"/>
          </p:cNvSpPr>
          <p:nvPr/>
        </p:nvSpPr>
        <p:spPr>
          <a:xfrm>
            <a:off x="1181100" y="36766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i=0, j=2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8CD7F14-4DB8-418E-8C81-1174D31EEFBD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7E5B995E-0EE6-4E5F-9D3A-31AF2264D92E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13A3D4B4-6182-44E9-A121-1F658D551759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i=0, j=1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AA9FA9-8C21-4581-B582-CBB9139957F6}"/>
              </a:ext>
            </a:extLst>
          </p:cNvPr>
          <p:cNvSpPr>
            <a:spLocks noGrp="1"/>
          </p:cNvSpPr>
          <p:nvPr/>
        </p:nvSpPr>
        <p:spPr>
          <a:xfrm>
            <a:off x="1181100" y="48196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D228DD05-126F-404B-B349-D9EF2E08539D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26DCB9DC-86FD-4079-8ADB-9F93862C3743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i=1, j=0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BC6D3E2-7034-4C89-B6E3-D6DC31C3512E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CFCEF6D6-5624-4D8F-A772-6A1947F6A8CD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006C15E3-851F-4228-8423-4AAD9F5B80DA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i=1, j=1</a:t>
            </a:r>
          </a:p>
        </p:txBody>
      </p:sp>
    </p:spTree>
    <p:extLst>
      <p:ext uri="{BB962C8B-B14F-4D97-AF65-F5344CB8AC3E}">
        <p14:creationId xmlns:p14="http://schemas.microsoft.com/office/powerpoint/2010/main" val="19148936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396338C8-3196-4C31-9ECC-0F36695627A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2833908C-8858-4EB9-A450-685D666B37D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D87DDAF-05F3-4F03-87C0-F670DF17BBE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36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6761A64-82F3-406B-9912-6376BCD52A80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DAD57CA4-3481-4F96-A39F-60FDBDD8C84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072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99DCF7-7763-4FE0-8D40-A5225548265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D6CCF5-B710-4E7B-ADC0-A8BD9086DB5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22464285-D364-4217-8458-61E307886EF9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A=[2,6], B=[1,5]를 i=0, j=0부터 병합한다.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1, 2를 차례로 결과에 넣은 직후의 i, j는?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1D90B766-51E9-4F13-8718-99863B9FEF1A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82B191DF-0F41-4DA9-B444-5EFE2317D159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i=1, j=1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D790A123-38A1-406B-A3F1-A7148FE5C05E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B3C6FE-05EC-4765-AFC8-51437B161DB6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FEEC9705-E2EE-4C4C-938E-7CDF55311D2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1은 B에서 꺼냈으므로 j가 1이 된다.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2는 A에서 꺼냈으므로 i도 1이 된다.</a:t>
            </a:r>
          </a:p>
        </p:txBody>
      </p:sp>
    </p:spTree>
    <p:extLst>
      <p:ext uri="{BB962C8B-B14F-4D97-AF65-F5344CB8AC3E}">
        <p14:creationId xmlns:p14="http://schemas.microsoft.com/office/powerpoint/2010/main" val="19181785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B20A37F7-A177-44B7-9C53-BF647D57BD6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8FCCB595-980E-4454-BDA9-020EB4C082E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9725EFD-178C-4C9F-8697-6205FE13B4A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37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41C48F1-D924-482D-A582-0AA21BF193B5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A9642105-A02E-4080-B39B-8C3A119D9AE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073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4E7A17-D971-4C31-AE3C-CDC8D60E1D5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2E6F964A-5669-4562-8614-79D071350E6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퀵 정렬에서 a=[8,4,6,3,7,1], lo=0, hi=5이다.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가운데 인덱스 (lo+hi)//2의 값을 피벗으로 고르면 피벗 값은?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2244F0D3-86A6-4A79-B874-064EF244C113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E90FB0A7-8041-419F-8CF4-DC8991351878}"/>
              </a:ext>
            </a:extLst>
          </p:cNvPr>
          <p:cNvSpPr>
            <a:spLocks noGrp="1"/>
          </p:cNvSpPr>
          <p:nvPr/>
        </p:nvSpPr>
        <p:spPr>
          <a:xfrm>
            <a:off x="1181100" y="30480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29647D-4DB8-462B-99CB-69563FDA4AEA}"/>
              </a:ext>
            </a:extLst>
          </p:cNvPr>
          <p:cNvSpPr>
            <a:spLocks noGrp="1"/>
          </p:cNvSpPr>
          <p:nvPr/>
        </p:nvSpPr>
        <p:spPr>
          <a:xfrm>
            <a:off x="1181100" y="35623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F3506A57-54D2-4AB7-8B90-D930BD167F68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5D6E997A-E3A7-4823-8C04-63DA3E2CD1A6}"/>
              </a:ext>
            </a:extLst>
          </p:cNvPr>
          <p:cNvSpPr>
            <a:spLocks noGrp="1"/>
          </p:cNvSpPr>
          <p:nvPr/>
        </p:nvSpPr>
        <p:spPr>
          <a:xfrm>
            <a:off x="1181100" y="36766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723A9E-9439-4993-8B4B-EC2DE2A8F7F0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913B4867-E9C0-46F9-B4E0-E24E0EA76F6F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522422D0-6559-49E1-B2BC-B77FF4C2A61A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22E667-5321-4223-B30B-E8F44D9061BB}"/>
              </a:ext>
            </a:extLst>
          </p:cNvPr>
          <p:cNvSpPr>
            <a:spLocks noGrp="1"/>
          </p:cNvSpPr>
          <p:nvPr/>
        </p:nvSpPr>
        <p:spPr>
          <a:xfrm>
            <a:off x="1181100" y="48196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2B0DA385-E4BB-428B-84BE-6473222A458A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5594DEC9-DBD5-4E09-835A-4A32AC242352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878053-F064-4381-BADE-58B17F29CD5A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A7AA3647-7759-4F3B-BB78-3BEF4256FDC5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626F2C66-CF37-4BE0-90FD-41BB1DE5322F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421131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7824178D-A773-4F15-9630-A8802616CE1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545F995C-E4E8-4567-9982-B4D55B8D628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00EB9E3-867A-446C-AE66-B1D44E12AA0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37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34814B4-9D0A-44E5-9F08-FAD18C506076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AD9A68D7-5669-4D06-9D27-D570AB91AEF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074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EE1782-7B7B-4E61-8119-A41A009A02B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212785-0E47-478B-861D-0511793E1E0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8EBFC31A-DA9E-48CD-BBF2-B05F5505ABD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퀵 정렬에서 a=[8,4,6,3,7,1], lo=0, hi=5이다.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가운데 인덱스 (lo+hi)//2의 값을 피벗으로 고르면 피벗 값은?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313C9FBD-855A-42EA-AD51-74580B7753A8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7B1042E6-F10E-44E4-95D1-8FF94CEDA1AA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6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4CE80292-8060-495B-99D2-C3575E3FE0A0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424DB1-06F8-4CA7-8E88-B011E1A90E2D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F19DB24E-D18B-4384-8AB9-0592A736BFD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가운데 인덱스는 (0+5)//2=2이고 a[2]=6이다.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인덱스 2와 그 위치의 값 6을 구분한다.</a:t>
            </a:r>
          </a:p>
        </p:txBody>
      </p:sp>
    </p:spTree>
    <p:extLst>
      <p:ext uri="{BB962C8B-B14F-4D97-AF65-F5344CB8AC3E}">
        <p14:creationId xmlns:p14="http://schemas.microsoft.com/office/powerpoint/2010/main" val="28365901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944DF5CB-DB03-4C3E-8857-4AD5FB86A8B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A53B3D90-6D9F-4C2E-B64C-12EF2A0E954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F7B5CE8-008E-4C20-8041-F3A3EA7F90C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38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1256F4B-B7A1-42A0-842B-9B3B417A594E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17D2F9EF-BAA7-4CE8-B31A-29AC28459F3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075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4CB63C-64A5-4234-B087-48CF51855C1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4BBDF6B9-3E1B-4E39-8C5A-9794A776FBA2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피벗은 a[5]=6이고 a=[3,4,1,8,7,6], L=3이다.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마지막에 a[L]과 a[5]를 교환하면 피벗의 인덱스는?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3A55A2B0-8C28-4932-807E-EC37E57BADA1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61829257-4924-433F-9F2E-5B136ED3AD2A}"/>
              </a:ext>
            </a:extLst>
          </p:cNvPr>
          <p:cNvSpPr>
            <a:spLocks noGrp="1"/>
          </p:cNvSpPr>
          <p:nvPr/>
        </p:nvSpPr>
        <p:spPr>
          <a:xfrm>
            <a:off x="1181100" y="30480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7C414F-0856-4862-B6C6-6F55E268D041}"/>
              </a:ext>
            </a:extLst>
          </p:cNvPr>
          <p:cNvSpPr>
            <a:spLocks noGrp="1"/>
          </p:cNvSpPr>
          <p:nvPr/>
        </p:nvSpPr>
        <p:spPr>
          <a:xfrm>
            <a:off x="1181100" y="35623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3EC124A3-63C9-43C8-B8F9-F66557EE6D3C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6B8D2935-5C90-437E-8FDB-A257B901A4C9}"/>
              </a:ext>
            </a:extLst>
          </p:cNvPr>
          <p:cNvSpPr>
            <a:spLocks noGrp="1"/>
          </p:cNvSpPr>
          <p:nvPr/>
        </p:nvSpPr>
        <p:spPr>
          <a:xfrm>
            <a:off x="1181100" y="36766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B58DB3-F33E-472C-8EDF-2196BCEF5DE5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9170125A-17EC-4354-B39E-16885D785B21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C4BAE251-9A09-4653-9A14-FDCD67BAABAA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DF0285-0005-4E41-BB2A-7AD6FFBFF36C}"/>
              </a:ext>
            </a:extLst>
          </p:cNvPr>
          <p:cNvSpPr>
            <a:spLocks noGrp="1"/>
          </p:cNvSpPr>
          <p:nvPr/>
        </p:nvSpPr>
        <p:spPr>
          <a:xfrm>
            <a:off x="1181100" y="48196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30073469-3AD0-40B5-8ABA-EF881856145D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8843CCAA-B230-44BC-8AB1-B5E6739C8CD3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940431B-47E0-4526-9B68-8E1D7F146623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E40150DD-4B0E-4E3A-9481-6AF57C4D0C20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45DB9BB1-5833-4948-B2AD-93D0937EE95D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09310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A4B4D7E5-D751-45A7-B790-52DEC519B6F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C433A5D7-F608-4DBA-BB09-159A6E4A85B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E795F45-EE62-4ED0-BC40-E81CB683934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38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B40CE12-1506-4E7C-80C2-4B0A1999A800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C9F20045-694E-47AD-93C6-F1ADF6533A2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076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5BBE24-84EA-425C-95E1-CBC8EBC702D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B5EE39-F822-4824-94F3-04D1436FFE8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8875A1A7-266B-48F5-8DAB-D173ABD83ABB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피벗은 a[5]=6이고 a=[3,4,1,8,7,6], L=3이다.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마지막에 a[L]과 a[5]를 교환하면 피벗의 인덱스는?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900731EA-A11D-4795-9F43-D1B85CB3D283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30B2E40F-A7CB-4462-8772-4CCB187E3D6E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3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E8ACD167-BE2D-45CE-BF48-7EE58E37971B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886D13F-942D-49BD-91F1-EA7579529232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8C5674FF-D266-4100-8CCF-ABA6F48AC47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마지막 교환으로 피벗 6이 L이 가리킨 자리로 이동한다.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L=3이므로 확정된 피벗 인덱스는 3이다.</a:t>
            </a:r>
          </a:p>
        </p:txBody>
      </p:sp>
    </p:spTree>
    <p:extLst>
      <p:ext uri="{BB962C8B-B14F-4D97-AF65-F5344CB8AC3E}">
        <p14:creationId xmlns:p14="http://schemas.microsoft.com/office/powerpoint/2010/main" val="10630442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1BD1D0C4-B5EB-4540-A945-810189171BC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28B2EBC3-1362-4826-9D44-D6435A739D6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7C689D7-36C9-44E6-893B-AF40574560E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39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4F8403E-0AEE-461C-9548-6BC8E78F5F17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B6205B5B-0E51-4691-B34F-DDE1A59924D0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077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C82B95-A430-4C44-A107-4AB61F97F29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ACD1FD2F-8EA3-46DE-9AF1-5C9EFCCBA948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퀵 정렬의 [2,7] 구간에서 피벗 인덱스 p=4가 확정되었다.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피벗을 제외하고 재귀 정렬할 두 구간은? 양 끝을 포함한다.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16D8E4B2-7F35-4426-B0A6-AB74DCF664C0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76FE8316-422A-4D4C-821A-2CA45239E72F}"/>
              </a:ext>
            </a:extLst>
          </p:cNvPr>
          <p:cNvSpPr>
            <a:spLocks noGrp="1"/>
          </p:cNvSpPr>
          <p:nvPr/>
        </p:nvSpPr>
        <p:spPr>
          <a:xfrm>
            <a:off x="1181100" y="30480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[2,4]와 [4,7]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23E1B5-7D5B-4C7A-9132-35EDFE2938BF}"/>
              </a:ext>
            </a:extLst>
          </p:cNvPr>
          <p:cNvSpPr>
            <a:spLocks noGrp="1"/>
          </p:cNvSpPr>
          <p:nvPr/>
        </p:nvSpPr>
        <p:spPr>
          <a:xfrm>
            <a:off x="1181100" y="35623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E2319501-A471-467A-A3F8-5C5DB4082804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7D71CF43-88D4-4415-B539-24D1AB573A42}"/>
              </a:ext>
            </a:extLst>
          </p:cNvPr>
          <p:cNvSpPr>
            <a:spLocks noGrp="1"/>
          </p:cNvSpPr>
          <p:nvPr/>
        </p:nvSpPr>
        <p:spPr>
          <a:xfrm>
            <a:off x="1181100" y="36766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[2,3]와 [5,7]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D65B75-B252-4C5D-B753-99D547371DFF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F7A77986-94D1-457E-81B1-BDF52BFEBF96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D0161627-CDB6-4FA4-B5F8-A325DC28D37E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[2,4]와 [5,7]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6100DD-1520-4815-8869-600E1132A868}"/>
              </a:ext>
            </a:extLst>
          </p:cNvPr>
          <p:cNvSpPr>
            <a:spLocks noGrp="1"/>
          </p:cNvSpPr>
          <p:nvPr/>
        </p:nvSpPr>
        <p:spPr>
          <a:xfrm>
            <a:off x="1181100" y="48196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9F14D9B2-474A-4D26-ACC8-43C0B3E55F61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BE4C82F9-03A6-4333-B182-E9042B9CA2EF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[2,3]와 [4,7]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446ECE-D15B-4D02-9952-B73A23379AF8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E99B8AD9-B162-46C0-849F-34A349024BE7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E3BE1A73-CDF9-4B7D-97E3-F040E1B4C157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[2,7]과 [2,7]</a:t>
            </a:r>
          </a:p>
        </p:txBody>
      </p:sp>
    </p:spTree>
    <p:extLst>
      <p:ext uri="{BB962C8B-B14F-4D97-AF65-F5344CB8AC3E}">
        <p14:creationId xmlns:p14="http://schemas.microsoft.com/office/powerpoint/2010/main" val="12115136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A1077253-0880-4794-A8B8-AEAE299B3A7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345DC99E-04AF-4324-BEFE-49A8969ABC8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4C1B17-F382-48F3-A099-577FD672912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39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7E09D21-834E-40E2-906E-E119BDB4079F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18BB53D2-DFC4-4BF4-AB9B-85CB4367877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078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57FDF9-7531-4984-9618-535F2C24D8D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84C25A-747B-4E8B-A32A-60708D81C7A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DC09019C-C6EC-4CD3-9911-202828A02ED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퀵 정렬의 [2,7] 구간에서 피벗 인덱스 p=4가 확정되었다.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피벗을 제외하고 재귀 정렬할 두 구간은? 양 끝을 포함한다.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25CA950A-8FC7-4CDB-9143-A42EB4C38EDC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F8096015-1428-4E74-943A-0649F0CAAB0C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[2,3]와 [5,7]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7ADD296C-3634-4DF4-BE99-FAA51B762F4E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F493D3-79FB-4E60-9C2A-573AE8DDBDC8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E02BD9BE-2C48-4238-B1BF-DDBC672F31C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피벗 p=4는 이미 제자리를 찾았다.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왼쪽은 [lo,p-1]=[2,3], 오른쪽은 [p+1,hi]=[5,7]이다.</a:t>
            </a:r>
          </a:p>
        </p:txBody>
      </p:sp>
    </p:spTree>
    <p:extLst>
      <p:ext uri="{BB962C8B-B14F-4D97-AF65-F5344CB8AC3E}">
        <p14:creationId xmlns:p14="http://schemas.microsoft.com/office/powerpoint/2010/main" val="15505407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7D8DC533-0297-4F92-BB08-DB98D29BB2F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0E75D27A-364C-4F27-B206-67C2ABB9BAF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E4B8629-06E5-47BE-83EB-8C1E070A81E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40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41114C4-28B0-4E52-A4E0-C27D9C9C1380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6AAE44C3-AC52-440F-8F0B-2B9DD96B5E0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079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C040AE-35AB-4124-BBAA-476BA9C558A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C8D98873-5AFE-4180-B889-28CAF7A399E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퀵 정렬의 포인터 탐색에서 배열 값을 읽기 전에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L≤R인지 먼저 확인하는 주된 이유는?</a:t>
            </a:r>
          </a:p>
        </p:txBody>
      </p:sp>
      <p:sp>
        <p:nvSpPr>
          <p:cNvPr id="8" name="option-number-0">
            <a:extLst>
              <a:ext uri="{FF2B5EF4-FFF2-40B4-BE49-F238E27FC236}">
                <a16:creationId xmlns:a16="http://schemas.microsoft.com/office/drawing/2014/main" id="{1EFBA8C3-B2E5-4DAD-950A-08FBBAC71185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option-0">
            <a:extLst>
              <a:ext uri="{FF2B5EF4-FFF2-40B4-BE49-F238E27FC236}">
                <a16:creationId xmlns:a16="http://schemas.microsoft.com/office/drawing/2014/main" id="{36F72D0C-6E09-467D-BC4D-262CEA4D3CD5}"/>
              </a:ext>
            </a:extLst>
          </p:cNvPr>
          <p:cNvSpPr>
            <a:spLocks noGrp="1"/>
          </p:cNvSpPr>
          <p:nvPr/>
        </p:nvSpPr>
        <p:spPr>
          <a:xfrm>
            <a:off x="1181100" y="30480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현재 탐색 구간 밖의 값을 읽지 않기 위해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D4835D-7847-4B58-9FA6-FDA4C6D7CE8B}"/>
              </a:ext>
            </a:extLst>
          </p:cNvPr>
          <p:cNvSpPr>
            <a:spLocks noGrp="1"/>
          </p:cNvSpPr>
          <p:nvPr/>
        </p:nvSpPr>
        <p:spPr>
          <a:xfrm>
            <a:off x="1181100" y="35623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1" name="option-number-1">
            <a:extLst>
              <a:ext uri="{FF2B5EF4-FFF2-40B4-BE49-F238E27FC236}">
                <a16:creationId xmlns:a16="http://schemas.microsoft.com/office/drawing/2014/main" id="{3BFC11F4-19FA-4D4C-871E-8BF134D03FE4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option-1">
            <a:extLst>
              <a:ext uri="{FF2B5EF4-FFF2-40B4-BE49-F238E27FC236}">
                <a16:creationId xmlns:a16="http://schemas.microsoft.com/office/drawing/2014/main" id="{A486AE2E-C696-4391-A666-9287979E49DA}"/>
              </a:ext>
            </a:extLst>
          </p:cNvPr>
          <p:cNvSpPr>
            <a:spLocks noGrp="1"/>
          </p:cNvSpPr>
          <p:nvPr/>
        </p:nvSpPr>
        <p:spPr>
          <a:xfrm>
            <a:off x="1181100" y="36766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모든 원소를 같은 값으로 만들기 위해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2347DF-E8E9-4AD6-9A9A-63D2C89620AC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4" name="option-number-2">
            <a:extLst>
              <a:ext uri="{FF2B5EF4-FFF2-40B4-BE49-F238E27FC236}">
                <a16:creationId xmlns:a16="http://schemas.microsoft.com/office/drawing/2014/main" id="{2C4EFE32-D53E-4D5B-AAF3-4232E5D57B24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option-2">
            <a:extLst>
              <a:ext uri="{FF2B5EF4-FFF2-40B4-BE49-F238E27FC236}">
                <a16:creationId xmlns:a16="http://schemas.microsoft.com/office/drawing/2014/main" id="{93FCB74D-1C13-43D5-8AA2-6526BA0AEA1A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배열 길이를 늘리기 위해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E54A2A-3BC9-40D9-A797-8B3FF80EEF48}"/>
              </a:ext>
            </a:extLst>
          </p:cNvPr>
          <p:cNvSpPr>
            <a:spLocks noGrp="1"/>
          </p:cNvSpPr>
          <p:nvPr/>
        </p:nvSpPr>
        <p:spPr>
          <a:xfrm>
            <a:off x="1181100" y="481965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17" name="option-number-3">
            <a:extLst>
              <a:ext uri="{FF2B5EF4-FFF2-40B4-BE49-F238E27FC236}">
                <a16:creationId xmlns:a16="http://schemas.microsoft.com/office/drawing/2014/main" id="{4B026F91-774E-458A-99E0-8FDB6B92CCC6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option-3">
            <a:extLst>
              <a:ext uri="{FF2B5EF4-FFF2-40B4-BE49-F238E27FC236}">
                <a16:creationId xmlns:a16="http://schemas.microsoft.com/office/drawing/2014/main" id="{5ABA1416-5B4E-4F5D-91E7-DB4F521BFCB9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피벗 값을 매번 바꾸기 위해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C57B839-883F-444D-92CB-E7606A3DC5C0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0401300" cy="9525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</p:sp>
      <p:sp>
        <p:nvSpPr>
          <p:cNvPr id="20" name="option-number-4">
            <a:extLst>
              <a:ext uri="{FF2B5EF4-FFF2-40B4-BE49-F238E27FC236}">
                <a16:creationId xmlns:a16="http://schemas.microsoft.com/office/drawing/2014/main" id="{79181E0D-2206-4C92-B7FE-46A4A319CDA3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option-4">
            <a:extLst>
              <a:ext uri="{FF2B5EF4-FFF2-40B4-BE49-F238E27FC236}">
                <a16:creationId xmlns:a16="http://schemas.microsoft.com/office/drawing/2014/main" id="{1C1D4E80-B6AE-4896-B1F0-3C5B07FF1272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재귀 호출을 모두 없애기 위해</a:t>
            </a:r>
          </a:p>
        </p:txBody>
      </p:sp>
    </p:spTree>
    <p:extLst>
      <p:ext uri="{BB962C8B-B14F-4D97-AF65-F5344CB8AC3E}">
        <p14:creationId xmlns:p14="http://schemas.microsoft.com/office/powerpoint/2010/main" val="19474709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FBFF097D-372C-48A2-9699-82A3387FDC6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객관식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CD22E50B-9437-45BD-A07D-A51315B4558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1E0B5E2-BA5C-46EC-B51C-5B91DBA00B6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40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355714B9-84A1-43EF-BB24-9E070A2D1AB6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7A398112-73B3-4BC6-B858-B2AE1A6AE320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080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E73A47-FF74-4449-B92D-5D0E808E901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BD0BA6-7B5C-4AD6-9912-3B2E605A5CA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C2EEA7BF-7F83-4BA3-B281-7C3A0AC687A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퀵 정렬의 포인터 탐색에서 배열 값을 읽기 전에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L≤R인지 먼저 확인하는 주된 이유는?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74E80D7A-E55B-480D-9944-A0F585C19092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6603B7E6-C122-499C-ADFC-F5D185C990A7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현재 탐색 구간 밖의 값을 읽지 않기 위해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E531E834-CC53-4508-AB37-C413E4272F65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4728BF-049E-423D-B3C9-FA29BD05D51F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88A1407C-04ED-47F4-B5D8-1DF8F8EA6EE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포인터가 서로 지나친 뒤에는 현재 탐색 구간이 비어 있다.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L≤R을 먼저 검사하면 구간 밖의 값을 읽지 않고 탐색을 끝낸다.</a:t>
            </a:r>
          </a:p>
        </p:txBody>
      </p:sp>
    </p:spTree>
    <p:extLst>
      <p:ext uri="{BB962C8B-B14F-4D97-AF65-F5344CB8AC3E}">
        <p14:creationId xmlns:p14="http://schemas.microsoft.com/office/powerpoint/2010/main" val="8109935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82C6963-8DFF-4768-981A-AA5CD452895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857FF44-AFEE-4715-8E28-080238DF57E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FB3F817-26A8-4F3E-965D-6814B0D68D6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319243-6F70-47FD-BE2A-E59FAB7B2A5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B64ACF-7456-4641-9AB5-E57A5F4159D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31060D0-C659-46F4-A829-F4FB7F766EE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FECB941-88ED-4AF7-98DC-0D4E0CE628C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4B17206-BDA1-422C-BA51-564F51430ED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[1,4,7]과 [2,3,8]을 표준 병합한다. 결과와 원소 비교 횟수를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5A68AEE1-9AA2-4F89-BB93-0A50787B24C2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08989B-5D24-4F04-9851-86E53AC8E0C4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EF2614-1367-4240-AE1A-4FF731A41B4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203C27-E1F6-4F15-B565-C2508AA2346B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4C14BC9B-E4D6-4C9D-86C6-022C47EE064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90FAE9C-C48C-409E-BDF6-2B475C1632A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344B1B7-11A2-4CF1-8649-15A03686B9B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72A576-A88A-4055-BB68-269BA49DF33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03B1D4-4973-4110-80A6-392E1AA51AC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4878FBA-9049-4A2F-9419-F04CE78C9EA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46678DC-5646-41EB-AA7D-A61DCFF9169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C634086-6CDC-4CB8-9C50-C9BA436DDB4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[1,4,7]과 [2,3,8]을 표준 병합한다. 결과와 원소 비교 횟수를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887921-AC9C-49D5-AD3E-D43629B82346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7470453-A817-48E4-855D-99169DBD327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[1,2,3,4,7,8], 5회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F8FD6CB9-5786-44E2-BAD2-A6C46B7DCD3D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E75DE3-5FF4-4A96-9170-006658CA303A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AB2A400A-9ED1-47D3-AF46-AACF3FB4B64C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1:2,4:2,4:3,4:8,7:8을 비교한 뒤 남은 8을 복사한다.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9C31F90-4605-4A7D-B7BE-85D7A844FEC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913E547-AFB5-479C-8558-652567E59E7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4C41BA4-62F5-4573-9505-4C7460BD17F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48963D-C3FE-42B0-8C16-E1D50DEC52C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ECFDD0-6670-444E-9659-F71057AF374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413C724-D33D-4E8D-81AE-758201C444A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7058758-4871-4688-A86C-ABDD4D2AAF9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F405BA7-CB23-4864-B136-140A444844C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[1,2]와 [3,4,5]를 병합한다. 양쪽 현재 값의 비교 횟수는?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CF2A58B4-96FD-4872-AD5D-9903D6069D3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9A2480-9589-479C-B823-81AD17109BC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AE4AB1-8504-4886-9003-C8A74D1274D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540DD3-CA3F-4A1A-990D-935BAF62B727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A52AF2E-7116-4037-9B57-68527D64FAC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D07E8FB-5719-4B29-9583-DA4DB030382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AD7A298-0423-4B77-9C57-53A43114D7B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ACFBEC-B18F-453C-8EC2-8E54E0510E3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1677A1-AADD-424E-9055-C63F70236B4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61D421C-DA98-44E1-B014-5B97280836C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31E8BA9-755E-41FE-839A-163797F78AB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9E6EF77-E576-4C61-A1E8-2719D31500A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[1,2]와 [3,4,5]를 병합한다. 양쪽 현재 값의 비교 횟수는?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3CB13E-6541-4B23-B5F8-1395EFF73B01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E1F31C78-D37C-4853-9511-F312A90092E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2회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FDC5172-F049-4D81-9E07-250152471DDC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A4151F-725F-4102-B7AA-0EDAC9CF535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0C1DF4F-8085-494A-96D9-B8070BAE0FFC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1과 3,2와 3을 비교한 뒤 오른쪽 나머지를 복사한다.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0A217808-6B40-44B0-AC21-CF202EA0622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098C0B5-ECEE-4EF1-9F36-6E069BB3F37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772D818-01EA-4CDA-AB97-4F9850439A5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A81D69-E652-4096-B204-A8513505650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37432D-6F2C-4C04-A8FE-E3BD6A0EC3E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375ED0B-A1B2-4DBB-9830-1B2D93BE3E3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D1B9ADB-2A1A-4BFD-928F-170F8E23B86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371DF78-D777-4D6E-8A4C-41CB1222422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[8,3,6,1]을 합병 정렬한다. 가장 아래의 두 병합 결과와 최종 결과를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52AC8388-7D85-4F8D-B81F-4AAEDD78AE0C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61EDE0-AF8A-470F-8736-5A2783663B5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0AE4A8-C20E-44DE-9461-EA461B3390E6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5491A4-A4C9-437E-AFED-F681991654A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A5E2C085-D73A-43F9-A054-6B2DC3EBB24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A25B9A4-D205-4FFA-874D-99F1F202651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4387397-9757-41AC-8A10-4E0796208C3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B84F47-96BC-4387-8346-7BE0F4D7A72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9DA9D4-8657-4EAD-8A67-2C609C12E61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A4236BA-56A7-4F5C-879D-73F465E0351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914B8D5-A9E1-4573-A259-C9441D05C39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A3112E6-CCB8-4670-A808-9BF4BF7C052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[8,3,6,1]을 합병 정렬한다. 가장 아래의 두 병합 결과와 최종 결과를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B22327-7D52-4469-8765-9B56E72F98A1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ED5EB43A-49C2-48CB-ABF7-31EBAF2E5A5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[3,8], [1,6]; [1,3,6,8]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D995617-391A-4D9A-8219-E175956B57E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061342-A26E-450E-A758-5EE7B3A0A81B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8472848-DB7D-43D1-9AC9-FE51F952F58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두 원소를 먼저 정렬한 뒤 두 정렬 배열을 병합한다.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66ECFB29-AA80-44DA-9BD8-82775DDDB7E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0CC3559-3BCC-4858-925F-89DDF9D9664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4C1B958-B6C8-4156-8F32-BBFD8477F91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D540F2-DA8C-4EE4-BE29-FF1D96C6616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3A4CC8-1906-45ED-B9A7-10E8E9C2222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33DC4C9-4620-4D1C-BA64-168033C811A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498ABA2-8205-491D-BED6-6D5E0E7F4E0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11C8191-D5E5-487A-B96D-7D17D193721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 8의 배열을 한 원소까지 반으로 나눈다. 리프 수와 내부 병합 호출 수는?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E46B9F4D-6A85-4483-9A68-870EF4CD799D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16AD9E-E8A8-4C72-8FBF-38BAB3C5115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E1B5B5-EEF0-46F4-84F3-204548C3D22F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7728AB-D9CE-451E-A554-D0B1AE5F285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0548FBC-F608-4E3E-9F7C-7740DC28E84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208C1D6-C915-415C-8E44-BD40A4B0111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13181AB-712E-4787-BF6B-23DAF2044F1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85A310-BBFD-49C3-8238-D415A9AA401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A00EBD-C18F-4839-867E-F33D17997E6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4756A1A-21FE-49DB-BE52-B32756FE878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4C79E13-A2A5-4F33-A589-A2DF1F5CF7E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6643C82-B8EE-4937-9642-F6BE759FEAC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길이 8의 배열을 한 원소까지 반으로 나눈다. 리프 수와 내부 병합 호출 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258947-0956-4542-8F53-AB8753A00A8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9BC1A1A8-2692-4772-86CA-D2AE6F3568E9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8개, 7회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89718F1-9C77-42DE-A8CE-C45AE6D2C09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529CEB-E31A-472D-A5BA-C72AC2E5C896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6C9740FB-690E-460E-A773-2052D0EB8065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리프 8개인 완전 이진 재귀 트리의 내부 노드는 7개이다.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11784D28-39EA-4FE1-BA81-8D0B720EC9E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DC1106F-440A-432D-8772-457AD06C27E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EDA5FA9-4510-4DED-B9E9-189FEE6322A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5F425F-E545-4AFD-958A-3732722580D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532AB3-9F6A-4196-AE88-3C2836025EE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234FA7D-B220-4298-9A22-2DDFDDDA92B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134E4A8-3117-4678-956E-EE85740EF8F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EEA4CC1-9104-4DD2-8590-AFE6E495348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T(1)=0, T(n)=2T(n/2)+n이다. T(8)을 구하시오.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14B3FCF5-6E9A-428E-BC5B-2E601A1CC654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3C7E9C-7EB8-4A6D-B845-C2189793CCD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579591-C47B-4933-8F51-13D41EE708A8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8A6A03-3B69-402D-8DE6-EC83BACF12C2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3B77817A-537D-4E5D-8AA6-614D7181334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492D005-F44C-4C26-ABEC-6E9350246E9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9D2DA85-D2B4-4194-958E-E4BE19C5D49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3A9B5C-87A1-4D4C-B851-893955513B6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13E1D9-9E34-4E0F-8408-B8DDB7D8608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10CF83B-9104-4231-8626-88C69794AF2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25AD8AD-4825-4265-8B62-53A8A7E667A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378A442-2F83-409E-B11D-4D5E4D57996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T(1)=0, T(n)=2T(n/2)+n이다. T(8)을 구하시오.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F58CCF-78DE-4A77-B502-48E745A483A0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42447968-2872-49F0-875A-0AF374E9EEE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40749010-BBDF-4A14-B880-8EE1579C3D73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B7E025-469A-450E-823C-8E91786604F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21B6C154-5FE8-4E24-81AD-B37D428CE9C2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병합 층 비용이 8이고 병합 층이 3개이다.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ADCA095B-EB23-4445-ADA9-9C805DEADFD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DFBBE5B-7D8A-4B1B-B5E0-3887F038D65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CA82E16-7526-40EC-88CA-F03A9FA4722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2E5BDA-B39B-47F5-8EE6-64739A6B12D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2FB260-9ABD-4E2C-AD0C-B49942CCFD0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2A04E47-F30F-40E8-A54E-7CEB9FB3BFF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DE5262A-960C-4992-A14E-D48904F71EC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7942BEC-8E80-4B52-9EE4-B4FBFFBD247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[−4,7,−2,5,−9,3]의 비어 있지 않은 최대 연속합과 해당 구간을 쓰시오. 인덱스는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0부터이다.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164011B6-EAEE-438B-8F55-97FA30E639DB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6FAA1F-0067-42C5-BAF8-00853AFE943F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C2C1B4-84F9-48A9-83BF-46D459336133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D051A7-B971-4482-B5E6-794B95B2AAB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E619CBD-07A1-43B8-8971-290CA4D7305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120C33B-AB02-4E19-921B-479B46936DC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D963649-995B-48AE-A9C2-E7D40EA2321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8761E4-D134-4054-BA2C-C35A2452081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05CA2F-47B1-4C57-B80D-779D3B196CC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D588CA4-2160-4DC1-813D-39D86F6DF84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4574CF4-7BF2-413C-A817-0FEB4A6FF6B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F73B54B-5F94-47B0-900A-1594946A4DC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[−4,7,−2,5,−9,3]의 비어 있지 않은 최대 연속합과 해당 구간을 쓰시오. 인덱스는 0부터이다.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259BBB-3D47-4448-B35E-E56A0635538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3828EACE-7B2A-4A86-A886-A49787972A5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10, [1,3]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98375F5B-F54C-4397-856F-F06DF009C949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597BDF-A0C5-4A76-B463-39B2D24F6BAA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BCCD6A71-E671-40A0-A383-6704E8F636A2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7−2+5=10이며 양옆의 −4나 −9를 포함하면 줄어든다.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3D67311D-2766-43FD-AE6C-E53925DBA14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A287741-D4AA-4BCC-B5EA-5D5853C1637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31DC316-9C91-49FC-98A0-B87A5961524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41D3AA-7BD5-48BF-A5F6-2C1A801382B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0494CC1-7091-464E-8420-B6A4E3CD50C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1169A59-2006-4B89-B616-E5F4154AEE1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7425084-BD69-412F-A3F6-B1ACD685553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7B3439C-79DD-4A56-A012-551AD5C7FDE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[−8,−3,−5]의 비어 있지 않은 최대 연속합과 구간을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9E2B3272-AF8C-437A-AA99-E629C253CF66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C4B601-5901-4546-8D43-0D21203EC1E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3D8EB3-1874-490F-898E-AF76A363B7D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474175-72FE-4805-88EE-044D3F4BDA3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0AB38DB7-97E4-4F1A-AF68-10F28E527B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2F6EB2F-256E-4C61-B1AD-65D5866CF1E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8606E0C-590A-4CD2-AA29-D69E18E6B2E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9FDB92-2CE7-4F9D-89D9-BFFD5AC4C04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3E0891-F641-4FF6-88F8-03F850F628F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3CA4A96-B4BA-43E1-B8C4-C32F50A77A6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0DBD692-867A-4C9B-BDCC-BD0941780A5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F0C4F88-EC0B-4924-8BE8-603BEEC34FA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[−8,−3,−5]의 비어 있지 않은 최대 연속합과 구간을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FD714F-AADF-4B07-B602-0557F96A1740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28B88DFA-8646-4A18-B560-65A832D6C87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−3, [1,1]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4175AE5B-D7BF-484B-B0DD-D05B77956F08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69BE65-8678-478E-AB2E-5095F9A6E24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7F713CF6-50C8-4115-AF7F-E909EF8F3CE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가장 덜 작은 원소 하나를 고른다. 빈 구간 0은 허용되지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BF0EC2E4-E2AC-4B84-8FAB-D513C3DB3A6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56A340C-273F-454F-9349-F44D8C7AE96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2EE870D-B791-400B-99BA-73BCCA73D35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187439-987A-42CE-8CE3-9353E4E3F5F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93C2B7-810C-406E-AEA4-8FBD93C1345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242885F-2AFD-4E31-A220-86D6682B1BA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8FF2A83-5818-48E5-8BAF-7C29E846ED6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6A215F6-8F36-4623-9372-368B40E0F5A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[4,−6,3,5,−2,1]을 인덱스 [0,2]와 [3,5]로 나눈다. 왼쪽 최대 접미 합, 오른쪽 최대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접두 합, 교차합은? 각 구간은 비어 있지 않다.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A80D645D-6504-4CF4-A95D-14D400B71693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E17B87-BA4D-430B-A126-6AD6A87FAEA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8CF221-1B4F-4CF6-AC64-E19A2429EE0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2CF377-7AE7-43FA-A60A-81B7C1AC3853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42409C2D-8245-44FD-9C74-787D31080B4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68147ED-4F5B-45C4-A811-3B5A902E561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9C45886-BE4A-4CA2-9221-29E2665729A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C1778B-B4A6-4FD0-B222-409373F00BF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5D8C21-B40B-4CF3-B2A0-F5A41D55422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D27148E-B5E9-4232-BCF3-EF7E771347C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CC0C489-0DE6-471E-99C5-563EA0AE09F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4C7097B-85BA-40CE-95EB-730222AF8DA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[4,−6,3,5,−2,1]을 인덱스 [0,2]와 [3,5]로 나눈다. 왼쪽 최대 접미 합, 오른쪽 최대 접두 합,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교차합은? 각 구간은 비어 있지 않다.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F3A4D3-2A15-403A-8152-868D2707404A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5A695464-D0F4-4413-AE18-0D0626873E72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3,5,8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02EAD239-B248-40BD-BE16-0F90B6A8D3FF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7E0061-3218-44A7-93D8-C7885F3D610C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D00BD1BD-19B5-40AD-9FDD-554853BCDA3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왼쪽은 [3]이 3, 오른쪽은 [5]가 5로 최대이다. 경계 연결 구간은 [3,5]이다.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5227339-220C-4605-A580-DF1DF28D9FA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8A7470B-D04B-4742-979B-3AA9B8F33E0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E7EEC7B-446C-470C-A098-6FFDCE56E25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14C6A2-68BB-448E-B024-6341030B8AA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F77A68-BE1C-4011-9CBB-95BA7C33E76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8418B78-5713-4714-B722-AEE8CB4FB0A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704BCBA-B79C-4C95-8CF9-9D06C1750B1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5CF95EE-8F82-492D-80CC-D1454F025C4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[5,−100,6]에서 양수만 더한 값과 실제 최대 연속합을 각각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1C764C2F-62FB-4E21-A056-AEF839C5F577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6F0A55-ABA3-4AF2-8DD2-4E52D54C54C5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0DF4ED-4CA5-44D1-9049-70A322EED20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627A44-F717-4FCD-830B-54E27F937F3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1166B17-93D8-49C1-8B22-79B1839D160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8F8D88C-893B-4BED-9FFF-85294971586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41ABE37-40EE-4C62-8208-56C7B5F98EF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F6103B-5837-4501-92B6-4F687FCBE4F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319445-698B-47A0-A84C-2D409D9F2E0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605D747-DD2A-4C3D-92FF-E2FA7A82E98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27B43C2-C75D-4BC7-A039-ED343C29C32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12558F6-D4B6-4AB0-94FB-BD1D7FF0DCD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[5,−100,6]에서 양수만 더한 값과 실제 최대 연속합을 각각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0CFEE8-659E-437E-A6CB-0FAE198F00C2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EA485108-2186-47C0-A32A-3A36F41E2B2B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11,6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C8AF875-B341-415B-904C-61AAE945348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1618B7-4990-452F-84A7-9210770641F1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F8A90DA8-6C59-422C-A519-A93356282F1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5와 6을 함께 포함하려면 −100도 포함해야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AFA6A182-E594-44EA-AD1C-7FE416FFC01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6B4FAE4-A1A9-4B3E-9318-BAE5C97DFB7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33453E9-7031-4188-99A7-E05E36934C5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C6C642-493A-4FCB-B6C3-0CCD0998D0E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CA06F9-036F-48EF-BF06-C817BE1A98B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1F2EC34-CEF6-4E14-BE04-ED7BFF0A9DE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8D2F868-98FF-4E0A-9CDC-E8A4FB30880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330AB72-746D-40E2-8F6F-7C92A8B2819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 6인 배열의 비어 있지 않은 연속 구간 개수를 구하시오.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0DE63FC7-2B52-40DD-AABC-0FFBF4641F0D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6C5D2C-CB5D-4C99-B7CF-5B65E24664D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092165-602A-4127-B37D-9E8FC95AF01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EE22FE-3677-4CAC-9949-4BA031E7E9F6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78AB5135-91A2-47D7-B23D-F08B9A022C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B75F5E7-7CB0-4776-8E95-57A4E25BDA3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B3CC99C-4F7B-4317-B4D0-1E216E9723A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AC2C24-92CD-4ED5-AF90-AD15B7480F4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E2E9B4-FA0C-4ACD-B139-0EF0710678E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A5DD12A-6285-438A-81AA-AB602AB1651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806B968-4CD6-4ECF-AB4F-4D04844FAB0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909C7F1-6A75-4ACF-96AC-E1DC1763F71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길이 6인 배열의 비어 있지 않은 연속 구간 개수를 구하시오.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F20E64-FE41-4470-AB7D-C462E5E14836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2B1C971F-3B2F-4FA3-8C11-430E7BAA30FD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21개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E694A23E-6308-45F5-884C-F00D9689B32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5D90F2-7FFB-4AA2-8B23-3025B773466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8E6AA48-ED94-404A-AE73-38F1866F8927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길이별 6+5+4+3+2+1=n(n+1)/2이다.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922F0CCA-540D-46D4-8055-C3365EE90BD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D88A12E-0BBD-44C7-9EC0-98419C2C8B3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01F6A5D-3D71-4B09-92F1-25BD954625B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AFC73B-F2BC-456C-B947-7A0EDC8493A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30F245-247F-47A1-8AC1-0411551743D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96BECDC-6009-4DC3-AB19-AE14F6C3F4E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B37CE76-3F14-4596-A7D6-C436B6DEF08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3A2789C-AB00-4940-BD90-5614F05CC5F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[2,−1,2,−1]의 전체 합, 최대 접두 합, 최대 접미 합, 최대 연속합을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19DE0B2-F016-4018-973A-4DEBF56DF88C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FD94CD0-A834-48BF-BC98-7B4A0276761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B75A95-EF15-497A-97DE-76F1B9FAC0F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AED778-E4CC-4499-BEB4-26BCF1C54A26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2787CB50-AAB3-4CC4-80CE-1408EE98A9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59AEC3C-8A41-4637-AEE7-C9265B2C684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5351313-1E0F-4282-9302-FFD0EBD5801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B4F1A1-028A-4A80-975E-62CEC09F59D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920DDB-DFBC-4A4C-AB9C-02CFD7B9A9A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B593096-5CC3-4F75-A79E-74E8BE6E5E6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5011BA6-90CC-4B77-89DE-ECD32B238B4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364B4A7-577A-494A-A1A3-D34BADD996A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[2,−1,2,−1]의 전체 합, 최대 접두 합, 최대 접미 합, 최대 연속합을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FAC438-73AE-4A0B-9416-76DE6B3465F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D8711BD4-5AF0-4A55-A479-59B9F36F5B6E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2,3,2,3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73A204C-0565-4FD4-A88B-7A4E9779247B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69A145-5AF3-4FF5-9F0D-19A6CE17C3E9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AEC64A8C-6BFA-4328-B12A-A7EEF1CB468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접두 최대는 처음 3개, 접미 최대는 전체, 연속 최대는 인덱스 0~2이다.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3BCC21C2-5DA5-4DCA-B1DE-F6D71BFF5C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C453D29D-D765-47C7-9F7F-E9AEED111E5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BBC9C2A-C35A-4F70-9C66-4FE6851AB98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52</a:t>
            </a:r>
          </a:p>
        </p:txBody>
      </p:sp>
      <p:sp>
        <p:nvSpPr>
          <p:cNvPr id="4" name="rule-49">
            <a:extLst>
              <a:ext uri="{FF2B5EF4-FFF2-40B4-BE49-F238E27FC236}">
                <a16:creationId xmlns:a16="http://schemas.microsoft.com/office/drawing/2014/main" id="{BBD4C5BC-5AA3-4B0F-BC14-9170DDFA82C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D92370F8-80B4-4507-91B6-77AFD712712E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D3E12BFF-79DC-4105-81AF-78AFE3CA583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103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D8FC25AE-8C48-4476-A7DB-488E4C9ADD9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a=[2,7,1,6,5]에서 피벗은 맨 끝의 5, L=1, R=2이다.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a[L]과 a[R]을 교환한 직후의 배열을 쓰고,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각 값 7과 1을 서로 바꾸는 이유를 설명하시오.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ED69CD34-868F-426E-BE52-8D5094575B2F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rule-50">
            <a:extLst>
              <a:ext uri="{FF2B5EF4-FFF2-40B4-BE49-F238E27FC236}">
                <a16:creationId xmlns:a16="http://schemas.microsoft.com/office/drawing/2014/main" id="{88859EAA-5A59-4138-91BA-81CD713814D5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rule-51">
            <a:extLst>
              <a:ext uri="{FF2B5EF4-FFF2-40B4-BE49-F238E27FC236}">
                <a16:creationId xmlns:a16="http://schemas.microsoft.com/office/drawing/2014/main" id="{F5BE960C-CFAD-431C-8D5A-47012362589A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rule-52">
            <a:extLst>
              <a:ext uri="{FF2B5EF4-FFF2-40B4-BE49-F238E27FC236}">
                <a16:creationId xmlns:a16="http://schemas.microsoft.com/office/drawing/2014/main" id="{12E1ABB1-5A70-431B-A96A-8633A554FE90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rule-53">
            <a:extLst>
              <a:ext uri="{FF2B5EF4-FFF2-40B4-BE49-F238E27FC236}">
                <a16:creationId xmlns:a16="http://schemas.microsoft.com/office/drawing/2014/main" id="{9D1B86B4-4E07-482C-8537-54068570BE45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06576536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D40834DC-F29E-4EC5-831B-ECBD048948D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A2CD5950-29F5-4B9A-B176-176C4B22F4D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DFA48A8-A3D1-4833-B00D-8509AE5221E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52  정답과 해설</a:t>
            </a:r>
          </a:p>
        </p:txBody>
      </p:sp>
      <p:sp>
        <p:nvSpPr>
          <p:cNvPr id="4" name="rule-54">
            <a:extLst>
              <a:ext uri="{FF2B5EF4-FFF2-40B4-BE49-F238E27FC236}">
                <a16:creationId xmlns:a16="http://schemas.microsoft.com/office/drawing/2014/main" id="{CFD01F02-FBBC-4FD2-8FD9-794DF6028D1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5E4CC00F-39B8-4794-8A59-85D0B2A235C1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77CF9890-1E20-45DF-8B27-8B4C604EAF36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104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246AFBAD-1DF1-4355-9937-A6A8B7130778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a=[2,7,1,6,5]에서 피벗은 맨 끝의 5, L=1, R=2이다.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a[L]과 a[R]을 교환한 직후의 배열을 쓰고,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각 값 7과 1을 서로 바꾸는 이유를 설명하시오.</a:t>
            </a:r>
          </a:p>
        </p:txBody>
      </p:sp>
      <p:sp>
        <p:nvSpPr>
          <p:cNvPr id="8" name="rule-55">
            <a:extLst>
              <a:ext uri="{FF2B5EF4-FFF2-40B4-BE49-F238E27FC236}">
                <a16:creationId xmlns:a16="http://schemas.microsoft.com/office/drawing/2014/main" id="{2B63EF3C-8F75-4CF2-8548-608926172A61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663963D6-8DE3-4FAF-8AA5-9403F5F43522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[2,1,7,6,5]. 7은 피벗보다 커서 오른쪽, 1은 피벗 이하라서 왼쪽으로 보낸다.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B5BF0169-79BE-4688-B1B5-3F1B86BC5C2A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80112707-1F0E-4892-A0FA-37F17E426848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인덱스 1과 2의 값만 교환한다.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분할은 피벗을 기준으로 값을 보내는 단계이며, 전체 정렬이 끝난 상태는 아니다.</a:t>
            </a:r>
          </a:p>
        </p:txBody>
      </p:sp>
    </p:spTree>
    <p:extLst>
      <p:ext uri="{BB962C8B-B14F-4D97-AF65-F5344CB8AC3E}">
        <p14:creationId xmlns:p14="http://schemas.microsoft.com/office/powerpoint/2010/main" val="21914779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121DD982-7F3C-459F-853F-5F0347E1F10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05B2FF25-44A7-477E-A08E-FF13D0047C6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3537B36-2F73-40BB-88FB-FAFC7DDD112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53</a:t>
            </a:r>
          </a:p>
        </p:txBody>
      </p:sp>
      <p:sp>
        <p:nvSpPr>
          <p:cNvPr id="4" name="rule-56">
            <a:extLst>
              <a:ext uri="{FF2B5EF4-FFF2-40B4-BE49-F238E27FC236}">
                <a16:creationId xmlns:a16="http://schemas.microsoft.com/office/drawing/2014/main" id="{D4B1299F-4CBE-4354-A45D-B5D1BC7C888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8FF31CC-8FD6-4BFA-8276-FBCC8F0EC186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28F5511-48E0-4621-BCB9-EB68477A28E0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105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EF1ADD97-13C3-4C8F-B3ED-A10A3579DEBF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mod_power(a,b,m)은 a의 b제곱을 m으로 나눈 나머지를 반환한다.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a=3, b=5, m=7이고 half=mod_power(3,2,7)=2까지 구했다.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b가 홀수이므로 결과는 (half * half * a)%m이다. 결과와 계산식을 쓰시오.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%는 나머지 연산이다.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49A03E9B-53E4-4A2B-BAC2-EC446A21B698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rule-57">
            <a:extLst>
              <a:ext uri="{FF2B5EF4-FFF2-40B4-BE49-F238E27FC236}">
                <a16:creationId xmlns:a16="http://schemas.microsoft.com/office/drawing/2014/main" id="{AB39E39C-2E69-4340-A8D7-3BCBDDD41933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rule-58">
            <a:extLst>
              <a:ext uri="{FF2B5EF4-FFF2-40B4-BE49-F238E27FC236}">
                <a16:creationId xmlns:a16="http://schemas.microsoft.com/office/drawing/2014/main" id="{1378091F-FDFE-4B6E-9C9B-18FD4D3054A9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rule-59">
            <a:extLst>
              <a:ext uri="{FF2B5EF4-FFF2-40B4-BE49-F238E27FC236}">
                <a16:creationId xmlns:a16="http://schemas.microsoft.com/office/drawing/2014/main" id="{1D50C27E-321A-4351-9105-D1DA6A7E05F7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rule-60">
            <a:extLst>
              <a:ext uri="{FF2B5EF4-FFF2-40B4-BE49-F238E27FC236}">
                <a16:creationId xmlns:a16="http://schemas.microsoft.com/office/drawing/2014/main" id="{C90DFD7A-DD84-4E9E-959B-95DFAB675E68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8375967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20902A43-ED9A-4B70-9C4C-CC1BAB1703A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6FA0EE67-26E0-4CFB-83EE-2E489F37C45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DE9835-C8E9-483B-8C2C-E5A671C6399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53  정답과 해설</a:t>
            </a:r>
          </a:p>
        </p:txBody>
      </p:sp>
      <p:sp>
        <p:nvSpPr>
          <p:cNvPr id="4" name="rule-61">
            <a:extLst>
              <a:ext uri="{FF2B5EF4-FFF2-40B4-BE49-F238E27FC236}">
                <a16:creationId xmlns:a16="http://schemas.microsoft.com/office/drawing/2014/main" id="{7D0E19C0-64A0-4AEA-9179-F38BC0234B2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F59C711-8777-487A-9E37-4FFCDED4FFFA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EEFAD955-A4D4-4C3D-BE20-65FA2284BCC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106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F6D56A33-C572-4621-9820-8EE2FBC36E49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mod_power(a,b,m)은 a의 b제곱을 m으로 나눈 나머지를 반환한다.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a=3, b=5, m=7이고 half=mod_power(3,2,7)=2까지 구했다.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b가 홀수이므로 결과는 (half * half * a)%m이다. 결과와 계산식을 쓰시오.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%는 나머지 연산이다.</a:t>
            </a:r>
          </a:p>
        </p:txBody>
      </p:sp>
      <p:sp>
        <p:nvSpPr>
          <p:cNvPr id="8" name="rule-62">
            <a:extLst>
              <a:ext uri="{FF2B5EF4-FFF2-40B4-BE49-F238E27FC236}">
                <a16:creationId xmlns:a16="http://schemas.microsoft.com/office/drawing/2014/main" id="{621D1FBB-9CC9-48D9-90A8-F4A3B2412839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71AC037B-78C6-4322-8784-8302934A0A51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5. (2×2×3)%7 = 12%7 = 5.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EEF8A429-3B62-495C-A834-69036B5BFB43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58936AA1-7166-40A3-83F4-2233FF0A460A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half=2를 두 번 곱하고 홀수 지수에 필요한 a=3을 한 번 곱한다.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12를 7로 나눈 나머지는 5이다.</a:t>
            </a:r>
          </a:p>
        </p:txBody>
      </p:sp>
    </p:spTree>
    <p:extLst>
      <p:ext uri="{BB962C8B-B14F-4D97-AF65-F5344CB8AC3E}">
        <p14:creationId xmlns:p14="http://schemas.microsoft.com/office/powerpoint/2010/main" val="30666724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B569FAB1-B770-4260-ACA3-B08B01A192F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614FDC68-AE18-4554-B265-67AC8B5154C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A28C56-C35B-429D-95C9-51EC97B4E3E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54</a:t>
            </a:r>
          </a:p>
        </p:txBody>
      </p:sp>
      <p:sp>
        <p:nvSpPr>
          <p:cNvPr id="4" name="rule-63">
            <a:extLst>
              <a:ext uri="{FF2B5EF4-FFF2-40B4-BE49-F238E27FC236}">
                <a16:creationId xmlns:a16="http://schemas.microsoft.com/office/drawing/2014/main" id="{71CBF8F6-DC80-4A6E-85FF-E4CBC2CF639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C54A61D-518C-4894-9848-D8B6FBC5E2D4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CA14B6CA-B6DC-4BEA-A772-BCA96E939FE1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107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0E35841E-EF33-4014-B635-878C038E1BD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2×2 영상의 쿼드 트리 표현이 (0100)이다.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괄호 안은 좌상·우상·좌하·우하 순이며 0은 흰색, 1은 검은색이다.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복원된 영상의 두 행을 쓰고, 검은 칸의 (행,열)을 쓰시오. 행·열은 0부터 센다.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51EADE96-8925-4C75-AF41-91B9BD4C3BEA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rule-64">
            <a:extLst>
              <a:ext uri="{FF2B5EF4-FFF2-40B4-BE49-F238E27FC236}">
                <a16:creationId xmlns:a16="http://schemas.microsoft.com/office/drawing/2014/main" id="{ECD491D7-566B-4A1C-B189-E66367D39E74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rule-65">
            <a:extLst>
              <a:ext uri="{FF2B5EF4-FFF2-40B4-BE49-F238E27FC236}">
                <a16:creationId xmlns:a16="http://schemas.microsoft.com/office/drawing/2014/main" id="{D106F8B3-A081-4719-89BE-604B365DA199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rule-66">
            <a:extLst>
              <a:ext uri="{FF2B5EF4-FFF2-40B4-BE49-F238E27FC236}">
                <a16:creationId xmlns:a16="http://schemas.microsoft.com/office/drawing/2014/main" id="{73F76F53-D60B-49C5-BC87-1A181437C673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rule-67">
            <a:extLst>
              <a:ext uri="{FF2B5EF4-FFF2-40B4-BE49-F238E27FC236}">
                <a16:creationId xmlns:a16="http://schemas.microsoft.com/office/drawing/2014/main" id="{08FEBD8B-0A4E-4E5D-9202-05EC6AB7174D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80211122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9132282B-BEDF-47BC-A810-17F265BA1F5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03746EF4-398C-4115-A797-470E04CCA63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3B2C52E-DA4D-4E80-A3E5-CC243BFF01E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54  정답과 해설</a:t>
            </a:r>
          </a:p>
        </p:txBody>
      </p:sp>
      <p:sp>
        <p:nvSpPr>
          <p:cNvPr id="4" name="rule-68">
            <a:extLst>
              <a:ext uri="{FF2B5EF4-FFF2-40B4-BE49-F238E27FC236}">
                <a16:creationId xmlns:a16="http://schemas.microsoft.com/office/drawing/2014/main" id="{4977EFA0-50E8-4CBA-BE6A-C7D3AA3FC7B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3A7115D-0838-4002-A39D-746D290BBBCE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49AC925C-65B5-4587-A547-C1073A4CFA1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108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883E1B98-516A-4A06-B83E-183A16F7E81D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2×2 영상의 쿼드 트리 표현이 (0100)이다.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괄호 안은 좌상·우상·좌하·우하 순이며 0은 흰색, 1은 검은색이다.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복원된 영상의 두 행을 쓰고, 검은 칸의 (행,열)을 쓰시오. 행·열은 0부터 센다.</a:t>
            </a:r>
          </a:p>
        </p:txBody>
      </p:sp>
      <p:sp>
        <p:nvSpPr>
          <p:cNvPr id="8" name="rule-69">
            <a:extLst>
              <a:ext uri="{FF2B5EF4-FFF2-40B4-BE49-F238E27FC236}">
                <a16:creationId xmlns:a16="http://schemas.microsoft.com/office/drawing/2014/main" id="{A94F987B-42E4-4384-9992-904F1198734E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D7CCCB8E-C433-428B-93AA-FD7296952FBE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첫 행 01, 둘째 행 00. 검은 칸은 (0,1).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05E942DD-F631-42CE-A428-DAE719446D5A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E50A9014-DBA7-42BF-9F74-2B7B2474D532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좌상 0과 우상 1이 첫 행이고 좌하 0과 우하 0이 둘째 행이다.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따라서 검은 칸은 위쪽 오른쪽, 즉 행 0과 열 1이다.</a:t>
            </a:r>
          </a:p>
        </p:txBody>
      </p:sp>
    </p:spTree>
    <p:extLst>
      <p:ext uri="{BB962C8B-B14F-4D97-AF65-F5344CB8AC3E}">
        <p14:creationId xmlns:p14="http://schemas.microsoft.com/office/powerpoint/2010/main" val="236022366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65FFEB2A-2429-4558-BB42-8FA18633572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C7EFE683-AE92-4FCB-83F9-1DA4D30C51F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66C49D6-2E95-46AC-A02A-FCB459BA278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55</a:t>
            </a:r>
          </a:p>
        </p:txBody>
      </p:sp>
      <p:sp>
        <p:nvSpPr>
          <p:cNvPr id="4" name="rule-70">
            <a:extLst>
              <a:ext uri="{FF2B5EF4-FFF2-40B4-BE49-F238E27FC236}">
                <a16:creationId xmlns:a16="http://schemas.microsoft.com/office/drawing/2014/main" id="{EECEB963-B440-4FDC-BD4C-8635278C18B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0ADCE0B-536E-46C7-8893-2F1914766A17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8DA06C96-253F-4DBE-B231-00B5CC1372E1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109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A9BBF0F3-E85E-4330-ACF9-B73167A179A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4×4 영상의 모든 값이 0이다. 쿼드 트리 함수는 현재 영역의 모든 칸을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기준값과 비교하여 같은 색인지 확인하고, 균일하면 색 한 글자를 반환한다.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첫 호출에서 검사하는 칸 수와 반환하는 문자열을 쓰시오. 첫 칸도 검사에 포함한다.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81902F9C-64D9-4C3E-A9D9-A81EA5E3E52E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rule-71">
            <a:extLst>
              <a:ext uri="{FF2B5EF4-FFF2-40B4-BE49-F238E27FC236}">
                <a16:creationId xmlns:a16="http://schemas.microsoft.com/office/drawing/2014/main" id="{11601BEA-26E7-4157-8107-88730BF3A08F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rule-72">
            <a:extLst>
              <a:ext uri="{FF2B5EF4-FFF2-40B4-BE49-F238E27FC236}">
                <a16:creationId xmlns:a16="http://schemas.microsoft.com/office/drawing/2014/main" id="{4B3AFA20-D47B-401D-8528-D413A7E78850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rule-73">
            <a:extLst>
              <a:ext uri="{FF2B5EF4-FFF2-40B4-BE49-F238E27FC236}">
                <a16:creationId xmlns:a16="http://schemas.microsoft.com/office/drawing/2014/main" id="{C4F1B7A9-4344-4FC6-928B-126C8692CE58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rule-74">
            <a:extLst>
              <a:ext uri="{FF2B5EF4-FFF2-40B4-BE49-F238E27FC236}">
                <a16:creationId xmlns:a16="http://schemas.microsoft.com/office/drawing/2014/main" id="{1D5E9354-F905-4B73-AC0F-8BFD20579F60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42508733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7BE54E5A-99F7-45FB-A426-7FCDF05E511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FF18D9D9-B341-4789-A4E0-63EB5241295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C9ECEC6-9566-44D5-ADEB-AA9E2C9A1E9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55  정답과 해설</a:t>
            </a:r>
          </a:p>
        </p:txBody>
      </p:sp>
      <p:sp>
        <p:nvSpPr>
          <p:cNvPr id="4" name="rule-75">
            <a:extLst>
              <a:ext uri="{FF2B5EF4-FFF2-40B4-BE49-F238E27FC236}">
                <a16:creationId xmlns:a16="http://schemas.microsoft.com/office/drawing/2014/main" id="{AFBCA86A-8F0B-455B-A1F0-AF7A7CAAF73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0F9D5453-6268-4262-8B7B-C87A0EA25BD2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12C354CE-77F2-4905-B6FF-2C69F591FEA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110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F5273FE2-2710-4B7D-AE12-B6CD62D8D102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4×4 영상의 모든 값이 0이다. 쿼드 트리 함수는 현재 영역의 모든 칸을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기준값과 비교하여 같은 색인지 확인하고, 균일하면 색 한 글자를 반환한다.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첫 호출에서 검사하는 칸 수와 반환하는 문자열을 쓰시오. 첫 칸도 검사에 포함한다.</a:t>
            </a:r>
          </a:p>
        </p:txBody>
      </p:sp>
      <p:sp>
        <p:nvSpPr>
          <p:cNvPr id="8" name="rule-76">
            <a:extLst>
              <a:ext uri="{FF2B5EF4-FFF2-40B4-BE49-F238E27FC236}">
                <a16:creationId xmlns:a16="http://schemas.microsoft.com/office/drawing/2014/main" id="{3AEFA626-CC17-49A8-93B3-7E1F39B2756D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B50C9231-F3EE-4F84-9578-25C6072F1563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16칸, "0".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5D4DCD9E-3101-476A-B187-4CC2637B82E3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212C937C-17E3-41F5-9095-AAF1AC179844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4행×4열이므로 검사하는 칸은 16개다.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모두 0이라서 더 나누지 않고 "0" 한 글자를 반환한다.</a:t>
            </a:r>
          </a:p>
        </p:txBody>
      </p:sp>
    </p:spTree>
    <p:extLst>
      <p:ext uri="{BB962C8B-B14F-4D97-AF65-F5344CB8AC3E}">
        <p14:creationId xmlns:p14="http://schemas.microsoft.com/office/powerpoint/2010/main" val="208786437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0D2F4C1A-CB02-49D7-AD99-FCA9982405D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9AB0B60-2B99-41FA-99EE-6EC3E57CCE6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EA105AF-D483-4DF5-A9F9-C67AC1F8F6D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8B789B-BA42-4F59-A679-BA9E8E8C401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DE9B4F-58C8-401E-8706-E3D0BE8861D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F267588-A94A-4BA4-951B-1851DFC6BB7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6662B5B-E526-4B16-8AE7-FEF6F6AA804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E3B3F73-3470-4D9F-A66B-55EDC9A6D4D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2×2 영상의 행이 01,10이다. 혼합 영역은 괄호로 감싸고 좌상·우상·좌하·우하 순으로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부호화하시오.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84107955-0D97-484B-8258-520CB9810B6B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008AAA-3AE3-44DD-A842-0D8CEA17CC5F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AA4FB6-8579-4046-9406-EA28642BE0B7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A24AFC-02D2-48F9-AF9B-AAE596F36DB2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FC1C861-85C0-442C-8E0E-B8386C8207F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4CA8358-6AAF-422C-A50D-6EA05C3BAAE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FC42C95-519C-496E-B6F8-ACABF081FC6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F9FE8D-ED81-4BD6-9C74-01A333E1105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7BFA0A-C15A-4F76-A21B-B0F5EC8C5BC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8389C2C-E5D1-4807-B7FD-4FF1D8CD757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2EEB73B-924E-48D7-B0EB-C70DBFE4892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BDA5177-BC14-4588-B6E7-B60478DA73A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2×2 영상의 행이 01,10이다. 혼합 영역은 괄호로 감싸고 좌상·우상·좌하·우하 순으로 부호화하시오.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CAD2AD-08AE-441C-93BA-51F9016DA2F9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C1722EFE-7752-4862-83D3-08727D67171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(0110)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A796FE6-A7C0-483A-BAF6-ACF51A34575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62D5945-2053-444C-B36C-4D7AD5A03AAE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AADC6834-EF67-40BD-A2FB-40C35ECCFFC8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네 칸이 각각 0,1,1,0이므로 그 순서로 적는다.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F9BEB1E-B9A8-4A10-B99D-75B9EF87FFC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18DF4FC-E60D-49B7-AA71-590DCF0CE7E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0A4ED85-E245-42CD-B7B6-7DF2708397C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57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3D163D-0213-4A07-A3C1-70C0C52682D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E2FE74-9918-4C35-A447-A693178508B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1D93EDA-1C92-4FA5-92E9-AB42DBE18AA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2F84A9F-7DAD-4D6C-95B3-E97E957E03A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F46FA86-EE10-42AF-9CC5-D6DA5750A7F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4×4 영상의 네 행이 0011,0011,1100,1100이다. 균일하면 색 하나, 혼합이면 (좌상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우상 좌하 우하) 순으로 부호화한 결과는?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6EC874B4-41A5-4F1D-871B-7856A7837452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FD59EB-6F7E-4BEE-B4D4-F2CFECA15FE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B41F92-CBA5-491D-9E2A-66ABC0255B9F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23C0F0-9AF5-4475-9B90-8423BF2B2A3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5E08FF6D-9448-49CD-A65E-9EC22845C35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7118EFE-93A3-4A71-8C31-BC8C5FD9B3E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B243E15-19B9-4A37-9D3D-CC54118310A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57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62406E-44E9-4B81-94FF-AA79C06AC4A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290A72-D1BB-4F0B-A478-8F5EAE3D681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C261565-64A4-4522-903B-25E6186FF91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F59C87C-8CC4-4D4D-BF3C-6340F40A027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9E93092-FA61-4510-8685-98D8D71A05E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4×4 영상의 네 행이 0011,0011,1100,1100이다. 균일하면 색 하나, 혼합이면 (좌상 우상 좌하 우하)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순으로 부호화한 결과는?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4BB7D0-DB66-4E09-8470-CB6244863D21}"/>
              </a:ext>
            </a:extLst>
          </p:cNvPr>
          <p:cNvSpPr>
            <a:spLocks noGrp="1"/>
          </p:cNvSpPr>
          <p:nvPr/>
        </p:nvSpPr>
        <p:spPr>
          <a:xfrm>
            <a:off x="609600" y="252603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79.2-92">
            <a:extLst>
              <a:ext uri="{FF2B5EF4-FFF2-40B4-BE49-F238E27FC236}">
                <a16:creationId xmlns:a16="http://schemas.microsoft.com/office/drawing/2014/main" id="{08F91E3F-26E0-4391-8B91-1D7C0F59AB3A}"/>
              </a:ext>
            </a:extLst>
          </p:cNvPr>
          <p:cNvSpPr>
            <a:spLocks noGrp="1"/>
          </p:cNvSpPr>
          <p:nvPr/>
        </p:nvSpPr>
        <p:spPr>
          <a:xfrm>
            <a:off x="876300" y="265938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(0110)</a:t>
            </a:r>
          </a:p>
        </p:txBody>
      </p:sp>
      <p:sp>
        <p:nvSpPr>
          <p:cNvPr id="11" name="text-358-64">
            <a:extLst>
              <a:ext uri="{FF2B5EF4-FFF2-40B4-BE49-F238E27FC236}">
                <a16:creationId xmlns:a16="http://schemas.microsoft.com/office/drawing/2014/main" id="{4DEAA3CB-330C-4C25-B36C-95CD62AE630A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5AC5D5-5320-4781-B359-E47151D57E22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406-64">
            <a:extLst>
              <a:ext uri="{FF2B5EF4-FFF2-40B4-BE49-F238E27FC236}">
                <a16:creationId xmlns:a16="http://schemas.microsoft.com/office/drawing/2014/main" id="{681968DF-4458-40B0-8144-55FE7846B32E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네 사분면이 각각 한 색이므로 각 사분면을 한 기호로 기록한다.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F90C356-09F2-4EF9-96BB-5E9085AEB92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100287B-5DAE-4D48-B59E-2A699274DD9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FC072E3-7095-498E-8BD6-8202B0FACE3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58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5C67B3-1F3A-41BF-98D2-38506B35272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5FFD6A-74A5-4DA5-8632-69A4C50FC34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CA03193-1661-430E-AF7C-43989708059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3A4B782-8C71-4E68-A5E4-58C444C6764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6FEF9F4-EDD3-4097-8BC0-7BD1C8F942D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4×4 영상 전체가 1이다. 쿼드트리 부호와 리프 수는?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12F1C999-A835-47D5-A564-4B7C2545C38F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509C8F-EB6C-438B-B004-5D3726D3DD62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43F9FD-7A99-4F51-BDF8-98E5DD79C7A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986965-C946-4CC8-95F2-D4E8EB9CB9ED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C465D58-CFD4-4E5C-B2F3-5C9E1DA3A8E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34CF39C-C4F1-4AF8-90BD-98BF4A8B44C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1C7628E-3DB4-40E4-AE97-53EB794A8F2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58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FBC1D5-60D9-4B20-B699-0488700F019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155E35-1CAC-4E48-9CCF-94E7D57F824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8195D34-BE0A-40DC-A4DD-0E9A352AE25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FBD7683-ED37-4851-8F05-C0EE9445A8D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F6442A3-5FDD-4C83-A78A-310265A98BF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4×4 영상 전체가 1이다. 쿼드트리 부호와 리프 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FE7817-FA64-476B-8BAD-40892F13CE2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792368F4-1693-4831-B591-47A2A4EC5B5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1, 1개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849A064-7431-45C8-9121-12B208C238DD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F2DAFA-A54C-4055-BAB9-1D55B34005B7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077BD57D-D1A9-452F-9FEB-D9A762CB2CCC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루트에서 균일하므로 자식을 만들지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2E2B76B6-9272-45CE-A119-99387FEBA17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F796AF6-25FB-4166-8F30-6BC1DF0C3D6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33187B2-5CFF-4207-A392-DD891B62BF3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6A4B6A-91BE-4BE4-940D-23AD9839945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0D0281-8D6F-4598-BCB7-2F1125BCFF5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7A78E96-ABFE-438D-A113-A7FC529716A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1DD4E6B-A8A8-4B96-A53F-9BF1DBA3359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BFAB43D-84D9-45F1-A116-35AE67A31BE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2×2 영상의 각 칸까지 모두 분할했다. 내부 노드 수와 리프 수는?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31274448-F98F-4DC8-8679-57942F42FD6C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A3333A-46B3-4D86-9D07-7A812E1144A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F8899B-05CC-4169-BED6-C4C70050D80D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943A81-47C9-4064-80F6-A04A3E48332A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5A5A7FA-3517-4A1C-A7AE-E13F701111C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7F439FA-D2B9-48FB-8630-15D7A5B30AE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8EF1271-0948-4DFE-9989-F5C4626902C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33A5AD-4D02-4F0F-9F40-51B7086D64E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71FFDF-B1A1-4E50-9F88-442FA10CDCD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077118D-0FB9-459C-88C4-1D87BB0BB03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DEB56FA-2A08-4300-BF56-824263DF651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65FCBB5-351A-403D-B381-9F580AE8418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2×2 영상의 각 칸까지 모두 분할했다. 내부 노드 수와 리프 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DC56DE-317A-4BFB-B3A6-B93D3F59352D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71483726-06BD-4B86-A5AB-97A0FDD0DF4B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1개,4개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EFDCA9F7-67C4-4BC3-9235-46E600348E2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818D09-C663-4109-9AAD-CC49351C38A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BDEDE1CD-D7E4-476A-8533-3F23C1698E2D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혼합 루트 하나와 네 단위 칸 리프가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5D4A71B4-0B68-4ED7-AC3D-C7C4C7AB9CB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620969E-FB28-4BD0-AA9A-89593E9F3E5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01FD56D-8AAE-48B4-8BDB-D18F2572B33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6E4716-5818-4936-AF2A-82C7EA5FA80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1C6885-1847-476B-802A-3469F0C9782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D718309-931D-4D10-B72B-0F1BBBECF30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AB62D36-D62C-481E-A1EA-C27E377DC16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5A4CF0A-58D4-49C6-8AEB-0FF395D8C30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한 변 8인 영상을 끝까지 쿼드트리로 분할한다. 루트 깊이를 0이라 할 때 리프 깊이와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리프 수는?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AF1AEF6D-8674-499D-AD0F-427F4BF04482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B82533-5267-4247-AA83-953EC61414C5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6BCD0A-6529-4B75-AB6D-1E3082800E3D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F1F1E2-2AE2-4FD6-B4C8-E02B2AE5F1E5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8D348747-6475-4AB5-92BC-C6C0F756537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43E2F9F-8AE6-4796-8213-F6A3C038B90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4AD5E7B-D35B-4554-9E41-676EC535572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EC416D-CD05-4493-A523-320FC474CFB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152051-E46F-4A6D-998F-D1D63BD4BB8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87245DA-4C7D-4B33-87E8-9C95BE2EFBA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08D249B-3797-4727-8BE2-1083803FA05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EB3A2A7-0F24-4813-898F-F540AD56B89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변 8인 영상을 끝까지 쿼드트리로 분할한다. 루트 깊이를 0이라 할 때 리프 깊이와 리프 수는?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48B42B-8673-40D1-8225-6C6BAA5ECE3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A0A5A6A-81C4-46C0-8779-CD71F88B9F79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깊이 3,64개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444D575-497C-4F8C-B935-FD9E7D5FC58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60069F-B634-4B1F-8360-9CEB84D30E90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2AE825E4-399F-4948-B339-E6F213949574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변 길이 8→4→2→1이며 마지막 칸은 8²개이다.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D09C996-587A-4BD9-8837-A424FEFA2F7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370A3D6-42CD-49FF-88F3-4E76F956F5D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F5A371C-4E1F-49D4-93E3-4F7F0D429B6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9D8005-C544-46F9-92E9-32FCD5291BA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984326-7767-4EAC-9F14-02DE4E297E7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419B1FB-0458-4D22-9E3F-601E1DC9E00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4082485-6F6C-494E-BC3B-B0D77F8FB94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898A3FB-AC2D-4652-8DAB-281103F50D8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T(n)=9T(n/3)+Θ(n)에서 a,b,기준 지수 log_b a를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7B95210C-6D00-4710-955B-DD257B5ABAC1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DA2537-9E88-4B39-B3AD-468820A0E275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46D889-7106-4E71-AE1C-5B3D14CD5A9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9A96E8-B9D9-4418-AF98-9A6F1E84EAC3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076C5C1-8837-45B8-8C36-8C1B1F1D1B4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E2DFC4A-11E9-44F9-BF85-92ECF9CB6A0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F4D2869-D076-465A-8CEE-6909EC25B8D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BFD366-2F48-425A-8D07-42D602FDAC8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79381A-B811-4DDD-9B46-8A4EBCEBFA8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C8ECA27-CE03-4BB6-B21A-CB768AA561B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5701261-CF70-4C3C-B5FB-4E042BCB7FB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3BA0ADF-2CC9-4016-9337-95F4821EBCD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T(n)=9T(n/3)+Θ(n)에서 a,b,기준 지수 log_b a를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928E33-7024-44ED-B349-829123F7C64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9D3168BD-2A11-4EA1-A7C0-0A7418F3618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9,3,2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053ACAE-8B1C-4707-83B5-A28C5280EAF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0C7C24-D3C5-4A1D-AEA7-9AAE08E3000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076007B3-D144-4331-94CB-3E6BE8700B9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부분 문제 9개가 각각 n/3 크기이고 3²=9이다.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1EA41E47-78EF-4CDF-9B6F-47EBF736C1A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FA48D97-6499-421D-B6F2-3997206467E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0881542-F455-4A35-83AF-BD417BD5ED6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0B16E2-022D-47AB-85DF-6E1C395DEAB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E679BC-2CCA-40C7-9ED4-CBCBC3716B2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B41807C-D4F6-41FD-BD9E-600210C83B0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A6BA769-2308-4EA4-87C7-9FA69DD94D8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385C15A-1322-47FC-9578-BA60A77E4E8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T(n)=8T(n/2)+Θ(n²)의 차수를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51E5DDCE-1169-4A47-8701-E399BB8E39B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DB38AA-DE78-437D-8BA2-8B1006567C9B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384691-8457-4B75-B9F1-8F147BF231BC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815D89-442E-41E3-917B-CAD9B34C5EA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E1CFDC6-4FFF-4776-A048-F99F6580B26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81F47C01-088F-46BA-937E-67887F9BB0E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59E2BAB-3B93-4554-83A0-CBA03311A63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0E2EBC-0939-422E-8EEB-4EC563A4C1E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DE4ACB-813E-497E-979E-9FA109AC3ED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D302EC2-539D-4CD8-95E5-679C71E3DEA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C47227D-7762-49F5-963E-6BD20A057A6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AE8F3EC-31B0-47AD-A8DD-02A01FA25B1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T(n)=8T(n/2)+Θ(n²)의 차수를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AF619A-97B9-48F9-BA84-A0F9A6E5BA0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540AE0D-4644-4652-98CC-A6E38D2694C7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Θ(n³)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FCCD3D4A-9A08-4BA7-AFCF-92525F23D93C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211EB3-8A96-4BB2-8628-816CF749684B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921C687D-92DF-4B30-BC34-2BB2CEF141FE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기준 지수 3이 결합 지수 2보다 크므로 재귀 하위 층이 지배한다.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3B708B2-05D9-4A8F-A176-191BF92C45B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8DE3DB1-B016-473C-AA0A-FD8DEB0CAD5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77722DD-3715-4C08-8301-ED21F8D83BF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B915FF-2AE9-4064-A96B-7ADAE27E4A2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E4A24C-2BA3-47F4-8BCA-3315F2230EB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09BD747-855E-4157-AD54-2FD8E2DEE64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133CE84-BA65-4FA0-956D-CBBFA6CC0B3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132B84F-3ACA-421B-A00B-9562FE08517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T(n)=4T(n/2)+Θ(n²)의 차수를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B3792137-4963-4652-81E6-B5079B658651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955271-D1AF-4436-B271-4467D4FE8F9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729360-CEE0-49FD-A472-AB8F4F81801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A6454B-542D-4BED-80C5-FEF3BC14E88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62E0615-CF34-4421-911D-9D2C6A8F98C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F6D8EEA-945F-4482-B91F-E5389862F70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B4E2814-5576-4F35-8CB1-E23BFDE80F8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2B50D4-F1CA-4AF5-AED0-BC1A6F41C66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E978EF-1E3F-403B-B9CA-0FD97B7B7EA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7E042BB-DE42-43C2-8DC6-206E4B58186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2847020-344B-4D0C-AC9B-81071060E08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5BEDEFD-39E5-43E3-AD19-693683695C7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T(n)=4T(n/2)+Θ(n²)의 차수를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6BE1D6-8453-4D4F-AAD5-65E722CCACB1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EF747E0-5D3A-4E71-8384-B7A2C9EDBD96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Θ(n² log n)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98700FDF-9465-4D17-9F26-FD441DE8A913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A55F87-9AA4-464A-BA40-93DA34724AEC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A5BCE068-FF46-4188-9FA4-F0B76F2B389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층 비용이 Θ(n²)이고 층 수가 Θ(log n)이다.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B3369773-A3B2-4BE0-B702-15D2801E5E1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07AAE2A-701E-4B49-98E6-911B6036A58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0E8DFE2-5439-4613-8AFA-3F2229CDA0D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AF45CB-8869-4682-9355-8F9D7E8038E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27FE41-A3F2-451A-B760-CEACB60C6DE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0719A36-EFC5-4EDF-BA43-B416919AF00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42F87B2-5FE2-43F6-AA93-959FFB2EC44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3C3381C-A233-43D6-AC5D-AF2A20AA80C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재귀식 T(n)=2T(n/2)+n, T(1)=1이 주어졌다. T(2), T(4), T(8)을 이 순서로 구하시오.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69878798-F020-455E-B5D4-F5E373C69000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4E868B-F3D6-418F-B020-9AF0FF4D8BF1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7DA7E0-98D6-4BF1-8021-D2FB78D4F4AC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32ABF3-4EA1-42BE-B96D-C74F324ED4D6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2A60BA2-D18B-4BDA-887C-0EB13B53F4D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C7A7274-B66A-49EA-B1B2-0DBFCB74441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3BF5B1D-26A2-409A-B45B-60EE0D94724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83ADC8-CECE-4883-828F-D6A942D86FE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9989A7-0507-402A-B743-064A69D9B27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06E9221-3674-4F6B-B80A-8DF52ADA8FF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4E2FB6F-6689-47DE-B34D-B87BB0FB4DD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CE5186F-DD87-43B7-BF84-3672A1BB0D0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재귀식 T(n)=2T(n/2)+n, T(1)=1이 주어졌다. T(2), T(4), T(8)을 이 순서로 구하시오.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2438B5-D1E4-4FC2-BEE6-949E423788F7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E8D366E5-FD1B-4EBD-965D-4B0842D290B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T(2)=4, T(4)=12, T(8)=32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4A6BB9C-94DF-45B6-B518-F2637179CA21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15B8D9-D24A-45F0-A9EF-782A7319B716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B344AE4-3CFF-4128-B656-439377CB5369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T(2)=2×1+2=4, T(4)=2×4+4=12, T(8)=2×12+8=32이다.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54AC48E8-687C-4622-A47A-DAD95A37D87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BD497017-0FEB-49FC-B391-B0A3C8B5B4C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265F79E-1BD4-4F25-A7EF-3035E8EF3E9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65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B38D22B-614E-46FD-8126-33546FBBBBD0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B5829C63-EB10-41AC-A65F-06DCF1667FC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129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E2E5B6-31EF-4F09-AD5F-44EBBC70267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F02752BD-8FA4-4049-A9BA-F201AB20FE54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병합 정렬로 [6,2,5,1]을 정렬하려 한다.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처음에 배열을 가운데에서 같은 길이로 나눌 때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왼쪽 배열과 오른쪽 배열을 각각 쓰시오.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EEBCD3BE-036B-4FEA-A0B6-FF434CF9A277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DCE1F0-6045-4CD7-BC4C-094DAD1DCD0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57C68B-FBE8-480A-B41B-11CC4E8943F5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0ACF3B-0173-47F5-85BB-8691BC63D8F1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DBE26C-CEF7-4772-A346-C05A16D843DC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9141363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6455F3A4-258C-468E-BF58-4A751BD09C6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5ACB4A0A-C05B-4718-8DAC-3F11DF04611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C2B14D6-3724-4DC4-AE00-791551314DF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65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3E21E23D-AA6F-47C0-A1F4-7D3FADA7520C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D057858F-0B36-4D46-9919-26801CF0055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130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C259F0-65FA-40DB-8A67-FA325965DCB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329E02-2052-42B4-96B4-987A32B34AC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5335311A-349B-4FEC-985C-1B273BC6B334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병합 정렬로 [6,2,5,1]을 정렬하려 한다.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처음에 배열을 가운데에서 같은 길이로 나눌 때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왼쪽 배열과 오른쪽 배열을 각각 쓰시오.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0E857E6C-5365-47C8-944A-3F1118AC1910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DA47A601-5E67-430E-A5F7-74B7DCA9829D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왼쪽 [6,2], 오른쪽 [5,1]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E839E057-0099-4E53-B30A-D2F3ADA55F14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9FAE5D-9EDC-4A4E-9BA4-C4182B4AC4D5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5CF10B5C-6B2F-4022-82CF-EEB3E3F9C7EF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첫 두 원소가 왼쪽 부분이고 뒤의 두 원소가 오른쪽 부분이다.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분할 단계에서는 원소를 정렬하거나 위치를 바꾸지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29193354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98DB3A8F-17ED-4D95-B755-DBB51B1B5C3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9FA911C8-EC6E-4E06-8016-C7862D685AE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B047B30-32E4-4E4C-96D8-95009004516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66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135F259B-2224-42E5-B1DB-0BF2F1A93E9F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9024C881-E498-4D15-9B2F-426C34C38461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131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42933A-C1F7-4867-B772-5F4BDE05771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8306982B-D3DA-49D3-899E-275E2F5A0C42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병합 정렬에서 한 원소씩 나눈 [6], [2]를 병합하고,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[5], [1]도 병합한다. 두 병합 결과를 순서대로 쓰시오.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4375B3AA-41C6-4966-80C0-175D08D18EBD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4E0090-575A-482B-ADE7-706B11792CF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59D58F-E730-41D2-9497-D66FC976469F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873EF0-7581-48BD-A9AA-4C73228C1EFF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9664F7-1853-450A-BB67-D3D8F7CF9F0B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08433551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602DC412-D84E-4017-B557-488F9FA086C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FC4FC62E-FF19-443A-9807-C703AABAAF6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A9C2AF9-B9F0-48F7-8FB3-A7CECA4B1BC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66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11C3BDA-8EB4-4392-AC69-7B7D801A2D4E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89DFB866-2D77-4B82-BA3A-6A94289E134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132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9EE187-9E8A-4AFE-9BFA-8C3C828AC07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B876B5A-8C44-4438-BAF2-4EC37D85039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75EC80D4-EC43-403B-9167-9A6B2F43837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병합 정렬에서 한 원소씩 나눈 [6], [2]를 병합하고,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[5], [1]도 병합한다. 두 병합 결과를 순서대로 쓰시오.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B12AFA9E-3A46-4606-B71F-24CA343F9521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51CDF4EF-BA49-4EE8-8898-012F3B71F73F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[2,6], [1,5]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5C44B432-FBD2-4DD9-99FE-804BA01491DE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55B0F1-26CA-4978-A5A5-2E21E428FABC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B5601C04-FE86-4045-B1B6-DCB7EFAC5BF4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6과 2 중 작은 값 2를 먼저 넣으면 [2,6]이 된다.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5와 1 중 작은 값 1을 먼저 넣으면 [1,5]가 된다.</a:t>
            </a:r>
          </a:p>
        </p:txBody>
      </p:sp>
    </p:spTree>
    <p:extLst>
      <p:ext uri="{BB962C8B-B14F-4D97-AF65-F5344CB8AC3E}">
        <p14:creationId xmlns:p14="http://schemas.microsoft.com/office/powerpoint/2010/main" val="154442025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943CB0AA-DF19-4348-8D46-20AC0CFA12F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61251BA1-A2AF-4E59-A5B3-8F430E03E1A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98079CD-F5B4-46E1-A7AD-530F93EF4DE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67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46F7285-E502-4C3D-B327-56D61BE129D6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58F22A29-21BC-4E0E-9C21-5A9609CE1B7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133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E609C3-B72B-4755-B703-CB4D652BA7D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094D0298-1A61-43AE-BA5B-434EDC6141B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정렬된 [2,6]과 [1,5]를 오름차순으로 병합한다.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작은 값을 차례로 넣어 완성된 배열을 쓰시오.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ECCC3DD8-390D-4FC6-9E99-AC7AD31088B4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DDB16E-5C73-4A01-A16F-D2781AB93947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9028AB-A6A0-444C-970D-B7F484216533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3BCD4C-3C84-4169-9960-A50C526CC50E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1BDA1F-4A98-4643-93F9-E3B6387ABBEC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28253963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0FAC45F8-4655-4252-B0E5-A66E471E53C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01F3CFCA-D724-4629-9494-A1D5C751EA4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6F8E31F-875F-4FCC-95EF-F03BCF45B5B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67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9CC6A46-708B-45EA-A1F2-2CC521427AC0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AB9865A4-C227-4B98-B8A1-3FDE98773981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134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F30CBD-1A3A-4BE5-886B-1590ECBB79C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C0DF48-C809-48AF-9856-2170956A0FB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576C2072-9234-411B-9137-2481DC1F454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정렬된 [2,6]과 [1,5]를 오름차순으로 병합한다.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작은 값을 차례로 넣어 완성된 배열을 쓰시오.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FB850198-DEA0-4C04-B161-BD7F511ACB4C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0A56EC11-E157-47A4-A20F-70C5AB48DF9C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[1,2,5,6]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5776C486-10A7-4FF4-8CEB-50DC35E0AEF3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125A8F-B591-4579-B343-29B2F6190B71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73AFC98B-80AE-4192-AC56-6283051239F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2와 1 중 1, 2와 5 중 2, 6과 5 중 5를 고른다.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오른쪽이 비면 왼쪽에 남은 6을 마지막에 붙인다.</a:t>
            </a:r>
          </a:p>
        </p:txBody>
      </p:sp>
    </p:spTree>
    <p:extLst>
      <p:ext uri="{BB962C8B-B14F-4D97-AF65-F5344CB8AC3E}">
        <p14:creationId xmlns:p14="http://schemas.microsoft.com/office/powerpoint/2010/main" val="343451724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2D1E797D-D23C-42E6-9B6D-76902A108AF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63F9DD96-37A1-49CE-A78A-0F6306146BD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7D2F042-5F4C-47DE-BA2E-454906BD856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68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A03F5A2-94D4-48AF-AA50-DFDD3159FAAD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5AB2F043-F546-42B1-A2FF-11A8714DF4B6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135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7D4EA6-8A4A-4280-9E60-8DD66E435A0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B6BE5E6C-13A8-48A8-98F2-64C68067A19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퀵 정렬의 분할이 끝나 a=[3,4,1,8,7,6], L=3, hi=5이다.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피벗 6을 제자리에 놓으려고 a[L]과 a[hi]를 교환한다.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교환 후 배열과 피벗 인덱스를 쓰시오.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8ADA8424-F193-4AE5-9400-6875214CD983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459B5C-8E8F-4224-8D02-D8AA72C939F7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F91ADD-56EB-41B5-8153-14EB2DA63E92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1B3D35-898C-49C8-953C-1D05CB354B2D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409393-D3BE-4457-9833-D9CFF2396ADE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12936650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18259A4E-4166-4D55-A609-D278E7ACF39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954FDB23-D87D-45F6-8E11-556999525D0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E829FCF-C8D5-4DD2-8E68-062E12A97D1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68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D86B6FEE-57D8-4C9C-8C2B-99F59D310EDA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3B655258-AF0B-469E-88C7-B75EFE30988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136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56CA1A-8280-4900-8F7C-F6B3BB3DCDA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205EE3-12A3-457F-9E51-D708B803BFE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D4B23DF2-EE33-4162-8C33-51753E6B4F1B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퀵 정렬의 분할이 끝나 a=[3,4,1,8,7,6], L=3, hi=5이다.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피벗 6을 제자리에 놓으려고 a[L]과 a[hi]를 교환한다.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교환 후 배열과 피벗 인덱스를 쓰시오.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BD4FE794-E0E2-4D27-AD31-EC21AF77CD59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038F4BFD-FFBA-4E42-A7C4-98AC4A9E2134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배열 [3,4,1,6,7,8], 피벗 인덱스 3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7AA790A5-98EE-44E7-A995-1ACDFD204418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6A6FC7-AD43-4738-AB7B-F08743E8A374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953ABD1B-5084-4184-A377-668FF826511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인덱스 3의 값 8과 인덱스 5의 피벗 6을 교환한다.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피벗의 왼쪽 값은 6 이하이고 오른쪽 값은 6보다 크다.</a:t>
            </a:r>
          </a:p>
        </p:txBody>
      </p:sp>
    </p:spTree>
    <p:extLst>
      <p:ext uri="{BB962C8B-B14F-4D97-AF65-F5344CB8AC3E}">
        <p14:creationId xmlns:p14="http://schemas.microsoft.com/office/powerpoint/2010/main" val="79945011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6CDF2427-40E8-4196-8959-CC473FEAB0D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3968BEDA-1FF6-46C8-89DB-E9A3D71E2ED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9618738-4BFC-4765-B192-F3C3FF7D6AE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69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51A189C-46B5-4B0A-ADC2-97DD6B730660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BFBFB318-0B94-46E4-BC8C-B0EAB9D5AA8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137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DD294C-C093-4BAD-A314-94B9520D0CF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86C5C71A-85BF-4B9F-ADFE-CCE436EED1FA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a=[8,4,1,3,7,6]에서 피벗은 a[5]=6, L=0, R=4이다.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L≤R이고 a[L]≤6인 동안 L을 늘린 뒤,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L≤R이고 a[R]&gt;6인 동안 R을 줄인다. 멈춘 L, R은?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937AE5D9-3B2E-47ED-8170-2159F56EBB1F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DC4BB4-3CFA-43D6-B9CA-3F82C11921DF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D82B79-835B-4F77-892B-EE0451B8E786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927328-AAD4-41FB-BAAF-CF39BC1E4CFA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C73427-0E6D-4BFD-95FE-ACAA891B390A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00144852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6FF86552-0C26-41C1-AC73-76787C42227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8286411C-A7A0-4C23-811F-F2F535720AF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788B3F9-AE55-4FA3-A832-C8B240C4581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69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0E54508-1357-4921-817E-F03AE229D6D5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237DB1D6-F5AF-456B-890F-EA6978221506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138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6FAA1D-5153-4793-BA24-42BCEFBBCBF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03F580-6AAE-42A3-BFAF-5EE42D6E673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C6289D10-6B6C-4113-B9C3-F83474F33D1B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a=[8,4,1,3,7,6]에서 피벗은 a[5]=6, L=0, R=4이다.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L≤R이고 a[L]≤6인 동안 L을 늘린 뒤,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L≤R이고 a[R]&gt;6인 동안 R을 줄인다. 멈춘 L, R은?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FC14B974-FBE4-4B6F-9632-B8FAA957D403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C12CD0DC-629B-4350-869D-6046A8C096BB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L=0, R=3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E6DF38D0-AF7D-4BD5-8619-D1739EB5A08D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817B18-2EE8-4E14-B8CC-BF2F32307310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A39A3F45-54D7-448F-862A-6044A4C399F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a[0]=8은 6보다 크므로 L은 0에서 멈춘다.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a[4]=7은 6보다 커서 R을 3으로 줄인다. a[3]=3에서 멈춘다.</a:t>
            </a:r>
          </a:p>
        </p:txBody>
      </p:sp>
    </p:spTree>
    <p:extLst>
      <p:ext uri="{BB962C8B-B14F-4D97-AF65-F5344CB8AC3E}">
        <p14:creationId xmlns:p14="http://schemas.microsoft.com/office/powerpoint/2010/main" val="324193570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7C1EE893-EB10-4524-843F-C1D71514B8B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EE9A046C-5B82-4508-92A3-E4767EEA0E2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E31B2A-9CFC-4BB5-BA98-B2BF56865A7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70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324FB15D-8A57-437B-981B-695BC0753A97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1FEC01C6-6835-4FEE-82A7-0B9A1BA92A1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139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73B0A7-1478-444E-B5F9-699D34B958E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7E11308F-A4B7-4554-A546-A440DBC400A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퀵 정렬의 [0,5] 구간에서 피벗 인덱스 p=3이 확정되었다.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피벗을 제외하고 재귀 정렬할 왼쪽·오른쪽 구간을 쓰시오.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구간은 양 끝 인덱스를 포함한다.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2953641C-3690-4FBA-A8CA-B8D970C5D55F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510EC8-408C-4F76-861E-3BA8B1AD371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338350-3D0E-403F-9F87-F929F750EED4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17E704-7929-414F-BD66-55983238C20F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A21E91-4C66-4EAF-BE95-3556CB7FC17E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6758193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C5A768A5-3CCE-4071-813E-F6D84B989E5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계산·추적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7B0658B2-4E98-4D72-8982-C0D04F03FAB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55F8165-9BAF-4AE5-A10D-F4769EA1B92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70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84227DC-3F5A-4F6A-87D3-4E52C3EBB847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19B2B1BE-07C7-4D19-8F24-C659ED8AC83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140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BD2B04-822A-45BE-8B49-5EBA8F27D4F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F54541-9F25-44E9-AD58-A70539D4ADD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AC8308EE-7828-4DFD-BDA0-FC46A5B0E58B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퀵 정렬의 [0,5] 구간에서 피벗 인덱스 p=3이 확정되었다.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피벗을 제외하고 재귀 정렬할 왼쪽·오른쪽 구간을 쓰시오.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구간은 양 끝 인덱스를 포함한다.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42C88C22-5674-4341-8FE7-4151D1AC0958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478A83DB-7C56-4EC1-AD58-84A0EA169C3E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왼쪽 [0,2], 오른쪽 [4,5]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73B0AD1F-5E40-47D0-88AC-646FF6F62D08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A7D5E4-9AE7-4B72-A7CD-893F52C5078C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26610BE9-5C37-4A1D-B9BE-85E3ED58132F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피벗 인덱스 3은 다시 정렬하지 않는다.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왼쪽은 [lo,p-1]=[0,2], 오른쪽은 [p+1,hi]=[4,5]이다.</a:t>
            </a:r>
          </a:p>
        </p:txBody>
      </p:sp>
    </p:spTree>
    <p:extLst>
      <p:ext uri="{BB962C8B-B14F-4D97-AF65-F5344CB8AC3E}">
        <p14:creationId xmlns:p14="http://schemas.microsoft.com/office/powerpoint/2010/main" val="177629416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1B028569-5FF9-4664-B1F0-E1C44D1AEEF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0829432-6756-4196-A7F0-0A8239BB917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932D058-221E-4BD5-8075-5A455B0D819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844444-090E-4621-9D57-69770A3DEB7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37CEE4-167D-4179-BF95-33ED98D7280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F119B5A-C3E9-4E3F-8A56-7F80D6E59B9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5793F8F-489D-4A60-B9F1-1222930A1D5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39A160F-C9D4-4C70-898D-B1C9FE3F23B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표준 병합에서 두 현재 원소 중 작은 것을 먼저 출력해도 되는 이유를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C8EADFEF-59BC-42A1-84A3-9FB748687C3C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731074-BCDC-4371-8824-ED3E141A6461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F2FF81-ABB1-4714-B7A8-36E1DDCA145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1044A3-1541-40F8-98A4-B65DC5DD8632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335B8D5E-0FD6-4DB4-A456-BC27844E40F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D572C52-F089-4F9D-80D9-17C4EE46E35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FF36315-9176-408D-AA1C-F39F21DE736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85AD57-0478-49C9-80CD-2E30CC65108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C288C4-2AD7-4BBA-8118-028919310B9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278BB1A-78AF-40CF-8234-ACE1F598873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F3692A9-5B7C-4861-97F0-7407A89FF9A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3B787F4E-FE7B-40C8-A45E-99F7AC26BA5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표준 병합에서 두 현재 원소 중 작은 것을 먼저 출력해도 되는 이유를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72E13B-8A84-4F3C-8C21-E08D76421C6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82316B56-487C-479F-874E-E38C2EEA1FC1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각 입력이 정렬되어 있어 현재 원소가 그 입력의 남은 최솟값이다.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8E618EB-DBC1-455A-8E30-A15295406238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4D85F9-E3CA-4C35-A626-3A356EDAB918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DC6FFD06-2265-4AC4-A293-918876119F18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두 최솟값 중 작은 값은 전체 남은 원소의 최솟값이다. 이를 반복하면 정렬 결과가 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A93D6CBB-C19D-4E4F-8D16-7375BE54CA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D13B400-E342-45B2-81A3-1BCCD3B1F40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DFC0C8E-6FD4-4DD6-8C34-F65DFAF5A12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CCB6FA-35A4-4E2C-AF4B-8D4170BE30B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3A8FFE-5E00-4C1A-8C19-CF071972F7F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E4024B7-E39A-4214-B238-880694DB886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E89F2F1-56D5-4A1A-8FD9-8A040D207DE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AF92B4B-1E29-4B90-8C6C-12CFA5F48A6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병합의 동등 키에서 오른쪽을 우선하면 안정성이 깨지는 최소 반례를 제시하시오.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4B15EB33-107E-4021-B517-9FFD72791EC7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5461BF-DF85-4598-8BB3-5FEC083E487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24D521-618F-4B95-96E8-E38D0C2A5F75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70C89B-EC8B-4F80-9BF1-CEC40AA737FD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D7FA371-4793-4BED-9045-78665B8ABD9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63D0629-0BDC-4A9B-BA41-9774E9F9419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79E3A0F-EE83-45C9-89DD-4E57551C5A9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DE09D4-66AD-4328-849D-5EA2D02BF03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235AD2-6D00-4F88-AD84-51E3EAB1829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667D946-5BEB-4338-B648-24D47DDBC49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CFB469C-5C08-4E6B-90DB-177E09A46EF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3175CF3-F580-4640-AF42-E60AFF93EDD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병합의 동등 키에서 오른쪽을 우선하면 안정성이 깨지는 최소 반례를 제시하시오.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79C3E3-28C8-4EEF-A173-FD4C7876B7A9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C0805A99-B882-4F71-A02F-EB4C52906473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왼쪽 [2A], 오른쪽 [2B]이면 결과가 [2B,2A]가 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7258399-7A15-49E5-B55B-5E6862E38B07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5E5F7E-61E0-4A5B-8E11-17851E3443F1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41D5C746-BD13-44FB-9DB5-37B1EACE4D45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원래 앞에 있던 A가 뒤로 이동했다. 왼쪽을 우선하면 같은 키의 상대 순서가 유지된다.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F7CFC4CE-3935-4FC8-94E3-AD4C7D1268F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4A6EA7F-BAD2-46BF-9922-A0975DED16D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E3FD62E-4E30-4FB7-A87D-48D6CBF2683D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8A3777-87F1-4B03-977E-BF183A7D39A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D47123-FE8A-428C-A24A-8385A2CF73D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E1BB89B-ADAD-4309-907C-65190700C3D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E5CF0FD-A77B-487B-ABDE-7B57765731E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469984E-9855-494A-9E6B-40A99AB966A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합병 정렬에서 반열린 구간 [lo,hi)를 쓰는 장점과 기저 조건을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DDCC6347-3BCD-4C7D-8693-F4F340B28A76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9E08CC-A5A8-4532-9E16-9E957D9824B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E2FE2D-100F-41B6-841E-D23BDEC3AC57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67722B-1C52-47F3-83BE-54DEA1BE0A37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1A271A5-226C-4014-B273-5FA0D4A2EC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861810C-B323-41DD-840F-A09744FC1EA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BBEC944-7871-4FA1-B113-E9832E4C777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C44D6E-199D-4AE9-A479-45F27C6EF1E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4513F8-6653-4BC3-8D35-223BC135212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C5D8AE9-474A-4DC3-8DA3-0CD754092AB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9CE3239-7E2B-4743-B612-94B1AB881DD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A240DB2-1263-4408-8AC4-EB96E93E7BD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합병 정렬에서 반열린 구간 [lo,hi)를 쓰는 장점과 기저 조건을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8E54EB-E664-44FC-8381-96B0DA9490B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FDB1A55-BD8A-4788-BA5F-3E4C649A8D78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길이가 hi−lo이고 hi−lo≤1이면 종료한다. 분할은 [lo,mid),[mid,hi)이다.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1B794292-26D7-4934-B573-FE610752FD2E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4BBFFB-0D61-4574-8C48-27B849254B06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254E2B75-E948-4467-B8F2-3AB054AC5F28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원소가 중복되거나 빠지지 않고 빈 구간도 길이 0으로 표현된다.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9949024E-B6DC-4B14-B2C5-2F14502976B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9123544-3636-48AE-8954-88A4CA89E69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F2BCECC-B4D7-4634-8360-3C4B899E038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706630-BB2C-4DD6-BA8D-B795CF5F751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529681-DC42-4A52-878E-74F3768B785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01E9B60-819F-4E0C-8BFA-FF17B9042A5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58386F7-2086-473C-9007-618C712B809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A231C73A-4383-4AE6-9B87-DB36E143F1B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최대 연속합을 왼쪽 정답과 오른쪽 정답만 비교하면 틀리는 반례를 제시하시오.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5B13BA3E-EEE8-4E9E-981B-8FAC8AC9AC57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60BBE-DACE-4FDD-86D8-C25F782ADF3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32B1D8-9BE8-49A9-9D6B-6F6FBA5AD4AB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A8CE42-7FC2-4DD4-A409-6912E17C5A1D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9CE7D5C4-57D1-4503-8E65-EF6689AA63E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09265B3-377E-47B7-87B0-680C8E9809C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F0892BA-BC4A-42FF-8591-72F2FA0965F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3FC224-E110-40BD-B012-D07913B793E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778C49-4AF4-41D3-AD82-25AE1562315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E56B4CD-E236-483E-9804-46CC1F196B3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4006310-653A-4771-96D6-AC90BAC2059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57A84F5-D130-452A-87A6-8B736B3BF83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최대 연속합을 왼쪽 정답과 오른쪽 정답만 비교하면 틀리는 반례를 제시하시오.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5015B0-3B0B-4C2D-8D6F-0DB1DF9C3FB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002CFF26-DC7A-4487-B859-5005463F9AE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[2,3]을 둘로 나누면 각 답은 2,3이나 전체 답은 5이다.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4EFA8A7E-4587-4279-A27D-F697E3D7D808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8EB65D-8C09-41A3-ADC5-69D1FAB90832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26A139B2-1761-409B-839A-CE0EC5399738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경계를 가로지르는 구간을 빼먹었다. 왼쪽 최대 접미와 오른쪽 최대 접두를 더한 후보가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2F93254-39FE-417B-8684-D3586C582AF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382D8CD-A243-4677-98AA-E6AD92CC55F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A6C903A-F5B3-4FB9-8F88-0B17A35FF18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75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BF54C6-E66E-4B84-8A9F-8A3FAD996EC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DC9536-E12E-49DC-9E97-40530DFC912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AC943A5-8407-4B17-96B1-02829A3CE5A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B56EAA8-A342-4093-B0EB-5F57D3B0F6A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9B3D67C-E2FB-4EA4-8C52-E26833C2BCA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비어 있지 않은 최대 연속합에서 최댓값을 0으로 초기화하는 코드의 반례와 수정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원칙을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981228BA-F89F-444F-B620-CD6B69BCC2C8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5F5B9E-2E33-4C2A-897E-454B2C2218B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A52225-8BE8-4ED7-A0EF-99D829A2FEF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69BFC2-6053-4A53-B212-8CEE7F4400CD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0578DEC3-8D4E-4582-BE84-02FB6689A00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A6E2446-4605-4578-905E-5F6CF73346B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A0EDB8F-B2B4-47C5-9706-27F19D4E376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75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FF08B7-7446-4B59-949E-44C538B2087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7DF1DB-E86A-4516-AED5-F0DE46D7A93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6A7C932-7D82-404B-B250-D42EAB07EFB5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1235BC5-3D4C-4CD0-8D61-FB4C2CCF6D5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6D85C47-D9AE-4415-B54C-B3214066A57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비어 있지 않은 최대 연속합에서 최댓값을 0으로 초기화하는 코드의 반례와 수정 원칙을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D98B81-47EC-4354-A90F-A059A36BAF47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D0FA8BB-8956-460F-BD4F-137F9E74BAD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[−5,−2]에서 잘못된 0이 남는다. 첫 유효 합이나 음의 무한대로 초기화한다.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3DD1841D-6B99-48E2-9113-5EF47AA0D21D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E4F4F6-1BCE-4773-8749-BF614EA1F79B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BD0FAAF-C300-418E-B606-4FD7FABD0D2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빈 구간을 허용하지 않는 계약을 초기값과 기저 사례에도 반영해야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71A02D00-8102-4FDE-8949-B6A82EE63C5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D2856F7-72BA-4BD1-9DA7-83946093EB6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CC22117-4BF7-415F-92DB-62D46F87432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B7EB4A-C34E-4451-8E51-98A86D538E2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B94375-540F-4F15-A381-C879908F8EB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CB9A977-0044-4AFE-BC29-5EAF6C9324F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D331331-ED1C-4DA3-9199-D63BE0D98B7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C06A21F-5357-4E8E-9051-EA758CF3B3A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최대 교차합이 왼쪽 접미와 오른쪽 접두의 합인 이유를 연속성으로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B8BAFE40-AB92-4F2A-860C-DBDD29D06ACF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E0CB4A-4E99-40BB-BAA5-F5CB8D915D21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CB0CB4-2CA3-4B29-A1E4-D45F2E8406CF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EB60A5-758D-4434-8B88-8DD9A87C0CF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07D4465D-6C20-4879-A888-3DE8D2054D6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4B8DDB7-31BA-440C-9932-0FFA5A7A1CD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73226DC-359E-4AFC-B547-72AACB8135D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E90E5C-ACF9-4F23-B66B-818E90A2595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EC1696-C3E7-43DE-B8C7-53680C67783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BEC54ABE-35B7-45DC-9885-C0FCF699545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258AF27-D244-4E75-8E0A-5D7354748BC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88DDB4F-595A-460F-BD3F-A12B2C96259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최대 교차합이 왼쪽 접미와 오른쪽 접두의 합인 이유를 연속성으로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2BA2CF-E7DC-4670-85D7-A0B3DA1DA2F4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68E7DAC8-1515-4234-92A5-065955E3CCF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경계를 지나는 연속 구간은 반드시 mid와 mid+1을 포함한다.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F6B5622E-EF4C-4987-A7C2-2FEAF0EDE0BD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0D2322-3EDA-4EFF-873E-5966A475B3C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C4B35AE6-F05C-49D0-9DA6-1051D1F246B4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따라서 왼쪽 선택은 mid에서 끝나고 오른쪽 선택은 mid+1에서 시작한다. 두 쪽을 각각 최대화해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4D4DBC72-515E-4644-9C42-156169093AB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D96FE8B0-38C0-4769-B43B-09FA94D27B5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FE644BD-2C8A-4A02-A9F5-6C9C0C3966E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77</a:t>
            </a:r>
          </a:p>
        </p:txBody>
      </p:sp>
      <p:sp>
        <p:nvSpPr>
          <p:cNvPr id="4" name="rule-77">
            <a:extLst>
              <a:ext uri="{FF2B5EF4-FFF2-40B4-BE49-F238E27FC236}">
                <a16:creationId xmlns:a16="http://schemas.microsoft.com/office/drawing/2014/main" id="{C7877664-8D73-437D-8BCE-CD6C2953885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59D804F-C88A-4AB4-9B10-5EC3352523B0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902DF8BE-3C5D-4857-A231-F83FC6C81D3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153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6E278578-108C-4F77-80B5-40BBE418FFCA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퀵 정렬의 탐색 조건은 L≤R and a[L]≤pivot이다.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왼쪽 조건이 거짓이면 오른쪽을 평가하지 않는다고 할 때,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a[L]을 읽기 전에 L≤R을 먼저 확인하는 이유를 설명하시오.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0CE849F0-AB65-41E3-850D-CC243C6E7416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rule-78">
            <a:extLst>
              <a:ext uri="{FF2B5EF4-FFF2-40B4-BE49-F238E27FC236}">
                <a16:creationId xmlns:a16="http://schemas.microsoft.com/office/drawing/2014/main" id="{0211E7C8-FE8E-438C-9D45-3F8094B9853E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rule-79">
            <a:extLst>
              <a:ext uri="{FF2B5EF4-FFF2-40B4-BE49-F238E27FC236}">
                <a16:creationId xmlns:a16="http://schemas.microsoft.com/office/drawing/2014/main" id="{BA39A0E8-1C3F-40CA-8B80-A0CD6944D61F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rule-80">
            <a:extLst>
              <a:ext uri="{FF2B5EF4-FFF2-40B4-BE49-F238E27FC236}">
                <a16:creationId xmlns:a16="http://schemas.microsoft.com/office/drawing/2014/main" id="{AE451B75-FD91-4B1D-BE18-93A429AB84E7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rule-81">
            <a:extLst>
              <a:ext uri="{FF2B5EF4-FFF2-40B4-BE49-F238E27FC236}">
                <a16:creationId xmlns:a16="http://schemas.microsoft.com/office/drawing/2014/main" id="{24F2AFD5-15D2-431C-9831-1BEB4570CCDC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86014665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33F0C71F-2A2C-4E78-925C-B56B5A06DE5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06A9CC82-AC00-472B-837C-53CC0B15E3C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FBF7F3A-0FA7-411D-A806-B68A1A65F0D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77  정답과 해설</a:t>
            </a:r>
          </a:p>
        </p:txBody>
      </p:sp>
      <p:sp>
        <p:nvSpPr>
          <p:cNvPr id="4" name="rule-82">
            <a:extLst>
              <a:ext uri="{FF2B5EF4-FFF2-40B4-BE49-F238E27FC236}">
                <a16:creationId xmlns:a16="http://schemas.microsoft.com/office/drawing/2014/main" id="{CDD61AFA-D6C1-4FD8-B03E-8DC44487B2B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44822BB2-1A07-47B7-A7AC-11563BE4A8F0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7263232F-FC15-47E2-B32A-D080DA21851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154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45C25C8B-5063-4E83-99D6-5C0437047349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퀵 정렬의 탐색 조건은 L≤R and a[L]≤pivot이다.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왼쪽 조건이 거짓이면 오른쪽을 평가하지 않는다고 할 때,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a[L]을 읽기 전에 L≤R을 먼저 확인하는 이유를 설명하시오.</a:t>
            </a:r>
          </a:p>
        </p:txBody>
      </p:sp>
      <p:sp>
        <p:nvSpPr>
          <p:cNvPr id="8" name="rule-83">
            <a:extLst>
              <a:ext uri="{FF2B5EF4-FFF2-40B4-BE49-F238E27FC236}">
                <a16:creationId xmlns:a16="http://schemas.microsoft.com/office/drawing/2014/main" id="{D1D7292D-4351-40B8-A5AD-A3B54430A946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7D3D241C-83AD-4B51-8D36-FCED775C3E09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포인터가 교차한 뒤 탐색 구간 밖의 배열 값을 읽지 않기 위해서이다.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32C23F15-F29D-4DED-AAF6-14A472575572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76D3CAC2-D880-41D3-AB36-3835FDFAC178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L&gt;R이면 아직 검사할 구간이 비어 있다.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조건의 왼쪽에서 이를 확인하면 a[L] 접근을 생략하고 탐색을 끝낼 수 있다.</a:t>
            </a:r>
          </a:p>
        </p:txBody>
      </p:sp>
    </p:spTree>
    <p:extLst>
      <p:ext uri="{BB962C8B-B14F-4D97-AF65-F5344CB8AC3E}">
        <p14:creationId xmlns:p14="http://schemas.microsoft.com/office/powerpoint/2010/main" val="2422148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F5092C36-9B4F-4303-8D06-DFBF6DAC90E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B5D71C6F-DB49-4E8B-9ECE-1A38442C28F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1B316A5-19E6-45DA-A76A-D2A05A829AD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78</a:t>
            </a:r>
          </a:p>
        </p:txBody>
      </p:sp>
      <p:sp>
        <p:nvSpPr>
          <p:cNvPr id="4" name="rule-84">
            <a:extLst>
              <a:ext uri="{FF2B5EF4-FFF2-40B4-BE49-F238E27FC236}">
                <a16:creationId xmlns:a16="http://schemas.microsoft.com/office/drawing/2014/main" id="{3EF05CC5-FE5A-42AD-ACCE-EF90DB8CC4A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F5740B5-F404-43E6-A779-9D4D0486ADF7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655F61C7-62D5-48C0-99AA-83CFCB5EBE4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155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BC4C8403-E2BF-447E-9CD8-29707799333A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빠른 거듭제곱에서 같은 절반 지수의 함수 호출을 두 번 곱하지 않고,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half=mod_power(a,b//2,m)을 한 번 호출한 뒤 half * half를 쓴다.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두 방식의 결과는 같아도 저장한 half를 재사용하는 방식이 효율적인 이유를 설명하시오.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BDB0DC04-C7B7-4F21-B72B-83229A683860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rule-85">
            <a:extLst>
              <a:ext uri="{FF2B5EF4-FFF2-40B4-BE49-F238E27FC236}">
                <a16:creationId xmlns:a16="http://schemas.microsoft.com/office/drawing/2014/main" id="{4F8A23A0-C7E8-4763-BB92-C881B5802F64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rule-86">
            <a:extLst>
              <a:ext uri="{FF2B5EF4-FFF2-40B4-BE49-F238E27FC236}">
                <a16:creationId xmlns:a16="http://schemas.microsoft.com/office/drawing/2014/main" id="{CF341C10-4F87-4E9A-9B80-D4D6E3BCAFF5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rule-87">
            <a:extLst>
              <a:ext uri="{FF2B5EF4-FFF2-40B4-BE49-F238E27FC236}">
                <a16:creationId xmlns:a16="http://schemas.microsoft.com/office/drawing/2014/main" id="{7F9EF727-84EF-4EE3-9FAE-A03BA0D1158C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rule-88">
            <a:extLst>
              <a:ext uri="{FF2B5EF4-FFF2-40B4-BE49-F238E27FC236}">
                <a16:creationId xmlns:a16="http://schemas.microsoft.com/office/drawing/2014/main" id="{AACF2B21-860A-4F61-9187-0FBBB73938AB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00093633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DAB42E7D-3E73-42E1-81C9-A2FC7722766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717005DC-E60E-44D7-800C-D1AC4180CB6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81EFA-BE06-4533-9A47-0287DB25753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78  정답과 해설</a:t>
            </a:r>
          </a:p>
        </p:txBody>
      </p:sp>
      <p:sp>
        <p:nvSpPr>
          <p:cNvPr id="4" name="rule-89">
            <a:extLst>
              <a:ext uri="{FF2B5EF4-FFF2-40B4-BE49-F238E27FC236}">
                <a16:creationId xmlns:a16="http://schemas.microsoft.com/office/drawing/2014/main" id="{13995C0E-BDC8-4AE1-8056-1896D96CBDB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59554418-352D-4211-86D4-D975BBAD6E39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F1DEFE6C-ED93-4362-A931-06B89B4CCDA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156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CD786EB7-E494-43BC-AE80-6731000B5F0A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빠른 거듭제곱에서 같은 절반 지수의 함수 호출을 두 번 곱하지 않고,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half=mod_power(a,b//2,m)을 한 번 호출한 뒤 half * half를 쓴다.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두 방식의 결과는 같아도 저장한 half를 재사용하는 방식이 효율적인 이유를 설명하시오.</a:t>
            </a:r>
          </a:p>
        </p:txBody>
      </p:sp>
      <p:sp>
        <p:nvSpPr>
          <p:cNvPr id="8" name="rule-90">
            <a:extLst>
              <a:ext uri="{FF2B5EF4-FFF2-40B4-BE49-F238E27FC236}">
                <a16:creationId xmlns:a16="http://schemas.microsoft.com/office/drawing/2014/main" id="{DAE4C617-48F1-44D9-B115-AE492FCAAE98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9AB0CE3B-FDC1-4DD4-9F86-140531A42EDA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같은 작은 문제를 한 번만 계산하고 저장된 결과를 두 번 사용하므로 중복 재귀 계산을 줄인다.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2BCF718E-040E-498E-8DE4-1007AF81D772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0587319E-7EF9-438C-9938-016D2293B442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half * half는 함수 호출 두 번이 아니라 저장된 숫자 두 개의 곱셈이다.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지수를 절반으로 줄이는 재귀는 각 단계에서 한 번만 실행된다.</a:t>
            </a:r>
          </a:p>
        </p:txBody>
      </p:sp>
    </p:spTree>
    <p:extLst>
      <p:ext uri="{BB962C8B-B14F-4D97-AF65-F5344CB8AC3E}">
        <p14:creationId xmlns:p14="http://schemas.microsoft.com/office/powerpoint/2010/main" val="221989948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BB8429FF-378A-4F29-A17B-1260B0128C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BE833F62-D63B-4533-8311-8C8A4131852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36BCF92-517E-4349-A565-B1EBE19D9D0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79</a:t>
            </a:r>
          </a:p>
        </p:txBody>
      </p:sp>
      <p:sp>
        <p:nvSpPr>
          <p:cNvPr id="4" name="rule-91">
            <a:extLst>
              <a:ext uri="{FF2B5EF4-FFF2-40B4-BE49-F238E27FC236}">
                <a16:creationId xmlns:a16="http://schemas.microsoft.com/office/drawing/2014/main" id="{1B634B51-6E4A-4DB9-9179-EECE28F538F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DEC8234E-B4F0-4E5C-812B-C2DFB021D59D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67A3B60E-2FA9-46F2-9A04-E11AA05045D1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157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DEA12AB5-F679-41A0-8EA8-01B414FA59C3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영상 배열 image[r][c]에서 r은 행, c는 열이다.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쿼드 트리의 좌하 자식은 (r+half,c,half)로 호출한다.</a:t>
            </a:r>
          </a:p>
          <a:p>
            <a:pPr algn="l">
              <a:lnSpc>
                <a:spcPct val="114000"/>
              </a:lnSpc>
              <a:buNone/>
              <a:def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(c에 half를 더하는 대신) r에 half를 더하는 이유를 위치와 연결해 설명하시오.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DFF6A7B9-1D0F-47B7-9D13-F852A4B6AB17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rule-92">
            <a:extLst>
              <a:ext uri="{FF2B5EF4-FFF2-40B4-BE49-F238E27FC236}">
                <a16:creationId xmlns:a16="http://schemas.microsoft.com/office/drawing/2014/main" id="{46B5C68C-9DC7-4C11-8DDD-4F2288F087A3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rule-93">
            <a:extLst>
              <a:ext uri="{FF2B5EF4-FFF2-40B4-BE49-F238E27FC236}">
                <a16:creationId xmlns:a16="http://schemas.microsoft.com/office/drawing/2014/main" id="{08DC8629-424C-4B7F-B06E-CFEEA77DBFCC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rule-94">
            <a:extLst>
              <a:ext uri="{FF2B5EF4-FFF2-40B4-BE49-F238E27FC236}">
                <a16:creationId xmlns:a16="http://schemas.microsoft.com/office/drawing/2014/main" id="{C35A4AA4-6A19-4914-8C5F-325C8751B293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rule-95">
            <a:extLst>
              <a:ext uri="{FF2B5EF4-FFF2-40B4-BE49-F238E27FC236}">
                <a16:creationId xmlns:a16="http://schemas.microsoft.com/office/drawing/2014/main" id="{39090C9B-28A4-4CAD-A558-491EF7766BDA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93956131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564C63DD-B6F0-48BB-B18D-E30395542B8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B72441AF-30A4-487A-B3D3-E38071C9E78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63E854-4797-4957-B8A2-F1C7C120A70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79  정답과 해설</a:t>
            </a:r>
          </a:p>
        </p:txBody>
      </p:sp>
      <p:sp>
        <p:nvSpPr>
          <p:cNvPr id="4" name="rule-96">
            <a:extLst>
              <a:ext uri="{FF2B5EF4-FFF2-40B4-BE49-F238E27FC236}">
                <a16:creationId xmlns:a16="http://schemas.microsoft.com/office/drawing/2014/main" id="{43EC8A8F-56FB-44FA-A951-9F051E422EF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0052D83-6C7B-4BA7-B4AD-694A3B837871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59EF5B12-3A91-4474-B5EB-02608C12E08B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158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21879F5E-C9C5-4489-8FFD-2C045EA92ADA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영상 배열 image[r][c]에서 r은 행, c는 열이다.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쿼드 트리의 좌하 자식은 (r+half,c,half)로 호출한다.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(c에 half를 더하는 대신) r에 half를 더하는 이유를 위치와 연결해 설명하시오.</a:t>
            </a:r>
          </a:p>
        </p:txBody>
      </p:sp>
      <p:sp>
        <p:nvSpPr>
          <p:cNvPr id="8" name="rule-97">
            <a:extLst>
              <a:ext uri="{FF2B5EF4-FFF2-40B4-BE49-F238E27FC236}">
                <a16:creationId xmlns:a16="http://schemas.microsoft.com/office/drawing/2014/main" id="{B22BF9BF-DA2C-47AA-8D9E-A7EE7EC0189A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B8E88C72-2168-45F5-9726-C42D7A72345A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행 번호가 증가하면 아래로 이동하고, 좌하이므로 열은 그대로 유지해야 한다.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3FF23CC6-D45B-4341-B128-D93EC413CE2F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70C262EB-066E-47A0-9038-2515A0071A2D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r+half는 현재 영역의 아래 절반을 가리킨다.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c+half로 바꾸면 오른쪽으로 이동하므로 좌하가 아니라 우상이 된다.</a:t>
            </a:r>
          </a:p>
        </p:txBody>
      </p:sp>
    </p:spTree>
    <p:extLst>
      <p:ext uri="{BB962C8B-B14F-4D97-AF65-F5344CB8AC3E}">
        <p14:creationId xmlns:p14="http://schemas.microsoft.com/office/powerpoint/2010/main" val="56355451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562FC858-9628-4EE7-8E6F-33EF257AEC0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8AF96C7-D8A2-4360-9086-C01933A3DE6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44C473E-C19C-49BB-BB86-C7703E450EA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E54141-2D8B-400F-9AD4-06F09AB2C78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FE5392-5160-4A70-9030-02166FBBD7B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E5ED546-047F-4ACA-A058-F07491C9D2E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1D70E27-2A0F-4D04-8795-0C6422F52B8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66B596FC-2D52-45FB-BC9F-84A8068AB49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쿼드트리 부호화에서 균일 영역의 자식을 더 만들지 않아도 원본을 복원할 수 있는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이유는?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BDD8AA15-7633-4FD8-9E5F-06292284401D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9AC48E-7DE2-4100-BB7A-CCEC697F563B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38565C-3068-4EA3-AE93-C0335918C28F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461B37-BE30-4D33-AFF0-DC554A11629B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91523862-D381-472C-AC0B-1291D9A1AED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AEAD6C1A-3E57-417D-BBF9-0BAE84D25BD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C1DDBA9-1E46-4617-B9B4-6F479C4FC7F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CD3FA8-E30D-4216-B734-D124D41108C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354D2A-2103-4E0F-96B1-690B6E51F83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DBE804C-5C90-4696-8B7C-F7F108FE58F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27A9778-7626-43A4-AC7B-3354846178B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7EB2A89C-2FC8-4541-AAD3-AFC05549818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쿼드트리 부호화에서 균일 영역의 자식을 더 만들지 않아도 원본을 복원할 수 있는 이유는?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0F1312-2BA3-4C0F-8846-D47D584AA66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159C1F67-432B-48FA-8357-BEEC1D44CAA0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영역의 위치와 크기를 알고 있으므로 색 하나로 모든 칸을 채울 수 있다.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98F677F3-157E-4B91-8EC8-6429742542A6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68DD5B-E61C-4672-A57E-BE72919AEB41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0EB7E8BC-C7F6-4C38-9814-29821FA36E08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혼합 영역만 정해진 순서의 네 자식을 읽는다. 리프의 색과 재귀 위치가 함께 정보를 보존한다.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72CF18B8-95D5-4399-8BD9-AB754869110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FA965AED-225F-4120-9F5E-D9763E340DE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995D5D7-75FB-456A-BC0F-3A8F86A4433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BE548E-3257-4445-BC37-CCF1406454A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E59143-4239-4BE9-9C23-574C6F1D85F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E427342-4B82-45F2-995B-B90D7F29594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A5A3D1B7-87FD-448A-8128-7ED8D3FDDD6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15DE5DB2-7AB1-4E1B-B1C6-AB67F26B90D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체커보드 영상에서 쿼드트리가 압축 효과를 거의 내지 못하는 이유를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B012774E-250F-47B8-81D5-57B1831E4269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9F78FB-3DFB-43DF-A827-E4372E39ADA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1A4EDF-E73D-418F-80EF-97811A9B927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6072CA-F676-4C28-B152-4189416726DE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618A940-AEFA-4968-AD34-9AD665D2BB5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1B0BD2E-5C26-4DB7-894B-8652C906027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DE89264-02A4-4137-B51C-ACEB4FB82CA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FBEBE0-7EE0-48E7-8C26-B86DE2269E4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386624-EE84-4E9A-A14E-BCDD8E1DD13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24C8674-866F-4F60-B768-1629ED1718A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E61D3404-AADD-4B1A-8461-AB8EF6E4AA0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21B8F38E-40E5-45F6-933A-5172E396BDD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체커보드 영상에서 쿼드트리가 압축 효과를 거의 내지 못하는 이유를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5502DF-15A3-419E-BF6D-D053778249A7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DB87DE0F-8D1E-4F6B-8E74-9D252E793515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작은 영역에도 색이 섞여 결국 1×1까지 내려가야 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7143135-0C1A-4D11-B4DB-88225D54953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BEBD2B-7E25-4514-B90C-097EF23B5DB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44527701-9AE8-4845-8E88-F087DBC13622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N²개 리프 기호와 내부 구조 기호가 필요하므로 균일 영상과 달리 출력 크기가 Θ(N²)이다.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421519B3-1B98-463A-8492-2320B8254B6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FB9342D-AF0A-4248-873C-1ACB5831BB0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593F240-08DB-4D4C-9F88-E2E510BD5F4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F165FE-A4A3-4F65-BCC9-A528277780F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23318D-19B1-419D-8C09-70C82393DC8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9C81CDA-E4C6-4B3D-96D3-74735256A80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D489D25-2D97-4AE3-B0C6-6DA62B7A437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C42114A-62E4-4827-A34E-2BDDFDE2F70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충돌 탐색에서 같은 쿼드트리 리프의 객체끼리만 검사하는 구현의 반례를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21302838-7420-43C4-B169-1E4298845025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D663780-8951-4C40-8EBF-DBEEC42EE1D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5A99A6-5B75-4147-8F4E-2BA8FFD946C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B2C55F-C506-4766-B9AE-0E8D425F679A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6E76B88-9514-456B-9711-0D22B039623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35A9C4D-8AA2-4921-A6A6-105FECFBC0E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D78F8214-C00C-4891-9DC6-32159DF38EB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3FDF87-1964-4AA3-B1BA-45E7F310DDC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1EEB20-E826-4D24-A0F2-A7F7503A3A5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21CEF7C-7280-4DC1-AA06-3D843EDDD52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DDDDA8F-BC4C-4E3F-AF91-7CB1E6DEB30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96429930-B5A7-4B0F-B2D5-642A4E80EF5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충돌 탐색에서 같은 쿼드트리 리프의 객체끼리만 검사하는 구현의 반례를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FAFAA0-BB1B-4F66-94BE-6E37B8AA4B4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515EC81A-DB97-400E-988B-4862685163F1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경계 양쪽에 있는 두 큰 객체의 영역이 경계를 넘어 겹칠 수 있다.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FA9D7BF8-5B26-4606-A71C-2FABB57C4895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9B122A-A454-4538-9180-A10B91B82583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355B16E3-9712-4D2D-9EA2-C1D1D23699F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서로 다른 리프에 등록됐더라도 경계·이웃 영역을 조회하거나 객체의 전체 경계 상자를 이용해야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68C0D89B-034D-4D0A-81B2-651C633C4EB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EC4153B-46FF-4E0C-94F1-9DC22C29601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A17956B-7AAA-4310-9F29-2F0560C549F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BB3878-D12D-4DAA-BADF-7C77FA72161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072B8A-64FA-4BF8-ACE0-A4F0BDFA415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847198D-A9A7-4027-A03F-8279E5B5714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6B40488-6AAC-434D-8C84-30525357C31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FB2740E1-6338-4AC4-96A3-E4C2D69AB8B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병합 정렬이 [4,1,3,2]를 [4,1]과 [3,2]로 나눈 뒤 각 절반을 정렬한다. 정렬된 두 절반과 최종 병합 결과를 쓰고, 병합 때 두 배열의 맨 앞 원소 중 어느 쪽을 먼저 고르는지 설명하시오.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EC643740-6DC8-4E54-B2F1-A4578E0010DD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00498B-33A7-4F74-88DC-A3ACCF43F9C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C89582-C75E-4584-8F86-B5AD02B137F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B58650-AD35-46EF-92E2-7E976B5E7DC6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CAB82A12-631F-4276-A231-B599329C4D5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BE9FB45-04A2-4268-B5BB-88C1B29CEA4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D1AA843-2CD7-4F11-A5A0-2C40E8CBC8A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2D3D7A-7B04-47BE-B2C7-87A4F4B5F21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352B00-9544-4E32-8307-E424AA46549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AE6C1FA-353C-496F-A464-B76070B3195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398C505-5D43-4A76-A7F4-1C6FF872213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82AD231-0796-4F51-BAC7-75EC3C2727E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644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병합 정렬이 [4,1,3,2]를 [4,1]과 [3,2]로 나눈 뒤 각 절반을 정렬한다. 정렬된 두 절반과 최종 병합 결과를 쓰고, 병합 때 두 배열의 맨 앞 원소 중 어느 쪽을 먼저 고르는지 설명하시오.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FA0A53-38C3-4B7A-9BFF-D569B00EF94E}"/>
              </a:ext>
            </a:extLst>
          </p:cNvPr>
          <p:cNvSpPr>
            <a:spLocks noGrp="1"/>
          </p:cNvSpPr>
          <p:nvPr/>
        </p:nvSpPr>
        <p:spPr>
          <a:xfrm>
            <a:off x="609600" y="2468055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F6AAA4BD-2F48-474F-8ABC-47D8E6DE5F3D}"/>
              </a:ext>
            </a:extLst>
          </p:cNvPr>
          <p:cNvSpPr>
            <a:spLocks noGrp="1"/>
          </p:cNvSpPr>
          <p:nvPr/>
        </p:nvSpPr>
        <p:spPr>
          <a:xfrm>
            <a:off x="876300" y="2601405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[1,4], [2,3] → [1,2,3,4]. 남은 두 배열의 맨 앞 원소 중 작은 값을 고른다.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65DBE22B-DF63-4E33-BDFD-D2F90DCF6119}"/>
              </a:ext>
            </a:extLst>
          </p:cNvPr>
          <p:cNvSpPr>
            <a:spLocks noGrp="1"/>
          </p:cNvSpPr>
          <p:nvPr/>
        </p:nvSpPr>
        <p:spPr>
          <a:xfrm>
            <a:off x="609600" y="3351975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E9B86C-EF4B-4AB3-9AEC-3A18657A1A32}"/>
              </a:ext>
            </a:extLst>
          </p:cNvPr>
          <p:cNvSpPr>
            <a:spLocks noGrp="1"/>
          </p:cNvSpPr>
          <p:nvPr/>
        </p:nvSpPr>
        <p:spPr>
          <a:xfrm>
            <a:off x="1752600" y="3523425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E29ADB71-28D8-4EB8-8B9D-9AF49A42AB42}"/>
              </a:ext>
            </a:extLst>
          </p:cNvPr>
          <p:cNvSpPr>
            <a:spLocks noGrp="1"/>
          </p:cNvSpPr>
          <p:nvPr/>
        </p:nvSpPr>
        <p:spPr>
          <a:xfrm>
            <a:off x="609600" y="3809175"/>
            <a:ext cx="10972800" cy="644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절반이 정렬되어 있으므로 남은 원소 중 최솟값은 두 맨 앞 원소 중 하나다. 둘 중 작은 것을 결과에 옮긴다.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0A3B3A2-372E-45D3-840B-9F68FE5E839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58CC139-65A4-4844-A4E7-B984DEBAB07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EC3D372D-676A-436D-AF28-2147CF9FBEE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3CB846-FB0A-45C2-A533-46B829BBA0C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5C62C5-095E-414D-8CE6-AB62A11A4F7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72BA4E46-E0AE-4EF5-A5CC-1B6174FE390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B7033D9-4AF3-465A-A791-00EF14081EA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B2E2FA2-9101-4DB3-BF3A-26E1B81CA43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73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T(n)=T(n−1)+n을 직접 전개하여 차수를 증명하시오.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CA0280EE-590F-4E48-B6FB-B61DDDA2AE5B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7B83E9-E1CF-48A4-A3B4-7707A65BF8F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440600-8CC3-4E54-8C05-8A3F7BE0D76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7741E4-7DE4-494D-8B0E-96067890299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37346C6F-00AD-43B8-BC89-5E11E511176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6D9F238-2D9F-4411-B640-439DF3349ED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EEF1EBF-1814-4F9F-A69B-A4102F59021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BACE41-2599-4C37-AECB-9C106AE3A41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57D043-2E32-4CBA-906C-ECB505EC01F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D890126-A746-4E42-B099-6DD9A8B773E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DFE52E0-38DA-4FD6-89A7-644E3EB33B9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B0E0E5B-21DF-4E51-B138-62F07650B7E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T(n)=T(n−1)+n을 직접 전개하여 차수를 증명하시오.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555A4A-B97B-4F1E-90E6-A386166180EB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64AECD6E-DB59-4A48-8384-A0FF3B8F18FD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n+(n−1)+…+1=Θ(n²)이다.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A29E5B9-BB43-410F-9AAB-73D9F5DAB2BF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CC2EBE-057E-4BE1-AB22-5A045769C79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055B97FB-C6BD-485B-971B-3156F8AD1931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부분 문제 크기가 고정 비율 감소가 아니므로 기본 마스터 정리를 억지로 적용하지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DB98CA82-1425-443F-B302-D74776A8279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9A3BABDA-C2AB-441F-A646-1E6AEFCDB9A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B8A769F-5E30-479D-964C-CC2728F5B27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85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C14B6CA-FA3C-4D0C-8B2D-7843FC152246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AEBAF9EF-312A-46F9-90B0-329F8C3F1B70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169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C9CFA2-DF43-4B62-9A65-BC9314917EC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FEE92052-32D0-43F3-AB2B-5A91B684F92A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정렬된 두 배열을 병합하다 한쪽 배열을 모두 사용했다.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다른 배열의 남은 원소를 순서대로 붙여도 되는 이유를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설명하시오.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623E2699-2792-47D6-A4E5-985E91D7F578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45F780-AC6E-470A-A6AF-61E39F059855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59EE86-1A67-45CF-BFBD-0A52ADB336E7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65E0EF-D316-4A80-8DA3-0CE71537CB04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389D5C-053D-4DE6-8092-1E2749D47CEA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86938173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A81E5F0C-0BC8-43D9-8090-8B893909840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DCF1C7E5-27E9-4B27-BAA6-EB60F85CEFC0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BB9B222-CCD2-496D-B3E6-C74B3A98C52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85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314D098B-6316-44FD-8C33-4BA89AA02C17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31D9FEC1-4D77-4F22-8F9C-96CA82D44D90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170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E13DE2-9CEA-4A94-BF12-098A87F612E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7808B9-11B4-4429-BCC6-1CD28D1858F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CF000532-98FA-41AC-9B7B-C4407DF50B76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정렬된 두 배열을 병합하다 한쪽 배열을 모두 사용했다.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다른 배열의 남은 원소를 순서대로 붙여도 되는 이유를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설명하시오.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80D7FCBD-86E3-4D7D-9472-EE5DA8750CE3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8689B8FD-1608-4787-8494-2C609CB6994C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남은 배열도 정렬되어 있고 비교할 반대쪽 원소가 없다.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BC1C0CE6-FA51-47FB-A134-0A3264C19099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287BF1-4D38-457C-B729-1D0E1BEEA460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B06DA56D-A618-437C-A96C-A9DD7E8F274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병합 과정에서 앞의 작은 값들을 이미 결과에 넣었다.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남은 배열 내부의 순서를 유지하면 전체 오름차순도 유지된다.</a:t>
            </a:r>
          </a:p>
        </p:txBody>
      </p:sp>
    </p:spTree>
    <p:extLst>
      <p:ext uri="{BB962C8B-B14F-4D97-AF65-F5344CB8AC3E}">
        <p14:creationId xmlns:p14="http://schemas.microsoft.com/office/powerpoint/2010/main" val="81422078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C440E35F-645C-475B-8EAB-C667B5E6755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B929D305-A20B-4861-8C82-CFB7B2E0DD2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54AE413-147A-4BAF-8AAA-51D4F315C2A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86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794B757-B097-4124-980D-190A7571BACE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D5AC0BEF-B342-42AA-BB8A-87554C67389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171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2A2443-9CF9-40C3-8EA4-43A814B6102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9391F43C-AC65-47F1-9ADC-133D5D2D612B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[1,5]와 [2,4]는 각각 정렬되어 있다. 그대로 이어 붙이면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[1,5,2,4]가 된다. 이 결과가 정렬되지 않은 이유와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올바르게 병합하는 방법을 설명하시오.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9C8FED16-08D5-408E-B69B-99243D59F0B8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EB2C56-0C3F-4C11-A32B-30ADC65D32B4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BADCB8-6879-448B-90F6-C1801AD5F0E2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D2C449-FB82-4F4A-9937-4A8270F4FCBD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864E3F-2EAA-4127-9E84-FF0FB60EBC59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19084274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E59E1B0E-24DF-4C9D-BC51-CEEE8A08AA0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851658F1-D0CF-4765-BEA1-EE9275FFB0A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1AF0D42-0866-4C69-85E0-B4F116804BD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86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DD36FB-EF9C-4929-B5E3-90453A8312DB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661AC310-65DD-45E8-B73E-03180A4150C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172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77CE8E-4AF1-4CA6-91D0-27AA5809875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D08F96-90EE-4CA5-A398-D8FAA7C5410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17C2308C-46D1-4043-8D8F-5D180E23CAAF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[1,5]와 [2,4]는 각각 정렬되어 있다. 그대로 이어 붙이면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[1,5,2,4]가 된다. 이 결과가 정렬되지 않은 이유와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올바르게 병합하는 방법을 설명하시오.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ABF7E01C-016F-4994-B811-2C489A3498A3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8871B40E-EDEC-4BC0-B03D-3D8FD3FA936A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뒤의 2가 더 작다. 양쪽 현재 값 중 작은 값을 먼저 넣는다.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AB5FD66C-3736-44B4-8509-421E1220A189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FBE28E-032B-456C-99F1-3F73914BB23D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82B50C01-EE99-416C-BE05-DE43C3B3D89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각 부분이 정렬되어 있어도 두 부분의 값 범위는 겹칠 수 있다.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양쪽 앞의 값을 비교해 1, 2, 4, 5 순서로 결과를 만든다.</a:t>
            </a:r>
          </a:p>
        </p:txBody>
      </p:sp>
    </p:spTree>
    <p:extLst>
      <p:ext uri="{BB962C8B-B14F-4D97-AF65-F5344CB8AC3E}">
        <p14:creationId xmlns:p14="http://schemas.microsoft.com/office/powerpoint/2010/main" val="335689904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ABBFB826-95A0-4C41-AF9D-E24D5890E36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4E731D42-EA08-4CAC-BD9B-6EC988E8067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0FB5B09-D6D9-4129-BED8-272D6869A6C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87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87CE568-341B-4E0D-AEAF-0CAA9904B1E3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A0B40F8F-23B1-44C2-8731-FB1D62F12A8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173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808E28-0F87-4E52-8A94-127F54B0CFA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7E8167C0-3887-4C83-B3F7-A9BDD23A8448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(점수,이름)이 [(2,A),(1,B),(2,C)]인 배열을 점수로 정렬한다.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안정 정렬은 같은 점수의 원래 순서를 유지한다.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안정적인 병합 정렬의 결과와 A·C의 순서를 설명하시오.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4B9EB334-5804-4E2D-A3F1-33FB058CED2C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E553D6-6FE9-4192-B983-DAF6167A4FB0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335182-13E3-4950-BDF0-B3EF2864A817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CC8B40-9BDD-495A-B6CA-0F1353B8C577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A60586-A48F-4D91-AB3F-B3B5ECFD68D7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707540594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8162D407-1711-45DF-993E-24D5FC56D9B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BDFD958B-7BE9-4DFF-AE16-13F625EA4FB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23220DB-9AEA-42BB-8270-209E30BE6C6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87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ABBF8B3-16A4-4633-A484-C5B46C1EB5D4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4F47BD3D-2E2D-42BD-9F30-DE5E21241DF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174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D88CF3-66AA-4F12-B342-AE133C2482F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9B75DD-57B7-4E2B-9425-9C24F82011A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D0F6D813-5623-4BE2-B671-89C55224D208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(점수,이름)이 [(2,A),(1,B),(2,C)]인 배열을 점수로 정렬한다.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안정 정렬은 같은 점수의 원래 순서를 유지한다.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안정적인 병합 정렬의 결과와 A·C의 순서를 설명하시오.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99F22770-2271-43FB-89A6-31D432460FD9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13EFE817-FF70-4DB5-B8EE-E83EF197AA98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[(1,B),(2,A),(2,C)]. 같은 점수에서 A가 C보다 앞선다.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084E6773-00D4-49D2-AA20-B8541E4737A7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EAF1AE-0413-4B03-9E2B-8094B38AF6AB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0EF0805A-C7E0-4D77-939C-635BC5D2E97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점수 1인 B를 먼저 놓고 점수 2인 A와 C를 놓는다.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A가 원래 먼저였으므로 같은 점수에서도 A, C 순서를 보존한다.</a:t>
            </a:r>
          </a:p>
        </p:txBody>
      </p:sp>
    </p:spTree>
    <p:extLst>
      <p:ext uri="{BB962C8B-B14F-4D97-AF65-F5344CB8AC3E}">
        <p14:creationId xmlns:p14="http://schemas.microsoft.com/office/powerpoint/2010/main" val="73341864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6D7190B1-5066-485E-951B-D70AA706C0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46C78455-7F80-42A6-A93F-FADBA6C6757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C380C9A-6D42-40B7-AC06-1B06A0160A1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88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8D04743A-B41D-4D76-82F8-AAE95E4430AF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F1ECEA5A-955B-43B7-B8A5-575E43240C2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175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D208E6-C183-46BA-866F-CD447D993B8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2ED78496-1B4B-4CCD-AEA8-8D4A8A91E37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양 끝 인덱스를 포함하는 quick_sort(a,lo,hi)에서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lo≥hi이면 바로 종료한다. lo=hi일 때와 lo&gt;hi일 때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각각 종료해도 되는 이유를 설명하시오.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8000CFB6-A1C3-462D-931B-CE8ED53CCF8D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BE1124-A081-4494-984B-2F5BCA889622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FEABD3-3654-40B8-B45B-0255CFD14FD6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44282C-EDDF-4701-A775-A038A4D67986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66D914-8D55-4E9E-8043-658BEB3BB6E2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8259712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E8AD20D2-3CC4-4692-B7DE-18431D246C1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4D3D54E6-D12B-4A1B-9C92-19A466E94B8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338E1DE-FC9D-43EB-996F-F73A0977EF4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88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FE746B59-7A2F-4A5C-9A9B-83B7947D09DD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3488721D-9CFC-4188-8EB7-68A3F8FF76E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176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1D8143-2D99-4630-94BE-C3C4335A66C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A506B1-138F-4059-93CD-8E9A4914BB6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D18C97F0-FF6A-4519-90E1-27D2A5E9887E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양 끝 인덱스를 포함하는 quick_sort(a,lo,hi)에서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lo≥hi이면 바로 종료한다. lo=hi일 때와 lo&gt;hi일 때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각각 종료해도 되는 이유를 설명하시오.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D5684AE7-E518-453D-8386-5C237415CB99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40152143-0929-4B3A-8550-A22E89CCCD08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lo=hi는 원소 1개, lo&gt;hi는 빈 구간이므로 이미 정렬되었다.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F10AA21E-BDB2-4CBD-A949-EB7E21FB890A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86289A-9F28-4F3B-B706-E4805E23491C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46A87777-E48E-42CC-8942-0F4F67B1A01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원소가 하나이면 비교할 다른 값이 없고, 빈 구간에는 원소가 없다.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두 경우 모두 더 나누거나 피벗을 고를 필요가 없다.</a:t>
            </a:r>
          </a:p>
        </p:txBody>
      </p:sp>
    </p:spTree>
    <p:extLst>
      <p:ext uri="{BB962C8B-B14F-4D97-AF65-F5344CB8AC3E}">
        <p14:creationId xmlns:p14="http://schemas.microsoft.com/office/powerpoint/2010/main" val="244495830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83BB8876-3EDD-4186-9BEC-6D3FB486DD2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8E7A8675-4AB7-46F1-B227-4EFCB459723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F6D8940-D080-4560-818E-82924B3D858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89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67B150D-25FB-4201-81DC-B328C225F064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A4D30355-6FD1-4825-81B7-38E2D8A1349A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177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58D004-E8B6-4E76-A6A3-228A7250281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A74DD156-D310-4DE1-BECC-71CF85C51E68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퀵 정렬에서 피벗이 인덱스 p에 확정되면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[lo,p-1]과 [p+1,hi]만 재귀 정렬한다.</a:t>
            </a:r>
          </a:p>
          <a:p>
            <a:pPr algn="l">
              <a:lnSpc>
                <a:spcPct val="110000"/>
              </a:lnSpc>
              <a:buNone/>
              <a:def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피벗을 다시 포함하지 않는 이유를 설명하시오.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26F1A3A1-FA3F-47B1-B921-EA7EB662E48B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284E35-5EE0-49CD-AB49-4A85DDE19BCE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9E384B-9344-4443-A87B-8635B21901D1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6B073F-97E1-46AE-9EF2-403A78F3314E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4DC4DA-7F19-40FF-A572-42881FFF398A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71623780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D8DB43C5-DC88-4EF9-BFCB-A970B242EC6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01E95E3C-B312-44DF-90DB-9F9684C8AA5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094D361-33C5-467C-902B-D414464EAB5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89  정답과 해설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61AEBC-85FA-4267-B0F2-1792E6FD223A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715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0000"/>
              </a:lnSpc>
              <a:buNone/>
              <a:defRPr sz="900" b="0">
                <a:solidFill>
                  <a:srgbClr val="55555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55555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C3F2BC51-6770-4A5B-B744-4A834679204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r">
              <a:lnSpc>
                <a:spcPct val="110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178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AAF78F-EEDC-4302-BE81-C33DFDA1D13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2F050E-3A96-47FA-BB9A-584F7E14D42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23587035-603B-48F0-BAE7-ED6D45A29BEE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퀵 정렬에서 피벗이 인덱스 p에 확정되면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[lo,p-1]과 [p+1,hi]만 재귀 정렬한다.</a:t>
            </a:r>
          </a:p>
          <a:p>
            <a:pPr algn="l">
              <a:lnSpc>
                <a:spcPct val="110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피벗을 다시 포함하지 않는 이유를 설명하시오.</a:t>
            </a:r>
          </a:p>
        </p:txBody>
      </p:sp>
      <p:sp>
        <p:nvSpPr>
          <p:cNvPr id="9" name="answer-band">
            <a:extLst>
              <a:ext uri="{FF2B5EF4-FFF2-40B4-BE49-F238E27FC236}">
                <a16:creationId xmlns:a16="http://schemas.microsoft.com/office/drawing/2014/main" id="{DBBA7F96-A5B8-4DA7-A71D-8FF25F9B61DF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72390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10" name="answer">
            <a:extLst>
              <a:ext uri="{FF2B5EF4-FFF2-40B4-BE49-F238E27FC236}">
                <a16:creationId xmlns:a16="http://schemas.microsoft.com/office/drawing/2014/main" id="{224E7FC7-8CB9-4759-9525-A91EB171406B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피벗은 이미 제자리이고, 남은 두 구간만 정렬하면 된다.</a:t>
            </a:r>
          </a:p>
        </p:txBody>
      </p:sp>
      <p:sp>
        <p:nvSpPr>
          <p:cNvPr id="11" name="explanation-label">
            <a:extLst>
              <a:ext uri="{FF2B5EF4-FFF2-40B4-BE49-F238E27FC236}">
                <a16:creationId xmlns:a16="http://schemas.microsoft.com/office/drawing/2014/main" id="{E5E1EFBF-BAF0-41B0-8B21-0C05B48AC6BB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36403C-7518-44BB-86C8-9FC2E7B75130}"/>
              </a:ext>
            </a:extLst>
          </p:cNvPr>
          <p:cNvSpPr>
            <a:spLocks noGrp="1"/>
          </p:cNvSpPr>
          <p:nvPr/>
        </p:nvSpPr>
        <p:spPr>
          <a:xfrm>
            <a:off x="1752600" y="4210050"/>
            <a:ext cx="9829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3" name="explanation">
            <a:extLst>
              <a:ext uri="{FF2B5EF4-FFF2-40B4-BE49-F238E27FC236}">
                <a16:creationId xmlns:a16="http://schemas.microsoft.com/office/drawing/2014/main" id="{E6F02B60-31EA-414F-80D8-A415B93E6D5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분할 후 피벗 왼쪽은 피벗 이하, 오른쪽은 피벗보다 크다.</a:t>
            </a:r>
          </a:p>
          <a:p>
            <a:pPr algn="l">
              <a:lnSpc>
                <a:spcPct val="110000"/>
              </a:lnSpc>
              <a:buNone/>
              <a:def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확정된 피벗을 제외하면 재귀 구간이 작아지고 종료할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51728999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982BECB1-6236-4B29-8980-E9ED857D3A2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EBA5742-7C5F-4E58-8C19-272EBA3D20B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EA4A04C-2AD1-4C6C-9D7D-043A40A7835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90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CBCB43-AF3F-48B3-AB18-6905BA372E5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FE4CCC-5F12-4DB4-9A8D-5C2378E908D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E5E86CA-3DD6-4461-9361-DFE7C6EC102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BC627D0-89E5-4B22-990E-4D30CF5AAD9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B7992288-C57F-4369-B7D5-BE575C828D5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분할 정복 함수의 기저 사례를 n==1로만 둘 때 빈 입력에서 생길 수 있는 문제와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수정안을 쓰시오.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2ADA7DC1-1B22-49EB-8025-58FF4ECFDD86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384E60-A701-4DA3-838F-7288B7751775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3AD6CE-1FF9-405B-ABFB-44F6FA99BDB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07F57E-4711-4946-B4D4-3E7978BC990E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B3312982-8E7E-4F69-A628-B7FD4A89A45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서술·설계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7881EC91-9415-461B-AA62-805B1916287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17E24EAD-8AA0-43BF-8AD1-15EF0C01454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92EB0D-53EB-4A15-9623-8787D2C6B5B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41CA2A-3E98-4866-8009-2262B75FA5F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70CF761-3B76-4B46-8909-85141047F6E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C5B7DDF-B7FF-4956-8E9F-FB8F89D93F2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7D30F56-C820-4268-AAD6-835C2E60BFF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정복 함수의 기저 사례를 n==1로만 둘 때 빈 입력에서 생길 수 있는 문제와 수정안을 쓰시오.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74D1AA-14E3-45CB-BDB4-E5659B3E74BF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AA2886DB-78C0-4A75-A649-61FDB003D65A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n=0을 계속 둘로 나눠도 0이어서 종료하지 않을 수 있다. n≤1을 기저로 처리한다.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59E22EB7-04D2-411D-8A60-BAE9045D59B2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751365-A23A-4661-9528-2E546CEE9C9E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EC5D7E51-783E-4D49-8783-62D48E8801D4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빈 입력의 반환값은 문제마다 다르다. 정렬은 빈 배열을 반환하지만 비어 있지 않은 최대 연속합은 빈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입력을 금지할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D703B21F-6807-4D4E-AC82-2F8A1AC627F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6FA138C-61D7-4534-8FE3-2BE8C40AB09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FBB719E-8E54-4DFB-9F69-63A22694C3C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11C7B3-12D4-4823-A91A-86E0B53577B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B88891-444C-4F04-A801-0B180B75BA1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FD23902-1277-4617-8DEE-042AD0071AE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43AF986-B302-4082-879E-83410D127E0F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EF69335-EF58-4A11-9236-AB740971848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오름차순 정수 배열 a,b를 합친 정렬 결과를 merge_arrays로 구한다. 각 길이는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0..500. 같은 값이면 a를 먼저 쓴다. C는 충분한 out 배열에 기록한다. Python 또는 C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3188563A-E08A-40FE-AFD9-12E06DF6970C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C20BFB-B706-48B0-9EA8-E1B7852E0B32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C21AFC-9D92-43A3-8CA9-F5A55775D607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35AB87-82DA-400F-9B3F-81276D90E560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D16B6B8-9606-4270-BE14-32D99495A69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367CFCC-EFFE-46E2-81E3-88A3CD4A0CA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59426D69-7BB9-45C1-AAA2-475EC1358F1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0625C4-8884-47C0-83B2-13CE552CF47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505163-F3F6-49E6-A07A-E91FAAACB79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27FC851-CC50-49DA-9733-47F062E5D60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8D4A491-5353-4145-A6A2-068EBF32D7A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62C90EC-CD97-47D4-8233-D75C16B96AC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 배열 병합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94BA50-1B45-42E0-B767-DED660927C9A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94435399-748F-4F89-850B-B6E6338613FB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 배열의 맨 앞 미처리 원소를 비교하고 작은 쪽을 출력한다.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2E72BDEB-1E6E-4BEC-8329-AC567B1ABA08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26C7EF-91A0-47AD-9C6D-0792A7E4112E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EC050F9-0D16-4ABA-8249-74E7D58F8873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</a:t>
            </a:r>
            <a:r>
              <a:rPr lang="en-US"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O(n+m).</a:t>
            </a:r>
            <a:endParaRPr sz="1800" b="0" i="0">
              <a:solidFill>
                <a:srgbClr val="606060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-28-64">
            <a:extLst>
              <a:ext uri="{FF2B5EF4-FFF2-40B4-BE49-F238E27FC236}">
                <a16:creationId xmlns:a16="http://schemas.microsoft.com/office/drawing/2014/main" id="{FFE67429-3ABC-4F88-B776-3759C0DF45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5D0E0D8-090E-4C17-B149-1FEA213B71D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D3FD3C9-3B50-44D4-B1E9-5955325EC4C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0F1F70-5BD4-4914-8F11-62CC0201187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DEB4B9-73A2-4536-9AB8-0B1DC8C68E2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DE48764-2034-43FA-99AC-518718F7163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2F09B76-9FE0-46C8-8C2B-5A121DA2718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775A4D3C-F4B6-409E-8AB6-9A6C625C9EE3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 배열 병합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79A8D5-0322-472C-A81A-179AE7D9CC2A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34" name="merge-line-number-1">
            <a:extLst>
              <a:ext uri="{FF2B5EF4-FFF2-40B4-BE49-F238E27FC236}">
                <a16:creationId xmlns:a16="http://schemas.microsoft.com/office/drawing/2014/main" id="{521A2EC4-8A87-48CA-B0FC-0B50132E72E5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35" name="merge-line-code-1">
            <a:extLst>
              <a:ext uri="{FF2B5EF4-FFF2-40B4-BE49-F238E27FC236}">
                <a16:creationId xmlns:a16="http://schemas.microsoft.com/office/drawing/2014/main" id="{86C7999E-AD05-4378-AD8E-16337028AC0A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merge_arrays(a, b):</a:t>
            </a:r>
          </a:p>
        </p:txBody>
      </p:sp>
      <p:sp>
        <p:nvSpPr>
          <p:cNvPr id="36" name="merge-line-number-2">
            <a:extLst>
              <a:ext uri="{FF2B5EF4-FFF2-40B4-BE49-F238E27FC236}">
                <a16:creationId xmlns:a16="http://schemas.microsoft.com/office/drawing/2014/main" id="{7A176915-208E-41EC-BD2B-C241DCC21089}"/>
              </a:ext>
            </a:extLst>
          </p:cNvPr>
          <p:cNvSpPr>
            <a:spLocks noGrp="1"/>
          </p:cNvSpPr>
          <p:nvPr/>
        </p:nvSpPr>
        <p:spPr>
          <a:xfrm>
            <a:off x="771525" y="232410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37" name="merge-line-code-2">
            <a:extLst>
              <a:ext uri="{FF2B5EF4-FFF2-40B4-BE49-F238E27FC236}">
                <a16:creationId xmlns:a16="http://schemas.microsoft.com/office/drawing/2014/main" id="{C23B264C-06B7-48D7-BC89-81908E32F449}"/>
              </a:ext>
            </a:extLst>
          </p:cNvPr>
          <p:cNvSpPr>
            <a:spLocks noGrp="1"/>
          </p:cNvSpPr>
          <p:nvPr/>
        </p:nvSpPr>
        <p:spPr>
          <a:xfrm>
            <a:off x="1285875" y="232410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 = j = 0</a:t>
            </a:r>
          </a:p>
        </p:txBody>
      </p:sp>
      <p:sp>
        <p:nvSpPr>
          <p:cNvPr id="38" name="merge-line-number-3">
            <a:extLst>
              <a:ext uri="{FF2B5EF4-FFF2-40B4-BE49-F238E27FC236}">
                <a16:creationId xmlns:a16="http://schemas.microsoft.com/office/drawing/2014/main" id="{22F248B2-974C-49DE-9EA4-55CC430C0DDE}"/>
              </a:ext>
            </a:extLst>
          </p:cNvPr>
          <p:cNvSpPr>
            <a:spLocks noGrp="1"/>
          </p:cNvSpPr>
          <p:nvPr/>
        </p:nvSpPr>
        <p:spPr>
          <a:xfrm>
            <a:off x="771525" y="253365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9" name="merge-line-code-3">
            <a:extLst>
              <a:ext uri="{FF2B5EF4-FFF2-40B4-BE49-F238E27FC236}">
                <a16:creationId xmlns:a16="http://schemas.microsoft.com/office/drawing/2014/main" id="{A15BC5B3-9DF7-4362-BC5D-4949497F0ED8}"/>
              </a:ext>
            </a:extLst>
          </p:cNvPr>
          <p:cNvSpPr>
            <a:spLocks noGrp="1"/>
          </p:cNvSpPr>
          <p:nvPr/>
        </p:nvSpPr>
        <p:spPr>
          <a:xfrm>
            <a:off x="1285875" y="253365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out = []</a:t>
            </a:r>
          </a:p>
        </p:txBody>
      </p:sp>
      <p:sp>
        <p:nvSpPr>
          <p:cNvPr id="40" name="merge-line-number-4">
            <a:extLst>
              <a:ext uri="{FF2B5EF4-FFF2-40B4-BE49-F238E27FC236}">
                <a16:creationId xmlns:a16="http://schemas.microsoft.com/office/drawing/2014/main" id="{53F0C449-281B-4E68-892C-43795D77802A}"/>
              </a:ext>
            </a:extLst>
          </p:cNvPr>
          <p:cNvSpPr>
            <a:spLocks noGrp="1"/>
          </p:cNvSpPr>
          <p:nvPr/>
        </p:nvSpPr>
        <p:spPr>
          <a:xfrm>
            <a:off x="771525" y="274320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1" name="merge-line-code-4">
            <a:extLst>
              <a:ext uri="{FF2B5EF4-FFF2-40B4-BE49-F238E27FC236}">
                <a16:creationId xmlns:a16="http://schemas.microsoft.com/office/drawing/2014/main" id="{1A570E21-FD1A-4EAD-A741-9D652E8DF133}"/>
              </a:ext>
            </a:extLst>
          </p:cNvPr>
          <p:cNvSpPr>
            <a:spLocks noGrp="1"/>
          </p:cNvSpPr>
          <p:nvPr/>
        </p:nvSpPr>
        <p:spPr>
          <a:xfrm>
            <a:off x="1285875" y="274320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i &lt; len(a) and j &lt; len(b):</a:t>
            </a:r>
          </a:p>
        </p:txBody>
      </p:sp>
      <p:sp>
        <p:nvSpPr>
          <p:cNvPr id="42" name="merge-line-number-5">
            <a:extLst>
              <a:ext uri="{FF2B5EF4-FFF2-40B4-BE49-F238E27FC236}">
                <a16:creationId xmlns:a16="http://schemas.microsoft.com/office/drawing/2014/main" id="{9FB3AA5B-218A-4427-A45E-F58784C2F224}"/>
              </a:ext>
            </a:extLst>
          </p:cNvPr>
          <p:cNvSpPr>
            <a:spLocks noGrp="1"/>
          </p:cNvSpPr>
          <p:nvPr/>
        </p:nvSpPr>
        <p:spPr>
          <a:xfrm>
            <a:off x="771525" y="295275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3" name="merge-line-code-5">
            <a:extLst>
              <a:ext uri="{FF2B5EF4-FFF2-40B4-BE49-F238E27FC236}">
                <a16:creationId xmlns:a16="http://schemas.microsoft.com/office/drawing/2014/main" id="{14E297D9-FDFD-42E9-8BC6-E345A1B08E06}"/>
              </a:ext>
            </a:extLst>
          </p:cNvPr>
          <p:cNvSpPr>
            <a:spLocks noGrp="1"/>
          </p:cNvSpPr>
          <p:nvPr/>
        </p:nvSpPr>
        <p:spPr>
          <a:xfrm>
            <a:off x="1285875" y="295275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a[i] &lt;= b[j]:</a:t>
            </a:r>
          </a:p>
        </p:txBody>
      </p:sp>
      <p:sp>
        <p:nvSpPr>
          <p:cNvPr id="44" name="merge-line-number-6">
            <a:extLst>
              <a:ext uri="{FF2B5EF4-FFF2-40B4-BE49-F238E27FC236}">
                <a16:creationId xmlns:a16="http://schemas.microsoft.com/office/drawing/2014/main" id="{0BBABBB0-2BD2-43B6-8648-FA5CA235BC04}"/>
              </a:ext>
            </a:extLst>
          </p:cNvPr>
          <p:cNvSpPr>
            <a:spLocks noGrp="1"/>
          </p:cNvSpPr>
          <p:nvPr/>
        </p:nvSpPr>
        <p:spPr>
          <a:xfrm>
            <a:off x="771525" y="316230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45" name="merge-line-code-6">
            <a:extLst>
              <a:ext uri="{FF2B5EF4-FFF2-40B4-BE49-F238E27FC236}">
                <a16:creationId xmlns:a16="http://schemas.microsoft.com/office/drawing/2014/main" id="{37D1B603-29EC-46BB-8D6E-FEF762A46C06}"/>
              </a:ext>
            </a:extLst>
          </p:cNvPr>
          <p:cNvSpPr>
            <a:spLocks noGrp="1"/>
          </p:cNvSpPr>
          <p:nvPr/>
        </p:nvSpPr>
        <p:spPr>
          <a:xfrm>
            <a:off x="1285875" y="316230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out.append(a[i])</a:t>
            </a:r>
          </a:p>
        </p:txBody>
      </p:sp>
      <p:sp>
        <p:nvSpPr>
          <p:cNvPr id="46" name="merge-line-number-7">
            <a:extLst>
              <a:ext uri="{FF2B5EF4-FFF2-40B4-BE49-F238E27FC236}">
                <a16:creationId xmlns:a16="http://schemas.microsoft.com/office/drawing/2014/main" id="{74613414-EE4B-4CB4-9E21-9870D7EAC0BB}"/>
              </a:ext>
            </a:extLst>
          </p:cNvPr>
          <p:cNvSpPr>
            <a:spLocks noGrp="1"/>
          </p:cNvSpPr>
          <p:nvPr/>
        </p:nvSpPr>
        <p:spPr>
          <a:xfrm>
            <a:off x="771525" y="337185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47" name="merge-line-code-7">
            <a:extLst>
              <a:ext uri="{FF2B5EF4-FFF2-40B4-BE49-F238E27FC236}">
                <a16:creationId xmlns:a16="http://schemas.microsoft.com/office/drawing/2014/main" id="{FE5EEBD8-9D22-4EE3-B389-98B34E4FB89B}"/>
              </a:ext>
            </a:extLst>
          </p:cNvPr>
          <p:cNvSpPr>
            <a:spLocks noGrp="1"/>
          </p:cNvSpPr>
          <p:nvPr/>
        </p:nvSpPr>
        <p:spPr>
          <a:xfrm>
            <a:off x="1285875" y="337185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 += 1</a:t>
            </a:r>
          </a:p>
        </p:txBody>
      </p:sp>
      <p:sp>
        <p:nvSpPr>
          <p:cNvPr id="48" name="merge-line-number-8">
            <a:extLst>
              <a:ext uri="{FF2B5EF4-FFF2-40B4-BE49-F238E27FC236}">
                <a16:creationId xmlns:a16="http://schemas.microsoft.com/office/drawing/2014/main" id="{F1B4D425-C8F3-4A6E-9FFE-76AB91796DCB}"/>
              </a:ext>
            </a:extLst>
          </p:cNvPr>
          <p:cNvSpPr>
            <a:spLocks noGrp="1"/>
          </p:cNvSpPr>
          <p:nvPr/>
        </p:nvSpPr>
        <p:spPr>
          <a:xfrm>
            <a:off x="771525" y="358140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49" name="merge-line-code-8">
            <a:extLst>
              <a:ext uri="{FF2B5EF4-FFF2-40B4-BE49-F238E27FC236}">
                <a16:creationId xmlns:a16="http://schemas.microsoft.com/office/drawing/2014/main" id="{E55DDFCE-BD57-4464-B857-FDB72AC303F2}"/>
              </a:ext>
            </a:extLst>
          </p:cNvPr>
          <p:cNvSpPr>
            <a:spLocks noGrp="1"/>
          </p:cNvSpPr>
          <p:nvPr/>
        </p:nvSpPr>
        <p:spPr>
          <a:xfrm>
            <a:off x="1285875" y="358140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else:</a:t>
            </a:r>
          </a:p>
        </p:txBody>
      </p:sp>
      <p:sp>
        <p:nvSpPr>
          <p:cNvPr id="50" name="merge-line-number-9">
            <a:extLst>
              <a:ext uri="{FF2B5EF4-FFF2-40B4-BE49-F238E27FC236}">
                <a16:creationId xmlns:a16="http://schemas.microsoft.com/office/drawing/2014/main" id="{95BB15ED-4C87-47E1-8DA5-D6F5A47A1ED5}"/>
              </a:ext>
            </a:extLst>
          </p:cNvPr>
          <p:cNvSpPr>
            <a:spLocks noGrp="1"/>
          </p:cNvSpPr>
          <p:nvPr/>
        </p:nvSpPr>
        <p:spPr>
          <a:xfrm>
            <a:off x="771525" y="379095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51" name="merge-line-code-9">
            <a:extLst>
              <a:ext uri="{FF2B5EF4-FFF2-40B4-BE49-F238E27FC236}">
                <a16:creationId xmlns:a16="http://schemas.microsoft.com/office/drawing/2014/main" id="{DC99803E-C61A-440C-A7F3-ADA927880800}"/>
              </a:ext>
            </a:extLst>
          </p:cNvPr>
          <p:cNvSpPr>
            <a:spLocks noGrp="1"/>
          </p:cNvSpPr>
          <p:nvPr/>
        </p:nvSpPr>
        <p:spPr>
          <a:xfrm>
            <a:off x="1285875" y="379095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out.append(b[j])</a:t>
            </a:r>
          </a:p>
        </p:txBody>
      </p:sp>
      <p:sp>
        <p:nvSpPr>
          <p:cNvPr id="52" name="merge-line-number-10">
            <a:extLst>
              <a:ext uri="{FF2B5EF4-FFF2-40B4-BE49-F238E27FC236}">
                <a16:creationId xmlns:a16="http://schemas.microsoft.com/office/drawing/2014/main" id="{AF253D01-290A-44BF-92C6-59BFE63505B2}"/>
              </a:ext>
            </a:extLst>
          </p:cNvPr>
          <p:cNvSpPr>
            <a:spLocks noGrp="1"/>
          </p:cNvSpPr>
          <p:nvPr/>
        </p:nvSpPr>
        <p:spPr>
          <a:xfrm>
            <a:off x="771525" y="400050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53" name="merge-line-code-10">
            <a:extLst>
              <a:ext uri="{FF2B5EF4-FFF2-40B4-BE49-F238E27FC236}">
                <a16:creationId xmlns:a16="http://schemas.microsoft.com/office/drawing/2014/main" id="{8D11EB21-1E4D-4E27-AC82-021F9DCA893C}"/>
              </a:ext>
            </a:extLst>
          </p:cNvPr>
          <p:cNvSpPr>
            <a:spLocks noGrp="1"/>
          </p:cNvSpPr>
          <p:nvPr/>
        </p:nvSpPr>
        <p:spPr>
          <a:xfrm>
            <a:off x="1285875" y="400050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j += 1</a:t>
            </a:r>
          </a:p>
        </p:txBody>
      </p:sp>
      <p:sp>
        <p:nvSpPr>
          <p:cNvPr id="54" name="merge-line-number-11">
            <a:extLst>
              <a:ext uri="{FF2B5EF4-FFF2-40B4-BE49-F238E27FC236}">
                <a16:creationId xmlns:a16="http://schemas.microsoft.com/office/drawing/2014/main" id="{FB9AA2EC-A519-4C32-9B79-A23C0F095FD4}"/>
              </a:ext>
            </a:extLst>
          </p:cNvPr>
          <p:cNvSpPr>
            <a:spLocks noGrp="1"/>
          </p:cNvSpPr>
          <p:nvPr/>
        </p:nvSpPr>
        <p:spPr>
          <a:xfrm>
            <a:off x="771525" y="421005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55" name="merge-line-code-11">
            <a:extLst>
              <a:ext uri="{FF2B5EF4-FFF2-40B4-BE49-F238E27FC236}">
                <a16:creationId xmlns:a16="http://schemas.microsoft.com/office/drawing/2014/main" id="{89645EC0-1A0D-4585-A791-3EA813A146ED}"/>
              </a:ext>
            </a:extLst>
          </p:cNvPr>
          <p:cNvSpPr>
            <a:spLocks noGrp="1"/>
          </p:cNvSpPr>
          <p:nvPr/>
        </p:nvSpPr>
        <p:spPr>
          <a:xfrm>
            <a:off x="1285875" y="421005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i &lt; len(a):</a:t>
            </a:r>
          </a:p>
        </p:txBody>
      </p:sp>
      <p:sp>
        <p:nvSpPr>
          <p:cNvPr id="56" name="merge-line-number-12">
            <a:extLst>
              <a:ext uri="{FF2B5EF4-FFF2-40B4-BE49-F238E27FC236}">
                <a16:creationId xmlns:a16="http://schemas.microsoft.com/office/drawing/2014/main" id="{C0107F4A-6B5A-4EEA-9BA0-AAA46FAA6760}"/>
              </a:ext>
            </a:extLst>
          </p:cNvPr>
          <p:cNvSpPr>
            <a:spLocks noGrp="1"/>
          </p:cNvSpPr>
          <p:nvPr/>
        </p:nvSpPr>
        <p:spPr>
          <a:xfrm>
            <a:off x="771525" y="441960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57" name="merge-line-code-12">
            <a:extLst>
              <a:ext uri="{FF2B5EF4-FFF2-40B4-BE49-F238E27FC236}">
                <a16:creationId xmlns:a16="http://schemas.microsoft.com/office/drawing/2014/main" id="{049BE4D7-ED89-4E56-992B-9E97F7C10588}"/>
              </a:ext>
            </a:extLst>
          </p:cNvPr>
          <p:cNvSpPr>
            <a:spLocks noGrp="1"/>
          </p:cNvSpPr>
          <p:nvPr/>
        </p:nvSpPr>
        <p:spPr>
          <a:xfrm>
            <a:off x="1285875" y="441960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out.append(a[i])</a:t>
            </a:r>
          </a:p>
        </p:txBody>
      </p:sp>
      <p:sp>
        <p:nvSpPr>
          <p:cNvPr id="58" name="merge-line-number-13">
            <a:extLst>
              <a:ext uri="{FF2B5EF4-FFF2-40B4-BE49-F238E27FC236}">
                <a16:creationId xmlns:a16="http://schemas.microsoft.com/office/drawing/2014/main" id="{6A62158A-582E-459B-8839-99D6D9DCFDC4}"/>
              </a:ext>
            </a:extLst>
          </p:cNvPr>
          <p:cNvSpPr>
            <a:spLocks noGrp="1"/>
          </p:cNvSpPr>
          <p:nvPr/>
        </p:nvSpPr>
        <p:spPr>
          <a:xfrm>
            <a:off x="771525" y="462915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59" name="merge-line-code-13">
            <a:extLst>
              <a:ext uri="{FF2B5EF4-FFF2-40B4-BE49-F238E27FC236}">
                <a16:creationId xmlns:a16="http://schemas.microsoft.com/office/drawing/2014/main" id="{819EC844-FD9C-4218-BD49-0354E4C3D624}"/>
              </a:ext>
            </a:extLst>
          </p:cNvPr>
          <p:cNvSpPr>
            <a:spLocks noGrp="1"/>
          </p:cNvSpPr>
          <p:nvPr/>
        </p:nvSpPr>
        <p:spPr>
          <a:xfrm>
            <a:off x="1285875" y="462915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 += 1</a:t>
            </a:r>
          </a:p>
        </p:txBody>
      </p:sp>
      <p:sp>
        <p:nvSpPr>
          <p:cNvPr id="60" name="merge-line-number-14">
            <a:extLst>
              <a:ext uri="{FF2B5EF4-FFF2-40B4-BE49-F238E27FC236}">
                <a16:creationId xmlns:a16="http://schemas.microsoft.com/office/drawing/2014/main" id="{8C35D4D9-10A1-4CFE-AC24-BDB513942379}"/>
              </a:ext>
            </a:extLst>
          </p:cNvPr>
          <p:cNvSpPr>
            <a:spLocks noGrp="1"/>
          </p:cNvSpPr>
          <p:nvPr/>
        </p:nvSpPr>
        <p:spPr>
          <a:xfrm>
            <a:off x="771525" y="483870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61" name="merge-line-code-14">
            <a:extLst>
              <a:ext uri="{FF2B5EF4-FFF2-40B4-BE49-F238E27FC236}">
                <a16:creationId xmlns:a16="http://schemas.microsoft.com/office/drawing/2014/main" id="{7F419350-0621-48A7-B0CE-09E9D67580D5}"/>
              </a:ext>
            </a:extLst>
          </p:cNvPr>
          <p:cNvSpPr>
            <a:spLocks noGrp="1"/>
          </p:cNvSpPr>
          <p:nvPr/>
        </p:nvSpPr>
        <p:spPr>
          <a:xfrm>
            <a:off x="1285875" y="483870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j &lt; len(b):</a:t>
            </a:r>
          </a:p>
        </p:txBody>
      </p:sp>
      <p:sp>
        <p:nvSpPr>
          <p:cNvPr id="62" name="merge-line-number-15">
            <a:extLst>
              <a:ext uri="{FF2B5EF4-FFF2-40B4-BE49-F238E27FC236}">
                <a16:creationId xmlns:a16="http://schemas.microsoft.com/office/drawing/2014/main" id="{77C07CD8-E461-4DC5-B786-F9E7ECB01BF5}"/>
              </a:ext>
            </a:extLst>
          </p:cNvPr>
          <p:cNvSpPr>
            <a:spLocks noGrp="1"/>
          </p:cNvSpPr>
          <p:nvPr/>
        </p:nvSpPr>
        <p:spPr>
          <a:xfrm>
            <a:off x="771525" y="504825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63" name="merge-line-code-15">
            <a:extLst>
              <a:ext uri="{FF2B5EF4-FFF2-40B4-BE49-F238E27FC236}">
                <a16:creationId xmlns:a16="http://schemas.microsoft.com/office/drawing/2014/main" id="{414B1C75-87C7-4654-817D-8E023890548F}"/>
              </a:ext>
            </a:extLst>
          </p:cNvPr>
          <p:cNvSpPr>
            <a:spLocks noGrp="1"/>
          </p:cNvSpPr>
          <p:nvPr/>
        </p:nvSpPr>
        <p:spPr>
          <a:xfrm>
            <a:off x="1285875" y="504825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out.append(b[j])</a:t>
            </a:r>
          </a:p>
        </p:txBody>
      </p:sp>
      <p:sp>
        <p:nvSpPr>
          <p:cNvPr id="64" name="merge-line-number-16">
            <a:extLst>
              <a:ext uri="{FF2B5EF4-FFF2-40B4-BE49-F238E27FC236}">
                <a16:creationId xmlns:a16="http://schemas.microsoft.com/office/drawing/2014/main" id="{BC837B72-8940-4F6A-BA19-BB8077A3341A}"/>
              </a:ext>
            </a:extLst>
          </p:cNvPr>
          <p:cNvSpPr>
            <a:spLocks noGrp="1"/>
          </p:cNvSpPr>
          <p:nvPr/>
        </p:nvSpPr>
        <p:spPr>
          <a:xfrm>
            <a:off x="771525" y="525780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65" name="merge-line-code-16">
            <a:extLst>
              <a:ext uri="{FF2B5EF4-FFF2-40B4-BE49-F238E27FC236}">
                <a16:creationId xmlns:a16="http://schemas.microsoft.com/office/drawing/2014/main" id="{4E0F8E10-D841-4F19-B52F-0319351A795A}"/>
              </a:ext>
            </a:extLst>
          </p:cNvPr>
          <p:cNvSpPr>
            <a:spLocks noGrp="1"/>
          </p:cNvSpPr>
          <p:nvPr/>
        </p:nvSpPr>
        <p:spPr>
          <a:xfrm>
            <a:off x="1285875" y="525780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j += 1</a:t>
            </a:r>
          </a:p>
        </p:txBody>
      </p:sp>
      <p:sp>
        <p:nvSpPr>
          <p:cNvPr id="66" name="merge-line-number-17">
            <a:extLst>
              <a:ext uri="{FF2B5EF4-FFF2-40B4-BE49-F238E27FC236}">
                <a16:creationId xmlns:a16="http://schemas.microsoft.com/office/drawing/2014/main" id="{2EF46BFC-6756-4838-A1E8-D4B622A857B0}"/>
              </a:ext>
            </a:extLst>
          </p:cNvPr>
          <p:cNvSpPr>
            <a:spLocks noGrp="1"/>
          </p:cNvSpPr>
          <p:nvPr/>
        </p:nvSpPr>
        <p:spPr>
          <a:xfrm>
            <a:off x="771525" y="5467350"/>
            <a:ext cx="361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20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67" name="merge-line-code-17">
            <a:extLst>
              <a:ext uri="{FF2B5EF4-FFF2-40B4-BE49-F238E27FC236}">
                <a16:creationId xmlns:a16="http://schemas.microsoft.com/office/drawing/2014/main" id="{6FD5BCBE-41D7-4BC3-B30A-8F9135183D56}"/>
              </a:ext>
            </a:extLst>
          </p:cNvPr>
          <p:cNvSpPr>
            <a:spLocks noGrp="1"/>
          </p:cNvSpPr>
          <p:nvPr/>
        </p:nvSpPr>
        <p:spPr>
          <a:xfrm>
            <a:off x="1285875" y="5467350"/>
            <a:ext cx="101155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out</a:t>
            </a:r>
          </a:p>
        </p:txBody>
      </p:sp>
      <p:sp>
        <p:nvSpPr>
          <p:cNvPr id="32" name="text-635-64">
            <a:extLst>
              <a:ext uri="{FF2B5EF4-FFF2-40B4-BE49-F238E27FC236}">
                <a16:creationId xmlns:a16="http://schemas.microsoft.com/office/drawing/2014/main" id="{6346A824-2D67-4C83-BBAA-3E04CB3EF527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</a:t>
            </a:r>
            <a:r>
              <a:rPr lang="en-US"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O(n+m).</a:t>
            </a:r>
            <a:endParaRPr sz="1200" b="0" i="0">
              <a:solidFill>
                <a:srgbClr val="606060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28-64">
            <a:extLst>
              <a:ext uri="{FF2B5EF4-FFF2-40B4-BE49-F238E27FC236}">
                <a16:creationId xmlns:a16="http://schemas.microsoft.com/office/drawing/2014/main" id="{00DB33EB-361F-4F81-BB35-EE65BCE4E9D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D100A05-DA42-4C13-8499-D4848F4E1C3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E3A377F-07D1-4DEF-9C84-2E5778993AE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A907F4-490C-4FF3-BE99-29CEF1894AA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E324B6-7A55-4D54-BBEC-D8D30AF59AD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19681009-0668-44DD-ADC0-53EA5B4A25F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FC01065-53B2-4274-BA93-C75B8159288D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07A0A0B3-199D-45F7-B23B-7DCD3DB81148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정렬 배열 병합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1BC7F3-4AFF-4EC2-882C-90EC038F1336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AB86A7ED-3420-463E-A933-DC3B2734114A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ED340B26-2BA3-4A33-AE68-2B2A6DCF22E2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merge_arrays(const int a[], int n, const int b[],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677F7A1F-C7D0-47DF-8DE9-937FD9311FAE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C7A85FB6-2193-435C-8300-5B1D84E974ED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int m, int out[]) {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8DA19FD0-5029-43C7-BF69-10C74A4460EA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ADAE69E6-60AA-4CFE-9DBC-5E97EF92B389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i=0, j=0, k=0;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F434739C-775D-4569-8B6C-B35434F9CD8A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A3714468-74FE-48DB-A621-974CE1580527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(i&lt;n &amp;&amp; j&lt;m) {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796C36E3-36D0-44EF-A577-17B0309D4004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DA601F64-A712-4A58-9A52-266FC4672F09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(a[i]&lt;=b[j]) out[k++]=a[i++];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3E8A304E-8B61-4524-A9CD-92193BD38812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080CDE26-1221-4B3C-AB39-E58DE2C0DE4E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else out[k++]=b[j++];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7958FD53-F012-4B13-B2E7-4908A120EEF7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D7CED501-BD40-4B2E-A178-839ED40F5B98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A336042E-A0B9-4494-8A9D-9ABA253324DC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A9ECC481-9E35-42D2-A697-872B2F3E90FF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(i&lt;n) out[k++]=a[i++];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52A5EA2C-1FE4-4807-B05B-25BA8B997DF5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7D0081E7-A709-4438-B2DF-0D5301E7DC09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(j&lt;m) out[k++]=b[j++];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6299DC03-6CD9-43F1-857B-CAFE97B1D80F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ED222F2D-A267-4DF1-A2DC-D648C69BE6E7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0" name="text-635-64">
            <a:extLst>
              <a:ext uri="{FF2B5EF4-FFF2-40B4-BE49-F238E27FC236}">
                <a16:creationId xmlns:a16="http://schemas.microsoft.com/office/drawing/2014/main" id="{5255FD67-CE24-4E6F-84EA-E365072D8D00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</a:t>
            </a:r>
            <a:r>
              <a:rPr lang="en-US"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O(n+m).</a:t>
            </a:r>
            <a:endParaRPr sz="1200" b="0" i="0">
              <a:solidFill>
                <a:srgbClr val="606060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45CB4A2E-6B96-4ABC-9CA6-1597360D181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A6B63EB-056C-4D81-BEC2-A437767A723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Malgun Gothic" panose="020B0503020000020004" pitchFamily="50" charset="-127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3E937CA-5179-42C1-887E-56757CCC9B99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문제 92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88364E-6278-4F4A-A132-056336B93B2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06FD03-D167-4D81-B2EA-4A78410EC8C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2BA4D4E-F221-4410-9A3F-11AC6049DC67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Malgun Gothic" panose="020B0503020000020004" pitchFamily="50" charset="-127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D4FFA1A-4F58-4D67-8648-FA6A7A556965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Malgun Gothic" panose="020B0503020000020004" pitchFamily="50" charset="-127"/>
                <a:ea typeface="Consolas"/>
                <a:cs typeface="Consolas"/>
              </a:rPr>
              <a:t>185</a:t>
            </a:r>
            <a:endParaRPr sz="1050" b="1" i="0">
              <a:solidFill>
                <a:srgbClr val="171717"/>
              </a:solidFill>
              <a:latin typeface="Malgun Gothic" panose="020B0503020000020004" pitchFamily="50" charset="-127"/>
              <a:ea typeface="Consolas"/>
              <a:cs typeface="Consolas"/>
            </a:endParaRP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BC3172A3-8B0A-42D1-9692-0B92484FDBFA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D1552B-E9B0-4BC2-A285-6E0824CC44C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8028A8-D8FA-4574-A481-D5F998D5B5D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82C0C8-DEEA-44B2-9A82-552DCB20E4CB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4" name="merge-question">
            <a:extLst>
              <a:ext uri="{FF2B5EF4-FFF2-40B4-BE49-F238E27FC236}">
                <a16:creationId xmlns:a16="http://schemas.microsoft.com/office/drawing/2014/main" id="{AA665BF2-B376-83A4-5FE7-B7AA53AA592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길이 0..1000의 정수 배열을 병합 정렬하시오.</a:t>
            </a:r>
          </a:p>
          <a:p>
            <a:pPr>
              <a:defRPr sz="19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Python merge_sort(a)는 새 배열을 반환한다.</a:t>
            </a:r>
          </a:p>
          <a:p>
            <a:pPr>
              <a:defRPr sz="19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C merge_sort(a,lo,hi,tmp)는 lo 이상 hi 미만인 [lo,hi)를 제자리 정렬한다.</a:t>
            </a:r>
          </a:p>
          <a:p>
            <a:pPr>
              <a:defRPr sz="19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전체 배열의 C 호출은 merge_sort(a,0,n,tmp)이며 tmp는 길이 n이다.</a:t>
            </a:r>
          </a:p>
          <a:p>
            <a:pPr>
              <a:defRPr sz="19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Python의 merge_arrays는 제공된다. Python 또는 C로 함수를 작성하시오.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62DE6D6E-D4FA-4319-84E6-173A29458D7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64E4C01C-0519-4608-85AB-E753CF3392E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263D561-2D2C-44DD-A694-9017D1D6873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0F235B-71A4-4655-A221-5AD1DA559AA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375154-5168-4FF5-8CFF-BCD9386F929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EE8D699A-DFFF-47D7-9013-91567DA0579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49466B5-5CA3-4DF5-B9A4-83C094770E3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B29A44B-CFA5-4E03-99DC-A2427F38018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병합 정렬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F7B60E-EA6F-49A0-B7BF-A123085CBC0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D6B560AA-1EA6-4AB6-AAA6-0BC0A218DF62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길이 1 이하에서 멈추고 양쪽 정렬 결과를 안정적으로 병합한다.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B7D0DE78-1EA1-4DC3-A9DE-CD8F979CF06B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062165-48EF-4293-9718-CCCAE68B0C2D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1B15FD8B-3F9F-498C-BC19-4F726228C01F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 log(n+1)). Python은 앞 문항 merge_arrays를 사용한다.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28-64">
            <a:extLst>
              <a:ext uri="{FF2B5EF4-FFF2-40B4-BE49-F238E27FC236}">
                <a16:creationId xmlns:a16="http://schemas.microsoft.com/office/drawing/2014/main" id="{8F04A76A-3778-46EB-BE03-AEA791DB527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A3DFCEA-5CF6-4B0B-95BF-95CAF93A258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AEBF1B4D-4C52-4217-82C3-3053BE2E7FE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BDC855-2787-4E63-8543-CDF20023F4B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51C1D-F56A-4363-B2A2-5A22DD0F301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B3A55C3-F9E9-41D6-A5B2-98EB705FB55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A590B26-58EE-4964-A8D4-98ACA48737D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C8EBCF12-3E82-4D0D-AA58-CD0154BD9545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병합 정렬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AFB8A6-F256-454A-9E50-15677CCD84D9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DE9AD4E4-3952-463D-AEBE-70342E6AB33C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F4778A98-DC0B-455A-B944-89B93F2092BC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merge_sort(a):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F415C4F6-0755-4897-9F24-B59BAEBB028F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B03FEFE2-28C8-4A04-B9AA-B8FA3FA9AEC8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len(a) &lt;= 1: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B230E91F-5014-4EC6-87C2-9BBC5F96BAA0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9156D342-3AE1-471F-B416-172D6802C127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a[:]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12EF6A3B-03FC-40C2-947A-F5DA272A2985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D3E176DA-F92F-4798-8B3B-3DE5F2BF2419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mid = len(a) // 2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07E0D67E-751E-47EF-AB8A-7E6C4B234411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E31B5F9B-4F7B-4A53-9B60-96765DC0A620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merge_arrays(merge_sort(a[:mid]),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33AE02D3-4FA2-40F1-8C7E-94F887947820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E16424F5-1B08-4F82-B283-97489B682330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   merge_sort(a[mid:]))</a:t>
            </a:r>
          </a:p>
        </p:txBody>
      </p:sp>
      <p:sp>
        <p:nvSpPr>
          <p:cNvPr id="22" name="text-635-64">
            <a:extLst>
              <a:ext uri="{FF2B5EF4-FFF2-40B4-BE49-F238E27FC236}">
                <a16:creationId xmlns:a16="http://schemas.microsoft.com/office/drawing/2014/main" id="{746DD2DD-24A2-4F00-8FFA-156E2EA7AE6A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 log(n+1)). Python은 앞 문항 merge_arrays를 사용한다.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-28-64">
            <a:extLst>
              <a:ext uri="{FF2B5EF4-FFF2-40B4-BE49-F238E27FC236}">
                <a16:creationId xmlns:a16="http://schemas.microsoft.com/office/drawing/2014/main" id="{C099F8D1-6BFC-4B32-B8FB-85D273E481E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5A71E4E-2126-4697-8A58-0B349F8848B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9B6CE00-9FC1-4655-95D8-F736B41C45C7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E0DFC2-67E6-4A00-AA67-0F101B648B3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4BECFD-D2DD-4E01-8C2C-5DF9CCB5389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52387AE-BBB6-4BA9-986F-C4256A42E9D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CBEB7FA9-A673-40BA-AE4B-881A4763C46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C581655A-1669-489A-8169-BA10259ADF2F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병합 정렬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A3B848-597B-41BF-9E7B-AC058398C367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E006C6A4-59AF-43FD-9310-4358D267D3F7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259A58C1-3573-4FB9-9625-5AC4994FF281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merge_sort(int a[], int lo, int hi, int tmp[])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BCB86B0C-330F-42FC-870C-EB2BE983D427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8F0164B8-05D2-49F1-8FFE-DA801A6A4A3F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(hi-lo &lt;= 1) return;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CFA2F736-DF97-4969-8CB8-2E88CB6F524F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09802F7F-C2E5-473D-9553-F6BE89357949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mid=(lo+hi)/2;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FA5C2A9F-E973-48D4-8ACF-F0BE964613A8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83EA565C-9DCD-4D2C-B345-8FDC715553B0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merge_sort(a,lo,mid,tmp);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2509F46D-1D46-4969-8DD4-F1C8E5A43F52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34721F34-1EC0-4B18-905D-04C6DE97133E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merge_sort(a,mid,hi,tmp);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8997C10B-F9C1-406F-8ADF-228896A942DB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230AA800-BF6A-4B22-B9A2-2C31C91F979A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i=lo, j=mid, k=lo;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123CA49A-33B9-4643-91AB-965E85818D3D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896E0A49-1BC6-4D76-BA07-7EDEA677BE14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(i&lt;mid &amp;&amp; j&lt;hi) {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826406FE-735B-4EB7-B6D8-61CCD4E2D33D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3868398D-D20B-4BF7-AEC2-D6DF4B33A6ED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(a[i]&lt;=a[j]) tmp[k++]=a[i++];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1AF10E35-3EE7-4516-A25A-B9D85F63C6E2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F2260924-DA94-4701-AF22-32ECB8EC6493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else tmp[k++]=a[j++];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30CD2C67-6BBA-45FE-9A88-C257C1839531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9D6332E9-9C9F-4093-8C9B-A92B99CD49A6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30" name="text-427-81">
            <a:extLst>
              <a:ext uri="{FF2B5EF4-FFF2-40B4-BE49-F238E27FC236}">
                <a16:creationId xmlns:a16="http://schemas.microsoft.com/office/drawing/2014/main" id="{74AAA4C8-D9AA-47B0-A93A-75F204443387}"/>
              </a:ext>
            </a:extLst>
          </p:cNvPr>
          <p:cNvSpPr>
            <a:spLocks noGrp="1"/>
          </p:cNvSpPr>
          <p:nvPr/>
        </p:nvSpPr>
        <p:spPr>
          <a:xfrm>
            <a:off x="771525" y="40671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>
              <a:ext uri="{FF2B5EF4-FFF2-40B4-BE49-F238E27FC236}">
                <a16:creationId xmlns:a16="http://schemas.microsoft.com/office/drawing/2014/main" id="{F5650B08-2F60-4393-85B5-3265A42427D3}"/>
              </a:ext>
            </a:extLst>
          </p:cNvPr>
          <p:cNvSpPr>
            <a:spLocks noGrp="1"/>
          </p:cNvSpPr>
          <p:nvPr/>
        </p:nvSpPr>
        <p:spPr>
          <a:xfrm>
            <a:off x="1285875" y="40671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(i&lt;mid) tmp[k++]=a[i++];</a:t>
            </a:r>
          </a:p>
        </p:txBody>
      </p:sp>
      <p:sp>
        <p:nvSpPr>
          <p:cNvPr id="32" name="text-447.5-81">
            <a:extLst>
              <a:ext uri="{FF2B5EF4-FFF2-40B4-BE49-F238E27FC236}">
                <a16:creationId xmlns:a16="http://schemas.microsoft.com/office/drawing/2014/main" id="{BA438DA6-2461-4E85-8F1D-6E71A3EBD1C8}"/>
              </a:ext>
            </a:extLst>
          </p:cNvPr>
          <p:cNvSpPr>
            <a:spLocks noGrp="1"/>
          </p:cNvSpPr>
          <p:nvPr/>
        </p:nvSpPr>
        <p:spPr>
          <a:xfrm>
            <a:off x="771525" y="42624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>
              <a:ext uri="{FF2B5EF4-FFF2-40B4-BE49-F238E27FC236}">
                <a16:creationId xmlns:a16="http://schemas.microsoft.com/office/drawing/2014/main" id="{3A876BE3-A6EF-4A8F-BE28-382D0F17C6BE}"/>
              </a:ext>
            </a:extLst>
          </p:cNvPr>
          <p:cNvSpPr>
            <a:spLocks noGrp="1"/>
          </p:cNvSpPr>
          <p:nvPr/>
        </p:nvSpPr>
        <p:spPr>
          <a:xfrm>
            <a:off x="1285875" y="42624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(j&lt;hi) tmp[k++]=a[j++];</a:t>
            </a:r>
          </a:p>
        </p:txBody>
      </p:sp>
      <p:sp>
        <p:nvSpPr>
          <p:cNvPr id="34" name="text-468-81">
            <a:extLst>
              <a:ext uri="{FF2B5EF4-FFF2-40B4-BE49-F238E27FC236}">
                <a16:creationId xmlns:a16="http://schemas.microsoft.com/office/drawing/2014/main" id="{6D2FBE1F-B2BE-4271-B77C-40A3D4B38CC4}"/>
              </a:ext>
            </a:extLst>
          </p:cNvPr>
          <p:cNvSpPr>
            <a:spLocks noGrp="1"/>
          </p:cNvSpPr>
          <p:nvPr/>
        </p:nvSpPr>
        <p:spPr>
          <a:xfrm>
            <a:off x="771525" y="44577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>
              <a:ext uri="{FF2B5EF4-FFF2-40B4-BE49-F238E27FC236}">
                <a16:creationId xmlns:a16="http://schemas.microsoft.com/office/drawing/2014/main" id="{0F2FAEE6-E0FC-4FC7-ADAD-68924FC501E3}"/>
              </a:ext>
            </a:extLst>
          </p:cNvPr>
          <p:cNvSpPr>
            <a:spLocks noGrp="1"/>
          </p:cNvSpPr>
          <p:nvPr/>
        </p:nvSpPr>
        <p:spPr>
          <a:xfrm>
            <a:off x="1285875" y="44577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(i=lo; i&lt;hi; ++i) a[i]=tmp[i];</a:t>
            </a:r>
          </a:p>
        </p:txBody>
      </p:sp>
      <p:sp>
        <p:nvSpPr>
          <p:cNvPr id="36" name="text-488.5-81">
            <a:extLst>
              <a:ext uri="{FF2B5EF4-FFF2-40B4-BE49-F238E27FC236}">
                <a16:creationId xmlns:a16="http://schemas.microsoft.com/office/drawing/2014/main" id="{9AD6F39B-1424-4B00-8509-6639E1BD15AB}"/>
              </a:ext>
            </a:extLst>
          </p:cNvPr>
          <p:cNvSpPr>
            <a:spLocks noGrp="1"/>
          </p:cNvSpPr>
          <p:nvPr/>
        </p:nvSpPr>
        <p:spPr>
          <a:xfrm>
            <a:off x="771525" y="46529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37" name="text-488.5-135">
            <a:extLst>
              <a:ext uri="{FF2B5EF4-FFF2-40B4-BE49-F238E27FC236}">
                <a16:creationId xmlns:a16="http://schemas.microsoft.com/office/drawing/2014/main" id="{E9666210-A589-4966-827F-C906AA771CB3}"/>
              </a:ext>
            </a:extLst>
          </p:cNvPr>
          <p:cNvSpPr>
            <a:spLocks noGrp="1"/>
          </p:cNvSpPr>
          <p:nvPr/>
        </p:nvSpPr>
        <p:spPr>
          <a:xfrm>
            <a:off x="1285875" y="46529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8" name="text-635-64">
            <a:extLst>
              <a:ext uri="{FF2B5EF4-FFF2-40B4-BE49-F238E27FC236}">
                <a16:creationId xmlns:a16="http://schemas.microsoft.com/office/drawing/2014/main" id="{B51E676F-081C-440A-BAFB-ABB9E000ED92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 log(n+1)). Python은 앞 문항 merge_arrays를 사용한다.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3C4D8410-6996-44CB-9D71-E0D5DC04C3F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44D50F5-59E4-4121-A01E-AC1F2A74BE7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6B33BB9F-1788-4023-BA70-F339308F9C2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6F4132-BD6B-4D43-8F3A-14D34D19D01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07FED0-A496-4871-820D-770DEEAF9A9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EBD7E91-C81E-4EAC-B30B-91161EE2E11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6592E1C3-A3E0-46B6-8D91-6ABF0E77E04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D292DA55-A050-4B0F-AE37-5C83FC62646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정수 배열의 [lo,hi)에서 lo&lt;mid&lt;hi다. 양쪽에 적어도 한 원소를 포함하는 최대 연속합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cross_sum을 작성한다. n≤1000, 값은 −10⁶..10⁶. Python 또는 C 중 하나로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17866F94-822B-41CF-942E-D30DD4DFBA17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8E9887-47F4-467F-81D1-A5EE7BBA725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42B63B-A605-4A43-9CB9-44CF93EF0D6B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38341F-4BDE-470E-B28F-CE2048360128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18EDF9CE-0EB2-4BB9-9D36-F11B2D59779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B41F60F-C563-4C0C-85FB-8150339F0ED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307DBA2-D8EF-451F-A7F1-78AD5A7641B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BD6B9A-4797-4006-9824-A522E4751C6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D45EF9-556F-4E48-B413-252D79F2CE7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82743C37-8746-424E-8CCD-2EB061FBE49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489EFF3F-99C1-4740-A97C-44930E0CFCA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0FAB0ECC-5C09-4959-96D2-14E7818FD1A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경계를 가로지르는 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D651A1-E5BC-488F-B0EC-C5C7D942F860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4C574492-7881-412E-8CFD-D3EEF69FC0FB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왼쪽의 최대 접미사 합과 오른쪽의 최대 접두사 합을 더한다.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E898781A-5D10-451D-94A5-2F8878805C5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299E49-859B-450E-9007-F7CEF652E71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27CDF117-2219-442D-AF4D-3ACFD833C9B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O(hi−lo). 모두 음수여도 빈 구간을 허용하지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-28-64">
            <a:extLst>
              <a:ext uri="{FF2B5EF4-FFF2-40B4-BE49-F238E27FC236}">
                <a16:creationId xmlns:a16="http://schemas.microsoft.com/office/drawing/2014/main" id="{667B4306-9AE9-4818-8E93-ACFC266ECC7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E833A5B-C376-4557-BFFD-91A0FD2DE64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FC2BA00-CF7D-4076-B293-7CC2CA23A67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990A09-09C7-4BC1-A281-9623D84BC59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83B683-E695-4359-ADAD-5AB01AE29CA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A15C7CA-CD24-4BFD-8788-9F380539C8B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542651F-6341-471F-A6BF-8CE14BB4E59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C84B2278-815D-40D5-9055-9C200609EF55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경계를 가로지르는 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FFFCDC-D74C-4FB0-8812-824FF72B0E27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752143ED-FB2C-47D0-A089-2299E86ADE60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5D88B421-8FFE-49FC-A99F-CBB50CB459E3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cross_sum(a, lo, mid, hi):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466CA9DE-9C81-4BF3-ADDA-FB3B8139FA05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12EB8BDE-272C-4682-9379-8982B7DFA2C7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total = 0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ABC7D886-7143-4AC9-8DF6-161DD0E78547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3CFF1169-C4E7-4DCE-B5D6-13B50F5A1260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left = a[mid - 1]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5C68E946-2C3E-4EF8-BC68-715F2A3C3C87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73C4692C-0EC7-478E-8A81-EA571C8F208A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i in range(mid - 1, lo - 1, -1):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DFEBD2F6-4757-491C-A788-F9574E0B58A8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250F7C4E-113D-4457-BD3F-2EACFB4CD4B5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total += a[i]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E3C54103-19C4-4ECD-BE1A-B59805BCD788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D38CFF19-9062-4FE7-B1F9-F8F8DF2C39E8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left = max(left, total)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F8892CB8-E423-4178-A431-0E3540FA7763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57742B90-BFC5-4D11-9EEC-097589A4FC95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total = 0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916990C1-914F-49DD-B012-A40CC7E1EE1C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429D39FD-561A-472D-A3D2-B26DF5808D29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right = a[mid]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471E9503-7384-447E-B063-C67315C2FA64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50523E53-737F-4788-AB9B-FB73D2D1A1D4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i in range(mid, hi):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E028C8AA-DAAC-42E6-A1BF-580C87D5F791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9C886FA8-BB2B-46FE-9B9F-5F4EB612809E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total += a[i]</a:t>
            </a:r>
          </a:p>
        </p:txBody>
      </p:sp>
      <p:sp>
        <p:nvSpPr>
          <p:cNvPr id="30" name="text-427-81">
            <a:extLst>
              <a:ext uri="{FF2B5EF4-FFF2-40B4-BE49-F238E27FC236}">
                <a16:creationId xmlns:a16="http://schemas.microsoft.com/office/drawing/2014/main" id="{B15FC21A-CF8D-4623-BBB7-E419D171927D}"/>
              </a:ext>
            </a:extLst>
          </p:cNvPr>
          <p:cNvSpPr>
            <a:spLocks noGrp="1"/>
          </p:cNvSpPr>
          <p:nvPr/>
        </p:nvSpPr>
        <p:spPr>
          <a:xfrm>
            <a:off x="771525" y="40671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>
              <a:ext uri="{FF2B5EF4-FFF2-40B4-BE49-F238E27FC236}">
                <a16:creationId xmlns:a16="http://schemas.microsoft.com/office/drawing/2014/main" id="{59644B9A-1856-4516-8BB5-E7385BD5D14A}"/>
              </a:ext>
            </a:extLst>
          </p:cNvPr>
          <p:cNvSpPr>
            <a:spLocks noGrp="1"/>
          </p:cNvSpPr>
          <p:nvPr/>
        </p:nvSpPr>
        <p:spPr>
          <a:xfrm>
            <a:off x="1285875" y="40671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right = max(right, total)</a:t>
            </a:r>
          </a:p>
        </p:txBody>
      </p:sp>
      <p:sp>
        <p:nvSpPr>
          <p:cNvPr id="32" name="text-447.5-81">
            <a:extLst>
              <a:ext uri="{FF2B5EF4-FFF2-40B4-BE49-F238E27FC236}">
                <a16:creationId xmlns:a16="http://schemas.microsoft.com/office/drawing/2014/main" id="{CB325FF2-F6B6-495D-B6F7-B5AB298939C4}"/>
              </a:ext>
            </a:extLst>
          </p:cNvPr>
          <p:cNvSpPr>
            <a:spLocks noGrp="1"/>
          </p:cNvSpPr>
          <p:nvPr/>
        </p:nvSpPr>
        <p:spPr>
          <a:xfrm>
            <a:off x="771525" y="42624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>
              <a:ext uri="{FF2B5EF4-FFF2-40B4-BE49-F238E27FC236}">
                <a16:creationId xmlns:a16="http://schemas.microsoft.com/office/drawing/2014/main" id="{2AD5B0F8-957B-45F8-AA34-AA52809725A3}"/>
              </a:ext>
            </a:extLst>
          </p:cNvPr>
          <p:cNvSpPr>
            <a:spLocks noGrp="1"/>
          </p:cNvSpPr>
          <p:nvPr/>
        </p:nvSpPr>
        <p:spPr>
          <a:xfrm>
            <a:off x="1285875" y="42624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left + right</a:t>
            </a:r>
          </a:p>
        </p:txBody>
      </p:sp>
      <p:sp>
        <p:nvSpPr>
          <p:cNvPr id="34" name="text-635-64">
            <a:extLst>
              <a:ext uri="{FF2B5EF4-FFF2-40B4-BE49-F238E27FC236}">
                <a16:creationId xmlns:a16="http://schemas.microsoft.com/office/drawing/2014/main" id="{CC115E36-0669-4992-A7AB-E1E6166D41E4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O(hi−lo). 모두 음수여도 빈 구간을 허용하지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28-64">
            <a:extLst>
              <a:ext uri="{FF2B5EF4-FFF2-40B4-BE49-F238E27FC236}">
                <a16:creationId xmlns:a16="http://schemas.microsoft.com/office/drawing/2014/main" id="{B1051255-C174-4445-8C01-2B4AA980940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5B089BA-F09A-4437-A22C-F54ACB2D361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9AB49DF-7350-4D8F-A5BB-3B2C7A72793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5CC7EF-5AC3-4F9D-BF25-65356E19C92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0D03E4-0E30-4FFB-BFAE-C5C3B200632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A87321E8-27B6-4464-BEC4-37F3CCCACE6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0EFB0F4-8505-4B59-B015-A0C67B84F57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CE505D66-040C-4240-A3A9-77EA07FA2835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경계를 가로지르는 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C068BE-E63B-421A-8482-26A5A431EE5A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511F4F18-74ED-461B-8FB8-90B5DD33DE00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AB53C328-1402-436F-A0A8-8C086271CD14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long long cross_sum(const int a[], int lo, int mid, int hi)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49EC7406-7D23-44BD-A7DB-732C8F0EB9FC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C81766FB-5630-4105-BCC5-3F1671F5EEE7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sum=0, left=a[mid-1], right=a[mid];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15C4E1A4-DB28-461B-A856-5E2DE658F395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2254106B-9041-4994-9591-226948241E11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i=mid-1; i&gt;=lo; --i) {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6BB57565-63AF-4BC5-BFF0-F40407E86A43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B0C25CE9-CFE5-4B16-B7A4-B3BFFA84F4F1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sum+=a[i];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60F179AE-7D32-4EED-A5D6-585CFF764B1E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A5BF98EB-4E54-40B2-8C95-43107257A293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(sum&gt;left) left=sum;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F26D8FC7-64CD-4976-81E2-EC0465482388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F2109EA8-5EEB-4EEA-86BC-EC01FE442EEB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0CA3C930-5BD4-4401-B158-1FC213B7A917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9F9E6769-DBD4-49F6-ACD9-68CF0D14B80C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sum=0;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6C59AF74-CCD8-4902-B7A3-891AB2C30058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F53BE238-0109-4A2E-A48D-D83FFD91D91D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i=mid; i&lt;hi; ++i) {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2A58FD33-C767-46B9-BD46-8D828343D14F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FCE1A649-64D8-4246-92E4-2C60EEB31CAE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sum+=a[i];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443F1C0B-9D32-48DF-8BD3-08E4B3D3B5F8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6C4D6E83-847F-40AE-8BD2-9D9770B49542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(sum&gt;right) right=sum;</a:t>
            </a:r>
          </a:p>
        </p:txBody>
      </p:sp>
      <p:sp>
        <p:nvSpPr>
          <p:cNvPr id="30" name="text-427-81">
            <a:extLst>
              <a:ext uri="{FF2B5EF4-FFF2-40B4-BE49-F238E27FC236}">
                <a16:creationId xmlns:a16="http://schemas.microsoft.com/office/drawing/2014/main" id="{70988222-1309-4DF1-A6A1-C37103DAEF36}"/>
              </a:ext>
            </a:extLst>
          </p:cNvPr>
          <p:cNvSpPr>
            <a:spLocks noGrp="1"/>
          </p:cNvSpPr>
          <p:nvPr/>
        </p:nvSpPr>
        <p:spPr>
          <a:xfrm>
            <a:off x="771525" y="40671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>
              <a:ext uri="{FF2B5EF4-FFF2-40B4-BE49-F238E27FC236}">
                <a16:creationId xmlns:a16="http://schemas.microsoft.com/office/drawing/2014/main" id="{9474BBF3-AF4F-490C-9B9D-30ECFFBFFB46}"/>
              </a:ext>
            </a:extLst>
          </p:cNvPr>
          <p:cNvSpPr>
            <a:spLocks noGrp="1"/>
          </p:cNvSpPr>
          <p:nvPr/>
        </p:nvSpPr>
        <p:spPr>
          <a:xfrm>
            <a:off x="1285875" y="40671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32" name="text-447.5-81">
            <a:extLst>
              <a:ext uri="{FF2B5EF4-FFF2-40B4-BE49-F238E27FC236}">
                <a16:creationId xmlns:a16="http://schemas.microsoft.com/office/drawing/2014/main" id="{D39CF56A-7A96-4376-91F6-9C03D1C49AF9}"/>
              </a:ext>
            </a:extLst>
          </p:cNvPr>
          <p:cNvSpPr>
            <a:spLocks noGrp="1"/>
          </p:cNvSpPr>
          <p:nvPr/>
        </p:nvSpPr>
        <p:spPr>
          <a:xfrm>
            <a:off x="771525" y="42624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>
              <a:ext uri="{FF2B5EF4-FFF2-40B4-BE49-F238E27FC236}">
                <a16:creationId xmlns:a16="http://schemas.microsoft.com/office/drawing/2014/main" id="{8C90BDE0-D180-404C-AB04-58C304765021}"/>
              </a:ext>
            </a:extLst>
          </p:cNvPr>
          <p:cNvSpPr>
            <a:spLocks noGrp="1"/>
          </p:cNvSpPr>
          <p:nvPr/>
        </p:nvSpPr>
        <p:spPr>
          <a:xfrm>
            <a:off x="1285875" y="42624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left+right;</a:t>
            </a:r>
          </a:p>
        </p:txBody>
      </p:sp>
      <p:sp>
        <p:nvSpPr>
          <p:cNvPr id="34" name="text-468-81">
            <a:extLst>
              <a:ext uri="{FF2B5EF4-FFF2-40B4-BE49-F238E27FC236}">
                <a16:creationId xmlns:a16="http://schemas.microsoft.com/office/drawing/2014/main" id="{579D4F02-2D53-42AE-9834-B7EB4C5C8D3F}"/>
              </a:ext>
            </a:extLst>
          </p:cNvPr>
          <p:cNvSpPr>
            <a:spLocks noGrp="1"/>
          </p:cNvSpPr>
          <p:nvPr/>
        </p:nvSpPr>
        <p:spPr>
          <a:xfrm>
            <a:off x="771525" y="44577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>
              <a:ext uri="{FF2B5EF4-FFF2-40B4-BE49-F238E27FC236}">
                <a16:creationId xmlns:a16="http://schemas.microsoft.com/office/drawing/2014/main" id="{C33CED8B-818C-4446-AD77-AC0A571849B1}"/>
              </a:ext>
            </a:extLst>
          </p:cNvPr>
          <p:cNvSpPr>
            <a:spLocks noGrp="1"/>
          </p:cNvSpPr>
          <p:nvPr/>
        </p:nvSpPr>
        <p:spPr>
          <a:xfrm>
            <a:off x="1285875" y="44577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6" name="text-635-64">
            <a:extLst>
              <a:ext uri="{FF2B5EF4-FFF2-40B4-BE49-F238E27FC236}">
                <a16:creationId xmlns:a16="http://schemas.microsoft.com/office/drawing/2014/main" id="{9B546910-890E-4F86-BC93-5A996D35185D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O(hi−lo). 모두 음수여도 빈 구간을 허용하지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2352DCA-FE3C-46F5-9BC9-FDF3C4F9E75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ED0E02E9-9EB6-4324-ADF5-87D30C35C8E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4BCD2B9-611F-4797-8E14-FFC5703784D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5E4E91-C59C-4127-9279-135B1810CB7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0DF10B-0452-45F7-AC79-0ED89AD2042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3C733FC5-1A5E-43FB-B5AA-0D1295D886E8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3B9DAC4-4921-4821-972F-8F84A33A07FB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EB76EB69-A9FB-457B-AC7D-504F73D5FA0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비어 있지 않은 배열 [lo,hi)의 최대 연속합 max_subarray를 분할 정복으로 구하시오.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빈 구간은 금지한다. n≤1000, 값은 −10⁶..10⁶. cross_sum은 제공된다. Python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또는 C 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1C8D40F0-40D0-417D-A0BF-0CD8F3042316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0A3C54-C17B-4170-8C10-B03E8873C47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C3AFAA-66A2-43C3-A51B-24B2F543A748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49E5D9-57D1-49F1-A251-0AEB857F0E67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3B616C1F-5068-43FD-8B91-94229D1CF63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BB41E968-BB18-4197-B291-6FCBA4962B6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3DC27028-2B8F-47B8-A686-514F2DCC6BC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774490-E6BD-4859-8D05-7F70A1DFD38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5D0249-852B-4438-BC3A-D9B677F16C8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42A0DD2E-BDA9-4BAF-BD8C-67F9C8CDF8D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68A1BAF-3AEE-4A66-9DEF-7DE66566CB52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43A966C0-95FD-467B-9E67-2631CAB11FB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정복 최대 연속합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43BF0A-EBA0-403A-A520-A2B73B206DA5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609E89D9-06C7-4103-B8EE-2EEF2CC490AD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왼쪽, 오른쪽, 경계를 가로지르는 세 후보 중 최댓값을 반환한다.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A829AD6B-8AD3-4881-9811-485B8F89CAA4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EC9692-A479-465A-97D5-59867694D893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B02DE4C-B78D-489E-B416-14DABF15F7BB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 log 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28-64">
            <a:extLst>
              <a:ext uri="{FF2B5EF4-FFF2-40B4-BE49-F238E27FC236}">
                <a16:creationId xmlns:a16="http://schemas.microsoft.com/office/drawing/2014/main" id="{E867776B-4423-4A1B-8844-0B2DED55655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A443B0E-96F4-4411-B879-EC65BB0F482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B8F45B0A-C92A-487A-85CA-6E20F3EB599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D5962F-1AC9-4433-B53B-5E270F38D99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7FE3F5-E1C6-467F-8024-694F7E7C12F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44CEA49-98FE-4D09-9D43-6C762B1E724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7195748-4874-4278-88F2-D958A5FEAEA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D48F5B82-52BB-4965-91DA-FE8CC36CA305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정복 최대 연속합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A59B3A-0739-4838-BA1E-2DD090A6465F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50E21E62-2289-4D28-8A3A-2C0E0FCD944C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D791440F-4831-458B-A761-B932CD8643B8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max_subarray(a, lo, hi):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37EBFC2E-9203-4812-A08E-AE50663C2593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D3D334B4-F97A-4814-AEAB-826F4240FD58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hi - lo == 1: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3BE7D9E1-2F03-45D2-ACC4-3CB78511C2C6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52AC325F-7681-4A7A-BFD7-42D3FCE814A9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a[lo]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A2831B7C-3D70-408A-97CC-709F6766C7AB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711AF8C1-7A11-44AB-B78D-D9A48600B160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mid = (lo + hi) // 2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3A4B7ACC-CBD0-4B7C-B797-1C5F998DC5E9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BA91A93F-DD13-40CF-9AC1-8D53004DCC8A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max(max_subarray(a, lo, mid),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DC84D66F-8D51-4522-9F13-0023CDB162A1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C86B58B1-F53C-440D-9634-BA7F7C17AA5E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max_subarray(a, mid, hi),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9DE0AD4A-ECD5-4365-B55A-2F4BF3E79FC2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82621CD1-42C4-4D39-8A73-67EBE6B3361F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cross_sum(a, lo, mid, hi))</a:t>
            </a:r>
          </a:p>
        </p:txBody>
      </p:sp>
      <p:sp>
        <p:nvSpPr>
          <p:cNvPr id="24" name="text-635-64">
            <a:extLst>
              <a:ext uri="{FF2B5EF4-FFF2-40B4-BE49-F238E27FC236}">
                <a16:creationId xmlns:a16="http://schemas.microsoft.com/office/drawing/2014/main" id="{EF9C9A77-92E3-471C-AF80-052A4E1AAA4C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 log 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8-64">
            <a:extLst>
              <a:ext uri="{FF2B5EF4-FFF2-40B4-BE49-F238E27FC236}">
                <a16:creationId xmlns:a16="http://schemas.microsoft.com/office/drawing/2014/main" id="{0B1CD6A9-5E62-44DF-A1D2-88158DCFFBD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9BE3370-E1B0-41B5-AC42-6482E39FBBC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F797C0A5-62D4-4F7C-B646-2226FC2A854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B00E14-5E05-4A2E-9AC0-D36B30BB9AD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44DFB6-AB5B-4F03-BD15-E05E00D70A2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6ADBF137-102E-4713-8072-73A234C5E22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94943BF6-CAED-453F-8E88-B4D3E1792C5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8C042624-7F62-42C6-8B2E-9AB579C9CD54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분할 정복 최대 연속합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A38C-A9F2-49BB-9893-E7ADE9DFC685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F7674759-3D41-4A8F-A38E-C6DC1B9083C6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33F4CA22-9081-497C-9F74-5FE84A1E34EA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long long max_subarray(const int a[], int lo, int hi)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F9D8B941-FF80-4953-A509-5DA9E88046A0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1B79ED85-9407-41D2-89CC-0A4CADB09384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(hi-lo == 1) return a[lo];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B53C26B2-527A-4085-A66D-DE24B934A356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95C154FE-0402-4EC7-B7C6-B8B5E3C27586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mid=(lo+hi)/2;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3B8FC092-792E-4EF6-8CF1-DD22198F2AA3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76FCF16C-930C-424B-8F04-2E3633C49DB7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left=max_subarray(a,lo,mid);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35D2D888-3BFF-48CA-9681-A72F2E226DFB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CD465FD2-B179-4361-B9BD-FED57849BA35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right=max_subarray(a,mid,hi);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A07F6DAE-8CEF-416E-AF80-D20D90B0B94D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15DE735C-C0D7-44EF-B25D-BC2B7DC5C4C7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cross=cross_sum(a,lo,mid,hi);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590E6C20-1A9E-4494-8D7D-661B99AD0126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92A0D6B4-7D82-4949-BD78-DFAAD363E785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best=left&gt;right ? left:right;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D308A536-C0A5-4D81-8350-B5AFB0799CD4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7E8363A7-6BAE-4F91-B616-79F2ABA5B03F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best&gt;cross ? best:cross;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439EEE1A-4E44-47A1-A13E-4B94B09855FD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B9806B9D-D69A-4467-B470-2C1D119EB72A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8" name="text-635-64">
            <a:extLst>
              <a:ext uri="{FF2B5EF4-FFF2-40B4-BE49-F238E27FC236}">
                <a16:creationId xmlns:a16="http://schemas.microsoft.com/office/drawing/2014/main" id="{3527C051-12CB-44D2-949E-5D591B291188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 log 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:a16="http://schemas.microsoft.com/office/drawing/2014/main" id="{A45BCB21-878A-4ED7-9F51-81886186461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Python/C 구현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59D34CE3-9913-47A3-9F89-C3D24DCAD79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6C01267-BD16-409A-A076-181C11A2BA9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95</a:t>
            </a:r>
          </a:p>
        </p:txBody>
      </p:sp>
      <p:sp>
        <p:nvSpPr>
          <p:cNvPr id="4" name="rule-98">
            <a:extLst>
              <a:ext uri="{FF2B5EF4-FFF2-40B4-BE49-F238E27FC236}">
                <a16:creationId xmlns:a16="http://schemas.microsoft.com/office/drawing/2014/main" id="{C027171B-1793-4938-B02F-98DC324D01E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06EF99FA-0B3D-4051-B44A-F9CEBF232354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028E1469-5DB6-45EF-A893-74625EB6FA0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197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D5E4F463-706B-4971-BFE2-0258D2588F0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2009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a의 b제곱을 m으로 나눈 나머지를 반환하는 mod_power(a,b,m)을 작성하시오.</a:t>
            </a:r>
          </a:p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0≤a≤10⁹, 0≤b≤10⁹, 1≤m≤10⁹이다. b=0이면 1%m을 반환한다.</a:t>
            </a:r>
          </a:p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그 외에는 b//2의 재귀 결과를 한 번만 구해 half에 저장하고 제곱한다.</a:t>
            </a:r>
          </a:p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b가 홀수이면 a를 한 번 더 곱하며, 곱셈 후마다 m으로 나눈 나머지를 저장한다.</a:t>
            </a:r>
          </a:p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Python 또는 C 중 하나로 함수를 작성하시오.</a:t>
            </a:r>
          </a:p>
        </p:txBody>
      </p:sp>
      <p:sp>
        <p:nvSpPr>
          <p:cNvPr id="8" name="instructions">
            <a:extLst>
              <a:ext uri="{FF2B5EF4-FFF2-40B4-BE49-F238E27FC236}">
                <a16:creationId xmlns:a16="http://schemas.microsoft.com/office/drawing/2014/main" id="{24AFB1F3-3952-4B7B-AD86-CF5269FB572C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9" name="rule-99">
            <a:extLst>
              <a:ext uri="{FF2B5EF4-FFF2-40B4-BE49-F238E27FC236}">
                <a16:creationId xmlns:a16="http://schemas.microsoft.com/office/drawing/2014/main" id="{074E4218-AA38-41C7-9881-27DDE5698CEA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0" name="rule-100">
            <a:extLst>
              <a:ext uri="{FF2B5EF4-FFF2-40B4-BE49-F238E27FC236}">
                <a16:creationId xmlns:a16="http://schemas.microsoft.com/office/drawing/2014/main" id="{5A3E200F-E930-4B37-A8F5-68B5BD213A24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1" name="rule-101">
            <a:extLst>
              <a:ext uri="{FF2B5EF4-FFF2-40B4-BE49-F238E27FC236}">
                <a16:creationId xmlns:a16="http://schemas.microsoft.com/office/drawing/2014/main" id="{2D3252C2-5D4A-4CA4-A700-3A80B65A4A54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rule-102">
            <a:extLst>
              <a:ext uri="{FF2B5EF4-FFF2-40B4-BE49-F238E27FC236}">
                <a16:creationId xmlns:a16="http://schemas.microsoft.com/office/drawing/2014/main" id="{430DF335-6C01-4FF9-8CE4-6C39824254BC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9525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9346985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4CA852EA-489E-4519-BF7F-8556EBC3FFA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Python/C 구현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B5E12772-C538-496E-989B-C9F3AE8A00EA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2DDF3CF-22AC-4C36-823E-8E643A9F861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95  정답과 해설</a:t>
            </a:r>
          </a:p>
        </p:txBody>
      </p:sp>
      <p:sp>
        <p:nvSpPr>
          <p:cNvPr id="4" name="rule-103">
            <a:extLst>
              <a:ext uri="{FF2B5EF4-FFF2-40B4-BE49-F238E27FC236}">
                <a16:creationId xmlns:a16="http://schemas.microsoft.com/office/drawing/2014/main" id="{0C562392-BDEE-4E20-9961-23ECDC31732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DFFFB0B0-ED6A-409A-B6D4-265DEC1BB142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7F8FDB60-A6F3-4ACF-822D-139AFCA96B4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198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prompt">
            <a:extLst>
              <a:ext uri="{FF2B5EF4-FFF2-40B4-BE49-F238E27FC236}">
                <a16:creationId xmlns:a16="http://schemas.microsoft.com/office/drawing/2014/main" id="{2EEA284F-7CD5-414F-B0B5-E6532619B5C3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빠른 거듭제곱과 나머지</a:t>
            </a:r>
          </a:p>
        </p:txBody>
      </p:sp>
      <p:sp>
        <p:nvSpPr>
          <p:cNvPr id="8" name="rule-104">
            <a:extLst>
              <a:ext uri="{FF2B5EF4-FFF2-40B4-BE49-F238E27FC236}">
                <a16:creationId xmlns:a16="http://schemas.microsoft.com/office/drawing/2014/main" id="{E5B4C0AF-2F82-4397-9B45-91D80F17A199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9" name="answer">
            <a:extLst>
              <a:ext uri="{FF2B5EF4-FFF2-40B4-BE49-F238E27FC236}">
                <a16:creationId xmlns:a16="http://schemas.microsoft.com/office/drawing/2014/main" id="{DFA42E9B-1C8B-449C-A31E-499D99A7E6E9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절반 지수의 결과를 한 번 구해 저장하고, 제곱한 뒤 홀수일 때만 a를 추가로 곱한다.</a:t>
            </a:r>
          </a:p>
        </p:txBody>
      </p:sp>
      <p:sp>
        <p:nvSpPr>
          <p:cNvPr id="10" name="explanation-label">
            <a:extLst>
              <a:ext uri="{FF2B5EF4-FFF2-40B4-BE49-F238E27FC236}">
                <a16:creationId xmlns:a16="http://schemas.microsoft.com/office/drawing/2014/main" id="{A70648EB-8596-493F-9FD6-A08CB8CBFCF8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1" name="explanation">
            <a:extLst>
              <a:ext uri="{FF2B5EF4-FFF2-40B4-BE49-F238E27FC236}">
                <a16:creationId xmlns:a16="http://schemas.microsoft.com/office/drawing/2014/main" id="{D715BED7-829B-4AA5-B1EF-DAB7722F3909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시간 O(log(b+1)). 지수를 절반으로 줄이는 호출은 한 번이며, 저장한 half를 재사용한다.</a:t>
            </a:r>
          </a:p>
        </p:txBody>
      </p:sp>
    </p:spTree>
    <p:extLst>
      <p:ext uri="{BB962C8B-B14F-4D97-AF65-F5344CB8AC3E}">
        <p14:creationId xmlns:p14="http://schemas.microsoft.com/office/powerpoint/2010/main" val="56512508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ction">
            <a:extLst>
              <a:ext uri="{FF2B5EF4-FFF2-40B4-BE49-F238E27FC236}">
                <a16:creationId xmlns:a16="http://schemas.microsoft.com/office/drawing/2014/main" id="{86DCBC39-45C2-40A3-AE47-506B26D48F9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Python/C 구현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FB76C9BB-99DF-432E-99A7-13A5811625E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B2FE07B-D230-436C-9DBC-3F81E92639B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95  Python 구현</a:t>
            </a:r>
          </a:p>
        </p:txBody>
      </p:sp>
      <p:sp>
        <p:nvSpPr>
          <p:cNvPr id="4" name="rule-105">
            <a:extLst>
              <a:ext uri="{FF2B5EF4-FFF2-40B4-BE49-F238E27FC236}">
                <a16:creationId xmlns:a16="http://schemas.microsoft.com/office/drawing/2014/main" id="{D3A6DD3D-D157-4216-B6B0-E43013C83E7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2C86AA1-C678-49A6-A41A-015483F8F918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0A5B4A5C-A701-43A0-9BCA-25AD8D96F7A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199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code-label">
            <a:extLst>
              <a:ext uri="{FF2B5EF4-FFF2-40B4-BE49-F238E27FC236}">
                <a16:creationId xmlns:a16="http://schemas.microsoft.com/office/drawing/2014/main" id="{A906391A-6835-4801-9C6F-5AD031ED56E6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빠른 거듭제곱과 나머지</a:t>
            </a:r>
          </a:p>
        </p:txBody>
      </p:sp>
      <p:sp>
        <p:nvSpPr>
          <p:cNvPr id="8" name="code-panel">
            <a:extLst>
              <a:ext uri="{FF2B5EF4-FFF2-40B4-BE49-F238E27FC236}">
                <a16:creationId xmlns:a16="http://schemas.microsoft.com/office/drawing/2014/main" id="{C983BC9E-C4DE-4E4A-9DDC-232358AA1B68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10972800" cy="3295650"/>
          </a:xfrm>
          <a:prstGeom prst="rect">
            <a:avLst/>
          </a:prstGeom>
          <a:solidFill>
            <a:srgbClr val="F3F4F5"/>
          </a:solidFill>
          <a:ln w="9525">
            <a:solidFill>
              <a:srgbClr val="D5D7D9"/>
            </a:solidFill>
          </a:ln>
        </p:spPr>
      </p:sp>
      <p:sp>
        <p:nvSpPr>
          <p:cNvPr id="9" name="line-0">
            <a:extLst>
              <a:ext uri="{FF2B5EF4-FFF2-40B4-BE49-F238E27FC236}">
                <a16:creationId xmlns:a16="http://schemas.microsoft.com/office/drawing/2014/main" id="{952BA4F8-0EF9-4BB8-8133-1CB8DE361917}"/>
              </a:ext>
            </a:extLst>
          </p:cNvPr>
          <p:cNvSpPr>
            <a:spLocks noGrp="1"/>
          </p:cNvSpPr>
          <p:nvPr/>
        </p:nvSpPr>
        <p:spPr>
          <a:xfrm>
            <a:off x="742950" y="25050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code-0">
            <a:extLst>
              <a:ext uri="{FF2B5EF4-FFF2-40B4-BE49-F238E27FC236}">
                <a16:creationId xmlns:a16="http://schemas.microsoft.com/office/drawing/2014/main" id="{6EE74B82-CFB7-4AAE-A271-32FB63AF1AD2}"/>
              </a:ext>
            </a:extLst>
          </p:cNvPr>
          <p:cNvSpPr>
            <a:spLocks noGrp="1"/>
          </p:cNvSpPr>
          <p:nvPr/>
        </p:nvSpPr>
        <p:spPr>
          <a:xfrm>
            <a:off x="1314450" y="25050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def mod_power(a, b, m):</a:t>
            </a:r>
          </a:p>
        </p:txBody>
      </p:sp>
      <p:sp>
        <p:nvSpPr>
          <p:cNvPr id="11" name="line-1">
            <a:extLst>
              <a:ext uri="{FF2B5EF4-FFF2-40B4-BE49-F238E27FC236}">
                <a16:creationId xmlns:a16="http://schemas.microsoft.com/office/drawing/2014/main" id="{30A99B59-A1CC-4EE3-80B4-09E0B6AF9793}"/>
              </a:ext>
            </a:extLst>
          </p:cNvPr>
          <p:cNvSpPr>
            <a:spLocks noGrp="1"/>
          </p:cNvSpPr>
          <p:nvPr/>
        </p:nvSpPr>
        <p:spPr>
          <a:xfrm>
            <a:off x="742950" y="28479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code-1">
            <a:extLst>
              <a:ext uri="{FF2B5EF4-FFF2-40B4-BE49-F238E27FC236}">
                <a16:creationId xmlns:a16="http://schemas.microsoft.com/office/drawing/2014/main" id="{44DCBA51-F022-4A4F-97BA-F7E44CEE7397}"/>
              </a:ext>
            </a:extLst>
          </p:cNvPr>
          <p:cNvSpPr>
            <a:spLocks noGrp="1"/>
          </p:cNvSpPr>
          <p:nvPr/>
        </p:nvSpPr>
        <p:spPr>
          <a:xfrm>
            <a:off x="1314450" y="28479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if b == 0:</a:t>
            </a:r>
          </a:p>
        </p:txBody>
      </p:sp>
      <p:sp>
        <p:nvSpPr>
          <p:cNvPr id="13" name="line-2">
            <a:extLst>
              <a:ext uri="{FF2B5EF4-FFF2-40B4-BE49-F238E27FC236}">
                <a16:creationId xmlns:a16="http://schemas.microsoft.com/office/drawing/2014/main" id="{011531AB-3052-4EB9-9B3C-214FA2730A10}"/>
              </a:ext>
            </a:extLst>
          </p:cNvPr>
          <p:cNvSpPr>
            <a:spLocks noGrp="1"/>
          </p:cNvSpPr>
          <p:nvPr/>
        </p:nvSpPr>
        <p:spPr>
          <a:xfrm>
            <a:off x="742950" y="31908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code-2">
            <a:extLst>
              <a:ext uri="{FF2B5EF4-FFF2-40B4-BE49-F238E27FC236}">
                <a16:creationId xmlns:a16="http://schemas.microsoft.com/office/drawing/2014/main" id="{9C9E3E84-50EA-47FC-9816-29F0A18789BE}"/>
              </a:ext>
            </a:extLst>
          </p:cNvPr>
          <p:cNvSpPr>
            <a:spLocks noGrp="1"/>
          </p:cNvSpPr>
          <p:nvPr/>
        </p:nvSpPr>
        <p:spPr>
          <a:xfrm>
            <a:off x="1314450" y="31908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    return 1 % m</a:t>
            </a:r>
          </a:p>
        </p:txBody>
      </p:sp>
      <p:sp>
        <p:nvSpPr>
          <p:cNvPr id="15" name="line-3">
            <a:extLst>
              <a:ext uri="{FF2B5EF4-FFF2-40B4-BE49-F238E27FC236}">
                <a16:creationId xmlns:a16="http://schemas.microsoft.com/office/drawing/2014/main" id="{EE913665-0D4B-4EDC-8E97-163CD142FD42}"/>
              </a:ext>
            </a:extLst>
          </p:cNvPr>
          <p:cNvSpPr>
            <a:spLocks noGrp="1"/>
          </p:cNvSpPr>
          <p:nvPr/>
        </p:nvSpPr>
        <p:spPr>
          <a:xfrm>
            <a:off x="742950" y="35337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code-3">
            <a:extLst>
              <a:ext uri="{FF2B5EF4-FFF2-40B4-BE49-F238E27FC236}">
                <a16:creationId xmlns:a16="http://schemas.microsoft.com/office/drawing/2014/main" id="{CBD03EEF-797A-4878-B0EE-FE8171B22A95}"/>
              </a:ext>
            </a:extLst>
          </p:cNvPr>
          <p:cNvSpPr>
            <a:spLocks noGrp="1"/>
          </p:cNvSpPr>
          <p:nvPr/>
        </p:nvSpPr>
        <p:spPr>
          <a:xfrm>
            <a:off x="1314450" y="35337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half = mod_power(a, b // 2, m)</a:t>
            </a:r>
          </a:p>
        </p:txBody>
      </p:sp>
      <p:sp>
        <p:nvSpPr>
          <p:cNvPr id="17" name="line-4">
            <a:extLst>
              <a:ext uri="{FF2B5EF4-FFF2-40B4-BE49-F238E27FC236}">
                <a16:creationId xmlns:a16="http://schemas.microsoft.com/office/drawing/2014/main" id="{0375D26A-3E23-4262-88D3-EBB61774F56E}"/>
              </a:ext>
            </a:extLst>
          </p:cNvPr>
          <p:cNvSpPr>
            <a:spLocks noGrp="1"/>
          </p:cNvSpPr>
          <p:nvPr/>
        </p:nvSpPr>
        <p:spPr>
          <a:xfrm>
            <a:off x="742950" y="38766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8" name="code-4">
            <a:extLst>
              <a:ext uri="{FF2B5EF4-FFF2-40B4-BE49-F238E27FC236}">
                <a16:creationId xmlns:a16="http://schemas.microsoft.com/office/drawing/2014/main" id="{724EFBC0-9FAE-4617-8185-AA391259E330}"/>
              </a:ext>
            </a:extLst>
          </p:cNvPr>
          <p:cNvSpPr>
            <a:spLocks noGrp="1"/>
          </p:cNvSpPr>
          <p:nvPr/>
        </p:nvSpPr>
        <p:spPr>
          <a:xfrm>
            <a:off x="1314450" y="38766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result = (half * half) % m</a:t>
            </a:r>
          </a:p>
        </p:txBody>
      </p:sp>
      <p:sp>
        <p:nvSpPr>
          <p:cNvPr id="19" name="line-5">
            <a:extLst>
              <a:ext uri="{FF2B5EF4-FFF2-40B4-BE49-F238E27FC236}">
                <a16:creationId xmlns:a16="http://schemas.microsoft.com/office/drawing/2014/main" id="{0F8E8DB2-67AF-43EA-8E6D-A11C8CF6D23C}"/>
              </a:ext>
            </a:extLst>
          </p:cNvPr>
          <p:cNvSpPr>
            <a:spLocks noGrp="1"/>
          </p:cNvSpPr>
          <p:nvPr/>
        </p:nvSpPr>
        <p:spPr>
          <a:xfrm>
            <a:off x="742950" y="42195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0" name="code-5">
            <a:extLst>
              <a:ext uri="{FF2B5EF4-FFF2-40B4-BE49-F238E27FC236}">
                <a16:creationId xmlns:a16="http://schemas.microsoft.com/office/drawing/2014/main" id="{EE4359C0-69D5-4FD0-BD23-FAE3EDF6B1F2}"/>
              </a:ext>
            </a:extLst>
          </p:cNvPr>
          <p:cNvSpPr>
            <a:spLocks noGrp="1"/>
          </p:cNvSpPr>
          <p:nvPr/>
        </p:nvSpPr>
        <p:spPr>
          <a:xfrm>
            <a:off x="1314450" y="42195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if b % 2 == 1:</a:t>
            </a:r>
          </a:p>
        </p:txBody>
      </p:sp>
      <p:sp>
        <p:nvSpPr>
          <p:cNvPr id="21" name="line-6">
            <a:extLst>
              <a:ext uri="{FF2B5EF4-FFF2-40B4-BE49-F238E27FC236}">
                <a16:creationId xmlns:a16="http://schemas.microsoft.com/office/drawing/2014/main" id="{17CFD05D-3F54-4646-98F1-F438935F256D}"/>
              </a:ext>
            </a:extLst>
          </p:cNvPr>
          <p:cNvSpPr>
            <a:spLocks noGrp="1"/>
          </p:cNvSpPr>
          <p:nvPr/>
        </p:nvSpPr>
        <p:spPr>
          <a:xfrm>
            <a:off x="742950" y="45624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2" name="code-6">
            <a:extLst>
              <a:ext uri="{FF2B5EF4-FFF2-40B4-BE49-F238E27FC236}">
                <a16:creationId xmlns:a16="http://schemas.microsoft.com/office/drawing/2014/main" id="{FAB70946-13A7-476C-84CF-5033315F886A}"/>
              </a:ext>
            </a:extLst>
          </p:cNvPr>
          <p:cNvSpPr>
            <a:spLocks noGrp="1"/>
          </p:cNvSpPr>
          <p:nvPr/>
        </p:nvSpPr>
        <p:spPr>
          <a:xfrm>
            <a:off x="1314450" y="45624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    result = (result * a) % m</a:t>
            </a:r>
          </a:p>
        </p:txBody>
      </p:sp>
      <p:sp>
        <p:nvSpPr>
          <p:cNvPr id="23" name="line-7">
            <a:extLst>
              <a:ext uri="{FF2B5EF4-FFF2-40B4-BE49-F238E27FC236}">
                <a16:creationId xmlns:a16="http://schemas.microsoft.com/office/drawing/2014/main" id="{F7BCBEE9-6C33-4917-B92B-3F82B01746AC}"/>
              </a:ext>
            </a:extLst>
          </p:cNvPr>
          <p:cNvSpPr>
            <a:spLocks noGrp="1"/>
          </p:cNvSpPr>
          <p:nvPr/>
        </p:nvSpPr>
        <p:spPr>
          <a:xfrm>
            <a:off x="742950" y="49053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4" name="code-7">
            <a:extLst>
              <a:ext uri="{FF2B5EF4-FFF2-40B4-BE49-F238E27FC236}">
                <a16:creationId xmlns:a16="http://schemas.microsoft.com/office/drawing/2014/main" id="{D5816A33-7018-45D6-8913-437F4DDE3B78}"/>
              </a:ext>
            </a:extLst>
          </p:cNvPr>
          <p:cNvSpPr>
            <a:spLocks noGrp="1"/>
          </p:cNvSpPr>
          <p:nvPr/>
        </p:nvSpPr>
        <p:spPr>
          <a:xfrm>
            <a:off x="1314450" y="49053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return result</a:t>
            </a:r>
          </a:p>
        </p:txBody>
      </p:sp>
      <p:sp>
        <p:nvSpPr>
          <p:cNvPr id="25" name="complexity">
            <a:extLst>
              <a:ext uri="{FF2B5EF4-FFF2-40B4-BE49-F238E27FC236}">
                <a16:creationId xmlns:a16="http://schemas.microsoft.com/office/drawing/2014/main" id="{E37D1EE1-4216-4ED0-8075-4E597D64488A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시간 O(log(b+1)). 지수를 절반으로 줄이는 호출은 한 번이며, 저장한 half를 재사용한다.</a:t>
            </a:r>
          </a:p>
        </p:txBody>
      </p:sp>
    </p:spTree>
    <p:extLst>
      <p:ext uri="{BB962C8B-B14F-4D97-AF65-F5344CB8AC3E}">
        <p14:creationId xmlns:p14="http://schemas.microsoft.com/office/powerpoint/2010/main" val="1322931217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ection">
            <a:extLst>
              <a:ext uri="{FF2B5EF4-FFF2-40B4-BE49-F238E27FC236}">
                <a16:creationId xmlns:a16="http://schemas.microsoft.com/office/drawing/2014/main" id="{9FCDC92A-70E0-4F82-BE09-8F30F779E1F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4장 분할 정복 / Python/C 구현</a:t>
            </a:r>
          </a:p>
        </p:txBody>
      </p:sp>
      <p:sp>
        <p:nvSpPr>
          <p:cNvPr id="2" name="brand">
            <a:extLst>
              <a:ext uri="{FF2B5EF4-FFF2-40B4-BE49-F238E27FC236}">
                <a16:creationId xmlns:a16="http://schemas.microsoft.com/office/drawing/2014/main" id="{2D8BD308-DD3B-4301-872E-BB49E494FBF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6DA91B9-0FCB-4E1C-B4F0-EB549A57B32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문제 95  C 구현</a:t>
            </a:r>
          </a:p>
        </p:txBody>
      </p:sp>
      <p:sp>
        <p:nvSpPr>
          <p:cNvPr id="4" name="rule-106">
            <a:extLst>
              <a:ext uri="{FF2B5EF4-FFF2-40B4-BE49-F238E27FC236}">
                <a16:creationId xmlns:a16="http://schemas.microsoft.com/office/drawing/2014/main" id="{7A07750F-93F4-4BBA-9FE2-3A4A4278606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9525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7B69054-30E4-4489-8E2E-928E7CED1BAE}"/>
              </a:ext>
            </a:extLst>
          </p:cNvPr>
          <p:cNvSpPr>
            <a:spLocks noGrp="1"/>
          </p:cNvSpPr>
          <p:nvPr/>
        </p:nvSpPr>
        <p:spPr>
          <a:xfrm>
            <a:off x="609600" y="6591300"/>
            <a:ext cx="9620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9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49D813E9-17D6-49B2-B4AB-B5B17FB74D7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0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200</a:t>
            </a:r>
            <a:endParaRPr sz="1050" b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code-label">
            <a:extLst>
              <a:ext uri="{FF2B5EF4-FFF2-40B4-BE49-F238E27FC236}">
                <a16:creationId xmlns:a16="http://schemas.microsoft.com/office/drawing/2014/main" id="{8B314010-25DF-426A-999E-267DDF24B37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빠른 거듭제곱과 나머지</a:t>
            </a:r>
          </a:p>
        </p:txBody>
      </p:sp>
      <p:sp>
        <p:nvSpPr>
          <p:cNvPr id="8" name="code-panel">
            <a:extLst>
              <a:ext uri="{FF2B5EF4-FFF2-40B4-BE49-F238E27FC236}">
                <a16:creationId xmlns:a16="http://schemas.microsoft.com/office/drawing/2014/main" id="{112E8C34-0D39-4CFE-9C21-9F340D9B2403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10972800" cy="3295650"/>
          </a:xfrm>
          <a:prstGeom prst="rect">
            <a:avLst/>
          </a:prstGeom>
          <a:solidFill>
            <a:srgbClr val="F3F4F5"/>
          </a:solidFill>
          <a:ln w="9525">
            <a:solidFill>
              <a:srgbClr val="D5D7D9"/>
            </a:solidFill>
          </a:ln>
        </p:spPr>
      </p:sp>
      <p:sp>
        <p:nvSpPr>
          <p:cNvPr id="9" name="line-0">
            <a:extLst>
              <a:ext uri="{FF2B5EF4-FFF2-40B4-BE49-F238E27FC236}">
                <a16:creationId xmlns:a16="http://schemas.microsoft.com/office/drawing/2014/main" id="{5495BB01-08FD-4D90-9242-8DC53DB7772D}"/>
              </a:ext>
            </a:extLst>
          </p:cNvPr>
          <p:cNvSpPr>
            <a:spLocks noGrp="1"/>
          </p:cNvSpPr>
          <p:nvPr/>
        </p:nvSpPr>
        <p:spPr>
          <a:xfrm>
            <a:off x="742950" y="25050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code-0">
            <a:extLst>
              <a:ext uri="{FF2B5EF4-FFF2-40B4-BE49-F238E27FC236}">
                <a16:creationId xmlns:a16="http://schemas.microsoft.com/office/drawing/2014/main" id="{63B0368A-ED7B-471E-A344-E3258A24DE3E}"/>
              </a:ext>
            </a:extLst>
          </p:cNvPr>
          <p:cNvSpPr>
            <a:spLocks noGrp="1"/>
          </p:cNvSpPr>
          <p:nvPr/>
        </p:nvSpPr>
        <p:spPr>
          <a:xfrm>
            <a:off x="1314450" y="25050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int mod_power(int a, int b, int m) {</a:t>
            </a:r>
          </a:p>
        </p:txBody>
      </p:sp>
      <p:sp>
        <p:nvSpPr>
          <p:cNvPr id="11" name="line-1">
            <a:extLst>
              <a:ext uri="{FF2B5EF4-FFF2-40B4-BE49-F238E27FC236}">
                <a16:creationId xmlns:a16="http://schemas.microsoft.com/office/drawing/2014/main" id="{37708014-85C4-401B-8027-BF3F61FF3C75}"/>
              </a:ext>
            </a:extLst>
          </p:cNvPr>
          <p:cNvSpPr>
            <a:spLocks noGrp="1"/>
          </p:cNvSpPr>
          <p:nvPr/>
        </p:nvSpPr>
        <p:spPr>
          <a:xfrm>
            <a:off x="742950" y="28479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code-1">
            <a:extLst>
              <a:ext uri="{FF2B5EF4-FFF2-40B4-BE49-F238E27FC236}">
                <a16:creationId xmlns:a16="http://schemas.microsoft.com/office/drawing/2014/main" id="{56EF549E-12C5-4899-A08D-5B2757BC17F2}"/>
              </a:ext>
            </a:extLst>
          </p:cNvPr>
          <p:cNvSpPr>
            <a:spLocks noGrp="1"/>
          </p:cNvSpPr>
          <p:nvPr/>
        </p:nvSpPr>
        <p:spPr>
          <a:xfrm>
            <a:off x="1314450" y="28479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if (b == 0) return 1 % m;</a:t>
            </a:r>
          </a:p>
        </p:txBody>
      </p:sp>
      <p:sp>
        <p:nvSpPr>
          <p:cNvPr id="13" name="line-2">
            <a:extLst>
              <a:ext uri="{FF2B5EF4-FFF2-40B4-BE49-F238E27FC236}">
                <a16:creationId xmlns:a16="http://schemas.microsoft.com/office/drawing/2014/main" id="{5957ACDC-27DE-426C-A507-BC205F59DCC8}"/>
              </a:ext>
            </a:extLst>
          </p:cNvPr>
          <p:cNvSpPr>
            <a:spLocks noGrp="1"/>
          </p:cNvSpPr>
          <p:nvPr/>
        </p:nvSpPr>
        <p:spPr>
          <a:xfrm>
            <a:off x="742950" y="31908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code-2">
            <a:extLst>
              <a:ext uri="{FF2B5EF4-FFF2-40B4-BE49-F238E27FC236}">
                <a16:creationId xmlns:a16="http://schemas.microsoft.com/office/drawing/2014/main" id="{838BE609-C1F0-4183-897B-261E22FEADB3}"/>
              </a:ext>
            </a:extLst>
          </p:cNvPr>
          <p:cNvSpPr>
            <a:spLocks noGrp="1"/>
          </p:cNvSpPr>
          <p:nvPr/>
        </p:nvSpPr>
        <p:spPr>
          <a:xfrm>
            <a:off x="1314450" y="31908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long long half = mod_power(a, b / 2, m);</a:t>
            </a:r>
          </a:p>
        </p:txBody>
      </p:sp>
      <p:sp>
        <p:nvSpPr>
          <p:cNvPr id="15" name="line-3">
            <a:extLst>
              <a:ext uri="{FF2B5EF4-FFF2-40B4-BE49-F238E27FC236}">
                <a16:creationId xmlns:a16="http://schemas.microsoft.com/office/drawing/2014/main" id="{D08FEC58-B6B1-430F-94AF-826D2A245AF4}"/>
              </a:ext>
            </a:extLst>
          </p:cNvPr>
          <p:cNvSpPr>
            <a:spLocks noGrp="1"/>
          </p:cNvSpPr>
          <p:nvPr/>
        </p:nvSpPr>
        <p:spPr>
          <a:xfrm>
            <a:off x="742950" y="35337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code-3">
            <a:extLst>
              <a:ext uri="{FF2B5EF4-FFF2-40B4-BE49-F238E27FC236}">
                <a16:creationId xmlns:a16="http://schemas.microsoft.com/office/drawing/2014/main" id="{0D210C2A-873A-4125-80BD-DF652C5A27B3}"/>
              </a:ext>
            </a:extLst>
          </p:cNvPr>
          <p:cNvSpPr>
            <a:spLocks noGrp="1"/>
          </p:cNvSpPr>
          <p:nvPr/>
        </p:nvSpPr>
        <p:spPr>
          <a:xfrm>
            <a:off x="1314450" y="35337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long long result = (half * half) % m;</a:t>
            </a:r>
          </a:p>
        </p:txBody>
      </p:sp>
      <p:sp>
        <p:nvSpPr>
          <p:cNvPr id="17" name="line-4">
            <a:extLst>
              <a:ext uri="{FF2B5EF4-FFF2-40B4-BE49-F238E27FC236}">
                <a16:creationId xmlns:a16="http://schemas.microsoft.com/office/drawing/2014/main" id="{A24ACDD7-F3EC-476E-87A6-3B00C38EBD3B}"/>
              </a:ext>
            </a:extLst>
          </p:cNvPr>
          <p:cNvSpPr>
            <a:spLocks noGrp="1"/>
          </p:cNvSpPr>
          <p:nvPr/>
        </p:nvSpPr>
        <p:spPr>
          <a:xfrm>
            <a:off x="742950" y="38766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8" name="code-4">
            <a:extLst>
              <a:ext uri="{FF2B5EF4-FFF2-40B4-BE49-F238E27FC236}">
                <a16:creationId xmlns:a16="http://schemas.microsoft.com/office/drawing/2014/main" id="{FD7060C7-7AE9-40CE-B236-B11B30DC8F0C}"/>
              </a:ext>
            </a:extLst>
          </p:cNvPr>
          <p:cNvSpPr>
            <a:spLocks noGrp="1"/>
          </p:cNvSpPr>
          <p:nvPr/>
        </p:nvSpPr>
        <p:spPr>
          <a:xfrm>
            <a:off x="1314450" y="38766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if (b % 2 == 1) result = (result * a) % m;</a:t>
            </a:r>
          </a:p>
        </p:txBody>
      </p:sp>
      <p:sp>
        <p:nvSpPr>
          <p:cNvPr id="19" name="line-5">
            <a:extLst>
              <a:ext uri="{FF2B5EF4-FFF2-40B4-BE49-F238E27FC236}">
                <a16:creationId xmlns:a16="http://schemas.microsoft.com/office/drawing/2014/main" id="{EC013B3C-4776-4146-86F6-C7586FAE60E2}"/>
              </a:ext>
            </a:extLst>
          </p:cNvPr>
          <p:cNvSpPr>
            <a:spLocks noGrp="1"/>
          </p:cNvSpPr>
          <p:nvPr/>
        </p:nvSpPr>
        <p:spPr>
          <a:xfrm>
            <a:off x="742950" y="42195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0" name="code-5">
            <a:extLst>
              <a:ext uri="{FF2B5EF4-FFF2-40B4-BE49-F238E27FC236}">
                <a16:creationId xmlns:a16="http://schemas.microsoft.com/office/drawing/2014/main" id="{4222FDA3-DB61-4A31-B205-026601A6E378}"/>
              </a:ext>
            </a:extLst>
          </p:cNvPr>
          <p:cNvSpPr>
            <a:spLocks noGrp="1"/>
          </p:cNvSpPr>
          <p:nvPr/>
        </p:nvSpPr>
        <p:spPr>
          <a:xfrm>
            <a:off x="1314450" y="42195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return (int)result;</a:t>
            </a:r>
          </a:p>
        </p:txBody>
      </p:sp>
      <p:sp>
        <p:nvSpPr>
          <p:cNvPr id="21" name="line-6">
            <a:extLst>
              <a:ext uri="{FF2B5EF4-FFF2-40B4-BE49-F238E27FC236}">
                <a16:creationId xmlns:a16="http://schemas.microsoft.com/office/drawing/2014/main" id="{0FC962B1-8DA8-4900-895E-6E68FA4EB70E}"/>
              </a:ext>
            </a:extLst>
          </p:cNvPr>
          <p:cNvSpPr>
            <a:spLocks noGrp="1"/>
          </p:cNvSpPr>
          <p:nvPr/>
        </p:nvSpPr>
        <p:spPr>
          <a:xfrm>
            <a:off x="742950" y="4562475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7D8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7D8388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2" name="code-6">
            <a:extLst>
              <a:ext uri="{FF2B5EF4-FFF2-40B4-BE49-F238E27FC236}">
                <a16:creationId xmlns:a16="http://schemas.microsoft.com/office/drawing/2014/main" id="{FB77CD9C-32FA-4591-A868-04C523C6B5D5}"/>
              </a:ext>
            </a:extLst>
          </p:cNvPr>
          <p:cNvSpPr>
            <a:spLocks noGrp="1"/>
          </p:cNvSpPr>
          <p:nvPr/>
        </p:nvSpPr>
        <p:spPr>
          <a:xfrm>
            <a:off x="1314450" y="4562475"/>
            <a:ext cx="10048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lnSpc>
                <a:spcPct val="114000"/>
              </a:lnSpc>
              <a:buNone/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3" name="complexity">
            <a:extLst>
              <a:ext uri="{FF2B5EF4-FFF2-40B4-BE49-F238E27FC236}">
                <a16:creationId xmlns:a16="http://schemas.microsoft.com/office/drawing/2014/main" id="{D9973DFA-BCBD-4B75-8D74-93B9F4A83777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rPr>
              <a:t>시간 O(log(b+1)). 지수를 절반으로 줄이는 호출은 한 번이며, 저장한 half를 재사용한다.</a:t>
            </a:r>
          </a:p>
        </p:txBody>
      </p:sp>
    </p:spTree>
    <p:extLst>
      <p:ext uri="{BB962C8B-B14F-4D97-AF65-F5344CB8AC3E}">
        <p14:creationId xmlns:p14="http://schemas.microsoft.com/office/powerpoint/2010/main" val="250722847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C82EFFF6-7FCE-467C-8F39-7A61797D015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079EB455-8866-47DD-91E5-F0C1B872882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E371965-9D1C-4EAC-8B5B-41051BFA4A8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E55CEB-DB07-47A4-9A0C-5FF5757584A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7BDE0D-239F-4210-8F45-A8CF5AD0789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67EA10B-4803-46E9-AD03-42A2BC8631A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BC5AD892-0712-411D-ACEE-4620B74E5AE1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201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5A7B5C0D-0E10-4A98-AB29-3D8A7EB4590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n=2ᵏ, 1≤n≤32인 0/1 정사각형을 부호화한다. 균일하면 값 하나, 아니면 (왼위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오른위 왼아래 오른아래) 순서로 붙인다. quad(a,r,c,n)을 작성한다. C a의 열 폭은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32다. Python 또는 C 중 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CC5BA834-210C-45A9-985C-48A5FB7F7211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B2630D-1CC9-4DA4-A48F-0E5876526878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73A64E-463A-44C1-A61C-A475744C249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75F2DA-49FA-4B7F-9C27-F4D4760ED936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DD8F27A0-8794-422D-BEE0-45552EBA6F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CA5E69D9-0E18-42E9-BA97-7382E58B7C2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87901450-1A96-4F59-A153-39E5A66814A6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191512-B2E1-4DD1-8301-2766ADE4E65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E11C0D-DC42-4D1B-9E80-B79E1BECA31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F6D77717-21A7-468D-B61E-94A573D4686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578D87A0-EA99-400F-88B7-8A2B01B5F14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202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8254D2D9-4B5D-4AD8-997C-38E0B93D839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쿼드트리 부호화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83A3B1-E46D-4F54-AB37-1206BF24E992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239D8522-1C8C-4F79-95BF-ED30E32157C6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균일성을 검사하고 서로 다르면 네 사분면을 재귀 호출한다.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0782E2BE-E151-4606-B195-31CF867F218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014F91-5A57-4F26-BC03-B3B2F77DA14F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1B7DFF98-FEF7-40D0-A097-B6CFDB80FEDB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 전체 균일성 검사 구현은 O(n² log(n+1)) 시간 상한. 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8-64">
            <a:extLst>
              <a:ext uri="{FF2B5EF4-FFF2-40B4-BE49-F238E27FC236}">
                <a16:creationId xmlns:a16="http://schemas.microsoft.com/office/drawing/2014/main" id="{6339A17C-5921-41C9-A7BB-DA652373C29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9998DF94-D3DF-4327-A6DF-348CEDFA3C2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2B2B5C14-8BB3-4984-8E47-36910365ED54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4EA297-D111-4534-A729-78273E13769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FF8311-B8AB-4E3D-B762-499D4294ACC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C5CD42E7-FD36-46D3-BE23-88961CCE18C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1BB76F7A-F4D2-4547-82F0-766D4EE104C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12F0148C-3BEF-480D-80B4-5E36942BC53A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쿼드트리 부호화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C932F0-2644-4826-A4C6-97684DEDB236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03A885F6-9DAC-436A-9E6B-81FFDEA253B7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87BED8DA-52BE-459B-99D2-1099ACE6A831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quad(a, r, c, n):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0D9879D2-4072-41DD-A9AF-8B10ADA0E80C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B805A815-97FE-42C8-B832-4066B6EB6F2D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value = a[r][c]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66F64B0E-5147-4461-B95E-598388BDABB1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BFF28367-366E-4496-861F-380088423610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all(a[i][j] == value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245089E3-E605-4620-8A91-895F928EBA22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A01A0A22-72B7-4DA2-9A86-08BAEA27AB8A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for i in range(r, r + n)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56549AB6-0CEB-48BD-A7B8-6E4065CDDAB5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478F6F86-76AE-4251-9BE9-11D9AF38617F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for j in range(c, c + n)):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3B02F0A6-983C-40E3-B485-F0056721746D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2CF13B85-316A-4A9F-B9D0-4E6453C9926D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str(value)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4BF567B0-C768-4C80-BEAC-66E84E4ADAFD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673DA8CE-A8EB-4759-996A-92E853E6DA8E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h = n // 2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D38B65EA-F06A-49B1-ACD8-295AEC47FC96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3F35378C-A198-4E66-9270-A3FAF8A5C65B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('(' + quad(a,r,c,h) + quad(a,r,c+h,h)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4FF36A85-BBC7-4CDD-9F93-197BEC75D819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B27838F3-DC47-4CEE-AB8F-3D744293DEAF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+ quad(a,r+h,c,h) + quad(a,r+h,c+h,h) + ')')</a:t>
            </a:r>
          </a:p>
        </p:txBody>
      </p:sp>
      <p:sp>
        <p:nvSpPr>
          <p:cNvPr id="28" name="text-635-64">
            <a:extLst>
              <a:ext uri="{FF2B5EF4-FFF2-40B4-BE49-F238E27FC236}">
                <a16:creationId xmlns:a16="http://schemas.microsoft.com/office/drawing/2014/main" id="{B6EB443A-F7DE-46E9-A2F8-7BD8248708F4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 전체 균일성 검사 구현은 O(n² log(n+1)) 시간 상한. 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-28-64">
            <a:extLst>
              <a:ext uri="{FF2B5EF4-FFF2-40B4-BE49-F238E27FC236}">
                <a16:creationId xmlns:a16="http://schemas.microsoft.com/office/drawing/2014/main" id="{13FFF9FD-1928-4F3B-A2B2-FFA47EC0304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E9B2EBA-7A30-4EA4-9D7C-6451D5E3B32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5A9BCB4-D8C9-406A-A0F7-7FA1D3985AC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47065C-B950-4E2F-A49A-D61844F1516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8D74A6-6DB6-4849-96B1-28D90CA1099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56C1B103-C5C8-4388-B160-A56B8AC0CEE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088E62BA-217B-46A8-B1A6-C6C8487F20B7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0A1822AB-47D1-4453-8FE3-20BAFD498542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쿼드트리 부호화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8A9B75-BFDE-4DE7-A94B-826E855D28DD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B9E6B09F-3C87-4202-A860-1F822A61BBA6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621D2103-D60F-4A28-980D-2F8E4BB871C1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/* out has &gt;= 4*n*n+1 bytes; start *p=0. */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CF700A86-B56F-4EBA-A74B-E2E464C7D3B7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A87B2B76-7434-418F-A76D-644DBBF471E4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quad(const int a[][32], int r, int c, int n,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9CB14500-BFF0-472A-8E0E-88B39A461F93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092C7F07-F2B7-473D-AE99-16A44C21197C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char out[], int *p) {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9F869DD4-5DEA-4769-8C2D-E51E1A08552C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6848CB6C-5262-4956-9517-C45FA3FCB4D0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same=1, value=a[r][c];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192CB023-BB55-43C6-AFE8-D128EFE70DE8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1CC5A011-AEA5-4509-B277-4680D1FDF29A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i=r; i&lt;r+n; ++i)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8DC84CAB-AF1B-4396-8855-ACB017617AF6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36A83CC6-BEE0-4C2B-B128-7DB29020FD0E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j=c; j&lt;c+n; ++j)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60055C31-6934-4F59-989F-2D4F6CB9CC9A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8B4A879F-C22E-4BE7-A91D-5C5036E61C13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(a[i][j]!=value) same=0;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68DDE3B4-4047-406B-B0A4-225988265D8A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A1624FDA-F5D0-449E-89B3-06C9CF75DEFC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(same) out[(*p)++]=(char)('0'+value);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E41BBFB0-4CBA-40B0-B979-86D47C036F09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2BD928E7-2F05-482E-A46A-B55099687EC4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else {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53A49649-FD9B-4B6E-A5FE-BA04C622BD7D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E142041B-5683-42EB-BF50-29DE01ADAEB5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h=n/2; out[(*p)++]='(';</a:t>
            </a:r>
          </a:p>
        </p:txBody>
      </p:sp>
      <p:sp>
        <p:nvSpPr>
          <p:cNvPr id="30" name="text-427-81">
            <a:extLst>
              <a:ext uri="{FF2B5EF4-FFF2-40B4-BE49-F238E27FC236}">
                <a16:creationId xmlns:a16="http://schemas.microsoft.com/office/drawing/2014/main" id="{3865C81F-00C1-4600-A3FF-6B5394E27E6E}"/>
              </a:ext>
            </a:extLst>
          </p:cNvPr>
          <p:cNvSpPr>
            <a:spLocks noGrp="1"/>
          </p:cNvSpPr>
          <p:nvPr/>
        </p:nvSpPr>
        <p:spPr>
          <a:xfrm>
            <a:off x="771525" y="40671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>
              <a:ext uri="{FF2B5EF4-FFF2-40B4-BE49-F238E27FC236}">
                <a16:creationId xmlns:a16="http://schemas.microsoft.com/office/drawing/2014/main" id="{DEE0448D-738E-441D-B067-DDCF32149B04}"/>
              </a:ext>
            </a:extLst>
          </p:cNvPr>
          <p:cNvSpPr>
            <a:spLocks noGrp="1"/>
          </p:cNvSpPr>
          <p:nvPr/>
        </p:nvSpPr>
        <p:spPr>
          <a:xfrm>
            <a:off x="1285875" y="40671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quad(a,r,c,h,out,p); quad(a,r,c+h,h,out,p);</a:t>
            </a:r>
          </a:p>
        </p:txBody>
      </p:sp>
      <p:sp>
        <p:nvSpPr>
          <p:cNvPr id="32" name="text-447.5-81">
            <a:extLst>
              <a:ext uri="{FF2B5EF4-FFF2-40B4-BE49-F238E27FC236}">
                <a16:creationId xmlns:a16="http://schemas.microsoft.com/office/drawing/2014/main" id="{36B0DC33-C0D8-41F3-8DEA-D81D131DEB13}"/>
              </a:ext>
            </a:extLst>
          </p:cNvPr>
          <p:cNvSpPr>
            <a:spLocks noGrp="1"/>
          </p:cNvSpPr>
          <p:nvPr/>
        </p:nvSpPr>
        <p:spPr>
          <a:xfrm>
            <a:off x="771525" y="42624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>
              <a:ext uri="{FF2B5EF4-FFF2-40B4-BE49-F238E27FC236}">
                <a16:creationId xmlns:a16="http://schemas.microsoft.com/office/drawing/2014/main" id="{2A59B6CC-986F-42AE-B96A-2F6CD3739819}"/>
              </a:ext>
            </a:extLst>
          </p:cNvPr>
          <p:cNvSpPr>
            <a:spLocks noGrp="1"/>
          </p:cNvSpPr>
          <p:nvPr/>
        </p:nvSpPr>
        <p:spPr>
          <a:xfrm>
            <a:off x="1285875" y="42624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quad(a,r+h,c,h,out,p); quad(a,r+h,c+h,h,out,p);</a:t>
            </a:r>
          </a:p>
        </p:txBody>
      </p:sp>
      <p:sp>
        <p:nvSpPr>
          <p:cNvPr id="34" name="text-468-81">
            <a:extLst>
              <a:ext uri="{FF2B5EF4-FFF2-40B4-BE49-F238E27FC236}">
                <a16:creationId xmlns:a16="http://schemas.microsoft.com/office/drawing/2014/main" id="{E5E8A332-35C0-469A-B04E-CBFDC4CC49F8}"/>
              </a:ext>
            </a:extLst>
          </p:cNvPr>
          <p:cNvSpPr>
            <a:spLocks noGrp="1"/>
          </p:cNvSpPr>
          <p:nvPr/>
        </p:nvSpPr>
        <p:spPr>
          <a:xfrm>
            <a:off x="771525" y="44577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>
              <a:ext uri="{FF2B5EF4-FFF2-40B4-BE49-F238E27FC236}">
                <a16:creationId xmlns:a16="http://schemas.microsoft.com/office/drawing/2014/main" id="{B21DE588-3968-4345-B74F-9063EC7B5F20}"/>
              </a:ext>
            </a:extLst>
          </p:cNvPr>
          <p:cNvSpPr>
            <a:spLocks noGrp="1"/>
          </p:cNvSpPr>
          <p:nvPr/>
        </p:nvSpPr>
        <p:spPr>
          <a:xfrm>
            <a:off x="1285875" y="44577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out[(*p)++]=')';</a:t>
            </a:r>
          </a:p>
        </p:txBody>
      </p:sp>
      <p:sp>
        <p:nvSpPr>
          <p:cNvPr id="36" name="text-488.5-81">
            <a:extLst>
              <a:ext uri="{FF2B5EF4-FFF2-40B4-BE49-F238E27FC236}">
                <a16:creationId xmlns:a16="http://schemas.microsoft.com/office/drawing/2014/main" id="{B010380E-1980-409B-82ED-257212DA2641}"/>
              </a:ext>
            </a:extLst>
          </p:cNvPr>
          <p:cNvSpPr>
            <a:spLocks noGrp="1"/>
          </p:cNvSpPr>
          <p:nvPr/>
        </p:nvSpPr>
        <p:spPr>
          <a:xfrm>
            <a:off x="771525" y="46529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37" name="text-488.5-135">
            <a:extLst>
              <a:ext uri="{FF2B5EF4-FFF2-40B4-BE49-F238E27FC236}">
                <a16:creationId xmlns:a16="http://schemas.microsoft.com/office/drawing/2014/main" id="{1CC37A75-1B40-4DDD-B332-94FD55B64C7C}"/>
              </a:ext>
            </a:extLst>
          </p:cNvPr>
          <p:cNvSpPr>
            <a:spLocks noGrp="1"/>
          </p:cNvSpPr>
          <p:nvPr/>
        </p:nvSpPr>
        <p:spPr>
          <a:xfrm>
            <a:off x="1285875" y="46529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38" name="text-509-81">
            <a:extLst>
              <a:ext uri="{FF2B5EF4-FFF2-40B4-BE49-F238E27FC236}">
                <a16:creationId xmlns:a16="http://schemas.microsoft.com/office/drawing/2014/main" id="{E247AF16-66DA-44E2-8B59-662F34BD05EB}"/>
              </a:ext>
            </a:extLst>
          </p:cNvPr>
          <p:cNvSpPr>
            <a:spLocks noGrp="1"/>
          </p:cNvSpPr>
          <p:nvPr/>
        </p:nvSpPr>
        <p:spPr>
          <a:xfrm>
            <a:off x="771525" y="48482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39" name="text-509-135">
            <a:extLst>
              <a:ext uri="{FF2B5EF4-FFF2-40B4-BE49-F238E27FC236}">
                <a16:creationId xmlns:a16="http://schemas.microsoft.com/office/drawing/2014/main" id="{4E20A197-0F22-4C36-81F3-93EB2763225E}"/>
              </a:ext>
            </a:extLst>
          </p:cNvPr>
          <p:cNvSpPr>
            <a:spLocks noGrp="1"/>
          </p:cNvSpPr>
          <p:nvPr/>
        </p:nvSpPr>
        <p:spPr>
          <a:xfrm>
            <a:off x="1285875" y="48482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out[*p]='\0';</a:t>
            </a:r>
          </a:p>
        </p:txBody>
      </p:sp>
      <p:sp>
        <p:nvSpPr>
          <p:cNvPr id="40" name="text-529.5-81">
            <a:extLst>
              <a:ext uri="{FF2B5EF4-FFF2-40B4-BE49-F238E27FC236}">
                <a16:creationId xmlns:a16="http://schemas.microsoft.com/office/drawing/2014/main" id="{76B468B0-A34B-4196-9C98-738C9891465A}"/>
              </a:ext>
            </a:extLst>
          </p:cNvPr>
          <p:cNvSpPr>
            <a:spLocks noGrp="1"/>
          </p:cNvSpPr>
          <p:nvPr/>
        </p:nvSpPr>
        <p:spPr>
          <a:xfrm>
            <a:off x="771525" y="50434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41" name="text-529.5-135">
            <a:extLst>
              <a:ext uri="{FF2B5EF4-FFF2-40B4-BE49-F238E27FC236}">
                <a16:creationId xmlns:a16="http://schemas.microsoft.com/office/drawing/2014/main" id="{482A40FE-6CE3-4CE2-869E-00FE2DEAACF2}"/>
              </a:ext>
            </a:extLst>
          </p:cNvPr>
          <p:cNvSpPr>
            <a:spLocks noGrp="1"/>
          </p:cNvSpPr>
          <p:nvPr/>
        </p:nvSpPr>
        <p:spPr>
          <a:xfrm>
            <a:off x="1285875" y="50434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2" name="text-635-64">
            <a:extLst>
              <a:ext uri="{FF2B5EF4-FFF2-40B4-BE49-F238E27FC236}">
                <a16:creationId xmlns:a16="http://schemas.microsoft.com/office/drawing/2014/main" id="{0E32B825-C87D-4298-925A-2BD0829509C0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 전체 균일성 검사 구현은 O(n² log(n+1)) 시간 상한. 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3E0E95D-FF05-4921-A728-27EB4E26926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4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장 분할 정복  </a:t>
            </a: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/  Python/C 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105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23627B-F692-414B-B2E0-59E541F9F311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9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ALGORITHMS</a:t>
            </a:r>
            <a:endParaRPr sz="9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54708B-4656-47FF-965A-DD1444CE383F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문제 </a:t>
            </a:r>
            <a:r>
              <a:rPr lang="en-US" altLang="ko-KR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97</a:t>
            </a:r>
            <a:endParaRPr sz="3000" b="1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A174ED-1405-4C76-A527-0D90394D3D3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C73BDC-ECD2-4AB0-84B4-F3BE7635D83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정수 배열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의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[lo,hi]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를 다음 순서대로 분할하는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partition(a,lo,hi)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를 작성하시오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양 끝을 포함하며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0≤lo≤hi&lt;n≤1000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①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가운데 인덱스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(lo+hi)//2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의 값을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hi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로 교환해 피벗으로 둔다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   L=lo, R=hi-1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② L≤R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이고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a[L]≤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피벗인 동안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L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을 계속 증가시킨다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  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이어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L≤R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이고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a[R]&gt;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피벗인 동안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R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을 계속 감소시킨다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③ L&gt;R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이면 탐색을 끝내고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,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아니면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a[L]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과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a[R]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을 교환한 뒤 ②를 반복한다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④ a[L]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과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a[hi]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를 교환하고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L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을 반환한다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구간 밖의 값은 바꾸지 않는다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Python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또는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C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로 작성하시오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8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FFF779-CB3A-4E1D-A18C-B3728A29D19C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825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 / DIVIDE AND CONQUER · EXERCISES</a:t>
            </a:r>
            <a:endParaRPr sz="825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D29EFB-5C24-45CB-9A69-9094E28F248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205</a:t>
            </a:r>
            <a:endParaRPr sz="1050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1B10D7-E8C6-4627-8C84-B85E95A4E12B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함수의 동작</a:t>
            </a:r>
            <a:r>
              <a:rPr lang="en-US" altLang="ko-KR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, </a:t>
            </a:r>
            <a:r>
              <a:rPr lang="ko-KR" altLang="en-US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경계 처리</a:t>
            </a:r>
            <a:r>
              <a:rPr lang="en-US" altLang="ko-KR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, </a:t>
            </a:r>
            <a:r>
              <a:rPr lang="ko-KR" altLang="en-US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시간 복잡도를 함께 작성하시오</a:t>
            </a:r>
            <a:r>
              <a:rPr lang="en-US" altLang="ko-KR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575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05AA79-A4C9-4ADB-8E7E-E2D161C0AF81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예</a:t>
            </a:r>
            <a:r>
              <a:rPr lang="en-US" altLang="ko-KR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: </a:t>
            </a:r>
            <a:r>
              <a:rPr lang="en-US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partition([8,4,6,3,7,1],0,5) → 3</a:t>
            </a:r>
          </a:p>
          <a:p>
            <a:pPr>
              <a:defRPr sz="15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분할 후 </a:t>
            </a:r>
            <a:r>
              <a:rPr lang="en-US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 = [3,4,1,6,7,8]</a:t>
            </a:r>
            <a:endParaRPr sz="15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7900440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0B7B238-1577-4CA2-8557-7848BCA5A16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4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장 분할 정복  </a:t>
            </a: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/  Python/C 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105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C7D776-DC9D-4A50-A651-34E6C7334E1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9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ALGORITHMS</a:t>
            </a:r>
            <a:endParaRPr sz="9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0D8E5E-FF41-4205-B9D0-00961D6BD00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문제 </a:t>
            </a:r>
            <a:r>
              <a:rPr lang="en-US" altLang="ko-KR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97  </a:t>
            </a: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정답과 해설</a:t>
            </a:r>
            <a:endParaRPr sz="3000" b="1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E2E4BC-7EBA-4A6A-829E-69F946382D9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A1BC019-8B85-45FB-871B-3F895BA54D6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가운데 값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6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을 끝으로 옮긴다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: [8,4,1,3,7,6]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L=0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의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8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과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R=3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의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3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을 교환한다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: [3,4,1,8,7,6]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L=3, R=2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로 교차하면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8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과 피벗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6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을 교환한다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반환값은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3,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분할 후 배열은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[3,4,1,6,7,8]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원소가 하나이면 그 인덱스를 반환하고 배열은 그대로다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8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18E6C2-4032-4810-ACEE-6DD5E019D7D4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825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 / DIVIDE AND CONQUER · EXERCISES</a:t>
            </a:r>
            <a:endParaRPr sz="825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5D831A-6804-41A5-919F-5D15E796883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206</a:t>
            </a:r>
            <a:endParaRPr sz="1050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8063905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C7B2515E-3CCB-413A-B2F9-2D44742A3B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4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장 분할 정복  </a:t>
            </a: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/  Python/C 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105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1698FD-E036-4E4D-9A66-0872CCC9D3B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9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ALGORITHMS</a:t>
            </a:r>
            <a:endParaRPr sz="9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58FA17-3BFC-46C4-A829-D6B0BFF7435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문제 </a:t>
            </a:r>
            <a:r>
              <a:rPr lang="en-US" altLang="ko-KR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97  </a:t>
            </a:r>
            <a:r>
              <a:rPr 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Python </a:t>
            </a: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3000" b="1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D0AB10-2807-44D4-A8A4-ED4D2486B07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426D07-D8CE-4677-8E57-5D280091F68B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퀵 정렬의 분할 함수</a:t>
            </a:r>
            <a:endParaRPr sz="1500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65918C-BFB0-4BE8-9837-0FC167D494B5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number">
            <a:extLst>
              <a:ext uri="{FF2B5EF4-FFF2-40B4-BE49-F238E27FC236}">
                <a16:creationId xmlns:a16="http://schemas.microsoft.com/office/drawing/2014/main" id="{80AD34FC-2084-4533-9962-BA56CD3031EC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01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8" name="code-line">
            <a:extLst>
              <a:ext uri="{FF2B5EF4-FFF2-40B4-BE49-F238E27FC236}">
                <a16:creationId xmlns:a16="http://schemas.microsoft.com/office/drawing/2014/main" id="{3B685DB6-E73B-4FFE-A907-B9BD9400C502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it-IT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def partition(a, lo, hi):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9" name="code-number">
            <a:extLst>
              <a:ext uri="{FF2B5EF4-FFF2-40B4-BE49-F238E27FC236}">
                <a16:creationId xmlns:a16="http://schemas.microsoft.com/office/drawing/2014/main" id="{B86FCFD5-6FA7-406C-A168-535B048E6F90}"/>
              </a:ext>
            </a:extLst>
          </p:cNvPr>
          <p:cNvSpPr>
            <a:spLocks noGrp="1"/>
          </p:cNvSpPr>
          <p:nvPr/>
        </p:nvSpPr>
        <p:spPr>
          <a:xfrm>
            <a:off x="771525" y="23241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02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0" name="code-line">
            <a:extLst>
              <a:ext uri="{FF2B5EF4-FFF2-40B4-BE49-F238E27FC236}">
                <a16:creationId xmlns:a16="http://schemas.microsoft.com/office/drawing/2014/main" id="{6FCF245A-B334-4201-9C38-04C9A1E8A29D}"/>
              </a:ext>
            </a:extLst>
          </p:cNvPr>
          <p:cNvSpPr>
            <a:spLocks noGrp="1"/>
          </p:cNvSpPr>
          <p:nvPr/>
        </p:nvSpPr>
        <p:spPr>
          <a:xfrm>
            <a:off x="1285875" y="23241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m = (lo + hi) // 2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1" name="code-number">
            <a:extLst>
              <a:ext uri="{FF2B5EF4-FFF2-40B4-BE49-F238E27FC236}">
                <a16:creationId xmlns:a16="http://schemas.microsoft.com/office/drawing/2014/main" id="{8F6C0F69-65B9-4DD8-95B7-B62911D904A8}"/>
              </a:ext>
            </a:extLst>
          </p:cNvPr>
          <p:cNvSpPr>
            <a:spLocks noGrp="1"/>
          </p:cNvSpPr>
          <p:nvPr/>
        </p:nvSpPr>
        <p:spPr>
          <a:xfrm>
            <a:off x="771525" y="2533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03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2" name="code-line">
            <a:extLst>
              <a:ext uri="{FF2B5EF4-FFF2-40B4-BE49-F238E27FC236}">
                <a16:creationId xmlns:a16="http://schemas.microsoft.com/office/drawing/2014/main" id="{78727814-6272-42EC-B214-A1D09EE977F1}"/>
              </a:ext>
            </a:extLst>
          </p:cNvPr>
          <p:cNvSpPr>
            <a:spLocks noGrp="1"/>
          </p:cNvSpPr>
          <p:nvPr/>
        </p:nvSpPr>
        <p:spPr>
          <a:xfrm>
            <a:off x="1285875" y="2533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a[m], a[hi] = a[hi], a[m]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3" name="code-number">
            <a:extLst>
              <a:ext uri="{FF2B5EF4-FFF2-40B4-BE49-F238E27FC236}">
                <a16:creationId xmlns:a16="http://schemas.microsoft.com/office/drawing/2014/main" id="{3B46DBC6-FE62-464D-8DA6-EA6ADEF570E9}"/>
              </a:ext>
            </a:extLst>
          </p:cNvPr>
          <p:cNvSpPr>
            <a:spLocks noGrp="1"/>
          </p:cNvSpPr>
          <p:nvPr/>
        </p:nvSpPr>
        <p:spPr>
          <a:xfrm>
            <a:off x="771525" y="27432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4" name="code-line">
            <a:extLst>
              <a:ext uri="{FF2B5EF4-FFF2-40B4-BE49-F238E27FC236}">
                <a16:creationId xmlns:a16="http://schemas.microsoft.com/office/drawing/2014/main" id="{6F354785-AD2F-49FA-B5D5-3BD753BA7AEE}"/>
              </a:ext>
            </a:extLst>
          </p:cNvPr>
          <p:cNvSpPr>
            <a:spLocks noGrp="1"/>
          </p:cNvSpPr>
          <p:nvPr/>
        </p:nvSpPr>
        <p:spPr>
          <a:xfrm>
            <a:off x="1285875" y="27432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pivot = a[hi]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5" name="code-number">
            <a:extLst>
              <a:ext uri="{FF2B5EF4-FFF2-40B4-BE49-F238E27FC236}">
                <a16:creationId xmlns:a16="http://schemas.microsoft.com/office/drawing/2014/main" id="{0E2DEAEF-CFAC-4A55-80AC-2564EB570D96}"/>
              </a:ext>
            </a:extLst>
          </p:cNvPr>
          <p:cNvSpPr>
            <a:spLocks noGrp="1"/>
          </p:cNvSpPr>
          <p:nvPr/>
        </p:nvSpPr>
        <p:spPr>
          <a:xfrm>
            <a:off x="771525" y="29527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05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6" name="code-line">
            <a:extLst>
              <a:ext uri="{FF2B5EF4-FFF2-40B4-BE49-F238E27FC236}">
                <a16:creationId xmlns:a16="http://schemas.microsoft.com/office/drawing/2014/main" id="{6E109A6D-0760-4DE3-93D8-88554B87C15C}"/>
              </a:ext>
            </a:extLst>
          </p:cNvPr>
          <p:cNvSpPr>
            <a:spLocks noGrp="1"/>
          </p:cNvSpPr>
          <p:nvPr/>
        </p:nvSpPr>
        <p:spPr>
          <a:xfrm>
            <a:off x="1285875" y="29527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L, R = lo, hi - 1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7" name="code-number">
            <a:extLst>
              <a:ext uri="{FF2B5EF4-FFF2-40B4-BE49-F238E27FC236}">
                <a16:creationId xmlns:a16="http://schemas.microsoft.com/office/drawing/2014/main" id="{BEEF2700-98F1-4969-B9A7-D0AE830DABD5}"/>
              </a:ext>
            </a:extLst>
          </p:cNvPr>
          <p:cNvSpPr>
            <a:spLocks noGrp="1"/>
          </p:cNvSpPr>
          <p:nvPr/>
        </p:nvSpPr>
        <p:spPr>
          <a:xfrm>
            <a:off x="771525" y="31623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06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8" name="code-line">
            <a:extLst>
              <a:ext uri="{FF2B5EF4-FFF2-40B4-BE49-F238E27FC236}">
                <a16:creationId xmlns:a16="http://schemas.microsoft.com/office/drawing/2014/main" id="{02EAB297-EFB4-4338-BED4-2227D7D990EF}"/>
              </a:ext>
            </a:extLst>
          </p:cNvPr>
          <p:cNvSpPr>
            <a:spLocks noGrp="1"/>
          </p:cNvSpPr>
          <p:nvPr/>
        </p:nvSpPr>
        <p:spPr>
          <a:xfrm>
            <a:off x="1285875" y="31623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while True: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9" name="code-number">
            <a:extLst>
              <a:ext uri="{FF2B5EF4-FFF2-40B4-BE49-F238E27FC236}">
                <a16:creationId xmlns:a16="http://schemas.microsoft.com/office/drawing/2014/main" id="{515D5926-0FD4-4C9B-B867-7FD065E40FB0}"/>
              </a:ext>
            </a:extLst>
          </p:cNvPr>
          <p:cNvSpPr>
            <a:spLocks noGrp="1"/>
          </p:cNvSpPr>
          <p:nvPr/>
        </p:nvSpPr>
        <p:spPr>
          <a:xfrm>
            <a:off x="771525" y="33718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07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0" name="code-line">
            <a:extLst>
              <a:ext uri="{FF2B5EF4-FFF2-40B4-BE49-F238E27FC236}">
                <a16:creationId xmlns:a16="http://schemas.microsoft.com/office/drawing/2014/main" id="{8BDFC894-C2E7-43E3-BDDC-E250EAD40516}"/>
              </a:ext>
            </a:extLst>
          </p:cNvPr>
          <p:cNvSpPr>
            <a:spLocks noGrp="1"/>
          </p:cNvSpPr>
          <p:nvPr/>
        </p:nvSpPr>
        <p:spPr>
          <a:xfrm>
            <a:off x="1285875" y="33718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while L &lt;= R and a[L] &lt;= pivot: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1" name="code-number">
            <a:extLst>
              <a:ext uri="{FF2B5EF4-FFF2-40B4-BE49-F238E27FC236}">
                <a16:creationId xmlns:a16="http://schemas.microsoft.com/office/drawing/2014/main" id="{3167ADBE-418F-4A3E-B48D-C04F14092003}"/>
              </a:ext>
            </a:extLst>
          </p:cNvPr>
          <p:cNvSpPr>
            <a:spLocks noGrp="1"/>
          </p:cNvSpPr>
          <p:nvPr/>
        </p:nvSpPr>
        <p:spPr>
          <a:xfrm>
            <a:off x="771525" y="35814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08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2" name="code-line">
            <a:extLst>
              <a:ext uri="{FF2B5EF4-FFF2-40B4-BE49-F238E27FC236}">
                <a16:creationId xmlns:a16="http://schemas.microsoft.com/office/drawing/2014/main" id="{6B6F68CB-1505-4B73-843C-C6C3AD582F55}"/>
              </a:ext>
            </a:extLst>
          </p:cNvPr>
          <p:cNvSpPr>
            <a:spLocks noGrp="1"/>
          </p:cNvSpPr>
          <p:nvPr/>
        </p:nvSpPr>
        <p:spPr>
          <a:xfrm>
            <a:off x="1285875" y="35814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    L += 1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3" name="code-number">
            <a:extLst>
              <a:ext uri="{FF2B5EF4-FFF2-40B4-BE49-F238E27FC236}">
                <a16:creationId xmlns:a16="http://schemas.microsoft.com/office/drawing/2014/main" id="{F5554C7B-3D85-4B2B-A26C-B081EC99BA2D}"/>
              </a:ext>
            </a:extLst>
          </p:cNvPr>
          <p:cNvSpPr>
            <a:spLocks noGrp="1"/>
          </p:cNvSpPr>
          <p:nvPr/>
        </p:nvSpPr>
        <p:spPr>
          <a:xfrm>
            <a:off x="771525" y="37909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09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4" name="code-line">
            <a:extLst>
              <a:ext uri="{FF2B5EF4-FFF2-40B4-BE49-F238E27FC236}">
                <a16:creationId xmlns:a16="http://schemas.microsoft.com/office/drawing/2014/main" id="{F786E7CA-FCF8-4D92-A684-6021083C488E}"/>
              </a:ext>
            </a:extLst>
          </p:cNvPr>
          <p:cNvSpPr>
            <a:spLocks noGrp="1"/>
          </p:cNvSpPr>
          <p:nvPr/>
        </p:nvSpPr>
        <p:spPr>
          <a:xfrm>
            <a:off x="1285875" y="37909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while L &lt;= R and a[R] &gt; pivot: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5" name="code-number">
            <a:extLst>
              <a:ext uri="{FF2B5EF4-FFF2-40B4-BE49-F238E27FC236}">
                <a16:creationId xmlns:a16="http://schemas.microsoft.com/office/drawing/2014/main" id="{A44AB588-7DF2-44F9-8B3B-3185135B39B3}"/>
              </a:ext>
            </a:extLst>
          </p:cNvPr>
          <p:cNvSpPr>
            <a:spLocks noGrp="1"/>
          </p:cNvSpPr>
          <p:nvPr/>
        </p:nvSpPr>
        <p:spPr>
          <a:xfrm>
            <a:off x="771525" y="40005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10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6" name="code-line">
            <a:extLst>
              <a:ext uri="{FF2B5EF4-FFF2-40B4-BE49-F238E27FC236}">
                <a16:creationId xmlns:a16="http://schemas.microsoft.com/office/drawing/2014/main" id="{14EEF547-3597-4FA5-8C0A-D55815CD1B0C}"/>
              </a:ext>
            </a:extLst>
          </p:cNvPr>
          <p:cNvSpPr>
            <a:spLocks noGrp="1"/>
          </p:cNvSpPr>
          <p:nvPr/>
        </p:nvSpPr>
        <p:spPr>
          <a:xfrm>
            <a:off x="1285875" y="40005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    R -= 1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7" name="code-number">
            <a:extLst>
              <a:ext uri="{FF2B5EF4-FFF2-40B4-BE49-F238E27FC236}">
                <a16:creationId xmlns:a16="http://schemas.microsoft.com/office/drawing/2014/main" id="{B58F9256-972A-4162-B06A-0E0684F077C4}"/>
              </a:ext>
            </a:extLst>
          </p:cNvPr>
          <p:cNvSpPr>
            <a:spLocks noGrp="1"/>
          </p:cNvSpPr>
          <p:nvPr/>
        </p:nvSpPr>
        <p:spPr>
          <a:xfrm>
            <a:off x="771525" y="4210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11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8" name="code-line">
            <a:extLst>
              <a:ext uri="{FF2B5EF4-FFF2-40B4-BE49-F238E27FC236}">
                <a16:creationId xmlns:a16="http://schemas.microsoft.com/office/drawing/2014/main" id="{10B87FA5-8A0E-4C27-AEE1-36C88EBEAFFE}"/>
              </a:ext>
            </a:extLst>
          </p:cNvPr>
          <p:cNvSpPr>
            <a:spLocks noGrp="1"/>
          </p:cNvSpPr>
          <p:nvPr/>
        </p:nvSpPr>
        <p:spPr>
          <a:xfrm>
            <a:off x="1285875" y="42100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if L &gt; R: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9" name="code-number">
            <a:extLst>
              <a:ext uri="{FF2B5EF4-FFF2-40B4-BE49-F238E27FC236}">
                <a16:creationId xmlns:a16="http://schemas.microsoft.com/office/drawing/2014/main" id="{86ADD45F-98F8-4D60-A1EC-98BA766EBF13}"/>
              </a:ext>
            </a:extLst>
          </p:cNvPr>
          <p:cNvSpPr>
            <a:spLocks noGrp="1"/>
          </p:cNvSpPr>
          <p:nvPr/>
        </p:nvSpPr>
        <p:spPr>
          <a:xfrm>
            <a:off x="771525" y="4419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12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0" name="code-line">
            <a:extLst>
              <a:ext uri="{FF2B5EF4-FFF2-40B4-BE49-F238E27FC236}">
                <a16:creationId xmlns:a16="http://schemas.microsoft.com/office/drawing/2014/main" id="{A5673EA0-694D-4738-ACA2-78E783825963}"/>
              </a:ext>
            </a:extLst>
          </p:cNvPr>
          <p:cNvSpPr>
            <a:spLocks noGrp="1"/>
          </p:cNvSpPr>
          <p:nvPr/>
        </p:nvSpPr>
        <p:spPr>
          <a:xfrm>
            <a:off x="1285875" y="4419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    break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1" name="code-number">
            <a:extLst>
              <a:ext uri="{FF2B5EF4-FFF2-40B4-BE49-F238E27FC236}">
                <a16:creationId xmlns:a16="http://schemas.microsoft.com/office/drawing/2014/main" id="{88D48C84-00F4-4A82-9194-654D7B4E3CAB}"/>
              </a:ext>
            </a:extLst>
          </p:cNvPr>
          <p:cNvSpPr>
            <a:spLocks noGrp="1"/>
          </p:cNvSpPr>
          <p:nvPr/>
        </p:nvSpPr>
        <p:spPr>
          <a:xfrm>
            <a:off x="771525" y="46291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13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2" name="code-line">
            <a:extLst>
              <a:ext uri="{FF2B5EF4-FFF2-40B4-BE49-F238E27FC236}">
                <a16:creationId xmlns:a16="http://schemas.microsoft.com/office/drawing/2014/main" id="{00130529-0275-4688-AF2D-000E67054AE4}"/>
              </a:ext>
            </a:extLst>
          </p:cNvPr>
          <p:cNvSpPr>
            <a:spLocks noGrp="1"/>
          </p:cNvSpPr>
          <p:nvPr/>
        </p:nvSpPr>
        <p:spPr>
          <a:xfrm>
            <a:off x="1285875" y="46291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pt-BR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a[L], a[R] = a[R], a[L]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3" name="code-number">
            <a:extLst>
              <a:ext uri="{FF2B5EF4-FFF2-40B4-BE49-F238E27FC236}">
                <a16:creationId xmlns:a16="http://schemas.microsoft.com/office/drawing/2014/main" id="{5D91B674-6167-4120-8CF7-22F5F8330179}"/>
              </a:ext>
            </a:extLst>
          </p:cNvPr>
          <p:cNvSpPr>
            <a:spLocks noGrp="1"/>
          </p:cNvSpPr>
          <p:nvPr/>
        </p:nvSpPr>
        <p:spPr>
          <a:xfrm>
            <a:off x="771525" y="48387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14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4" name="code-line">
            <a:extLst>
              <a:ext uri="{FF2B5EF4-FFF2-40B4-BE49-F238E27FC236}">
                <a16:creationId xmlns:a16="http://schemas.microsoft.com/office/drawing/2014/main" id="{F709D21F-039A-4B3C-B1D5-CE6CD8DA43B8}"/>
              </a:ext>
            </a:extLst>
          </p:cNvPr>
          <p:cNvSpPr>
            <a:spLocks noGrp="1"/>
          </p:cNvSpPr>
          <p:nvPr/>
        </p:nvSpPr>
        <p:spPr>
          <a:xfrm>
            <a:off x="1285875" y="48387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a[L], a[hi] = a[hi], a[L]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5" name="code-number">
            <a:extLst>
              <a:ext uri="{FF2B5EF4-FFF2-40B4-BE49-F238E27FC236}">
                <a16:creationId xmlns:a16="http://schemas.microsoft.com/office/drawing/2014/main" id="{04FC97F1-E4F2-4EC1-B281-730BC09EB179}"/>
              </a:ext>
            </a:extLst>
          </p:cNvPr>
          <p:cNvSpPr>
            <a:spLocks noGrp="1"/>
          </p:cNvSpPr>
          <p:nvPr/>
        </p:nvSpPr>
        <p:spPr>
          <a:xfrm>
            <a:off x="771525" y="50482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15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6" name="code-line">
            <a:extLst>
              <a:ext uri="{FF2B5EF4-FFF2-40B4-BE49-F238E27FC236}">
                <a16:creationId xmlns:a16="http://schemas.microsoft.com/office/drawing/2014/main" id="{B76D91B6-E2E1-44CE-8742-C154EFB2FAB0}"/>
              </a:ext>
            </a:extLst>
          </p:cNvPr>
          <p:cNvSpPr>
            <a:spLocks noGrp="1"/>
          </p:cNvSpPr>
          <p:nvPr/>
        </p:nvSpPr>
        <p:spPr>
          <a:xfrm>
            <a:off x="1285875" y="50482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return L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A385F7-1D11-4040-9697-A889423BD22E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길이가 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k</a:t>
            </a: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인 구간에서 시간 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O(k). </a:t>
            </a: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같은 값은 피벗의 왼쪽으로 보낸다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200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1473BB6-3DE1-44A3-B6AD-306D5A0474C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825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 / DIVIDE AND CONQUER · EXERCISES</a:t>
            </a:r>
            <a:endParaRPr sz="825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B45D4B-B06A-41F5-A4E8-0888DE0D675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207</a:t>
            </a:r>
            <a:endParaRPr sz="1050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249693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37514484-7CD2-4648-9E70-A7B046451B2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4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장 분할 정복  </a:t>
            </a: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/  Python/C 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105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687923-FF52-4A21-BECC-098FFE35460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9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ALGORITHMS</a:t>
            </a:r>
            <a:endParaRPr sz="9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33F7B8C-A906-431B-B1C6-4B7A4A26475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문제 </a:t>
            </a:r>
            <a:r>
              <a:rPr lang="en-US" altLang="ko-KR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97  </a:t>
            </a:r>
            <a:r>
              <a:rPr 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C </a:t>
            </a: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3000" b="1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60148E-C0A1-4B54-AE42-6C3003AF26F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FDE181-5531-4E66-9F14-11289889976E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퀵 정렬의 분할 함수</a:t>
            </a:r>
            <a:endParaRPr sz="1500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748706-B01C-4817-9E1A-8A2D60826C04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number">
            <a:extLst>
              <a:ext uri="{FF2B5EF4-FFF2-40B4-BE49-F238E27FC236}">
                <a16:creationId xmlns:a16="http://schemas.microsoft.com/office/drawing/2014/main" id="{3DBC04AB-549B-453C-965A-F47698909F7B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01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8" name="code-line">
            <a:extLst>
              <a:ext uri="{FF2B5EF4-FFF2-40B4-BE49-F238E27FC236}">
                <a16:creationId xmlns:a16="http://schemas.microsoft.com/office/drawing/2014/main" id="{7A08020C-B7F8-48D8-B489-315651B57146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fr-FR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int partition(int a[], int lo, int hi) {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9" name="code-number">
            <a:extLst>
              <a:ext uri="{FF2B5EF4-FFF2-40B4-BE49-F238E27FC236}">
                <a16:creationId xmlns:a16="http://schemas.microsoft.com/office/drawing/2014/main" id="{228FAEF3-C134-4AE4-B3F8-F3918BD5D489}"/>
              </a:ext>
            </a:extLst>
          </p:cNvPr>
          <p:cNvSpPr>
            <a:spLocks noGrp="1"/>
          </p:cNvSpPr>
          <p:nvPr/>
        </p:nvSpPr>
        <p:spPr>
          <a:xfrm>
            <a:off x="771525" y="23241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02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0" name="code-line">
            <a:extLst>
              <a:ext uri="{FF2B5EF4-FFF2-40B4-BE49-F238E27FC236}">
                <a16:creationId xmlns:a16="http://schemas.microsoft.com/office/drawing/2014/main" id="{C9D09456-3E62-48F3-BDE5-AC22A93E4FDA}"/>
              </a:ext>
            </a:extLst>
          </p:cNvPr>
          <p:cNvSpPr>
            <a:spLocks noGrp="1"/>
          </p:cNvSpPr>
          <p:nvPr/>
        </p:nvSpPr>
        <p:spPr>
          <a:xfrm>
            <a:off x="1285875" y="23241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int m = lo + (hi - lo) / 2;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1" name="code-number">
            <a:extLst>
              <a:ext uri="{FF2B5EF4-FFF2-40B4-BE49-F238E27FC236}">
                <a16:creationId xmlns:a16="http://schemas.microsoft.com/office/drawing/2014/main" id="{2F0B6109-3456-4C25-9F25-A58D8FBF5D26}"/>
              </a:ext>
            </a:extLst>
          </p:cNvPr>
          <p:cNvSpPr>
            <a:spLocks noGrp="1"/>
          </p:cNvSpPr>
          <p:nvPr/>
        </p:nvSpPr>
        <p:spPr>
          <a:xfrm>
            <a:off x="771525" y="2533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03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2" name="code-line">
            <a:extLst>
              <a:ext uri="{FF2B5EF4-FFF2-40B4-BE49-F238E27FC236}">
                <a16:creationId xmlns:a16="http://schemas.microsoft.com/office/drawing/2014/main" id="{3EDD6F62-67DF-47B3-A72E-FCB83F38B7FF}"/>
              </a:ext>
            </a:extLst>
          </p:cNvPr>
          <p:cNvSpPr>
            <a:spLocks noGrp="1"/>
          </p:cNvSpPr>
          <p:nvPr/>
        </p:nvSpPr>
        <p:spPr>
          <a:xfrm>
            <a:off x="1285875" y="2533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fr-FR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int t = a[m]; a[m] = a[hi]; a[hi] = t;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3" name="code-number">
            <a:extLst>
              <a:ext uri="{FF2B5EF4-FFF2-40B4-BE49-F238E27FC236}">
                <a16:creationId xmlns:a16="http://schemas.microsoft.com/office/drawing/2014/main" id="{41D3ACE7-EE28-4687-BCDA-C4CC79CA8387}"/>
              </a:ext>
            </a:extLst>
          </p:cNvPr>
          <p:cNvSpPr>
            <a:spLocks noGrp="1"/>
          </p:cNvSpPr>
          <p:nvPr/>
        </p:nvSpPr>
        <p:spPr>
          <a:xfrm>
            <a:off x="771525" y="27432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4" name="code-line">
            <a:extLst>
              <a:ext uri="{FF2B5EF4-FFF2-40B4-BE49-F238E27FC236}">
                <a16:creationId xmlns:a16="http://schemas.microsoft.com/office/drawing/2014/main" id="{DEA77976-0190-470C-980F-54694A2FFD2E}"/>
              </a:ext>
            </a:extLst>
          </p:cNvPr>
          <p:cNvSpPr>
            <a:spLocks noGrp="1"/>
          </p:cNvSpPr>
          <p:nvPr/>
        </p:nvSpPr>
        <p:spPr>
          <a:xfrm>
            <a:off x="1285875" y="27432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pt-BR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int pivot = a[hi], L = lo, R = hi - 1;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5" name="code-number">
            <a:extLst>
              <a:ext uri="{FF2B5EF4-FFF2-40B4-BE49-F238E27FC236}">
                <a16:creationId xmlns:a16="http://schemas.microsoft.com/office/drawing/2014/main" id="{31A29BA2-0BA6-4DCE-9F3C-BE730C22BE7A}"/>
              </a:ext>
            </a:extLst>
          </p:cNvPr>
          <p:cNvSpPr>
            <a:spLocks noGrp="1"/>
          </p:cNvSpPr>
          <p:nvPr/>
        </p:nvSpPr>
        <p:spPr>
          <a:xfrm>
            <a:off x="771525" y="29527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05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6" name="code-line">
            <a:extLst>
              <a:ext uri="{FF2B5EF4-FFF2-40B4-BE49-F238E27FC236}">
                <a16:creationId xmlns:a16="http://schemas.microsoft.com/office/drawing/2014/main" id="{4F58B55B-1142-4004-9494-5FC08F04B877}"/>
              </a:ext>
            </a:extLst>
          </p:cNvPr>
          <p:cNvSpPr>
            <a:spLocks noGrp="1"/>
          </p:cNvSpPr>
          <p:nvPr/>
        </p:nvSpPr>
        <p:spPr>
          <a:xfrm>
            <a:off x="1285875" y="29527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while (1) {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7" name="code-number">
            <a:extLst>
              <a:ext uri="{FF2B5EF4-FFF2-40B4-BE49-F238E27FC236}">
                <a16:creationId xmlns:a16="http://schemas.microsoft.com/office/drawing/2014/main" id="{CBCC3A77-EBEA-47A1-939A-F49D2D31FE05}"/>
              </a:ext>
            </a:extLst>
          </p:cNvPr>
          <p:cNvSpPr>
            <a:spLocks noGrp="1"/>
          </p:cNvSpPr>
          <p:nvPr/>
        </p:nvSpPr>
        <p:spPr>
          <a:xfrm>
            <a:off x="771525" y="31623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06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8" name="code-line">
            <a:extLst>
              <a:ext uri="{FF2B5EF4-FFF2-40B4-BE49-F238E27FC236}">
                <a16:creationId xmlns:a16="http://schemas.microsoft.com/office/drawing/2014/main" id="{CDC4B2EB-B283-4995-9BAA-B71F380FDD72}"/>
              </a:ext>
            </a:extLst>
          </p:cNvPr>
          <p:cNvSpPr>
            <a:spLocks noGrp="1"/>
          </p:cNvSpPr>
          <p:nvPr/>
        </p:nvSpPr>
        <p:spPr>
          <a:xfrm>
            <a:off x="1285875" y="31623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while (L &lt;= R &amp;&amp; a[L] &lt;= pivot) L++;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9" name="code-number">
            <a:extLst>
              <a:ext uri="{FF2B5EF4-FFF2-40B4-BE49-F238E27FC236}">
                <a16:creationId xmlns:a16="http://schemas.microsoft.com/office/drawing/2014/main" id="{B4F93CDE-2F77-4E88-8A86-BCE87612883C}"/>
              </a:ext>
            </a:extLst>
          </p:cNvPr>
          <p:cNvSpPr>
            <a:spLocks noGrp="1"/>
          </p:cNvSpPr>
          <p:nvPr/>
        </p:nvSpPr>
        <p:spPr>
          <a:xfrm>
            <a:off x="771525" y="33718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07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0" name="code-line">
            <a:extLst>
              <a:ext uri="{FF2B5EF4-FFF2-40B4-BE49-F238E27FC236}">
                <a16:creationId xmlns:a16="http://schemas.microsoft.com/office/drawing/2014/main" id="{314E9B05-E94B-4D68-9881-C9035591F53F}"/>
              </a:ext>
            </a:extLst>
          </p:cNvPr>
          <p:cNvSpPr>
            <a:spLocks noGrp="1"/>
          </p:cNvSpPr>
          <p:nvPr/>
        </p:nvSpPr>
        <p:spPr>
          <a:xfrm>
            <a:off x="1285875" y="33718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pt-BR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while (L &lt;= R &amp;&amp; a[R] &gt; pivot) R--;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1" name="code-number">
            <a:extLst>
              <a:ext uri="{FF2B5EF4-FFF2-40B4-BE49-F238E27FC236}">
                <a16:creationId xmlns:a16="http://schemas.microsoft.com/office/drawing/2014/main" id="{14809CB9-845A-4E6A-931D-534859FA903A}"/>
              </a:ext>
            </a:extLst>
          </p:cNvPr>
          <p:cNvSpPr>
            <a:spLocks noGrp="1"/>
          </p:cNvSpPr>
          <p:nvPr/>
        </p:nvSpPr>
        <p:spPr>
          <a:xfrm>
            <a:off x="771525" y="35814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08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2" name="code-line">
            <a:extLst>
              <a:ext uri="{FF2B5EF4-FFF2-40B4-BE49-F238E27FC236}">
                <a16:creationId xmlns:a16="http://schemas.microsoft.com/office/drawing/2014/main" id="{1D6865DF-E536-4275-A5A5-4BF0D9BA90D3}"/>
              </a:ext>
            </a:extLst>
          </p:cNvPr>
          <p:cNvSpPr>
            <a:spLocks noGrp="1"/>
          </p:cNvSpPr>
          <p:nvPr/>
        </p:nvSpPr>
        <p:spPr>
          <a:xfrm>
            <a:off x="1285875" y="35814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if (L &gt; R) break;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3" name="code-number">
            <a:extLst>
              <a:ext uri="{FF2B5EF4-FFF2-40B4-BE49-F238E27FC236}">
                <a16:creationId xmlns:a16="http://schemas.microsoft.com/office/drawing/2014/main" id="{C51AF70D-649A-4FBA-A68C-5BC2119A7A9F}"/>
              </a:ext>
            </a:extLst>
          </p:cNvPr>
          <p:cNvSpPr>
            <a:spLocks noGrp="1"/>
          </p:cNvSpPr>
          <p:nvPr/>
        </p:nvSpPr>
        <p:spPr>
          <a:xfrm>
            <a:off x="771525" y="37909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09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4" name="code-line">
            <a:extLst>
              <a:ext uri="{FF2B5EF4-FFF2-40B4-BE49-F238E27FC236}">
                <a16:creationId xmlns:a16="http://schemas.microsoft.com/office/drawing/2014/main" id="{BB2C5EA1-0B22-47B7-99CD-02F08586087F}"/>
              </a:ext>
            </a:extLst>
          </p:cNvPr>
          <p:cNvSpPr>
            <a:spLocks noGrp="1"/>
          </p:cNvSpPr>
          <p:nvPr/>
        </p:nvSpPr>
        <p:spPr>
          <a:xfrm>
            <a:off x="1285875" y="37909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pt-BR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t = a[L]; a[L] = a[R]; a[R] = t;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5" name="code-number">
            <a:extLst>
              <a:ext uri="{FF2B5EF4-FFF2-40B4-BE49-F238E27FC236}">
                <a16:creationId xmlns:a16="http://schemas.microsoft.com/office/drawing/2014/main" id="{0CD04E8C-675E-4847-B7E8-EBD8EB7433C7}"/>
              </a:ext>
            </a:extLst>
          </p:cNvPr>
          <p:cNvSpPr>
            <a:spLocks noGrp="1"/>
          </p:cNvSpPr>
          <p:nvPr/>
        </p:nvSpPr>
        <p:spPr>
          <a:xfrm>
            <a:off x="771525" y="40005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10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6" name="code-line">
            <a:extLst>
              <a:ext uri="{FF2B5EF4-FFF2-40B4-BE49-F238E27FC236}">
                <a16:creationId xmlns:a16="http://schemas.microsoft.com/office/drawing/2014/main" id="{B1905135-2299-467F-8F70-B2D5C0F83957}"/>
              </a:ext>
            </a:extLst>
          </p:cNvPr>
          <p:cNvSpPr>
            <a:spLocks noGrp="1"/>
          </p:cNvSpPr>
          <p:nvPr/>
        </p:nvSpPr>
        <p:spPr>
          <a:xfrm>
            <a:off x="1285875" y="40005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</a:t>
            </a:r>
            <a:r>
              <a:rPr lang="en-US" altLang="ko-KR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}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7" name="code-number">
            <a:extLst>
              <a:ext uri="{FF2B5EF4-FFF2-40B4-BE49-F238E27FC236}">
                <a16:creationId xmlns:a16="http://schemas.microsoft.com/office/drawing/2014/main" id="{C1B80CFC-4D94-4082-86A8-13B944800970}"/>
              </a:ext>
            </a:extLst>
          </p:cNvPr>
          <p:cNvSpPr>
            <a:spLocks noGrp="1"/>
          </p:cNvSpPr>
          <p:nvPr/>
        </p:nvSpPr>
        <p:spPr>
          <a:xfrm>
            <a:off x="771525" y="4210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11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8" name="code-line">
            <a:extLst>
              <a:ext uri="{FF2B5EF4-FFF2-40B4-BE49-F238E27FC236}">
                <a16:creationId xmlns:a16="http://schemas.microsoft.com/office/drawing/2014/main" id="{AA3242C0-3542-489A-91FA-ABF424A29F28}"/>
              </a:ext>
            </a:extLst>
          </p:cNvPr>
          <p:cNvSpPr>
            <a:spLocks noGrp="1"/>
          </p:cNvSpPr>
          <p:nvPr/>
        </p:nvSpPr>
        <p:spPr>
          <a:xfrm>
            <a:off x="1285875" y="42100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t = a[L]; a[L] = a[hi]; a[hi] = t;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9" name="code-number">
            <a:extLst>
              <a:ext uri="{FF2B5EF4-FFF2-40B4-BE49-F238E27FC236}">
                <a16:creationId xmlns:a16="http://schemas.microsoft.com/office/drawing/2014/main" id="{6B137FA0-D2C9-41D0-A1A0-1052A53E2C7E}"/>
              </a:ext>
            </a:extLst>
          </p:cNvPr>
          <p:cNvSpPr>
            <a:spLocks noGrp="1"/>
          </p:cNvSpPr>
          <p:nvPr/>
        </p:nvSpPr>
        <p:spPr>
          <a:xfrm>
            <a:off x="771525" y="4419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12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0" name="code-line">
            <a:extLst>
              <a:ext uri="{FF2B5EF4-FFF2-40B4-BE49-F238E27FC236}">
                <a16:creationId xmlns:a16="http://schemas.microsoft.com/office/drawing/2014/main" id="{170B9CC7-8746-402B-8986-454AA1B740B1}"/>
              </a:ext>
            </a:extLst>
          </p:cNvPr>
          <p:cNvSpPr>
            <a:spLocks noGrp="1"/>
          </p:cNvSpPr>
          <p:nvPr/>
        </p:nvSpPr>
        <p:spPr>
          <a:xfrm>
            <a:off x="1285875" y="4419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return L;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1" name="code-number">
            <a:extLst>
              <a:ext uri="{FF2B5EF4-FFF2-40B4-BE49-F238E27FC236}">
                <a16:creationId xmlns:a16="http://schemas.microsoft.com/office/drawing/2014/main" id="{D37EE770-CCCD-41B8-BB4C-D10BF6D34B17}"/>
              </a:ext>
            </a:extLst>
          </p:cNvPr>
          <p:cNvSpPr>
            <a:spLocks noGrp="1"/>
          </p:cNvSpPr>
          <p:nvPr/>
        </p:nvSpPr>
        <p:spPr>
          <a:xfrm>
            <a:off x="771525" y="46291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13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2" name="code-line">
            <a:extLst>
              <a:ext uri="{FF2B5EF4-FFF2-40B4-BE49-F238E27FC236}">
                <a16:creationId xmlns:a16="http://schemas.microsoft.com/office/drawing/2014/main" id="{CE14E2CC-FAFF-404A-AA1A-0E49FC31F842}"/>
              </a:ext>
            </a:extLst>
          </p:cNvPr>
          <p:cNvSpPr>
            <a:spLocks noGrp="1"/>
          </p:cNvSpPr>
          <p:nvPr/>
        </p:nvSpPr>
        <p:spPr>
          <a:xfrm>
            <a:off x="1285875" y="46291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}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FE7D6C2-5A6D-4EB2-B399-935BE7ECF49D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길이가 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k</a:t>
            </a: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인 구간에서 시간 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O(k). </a:t>
            </a: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같은 값은 피벗의 왼쪽으로 보낸다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200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65348E1-6B95-46D2-BA00-C1A2F27304F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825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 / DIVIDE AND CONQUER · EXERCISES</a:t>
            </a:r>
            <a:endParaRPr sz="825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DD20C2C-8B10-402C-950B-EA68CEE7605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208</a:t>
            </a:r>
            <a:endParaRPr sz="1050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81685519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87C7688-EA36-47FC-861A-8E0CA312379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4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장 분할 정복  </a:t>
            </a: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/  Python/C 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105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6DA827-33BF-4F09-8BEF-7B24F356708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9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ALGORITHMS</a:t>
            </a:r>
            <a:endParaRPr sz="9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D6BCF0-6CB4-4325-AAF7-C96ADC2F309A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문제 </a:t>
            </a:r>
            <a:r>
              <a:rPr lang="en-US" altLang="ko-KR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98</a:t>
            </a:r>
            <a:endParaRPr sz="3000" b="1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EA6375-A330-415C-8880-DAAE51A4F13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4C6FE-DD27-4DD3-A279-994B35477C5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정수 배열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의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[lo,hi]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를 제자리 오름차순으로 정렬하는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quick_sort(a,lo,hi)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를 작성하시오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양 끝을 포함하며 길이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n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은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0..1000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전체 배열의 첫 호출은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(a,0,n-1)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빈 배열은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lo=0, hi=-1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로 호출하며 즉시 끝낸다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앞 문항의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partition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Python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과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C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실행 환경에 제공된다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lo≥hi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이면 종료하고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,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피벗 인덱스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를 제외한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[lo,p-1]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과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[p+1,hi]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를 재귀 정렬한다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구간 밖의 값은 바꾸지 않는다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반환값 대신 배열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를 검사한다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sort·sorted·qsort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등 정렬 라이브러리는 쓰지 않는다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Python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또는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C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로 작성하시오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8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DB79F7-3E87-4C5E-99EE-B667356BA2FA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825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 / DIVIDE AND CONQUER · EXERCISES</a:t>
            </a:r>
            <a:endParaRPr sz="825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DD8A1B-CBB8-481F-8351-C9D40ECF9D3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209</a:t>
            </a:r>
            <a:endParaRPr sz="1050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A2E482-648B-43F9-A75F-DD9CB0B3A5CD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함수의 동작</a:t>
            </a:r>
            <a:r>
              <a:rPr lang="en-US" altLang="ko-KR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, </a:t>
            </a:r>
            <a:r>
              <a:rPr lang="ko-KR" altLang="en-US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경계 처리</a:t>
            </a:r>
            <a:r>
              <a:rPr lang="en-US" altLang="ko-KR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, </a:t>
            </a:r>
            <a:r>
              <a:rPr lang="ko-KR" altLang="en-US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시간 복잡도를 함께 작성하시오</a:t>
            </a:r>
            <a:r>
              <a:rPr lang="en-US" altLang="ko-KR" sz="1575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575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9DECB5-E935-4D0C-91D5-EAA936C9C33F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예</a:t>
            </a:r>
            <a:r>
              <a:rPr lang="en-US" altLang="ko-KR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: </a:t>
            </a:r>
            <a:r>
              <a:rPr lang="en-US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quick_sort([8,4,6,3,7,1],0,5)</a:t>
            </a:r>
          </a:p>
          <a:p>
            <a:pPr>
              <a:defRPr sz="15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정렬 후 </a:t>
            </a:r>
            <a:r>
              <a:rPr lang="en-US" sz="15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 = [1,3,4,6,7,8]</a:t>
            </a:r>
            <a:endParaRPr sz="15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89789494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9BD8338-CD7C-4916-89FF-6B9E6379974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4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장 분할 정복  </a:t>
            </a: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/  Python/C 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105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4382BC-4B68-42A4-B97C-441C4AAC86B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9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ALGORITHMS</a:t>
            </a:r>
            <a:endParaRPr sz="9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1B8D11-592B-423A-8B4B-D62CB27C232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문제 </a:t>
            </a:r>
            <a:r>
              <a:rPr lang="en-US" altLang="ko-KR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98  </a:t>
            </a: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정답과 해설</a:t>
            </a:r>
            <a:endParaRPr sz="3000" b="1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1805E4-DCCD-4800-BA88-FC5CF71F05A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800A1F-EC91-4682-88B9-99835EACCA8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분할 후 피벗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6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의 자리는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p=3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으로 확정된다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왼쪽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[3,4,1]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과 오른쪽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[7,8]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을 각각 정렬한다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호출 구간은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[lo,p-1]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과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[p+1,hi]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빈 구간이나 원소 한 개이면 즉시 종료한다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평균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O(n log n),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최악 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O(n²)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이다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</a:p>
          <a:p>
            <a:pPr>
              <a:defRPr sz="18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동작 검사는 결과를 확인한다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 </a:t>
            </a:r>
            <a:r>
              <a:rPr lang="ko-KR" altLang="en-US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지정 알고리즘은 풀이로도 점검한다</a:t>
            </a:r>
            <a:r>
              <a:rPr lang="en-US" altLang="ko-KR" sz="18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8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E80B1F-171F-4AC5-9573-6A5CD7FA0353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825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 / DIVIDE AND CONQUER · EXERCISES</a:t>
            </a:r>
            <a:endParaRPr sz="825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414BA4-1D7D-479A-BE31-5928235237A3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210</a:t>
            </a:r>
            <a:endParaRPr sz="1050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19238643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DB8BCB-77C7-4CB7-8C17-E6528B61933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4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장 분할 정복  </a:t>
            </a: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/  Python/C 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105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79CAD7-3601-4A07-9142-D7B151838B0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9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ALGORITHMS</a:t>
            </a:r>
            <a:endParaRPr sz="9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FEB691-A1D7-44EC-995B-6BC8573936D1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문제 </a:t>
            </a:r>
            <a:r>
              <a:rPr lang="en-US" altLang="ko-KR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98  </a:t>
            </a:r>
            <a:r>
              <a:rPr 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Python </a:t>
            </a: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3000" b="1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67DEAE-5290-42DE-A159-0A746ED2096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67F999-4912-4A56-9A22-9F72D29C1082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퀵 정렬</a:t>
            </a:r>
            <a:endParaRPr sz="1500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DB75B6-0EC9-4A2D-85CC-21E608E65074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number">
            <a:extLst>
              <a:ext uri="{FF2B5EF4-FFF2-40B4-BE49-F238E27FC236}">
                <a16:creationId xmlns:a16="http://schemas.microsoft.com/office/drawing/2014/main" id="{ADECEDA3-7873-49C2-BD72-D0296C1F3E00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01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8" name="code-line">
            <a:extLst>
              <a:ext uri="{FF2B5EF4-FFF2-40B4-BE49-F238E27FC236}">
                <a16:creationId xmlns:a16="http://schemas.microsoft.com/office/drawing/2014/main" id="{D64C5E51-272E-4121-9CCC-E52A1F5518C3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def quick_sort(a, lo, hi):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9" name="code-number">
            <a:extLst>
              <a:ext uri="{FF2B5EF4-FFF2-40B4-BE49-F238E27FC236}">
                <a16:creationId xmlns:a16="http://schemas.microsoft.com/office/drawing/2014/main" id="{CB86FA4D-DCBC-4B0C-BA44-EB02D356E247}"/>
              </a:ext>
            </a:extLst>
          </p:cNvPr>
          <p:cNvSpPr>
            <a:spLocks noGrp="1"/>
          </p:cNvSpPr>
          <p:nvPr/>
        </p:nvSpPr>
        <p:spPr>
          <a:xfrm>
            <a:off x="771525" y="23241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02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0" name="code-line">
            <a:extLst>
              <a:ext uri="{FF2B5EF4-FFF2-40B4-BE49-F238E27FC236}">
                <a16:creationId xmlns:a16="http://schemas.microsoft.com/office/drawing/2014/main" id="{41D029EE-7044-40BB-AC3F-11EAFFB73AD8}"/>
              </a:ext>
            </a:extLst>
          </p:cNvPr>
          <p:cNvSpPr>
            <a:spLocks noGrp="1"/>
          </p:cNvSpPr>
          <p:nvPr/>
        </p:nvSpPr>
        <p:spPr>
          <a:xfrm>
            <a:off x="1285875" y="23241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if lo &gt;= hi: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1" name="code-number">
            <a:extLst>
              <a:ext uri="{FF2B5EF4-FFF2-40B4-BE49-F238E27FC236}">
                <a16:creationId xmlns:a16="http://schemas.microsoft.com/office/drawing/2014/main" id="{D841A222-2A67-4744-BFFC-4404D4EBD6F5}"/>
              </a:ext>
            </a:extLst>
          </p:cNvPr>
          <p:cNvSpPr>
            <a:spLocks noGrp="1"/>
          </p:cNvSpPr>
          <p:nvPr/>
        </p:nvSpPr>
        <p:spPr>
          <a:xfrm>
            <a:off x="771525" y="2533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03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2" name="code-line">
            <a:extLst>
              <a:ext uri="{FF2B5EF4-FFF2-40B4-BE49-F238E27FC236}">
                <a16:creationId xmlns:a16="http://schemas.microsoft.com/office/drawing/2014/main" id="{8747AC82-8099-4570-8616-FA401273D7CC}"/>
              </a:ext>
            </a:extLst>
          </p:cNvPr>
          <p:cNvSpPr>
            <a:spLocks noGrp="1"/>
          </p:cNvSpPr>
          <p:nvPr/>
        </p:nvSpPr>
        <p:spPr>
          <a:xfrm>
            <a:off x="1285875" y="2533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    return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3" name="code-number">
            <a:extLst>
              <a:ext uri="{FF2B5EF4-FFF2-40B4-BE49-F238E27FC236}">
                <a16:creationId xmlns:a16="http://schemas.microsoft.com/office/drawing/2014/main" id="{310818F8-26E1-424E-A7F7-11A68A289C54}"/>
              </a:ext>
            </a:extLst>
          </p:cNvPr>
          <p:cNvSpPr>
            <a:spLocks noGrp="1"/>
          </p:cNvSpPr>
          <p:nvPr/>
        </p:nvSpPr>
        <p:spPr>
          <a:xfrm>
            <a:off x="771525" y="27432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4" name="code-line">
            <a:extLst>
              <a:ext uri="{FF2B5EF4-FFF2-40B4-BE49-F238E27FC236}">
                <a16:creationId xmlns:a16="http://schemas.microsoft.com/office/drawing/2014/main" id="{700E3BBC-39D7-45F1-9407-B7582A55D658}"/>
              </a:ext>
            </a:extLst>
          </p:cNvPr>
          <p:cNvSpPr>
            <a:spLocks noGrp="1"/>
          </p:cNvSpPr>
          <p:nvPr/>
        </p:nvSpPr>
        <p:spPr>
          <a:xfrm>
            <a:off x="1285875" y="27432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it-IT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p = partition(a, lo, hi)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5" name="code-number">
            <a:extLst>
              <a:ext uri="{FF2B5EF4-FFF2-40B4-BE49-F238E27FC236}">
                <a16:creationId xmlns:a16="http://schemas.microsoft.com/office/drawing/2014/main" id="{72038E01-3A17-4B49-A167-2F2073B110CD}"/>
              </a:ext>
            </a:extLst>
          </p:cNvPr>
          <p:cNvSpPr>
            <a:spLocks noGrp="1"/>
          </p:cNvSpPr>
          <p:nvPr/>
        </p:nvSpPr>
        <p:spPr>
          <a:xfrm>
            <a:off x="771525" y="29527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05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6" name="code-line">
            <a:extLst>
              <a:ext uri="{FF2B5EF4-FFF2-40B4-BE49-F238E27FC236}">
                <a16:creationId xmlns:a16="http://schemas.microsoft.com/office/drawing/2014/main" id="{38017828-BA88-4F0D-9F08-9C4D29B708A2}"/>
              </a:ext>
            </a:extLst>
          </p:cNvPr>
          <p:cNvSpPr>
            <a:spLocks noGrp="1"/>
          </p:cNvSpPr>
          <p:nvPr/>
        </p:nvSpPr>
        <p:spPr>
          <a:xfrm>
            <a:off x="1285875" y="29527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quick_sort(a, lo, p - 1)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7" name="code-number">
            <a:extLst>
              <a:ext uri="{FF2B5EF4-FFF2-40B4-BE49-F238E27FC236}">
                <a16:creationId xmlns:a16="http://schemas.microsoft.com/office/drawing/2014/main" id="{D524A9D6-7A07-4575-B4B8-6B7E01FA2E31}"/>
              </a:ext>
            </a:extLst>
          </p:cNvPr>
          <p:cNvSpPr>
            <a:spLocks noGrp="1"/>
          </p:cNvSpPr>
          <p:nvPr/>
        </p:nvSpPr>
        <p:spPr>
          <a:xfrm>
            <a:off x="771525" y="31623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06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8" name="code-line">
            <a:extLst>
              <a:ext uri="{FF2B5EF4-FFF2-40B4-BE49-F238E27FC236}">
                <a16:creationId xmlns:a16="http://schemas.microsoft.com/office/drawing/2014/main" id="{42E5F7DC-BF07-4C1D-9CD5-E96BA88EDD66}"/>
              </a:ext>
            </a:extLst>
          </p:cNvPr>
          <p:cNvSpPr>
            <a:spLocks noGrp="1"/>
          </p:cNvSpPr>
          <p:nvPr/>
        </p:nvSpPr>
        <p:spPr>
          <a:xfrm>
            <a:off x="1285875" y="31623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quick_sort(a, p + 1, hi)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C3162F-9626-4B27-92ED-301987D14DAF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평균 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O(n log n), </a:t>
            </a: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최악 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O(n²). </a:t>
            </a: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가운데 인덱스의 값이 중앙값이라는 보장은 없다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200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7C72B1-D0D8-40F7-81C0-F696FABC1E4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825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 / DIVIDE AND CONQUER · EXERCISES</a:t>
            </a:r>
            <a:endParaRPr sz="825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D6490F-EBEF-4CF0-82B4-32E94B4F5CBE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211</a:t>
            </a:r>
            <a:endParaRPr sz="1050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78967921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13B399-7CE0-448B-A2FB-C4B0A550BB1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4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장 분할 정복  </a:t>
            </a:r>
            <a:r>
              <a:rPr lang="en-US" altLang="ko-KR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/  Python/C </a:t>
            </a:r>
            <a:r>
              <a:rPr lang="ko-KR" altLang="en-US" sz="105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105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FCFBEC-3DA7-497D-948C-0331EB6EA34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90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900" b="0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ALGORITHMS</a:t>
            </a:r>
            <a:endParaRPr sz="900" b="0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401A0D-5D65-4EF7-86FA-E5076C919BC3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3000" b="1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문제 </a:t>
            </a:r>
            <a:r>
              <a:rPr lang="en-US" altLang="ko-KR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98  </a:t>
            </a:r>
            <a:r>
              <a:rPr 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C </a:t>
            </a:r>
            <a:r>
              <a:rPr lang="ko-KR" altLang="en-US" sz="3000" b="1">
                <a:solidFill>
                  <a:srgbClr val="151515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구현</a:t>
            </a:r>
            <a:endParaRPr sz="3000" b="1">
              <a:solidFill>
                <a:srgbClr val="151515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4FF7D5-6D32-498E-8F5C-4174451C0DE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232269-478A-4320-A02E-BF5D9BC4156A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퀵 정렬</a:t>
            </a:r>
            <a:endParaRPr sz="1500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EB53CD-DB0E-4ACD-8A42-DE9F8D9A86D1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de-number">
            <a:extLst>
              <a:ext uri="{FF2B5EF4-FFF2-40B4-BE49-F238E27FC236}">
                <a16:creationId xmlns:a16="http://schemas.microsoft.com/office/drawing/2014/main" id="{FAEEC476-B6F7-4D84-822D-EF16F6730A03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01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8" name="code-line">
            <a:extLst>
              <a:ext uri="{FF2B5EF4-FFF2-40B4-BE49-F238E27FC236}">
                <a16:creationId xmlns:a16="http://schemas.microsoft.com/office/drawing/2014/main" id="{A4069E7D-839A-4F6C-AD6E-8B9B3407E1B3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void quick_sort(int a[], int lo, int hi) {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9" name="code-number">
            <a:extLst>
              <a:ext uri="{FF2B5EF4-FFF2-40B4-BE49-F238E27FC236}">
                <a16:creationId xmlns:a16="http://schemas.microsoft.com/office/drawing/2014/main" id="{5DCB8E04-9926-4C68-AEEF-33ECBBF20F7B}"/>
              </a:ext>
            </a:extLst>
          </p:cNvPr>
          <p:cNvSpPr>
            <a:spLocks noGrp="1"/>
          </p:cNvSpPr>
          <p:nvPr/>
        </p:nvSpPr>
        <p:spPr>
          <a:xfrm>
            <a:off x="771525" y="23241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02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0" name="code-line">
            <a:extLst>
              <a:ext uri="{FF2B5EF4-FFF2-40B4-BE49-F238E27FC236}">
                <a16:creationId xmlns:a16="http://schemas.microsoft.com/office/drawing/2014/main" id="{A976BCBF-DB61-47BE-9912-48B37632CFAA}"/>
              </a:ext>
            </a:extLst>
          </p:cNvPr>
          <p:cNvSpPr>
            <a:spLocks noGrp="1"/>
          </p:cNvSpPr>
          <p:nvPr/>
        </p:nvSpPr>
        <p:spPr>
          <a:xfrm>
            <a:off x="1285875" y="23241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if (lo &gt;= hi) return;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1" name="code-number">
            <a:extLst>
              <a:ext uri="{FF2B5EF4-FFF2-40B4-BE49-F238E27FC236}">
                <a16:creationId xmlns:a16="http://schemas.microsoft.com/office/drawing/2014/main" id="{BD45CBFE-CE4E-4239-9025-B194402FB73E}"/>
              </a:ext>
            </a:extLst>
          </p:cNvPr>
          <p:cNvSpPr>
            <a:spLocks noGrp="1"/>
          </p:cNvSpPr>
          <p:nvPr/>
        </p:nvSpPr>
        <p:spPr>
          <a:xfrm>
            <a:off x="771525" y="2533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03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2" name="code-line">
            <a:extLst>
              <a:ext uri="{FF2B5EF4-FFF2-40B4-BE49-F238E27FC236}">
                <a16:creationId xmlns:a16="http://schemas.microsoft.com/office/drawing/2014/main" id="{3ECBCC72-218A-4AA6-83D1-C008F9E77E54}"/>
              </a:ext>
            </a:extLst>
          </p:cNvPr>
          <p:cNvSpPr>
            <a:spLocks noGrp="1"/>
          </p:cNvSpPr>
          <p:nvPr/>
        </p:nvSpPr>
        <p:spPr>
          <a:xfrm>
            <a:off x="1285875" y="2533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int p = partition(a, lo, hi);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3" name="code-number">
            <a:extLst>
              <a:ext uri="{FF2B5EF4-FFF2-40B4-BE49-F238E27FC236}">
                <a16:creationId xmlns:a16="http://schemas.microsoft.com/office/drawing/2014/main" id="{B1FC7445-3C02-471C-9CAE-41F170FB6EC1}"/>
              </a:ext>
            </a:extLst>
          </p:cNvPr>
          <p:cNvSpPr>
            <a:spLocks noGrp="1"/>
          </p:cNvSpPr>
          <p:nvPr/>
        </p:nvSpPr>
        <p:spPr>
          <a:xfrm>
            <a:off x="771525" y="27432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4" name="code-line">
            <a:extLst>
              <a:ext uri="{FF2B5EF4-FFF2-40B4-BE49-F238E27FC236}">
                <a16:creationId xmlns:a16="http://schemas.microsoft.com/office/drawing/2014/main" id="{1ADAEEA4-EA8F-462E-80B9-1B00B9F94C06}"/>
              </a:ext>
            </a:extLst>
          </p:cNvPr>
          <p:cNvSpPr>
            <a:spLocks noGrp="1"/>
          </p:cNvSpPr>
          <p:nvPr/>
        </p:nvSpPr>
        <p:spPr>
          <a:xfrm>
            <a:off x="1285875" y="27432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quick_sort(a, lo, p - 1);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5" name="code-number">
            <a:extLst>
              <a:ext uri="{FF2B5EF4-FFF2-40B4-BE49-F238E27FC236}">
                <a16:creationId xmlns:a16="http://schemas.microsoft.com/office/drawing/2014/main" id="{138CB9B2-A1E8-4257-BBFC-B3977310184F}"/>
              </a:ext>
            </a:extLst>
          </p:cNvPr>
          <p:cNvSpPr>
            <a:spLocks noGrp="1"/>
          </p:cNvSpPr>
          <p:nvPr/>
        </p:nvSpPr>
        <p:spPr>
          <a:xfrm>
            <a:off x="771525" y="29527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05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6" name="code-line">
            <a:extLst>
              <a:ext uri="{FF2B5EF4-FFF2-40B4-BE49-F238E27FC236}">
                <a16:creationId xmlns:a16="http://schemas.microsoft.com/office/drawing/2014/main" id="{4E3FD061-B49F-4E86-BC8C-A896F6D7E567}"/>
              </a:ext>
            </a:extLst>
          </p:cNvPr>
          <p:cNvSpPr>
            <a:spLocks noGrp="1"/>
          </p:cNvSpPr>
          <p:nvPr/>
        </p:nvSpPr>
        <p:spPr>
          <a:xfrm>
            <a:off x="1285875" y="29527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    quick_sort(a, p + 1, hi);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7" name="code-number">
            <a:extLst>
              <a:ext uri="{FF2B5EF4-FFF2-40B4-BE49-F238E27FC236}">
                <a16:creationId xmlns:a16="http://schemas.microsoft.com/office/drawing/2014/main" id="{9F294A60-A455-4575-BEE1-DCC7F78B245E}"/>
              </a:ext>
            </a:extLst>
          </p:cNvPr>
          <p:cNvSpPr>
            <a:spLocks noGrp="1"/>
          </p:cNvSpPr>
          <p:nvPr/>
        </p:nvSpPr>
        <p:spPr>
          <a:xfrm>
            <a:off x="771525" y="31623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9292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0">
                <a:solidFill>
                  <a:srgbClr val="929292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06</a:t>
            </a:r>
            <a:endParaRPr sz="1200" b="0">
              <a:solidFill>
                <a:srgbClr val="929292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8" name="code-line">
            <a:extLst>
              <a:ext uri="{FF2B5EF4-FFF2-40B4-BE49-F238E27FC236}">
                <a16:creationId xmlns:a16="http://schemas.microsoft.com/office/drawing/2014/main" id="{8EF6449B-31A7-4F5C-8A49-103ECFBB738F}"/>
              </a:ext>
            </a:extLst>
          </p:cNvPr>
          <p:cNvSpPr>
            <a:spLocks noGrp="1"/>
          </p:cNvSpPr>
          <p:nvPr/>
        </p:nvSpPr>
        <p:spPr>
          <a:xfrm>
            <a:off x="1285875" y="31623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75" b="0">
                <a:solidFill>
                  <a:srgbClr val="FFFFFF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}</a:t>
            </a:r>
            <a:endParaRPr sz="1575" b="0">
              <a:solidFill>
                <a:srgbClr val="FFFFFF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B22A6C1-AF65-47E6-A742-CBAB6E5A8B08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5B5B5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평균 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O(n log n), </a:t>
            </a: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최악 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O(n²). </a:t>
            </a:r>
            <a:r>
              <a:rPr lang="ko-KR" altLang="en-US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가운데 인덱스의 값이 중앙값이라는 보장은 없다</a:t>
            </a:r>
            <a:r>
              <a:rPr lang="en-US" altLang="ko-KR" sz="1200" b="0">
                <a:solidFill>
                  <a:srgbClr val="5B5B5B"/>
                </a:solidFill>
                <a:latin typeface="Malgun Gothic" panose="020B0503020000020004" pitchFamily="50" charset="-127"/>
                <a:ea typeface="Malgun Gothic"/>
                <a:cs typeface="Malgun Gothic"/>
              </a:rPr>
              <a:t>.</a:t>
            </a:r>
            <a:endParaRPr sz="1200" b="0">
              <a:solidFill>
                <a:srgbClr val="5B5B5B"/>
              </a:solidFill>
              <a:latin typeface="Malgun Gothic" panose="020B0503020000020004" pitchFamily="50" charset="-127"/>
              <a:ea typeface="Malgun Gothic"/>
              <a:cs typeface="Malgun 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2886004-ED53-43A1-9C65-1F9B0529103E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825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825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04 / DIVIDE AND CONQUER · EXERCISES</a:t>
            </a:r>
            <a:endParaRPr sz="825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1FF901-0BEF-4826-9FE0-2E9ECCA8628C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151515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50" b="0">
                <a:solidFill>
                  <a:srgbClr val="151515"/>
                </a:solidFill>
                <a:latin typeface="Consolas" panose="020B0609020204030204" pitchFamily="49" charset="0"/>
                <a:ea typeface="Malgun Gothic"/>
                <a:cs typeface="Malgun Gothic"/>
              </a:rPr>
              <a:t>212</a:t>
            </a:r>
            <a:endParaRPr sz="1050" b="0">
              <a:solidFill>
                <a:srgbClr val="151515"/>
              </a:solidFill>
              <a:latin typeface="Consolas" panose="020B0609020204030204" pitchFamily="49" charset="0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74888555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a16:creationId xmlns:a16="http://schemas.microsoft.com/office/drawing/2014/main" id="{67C57034-DA85-41F1-BD23-E8AFD58E888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120A0A1B-E722-4C35-AEEF-B0E160636E0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4E230E6C-8249-4AA8-90FE-60EE1A3BB750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19C47E-5C52-4175-BFFC-FC9A7E84014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0FB529-764E-4810-83AA-DFC8C8E7D47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C6A54F1-F12E-4BE2-8F86-5B89FB135DE2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8377572B-AC90-475C-8951-B026383705E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213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4B0DDF9-B451-43CB-90A1-1771ADBF172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1120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정사각형을 균일할 때까지 네 등분한 뒤 값 1인 최종 조각의 수를 반환한다.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n=2ᵏ≤32. white_count(a,r,c,n)을 작성한다. C 열 폭은 32다. Python 또는 C 중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하나로 함수를 작성하시오.</a:t>
            </a:r>
          </a:p>
        </p:txBody>
      </p:sp>
      <p:sp>
        <p:nvSpPr>
          <p:cNvPr id="9" name="text-405-64">
            <a:extLst>
              <a:ext uri="{FF2B5EF4-FFF2-40B4-BE49-F238E27FC236}">
                <a16:creationId xmlns:a16="http://schemas.microsoft.com/office/drawing/2014/main" id="{AE0C3E96-4D4B-4387-A67E-96A602622E0B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738C79-2E4A-4835-A27E-774D97E4821B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9FD1A2-1640-4D18-9CBE-F0C590B5149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1B0818-97C2-4521-AF22-0CADEFCFA1CC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a16:creationId xmlns:a16="http://schemas.microsoft.com/office/drawing/2014/main" id="{E55BF6BF-8F27-4E6D-84B8-EA45A111A73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DE542465-47C5-4478-8FA7-BE22EC9EFB3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CFE273F1-EE3D-4C8D-BBFB-49119B7BB27E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DE3AD8-2DC3-4260-9AAC-028243CF8AF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91AAA7-2C5F-4978-82E1-C5A7A9CD1CD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2BDBE68C-0155-4506-8999-C73FEB491C51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2938D6B9-1008-4525-AAA3-5212060DC80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214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a16:creationId xmlns:a16="http://schemas.microsoft.com/office/drawing/2014/main" id="{CB051D76-7E8B-4835-8201-582CFB46099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단색 종이 조각 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06DD82-60FA-4BDD-9ACF-7BF076987290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a16:creationId xmlns:a16="http://schemas.microsoft.com/office/drawing/2014/main" id="{96C2AD5B-827A-4123-9767-F36166458BEE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균일한 1 영역은 한 조각, 균일한 0 영역은 0개로 세고 나머지는 네 결과를 합한다.</a:t>
            </a:r>
          </a:p>
        </p:txBody>
      </p:sp>
      <p:sp>
        <p:nvSpPr>
          <p:cNvPr id="11" name="text-324.4-64">
            <a:extLst>
              <a:ext uri="{FF2B5EF4-FFF2-40B4-BE49-F238E27FC236}">
                <a16:creationId xmlns:a16="http://schemas.microsoft.com/office/drawing/2014/main" id="{7B037945-64C3-4A30-AB90-097933923175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F44A85-4A7A-4093-B2C3-DB299A89E195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a16:creationId xmlns:a16="http://schemas.microsoft.com/office/drawing/2014/main" id="{5857B8FD-6906-434E-BC57-AF54714FE21C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O(n² log(n+1)) 상한. 1인 칸 수와 조각 수는 다르다.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8-64">
            <a:extLst>
              <a:ext uri="{FF2B5EF4-FFF2-40B4-BE49-F238E27FC236}">
                <a16:creationId xmlns:a16="http://schemas.microsoft.com/office/drawing/2014/main" id="{4F8A67A3-F90E-4B26-AB12-F8BC9325919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5E4893B4-C14B-446F-8837-84ED8F40281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9ACF15EA-59AA-43EE-833C-6BDB1010F3F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C5FAF6-2F2A-469C-A35E-F806E14C7B9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09CC91E-7193-41A1-B288-A0258332E91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03601060-1189-44E3-B3B8-1B3858F270F6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D00BC31A-BB4D-45A0-A05D-EC0936EEB28A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215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4DBAC3B2-F712-49E4-8421-46DEF6F59631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단색 종이 조각 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0F1482-C356-4C66-8F47-8D107ABBA43C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9BDB6568-D13C-45A9-A8BC-D4E169B81805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D622C776-484F-4107-946E-2180E65AC341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white_count(a, r, c, n):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C0EF1DB7-6226-4253-9305-447926EB324F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1D936580-3BB8-4039-8445-C43C4319CCD8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value = a[r][c]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CFB5BDE6-4052-4B3E-BD26-642E24B697DA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020C5776-7820-4BD1-9D33-1D3DED659EEA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all(a[i][j] == value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C0DDFD9A-03C3-4E65-95AA-59D1B3617D04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D0F380A1-B31C-4F68-A0DD-553363BE07DA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for i in range(r, r+n) for j in range(c, c+n)):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3BBAF8EE-AD7E-4F69-9AC4-57D3E8729568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488223FD-6259-4AFC-A988-E7105FCCB2B6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value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A3D101B3-12ED-4909-86F5-EA3F8A1FE342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9AEBA387-A05E-4D0E-AA3D-2907EF42379C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h = n // 2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F2121400-A50C-429E-85A4-2A9BCAAB955F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3131FBB0-FE68-4B35-A0E9-83FC29B8CCDE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(white_count(a,r,c,h) + white_count(a,r,c+h,h)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326BEE00-00E8-4D6F-B486-86F13AEF684B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FE6ADD01-B713-41D4-B47F-3F454FDA7DAE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+ white_count(a,r+h,c,h)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7936460E-753D-4E78-824A-4368169B6ADE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275799EE-7935-416A-81B3-C6865663FBEE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+ white_count(a,r+h,c+h,h))</a:t>
            </a:r>
          </a:p>
        </p:txBody>
      </p:sp>
      <p:sp>
        <p:nvSpPr>
          <p:cNvPr id="28" name="text-635-64">
            <a:extLst>
              <a:ext uri="{FF2B5EF4-FFF2-40B4-BE49-F238E27FC236}">
                <a16:creationId xmlns:a16="http://schemas.microsoft.com/office/drawing/2014/main" id="{B3FC7CE0-4DE1-40BE-8D7C-1AC79222A03F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O(n² log(n+1)) 상한. 1인 칸 수와 조각 수는 다르다.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28-64">
            <a:extLst>
              <a:ext uri="{FF2B5EF4-FFF2-40B4-BE49-F238E27FC236}">
                <a16:creationId xmlns:a16="http://schemas.microsoft.com/office/drawing/2014/main" id="{CDDC7FDC-B4BE-40AB-825D-17DD9B34E69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46F321E6-5098-4D60-8F50-35DFBA25678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2A38DE3-296E-46E2-876E-4D84B8E120DB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E1F9DF-14FB-4604-897E-95C68C3215C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54FFFA-4EF8-4370-9B16-2F48F615BB1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C6E4209-9E19-458C-98F3-FFD2AF94CE09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FA6B395A-92CA-4ADD-A306-8E0774BF1A39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216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9CAA364F-2A27-428E-B377-C1545241CA97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단색 종이 조각 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4E9CDC-725E-40E6-993D-A16BE99A03DD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9AD9BABD-83CD-4633-8EFB-E05BEF193678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B68AAD8F-A6F2-4CED-99E0-EA7235B83B9C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white_count(const int a[][32], int r, int c, int n) {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D18848DE-1435-47FF-9F40-663199E883EB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EE80F4B0-C849-47EE-86B1-CDF6747B94A2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same=1, value=a[r][c];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639E7028-AD7A-4E80-B283-9CEF0B578B8C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32F589C5-000F-41F3-AE03-A4130D5B6A1F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i=r; i&lt;r+n; ++i)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77C671EA-34E4-478A-8F3D-2F42F7E1477E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CFFA37F9-A2AD-4D31-A3BF-DDC453D40495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j=c; j&lt;c+n; ++j)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C809FB36-7E9E-40AA-9C31-26314FAB6AFA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E7157BEA-6CAA-4F10-ACEC-3524DE97BD1E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(a[i][j]!=value) same=0;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1329F2EF-1034-454C-AE86-1F133CA8D8A4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F9EB5723-E42B-46C3-998C-326F5F167C65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(same) return value;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02BAB3E4-E1A1-4085-BF4A-129D716C28C2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0E5E2BE1-3691-4468-880D-A459E6EF9CEC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h=n/2;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800AFD82-9DD8-4AE7-BEDB-13061628E53C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88DE2C6B-FB7D-483B-9823-A76BA38C824D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white_count(a,r,c,h)+white_count(a,r,c+h,h)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7B40F0B3-DC4C-414D-9CAF-1968CF4BF9ED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08F61A3F-A529-4100-BFB0-AF7387A61B26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+ white_count(a,r+h,c,h)+white_count(a,r+h,c+h,h);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C2C4DFF7-2F2E-479D-9310-457C90F0EE68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1E00AE93-1F08-4626-9D69-B1836C5C1FB8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0" name="text-635-64">
            <a:extLst>
              <a:ext uri="{FF2B5EF4-FFF2-40B4-BE49-F238E27FC236}">
                <a16:creationId xmlns:a16="http://schemas.microsoft.com/office/drawing/2014/main" id="{7B416694-ED8C-4729-A9F2-168508CDE2EE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O(n² log(n+1)) 상한. 1인 칸 수와 조각 수는 다르다.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8-64">
            <a:extLst>
              <a:ext uri="{FF2B5EF4-FFF2-40B4-BE49-F238E27FC236}">
                <ns2:creationId id="{9F57FAF8-EE1C-44F4-B9C3-9B7E7D209F7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ns2:creationId id="{0C9E1313-0369-4A90-9D2B-1A45BD599C2C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ns2:creationId id="{80461CD7-3152-4F8E-B550-88537CA92642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D8BDD1DE-7DF9-41B1-B1F6-3131BB93B3B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ns2:creationId id="{764B4645-C2F0-4D3B-AC9F-44461643C70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ns2:creationId id="{D6E600C1-FA14-4319-878D-88F1AE5DAE6D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ns2:creationId id="{639B88CB-54CA-4C64-AE7E-7A9F43FE5CA0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217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ns2:creationId id="{A3A496FB-B1A2-459B-AB3D-9FD9FE977C7E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7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>
                <a:solidFill>
                  <a:srgbClr val="171717"/>
                </a:solidFill>
              </a:defRPr>
            </a:defPPr>
          </a:lstStyle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역전 쌍은 원래 배열에서 앞의 수가 뒤의 수보다 큰 두 원소의 쌍입니다.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원래 배열의 왼쪽·오른쪽 부분을 각각 오름차순으로 정렬한 a, b가 주어집니다.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a에서 하나, b에서 하나를 골라 a[i] &gt; b[j]인 쌍만 셉니다. 같은 값은 세지 않습니다.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예: a=[1,4,7], b=[2,3,8]이면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(4,2), (4,3), (7,2), (7,3)의 4쌍입니다.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cross_inversions(a,b)를 병합처럼 순회하여 작성하시오.</a:t>
            </a:r>
          </a:p>
          <a:p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길이는 0~1000이며, 한쪽이 비면 0을 반환합니다. Python 또는 C로 작성하시오.</a:t>
            </a:r>
          </a:p>
        </p:txBody>
      </p:sp>
      <p:sp>
        <p:nvSpPr>
          <p:cNvPr id="9" name="text-405-64">
            <a:extLst>
              <a:ext uri="{FF2B5EF4-FFF2-40B4-BE49-F238E27FC236}">
                <ns2:creationId id="{CDD6A78A-C7E8-462A-ADFE-3348349B0575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6487EC03-8471-4DCD-A65D-C0AE9CDD26CC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ns2:creationId id="{495B8705-3CBB-4AAF-819A-F65AC04F76C7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ns2:creationId id="{89361DDA-3ABB-4EE1-9D31-10F271D4B54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</p:spTree>
    <p:extLst>
      <p:ext uri="{BB962C8B-B14F-4D97-AF65-F5344CB8AC3E}">
        <ns3:creationId val="462685519"/>
      </p:ext>
    </p:extLst>
  </p:cSld>
  <p:clrMapOvr>
    <a:masterClrMapping/>
  </p:clrMapOvr>
</p:sld>
</file>

<file path=ppt/slides/slide2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28-64">
            <a:extLst>
              <a:ext uri="{FF2B5EF4-FFF2-40B4-BE49-F238E27FC236}">
                <ns2:creationId id="{7910BB4D-E430-4AF1-97A2-F2ED1F6E6C8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ns2:creationId id="{FF07ED32-DA07-406F-8932-9298DBC0232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ns2:creationId id="{7171700D-0FE9-4492-A59B-AB9718232FD5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정답과 해설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38F8AAA6-4013-4161-8F37-9BF329DF579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ns2:creationId id="{286A4A7D-9C75-4627-A532-2294AD2CC95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ns2:creationId id="{312E93B3-F0B5-4297-8268-8C95C61B6140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ns2:creationId id="{7DDFB6DF-6E94-4F7F-982C-AEDBE119BA88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218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78-64">
            <a:extLst>
              <a:ext uri="{FF2B5EF4-FFF2-40B4-BE49-F238E27FC236}">
                <ns2:creationId id="{5CEDBFF3-02BA-4CFA-9E6A-2DFE8E28C2A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병합 중 역전 쌍 세기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1C6D212F-BC0C-4E8D-8683-6DCE0DBE71D3}"/>
              </a:ext>
            </a:extLst>
          </p:cNvPr>
          <p:cNvSpPr>
            <a:spLocks noGrp="1"/>
          </p:cNvSpPr>
          <p:nvPr/>
        </p:nvSpPr>
        <p:spPr>
          <a:xfrm>
            <a:off x="609600" y="2205990"/>
            <a:ext cx="10972800" cy="62674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45.6-92">
            <a:extLst>
              <a:ext uri="{FF2B5EF4-FFF2-40B4-BE49-F238E27FC236}">
                <ns2:creationId id="{50FAF124-8E83-4FC2-8735-65B3F9ACB49F}"/>
              </a:ext>
            </a:extLst>
          </p:cNvPr>
          <p:cNvSpPr>
            <a:spLocks noGrp="1"/>
          </p:cNvSpPr>
          <p:nvPr/>
        </p:nvSpPr>
        <p:spPr>
          <a:xfrm>
            <a:off x="876300" y="2339340"/>
            <a:ext cx="10439400" cy="4362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오른쪽 값이 더 작으면 남은 왼쪽 원소 모두와 역전 쌍을 만든다.</a:t>
            </a:r>
          </a:p>
        </p:txBody>
      </p:sp>
      <p:sp>
        <p:nvSpPr>
          <p:cNvPr id="11" name="text-324.4-64">
            <a:extLst>
              <a:ext uri="{FF2B5EF4-FFF2-40B4-BE49-F238E27FC236}">
                <ns2:creationId id="{7E0A048B-FEC0-443C-B8D2-C15F0164CD5A}"/>
              </a:ext>
            </a:extLst>
          </p:cNvPr>
          <p:cNvSpPr>
            <a:spLocks noGrp="1"/>
          </p:cNvSpPr>
          <p:nvPr/>
        </p:nvSpPr>
        <p:spPr>
          <a:xfrm>
            <a:off x="609600" y="3089910"/>
            <a:ext cx="11811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42792181-7E1A-47C1-B5A3-8A7FF3BE3591}"/>
              </a:ext>
            </a:extLst>
          </p:cNvPr>
          <p:cNvSpPr>
            <a:spLocks noGrp="1"/>
          </p:cNvSpPr>
          <p:nvPr/>
        </p:nvSpPr>
        <p:spPr>
          <a:xfrm>
            <a:off x="1752600" y="3261360"/>
            <a:ext cx="9829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13" name="text-372.4-64">
            <a:extLst>
              <a:ext uri="{FF2B5EF4-FFF2-40B4-BE49-F238E27FC236}">
                <ns2:creationId id="{01674E4A-134B-4DFB-9434-ABE6A61F1AAA}"/>
              </a:ext>
            </a:extLst>
          </p:cNvPr>
          <p:cNvSpPr>
            <a:spLocks noGrp="1"/>
          </p:cNvSpPr>
          <p:nvPr/>
        </p:nvSpPr>
        <p:spPr>
          <a:xfrm>
            <a:off x="609600" y="354711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>
                <a:solidFill>
                  <a:srgbClr val="171717"/>
                </a:solidFill>
              </a:defRPr>
            </a:defPPr>
          </a:lstStyle>
          <a:p>
            <a:pPr algn="l">
              <a:lnSpc>
                <a:spcPct val="108000"/>
              </a:lnSpc>
              <a:buNone/>
              <a:def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a=[1,4,7], b=[2,3,8]에서 i=j=count=0으로 시작합니다.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 &lt;= 2: i만 늘려 4를 봅니다. 아직 역전 쌍은 없습니다.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4 &gt; 2: 남은 왼쪽 [4,7] 모두 2보다 큽니다. 2쌍을 더하고 j를 늘립니다.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4 &gt; 3: 다시 [4,7] 모두 3보다 큽니다. 2쌍을 더하고 j를 늘립니다.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4 &lt;= 8, 7 &lt;= 8: i만 늘리다가 왼쪽이 끝납니다. 총 4쌍입니다.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길이를 n, 오른쪽 길이를 m이라 하면 더할 개수는 n-i개입니다.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반복에서 i 또는 j가 한 칸 전진하므로 시간은 O(n+m)입니다.</a:t>
            </a:r>
          </a:p>
        </p:txBody>
      </p:sp>
    </p:spTree>
    <p:extLst>
      <p:ext uri="{BB962C8B-B14F-4D97-AF65-F5344CB8AC3E}">
        <ns3:creationId val="46268551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28-64">
            <a:extLst>
              <a:ext uri="{FF2B5EF4-FFF2-40B4-BE49-F238E27FC236}">
                <a16:creationId xmlns:a16="http://schemas.microsoft.com/office/drawing/2014/main" id="{3CC7A8AD-8D91-4C57-ABAA-16699DEBDAE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27B69C55-6338-4339-8E22-933D7812459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720D6A7F-CB56-475A-98AE-B76AEE58B9DC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Python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498019-672D-4756-9627-D5C16A3686D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34B2AE-E40D-492B-A55B-3446C73058B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DB39D8FF-3112-4BF8-A179-F82CDA2CB3FF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39871336-D0C8-4AB7-819F-018DFE4DCAB4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219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37608DD2-2818-47AD-90F9-354BE1BCE4D7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병합 중 역전 쌍 세기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5AC79E-84AF-4271-9615-49AC32B6B440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4ACD4495-1B3F-4770-A18E-D78F63D86CCD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BAA9837C-83C6-4FBC-8837-0E59B78BB768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cross_inversions(a, b):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69905A98-9913-479F-9779-3E59CF61F583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B6DD5219-4FD8-4A47-B4CB-DF9EEF68152D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 = j = count = 0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4877BE11-88D5-421B-8ED1-F56E0685DF38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58C6D5C3-400D-4912-8170-5DDDEB45A188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i &lt; len(a) and j &lt; len(b):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B4D5631B-DCE5-4046-BFD9-A125B4DE4855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1CE0D048-1F14-4258-A93F-8431843D8F47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a[i] &lt;= b[j]: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B66BC90E-28CA-4583-B649-69FE0EADA43F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7DF5AC8E-276F-4839-AC52-958B3CB763B4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 += 1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29345799-75A7-4C7E-9AC3-238668145427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C06CB03B-88BC-4FA1-AD33-DD70DC68E718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else: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4EAACB57-1F9C-4F80-80CE-B332CDBE6189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FA3882E3-3579-4C51-B14D-C16046D671CC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count += len(a) - i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8C0D87B1-63EB-44E4-B3EA-3FA456E6E446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627D347D-5512-4026-9BB2-17DFA73A3C6B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j += 1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749B8F5C-1DFA-4F78-B6E8-9BE0EF6D88E1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48156DB7-ECFD-4937-BF64-310B70C8933E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count</a:t>
            </a:r>
          </a:p>
        </p:txBody>
      </p:sp>
      <p:sp>
        <p:nvSpPr>
          <p:cNvPr id="28" name="text-635-64">
            <a:extLst>
              <a:ext uri="{FF2B5EF4-FFF2-40B4-BE49-F238E27FC236}">
                <a16:creationId xmlns:a16="http://schemas.microsoft.com/office/drawing/2014/main" id="{E1812EE8-F378-4FA3-9CA7-7DF676C66DC9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O(n+m). 같은 값은 역전 쌍으로 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28-64">
            <a:extLst>
              <a:ext uri="{FF2B5EF4-FFF2-40B4-BE49-F238E27FC236}">
                <a16:creationId xmlns:a16="http://schemas.microsoft.com/office/drawing/2014/main" id="{72622186-19B2-4D76-BB58-57EE6711A23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4장 분할 정복  /  Python/C 구현</a:t>
            </a:r>
          </a:p>
        </p:txBody>
      </p:sp>
      <p:sp>
        <p:nvSpPr>
          <p:cNvPr id="2" name="text-28-1080">
            <a:extLst>
              <a:ext uri="{FF2B5EF4-FFF2-40B4-BE49-F238E27FC236}">
                <a16:creationId xmlns:a16="http://schemas.microsoft.com/office/drawing/2014/main" id="{35DCB988-3A01-4C79-96E7-491EE8BAB61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95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>
              <a:ext uri="{FF2B5EF4-FFF2-40B4-BE49-F238E27FC236}">
                <a16:creationId xmlns:a16="http://schemas.microsoft.com/office/drawing/2014/main" id="{0CA95E4C-42D6-42A4-9732-0EBC6CFAD8F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1099185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C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BB0C9F-F2B9-4D02-8593-28284839C59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C395E9-19B4-472B-8C1B-1AF2338AAF3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D4D4D4"/>
          </a:solidFill>
          <a:ln w="0">
            <a:noFill/>
          </a:ln>
        </p:spPr>
      </p:sp>
      <p:sp>
        <p:nvSpPr>
          <p:cNvPr id="6" name="text-693-64">
            <a:extLst>
              <a:ext uri="{FF2B5EF4-FFF2-40B4-BE49-F238E27FC236}">
                <a16:creationId xmlns:a16="http://schemas.microsoft.com/office/drawing/2014/main" id="{9ABCEA5E-0F94-48FE-AC34-CE860B20657B}"/>
              </a:ext>
            </a:extLst>
          </p:cNvPr>
          <p:cNvSpPr>
            <a:spLocks noGrp="1"/>
          </p:cNvSpPr>
          <p:nvPr/>
        </p:nvSpPr>
        <p:spPr>
          <a:xfrm>
            <a:off x="609600" y="6600825"/>
            <a:ext cx="9906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04 / DIVIDE AND CONQUER · EXERCISES</a:t>
            </a:r>
          </a:p>
        </p:txBody>
      </p:sp>
      <p:sp>
        <p:nvSpPr>
          <p:cNvPr id="7" name="text-689-1160">
            <a:extLst>
              <a:ext uri="{FF2B5EF4-FFF2-40B4-BE49-F238E27FC236}">
                <a16:creationId xmlns:a16="http://schemas.microsoft.com/office/drawing/2014/main" id="{7FD0ABDB-54B8-4587-85C4-DAA1316BF606}"/>
              </a:ext>
            </a:extLst>
          </p:cNvPr>
          <p:cNvSpPr>
            <a:spLocks noGrp="1"/>
          </p:cNvSpPr>
          <p:nvPr/>
        </p:nvSpPr>
        <p:spPr>
          <a:xfrm>
            <a:off x="11049000" y="656272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220</a:t>
            </a:r>
            <a:endParaRPr sz="1050" b="1" i="0">
              <a:solidFill>
                <a:srgbClr val="17171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-163-64">
            <a:extLst>
              <a:ext uri="{FF2B5EF4-FFF2-40B4-BE49-F238E27FC236}">
                <a16:creationId xmlns:a16="http://schemas.microsoft.com/office/drawing/2014/main" id="{F2B93C21-C393-4750-9787-D33059640421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병합 중 역전 쌍 세기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9569D7-E290-4542-9710-77CF6B906724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39624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</p:sp>
      <p:sp>
        <p:nvSpPr>
          <p:cNvPr id="10" name="text-222-81">
            <a:extLst>
              <a:ext uri="{FF2B5EF4-FFF2-40B4-BE49-F238E27FC236}">
                <a16:creationId xmlns:a16="http://schemas.microsoft.com/office/drawing/2014/main" id="{B889074A-B8D4-4D19-85D7-6388A6550585}"/>
              </a:ext>
            </a:extLst>
          </p:cNvPr>
          <p:cNvSpPr>
            <a:spLocks noGrp="1"/>
          </p:cNvSpPr>
          <p:nvPr/>
        </p:nvSpPr>
        <p:spPr>
          <a:xfrm>
            <a:off x="771525" y="21145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>
              <a:ext uri="{FF2B5EF4-FFF2-40B4-BE49-F238E27FC236}">
                <a16:creationId xmlns:a16="http://schemas.microsoft.com/office/drawing/2014/main" id="{218972C6-4343-4404-A9D6-DEF27AC422E6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long long cross_inversions(const int a[], int n,</a:t>
            </a:r>
          </a:p>
        </p:txBody>
      </p:sp>
      <p:sp>
        <p:nvSpPr>
          <p:cNvPr id="12" name="text-242.5-81">
            <a:extLst>
              <a:ext uri="{FF2B5EF4-FFF2-40B4-BE49-F238E27FC236}">
                <a16:creationId xmlns:a16="http://schemas.microsoft.com/office/drawing/2014/main" id="{C4D43483-8C16-4A05-A61C-F3607BCB9FAC}"/>
              </a:ext>
            </a:extLst>
          </p:cNvPr>
          <p:cNvSpPr>
            <a:spLocks noGrp="1"/>
          </p:cNvSpPr>
          <p:nvPr/>
        </p:nvSpPr>
        <p:spPr>
          <a:xfrm>
            <a:off x="771525" y="23098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>
              <a:ext uri="{FF2B5EF4-FFF2-40B4-BE49-F238E27FC236}">
                <a16:creationId xmlns:a16="http://schemas.microsoft.com/office/drawing/2014/main" id="{72E7C309-1D34-4E26-89E8-0EB9D4262ED5}"/>
              </a:ext>
            </a:extLst>
          </p:cNvPr>
          <p:cNvSpPr>
            <a:spLocks noGrp="1"/>
          </p:cNvSpPr>
          <p:nvPr/>
        </p:nvSpPr>
        <p:spPr>
          <a:xfrm>
            <a:off x="1285875" y="23098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      const int b[], int m) {</a:t>
            </a:r>
          </a:p>
        </p:txBody>
      </p:sp>
      <p:sp>
        <p:nvSpPr>
          <p:cNvPr id="14" name="text-263-81">
            <a:extLst>
              <a:ext uri="{FF2B5EF4-FFF2-40B4-BE49-F238E27FC236}">
                <a16:creationId xmlns:a16="http://schemas.microsoft.com/office/drawing/2014/main" id="{53E13CFF-9DB9-4862-8E70-2D046AA8C245}"/>
              </a:ext>
            </a:extLst>
          </p:cNvPr>
          <p:cNvSpPr>
            <a:spLocks noGrp="1"/>
          </p:cNvSpPr>
          <p:nvPr/>
        </p:nvSpPr>
        <p:spPr>
          <a:xfrm>
            <a:off x="771525" y="25050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>
              <a:ext uri="{FF2B5EF4-FFF2-40B4-BE49-F238E27FC236}">
                <a16:creationId xmlns:a16="http://schemas.microsoft.com/office/drawing/2014/main" id="{C526E841-33C0-46BE-8937-A37A3C90737E}"/>
              </a:ext>
            </a:extLst>
          </p:cNvPr>
          <p:cNvSpPr>
            <a:spLocks noGrp="1"/>
          </p:cNvSpPr>
          <p:nvPr/>
        </p:nvSpPr>
        <p:spPr>
          <a:xfrm>
            <a:off x="1285875" y="250507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i=0, j=0;</a:t>
            </a:r>
          </a:p>
        </p:txBody>
      </p:sp>
      <p:sp>
        <p:nvSpPr>
          <p:cNvPr id="16" name="text-283.5-81">
            <a:extLst>
              <a:ext uri="{FF2B5EF4-FFF2-40B4-BE49-F238E27FC236}">
                <a16:creationId xmlns:a16="http://schemas.microsoft.com/office/drawing/2014/main" id="{F6965616-7EB3-471D-AC05-687BDD314314}"/>
              </a:ext>
            </a:extLst>
          </p:cNvPr>
          <p:cNvSpPr>
            <a:spLocks noGrp="1"/>
          </p:cNvSpPr>
          <p:nvPr/>
        </p:nvSpPr>
        <p:spPr>
          <a:xfrm>
            <a:off x="771525" y="270033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>
              <a:ext uri="{FF2B5EF4-FFF2-40B4-BE49-F238E27FC236}">
                <a16:creationId xmlns:a16="http://schemas.microsoft.com/office/drawing/2014/main" id="{E889D48E-0272-4C66-B99A-8FD02431E123}"/>
              </a:ext>
            </a:extLst>
          </p:cNvPr>
          <p:cNvSpPr>
            <a:spLocks noGrp="1"/>
          </p:cNvSpPr>
          <p:nvPr/>
        </p:nvSpPr>
        <p:spPr>
          <a:xfrm>
            <a:off x="1285875" y="270033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count=0;</a:t>
            </a:r>
          </a:p>
        </p:txBody>
      </p:sp>
      <p:sp>
        <p:nvSpPr>
          <p:cNvPr id="18" name="text-304-81">
            <a:extLst>
              <a:ext uri="{FF2B5EF4-FFF2-40B4-BE49-F238E27FC236}">
                <a16:creationId xmlns:a16="http://schemas.microsoft.com/office/drawing/2014/main" id="{7F1B7C67-3066-4AD3-AC84-667133945CE9}"/>
              </a:ext>
            </a:extLst>
          </p:cNvPr>
          <p:cNvSpPr>
            <a:spLocks noGrp="1"/>
          </p:cNvSpPr>
          <p:nvPr/>
        </p:nvSpPr>
        <p:spPr>
          <a:xfrm>
            <a:off x="771525" y="28956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>
              <a:ext uri="{FF2B5EF4-FFF2-40B4-BE49-F238E27FC236}">
                <a16:creationId xmlns:a16="http://schemas.microsoft.com/office/drawing/2014/main" id="{07E9A239-801A-408A-8C7F-44A9A4556A0C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(i&lt;n &amp;&amp; j&lt;m) {</a:t>
            </a:r>
          </a:p>
        </p:txBody>
      </p:sp>
      <p:sp>
        <p:nvSpPr>
          <p:cNvPr id="20" name="text-324.5-81">
            <a:extLst>
              <a:ext uri="{FF2B5EF4-FFF2-40B4-BE49-F238E27FC236}">
                <a16:creationId xmlns:a16="http://schemas.microsoft.com/office/drawing/2014/main" id="{D5755151-DA05-4700-94CC-B5B9FC4E2F9C}"/>
              </a:ext>
            </a:extLst>
          </p:cNvPr>
          <p:cNvSpPr>
            <a:spLocks noGrp="1"/>
          </p:cNvSpPr>
          <p:nvPr/>
        </p:nvSpPr>
        <p:spPr>
          <a:xfrm>
            <a:off x="771525" y="309086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>
              <a:ext uri="{FF2B5EF4-FFF2-40B4-BE49-F238E27FC236}">
                <a16:creationId xmlns:a16="http://schemas.microsoft.com/office/drawing/2014/main" id="{CBA6F795-C3D7-417B-995B-855EECF74155}"/>
              </a:ext>
            </a:extLst>
          </p:cNvPr>
          <p:cNvSpPr>
            <a:spLocks noGrp="1"/>
          </p:cNvSpPr>
          <p:nvPr/>
        </p:nvSpPr>
        <p:spPr>
          <a:xfrm>
            <a:off x="1285875" y="309086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(a[i]&lt;=b[j]) ++i;</a:t>
            </a:r>
          </a:p>
        </p:txBody>
      </p:sp>
      <p:sp>
        <p:nvSpPr>
          <p:cNvPr id="22" name="text-345-81">
            <a:extLst>
              <a:ext uri="{FF2B5EF4-FFF2-40B4-BE49-F238E27FC236}">
                <a16:creationId xmlns:a16="http://schemas.microsoft.com/office/drawing/2014/main" id="{DD142619-5DAC-4E98-ACCB-3AE236A512D9}"/>
              </a:ext>
            </a:extLst>
          </p:cNvPr>
          <p:cNvSpPr>
            <a:spLocks noGrp="1"/>
          </p:cNvSpPr>
          <p:nvPr/>
        </p:nvSpPr>
        <p:spPr>
          <a:xfrm>
            <a:off x="771525" y="328612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>
              <a:ext uri="{FF2B5EF4-FFF2-40B4-BE49-F238E27FC236}">
                <a16:creationId xmlns:a16="http://schemas.microsoft.com/office/drawing/2014/main" id="{87D06E0D-BF4F-459B-B122-49FED0F69665}"/>
              </a:ext>
            </a:extLst>
          </p:cNvPr>
          <p:cNvSpPr>
            <a:spLocks noGrp="1"/>
          </p:cNvSpPr>
          <p:nvPr/>
        </p:nvSpPr>
        <p:spPr>
          <a:xfrm>
            <a:off x="1285875" y="3286125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else { count+=n-i; ++j; }</a:t>
            </a:r>
          </a:p>
        </p:txBody>
      </p:sp>
      <p:sp>
        <p:nvSpPr>
          <p:cNvPr id="24" name="text-365.5-81">
            <a:extLst>
              <a:ext uri="{FF2B5EF4-FFF2-40B4-BE49-F238E27FC236}">
                <a16:creationId xmlns:a16="http://schemas.microsoft.com/office/drawing/2014/main" id="{3C8A3E5E-FA54-493F-8DF2-92728C0F97AE}"/>
              </a:ext>
            </a:extLst>
          </p:cNvPr>
          <p:cNvSpPr>
            <a:spLocks noGrp="1"/>
          </p:cNvSpPr>
          <p:nvPr/>
        </p:nvSpPr>
        <p:spPr>
          <a:xfrm>
            <a:off x="771525" y="3481388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>
              <a:ext uri="{FF2B5EF4-FFF2-40B4-BE49-F238E27FC236}">
                <a16:creationId xmlns:a16="http://schemas.microsoft.com/office/drawing/2014/main" id="{8DFA1FDE-B6D7-4634-A837-76611BBFA3CF}"/>
              </a:ext>
            </a:extLst>
          </p:cNvPr>
          <p:cNvSpPr>
            <a:spLocks noGrp="1"/>
          </p:cNvSpPr>
          <p:nvPr/>
        </p:nvSpPr>
        <p:spPr>
          <a:xfrm>
            <a:off x="1285875" y="3481388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6" name="text-386-81">
            <a:extLst>
              <a:ext uri="{FF2B5EF4-FFF2-40B4-BE49-F238E27FC236}">
                <a16:creationId xmlns:a16="http://schemas.microsoft.com/office/drawing/2014/main" id="{16065666-0BEC-4F93-AA80-F5506E14079C}"/>
              </a:ext>
            </a:extLst>
          </p:cNvPr>
          <p:cNvSpPr>
            <a:spLocks noGrp="1"/>
          </p:cNvSpPr>
          <p:nvPr/>
        </p:nvSpPr>
        <p:spPr>
          <a:xfrm>
            <a:off x="771525" y="36766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>
              <a:ext uri="{FF2B5EF4-FFF2-40B4-BE49-F238E27FC236}">
                <a16:creationId xmlns:a16="http://schemas.microsoft.com/office/drawing/2014/main" id="{ED02BBF6-E8CA-43E5-AC18-B940A1AEA193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count;</a:t>
            </a:r>
          </a:p>
        </p:txBody>
      </p:sp>
      <p:sp>
        <p:nvSpPr>
          <p:cNvPr id="28" name="text-406.5-81">
            <a:extLst>
              <a:ext uri="{FF2B5EF4-FFF2-40B4-BE49-F238E27FC236}">
                <a16:creationId xmlns:a16="http://schemas.microsoft.com/office/drawing/2014/main" id="{FDD887F4-B5C4-4EFC-A4C7-2EC2E818284C}"/>
              </a:ext>
            </a:extLst>
          </p:cNvPr>
          <p:cNvSpPr>
            <a:spLocks noGrp="1"/>
          </p:cNvSpPr>
          <p:nvPr/>
        </p:nvSpPr>
        <p:spPr>
          <a:xfrm>
            <a:off x="771525" y="3871913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>
              <a:ext uri="{FF2B5EF4-FFF2-40B4-BE49-F238E27FC236}">
                <a16:creationId xmlns:a16="http://schemas.microsoft.com/office/drawing/2014/main" id="{CFC43825-28BE-48A1-BC0B-AFA51ADC2A41}"/>
              </a:ext>
            </a:extLst>
          </p:cNvPr>
          <p:cNvSpPr>
            <a:spLocks noGrp="1"/>
          </p:cNvSpPr>
          <p:nvPr/>
        </p:nvSpPr>
        <p:spPr>
          <a:xfrm>
            <a:off x="1285875" y="3871913"/>
            <a:ext cx="101155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0" name="text-635-64">
            <a:extLst>
              <a:ext uri="{FF2B5EF4-FFF2-40B4-BE49-F238E27FC236}">
                <a16:creationId xmlns:a16="http://schemas.microsoft.com/office/drawing/2014/main" id="{41472F92-EC06-43E3-B7E6-B413E43E4C09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O(n+m). 같은 값은 역전 쌍으로 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30173</Words>
  <Application>Microsoft Office PowerPoint</Application>
  <DocSecurity>0</DocSecurity>
  <PresentationFormat>와이드스크린</PresentationFormat>
  <Paragraphs>3750</Paragraphs>
  <Slides>220</Slides>
  <Notes>220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25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상돈 박</cp:lastModifiedBy>
  <cp:revision>3</cp:revision>
  <dcterms:created xsi:type="dcterms:W3CDTF">2026-09-19T14:52:50Z</dcterms:created>
  <dcterms:modified xsi:type="dcterms:W3CDTF">2026-10-11T13:45:36Z</dcterms:modified>
</cp:coreProperties>
</file>