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6.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9.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6.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9.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760ae4a2d0f4432" Type="http://schemas.openxmlformats.org/officeDocument/2006/relationships/extended-properties" Target="docProps/app.xml"/><Relationship Id="R563241ef36dc4206" Type="http://schemas.openxmlformats.org/officeDocument/2006/relationships/officeDocument" Target="ppt/presentation.xml"/><Relationship Id="R9d5c6c45ecfd40b2"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p:sldMasterIdLst>
    <p:sldMasterId id="2147483648" r:id="R86ea3ba3ddde44c5"/>
  </p:sldMasterIdLst>
  <p:notesMasterIdLst>
    <p:notesMasterId r:id="R1a7d0c5bf4dd4cc1"/>
  </p:notesMasterIdLst>
  <p:sldIdLst>
    <p:sldId id="256" r:id="R305e52c2e04a4d59"/>
    <p:sldId id="257" r:id="R7dd8c45fb97b4eeb"/>
    <p:sldId id="258" r:id="R4b2e524d32be40b8"/>
    <p:sldId id="259" r:id="R9ee2b57bcc6e449f"/>
    <p:sldId id="260" r:id="R44311ecad07540fc"/>
    <p:sldId id="261" r:id="R8748a15c5d154e61"/>
    <p:sldId id="262" r:id="R0318e62c46d144d9"/>
    <p:sldId id="263" r:id="R73f3a7cf705142b4"/>
    <p:sldId id="264" r:id="R1bfe2e48175f4aed"/>
    <p:sldId id="265" r:id="Rdbd288cf56bb4f5a"/>
    <p:sldId id="266" r:id="R510f242ce80a43b5"/>
    <p:sldId id="267" r:id="Re373f0d72b034f23"/>
    <p:sldId id="268" r:id="Rb45812d121724cce"/>
    <p:sldId id="269" r:id="Rb06692a05d1244bf"/>
    <p:sldId id="270" r:id="R4e26cc027aa948c0"/>
    <p:sldId id="271" r:id="R92ac305f3cae4d5d"/>
    <p:sldId id="272" r:id="R9e6d7cdc60654a78"/>
    <p:sldId id="273" r:id="R7577e88700d6492f"/>
    <p:sldId id="274" r:id="R19d76260eac54143"/>
    <p:sldId id="275" r:id="R759929746a204a72"/>
    <p:sldId id="276" r:id="R72bb0705cff7436b"/>
    <p:sldId id="277" r:id="R8f51cfca86c54307"/>
    <p:sldId id="278" r:id="R6899dc64725243b2"/>
    <p:sldId id="279" r:id="Rf581694032ff41ab"/>
    <p:sldId id="280" r:id="R8dd79ef5f9bf45aa"/>
    <p:sldId id="281" r:id="Rbc7b317725124f17"/>
    <p:sldId id="286" r:id="R064c2af785494ef2"/>
    <p:sldId id="287" r:id="R6ba8d93bb20c484d"/>
    <p:sldId id="288" r:id="R83bca3137e5d44df"/>
    <p:sldId id="289" r:id="Rd647650447284bbd"/>
    <p:sldId id="290" r:id="R10f6264b02884e47"/>
    <p:sldId id="291" r:id="R722f8d38ca4c4409"/>
    <p:sldId id="292" r:id="R645f1d359a754b9d"/>
    <p:sldId id="293" r:id="R4d4c6961d2444232"/>
    <p:sldId id="294" r:id="Rc1adb254f9604bb6"/>
    <p:sldId id="295" r:id="R9ea4030cf919420e"/>
    <p:sldId id="296" r:id="Rc7fa67fc58f848b3"/>
    <p:sldId id="297" r:id="Rca715bb02e7545c5"/>
    <p:sldId id="298" r:id="Rdb2bc95e5dbf4377"/>
    <p:sldId id="299" r:id="Raa51e7cd4ed3406e"/>
    <p:sldId id="300" r:id="R527b35e5afb040e9"/>
    <p:sldId id="301" r:id="Re8f1d435850245ac"/>
    <p:sldId id="302" r:id="Rf19bb4bce04c4830"/>
    <p:sldId id="303" r:id="R29a9e3c1b0364d6a"/>
    <p:sldId id="304" r:id="R59fcb27cd1024442"/>
    <p:sldId id="305" r:id="R393367f553fa430d"/>
    <p:sldId id="306" r:id="R3a452736212d41c5"/>
    <p:sldId id="307" r:id="R4a04c0c13c3e49c0"/>
    <p:sldId id="308" r:id="R5a6d44a5f5df430d"/>
    <p:sldId id="309" r:id="Rfdcb86cef6e94a12"/>
    <p:sldId id="312" r:id="R7fa1e7914e404a85"/>
    <p:sldId id="313" r:id="R8e04990e00ff4151"/>
    <p:sldId id="314" r:id="R420834e3e48748f8"/>
    <p:sldId id="315" r:id="Ra7991c8a9f3c4a6a"/>
    <p:sldId id="316" r:id="R8d1b62fafaf9437c"/>
    <p:sldId id="317" r:id="Ra668447756a54016"/>
    <p:sldId id="318" r:id="Re2a64b19cbde479e"/>
    <p:sldId id="319" r:id="R6c0b5854a1964d4d"/>
    <p:sldId id="320" r:id="Rb9fb1ceda30f4c92"/>
    <p:sldId id="321" r:id="Ra7bbb17cd6444d0a"/>
    <p:sldId id="322" r:id="R0d5be2e03cfd4b0a"/>
    <p:sldId id="323" r:id="R1045fa836bff4088"/>
    <p:sldId id="324" r:id="Rf681bcc2c3b347fc"/>
    <p:sldId id="325" r:id="R9404cc48b7af4d53"/>
    <p:sldId id="326" r:id="Rb1498f35cac84c2f"/>
    <p:sldId id="327" r:id="R5304e1734273419e"/>
    <p:sldId id="328" r:id="Ra1530f1cca5141c5"/>
    <p:sldId id="329" r:id="Rf9e53a6f528f4247"/>
    <p:sldId id="330" r:id="Rc10e61ca8db34005"/>
    <p:sldId id="331" r:id="Rc3ecd900b2804c9e"/>
    <p:sldId id="332" r:id="R9178b2d8ad0a4dc2"/>
    <p:sldId id="333" r:id="Reb0fdc1ff0d749a5"/>
    <p:sldId id="334" r:id="R12dd2b75ec014287"/>
    <p:sldId id="335" r:id="R3585d33e7d4044a6"/>
    <p:sldId id="336" r:id="Rf72f49e2a0cb4e33"/>
    <p:sldId id="337" r:id="Rceb94090617c43fd"/>
    <p:sldId id="338" r:id="R55c71f71fa56430e"/>
    <p:sldId id="339" r:id="R7d89862be3164bf5"/>
    <p:sldId id="340" r:id="Rb9a26550c8ff4fbf"/>
    <p:sldId id="341" r:id="R67fbfe00c64b4ca4"/>
    <p:sldId id="342" r:id="R79367c68afa94eff"/>
    <p:sldId id="343" r:id="R473458c5839540c8"/>
    <p:sldId id="344" r:id="R177f203ef31743ee"/>
    <p:sldId id="345" r:id="R29757062a92f4e14"/>
    <p:sldId id="346" r:id="R95bbc6e8c2db4472"/>
    <p:sldId id="347" r:id="Re4af786a64d44ac7"/>
    <p:sldId id="348" r:id="R1a6723188bb64d6f"/>
    <p:sldId id="349" r:id="R30bf07ffba6840b3"/>
    <p:sldId id="350" r:id="Ra7660d09dc4b4b44"/>
    <p:sldId id="351" r:id="R54714d865bba4a71"/>
    <p:sldId id="352" r:id="R90dafe9391804135"/>
    <p:sldId id="353" r:id="R3910da9a72b7490d"/>
    <p:sldId id="354" r:id="R72bd17aaeb934e19"/>
    <p:sldId id="355" r:id="R78f54b853d994c05"/>
    <p:sldId id="360" r:id="R9042aec8f14749aa"/>
    <p:sldId id="361" r:id="Ra33638dea5da4dc6"/>
    <p:sldId id="362" r:id="R18763024585e473b"/>
    <p:sldId id="363" r:id="R947010a8ca674a2c"/>
    <p:sldId id="364" r:id="R51d3aac320994872"/>
    <p:sldId id="365" r:id="R86748f95dae74297"/>
    <p:sldId id="366" r:id="R2310a4ce63e4402b"/>
    <p:sldId id="367" r:id="Rc0847ee0a7734307"/>
    <p:sldId id="368" r:id="R645e3c67d0294c2a"/>
    <p:sldId id="369" r:id="R94341167285d4344"/>
    <p:sldId id="370" r:id="Rd0c7cd7609664153"/>
    <p:sldId id="371" r:id="Re2ecee081c7c4c05"/>
    <p:sldId id="372" r:id="Rda96285940754bd9"/>
    <p:sldId id="373" r:id="Rc6ecda6b7c7848dc"/>
    <p:sldId id="374" r:id="Rf00a0b77263447b7"/>
    <p:sldId id="375" r:id="Re8d085df42cf48b4"/>
    <p:sldId id="376" r:id="R9df8eca39e114fb5"/>
    <p:sldId id="377" r:id="R8179f432e5af43fc"/>
    <p:sldId id="378" r:id="Rb414414af4ff4cbf"/>
    <p:sldId id="379" r:id="R2f40ca540f7d4fc0"/>
    <p:sldId id="382" r:id="R3dff7b63735c413a"/>
    <p:sldId id="383" r:id="R7736f6154ccf415c"/>
    <p:sldId id="384" r:id="Ra8ef5f5c076d405e"/>
    <p:sldId id="385" r:id="R163f752e4a214fca"/>
    <p:sldId id="386" r:id="Rb0e353d966194c4f"/>
    <p:sldId id="387" r:id="R7f941165750540cd"/>
    <p:sldId id="388" r:id="Rc4f5f47880814711"/>
    <p:sldId id="389" r:id="Rae0af35f6be04dbc"/>
    <p:sldId id="390" r:id="Rd1a6215cfab546d6"/>
    <p:sldId id="391" r:id="R92d7198a94a94134"/>
    <p:sldId id="392" r:id="Rfd6c12bee3004df7"/>
    <p:sldId id="393" r:id="R87232acef8664de3"/>
    <p:sldId id="394" r:id="R8c0f2ffeb86a4dcc"/>
    <p:sldId id="395" r:id="R81c43606dbeb46c2"/>
    <p:sldId id="396" r:id="R3705b92a8ebd4aa6"/>
    <p:sldId id="397" r:id="R05e2137ad0bb41e8"/>
    <p:sldId id="398" r:id="Rfd91066840264c64"/>
    <p:sldId id="399" r:id="Rf7c5b4091e174705"/>
    <p:sldId id="402" r:id="Ra1ea9a4dca764749"/>
    <p:sldId id="403" r:id="R90e04fd2aef74f70"/>
    <p:sldId id="404" r:id="R70c69f1d2e18422a"/>
    <p:sldId id="405" r:id="Re267e9d32fb44995"/>
    <p:sldId id="406" r:id="R1b94c00d02e5403f"/>
    <p:sldId id="407" r:id="R0d56f8698e0d40cb"/>
    <p:sldId id="408" r:id="Rabb3a478e7f14ce6"/>
    <p:sldId id="409" r:id="R5c5a18f0e7bc44aa"/>
    <p:sldId id="410" r:id="Ra6551dfd2f504957"/>
    <p:sldId id="411" r:id="Rbf22908839c4428c"/>
    <p:sldId id="412" r:id="R7530ce48d2a14813"/>
    <p:sldId id="413" r:id="R0f87031fbabd4549"/>
    <p:sldId id="416" r:id="R3ba7d0f4ed0842ed"/>
    <p:sldId id="417" r:id="R2a30e0ef86d74bb3"/>
    <p:sldId id="418" r:id="Ra2e82766797d4e7e"/>
    <p:sldId id="419" r:id="R0d6a6a1a73de4c0a"/>
    <p:sldId id="420" r:id="R56b2b0f9a2d84665"/>
    <p:sldId id="421" r:id="R0372ebb5e17c472d"/>
    <p:sldId id="422" r:id="Rbf6973423f4b4af0"/>
    <p:sldId id="423" r:id="R9534f3d68bc64c37"/>
    <p:sldId id="424" r:id="Rb10099c0a1bc4d18"/>
    <p:sldId id="425" r:id="R086745d0e13448b8"/>
    <p:sldId id="426" r:id="R5a9494ec5756495d"/>
    <p:sldId id="427" r:id="Ra63c064fd0cc4d64"/>
    <p:sldId id="430" r:id="Rd74f4b95fa1b48b7"/>
    <p:sldId id="431" r:id="R91d6ad6d27b44736"/>
    <p:sldId id="432" r:id="R41483cae7c5845c9"/>
    <p:sldId id="433" r:id="Rde28280fca494c42"/>
    <p:sldId id="434" r:id="Rbad15f2f0ebe4b73"/>
    <p:sldId id="435" r:id="R1c110a2e91c940e9"/>
    <p:sldId id="436" r:id="R73e39c17a25e4f58"/>
    <p:sldId id="437" r:id="R04ca7864767c40ec"/>
    <p:sldId id="438" r:id="Rae9a4619dee34059"/>
    <p:sldId id="439" r:id="Rbaa9937b255848b3"/>
    <p:sldId id="440" r:id="Reed12ac0c98d45df"/>
    <p:sldId id="441" r:id="Rb7b54d6723ec4332"/>
    <p:sldId id="442" r:id="R10b8f88fe48d46ca"/>
    <p:sldId id="443" r:id="R764c9dc99d0f42a8"/>
    <p:sldId id="452" r:id="R4a363062ecdf4127"/>
    <p:sldId id="453" r:id="R274011acfa7c4896"/>
    <p:sldId id="454" r:id="R886a8b87247c4013"/>
    <p:sldId id="455" r:id="R7c96844c6cc44c08"/>
    <p:sldId id="460" r:id="R35c8c337b82d4766"/>
    <p:sldId id="461" r:id="R850fc5a202f346f9"/>
    <p:sldId id="462" r:id="Rb5941cefb8bc4843"/>
    <p:sldId id="463" r:id="R3e57de9c06734902"/>
    <p:sldId id="464" r:id="Rf1afdfc5b52c4de0"/>
    <p:sldId id="465" r:id="R4f578531107f444f"/>
    <p:sldId id="466" r:id="Rc27edaffce0d40a6"/>
    <p:sldId id="467" r:id="R5ab870699cb24e07"/>
    <p:sldId id="468" r:id="R39239325719f4af7"/>
    <p:sldId id="469" r:id="R0823967fc3404b45"/>
    <p:sldId id="470" r:id="Rdb2c142cf9b546d0"/>
    <p:sldId id="471" r:id="R1af5a39abc8a48c0"/>
    <p:sldId id="472" r:id="R0f1b59a1899847ab"/>
    <p:sldId id="473" r:id="R72ddbbeee927408e"/>
    <p:sldId id="474" r:id="R5d7e64072ed94bf4"/>
    <p:sldId id="475" r:id="Ra81bddd5fb834f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ns0:Relationships xmlns:ns0="http://schemas.openxmlformats.org/package/2006/relationships"><ns0:Relationship Id="R0318e62c46d144d9" Type="http://schemas.openxmlformats.org/officeDocument/2006/relationships/slide" Target="slides/slide7.xml" /><ns0:Relationship Id="R0372ebb5e17c472d" Type="http://schemas.openxmlformats.org/officeDocument/2006/relationships/slide" Target="slides/slide166.xml" /><ns0:Relationship Id="R04ca7864767c40ec" Type="http://schemas.openxmlformats.org/officeDocument/2006/relationships/slide" Target="slides/slide182.xml" /><ns0:Relationship Id="R05e2137ad0bb41e8" Type="http://schemas.openxmlformats.org/officeDocument/2006/relationships/slide" Target="slides/slide142.xml" /><ns0:Relationship Id="R064c2af785494ef2" Type="http://schemas.openxmlformats.org/officeDocument/2006/relationships/slide" Target="slides/slide31.xml" /><ns0:Relationship Id="R0823967fc3404b45" Type="http://schemas.openxmlformats.org/officeDocument/2006/relationships/slide" Target="slides/slide214.xml" /><ns0:Relationship Id="R086745d0e13448b8" Type="http://schemas.openxmlformats.org/officeDocument/2006/relationships/slide" Target="slides/slide170.xml" /><ns0:Relationship Id="R0d56f8698e0d40cb" Type="http://schemas.openxmlformats.org/officeDocument/2006/relationships/slide" Target="slides/slide152.xml" /><ns0:Relationship Id="R0d5be2e03cfd4b0a" Type="http://schemas.openxmlformats.org/officeDocument/2006/relationships/slide" Target="slides/slide67.xml" /><ns0:Relationship Id="R0d6a6a1a73de4c0a" Type="http://schemas.openxmlformats.org/officeDocument/2006/relationships/slide" Target="slides/slide164.xml" /><ns0:Relationship Id="R0f1b59a1899847ab" Type="http://schemas.openxmlformats.org/officeDocument/2006/relationships/slide" Target="slides/slide217.xml" /><ns0:Relationship Id="R0f87031fbabd4549" Type="http://schemas.openxmlformats.org/officeDocument/2006/relationships/slide" Target="slides/slide158.xml" /><ns0:Relationship Id="R1045fa836bff4088" Type="http://schemas.openxmlformats.org/officeDocument/2006/relationships/slide" Target="slides/slide68.xml" /><ns0:Relationship Id="R10b8f88fe48d46ca" Type="http://schemas.openxmlformats.org/officeDocument/2006/relationships/slide" Target="slides/slide187.xml" /><ns0:Relationship Id="R10f6264b02884e47" Type="http://schemas.openxmlformats.org/officeDocument/2006/relationships/slide" Target="slides/slide35.xml" /><ns0:Relationship Id="R12dd2b75ec014287" Type="http://schemas.openxmlformats.org/officeDocument/2006/relationships/slide" Target="slides/slide79.xml" /><ns0:Relationship Id="R163f752e4a214fca" Type="http://schemas.openxmlformats.org/officeDocument/2006/relationships/slide" Target="slides/slide130.xml" /><ns0:Relationship Id="R177f203ef31743ee" Type="http://schemas.openxmlformats.org/officeDocument/2006/relationships/slide" Target="slides/slide89.xml" /><ns0:Relationship Id="R18763024585e473b" Type="http://schemas.openxmlformats.org/officeDocument/2006/relationships/slide" Target="slides/slide107.xml" /><ns0:Relationship Id="R18e6794333814d45" Type="http://schemas.openxmlformats.org/officeDocument/2006/relationships/presProps" Target="presProps.xml" /><ns0:Relationship Id="R19d76260eac54143" Type="http://schemas.openxmlformats.org/officeDocument/2006/relationships/slide" Target="slides/slide19.xml" /><ns0:Relationship Id="R1a6723188bb64d6f" Type="http://schemas.openxmlformats.org/officeDocument/2006/relationships/slide" Target="slides/slide93.xml" /><ns0:Relationship Id="R1a7d0c5bf4dd4cc1" Type="http://schemas.openxmlformats.org/officeDocument/2006/relationships/notesMaster" Target="notesMasters/notesMaster1.xml" /><ns0:Relationship Id="R1af5a39abc8a48c0" Type="http://schemas.openxmlformats.org/officeDocument/2006/relationships/slide" Target="slides/slide216.xml" /><ns0:Relationship Id="R1b94c00d02e5403f" Type="http://schemas.openxmlformats.org/officeDocument/2006/relationships/slide" Target="slides/slide151.xml" /><ns0:Relationship Id="R1bfe2e48175f4aed" Type="http://schemas.openxmlformats.org/officeDocument/2006/relationships/slide" Target="slides/slide9.xml" /><ns0:Relationship Id="R1c110a2e91c940e9" Type="http://schemas.openxmlformats.org/officeDocument/2006/relationships/slide" Target="slides/slide180.xml" /><ns0:Relationship Id="R2310a4ce63e4402b" Type="http://schemas.openxmlformats.org/officeDocument/2006/relationships/slide" Target="slides/slide111.xml" /><ns0:Relationship Id="R23f8eb3876e84230" Type="http://schemas.openxmlformats.org/officeDocument/2006/relationships/tableStyles" Target="tableStyles.xml" /><ns0:Relationship Id="R274011acfa7c4896" Type="http://schemas.openxmlformats.org/officeDocument/2006/relationships/slide" Target="slides/slide198.xml" /><ns0:Relationship Id="R29757062a92f4e14" Type="http://schemas.openxmlformats.org/officeDocument/2006/relationships/slide" Target="slides/slide90.xml" /><ns0:Relationship Id="R29a9e3c1b0364d6a" Type="http://schemas.openxmlformats.org/officeDocument/2006/relationships/slide" Target="slides/slide48.xml" /><ns0:Relationship Id="R2a30e0ef86d74bb3" Type="http://schemas.openxmlformats.org/officeDocument/2006/relationships/slide" Target="slides/slide162.xml" /><ns0:Relationship Id="R2f40ca540f7d4fc0" Type="http://schemas.openxmlformats.org/officeDocument/2006/relationships/slide" Target="slides/slide124.xml" /><ns0:Relationship Id="R305e52c2e04a4d59" Type="http://schemas.openxmlformats.org/officeDocument/2006/relationships/slide" Target="slides/slide1.xml" /><ns0:Relationship Id="R30bf07ffba6840b3" Type="http://schemas.openxmlformats.org/officeDocument/2006/relationships/slide" Target="slides/slide94.xml" /><ns0:Relationship Id="R3585d33e7d4044a6" Type="http://schemas.openxmlformats.org/officeDocument/2006/relationships/slide" Target="slides/slide80.xml" /><ns0:Relationship Id="R35c8c337b82d4766" Type="http://schemas.openxmlformats.org/officeDocument/2006/relationships/slide" Target="slides/slide205.xml" /><ns0:Relationship Id="R3705b92a8ebd4aa6" Type="http://schemas.openxmlformats.org/officeDocument/2006/relationships/slide" Target="slides/slide141.xml" /><ns0:Relationship Id="R3910da9a72b7490d" Type="http://schemas.openxmlformats.org/officeDocument/2006/relationships/slide" Target="slides/slide98.xml" /><ns0:Relationship Id="R39239325719f4af7" Type="http://schemas.openxmlformats.org/officeDocument/2006/relationships/slide" Target="slides/slide213.xml" /><ns0:Relationship Id="R393367f553fa430d" Type="http://schemas.openxmlformats.org/officeDocument/2006/relationships/slide" Target="slides/slide50.xml" /><ns0:Relationship Id="R3a452736212d41c5" Type="http://schemas.openxmlformats.org/officeDocument/2006/relationships/slide" Target="slides/slide51.xml" /><ns0:Relationship Id="R3ba7d0f4ed0842ed" Type="http://schemas.openxmlformats.org/officeDocument/2006/relationships/slide" Target="slides/slide161.xml" /><ns0:Relationship Id="R3dff7b63735c413a" Type="http://schemas.openxmlformats.org/officeDocument/2006/relationships/slide" Target="slides/slide127.xml" /><ns0:Relationship Id="R3e57de9c06734902" Type="http://schemas.openxmlformats.org/officeDocument/2006/relationships/slide" Target="slides/slide208.xml" /><ns0:Relationship Id="R41483cae7c5845c9" Type="http://schemas.openxmlformats.org/officeDocument/2006/relationships/slide" Target="slides/slide177.xml" /><ns0:Relationship Id="R420834e3e48748f8" Type="http://schemas.openxmlformats.org/officeDocument/2006/relationships/slide" Target="slides/slide59.xml" /><ns0:Relationship Id="R424f20ea131e460f" Type="http://schemas.openxmlformats.org/officeDocument/2006/relationships/viewProps" Target="viewProps.xml" /><ns0:Relationship Id="R44311ecad07540fc" Type="http://schemas.openxmlformats.org/officeDocument/2006/relationships/slide" Target="slides/slide5.xml" /><ns0:Relationship Id="R473458c5839540c8" Type="http://schemas.openxmlformats.org/officeDocument/2006/relationships/slide" Target="slides/slide88.xml" /><ns0:Relationship Id="R4a04c0c13c3e49c0" Type="http://schemas.openxmlformats.org/officeDocument/2006/relationships/slide" Target="slides/slide52.xml" /><ns0:Relationship Id="R4a363062ecdf4127" Type="http://schemas.openxmlformats.org/officeDocument/2006/relationships/slide" Target="slides/slide197.xml" /><ns0:Relationship Id="R4b2e524d32be40b8" Type="http://schemas.openxmlformats.org/officeDocument/2006/relationships/slide" Target="slides/slide3.xml" /><ns0:Relationship Id="R4d4c6961d2444232" Type="http://schemas.openxmlformats.org/officeDocument/2006/relationships/slide" Target="slides/slide38.xml" /><ns0:Relationship Id="R4e26cc027aa948c0" Type="http://schemas.openxmlformats.org/officeDocument/2006/relationships/slide" Target="slides/slide15.xml" /><ns0:Relationship Id="R4f578531107f444f" Type="http://schemas.openxmlformats.org/officeDocument/2006/relationships/slide" Target="slides/slide210.xml" /><ns0:Relationship Id="R510f242ce80a43b5" Type="http://schemas.openxmlformats.org/officeDocument/2006/relationships/slide" Target="slides/slide11.xml" /><ns0:Relationship Id="R51d3aac320994872" Type="http://schemas.openxmlformats.org/officeDocument/2006/relationships/slide" Target="slides/slide109.xml" /><ns0:Relationship Id="R527b35e5afb040e9" Type="http://schemas.openxmlformats.org/officeDocument/2006/relationships/slide" Target="slides/slide45.xml" /><ns0:Relationship Id="R5304e1734273419e" Type="http://schemas.openxmlformats.org/officeDocument/2006/relationships/slide" Target="slides/slide72.xml" /><ns0:Relationship Id="R54714d865bba4a71" Type="http://schemas.openxmlformats.org/officeDocument/2006/relationships/slide" Target="slides/slide96.xml" /><ns0:Relationship Id="R55c71f71fa56430e" Type="http://schemas.openxmlformats.org/officeDocument/2006/relationships/slide" Target="slides/slide83.xml" /><ns0:Relationship Id="R56b2b0f9a2d84665" Type="http://schemas.openxmlformats.org/officeDocument/2006/relationships/slide" Target="slides/slide165.xml" /><ns0:Relationship Id="R59fcb27cd1024442" Type="http://schemas.openxmlformats.org/officeDocument/2006/relationships/slide" Target="slides/slide49.xml" /><ns0:Relationship Id="R5a6d44a5f5df430d" Type="http://schemas.openxmlformats.org/officeDocument/2006/relationships/slide" Target="slides/slide53.xml" /><ns0:Relationship Id="R5a9494ec5756495d" Type="http://schemas.openxmlformats.org/officeDocument/2006/relationships/slide" Target="slides/slide171.xml" /><ns0:Relationship Id="R5ab870699cb24e07" Type="http://schemas.openxmlformats.org/officeDocument/2006/relationships/slide" Target="slides/slide212.xml" /><ns0:Relationship Id="R5c5a18f0e7bc44aa" Type="http://schemas.openxmlformats.org/officeDocument/2006/relationships/slide" Target="slides/slide154.xml" /><ns0:Relationship Id="R5d7e64072ed94bf4" Type="http://schemas.openxmlformats.org/officeDocument/2006/relationships/slide" Target="slides/slide219.xml" /><ns0:Relationship Id="R645e3c67d0294c2a" Type="http://schemas.openxmlformats.org/officeDocument/2006/relationships/slide" Target="slides/slide113.xml" /><ns0:Relationship Id="R645f1d359a754b9d" Type="http://schemas.openxmlformats.org/officeDocument/2006/relationships/slide" Target="slides/slide37.xml" /><ns0:Relationship Id="R67fbfe00c64b4ca4" Type="http://schemas.openxmlformats.org/officeDocument/2006/relationships/slide" Target="slides/slide86.xml" /><ns0:Relationship Id="R6899dc64725243b2" Type="http://schemas.openxmlformats.org/officeDocument/2006/relationships/slide" Target="slides/slide23.xml" /><ns0:Relationship Id="R6ba8d93bb20c484d" Type="http://schemas.openxmlformats.org/officeDocument/2006/relationships/slide" Target="slides/slide32.xml" /><ns0:Relationship Id="R6c0b5854a1964d4d" Type="http://schemas.openxmlformats.org/officeDocument/2006/relationships/slide" Target="slides/slide64.xml" /><ns0:Relationship Id="R70c69f1d2e18422a" Type="http://schemas.openxmlformats.org/officeDocument/2006/relationships/slide" Target="slides/slide149.xml" /><ns0:Relationship Id="R722f8d38ca4c4409" Type="http://schemas.openxmlformats.org/officeDocument/2006/relationships/slide" Target="slides/slide36.xml" /><ns0:Relationship Id="R72bb0705cff7436b" Type="http://schemas.openxmlformats.org/officeDocument/2006/relationships/slide" Target="slides/slide21.xml" /><ns0:Relationship Id="R72bd17aaeb934e19" Type="http://schemas.openxmlformats.org/officeDocument/2006/relationships/slide" Target="slides/slide99.xml" /><ns0:Relationship Id="R72ddbbeee927408e" Type="http://schemas.openxmlformats.org/officeDocument/2006/relationships/slide" Target="slides/slide218.xml" /><ns0:Relationship Id="R73e39c17a25e4f58" Type="http://schemas.openxmlformats.org/officeDocument/2006/relationships/slide" Target="slides/slide181.xml" /><ns0:Relationship Id="R73f3a7cf705142b4" Type="http://schemas.openxmlformats.org/officeDocument/2006/relationships/slide" Target="slides/slide8.xml" /><ns0:Relationship Id="R7530ce48d2a14813" Type="http://schemas.openxmlformats.org/officeDocument/2006/relationships/slide" Target="slides/slide157.xml" /><ns0:Relationship Id="R7577e88700d6492f" Type="http://schemas.openxmlformats.org/officeDocument/2006/relationships/slide" Target="slides/slide18.xml" /><ns0:Relationship Id="R759929746a204a72" Type="http://schemas.openxmlformats.org/officeDocument/2006/relationships/slide" Target="slides/slide20.xml" /><ns0:Relationship Id="R764c9dc99d0f42a8" Type="http://schemas.openxmlformats.org/officeDocument/2006/relationships/slide" Target="slides/slide188.xml" /><ns0:Relationship Id="R7736f6154ccf415c" Type="http://schemas.openxmlformats.org/officeDocument/2006/relationships/slide" Target="slides/slide128.xml" /><ns0:Relationship Id="R78f54b853d994c05" Type="http://schemas.openxmlformats.org/officeDocument/2006/relationships/slide" Target="slides/slide100.xml" /><ns0:Relationship Id="R79367c68afa94eff" Type="http://schemas.openxmlformats.org/officeDocument/2006/relationships/slide" Target="slides/slide87.xml" /><ns0:Relationship Id="R7c96844c6cc44c08" Type="http://schemas.openxmlformats.org/officeDocument/2006/relationships/slide" Target="slides/slide200.xml" /><ns0:Relationship Id="R7d89862be3164bf5" Type="http://schemas.openxmlformats.org/officeDocument/2006/relationships/slide" Target="slides/slide84.xml" /><ns0:Relationship Id="R7dd8c45fb97b4eeb" Type="http://schemas.openxmlformats.org/officeDocument/2006/relationships/slide" Target="slides/slide2.xml" /><ns0:Relationship Id="R7f941165750540cd" Type="http://schemas.openxmlformats.org/officeDocument/2006/relationships/slide" Target="slides/slide132.xml" /><ns0:Relationship Id="R7fa1e7914e404a85" Type="http://schemas.openxmlformats.org/officeDocument/2006/relationships/slide" Target="slides/slide57.xml" /><ns0:Relationship Id="R8179f432e5af43fc" Type="http://schemas.openxmlformats.org/officeDocument/2006/relationships/slide" Target="slides/slide122.xml" /><ns0:Relationship Id="R81c43606dbeb46c2" Type="http://schemas.openxmlformats.org/officeDocument/2006/relationships/slide" Target="slides/slide140.xml" /><ns0:Relationship Id="R83bca3137e5d44df" Type="http://schemas.openxmlformats.org/officeDocument/2006/relationships/slide" Target="slides/slide33.xml" /><ns0:Relationship Id="R850fc5a202f346f9" Type="http://schemas.openxmlformats.org/officeDocument/2006/relationships/slide" Target="slides/slide206.xml" /><ns0:Relationship Id="R86748f95dae74297" Type="http://schemas.openxmlformats.org/officeDocument/2006/relationships/slide" Target="slides/slide110.xml" /><ns0:Relationship Id="R86ea3ba3ddde44c5" Type="http://schemas.openxmlformats.org/officeDocument/2006/relationships/slideMaster" Target="slideMasters/slideMaster1.xml" /><ns0:Relationship Id="R87232acef8664de3" Type="http://schemas.openxmlformats.org/officeDocument/2006/relationships/slide" Target="slides/slide138.xml" /><ns0:Relationship Id="R8748a15c5d154e61" Type="http://schemas.openxmlformats.org/officeDocument/2006/relationships/slide" Target="slides/slide6.xml" /><ns0:Relationship Id="R886a8b87247c4013" Type="http://schemas.openxmlformats.org/officeDocument/2006/relationships/slide" Target="slides/slide199.xml" /><ns0:Relationship Id="R8c0f2ffeb86a4dcc" Type="http://schemas.openxmlformats.org/officeDocument/2006/relationships/slide" Target="slides/slide139.xml" /><ns0:Relationship Id="R8d1b62fafaf9437c" Type="http://schemas.openxmlformats.org/officeDocument/2006/relationships/slide" Target="slides/slide61.xml" /><ns0:Relationship Id="R8dd79ef5f9bf45aa" Type="http://schemas.openxmlformats.org/officeDocument/2006/relationships/slide" Target="slides/slide25.xml" /><ns0:Relationship Id="R8e04990e00ff4151" Type="http://schemas.openxmlformats.org/officeDocument/2006/relationships/slide" Target="slides/slide58.xml" /><ns0:Relationship Id="R8f51cfca86c54307" Type="http://schemas.openxmlformats.org/officeDocument/2006/relationships/slide" Target="slides/slide22.xml" /><ns0:Relationship Id="R9042aec8f14749aa" Type="http://schemas.openxmlformats.org/officeDocument/2006/relationships/slide" Target="slides/slide105.xml" /><ns0:Relationship Id="R90dafe9391804135" Type="http://schemas.openxmlformats.org/officeDocument/2006/relationships/slide" Target="slides/slide97.xml" /><ns0:Relationship Id="R90e04fd2aef74f70" Type="http://schemas.openxmlformats.org/officeDocument/2006/relationships/slide" Target="slides/slide148.xml" /><ns0:Relationship Id="R9178b2d8ad0a4dc2" Type="http://schemas.openxmlformats.org/officeDocument/2006/relationships/slide" Target="slides/slide77.xml" /><ns0:Relationship Id="R91d6ad6d27b44736" Type="http://schemas.openxmlformats.org/officeDocument/2006/relationships/slide" Target="slides/slide176.xml" /><ns0:Relationship Id="R92ac305f3cae4d5d" Type="http://schemas.openxmlformats.org/officeDocument/2006/relationships/slide" Target="slides/slide16.xml" /><ns0:Relationship Id="R92d7198a94a94134" Type="http://schemas.openxmlformats.org/officeDocument/2006/relationships/slide" Target="slides/slide136.xml" /><ns0:Relationship Id="R9404cc48b7af4d53" Type="http://schemas.openxmlformats.org/officeDocument/2006/relationships/slide" Target="slides/slide70.xml" /><ns0:Relationship Id="R94341167285d4344" Type="http://schemas.openxmlformats.org/officeDocument/2006/relationships/slide" Target="slides/slide114.xml" /><ns0:Relationship Id="R947010a8ca674a2c" Type="http://schemas.openxmlformats.org/officeDocument/2006/relationships/slide" Target="slides/slide108.xml" /><ns0:Relationship Id="R9534f3d68bc64c37" Type="http://schemas.openxmlformats.org/officeDocument/2006/relationships/slide" Target="slides/slide168.xml" /><ns0:Relationship Id="R95bbc6e8c2db4472" Type="http://schemas.openxmlformats.org/officeDocument/2006/relationships/slide" Target="slides/slide91.xml" /><ns0:Relationship Id="R9df8eca39e114fb5" Type="http://schemas.openxmlformats.org/officeDocument/2006/relationships/slide" Target="slides/slide121.xml" /><ns0:Relationship Id="R9e6d7cdc60654a78" Type="http://schemas.openxmlformats.org/officeDocument/2006/relationships/slide" Target="slides/slide17.xml" /><ns0:Relationship Id="R9ea4030cf919420e" Type="http://schemas.openxmlformats.org/officeDocument/2006/relationships/slide" Target="slides/slide40.xml" /><ns0:Relationship Id="R9ee2b57bcc6e449f" Type="http://schemas.openxmlformats.org/officeDocument/2006/relationships/slide" Target="slides/slide4.xml" /><ns0:Relationship Id="Ra1530f1cca5141c5" Type="http://schemas.openxmlformats.org/officeDocument/2006/relationships/slide" Target="slides/slide73.xml" /><ns0:Relationship Id="Ra1ea9a4dca764749" Type="http://schemas.openxmlformats.org/officeDocument/2006/relationships/slide" Target="slides/slide147.xml" /><ns0:Relationship Id="Ra2e82766797d4e7e" Type="http://schemas.openxmlformats.org/officeDocument/2006/relationships/slide" Target="slides/slide163.xml" /><ns0:Relationship Id="Ra33638dea5da4dc6" Type="http://schemas.openxmlformats.org/officeDocument/2006/relationships/slide" Target="slides/slide106.xml" /><ns0:Relationship Id="Ra63c064fd0cc4d64" Type="http://schemas.openxmlformats.org/officeDocument/2006/relationships/slide" Target="slides/slide172.xml" /><ns0:Relationship Id="Ra6551dfd2f504957" Type="http://schemas.openxmlformats.org/officeDocument/2006/relationships/slide" Target="slides/slide155.xml" /><ns0:Relationship Id="Ra668447756a54016" Type="http://schemas.openxmlformats.org/officeDocument/2006/relationships/slide" Target="slides/slide62.xml" /><ns0:Relationship Id="Ra7660d09dc4b4b44" Type="http://schemas.openxmlformats.org/officeDocument/2006/relationships/slide" Target="slides/slide95.xml" /><ns0:Relationship Id="Ra7991c8a9f3c4a6a" Type="http://schemas.openxmlformats.org/officeDocument/2006/relationships/slide" Target="slides/slide60.xml" /><ns0:Relationship Id="Ra7bbb17cd6444d0a" Type="http://schemas.openxmlformats.org/officeDocument/2006/relationships/slide" Target="slides/slide66.xml" /><ns0:Relationship Id="Ra81bddd5fb834f71" Type="http://schemas.openxmlformats.org/officeDocument/2006/relationships/slide" Target="slides/slide220.xml" /><ns0:Relationship Id="Ra8ef5f5c076d405e" Type="http://schemas.openxmlformats.org/officeDocument/2006/relationships/slide" Target="slides/slide129.xml" /><ns0:Relationship Id="Raa51e7cd4ed3406e" Type="http://schemas.openxmlformats.org/officeDocument/2006/relationships/slide" Target="slides/slide44.xml" /><ns0:Relationship Id="Rabb3a478e7f14ce6" Type="http://schemas.openxmlformats.org/officeDocument/2006/relationships/slide" Target="slides/slide153.xml" /><ns0:Relationship Id="Rae0af35f6be04dbc" Type="http://schemas.openxmlformats.org/officeDocument/2006/relationships/slide" Target="slides/slide134.xml" /><ns0:Relationship Id="Rae9a4619dee34059" Type="http://schemas.openxmlformats.org/officeDocument/2006/relationships/slide" Target="slides/slide183.xml" /><ns0:Relationship Id="Rafacece542474582" Type="http://schemas.openxmlformats.org/officeDocument/2006/relationships/theme" Target="theme/theme1.xml" /><ns0:Relationship Id="Rb06692a05d1244bf" Type="http://schemas.openxmlformats.org/officeDocument/2006/relationships/slide" Target="slides/slide14.xml" /><ns0:Relationship Id="Rb0e353d966194c4f" Type="http://schemas.openxmlformats.org/officeDocument/2006/relationships/slide" Target="slides/slide131.xml" /><ns0:Relationship Id="Rb10099c0a1bc4d18" Type="http://schemas.openxmlformats.org/officeDocument/2006/relationships/slide" Target="slides/slide169.xml" /><ns0:Relationship Id="Rb1498f35cac84c2f" Type="http://schemas.openxmlformats.org/officeDocument/2006/relationships/slide" Target="slides/slide71.xml" /><ns0:Relationship Id="Rb414414af4ff4cbf" Type="http://schemas.openxmlformats.org/officeDocument/2006/relationships/slide" Target="slides/slide123.xml" /><ns0:Relationship Id="Rb45812d121724cce" Type="http://schemas.openxmlformats.org/officeDocument/2006/relationships/slide" Target="slides/slide13.xml" /><ns0:Relationship Id="Rb5941cefb8bc4843" Type="http://schemas.openxmlformats.org/officeDocument/2006/relationships/slide" Target="slides/slide207.xml" /><ns0:Relationship Id="Rb7b54d6723ec4332" Type="http://schemas.openxmlformats.org/officeDocument/2006/relationships/slide" Target="slides/slide186.xml" /><ns0:Relationship Id="Rb9a26550c8ff4fbf" Type="http://schemas.openxmlformats.org/officeDocument/2006/relationships/slide" Target="slides/slide85.xml" /><ns0:Relationship Id="Rb9fb1ceda30f4c92" Type="http://schemas.openxmlformats.org/officeDocument/2006/relationships/slide" Target="slides/slide65.xml" /><ns0:Relationship Id="Rbaa9937b255848b3" Type="http://schemas.openxmlformats.org/officeDocument/2006/relationships/slide" Target="slides/slide184.xml" /><ns0:Relationship Id="Rbad15f2f0ebe4b73" Type="http://schemas.openxmlformats.org/officeDocument/2006/relationships/slide" Target="slides/slide179.xml" /><ns0:Relationship Id="Rbc7b317725124f17" Type="http://schemas.openxmlformats.org/officeDocument/2006/relationships/slide" Target="slides/slide26.xml" /><ns0:Relationship Id="Rbf22908839c4428c" Type="http://schemas.openxmlformats.org/officeDocument/2006/relationships/slide" Target="slides/slide156.xml" /><ns0:Relationship Id="Rbf6973423f4b4af0" Type="http://schemas.openxmlformats.org/officeDocument/2006/relationships/slide" Target="slides/slide167.xml" /><ns0:Relationship Id="Rc0847ee0a7734307" Type="http://schemas.openxmlformats.org/officeDocument/2006/relationships/slide" Target="slides/slide112.xml" /><ns0:Relationship Id="Rc10e61ca8db34005" Type="http://schemas.openxmlformats.org/officeDocument/2006/relationships/slide" Target="slides/slide75.xml" /><ns0:Relationship Id="Rc1adb254f9604bb6" Type="http://schemas.openxmlformats.org/officeDocument/2006/relationships/slide" Target="slides/slide39.xml" /><ns0:Relationship Id="Rc27edaffce0d40a6" Type="http://schemas.openxmlformats.org/officeDocument/2006/relationships/slide" Target="slides/slide211.xml" /><ns0:Relationship Id="Rc3ecd900b2804c9e" Type="http://schemas.openxmlformats.org/officeDocument/2006/relationships/slide" Target="slides/slide76.xml" /><ns0:Relationship Id="Rc4f5f47880814711" Type="http://schemas.openxmlformats.org/officeDocument/2006/relationships/slide" Target="slides/slide133.xml" /><ns0:Relationship Id="Rc6ecda6b7c7848dc" Type="http://schemas.openxmlformats.org/officeDocument/2006/relationships/slide" Target="slides/slide118.xml" /><ns0:Relationship Id="Rc7fa67fc58f848b3" Type="http://schemas.openxmlformats.org/officeDocument/2006/relationships/slide" Target="slides/slide41.xml" /><ns0:Relationship Id="Rca715bb02e7545c5" Type="http://schemas.openxmlformats.org/officeDocument/2006/relationships/slide" Target="slides/slide42.xml" /><ns0:Relationship Id="Rceb94090617c43fd" Type="http://schemas.openxmlformats.org/officeDocument/2006/relationships/slide" Target="slides/slide82.xml" /><ns0:Relationship Id="Rd0c7cd7609664153" Type="http://schemas.openxmlformats.org/officeDocument/2006/relationships/slide" Target="slides/slide115.xml" /><ns0:Relationship Id="Rd1a6215cfab546d6" Type="http://schemas.openxmlformats.org/officeDocument/2006/relationships/slide" Target="slides/slide135.xml" /><ns0:Relationship Id="Rd647650447284bbd" Type="http://schemas.openxmlformats.org/officeDocument/2006/relationships/slide" Target="slides/slide34.xml" /><ns0:Relationship Id="Rd74f4b95fa1b48b7" Type="http://schemas.openxmlformats.org/officeDocument/2006/relationships/slide" Target="slides/slide175.xml" /><ns0:Relationship Id="Rda96285940754bd9" Type="http://schemas.openxmlformats.org/officeDocument/2006/relationships/slide" Target="slides/slide117.xml" /><ns0:Relationship Id="Rdb2bc95e5dbf4377" Type="http://schemas.openxmlformats.org/officeDocument/2006/relationships/slide" Target="slides/slide43.xml" /><ns0:Relationship Id="Rdb2c142cf9b546d0" Type="http://schemas.openxmlformats.org/officeDocument/2006/relationships/slide" Target="slides/slide215.xml" /><ns0:Relationship Id="Rdbd288cf56bb4f5a" Type="http://schemas.openxmlformats.org/officeDocument/2006/relationships/slide" Target="slides/slide10.xml" /><ns0:Relationship Id="Rde28280fca494c42" Type="http://schemas.openxmlformats.org/officeDocument/2006/relationships/slide" Target="slides/slide178.xml" /><ns0:Relationship Id="Re267e9d32fb44995" Type="http://schemas.openxmlformats.org/officeDocument/2006/relationships/slide" Target="slides/slide150.xml" /><ns0:Relationship Id="Re2a64b19cbde479e" Type="http://schemas.openxmlformats.org/officeDocument/2006/relationships/slide" Target="slides/slide63.xml" /><ns0:Relationship Id="Re2ecee081c7c4c05" Type="http://schemas.openxmlformats.org/officeDocument/2006/relationships/slide" Target="slides/slide116.xml" /><ns0:Relationship Id="Re373f0d72b034f23" Type="http://schemas.openxmlformats.org/officeDocument/2006/relationships/slide" Target="slides/slide12.xml" /><ns0:Relationship Id="Re4af786a64d44ac7" Type="http://schemas.openxmlformats.org/officeDocument/2006/relationships/slide" Target="slides/slide92.xml" /><ns0:Relationship Id="Re8d085df42cf48b4" Type="http://schemas.openxmlformats.org/officeDocument/2006/relationships/slide" Target="slides/slide120.xml" /><ns0:Relationship Id="Re8f1d435850245ac" Type="http://schemas.openxmlformats.org/officeDocument/2006/relationships/slide" Target="slides/slide46.xml" /><ns0:Relationship Id="Reb0fdc1ff0d749a5" Type="http://schemas.openxmlformats.org/officeDocument/2006/relationships/slide" Target="slides/slide78.xml" /><ns0:Relationship Id="Reed12ac0c98d45df" Type="http://schemas.openxmlformats.org/officeDocument/2006/relationships/slide" Target="slides/slide185.xml" /><ns0:Relationship Id="Rf00a0b77263447b7" Type="http://schemas.openxmlformats.org/officeDocument/2006/relationships/slide" Target="slides/slide119.xml" /><ns0:Relationship Id="Rf19bb4bce04c4830" Type="http://schemas.openxmlformats.org/officeDocument/2006/relationships/slide" Target="slides/slide47.xml" /><ns0:Relationship Id="Rf1afdfc5b52c4de0" Type="http://schemas.openxmlformats.org/officeDocument/2006/relationships/slide" Target="slides/slide209.xml" /><ns0:Relationship Id="Rf581694032ff41ab" Type="http://schemas.openxmlformats.org/officeDocument/2006/relationships/slide" Target="slides/slide24.xml" /><ns0:Relationship Id="Rf681bcc2c3b347fc" Type="http://schemas.openxmlformats.org/officeDocument/2006/relationships/slide" Target="slides/slide69.xml" /><ns0:Relationship Id="Rf72f49e2a0cb4e33" Type="http://schemas.openxmlformats.org/officeDocument/2006/relationships/slide" Target="slides/slide81.xml" /><ns0:Relationship Id="Rf7c5b4091e174705" Type="http://schemas.openxmlformats.org/officeDocument/2006/relationships/slide" Target="slides/slide144.xml" /><ns0:Relationship Id="Rf9e53a6f528f4247" Type="http://schemas.openxmlformats.org/officeDocument/2006/relationships/slide" Target="slides/slide74.xml" /><ns0:Relationship Id="Rfd6c12bee3004df7" Type="http://schemas.openxmlformats.org/officeDocument/2006/relationships/slide" Target="slides/slide137.xml" /><ns0:Relationship Id="Rfd91066840264c64" Type="http://schemas.openxmlformats.org/officeDocument/2006/relationships/slide" Target="slides/slide143.xml" /><ns0:Relationship Id="Rfdcb86cef6e94a12" Type="http://schemas.openxmlformats.org/officeDocument/2006/relationships/slide" Target="slides/slide54.xml" /></ns0:Relationships>
</file>

<file path=ppt/notesMasters/_rels/notesMaster1.xml.rels><?xml version='1.0' encoding='UTF-8' standalone='yes'?>
<Relationships xmlns="http://schemas.openxmlformats.org/package/2006/relationships"><Relationship Id="Ra3dfcb888d3c4c9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c2ff4695ea254798" Type="http://schemas.openxmlformats.org/officeDocument/2006/relationships/notesMaster" Target="../notesMasters/notesMaster1.xml"/><Relationship Id="Rf5d7a80c80a742b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1e158c46b62f4e89" Type="http://schemas.openxmlformats.org/officeDocument/2006/relationships/notesMaster" Target="../notesMasters/notesMaster1.xml"/><Relationship Id="Rfb3fd07c18f54bce"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b2fef5d2a6824ce8" Type="http://schemas.openxmlformats.org/officeDocument/2006/relationships/slide" Target="../slides/slide3.xml"/><Relationship Id="Re8317671a57245ec"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b642ae1c2d646e4" Type="http://schemas.openxmlformats.org/officeDocument/2006/relationships/notesMaster" Target="../notesMasters/notesMaster1.xml"/><Relationship Id="Rd2781da18b324d25"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60213ec39a04a48" Type="http://schemas.openxmlformats.org/officeDocument/2006/relationships/notesMaster" Target="../notesMasters/notesMaster1.xml"/><Relationship Id="Re8c788342249417d"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091d73c452cf40f2" Type="http://schemas.openxmlformats.org/officeDocument/2006/relationships/notesMaster" Target="../notesMasters/notesMaster1.xml"/><Relationship Id="Rb31d022ba78948df"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b824604bd49e4644" Type="http://schemas.openxmlformats.org/officeDocument/2006/relationships/notesMaster" Target="../notesMasters/notesMaster1.xml"/><Relationship Id="Rfccb6f206bbd4b7d"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7014fb17f7a14a4b" Type="http://schemas.openxmlformats.org/officeDocument/2006/relationships/slide" Target="../slides/slide8.xml"/><Relationship Id="R8c474d52447c4453"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b19549bd4344166" Type="http://schemas.openxmlformats.org/officeDocument/2006/relationships/notesMaster" Target="../notesMasters/notesMaster1.xml"/><Relationship Id="R744f085451ca435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3ce4de9c5ce24612" Type="http://schemas.openxmlformats.org/officeDocument/2006/relationships/notesMaster" Target="../notesMasters/notesMaster1.xml"/><Relationship Id="R9808f6be54e84395"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86e5782c47294fec" Type="http://schemas.openxmlformats.org/officeDocument/2006/relationships/notesMaster" Target="../notesMasters/notesMaster1.xml"/><Relationship Id="R9fbce1a534694dda"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8993eaf16aae4012" Type="http://schemas.openxmlformats.org/officeDocument/2006/relationships/slide" Target="../slides/slide12.xml"/><Relationship Id="R9d3083a7d3e448c9"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0565983ac37f40b6" Type="http://schemas.openxmlformats.org/officeDocument/2006/relationships/slide" Target="../slides/slide13.xml"/><Relationship Id="R0a5932368aa34d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08e104fac5243a8" Type="http://schemas.openxmlformats.org/officeDocument/2006/relationships/notesMaster" Target="../notesMasters/notesMaster1.xml"/><Relationship Id="Rf64815bab6ac4086"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742cfdbc67e84505" Type="http://schemas.openxmlformats.org/officeDocument/2006/relationships/slide" Target="../slides/slide15.xml"/><Relationship Id="Rd745ab775c1e42c9"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1b1c1a45586c40fd" Type="http://schemas.openxmlformats.org/officeDocument/2006/relationships/slide" Target="../slides/slide16.xml"/><Relationship Id="Rccfdb65e03d94e2c"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ab8ae09eb95441ff" Type="http://schemas.openxmlformats.org/officeDocument/2006/relationships/slide" Target="../slides/slide17.xml"/><Relationship Id="Re51f97304cef4364"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c7a8a8a7a067401e" Type="http://schemas.openxmlformats.org/officeDocument/2006/relationships/slide" Target="../slides/slide18.xml"/><Relationship Id="Rd2eab60fb8ba4250"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7200ea7af6de483b" Type="http://schemas.openxmlformats.org/officeDocument/2006/relationships/slide" Target="../slides/slide19.xml"/><Relationship Id="Rafe3fba3810f4c4d"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08a1f0f8d4594af8" Type="http://schemas.openxmlformats.org/officeDocument/2006/relationships/slide" Target="../slides/slide20.xml"/><Relationship Id="R4f0413db200e4125"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339169dd3e724dae" Type="http://schemas.openxmlformats.org/officeDocument/2006/relationships/slide" Target="../slides/slide21.xml"/><Relationship Id="R839f6199ac0b47a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518088a3bcf24750" Type="http://schemas.openxmlformats.org/officeDocument/2006/relationships/slide" Target="../slides/slide22.xml"/><Relationship Id="Rf4bf5beba4cf4a1f"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174ce04ee27d48b9" Type="http://schemas.openxmlformats.org/officeDocument/2006/relationships/slide" Target="../slides/slide23.xml"/><Relationship Id="Rc1392e4ddb554527"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125063bc90294d3b" Type="http://schemas.openxmlformats.org/officeDocument/2006/relationships/slide" Target="../slides/slide24.xml"/><Relationship Id="R231cc50aca4d4248"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25b157643c394a0c" Type="http://schemas.openxmlformats.org/officeDocument/2006/relationships/notesMaster" Target="../notesMasters/notesMaster1.xml"/><Relationship Id="R37bd76f7cec24a8e"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5ce82e3d4b5a474b" Type="http://schemas.openxmlformats.org/officeDocument/2006/relationships/notesMaster" Target="../notesMasters/notesMaster1.xml"/><Relationship Id="Rda541974291745cb" Type="http://schemas.openxmlformats.org/officeDocument/2006/relationships/slide" Target="../slides/slide26.xml"/></Relationships>
</file>

<file path=ppt/notesSlides/_rels/notesSlide31.xml.rels><?xml version='1.0' encoding='UTF-8' standalone='yes'?>
<Relationships xmlns="http://schemas.openxmlformats.org/package/2006/relationships"><Relationship Id="R53f5c2728ea14414" Type="http://schemas.openxmlformats.org/officeDocument/2006/relationships/notesMaster" Target="../notesMasters/notesMaster1.xml"/><Relationship Id="Rd38bdb15a4cf49a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0575fa4c078b4a04" Type="http://schemas.openxmlformats.org/officeDocument/2006/relationships/notesMaster" Target="../notesMasters/notesMaster1.xml"/><Relationship Id="R248b6868dff94b5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54dffcdd22874f9a" Type="http://schemas.openxmlformats.org/officeDocument/2006/relationships/slide" Target="../slides/slide33.xml"/><Relationship Id="Rd7a88f12101c40a6"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36e248366731480a" Type="http://schemas.openxmlformats.org/officeDocument/2006/relationships/slide" Target="../slides/slide34.xml"/><Relationship Id="Rff9e86ccc6ee4a0b"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3b688164dcdb4f53" Type="http://schemas.openxmlformats.org/officeDocument/2006/relationships/notesMaster" Target="../notesMasters/notesMaster1.xml"/><Relationship Id="Re0c5e7e5978b4595"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236deb5eacd34907" Type="http://schemas.openxmlformats.org/officeDocument/2006/relationships/notesMaster" Target="../notesMasters/notesMaster1.xml"/><Relationship Id="R5ac7e4cd29bb45bd"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015da01badd04cb0" Type="http://schemas.openxmlformats.org/officeDocument/2006/relationships/slide" Target="../slides/slide37.xml"/><Relationship Id="Rb88ee122daef4be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df1368c7730646b6" Type="http://schemas.openxmlformats.org/officeDocument/2006/relationships/slide" Target="../slides/slide38.xml"/><Relationship Id="Rdf87ee8a6abf44ff"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2d0a9b4fb61b4816" Type="http://schemas.openxmlformats.org/officeDocument/2006/relationships/notesMaster" Target="../notesMasters/notesMaster1.xml"/><Relationship Id="R5dea15b00a2f424e"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024f35f4640f4073" Type="http://schemas.openxmlformats.org/officeDocument/2006/relationships/notesMaster" Target="../notesMasters/notesMaster1.xml"/><Relationship Id="Rc879ca938c9445f0"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78b575ff57d34e89" Type="http://schemas.openxmlformats.org/officeDocument/2006/relationships/slide" Target="../slides/slide41.xml"/><Relationship Id="Rf83ff73d9821465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298e363c84724018" Type="http://schemas.openxmlformats.org/officeDocument/2006/relationships/notesMaster" Target="../notesMasters/notesMaster1.xml"/><Relationship Id="Rb4cc02af75f54565"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6daa5319fa244d17" Type="http://schemas.openxmlformats.org/officeDocument/2006/relationships/notesMaster" Target="../notesMasters/notesMaster1.xml"/><Relationship Id="Rf329ca98151a4d0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7202d79fa60649a3" Type="http://schemas.openxmlformats.org/officeDocument/2006/relationships/slide" Target="../slides/slide44.xml"/><Relationship Id="Rb922fd18c93d4b99"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6b0e993a1c79461d" Type="http://schemas.openxmlformats.org/officeDocument/2006/relationships/notesMaster" Target="../notesMasters/notesMaster1.xml"/><Relationship Id="Rfbdb1c47c1ea404e"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194032e5abc44a23" Type="http://schemas.openxmlformats.org/officeDocument/2006/relationships/notesMaster" Target="../notesMasters/notesMaster1.xml"/><Relationship Id="Ra60ef134867f4715"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00245b871cfb44ad" Type="http://schemas.openxmlformats.org/officeDocument/2006/relationships/slide" Target="../slides/slide47.xml"/><Relationship Id="Rfa95f3ac15834c4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56c3120419b84398" Type="http://schemas.openxmlformats.org/officeDocument/2006/relationships/notesMaster" Target="../notesMasters/notesMaster1.xml"/><Relationship Id="R741351f6e1bb4dee"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b0408e2b5aa9488c" Type="http://schemas.openxmlformats.org/officeDocument/2006/relationships/slide" Target="../slides/slide49.xml"/><Relationship Id="Rc987b9a6134440f9"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312e557cb52d46b8" Type="http://schemas.openxmlformats.org/officeDocument/2006/relationships/slide" Target="../slides/slide50.xml"/><Relationship Id="Re6affc3370b84af7"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38bbbbb932a14f0b" Type="http://schemas.openxmlformats.org/officeDocument/2006/relationships/slide" Target="../slides/slide51.xml"/><Relationship Id="R53399430f11a4057"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4de84a1fda5942df" Type="http://schemas.openxmlformats.org/officeDocument/2006/relationships/slide" Target="../slides/slide52.xml"/><Relationship Id="Redacc623ea924d8b"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528be93a40fc4838" Type="http://schemas.openxmlformats.org/officeDocument/2006/relationships/notesMaster" Target="../notesMasters/notesMaster1.xml"/><Relationship Id="Rd7446ee78cc440a3"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b7b88542e4c247e8" Type="http://schemas.openxmlformats.org/officeDocument/2006/relationships/notesMaster" Target="../notesMasters/notesMaster1.xml"/><Relationship Id="Re1a72114745b43c8" Type="http://schemas.openxmlformats.org/officeDocument/2006/relationships/slide" Target="../slides/slide54.xml"/></Relationships>
</file>

<file path=ppt/notesSlides/_rels/notesSlide57.xml.rels><?xml version='1.0' encoding='UTF-8' standalone='yes'?>
<Relationships xmlns="http://schemas.openxmlformats.org/package/2006/relationships"><Relationship Id="R48fc5aace7134f9e" Type="http://schemas.openxmlformats.org/officeDocument/2006/relationships/slide" Target="../slides/slide57.xml"/><Relationship Id="Rfee03f09029b494e"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048842c3ceb84f23" Type="http://schemas.openxmlformats.org/officeDocument/2006/relationships/slide" Target="../slides/slide58.xml"/><Relationship Id="R4243545d01ca4a5a"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05825793426c4735" Type="http://schemas.openxmlformats.org/officeDocument/2006/relationships/notesMaster" Target="../notesMasters/notesMaster1.xml"/><Relationship Id="R8a89629125e54f09"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826f5858924f4104" Type="http://schemas.openxmlformats.org/officeDocument/2006/relationships/slide" Target="../slides/slide60.xml"/><Relationship Id="R846472762dda43ae"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43d16cd4feb24947" Type="http://schemas.openxmlformats.org/officeDocument/2006/relationships/notesMaster" Target="../notesMasters/notesMaster1.xml"/><Relationship Id="Rfc753f8663c046fb"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8a21587271d64eaa" Type="http://schemas.openxmlformats.org/officeDocument/2006/relationships/notesMaster" Target="../notesMasters/notesMaster1.xml"/><Relationship Id="Rc94107f16f624295"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43bf190d2af64eaf" Type="http://schemas.openxmlformats.org/officeDocument/2006/relationships/notesMaster" Target="../notesMasters/notesMaster1.xml"/><Relationship Id="Rec19d8bcb92e453a"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81a9346b0bc54fba" Type="http://schemas.openxmlformats.org/officeDocument/2006/relationships/notesMaster" Target="../notesMasters/notesMaster1.xml"/><Relationship Id="Rd2b31a62951f4ac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021d85f5652d44ba" Type="http://schemas.openxmlformats.org/officeDocument/2006/relationships/notesMaster" Target="../notesMasters/notesMaster1.xml"/><Relationship Id="R02e90049057f4aeb"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188a4620e00b412b" Type="http://schemas.openxmlformats.org/officeDocument/2006/relationships/slide" Target="../slides/slide66.xml"/><Relationship Id="Rbdbaa0e5b0654f14"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2832cbfcd0f14ea2" Type="http://schemas.openxmlformats.org/officeDocument/2006/relationships/slide" Target="../slides/slide67.xml"/><Relationship Id="R9dd5357852184abc"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7205c935fe4442f8" Type="http://schemas.openxmlformats.org/officeDocument/2006/relationships/notesMaster" Target="../notesMasters/notesMaster1.xml"/><Relationship Id="Ra6ab615b7a9b4587"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d49d0c6866104b7a" Type="http://schemas.openxmlformats.org/officeDocument/2006/relationships/slide" Target="../slides/slide69.xml"/><Relationship Id="Rd9dcd85c2a864ca4"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b87d3d51ee004a41" Type="http://schemas.openxmlformats.org/officeDocument/2006/relationships/slide" Target="../slides/slide70.xml"/><Relationship Id="Rca1dfeb7f94c4596"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7f3c443bff9b464b" Type="http://schemas.openxmlformats.org/officeDocument/2006/relationships/slide" Target="../slides/slide71.xml"/><Relationship Id="Re8cb02c06c9745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8024e7b9d7934c5a" Type="http://schemas.openxmlformats.org/officeDocument/2006/relationships/slide" Target="../slides/slide72.xml"/><Relationship Id="Rade5a2f2fe434c46"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5424669696364a58" Type="http://schemas.openxmlformats.org/officeDocument/2006/relationships/notesMaster" Target="../notesMasters/notesMaster1.xml"/><Relationship Id="Re99a682baa834afd"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37ce603816814180" Type="http://schemas.openxmlformats.org/officeDocument/2006/relationships/notesMaster" Target="../notesMasters/notesMaster1.xml"/><Relationship Id="R9b95f33223da484c"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3ce6205133da4d5d" Type="http://schemas.openxmlformats.org/officeDocument/2006/relationships/notesMaster" Target="../notesMasters/notesMaster1.xml"/><Relationship Id="R71c00a325d194e90"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a50939da5c7542ff" Type="http://schemas.openxmlformats.org/officeDocument/2006/relationships/slide" Target="../slides/slide76.xml"/><Relationship Id="Rf73ab89283364caa"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78d80588344f4f9c" Type="http://schemas.openxmlformats.org/officeDocument/2006/relationships/slide" Target="../slides/slide77.xml"/><Relationship Id="R95bd164c0170432d"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238982269c4941bc" Type="http://schemas.openxmlformats.org/officeDocument/2006/relationships/notesMaster" Target="../notesMasters/notesMaster1.xml"/><Relationship Id="Re76c95689a384163"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6aa8ae18a4cb49f4" Type="http://schemas.openxmlformats.org/officeDocument/2006/relationships/slide" Target="../slides/slide79.xml"/><Relationship Id="Rf006170574104279"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73c6d39dde8b49ce" Type="http://schemas.openxmlformats.org/officeDocument/2006/relationships/notesMaster" Target="../notesMasters/notesMaster1.xml"/><Relationship Id="Rd2d5831968ab4b06"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10d18f408ad34fd3" Type="http://schemas.openxmlformats.org/officeDocument/2006/relationships/slide" Target="../slides/slide81.xml"/><Relationship Id="R1f28d1ff178c4b5b"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2584eaefd1ee4386" Type="http://schemas.openxmlformats.org/officeDocument/2006/relationships/notesMaster" Target="../notesMasters/notesMaster1.xml"/><Relationship Id="Rdb39f291883d4f24"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089d8c28b7a74e1c" Type="http://schemas.openxmlformats.org/officeDocument/2006/relationships/notesMaster" Target="../notesMasters/notesMaster1.xml"/><Relationship Id="Rea566005841c4578"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0644e688556349ce" Type="http://schemas.openxmlformats.org/officeDocument/2006/relationships/slide" Target="../slides/slide84.xml"/><Relationship Id="R741034b0627f4ef3"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0445551dd7814a71" Type="http://schemas.openxmlformats.org/officeDocument/2006/relationships/slide" Target="../slides/slide85.xml"/><Relationship Id="Rf208c5da6fe348e5"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16102fed693d4c87" Type="http://schemas.openxmlformats.org/officeDocument/2006/relationships/slide" Target="../slides/slide86.xml"/><Relationship Id="R29a723144f9b4beb"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57b997eb8ba14fce" Type="http://schemas.openxmlformats.org/officeDocument/2006/relationships/notesMaster" Target="../notesMasters/notesMaster1.xml"/><Relationship Id="R6f637c6772e34595"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579ecaf9d7b64c81" Type="http://schemas.openxmlformats.org/officeDocument/2006/relationships/notesMaster" Target="../notesMasters/notesMaster1.xml"/><Relationship Id="Rdba81ca409d84c8b"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b633c27ad91942c7" Type="http://schemas.openxmlformats.org/officeDocument/2006/relationships/slide" Target="../slides/slide89.xml"/><Relationship Id="Rd65522a43aaa4b5a"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b3d233da3c3944c9" Type="http://schemas.openxmlformats.org/officeDocument/2006/relationships/notesMaster" Target="../notesMasters/notesMaster1.xml"/><Relationship Id="Rf13e36ed8f2e4669"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69fd327633b44141" Type="http://schemas.openxmlformats.org/officeDocument/2006/relationships/notesMaster" Target="../notesMasters/notesMaster1.xml"/><Relationship Id="Rdaa4646c1a224819"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49d01c7b58674cc0" Type="http://schemas.openxmlformats.org/officeDocument/2006/relationships/slide" Target="../slides/slide92.xml"/><Relationship Id="R5a718dcc55ca4145"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89d41bd8a2c643cc" Type="http://schemas.openxmlformats.org/officeDocument/2006/relationships/slide" Target="../slides/slide93.xml"/><Relationship Id="Rbfc11afadd9a46f0"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9916d74446d84c80" Type="http://schemas.openxmlformats.org/officeDocument/2006/relationships/notesMaster" Target="../notesMasters/notesMaster1.xml"/><Relationship Id="Rad2086661c114156"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40aaab48f3c249ca" Type="http://schemas.openxmlformats.org/officeDocument/2006/relationships/slide" Target="../slides/slide95.xml"/><Relationship Id="Rc26a850e6a224275"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11f1ec04a4244e6b" Type="http://schemas.openxmlformats.org/officeDocument/2006/relationships/slide" Target="../slides/slide96.xml"/><Relationship Id="Rbf4a7e5064c84332"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5fb2cc2a90894d21" Type="http://schemas.openxmlformats.org/officeDocument/2006/relationships/notesMaster" Target="../notesMasters/notesMaster1.xml"/><Relationship Id="R61f70210a9d6404e"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a4337cb883394199" Type="http://schemas.openxmlformats.org/officeDocument/2006/relationships/notesMaster" Target="../notesMasters/notesMaster1.xml"/><Relationship Id="Reabacd459e6f40a3"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398e9e9317f142d7" Type="http://schemas.openxmlformats.org/officeDocument/2006/relationships/slide" Target="../slides/slide99.xml"/><Relationship Id="Re27efe2c2713424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69344639e9ed4c80" Type="http://schemas.openxmlformats.org/officeDocument/2006/relationships/slide" Target="../slides/slide100.xml"/><Relationship Id="R900538838e9d4a3c"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342348f713f4479d" Type="http://schemas.openxmlformats.org/officeDocument/2006/relationships/notesMaster" Target="../notesMasters/notesMaster1.xml"/><Relationship Id="R344ed4d9c01c4fba"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440bb69ff61842ad" Type="http://schemas.openxmlformats.org/officeDocument/2006/relationships/notesMaster" Target="../notesMasters/notesMaster1.xml"/><Relationship Id="Rae7e5c78d953499e"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8821f0af24ca4377" Type="http://schemas.openxmlformats.org/officeDocument/2006/relationships/notesMaster" Target="../notesMasters/notesMaster1.xml"/><Relationship Id="Ra7640117f211460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bca68eb4045c45ea" Type="http://schemas.openxmlformats.org/officeDocument/2006/relationships/notesMaster" Target="../notesMasters/notesMaster1.xml"/><Relationship Id="Re73878239b494829"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0902893fd50f42ea" Type="http://schemas.openxmlformats.org/officeDocument/2006/relationships/slide" Target="../slides/slide109.xml"/><Relationship Id="Ra2c7af8536414b4b"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27e6f720da5f4f4d" Type="http://schemas.openxmlformats.org/officeDocument/2006/relationships/slide" Target="../slides/slide110.xml"/><Relationship Id="R9728e31b3e3c44fd"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4e4db729a0e0413f" Type="http://schemas.openxmlformats.org/officeDocument/2006/relationships/slide" Target="../slides/slide111.xml"/><Relationship Id="Ref28b8b23eef413b"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15a7ed583da54527" Type="http://schemas.openxmlformats.org/officeDocument/2006/relationships/slide" Target="../slides/slide112.xml"/><Relationship Id="Rc546f7d4cbb14dfa"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4b883667d9db4c33" Type="http://schemas.openxmlformats.org/officeDocument/2006/relationships/notesMaster" Target="../notesMasters/notesMaster1.xml"/><Relationship Id="Rbc78e03c658e43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34952488e70f4a67" Type="http://schemas.openxmlformats.org/officeDocument/2006/relationships/slide" Target="../slides/slide114.xml"/><Relationship Id="Rfbd901fcdaf741a5"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0c6286d3355e442c" Type="http://schemas.openxmlformats.org/officeDocument/2006/relationships/notesMaster" Target="../notesMasters/notesMaster1.xml"/><Relationship Id="R537382a1a7624f0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320ff276674247be" Type="http://schemas.openxmlformats.org/officeDocument/2006/relationships/slide" Target="../slides/slide116.xml"/><Relationship Id="Rcf6eb7f63dcc44be"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15f9bb177fb448c6" Type="http://schemas.openxmlformats.org/officeDocument/2006/relationships/slide" Target="../slides/slide117.xml"/><Relationship Id="R4e47ee6f13494ed2"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2c724207e908489b" Type="http://schemas.openxmlformats.org/officeDocument/2006/relationships/slide" Target="../slides/slide118.xml"/><Relationship Id="R9386f05c53704682"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3b2899ea72964d4e" Type="http://schemas.openxmlformats.org/officeDocument/2006/relationships/slide" Target="../slides/slide119.xml"/><Relationship Id="Rc2ea8a22c6164349"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89f1a38d2c314188" Type="http://schemas.openxmlformats.org/officeDocument/2006/relationships/notesMaster" Target="../notesMasters/notesMaster1.xml"/><Relationship Id="Re7ff63616fd24d13"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881d364a7918427f" Type="http://schemas.openxmlformats.org/officeDocument/2006/relationships/slide" Target="../slides/slide121.xml"/><Relationship Id="Ra0dd448384634278"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bbaa292361fd4c89" Type="http://schemas.openxmlformats.org/officeDocument/2006/relationships/slide" Target="../slides/slide122.xml"/><Relationship Id="Rfa15a15609bd450a"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1cbbc149c97443fc" Type="http://schemas.openxmlformats.org/officeDocument/2006/relationships/slide" Target="../slides/slide123.xml"/><Relationship Id="Rba76aba712ff48a3"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32fcf17ebb854ab4" Type="http://schemas.openxmlformats.org/officeDocument/2006/relationships/slide" Target="../slides/slide124.xml"/><Relationship Id="Rda5fc24d94e44d84"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87e9ec9467334f76" Type="http://schemas.openxmlformats.org/officeDocument/2006/relationships/notesMaster" Target="../notesMasters/notesMaster1.xml"/><Relationship Id="R9376929074b542e5"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7a37ef0e1e2d4b13" Type="http://schemas.openxmlformats.org/officeDocument/2006/relationships/notesMaster" Target="../notesMasters/notesMaster1.xml"/><Relationship Id="Rf199e864a1e64a65"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8ae7ec3097de4757" Type="http://schemas.openxmlformats.org/officeDocument/2006/relationships/notesMaster" Target="../notesMasters/notesMaster1.xml"/><Relationship Id="R9405e84cbc1f4087"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632e7add68484974" Type="http://schemas.openxmlformats.org/officeDocument/2006/relationships/slide" Target="../slides/slide130.xml"/><Relationship Id="R82b5a27c3d4440a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302f3db06ab441ed" Type="http://schemas.openxmlformats.org/officeDocument/2006/relationships/notesMaster" Target="../notesMasters/notesMaster1.xml"/><Relationship Id="Rc9069048d38348ea"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0452b57d81e94339" Type="http://schemas.openxmlformats.org/officeDocument/2006/relationships/notesMaster" Target="../notesMasters/notesMaster1.xml"/><Relationship Id="Rc4bb18ade93543bb"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904609fa6ac74814" Type="http://schemas.openxmlformats.org/officeDocument/2006/relationships/notesMaster" Target="../notesMasters/notesMaster1.xml"/><Relationship Id="Rfeb2d7cadc4848dd"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3d0664a3639346d0" Type="http://schemas.openxmlformats.org/officeDocument/2006/relationships/slide" Target="../slides/slide134.xml"/><Relationship Id="Ra3ab5072d2b6412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07b6f20152364ca6" Type="http://schemas.openxmlformats.org/officeDocument/2006/relationships/notesMaster" Target="../notesMasters/notesMaster1.xml"/><Relationship Id="R1087edec282f4e43"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0c14cbf751a74012" Type="http://schemas.openxmlformats.org/officeDocument/2006/relationships/notesMaster" Target="../notesMasters/notesMaster1.xml"/><Relationship Id="Rc2ac714276b94289"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6938e0fb15344e06" Type="http://schemas.openxmlformats.org/officeDocument/2006/relationships/notesMaster" Target="../notesMasters/notesMaster1.xml"/><Relationship Id="Raef9735b29a64cab"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9071714a578248b1" Type="http://schemas.openxmlformats.org/officeDocument/2006/relationships/slide" Target="../slides/slide138.xml"/><Relationship Id="Rcece1a286e7641e8"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48fd96f1ac4f4ed2" Type="http://schemas.openxmlformats.org/officeDocument/2006/relationships/slide" Target="../slides/slide139.xml"/><Relationship Id="Reb8dd84f5e124ea9"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07f60fbb220c45a6" Type="http://schemas.openxmlformats.org/officeDocument/2006/relationships/slide" Target="../slides/slide140.xml"/><Relationship Id="R877b66b3eb684060"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69bbba0563ca4075" Type="http://schemas.openxmlformats.org/officeDocument/2006/relationships/notesMaster" Target="../notesMasters/notesMaster1.xml"/><Relationship Id="R9d7e5c0644884c27"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67ba84ddbaed4a02" Type="http://schemas.openxmlformats.org/officeDocument/2006/relationships/slide" Target="../slides/slide142.xml"/><Relationship Id="R8cb6ffdbceb44cce"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50ae6ca893984320" Type="http://schemas.openxmlformats.org/officeDocument/2006/relationships/slide" Target="../slides/slide143.xml"/><Relationship Id="R9d66cc73cd7543cb"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5c585bb54287443d" Type="http://schemas.openxmlformats.org/officeDocument/2006/relationships/notesMaster" Target="../notesMasters/notesMaster1.xml"/><Relationship Id="Rc7ea889d71554a90" Type="http://schemas.openxmlformats.org/officeDocument/2006/relationships/slide" Target="../slides/slide144.xml"/></Relationships>
</file>

<file path=ppt/notesSlides/_rels/notesSlide147.xml.rels><?xml version='1.0' encoding='UTF-8' standalone='yes'?>
<Relationships xmlns="http://schemas.openxmlformats.org/package/2006/relationships"><Relationship Id="R7bbc92d48dcd4166" Type="http://schemas.openxmlformats.org/officeDocument/2006/relationships/slide" Target="../slides/slide147.xml"/><Relationship Id="Rf16534e4686d4d34"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f27edcb5fea44a11" Type="http://schemas.openxmlformats.org/officeDocument/2006/relationships/notesMaster" Target="../notesMasters/notesMaster1.xml"/><Relationship Id="Rf50d9b58465445be"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3f73c3783d0949b4" Type="http://schemas.openxmlformats.org/officeDocument/2006/relationships/slide" Target="../slides/slide149.xml"/><Relationship Id="Re8f71e2c27ce42f6"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69c27434081c482d" Type="http://schemas.openxmlformats.org/officeDocument/2006/relationships/notesMaster" Target="../notesMasters/notesMaster1.xml"/><Relationship Id="Rc9126efeb5a044a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046802e391294dec" Type="http://schemas.openxmlformats.org/officeDocument/2006/relationships/slide" Target="../slides/slide151.xml"/><Relationship Id="Re600300511224e9b"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7b35d2d181cd4d9f" Type="http://schemas.openxmlformats.org/officeDocument/2006/relationships/notesMaster" Target="../notesMasters/notesMaster1.xml"/><Relationship Id="Raed301fef9fa4314"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a62c4f5a3df049b6" Type="http://schemas.openxmlformats.org/officeDocument/2006/relationships/slide" Target="../slides/slide153.xml"/><Relationship Id="Refb3a551460a4033"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b858c61367684367" Type="http://schemas.openxmlformats.org/officeDocument/2006/relationships/slide" Target="../slides/slide154.xml"/><Relationship Id="Re91d38a89e054b73"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36378f97ddd44ffd" Type="http://schemas.openxmlformats.org/officeDocument/2006/relationships/slide" Target="../slides/slide155.xml"/><Relationship Id="Rd6c731b1caa14736"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297a5102b1e947a5" Type="http://schemas.openxmlformats.org/officeDocument/2006/relationships/notesMaster" Target="../notesMasters/notesMaster1.xml"/><Relationship Id="Rf54242ea1b9b46e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4b6ba310d40f470d" Type="http://schemas.openxmlformats.org/officeDocument/2006/relationships/notesMaster" Target="../notesMasters/notesMaster1.xml"/><Relationship Id="Rdfbd723aca214636"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092eca44c27740fb" Type="http://schemas.openxmlformats.org/officeDocument/2006/relationships/slide" Target="../slides/slide158.xml"/><Relationship Id="R6cb1b8b4d4c749d3"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e1cf3571d9954c88" Type="http://schemas.openxmlformats.org/officeDocument/2006/relationships/slide" Target="../slides/slide161.xml"/><Relationship Id="Rfc2663dbef894a66"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1bc9abaa121d4a20" Type="http://schemas.openxmlformats.org/officeDocument/2006/relationships/notesMaster" Target="../notesMasters/notesMaster1.xml"/><Relationship Id="Rcb34a2f6308044e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6007bd6ed1364924" Type="http://schemas.openxmlformats.org/officeDocument/2006/relationships/slide" Target="../slides/slide163.xml"/><Relationship Id="R677dbb2f5bc643f5"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2c1f8d0ea469451e" Type="http://schemas.openxmlformats.org/officeDocument/2006/relationships/notesMaster" Target="../notesMasters/notesMaster1.xml"/><Relationship Id="Rf3680e2c251b44c1"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25ac8275d7184ff0" Type="http://schemas.openxmlformats.org/officeDocument/2006/relationships/slide" Target="../slides/slide165.xml"/><Relationship Id="Radb51ee45c454b64"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6adbfcf25a5b4c2c" Type="http://schemas.openxmlformats.org/officeDocument/2006/relationships/slide" Target="../slides/slide166.xml"/><Relationship Id="R94403fd91ee945f7"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389c92a7168947d6" Type="http://schemas.openxmlformats.org/officeDocument/2006/relationships/notesMaster" Target="../notesMasters/notesMaster1.xml"/><Relationship Id="Re6c8abbd5b75406b"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2afd5a654fa34c44" Type="http://schemas.openxmlformats.org/officeDocument/2006/relationships/notesMaster" Target="../notesMasters/notesMaster1.xml"/><Relationship Id="Rb77fddc395d14d4a"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2ee50d3321d04ad8" Type="http://schemas.openxmlformats.org/officeDocument/2006/relationships/notesMaster" Target="../notesMasters/notesMaster1.xml"/><Relationship Id="Re354ece6e24c4d2a"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278da1afd53d49a4" Type="http://schemas.openxmlformats.org/officeDocument/2006/relationships/slide" Target="../slides/slide170.xml"/><Relationship Id="Ra462a506a32941f8"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88b71f4f4ffb418d" Type="http://schemas.openxmlformats.org/officeDocument/2006/relationships/slide" Target="../slides/slide171.xml"/><Relationship Id="Ra0bf7031489a4ce7"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6988a9a8cbc443d7" Type="http://schemas.openxmlformats.org/officeDocument/2006/relationships/notesMaster" Target="../notesMasters/notesMaster1.xml"/><Relationship Id="Radf8fc3fe8c54579" Type="http://schemas.openxmlformats.org/officeDocument/2006/relationships/slide" Target="../slides/slide172.xml"/></Relationships>
</file>

<file path=ppt/notesSlides/_rels/notesSlide175.xml.rels><?xml version='1.0' encoding='UTF-8' standalone='yes'?>
<Relationships xmlns="http://schemas.openxmlformats.org/package/2006/relationships"><Relationship Id="R0c0c9ac952f04673" Type="http://schemas.openxmlformats.org/officeDocument/2006/relationships/slide" Target="../slides/slide175.xml"/><Relationship Id="R9fabd271a8204e72"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491e37832b8a4749" Type="http://schemas.openxmlformats.org/officeDocument/2006/relationships/notesMaster" Target="../notesMasters/notesMaster1.xml"/><Relationship Id="Ra2d09c7534e14525"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0bf3f5b89f3c4252" Type="http://schemas.openxmlformats.org/officeDocument/2006/relationships/notesMaster" Target="../notesMasters/notesMaster1.xml"/><Relationship Id="Re3ec085386fa4c5a"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2a785f200f8d4322" Type="http://schemas.openxmlformats.org/officeDocument/2006/relationships/notesMaster" Target="../notesMasters/notesMaster1.xml"/><Relationship Id="R50353236c2ef4cb9"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339d3720bba44aaa" Type="http://schemas.openxmlformats.org/officeDocument/2006/relationships/notesMaster" Target="../notesMasters/notesMaster1.xml"/><Relationship Id="Rfb63dd1fb1fb4f2c"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48a14154cead460d" Type="http://schemas.openxmlformats.org/officeDocument/2006/relationships/notesMaster" Target="../notesMasters/notesMaster1.xml"/><Relationship Id="Rf0f445ff2cb64304"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63b786b1112841bc" Type="http://schemas.openxmlformats.org/officeDocument/2006/relationships/slide" Target="../slides/slide181.xml"/><Relationship Id="Rf1f28570083442f5"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015bfd1057c8419b" Type="http://schemas.openxmlformats.org/officeDocument/2006/relationships/notesMaster" Target="../notesMasters/notesMaster1.xml"/><Relationship Id="Rf53b8a9c082a4608"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737e7a3f43074cb1" Type="http://schemas.openxmlformats.org/officeDocument/2006/relationships/slide" Target="../slides/slide183.xml"/><Relationship Id="R755dd4e52bbf4699"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79b4d636e8854c95" Type="http://schemas.openxmlformats.org/officeDocument/2006/relationships/notesMaster" Target="../notesMasters/notesMaster1.xml"/><Relationship Id="Rd87be2216c1042f6"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38898ac62d23483a" Type="http://schemas.openxmlformats.org/officeDocument/2006/relationships/slide" Target="../slides/slide185.xml"/><Relationship Id="R3dd5751e4a9c4f1a"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178f03762f9141ac" Type="http://schemas.openxmlformats.org/officeDocument/2006/relationships/notesMaster" Target="../notesMasters/notesMaster1.xml"/><Relationship Id="R2aa465d3d9874575"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1a4d2679dd1446f2" Type="http://schemas.openxmlformats.org/officeDocument/2006/relationships/slide" Target="../slides/slide187.xml"/><Relationship Id="R341870250e334895"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e46d8de9cbb44a76" Type="http://schemas.openxmlformats.org/officeDocument/2006/relationships/notesMaster" Target="../notesMasters/notesMaster1.xml"/><Relationship Id="Rfe93f5b72fd54c29" Type="http://schemas.openxmlformats.org/officeDocument/2006/relationships/slide" Target="../slides/slide188.xml"/></Relationships>
</file>

<file path=ppt/notesSlides/_rels/notesSlide197.xml.rels><?xml version='1.0' encoding='UTF-8' standalone='yes'?>
<Relationships xmlns="http://schemas.openxmlformats.org/package/2006/relationships"><Relationship Id="R34082757c206442f" Type="http://schemas.openxmlformats.org/officeDocument/2006/relationships/slide" Target="../slides/slide197.xml"/><Relationship Id="Rdfa2086025964415"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5e1e7a3e17084a2c" Type="http://schemas.openxmlformats.org/officeDocument/2006/relationships/notesMaster" Target="../notesMasters/notesMaster1.xml"/><Relationship Id="Ra01057d2193645d5"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2a07e0f4b80f461f" Type="http://schemas.openxmlformats.org/officeDocument/2006/relationships/notesMaster" Target="../notesMasters/notesMaster1.xml"/><Relationship Id="R4d29fd4a68a547fa"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2d07ccdb072443aa" Type="http://schemas.openxmlformats.org/officeDocument/2006/relationships/slide" Target="../slides/slide200.xml"/><Relationship Id="R4569b3c428294f58"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126ef8aa7e444268" Type="http://schemas.openxmlformats.org/officeDocument/2006/relationships/slide" Target="../slides/slide205.xml"/><Relationship Id="R5f1812cc647d4c9b"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5a0560e5573844eb" Type="http://schemas.openxmlformats.org/officeDocument/2006/relationships/notesMaster" Target="../notesMasters/notesMaster1.xml"/><Relationship Id="R7d9a7f727331459c"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c54d1e0d7cfd400e" Type="http://schemas.openxmlformats.org/officeDocument/2006/relationships/slide" Target="../slides/slide207.xml"/><Relationship Id="Re217c406b0454b4f"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64bd9d7b90194f67" Type="http://schemas.openxmlformats.org/officeDocument/2006/relationships/notesMaster" Target="../notesMasters/notesMaster1.xml"/><Relationship Id="R899add0e84ed4f1b"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5a8aa98972164ffd" Type="http://schemas.openxmlformats.org/officeDocument/2006/relationships/notesMaster" Target="../notesMasters/notesMaster1.xml"/><Relationship Id="Reffa3177c56d4f7f"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0e0244638e9b4a69" Type="http://schemas.openxmlformats.org/officeDocument/2006/relationships/notesMaster" Target="../notesMasters/notesMaster1.xml"/><Relationship Id="R413e8acb95604c3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02ab098da0d84f51" Type="http://schemas.openxmlformats.org/officeDocument/2006/relationships/notesMaster" Target="../notesMasters/notesMaster1.xml"/><Relationship Id="R6da1a935190546f4"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355a8c1af1204ee8" Type="http://schemas.openxmlformats.org/officeDocument/2006/relationships/notesMaster" Target="../notesMasters/notesMaster1.xml"/><Relationship Id="R6240337b34d94eb5"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136fad84285c4775" Type="http://schemas.openxmlformats.org/officeDocument/2006/relationships/slide" Target="../slides/slide213.xml"/><Relationship Id="R7235f0bab3fd4c8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53da036df8194aee" Type="http://schemas.openxmlformats.org/officeDocument/2006/relationships/notesMaster" Target="../notesMasters/notesMaster1.xml"/><Relationship Id="Rcdd21559f883468d"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0e3dd94bf1f649ed" Type="http://schemas.openxmlformats.org/officeDocument/2006/relationships/slide" Target="../slides/slide215.xml"/><Relationship Id="Rb72840e35f044669"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ae7e1f13a3554e09" Type="http://schemas.openxmlformats.org/officeDocument/2006/relationships/slide" Target="../slides/slide216.xml"/><Relationship Id="Rf96013d7b2b84150"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035b6b7030ad43bf" Type="http://schemas.openxmlformats.org/officeDocument/2006/relationships/notesMaster" Target="../notesMasters/notesMaster1.xml"/><Relationship Id="R4a021f3e08d24366"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8399f9976ac34476" Type="http://schemas.openxmlformats.org/officeDocument/2006/relationships/notesMaster" Target="../notesMasters/notesMaster1.xml"/><Relationship Id="Rfe09dfbb2f444d16"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29397842c1ac44a7" Type="http://schemas.openxmlformats.org/officeDocument/2006/relationships/slide" Target="../slides/slide219.xml"/><Relationship Id="R850a857bca7340d5"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64b7a709ebd4434d" Type="http://schemas.openxmlformats.org/officeDocument/2006/relationships/slide" Target="../slides/slide220.xml"/><Relationship Id="Ra0c676462ad944a3"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축소 정복에서 문제를 줄인다는 말부터 생각해 보겠습니다. 물건 다섯 개를 다루는 일이 있다면, 같은 종류의 일을 물건 네 개에 대해서 먼저 해결하고 그 결과에 남은 한 개를 반영하는 식입니다. 여기서 중요한 것은 작은 문제를 몇 개 끝까지 푸느냐입니다. 재귀라는 문법을 쓰는지, 중간 결과를 저장하는지만 보고 고르지 말고, 각 보기에서 다음으로 해결하는 문제의 개수를 살펴보세요.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5번입니다. 예를 들어 5의 팩토리얼은 5 곱하기 4의 팩토리얼입니다. 4의 팩토리얼을 구하는 작은 문제 하나를 풀면 24를 얻고, 여기에 5를 곱해 원래 답 120을 만듭니다. 같은 유형의 문제를 더 작은 크기 하나로 이어 간다는 뜻입니다. 1번처럼 두 부분을 모두 풀어 합치는 방식은 분할 정복의 대표적인 구조입니다. 2번의 결과 저장은 중복 계산을 줄이는 방법이지만 축소 정복의 필수 조건은 아닙니다. 3번은 가능한 답을 모두 살펴보는 완전 탐색, 4번은 현재의 선택을 확정하는 탐욕적 방식에 가깝습니다. 그러므로 함수가 자기 자신을 부른다는 사실보다, 호출 뒤 실제로 해결해야 하는 작은 문제의 수와 답을 만드는 관계를 확인해야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식의 T는 입력 크기에 따라 걸리는 시간을 뜻합니다. T 괄호 n 마이너스 1은 원소 하나를 줄인 뒤 남은 일을 처리하는 시간이고, 뒤의 세타 1은 이번 단계에서 하는 일이 일정한 양이라는 뜻입니다. 입력이 네 개라면 크기가 4, 3, 2, 1, 0으로 바뀌는 모습을 먼저 적어 보세요. 각 단계에 작은 일을 한 번씩 추가하면 총 작업이 입력 크기에 따라 어떻게 늘어나는지 판단할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3번, 세타 n입니다. 크기가 4일 때는 크기 3을 처리하고 일정한 일을 합니다. 크기 3도 크기 2를 처리하고 같은 정도의 일을 하고, 이 과정이 0까지 이어집니다. 매 단계의 일을 한 단위라고 단순화하면 네 번의 작업과 마지막 종료 처리 한 번이 필요합니다. 크기를 8로 늘리면 이런 추가 작업도 여덟 번으로 늘어납니다. 따라서 시간은 입력 크기에 비례합니다. 이것을 선형 시간이라고 합니다. 세타는 여기서 실제 증가 정도를 나타내는 기호입니다. 절반씩 줄어드는 과정이 아니므로 로그가 아니고, 한 단계마다 n개를 다시 훑는 일도 없으므로 제곱 시간도 아닙니다. 종료 처리에서 더하는 일정한 시간은 입력이 커졌을 때의 증가 차수를 바꾸지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크기를 절반으로 줄이지만, 각 단계에서 현재 크기만큼 추가 작업을 한다는 조건이 붙어 있습니다. n이 8이라면 첫 단계에서는 8개를 처리하고, 다음 단계에서는 4개, 그다음에는 2개를 처리한다고 생각해 보세요. 몇 단계인지 세는 것과 각 단계에서 한 일을 모두 더하는 것을 구분해야 합니다. 문제의 n이 2의 거듭제곱이라는 조건은 절반으로 나누는 과정에서 크기가 깔끔한 정수로 이어진다는 뜻입니다.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4번, 세타 n입니다. n이 8이면 단계별 비용을 8 더하기 4 더하기 2 더하기 1로 생각할 수 있고 합은 15입니다. n이 16이면 16, 8, 4, 2, 1을 더해 31입니다. 입력을 두 배로 했을 때 전체 작업도 대략 두 배가 됩니다. 일반적으로 n, n의 절반, 그 절반을 계속 더한 합은 2n보다 작습니다. 첫 단계만으로도 n만큼 일이 있으므로 전체 시간의 증가 정도는 n에 비례합니다. 단계 수가 로그라는 말은 맞습니다. 하지만 마지막의 작은 단계까지 첫 단계와 똑같이 n의 비용을 내는 것은 아니므로, n에 단계 수를 그대로 곱해서 n 로그 n이라고 해도 정확하지 않습니다. 매번 달라지는 비용을 더해야 한다는 점이 핵심입니다.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재귀가 끝나는지를 확인할 때는 멈추는 조건만 찾으면 부족합니다. 그 조건으로 실제로 가까워지고 있는지도 봐야 합니다. 여기서 자연수 척도는 남은 원소 수처럼 0 이상인 정수로 세는 양을 말합니다. 엄격히 감소한다는 것은 그대로 머무르지 않고 반드시 작아진다는 뜻입니다. 남은 일이 세 개, 두 개, 한 개, 영 개로 줄어드는 상황과, 세 개인 채로 계속 다시 호출하는 상황을 비교하며 보기를 읽어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1번입니다. 기저 사례는 더 작은 문제를 부르지 않고 바로 답하는 경우입니다. 예를 들어 남은 원소가 0개이면 종료하고, 그 밖에는 남은 수를 하나씩 줄이면 3, 2, 1, 0의 순서로 반드시 종료 조건에 도달합니다. 0 이상인 정수는 끝없이 엄격하게 작아질 수 없기 때문입니다. 반대로 멈추는 조건이 n이 0일 때인데 n을 계속 1로 넘기면, 종료 조건을 코드에 적어 두었어도 끝나지 않습니다. 인수가 바뀐다는 사실도 충분하지 않습니다. 1과 2를 번갈아 넘기는 경우에는 값은 바뀌지만 남은 일이 줄지 않습니다. 따라서 모든 재귀 호출에서 유효한 감소가 일어나며, 더 줄일 수 없는 경우에는 재귀 대신 종료하도록 연결되어 있어야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팩토리얼은 1부터 해당 수까지 곱한 값입니다. 4의 팩토리얼이라면 4 곱하기 3 곱하기 2 곱하기 1입니다. 이 곱셈을 반복문으로 순서대로 할 수도 있고, 작은 팩토리얼을 먼저 구하는 재귀로 할 수도 있습니다. 문제에서는 곱셈 한 번을 일정한 시간으로 센다고 정해 두었습니다. 큰 정수 자체의 자릿수 비용은 잠시 제외하고, 두 구현이 곱셈을 몇 번 하는지 비교해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4번입니다. 반복 구현은 결과를 1로 시작해서 1, 2, 3, 4를 차례로 곱하면 24를 얻습니다. 재귀 구현은 4의 팩토리얼을 구하기 위해 3의 팩토리얼을 요청하고, 다시 2, 1 또는 0의 기저 사례까지 내려갑니다. 돌아올 때 필요한 수를 곱하므로 역시 24가 나옵니다. 두 방식 모두 입력이 커지면 그에 비례하는 수만큼 곱셈을 하므로 선형 시간입니다. 다만 시간 차수가 같다는 말이 메모리 사용까지 같다는 뜻은 아닙니다. 일반적인 재귀 구현은 아직 곱셈을 마치지 못한 호출들을 쌓아 두어 입력 크기에 비례하는 호출 공간을 사용합니다. 반복 구현은 누적 결과와 반복 변수 몇 개로 처리할 수 있습니다. 이 문제의 시간 비교와 별도로 구별할 부분입니다.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피보나치 수열은 앞의 두 항을 더해 다음 항을 만듭니다. 순진한 재귀는 F의 n을 계산할 때 F의 n 마이너스 1과 F의 n 마이너스 2를 따로 호출하는 방식입니다. 왜 느린지 보려면 F의 4를 계산하는 그림을 생각해 보세요. 바로 아래에는 F의 3과 F의 2가 있고, F의 3을 계산할 때도 F의 2가 필요합니다. 같은 입력의 계산이 다시 나타나는지 살펴보는 문제입니다.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1번입니다. F의 4는 F의 3과 F의 2의 합입니다. 그런데 F의 3도 F의 2와 F의 1의 합이므로 F의 2를 별도로 두 번 계산하게 됩니다. 입력이 더 커지면 이런 중복이 아래쪽 여러 단계에서 거듭 생깁니다. 이미 구한 결과를 저장하지 않기 때문에 같은 답을 얻으려고 같은 일을 다시 하는 것입니다. 덧셈 자체가 느리거나, 기저 사례가 두 개라서 느린 것은 아닙니다. 호출 깊이만 세면 이 중복된 가지들을 빠뜨립니다. F의 4에서 3, 2, 1로 내려가는 한 경로 외에도 다른 경로들이 실행되기 때문입니다. 앞의 두 값을 보관하는 반복 구현은 각 새 항을 한 번만 계산합니다. 따라서 재귀라는 문법만으로 성능을 판단하지 말고, 동일한 부분 문제를 몇 번 계산하는지를 봐야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파이썬에서 쉼표를 사용해 두 변수에 한꺼번에 대입하는 문장입니다. a가 2이고 b가 3이라고 놓고 생각해 보세요. 바꾸기 전의 값으로 오른쪽 두 항을 먼저 계산하는지, a를 바꾼 뒤 그 새로운 a로 다음 합을 계산하는지에 따라 결과가 달라집니다. 피보나치에서는 서로 이웃한 두 항을 다음 두 항으로 옮겨야 하므로, 어떤 값이 계산에 쓰이는지가 중요합니다.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5번입니다. a가 2, b가 3인 상태에서 오른쪽의 b는 3이고, 오른쪽의 a 더하기 b는 5입니다. 파이썬은 이 두 결과를 먼저 구해 놓고 왼쪽의 a와 b에 각각 넣습니다. 그래서 새 상태는 3과 5입니다. 이전의 두 이웃한 항이 다음의 두 이웃한 항으로 이동한 것입니다. 이것을 a에 b를 넣고 나서, b에 a 더하기 b를 넣는 두 문장과 혼동하면 안 됩니다. 그렇게 순서대로 실행하면 첫 문장 뒤 a와 b가 모두 3이 되어 다음 합이 6으로 잘못 계산됩니다. C에서 같은 동작을 만들 때는 먼저 임시 변수에 이전 a와 b의 합 5를 저장하고, 그다음 a를 이전 b로 바꾸고, 마지막에 b에 임시 값을 넣으면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작은 별무늬를 만드는 재귀와 완성한 무늬를 화면에 출력하는 일을 나눠 생각하겠습니다. 가로가 N칸이고 세로가 N줄이면 실제로 출력해야 할 자리는 모두 몇 개일까요? 빈칸도 한 글자로 출력한다고 가정합니다. 문제는 작은 무늬를 몇 번 구하는지를 묻는 것이 아니라, 최종 결과를 한 글자씩 내보내는 작업 자체의 시간을 묻고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1번, 세타 N 제곱입니다. 가로 3칸짜리 줄이 세 줄이면 아홉 글자를 출력합니다. 가로와 세로가 각각 9가 되면 한 줄에 아홉 글자씩 아홉 줄, 모두 81글자입니다. 한 글자를 출력하는 데 일정한 시간이 든다면 글자 수만큼 일을 해야 합니다. 작은 무늬를 한 번만 계산해 여러 위치에 재사용하더라도, 완성된 화면의 각 자리에는 결국 해당 문자를 써야 합니다. 재귀의 크기가 27, 9, 3, 1로 빠르게 줄어드는 사실은 호출 경로의 길이를 설명합니다. 출력량은 별도로 N 곱하기 N입니다. 실제 답을 전부 출력하도록 요구하는 문제에서는, 정답의 크기 자체가 얼마인지도 실행 시간 계산에 포함해야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순차 탐색은 배열의 앞에서부터 값을 하나씩 확인합니다. 여기서는 찾는 값이 없어서 실패하는 경우를 생각합니다. 앞의 원소 하나가 다르다는 이유만으로 뒤쪽에도 없다고 결론 내릴 수 있을까요? 배열에 별도의 정렬 조건이 주어지지 않았다면 마지막 원소까지 확인해야 한다는 점을 떠올리고, 목표값과 비교하는 횟수를 세어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4번, n번입니다. 예를 들어 배열에 8, 3, 5가 있고 7을 찾는다면, 먼저 8과 비교해서 다르다는 것을 확인합니다. 다음의 3도 다르고 마지막의 5도 다릅니다. 세 개를 모두 확인한 다음에야 배열 전체에 7이 없다고 말할 수 있습니다. 원소가 n개라면 이 비교를 n번 합니다. 마지막에서 하나라도 빼먹으면 그 자리에 찾는 값이 있을 가능성을 배제하지 못합니다. 여기서 세는 것은 원소와 목표값의 일치 비교입니다. 반복문의 조건 검사나 인덱스 증가까지 모두 더한 기계 명령 수를 묻는 것은 아닙니다. 무엇을 기본 연산으로 세는지 먼저 정하면 비교 횟수와 시간 차수를 헷갈리지 않을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배열이 정렬되어 있지 않다는 조건에 주목해 보겠습니다. 중간 원소보다 목표값이 크다고 해도, 큰 값이 반드시 오른쪽에 있으리라는 보장은 없습니다. 예를 들어 9, 1, 5처럼 큰 값이 맨 앞에 있을 수도 있습니다. 보기 중에서 값들의 순서를 전제로 한쪽 후보들을 통째로 버리지 않는 방법이 무엇인지 판단해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2번, 순차 탐색입니다. 순차 탐색은 첫 원소부터 하나씩 직접 비교하므로 배열이 어떤 순서이든 일치하는 값을 찾을 수 있습니다. 9, 1, 5에서 9를 찾으면 첫 비교에서 성공하고, 5를 찾으면 세 번째 비교에서 성공합니다. 반면 이진 탐색은 중간값 1보다 9가 크다고 오른쪽만 남겼다가는 맨 앞의 9를 버리게 됩니다. 보간 탐색도 값의 크기와 위치의 관계를 이용하므로 정렬 조건이 필요합니다. 일정한 간격의 원소만 검사하거나 첫 원소의 크기만 보고 실패를 결정하는 방법은 확인하지 않은 곳에 답이 있을 수 있습니다. 순차 탐색이 항상 더 빠르다는 뜻은 아닙니다. 추가적인 정렬 조건 없이도 정확하게 적용할 수 있다는 뜻입니다.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lo는 현재 후보 중 가장 왼쪽 인덱스이고 hi는 가장 오른쪽 인덱스입니다. 양 끝을 포함하는 구간이므로 lo와 hi에 있는 원소도 아직 후보입니다. mid는 방금 검사한 중간 인덱스입니다. 배열이 오름차순인데 중간값이 목표보다 작다고 확인했다면, 중간 원소 자신을 다음 후보에 계속 남겨 둘 이유가 있는지 생각해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5번, lo를 mid 더하기 1로 바꾸는 것입니다. 배열이 2, 5, 8, 11, 14이고 목표가 11이라고 해 보겠습니다. 처음 중간 인덱스는 2이고 그 값은 8입니다. 8은 11보다 작습니다. 오름차순이므로 중간 왼쪽의 2와 5도 목표가 될 수 없고, 방금 확인한 8도 정답이 아닙니다. 따라서 남길 후보는 인덱스 3과 4입니다. 시작점을 중간 다음인 3으로 옮기는 이유입니다. lo를 mid로만 바꾸면 이미 탈락한 중간값을 남기게 되고, 원소가 하나 남았을 때 구간이 줄지 않아 무한 반복할 수 있습니다. 반대로 hi를 줄이면 정답이 있을 수 있는 오른쪽을 버립니다. 후보 제외의 근거와 구간이 실제로 줄어드는지를 함께 확인해야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이번에도 lo와 hi를 모두 포함하는 후보 구간입니다. lo가 3이고 hi가 2가 되었다고 가정해 보세요. 인덱스가 3 이상이면서 동시에 2 이하인 자리가 있을까요? 배열 자체가 비어 있다는 말과 탐색 도중 남은 후보 구간이 비었다는 말을 구별하면 뜻을 이해하기 쉽습니다. 올바른 이진 탐색 갱신을 해 왔다는 전제에서 판단합니다.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4번, 찾는 값이 배열에 없다는 뜻입니다. 예를 들어 정렬된 배열 2, 5, 8에서 6을 찾으면 중간값 5보다 크므로 인덱스 2만 남깁니다. 그곳의 8은 6보다 크므로 오른쪽 끝 hi를 1로 내립니다. 그러면 lo는 2, hi는 1이어서 후보가 하나도 남지 않습니다. 버린 구간에는 목표가 없다는 근거를 매번 확인했으므로, 이제 배열 전체에 목표가 없다고 결론 내릴 수 있습니다. 이때 a의 lo번째 값을 무조건 읽으면 안 됩니다. lo가 배열 길이와 같아서 범위를 벗어나는 경우도 있습니다. 조건 lo가 hi 이하일 때만 반복하는 것은 마지막 한 원소까지 확인하고, 빈 후보 구간에서는 원소를 읽지 않기 위해서입니다.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일치하는 값을 발견하자마자 반환하는 일반 이진 탐색을 생각하겠습니다. 배열에 같은 값이 여러 개 있으면 그중 어느 것을 처음 만날지는 중간 인덱스의 선택에 달려 있습니다. 예를 들어 1, 3, 3, 3, 7에서 3을 찾는 경우를 떠올려 보세요. 처음 검사하는 가운데가 같은 값이라고 해서 그 위치가 가장 왼쪽이라는 보장까지 생기는지 판단하는 문제입니다.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3번입니다. 이진 탐색은 일치하는 인덱스 하나를 반환하지만, 보통의 즉시 반환 방식은 첫 번째나 마지막 위치를 보장하지 않습니다. 1, 3, 3, 3, 7의 중간 인덱스는 2이고 값은 3입니다. 곧바로 반환하면 결과는 2입니다. 그러나 3이 처음 나타나는 곳은 인덱스 1이고 마지막은 3입니다. 반환값이 틀린 것은 아닙니다. 일치하는 위치 하나라는 원래 요구를 만족합니다. 첫 위치가 필요하면 같은 값을 찾은 뒤에도 왼쪽에 더 있는지 확인해야 하고, 마지막 위치가 필요하면 오른쪽을 더 살펴야 합니다. 등장 횟수까지 원한다면 양쪽 경계를 찾아 차이를 구할 수 있습니다. 함수가 무엇을 보장해야 하는지에 따라 종료 조건이 달라집니다.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이진 탐색은 값이 얼마나 크고 작은지와 관계없이 후보 인덱스의 가운데를 먼저 봅니다. 보간 탐색은 끝의 값들과 찾는 값 사이의 비율로 위치를 짐작합니다. 10, 20, 30, 40, 50에서 40을 찾는다면 값의 범위 안에서 어느 쪽에 가까운지 생각해 보세요. 두 방법이 처음 확인할 위치를 정할 때 사용하는 정보가 어떻게 다른지 묻는 문제입니다.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3번입니다. 보간 탐색은 양 끝의 값과 목표값을 함께 사용합니다. 값이 10부터 50까지 고르게 늘어나는데 목표가 40이면, 전체 값 차이 40 중에서 왼쪽 끝으로부터 30만큼 떨어져 있습니다. 전체 범위의 4분의 3 지점에 있다는 뜻입니다. 인덱스도 0부터 4까지이므로 그 비율을 적용하면 인덱스 3을 예상할 수 있습니다. 이진 탐색은 이런 값의 간격을 사용하지 않고 인덱스 가운데인 2를 먼저 확인합니다. 보간 탐색도 예상 위치를 실제로 비교해서 맞는지 확인해야 하며, 정렬 조건을 무시할 수 없습니다. 값이 고르게 분포하지 않으면 예상이 빗나갈 수 있다는 점 때문에 입력 분포가 성능에 영향을 줍니다.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보간 탐색 식의 분모에는 오른쪽 끝값에서 왼쪽 끝값을 뺀 수가 들어갑니다. 두 끝값이 같으면 그 차이가 0입니다. 여기서 공식을 그대로 계산할 수 있는지, 그리고 정렬된 구간의 양 끝값이 같다면 사이의 값들은 무엇이어야 하는지 생각해 보세요. 목표가 그 값과 같은 경우와 다른 경우를 나누어 판단해야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5번입니다. 예를 들어 현재 구간이 5, 5, 5라면 양 끝값은 모두 5이고 분모는 0입니다. 0으로 나누는 위치 추정은 할 수 없습니다. 하지만 이미 필요한 정보는 있습니다. 오름차순 구간에서 양 끝이 모두 5이면 그 사이도 전부 5여야 합니다. 목표가 5이면 lo와 같은 구간 안의 인덱스를 반환해 성공으로 끝낼 수 있습니다. 목표가 7이면 이 구간에는 없으므로 실패입니다. 목표와 무관하게 항상 성공하거나 항상 실패하는 두 보기는 각각 한쪽 경우를 틀립니다. 분모를 임의로 1로 바꾸는 것도 원래 비율의 의미를 잃게 합니다. 나눗셈을 하기 전에 특수한 입력에서 식이 유효한지 확인하는 것이 경계 처리입니다.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보간 탐색의 위치 예측은 값의 비율이 인덱스의 비율과 비슷하다는 기대를 이용합니다. 값이 10, 20, 30, 40처럼 비슷한 간격으로 늘어나는 경우와 1, 2, 3, 100000처럼 마지막만 매우 큰 경우를 비교해 보세요. 정렬되었다는 조건과 값이 고르게 퍼졌다는 조건은 서로 다른 조건입니다. 둘 중 하나만 있다고 충분한지 살펴봅니다.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2번입니다. 정렬되어 있으면서 값들이 비교적 균등하게 분포할 때 보간 탐색의 예측이 잘 맞습니다. 10, 20, 30, 40, 50에서 40은 값 범위의 4분의 3 지점이고 실제 위치도 그 비율과 잘 맞습니다. 반면 1, 2, 3, 100000에서 3을 찾으면 값으로는 왼쪽 끝에 거의 붙어 있는 것처럼 보이지만 실제 인덱스는 2입니다. 큰 끝값 하나가 비율을 크게 왜곡한 것입니다. 정렬되지 않으면 비교 뒤 어느 방향을 버릴지도 보장하기 어렵습니다. 배열 길이가 2의 거듭제곱이거나 인덱스들이 일정 간격이라는 사실은 값의 분포를 대신해 주지 않습니다. 여기서는 특정 입력 하나에서 성공하는지가 아니라, 위치 추정이 잘 맞는 입력의 특징을 묻고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최악 실행 시간은 가장 불리한 입력을 만났을 때 얼마나 오래 걸릴 수 있는지를 말합니다. 보간 탐색은 고르게 퍼진 값에서는 위치를 잘 짐작하지만, 어떤 분포에서도 후보가 절반으로 줄어드는 것은 아닙니다. 끝값 하나가 매우 크면 예상 위치가 한쪽 끝에 치우치는 상황을 떠올려 보세요. 매번 후보를 조금씩만 제외하게 될 가능성까지 포함해서 판단해야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1번, 세타 n입니다. 정렬된 값들이 대부분 1, 2, 3처럼 작고 마지막 값 하나만 아주 크다고 해 보겠습니다. 작은 값들 가운데 뒤쪽 값을 찾더라도, 양 끝값의 큰 차이 때문에 공식이 예상하는 위치는 계속 왼쪽 가까이가 될 수 있습니다. 그러면 한 번 비교한 뒤 제외하는 후보가 한두 개에 그쳐, 원소 수에 비례하는 횟수로 반복할 수 있습니다. 이진 탐색처럼 매번 가운데를 기준으로 절반을 없애는 보장이 없는 것입니다. 균등한 확률 분포 등 추가 가정에서 말하는 좋은 평균 성능을 모든 입력의 최악 성능으로 바꾸어 말하면 안 됩니다. 한 단계의 기본 계산을 일정한 비용으로 보는 이 문제에서는, 이런 불리한 경우가 선형 시간에 해당합니다.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배열은 한 번만 정렬하고 그 정렬 결과에 대해 검색을 여러 번 합니다. n은 원소 수이고 m은 검색 요청의 수입니다. 이번 문항은 정렬과 각 검색의 최악 비용을 합치는 기준으로 읽겠습니다. 매 검색마다 정렬을 다시 하는 상황이 아니라는 점이 중요합니다. 준비 작업을 한 번 하는 비용과, 요청 한 번의 비용을 m번 더한 비용을 나누어서 계산해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4번입니다. 정렬하는 데 n 로그 n에 비례하는 비용이 한 번 듭니다. 정렬된 배열에서 이진 탐색 한 번의 최악 비용은 로그 n에 비례하고, 검색을 m번 하므로 이 부분은 m 로그 n입니다. 두 작업은 순서대로 실행되므로 합해서 세타 n 로그 n 더하기 m 로그 n이 됩니다. 예를 들어 1024개를 정렬해 둔 다음 백 번 검색한다면, 검색 때마다 대략 열 단계 안팎으로 후보를 줄일 수 있습니다. 이미 만든 정렬 결과를 그대로 쓰므로 정렬 비용에 백을 곱하지 않습니다. 다만 모든 검색이 첫 중간값에서 성공하면 검색 부분은 훨씬 적게 걸릴 수 있습니다. 그래서 이번 답의 세타 표현은 최악 비용을 비교한다는 조건과 함께 읽어야 정확합니다.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최대공약수는 두 수를 모두 나누어떨어지게 하는 수 가운데 가장 큰 수입니다. 유클리드 알고리즘은 두 수 자체를 계속 유지하지 않고, 뒤의 수와 나머지라는 새로운 쌍으로 바꿉니다. 예를 들어 18과 12를 12와 6으로 바꿔도 최대공약수가 같은 이유를 생각해 보세요. 합이나 곱이 같은지보다, 두 수를 함께 나누는 수들이 어떻게 되는지를 살펴보는 문제입니다.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2번입니다. 18은 12 한 번과 나머지 6을 더한 값입니다. 어떤 수가 18과 12를 둘 다 나눈다면, 18에서 12를 뺀 6도 나눌 수 있습니다. 반대로 어떤 수가 12와 6을 둘 다 나눈다면, 둘을 합한 18도 나눌 수 있습니다. 따라서 18과 12의 공약수와 12와 6의 공약수는 정확히 같습니다. 일반적으로 a를 b로 나누면 a는 b에 몫을 곱한 값과 나머지의 합입니다. 같은 빼기와 더하기 관계가 성립하므로 공약수 집합이 유지되고, 그중 가장 큰 수도 같습니다. 합과 곱은 실제로 달라져도 괜찮습니다. 보존해야 할 것은 이 문제의 답을 결정하는 공약수 관계입니다.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유클리드 알고리즘의 마지막 상태를 묻습니다. 두 번째 수가 0일 때는 더 이상 나머지 연산을 하지 않습니다. 어떤 양의 수로 0을 나누면 나머지는 항상 0이라는 사실을 떠올려 보세요. 그러면 a와 0을 동시에 나누는 수 가운데 가장 큰 값이 무엇인지 판단할 수 있습니다. 두 수가 모두 0인 특수한 경우는 알고리즘에서 0을 반환한다는 관례로 구별해서 이해합니다.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5번, a입니다. 예를 들어 12와 0을 생각하면 12는 12를 나누어떨어지게 하고, 0도 12 곱하기 0으로 나타낼 수 있으므로 나누어떨어지게 합니다. 12의 양의 약수 중 가장 큰 수는 12이므로 답이 12입니다. 그래서 유클리드 알고리즘은 두 번째 인수가 0이면 첫 번째 인수를 그대로 반환합니다. 이때 a를 0으로 나누어 나머지를 구하려 하면 오류가 나므로, 종료 조건을 먼저 확인해야 합니다. a도 0일 때는 양의 공약수 중 최대가 있다는 일반 설명을 그대로 적용할 수 없습니다. 구현에서는 이 특수 입력의 반환값을 0으로 정하는 관례를 사용하며, 뒤의 구현 문제에서도 그 규칙을 명시합니다. a가 양수인 수학적 설명과 이 특수한 반환 규칙을 구별하면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감소 척도는 알고리즘이 진행될수록 반드시 작아지는 양입니다. 유클리드 갱신에서는 첫 수를 이전의 두 번째 수로, 두 번째 수를 나머지로 바꿉니다. 처음 a가 b보다 작을 수도 있다는 점에 주의해 보세요. 첫 번째 인수는 오히려 커질 수 있어도, b가 양수일 때 나머지가 가질 수 있는 범위는 명확합니다. 그 범위를 이용해 종료를 설명할 보기를 고릅니다.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1번, 두 번째 인수 b입니다. 양수 b로 나눈 나머지는 0 이상이고 b보다 작습니다. 따라서 새로운 두 번째 수는 이전 두 번째 수보다 반드시 작아집니다. 예를 들어 처음이 35와 64이면 다음 쌍은 64와 35입니다. 이때 첫 번째 수는 35에서 64로 커지므로 항상 감소한다는 설명은 틀립니다. 하지만 두 번째 수는 64에서 35로 줄었습니다. 다음에는 35와 29가 되어 두 번째 수가 다시 줄어듭니다. 0 이상인 정수를 이런 방식으로 끝없이 줄일 수 없으므로 결국 두 번째 수가 0이 되어 끝납니다. 최대공약수 자체는 갱신 중에 계속 같아야 하므로 감소 척도로 사용할 수 없습니다.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지수가 홀수일 때 빠른 거듭제곱을 어떻게 만드는지 묻습니다. n이 5라면 5는 2 곱하기 2 더하기 1로 쓸 수 있습니다. C의 제곱을 이미 구해 두었다면, 그것을 두 번 곱했을 때 지수가 어디까지 만들어지는지 먼저 보세요. 그다음 원래 홀수 지수를 완성하려면 C가 몇 개 더 필요한지 생각하면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5번입니다. C의 k제곱을 한 번 계산해 두고, 그 값을 제곱한 뒤 C를 한 번 더 곱합니다. 예를 들어 3의 5제곱에서 k는 2입니다. 3의 제곱은 9이고, 9를 제곱하면 81입니다. 이것은 3의 4제곱이므로 마지막에 3을 곱해야 243, 즉 3의 5제곱이 됩니다. 지수가 짝수인 2k이면 제곱만 하면 되지만, 홀수인 2k 더하기 1이면 하나가 남습니다. 지수의 덧셈은 밑이 같은 거듭제곱의 곱셈으로 연결됩니다. 그래서 C를 더하는 보기나 결과에 2를 곱하는 보기는 맞지 않습니다. 작은 거듭제곱은 한 번만 계산하고 그 결과 값을 두 번 사용한다는 점도 기억해야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구현 모두 지수를 절반으로 줄입니다. 차이는 절반 지수의 답을 한 번 구해서 두 번 쓰느냐, 같은 함수를 두 번 불러 각각 다시 구하느냐입니다. 입력이 8일 때 한 번만 호출하면 8, 4, 2, 1로 한 줄로 내려갑니다. 두 번 호출하면 크기 4의 일이 두 개 생깁니다. 작은 값의 재사용과 작은 계산의 반복이 어떻게 다른지 보기를 통해 확인해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4번입니다. 같은 절반 문제를 두 번 호출하면 각 단계의 호출 수가 1, 2, 4, 8처럼 늘어납니다. n이 8인 작은 예에서 마지막 기준을 어디로 두느냐에 따른 상수 차이는 있지만 전체 호출 수는 n에 비례하게 됩니다. 그래서 시간 차수는 세타 n입니다. 반면 결과를 half 같은 변수에 한 번 저장해 두면 재귀 호출 경로는 8, 4, 2, 1, 필요하면 0까지 하나뿐입니다. 각 단계에서는 저장한 값을 곱하는 일정한 작업만 하므로 세타 로그 n입니다. 같은 숫자를 식에서 두 번 쓴다는 사실이 함수를 두 번 호출해야 한다는 뜻은 아닙니다. 이미 얻은 숫자를 다시 읽는 일과 그 숫자를 처음부터 다시 계산하는 일을 구별해야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반환값이나 곱셈 횟수가 아니라 함수가 불리는 횟수를 셉니다. n을 정수 나눗셈으로 계속 절반으로 줄이고 0에서도 종료를 위한 호출이 한 번 일어납니다. 예를 들어 n이 8이면 8에서 시작해 어떤 인수들이 나오는지 적어 보세요. 시작 호출과 0인 호출을 포함하되, 답은 정확한 횟수 하나가 아니라 입력 증가에 따른 차수라는 점을 구별합니다.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2번, 세타 로그 n입니다. n이 8이면 호출 인수는 8, 4, 2, 1, 0으로 다섯 개입니다. n을 두 배인 16으로 늘리면 16, 8, 4, 2, 1, 0으로 여섯 개가 됩니다. 입력은 두 배가 되었지만 필요한 단계는 하나만 추가됩니다. 이런 증가를 로그라고 부릅니다. 양의 정수 n에 대해 정확한 총 호출 횟수는 밑이 2인 로그 n의 내림값에 2를 더한 수입니다. 하나는 시작에서 세는 방식에, 다른 하나는 0에서 끝내는 호출에 해당합니다. n이 13이어도 13, 6, 3, 1, 0으로 다섯 번입니다. 하지만 상수 2나 내림 처리는 n이 커질 때의 증가 차수를 바꾸지 않으므로 보기에서는 로그 n을 선택합니다.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삽입 정렬은 앞부분에 정렬된 구간을 만들어 놓고, 그 바로 다음 원소를 알맞은 자리에 끼워 넣습니다. 바깥 반복의 i는 이번에 끼워 넣을 원소의 위치입니다. a의 0부터 i 직전까지라는 표기는 i 자체는 포함하지 않는다는 뜻입니다. i번째 원소를 처리하기 직전이라는 시점을 정확히 잡고, 이미 정렬이 보장되는 범위를 찾아보세요.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3번입니다. i번째 반복 직전에는 인덱스 0부터 i 마이너스 1까지의 앞부분이 정렬되어 있습니다. 예를 들어 5, 2, 4, 1에서 i가 1이면 앞부분은 5 하나이므로 이미 정렬되었다고 볼 수 있습니다. 2를 끼워 넣으면 앞부분이 2, 5가 됩니다. 이제 i가 2인 반복 직전에는 바로 이 두 원소가 정렬되어 있습니다. 다음 값 4를 넣으면 2, 4, 5가 되어 정렬된 앞부분이 하나 늘어납니다. 이런 성질이 처음에 참이고, 한 번 실행한 뒤에도 다음 반복에서 참이면 불변식이라고 합니다. 뒤쪽에는 아직 처리하지 않은 값들이 있으므로 전체 배열이나 뒤쪽 구간까지 정렬되었다고 말할 수는 없습니다.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이미 1, 2, 3, 4처럼 정렬된 배열에 삽입 정렬을 실행한다고 생각해 보겠습니다. 새로 꺼낸 key보다 앞에 있는 값이 더 큰지 검사할 때 매번 어떤 결과가 나올까요? 이동이 전혀 없다는 사실과, 반복문 자체도 한 번도 실행하지 않는다는 말은 서로 다릅니다. 각 원소를 확인하는 비용은 남아 있다는 점까지 포함해 판단합니다.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4번, 세타 n입니다. i가 1일 때 key는 2이고 앞 값 1은 2보다 크지 않으므로 이동 없이 끝납니다. i가 2일 때도 앞 값 2가 key인 3보다 크지 않아서 바로 끝납니다. 이런 일이 뒤의 원소마다 한 번씩 반복됩니다. 원소를 여러 칸 미는 작업은 없지만, 각각의 새 원소에 대해 상태를 확인하는 바깥 반복은 n 마이너스 1번 진행합니다. 따라서 전체가 일정한 한 번의 작업으로 끝나는 상수 시간은 아닙니다. 각 반복의 비용이 일정하고 그 반복이 원소 수만큼 있으므로 선형 시간입니다. 삽입 정렬이 항상 제곱 시간이라는 설명은 최악 경우와 좋은 입력에서의 실행을 구분하지 않은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서로 다른 원소가 큰 것부터 작은 순서로 들어 있습니다. 삽입 정렬은 새 원소가 앞의 모든 원소보다 작으면 앞 원소들을 전부 한 칸씩 밀어야 합니다. 네 개의 역순 배열을 떠올리고, 두 번째 원소를 넣을 때 몇 개, 세 번째를 넣을 때 몇 개를 옮기는지 세어 보세요. 여기서 원소 이동은 앞 원소를 오른쪽으로 미는 횟수로 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3번, n 곱하기 n 마이너스 1을 2로 나눈 수입니다. 네 개가 4, 3, 2, 1로 들어 있으면 3을 끼울 때 4 하나를 옮깁니다. 2를 넣을 때는 정렬된 앞부분 3, 4의 두 원소를 옮깁니다. 마지막 1을 넣을 때는 2, 3, 4의 세 원소를 옮깁니다. 합은 1 더하기 2 더하기 3, 즉 6입니다. 일반적으로 1부터 n 마이너스 1까지 더하므로 공식이 n 곱하기 n 마이너스 1 나누기 2가 됩니다. 이 값은 입력 크기의 제곱에 비례해서 증가합니다. key를 임시 변수에 저장하거나 마지막 빈자리에 쓰는 대입까지 모두 세는 별도의 기준이라면 정확한 대입 횟수는 달라지지만, 여기서 요구한 앞 원소의 이동 횟수는 이 합입니다.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가짜가 정확히 하나이고, 그 가짜가 진짜보다 가볍다고 미리 알고 있습니다. 왼쪽과 오른쪽에 같은 개수의 동전을 올렸는데 저울이 균형을 이뤘다고 합니다. 만약 어느 한쪽에 가짜가 있었다면 무게가 어떻게 달라졌을지 생각해 보세요. 가짜가 없는 것이 아니라, 현재 저울에 올린 두 더미 중에서 후보를 없앨 수 있는지를 묻습니다.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2번입니다. 가짜는 저울에 올리지 않은 후보 중에 있습니다. 진짜 동전의 무게가 모두 10이고 가짜만 9라고 가정해 보겠습니다. 세 개씩 올리면 모두 진짜인 더미는 무게가 30입니다. 가짜를 하나 포함한 더미는 29가 되어 반대쪽보다 가볍습니다. 그런데 양쪽이 같았다면 두 더미 모두 가짜를 포함하지 않았다는 뜻입니다. 가짜가 두 쪽에 하나씩 있어서 우연히 균형을 이루는 경우는 정확히 하나라는 조건이 배제합니다. 그래서 남겨 둔 세 번째 그룹만 계속 조사하면 됩니다. 문제의 가짜 개수와 가벼운지 무거운지에 대한 정보가, 한 번의 저울 결과를 해석하는 근거입니다.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동전 27개를 같은 수의 세 그룹으로 나누면 한 그룹에 9개가 됩니다. 두 그룹을 비교한 뒤 가짜가 있을 수 있는 한 그룹만 남기는 방식입니다. 저울이 기울든 균형이든 후보 그룹 하나를 정할 수 있다는 조건을 사용합니다. 후보 개수가 하나가 될 때까지 필요한 비교를 세되, 처음의 27개 상태를 저울질 한 번으로 세지 않도록 주의하세요.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1번, 세 번입니다. 첫 번째 저울질에서는 9개씩 두 그룹을 비교하고, 결과에 따라 후보 9개만 남깁니다. 두 번째에는 그 9개를 3개씩 나누어 비교하므로 후보가 3개가 됩니다. 세 번째에는 한 개씩 두 그룹을 비교하여 후보 하나를 정합니다. 후보 수는 27, 9, 3, 1이고 숫자 사이의 변화가 세 번입니다. 한 개가 남은 뒤에는 그 동전이 가짜이므로 추가로 저울에 올릴 필요가 없습니다. 매번 후보를 3분의 1로 줄이는 과정이라서, 3을 몇 번 곱해야 원래 개수가 되는지와 횟수가 연결됩니다. 27은 3을 세 번 곱한 수이므로 여기서는 밑이 3인 로그와 같은 세 번이 나옵니다.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실물 양팔저울로 두 더미를 한 번 비교하는 것과, 배열에 적힌 각 동전 무게를 더해서 비교하는 것은 비용을 세는 단위가 다릅니다. 저울에서는 여러 동전을 한꺼번에 올리는 비교 한 번을 셀 수 있습니다. 코드에서 합을 구하려면 원소를 몇 개 읽어야 하는지 따로 생각해야 합니다. 두 분석이 같은 알고리즘 설명에서 어떻게 함께 성립하는지 묻습니다.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5번, 세는 기본 연산이 다르기 때문입니다. 후보 8개를 절반씩 줄이는 예로 보면 비교 단계는 8개, 4개, 2개에서 각각 한 번씩 진행해 세 번입니다. 실물 비교 한 번을 한 단위로 세면 단계 수는 로그에 비례합니다. 그러나 배열에서 첫 비교에 네 개의 무게를 더하고, 다음에 두 개, 마지막에 한 개를 더한다면 원소를 읽는 일은 모두 일곱 번입니다. n개에서는 n의 절반, 4분의 1, 8분의 1을 더한 양이 되어 n에 비례합니다. 따라서 비교 횟수가 적다는 사실만으로 배열 구현의 전체 시간이 로그라고 할 수는 없습니다. 한 번의 비교를 구현하려고 실제로 하는 일까지 포함해야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퀵 정렬은 모든 원소의 순서를 정하고, 퀵 셀렉트는 그중 k번째로 작은 값 하나를 구합니다. 둘 다 피벗이라는 기준값으로 작은 값과 큰 값을 나눌 수 있습니다. 하지만 답이 한쪽에 있다는 사실을 알아낸 다음, 다른 쪽의 내부 순서까지 꼭 정해야 하는지는 다릅니다. 최종적으로 필요한 결과가 무엇인지 떠올리며 보기를 고르세요.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3번입니다. 퀵 셀렉트는 정답이 없는 쪽을 다시 정렬할 필요가 없습니다. 예를 들어 1, 2가 작은 쪽, 4가 피벗, 7, 5, 9가 큰 쪽으로 나뉘었다고 하겠습니다. 전체에서 두 번째로 작은 값은 작은 쪽에 있으므로 큰 쪽 세 숫자가 7, 5, 9의 순서로 남아 있어도 답을 구하는 데 지장이 없습니다. 작은 쪽에서 두 번째 값을 계속 찾으면 됩니다. 전체 정렬이라면 큰 쪽도 5, 7, 9로 정돈해야 합니다. 피벗과 비교하거나 구간을 나누는 작업은 두 방식 모두 수행합니다. 분할 이후 양쪽을 모두 처리하는지, 필요한 한쪽만 이어서 처리하는지가 작업량 차이를 만드는 중요한 부분입니다.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순위는 1부터 시작합니다. 피벗보다 작은 원소가 L개 있으면 가장 앞의 L개 순위를 그 원소들이 차지합니다. 그다음에는 피벗과 같은 원소 E개가 연속해서 놓인다고 생각할 수 있습니다. 예를 들어 작은 값이 두 개, 같은 값이 세 개라면 피벗과 같은 값들은 몇 번째부터 몇 번째일까요? 양쪽 끝에서 등호를 포함하는지 확인해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3번, L보다 크고 L 더하기 E 이하인 범위입니다. 작은 원소가 두 개면 1등과 2등은 피벗보다 작습니다. 같은 원소가 세 개면 그다음인 3등, 4등, 5등은 모두 피벗과 같은 값입니다. 그래서 L이 2, E가 3일 때 정답 구간은 2보다 크고 5 이하입니다. 왼쪽 끝의 L을 포함하면 작은 값들의 마지막 순위를 잘못 포함하고, 오른쪽 끝의 L 더하기 E를 빼면 같은 값들의 마지막 순위를 놓치게 됩니다. 같은 숫자가 여러 번 나타나도 원소는 각각 한 자리씩 차지합니다. 순위를 세기 위해 배열 전체를 실제로 정렬할 필요는 없고, 작은 개수와 같은 개수만 알아도 이 구간을 결정할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찾는 순위 k가 피벗과 같은 구간보다도 뒤에 있어서 큰 값 그룹으로 이동합니다. 이때 원래 전체 배열에서 몇 번째였는지와, 남은 큰 값 그룹 안에서 몇 번째인지를 구분해야 합니다. 줄 서 있던 사람들 중 앞의 세 명이 빠졌다면 원래 다섯 번째 사람이 새 줄에서는 몇 번째인지와 같은 계산입니다. 앞에서 제외한 원소 수를 정확히 세어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2번, k에서 L과 E를 모두 빼는 것입니다. 작은 원소가 두 개이고 피벗과 같은 원소가 한 개인 상태에서 전체 다섯 번째를 찾는다고 하겠습니다. 큰 값 그룹의 첫 번째는 전체 네 번째이고, 그 그룹의 두 번째는 전체 다섯 번째입니다. 앞의 세 자리를 제거했으므로 새 순위는 5 빼기 2 빼기 1, 즉 2입니다. 피벗보다 작은 것만 빼면 피벗과 같은 값들이 차지했던 순위를 빠뜨립니다. 피벗과 같은 것이 여러 개면 그 개수도 전부 빼야 합니다. 이 설명은 큰 값들만 새 배열로 만들어 그 안에서의 상대 순위를 다시 지정하는 방식입니다. 원래 배열 인덱스를 유지하는 구현에서는 목표 인덱스를 고정하는 다른 표현도 가능하므로 두 방식을 섞지 않아야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퀵 셀렉트에서 구간을 나누려면 보통 현재 후보 원소들을 훑어야 합니다. 그런데 피벗이 계속 극단적인 값이라면 원소 하나만 제외하고 거의 전체를 다시 처리하게 됩니다. 원소가 다섯 개일 때 5개를 훑고, 다음에는 4개, 그다음에는 3개를 훑는 상황을 생각해 보세요. 단계 수뿐 아니라 각 단계의 작업량을 모두 더하는 문제입니다.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3번, 세타 n 제곱입니다. 불리한 피벗을 계속 만나면 후보 크기가 n, n 마이너스 1, n 마이너스 2처럼 하나씩만 줄어듭니다. 각 구간에서 파티션을 위해 그 크기만큼 비교하므로 전체 비용은 1부터 n까지 더하는 것과 같은 차수입니다. 다섯 개라면 5, 4, 3, 2, 1을 더해 15 정도의 작업이 되고, 일반적인 합은 n 곱하기 n 더하기 1 나누기 2입니다. 입력이 커지면 n의 제곱에 비례합니다. 재귀를 한쪽으로만 한다는 사실만으로 선형 시간이 보장되지는 않습니다. 한쪽에 남는 크기가 충분히 줄어드는지, 그 구간을 처리할 때 얼마나 많은 원소를 다시 보는지도 중요합니다.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기대 시간은 무작위 선택의 여러 결과를 평균적으로 봤을 때의 시간이고, 최악 시간은 그중 가장 불리한 선택이 이어졌을 때의 시간입니다. 여기서는 서로 다른 값들 중에서 매번 무작위로 피벗을 고릅니다. 좋은 피벗을 자주 만날 수 있다는 사실과, 나쁜 피벗이 절대로 연속해서 나오지 않는다는 말이 같은지 구별해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1번입니다. 무작위 피벗 퀵 셀렉트는 기대 선형 시간이지만 최악에는 제곱 시간이 될 수 있습니다. 값의 순서상 가운데에 가까운 피벗을 고르면 많은 후보를 버릴 수 있습니다. 무작위로 고르면 이런 유리한 축소가 적절한 확률로 일어나서, 전체 비용의 기대값이 원소 수에 비례하게 됩니다. 그러나 한 실행에서 우연히 최솟값이나 최댓값 같은 불리한 피벗이 계속 선택될 가능성이 완전히 0인 것은 아닙니다. 그 경우에는 한 번에 하나만 줄어드는 제곱 시간의 경로를 밟을 수 있습니다. 기대 선형이라는 성능 설명을 어떤 실행에서도 선형이라는 보장으로 바꾸면 안 됩니다. 또한 뒤의 구현 예제처럼 고정된 끝 원소를 피벗으로 쓰는 코드에는 무작위 피벗이라는 가정을 그대로 붙일 수 없습니다.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갈래 파티션은 피벗보다 작은 값, 같은 값, 큰 값을 따로 모읍니다. 값이 전부 4인 배열에서 네 번째로 작은 값을 찾는다고 생각해 보세요. 같은 원소들을 한 묶음으로 인식하면 그 묶음이 차지하는 순위를 한 번에 알 수 있습니다. 이 장점이 모든 종류의 입력에서 무조건 가장 좋은 시간 보장이 된다는 뜻인지도 구별해야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4번입니다. 같은 값 구간의 여러 순위를 한꺼번에 처리할 수 있습니다. 값이 다섯 개 모두 4이면 작은 값은 0개, 같은 값은 5개입니다. 따라서 1번째부터 5번째까지 어떤 순위를 요청해도 답이 4라는 것을 한 번의 분류로 알 수 있습니다. 같은 값들을 따로 처리하지 않는 방식은 피벗 하나만 자리를 확정하고 나머지 같은 값들을 계속 재검사할 수 있습니다. 세 갈래 방식은 이 낭비를 줄입니다. 다만 서로 다른 값들에서 나쁜 피벗을 계속 고르는 문제까지 자동으로 해결하지는 않습니다. 파티션 한 번도 원소를 읽어야 하므로 상수 시간은 아니며, 원래 순서를 보존하는 안정 정렬까지 보장하는 것도 아닙니다. 같은 값이 차지하는 순위 구간을 바로 처리하는 것이 여기서의 이점입니다.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배열의 절반만 다음 호출로 넘기더라도, 그 절반을 새 배열로 복사하는 데는 원소를 하나씩 읽고 쓰는 작업이 필요할 수 있습니다. n이 8일 때 첫 단계 복사량이 8에 비례하고, 그다음에는 4에 비례하는 식입니다. 새 문제의 개수는 하나라는 조건을 유지하면서, 각 단계의 복사 비용이 어떻게 누적되는지 계산해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1번, 세타 n입니다. 크기 8에서 시작하면 비용이 8, 4, 2, 1에 비례하고 이를 더한 값은 15입니다. 크기 16에서는 16, 8, 4, 2, 1로 합이 31입니다. 큰 단계 뒤에 더 작은 비용이 붙으므로 합은 대략 처음 크기의 두 배 안에 머뭅니다. 그래서 전체는 원소 수에 비례하는 선형 시간입니다. 재귀 깊이는 로그이지만 복사라는 추가 작업을 무시하면 전체 시간을 로그로 과소평가합니다. 반대로 모든 단계에서 처음 크기 n만큼 복사한다고 보고 n 로그 n으로 계산하면 실제로 줄어드는 비용을 놓칩니다. 복사를 없애고 인덱스 두 개만 넘기도록 구현을 바꾸면 분석식도 달라질 수 있지만, 지금 문제는 매 단계 복사가 있다는 조건에서 답해야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구해야 할 것은 팩토리얼의 값과 함수 호출 횟수 두 가지입니다. 5의 팩토리얼 값을 구하는 곱셈과, 함수를 몇 번 불렀는지는 서로 다릅니다. 이번 함수는 1에서도 멈추지 않고 0을 호출한 다음에 1을 반환합니다. 먼저 호출 인수를 5부터 하나씩 적고, 그 후에 작은 답을 받아 곱하면서 돌아오는 과정을 따로 따라가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값은 120이고 총 호출은 여섯 번입니다. 먼저 fact의 5가 fact의 4를 부르고, 이어서 3, 2, 1, 0을 호출합니다. 인수가 5, 4, 3, 2, 1, 0인 호출이 각각 하나씩 있으므로 여섯 번입니다. 가장 안쪽의 fact의 0이 1을 반환하면 fact의 1은 1 곱하기 1로 1을 만듭니다. 그다음은 2 곱하기 1로 2, 3 곱하기 2로 6, 4 곱하기 6으로 24, 마지막으로 5 곱하기 24로 120입니다. 곱셈은 인수가 1부터 5인 다섯 호출에서 일어나지만, 인수가 0인 호출도 실행되므로 호출 수에는 포함합니다. 함수 이름 뒤에 같은 숫자를 적었다고 그 숫자가 곧 호출 횟수인 것은 아닙니다. 종료를 담당하는 호출까지 세어야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fact의 4를 실행하다가 가장 안쪽의 fact의 0에 막 도달한 순간을 상상해 보겠습니다. 앞에서 부른 함수들은 작은 팩토리얼의 결과를 기다리고 있어 아직 끝나지 않았습니다. 문제는 그 순간 남아 있는 호출이 몇 개인지와, 가장 먼저 바깥으로 돌려주는 값이 무엇인지를 묻습니다. 아직 최종 결과 24까지 계산한 시점이 아니라는 점에 주의하세요.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쌓인 호출은 다섯 개이고 첫 복귀값은 1입니다. fact의 4는 4에 무엇을 곱할지 기다리며 fact의 3을 부릅니다. fact의 3도 같은 방식으로 2를 기다리고, 2는 1을, 1은 0을 기다립니다. 따라서 안쪽의 fact의 0이 실행되는 동안 4, 3, 2, 1, 0의 다섯 호출이 동시에 남아 있습니다. 이처럼 아직 할 일을 남겨 둔 호출들을 저장하는 곳이 호출 스택입니다. 가장 안쪽에서 fact의 0이 바로 1을 반환하면 그 값이 fact의 1로 전달됩니다. 이후 순서대로 곱셈을 마치며 바깥으로 돌아가서 최종적으로 24가 됩니다. 처음 돌아오는 값 1과 전체 계산의 마지막 값 24를 구별해야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시작 상태는 a가 0, b가 1이고, 이 초기 상태는 아직 한 번도 갱신하지 않은 상태입니다. 한 번 갱신할 때마다 이전 b를 새 a로, 이전 두 수의 합을 새 b로 넣습니다. 두 값을 동시에 바꾼다는 점을 유지하면서 첫 번째부터 여섯 번째까지 순서대로 적어 보세요. 중간의 a를 먼저 바꿔 놓고 합을 계산하지 않도록 주의합니다.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여섯 번 뒤에는 a가 8, b가 13입니다. 처음 0과 1에서 한 번 갱신하면 이전 b가 1이고 합도 1이어서 1과 1이 됩니다. 두 번째는 1과 2, 세 번째는 2와 3, 네 번째는 3과 5입니다. 다섯 번째는 5와 8이고, 여섯 번째는 8과 13입니다. 각 상태를 읽을 때 항상 바로 앞 상태의 두 숫자만 사용했습니다. 초기 상태의 a와 b는 각각 F의 0과 F의 1이고, 한 번 갱신하면 F의 1과 F의 2로 한 칸 이동합니다. 그래서 여섯 번 뒤에는 F의 6과 F의 7이 됩니다. 초기 상태를 첫 번째 반복 결과로 잘못 세면 5와 8에서 멈출 수 있으므로, 갱신 횟수를 상태 사이의 이동 횟수로 세는 것이 안전합니다.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F의 4 전체 호출 수를 묻는 것이 아니라, 그 안에서 F의 2가 몇 번 나타나는지 묻습니다. 메모해 둔 결과를 재사용하지 않는 순진한 재귀입니다. F의 4가 직접 부르는 두 함수를 먼저 적고, 그중 더 큰 함수가 다시 무엇을 부르는지 한 단계 더 펼쳐 보세요. 같은 이름의 작은 문제가 서로 다른 경로에서 나타나면 각각 별도의 호출로 셉니다.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F의 2는 두 번 호출됩니다. F의 4는 먼저 F의 3과 F의 2를 필요로 합니다. 여기에서 직접 부르는 F의 2가 한 번입니다. 또 F의 3을 계산하려면 F의 2와 F의 1을 부르므로 F의 3 안에서도 F의 2가 한 번 더 생깁니다. 이 두 호출은 입력이 같아 답은 둘 다 1이지만, 결과를 저장해서 재사용하지 않으므로 실제 실행은 별개입니다. F의 2 아래에서는 F의 1과 F의 0만 호출하므로 추가적인 F의 2는 없습니다. 따라서 합계가 두 번입니다. 이 작은 예가 순진한 피보나치의 중복 계산을 보여 줍니다. 한 함수가 끝나서 결과를 돌려주었다는 사실만으로 다른 경로의 같은 호출이 자동으로 사라지는 것은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F의 4를 계산하는 동안 부른 함수를 전부 셉니다. F의 0과 F의 1처럼 더 이상 재귀하지 않는 호출도 한 번씩 포함하고, 최초의 F의 4도 포함합니다. 같은 F의 2가 두 번 실행되면 그 아래의 호출들도 각각 따로 셉니다. 반환되는 피보나치 값과 함수 호출 개수는 다른 수라는 점부터 구별하고 계산해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총 호출 수는 아홉 번입니다. F의 0과 F의 1은 각각 자기 호출 한 번만 있으므로 호출 수가 1입니다. F의 2는 자기 자신 한 번에 F의 1 한 번과 F의 0 한 번을 더해 세 번입니다. F의 3은 자기 자신 한 번, F의 2를 계산하는 세 번, F의 1 한 번을 더해 다섯 번입니다. 마지막 F의 4는 자기 자신 한 번, F의 3의 다섯 번, F의 2의 세 번을 더하므로 아홉 번입니다. 식으로 쓰면 호출 수 C의 n은 1 더하기 C의 n 마이너스 1 더하기 C의 n 마이너스 2입니다. 맨 앞의 1이 현재 호출 자신을 세는 항입니다. F의 4가 반환하는 숫자 3이나 가장 깊은 경로의 길이만 세면 전체 호출 수와 다른 답이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배열은 8, 3, 8, 2, 9이고 왼쪽부터 찾습니다. 같은 값 8이 두 번 나오지만 함수의 요구는 첫 등장 위치입니다. 인덱스는 0부터 시작하므로 첫 원소의 위치 번호도 0입니다. 목표값과 실제로 비교한 원소만 세고, 값을 찾은 뒤에도 끝까지 가야 하는지 판단해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반환값은 0이고 비교 횟수는 한 번입니다. 첫 원소의 인덱스는 0이며 값은 8입니다. 목표값 8과 일치하므로 바로 그 위치를 반환합니다. 뒤의 인덱스 2에도 8이 있지만 이미 더 왼쪽의 8을 찾았으므로 볼 필요가 없습니다. 첫 원소부터 오른쪽으로 진행했기 때문에 이번보다 앞의 일치 위치는 있을 수 없습니다. 반환하는 것이 값인지 위치인지도 구별해야 합니다. 여기서 8을 반환하는 것이 아니라 8이 들어 있는 인덱스 0을 반환합니다. 또 원소가 다섯 개라고 항상 다섯 번 비교하는 것은 아닙니다. 순차 탐색은 성공 위치에 따라 일찍 끝날 수 있고, 이 입력은 첫 비교에서 끝나는 좋은 경우입니다.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배열에서 이번에는 7을 찾습니다. 실패하면 마이너스 1을 반환한다고 정해 두었습니다. 앞에서 발견하지 못했더라도 아직 확인하지 않은 원소가 있다면 그곳에 7이 있을 가능성을 남겨 두어야 합니다. 순서대로 어떤 값들과 비교하는지 적고, 실패를 확정할 수 있는 시점이 언제인지 살펴보세요.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결과는 마이너스 1이고 비교는 다섯 번입니다. 7을 첫 값 8과 비교하면 다릅니다. 두 번째 3도 다르고, 세 번째 8, 네 번째 2, 다섯 번째 9도 모두 다릅니다. 이 시점에는 확인하지 않은 원소가 없으므로 실패로 끝낼 수 있습니다. 마이너스 1은 실패를 알리기 위해 정한 반환값이며, 배열 안의 어떤 인덱스를 뜻하지 않습니다. 마지막으로 확인한 인덱스는 4이지만 비교 횟수는 다섯 번입니다. 위치를 0부터 세는 것과 작업 횟수를 하나부터 세는 것을 혼동하지 마세요. 빈 배열이면 원소 비교를 한 번도 하지 않고 같은 실패값을 반환한다는 점까지 생각하면 함수의 반환 규칙을 더 분명히 이해할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이진 탐색에서 검사한 중간 인덱스들을 순서대로 적는 문제입니다. 값 17이 어느 위치인지 눈으로 알아내더라도, 코드가 어떤 위치부터 확인하는지 따라가야 합니다. 처음 후보는 인덱스 0부터 6까지이고 가운데는 두 끝의 합을 2로 나눈 정수 몫입니다. 매번 중간 인덱스와 그곳의 값을 따로 적으면 위치와 값을 혼동하지 않게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검사하는 중간 인덱스는 3, 그다음 5입니다. 처음 lo는 0, hi는 6이므로 중간은 3입니다. 인덱스 3의 값은 11이고 목표값 17보다 작습니다. 정렬되어 있으므로 인덱스 3과 그 왼쪽은 모두 제외하고 lo를 4로 옮깁니다. 이제 후보는 인덱스 4부터 6까지입니다. 두 끝을 더한 10을 2로 나누면 새 중간은 5이고, 그 값이 17이므로 찾았습니다. 따라서 탐색은 여기서 끝납니다. 11과 17은 검사한 원소의 값이고, 답으로 요구한 중간 인덱스는 3과 5입니다. lo를 3에 그대로 두지 않고 4로 옮긴 이유는 방금 확인한 인덱스 3도 정답이 아니라고 확정했기 때문입니다.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목표값 6은 배열에 없습니다. 그래도 코드는 처음부터 없다고 알 수 없으므로, 비교 결과에 따라 후보를 줄이다가 빈 구간이 되는 과정을 거칩니다. 검사한 mid들을 적은 다음 마지막 lo와 hi도 적어야 합니다. 양 끝을 포함하는 구간이므로 lo와 hi가 같을 때는 후보 하나가 남아 있어 한 번 더 검사한다는 점에 주의하세요.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검사 인덱스는 3, 1, 2이고 종료 시 lo는 2, hi는 1입니다. 처음 중간 인덱스 3의 값은 11입니다. 6보다 크므로 hi를 2로 내려 후보를 0부터 2까지로 만듭니다. 그다음 중간은 1이고 값은 5입니다. 6보다 작으므로 lo를 2로 올립니다. 이제 후보는 인덱스 2 하나입니다. 그 값 8이 6보다 크므로 hi를 중간 다음이 아닌 중간 이전, 즉 1로 내립니다. 그러면 lo가 2이고 hi가 1이어서 더 이상 남은 인덱스가 없습니다. 마지막 상태에서 중간값을 다시 읽는 것이 아니라 반복 조건이 거짓이 되어 실패로 끝납니다. 값이 없다는 사실은 한 번의 불일치가 아니라 후보를 모두 제외한 결과로 확정됩니다.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후보 인덱스가 0부터 9까지이면 양 끝을 포함하므로 원소는 열 개입니다. 중간 계산의 소수 부분을 버린다는 조건에 따라 두 가운데 후보 중 작은 인덱스를 택합니다. 목표가 그 중간값보다 크다면 중간값 자신도 제외해야 합니다. 새 구간을 적은 뒤에는 양 끝을 포함한 원소 수를 별도로 세어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후보는 인덱스 5부터 9까지이고 원소 수는 다섯 개입니다. 0과 9의 합은 9이고 이를 2로 나눈 몫은 4입니다. 따라서 처음 검사한 mid는 4입니다. 중간값이 목표보다 작다고 했으므로 인덱스 4와 그 왼쪽은 모두 탈락합니다. lo를 mid 더하기 1인 5로 바꾸고 hi는 9로 유지합니다. 남은 위치를 직접 쓰면 5, 6, 7, 8, 9의 다섯 개입니다. 닫힌 구간의 원소 수는 끝에서 시작을 뺀 뒤 1을 더하므로 9 빼기 5 더하기 1입니다. 단순히 9 빼기 5만 하면 양 끝을 포함한다는 조건을 놓쳐 네 개로 잘못 세게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원소 15개에서 시작하는 닫힌 구간 이진 탐색입니다. 한 반복에서는 중간 원소 하나를 확인하고, 찾지 못하면 나머지 한쪽만 남깁니다. 가운데 원소를 제외하므로 단순히 15를 반으로 나눈 7.5를 계속 적는 것이 아니라 실제 남는 원소 수를 세어야 합니다. 마지막 후보 한 개도 검사해야 하며, 여기서는 비교 연산자 개수가 아니라 반복 횟수를 묻습니다.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최악에는 네 번 반복합니다. 15개일 때 중간 원소를 한 번 검사하면 왼쪽과 오른쪽에 각각 7개씩 있습니다. 더 찾아야 하면 그중 한쪽 7개를 남깁니다. 두 번째 검사 뒤에는 세 개, 세 번째 검사 뒤에는 한 개가 남을 수 있습니다. 그 마지막 한 개를 네 번째 반복에서 검사합니다. 따라서 검사 직전 후보 수가 15, 7, 3, 1인 네 단계를 거칩니다. 마지막 하나도 목표가 아니라면 이후 후보는 0개가 되며 반복은 끝납니다. 이 안에서 같음 비교와 대소 비교를 각각 하는 코드도 있지만, 문제는 중간 원소를 확인하는 반복 한 차례를 한 번으로 셉니다. 비교 연산자 총횟수와 반복 횟수를 섞지 않는 것이 중요합니다.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보간 탐색 식에 나오는 기호를 실제 숫자와 연결해 보겠습니다. lo는 첫 위치 0이고 hi는 마지막 위치 4입니다. a의 lo번째 값은 첫 원소 10, a의 hi번째 값은 마지막 원소 50입니다. x는 찾고 싶은 값 40이고, pos는 계산해서 얻을 위치 번호입니다. 별표는 곱셈이고 빗금 두 개는 정수 나눗셈의 몫입니다. 먼저 식의 각 부분에 이 숫자들을 옮겨 적고, 괄호 안의 뺄셈부터 차례로 계산해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계산 결과 pos는 3입니다. 식의 x에서 a의 lo번째 값을 빼면 40 빼기 10이므로 30입니다. 인덱스의 차 hi 빼기 lo는 4 빼기 0이므로 4입니다. 둘을 곱한 분자는 120입니다. 분모는 끝값 50에서 첫 값 10을 뺀 40입니다. 따라서 120을 40으로 나눈 몫은 3이고, 여기에 시작 위치 lo인 0을 더해 최종 인덱스 3을 얻습니다. 위치 번호가 0부터 시작하므로 인덱스 3은 네 번째 원소입니다. 실제로 배열의 네 번째 값은 40이라 이번에는 바로 찾습니다. 비율로 보면 목표 40은 값 범위 10부터 50까지의 4분의 3 지점에 있고, 인덱스 0부터 4까지에서도 그 비율에 해당하는 자리를 예상한 것입니다. 숫자 40은 목표값이고 숫자 3은 그 목표가 있을 것으로 예상한 위치라는 차이를 기억하세요.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유클리드 알고리즘에서 새 쌍은 이전 b와, 이전 a를 b로 나눈 나머지입니다. 처음 쌍 84와 30에서 나머지를 구한 다음 두 자리를 동시에 갱신한다고 생각하세요. 문제는 갱신한 뒤의 쌍들을 순서대로 요구합니다. 나머지가 0이 된 마지막 쌍도 적고, 그다음에는 더 나누지 않고 종료합니다.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갱신한 쌍은 30과 24, 다음은 24와 6, 마지막은 6과 0입니다. 첫째, 84에는 30이 두 번 들어가고 24가 남으므로 84를 30으로 나눈 나머지는 24입니다. 따라서 새 쌍은 이전 b인 30과 나머지 24입니다. 둘째, 30을 24로 나누면 한 번 들어가고 6이 남아 새 쌍이 24와 6이 됩니다. 셋째, 24는 6으로 정확히 나누어지므로 나머지가 0이고 새 쌍은 6과 0입니다. 여기서 종료하면 최대공약수는 첫 번째 수 6입니다. 검산해 보면 84는 6 곱하기 14이고 30은 6 곱하기 5라 둘 다 나누어떨어집니다. 매 단계의 쌍에서 앞 수와 뒤 수가 맡는 역할을 그대로 유지하면 계산을 안정적으로 따라갈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 a인 35가 b인 64보다 작습니다. 유클리드 알고리즘을 시작하려고 반드시 두 수를 미리 정렬해야 하는지 생각해 보세요. 작은 수를 큰 수로 나누면 정수 몫은 0이고 나머지는 작은 수 그대로입니다. 이 첫 갱신을 정확히 적은 뒤, 평소처럼 나머지를 구하는 과정을 이어 가면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갱신은 64와 35이고 최종 최대공약수는 1입니다. 35를 64로 나누면 몫이 0이고 나머지가 35이므로 두 수의 자리가 바뀐 것처럼 시작합니다. 다음에는 64를 35로 나눠 나머지 29를 얻어 35와 29가 됩니다. 35를 29로 나누면 나머지 6이라 29와 6, 그다음 29를 6으로 나누면 나머지 5라 6과 5가 됩니다. 이후 6을 5로 나누면 1이 남아 5와 1이 되고, 마지막에 5를 1로 나누면 0이 되어 1과 0으로 끝납니다. 둘의 공통 양의 약수 중 가장 큰 수가 1이라는 뜻입니다. 처음에 앞 수가 작아도 나머지 규칙이 자연스럽게 순서를 정리해 주므로 별도의 교환 없이 같은 갱신을 적용할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종료 조건은 첫 번째 수가 0인지가 아니라 두 번째 수가 0인지입니다. 처음 쌍은 0과 18이므로 종료 조건을 만족하는지부터 확인해 보세요. 0을 18로 나눈 나머지는 계산할 수 있지만, 18을 0으로 나누는 것은 할 수 없습니다. 어느 방향의 나눗셈을 먼저 하는지 구별하면 횟수를 세기 쉽습니다.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나머지 연산은 한 번이고 반환값은 18입니다. 처음 b가 18이므로 아직 종료하지 않습니다. a인 0을 b인 18로 나누면 나머지는 0입니다. 따라서 갱신한 쌍은 18과 0이 됩니다. 이제 두 번째 수가 0이므로 반복을 멈추고 첫 번째 수 18을 반환합니다. 이 뒤에 18을 0으로 나누는 연산은 실행하지 않습니다. 0으로 나누는 오류를 막는 것도 종료 조건의 역할입니다. 처음에 0이 보인다는 이유만으로 바로 0을 반환하면, a가 0인 경우와 b가 0인 경우를 혼동한 것입니다. 18의 약수는 모두 0도 나누어떨어지게 하므로 두 수의 최대공약수가 18이라는 결과도 확인할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밑 2는 그대로이고 지수 n만 정수 나눗셈으로 절반씩 줄어듭니다. 13을 2로 나눈 실수값은 6.5이지만, 빗금 두 개를 사용한 정수 몫은 6입니다. 각 호출에서 같은 규칙을 반복해 0에 도달할 때까지 인수들을 적어 보세요. 반환하면서 값이 커지는 과정이 아니라, 호출이 안쪽으로 내려가는 순서를 묻습니다.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지수는 13, 6, 3, 1, 0의 순서입니다. 13을 2로 나눈 몫이 6, 6을 2로 나눈 몫이 3, 3을 2로 나눈 몫이 1, 1을 2로 나눈 몫이 0입니다. 0인 호출은 1을 반환하고 재귀를 더 하지 않습니다. 따라서 이 경로의 총 호출은 다섯 번입니다. 홀수에서 버린 나머지 1은 답을 만들 때 밑을 한 번 더 곱하는 처리와 연결되지만, 다음 호출의 인수는 그대로 내림한 절반입니다. 13에서 7로 올림하거나 3에서 2로 올림하면 이 코드의 호출 경로와 달라집니다. n이 0인 종료 호출도 경로에 포함한다는 문제 조건을 확인하면 마지막 0을 빠뜨리지 않을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문제에서 어떤 곱셈을 세는지 명시했습니다. 0이 아닌 호출에서는 작은 결과를 제곱하는 곱셈 한 번을 반드시 하고, 지수가 홀수이면 밑을 곱하는 작업 한 번을 더 합니다. 지수 13의 호출 경로를 적은 뒤, 각 지수가 짝수인지 홀수인지 표시해 보세요. 기저 사례 0에서는 곱셈이 없고, 지수 1도 특별 최적화 없이 주어진 규칙대로 센다는 점이 중요합니다.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곱셈은 일곱 번입니다. 0이 아닌 호출 지수는 13, 6, 3, 1의 네 개입니다. 각각 작은 결과를 한 번 제곱하므로 네 번입니다. 이 가운데 홀수는 13, 3, 1의 세 개이므로 밑을 한 번 더 곱하는 작업이 세 번 추가됩니다. 따라서 4 더하기 3으로 일곱 번입니다. 호출별로 세면 지수 13에서 두 번, 6에서 한 번, 3에서 두 번, 1에서 두 번입니다. 지수 1에서는 작은 호출이 반환한 1을 제곱하고 다시 밑을 곱하므로 여기서도 두 번을 셉니다. 실제 프로그램에서 지수 1을 바로 반환하도록 최적화하면 횟수가 달라질 수 있지만, 이 문제는 그런 별도 처리를 하지 않는 구현을 기준으로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최종 값과 곱셈 횟수를 함께 구합니다. 밑이 3이고 지수가 5이므로 최종 결과는 3을 다섯 번 곱한 수여야 합니다. 하지만 빠른 거듭제곱의 계산 순서는 그 다섯 번을 단순 반복하는 것과 다릅니다. 5에서 시작해 절반 지수 호출을 적고, 기저 사례가 돌려준 값부터 제곱과 추가 곱셈을 따라가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결과는 243이고 이 코드에서 곱셈은 다섯 번입니다. 지수의 호출 순서는 5, 2, 1, 0입니다. 0인 호출이 1을 반환합니다. 지수 1에서는 1을 제곱하는 곱셈 한 번과 밑 3을 곱하는 한 번을 해서 결과 3을 만듭니다. 지수 2에서는 이 3을 제곱해 9를 얻고, 짝수이므로 추가 곱셈은 없습니다. 지수 5에서는 9를 제곱해 81을 만든 뒤, 홀수이므로 3을 한 번 더 곱해 243을 얻습니다. 각 단계의 횟수는 두 번, 한 번, 두 번으로 합계 다섯 번입니다. 단순히 지수가 5라서 다섯 번이라고 결론 내리면 우연히 이 예의 숫자만 맞은 것입니다. 제곱 횟수와 홀수에서의 추가 횟수로 계산해야 다른 지수에서도 맞힐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배열 5, 2, 4, 1을 한 번에 다 정렬한 결과를 쓰는 문제가 아닙니다. 바깥 반복 i가 1일 때와 2일 때 각각의 직후 상태가 필요합니다. 인덱스 1의 값 2를 먼저 정렬된 앞부분에 끼우고, 그다음 인덱스 2에 있던 값 4를 끼웁니다. 아직 처리할 차례가 오지 않은 마지막 1은 그대로 남겨 두고 상태를 추적해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i가 1인 반복 직후에는 2, 5, 4, 1이고, i가 2인 반복 직후에는 2, 4, 5, 1입니다. 처음 key로 2를 따로 보관합니다. 앞에 있는 5가 2보다 크므로 5를 한 칸 오른쪽으로 옮기고 빈 첫 자리에 2를 씁니다. 그러면 앞의 두 개만 2, 5로 정렬됩니다. 다음에는 key가 4입니다. 앞 원소 5가 4보다 크므로 오른쪽으로 옮깁니다. 그 왼쪽 원소 2는 4보다 크지 않으므로 이동을 멈추고, 2 다음 자리에 보관한 4를 넣습니다. 따라서 2, 4, 5, 1이 됩니다. 마지막 1은 아직 처리하지 않았으므로 맨 뒤에 그대로 있습니다. 매 단계마다 정렬된 앞부분이 하나씩 늘어난다는 불변식을 실제 배열 상태에서 확인할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문제는 대입문을 모두 세지 않습니다. 이미 앞에 있던 원소를 오른쪽으로 한 칸 미는 대입만 셉니다. key를 임시 변수에 보관하는 대입이나 마지막에 key를 빈자리에 넣는 대입은 제외합니다. 4, 3, 2, 1에서 새 원소가 앞의 모든 값보다 작다는 점을 이용하여, 각 삽입에서 몇 개가 밀리는지 계산해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오른쪽으로 미는 대입은 여섯 번입니다. 먼저 3을 넣을 때 앞의 4를 한 칸 밀기 때문에 한 번입니다. 배열의 앞부분이 3, 4가 된 뒤 2를 넣으려면 4와 3을 각각 밀어 두 번입니다. 마지막 1을 넣을 때는 앞의 2, 3, 4를 모두 밀어 세 번입니다. 따라서 1 더하기 2 더하기 3이 되어 여섯 번입니다. 이 과정에서 key를 최종 자리에 쓰는 작업도 세 번 일어나지만 문제에서 제외하라고 했으므로 더하지 않습니다. 역순 입력의 이동 공식에 n이 4라고 넣어도 4 곱하기 3 나누기 2로 6이 됩니다. 먼저 실제 작업을 세고 공식으로 검산하면 어떤 연산을 포함했는지 분명해집니다.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아홉 동전 중 가짜가 하나이며 더 가볍다고 알고 있습니다. 첫 비교에서 1번부터 3번까지와 4번부터 6번까지의 무게가 같았습니다. 이미 한 비교는 끝난 상태이고, 문제는 앞으로 남은 최악 비교 횟수를 묻습니다. 저울에 아직 올리지 않은 동전 세 개를 생각한 다음, 그중 두 개만 비교해도 마지막 하나를 판별할 수 있는지 살펴보세요.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남은 후보는 7번, 8번, 9번이고 추가 비교는 최대 한 번이면 됩니다. 첫 비교가 균형이므로 저울에 올라간 1번부터 6번에는 가짜가 없습니다. 이제 7번과 8번을 하나씩 올립니다. 7번이 가벼우면 7번이 가짜이고, 8번이 가벼우면 8번이 가짜입니다. 둘의 무게가 같으면 둘 다 진짜이고, 정확히 하나 있는 가짜는 남겨 둔 9번입니다. 한 번의 저울 결과 세 가지가 세 후보를 각각 구별해 줍니다. 처음 했던 비교까지 포함하면 전체 두 번이지만, 이 문항의 답은 그 이후 남은 횟수이므로 한 번입니다. 현재까지의 비용과 앞으로 필요한 비용을 구별해 읽어야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매 단계에서 같은 개수의 세 그룹을 만들고 후보 한 그룹만 남깁니다. 처음 81개라는 상태에서 첫 비교 뒤의 개수, 두 번째 비교 뒤의 개수를 차례로 적어 보세요. 81을 3으로 한 번 나눈 결과와 두 번 나눈 결과를 구별해야 합니다. 아직 가짜를 완전히 찾는 데 필요한 전체 횟수를 묻는 것은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 비교한 뒤의 최대 후보 수는 아홉 개입니다. 첫 번째에는 81개를 27개씩 세 그룹으로 나눕니다. 두 그룹을 비교하고 결과에 따라 한 그룹만 남기므로 후보는 27개입니다. 두 번째에는 그 27개를 9개씩 나눠 비교하므로 아홉 개가 남습니다. 그래서 계산은 81 나누기 3 나누기 3으로 9입니다. 어느 쪽이 가볍거나 균형인지에 관계없이 세 그룹 크기가 같으므로 남는 후보 수가 같습니다. 이후에도 계속한다면 9개에서 3개, 3개에서 1개로 두 번 더 비교하면 되지만, 여기서는 두 번 직후의 상태가 답입니다. 비교 횟수 하나가 후보 개수를 세 배가 아니라 3분의 1로 만든다는 방향도 확인하세요.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피벗은 분류의 기준이 되는 값이고 여기서는 4입니다. 배열의 원소를 왼쪽부터 하나씩 읽어, 4보다 작은지 같은지 큰지에 따라 세 그룹에 넣습니다. 각 그룹 안에서는 원래 나타난 순서를 유지하라는 조건이 있습니다. 따라서 큰 값들을 모은 다음 따로 정렬하면 문제에서 요구한 분할 결과와 달라집니다. 원소가 중복되어도 각각 빠짐없이 넣어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작은 값 그룹은 2와 2, 같은 값 그룹은 4, 큰 값 그룹은 7, 5, 9입니다. 왼쪽 첫 값 7은 4보다 커서 큰 그룹으로 갑니다. 다음 2는 작은 그룹, 5는 큰 그룹, 두 번째 2는 작은 그룹으로 갑니다. 9도 큰 그룹에 붙이고, 마지막 4는 같은 그룹에 넣습니다. 큰 그룹의 원래 순서가 7 다음 5 다음 9였으므로 답도 그 순서입니다. 그룹을 나누는 파티션은 각 그룹의 내부를 정렬하는 작업과 다릅니다. 현재 알게 된 것은 작은 그룹의 모든 값이 피벗보다 작고 큰 그룹의 모든 값이 피벗보다 크다는 사실입니다. 이 정보만으로도 어느 쪽에 원하는 순위가 있는지 판단할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전체에서 다섯 번째로 작은 값을 찾습니다. 순위는 1부터 시작하고, 같은 값 두 개도 각각 한 자리씩 셉니다. 피벗 4보다 작은 값이 몇 개인지와 같은 값이 몇 개인지를 먼저 세어 보세요. 큰 값 그룹으로 이동한다면 원래 다섯 번째가 그 그룹 안에서는 몇 번째로 작은 값인지 다시 계산해야 합니다. 단순히 배열의 몇 번째 칸을 읽는 문제는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큰 그룹 안의 새 순위는 두 번째이고 최종 답은 7입니다. 피벗보다 작은 값은 2와 2 두 개이고 같은 값은 4 하나입니다. 따라서 전체의 첫째, 둘째 순위는 두 개의 2가 차지하고, 셋째는 4입니다. 전체 다섯째를 찾으려면 이 세 자리를 제외한 큰 그룹에서 둘째로 작은 값을 찾으면 됩니다. 큰 그룹은 원래 순서로 7, 5, 9입니다. 여기서 배열의 두 번째 원소는 5이지만, 두 번째로 작은 값은 7입니다. 크기 순서로 생각하면 5, 7, 9이기 때문입니다. 전체를 검산용으로 정렬해도 2, 2, 4, 5, 7, 9가 되어 다섯 번째가 7입니다. 인덱스 순서와 값의 크기 순위를 구별하는 것이 핵심입니다.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중복된 4가 세 번 등장합니다. k번째 작은 값을 구할 때 같은 숫자를 하나로 합치지 않고 각각 별개의 원소로 셉니다. L은 4보다 작은 원소 개수이고 E는 4와 같은 원소 개수입니다. 이 두 수를 구한 다음 같은 값들이 전체의 어느 순위를 차지하는지 생각해 보세요. 목표인 네 번째가 그 구간 안에 들어가는지를 확인하면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L은 2이고 E는 3이며 답은 4입니다. 배열에서 4보다 작은 값은 1과 2 두 개입니다. 값 4는 세 개이므로 그 앞의 작은 두 원소 다음, 즉 셋째부터 다섯째 순위까지 차지합니다. 찾는 순위 4는 이 구간 안에 있습니다. 따라서 피벗 4가 바로 답이고 큰 값 7 쪽으로 더 탐색할 필요가 없습니다. 확인을 위해 크기 순서로 나열하면 1, 2, 4, 4, 4, 7이고 네 번째는 4입니다. 세 갈래 파티션의 장점은 같은 값 세 개가 차지하는 순위를 한꺼번에 확정할 수 있다는 데 있습니다. 피벗 하나만 세고 나머지 같은 값들을 빼먹으면 순위 계산이 틀어집니다.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문항은 세타 n 같은 차수를 쓰는 문제가 아니라 T의 8이라는 정확한 숫자를 구하는 문제입니다. 크기를 절반으로 바꿀 때마다 현재 크기만큼 비용을 더하고, 마지막 T의 1은 정확히 1이라고 주어졌습니다. T의 8을 T의 4로, T의 4를 T의 2로 하나씩 바꾸어 적어 보세요. 기저 사례의 비용도 합에 넣어야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정확한 값은 15입니다. T의 8은 T의 4 더하기 8입니다. T의 4는 T의 2 더하기 4이고, T의 2는 T의 1 더하기 2입니다. 마지막 T의 1은 문제에서 1이라고 주었습니다. 따라서 안쪽에서부터 계산하면 T의 2는 3, T의 4는 7, T의 8은 15가 됩니다. 한꺼번에 쓰면 8 더하기 4 더하기 2 더하기 1입니다. 기저 사례를 빠뜨리면 14가 되어 정확한 값이 틀립니다. 이 비용이 일반적인 n에 대해 선형이라는 분석은 맞지만, 세타 n만 적으면 이번에 요구한 숫자 답을 대신하지 못합니다. 점근적 차수는 큰 입력에서 늘어나는 정도이고, 정확한 계산은 정해진 입력에서 상수 비용까지 포함한 합이라는 차이입니다.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별무늬의 재귀 호출 깊이와 출력 문자 수를 각각 구합니다. 깊이는 동시에 이어지는 호출의 단계 수이고, 크기 1인 기저 사례도 포함합니다. 출력은 가로 27칸이 세로 27줄 있는 화면의 모든 위치를 세며 공백도 포함합니다. 줄바꿈 문자는 제외한다는 조건을 확인하세요. 호출이 몇 번 내려가는지와 실제로 몇 칸을 써야 하는지는 따로 계산해야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호출 깊이는 네 단계이고 출력 문자는 729개입니다. 크기 27의 무늬는 크기 9를 부르고, 9는 3을, 3은 1을 부릅니다. 그래서 동시에 이어진 크기는 27, 9, 3, 1의 네 개입니다. 3으로 나누는 변화는 세 번이지만 시작 호출도 깊이에 포함하므로 네 단계입니다. 한편 출력은 한 줄에 27개 위치가 있고 그런 줄이 27개이므로 27 곱하기 27, 즉 729개입니다. 별을 쓰든 공백을 쓰든 한 자리 출력이라는 점은 같습니다. 작은 무늬를 계산해서 여러 곳에 복사해 쓰더라도 최종 729개 위치를 만드는 작업은 남습니다. 깊이가 작다는 이유로 전체 출력 시간까지 네 번의 작업이라고 생각하면 서로 다른 비용을 섞은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반례는 주장에 맞지 않는 예 하나를 제시하는 것입니다. 반으로 줄이는 알고리즘이 항상 로그 시간이라는 주장을 검토하므로, 반으로 줄어들기는 하지만 각 단계에서 많은 일을 하는 예를 만들면 됩니다. 크기 8을 처리할 때 원소 8개를 훑고 다음에는 크기 4를 처리한다고 생각해 보세요. 문제 크기의 감소와 그 단계의 비용을 함께 표현하는 점화식이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T의 n이 T의 n 나누기 2 더하기 n인 점화식이 반례가 됩니다. 말로 읽으면 절반 크기의 문제 하나를 풀고, 이번 단계에서 현재 원소 n개를 한 번씩 처리한다는 뜻입니다. n이 8이면 비용은 8, 4, 2, 1을 더한 15입니다. 일반적으로 이 합은 2n보다 작고, 첫 단계에서 이미 n만큼 일이 있으므로 전체는 세타 n입니다. 입력을 두 배로 늘리면 총비용도 대략 두 배가 되어 로그보다 훨씬 빨리 늘어납니다. 호출 단계 자체는 절반씩 줄어들어서 로그 개수인 것이 맞습니다. 하지만 로그 개의 단계가 있다는 사실만으로 각 단계가 한 단위의 일이라고 가정할 수 없습니다. 반례 설명에서는 반으로 줄어드는 조건을 유지하면서 왜 총비용이 로그가 아닌지도 이렇게 함께 보여 주어야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닫힌 구간 이진 탐색은 lo가 hi 이하인 동안 반복합니다. 잘못된 갱신은 중간값이 목표보다 작을 때 lo를 mid 그대로 두는 것입니다. 최소 길이를 요구하므로 가장 작은 배열부터 시도해 보세요. 찾는 값이 배열 안에 꼭 있어야 한다는 조건은 없습니다. 한 번 실행한 뒤 lo와 hi가 이전과 똑같아지는 입력을 찾으면 다음에도 같은 상태가 반복됨을 설명할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최소 반례는 원소 하나인 배열 1에서 목표값 2를 찾는 경우입니다. 처음 lo와 hi는 둘 다 0이고 mid도 0입니다. 그 위치의 값 1이 목표 2보다 작으므로 잘못된 코드가 lo를 mid인 0으로 바꿉니다. 그런데 lo는 원래도 0이었고 hi도 그대로 0이라 아무것도 달라지지 않았습니다. 다음 반복에서도 같은 mid와 같은 비교가 나오므로 끝없이 반복합니다. 길이 0인 배열은 처음 hi가 마이너스 1이어서 반복 자체를 시작하지 않습니다. 따라서 무한 반복하는 가장 작은 길이는 1입니다. 올바르게 lo를 mid 더하기 1인 1로 옮기면 hi인 0을 넘어 즉시 실패로 끝납니다. 길이 2의 반례도 만들 수 있지만, 이 문제는 최소 길이를 물었으므로 하나짜리 반례까지 찾아야 정확합니다.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배열 4, 1, 3은 정렬되어 있지 않습니다. 그런데 정렬되었다고 가정하는 보통 이진 탐색을 그대로 실행하면 어떤 후보를 버리는지 따라가 보세요. 첫 중간 인덱스는 1이고 그 값은 1입니다. 목표 4와 비교한 뒤 버리는 구간에 실제 목표가 포함되는지를 확인하면, 단순히 정렬이 필요하다고 말하는 것보다 구체적으로 오류를 설명할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비교에서 정답이 있는 왼쪽을 잘못 버리기 때문에 실패합니다. lo가 0이고 hi가 2이면 mid는 1이고 값은 1입니다. 코드가 1보다 목표 4가 크다고 lo를 2로 옮기면 인덱스 0과 1을 제외합니다. 하지만 찾던 4는 바로 인덱스 0에 있었습니다. 남은 인덱스 2의 값 3도 4보다 작으므로 다시 오른쪽으로 이동해 빈 구간이 되고 실패를 반환합니다. 이진 탐색의 제외 논리는 중간값 왼쪽의 값들이 중간값 이하라는 정렬 성질에 의존합니다. 이 배열에서는 왼쪽에 더 큰 값 4가 있으므로 그 추론이 성립하지 않습니다. 중간값을 정확히 계산했다는 사실만으로 탐색 전체가 정확해지는 것은 아닙니다. 후보를 버리는 근거가 입력에서도 참이어야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원소가 5라면 현재 구간의 양 끝도 모두 5입니다. 보간 탐색의 위치 공식에는 두 끝값의 차이로 나누는 부분이 있습니다. 먼저 어떤 계산 문제가 생기는지 말하고, 목표가 5인 경우와 5가 아닌 경우를 각각 어떻게 끝낼지 설명해 보세요. 예외를 피하는 것뿐 아니라 반환 결과가 왜 맞는지도 함께 연결해야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양 끝값이 같으면 위치 공식을 계산하기 전에 목표값과 비교해 종료합니다. 양 끝이 모두 5이므로 분모인 5 빼기 5는 0이고, 그대로 나누면 오류입니다. 하지만 배열이 정렬되어 있고 양 끝이 같으므로 그 사이도 모두 같은 값이라는 사실을 알 수 있습니다. 목표가 5이면 이 구간의 어느 인덱스를 반환해도 일치하는 원소입니다. 목표가 4나 6이라면 구간의 모든 값이 5이므로 실패가 맞습니다. 분모를 억지로 1로 바꾸거나 같은 공식을 반복할 필요가 없습니다. 구현 순서에서는 후보 구간이 비었는지도 먼저 확인해 실제로 존재하는 양 끝을 읽도록 해야 합니다. 존재 여부가 아니라 첫 등장 위치를 요구하는 변형이라면 반환 인덱스에 대한 추가 조건도 따로 적용해야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배열은 고정되어 있고 검색 요청만 여러 번 온다는 조건입니다. n은 원소 수, m은 요청 수라고 놓겠습니다. 순차 탐색을 m번 하는 방법과, 정렬을 한 번 한 뒤 이진 탐색을 m번 하는 방법의 최악 총비용을 비교해 보세요. 검색 한 번의 속도만 비교하면 정렬이라는 초기 비용을 빠뜨릴 수 있으므로, 준비와 반복 비용을 모두 포함해야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최악 기준으로 순차 탐색을 m번 하면 n개를 확인하는 일을 m번 하므로 세타 mn입니다. 정렬 후 이진 탐색은 세타 n 로그 n의 정렬 비용 한 번과 세타 m 로그 n의 검색 비용을 더합니다. 감을 잡기 위해 n을 1024, m을 1000으로 놓으면, 순차 방식의 비교량은 대략 백만에 비례합니다. 반면 로그 1024를 10으로 생각하면 정렬 항은 약 만, 검색 항도 약 만의 규모입니다. 이 숫자는 상수와 구현을 생략한 증가량 비교이지 실제 실행 시간 측정값은 아닙니다. 검색이 한두 번뿐이라면 정렬 비용이 더 부담스러울 수 있고, 배열이 계속 바뀌면 정렬을 유지하는 비용도 생깁니다. 같은 배열을 많이 재사용할 때 초기 준비 비용을 여러 검색에 나누어 부담할 수 있다는 것이 이 전략의 이유입니다.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나머지 기호는 앞 수를 뒤 수로 나누고 남은 수를 뜻합니다. 처음 18과 12에서 시작해, 새 첫 수에는 이전 12를 넣고 새 두 번째 수에는 나머지를 넣습니다. 두 번째 수가 0이 된 순간 멈추며 그때 첫 번째 수가 답입니다. 각 나눗셈에서 몫과 나머지를 실제 숫자로 확인하면서 쌍을 차례로 적어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쌍은 처음 18과 12에서 12와 6, 그다음 6과 0으로 바뀌고 최대공약수는 6입니다. 18은 12 한 번과 남은 6이므로 첫 나머지는 6입니다. 다음에는 12를 6으로 나누는데 정확히 두 번 들어가므로 나머지가 0입니다. 이제 종료 조건을 만족합니다. 6은 18을 세 번, 12를 두 번으로 나누어떨어지게 하므로 공약수임을 직접 확인할 수 있습니다. 더 큰 공약수를 놓치지 않는 이유는 갱신 전후의 공약수 집합이 같기 때문입니다. 18과 12를 함께 나누는 수는 둘의 차이 6도 나누며, 반대로 12와 6을 함께 나누는 수는 합인 18도 나눕니다. 그래서 마지막 첫 번째 수 6을 원래 두 수의 답으로 그대로 사용할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거듭제곱의 작은 결과를 두 번 곱하려는 목적은 같습니다. 문제는 그 작은 결과를 얻는 함수를 두 번 실행하면 어떤 일이 추가로 일어나는지입니다. 지수가 8이면 절반인 지수 4의 답을 두 번 따로 계산하고, 각각의 계산 안에서도 지수 2를 또 두 번 계산한다고 생각해 보세요. 변수에 결과를 보관했을 때와 호출 구조를 비교해서 설명하면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작은 거듭제곱을 처음부터 중복 계산하기 때문에 호출 수가 크게 늘어납니다. 지수 8에서 절반 계산을 두 번 부르면 지수 4 호출이 두 개 생기고, 그 아래에는 지수 2 호출이 네 개 생깁니다. 이렇게 가지가 늘어나 전체 호출 수가 입력 지수에 비례하는 선형 차수가 됩니다. 반면 half라는 변수에 절반 결과를 한 번만 저장하면 호출은 8, 4, 2, 1, 0처럼 한 경로로 이어집니다. 돌아온 숫자를 half 곱하기 half로 사용하는 데 새 재귀 호출은 필요 없습니다. 단계마다 일정한 곱셈만 하면 되므로 로그 시간입니다. 정수 연산을 일정한 비용으로 보는 조건에서의 비교이며, 단순히 수식에 같은 이름이 두 번 나온다는 이유로 함수를 두 번 실행할 필요는 없습니다.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C의 두 대입문은 적힌 순서대로 실행됩니다. 처음 a가 2이고 b가 3이라는 상태를 적고, 첫 문장을 실행한 직후의 상태부터 다시 적어 보세요. 다음 문장은 처음 값이 아니라 그 직후 상태를 읽습니다. 원하는 결과는 이전 b인 3과 이전 두 값의 합인 5입니다. 어떤 값이 먼저 사라지는지 찾아 임시 변수에 무엇을 저장해야 할지 설명합니다.</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실제 결과는 a가 3, b가 6입니다. 첫 문장 a에 b를 대입하면 a가 2에서 3으로 바뀌고 b는 그대로 3입니다. 두 번째 문장이 읽는 a와 b는 이제 둘 다 3이므로 합이 6입니다. 원래 a였던 2가 이미 덮어써져 사라진 것이 원인입니다. 고치려면 어떤 변수도 바꾸기 전에 임시 변수 t에 a 더하기 b를 저장합니다. 이때 t는 5입니다. 그다음 a에 b를 넣어 a를 3으로 바꾸고, 마지막에 b에 t를 넣어 5로 만듭니다. 결과가 의도한 3과 5가 됩니다. 파이썬의 동시 대입처럼 오른쪽 값을 먼저 모두 평가해 놓는 동작을 C에서는 임시 변수로 명시한 것입니다. 갱신 전 값이 다시 필요한지 확인하는 습관은 두 변수를 교환할 때도 같은 방식으로 쓰입니다.</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삽입 정렬 코드를 실행해도 입력 순서에 따라 안쪽 반복의 길이가 달라집니다. 작은 예로 1, 2, 3, 4와 4, 3, 2, 1을 비교해 보세요. 바깥 반복은 둘 다 두 번째 원소부터 마지막까지 진행합니다. 차이는 새 key를 넣으려고 앞의 원소를 몇 개 밀어야 하는지입니다. 이동이 없는 경우에도 기본 비교 비용은 남는다는 점까지 포함해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이미 정렬된 입력에서는 오른쪽으로 미는 이동이 0회입니다. 새 key 바로 앞의 값이 key보다 크지 않으므로 매 단계가 짧게 끝납니다. 그래도 원소마다 확인하므로 전체는 세타 n입니다. 반대로 서로 다른 값이 역순으로 들어 있으면 새 key가 앞부분의 최솟값이 되어 앞 원소를 모두 밀어야 합니다. 네 개의 예에서는 이동이 1회, 2회, 3회로 늘어나 여섯 번입니다. 일반적으로 1부터 n 마이너스 1까지 더해 n 곱하기 n 마이너스 1 나누기 2가 되고, 제곱 시간입니다. 바깥 반복 횟수만 보면 두 경우가 비슷하지만 안쪽의 실제 이동량이 다릅니다. 따라서 최선과 최악 시간의 차이는 입력 순서가 만드는 내부 반복 길이의 차이로 설명할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동전 전략은 가짜가 더 가볍다고 알고 있어서, 저울이 기울면 가벼운 쪽에 가짜가 있다고 판단했습니다. 그 조건을 없애고 가짜가 더 무거울 수도 있다고 해 보겠습니다. 왼쪽이 올라가고 오른쪽이 내려간 동일한 결과를 만들 수 있는 경우가 하나뿐인지 생각해 보세요. 무게 차이의 방향까지 후보 정보로 관리해야 하는 이유를 설명하는 문제입니다.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저울 결과에 두 가지 원인이 가능해지기 때문입니다. 왼쪽이 가볍게 나왔다면 왼쪽에 가벼운 가짜가 있는 경우일 수 있습니다. 하지만 왼쪽은 모두 진짜이고 오른쪽에 무거운 가짜가 있어서 상대적으로 왼쪽이 가벼워 보인 경우도 가능합니다. 가짜가 더 가볍다는 정보를 모르면 이 둘을 첫 비교만으로 구별할 수 없습니다. 따라서 가벼운 쪽만 남기고 무거운 쪽을 버리는 기존 규칙은 정답 후보를 잘못 제거할 수 있습니다. 후보를 어떤 동전인지만으로 표현하지 않고, 그 동전이 가벼운 가짜일 가능성인지 무거운 가짜일 가능성인지까지 구별하는 전략이 필요합니다. 문제를 풀 수 없다는 뜻은 아닙니다. 기존의 단순한 한 그룹 선택 논리를 그대로 적용할 수 없다는 뜻입니다.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27개 중 가벼운 가짜 하나를 찾는 과정을 말로 설명해 보겠습니다. 후보를 세 그룹으로 나눈 뒤 두 그룹만 비교하고, 결과에 따라 다음 후보 한 그룹을 정합니다. 후보 개수만 나열하는 데서 그치지 말고, 저울이 기운 경우와 균형인 경우에 어느 그룹을 남기는지도 함께 생각하세요. 마지막 한 개에는 추가 비교가 필요한지 확인하며 횟수를 셉니다.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후보는 27개에서 9개, 3개, 1개로 줄고 비교는 총 세 번입니다. 먼저 27개를 9개씩 나눠 두 그룹을 비교합니다. 한쪽이 가벼우면 그쪽 9개를 남기고, 같으면 올리지 않은 9개를 남깁니다. 그다음 남은 9개를 3개씩 나눠 같은 논리로 3개를 남깁니다. 마지막에는 한 개씩 세 그룹이 되므로 두 동전을 비교해 가벼운 쪽을 고르거나, 같다면 남겨 둔 한 동전을 고릅니다. 처음 상태까지 후보 수 네 개를 적지만 실제 비교는 상태 사이의 세 번입니다. 한 개가 남았을 때는 정확히 하나의 가짜가 있다는 조건 때문에 이미 답을 확정할 수 있습니다. 비교 횟수와 나열된 후보 상태의 개수를 혼동하지 않는 것이 중요합니다.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배열로 동전 찾기를 구현할 때 매번 왼쪽 절반의 합을 직접 구한다고 했습니다. 원소가 8개라면 첫 합산에 몇 개를 읽는지, 후보가 4개로 줄면 다음 합산에 몇 개를 읽는지 세어 보세요. 한 번의 합 계산을 크기와 무관한 한 단위로 놓으면 실제 원소 읽기 비용을 빠뜨립니다. 단계마다 다르게 드는 비용을 합으로 적는 문제입니다.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직접 합산하는 원소 수는 n의 절반, n의 4분의 1, n의 8분의 1처럼 줄어듭니다. n이 8이면 네 개를 더하고, 다음에 두 개, 마지막에 한 개를 더해 총 일곱 개를 읽습니다. n이 2의 거듭제곱이면 마지막 1까지의 합은 n 마이너스 1입니다. 따라서 합산을 포함한 전체 시간은 세타 n입니다. 후보를 절반으로 줄이는 결정 자체는 세 번이고 일반적으로 로그 단계인 것이 맞습니다. 그러나 첫 결정부터 절반 원소를 읽어야 하므로 전체 작업은 원소 수에 비례합니다. 만약 양쪽 합을 모두 구하는 변형이면 첫 비용이 n부터 시작하지만 역시 같은 선형 차수입니다. 이 문항처럼 왼쪽 절반만 합산한다면 정확한 비용 합은 n 나누기 2부터 시작해야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큰 값 그룹으로 옮길 때 원래 순위에서 피벗보다 작은 원소만 빼면 되는지 검토합니다. 같은 값이 여러 개인 예를 만들면 빠뜨린 원소 수가 잘 드러납니다. 전체 다섯 번째를 찾는데 앞에 1 하나와 2 세 개가 있고 큰 값은 5 하나뿐이라고 생각해 보세요. 그 마지막 그룹 안에서 가능한 순위가 무엇인지부터 확인하면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배열을 1, 2, 2, 2, 5로 두고 피벗을 2, 찾는 순위를 5로 잡겠습니다. 피벗보다 작은 값은 1 하나이므로 L은 1이고, 피벗과 같은 2는 세 개이므로 E는 3입니다. 전체 다섯 번째인 값 5는 큰 그룹에 홀로 남습니다. 이 그룹에서는 첫 번째 값을 찾아야 합니다. k에서 L만 빼면 5 빼기 1로 4가 되어 원소 하나인 그룹에서 네 번째를 찾으라는 잘못된 요청이 됩니다. L과 E를 모두 빼면 5 빼기 1 빼기 3으로 1이 되어 맞습니다. 같은 값이라고 순위에서 합쳐지지 않고 각각 자리를 차지하기 때문에, 큰 그룹 앞에서 제외한 작은 값과 같은 값의 수를 전부 빼야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기대 시간이라는 표현은 여러 무작위 피벗 선택의 비용을 확률에 따라 평균낸다는 뜻입니다. 특정 실행 하나가 반드시 그 시간 안에 끝난다는 보장과는 다릅니다. 서로 다른 원소에서 피벗을 계속 최솟값으로 고르고 큰 순위를 찾는 상황을 생각해 보세요. 그 선택이 드물다는 사실과 아예 불가능하다는 사실을 구별하여 설명해야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무작위 피벗을 고르더라도 불리한 선택이 계속 나오는 실행은 가능합니다. 예를 들어 가장 큰 값을 찾는데 매번 현재 구간의 최솟값이 피벗으로 뽑히면, 피벗 하나만 제거하고 나머지를 계속 조사합니다. 구간 크기는 n, n 마이너스 1, n 마이너스 2처럼 줄고 각 파티션에서 원소들을 다시 훑으므로 비용 합은 제곱 차수가 됩니다. 이런 경로의 확률이 작더라도 최악 경우에서는 고려해야 합니다. 기대 선형 시간이라는 분석은 좋은 선택과 나쁜 선택을 각각 발생 확률로 가중해 평균냈을 때 선형이라는 뜻입니다. 따라서 기대 시간과 최악 보장을 별도로 적어야 합니다. 무작위 선택을 하지 않는 고정 피벗 구현에 대해서도 같은 기대 성능을 무조건 주장해서는 안 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 크기가 하나씩 줄어든다는 사실만으로 전체 시간이 선형이라고 결론 내릴 수 있는지 묻습니다. 삽입 정렬은 이미 정렬한 앞부분에 원소 하나를 더 넣는 방식입니다. 그런데 그 하나를 넣으려고 앞의 원소 여러 개를 옮겨야 할 수 있습니다. 단계 수와 한 단계에서 한 일을 따로 생각하고, 역순 네 원소의 이동 횟수로 구체적인 설명을 시작해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원소 하나를 추가하는 각 단계에서 드는 비용이 일정하지 않기 때문입니다. 4, 3, 2, 1의 역순 입력에서는 두 번째 원소를 넣을 때 한 개, 세 번째를 넣을 때 두 개, 네 번째를 넣을 때 세 개를 밀어야 합니다. n개에서는 이 이동량이 1부터 n 마이너스 1까지 누적되어 최악 세타 n 제곱이 됩니다. 반면 이미 정렬된 입력에서는 이동 없이 앞 값과의 비교만 하고 끝나므로 각 삽입이 상수 시간이고 전체는 선형입니다. 그렇다고 정렬된 입력만 선형이라는 뜻은 아닙니다. 1, 0, 2, 3, 4처럼 처음 두 값만 뒤집힌 입력도 첫 삽입에서 한 번 이동하고 나머지는 이동하지 않아 전체가 선형입니다. 정확한 결론은 남은 문제의 크기 변화와 별도로, 매 단계의 실제 비용을 더해야 한다는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입력을 계속 절반으로 줄이면 언젠가 작아지지만, 0에 도달한 뒤에도 같은 재귀 호출문을 실행하면 어떻게 될까요? 0을 2로 나눈 정수 몫도 0이라는 점을 생각해 보세요. 멈출 조건을 코드 어디에서 확인해야 하는지와, 가장 작은 문제의 답을 어떻게 제공할지를 함께 설명하는 문항입니다.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더 줄일 수 없는 입력에서는 재귀하지 않고 답을 바로 반환하는 기저 사례가 필요합니다. 예를 들어 n을 절반으로 넘기면 4, 2, 1, 0으로 내려가지만, 0에서도 호출을 계속하면 그 뒤 인수는 0, 0, 0으로 그대로입니다. 같은 함수가 끝없이 쌓여 결국 호출 스택 한도에 도달할 수 있습니다. 따라서 n이 0인지 같은 종료 조건을 새 호출 전에 확인하고, 해당하면 작은 문제의 알려진 답을 돌려줘야 합니다. 팩토리얼에서는 0의 답 1을 주고, 거듭제곱에서는 지수 0의 답 1을 주는 식입니다. 입력 감소는 종료 조건까지 다가가는 역할이고 기저 사례는 실제로 멈추고 반환을 시작하는 역할입니다. 둘 중 하나만 있어서는 모든 입력에서 올바른 종료를 설명하기 어렵습니다.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N이 3의 k제곱이라는 말은 3으로 k번 나누면 1이 된다는 뜻입니다. 크기 1도 호출 깊이에 포함하는지 확인하면서 재귀 경로의 길이를 먼저 계산합니다. 그다음 가로 N, 세로 N인 최종 화면의 출력 위치 수를 계산해 보세요. 작은 무늬의 결과를 재사용하더라도 결과를 실제 문자들로 펼쳐 출력해야 한다는 조건은 남습니다.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호출 깊이는 k 더하기 1입니다. 예를 들어 N이 27이면 k는 3이고, 크기는 27, 9, 3, 1의 네 단계로 이어집니다. 그래서 깊이는 N의 로그에 비례합니다. 하지만 출력 위치는 한 줄 N개씩 N줄이므로 N 제곱 개입니다. 공백도 문자로 출력하면 각 위치를 한 번 이상 처리해야 해서 출력 시간만 최소 N 제곱에 비례합니다. 여기서 최소한 이만큼 필요하다는 표현이 시간 하한이며, 수식에서는 오메가 N 제곱으로 적습니다. 출력 작업 자체를 한 문자당 일정한 비용으로 센다면 그 작업은 세타 N 제곱입니다. 전체 알고리즘에는 문자열 생성이나 복사 비용이 추가될 수도 있으므로, 재귀 깊이만 보고 전체 시간을 로그라고 결론 내려서는 안 됩니다. 깊이, 결과의 크기, 결과를 만드는 비용을 각각 구분해야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직접 함수를 작성하는 문제입니다. first_index는 배열 안에서 목표값 x가 처음 나오는 위치를 반환합니다. 위치는 0부터 시작하고, 같은 값이 여러 개면 가장 왼쪽 위치를 선택합니다. 정렬된 배열이라는 조건은 없으며 배열을 바꿀 필요도 없습니다. 원소가 하나도 없는 경우도 입력으로 들어올 수 있습니다. 찾았을 때 어디서 반환할지, 끝까지 못 찾았을 때 어느 값을 반환할지 먼저 말로 정한 뒤 반복문으로 옮겨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앞에서부터 하나씩 비교하고 첫 일치에서 바로 인덱스를 반환하면 됩니다. 예를 들어 8, 3, 8에서 8을 찾으면 첫 인덱스 0에서 일치하므로 즉시 0을 반환합니다. 뒤의 두 번째 8은 확인할 필요가 없습니다. 처음부터 오른쪽으로 진행했기 때문에 반환한 위치보다 앞에는 일치가 없다는 것이 보장됩니다. 같은 배열에서 7을 찾으면 세 값을 모두 확인한 후 실패값 마이너스 1을 반환합니다. 빈 배열에서는 원소를 읽지 않고 곧바로 같은 실패 처리를 합니다. 마지막 원소까지 확인하는 가장 오래 걸리는 경우에는 원소 수 n만큼 비교하므로 최악 선형 시간입니다. 인덱스와 현재 값처럼 일정한 수의 변수만 사용하고 별도의 배열을 만들지 않으므로 추가 공간은 상수입니다. 실패 반환을 반복문 안에 넣으면 첫 원소가 다르다는 이유만으로 끝나므로, 반드시 반복문이 모두 끝난 뒤에 두어야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파이썬 구현을 위에서부터 보겠습니다. def로 함수를 정의하고 배열 a와 목표값 x를 받습니다. enumerate는 배열을 앞에서부터 읽으면서 위치와 값을 함께 꺼내 줍니다. 위치가 i에, 해당 원소가 value에 들어갑니다. 예를 들어 배열이 8, 3, 8이면 첫 반복에서 i는 0이고 value는 8입니다. if에서 현재 값이 목표와 같은지 검사합니다. 같으면 return i가 위치를 돌려주면서 함수 전체를 즉시 끝냅니다. 뒤의 반복은 실행되지 않습니다. 목표가 3이면 첫 반복에서는 조건이 거짓이어서 다음 원소로 가고, 두 번째에서 i가 1, value가 3이므로 1을 반환합니다. 마지막 return 마이너스 1의 들여쓰기를 보세요. for보다 안쪽이 아니라 for와 같은 높이에 있으므로 모든 원소를 확인한 다음에만 실행됩니다. 찾는 값이 없거나 빈 배열이면 이 줄에 도달합니다. 반환하는 것이 원소의 값이 아니라 위치라는 점 때문에 return value로 바꾸면 요구와 달라집니다. 입력 배열은 읽기만 하고 수정하지 않습니다. 최악에는 n개를 모두 비교하고, 첫 원소에서 찾으면 한 번만 비교합니다. 반복문의 길이를 입력 크기와 연결해서 설명해야 시간 복잡도까지 답한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C에서는 배열 a와 함께 길이 n, 목표값 x를 받습니다. const는 이 함수가 배열 원소를 바꾸지 않고 읽는다는 의도를 나타냅니다. for의 i는 0에서 시작해서 n보다 작은 동안 하나씩 증가합니다. 따라서 유효한 인덱스 0부터 n 마이너스 1까지만 읽습니다. 현재 원소 a의 i번째가 x와 같으면 그 자리에서 i를 반환합니다. 배열이 8, 3, 8이고 목표가 3이면 i가 0일 때는 다르고, i가 1일 때 일치하므로 반환값 1이 나옵니다. 여기서는 for와 if의 몸체가 각각 한 문장이어서 중괄호를 생략한 형태입니다. 마지막 return 마이너스 1은 for의 몸체 밖에 있습니다. 첫 불일치에서 실패하지 않고 모든 후보를 확인한 뒤에만 실패한다는 점이 중요합니다. n이 0이면 시작부터 i가 n보다 작다는 조건이 거짓이라 a의 0번째를 읽지 않고 마이너스 1을 반환합니다. 일치하는 값이 맨 뒤에 있거나 아예 없으면 n번 비교하므로 최악 시간은 선형입니다. 원본 배열은 그대로이고 별도 배열을 만들지 않아 추가 공간은 상수입니다.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배열은 서로 다른 정수가 오름차순으로 정렬되어 있습니다. 이 조건을 이용해 중간값과 비교한 뒤 한쪽 후보들을 제외하는 함수를 작성합니다. 반환값은 목표의 0 기반 인덱스이고 없으면 마이너스 1입니다. 양 끝을 포함하는 구간을 사용한다면 반복 조건과 두 방향의 갱신을 그 정의에 맞춰야 합니다. 빈 배열일 때 끝 인덱스가 어떻게 되는지도 함께 확인해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양 끝 lo와 hi를 후보 구간으로 유지하고 중간값을 비교합니다. 배열 2, 5, 8, 11, 14, 17, 20에서 17을 찾으면 처음 가운데 인덱스 3의 값은 11입니다. 목표보다 작으므로 그 위치까지 모두 제외하고 lo를 4로 옮깁니다. 다음 가운데는 5이고 값이 17이어서 5를 반환합니다. 중간값이 목표보다 크면 반대로 hi를 mid 마이너스 1로 옮깁니다. 목표가 없으면 lo가 hi를 넘어 후보가 비고, 그때 마이너스 1을 반환합니다. 매번 이미 검사한 mid도 제외하기 때문에 한 원소만 남은 경우에도 진행이 멈추지 않습니다. 후보가 대략 절반씩 줄어 최악 반복 수는 로그에 비례하고, 배열 복사 없이 인덱스 몇 개로 처리해 추가 공간은 상수입니다. 정렬되지 않은 입력에는 이 제외 논리가 성립하지 않으므로 정렬 조건도 함수의 전제입니다.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파이썬 코드는 lo를 0, hi를 배열 길이에서 1을 뺀 값으로 시작합니다. 이 두 인덱스도 후보에 포함하므로 while 조건은 lo가 hi 이하일 때입니다. mid는 lo에서 hi와 lo의 차이의 절반만큼 이동한 위치입니다. 빗금 두 개는 정수 몫이므로 인덱스가 정수로 나옵니다. 첫 if는 목표와 같은지를 검사하고 같으면 바로 mid를 반환합니다. 다음 if는 중간값이 목표보다 작은지를 봅니다. 작으면 정렬 순서상 중간과 그 왼쪽은 모두 작으므로 lo를 mid 더하기 1로 옮깁니다. 그렇지 않으면 이미 같음은 앞에서 처리했으므로 중간값이 더 큰 경우이고, hi를 mid 마이너스 1로 바꿉니다. 예를 들어 2, 5, 8에서 6을 찾으면 처음 mid 1의 값 5가 작아 lo가 2가 됩니다. 다음 mid 2의 값 8은 커서 hi가 1이 됩니다. lo 2가 hi 1을 넘으므로 반복을 끝내고 마이너스 1입니다. 빈 배열이면 처음부터 hi가 마이너스 1이어서 원소를 읽지 않습니다. 이 함수는 배열을 자르거나 복사하지 않으므로 범위를 좁히는 비용이 일정하고, 최악 로그 시간과 상수 추가 공간으로 동작합니다.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구현도 양 끝을 포함하는 인덱스 범위를 사용합니다. lo는 0, hi는 n 마이너스 1입니다. mid 계산에서 lo와 hi를 직접 더하지 않고 차이를 먼저 구한 것은 두 큰 인덱스의 합이 정수 범위를 넘는 상황을 피하는 일반적인 방식입니다. 이 문제의 길이는 작지만 안전한 습관을 보여 줍니다. 중간값이 같으면 return mid로 끝냅니다. 작으면 lo를 mid 더하기 1로, 크면 hi를 mid 마이너스 1로 바꿉니다. 배열 2, 5, 8, 11, 14, 17, 20에서 17을 찾을 때 lo와 hi는 처음 0과 6이고, 중간 3의 값 11을 보고 4와 6으로 바뀝니다. 다음 중간 5에서 성공합니다. lo와 hi가 같아도 후보 하나가 남아 있으므로 반복을 실행한다는 점이 중요합니다. 그 마지막 값도 아니라면 갱신 뒤 범위가 비어 반복문 밖의 실패 반환에 도달합니다. const 배열이므로 정렬된 입력을 변경하지 않고, n이 0인 경우에도 잘못된 원소를 읽지 않습니다. 비교 뒤 범위를 줄일 때 mid 자체를 제외하는 더하기 1과 빼기 1이 종료를 보장합니다.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gcd_value는 음수가 아닌 두 정수의 최대공약수를 반복문으로 구합니다. 입력은 0도 포함하고, 둘 다 0인 경우의 반환값은 이 문제에서 0으로 정했습니다. 두 번째 수가 0일 때 나머지 연산을 실행하지 않도록 반복 조건을 정해 보세요. 갱신은 이전 b와 이전 a를 b로 나눈 나머지를 새 쌍으로 만드는 것입니다. 특히 C에서는 이전 a를 먼저 덮어쓰지 않도록 주의합니다.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수 b가 0이 아닌 동안 두 수를 b와 나머지로 바꿉니다. 84와 30이면 30과 24, 24와 6, 6과 0으로 바뀌어 답이 6입니다. 이 갱신은 두 수의 공약수를 유지하면서 두 번째 수를 줄입니다. 양수 b로 나눈 나머지는 b보다 작으므로 결국 0에 도달합니다. 처음 b가 0이면 바로 a를 반환합니다. 처음 a만 0이면 한 번 갱신하여 b와 0이 되어 원래 b를 반환합니다. 둘 다 0이면 반복하지 않고 약속대로 0입니다. 매번 a가 반드시 줄어든다고 설명하면 앞 수가 더 작았던 입력에서 맞지 않으므로, 감소하는 두 번째 수로 종료를 설명해야 합니다. 문제 범위에서 나머지 한 번을 일정한 비용으로 보면 실행 시간은 수의 크기에 대해 로그 수준이고, 두 수와 임시 변수만 필요해 추가 공간은 상수입니다.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파이썬 함수는 b가 0이 아닌 동안만 반복합니다. a 나누기 b의 나머지를 구하는 연산이 반복 안에 있으므로 b가 0일 때는 그 연산에 들어가지 않습니다. 다음 줄의 a, b 동시 대입은 오른쪽 두 값을 먼저 계산한 뒤 왼쪽에 넣습니다. 예를 들어 a가 84, b가 30이면 오른쪽의 b는 30이고 a를 b로 나눈 나머지는 24입니다. 그래서 새 쌍은 30과 24입니다. 다음에는 24와 6, 이어서 6과 0이 됩니다. b가 0이 되어 반복이 끝나면 a인 6을 반환합니다. 처음 입력이 35와 64처럼 앞 수가 작아도 첫 나머지가 35라 64와 35로 바뀌고 정상적으로 이어집니다. 처음이 0과 18이면 한 번만 실행해 18과 0이 되고 18을 반환합니다. 처음이 0과 0이면 반복을 건너뛰어 0입니다. 중간 결과를 담는 별도 배열이나 재귀 호출이 없으므로 필요한 추가 저장 공간은 일정합니다. 이 코드의 시간 설명은 입력 범위 안에서 기본 정수 연산을 일정한 비용으로 보는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C에서는 파이썬처럼 두 대입을 자동으로 동시에 처리하지 않으므로 임시 변수 r이 필요합니다. while에서 b가 0이 아닌지 먼저 검사하고, r에 이전 a를 이전 b로 나눈 나머지를 저장합니다. 그다음 a에 b를 넣고 b에 r을 넣습니다. 84와 30이라면 r을 먼저 24로 구해 둔 다음 a를 30으로 바꾸고 b를 24로 바꿉니다. a를 먼저 b로 바꾼 뒤 나머지를 구하면 이전 a인 84가 사라져 30을 30으로 나누는 잘못된 계산이 됩니다. 이 임시 변수는 갱신 순서 때문에 필요한 것입니다. 다음 반복에서 r은 6, 마지막 반복에서는 0이 되어 종료하고 a인 6을 반환합니다. a나 b가 0인 입력도 반복 조건으로 처리되며 두 수 모두 0인 경우에는 문제의 정의대로 0이 반환됩니다. 입력이 음수가 아니라는 조건 덕분에 나머지도 0 이상이고 b보다 작다는 종료 설명을 그대로 사용할 수 있습니다. 배열이나 호출 스택을 만들지 않고 정수 변수만 사용합니다.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삽입 정렬 함수는 새 배열을 반환하는 대신 입력 배열 자체를 오름차순으로 바꿉니다. 제자리라는 말은 큰 별도 배열 없이 원래 저장 공간에서 처리한다는 뜻입니다. 같은 값이 있으면 먼저 나온 원소의 상대 순서를 유지해야 합니다. 지금 넣을 key를 먼저 보관하고 앞의 큰 원소를 한 칸씩 민다는 과정을 생각해 보세요. 빈 배열과 원소 한 개인 배열에서는 이동할 일이 없어야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앞부분은 이미 정렬되어 있다고 유지하고 그 다음 원소를 key로 꺼냅니다. key보다 큰 앞 원소만 오른쪽으로 밀다가, 적절한 빈자리에 key를 넣습니다. 예를 들어 5, 2, 4, 1에서 먼저 2를 보관하고 5를 밀어 2, 5를 만듭니다. 다음 4를 보관하고 5만 밀면 앞부분이 2, 4, 5가 됩니다. 마지막 1은 앞의 세 값을 모두 밀고 첫자리에 들어갑니다. 같은 값은 크다는 조건을 만족하지 않으므로 앞의 같은 원소를 넘지 않아 안정성이 유지됩니다. 정렬된 입력은 단계마다 이동 없이 끝나 선형이고, 역순은 이동 수가 1, 2, 3처럼 누적되어 최악 제곱 시간입니다. 별도의 큰 저장 공간 없이 key와 인덱스만 사용하므로 추가 공간은 상수입니다. 원래 배열을 바꾸는 함수라는 요구도 설명에 포함해야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파이썬의 바깥 for는 인덱스 1부터 시작합니다. 첫 원소 하나는 이미 정렬되었다고 볼 수 있어서 인덱스 0을 삽입할 필요가 없습니다. key에 현재 값을 보관하고 j는 바로 앞 인덱스로 둡니다. key를 따로 보관하는 이유는 앞 원소를 오른쪽으로 옮길 때 원래 key의 자리가 덮어써지기 때문입니다. while의 첫 조건 j가 0 이상인지부터 확인해 배열 앞을 벗어나지 않게 합니다. 파이썬은 음수 인덱스도 유효한 다른 원소를 가리킬 수 있으므로 이 경계 검사가 특히 중요합니다. 앞 값이 key보다 크면 a의 j 더하기 1번째에 그 앞 값을 복사하고 j를 하나 줄입니다. 예를 들어 앞부분이 2, 5이고 key가 4이면 j가 1일 때 5를 오른쪽으로 옮깁니다. j가 0으로 줄면 값 2는 4보다 크지 않아 멈춥니다. 그때 빈자리는 j 다음인 인덱스 1이므로 마지막 줄이 그곳에 4를 씁니다. j가 마이너스 1까지 가면 j 더하기 1은 0이라 맨 앞에 삽입됩니다. 같은 값에는 이동하지 않으므로 안정적입니다. 이 함수는 return으로 새 목록을 주지 않고 전달받은 목록 자체를 바꿉니다.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함수의 반환형 void는 별도의 정렬 결과값을 반환하지 않는다는 뜻입니다. 대신 입력 배열 a의 내용이 바뀝니다. i는 1부터 n 마이너스 1까지 움직이고, 매번 key에 현재 원소를 저장하며 j를 i 바로 앞으로 둡니다. while 조건에서 j가 0 이상인지 먼저 확인합니다. C의 논리 AND는 앞 조건이 거짓이면 뒤의 배열 접근을 평가하지 않으므로, j가 음수가 되었을 때 배열 앞을 읽는 것을 막습니다. 값이 key보다 크면 그 값을 오른쪽으로 복사하고 j를 하나 내립니다. 역순 4, 3, 2, 1에서는 첫 삽입에서 한 개, 다음에 두 개, 마지막에 세 개를 옮깁니다. 이동 도중 key가 있던 자리가 덮이더라도 key 변수에 원래 값이 남아 있어서 마지막 빈자리에 안전하게 쓸 수 있습니다. 조건이 크거나 같음이 아니라 크다는 점은 같은 값의 순서를 지키기 위해서입니다. n이 0이나 1이면 바깥 반복을 시작하지 않고 그대로 끝납니다. 값 몇 개를 저장하는 변수만 추가하므로 공간은 상수이고, 실제 이동 횟수에 따라 최선 선형과 최악 제곱 시간이 나뉩니다.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퀵 셀렉트는 배열을 전부 정렬하지 않고 k번째로 작은 값 하나를 구합니다. k는 1부터 시작하지만 배열 인덱스는 0부터 시작하므로 둘 사이를 바꿔야 합니다. 중복 원소도 각각 순위 한 자리를 차지하며, 입력 배열을 바꾸어도 된다고 했습니다. 피벗의 자리를 확정한 다음 목표 순위가 왼쪽인지 오른쪽인지 판단해 한쪽만 계속 처리하는 구조를 작성해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 인덱스는 처음에 k 마이너스 1로 정하고 끝까지 그대로 둡니다. 이 구현은 현재 구간의 마지막 값을 피벗으로 골라, 피벗 이하인 원소를 앞에 모은 뒤 피벗을 그 경계 자리에 놓습니다. 그 위치 p가 목표와 같으면 답을 반환하고, p가 작으면 오른쪽, p가 크면 왼쪽만 남깁니다. 3, 1, 2에서 두 번째로 작은 값을 찾으면 목표 인덱스는 1입니다. 피벗 2를 기준으로 1을 앞으로 모은 뒤 피벗을 놓으면 1, 2, 3이 되고 p가 1이라 답은 2입니다. 이 코드는 원래 배열에서 절대 인덱스를 유지하므로 오른쪽으로 이동할 때 목표에서 개수를 다시 빼지 않습니다. 마지막 원소를 고정 피벗으로 써서 역순이나 같은 값이 많은 입력에서 나쁜 분할을 반복할 수 있고, 최악은 제곱 시간입니다. 무작위 피벗의 기대 선형 보장과는 구별해야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왼쪽 위부터 읽고 왼쪽 코드가 끝나면 오른쪽 위로 이어집니다. 처음 lo와 hi는 전체 배열의 양 끝이고 target은 k에서 1을 뺀 목표 인덱스입니다. while 안에서 pivot은 오른쪽 끝값, p는 피벗 이하인 값을 다음에 넣을 자리입니다. for는 피벗 자신을 제외한 lo부터 hi 직전까지를 j로 검사합니다. 현재 값이 피벗 이하이면 a의 p번째와 j번째를 바꾸고 p를 하나 늘립니다. 이렇게 하면 p보다 앞에 피벗 이하 값들이 모이고, 아직 피벗은 끝에 남아 있습니다. 작은 예로 3, 1, 2에서 k가 2라고 해 보겠습니다. pivot은 2, p는 0입니다. j가 0인 값 3은 크므로 지나갑니다. j가 1인 값 1은 작으므로 p 위치의 3과 바꿔 배열이 1, 3, 2가 되고 p가 1이 됩니다. for가 끝나면 오른쪽 코드 첫 줄에서 p 위치와 끝의 피벗을 바꿔 1, 2, 3을 만듭니다. p가 target인 1과 같으므로 2를 반환합니다. 목표가 더 오른쪽이면 lo만 p 더하기 1로 바꾸고, 더 왼쪽이면 hi만 p 마이너스 1로 바꿉니다. target은 원래 배열의 위치 기준이라 바꾸지 않습니다. 같은 값도 이하 조건에 포함되므로 중복을 각각 세는 답은 맞지만, 같은 값이 많으면 한 번에 하나씩만 줄어 성능이 나빠질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코드도 왼쪽에서 오른쪽으로 이어 읽습니다. lo와 hi는 현재 후보의 양 끝, target은 처음 정한 k 마이너스 1입니다. 매 반복에서 끝 원소를 pivot에 보관하고 p를 lo로 둡니다. j는 피벗 앞까지 순회하며 피벗 이하인 원소를 만나면 앞쪽 경계 p 자리로 옮깁니다. 이 교환에서 t에 a의 p번째 값을 먼저 저장하고, a의 p번째에 a의 j번째를 넣고, a의 j번째에는 t를 넣습니다. 코드의 p 뒤에 붙은 증가 연산은 현재 p 위치를 사용한 뒤 p를 하나 올린다는 뜻입니다. 예를 들어 3, 1, 2에서 피벗 2를 골랐을 때 1을 만나는 순간 3과 1을 바꾸고 p가 1로 올라갑니다. for가 끝나면 오른쪽에 이어지는 교환으로 끝의 피벗 2를 p 위치에 놓습니다. p가 target과 같으면 그 값을 반환합니다. 작으면 오른쪽 구간, 크면 왼쪽 구간만 남기며 이미 확정한 피벗 자리도 제외합니다. 배열 인덱스를 유지하므로 target을 다시 빼거나 조정하지 않습니다. 마지막 return 0은 유효한 k라는 입력 조건 아래에서는 도달하지 않는 방어적인 반환문이며, 실패값 0을 찾는 알고리즘이라는 뜻은 아닙니다. 이 고정 피벗 구현은 최악 제곱 시간이고 제자리 교환과 반복문으로 처리하므로 추가 공간은 상수입니다.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피보나치 함수는 0번째가 0, 첫 번째가 1이라는 정의를 사용합니다. n은 0부터 90까지이고 재귀 대신 반복문으로 작성합니다. 앞의 두 항을 보관하면 다음 한 항을 구할 수 있으므로 모든 값을 배열에 저장할 필요는 없습니다. C에서는 큰 결과를 담을 long long을 사용하고, 필요한 n번째 항까지만 계산하도록 반복의 시작과 끝을 정해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n이 0이나 1이면 입력값 자체를 반환하고, 그 외에는 두 이전 항을 0과 1로 시작해 2번째부터 n번째까지 계산합니다. 예를 들어 n이 5이면 새로 계산하는 항은 1, 2, 3, 5의 순서이고 마지막 값 5를 반환합니다. 각 단계에서 이전 두 항의 합을 구한 다음 두 변수의 역할을 한 칸 이동합니다. C에서는 이전 값을 덮어쓰기 전에 합을 임시 변수에 보관해야 합니다. n이 90일 때의 정확한 값은 2880067194370816120입니다. 이 값은 근삿값으로 반올림해서 적으면 안 되며 정수 그대로 다뤄야 합니다. 반복은 n번째 항을 계산한 뒤 끝나므로 그 다음 항을 불필요하게 계산하지 않습니다. 기본 덧셈을 일정한 비용으로 보면 시간은 n에 비례하고, 두 이전 값과 임시 값만 사용해 추가 공간은 일정합니다.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파이썬 코드의 첫 if는 n이 2보다 작은지 검사합니다. 입력이 0이면 0, 1이면 1을 그대로 반환하므로 작은 두 경우를 먼저 끝냅니다. 나머지에서는 a를 0, b를 1로 두고, i를 2부터 n까지 움직입니다. range의 끝은 포함하지 않기 때문에 n번째까지 실행하려고 끝에 n 더하기 1을 씁니다. 반복 시작 시 a와 b에는 현재 만들 항 바로 전의 두 항이 들어 있습니다. 오른쪽의 b와 a 더하기 b를 이전 값으로 먼저 계산한 뒤 각각 새 a와 b에 넣습니다. n이 5라면 처음 0과 1에서 i가 2일 때 1과 1, i가 3일 때 1과 2, i가 4일 때 2와 3, i가 5일 때 3과 5가 됩니다. 마지막 b가 F의 5인 5이므로 b를 반환합니다. a를 반환하면 한 항 전의 값을 주게 됩니다. 파이썬 정수는 이런 큰 값을 정확히 저장하므로 F의 90도 정확하게 계산합니다. 다만 결과를 파일로 옮기거나 다른 언어의 실수형 숫자로 바꾸는 과정에서 큰 정수를 반올림하지 않도록 주의해야 합니다. 이 코드 자체는 정수 덧셈만 사용합니다. n번째 계산 뒤 반복이 끝나므로 다음 항은 만들지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C에서는 결과가 커지므로 반환형과 두 이전 항의 변수 모두 long long입니다. 먼저 n이 0 또는 1인 경우를 바로 반환합니다. i가 2부터 n 이하인 동안 반복하며 next에 a 더하기 b를 먼저 저장합니다. 그 후 a를 이전 b로 바꾸고 b를 next로 바꿉니다. 예를 들어 a가 2, b가 3인 단계라면 next가 5가 되고 새 상태는 3과 5입니다. next 없이 a를 먼저 3으로 바꾼 뒤 합을 구하면 3 더하기 3이 되어 잘못됩니다. n이 5일 때의 두 값은 0과 1에서 시작해 1과 1, 1과 2, 2와 3, 3과 5로 진행하므로 최종 b인 5를 반환합니다. long long은 이 문제의 최대 항인 F의 90을 저장할 수 있습니다. 정확한 결과는 2880067194370816120이며 끝의 숫자까지 그대로 유지해야 합니다. 반복 조건 i가 n 이하이므로 필요한 F의 n을 만든 즉시 끝내고 더 다음 항을 계산하지 않습니다. 한 번마다 새로운 항 하나를 계산하므로 입력 n에 비례하는 시간이고, 전체 수열 배열이 아니라 일정한 수의 변수만 사용합니다.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구현 문제에서는 동전 무게를 숫자 배열로 단순화했습니다. 정확히 하나만 0이고 나머지는 모두 1입니다. 길이는 2의 거듭제곱이므로 후보를 계속 같은 크기의 절반으로 나눌 수 있습니다. 왼쪽 절반이 모두 진짜라면 합이 원소 개수와 같고, 그 안에 0이 있으면 합이 하나 부족합니다. 이 차이로 어느 절반을 남길지 정하고, 원소 하나가 남았을 때 어떤 위치를 반환할지 생각해 보세요.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후보를 lo 이상 hi 미만의 구간으로 두고 왼쪽 절반의 합을 구합니다. 합이 그 절반의 원소 개수보다 작으면 그 안에 0이 있으므로 왼쪽만 남깁니다. 합이 같으면 왼쪽은 전부 1이라 오른쪽에 0이 있습니다. 예를 들어 1, 1, 0, 1에서는 처음 왼쪽 두 원소의 합이 2라 오른쪽의 인덱스 2와 3만 남깁니다. 다음 왼쪽 한 원소는 0이라 인덱스 2만 남고 답은 2입니다. 구간을 줄이는 횟수는 로그이지만 합을 직접 구하는 원소 수는 n의 절반, 4분의 1, 그다음 절반씩 누적됩니다. 합이 n 마이너스 1이므로 전체 시간은 선형입니다. 별도의 배열 복사 없이 인덱스로 범위를 표현하면 추가 공간은 상수이고, 길이 1인 입력은 처음부터 유일한 위치 0을 반환합니다.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파이썬 코드에서 lo는 포함하는 왼쪽 끝, hi는 포함하지 않는 오른쪽 끝입니다. 그래서 후보 원소 수는 hi 빼기 lo이고, 그 수가 1보다 클 때만 반복합니다. mid는 두 끝의 가운데로 왼쪽 절반은 lo부터 mid 직전까지입니다. sum 안의 식은 이 범위의 무게를 하나씩 가져와 합합니다. 새 리스트를 통째로 만드는 대신 생성식으로 차례로 읽지만, 원소를 읽어 더하는 작업 자체는 여전히 필요합니다. 왼쪽 원소 수는 mid 빼기 lo입니다. total이 이보다 작으면 왼쪽에 0이 있으므로 hi를 mid로 내려 왼쪽 구간을 남깁니다. 같으면 lo를 mid로 올려 오른쪽을 남깁니다. 예를 들어 1, 1, 0, 1에서 처음 lo와 hi는 0과 4이고 mid는 2입니다. 합 2가 왼쪽 개수 2와 같으므로 lo가 2가 됩니다. 다음 mid는 3이고 인덱스 2 한 원소의 합이 0이라 hi가 3이 됩니다. 이제 hi 빼기 lo가 1이라 끝나며 lo인 2를 반환합니다. 여기서는 오른쪽 구간이 mid부터 시작하므로 lo를 mid 더하기 1로 옮기면 원소를 잘못 건너뜁니다. 구간 정의에 따라 이진 탐색과 갱신 규칙이 다르다는 점도 확인하세요.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코드도 오른쪽 끝을 포함하지 않는 구간을 사용합니다. 처음은 lo가 0, hi가 n입니다. 후보가 두 개 이상일 때 mid를 구하고 total을 0으로 초기화합니다. 안쪽 for는 lo부터 mid 직전까지의 무게만 더하므로 배열 범위 안의 왼쪽 절반을 정확히 읽습니다. 합이 mid 빼기 lo보다 작으면 hi를 mid로 바꾸고, 같으면 lo를 mid로 바꿉니다. 입력에는 0이 정확히 하나이고 나머지는 1뿐이므로 합이 같을 때 왼쪽에 0이 숨어 있을 가능성은 없습니다. 1, 1, 0, 1의 예에서는 합 2를 보고 구간을 2 이상 4 미만으로 바꾸고, 다음 합 0을 보고 2 이상 3 미만으로 바꿉니다. 남은 인덱스 2가 답입니다. n이 1이면 안쪽 합산을 한 번도 하지 않고 0을 반환합니다. 전체가 두 반복문으로 보인다고 무조건 제곱 시간인 것은 아닙니다. 안쪽에서 더하는 원소 수가 매번 절반으로 줄어 n 나누기 2 더하기 n 나누기 4처럼 누적되어 선형입니다. 후보 축소 횟수만 로그이고, 직접 합산까지 포함한 시간은 선형이라는 구별이 이 문제의 중요한 결론입니다.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f4cbca5f42843ca"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13e464330f34396"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fe1f536a1604bb5" Type="http://schemas.openxmlformats.org/officeDocument/2006/relationships/slideLayout" Target="../slideLayouts/slideLayout1.xml"/><Relationship Id="R1f6423b16b8242d4" Type="http://schemas.openxmlformats.org/officeDocument/2006/relationships/slideLayout" Target="../slideLayouts/slideLayout2.xml"/><Relationship Id="Rfee9ee9bdc98414e" Type="http://schemas.openxmlformats.org/officeDocument/2006/relationships/theme" Target="theme/theme2.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e1f536a1604bb5"/>
    <p:sldLayoutId xmlns:r="http://schemas.openxmlformats.org/officeDocument/2006/relationships" id="2147483650" r:id="R1f6423b16b8242d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c879d160bb6e4c29" Type="http://schemas.openxmlformats.org/officeDocument/2006/relationships/notesSlide" Target="../notesSlides/notesSlide1.xml"/><Relationship Id="Red2922c0ed4c491e"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609e7a2efa2f4af5" Type="http://schemas.openxmlformats.org/officeDocument/2006/relationships/slideLayout" Target="../slideLayouts/slideLayout1.xml"/><Relationship Id="R64ad454431d6413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3f3ec09261e14116" Type="http://schemas.openxmlformats.org/officeDocument/2006/relationships/slideLayout" Target="../slideLayouts/slideLayout1.xml"/><Relationship Id="R853cf1def5584a7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c5ab4d1cb28a494b" Type="http://schemas.openxmlformats.org/officeDocument/2006/relationships/notesSlide" Target="../notesSlides/notesSlide4.xml"/><Relationship Id="Rff7143c497d9473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564e2efb3a4249a9" Type="http://schemas.openxmlformats.org/officeDocument/2006/relationships/slideLayout" Target="../slideLayouts/slideLayout1.xml"/><Relationship Id="R72ac030573c541cd"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30a7babdafd54269" Type="http://schemas.openxmlformats.org/officeDocument/2006/relationships/slideLayout" Target="../slideLayouts/slideLayout1.xml"/><Relationship Id="Ra704166946d54a4c"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a13a1f75649406f" Type="http://schemas.openxmlformats.org/officeDocument/2006/relationships/notesSlide" Target="../notesSlides/notesSlide7.xml"/><Relationship Id="R75a435eeba274e17"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8f2d3757f5014967" Type="http://schemas.openxmlformats.org/officeDocument/2006/relationships/slideLayout" Target="../slideLayouts/slideLayout1.xml"/><Relationship Id="Rbacddb0e8008419b"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40a32bc143394faa" Type="http://schemas.openxmlformats.org/officeDocument/2006/relationships/slideLayout" Target="../slideLayouts/slideLayout1.xml"/><Relationship Id="R7df9448b6b9449a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b03ee66b90ee4036" Type="http://schemas.openxmlformats.org/officeDocument/2006/relationships/notesSlide" Target="../notesSlides/notesSlide10.xml"/><Relationship Id="Rf258d9257f8444bd"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43d7eccb116a499e" Type="http://schemas.openxmlformats.org/officeDocument/2006/relationships/slideLayout" Target="../slideLayouts/slideLayout1.xml"/><Relationship Id="Re5091d4ca2dc4b7a"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07d7d2f5b17d4b75" Type="http://schemas.openxmlformats.org/officeDocument/2006/relationships/slideLayout" Target="../slideLayouts/slideLayout1.xml"/><Relationship Id="R37881b7dbce4447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0638f3c787e4c57" Type="http://schemas.openxmlformats.org/officeDocument/2006/relationships/slideLayout" Target="../slideLayouts/slideLayout1.xml"/><Relationship Id="Re901ec10872b4cc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f66840d07fc4461" Type="http://schemas.openxmlformats.org/officeDocument/2006/relationships/slideLayout" Target="../slideLayouts/slideLayout1.xml"/><Relationship Id="Re898b068de60400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10f7c23d2a754b8d" Type="http://schemas.openxmlformats.org/officeDocument/2006/relationships/slideLayout" Target="../slideLayouts/slideLayout1.xml"/><Relationship Id="R52bd25160ac34ab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94de9bb0d9d5418e" Type="http://schemas.openxmlformats.org/officeDocument/2006/relationships/slideLayout" Target="../slideLayouts/slideLayout1.xml"/><Relationship Id="Rc142f3c168364b5e"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3b4718fbff7e4739" Type="http://schemas.openxmlformats.org/officeDocument/2006/relationships/slideLayout" Target="../slideLayouts/slideLayout1.xml"/><Relationship Id="Rd311bf64f1b84b7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1799d8b24d8944d3" Type="http://schemas.openxmlformats.org/officeDocument/2006/relationships/slideLayout" Target="../slideLayouts/slideLayout1.xml"/><Relationship Id="R596491d250554a4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9cac293963534426" Type="http://schemas.openxmlformats.org/officeDocument/2006/relationships/slideLayout" Target="../slideLayouts/slideLayout1.xml"/><Relationship Id="Ra65fb78b85d34a3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198744c54b74229" Type="http://schemas.openxmlformats.org/officeDocument/2006/relationships/notesSlide" Target="../notesSlides/notesSlide20.xml"/><Relationship Id="R17b22c79cd584c09"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11133757f98a4bdd" Type="http://schemas.openxmlformats.org/officeDocument/2006/relationships/notesSlide" Target="../notesSlides/notesSlide21.xml"/><Relationship Id="R3d579283f7a24f0f"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5f70f77733744d33" Type="http://schemas.openxmlformats.org/officeDocument/2006/relationships/notesSlide" Target="../notesSlides/notesSlide22.xml"/><Relationship Id="Re9b9952971204f3d"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1cb2ac2abb5e4b6b" Type="http://schemas.openxmlformats.org/officeDocument/2006/relationships/slideLayout" Target="../slideLayouts/slideLayout1.xml"/><Relationship Id="Rbfb28e993fa34af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860c0360af8a4f01" Type="http://schemas.openxmlformats.org/officeDocument/2006/relationships/notesSlide" Target="../notesSlides/notesSlide24.xml"/><Relationship Id="Ra5a603d969e64eb2"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1d487c3523a24626" Type="http://schemas.openxmlformats.org/officeDocument/2006/relationships/slideLayout" Target="../slideLayouts/slideLayout1.xml"/><Relationship Id="R4fe3c3605c1a4a7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b8f90e9dd8d44cd5" Type="http://schemas.openxmlformats.org/officeDocument/2006/relationships/slideLayout" Target="../slideLayouts/slideLayout1.xml"/><Relationship Id="Rd778e314b66345c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95f3cd48e9a247ed" Type="http://schemas.openxmlformats.org/officeDocument/2006/relationships/notesSlide" Target="../notesSlides/notesSlide31.xml"/><Relationship Id="Re10b2b78922a44df"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7e5f412006cd49de" Type="http://schemas.openxmlformats.org/officeDocument/2006/relationships/slideLayout" Target="../slideLayouts/slideLayout1.xml"/><Relationship Id="Ra258a12659f74d8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5839e822fd63490a" Type="http://schemas.openxmlformats.org/officeDocument/2006/relationships/notesSlide" Target="../notesSlides/notesSlide33.xml"/><Relationship Id="Rac718dfb0023496d"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4c5ff1aedc0f44e3" Type="http://schemas.openxmlformats.org/officeDocument/2006/relationships/slideLayout" Target="../slideLayouts/slideLayout1.xml"/><Relationship Id="Rd4d629444ea3446e"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3b3ab2e771044a4e" Type="http://schemas.openxmlformats.org/officeDocument/2006/relationships/slideLayout" Target="../slideLayouts/slideLayout1.xml"/><Relationship Id="Rcf81dae7dfcb4b4f"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5a3056d433ce4667" Type="http://schemas.openxmlformats.org/officeDocument/2006/relationships/slideLayout" Target="../slideLayouts/slideLayout1.xml"/><Relationship Id="Rc935b9fddd4547cf"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9cd52cd8442b4d2d" Type="http://schemas.openxmlformats.org/officeDocument/2006/relationships/slideLayout" Target="../slideLayouts/slideLayout1.xml"/><Relationship Id="Rc53d5bfc8b104fdf"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75f5f445c40c40ca" Type="http://schemas.openxmlformats.org/officeDocument/2006/relationships/notesSlide" Target="../notesSlides/notesSlide38.xml"/><Relationship Id="Ra729314d01ab440a"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4e90eea38e9b4ad8" Type="http://schemas.openxmlformats.org/officeDocument/2006/relationships/slideLayout" Target="../slideLayouts/slideLayout1.xml"/><Relationship Id="Ra18db851667248ec"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39c5d8780838464d" Type="http://schemas.openxmlformats.org/officeDocument/2006/relationships/slideLayout" Target="../slideLayouts/slideLayout1.xml"/><Relationship Id="R979bbf9ba2104d6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b2f477bb145f4c46" Type="http://schemas.openxmlformats.org/officeDocument/2006/relationships/notesSlide" Target="../notesSlides/notesSlide41.xml"/><Relationship Id="Rc4ae6cd84bcd4087"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103dbd2e8de948b0" Type="http://schemas.openxmlformats.org/officeDocument/2006/relationships/slideLayout" Target="../slideLayouts/slideLayout1.xml"/><Relationship Id="R6964d2c9fa8e4e1d"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62260d84b9c744d6" Type="http://schemas.openxmlformats.org/officeDocument/2006/relationships/slideLayout" Target="../slideLayouts/slideLayout1.xml"/><Relationship Id="Re2d21e9cb3bb49a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7a2e4d1029d248a9" Type="http://schemas.openxmlformats.org/officeDocument/2006/relationships/slideLayout" Target="../slideLayouts/slideLayout1.xml"/><Relationship Id="R88fdf88575984dec"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00abcd9a58974653" Type="http://schemas.openxmlformats.org/officeDocument/2006/relationships/slideLayout" Target="../slideLayouts/slideLayout1.xml"/><Relationship Id="R37cf3973fc894f7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7d09f2a50cdf43b7" Type="http://schemas.openxmlformats.org/officeDocument/2006/relationships/notesSlide" Target="../notesSlides/notesSlide46.xml"/><Relationship Id="Rf5fcde27e62c4d36"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e2508209474347a6" Type="http://schemas.openxmlformats.org/officeDocument/2006/relationships/notesSlide" Target="../notesSlides/notesSlide47.xml"/><Relationship Id="Rf67942ef7c544c25"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175c10bdeff44633" Type="http://schemas.openxmlformats.org/officeDocument/2006/relationships/slideLayout" Target="../slideLayouts/slideLayout1.xml"/><Relationship Id="R1ec8a05693cd484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0140434828a24a89" Type="http://schemas.openxmlformats.org/officeDocument/2006/relationships/notesSlide" Target="../notesSlides/notesSlide49.xml"/><Relationship Id="R4a3316a47def4ac8"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2085ca2b228a4bef" Type="http://schemas.openxmlformats.org/officeDocument/2006/relationships/notesSlide" Target="../notesSlides/notesSlide50.xml"/><Relationship Id="Raf3bd323c17d495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e3042f4db32d4d79" Type="http://schemas.openxmlformats.org/officeDocument/2006/relationships/notesSlide" Target="../notesSlides/notesSlide51.xml"/><Relationship Id="Redc302a5001d40eb"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38e5a496a55b458d" Type="http://schemas.openxmlformats.org/officeDocument/2006/relationships/slideLayout" Target="../slideLayouts/slideLayout1.xml"/><Relationship Id="R76fc258e474d4ee1"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9cda55ff3cd446c4" Type="http://schemas.openxmlformats.org/officeDocument/2006/relationships/notesSlide" Target="../notesSlides/notesSlide53.xml"/><Relationship Id="Rb11362c85c084f1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65b2b3795852450f" Type="http://schemas.openxmlformats.org/officeDocument/2006/relationships/slideLayout" Target="../slideLayouts/slideLayout1.xml"/><Relationship Id="R8a4a503106f54030"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0d6dc44ebc314364" Type="http://schemas.openxmlformats.org/officeDocument/2006/relationships/notesSlide" Target="../notesSlides/notesSlide57.xml"/><Relationship Id="R89cc797830d64390"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339fc41091524ef2" Type="http://schemas.openxmlformats.org/officeDocument/2006/relationships/notesSlide" Target="../notesSlides/notesSlide58.xml"/><Relationship Id="Raf80b8946c0d460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5ee55df224ca4ad2" Type="http://schemas.openxmlformats.org/officeDocument/2006/relationships/slideLayout" Target="../slideLayouts/slideLayout1.xml"/><Relationship Id="R861a762e62e74687"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b64183e942b341bd" Type="http://schemas.openxmlformats.org/officeDocument/2006/relationships/notesSlide" Target="../notesSlides/notesSlide60.xml"/><Relationship Id="Rf5283cf2a66e4f10"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8662b0968cbc457f" Type="http://schemas.openxmlformats.org/officeDocument/2006/relationships/slideLayout" Target="../slideLayouts/slideLayout1.xml"/><Relationship Id="R89fa693b3bac410b"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4340b14b43554cb7" Type="http://schemas.openxmlformats.org/officeDocument/2006/relationships/notesSlide" Target="../notesSlides/notesSlide62.xml"/><Relationship Id="Rcc3d22178fbe42f5"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26520b678440435b" Type="http://schemas.openxmlformats.org/officeDocument/2006/relationships/slideLayout" Target="../slideLayouts/slideLayout1.xml"/><Relationship Id="R336e0a56d86a4db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6f9b939048d7491f" Type="http://schemas.openxmlformats.org/officeDocument/2006/relationships/notesSlide" Target="../notesSlides/notesSlide64.xml"/><Relationship Id="Ra8e2f4f1eb904abc"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4e156b40ea6642f2" Type="http://schemas.openxmlformats.org/officeDocument/2006/relationships/slideLayout" Target="../slideLayouts/slideLayout1.xml"/><Relationship Id="Rc109c889fadf4f8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34990e025e6348f1" Type="http://schemas.openxmlformats.org/officeDocument/2006/relationships/slideLayout" Target="../slideLayouts/slideLayout1.xml"/><Relationship Id="R7755123fa6ca44d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4977942cce8e41be" Type="http://schemas.openxmlformats.org/officeDocument/2006/relationships/notesSlide" Target="../notesSlides/notesSlide67.xml"/><Relationship Id="Rc21a76ecbe854d4e"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39cda16d9e2a4d6c" Type="http://schemas.openxmlformats.org/officeDocument/2006/relationships/slideLayout" Target="../slideLayouts/slideLayout1.xml"/><Relationship Id="R9cd206eee0f04be8"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a9144839a06946c3" Type="http://schemas.openxmlformats.org/officeDocument/2006/relationships/notesSlide" Target="../notesSlides/notesSlide69.xml"/><Relationship Id="Re1883d9fae2345e0"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72fe815a75ab4284" Type="http://schemas.openxmlformats.org/officeDocument/2006/relationships/notesSlide" Target="../notesSlides/notesSlide70.xml"/><Relationship Id="R9c40338ea2624e7e"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9c26b6bb676a4740" Type="http://schemas.openxmlformats.org/officeDocument/2006/relationships/notesSlide" Target="../notesSlides/notesSlide71.xml"/><Relationship Id="Ra1dd7f4e2c1743f2"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3443f01f394a4a35" Type="http://schemas.openxmlformats.org/officeDocument/2006/relationships/notesSlide" Target="../notesSlides/notesSlide72.xml"/><Relationship Id="Ra3058f4b0e0940ed"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0904bc8ecbc440b0" Type="http://schemas.openxmlformats.org/officeDocument/2006/relationships/slideLayout" Target="../slideLayouts/slideLayout1.xml"/><Relationship Id="Rd8365661186c4f1b"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82df6f1cd6ae4298" Type="http://schemas.openxmlformats.org/officeDocument/2006/relationships/slideLayout" Target="../slideLayouts/slideLayout1.xml"/><Relationship Id="Rbbad7f8a07e4430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802d84e2756a428b" Type="http://schemas.openxmlformats.org/officeDocument/2006/relationships/slideLayout" Target="../slideLayouts/slideLayout1.xml"/><Relationship Id="Rec159dfe692a43ca"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013a44d42b884b71" Type="http://schemas.openxmlformats.org/officeDocument/2006/relationships/slideLayout" Target="../slideLayouts/slideLayout1.xml"/><Relationship Id="R3e6a6b0a0bc748ac"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b42cd5d083ca44a5" Type="http://schemas.openxmlformats.org/officeDocument/2006/relationships/slideLayout" Target="../slideLayouts/slideLayout1.xml"/><Relationship Id="Rf5f1b5982f3740a6"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17cfeedc25a9403b" Type="http://schemas.openxmlformats.org/officeDocument/2006/relationships/slideLayout" Target="../slideLayouts/slideLayout1.xml"/><Relationship Id="Rb9c6a8c665ac4fd6"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a0cb51db79d14f39" Type="http://schemas.openxmlformats.org/officeDocument/2006/relationships/slideLayout" Target="../slideLayouts/slideLayout1.xml"/><Relationship Id="Ra30b421deb04496f"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a7ff86ce7c504609" Type="http://schemas.openxmlformats.org/officeDocument/2006/relationships/notesSlide" Target="../notesSlides/notesSlide80.xml"/><Relationship Id="Rab0bf1094182422c"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964e2bdaea584699" Type="http://schemas.openxmlformats.org/officeDocument/2006/relationships/slideLayout" Target="../slideLayouts/slideLayout1.xml"/><Relationship Id="Rd1c176449a97428f"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5d5f5d8630f5446b" Type="http://schemas.openxmlformats.org/officeDocument/2006/relationships/notesSlide" Target="../notesSlides/notesSlide82.xml"/><Relationship Id="Rf1771b30e98346c2"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9619b8d4c6e94fba" Type="http://schemas.openxmlformats.org/officeDocument/2006/relationships/notesSlide" Target="../notesSlides/notesSlide83.xml"/><Relationship Id="Rd1d7ed9d5d704f6e"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3df6d74c82cc4a28" Type="http://schemas.openxmlformats.org/officeDocument/2006/relationships/slideLayout" Target="../slideLayouts/slideLayout1.xml"/><Relationship Id="Rfcdc51172aa4426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7926d8fc74ff4b2f" Type="http://schemas.openxmlformats.org/officeDocument/2006/relationships/slideLayout" Target="../slideLayouts/slideLayout1.xml"/><Relationship Id="Ra41ce8c37b3a4e6f"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79b0ce4e5da64fea" Type="http://schemas.openxmlformats.org/officeDocument/2006/relationships/slideLayout" Target="../slideLayouts/slideLayout1.xml"/><Relationship Id="Re8a3db5e2e4f4310"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02deefb723d34bc0" Type="http://schemas.openxmlformats.org/officeDocument/2006/relationships/slideLayout" Target="../slideLayouts/slideLayout1.xml"/><Relationship Id="Ra684d5aa35724b49"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4308bfcee27f487f" Type="http://schemas.openxmlformats.org/officeDocument/2006/relationships/notesSlide" Target="../notesSlides/notesSlide88.xml"/><Relationship Id="Rcad21881baed411f"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5b9bf7aff5744179" Type="http://schemas.openxmlformats.org/officeDocument/2006/relationships/notesSlide" Target="../notesSlides/notesSlide89.xml"/><Relationship Id="R818ca905bab346dd"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a2bf5966997c4a16" Type="http://schemas.openxmlformats.org/officeDocument/2006/relationships/notesSlide" Target="../notesSlides/notesSlide90.xml"/><Relationship Id="Rd49fbbf7fc824348"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06f717222e2542de" Type="http://schemas.openxmlformats.org/officeDocument/2006/relationships/slideLayout" Target="../slideLayouts/slideLayout1.xml"/><Relationship Id="R1b80cd3e53bd410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12465020a2de4daa" Type="http://schemas.openxmlformats.org/officeDocument/2006/relationships/slideLayout" Target="../slideLayouts/slideLayout1.xml"/><Relationship Id="R51fa9b01b4e24cbc"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1ec31e153e3a4e3d" Type="http://schemas.openxmlformats.org/officeDocument/2006/relationships/notesSlide" Target="../notesSlides/notesSlide93.xml"/><Relationship Id="Re42f01a3386b4ef9"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56f4779265ec4a5a" Type="http://schemas.openxmlformats.org/officeDocument/2006/relationships/slideLayout" Target="../slideLayouts/slideLayout1.xml"/><Relationship Id="Re0356936c1b84a5f"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3737a853eaee4b2f" Type="http://schemas.openxmlformats.org/officeDocument/2006/relationships/slideLayout" Target="../slideLayouts/slideLayout1.xml"/><Relationship Id="Ree2fdab7c35245b7"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2dc14b1c80ae4463" Type="http://schemas.openxmlformats.org/officeDocument/2006/relationships/slideLayout" Target="../slideLayouts/slideLayout1.xml"/><Relationship Id="R91f13bfc4c114c2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9f0b0efdbf59425f" Type="http://schemas.openxmlformats.org/officeDocument/2006/relationships/slideLayout" Target="../slideLayouts/slideLayout1.xml"/><Relationship Id="Rcc8e31e9804b4049"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75b10b3338a74b3c" Type="http://schemas.openxmlformats.org/officeDocument/2006/relationships/slideLayout" Target="../slideLayouts/slideLayout1.xml"/><Relationship Id="Rf328153364284676"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3fc04dbbf91845cf" Type="http://schemas.openxmlformats.org/officeDocument/2006/relationships/slideLayout" Target="../slideLayouts/slideLayout1.xml"/><Relationship Id="Rabf8fd271771417c"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807da2a1331e4d28" Type="http://schemas.openxmlformats.org/officeDocument/2006/relationships/notesSlide" Target="../notesSlides/notesSlide100.xml"/><Relationship Id="R8ba0aee691e446bc"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3eeeea38419243de" Type="http://schemas.openxmlformats.org/officeDocument/2006/relationships/notesSlide" Target="../notesSlides/notesSlide105.xml"/><Relationship Id="R5f0d961da0984e77"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1e8434a592e149d7" Type="http://schemas.openxmlformats.org/officeDocument/2006/relationships/slideLayout" Target="../slideLayouts/slideLayout1.xml"/><Relationship Id="Ra3cdb663b6694108"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43e30d30980f4b19" Type="http://schemas.openxmlformats.org/officeDocument/2006/relationships/slideLayout" Target="../slideLayouts/slideLayout1.xml"/><Relationship Id="R8805abe1be9d49bf"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07e43de2238c4bb1" Type="http://schemas.openxmlformats.org/officeDocument/2006/relationships/slideLayout" Target="../slideLayouts/slideLayout1.xml"/><Relationship Id="R9634f4e4fb4843ef"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4f903828f6714e3f" Type="http://schemas.openxmlformats.org/officeDocument/2006/relationships/notesSlide" Target="../notesSlides/notesSlide109.xml"/><Relationship Id="R54bdd85e13bb48eb"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1e52cf205a63490a" Type="http://schemas.openxmlformats.org/officeDocument/2006/relationships/slideLayout" Target="../slideLayouts/slideLayout1.xml"/><Relationship Id="R7c3525173e444fc5"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75cf3bc6f5234ecb" Type="http://schemas.openxmlformats.org/officeDocument/2006/relationships/notesSlide" Target="../notesSlides/notesSlide111.xml"/><Relationship Id="R8b02b7dd26714c98"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0152852e148f4eb2" Type="http://schemas.openxmlformats.org/officeDocument/2006/relationships/slideLayout" Target="../slideLayouts/slideLayout1.xml"/><Relationship Id="R4498fc0a387f404c"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03e348ef4f62444a" Type="http://schemas.openxmlformats.org/officeDocument/2006/relationships/slideLayout" Target="../slideLayouts/slideLayout1.xml"/><Relationship Id="Rf236ede84ce741a0"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319419e373a9491d" Type="http://schemas.openxmlformats.org/officeDocument/2006/relationships/notesSlide" Target="../notesSlides/notesSlide114.xml"/><Relationship Id="R8e8cee416c254e34"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582ff93443ed45e0" Type="http://schemas.openxmlformats.org/officeDocument/2006/relationships/notesSlide" Target="../notesSlides/notesSlide115.xml"/><Relationship Id="R5c32459755944f3b"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295405baa23a4107" Type="http://schemas.openxmlformats.org/officeDocument/2006/relationships/notesSlide" Target="../notesSlides/notesSlide116.xml"/><Relationship Id="R5603df17778c4d7d"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4c9a4375eec64e42" Type="http://schemas.openxmlformats.org/officeDocument/2006/relationships/notesSlide" Target="../notesSlides/notesSlide117.xml"/><Relationship Id="Rca2c2d8130864d86"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b7c13654057e4c71" Type="http://schemas.openxmlformats.org/officeDocument/2006/relationships/slideLayout" Target="../slideLayouts/slideLayout1.xml"/><Relationship Id="Rc8c8e9e4e7194acc"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5018942dcd2a4acd" Type="http://schemas.openxmlformats.org/officeDocument/2006/relationships/notesSlide" Target="../notesSlides/notesSlide119.xml"/><Relationship Id="Rc352ee5cb55d44a8"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5fb47dfbebb3456f" Type="http://schemas.openxmlformats.org/officeDocument/2006/relationships/notesSlide" Target="../notesSlides/notesSlide120.xml"/><Relationship Id="Rf76fec4337f6410f"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13a7e25c3bd34b94" Type="http://schemas.openxmlformats.org/officeDocument/2006/relationships/notesSlide" Target="../notesSlides/notesSlide121.xml"/><Relationship Id="R27aecd6cb1a741d5"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23ed722b18984e79" Type="http://schemas.openxmlformats.org/officeDocument/2006/relationships/slideLayout" Target="../slideLayouts/slideLayout1.xml"/><Relationship Id="R4d6677423c274380"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f8052755bdac4396" Type="http://schemas.openxmlformats.org/officeDocument/2006/relationships/notesSlide" Target="../notesSlides/notesSlide123.xml"/><Relationship Id="Rfaad7bd3405d473d"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beec1446e1b64bd1" Type="http://schemas.openxmlformats.org/officeDocument/2006/relationships/notesSlide" Target="../notesSlides/notesSlide124.xml"/><Relationship Id="Rca0933a624be4ef4"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1a71571187c949c3" Type="http://schemas.openxmlformats.org/officeDocument/2006/relationships/slideLayout" Target="../slideLayouts/slideLayout1.xml"/><Relationship Id="R42c1fa91e0d841fa"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03d18a9edd6d4c6e" Type="http://schemas.openxmlformats.org/officeDocument/2006/relationships/slideLayout" Target="../slideLayouts/slideLayout1.xml"/><Relationship Id="R39f6a5a4da244381"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8946e11219e24593" Type="http://schemas.openxmlformats.org/officeDocument/2006/relationships/slideLayout" Target="../slideLayouts/slideLayout1.xml"/><Relationship Id="Reff102b8c24e4cda"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67f686de7ea1446a" Type="http://schemas.openxmlformats.org/officeDocument/2006/relationships/slideLayout" Target="../slideLayouts/slideLayout1.xml"/><Relationship Id="Rd5c156c95e724334"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3875a541fae24f49" Type="http://schemas.openxmlformats.org/officeDocument/2006/relationships/slideLayout" Target="../slideLayouts/slideLayout1.xml"/><Relationship Id="R9e9bd4e9d9de43d5"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47e0176a64a54224" Type="http://schemas.openxmlformats.org/officeDocument/2006/relationships/notesSlide" Target="../notesSlides/notesSlide132.xml"/><Relationship Id="Rca1c3a4d089c43bb"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2f7dbdee1f60407f" Type="http://schemas.openxmlformats.org/officeDocument/2006/relationships/slideLayout" Target="../slideLayouts/slideLayout1.xml"/><Relationship Id="R8b311b0cf5a74850"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9a4b3f3c1ed84b02" Type="http://schemas.openxmlformats.org/officeDocument/2006/relationships/slideLayout" Target="../slideLayouts/slideLayout1.xml"/><Relationship Id="Rb0c380fb839345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1c0ae576310d4c7d" Type="http://schemas.openxmlformats.org/officeDocument/2006/relationships/slideLayout" Target="../slideLayouts/slideLayout1.xml"/><Relationship Id="Rc8dff9952b0e4d4b"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0f3cccc78afc4312" Type="http://schemas.openxmlformats.org/officeDocument/2006/relationships/slideLayout" Target="../slideLayouts/slideLayout1.xml"/><Relationship Id="Raa8df7570b704e8d"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1106316037224521" Type="http://schemas.openxmlformats.org/officeDocument/2006/relationships/notesSlide" Target="../notesSlides/notesSlide137.xml"/><Relationship Id="Rff5f58ce13584bb0"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c19dc384aa234c47" Type="http://schemas.openxmlformats.org/officeDocument/2006/relationships/slideLayout" Target="../slideLayouts/slideLayout1.xml"/><Relationship Id="Rce6ae25ef9784daf"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0932ca8bdd074cb0" Type="http://schemas.openxmlformats.org/officeDocument/2006/relationships/notesSlide" Target="../notesSlides/notesSlide139.xml"/><Relationship Id="R8035b8c90ad84012"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b6345a60fc5f4dc4" Type="http://schemas.openxmlformats.org/officeDocument/2006/relationships/slideLayout" Target="../slideLayouts/slideLayout1.xml"/><Relationship Id="Rdc07e2a04ac34f8f"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2a906ef4d8f24aaa" Type="http://schemas.openxmlformats.org/officeDocument/2006/relationships/notesSlide" Target="../notesSlides/notesSlide141.xml"/><Relationship Id="Rac4f62e3b26c447f"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187c052bb2b7485f" Type="http://schemas.openxmlformats.org/officeDocument/2006/relationships/notesSlide" Target="../notesSlides/notesSlide142.xml"/><Relationship Id="R918000899ea54e76"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b858fd668688422b" Type="http://schemas.openxmlformats.org/officeDocument/2006/relationships/notesSlide" Target="../notesSlides/notesSlide143.xml"/><Relationship Id="Rf69d0c70f6cc4695"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a6bfe662d60b433d" Type="http://schemas.openxmlformats.org/officeDocument/2006/relationships/notesSlide" Target="../notesSlides/notesSlide144.xml"/><Relationship Id="Rf88cd429b7b84fdb"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593938f78f734880" Type="http://schemas.openxmlformats.org/officeDocument/2006/relationships/slideLayout" Target="../slideLayouts/slideLayout1.xml"/><Relationship Id="Rd5627fe0b5a64e2d"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8d5cd0c9a53741b9" Type="http://schemas.openxmlformats.org/officeDocument/2006/relationships/slideLayout" Target="../slideLayouts/slideLayout1.xml"/><Relationship Id="Rf8af8b60d5e24e5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0a57d4c3bb6f4786" Type="http://schemas.openxmlformats.org/officeDocument/2006/relationships/slideLayout" Target="../slideLayouts/slideLayout1.xml"/><Relationship Id="R35e7bd5faafa4a9b"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0359fe38ceb14527" Type="http://schemas.openxmlformats.org/officeDocument/2006/relationships/notesSlide" Target="../notesSlides/notesSlide150.xml"/><Relationship Id="Rf6fd1939aa8c459d"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035b45af2898463d" Type="http://schemas.openxmlformats.org/officeDocument/2006/relationships/notesSlide" Target="../notesSlides/notesSlide151.xml"/><Relationship Id="R0ad0f6a19f364c40"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95483e3acad44c55" Type="http://schemas.openxmlformats.org/officeDocument/2006/relationships/notesSlide" Target="../notesSlides/notesSlide152.xml"/><Relationship Id="Rd117f5127ca946ba"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1b05c3c8de1a483f" Type="http://schemas.openxmlformats.org/officeDocument/2006/relationships/slideLayout" Target="../slideLayouts/slideLayout1.xml"/><Relationship Id="R8af58953376445d6"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95291afbe4d847cc" Type="http://schemas.openxmlformats.org/officeDocument/2006/relationships/slideLayout" Target="../slideLayouts/slideLayout1.xml"/><Relationship Id="Rfae102211bd84d99"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4aed0bd49fdc4f93" Type="http://schemas.openxmlformats.org/officeDocument/2006/relationships/notesSlide" Target="../notesSlides/notesSlide155.xml"/><Relationship Id="R81005ea2be284f50"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b50020f8afa74e78" Type="http://schemas.openxmlformats.org/officeDocument/2006/relationships/slideLayout" Target="../slideLayouts/slideLayout1.xml"/><Relationship Id="Rc3b005427cb04e2a"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37e43d2da0f24b69" Type="http://schemas.openxmlformats.org/officeDocument/2006/relationships/slideLayout" Target="../slideLayouts/slideLayout1.xml"/><Relationship Id="Rbea7a883f947492b"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99026218437b46be" Type="http://schemas.openxmlformats.org/officeDocument/2006/relationships/slideLayout" Target="../slideLayouts/slideLayout1.xml"/><Relationship Id="Rd7cf7869e0a74175" Type="http://schemas.openxmlformats.org/officeDocument/2006/relationships/notesSlide" Target="../notesSlides/notesSlide158.xml"/></Relationships>
</file>

<file path=ppt/slides/_rels/slide161.xml.rels><?xml version='1.0' encoding='UTF-8' standalone='yes'?>
<Relationships xmlns="http://schemas.openxmlformats.org/package/2006/relationships"><Relationship Id="R08bacb96afb544c6" Type="http://schemas.openxmlformats.org/officeDocument/2006/relationships/notesSlide" Target="../notesSlides/notesSlide161.xml"/><Relationship Id="Rc77bf3dfb11b47d7"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7c3b92daf3f542cd" Type="http://schemas.openxmlformats.org/officeDocument/2006/relationships/notesSlide" Target="../notesSlides/notesSlide162.xml"/><Relationship Id="Rc16a627ba40341b4"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68863c823e5c42be" Type="http://schemas.openxmlformats.org/officeDocument/2006/relationships/slideLayout" Target="../slideLayouts/slideLayout1.xml"/><Relationship Id="Rd36dc81fe9434b4c"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424236e667054496" Type="http://schemas.openxmlformats.org/officeDocument/2006/relationships/notesSlide" Target="../notesSlides/notesSlide164.xml"/><Relationship Id="R7b998429ea81434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4d5588ecc9934061" Type="http://schemas.openxmlformats.org/officeDocument/2006/relationships/notesSlide" Target="../notesSlides/notesSlide165.xml"/><Relationship Id="Ra30fb44c04b6468c"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061f6b2c58994dcf" Type="http://schemas.openxmlformats.org/officeDocument/2006/relationships/notesSlide" Target="../notesSlides/notesSlide166.xml"/><Relationship Id="Rdfe3d4b3d60c4200"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c7f237f88c164bab" Type="http://schemas.openxmlformats.org/officeDocument/2006/relationships/notesSlide" Target="../notesSlides/notesSlide167.xml"/><Relationship Id="Rf7abe4d7cbcb4f13"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0dcf371a34b5460b" Type="http://schemas.openxmlformats.org/officeDocument/2006/relationships/notesSlide" Target="../notesSlides/notesSlide168.xml"/><Relationship Id="Rbec3e39c4a594d64"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b2d214607c304f74" Type="http://schemas.openxmlformats.org/officeDocument/2006/relationships/notesSlide" Target="../notesSlides/notesSlide169.xml"/><Relationship Id="Rf3136639290e4060"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241aa0d1e57849b3" Type="http://schemas.openxmlformats.org/officeDocument/2006/relationships/notesSlide" Target="../notesSlides/notesSlide170.xml"/><Relationship Id="R64ac3bb0a3314e24"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813e3bb179d84aa4" Type="http://schemas.openxmlformats.org/officeDocument/2006/relationships/slideLayout" Target="../slideLayouts/slideLayout1.xml"/><Relationship Id="Rc32da637820e42b8"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01a761a6c8c14a0e" Type="http://schemas.openxmlformats.org/officeDocument/2006/relationships/notesSlide" Target="../notesSlides/notesSlide172.xml"/><Relationship Id="Re6fca6a5f30c47e4"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1a83490e693d4046" Type="http://schemas.openxmlformats.org/officeDocument/2006/relationships/notesSlide" Target="../notesSlides/notesSlide175.xml"/><Relationship Id="R96e81e510cc8462f"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403e0a4c798d4f75" Type="http://schemas.openxmlformats.org/officeDocument/2006/relationships/notesSlide" Target="../notesSlides/notesSlide176.xml"/><Relationship Id="R48d7b04b39cb4938"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a4f6a41c996a4431" Type="http://schemas.openxmlformats.org/officeDocument/2006/relationships/notesSlide" Target="../notesSlides/notesSlide177.xml"/><Relationship Id="Rd3ce7f6405d548f2"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111401d731b046a0" Type="http://schemas.openxmlformats.org/officeDocument/2006/relationships/slideLayout" Target="../slideLayouts/slideLayout1.xml"/><Relationship Id="R8da4e4eecacc4b8f"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21d798d2bf5345c8" Type="http://schemas.openxmlformats.org/officeDocument/2006/relationships/notesSlide" Target="../notesSlides/notesSlide179.xml"/><Relationship Id="Rf278b49b6ee94ecb"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abbff7c070a943df" Type="http://schemas.openxmlformats.org/officeDocument/2006/relationships/slideLayout" Target="../slideLayouts/slideLayout1.xml"/><Relationship Id="Rd9162fdb3029474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1a83293bed944a55" Type="http://schemas.openxmlformats.org/officeDocument/2006/relationships/slideLayout" Target="../slideLayouts/slideLayout1.xml"/><Relationship Id="Rd14f65c6db614a56"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4ccd4ddbfb8242fc" Type="http://schemas.openxmlformats.org/officeDocument/2006/relationships/notesSlide" Target="../notesSlides/notesSlide182.xml"/><Relationship Id="R826243c58cde486b"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31b1798293e94f5e" Type="http://schemas.openxmlformats.org/officeDocument/2006/relationships/notesSlide" Target="../notesSlides/notesSlide183.xml"/><Relationship Id="Rfbac3c0d9e1a4530"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33070d643f4349da" Type="http://schemas.openxmlformats.org/officeDocument/2006/relationships/slideLayout" Target="../slideLayouts/slideLayout1.xml"/><Relationship Id="Rd18f1a3ce2b2459c"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7c737bc3698445aa" Type="http://schemas.openxmlformats.org/officeDocument/2006/relationships/notesSlide" Target="../notesSlides/notesSlide185.xml"/><Relationship Id="R8039e5026b0a4465"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1f9ec668e0ed4ff9" Type="http://schemas.openxmlformats.org/officeDocument/2006/relationships/notesSlide" Target="../notesSlides/notesSlide186.xml"/><Relationship Id="R33f1d26e3b6549e2"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5fbc7ed3aa28425c" Type="http://schemas.openxmlformats.org/officeDocument/2006/relationships/slideLayout" Target="../slideLayouts/slideLayout1.xml"/><Relationship Id="Reab21c9194bc4a64"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2d292b1d86f54a25" Type="http://schemas.openxmlformats.org/officeDocument/2006/relationships/notesSlide" Target="../notesSlides/notesSlide188.xml"/><Relationship Id="R690f15a1cc234d7d"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0015a862d9c44b1a" Type="http://schemas.openxmlformats.org/officeDocument/2006/relationships/notesSlide" Target="../notesSlides/notesSlide197.xml"/><Relationship Id="Rc4a2ad1cc9b54d7e"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4196a7022ba0456a" Type="http://schemas.openxmlformats.org/officeDocument/2006/relationships/slideLayout" Target="../slideLayouts/slideLayout1.xml"/><Relationship Id="Rb38c4ec9afbe436e"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948539071c60444d" Type="http://schemas.openxmlformats.org/officeDocument/2006/relationships/notesSlide" Target="../notesSlides/notesSlide199.xml"/><Relationship Id="R9ed958ded3e54edb"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375e0067932541da" Type="http://schemas.openxmlformats.org/officeDocument/2006/relationships/notesSlide" Target="../notesSlides/notesSlide200.xml"/><Relationship Id="Re3e81d17786b43b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b98a9bc389994093" Type="http://schemas.openxmlformats.org/officeDocument/2006/relationships/slideLayout" Target="../slideLayouts/slideLayout1.xml"/><Relationship Id="Ree9beae7f5d64c5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4dc63428d7e44ae8" Type="http://schemas.openxmlformats.org/officeDocument/2006/relationships/slideLayout" Target="../slideLayouts/slideLayout1.xml"/><Relationship Id="R7b1cad47a1e6417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e6b1e517ba7d4042" Type="http://schemas.openxmlformats.org/officeDocument/2006/relationships/slideLayout" Target="../slideLayouts/slideLayout1.xml"/><Relationship Id="Rfec02da902d747fa"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527b26c1fa6c4ba7" Type="http://schemas.openxmlformats.org/officeDocument/2006/relationships/slideLayout" Target="../slideLayouts/slideLayout1.xml"/><Relationship Id="Rbf46e17e1db64df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410541dcd3734127" Type="http://schemas.openxmlformats.org/officeDocument/2006/relationships/notesSlide" Target="../notesSlides/notesSlide209.xml"/><Relationship Id="R50399c58fe914985"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4bf8d68189cc4bb8" Type="http://schemas.openxmlformats.org/officeDocument/2006/relationships/slideLayout" Target="../slideLayouts/slideLayout1.xml"/><Relationship Id="Raa780135438e48f6"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372254076cf640ad" Type="http://schemas.openxmlformats.org/officeDocument/2006/relationships/slideLayout" Target="../slideLayouts/slideLayout1.xml"/><Relationship Id="Red21045bfa184efd"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68e44fa104314520" Type="http://schemas.openxmlformats.org/officeDocument/2006/relationships/slideLayout" Target="../slideLayouts/slideLayout1.xml"/><Relationship Id="Re3d5bf41744c4906"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0e92387772ed4969" Type="http://schemas.openxmlformats.org/officeDocument/2006/relationships/slideLayout" Target="../slideLayouts/slideLayout1.xml"/><Relationship Id="R7e0a6f36403645f4"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482d8c3971df4b83" Type="http://schemas.openxmlformats.org/officeDocument/2006/relationships/notesSlide" Target="../notesSlides/notesSlide214.xml"/><Relationship Id="R827b697811fa4c66"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3248d888414b4a43" Type="http://schemas.openxmlformats.org/officeDocument/2006/relationships/slideLayout" Target="../slideLayouts/slideLayout1.xml"/><Relationship Id="R895e25d306a64760"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d50626ad32704c91" Type="http://schemas.openxmlformats.org/officeDocument/2006/relationships/slideLayout" Target="../slideLayouts/slideLayout1.xml"/><Relationship Id="Re426b27849ab4187"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27fa4b6d30fa4a73" Type="http://schemas.openxmlformats.org/officeDocument/2006/relationships/notesSlide" Target="../notesSlides/notesSlide217.xml"/><Relationship Id="R3be9f4da4f2649f6"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038c3df95ffe4ad4" Type="http://schemas.openxmlformats.org/officeDocument/2006/relationships/slideLayout" Target="../slideLayouts/slideLayout1.xml"/><Relationship Id="R9353a5f596f4416a"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0bfe00640f364617" Type="http://schemas.openxmlformats.org/officeDocument/2006/relationships/notesSlide" Target="../notesSlides/notesSlide219.xml"/><Relationship Id="Rf52daddf41da4764"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52384ec6f9ac4097" Type="http://schemas.openxmlformats.org/officeDocument/2006/relationships/slideLayout" Target="../slideLayouts/slideLayout1.xml"/><Relationship Id="Ra3dd072560364a76" Type="http://schemas.openxmlformats.org/officeDocument/2006/relationships/notesSlide" Target="../notesSlides/notesSlide220.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28-64">
            <a:extLst xmlns:a="http://schemas.openxmlformats.org/drawingml/2006/main">
              <a:ext uri="{FF2B5EF4-FFF2-40B4-BE49-F238E27FC236}">
                <a16:creationId xmlns:a16="http://schemas.microsoft.com/office/drawing/2014/main" id="{79A8CF87-522B-45C1-A757-48F2A4ECE39D}"/>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xmlns:a="http://schemas.openxmlformats.org/drawingml/2006/main">
              <a:ext uri="{FF2B5EF4-FFF2-40B4-BE49-F238E27FC236}">
                <a16:creationId xmlns:a16="http://schemas.microsoft.com/office/drawing/2014/main" id="{1A88F11C-938B-407A-BA7F-4520FD6624AE}"/>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41322B67-5ECB-469A-98FB-2B7BB4679151}"/>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01  </a:t>
            </a:r>
          </a:p>
        </p:txBody>
      </p:sp>
      <p:sp>
        <p:nvSpPr>
          <p:cNvPr id="4" name="">
            <a:extLst xmlns:a="http://schemas.openxmlformats.org/drawingml/2006/main">
              <a:ext uri="{FF2B5EF4-FFF2-40B4-BE49-F238E27FC236}">
                <a16:creationId xmlns:a16="http://schemas.microsoft.com/office/drawing/2014/main" id="{340218AA-DDF4-4136-8E6B-15905A7D6BDB}"/>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16801E-4671-4F52-9D56-A9840C5369A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5D7AAC91-CF87-422B-8732-76B05370FCE7}"/>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30DE87EC-8552-4F27-A2D4-C86855C953FA}"/>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001</a:t>
            </a:r>
          </a:p>
        </p:txBody>
      </p:sp>
      <p:sp>
        <p:nvSpPr>
          <p:cNvPr id="8" name="text-178-64">
            <a:extLst xmlns:a="http://schemas.openxmlformats.org/drawingml/2006/main">
              <a:ext uri="{FF2B5EF4-FFF2-40B4-BE49-F238E27FC236}">
                <a16:creationId xmlns:a16="http://schemas.microsoft.com/office/drawing/2014/main" id="{1D11040D-D0BF-4AE7-A8A7-848ED71C529F}"/>
              </a:ext>
            </a:extLst>
          </p:cNvPr>
          <p:cNvSpPr>
            <a:spLocks xmlns:a="http://schemas.openxmlformats.org/drawingml/2006/main" noGrp="1"/>
          </p:cNvSpPr>
          <p:nvPr/>
        </p:nvSpPr>
        <p:spPr>
          <a:xfrm xmlns:a="http://schemas.openxmlformats.org/drawingml/2006/main">
            <a:off x="609600" y="1695450"/>
            <a:ext cx="109728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축소 정복을 가장 직접적으로 나타내는 구조는?</a:t>
            </a:r>
          </a:p>
        </p:txBody>
      </p:sp>
      <p:sp>
        <p:nvSpPr>
          <p:cNvPr id="9" name="text-316-72">
            <a:extLst xmlns:a="http://schemas.openxmlformats.org/drawingml/2006/main">
              <a:ext uri="{FF2B5EF4-FFF2-40B4-BE49-F238E27FC236}">
                <a16:creationId xmlns:a16="http://schemas.microsoft.com/office/drawing/2014/main" id="{DB47E80D-AE95-42A4-993B-9BC495390994}"/>
              </a:ext>
            </a:extLst>
          </p:cNvPr>
          <p:cNvSpPr>
            <a:spLocks xmlns:a="http://schemas.openxmlformats.org/drawingml/2006/main" noGrp="1"/>
          </p:cNvSpPr>
          <p:nvPr/>
        </p:nvSpPr>
        <p:spPr>
          <a:xfrm xmlns:a="http://schemas.openxmlformats.org/drawingml/2006/main">
            <a:off x="685800" y="30099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xmlns:a="http://schemas.openxmlformats.org/drawingml/2006/main">
              <a:ext uri="{FF2B5EF4-FFF2-40B4-BE49-F238E27FC236}">
                <a16:creationId xmlns:a16="http://schemas.microsoft.com/office/drawing/2014/main" id="{5CF7EAC4-2196-490E-A7A7-CCEFDB946609}"/>
              </a:ext>
            </a:extLst>
          </p:cNvPr>
          <p:cNvSpPr>
            <a:spLocks xmlns:a="http://schemas.openxmlformats.org/drawingml/2006/main" noGrp="1"/>
          </p:cNvSpPr>
          <p:nvPr/>
        </p:nvSpPr>
        <p:spPr>
          <a:xfrm xmlns:a="http://schemas.openxmlformats.org/drawingml/2006/main">
            <a:off x="1181100" y="30099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항상 두 부분 문제를 모두 푼다</a:t>
            </a:r>
          </a:p>
        </p:txBody>
      </p:sp>
      <p:sp>
        <p:nvSpPr>
          <p:cNvPr id="11" name="">
            <a:extLst xmlns:a="http://schemas.openxmlformats.org/drawingml/2006/main">
              <a:ext uri="{FF2B5EF4-FFF2-40B4-BE49-F238E27FC236}">
                <a16:creationId xmlns:a16="http://schemas.microsoft.com/office/drawing/2014/main" id="{330EB3EC-31BA-4009-BDC7-31BE3703E991}"/>
              </a:ext>
            </a:extLst>
          </p:cNvPr>
          <p:cNvSpPr>
            <a:spLocks xmlns:a="http://schemas.openxmlformats.org/drawingml/2006/main" noGrp="1"/>
          </p:cNvSpPr>
          <p:nvPr/>
        </p:nvSpPr>
        <p:spPr>
          <a:xfrm xmlns:a="http://schemas.openxmlformats.org/drawingml/2006/main">
            <a:off x="1181100" y="355282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2" name="text-382-72">
            <a:extLst xmlns:a="http://schemas.openxmlformats.org/drawingml/2006/main">
              <a:ext uri="{FF2B5EF4-FFF2-40B4-BE49-F238E27FC236}">
                <a16:creationId xmlns:a16="http://schemas.microsoft.com/office/drawing/2014/main" id="{73017764-591C-41E7-BB0C-D2C37A06DF8F}"/>
              </a:ext>
            </a:extLst>
          </p:cNvPr>
          <p:cNvSpPr>
            <a:spLocks xmlns:a="http://schemas.openxmlformats.org/drawingml/2006/main" noGrp="1"/>
          </p:cNvSpPr>
          <p:nvPr/>
        </p:nvSpPr>
        <p:spPr>
          <a:xfrm xmlns:a="http://schemas.openxmlformats.org/drawingml/2006/main">
            <a:off x="685800" y="36385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xmlns:a="http://schemas.openxmlformats.org/drawingml/2006/main">
              <a:ext uri="{FF2B5EF4-FFF2-40B4-BE49-F238E27FC236}">
                <a16:creationId xmlns:a16="http://schemas.microsoft.com/office/drawing/2014/main" id="{EE02F75D-45E4-4437-A76D-4E5F9C3AE108}"/>
              </a:ext>
            </a:extLst>
          </p:cNvPr>
          <p:cNvSpPr>
            <a:spLocks xmlns:a="http://schemas.openxmlformats.org/drawingml/2006/main" noGrp="1"/>
          </p:cNvSpPr>
          <p:nvPr/>
        </p:nvSpPr>
        <p:spPr>
          <a:xfrm xmlns:a="http://schemas.openxmlformats.org/drawingml/2006/main">
            <a:off x="1181100" y="363855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모든 중간 결과를 반드시 표에 저장한다</a:t>
            </a:r>
          </a:p>
        </p:txBody>
      </p:sp>
      <p:sp>
        <p:nvSpPr>
          <p:cNvPr id="14" name="">
            <a:extLst xmlns:a="http://schemas.openxmlformats.org/drawingml/2006/main">
              <a:ext uri="{FF2B5EF4-FFF2-40B4-BE49-F238E27FC236}">
                <a16:creationId xmlns:a16="http://schemas.microsoft.com/office/drawing/2014/main" id="{DF028EEC-C222-477D-88BA-9DB55373CBC4}"/>
              </a:ext>
            </a:extLst>
          </p:cNvPr>
          <p:cNvSpPr>
            <a:spLocks xmlns:a="http://schemas.openxmlformats.org/drawingml/2006/main" noGrp="1"/>
          </p:cNvSpPr>
          <p:nvPr/>
        </p:nvSpPr>
        <p:spPr>
          <a:xfrm xmlns:a="http://schemas.openxmlformats.org/drawingml/2006/main">
            <a:off x="1181100" y="418147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5" name="text-448-72">
            <a:extLst xmlns:a="http://schemas.openxmlformats.org/drawingml/2006/main">
              <a:ext uri="{FF2B5EF4-FFF2-40B4-BE49-F238E27FC236}">
                <a16:creationId xmlns:a16="http://schemas.microsoft.com/office/drawing/2014/main" id="{C7D3A26B-DBD3-467B-8168-A0FEFACEC40B}"/>
              </a:ext>
            </a:extLst>
          </p:cNvPr>
          <p:cNvSpPr>
            <a:spLocks xmlns:a="http://schemas.openxmlformats.org/drawingml/2006/main" noGrp="1"/>
          </p:cNvSpPr>
          <p:nvPr/>
        </p:nvSpPr>
        <p:spPr>
          <a:xfrm xmlns:a="http://schemas.openxmlformats.org/drawingml/2006/main">
            <a:off x="685800" y="42672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xmlns:a="http://schemas.openxmlformats.org/drawingml/2006/main">
              <a:ext uri="{FF2B5EF4-FFF2-40B4-BE49-F238E27FC236}">
                <a16:creationId xmlns:a16="http://schemas.microsoft.com/office/drawing/2014/main" id="{0EF39067-7D54-488B-967B-9753676EC990}"/>
              </a:ext>
            </a:extLst>
          </p:cNvPr>
          <p:cNvSpPr>
            <a:spLocks xmlns:a="http://schemas.openxmlformats.org/drawingml/2006/main" noGrp="1"/>
          </p:cNvSpPr>
          <p:nvPr/>
        </p:nvSpPr>
        <p:spPr>
          <a:xfrm xmlns:a="http://schemas.openxmlformats.org/drawingml/2006/main">
            <a:off x="1181100" y="42672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가능한 모든 완성 답을 생성한다</a:t>
            </a:r>
          </a:p>
        </p:txBody>
      </p:sp>
      <p:sp>
        <p:nvSpPr>
          <p:cNvPr id="17" name="">
            <a:extLst xmlns:a="http://schemas.openxmlformats.org/drawingml/2006/main">
              <a:ext uri="{FF2B5EF4-FFF2-40B4-BE49-F238E27FC236}">
                <a16:creationId xmlns:a16="http://schemas.microsoft.com/office/drawing/2014/main" id="{C761B16A-02A5-45DD-9AB8-2A3F30B6493C}"/>
              </a:ext>
            </a:extLst>
          </p:cNvPr>
          <p:cNvSpPr>
            <a:spLocks xmlns:a="http://schemas.openxmlformats.org/drawingml/2006/main" noGrp="1"/>
          </p:cNvSpPr>
          <p:nvPr/>
        </p:nvSpPr>
        <p:spPr>
          <a:xfrm xmlns:a="http://schemas.openxmlformats.org/drawingml/2006/main">
            <a:off x="1181100" y="481012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8" name="text-514-72">
            <a:extLst xmlns:a="http://schemas.openxmlformats.org/drawingml/2006/main">
              <a:ext uri="{FF2B5EF4-FFF2-40B4-BE49-F238E27FC236}">
                <a16:creationId xmlns:a16="http://schemas.microsoft.com/office/drawing/2014/main" id="{D3CC7753-1DB3-46BC-A8EA-B87B3598A4D1}"/>
              </a:ext>
            </a:extLst>
          </p:cNvPr>
          <p:cNvSpPr>
            <a:spLocks xmlns:a="http://schemas.openxmlformats.org/drawingml/2006/main" noGrp="1"/>
          </p:cNvSpPr>
          <p:nvPr/>
        </p:nvSpPr>
        <p:spPr>
          <a:xfrm xmlns:a="http://schemas.openxmlformats.org/drawingml/2006/main">
            <a:off x="685800" y="48958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xmlns:a="http://schemas.openxmlformats.org/drawingml/2006/main">
              <a:ext uri="{FF2B5EF4-FFF2-40B4-BE49-F238E27FC236}">
                <a16:creationId xmlns:a16="http://schemas.microsoft.com/office/drawing/2014/main" id="{F970C4AD-2F76-4F92-B541-A94F8152CA57}"/>
              </a:ext>
            </a:extLst>
          </p:cNvPr>
          <p:cNvSpPr>
            <a:spLocks xmlns:a="http://schemas.openxmlformats.org/drawingml/2006/main" noGrp="1"/>
          </p:cNvSpPr>
          <p:nvPr/>
        </p:nvSpPr>
        <p:spPr>
          <a:xfrm xmlns:a="http://schemas.openxmlformats.org/drawingml/2006/main">
            <a:off x="1181100" y="489585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현재 가장 이익이 큰 선택만 확정한다</a:t>
            </a:r>
          </a:p>
        </p:txBody>
      </p:sp>
      <p:sp>
        <p:nvSpPr>
          <p:cNvPr id="20" name="">
            <a:extLst xmlns:a="http://schemas.openxmlformats.org/drawingml/2006/main">
              <a:ext uri="{FF2B5EF4-FFF2-40B4-BE49-F238E27FC236}">
                <a16:creationId xmlns:a16="http://schemas.microsoft.com/office/drawing/2014/main" id="{BF5466D7-6EB7-4DA7-B5F5-B05EA46D098A}"/>
              </a:ext>
            </a:extLst>
          </p:cNvPr>
          <p:cNvSpPr>
            <a:spLocks xmlns:a="http://schemas.openxmlformats.org/drawingml/2006/main" noGrp="1"/>
          </p:cNvSpPr>
          <p:nvPr/>
        </p:nvSpPr>
        <p:spPr>
          <a:xfrm xmlns:a="http://schemas.openxmlformats.org/drawingml/2006/main">
            <a:off x="1181100" y="543877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21" name="text-580-72">
            <a:extLst xmlns:a="http://schemas.openxmlformats.org/drawingml/2006/main">
              <a:ext uri="{FF2B5EF4-FFF2-40B4-BE49-F238E27FC236}">
                <a16:creationId xmlns:a16="http://schemas.microsoft.com/office/drawing/2014/main" id="{31E526EE-713E-4A3A-9778-7FFB902132D9}"/>
              </a:ext>
            </a:extLst>
          </p:cNvPr>
          <p:cNvSpPr>
            <a:spLocks xmlns:a="http://schemas.openxmlformats.org/drawingml/2006/main" noGrp="1"/>
          </p:cNvSpPr>
          <p:nvPr/>
        </p:nvSpPr>
        <p:spPr>
          <a:xfrm xmlns:a="http://schemas.openxmlformats.org/drawingml/2006/main">
            <a:off x="685800" y="55245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xmlns:a="http://schemas.openxmlformats.org/drawingml/2006/main">
              <a:ext uri="{FF2B5EF4-FFF2-40B4-BE49-F238E27FC236}">
                <a16:creationId xmlns:a16="http://schemas.microsoft.com/office/drawing/2014/main" id="{3FE7B3C8-727A-4EE1-8C9A-BFFF0AC29D09}"/>
              </a:ext>
            </a:extLst>
          </p:cNvPr>
          <p:cNvSpPr>
            <a:spLocks xmlns:a="http://schemas.openxmlformats.org/drawingml/2006/main" noGrp="1"/>
          </p:cNvSpPr>
          <p:nvPr/>
        </p:nvSpPr>
        <p:spPr>
          <a:xfrm xmlns:a="http://schemas.openxmlformats.org/drawingml/2006/main">
            <a:off x="1181100" y="55245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더 작은 한 부분 문제를 풀고 원래 답을 구성한다</a:t>
            </a:r>
          </a:p>
        </p:txBody>
      </p:sp>
    </p:spTree>
    <p:extLst>
      <p:ext uri="{BB962C8B-B14F-4D97-AF65-F5344CB8AC3E}">
        <p14:creationId xmlns:p14="http://schemas.microsoft.com/office/powerpoint/2010/main" val="4626855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63D36619-A28E-4CD6-93BA-9878D909C7AF}"/>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xmlns:a="http://schemas.openxmlformats.org/drawingml/2006/main">
              <a:ext uri="{FF2B5EF4-FFF2-40B4-BE49-F238E27FC236}">
                <a16:creationId xmlns:a16="http://schemas.microsoft.com/office/drawing/2014/main" id="{2CEB5668-0626-44BC-A3C2-782FF518089C}"/>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8F1F6488-E1B0-4440-B30D-6E469D750B47}"/>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01  정답과 해설</a:t>
            </a:r>
          </a:p>
        </p:txBody>
      </p:sp>
      <p:sp>
        <p:nvSpPr>
          <p:cNvPr id="4" name="">
            <a:extLst xmlns:a="http://schemas.openxmlformats.org/drawingml/2006/main">
              <a:ext uri="{FF2B5EF4-FFF2-40B4-BE49-F238E27FC236}">
                <a16:creationId xmlns:a16="http://schemas.microsoft.com/office/drawing/2014/main" id="{7EC08231-A098-4B4C-AFF1-98CBC6BCDB9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5442F4-2BEA-4A44-9B3E-4F3D25CA601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E628DBA1-B7E1-42E9-BE06-24B499D78D40}"/>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6A86C42B-6E8F-40E5-B324-1F4EC38FA3DA}"/>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002</a:t>
            </a:r>
          </a:p>
        </p:txBody>
      </p:sp>
      <p:sp>
        <p:nvSpPr>
          <p:cNvPr id="8" name="text-178-64">
            <a:extLst xmlns:a="http://schemas.openxmlformats.org/drawingml/2006/main">
              <a:ext uri="{FF2B5EF4-FFF2-40B4-BE49-F238E27FC236}">
                <a16:creationId xmlns:a16="http://schemas.microsoft.com/office/drawing/2014/main" id="{E830BEF1-C797-42D5-B4FE-98569C0DDAA6}"/>
              </a:ext>
            </a:extLst>
          </p:cNvPr>
          <p:cNvSpPr>
            <a:spLocks xmlns:a="http://schemas.openxmlformats.org/drawingml/2006/main" noGrp="1"/>
          </p:cNvSpPr>
          <p:nvPr/>
        </p:nvSpPr>
        <p:spPr>
          <a:xfrm xmlns:a="http://schemas.openxmlformats.org/drawingml/2006/main">
            <a:off x="609600" y="169545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축소 정복을 가장 직접적으로 나타내는 구조는?</a:t>
            </a:r>
          </a:p>
        </p:txBody>
      </p:sp>
      <p:sp>
        <p:nvSpPr>
          <p:cNvPr id="9" name="">
            <a:extLst xmlns:a="http://schemas.openxmlformats.org/drawingml/2006/main">
              <a:ext uri="{FF2B5EF4-FFF2-40B4-BE49-F238E27FC236}">
                <a16:creationId xmlns:a16="http://schemas.microsoft.com/office/drawing/2014/main" id="{C0DC8EE0-624B-412C-BF19-F19A8DCC397A}"/>
              </a:ext>
            </a:extLst>
          </p:cNvPr>
          <p:cNvSpPr>
            <a:spLocks xmlns:a="http://schemas.openxmlformats.org/drawingml/2006/main" noGrp="1"/>
          </p:cNvSpPr>
          <p:nvPr/>
        </p:nvSpPr>
        <p:spPr>
          <a:xfrm xmlns:a="http://schemas.openxmlformats.org/drawingml/2006/main">
            <a:off x="609600" y="2205990"/>
            <a:ext cx="10972800" cy="626745"/>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883F3007-655C-42F5-B5E0-99C3A7A6C075}"/>
              </a:ext>
            </a:extLst>
          </p:cNvPr>
          <p:cNvSpPr>
            <a:spLocks xmlns:a="http://schemas.openxmlformats.org/drawingml/2006/main" noGrp="1"/>
          </p:cNvSpPr>
          <p:nvPr/>
        </p:nvSpPr>
        <p:spPr>
          <a:xfrm xmlns:a="http://schemas.openxmlformats.org/drawingml/2006/main">
            <a:off x="876300" y="2339340"/>
            <a:ext cx="104394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5번 더 작은 한 부분 문제를 풀고 원래 답을 구성한다</a:t>
            </a:r>
          </a:p>
        </p:txBody>
      </p:sp>
      <p:sp>
        <p:nvSpPr>
          <p:cNvPr id="11" name="text-324.4-64">
            <a:extLst xmlns:a="http://schemas.openxmlformats.org/drawingml/2006/main">
              <a:ext uri="{FF2B5EF4-FFF2-40B4-BE49-F238E27FC236}">
                <a16:creationId xmlns:a16="http://schemas.microsoft.com/office/drawing/2014/main" id="{7FE69BA5-BA3C-4A27-9F46-A1024C506D6B}"/>
              </a:ext>
            </a:extLst>
          </p:cNvPr>
          <p:cNvSpPr>
            <a:spLocks xmlns:a="http://schemas.openxmlformats.org/drawingml/2006/main" noGrp="1"/>
          </p:cNvSpPr>
          <p:nvPr/>
        </p:nvSpPr>
        <p:spPr>
          <a:xfrm xmlns:a="http://schemas.openxmlformats.org/drawingml/2006/main">
            <a:off x="609600" y="3089910"/>
            <a:ext cx="118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6C7C0107-A405-4CFE-994B-155FDF6EFAC4}"/>
              </a:ext>
            </a:extLst>
          </p:cNvPr>
          <p:cNvSpPr>
            <a:spLocks xmlns:a="http://schemas.openxmlformats.org/drawingml/2006/main" noGrp="1"/>
          </p:cNvSpPr>
          <p:nvPr/>
        </p:nvSpPr>
        <p:spPr>
          <a:xfrm xmlns:a="http://schemas.openxmlformats.org/drawingml/2006/main">
            <a:off x="1752600" y="326136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32EA3453-3ECA-432D-B3F9-400DDAE94613}"/>
              </a:ext>
            </a:extLst>
          </p:cNvPr>
          <p:cNvSpPr>
            <a:spLocks xmlns:a="http://schemas.openxmlformats.org/drawingml/2006/main" noGrp="1"/>
          </p:cNvSpPr>
          <p:nvPr/>
        </p:nvSpPr>
        <p:spPr>
          <a:xfrm xmlns:a="http://schemas.openxmlformats.org/drawingml/2006/main">
            <a:off x="609600" y="3547110"/>
            <a:ext cx="1097280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핵심은 같은 유형의 더 작은 한 문제로 이어지는 구조다. 재귀나 표의 사용 여부만으로 분류하지</a:t>
            </a:r>
          </a:p>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않는다.</a:t>
            </a:r>
          </a:p>
        </p:txBody>
      </p:sp>
    </p:spTree>
    <p:extLst>
      <p:ext uri="{BB962C8B-B14F-4D97-AF65-F5344CB8AC3E}">
        <p14:creationId xmlns:p14="http://schemas.microsoft.com/office/powerpoint/2010/main" val="462685519"/>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50672B3A-055F-406C-B919-E34FA4A4036C}"/>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E0C41341-05B8-45F6-93EC-54A7C1B92C0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6C08D53-A32F-4971-8271-56BF07BF8B06}"/>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02  </a:t>
            </a:r>
          </a:p>
        </p:txBody>
      </p:sp>
      <p:sp>
        <p:nvSpPr>
          <p:cNvPr id="4" name="">
            <a:extLst>
              <a:ext uri="{FF2B5EF4-FFF2-40B4-BE49-F238E27FC236}">
                <ns2:creationId id="{102C6AC8-6045-4C4D-8FDC-5DDA07F02A5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CA96435-0660-4C09-B2DC-384672AE8107}"/>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0B059140-A266-4D15-B808-D1BADD575CAF}"/>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C45C951-55BA-442E-8D73-50CA46D4CD9F}"/>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003</a:t>
            </a:r>
          </a:p>
        </p:txBody>
      </p:sp>
      <p:sp>
        <p:nvSpPr>
          <p:cNvPr id="8" name="text-178-64">
            <a:extLst>
              <a:ext uri="{FF2B5EF4-FFF2-40B4-BE49-F238E27FC236}">
                <ns2:creationId id="{666080F3-CCC8-44E4-9D15-CBAE51E98F87}"/>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입력 크기 n은 0 이상의 정수이고, T(n)은 전체 기본 연산 횟수이다. 크기가 0이면 연산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1회로 끝낸다. 그 외에는 크기 n−1의 문제를 한 번 풀고 연산을 1회 더 한다. 따라서 T(0)=1,</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T(n)=T(n−1)+1이다. T(n)의 증가 정도를 가장 정확하게 나타내는 것은?</a:t>
            </a:r>
          </a:p>
        </p:txBody>
      </p:sp>
      <p:sp>
        <p:nvSpPr>
          <p:cNvPr id="9" name="text-316-72">
            <a:extLst>
              <a:ext uri="{FF2B5EF4-FFF2-40B4-BE49-F238E27FC236}">
                <ns2:creationId id="{E327CBB0-D04A-4097-852E-18A9E9BAFA9E}"/>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4FF4F13C-BDBF-46E6-A9D2-A34FD8AD27B0}"/>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Θ(1)</a:t>
            </a:r>
          </a:p>
        </p:txBody>
      </p:sp>
      <p:sp>
        <p:nvSpPr>
          <p:cNvPr id="11" name="">
            <a:extLst>
              <a:ext uri="{FF2B5EF4-FFF2-40B4-BE49-F238E27FC236}">
                <ns2:creationId id="{5FAF13D3-67F3-47CD-8BD4-1BD9E95AD41C}"/>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1BBEF348-BC45-4EA9-9723-12EEC79948A1}"/>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5ECE3DC5-EA70-43A2-8961-CAB724AAA1B5}"/>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Θ(n²)</a:t>
            </a:r>
          </a:p>
        </p:txBody>
      </p:sp>
      <p:sp>
        <p:nvSpPr>
          <p:cNvPr id="14" name="">
            <a:extLst>
              <a:ext uri="{FF2B5EF4-FFF2-40B4-BE49-F238E27FC236}">
                <ns2:creationId id="{66A61B91-5258-41A0-A46D-C19B513569FD}"/>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D9F81C27-4DAF-4972-B689-681805F3F2DD}"/>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E8847381-D2C5-42CD-BB04-4680048D8B0C}"/>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a:t>
            </a:r>
          </a:p>
        </p:txBody>
      </p:sp>
      <p:sp>
        <p:nvSpPr>
          <p:cNvPr id="17" name="">
            <a:extLst>
              <a:ext uri="{FF2B5EF4-FFF2-40B4-BE49-F238E27FC236}">
                <ns2:creationId id="{D1DD67CC-903D-4123-8F10-7AA8BD15DD3C}"/>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6499219B-A0F9-4AB2-B320-4D60E14AF1EE}"/>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41388E3A-FA4C-400F-B1E9-CF656A8759A5}"/>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 log n)</a:t>
            </a:r>
          </a:p>
        </p:txBody>
      </p:sp>
      <p:sp>
        <p:nvSpPr>
          <p:cNvPr id="20" name="">
            <a:extLst>
              <a:ext uri="{FF2B5EF4-FFF2-40B4-BE49-F238E27FC236}">
                <ns2:creationId id="{DCDB469C-DCCF-45E6-838C-743BDDAA4CFF}"/>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0B80256D-A9ED-4A96-81BD-C6B9C77B5144}"/>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2BC5AB31-A8E5-4091-9058-3E3E5BFD6460}"/>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Θ(log n)</a:t>
            </a:r>
          </a:p>
        </p:txBody>
      </p:sp>
    </p:spTree>
    <p:extLst>
      <p:ext uri="{BB962C8B-B14F-4D97-AF65-F5344CB8AC3E}">
        <ns3:creationId val="462685519"/>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F1CC7821-B691-48C6-934A-840A99536B9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F31ADE7B-0375-4A4C-9D77-7ECBC3EA779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1966C8B-769A-4C19-8EAE-BEF16D04CE66}"/>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02  정답과 해설</a:t>
            </a:r>
          </a:p>
        </p:txBody>
      </p:sp>
      <p:sp>
        <p:nvSpPr>
          <p:cNvPr id="4" name="">
            <a:extLst>
              <a:ext uri="{FF2B5EF4-FFF2-40B4-BE49-F238E27FC236}">
                <ns2:creationId id="{6EF56E7F-4D7A-4725-9B02-7DF91A5DC2B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1518406-5E79-4797-8A93-9C4CA491A1DE}"/>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659C8B57-D989-42A1-B61F-760353F16C7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2A13853-0B6F-47E0-9912-3A1B17D017F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004</a:t>
            </a:r>
          </a:p>
        </p:txBody>
      </p:sp>
      <p:sp>
        <p:nvSpPr>
          <p:cNvPr id="8" name="text-178-64">
            <a:extLst>
              <a:ext uri="{FF2B5EF4-FFF2-40B4-BE49-F238E27FC236}">
                <ns2:creationId id="{769672A3-B063-4C53-82B3-9D7AF1D6BFC3}"/>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입력 크기 n은 0 이상의 정수이고, T(n)은 전체 기본 연산 횟수이다. 크기가 0이면 연산 1회로 끝낸다. 그</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외에는 크기 n−1의 문제를 한 번 풀고 연산을 1회 더 한다. 따라서 T(0)=1, T(n)=T(n−1)+1이다. T(n)의 증가</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정도를 가장 정확하게 나타내는 것은?</a:t>
            </a:r>
          </a:p>
        </p:txBody>
      </p:sp>
      <p:sp>
        <p:nvSpPr>
          <p:cNvPr id="9" name="">
            <a:extLst>
              <a:ext uri="{FF2B5EF4-FFF2-40B4-BE49-F238E27FC236}">
                <ns2:creationId id="{55B020F0-B964-4B56-8B63-A0A947671D55}"/>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74CCA63A-B853-4FF8-9E14-89D8EC29C4F6}"/>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3번 Θ(n)</a:t>
            </a:r>
          </a:p>
        </p:txBody>
      </p:sp>
      <p:sp>
        <p:nvSpPr>
          <p:cNvPr id="11" name="text-324.4-64">
            <a:extLst>
              <a:ext uri="{FF2B5EF4-FFF2-40B4-BE49-F238E27FC236}">
                <ns2:creationId id="{0DE48E3C-B6BF-4E8A-AAB7-9F616CC0A3F8}"/>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B5ABB5FE-A0C3-4927-B108-172FA09386A9}"/>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3FB09B2B-A584-4234-8FE7-9759069B57F1}"/>
              </a:ext>
            </a:extLst>
          </p:cNvPr>
          <p:cNvSpPr>
            <a:spLocks noGrp="1"/>
          </p:cNvSpPr>
          <p:nvPr/>
        </p:nvSpPr>
        <p:spPr>
          <a:xfrm>
            <a:off x="609600" y="3708273"/>
            <a:ext cx="10972800" cy="63550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n을 1씩 줄이는 단계가 n번이고, 각 단계에서 연산 1회와 마지막 종료 연산 1회가 필요하다. T(n)=n+1이므로</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Θ(n)이다.</a:t>
            </a:r>
          </a:p>
        </p:txBody>
      </p:sp>
    </p:spTree>
    <p:extLst>
      <p:ext uri="{BB962C8B-B14F-4D97-AF65-F5344CB8AC3E}">
        <ns3:creationId val="462685519"/>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739B5C02-3363-4A51-AE24-E4A2DEFB15C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7AC3EE9D-FAD6-40B2-A0A3-175712957481}"/>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00E8E05E-A55A-48BC-823C-0BA882FE6056}"/>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03  </a:t>
            </a:r>
          </a:p>
        </p:txBody>
      </p:sp>
      <p:sp>
        <p:nvSpPr>
          <p:cNvPr id="4" name="">
            <a:extLst>
              <a:ext uri="{FF2B5EF4-FFF2-40B4-BE49-F238E27FC236}">
                <ns2:creationId id="{DFB4A3A4-7CFD-4C28-85A8-5E6D3237146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2558660-E9AF-47FF-B7A1-DAC8185134A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F69B9D9A-4B1E-4073-9F59-A3ACBB5A51A8}"/>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E5CF112-FC78-4593-8D19-279EE294F55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005</a:t>
            </a:r>
          </a:p>
        </p:txBody>
      </p:sp>
      <p:sp>
        <p:nvSpPr>
          <p:cNvPr id="8" name="text-178-64">
            <a:extLst>
              <a:ext uri="{FF2B5EF4-FFF2-40B4-BE49-F238E27FC236}">
                <ns2:creationId id="{CB180552-44D8-4470-BD9A-1E664FCDB509}"/>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입력 크기 n은 1,2,4,8,… 중 하나이고, T(n)은 전체 기본 연산 횟수이다. 크기 1이면 연산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1회로 끝낸다. 크기가 m&gt;1인 단계에서는 연산 m회를 하고, 크기 m/2의 문제 하나만 계속</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푼다. 즉 T(1)=1, T(n)=T(n/2)+n이다. 전체 연산 횟수의 가장 정확한 증가 정도는?</a:t>
            </a:r>
          </a:p>
        </p:txBody>
      </p:sp>
      <p:sp>
        <p:nvSpPr>
          <p:cNvPr id="9" name="text-316-72">
            <a:extLst>
              <a:ext uri="{FF2B5EF4-FFF2-40B4-BE49-F238E27FC236}">
                <ns2:creationId id="{2B32A6A1-DD66-4C59-8BF8-BA9816923D2A}"/>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F26B073A-5AF2-4A6F-9D6F-8FC13DD9819F}"/>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Θ(2^n)</a:t>
            </a:r>
          </a:p>
        </p:txBody>
      </p:sp>
      <p:sp>
        <p:nvSpPr>
          <p:cNvPr id="11" name="">
            <a:extLst>
              <a:ext uri="{FF2B5EF4-FFF2-40B4-BE49-F238E27FC236}">
                <ns2:creationId id="{4D70C336-DD17-4B7F-84EA-70D12DF3EC06}"/>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49C41ACF-FD1C-4E84-BFED-38F3BB41CB8C}"/>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85E7F1C8-A553-442B-8CDF-9358317504A4}"/>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Θ(n²)</a:t>
            </a:r>
          </a:p>
        </p:txBody>
      </p:sp>
      <p:sp>
        <p:nvSpPr>
          <p:cNvPr id="14" name="">
            <a:extLst>
              <a:ext uri="{FF2B5EF4-FFF2-40B4-BE49-F238E27FC236}">
                <ns2:creationId id="{AFB87F04-84B5-46A0-B0FA-8FB746DE0CAF}"/>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0E3ADACA-BDC6-417C-B481-AAA80010619F}"/>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53CC6C09-9651-4257-897C-E32E0B7DD793}"/>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Θ(log n)</a:t>
            </a:r>
          </a:p>
        </p:txBody>
      </p:sp>
      <p:sp>
        <p:nvSpPr>
          <p:cNvPr id="17" name="">
            <a:extLst>
              <a:ext uri="{FF2B5EF4-FFF2-40B4-BE49-F238E27FC236}">
                <ns2:creationId id="{DDD807E7-5F29-4CF3-8B3B-77AEC7F6ADB9}"/>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5F3F5C02-D588-49A6-A856-8BDCC740DBEF}"/>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A2E1A6FF-85D0-46E1-ADD0-248A518EF2A2}"/>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a:t>
            </a:r>
          </a:p>
        </p:txBody>
      </p:sp>
      <p:sp>
        <p:nvSpPr>
          <p:cNvPr id="20" name="">
            <a:extLst>
              <a:ext uri="{FF2B5EF4-FFF2-40B4-BE49-F238E27FC236}">
                <ns2:creationId id="{3F015E84-7FBE-4129-A383-8537419C3178}"/>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AD034013-C1BF-4D19-B04B-B837C2D8E529}"/>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533FB9B9-EC12-44CA-B4B0-924B4E3F618E}"/>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 log n)</a:t>
            </a:r>
          </a:p>
        </p:txBody>
      </p:sp>
    </p:spTree>
    <p:extLst>
      <p:ext uri="{BB962C8B-B14F-4D97-AF65-F5344CB8AC3E}">
        <ns3:creationId val="462685519"/>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603AFB57-B5CD-4747-8221-BF325190AC9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855222D0-9FAF-41F5-9B3F-C8D60D8FEFD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ED26062-5DB3-41C3-8A3A-F59D81B65AA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03  정답과 해설</a:t>
            </a:r>
          </a:p>
        </p:txBody>
      </p:sp>
      <p:sp>
        <p:nvSpPr>
          <p:cNvPr id="4" name="">
            <a:extLst>
              <a:ext uri="{FF2B5EF4-FFF2-40B4-BE49-F238E27FC236}">
                <ns2:creationId id="{D2826A0E-0DFA-4B84-9B58-292B2A1D852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FD1FEA3-3D91-4294-9542-A97DDFE00B9A}"/>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0DA21065-8DC0-4922-B0FB-A3502C135E6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2674CA2-AA5A-4984-AE02-37751A29604A}"/>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006</a:t>
            </a:r>
          </a:p>
        </p:txBody>
      </p:sp>
      <p:sp>
        <p:nvSpPr>
          <p:cNvPr id="8" name="text-178-64">
            <a:extLst>
              <a:ext uri="{FF2B5EF4-FFF2-40B4-BE49-F238E27FC236}">
                <ns2:creationId id="{5B64E7CE-F78F-4424-AFB4-51B675CDE4BF}"/>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입력 크기 n은 1,2,4,8,… 중 하나이고, T(n)은 전체 기본 연산 횟수이다. 크기 1이면 연산 1회로 끝낸다.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크기가 m&gt;1인 단계에서는 연산 m회를 하고, 크기 m/2의 문제 하나만 계속 푼다. 즉 T(1)=1,</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T(n)=T(n/2)+n이다. 전체 연산 횟수의 가장 정확한 증가 정도는?</a:t>
            </a:r>
          </a:p>
        </p:txBody>
      </p:sp>
      <p:sp>
        <p:nvSpPr>
          <p:cNvPr id="9" name="">
            <a:extLst>
              <a:ext uri="{FF2B5EF4-FFF2-40B4-BE49-F238E27FC236}">
                <ns2:creationId id="{221E95C3-937B-4AB3-AC97-F2934861631A}"/>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D190F45B-786E-4E64-826A-B41D2F53473D}"/>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4번 Θ(n)</a:t>
            </a:r>
          </a:p>
        </p:txBody>
      </p:sp>
      <p:sp>
        <p:nvSpPr>
          <p:cNvPr id="11" name="text-324.4-64">
            <a:extLst>
              <a:ext uri="{FF2B5EF4-FFF2-40B4-BE49-F238E27FC236}">
                <ns2:creationId id="{6260BE3E-DB0F-4A20-9844-4FCA8FA1EBDB}"/>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98A8751E-FF93-4DD4-8902-EA91FF9DCD31}"/>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89EEB297-B092-4101-ACFF-C5272B60194C}"/>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단계별 연산을 더하면 n+n/2+n/4+…+1=2n−1이다. 단계 수만 세면 로그지만 전체 연산 횟수는 n에 비례한다.</a:t>
            </a:r>
          </a:p>
        </p:txBody>
      </p:sp>
    </p:spTree>
    <p:extLst>
      <p:ext uri="{BB962C8B-B14F-4D97-AF65-F5344CB8AC3E}">
        <ns3:creationId val="462685519"/>
      </p:ext>
    </p:extLst>
  </p:cSld>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542B7006-F953-4014-A877-B715DE9819BA}"/>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A810C138-9A33-4DD5-909F-542A3E360ACF}"/>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2331E003-3CB0-42D6-949E-7252D21D91C0}"/>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04  </a:t>
            </a:r>
          </a:p>
        </p:txBody>
      </p:sp>
      <p:sp>
        <p:nvSpPr>
          <p:cNvPr id="4" name="">
            <a:extLst>
              <a:ext uri="{FF2B5EF4-FFF2-40B4-BE49-F238E27FC236}">
                <ns2:creationId id="{E927D46D-1793-46A3-BA7A-B490CC961D0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04D301A-CE46-44B0-BAD6-01C1EBD8B11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692125CF-49E7-46B0-988B-879504F667F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3A29135-50B9-41A0-85FA-16F6E686EF55}"/>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007</a:t>
            </a:r>
          </a:p>
        </p:txBody>
      </p:sp>
      <p:sp>
        <p:nvSpPr>
          <p:cNvPr id="8" name="text-178-64">
            <a:extLst>
              <a:ext uri="{FF2B5EF4-FFF2-40B4-BE49-F238E27FC236}">
                <ns2:creationId id="{EB36962B-C4C3-4AA0-A4EF-306B50ADD552}"/>
              </a:ext>
            </a:extLst>
          </p:cNvPr>
          <p:cNvSpPr>
            <a:spLocks noGrp="1"/>
          </p:cNvSpPr>
          <p:nvPr/>
        </p:nvSpPr>
        <p:spPr>
          <a:xfrm>
            <a:off x="609600" y="1695450"/>
            <a:ext cx="10972800" cy="37338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재귀 함수의 종료를 보장하는 설명으로 충분한 것은?</a:t>
            </a:r>
          </a:p>
        </p:txBody>
      </p:sp>
      <p:sp>
        <p:nvSpPr>
          <p:cNvPr id="9" name="text-316-72">
            <a:extLst>
              <a:ext uri="{FF2B5EF4-FFF2-40B4-BE49-F238E27FC236}">
                <ns2:creationId id="{7787854E-2F45-4CB9-870D-BF067626CF1A}"/>
              </a:ext>
            </a:extLst>
          </p:cNvPr>
          <p:cNvSpPr>
            <a:spLocks noGrp="1"/>
          </p:cNvSpPr>
          <p:nvPr/>
        </p:nvSpPr>
        <p:spPr>
          <a:xfrm>
            <a:off x="685800" y="2221230"/>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a:ext uri="{FF2B5EF4-FFF2-40B4-BE49-F238E27FC236}">
                <ns2:creationId id="{94AF6061-00C7-4DA8-9187-5F8D2C3C2E0F}"/>
              </a:ext>
            </a:extLst>
          </p:cNvPr>
          <p:cNvSpPr>
            <a:spLocks noGrp="1"/>
          </p:cNvSpPr>
          <p:nvPr/>
        </p:nvSpPr>
        <p:spPr>
          <a:xfrm>
            <a:off x="1181100" y="2221230"/>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멈추는 입력에서는 바로 반환하고, 그 외에는 0 이상의 정수로 잰 문제 크기가 매번 줄어든다</a:t>
            </a:r>
          </a:p>
        </p:txBody>
      </p:sp>
      <p:sp>
        <p:nvSpPr>
          <p:cNvPr id="11" name="">
            <a:extLst>
              <a:ext uri="{FF2B5EF4-FFF2-40B4-BE49-F238E27FC236}">
                <ns2:creationId id="{47987CCA-C864-4F7D-BD39-6B8FAD8A93D3}"/>
              </a:ext>
            </a:extLst>
          </p:cNvPr>
          <p:cNvSpPr>
            <a:spLocks noGrp="1"/>
          </p:cNvSpPr>
          <p:nvPr/>
        </p:nvSpPr>
        <p:spPr>
          <a:xfrm>
            <a:off x="1181100" y="5002530"/>
            <a:ext cx="10401300" cy="9525"/>
          </a:xfrm>
          <a:prstGeom prst="rect">
            <a:avLst/>
          </a:prstGeom>
          <a:solidFill>
            <a:srgbClr val="E7E7E7"/>
          </a:solidFill>
          <a:ln w="0">
            <a:noFill/>
          </a:ln>
        </p:spPr>
      </p:sp>
      <p:sp>
        <p:nvSpPr>
          <p:cNvPr id="12" name="text-382-72">
            <a:extLst>
              <a:ext uri="{FF2B5EF4-FFF2-40B4-BE49-F238E27FC236}">
                <ns2:creationId id="{B01238D2-F04C-453C-9AB8-3847E0869976}"/>
              </a:ext>
            </a:extLst>
          </p:cNvPr>
          <p:cNvSpPr>
            <a:spLocks noGrp="1"/>
          </p:cNvSpPr>
          <p:nvPr/>
        </p:nvSpPr>
        <p:spPr>
          <a:xfrm>
            <a:off x="685800" y="2754630"/>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a:ext uri="{FF2B5EF4-FFF2-40B4-BE49-F238E27FC236}">
                <ns2:creationId id="{834F7681-8056-4C14-A655-102A788E3C0D}"/>
              </a:ext>
            </a:extLst>
          </p:cNvPr>
          <p:cNvSpPr>
            <a:spLocks noGrp="1"/>
          </p:cNvSpPr>
          <p:nvPr/>
        </p:nvSpPr>
        <p:spPr>
          <a:xfrm>
            <a:off x="1181100" y="2754630"/>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호출할 때마다 인수가 증가하면 반드시 종료한다</a:t>
            </a:r>
          </a:p>
        </p:txBody>
      </p:sp>
      <p:sp>
        <p:nvSpPr>
          <p:cNvPr id="14" name="">
            <a:extLst>
              <a:ext uri="{FF2B5EF4-FFF2-40B4-BE49-F238E27FC236}">
                <ns2:creationId id="{905237E8-A9F0-4101-8075-8D0C39FFC127}"/>
              </a:ext>
            </a:extLst>
          </p:cNvPr>
          <p:cNvSpPr>
            <a:spLocks noGrp="1"/>
          </p:cNvSpPr>
          <p:nvPr/>
        </p:nvSpPr>
        <p:spPr>
          <a:xfrm>
            <a:off x="1181100" y="5002530"/>
            <a:ext cx="10401300" cy="9525"/>
          </a:xfrm>
          <a:prstGeom prst="rect">
            <a:avLst/>
          </a:prstGeom>
          <a:solidFill>
            <a:srgbClr val="E7E7E7"/>
          </a:solidFill>
          <a:ln w="0">
            <a:noFill/>
          </a:ln>
        </p:spPr>
      </p:sp>
      <p:sp>
        <p:nvSpPr>
          <p:cNvPr id="15" name="text-448-72">
            <a:extLst>
              <a:ext uri="{FF2B5EF4-FFF2-40B4-BE49-F238E27FC236}">
                <ns2:creationId id="{D5C3A726-1004-45A7-B700-0716B0DBE478}"/>
              </a:ext>
            </a:extLst>
          </p:cNvPr>
          <p:cNvSpPr>
            <a:spLocks noGrp="1"/>
          </p:cNvSpPr>
          <p:nvPr/>
        </p:nvSpPr>
        <p:spPr>
          <a:xfrm>
            <a:off x="685800" y="3288030"/>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a:ext uri="{FF2B5EF4-FFF2-40B4-BE49-F238E27FC236}">
                <ns2:creationId id="{31E623E0-085F-474E-AF16-3FE6820F90E2}"/>
              </a:ext>
            </a:extLst>
          </p:cNvPr>
          <p:cNvSpPr>
            <a:spLocks noGrp="1"/>
          </p:cNvSpPr>
          <p:nvPr/>
        </p:nvSpPr>
        <p:spPr>
          <a:xfrm>
            <a:off x="1181100" y="3288030"/>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입력의 절댓값이 감소하지 않아도 인수 하나가 바뀌면 된다</a:t>
            </a:r>
          </a:p>
        </p:txBody>
      </p:sp>
      <p:sp>
        <p:nvSpPr>
          <p:cNvPr id="17" name="">
            <a:extLst>
              <a:ext uri="{FF2B5EF4-FFF2-40B4-BE49-F238E27FC236}">
                <ns2:creationId id="{4469E119-F389-4801-86BA-F7AC4F395C9D}"/>
              </a:ext>
            </a:extLst>
          </p:cNvPr>
          <p:cNvSpPr>
            <a:spLocks noGrp="1"/>
          </p:cNvSpPr>
          <p:nvPr/>
        </p:nvSpPr>
        <p:spPr>
          <a:xfrm>
            <a:off x="1181100" y="5002530"/>
            <a:ext cx="10401300" cy="9525"/>
          </a:xfrm>
          <a:prstGeom prst="rect">
            <a:avLst/>
          </a:prstGeom>
          <a:solidFill>
            <a:srgbClr val="E7E7E7"/>
          </a:solidFill>
          <a:ln w="0">
            <a:noFill/>
          </a:ln>
        </p:spPr>
      </p:sp>
      <p:sp>
        <p:nvSpPr>
          <p:cNvPr id="18" name="text-514-72">
            <a:extLst>
              <a:ext uri="{FF2B5EF4-FFF2-40B4-BE49-F238E27FC236}">
                <ns2:creationId id="{46B2D29A-734A-47DC-A165-A608BE859576}"/>
              </a:ext>
            </a:extLst>
          </p:cNvPr>
          <p:cNvSpPr>
            <a:spLocks noGrp="1"/>
          </p:cNvSpPr>
          <p:nvPr/>
        </p:nvSpPr>
        <p:spPr>
          <a:xfrm>
            <a:off x="685800" y="3821430"/>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a:ext uri="{FF2B5EF4-FFF2-40B4-BE49-F238E27FC236}">
                <ns2:creationId id="{9421FF4A-ED82-4BC0-8D3D-0E349449F4BA}"/>
              </a:ext>
            </a:extLst>
          </p:cNvPr>
          <p:cNvSpPr>
            <a:spLocks noGrp="1"/>
          </p:cNvSpPr>
          <p:nvPr/>
        </p:nvSpPr>
        <p:spPr>
          <a:xfrm>
            <a:off x="1181100" y="3821430"/>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멈추는 조건이 있으면 그 조건에 도달하지 않아도 된다</a:t>
            </a:r>
          </a:p>
        </p:txBody>
      </p:sp>
      <p:sp>
        <p:nvSpPr>
          <p:cNvPr id="20" name="">
            <a:extLst>
              <a:ext uri="{FF2B5EF4-FFF2-40B4-BE49-F238E27FC236}">
                <ns2:creationId id="{E58B5E11-8258-46E1-A18C-87ED3CDC1E14}"/>
              </a:ext>
            </a:extLst>
          </p:cNvPr>
          <p:cNvSpPr>
            <a:spLocks noGrp="1"/>
          </p:cNvSpPr>
          <p:nvPr/>
        </p:nvSpPr>
        <p:spPr>
          <a:xfrm>
            <a:off x="1181100" y="5438775"/>
            <a:ext cx="10401300" cy="9525"/>
          </a:xfrm>
          <a:prstGeom prst="rect">
            <a:avLst/>
          </a:prstGeom>
          <a:solidFill>
            <a:srgbClr val="E7E7E7"/>
          </a:solidFill>
          <a:ln w="0">
            <a:noFill/>
          </a:ln>
        </p:spPr>
      </p:sp>
      <p:sp>
        <p:nvSpPr>
          <p:cNvPr id="21" name="text-580-72">
            <a:extLst>
              <a:ext uri="{FF2B5EF4-FFF2-40B4-BE49-F238E27FC236}">
                <ns2:creationId id="{318E3E31-361F-4D47-B408-E5227226E0BB}"/>
              </a:ext>
            </a:extLst>
          </p:cNvPr>
          <p:cNvSpPr>
            <a:spLocks noGrp="1"/>
          </p:cNvSpPr>
          <p:nvPr/>
        </p:nvSpPr>
        <p:spPr>
          <a:xfrm>
            <a:off x="685800" y="4354830"/>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a:ext uri="{FF2B5EF4-FFF2-40B4-BE49-F238E27FC236}">
                <ns2:creationId id="{3534B6C7-351C-4582-954D-D6B583949B38}"/>
              </a:ext>
            </a:extLst>
          </p:cNvPr>
          <p:cNvSpPr>
            <a:spLocks noGrp="1"/>
          </p:cNvSpPr>
          <p:nvPr/>
        </p:nvSpPr>
        <p:spPr>
          <a:xfrm>
            <a:off x="1181100" y="4354830"/>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매 호출에서 같은 크기의 새 배열을 만들면 된다</a:t>
            </a:r>
          </a:p>
        </p:txBody>
      </p:sp>
    </p:spTree>
    <p:extLst>
      <p:ext uri="{BB962C8B-B14F-4D97-AF65-F5344CB8AC3E}">
        <ns3:creationId val="462685519"/>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0E38F99F-E1D9-4830-974B-E65AFF80D3C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1728C874-81E8-4D22-9574-EF6A1149627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03A9788-84E1-404B-A14A-687DDD0150C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04  정답과 해설</a:t>
            </a:r>
          </a:p>
        </p:txBody>
      </p:sp>
      <p:sp>
        <p:nvSpPr>
          <p:cNvPr id="4" name="">
            <a:extLst>
              <a:ext uri="{FF2B5EF4-FFF2-40B4-BE49-F238E27FC236}">
                <ns2:creationId id="{BA2FFAAF-EC42-41D6-8382-80DBF014A66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C93A983-5653-4337-939A-6B445E24B65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86DE49C4-311E-43D5-8AEC-F2EE3D5632F5}"/>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5DEE9B3-D784-44E6-9788-5E36DAA1463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008</a:t>
            </a:r>
          </a:p>
        </p:txBody>
      </p:sp>
      <p:sp>
        <p:nvSpPr>
          <p:cNvPr id="8" name="text-178-64">
            <a:extLst>
              <a:ext uri="{FF2B5EF4-FFF2-40B4-BE49-F238E27FC236}">
                <ns2:creationId id="{98FDF85F-87AD-448E-8F7C-39636D2138DE}"/>
              </a:ext>
            </a:extLst>
          </p:cNvPr>
          <p:cNvSpPr>
            <a:spLocks noGrp="1"/>
          </p:cNvSpPr>
          <p:nvPr/>
        </p:nvSpPr>
        <p:spPr>
          <a:xfrm>
            <a:off x="609600" y="1695450"/>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재귀 함수의 종료를 보장하는 설명으로 충분한 것은?</a:t>
            </a:r>
          </a:p>
        </p:txBody>
      </p:sp>
      <p:sp>
        <p:nvSpPr>
          <p:cNvPr id="9" name="">
            <a:extLst>
              <a:ext uri="{FF2B5EF4-FFF2-40B4-BE49-F238E27FC236}">
                <ns2:creationId id="{100E769F-3A57-4004-9E72-9B5D14CC98CA}"/>
              </a:ext>
            </a:extLst>
          </p:cNvPr>
          <p:cNvSpPr>
            <a:spLocks noGrp="1"/>
          </p:cNvSpPr>
          <p:nvPr/>
        </p:nvSpPr>
        <p:spPr>
          <a:xfrm>
            <a:off x="609600" y="2110740"/>
            <a:ext cx="10972800" cy="752094"/>
          </a:xfrm>
          <a:prstGeom prst="rect">
            <a:avLst/>
          </a:prstGeom>
          <a:solidFill>
            <a:srgbClr val="171717"/>
          </a:solidFill>
          <a:ln w="0">
            <a:noFill/>
          </a:ln>
        </p:spPr>
      </p:sp>
      <p:sp>
        <p:nvSpPr>
          <p:cNvPr id="10" name="text-245.6-92">
            <a:extLst>
              <a:ext uri="{FF2B5EF4-FFF2-40B4-BE49-F238E27FC236}">
                <ns2:creationId id="{BAF70AFA-967D-45AC-A094-CA891FD71714}"/>
              </a:ext>
            </a:extLst>
          </p:cNvPr>
          <p:cNvSpPr>
            <a:spLocks noGrp="1"/>
          </p:cNvSpPr>
          <p:nvPr/>
        </p:nvSpPr>
        <p:spPr>
          <a:xfrm>
            <a:off x="876300" y="2167890"/>
            <a:ext cx="10439400" cy="637794"/>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1번 멈추는 입력에서는 바로 반환하고, 그 외에는 0 이상의 정수로 잰 문제 크기가 매번</a:t>
            </a:r>
          </a:p>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줄어든다</a:t>
            </a:r>
          </a:p>
        </p:txBody>
      </p:sp>
      <p:sp>
        <p:nvSpPr>
          <p:cNvPr id="11" name="text-324.4-64">
            <a:extLst>
              <a:ext uri="{FF2B5EF4-FFF2-40B4-BE49-F238E27FC236}">
                <ns2:creationId id="{92B815BB-5279-413A-8BCF-C3C1550DFF5C}"/>
              </a:ext>
            </a:extLst>
          </p:cNvPr>
          <p:cNvSpPr>
            <a:spLocks noGrp="1"/>
          </p:cNvSpPr>
          <p:nvPr/>
        </p:nvSpPr>
        <p:spPr>
          <a:xfrm>
            <a:off x="609600" y="2958084"/>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6E4DB272-4259-41F2-B487-ED62393A6681}"/>
              </a:ext>
            </a:extLst>
          </p:cNvPr>
          <p:cNvSpPr>
            <a:spLocks noGrp="1"/>
          </p:cNvSpPr>
          <p:nvPr/>
        </p:nvSpPr>
        <p:spPr>
          <a:xfrm>
            <a:off x="1752600" y="4059174"/>
            <a:ext cx="9829800" cy="9525"/>
          </a:xfrm>
          <a:prstGeom prst="rect">
            <a:avLst/>
          </a:prstGeom>
          <a:solidFill>
            <a:srgbClr val="D4D4D4"/>
          </a:solidFill>
          <a:ln w="0">
            <a:noFill/>
          </a:ln>
        </p:spPr>
      </p:sp>
      <p:sp>
        <p:nvSpPr>
          <p:cNvPr id="13" name="text-372.4-64">
            <a:extLst>
              <a:ext uri="{FF2B5EF4-FFF2-40B4-BE49-F238E27FC236}">
                <ns2:creationId id="{2E1FAA27-6630-4964-B4A0-905228EA6034}"/>
              </a:ext>
            </a:extLst>
          </p:cNvPr>
          <p:cNvSpPr>
            <a:spLocks noGrp="1"/>
          </p:cNvSpPr>
          <p:nvPr/>
        </p:nvSpPr>
        <p:spPr>
          <a:xfrm>
            <a:off x="609600" y="3472434"/>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멈추는 조건과 그 조건에 도달하도록 문제 크기가 줄어드는지를 함께 확인한다.</a:t>
            </a:r>
          </a:p>
        </p:txBody>
      </p:sp>
    </p:spTree>
    <p:extLst>
      <p:ext uri="{BB962C8B-B14F-4D97-AF65-F5344CB8AC3E}">
        <ns3:creationId val="4626855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28-64">
            <a:extLst xmlns:a="http://schemas.openxmlformats.org/drawingml/2006/main">
              <a:ext uri="{FF2B5EF4-FFF2-40B4-BE49-F238E27FC236}">
                <a16:creationId xmlns:a16="http://schemas.microsoft.com/office/drawing/2014/main" id="{CA02AFC4-C1F3-46BA-B6F8-1B8C8FE2DE6E}"/>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xmlns:a="http://schemas.openxmlformats.org/drawingml/2006/main">
              <a:ext uri="{FF2B5EF4-FFF2-40B4-BE49-F238E27FC236}">
                <a16:creationId xmlns:a16="http://schemas.microsoft.com/office/drawing/2014/main" id="{09172EA5-FEFC-4889-9CBB-5A749C80A49F}"/>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164CD9D9-827B-4FDB-9F61-CD25BF904AD4}"/>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05  </a:t>
            </a:r>
          </a:p>
        </p:txBody>
      </p:sp>
      <p:sp>
        <p:nvSpPr>
          <p:cNvPr id="4" name="">
            <a:extLst xmlns:a="http://schemas.openxmlformats.org/drawingml/2006/main">
              <a:ext uri="{FF2B5EF4-FFF2-40B4-BE49-F238E27FC236}">
                <a16:creationId xmlns:a16="http://schemas.microsoft.com/office/drawing/2014/main" id="{469386D5-D975-43F3-9451-A25F3876B6B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5943CD-60D7-4C4E-9971-A5B53B0FBD3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7D981B57-AF66-46E0-962C-72AFBBF3DDC0}"/>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558956A6-78CF-4281-9D6D-FBF953600561}"/>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009</a:t>
            </a:r>
          </a:p>
        </p:txBody>
      </p:sp>
      <p:sp>
        <p:nvSpPr>
          <p:cNvPr id="8" name="text-178-64">
            <a:extLst xmlns:a="http://schemas.openxmlformats.org/drawingml/2006/main">
              <a:ext uri="{FF2B5EF4-FFF2-40B4-BE49-F238E27FC236}">
                <a16:creationId xmlns:a16="http://schemas.microsoft.com/office/drawing/2014/main" id="{04C7B68D-9C17-4738-B147-D1D332B4C0AD}"/>
              </a:ext>
            </a:extLst>
          </p:cNvPr>
          <p:cNvSpPr>
            <a:spLocks xmlns:a="http://schemas.openxmlformats.org/drawingml/2006/main" noGrp="1"/>
          </p:cNvSpPr>
          <p:nvPr/>
        </p:nvSpPr>
        <p:spPr>
          <a:xfrm xmlns:a="http://schemas.openxmlformats.org/drawingml/2006/main">
            <a:off x="609600" y="1695450"/>
            <a:ext cx="10972800" cy="746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8000"/>
              </ns0:lnSpc>
              <ns0:buNone/>
              <ns0:defRPr sz="2100" b="0" i="0">
                <ns0:solidFill>
                  <ns0:srgbClr val="171717"/>
                </ns0:solidFill>
                <ns0:latin typeface="Malgun Gothic"/>
                <ns0:ea typeface="Malgun Gothic"/>
                <ns0:cs typeface="Malgun Gothic"/>
              </ns0:defRPr>
            </ns0:pPr>
            <ns0:r>
              <ns0:rPr sz="2100" b="0" i="0">
                <ns0:solidFill>
                  <ns0:srgbClr val="171717"/>
                </ns0:solidFill>
                <ns0:latin typeface="Malgun Gothic"/>
                <ns0:ea typeface="Malgun Gothic"/>
                <ns0:cs typeface="Malgun Gothic"/>
              </ns0:rPr>
              <ns0:t>n!을 n부터 1까지 곱해 구한다. 재귀 구현은 n을 1씩 줄이고 반복 구현도 n회 안팎 곱한다. 기본 연산을 O(1)로 셀 때 옳은 설명은?</ns0:t>
            </ns0:r>
          </ns0:p>
        </p:txBody>
      </p:sp>
      <p:sp>
        <p:nvSpPr>
          <p:cNvPr id="9" name="text-316-72">
            <a:extLst xmlns:a="http://schemas.openxmlformats.org/drawingml/2006/main">
              <a:ext uri="{FF2B5EF4-FFF2-40B4-BE49-F238E27FC236}">
                <a16:creationId xmlns:a16="http://schemas.microsoft.com/office/drawing/2014/main" id="{44C97D21-C66C-475A-8FBE-91824E37FF39}"/>
              </a:ext>
            </a:extLst>
          </p:cNvPr>
          <p:cNvSpPr>
            <a:spLocks xmlns:a="http://schemas.openxmlformats.org/drawingml/2006/main" noGrp="1"/>
          </p:cNvSpPr>
          <p:nvPr/>
        </p:nvSpPr>
        <p:spPr>
          <a:xfrm xmlns:a="http://schemas.openxmlformats.org/drawingml/2006/main">
            <a:off x="685800" y="30099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xmlns:a="http://schemas.openxmlformats.org/drawingml/2006/main">
              <a:ext uri="{FF2B5EF4-FFF2-40B4-BE49-F238E27FC236}">
                <a16:creationId xmlns:a16="http://schemas.microsoft.com/office/drawing/2014/main" id="{A9B2F18B-4725-4AEF-84F4-991374F2A4D1}"/>
              </a:ext>
            </a:extLst>
          </p:cNvPr>
          <p:cNvSpPr>
            <a:spLocks xmlns:a="http://schemas.openxmlformats.org/drawingml/2006/main" noGrp="1"/>
          </p:cNvSpPr>
          <p:nvPr/>
        </p:nvSpPr>
        <p:spPr>
          <a:xfrm xmlns:a="http://schemas.openxmlformats.org/drawingml/2006/main">
            <a:off x="1181100" y="30099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lnSpc>
                <ns1:spcPct val="108000"/>
              </ns1:lnSpc>
              <ns1:buNone/>
              <ns1:defRPr sz="1875" b="0" i="0">
                <ns1:solidFill>
                  <ns1:srgbClr val="171717"/>
                </ns1:solidFill>
                <ns1:latin typeface="Malgun Gothic"/>
                <ns1:ea typeface="Malgun Gothic"/>
                <ns1:cs typeface="Malgun Gothic"/>
              </ns1:defRPr>
            </ns1:pPr>
            <ns1:r>
              <ns1:rPr sz="1875" b="0" i="0">
                <ns1:solidFill>
                  <ns1:srgbClr val="171717"/>
                </ns1:solidFill>
                <ns1:latin typeface="Malgun Gothic"/>
                <ns1:ea typeface="Malgun Gothic"/>
                <ns1:cs typeface="Malgun Gothic"/>
              </ns1:rPr>
              <ns1:t>재귀 구현만 Θ(log n) 시간이다</ns1:t>
            </ns1:r>
          </ns1:p>
        </p:txBody>
      </p:sp>
      <p:sp>
        <p:nvSpPr>
          <p:cNvPr id="11" name="">
            <a:extLst xmlns:a="http://schemas.openxmlformats.org/drawingml/2006/main">
              <a:ext uri="{FF2B5EF4-FFF2-40B4-BE49-F238E27FC236}">
                <a16:creationId xmlns:a16="http://schemas.microsoft.com/office/drawing/2014/main" id="{9E989A7D-3407-41C4-9D6C-01A8AC938FC1}"/>
              </a:ext>
            </a:extLst>
          </p:cNvPr>
          <p:cNvSpPr>
            <a:spLocks xmlns:a="http://schemas.openxmlformats.org/drawingml/2006/main" noGrp="1"/>
          </p:cNvSpPr>
          <p:nvPr/>
        </p:nvSpPr>
        <p:spPr>
          <a:xfrm xmlns:a="http://schemas.openxmlformats.org/drawingml/2006/main">
            <a:off x="1181100" y="355282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2" name="text-382-72">
            <a:extLst xmlns:a="http://schemas.openxmlformats.org/drawingml/2006/main">
              <a:ext uri="{FF2B5EF4-FFF2-40B4-BE49-F238E27FC236}">
                <a16:creationId xmlns:a16="http://schemas.microsoft.com/office/drawing/2014/main" id="{1C6D079D-EC93-4412-BF54-C1F31CD44BCC}"/>
              </a:ext>
            </a:extLst>
          </p:cNvPr>
          <p:cNvSpPr>
            <a:spLocks xmlns:a="http://schemas.openxmlformats.org/drawingml/2006/main" noGrp="1"/>
          </p:cNvSpPr>
          <p:nvPr/>
        </p:nvSpPr>
        <p:spPr>
          <a:xfrm xmlns:a="http://schemas.openxmlformats.org/drawingml/2006/main">
            <a:off x="685800" y="36385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xmlns:a="http://schemas.openxmlformats.org/drawingml/2006/main">
              <a:ext uri="{FF2B5EF4-FFF2-40B4-BE49-F238E27FC236}">
                <a16:creationId xmlns:a16="http://schemas.microsoft.com/office/drawing/2014/main" id="{CB57898F-FD39-451E-953D-970646CA89C8}"/>
              </a:ext>
            </a:extLst>
          </p:cNvPr>
          <p:cNvSpPr>
            <a:spLocks xmlns:a="http://schemas.openxmlformats.org/drawingml/2006/main" noGrp="1"/>
          </p:cNvSpPr>
          <p:nvPr/>
        </p:nvSpPr>
        <p:spPr>
          <a:xfrm xmlns:a="http://schemas.openxmlformats.org/drawingml/2006/main">
            <a:off x="1181100" y="363855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8000"/>
              </ns2:lnSpc>
              <ns2:buNone/>
              <ns2:defRPr sz="1875" b="0" i="0">
                <ns2:solidFill>
                  <ns2:srgbClr val="171717"/>
                </ns2:solidFill>
                <ns2:latin typeface="Malgun Gothic"/>
                <ns2:ea typeface="Malgun Gothic"/>
                <ns2:cs typeface="Malgun Gothic"/>
              </ns2:defRPr>
            </ns2:pPr>
            <ns2:r>
              <ns2:rPr sz="1875" b="0" i="0">
                <ns2:solidFill>
                  <ns2:srgbClr val="171717"/>
                </ns2:solidFill>
                <ns2:latin typeface="Malgun Gothic"/>
                <ns2:ea typeface="Malgun Gothic"/>
                <ns2:cs typeface="Malgun Gothic"/>
              </ns2:rPr>
              <ns2:t>반복 구현은 항상 Θ(n²) 시간이다</ns2:t>
            </ns2:r>
          </ns2:p>
        </p:txBody>
      </p:sp>
      <p:sp>
        <p:nvSpPr>
          <p:cNvPr id="14" name="">
            <a:extLst xmlns:a="http://schemas.openxmlformats.org/drawingml/2006/main">
              <a:ext uri="{FF2B5EF4-FFF2-40B4-BE49-F238E27FC236}">
                <a16:creationId xmlns:a16="http://schemas.microsoft.com/office/drawing/2014/main" id="{9AD6005E-EE02-4D7B-A1CA-10F96E473C12}"/>
              </a:ext>
            </a:extLst>
          </p:cNvPr>
          <p:cNvSpPr>
            <a:spLocks xmlns:a="http://schemas.openxmlformats.org/drawingml/2006/main" noGrp="1"/>
          </p:cNvSpPr>
          <p:nvPr/>
        </p:nvSpPr>
        <p:spPr>
          <a:xfrm xmlns:a="http://schemas.openxmlformats.org/drawingml/2006/main">
            <a:off x="1181100" y="418147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5" name="text-448-72">
            <a:extLst xmlns:a="http://schemas.openxmlformats.org/drawingml/2006/main">
              <a:ext uri="{FF2B5EF4-FFF2-40B4-BE49-F238E27FC236}">
                <a16:creationId xmlns:a16="http://schemas.microsoft.com/office/drawing/2014/main" id="{E3FB9536-44C0-4804-92B0-13E344CDCE00}"/>
              </a:ext>
            </a:extLst>
          </p:cNvPr>
          <p:cNvSpPr>
            <a:spLocks xmlns:a="http://schemas.openxmlformats.org/drawingml/2006/main" noGrp="1"/>
          </p:cNvSpPr>
          <p:nvPr/>
        </p:nvSpPr>
        <p:spPr>
          <a:xfrm xmlns:a="http://schemas.openxmlformats.org/drawingml/2006/main">
            <a:off x="685800" y="42672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xmlns:a="http://schemas.openxmlformats.org/drawingml/2006/main">
              <a:ext uri="{FF2B5EF4-FFF2-40B4-BE49-F238E27FC236}">
                <a16:creationId xmlns:a16="http://schemas.microsoft.com/office/drawing/2014/main" id="{AB204ECB-58A9-4112-A0CF-1223A2EE119E}"/>
              </a:ext>
            </a:extLst>
          </p:cNvPr>
          <p:cNvSpPr>
            <a:spLocks xmlns:a="http://schemas.openxmlformats.org/drawingml/2006/main" noGrp="1"/>
          </p:cNvSpPr>
          <p:nvPr/>
        </p:nvSpPr>
        <p:spPr>
          <a:xfrm xmlns:a="http://schemas.openxmlformats.org/drawingml/2006/main">
            <a:off x="1181100" y="42672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lnSpc>
                <ns3:spcPct val="108000"/>
              </ns3:lnSpc>
              <ns3:buNone/>
              <ns3:defRPr sz="1875" b="0" i="0">
                <ns3:solidFill>
                  <ns3:srgbClr val="171717"/>
                </ns3:solidFill>
                <ns3:latin typeface="Malgun Gothic"/>
                <ns3:ea typeface="Malgun Gothic"/>
                <ns3:cs typeface="Malgun Gothic"/>
              </ns3:defRPr>
            </ns3:pPr>
            <ns3:r>
              <ns3:rPr sz="1875" b="0" i="0">
                <ns3:solidFill>
                  <ns3:srgbClr val="171717"/>
                </ns3:solidFill>
                <ns3:latin typeface="Malgun Gothic"/>
                <ns3:ea typeface="Malgun Gothic"/>
                <ns3:cs typeface="Malgun Gothic"/>
              </ns3:rPr>
              <ns3:t>재귀 구현은 곱셈을 한 번만 한다</ns3:t>
            </ns3:r>
          </ns3:p>
        </p:txBody>
      </p:sp>
      <p:sp>
        <p:nvSpPr>
          <p:cNvPr id="17" name="">
            <a:extLst xmlns:a="http://schemas.openxmlformats.org/drawingml/2006/main">
              <a:ext uri="{FF2B5EF4-FFF2-40B4-BE49-F238E27FC236}">
                <a16:creationId xmlns:a16="http://schemas.microsoft.com/office/drawing/2014/main" id="{AC6B5CDC-9756-4769-A12D-32BB910822DF}"/>
              </a:ext>
            </a:extLst>
          </p:cNvPr>
          <p:cNvSpPr>
            <a:spLocks xmlns:a="http://schemas.openxmlformats.org/drawingml/2006/main" noGrp="1"/>
          </p:cNvSpPr>
          <p:nvPr/>
        </p:nvSpPr>
        <p:spPr>
          <a:xfrm xmlns:a="http://schemas.openxmlformats.org/drawingml/2006/main">
            <a:off x="1181100" y="481012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8" name="text-514-72">
            <a:extLst xmlns:a="http://schemas.openxmlformats.org/drawingml/2006/main">
              <a:ext uri="{FF2B5EF4-FFF2-40B4-BE49-F238E27FC236}">
                <a16:creationId xmlns:a16="http://schemas.microsoft.com/office/drawing/2014/main" id="{D0BB607C-01AF-48DA-ABE8-AE169E504412}"/>
              </a:ext>
            </a:extLst>
          </p:cNvPr>
          <p:cNvSpPr>
            <a:spLocks xmlns:a="http://schemas.openxmlformats.org/drawingml/2006/main" noGrp="1"/>
          </p:cNvSpPr>
          <p:nvPr/>
        </p:nvSpPr>
        <p:spPr>
          <a:xfrm xmlns:a="http://schemas.openxmlformats.org/drawingml/2006/main">
            <a:off x="685800" y="48958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xmlns:a="http://schemas.openxmlformats.org/drawingml/2006/main">
              <a:ext uri="{FF2B5EF4-FFF2-40B4-BE49-F238E27FC236}">
                <a16:creationId xmlns:a16="http://schemas.microsoft.com/office/drawing/2014/main" id="{BCFB9C38-42A5-4A18-98B6-8C122AF0978E}"/>
              </a:ext>
            </a:extLst>
          </p:cNvPr>
          <p:cNvSpPr>
            <a:spLocks xmlns:a="http://schemas.openxmlformats.org/drawingml/2006/main" noGrp="1"/>
          </p:cNvSpPr>
          <p:nvPr/>
        </p:nvSpPr>
        <p:spPr>
          <a:xfrm xmlns:a="http://schemas.openxmlformats.org/drawingml/2006/main">
            <a:off x="1181100" y="489585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lnSpc>
                <ns4:spcPct val="108000"/>
              </ns4:lnSpc>
              <ns4:buNone/>
              <ns4:defRPr sz="1875" b="0" i="0">
                <ns4:solidFill>
                  <ns4:srgbClr val="171717"/>
                </ns4:solidFill>
                <ns4:latin typeface="Malgun Gothic"/>
                <ns4:ea typeface="Malgun Gothic"/>
                <ns4:cs typeface="Malgun Gothic"/>
              </ns4:defRPr>
            </ns4:pPr>
            <ns4:r>
              <ns4:rPr sz="1875" b="0" i="0">
                <ns4:solidFill>
                  <ns4:srgbClr val="171717"/>
                </ns4:solidFill>
                <ns4:latin typeface="Malgun Gothic"/>
                <ns4:ea typeface="Malgun Gothic"/>
                <ns4:cs typeface="Malgun Gothic"/>
              </ns4:rPr>
              <ns4:t>둘 다 Θ(n) 시간에 같은 값을 계산한다</ns4:t>
            </ns4:r>
          </ns4:p>
        </p:txBody>
      </p:sp>
      <p:sp>
        <p:nvSpPr>
          <p:cNvPr id="20" name="">
            <a:extLst xmlns:a="http://schemas.openxmlformats.org/drawingml/2006/main">
              <a:ext uri="{FF2B5EF4-FFF2-40B4-BE49-F238E27FC236}">
                <a16:creationId xmlns:a16="http://schemas.microsoft.com/office/drawing/2014/main" id="{835AD204-E424-4ACF-8D06-4C3402F88608}"/>
              </a:ext>
            </a:extLst>
          </p:cNvPr>
          <p:cNvSpPr>
            <a:spLocks xmlns:a="http://schemas.openxmlformats.org/drawingml/2006/main" noGrp="1"/>
          </p:cNvSpPr>
          <p:nvPr/>
        </p:nvSpPr>
        <p:spPr>
          <a:xfrm xmlns:a="http://schemas.openxmlformats.org/drawingml/2006/main">
            <a:off x="1181100" y="543877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21" name="text-580-72">
            <a:extLst xmlns:a="http://schemas.openxmlformats.org/drawingml/2006/main">
              <a:ext uri="{FF2B5EF4-FFF2-40B4-BE49-F238E27FC236}">
                <a16:creationId xmlns:a16="http://schemas.microsoft.com/office/drawing/2014/main" id="{1D7F1DAD-5416-468B-8A6A-DA0BB93264A1}"/>
              </a:ext>
            </a:extLst>
          </p:cNvPr>
          <p:cNvSpPr>
            <a:spLocks xmlns:a="http://schemas.openxmlformats.org/drawingml/2006/main" noGrp="1"/>
          </p:cNvSpPr>
          <p:nvPr/>
        </p:nvSpPr>
        <p:spPr>
          <a:xfrm xmlns:a="http://schemas.openxmlformats.org/drawingml/2006/main">
            <a:off x="685800" y="55245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xmlns:a="http://schemas.openxmlformats.org/drawingml/2006/main">
              <a:ext uri="{FF2B5EF4-FFF2-40B4-BE49-F238E27FC236}">
                <a16:creationId xmlns:a16="http://schemas.microsoft.com/office/drawing/2014/main" id="{721F7A0B-05CF-4F64-B4B0-5A27180C2C73}"/>
              </a:ext>
            </a:extLst>
          </p:cNvPr>
          <p:cNvSpPr>
            <a:spLocks xmlns:a="http://schemas.openxmlformats.org/drawingml/2006/main" noGrp="1"/>
          </p:cNvSpPr>
          <p:nvPr/>
        </p:nvSpPr>
        <p:spPr>
          <a:xfrm xmlns:a="http://schemas.openxmlformats.org/drawingml/2006/main">
            <a:off x="1181100" y="55245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5:p xmlns:ns5="http://schemas.openxmlformats.org/drawingml/2006/main">
            <ns5:pPr algn="l">
              <ns5:lnSpc>
                <ns5:spcPct val="108000"/>
              </ns5:lnSpc>
              <ns5:buNone/>
              <ns5:defRPr sz="1875" b="0" i="0">
                <ns5:solidFill>
                  <ns5:srgbClr val="171717"/>
                </ns5:solidFill>
                <ns5:latin typeface="Malgun Gothic"/>
                <ns5:ea typeface="Malgun Gothic"/>
                <ns5:cs typeface="Malgun Gothic"/>
              </ns5:defRPr>
            </ns5:pPr>
            <ns5:r>
              <ns5:rPr sz="1875" b="0" i="0">
                <ns5:solidFill>
                  <ns5:srgbClr val="171717"/>
                </ns5:solidFill>
                <ns5:latin typeface="Malgun Gothic"/>
                <ns5:ea typeface="Malgun Gothic"/>
                <ns5:cs typeface="Malgun Gothic"/>
              </ns5:rPr>
              <ns5:t>두 구현은 서로 다른 팩토리얼 값을 계산한다</ns5:t>
            </ns5:r>
          </ns5:p>
        </p:txBody>
      </p:sp>
    </p:spTree>
    <p:extLst>
      <p:ext uri="{BB962C8B-B14F-4D97-AF65-F5344CB8AC3E}">
        <p14:creationId xmlns:p14="http://schemas.microsoft.com/office/powerpoint/2010/main" val="46268551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801E50C1-11B8-4168-BD8B-AC70E4B0215D}"/>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xmlns:a="http://schemas.openxmlformats.org/drawingml/2006/main">
              <a:ext uri="{FF2B5EF4-FFF2-40B4-BE49-F238E27FC236}">
                <a16:creationId xmlns:a16="http://schemas.microsoft.com/office/drawing/2014/main" id="{DBCBBC4E-E5CB-4F85-ADB5-3F56E84B5C8C}"/>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6FF1BA0B-D4C5-4350-9F58-7A9464D365AD}"/>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05  정답과 해설</a:t>
            </a:r>
          </a:p>
        </p:txBody>
      </p:sp>
      <p:sp>
        <p:nvSpPr>
          <p:cNvPr id="4" name="">
            <a:extLst xmlns:a="http://schemas.openxmlformats.org/drawingml/2006/main">
              <a:ext uri="{FF2B5EF4-FFF2-40B4-BE49-F238E27FC236}">
                <a16:creationId xmlns:a16="http://schemas.microsoft.com/office/drawing/2014/main" id="{BC6FA0AE-240C-4461-A161-274F2B9E883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BAEE6F-615E-4CAF-935D-2C0751E18F0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77B9DB4E-AF15-450C-B1B9-4B084B175476}"/>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5792FF95-0C9B-437B-B9BE-CA2148F971EF}"/>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010</a:t>
            </a:r>
          </a:p>
        </p:txBody>
      </p:sp>
      <p:sp>
        <p:nvSpPr>
          <p:cNvPr id="8" name="text-178-64">
            <a:extLst xmlns:a="http://schemas.openxmlformats.org/drawingml/2006/main">
              <a:ext uri="{FF2B5EF4-FFF2-40B4-BE49-F238E27FC236}">
                <a16:creationId xmlns:a16="http://schemas.microsoft.com/office/drawing/2014/main" id="{73918C85-27C9-48EB-950B-DB59EB3677C0}"/>
              </a:ext>
            </a:extLst>
          </p:cNvPr>
          <p:cNvSpPr>
            <a:spLocks xmlns:a="http://schemas.openxmlformats.org/drawingml/2006/main" noGrp="1"/>
          </p:cNvSpPr>
          <p:nvPr/>
        </p:nvSpPr>
        <p:spPr>
          <a:xfrm xmlns:a="http://schemas.openxmlformats.org/drawingml/2006/main">
            <a:off x="609600" y="1695450"/>
            <a:ext cx="10972800" cy="644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8000"/>
              </ns0:lnSpc>
              <ns0:buNone/>
              <ns0:defRPr sz="1800" b="0" i="0">
                <ns0:solidFill>
                  <ns0:srgbClr val="606060"/>
                </ns0:solidFill>
                <ns0:latin typeface="Malgun Gothic"/>
                <ns0:ea typeface="Malgun Gothic"/>
                <ns0:cs typeface="Malgun Gothic"/>
              </ns0:defRPr>
            </ns0:pPr>
            <ns0:r>
              <ns0:rPr sz="1800" b="0" i="0">
                <ns0:solidFill>
                  <ns0:srgbClr val="606060"/>
                </ns0:solidFill>
                <ns0:latin typeface="Malgun Gothic"/>
                <ns0:ea typeface="Malgun Gothic"/>
                <ns0:cs typeface="Malgun Gothic"/>
              </ns0:rPr>
              <ns0:t>n!을 n부터 1까지 곱해 구한다. 재귀 구현은 n을 1씩 줄이고 반복 구현도 n회 안팎 곱한다. 기본 연산을 O(1)로 셀 때 옳은 설명은?</ns0:t>
            </ns0:r>
          </ns0:p>
        </p:txBody>
      </p:sp>
      <p:sp>
        <p:nvSpPr>
          <p:cNvPr id="9" name="">
            <a:extLst xmlns:a="http://schemas.openxmlformats.org/drawingml/2006/main">
              <a:ext uri="{FF2B5EF4-FFF2-40B4-BE49-F238E27FC236}">
                <a16:creationId xmlns:a16="http://schemas.microsoft.com/office/drawing/2014/main" id="{63A72201-CED7-4164-B0ED-EC4E2FD31142}"/>
              </a:ext>
            </a:extLst>
          </p:cNvPr>
          <p:cNvSpPr>
            <a:spLocks xmlns:a="http://schemas.openxmlformats.org/drawingml/2006/main" noGrp="1"/>
          </p:cNvSpPr>
          <p:nvPr/>
        </p:nvSpPr>
        <p:spPr>
          <a:xfrm xmlns:a="http://schemas.openxmlformats.org/drawingml/2006/main">
            <a:off x="609600" y="2468055"/>
            <a:ext cx="10972800" cy="626745"/>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53ACD7C5-60EE-49EF-B784-267A891B6D56}"/>
              </a:ext>
            </a:extLst>
          </p:cNvPr>
          <p:cNvSpPr>
            <a:spLocks xmlns:a="http://schemas.openxmlformats.org/drawingml/2006/main" noGrp="1"/>
          </p:cNvSpPr>
          <p:nvPr/>
        </p:nvSpPr>
        <p:spPr>
          <a:xfrm xmlns:a="http://schemas.openxmlformats.org/drawingml/2006/main">
            <a:off x="876300" y="2601405"/>
            <a:ext cx="104394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lnSpc>
                <ns1:spcPct val="108000"/>
              </ns1:lnSpc>
              <ns1:buNone/>
              <ns1:defRPr sz="2025" b="1" i="0">
                <ns1:solidFill>
                  <ns1:srgbClr val="FFFFFF"/>
                </ns1:solidFill>
                <ns1:latin typeface="Malgun Gothic"/>
                <ns1:ea typeface="Malgun Gothic"/>
                <ns1:cs typeface="Malgun Gothic"/>
              </ns1:defRPr>
            </ns1:pPr>
            <ns1:r>
              <ns1:rPr sz="2025" b="1" i="0">
                <ns1:solidFill>
                  <ns1:srgbClr val="FFFFFF"/>
                </ns1:solidFill>
                <ns1:latin typeface="Malgun Gothic"/>
                <ns1:ea typeface="Malgun Gothic"/>
                <ns1:cs typeface="Malgun Gothic"/>
              </ns1:rPr>
              <ns1:t>4번 둘 다 Θ(n) 시간에 같은 값을 계산한다</ns1:t>
            </ns1:r>
          </ns1:p>
        </p:txBody>
      </p:sp>
      <p:sp>
        <p:nvSpPr>
          <p:cNvPr id="11" name="text-324.4-64">
            <a:extLst xmlns:a="http://schemas.openxmlformats.org/drawingml/2006/main">
              <a:ext uri="{FF2B5EF4-FFF2-40B4-BE49-F238E27FC236}">
                <a16:creationId xmlns:a16="http://schemas.microsoft.com/office/drawing/2014/main" id="{D4610890-592F-433E-9A8A-3DD7573E63A6}"/>
              </a:ext>
            </a:extLst>
          </p:cNvPr>
          <p:cNvSpPr>
            <a:spLocks xmlns:a="http://schemas.openxmlformats.org/drawingml/2006/main" noGrp="1"/>
          </p:cNvSpPr>
          <p:nvPr/>
        </p:nvSpPr>
        <p:spPr>
          <a:xfrm xmlns:a="http://schemas.openxmlformats.org/drawingml/2006/main">
            <a:off x="609600" y="3351975"/>
            <a:ext cx="118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3CCF255C-6950-415B-8C53-F04F0DFAAAF6}"/>
              </a:ext>
            </a:extLst>
          </p:cNvPr>
          <p:cNvSpPr>
            <a:spLocks xmlns:a="http://schemas.openxmlformats.org/drawingml/2006/main" noGrp="1"/>
          </p:cNvSpPr>
          <p:nvPr/>
        </p:nvSpPr>
        <p:spPr>
          <a:xfrm xmlns:a="http://schemas.openxmlformats.org/drawingml/2006/main">
            <a:off x="1752600" y="3523425"/>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5A20F77C-2848-4CBC-89BA-9DED11771655}"/>
              </a:ext>
            </a:extLst>
          </p:cNvPr>
          <p:cNvSpPr>
            <a:spLocks xmlns:a="http://schemas.openxmlformats.org/drawingml/2006/main" noGrp="1"/>
          </p:cNvSpPr>
          <p:nvPr/>
        </p:nvSpPr>
        <p:spPr>
          <a:xfrm xmlns:a="http://schemas.openxmlformats.org/drawingml/2006/main">
            <a:off x="609600" y="3809175"/>
            <a:ext cx="10972800" cy="644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8000"/>
              </ns2:lnSpc>
              <ns2:buNone/>
              <ns2:defRPr sz="1800" b="0" i="0">
                <ns2:solidFill>
                  <ns2:srgbClr val="606060"/>
                </ns2:solidFill>
                <ns2:latin typeface="Malgun Gothic"/>
                <ns2:ea typeface="Malgun Gothic"/>
                <ns2:cs typeface="Malgun Gothic"/>
              </ns2:defRPr>
            </ns2:pPr>
            <ns2:r>
              <ns2:rPr sz="1800" b="0" i="0">
                <ns2:solidFill>
                  <ns2:srgbClr val="606060"/>
                </ns2:solidFill>
                <ns2:latin typeface="Malgun Gothic"/>
                <ns2:ea typeface="Malgun Gothic"/>
                <ns2:cs typeface="Malgun Gothic"/>
              </ns2:rPr>
              <ns2:t>두 구현 모두 n에 비례하는 횟수만큼 곱한다. 재귀를 썼다는 이유만으로 더 빠르거나 다른 결과가 나오지는 않는다.</ns2:t>
            </ns2:r>
          </ns2:p>
        </p:txBody>
      </p:sp>
    </p:spTree>
    <p:extLst>
      <p:ext uri="{BB962C8B-B14F-4D97-AF65-F5344CB8AC3E}">
        <p14:creationId xmlns:p14="http://schemas.microsoft.com/office/powerpoint/2010/main" val="462685519"/>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299DBE38-46F1-479E-9964-1E22EFE40D5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19E7B62D-E8BF-412B-AD0D-DE593415BF17}"/>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D2B2CED-1B4B-41D4-994E-996412301552}"/>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06  </a:t>
            </a:r>
          </a:p>
        </p:txBody>
      </p:sp>
      <p:sp>
        <p:nvSpPr>
          <p:cNvPr id="4" name="">
            <a:extLst>
              <a:ext uri="{FF2B5EF4-FFF2-40B4-BE49-F238E27FC236}">
                <ns2:creationId id="{A87A2AF6-C519-4AEB-BEF7-0315807FB98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9442272-FF1B-467C-B8FB-9347B0C10C9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E656D15-4D19-49D6-B679-A576C25E0135}"/>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CDA6512-2CB1-4C0B-973E-B14ECF95788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011</a:t>
            </a:r>
          </a:p>
        </p:txBody>
      </p:sp>
      <p:sp>
        <p:nvSpPr>
          <p:cNvPr id="8" name="text-178-64">
            <a:extLst>
              <a:ext uri="{FF2B5EF4-FFF2-40B4-BE49-F238E27FC236}">
                <ns2:creationId id="{10BE2FA9-67DA-4F96-AC95-C90C5E54A448}"/>
              </a:ext>
            </a:extLst>
          </p:cNvPr>
          <p:cNvSpPr>
            <a:spLocks noGrp="1"/>
          </p:cNvSpPr>
          <p:nvPr/>
        </p:nvSpPr>
        <p:spPr>
          <a:xfrm>
            <a:off x="609600" y="1619250"/>
            <a:ext cx="10972800" cy="2482310"/>
          </a:xfrm>
          <a:prstGeom prst="rect">
            <a:avLst/>
          </a:prstGeom>
          <a:noFill/>
          <a:ln w="0">
            <a:noFill/>
          </a:ln>
        </p:spPr>
        <p:txBody>
          <a:bodyPr wrap="none" lIns="0" tIns="0" rIns="0" bIns="0" anchor="t">
            <a:noAutofit/>
          </a:bodyPr>
          <a:lstStyle/>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다음 Python 함수는 n번째 피보나치 수를 구한다. n은 0 이상의 정수이며, fib(0)=0, fib(1)=1이고 이후 항은 앞의 두 항을</a:t>
            </a:r>
          </a:p>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더한 값이다. 계산 결과를 따로 저장하지 않는다.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def fib(n):</a:t>
            </a:r>
          </a:p>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    if n &lt;= 1:</a:t>
            </a:r>
          </a:p>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        return n</a:t>
            </a:r>
          </a:p>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    return fib(n - 1) + fib(n - 2)</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n이 커질수록 같은 피보나치 수를 반복문으로 차례로 구하는 방식보다 계산량이 빠르게 늘어나는 주된 이유는?</a:t>
            </a:r>
          </a:p>
        </p:txBody>
      </p:sp>
      <p:sp>
        <p:nvSpPr>
          <p:cNvPr id="9" name="text-316-72">
            <a:extLst>
              <a:ext uri="{FF2B5EF4-FFF2-40B4-BE49-F238E27FC236}">
                <ns2:creationId id="{C161B932-40C9-48D7-B4FE-5DF358DC0B3F}"/>
              </a:ext>
            </a:extLst>
          </p:cNvPr>
          <p:cNvSpPr>
            <a:spLocks noGrp="1"/>
          </p:cNvSpPr>
          <p:nvPr/>
        </p:nvSpPr>
        <p:spPr>
          <a:xfrm>
            <a:off x="685800" y="4234910"/>
            <a:ext cx="400050" cy="326612"/>
          </a:xfrm>
          <a:prstGeom prst="rect">
            <a:avLst/>
          </a:prstGeom>
          <a:noFill/>
          <a:ln w="0">
            <a:noFill/>
          </a:ln>
        </p:spPr>
        <p:txBody>
          <a:bodyPr wrap="none" lIns="0" tIns="0" rIns="0" bIns="0" anchor="t">
            <a:noAutofit/>
          </a:bodyPr>
          <a:lstStyle/>
          <a:p>
            <a:pPr algn="l">
              <a:lnSpc>
                <a:spcPct val="108000"/>
              </a:lnSpc>
              <a:buNone/>
              <a:defRPr sz="1538" b="1" i="0">
                <a:solidFill>
                  <a:srgbClr val="171717"/>
                </a:solidFill>
                <a:latin typeface="Consolas"/>
                <a:ea typeface="Consolas"/>
                <a:cs typeface="Consolas"/>
              </a:defRPr>
            </a:pPr>
            <a:r>
              <a:rPr sz="1538" b="1" i="0">
                <a:solidFill>
                  <a:srgbClr val="171717"/>
                </a:solidFill>
                <a:latin typeface="Consolas"/>
                <a:ea typeface="Consolas"/>
                <a:cs typeface="Consolas"/>
              </a:rPr>
              <a:t>1</a:t>
            </a:r>
          </a:p>
        </p:txBody>
      </p:sp>
      <p:sp>
        <p:nvSpPr>
          <p:cNvPr id="10" name="text-316-124">
            <a:extLst>
              <a:ext uri="{FF2B5EF4-FFF2-40B4-BE49-F238E27FC236}">
                <ns2:creationId id="{12B3FDC7-7854-46BD-8B0F-4A0034D9FC92}"/>
              </a:ext>
            </a:extLst>
          </p:cNvPr>
          <p:cNvSpPr>
            <a:spLocks noGrp="1"/>
          </p:cNvSpPr>
          <p:nvPr/>
        </p:nvSpPr>
        <p:spPr>
          <a:xfrm>
            <a:off x="1181100" y="4234910"/>
            <a:ext cx="4857750" cy="326612"/>
          </a:xfrm>
          <a:prstGeom prst="rect">
            <a:avLst/>
          </a:prstGeom>
          <a:noFill/>
          <a:ln w="0">
            <a:noFill/>
          </a:ln>
        </p:spPr>
        <p:txBody>
          <a:bodyPr wrap="none" lIns="0" tIns="0" rIns="0" bIns="0" anchor="t">
            <a:noAutofit/>
          </a:bodyPr>
          <a:lstStyle/>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같은 인수의 부분 문제를 여러 번 계산한다</a:t>
            </a:r>
          </a:p>
        </p:txBody>
      </p:sp>
      <p:sp>
        <p:nvSpPr>
          <p:cNvPr id="11" name="">
            <a:extLst>
              <a:ext uri="{FF2B5EF4-FFF2-40B4-BE49-F238E27FC236}">
                <ns2:creationId id="{23BDC399-B65D-4258-A766-035F3CEB1C5D}"/>
              </a:ext>
            </a:extLst>
          </p:cNvPr>
          <p:cNvSpPr>
            <a:spLocks noGrp="1"/>
          </p:cNvSpPr>
          <p:nvPr/>
        </p:nvSpPr>
        <p:spPr>
          <a:xfrm>
            <a:off x="609600" y="6267450"/>
            <a:ext cx="10972800" cy="9525"/>
          </a:xfrm>
          <a:prstGeom prst="rect">
            <a:avLst/>
          </a:prstGeom>
          <a:solidFill>
            <a:srgbClr val="E7E7E7"/>
          </a:solidFill>
          <a:ln w="0">
            <a:noFill/>
          </a:ln>
        </p:spPr>
      </p:sp>
      <p:sp>
        <p:nvSpPr>
          <p:cNvPr id="12" name="text-382-72">
            <a:extLst>
              <a:ext uri="{FF2B5EF4-FFF2-40B4-BE49-F238E27FC236}">
                <ns2:creationId id="{B639DFBC-FC0A-4331-A7B9-1B76BCAB472D}"/>
              </a:ext>
            </a:extLst>
          </p:cNvPr>
          <p:cNvSpPr>
            <a:spLocks noGrp="1"/>
          </p:cNvSpPr>
          <p:nvPr/>
        </p:nvSpPr>
        <p:spPr>
          <a:xfrm>
            <a:off x="685800" y="4907185"/>
            <a:ext cx="400050" cy="326612"/>
          </a:xfrm>
          <a:prstGeom prst="rect">
            <a:avLst/>
          </a:prstGeom>
          <a:noFill/>
          <a:ln w="0">
            <a:noFill/>
          </a:ln>
        </p:spPr>
        <p:txBody>
          <a:bodyPr wrap="none" lIns="0" tIns="0" rIns="0" bIns="0" anchor="t">
            <a:noAutofit/>
          </a:bodyPr>
          <a:lstStyle/>
          <a:p>
            <a:pPr algn="l">
              <a:lnSpc>
                <a:spcPct val="108000"/>
              </a:lnSpc>
              <a:buNone/>
              <a:defRPr sz="1538" b="1" i="0">
                <a:solidFill>
                  <a:srgbClr val="171717"/>
                </a:solidFill>
                <a:latin typeface="Consolas"/>
                <a:ea typeface="Consolas"/>
                <a:cs typeface="Consolas"/>
              </a:defRPr>
            </a:pPr>
            <a:r>
              <a:rPr sz="1538" b="1" i="0">
                <a:solidFill>
                  <a:srgbClr val="171717"/>
                </a:solidFill>
                <a:latin typeface="Consolas"/>
                <a:ea typeface="Consolas"/>
                <a:cs typeface="Consolas"/>
              </a:rPr>
              <a:t>2</a:t>
            </a:r>
          </a:p>
        </p:txBody>
      </p:sp>
      <p:sp>
        <p:nvSpPr>
          <p:cNvPr id="13" name="text-382-124">
            <a:extLst>
              <a:ext uri="{FF2B5EF4-FFF2-40B4-BE49-F238E27FC236}">
                <ns2:creationId id="{ED5F6A4A-E405-4F0C-BAD8-1F9CD34EC94E}"/>
              </a:ext>
            </a:extLst>
          </p:cNvPr>
          <p:cNvSpPr>
            <a:spLocks noGrp="1"/>
          </p:cNvSpPr>
          <p:nvPr/>
        </p:nvSpPr>
        <p:spPr>
          <a:xfrm>
            <a:off x="1181100" y="4907185"/>
            <a:ext cx="4857750" cy="596075"/>
          </a:xfrm>
          <a:prstGeom prst="rect">
            <a:avLst/>
          </a:prstGeom>
          <a:noFill/>
          <a:ln w="0">
            <a:noFill/>
          </a:ln>
        </p:spPr>
        <p:txBody>
          <a:bodyPr wrap="none" lIns="0" tIns="0" rIns="0" bIns="0" anchor="t">
            <a:noAutofit/>
          </a:bodyPr>
          <a:lstStyle/>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한 단계에서 두 값을 더하면 덧셈 횟수와 무관하게</a:t>
            </a:r>
          </a:p>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지수 시간이 된다</a:t>
            </a:r>
          </a:p>
        </p:txBody>
      </p:sp>
      <p:sp>
        <p:nvSpPr>
          <p:cNvPr id="14" name="">
            <a:extLst>
              <a:ext uri="{FF2B5EF4-FFF2-40B4-BE49-F238E27FC236}">
                <ns2:creationId id="{2002A279-CB02-441B-932D-B407BEF7E73B}"/>
              </a:ext>
            </a:extLst>
          </p:cNvPr>
          <p:cNvSpPr>
            <a:spLocks noGrp="1"/>
          </p:cNvSpPr>
          <p:nvPr/>
        </p:nvSpPr>
        <p:spPr>
          <a:xfrm>
            <a:off x="609600" y="6267450"/>
            <a:ext cx="10972800" cy="9525"/>
          </a:xfrm>
          <a:prstGeom prst="rect">
            <a:avLst/>
          </a:prstGeom>
          <a:solidFill>
            <a:srgbClr val="E7E7E7"/>
          </a:solidFill>
          <a:ln w="0">
            <a:noFill/>
          </a:ln>
        </p:spPr>
      </p:sp>
      <p:sp>
        <p:nvSpPr>
          <p:cNvPr id="15" name="text-448-72">
            <a:extLst>
              <a:ext uri="{FF2B5EF4-FFF2-40B4-BE49-F238E27FC236}">
                <ns2:creationId id="{6C4702C3-1200-49AC-ACAC-0B3B4B620158}"/>
              </a:ext>
            </a:extLst>
          </p:cNvPr>
          <p:cNvSpPr>
            <a:spLocks noGrp="1"/>
          </p:cNvSpPr>
          <p:nvPr/>
        </p:nvSpPr>
        <p:spPr>
          <a:xfrm>
            <a:off x="685800" y="5579459"/>
            <a:ext cx="400050" cy="326612"/>
          </a:xfrm>
          <a:prstGeom prst="rect">
            <a:avLst/>
          </a:prstGeom>
          <a:noFill/>
          <a:ln w="0">
            <a:noFill/>
          </a:ln>
        </p:spPr>
        <p:txBody>
          <a:bodyPr wrap="none" lIns="0" tIns="0" rIns="0" bIns="0" anchor="t">
            <a:noAutofit/>
          </a:bodyPr>
          <a:lstStyle/>
          <a:p>
            <a:pPr algn="l">
              <a:lnSpc>
                <a:spcPct val="108000"/>
              </a:lnSpc>
              <a:buNone/>
              <a:defRPr sz="1538" b="1" i="0">
                <a:solidFill>
                  <a:srgbClr val="171717"/>
                </a:solidFill>
                <a:latin typeface="Consolas"/>
                <a:ea typeface="Consolas"/>
                <a:cs typeface="Consolas"/>
              </a:defRPr>
            </a:pPr>
            <a:r>
              <a:rPr sz="1538" b="1" i="0">
                <a:solidFill>
                  <a:srgbClr val="171717"/>
                </a:solidFill>
                <a:latin typeface="Consolas"/>
                <a:ea typeface="Consolas"/>
                <a:cs typeface="Consolas"/>
              </a:rPr>
              <a:t>3</a:t>
            </a:r>
          </a:p>
        </p:txBody>
      </p:sp>
      <p:sp>
        <p:nvSpPr>
          <p:cNvPr id="16" name="text-448-124">
            <a:extLst>
              <a:ext uri="{FF2B5EF4-FFF2-40B4-BE49-F238E27FC236}">
                <ns2:creationId id="{51E68526-E7F3-450A-ABD0-246D020736CA}"/>
              </a:ext>
            </a:extLst>
          </p:cNvPr>
          <p:cNvSpPr>
            <a:spLocks noGrp="1"/>
          </p:cNvSpPr>
          <p:nvPr/>
        </p:nvSpPr>
        <p:spPr>
          <a:xfrm>
            <a:off x="1181100" y="5579459"/>
            <a:ext cx="4857750" cy="596075"/>
          </a:xfrm>
          <a:prstGeom prst="rect">
            <a:avLst/>
          </a:prstGeom>
          <a:noFill/>
          <a:ln w="0">
            <a:noFill/>
          </a:ln>
        </p:spPr>
        <p:txBody>
          <a:bodyPr wrap="none" lIns="0" tIns="0" rIns="0" bIns="0" anchor="t">
            <a:noAutofit/>
          </a:bodyPr>
          <a:lstStyle/>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fib(n−2)는 fib(n−1)의 계산에 포함되지 않으므로</a:t>
            </a:r>
          </a:p>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독립이다</a:t>
            </a:r>
          </a:p>
        </p:txBody>
      </p:sp>
      <p:sp>
        <p:nvSpPr>
          <p:cNvPr id="17" name="">
            <a:extLst>
              <a:ext uri="{FF2B5EF4-FFF2-40B4-BE49-F238E27FC236}">
                <ns2:creationId id="{141AB40C-1A01-4168-8716-97052AEAA9AB}"/>
              </a:ext>
            </a:extLst>
          </p:cNvPr>
          <p:cNvSpPr>
            <a:spLocks noGrp="1"/>
          </p:cNvSpPr>
          <p:nvPr/>
        </p:nvSpPr>
        <p:spPr>
          <a:xfrm>
            <a:off x="609600" y="6267450"/>
            <a:ext cx="10972800" cy="9525"/>
          </a:xfrm>
          <a:prstGeom prst="rect">
            <a:avLst/>
          </a:prstGeom>
          <a:solidFill>
            <a:srgbClr val="E7E7E7"/>
          </a:solidFill>
          <a:ln w="0">
            <a:noFill/>
          </a:ln>
        </p:spPr>
      </p:sp>
      <p:sp>
        <p:nvSpPr>
          <p:cNvPr id="18" name="text-514-72">
            <a:extLst>
              <a:ext uri="{FF2B5EF4-FFF2-40B4-BE49-F238E27FC236}">
                <ns2:creationId id="{929A60F0-EAE6-48C3-8055-721C32554003}"/>
              </a:ext>
            </a:extLst>
          </p:cNvPr>
          <p:cNvSpPr>
            <a:spLocks noGrp="1"/>
          </p:cNvSpPr>
          <p:nvPr/>
        </p:nvSpPr>
        <p:spPr>
          <a:xfrm>
            <a:off x="6191250" y="4234910"/>
            <a:ext cx="400050" cy="326612"/>
          </a:xfrm>
          <a:prstGeom prst="rect">
            <a:avLst/>
          </a:prstGeom>
          <a:noFill/>
          <a:ln w="0">
            <a:noFill/>
          </a:ln>
        </p:spPr>
        <p:txBody>
          <a:bodyPr wrap="none" lIns="0" tIns="0" rIns="0" bIns="0" anchor="t">
            <a:noAutofit/>
          </a:bodyPr>
          <a:lstStyle/>
          <a:p>
            <a:pPr algn="l">
              <a:lnSpc>
                <a:spcPct val="108000"/>
              </a:lnSpc>
              <a:buNone/>
              <a:defRPr sz="1538" b="1" i="0">
                <a:solidFill>
                  <a:srgbClr val="171717"/>
                </a:solidFill>
                <a:latin typeface="Consolas"/>
                <a:ea typeface="Consolas"/>
                <a:cs typeface="Consolas"/>
              </a:defRPr>
            </a:pPr>
            <a:r>
              <a:rPr sz="1538" b="1" i="0">
                <a:solidFill>
                  <a:srgbClr val="171717"/>
                </a:solidFill>
                <a:latin typeface="Consolas"/>
                <a:ea typeface="Consolas"/>
                <a:cs typeface="Consolas"/>
              </a:rPr>
              <a:t>4</a:t>
            </a:r>
          </a:p>
        </p:txBody>
      </p:sp>
      <p:sp>
        <p:nvSpPr>
          <p:cNvPr id="19" name="text-514-124">
            <a:extLst>
              <a:ext uri="{FF2B5EF4-FFF2-40B4-BE49-F238E27FC236}">
                <ns2:creationId id="{667D0514-D1EE-4F28-8715-1954330F61E4}"/>
              </a:ext>
            </a:extLst>
          </p:cNvPr>
          <p:cNvSpPr>
            <a:spLocks noGrp="1"/>
          </p:cNvSpPr>
          <p:nvPr/>
        </p:nvSpPr>
        <p:spPr>
          <a:xfrm>
            <a:off x="6629400" y="4234910"/>
            <a:ext cx="4857750" cy="596075"/>
          </a:xfrm>
          <a:prstGeom prst="rect">
            <a:avLst/>
          </a:prstGeom>
          <a:noFill/>
          <a:ln w="0">
            <a:noFill/>
          </a:ln>
        </p:spPr>
        <p:txBody>
          <a:bodyPr wrap="none" lIns="0" tIns="0" rIns="0" bIns="0" anchor="t">
            <a:noAutofit/>
          </a:bodyPr>
          <a:lstStyle/>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더 호출하지 않고 끝내는 입력이 두 가지이면 호출</a:t>
            </a:r>
          </a:p>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깊이가 항상 2가 된다</a:t>
            </a:r>
          </a:p>
        </p:txBody>
      </p:sp>
      <p:sp>
        <p:nvSpPr>
          <p:cNvPr id="20" name="">
            <a:extLst>
              <a:ext uri="{FF2B5EF4-FFF2-40B4-BE49-F238E27FC236}">
                <ns2:creationId id="{881F497A-C1AD-4A31-AE5E-9CF551ECB69C}"/>
              </a:ext>
            </a:extLst>
          </p:cNvPr>
          <p:cNvSpPr>
            <a:spLocks noGrp="1"/>
          </p:cNvSpPr>
          <p:nvPr/>
        </p:nvSpPr>
        <p:spPr>
          <a:xfrm>
            <a:off x="609600" y="6267450"/>
            <a:ext cx="10972800" cy="9525"/>
          </a:xfrm>
          <a:prstGeom prst="rect">
            <a:avLst/>
          </a:prstGeom>
          <a:solidFill>
            <a:srgbClr val="E7E7E7"/>
          </a:solidFill>
          <a:ln w="0">
            <a:noFill/>
          </a:ln>
        </p:spPr>
      </p:sp>
      <p:sp>
        <p:nvSpPr>
          <p:cNvPr id="21" name="text-580-72">
            <a:extLst>
              <a:ext uri="{FF2B5EF4-FFF2-40B4-BE49-F238E27FC236}">
                <ns2:creationId id="{89F6F120-04EB-44A4-8911-F172A2DE5112}"/>
              </a:ext>
            </a:extLst>
          </p:cNvPr>
          <p:cNvSpPr>
            <a:spLocks noGrp="1"/>
          </p:cNvSpPr>
          <p:nvPr/>
        </p:nvSpPr>
        <p:spPr>
          <a:xfrm>
            <a:off x="6191250" y="4907185"/>
            <a:ext cx="400050" cy="326612"/>
          </a:xfrm>
          <a:prstGeom prst="rect">
            <a:avLst/>
          </a:prstGeom>
          <a:noFill/>
          <a:ln w="0">
            <a:noFill/>
          </a:ln>
        </p:spPr>
        <p:txBody>
          <a:bodyPr wrap="none" lIns="0" tIns="0" rIns="0" bIns="0" anchor="t">
            <a:noAutofit/>
          </a:bodyPr>
          <a:lstStyle/>
          <a:p>
            <a:pPr algn="l">
              <a:lnSpc>
                <a:spcPct val="108000"/>
              </a:lnSpc>
              <a:buNone/>
              <a:defRPr sz="1538" b="1" i="0">
                <a:solidFill>
                  <a:srgbClr val="171717"/>
                </a:solidFill>
                <a:latin typeface="Consolas"/>
                <a:ea typeface="Consolas"/>
                <a:cs typeface="Consolas"/>
              </a:defRPr>
            </a:pPr>
            <a:r>
              <a:rPr sz="1538" b="1" i="0">
                <a:solidFill>
                  <a:srgbClr val="171717"/>
                </a:solidFill>
                <a:latin typeface="Consolas"/>
                <a:ea typeface="Consolas"/>
                <a:cs typeface="Consolas"/>
              </a:rPr>
              <a:t>5</a:t>
            </a:r>
          </a:p>
        </p:txBody>
      </p:sp>
      <p:sp>
        <p:nvSpPr>
          <p:cNvPr id="22" name="text-580-124">
            <a:extLst>
              <a:ext uri="{FF2B5EF4-FFF2-40B4-BE49-F238E27FC236}">
                <ns2:creationId id="{919E9360-BD48-408F-B89B-F1BC0CE8421F}"/>
              </a:ext>
            </a:extLst>
          </p:cNvPr>
          <p:cNvSpPr>
            <a:spLocks noGrp="1"/>
          </p:cNvSpPr>
          <p:nvPr/>
        </p:nvSpPr>
        <p:spPr>
          <a:xfrm>
            <a:off x="6629400" y="4907185"/>
            <a:ext cx="4857750" cy="326612"/>
          </a:xfrm>
          <a:prstGeom prst="rect">
            <a:avLst/>
          </a:prstGeom>
          <a:noFill/>
          <a:ln w="0">
            <a:noFill/>
          </a:ln>
        </p:spPr>
        <p:txBody>
          <a:bodyPr wrap="none" lIns="0" tIns="0" rIns="0" bIns="0" anchor="t">
            <a:noAutofit/>
          </a:bodyPr>
          <a:lstStyle/>
          <a:p>
            <a:pPr algn="l">
              <a:lnSpc>
                <a:spcPct val="108000"/>
              </a:lnSpc>
              <a:buNone/>
              <a:defRPr sz="1538" b="0" i="0">
                <a:solidFill>
                  <a:srgbClr val="171717"/>
                </a:solidFill>
                <a:latin typeface="Malgun Gothic"/>
                <a:ea typeface="Malgun Gothic"/>
                <a:cs typeface="Malgun Gothic"/>
              </a:defRPr>
            </a:pPr>
            <a:r>
              <a:rPr sz="1538" b="0" i="0">
                <a:solidFill>
                  <a:srgbClr val="171717"/>
                </a:solidFill>
                <a:latin typeface="Malgun Gothic"/>
                <a:ea typeface="Malgun Gothic"/>
                <a:cs typeface="Malgun Gothic"/>
              </a:rPr>
              <a:t>재귀 호출 깊이만큼만 덧셈을 하므로 중복이 없다</a:t>
            </a:r>
          </a:p>
        </p:txBody>
      </p:sp>
    </p:spTree>
    <p:extLst>
      <p:ext uri="{BB962C8B-B14F-4D97-AF65-F5344CB8AC3E}">
        <ns3:creationId val="462685519"/>
      </p:ext>
    </p:extLst>
  </p:cSld>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48423E28-AFEF-4C62-8A61-7C9605FC606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601C7E02-237D-4EA2-9DEB-897A34B235F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2B326CA-BA3F-4BE2-A112-8440788B977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06  정답과 해설</a:t>
            </a:r>
          </a:p>
        </p:txBody>
      </p:sp>
      <p:sp>
        <p:nvSpPr>
          <p:cNvPr id="4" name="">
            <a:extLst>
              <a:ext uri="{FF2B5EF4-FFF2-40B4-BE49-F238E27FC236}">
                <ns2:creationId id="{73471DCF-B48A-4C92-B5F3-450DEE4B1BC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167688D-EC2A-4A7B-A8A0-4CB069066B47}"/>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3755912-300D-4CDD-85D4-53A1EB87537B}"/>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E8C8077-50AA-4642-86A8-DB740719B9E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012</a:t>
            </a:r>
          </a:p>
        </p:txBody>
      </p:sp>
      <p:sp>
        <p:nvSpPr>
          <p:cNvPr id="8" name="text-178-64">
            <a:extLst>
              <a:ext uri="{FF2B5EF4-FFF2-40B4-BE49-F238E27FC236}">
                <ns2:creationId id="{908D9447-7BB8-4743-8ED0-82B64E8934BC}"/>
              </a:ext>
            </a:extLst>
          </p:cNvPr>
          <p:cNvSpPr>
            <a:spLocks noGrp="1"/>
          </p:cNvSpPr>
          <p:nvPr/>
        </p:nvSpPr>
        <p:spPr>
          <a:xfrm>
            <a:off x="609600" y="1619250"/>
            <a:ext cx="10972800" cy="2778061"/>
          </a:xfrm>
          <a:prstGeom prst="rect">
            <a:avLst/>
          </a:prstGeom>
          <a:noFill/>
          <a:ln w="0">
            <a:noFill/>
          </a:ln>
        </p:spPr>
        <p:txBody>
          <a:bodyPr wrap="none" lIns="0" tIns="0" rIns="0" bIns="0" anchor="t">
            <a:noAutofit/>
          </a:bodyPr>
          <a:lstStyle/>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다음 Python 함수는 n번째 피보나치 수를 구한다. n은 0 이상의 정수이며, fib(0)=0, fib(1)=1이고 이후 항은</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앞의 두 항을 더한 값이다. 계산 결과를 따로 저장하지 않는다.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def fib(n):</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    if n &lt;= 1:</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        return n</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    return fib(n - 1) + fib(n - 2)</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n이 커질수록 같은 피보나치 수를 반복문으로 차례로 구하는 방식보다 계산량이 빠르게 늘어나는 주된 이유는?</a:t>
            </a:r>
          </a:p>
        </p:txBody>
      </p:sp>
      <p:sp>
        <p:nvSpPr>
          <p:cNvPr id="9" name="">
            <a:extLst>
              <a:ext uri="{FF2B5EF4-FFF2-40B4-BE49-F238E27FC236}">
                <ns2:creationId id="{1D19345A-96A6-4718-8FFB-0DAFA6921AB1}"/>
              </a:ext>
            </a:extLst>
          </p:cNvPr>
          <p:cNvSpPr>
            <a:spLocks noGrp="1"/>
          </p:cNvSpPr>
          <p:nvPr/>
        </p:nvSpPr>
        <p:spPr>
          <a:xfrm>
            <a:off x="609600" y="4511612"/>
            <a:ext cx="10972800" cy="498729"/>
          </a:xfrm>
          <a:prstGeom prst="rect">
            <a:avLst/>
          </a:prstGeom>
          <a:solidFill>
            <a:srgbClr val="171717"/>
          </a:solidFill>
          <a:ln w="0">
            <a:noFill/>
          </a:ln>
        </p:spPr>
      </p:sp>
      <p:sp>
        <p:nvSpPr>
          <p:cNvPr id="10" name="text-245.6-92">
            <a:extLst>
              <a:ext uri="{FF2B5EF4-FFF2-40B4-BE49-F238E27FC236}">
                <ns2:creationId id="{1624350F-474E-4492-A9DB-908E5A8CCBAF}"/>
              </a:ext>
            </a:extLst>
          </p:cNvPr>
          <p:cNvSpPr>
            <a:spLocks noGrp="1"/>
          </p:cNvSpPr>
          <p:nvPr/>
        </p:nvSpPr>
        <p:spPr>
          <a:xfrm>
            <a:off x="876300" y="4587812"/>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1번 같은 인수의 부분 문제를 여러 번 계산한다.</a:t>
            </a:r>
          </a:p>
        </p:txBody>
      </p:sp>
      <p:sp>
        <p:nvSpPr>
          <p:cNvPr id="11" name="text-324.4-64">
            <a:extLst>
              <a:ext uri="{FF2B5EF4-FFF2-40B4-BE49-F238E27FC236}">
                <ns2:creationId id="{85AC4AEC-2056-4CA4-B181-931D3B76E9BE}"/>
              </a:ext>
            </a:extLst>
          </p:cNvPr>
          <p:cNvSpPr>
            <a:spLocks noGrp="1"/>
          </p:cNvSpPr>
          <p:nvPr/>
        </p:nvSpPr>
        <p:spPr>
          <a:xfrm>
            <a:off x="609600" y="510559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E7ABDEB4-7E78-4E86-895D-9F3C3FDAD08F}"/>
              </a:ext>
            </a:extLst>
          </p:cNvPr>
          <p:cNvSpPr>
            <a:spLocks noGrp="1"/>
          </p:cNvSpPr>
          <p:nvPr/>
        </p:nvSpPr>
        <p:spPr>
          <a:xfrm>
            <a:off x="609600" y="6213539"/>
            <a:ext cx="10972800" cy="9525"/>
          </a:xfrm>
          <a:prstGeom prst="rect">
            <a:avLst/>
          </a:prstGeom>
          <a:solidFill>
            <a:srgbClr val="D4D4D4"/>
          </a:solidFill>
          <a:ln w="0">
            <a:noFill/>
          </a:ln>
        </p:spPr>
      </p:sp>
      <p:sp>
        <p:nvSpPr>
          <p:cNvPr id="13" name="text-372.4-64">
            <a:extLst>
              <a:ext uri="{FF2B5EF4-FFF2-40B4-BE49-F238E27FC236}">
                <ns2:creationId id="{D10BD17B-0E53-49B8-B899-E6322B2BA4C8}"/>
              </a:ext>
            </a:extLst>
          </p:cNvPr>
          <p:cNvSpPr>
            <a:spLocks noGrp="1"/>
          </p:cNvSpPr>
          <p:nvPr/>
        </p:nvSpPr>
        <p:spPr>
          <a:xfrm>
            <a:off x="609600" y="5482781"/>
            <a:ext cx="10972800" cy="63550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예를 들어 fib(4)는 fib(3)과 fib(2)를 호출한다. fib(3) 안에서도 fib(2)를 다시 호출하므로 같은 값을 두 번 계산한다.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결과를 저장하지 않아 n이 커질수록 이런 중복 호출이 많아진다.</a:t>
            </a:r>
          </a:p>
        </p:txBody>
      </p:sp>
    </p:spTree>
    <p:extLst>
      <p:ext uri="{BB962C8B-B14F-4D97-AF65-F5344CB8AC3E}">
        <ns3:creationId val="462685519"/>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0FD10DD4-14A5-43E3-B3CD-445B462F29EA}"/>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7FF633C9-5CF6-4067-865E-DCF9345E5F13}"/>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49F047E-09C5-4DC3-A7FF-7BD04BF3006B}"/>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07  </a:t>
            </a:r>
          </a:p>
        </p:txBody>
      </p:sp>
      <p:sp>
        <p:nvSpPr>
          <p:cNvPr id="4" name="">
            <a:extLst>
              <a:ext uri="{FF2B5EF4-FFF2-40B4-BE49-F238E27FC236}">
                <ns2:creationId id="{B57579C3-8F56-4CE4-9F2C-038F44C3B5C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A38AA27-10EF-4F24-BECE-EF1134550E9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6A329AE-1852-4843-94C0-35022601AD23}"/>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73EDBEC3-5944-4B01-90A7-33515D311F2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013</a:t>
            </a:r>
          </a:p>
        </p:txBody>
      </p:sp>
      <p:sp>
        <p:nvSpPr>
          <p:cNvPr id="8" name="text-178-64">
            <a:extLst>
              <a:ext uri="{FF2B5EF4-FFF2-40B4-BE49-F238E27FC236}">
                <ns2:creationId id="{635D91FE-C46A-4793-B77D-D3775A21E32E}"/>
              </a:ext>
            </a:extLst>
          </p:cNvPr>
          <p:cNvSpPr>
            <a:spLocks noGrp="1"/>
          </p:cNvSpPr>
          <p:nvPr/>
        </p:nvSpPr>
        <p:spPr>
          <a:xfrm>
            <a:off x="609600" y="1695450"/>
            <a:ext cx="10972800" cy="37338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Python의 피보나치 반복에서 a,b=b,a+b를 수행한다. 이 다중 대입의 올바른 해석은?</a:t>
            </a:r>
          </a:p>
        </p:txBody>
      </p:sp>
      <p:sp>
        <p:nvSpPr>
          <p:cNvPr id="9" name="text-316-72">
            <a:extLst>
              <a:ext uri="{FF2B5EF4-FFF2-40B4-BE49-F238E27FC236}">
                <ns2:creationId id="{A9FE799F-F996-4956-8934-7282C10E3CA5}"/>
              </a:ext>
            </a:extLst>
          </p:cNvPr>
          <p:cNvSpPr>
            <a:spLocks noGrp="1"/>
          </p:cNvSpPr>
          <p:nvPr/>
        </p:nvSpPr>
        <p:spPr>
          <a:xfrm>
            <a:off x="685800" y="2221230"/>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a:ext uri="{FF2B5EF4-FFF2-40B4-BE49-F238E27FC236}">
                <ns2:creationId id="{D2A13355-625D-4A01-A784-B74D4676CE71}"/>
              </a:ext>
            </a:extLst>
          </p:cNvPr>
          <p:cNvSpPr>
            <a:spLocks noGrp="1"/>
          </p:cNvSpPr>
          <p:nvPr/>
        </p:nvSpPr>
        <p:spPr>
          <a:xfrm>
            <a:off x="1181100" y="2221230"/>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한 번에 두 항을 건너뛴다</a:t>
            </a:r>
          </a:p>
        </p:txBody>
      </p:sp>
      <p:sp>
        <p:nvSpPr>
          <p:cNvPr id="11" name="">
            <a:extLst>
              <a:ext uri="{FF2B5EF4-FFF2-40B4-BE49-F238E27FC236}">
                <ns2:creationId id="{217C9A38-4502-4ABE-962E-C345713902D4}"/>
              </a:ext>
            </a:extLst>
          </p:cNvPr>
          <p:cNvSpPr>
            <a:spLocks noGrp="1"/>
          </p:cNvSpPr>
          <p:nvPr/>
        </p:nvSpPr>
        <p:spPr>
          <a:xfrm>
            <a:off x="1181100" y="5002530"/>
            <a:ext cx="10401300" cy="9525"/>
          </a:xfrm>
          <a:prstGeom prst="rect">
            <a:avLst/>
          </a:prstGeom>
          <a:solidFill>
            <a:srgbClr val="E7E7E7"/>
          </a:solidFill>
          <a:ln w="0">
            <a:noFill/>
          </a:ln>
        </p:spPr>
      </p:sp>
      <p:sp>
        <p:nvSpPr>
          <p:cNvPr id="12" name="text-382-72">
            <a:extLst>
              <a:ext uri="{FF2B5EF4-FFF2-40B4-BE49-F238E27FC236}">
                <ns2:creationId id="{5C82D3DE-0C59-46F4-94CF-581F294FCAF1}"/>
              </a:ext>
            </a:extLst>
          </p:cNvPr>
          <p:cNvSpPr>
            <a:spLocks noGrp="1"/>
          </p:cNvSpPr>
          <p:nvPr/>
        </p:nvSpPr>
        <p:spPr>
          <a:xfrm>
            <a:off x="685800" y="2754630"/>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a:ext uri="{FF2B5EF4-FFF2-40B4-BE49-F238E27FC236}">
                <ns2:creationId id="{74B2A943-8C4A-4327-B92A-55CD4D7E81A5}"/>
              </a:ext>
            </a:extLst>
          </p:cNvPr>
          <p:cNvSpPr>
            <a:spLocks noGrp="1"/>
          </p:cNvSpPr>
          <p:nvPr/>
        </p:nvSpPr>
        <p:spPr>
          <a:xfrm>
            <a:off x="1181100" y="2754630"/>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a와 b가 항상 같은 값이 된다</a:t>
            </a:r>
          </a:p>
        </p:txBody>
      </p:sp>
      <p:sp>
        <p:nvSpPr>
          <p:cNvPr id="14" name="">
            <a:extLst>
              <a:ext uri="{FF2B5EF4-FFF2-40B4-BE49-F238E27FC236}">
                <ns2:creationId id="{FEEAB2F0-44E2-4A41-8613-20B21FAFC3E7}"/>
              </a:ext>
            </a:extLst>
          </p:cNvPr>
          <p:cNvSpPr>
            <a:spLocks noGrp="1"/>
          </p:cNvSpPr>
          <p:nvPr/>
        </p:nvSpPr>
        <p:spPr>
          <a:xfrm>
            <a:off x="1181100" y="5002530"/>
            <a:ext cx="10401300" cy="9525"/>
          </a:xfrm>
          <a:prstGeom prst="rect">
            <a:avLst/>
          </a:prstGeom>
          <a:solidFill>
            <a:srgbClr val="E7E7E7"/>
          </a:solidFill>
          <a:ln w="0">
            <a:noFill/>
          </a:ln>
        </p:spPr>
      </p:sp>
      <p:sp>
        <p:nvSpPr>
          <p:cNvPr id="15" name="text-448-72">
            <a:extLst>
              <a:ext uri="{FF2B5EF4-FFF2-40B4-BE49-F238E27FC236}">
                <ns2:creationId id="{BD7095AC-1F53-456D-A0D4-5F1CE362FD7C}"/>
              </a:ext>
            </a:extLst>
          </p:cNvPr>
          <p:cNvSpPr>
            <a:spLocks noGrp="1"/>
          </p:cNvSpPr>
          <p:nvPr/>
        </p:nvSpPr>
        <p:spPr>
          <a:xfrm>
            <a:off x="685800" y="3288030"/>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a:ext uri="{FF2B5EF4-FFF2-40B4-BE49-F238E27FC236}">
                <ns2:creationId id="{BBF16081-C5C8-4A65-B3BD-3BEB275B7390}"/>
              </a:ext>
            </a:extLst>
          </p:cNvPr>
          <p:cNvSpPr>
            <a:spLocks noGrp="1"/>
          </p:cNvSpPr>
          <p:nvPr/>
        </p:nvSpPr>
        <p:spPr>
          <a:xfrm>
            <a:off x="1181100" y="3288030"/>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b만 변한다</a:t>
            </a:r>
          </a:p>
        </p:txBody>
      </p:sp>
      <p:sp>
        <p:nvSpPr>
          <p:cNvPr id="17" name="">
            <a:extLst>
              <a:ext uri="{FF2B5EF4-FFF2-40B4-BE49-F238E27FC236}">
                <ns2:creationId id="{8EB58F58-1B2C-4B65-A24D-7299D8A2A863}"/>
              </a:ext>
            </a:extLst>
          </p:cNvPr>
          <p:cNvSpPr>
            <a:spLocks noGrp="1"/>
          </p:cNvSpPr>
          <p:nvPr/>
        </p:nvSpPr>
        <p:spPr>
          <a:xfrm>
            <a:off x="1181100" y="5002530"/>
            <a:ext cx="10401300" cy="9525"/>
          </a:xfrm>
          <a:prstGeom prst="rect">
            <a:avLst/>
          </a:prstGeom>
          <a:solidFill>
            <a:srgbClr val="E7E7E7"/>
          </a:solidFill>
          <a:ln w="0">
            <a:noFill/>
          </a:ln>
        </p:spPr>
      </p:sp>
      <p:sp>
        <p:nvSpPr>
          <p:cNvPr id="18" name="text-514-72">
            <a:extLst>
              <a:ext uri="{FF2B5EF4-FFF2-40B4-BE49-F238E27FC236}">
                <ns2:creationId id="{596C446E-6CB4-42B8-9CB4-C6B5D9284746}"/>
              </a:ext>
            </a:extLst>
          </p:cNvPr>
          <p:cNvSpPr>
            <a:spLocks noGrp="1"/>
          </p:cNvSpPr>
          <p:nvPr/>
        </p:nvSpPr>
        <p:spPr>
          <a:xfrm>
            <a:off x="685800" y="3821430"/>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a:ext uri="{FF2B5EF4-FFF2-40B4-BE49-F238E27FC236}">
                <ns2:creationId id="{5A5FE56A-85D6-4AF7-B4FC-0A3DADA511C0}"/>
              </a:ext>
            </a:extLst>
          </p:cNvPr>
          <p:cNvSpPr>
            <a:spLocks noGrp="1"/>
          </p:cNvSpPr>
          <p:nvPr/>
        </p:nvSpPr>
        <p:spPr>
          <a:xfrm>
            <a:off x="1181100" y="3821430"/>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a를 먼저 바꾼 뒤 바뀐 a로 b를 계산한다</a:t>
            </a:r>
          </a:p>
        </p:txBody>
      </p:sp>
      <p:sp>
        <p:nvSpPr>
          <p:cNvPr id="20" name="">
            <a:extLst>
              <a:ext uri="{FF2B5EF4-FFF2-40B4-BE49-F238E27FC236}">
                <ns2:creationId id="{221E2E3D-6BB2-495C-B18E-546B11456F45}"/>
              </a:ext>
            </a:extLst>
          </p:cNvPr>
          <p:cNvSpPr>
            <a:spLocks noGrp="1"/>
          </p:cNvSpPr>
          <p:nvPr/>
        </p:nvSpPr>
        <p:spPr>
          <a:xfrm>
            <a:off x="1181100" y="5438775"/>
            <a:ext cx="10401300" cy="9525"/>
          </a:xfrm>
          <a:prstGeom prst="rect">
            <a:avLst/>
          </a:prstGeom>
          <a:solidFill>
            <a:srgbClr val="E7E7E7"/>
          </a:solidFill>
          <a:ln w="0">
            <a:noFill/>
          </a:ln>
        </p:spPr>
      </p:sp>
      <p:sp>
        <p:nvSpPr>
          <p:cNvPr id="21" name="text-580-72">
            <a:extLst>
              <a:ext uri="{FF2B5EF4-FFF2-40B4-BE49-F238E27FC236}">
                <ns2:creationId id="{0500914E-E281-483D-A3A8-C2B2965D4DA3}"/>
              </a:ext>
            </a:extLst>
          </p:cNvPr>
          <p:cNvSpPr>
            <a:spLocks noGrp="1"/>
          </p:cNvSpPr>
          <p:nvPr/>
        </p:nvSpPr>
        <p:spPr>
          <a:xfrm>
            <a:off x="685800" y="4354830"/>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a:ext uri="{FF2B5EF4-FFF2-40B4-BE49-F238E27FC236}">
                <ns2:creationId id="{547CAE48-DA51-4DFA-A05E-34728A6BE4AB}"/>
              </a:ext>
            </a:extLst>
          </p:cNvPr>
          <p:cNvSpPr>
            <a:spLocks noGrp="1"/>
          </p:cNvSpPr>
          <p:nvPr/>
        </p:nvSpPr>
        <p:spPr>
          <a:xfrm>
            <a:off x="1181100" y="4354830"/>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오른쪽의 두 식을 갱신 전 a,b로 계산한다</a:t>
            </a:r>
          </a:p>
        </p:txBody>
      </p:sp>
    </p:spTree>
    <p:extLst>
      <p:ext uri="{BB962C8B-B14F-4D97-AF65-F5344CB8AC3E}">
        <ns3:creationId val="462685519"/>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514DCE68-53E2-4F75-8567-C5C607A38383}"/>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E2B7D797-2FA6-4560-838A-D926171C1838}"/>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C44B8540-8435-43CA-8206-9E0AD2A163B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07  정답과 해설</a:t>
            </a:r>
          </a:p>
        </p:txBody>
      </p:sp>
      <p:sp>
        <p:nvSpPr>
          <p:cNvPr id="4" name="">
            <a:extLst>
              <a:ext uri="{FF2B5EF4-FFF2-40B4-BE49-F238E27FC236}">
                <ns2:creationId id="{D88CA536-C092-4D3E-AF46-6F161EC09BE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B580D9D-C71A-4DEA-A4FF-BEFA441FA3BC}"/>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51C6AF79-6339-41C8-B459-02B39237ADA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FE5FA99-F121-43B6-919C-D7262CA2604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014</a:t>
            </a:r>
          </a:p>
        </p:txBody>
      </p:sp>
      <p:sp>
        <p:nvSpPr>
          <p:cNvPr id="8" name="text-178-64">
            <a:extLst>
              <a:ext uri="{FF2B5EF4-FFF2-40B4-BE49-F238E27FC236}">
                <ns2:creationId id="{208AD00D-34A9-465D-B512-87942459AFE8}"/>
              </a:ext>
            </a:extLst>
          </p:cNvPr>
          <p:cNvSpPr>
            <a:spLocks noGrp="1"/>
          </p:cNvSpPr>
          <p:nvPr/>
        </p:nvSpPr>
        <p:spPr>
          <a:xfrm>
            <a:off x="609600" y="1695450"/>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Python의 피보나치 반복에서 a,b=b,a+b를 수행한다. 이 다중 대입의 올바른 해석은?</a:t>
            </a:r>
          </a:p>
        </p:txBody>
      </p:sp>
      <p:sp>
        <p:nvSpPr>
          <p:cNvPr id="9" name="">
            <a:extLst>
              <a:ext uri="{FF2B5EF4-FFF2-40B4-BE49-F238E27FC236}">
                <ns2:creationId id="{D7485FE2-63E7-4989-B8F1-F6EBE7D4703C}"/>
              </a:ext>
            </a:extLst>
          </p:cNvPr>
          <p:cNvSpPr>
            <a:spLocks noGrp="1"/>
          </p:cNvSpPr>
          <p:nvPr/>
        </p:nvSpPr>
        <p:spPr>
          <a:xfrm>
            <a:off x="609600" y="2110740"/>
            <a:ext cx="10972800" cy="550545"/>
          </a:xfrm>
          <a:prstGeom prst="rect">
            <a:avLst/>
          </a:prstGeom>
          <a:solidFill>
            <a:srgbClr val="171717"/>
          </a:solidFill>
          <a:ln w="0">
            <a:noFill/>
          </a:ln>
        </p:spPr>
      </p:sp>
      <p:sp>
        <p:nvSpPr>
          <p:cNvPr id="10" name="text-245.6-92">
            <a:extLst>
              <a:ext uri="{FF2B5EF4-FFF2-40B4-BE49-F238E27FC236}">
                <ns2:creationId id="{78561551-C72C-4371-8439-A84028ED4B8E}"/>
              </a:ext>
            </a:extLst>
          </p:cNvPr>
          <p:cNvSpPr>
            <a:spLocks noGrp="1"/>
          </p:cNvSpPr>
          <p:nvPr/>
        </p:nvSpPr>
        <p:spPr>
          <a:xfrm>
            <a:off x="876300" y="2167890"/>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5번 오른쪽의 두 식을 갱신 전 a,b로 계산한다</a:t>
            </a:r>
          </a:p>
        </p:txBody>
      </p:sp>
      <p:sp>
        <p:nvSpPr>
          <p:cNvPr id="11" name="text-324.4-64">
            <a:extLst>
              <a:ext uri="{FF2B5EF4-FFF2-40B4-BE49-F238E27FC236}">
                <ns2:creationId id="{5D264A89-7B98-404E-B1E8-1889E4C15A87}"/>
              </a:ext>
            </a:extLst>
          </p:cNvPr>
          <p:cNvSpPr>
            <a:spLocks noGrp="1"/>
          </p:cNvSpPr>
          <p:nvPr/>
        </p:nvSpPr>
        <p:spPr>
          <a:xfrm>
            <a:off x="609600" y="2756535"/>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0040B68B-2B11-4D36-AB93-14D9ACA2C1CC}"/>
              </a:ext>
            </a:extLst>
          </p:cNvPr>
          <p:cNvSpPr>
            <a:spLocks noGrp="1"/>
          </p:cNvSpPr>
          <p:nvPr/>
        </p:nvSpPr>
        <p:spPr>
          <a:xfrm>
            <a:off x="1752600" y="3857625"/>
            <a:ext cx="9829800" cy="9525"/>
          </a:xfrm>
          <a:prstGeom prst="rect">
            <a:avLst/>
          </a:prstGeom>
          <a:solidFill>
            <a:srgbClr val="D4D4D4"/>
          </a:solidFill>
          <a:ln w="0">
            <a:noFill/>
          </a:ln>
        </p:spPr>
      </p:sp>
      <p:sp>
        <p:nvSpPr>
          <p:cNvPr id="13" name="text-372.4-64">
            <a:extLst>
              <a:ext uri="{FF2B5EF4-FFF2-40B4-BE49-F238E27FC236}">
                <ns2:creationId id="{3AC32F1E-201F-4A30-AFB8-C7D6CCE9D06E}"/>
              </a:ext>
            </a:extLst>
          </p:cNvPr>
          <p:cNvSpPr>
            <a:spLocks noGrp="1"/>
          </p:cNvSpPr>
          <p:nvPr/>
        </p:nvSpPr>
        <p:spPr>
          <a:xfrm>
            <a:off x="609600" y="3270885"/>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Python의 다중 대입은 오른쪽 값을 먼저 평가한다. C로 옮길 때는 임시 변수가 필요하다.</a:t>
            </a:r>
          </a:p>
        </p:txBody>
      </p:sp>
    </p:spTree>
    <p:extLst>
      <p:ext uri="{BB962C8B-B14F-4D97-AF65-F5344CB8AC3E}">
        <ns3:creationId val="462685519"/>
      </p:ext>
    </p:extLst>
  </p:cSld>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318AE685-5BDB-40DE-8608-3C13407D0E38}"/>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A3C05190-05D5-4BEC-B4C4-D55ADB3A4E4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61DBCB6-D40D-45D2-A48A-E9DBC72AD6CD}"/>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08  </a:t>
            </a:r>
          </a:p>
        </p:txBody>
      </p:sp>
      <p:sp>
        <p:nvSpPr>
          <p:cNvPr id="4" name="">
            <a:extLst>
              <a:ext uri="{FF2B5EF4-FFF2-40B4-BE49-F238E27FC236}">
                <ns2:creationId id="{44538C11-2245-4C31-A0C9-81EED5F8E37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C64CCD6-2379-4725-8AE8-13904AD602F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FC268EBE-E1E5-4859-A43B-8C5548DED07F}"/>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D181515-AA7B-45A1-B8F0-6DF7A03E17D0}"/>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015</a:t>
            </a:r>
          </a:p>
        </p:txBody>
      </p:sp>
      <p:sp>
        <p:nvSpPr>
          <p:cNvPr id="8" name="text-178-64">
            <a:extLst>
              <a:ext uri="{FF2B5EF4-FFF2-40B4-BE49-F238E27FC236}">
                <ns2:creationId id="{7ADDC261-CA8D-4E47-B171-7D663B2051E7}"/>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한 번의 재귀 호출로 크기 N/3의 별무늬를 구해 재사용한다. 최종 결과는 N행 N열이며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별과 공백을 합쳐 N²개 문자를 출력한다. 문자 하나 출력에 일정한 시간이 들 때, 무늬를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계산하는 시간은 제외하고 출력 작업 자체의 가장 정확한 시간 복잡도는?</a:t>
            </a:r>
          </a:p>
        </p:txBody>
      </p:sp>
      <p:sp>
        <p:nvSpPr>
          <p:cNvPr id="9" name="text-316-72">
            <a:extLst>
              <a:ext uri="{FF2B5EF4-FFF2-40B4-BE49-F238E27FC236}">
                <ns2:creationId id="{15DC87CB-BE2C-4C68-BA33-9E03E82FADEF}"/>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3CB2EB20-2D6F-4BFA-9FC9-38F93B7AFCB2}"/>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Θ(N²)</a:t>
            </a:r>
          </a:p>
        </p:txBody>
      </p:sp>
      <p:sp>
        <p:nvSpPr>
          <p:cNvPr id="11" name="">
            <a:extLst>
              <a:ext uri="{FF2B5EF4-FFF2-40B4-BE49-F238E27FC236}">
                <ns2:creationId id="{5729F26F-829D-4EFE-9AAC-D4F7E59822B8}"/>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13E6438A-186D-4EAD-8E2C-09AA9E74C998}"/>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F3DF62BB-82E2-4482-B05E-489D6EA42B12}"/>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 log N)</a:t>
            </a:r>
          </a:p>
        </p:txBody>
      </p:sp>
      <p:sp>
        <p:nvSpPr>
          <p:cNvPr id="14" name="">
            <a:extLst>
              <a:ext uri="{FF2B5EF4-FFF2-40B4-BE49-F238E27FC236}">
                <ns2:creationId id="{10E80556-6DEF-4D84-8BF0-21BC0026F2FF}"/>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F9F523AD-BFF0-42B3-A0B2-CABF3D75821A}"/>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B499C1F0-CDB4-4F14-B1DE-ACAB9F480D81}"/>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Θ(log N)</a:t>
            </a:r>
          </a:p>
        </p:txBody>
      </p:sp>
      <p:sp>
        <p:nvSpPr>
          <p:cNvPr id="17" name="">
            <a:extLst>
              <a:ext uri="{FF2B5EF4-FFF2-40B4-BE49-F238E27FC236}">
                <ns2:creationId id="{AE731907-F8F6-4FDC-B8D9-786C2414611E}"/>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F11A9D05-48AC-4FB8-9679-D3499C02D26C}"/>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C8E16601-11B8-4F4C-B79A-5BD05D34BBC5}"/>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a:t>
            </a:r>
          </a:p>
        </p:txBody>
      </p:sp>
      <p:sp>
        <p:nvSpPr>
          <p:cNvPr id="20" name="">
            <a:extLst>
              <a:ext uri="{FF2B5EF4-FFF2-40B4-BE49-F238E27FC236}">
                <ns2:creationId id="{C4DB084C-DFA6-4D8C-81F2-29D0CBBC765F}"/>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DD6918AB-FAB9-48DA-8C08-AFD13CAD6655}"/>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DE6B1CA8-5C1E-4BE8-A5A3-7C8FE4E00B90}"/>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Θ(1)</a:t>
            </a:r>
          </a:p>
        </p:txBody>
      </p:sp>
    </p:spTree>
    <p:extLst>
      <p:ext uri="{BB962C8B-B14F-4D97-AF65-F5344CB8AC3E}">
        <ns3:creationId val="462685519"/>
      </p:ext>
    </p:extLst>
  </p:cSld>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31E9938E-13DE-47F8-8FAA-00A90BE8E666}"/>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ED2B1D9B-7F8F-4378-BBA2-A2A8223FD86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918A224-E7B1-4C76-8C57-6FB102747F8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08  정답과 해설</a:t>
            </a:r>
          </a:p>
        </p:txBody>
      </p:sp>
      <p:sp>
        <p:nvSpPr>
          <p:cNvPr id="4" name="">
            <a:extLst>
              <a:ext uri="{FF2B5EF4-FFF2-40B4-BE49-F238E27FC236}">
                <ns2:creationId id="{A06904A1-6633-4090-94CA-4082D67330E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60B42CA-CB34-4135-AF55-15C3B034562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66E3D28-0727-41A6-AE56-20F95F75B965}"/>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BB8B1CC-32BF-4858-B163-913E9875428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016</a:t>
            </a:r>
          </a:p>
        </p:txBody>
      </p:sp>
      <p:sp>
        <p:nvSpPr>
          <p:cNvPr id="8" name="text-178-64">
            <a:extLst>
              <a:ext uri="{FF2B5EF4-FFF2-40B4-BE49-F238E27FC236}">
                <ns2:creationId id="{F96CEE98-57C5-41A5-ABF5-35C353A3ECFB}"/>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한 번의 재귀 호출로 크기 N/3의 별무늬를 구해 재사용한다. 최종 결과는 N행 N열이며 별과 공백을 합쳐</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N²개 문자를 출력한다. 문자 하나 출력에 일정한 시간이 들 때, 무늬를 계산하는 시간은 제외하고 출력</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작업 자체의 가장 정확한 시간 복잡도는?</a:t>
            </a:r>
          </a:p>
        </p:txBody>
      </p:sp>
      <p:sp>
        <p:nvSpPr>
          <p:cNvPr id="9" name="">
            <a:extLst>
              <a:ext uri="{FF2B5EF4-FFF2-40B4-BE49-F238E27FC236}">
                <ns2:creationId id="{217918A5-9409-4E32-A7D4-32C3D60E49AB}"/>
              </a:ext>
            </a:extLst>
          </p:cNvPr>
          <p:cNvSpPr>
            <a:spLocks noGrp="1"/>
          </p:cNvSpPr>
          <p:nvPr/>
        </p:nvSpPr>
        <p:spPr>
          <a:xfrm>
            <a:off x="609600" y="2737104"/>
            <a:ext cx="10972800" cy="498729"/>
          </a:xfrm>
          <a:prstGeom prst="rect">
            <a:avLst/>
          </a:prstGeom>
          <a:solidFill>
            <a:srgbClr val="171717"/>
          </a:solidFill>
          <a:ln w="0">
            <a:noFill/>
          </a:ln>
        </p:spPr>
      </p:sp>
      <p:sp>
        <p:nvSpPr>
          <p:cNvPr id="10" name="text-279.2-92">
            <a:extLst>
              <a:ext uri="{FF2B5EF4-FFF2-40B4-BE49-F238E27FC236}">
                <ns2:creationId id="{0AE81C1F-DDC5-4213-9C30-3BF557C77E0E}"/>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1번 Θ(N²)</a:t>
            </a:r>
          </a:p>
        </p:txBody>
      </p:sp>
      <p:sp>
        <p:nvSpPr>
          <p:cNvPr id="11" name="text-358-64">
            <a:extLst>
              <a:ext uri="{FF2B5EF4-FFF2-40B4-BE49-F238E27FC236}">
                <ns2:creationId id="{460B1118-C4E0-43AF-88DA-44E7335807F8}"/>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DD69894C-B41B-4A90-A22D-86AA9DE3FC99}"/>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D0EF59C0-8BE6-417B-A665-7150E05C3E31}"/>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출력 문자 자체가 N²개이므로 깊이가 로그여도 전체 출력 시간은 최소 이차다.</a:t>
            </a:r>
          </a:p>
        </p:txBody>
      </p:sp>
    </p:spTree>
    <p:extLst>
      <p:ext uri="{BB962C8B-B14F-4D97-AF65-F5344CB8AC3E}">
        <ns3:creationId val="462685519"/>
      </p:ext>
    </p:extLst>
  </p:cSld>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B2EA793B-B675-4ADA-9142-8CA7D31FA57D}"/>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D23EE539-7282-45F6-A308-A52A8CCFC6A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B082A45-5209-4E1F-9281-C26A0EBFC2A1}"/>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09  </a:t>
            </a:r>
          </a:p>
        </p:txBody>
      </p:sp>
      <p:sp>
        <p:nvSpPr>
          <p:cNvPr id="4" name="">
            <a:extLst>
              <a:ext uri="{FF2B5EF4-FFF2-40B4-BE49-F238E27FC236}">
                <ns2:creationId id="{9156B6EC-37EA-4C09-82A1-05AB3B9FAD7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94EA8AF-276A-475F-9B65-6431988F2B5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316DDE8-E1D5-4E3E-BD01-EC6F003ECB5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1EDBCEFB-E0F4-4143-B75E-5A93218EDFA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017</a:t>
            </a:r>
          </a:p>
        </p:txBody>
      </p:sp>
      <p:sp>
        <p:nvSpPr>
          <p:cNvPr id="8" name="text-178-64">
            <a:extLst>
              <a:ext uri="{FF2B5EF4-FFF2-40B4-BE49-F238E27FC236}">
                <ns2:creationId id="{1DD055A4-D6C2-4398-B59E-0454999CF5A8}"/>
              </a:ext>
            </a:extLst>
          </p:cNvPr>
          <p:cNvSpPr>
            <a:spLocks noGrp="1"/>
          </p:cNvSpPr>
          <p:nvPr/>
        </p:nvSpPr>
        <p:spPr>
          <a:xfrm>
            <a:off x="609600" y="16954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n개 원소를 왼쪽부터 하나씩 확인하는 순차 탐색에서 찾는 값이 없을 때, 배열 원소와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목표값의 일치 비교는 총 몇 회인가? 반복 조건 검사는 세지 않는다.</a:t>
            </a:r>
          </a:p>
        </p:txBody>
      </p:sp>
      <p:sp>
        <p:nvSpPr>
          <p:cNvPr id="9" name="text-316-72">
            <a:extLst>
              <a:ext uri="{FF2B5EF4-FFF2-40B4-BE49-F238E27FC236}">
                <ns2:creationId id="{D76363FA-6691-4FEA-944E-A67DADC1D6C1}"/>
              </a:ext>
            </a:extLst>
          </p:cNvPr>
          <p:cNvSpPr>
            <a:spLocks noGrp="1"/>
          </p:cNvSpPr>
          <p:nvPr/>
        </p:nvSpPr>
        <p:spPr>
          <a:xfrm>
            <a:off x="685800" y="25092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a:ext uri="{FF2B5EF4-FFF2-40B4-BE49-F238E27FC236}">
                <ns2:creationId id="{B24E0EB6-8845-480E-A804-E8B1D904C8C8}"/>
              </a:ext>
            </a:extLst>
          </p:cNvPr>
          <p:cNvSpPr>
            <a:spLocks noGrp="1"/>
          </p:cNvSpPr>
          <p:nvPr/>
        </p:nvSpPr>
        <p:spPr>
          <a:xfrm>
            <a:off x="1181100" y="25092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⌈log₂n⌉</a:t>
            </a:r>
          </a:p>
        </p:txBody>
      </p:sp>
      <p:sp>
        <p:nvSpPr>
          <p:cNvPr id="11" name="">
            <a:extLst>
              <a:ext uri="{FF2B5EF4-FFF2-40B4-BE49-F238E27FC236}">
                <ns2:creationId id="{737B91FF-A540-4046-85A1-4E11F40BF59C}"/>
              </a:ext>
            </a:extLst>
          </p:cNvPr>
          <p:cNvSpPr>
            <a:spLocks noGrp="1"/>
          </p:cNvSpPr>
          <p:nvPr/>
        </p:nvSpPr>
        <p:spPr>
          <a:xfrm>
            <a:off x="1181100" y="5290566"/>
            <a:ext cx="10401300" cy="9525"/>
          </a:xfrm>
          <a:prstGeom prst="rect">
            <a:avLst/>
          </a:prstGeom>
          <a:solidFill>
            <a:srgbClr val="E7E7E7"/>
          </a:solidFill>
          <a:ln w="0">
            <a:noFill/>
          </a:ln>
        </p:spPr>
      </p:sp>
      <p:sp>
        <p:nvSpPr>
          <p:cNvPr id="12" name="text-382-72">
            <a:extLst>
              <a:ext uri="{FF2B5EF4-FFF2-40B4-BE49-F238E27FC236}">
                <ns2:creationId id="{744D5BC5-CDE9-49A5-BB99-855FC1566B7E}"/>
              </a:ext>
            </a:extLst>
          </p:cNvPr>
          <p:cNvSpPr>
            <a:spLocks noGrp="1"/>
          </p:cNvSpPr>
          <p:nvPr/>
        </p:nvSpPr>
        <p:spPr>
          <a:xfrm>
            <a:off x="685800" y="30426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a:ext uri="{FF2B5EF4-FFF2-40B4-BE49-F238E27FC236}">
                <ns2:creationId id="{31200913-5D40-411D-859D-7F50F1A33D4C}"/>
              </a:ext>
            </a:extLst>
          </p:cNvPr>
          <p:cNvSpPr>
            <a:spLocks noGrp="1"/>
          </p:cNvSpPr>
          <p:nvPr/>
        </p:nvSpPr>
        <p:spPr>
          <a:xfrm>
            <a:off x="1181100" y="30426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n−1</a:t>
            </a:r>
          </a:p>
        </p:txBody>
      </p:sp>
      <p:sp>
        <p:nvSpPr>
          <p:cNvPr id="14" name="">
            <a:extLst>
              <a:ext uri="{FF2B5EF4-FFF2-40B4-BE49-F238E27FC236}">
                <ns2:creationId id="{E15BEE20-1706-4DA9-A18D-6E5BC0B4D031}"/>
              </a:ext>
            </a:extLst>
          </p:cNvPr>
          <p:cNvSpPr>
            <a:spLocks noGrp="1"/>
          </p:cNvSpPr>
          <p:nvPr/>
        </p:nvSpPr>
        <p:spPr>
          <a:xfrm>
            <a:off x="1181100" y="5290566"/>
            <a:ext cx="10401300" cy="9525"/>
          </a:xfrm>
          <a:prstGeom prst="rect">
            <a:avLst/>
          </a:prstGeom>
          <a:solidFill>
            <a:srgbClr val="E7E7E7"/>
          </a:solidFill>
          <a:ln w="0">
            <a:noFill/>
          </a:ln>
        </p:spPr>
      </p:sp>
      <p:sp>
        <p:nvSpPr>
          <p:cNvPr id="15" name="text-448-72">
            <a:extLst>
              <a:ext uri="{FF2B5EF4-FFF2-40B4-BE49-F238E27FC236}">
                <ns2:creationId id="{827FACB3-1C39-4CBB-B3E3-F62B1A2B848F}"/>
              </a:ext>
            </a:extLst>
          </p:cNvPr>
          <p:cNvSpPr>
            <a:spLocks noGrp="1"/>
          </p:cNvSpPr>
          <p:nvPr/>
        </p:nvSpPr>
        <p:spPr>
          <a:xfrm>
            <a:off x="685800" y="35760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a:ext uri="{FF2B5EF4-FFF2-40B4-BE49-F238E27FC236}">
                <ns2:creationId id="{7C9D73FF-0752-444A-AAD3-8CF953B6B323}"/>
              </a:ext>
            </a:extLst>
          </p:cNvPr>
          <p:cNvSpPr>
            <a:spLocks noGrp="1"/>
          </p:cNvSpPr>
          <p:nvPr/>
        </p:nvSpPr>
        <p:spPr>
          <a:xfrm>
            <a:off x="1181100" y="35760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n(n−1)/2</a:t>
            </a:r>
          </a:p>
        </p:txBody>
      </p:sp>
      <p:sp>
        <p:nvSpPr>
          <p:cNvPr id="17" name="">
            <a:extLst>
              <a:ext uri="{FF2B5EF4-FFF2-40B4-BE49-F238E27FC236}">
                <ns2:creationId id="{ED33D6FC-5073-4DED-8C4A-B8AD8D92E1BE}"/>
              </a:ext>
            </a:extLst>
          </p:cNvPr>
          <p:cNvSpPr>
            <a:spLocks noGrp="1"/>
          </p:cNvSpPr>
          <p:nvPr/>
        </p:nvSpPr>
        <p:spPr>
          <a:xfrm>
            <a:off x="1181100" y="5290566"/>
            <a:ext cx="10401300" cy="9525"/>
          </a:xfrm>
          <a:prstGeom prst="rect">
            <a:avLst/>
          </a:prstGeom>
          <a:solidFill>
            <a:srgbClr val="E7E7E7"/>
          </a:solidFill>
          <a:ln w="0">
            <a:noFill/>
          </a:ln>
        </p:spPr>
      </p:sp>
      <p:sp>
        <p:nvSpPr>
          <p:cNvPr id="18" name="text-514-72">
            <a:extLst>
              <a:ext uri="{FF2B5EF4-FFF2-40B4-BE49-F238E27FC236}">
                <ns2:creationId id="{B0EC29B9-0DBC-4B9C-9199-E284A7F90504}"/>
              </a:ext>
            </a:extLst>
          </p:cNvPr>
          <p:cNvSpPr>
            <a:spLocks noGrp="1"/>
          </p:cNvSpPr>
          <p:nvPr/>
        </p:nvSpPr>
        <p:spPr>
          <a:xfrm>
            <a:off x="685800" y="41094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a:ext uri="{FF2B5EF4-FFF2-40B4-BE49-F238E27FC236}">
                <ns2:creationId id="{BFBD6C25-BE70-4690-84C5-87BFEF46732F}"/>
              </a:ext>
            </a:extLst>
          </p:cNvPr>
          <p:cNvSpPr>
            <a:spLocks noGrp="1"/>
          </p:cNvSpPr>
          <p:nvPr/>
        </p:nvSpPr>
        <p:spPr>
          <a:xfrm>
            <a:off x="1181100" y="41094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n</a:t>
            </a:r>
          </a:p>
        </p:txBody>
      </p:sp>
      <p:sp>
        <p:nvSpPr>
          <p:cNvPr id="20" name="">
            <a:extLst>
              <a:ext uri="{FF2B5EF4-FFF2-40B4-BE49-F238E27FC236}">
                <ns2:creationId id="{C9B6FB6B-B560-482F-BAA9-383D07B52E14}"/>
              </a:ext>
            </a:extLst>
          </p:cNvPr>
          <p:cNvSpPr>
            <a:spLocks noGrp="1"/>
          </p:cNvSpPr>
          <p:nvPr/>
        </p:nvSpPr>
        <p:spPr>
          <a:xfrm>
            <a:off x="1181100" y="5438775"/>
            <a:ext cx="10401300" cy="9525"/>
          </a:xfrm>
          <a:prstGeom prst="rect">
            <a:avLst/>
          </a:prstGeom>
          <a:solidFill>
            <a:srgbClr val="E7E7E7"/>
          </a:solidFill>
          <a:ln w="0">
            <a:noFill/>
          </a:ln>
        </p:spPr>
      </p:sp>
      <p:sp>
        <p:nvSpPr>
          <p:cNvPr id="21" name="text-580-72">
            <a:extLst>
              <a:ext uri="{FF2B5EF4-FFF2-40B4-BE49-F238E27FC236}">
                <ns2:creationId id="{842309BF-1C24-44D2-A0EA-3825C4A8D8CE}"/>
              </a:ext>
            </a:extLst>
          </p:cNvPr>
          <p:cNvSpPr>
            <a:spLocks noGrp="1"/>
          </p:cNvSpPr>
          <p:nvPr/>
        </p:nvSpPr>
        <p:spPr>
          <a:xfrm>
            <a:off x="685800" y="46428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a:ext uri="{FF2B5EF4-FFF2-40B4-BE49-F238E27FC236}">
                <ns2:creationId id="{18A4BEFC-65A6-449E-928B-1D4DA00A6C2C}"/>
              </a:ext>
            </a:extLst>
          </p:cNvPr>
          <p:cNvSpPr>
            <a:spLocks noGrp="1"/>
          </p:cNvSpPr>
          <p:nvPr/>
        </p:nvSpPr>
        <p:spPr>
          <a:xfrm>
            <a:off x="1181100" y="46428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1</a:t>
            </a:r>
          </a:p>
        </p:txBody>
      </p:sp>
    </p:spTree>
    <p:extLst>
      <p:ext uri="{BB962C8B-B14F-4D97-AF65-F5344CB8AC3E}">
        <ns3:creationId val="462685519"/>
      </p:ext>
    </p:extLst>
  </p:cSld>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CCC5384A-A676-486E-B2CB-DDE97C9D201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9E30F3BD-7203-4182-A6C0-8678EB60568A}"/>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DE3FF28-1102-4FA6-B140-AE02D2064DBA}"/>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09  정답과 해설</a:t>
            </a:r>
          </a:p>
        </p:txBody>
      </p:sp>
      <p:sp>
        <p:nvSpPr>
          <p:cNvPr id="4" name="">
            <a:extLst>
              <a:ext uri="{FF2B5EF4-FFF2-40B4-BE49-F238E27FC236}">
                <ns2:creationId id="{9C162F16-B3B1-4F6B-B7D6-467ED512D5F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5603344-41D4-4E3E-A02F-54111273963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9808E8D-4623-4C90-B8BC-84780541995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CCB12C07-5079-4F8B-A4C3-B02F2972C62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018</a:t>
            </a:r>
          </a:p>
        </p:txBody>
      </p:sp>
      <p:sp>
        <p:nvSpPr>
          <p:cNvPr id="8" name="text-178-64">
            <a:extLst>
              <a:ext uri="{FF2B5EF4-FFF2-40B4-BE49-F238E27FC236}">
                <ns2:creationId id="{DCD1493E-14D6-4F0F-8703-3F06712DCADD}"/>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n개 원소를 왼쪽부터 하나씩 확인하는 순차 탐색에서 찾는 값이 없을 때, 배열 원소와 목표값의 일치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비교는 총 몇 회인가? 반복 조건 검사는 세지 않는다.</a:t>
            </a:r>
          </a:p>
        </p:txBody>
      </p:sp>
      <p:sp>
        <p:nvSpPr>
          <p:cNvPr id="9" name="">
            <a:extLst>
              <a:ext uri="{FF2B5EF4-FFF2-40B4-BE49-F238E27FC236}">
                <ns2:creationId id="{A5C787D8-FE6A-4A3B-8087-BB31EC2D81A8}"/>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3934762B-AB04-47B3-9A32-412118A9B176}"/>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4번 n</a:t>
            </a:r>
          </a:p>
        </p:txBody>
      </p:sp>
      <p:sp>
        <p:nvSpPr>
          <p:cNvPr id="11" name="text-324.4-64">
            <a:extLst>
              <a:ext uri="{FF2B5EF4-FFF2-40B4-BE49-F238E27FC236}">
                <ns2:creationId id="{0F1640CC-8CEC-4853-BD99-53429CE30AAB}"/>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B252C589-E302-4FE6-B7BB-95C13E1D30F6}"/>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69DBD7AE-8A13-45CF-90B0-37EFB3A08780}"/>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찾는 값이 없으면 모든 원소를 확인해야 한다.</a:t>
            </a:r>
          </a:p>
        </p:txBody>
      </p:sp>
    </p:spTree>
    <p:extLst>
      <p:ext uri="{BB962C8B-B14F-4D97-AF65-F5344CB8AC3E}">
        <ns3:creationId val="46268551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28-64">
            <a:extLst xmlns:a="http://schemas.openxmlformats.org/drawingml/2006/main">
              <a:ext uri="{FF2B5EF4-FFF2-40B4-BE49-F238E27FC236}">
                <a16:creationId xmlns:a16="http://schemas.microsoft.com/office/drawing/2014/main" id="{045DA86F-8E17-42F9-A386-359B9AB0D49A}"/>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xmlns:a="http://schemas.openxmlformats.org/drawingml/2006/main">
              <a:ext uri="{FF2B5EF4-FFF2-40B4-BE49-F238E27FC236}">
                <a16:creationId xmlns:a16="http://schemas.microsoft.com/office/drawing/2014/main" id="{6162C466-5081-4E42-995D-AA8CE15B202D}"/>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2AF8D5DA-C979-4ADE-9D65-9277BDC2CAD5}"/>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10  </a:t>
            </a:r>
          </a:p>
        </p:txBody>
      </p:sp>
      <p:sp>
        <p:nvSpPr>
          <p:cNvPr id="4" name="">
            <a:extLst xmlns:a="http://schemas.openxmlformats.org/drawingml/2006/main">
              <a:ext uri="{FF2B5EF4-FFF2-40B4-BE49-F238E27FC236}">
                <a16:creationId xmlns:a16="http://schemas.microsoft.com/office/drawing/2014/main" id="{D6BFA647-E4A7-4ED9-9DF6-D849F9BDE72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399226-0998-4863-A695-F0A6B8DFA14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237CF61E-6B59-4089-8231-90254D6A4A79}"/>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D6F6F99E-2B24-44BC-82E2-3056398BA30D}"/>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019</a:t>
            </a:r>
          </a:p>
        </p:txBody>
      </p:sp>
      <p:sp>
        <p:nvSpPr>
          <p:cNvPr id="8" name="text-178-64">
            <a:extLst xmlns:a="http://schemas.openxmlformats.org/drawingml/2006/main">
              <a:ext uri="{FF2B5EF4-FFF2-40B4-BE49-F238E27FC236}">
                <a16:creationId xmlns:a16="http://schemas.microsoft.com/office/drawing/2014/main" id="{3475E5B6-B438-4E0F-A85C-7B4E5AF98711}"/>
              </a:ext>
            </a:extLst>
          </p:cNvPr>
          <p:cNvSpPr>
            <a:spLocks xmlns:a="http://schemas.openxmlformats.org/drawingml/2006/main" noGrp="1"/>
          </p:cNvSpPr>
          <p:nvPr/>
        </p:nvSpPr>
        <p:spPr>
          <a:xfrm xmlns:a="http://schemas.openxmlformats.org/drawingml/2006/main">
            <a:off x="609600" y="1695450"/>
            <a:ext cx="109728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정렬되지 않은 배열에도 정확하게 적용할 수 있는 탐색은?</a:t>
            </a:r>
          </a:p>
        </p:txBody>
      </p:sp>
      <p:sp>
        <p:nvSpPr>
          <p:cNvPr id="9" name="text-316-72">
            <a:extLst xmlns:a="http://schemas.openxmlformats.org/drawingml/2006/main">
              <a:ext uri="{FF2B5EF4-FFF2-40B4-BE49-F238E27FC236}">
                <a16:creationId xmlns:a16="http://schemas.microsoft.com/office/drawing/2014/main" id="{AA7D881C-A0A2-4E7F-BAB7-96E37C1A0FED}"/>
              </a:ext>
            </a:extLst>
          </p:cNvPr>
          <p:cNvSpPr>
            <a:spLocks xmlns:a="http://schemas.openxmlformats.org/drawingml/2006/main" noGrp="1"/>
          </p:cNvSpPr>
          <p:nvPr/>
        </p:nvSpPr>
        <p:spPr>
          <a:xfrm xmlns:a="http://schemas.openxmlformats.org/drawingml/2006/main">
            <a:off x="685800" y="30099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xmlns:a="http://schemas.openxmlformats.org/drawingml/2006/main">
              <a:ext uri="{FF2B5EF4-FFF2-40B4-BE49-F238E27FC236}">
                <a16:creationId xmlns:a16="http://schemas.microsoft.com/office/drawing/2014/main" id="{E10F789C-C487-4B93-BE04-976406279E79}"/>
              </a:ext>
            </a:extLst>
          </p:cNvPr>
          <p:cNvSpPr>
            <a:spLocks xmlns:a="http://schemas.openxmlformats.org/drawingml/2006/main" noGrp="1"/>
          </p:cNvSpPr>
          <p:nvPr/>
        </p:nvSpPr>
        <p:spPr>
          <a:xfrm xmlns:a="http://schemas.openxmlformats.org/drawingml/2006/main">
            <a:off x="1181100" y="30099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정렬 없이 제곱근 간격의 값만 검사하는 탐색</a:t>
            </a:r>
          </a:p>
        </p:txBody>
      </p:sp>
      <p:sp>
        <p:nvSpPr>
          <p:cNvPr id="11" name="">
            <a:extLst xmlns:a="http://schemas.openxmlformats.org/drawingml/2006/main">
              <a:ext uri="{FF2B5EF4-FFF2-40B4-BE49-F238E27FC236}">
                <a16:creationId xmlns:a16="http://schemas.microsoft.com/office/drawing/2014/main" id="{91166E37-7CF5-432C-A6DD-B3CBFF1C197D}"/>
              </a:ext>
            </a:extLst>
          </p:cNvPr>
          <p:cNvSpPr>
            <a:spLocks xmlns:a="http://schemas.openxmlformats.org/drawingml/2006/main" noGrp="1"/>
          </p:cNvSpPr>
          <p:nvPr/>
        </p:nvSpPr>
        <p:spPr>
          <a:xfrm xmlns:a="http://schemas.openxmlformats.org/drawingml/2006/main">
            <a:off x="1181100" y="355282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2" name="text-382-72">
            <a:extLst xmlns:a="http://schemas.openxmlformats.org/drawingml/2006/main">
              <a:ext uri="{FF2B5EF4-FFF2-40B4-BE49-F238E27FC236}">
                <a16:creationId xmlns:a16="http://schemas.microsoft.com/office/drawing/2014/main" id="{2E56EEA0-7ACC-4462-9339-2548BC02C000}"/>
              </a:ext>
            </a:extLst>
          </p:cNvPr>
          <p:cNvSpPr>
            <a:spLocks xmlns:a="http://schemas.openxmlformats.org/drawingml/2006/main" noGrp="1"/>
          </p:cNvSpPr>
          <p:nvPr/>
        </p:nvSpPr>
        <p:spPr>
          <a:xfrm xmlns:a="http://schemas.openxmlformats.org/drawingml/2006/main">
            <a:off x="685800" y="36385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xmlns:a="http://schemas.openxmlformats.org/drawingml/2006/main">
              <a:ext uri="{FF2B5EF4-FFF2-40B4-BE49-F238E27FC236}">
                <a16:creationId xmlns:a16="http://schemas.microsoft.com/office/drawing/2014/main" id="{D2C4096E-55AB-4EBC-BDC1-B24ACC411BC5}"/>
              </a:ext>
            </a:extLst>
          </p:cNvPr>
          <p:cNvSpPr>
            <a:spLocks xmlns:a="http://schemas.openxmlformats.org/drawingml/2006/main" noGrp="1"/>
          </p:cNvSpPr>
          <p:nvPr/>
        </p:nvSpPr>
        <p:spPr>
          <a:xfrm xmlns:a="http://schemas.openxmlformats.org/drawingml/2006/main">
            <a:off x="1181100" y="363855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순차 탐색</a:t>
            </a:r>
          </a:p>
        </p:txBody>
      </p:sp>
      <p:sp>
        <p:nvSpPr>
          <p:cNvPr id="14" name="">
            <a:extLst xmlns:a="http://schemas.openxmlformats.org/drawingml/2006/main">
              <a:ext uri="{FF2B5EF4-FFF2-40B4-BE49-F238E27FC236}">
                <a16:creationId xmlns:a16="http://schemas.microsoft.com/office/drawing/2014/main" id="{6A6B6074-2B41-4A34-9285-82C812F99613}"/>
              </a:ext>
            </a:extLst>
          </p:cNvPr>
          <p:cNvSpPr>
            <a:spLocks xmlns:a="http://schemas.openxmlformats.org/drawingml/2006/main" noGrp="1"/>
          </p:cNvSpPr>
          <p:nvPr/>
        </p:nvSpPr>
        <p:spPr>
          <a:xfrm xmlns:a="http://schemas.openxmlformats.org/drawingml/2006/main">
            <a:off x="1181100" y="418147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5" name="text-448-72">
            <a:extLst xmlns:a="http://schemas.openxmlformats.org/drawingml/2006/main">
              <a:ext uri="{FF2B5EF4-FFF2-40B4-BE49-F238E27FC236}">
                <a16:creationId xmlns:a16="http://schemas.microsoft.com/office/drawing/2014/main" id="{1985FADB-87EC-467A-B2F1-9B47F242151F}"/>
              </a:ext>
            </a:extLst>
          </p:cNvPr>
          <p:cNvSpPr>
            <a:spLocks xmlns:a="http://schemas.openxmlformats.org/drawingml/2006/main" noGrp="1"/>
          </p:cNvSpPr>
          <p:nvPr/>
        </p:nvSpPr>
        <p:spPr>
          <a:xfrm xmlns:a="http://schemas.openxmlformats.org/drawingml/2006/main">
            <a:off x="685800" y="42672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xmlns:a="http://schemas.openxmlformats.org/drawingml/2006/main">
              <a:ext uri="{FF2B5EF4-FFF2-40B4-BE49-F238E27FC236}">
                <a16:creationId xmlns:a16="http://schemas.microsoft.com/office/drawing/2014/main" id="{4A778B5D-E628-4D05-840F-85AB730ADF0F}"/>
              </a:ext>
            </a:extLst>
          </p:cNvPr>
          <p:cNvSpPr>
            <a:spLocks xmlns:a="http://schemas.openxmlformats.org/drawingml/2006/main" noGrp="1"/>
          </p:cNvSpPr>
          <p:nvPr/>
        </p:nvSpPr>
        <p:spPr>
          <a:xfrm xmlns:a="http://schemas.openxmlformats.org/drawingml/2006/main">
            <a:off x="1181100" y="42672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정렬 없이 중간 원소와 비교하여 한쪽을 버리는 이진 탐색</a:t>
            </a:r>
          </a:p>
        </p:txBody>
      </p:sp>
      <p:sp>
        <p:nvSpPr>
          <p:cNvPr id="17" name="">
            <a:extLst xmlns:a="http://schemas.openxmlformats.org/drawingml/2006/main">
              <a:ext uri="{FF2B5EF4-FFF2-40B4-BE49-F238E27FC236}">
                <a16:creationId xmlns:a16="http://schemas.microsoft.com/office/drawing/2014/main" id="{B0D0B546-D640-4406-8591-BD4A66710015}"/>
              </a:ext>
            </a:extLst>
          </p:cNvPr>
          <p:cNvSpPr>
            <a:spLocks xmlns:a="http://schemas.openxmlformats.org/drawingml/2006/main" noGrp="1"/>
          </p:cNvSpPr>
          <p:nvPr/>
        </p:nvSpPr>
        <p:spPr>
          <a:xfrm xmlns:a="http://schemas.openxmlformats.org/drawingml/2006/main">
            <a:off x="1181100" y="481012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8" name="text-514-72">
            <a:extLst xmlns:a="http://schemas.openxmlformats.org/drawingml/2006/main">
              <a:ext uri="{FF2B5EF4-FFF2-40B4-BE49-F238E27FC236}">
                <a16:creationId xmlns:a16="http://schemas.microsoft.com/office/drawing/2014/main" id="{A3098EF0-122B-4C04-A6E4-87B382A6D455}"/>
              </a:ext>
            </a:extLst>
          </p:cNvPr>
          <p:cNvSpPr>
            <a:spLocks xmlns:a="http://schemas.openxmlformats.org/drawingml/2006/main" noGrp="1"/>
          </p:cNvSpPr>
          <p:nvPr/>
        </p:nvSpPr>
        <p:spPr>
          <a:xfrm xmlns:a="http://schemas.openxmlformats.org/drawingml/2006/main">
            <a:off x="685800" y="48958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xmlns:a="http://schemas.openxmlformats.org/drawingml/2006/main">
              <a:ext uri="{FF2B5EF4-FFF2-40B4-BE49-F238E27FC236}">
                <a16:creationId xmlns:a16="http://schemas.microsoft.com/office/drawing/2014/main" id="{2DA08CBB-1EAB-44E3-B789-E63F2B34326D}"/>
              </a:ext>
            </a:extLst>
          </p:cNvPr>
          <p:cNvSpPr>
            <a:spLocks xmlns:a="http://schemas.openxmlformats.org/drawingml/2006/main" noGrp="1"/>
          </p:cNvSpPr>
          <p:nvPr/>
        </p:nvSpPr>
        <p:spPr>
          <a:xfrm xmlns:a="http://schemas.openxmlformats.org/drawingml/2006/main">
            <a:off x="1181100" y="489585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정렬 없이 끝값 비율로 위치를 추정해 한쪽을 버리는 보간 탐색</a:t>
            </a:r>
          </a:p>
        </p:txBody>
      </p:sp>
      <p:sp>
        <p:nvSpPr>
          <p:cNvPr id="20" name="">
            <a:extLst xmlns:a="http://schemas.openxmlformats.org/drawingml/2006/main">
              <a:ext uri="{FF2B5EF4-FFF2-40B4-BE49-F238E27FC236}">
                <a16:creationId xmlns:a16="http://schemas.microsoft.com/office/drawing/2014/main" id="{D58ADC84-8CFE-487F-A08D-7D2C2C725974}"/>
              </a:ext>
            </a:extLst>
          </p:cNvPr>
          <p:cNvSpPr>
            <a:spLocks xmlns:a="http://schemas.openxmlformats.org/drawingml/2006/main" noGrp="1"/>
          </p:cNvSpPr>
          <p:nvPr/>
        </p:nvSpPr>
        <p:spPr>
          <a:xfrm xmlns:a="http://schemas.openxmlformats.org/drawingml/2006/main">
            <a:off x="1181100" y="543877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21" name="text-580-72">
            <a:extLst xmlns:a="http://schemas.openxmlformats.org/drawingml/2006/main">
              <a:ext uri="{FF2B5EF4-FFF2-40B4-BE49-F238E27FC236}">
                <a16:creationId xmlns:a16="http://schemas.microsoft.com/office/drawing/2014/main" id="{07F41AF2-1CE2-4C43-8280-CC40DE0EE49F}"/>
              </a:ext>
            </a:extLst>
          </p:cNvPr>
          <p:cNvSpPr>
            <a:spLocks xmlns:a="http://schemas.openxmlformats.org/drawingml/2006/main" noGrp="1"/>
          </p:cNvSpPr>
          <p:nvPr/>
        </p:nvSpPr>
        <p:spPr>
          <a:xfrm xmlns:a="http://schemas.openxmlformats.org/drawingml/2006/main">
            <a:off x="685800" y="55245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xmlns:a="http://schemas.openxmlformats.org/drawingml/2006/main">
              <a:ext uri="{FF2B5EF4-FFF2-40B4-BE49-F238E27FC236}">
                <a16:creationId xmlns:a16="http://schemas.microsoft.com/office/drawing/2014/main" id="{38291B22-AA41-4890-9959-85BDAE5E7EC9}"/>
              </a:ext>
            </a:extLst>
          </p:cNvPr>
          <p:cNvSpPr>
            <a:spLocks xmlns:a="http://schemas.openxmlformats.org/drawingml/2006/main" noGrp="1"/>
          </p:cNvSpPr>
          <p:nvPr/>
        </p:nvSpPr>
        <p:spPr>
          <a:xfrm xmlns:a="http://schemas.openxmlformats.org/drawingml/2006/main">
            <a:off x="1181100" y="55245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정렬 없이 첫 원소보다 작으면 즉시 실패하는 탐색</a:t>
            </a:r>
          </a:p>
        </p:txBody>
      </p:sp>
    </p:spTree>
    <p:extLst>
      <p:ext uri="{BB962C8B-B14F-4D97-AF65-F5344CB8AC3E}">
        <p14:creationId xmlns:p14="http://schemas.microsoft.com/office/powerpoint/2010/main" val="46268551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6F203D1E-7699-4FDB-BB56-835D5922F127}"/>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xmlns:a="http://schemas.openxmlformats.org/drawingml/2006/main">
              <a:ext uri="{FF2B5EF4-FFF2-40B4-BE49-F238E27FC236}">
                <a16:creationId xmlns:a16="http://schemas.microsoft.com/office/drawing/2014/main" id="{20D7C8B3-0351-4731-81F4-2A811F4B2645}"/>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F1F0F9B8-0347-425C-AB84-197BC9587490}"/>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10  정답과 해설</a:t>
            </a:r>
          </a:p>
        </p:txBody>
      </p:sp>
      <p:sp>
        <p:nvSpPr>
          <p:cNvPr id="4" name="">
            <a:extLst xmlns:a="http://schemas.openxmlformats.org/drawingml/2006/main">
              <a:ext uri="{FF2B5EF4-FFF2-40B4-BE49-F238E27FC236}">
                <a16:creationId xmlns:a16="http://schemas.microsoft.com/office/drawing/2014/main" id="{3AF352E7-C651-4992-A569-6EE8B5956C4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AD5671-8D31-48B5-A527-52CACB2FBE9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448F19B0-A4D5-4280-BB5A-D62A7EC69570}"/>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91A8628E-48FF-4F04-B4DB-142E142D32CB}"/>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020</a:t>
            </a:r>
          </a:p>
        </p:txBody>
      </p:sp>
      <p:sp>
        <p:nvSpPr>
          <p:cNvPr id="8" name="text-178-64">
            <a:extLst xmlns:a="http://schemas.openxmlformats.org/drawingml/2006/main">
              <a:ext uri="{FF2B5EF4-FFF2-40B4-BE49-F238E27FC236}">
                <a16:creationId xmlns:a16="http://schemas.microsoft.com/office/drawing/2014/main" id="{C84477FD-5C36-4C64-859C-EEC12A5696AF}"/>
              </a:ext>
            </a:extLst>
          </p:cNvPr>
          <p:cNvSpPr>
            <a:spLocks xmlns:a="http://schemas.openxmlformats.org/drawingml/2006/main" noGrp="1"/>
          </p:cNvSpPr>
          <p:nvPr/>
        </p:nvSpPr>
        <p:spPr>
          <a:xfrm xmlns:a="http://schemas.openxmlformats.org/drawingml/2006/main">
            <a:off x="609600" y="169545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정렬되지 않은 배열에도 정확하게 적용할 수 있는 탐색은?</a:t>
            </a:r>
          </a:p>
        </p:txBody>
      </p:sp>
      <p:sp>
        <p:nvSpPr>
          <p:cNvPr id="9" name="">
            <a:extLst xmlns:a="http://schemas.openxmlformats.org/drawingml/2006/main">
              <a:ext uri="{FF2B5EF4-FFF2-40B4-BE49-F238E27FC236}">
                <a16:creationId xmlns:a16="http://schemas.microsoft.com/office/drawing/2014/main" id="{61978A8F-3150-459D-ABAB-C065C6A530D2}"/>
              </a:ext>
            </a:extLst>
          </p:cNvPr>
          <p:cNvSpPr>
            <a:spLocks xmlns:a="http://schemas.openxmlformats.org/drawingml/2006/main" noGrp="1"/>
          </p:cNvSpPr>
          <p:nvPr/>
        </p:nvSpPr>
        <p:spPr>
          <a:xfrm xmlns:a="http://schemas.openxmlformats.org/drawingml/2006/main">
            <a:off x="609600" y="2205990"/>
            <a:ext cx="10972800" cy="626745"/>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8202D826-7A9C-42EB-8C0E-64BAB608D46E}"/>
              </a:ext>
            </a:extLst>
          </p:cNvPr>
          <p:cNvSpPr>
            <a:spLocks xmlns:a="http://schemas.openxmlformats.org/drawingml/2006/main" noGrp="1"/>
          </p:cNvSpPr>
          <p:nvPr/>
        </p:nvSpPr>
        <p:spPr>
          <a:xfrm xmlns:a="http://schemas.openxmlformats.org/drawingml/2006/main">
            <a:off x="876300" y="2339340"/>
            <a:ext cx="104394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2번 순차 탐색</a:t>
            </a:r>
          </a:p>
        </p:txBody>
      </p:sp>
      <p:sp>
        <p:nvSpPr>
          <p:cNvPr id="11" name="text-324.4-64">
            <a:extLst xmlns:a="http://schemas.openxmlformats.org/drawingml/2006/main">
              <a:ext uri="{FF2B5EF4-FFF2-40B4-BE49-F238E27FC236}">
                <a16:creationId xmlns:a16="http://schemas.microsoft.com/office/drawing/2014/main" id="{4217738D-A900-48C6-B780-398D6E554987}"/>
              </a:ext>
            </a:extLst>
          </p:cNvPr>
          <p:cNvSpPr>
            <a:spLocks xmlns:a="http://schemas.openxmlformats.org/drawingml/2006/main" noGrp="1"/>
          </p:cNvSpPr>
          <p:nvPr/>
        </p:nvSpPr>
        <p:spPr>
          <a:xfrm xmlns:a="http://schemas.openxmlformats.org/drawingml/2006/main">
            <a:off x="609600" y="3089910"/>
            <a:ext cx="118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AAE11E7F-5A5D-44D9-BA17-0E0E67ADEE8F}"/>
              </a:ext>
            </a:extLst>
          </p:cNvPr>
          <p:cNvSpPr>
            <a:spLocks xmlns:a="http://schemas.openxmlformats.org/drawingml/2006/main" noGrp="1"/>
          </p:cNvSpPr>
          <p:nvPr/>
        </p:nvSpPr>
        <p:spPr>
          <a:xfrm xmlns:a="http://schemas.openxmlformats.org/drawingml/2006/main">
            <a:off x="1752600" y="326136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AC2985F7-E05C-488D-8435-F49F4785A448}"/>
              </a:ext>
            </a:extLst>
          </p:cNvPr>
          <p:cNvSpPr>
            <a:spLocks xmlns:a="http://schemas.openxmlformats.org/drawingml/2006/main" noGrp="1"/>
          </p:cNvSpPr>
          <p:nvPr/>
        </p:nvSpPr>
        <p:spPr>
          <a:xfrm xmlns:a="http://schemas.openxmlformats.org/drawingml/2006/main">
            <a:off x="609600" y="354711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순차 탐색은 순서에 의존하지 않고 각 원소를 직접 확인한다.</a:t>
            </a:r>
          </a:p>
        </p:txBody>
      </p:sp>
    </p:spTree>
    <p:extLst>
      <p:ext uri="{BB962C8B-B14F-4D97-AF65-F5344CB8AC3E}">
        <p14:creationId xmlns:p14="http://schemas.microsoft.com/office/powerpoint/2010/main" val="462685519"/>
      </p:ext>
    </p:extLst>
  </p:cSld>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D7C87B15-E56B-495A-A330-BA7049E93E07}"/>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2DF897C5-3F19-4709-891B-5C05BCD7EE3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7801E715-7CDE-4060-8DD2-F12C3191AF1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11  </a:t>
            </a:r>
          </a:p>
        </p:txBody>
      </p:sp>
      <p:sp>
        <p:nvSpPr>
          <p:cNvPr id="4" name="">
            <a:extLst>
              <a:ext uri="{FF2B5EF4-FFF2-40B4-BE49-F238E27FC236}">
                <ns2:creationId id="{CCAB6209-58C4-46DE-906C-222B4243F1A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689E69E-C65B-42AD-B80C-EFC9F77BE08C}"/>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583A69A-BE19-45A4-96D0-C0B98A70AD15}"/>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B59CBADE-4F2F-4B1C-BB74-EF69879DA73A}"/>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021</a:t>
            </a:r>
          </a:p>
        </p:txBody>
      </p:sp>
      <p:sp>
        <p:nvSpPr>
          <p:cNvPr id="8" name="text-178-64">
            <a:extLst>
              <a:ext uri="{FF2B5EF4-FFF2-40B4-BE49-F238E27FC236}">
                <ns2:creationId id="{8CAED72D-DE5F-4207-B835-3FAC40E5AB6B}"/>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오름차순 배열 a에서 목표값 x를 이진 탐색한다. lo는 현재 후보 구간의 첫 인덱스, hi는</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마지막 인덱스이며 양 끝을 모두 포함한다. 가운데 인덱스를 mid라고 할 때 a[mid]&lt;x이다.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후보 구간을 정하는 올바른 갱신은?</a:t>
            </a:r>
          </a:p>
        </p:txBody>
      </p:sp>
      <p:sp>
        <p:nvSpPr>
          <p:cNvPr id="9" name="text-316-72">
            <a:extLst>
              <a:ext uri="{FF2B5EF4-FFF2-40B4-BE49-F238E27FC236}">
                <ns2:creationId id="{E9F5AD6A-9743-4BFC-869E-314D5B926B28}"/>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F495D6FF-2C88-482A-8E99-4468DFA8BE7F}"/>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hi=mid</a:t>
            </a:r>
          </a:p>
        </p:txBody>
      </p:sp>
      <p:sp>
        <p:nvSpPr>
          <p:cNvPr id="11" name="">
            <a:extLst>
              <a:ext uri="{FF2B5EF4-FFF2-40B4-BE49-F238E27FC236}">
                <ns2:creationId id="{15FC9B88-3E40-481F-83D8-E594862C292E}"/>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1EAECA73-39BE-4752-99E0-672BEEF447DD}"/>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CB2E297B-A8E5-47FA-9695-46FA9DA0CC17}"/>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lo=mid</a:t>
            </a:r>
          </a:p>
        </p:txBody>
      </p:sp>
      <p:sp>
        <p:nvSpPr>
          <p:cNvPr id="14" name="">
            <a:extLst>
              <a:ext uri="{FF2B5EF4-FFF2-40B4-BE49-F238E27FC236}">
                <ns2:creationId id="{C171BF58-2BFA-47A4-AAEF-295B4C97E486}"/>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E69CB17B-A3D3-4CBD-B6A1-92FA85C3CB6B}"/>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ABE1578A-81E8-4B3F-B82A-8DAB8BD41E91}"/>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hi=mid−1</a:t>
            </a:r>
          </a:p>
        </p:txBody>
      </p:sp>
      <p:sp>
        <p:nvSpPr>
          <p:cNvPr id="17" name="">
            <a:extLst>
              <a:ext uri="{FF2B5EF4-FFF2-40B4-BE49-F238E27FC236}">
                <ns2:creationId id="{2A4107DF-61DB-4B41-8899-CAC2DDBEA266}"/>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481B28DB-F32C-4606-A278-65AC19C87954}"/>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3BBACEE0-B107-4BD6-90A5-1E8A21BBF023}"/>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lo=hi+1</a:t>
            </a:r>
          </a:p>
        </p:txBody>
      </p:sp>
      <p:sp>
        <p:nvSpPr>
          <p:cNvPr id="20" name="">
            <a:extLst>
              <a:ext uri="{FF2B5EF4-FFF2-40B4-BE49-F238E27FC236}">
                <ns2:creationId id="{5DE9354C-7722-45F4-A4DF-489A3BA80B4D}"/>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6CDE5434-91CB-4BC4-B1BC-A2E73EC0C6C5}"/>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41BC4A60-AEB8-40D5-A621-A03C7A6B7B27}"/>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lo=mid+1</a:t>
            </a:r>
          </a:p>
        </p:txBody>
      </p:sp>
    </p:spTree>
    <p:extLst>
      <p:ext uri="{BB962C8B-B14F-4D97-AF65-F5344CB8AC3E}">
        <ns3:creationId val="462685519"/>
      </p:ext>
    </p:extLst>
  </p:cSld>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63896B94-74A1-4089-B96F-E55E1DD0FE5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65BCC8C9-5D62-4747-B7EF-8FDFB766352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8DC4D09-7B3F-40C2-A1E5-3C502B1FBD0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11  정답과 해설</a:t>
            </a:r>
          </a:p>
        </p:txBody>
      </p:sp>
      <p:sp>
        <p:nvSpPr>
          <p:cNvPr id="4" name="">
            <a:extLst>
              <a:ext uri="{FF2B5EF4-FFF2-40B4-BE49-F238E27FC236}">
                <ns2:creationId id="{92AF9000-DA36-48CB-9AB9-F1C80815E91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7F94FF5-BEA8-4085-9B1F-EB4F11571989}"/>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C97354B0-C5E3-4843-B296-84D8FB5A3333}"/>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E5545F8-289D-4F5C-B144-F9FAD75D9A2C}"/>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022</a:t>
            </a:r>
          </a:p>
        </p:txBody>
      </p:sp>
      <p:sp>
        <p:nvSpPr>
          <p:cNvPr id="8" name="text-178-64">
            <a:extLst>
              <a:ext uri="{FF2B5EF4-FFF2-40B4-BE49-F238E27FC236}">
                <ns2:creationId id="{380C6562-4707-4116-AD6E-6C903FF577CA}"/>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오름차순 배열 a에서 목표값 x를 이진 탐색한다. lo는 현재 후보 구간의 첫 인덱스, hi는 마지막 인덱스이며</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양 끝을 모두 포함한다. 가운데 인덱스를 mid라고 할 때 a[mid]&lt;x이다. 다음 후보 구간을 정하는 올바른</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갱신은?</a:t>
            </a:r>
          </a:p>
        </p:txBody>
      </p:sp>
      <p:sp>
        <p:nvSpPr>
          <p:cNvPr id="9" name="">
            <a:extLst>
              <a:ext uri="{FF2B5EF4-FFF2-40B4-BE49-F238E27FC236}">
                <ns2:creationId id="{705A0980-5583-4CC4-8C6D-0450983ABEDB}"/>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01D49546-2055-4795-9528-5D4DF8665F61}"/>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5번 lo=mid+1</a:t>
            </a:r>
          </a:p>
        </p:txBody>
      </p:sp>
      <p:sp>
        <p:nvSpPr>
          <p:cNvPr id="11" name="text-324.4-64">
            <a:extLst>
              <a:ext uri="{FF2B5EF4-FFF2-40B4-BE49-F238E27FC236}">
                <ns2:creationId id="{B15C294C-415F-40AC-B563-5C1B3716B449}"/>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CCB83073-5535-4214-9788-0281ABADA3E1}"/>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E6E459B4-EC58-4A75-BC23-FB7ADAA63A4F}"/>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mid와 그 왼쪽은 모두 x보다 작아 후보에서 제외된다.</a:t>
            </a:r>
          </a:p>
        </p:txBody>
      </p:sp>
    </p:spTree>
    <p:extLst>
      <p:ext uri="{BB962C8B-B14F-4D97-AF65-F5344CB8AC3E}">
        <ns3:creationId val="462685519"/>
      </p:ext>
    </p:extLst>
  </p:cSld>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AE80DD2B-54A6-4CEB-BB7E-33E59D6ABCC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4FA879D7-5918-401D-99B3-5B8086F4D0DA}"/>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2181507F-E762-4A11-9AB4-0AE844F64071}"/>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12  </a:t>
            </a:r>
          </a:p>
        </p:txBody>
      </p:sp>
      <p:sp>
        <p:nvSpPr>
          <p:cNvPr id="4" name="">
            <a:extLst>
              <a:ext uri="{FF2B5EF4-FFF2-40B4-BE49-F238E27FC236}">
                <ns2:creationId id="{A1AD8811-6DC0-4102-ACD1-B9A0019FE3D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2E1021D-8E2F-44DE-A059-4D55B6EBC15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F7599465-63CA-45FB-BF7E-CDF3B3C63A1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AC4064D-8F35-43CA-A8C0-46744D0885BE}"/>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023</a:t>
            </a:r>
          </a:p>
        </p:txBody>
      </p:sp>
      <p:sp>
        <p:nvSpPr>
          <p:cNvPr id="8" name="text-178-64">
            <a:extLst>
              <a:ext uri="{FF2B5EF4-FFF2-40B4-BE49-F238E27FC236}">
                <ns2:creationId id="{48EA5E40-23B1-404E-A6B4-2128568CA5BD}"/>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오름차순 배열에서 목표값을 이진 탐색한다. lo는 후보 구간의 첫 인덱스, hi는 마지막</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인덱스이고 양 끝을 모두 포함한다. 탐색 중 lo&gt;hi가 되어 후보가 남지 않았다. 이것은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무엇을 뜻하는가?</a:t>
            </a:r>
          </a:p>
        </p:txBody>
      </p:sp>
      <p:sp>
        <p:nvSpPr>
          <p:cNvPr id="9" name="text-316-72">
            <a:extLst>
              <a:ext uri="{FF2B5EF4-FFF2-40B4-BE49-F238E27FC236}">
                <ns2:creationId id="{6A146C01-A20B-4CFD-9E84-9F6B8284B6CA}"/>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B18F8B3F-A8E1-472F-B297-331B77173509}"/>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반드시 a[lo]가 정답이다</a:t>
            </a:r>
          </a:p>
        </p:txBody>
      </p:sp>
      <p:sp>
        <p:nvSpPr>
          <p:cNvPr id="11" name="">
            <a:extLst>
              <a:ext uri="{FF2B5EF4-FFF2-40B4-BE49-F238E27FC236}">
                <ns2:creationId id="{8F970BA3-55EC-4B4A-8A9F-AD4AFE9AC4AA}"/>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4CC3E2E8-3C79-4620-934D-225B4CF5FC02}"/>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CFF46239-789A-403B-B1A2-2756CC60C5EB}"/>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중간 인덱스를 한 번 더 검사해야 한다</a:t>
            </a:r>
          </a:p>
        </p:txBody>
      </p:sp>
      <p:sp>
        <p:nvSpPr>
          <p:cNvPr id="14" name="">
            <a:extLst>
              <a:ext uri="{FF2B5EF4-FFF2-40B4-BE49-F238E27FC236}">
                <ns2:creationId id="{B6520FF9-83B2-43C8-A4F1-29EBAAFCC942}"/>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6770E1D5-1CE5-4990-9432-FDFC3B4628B9}"/>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9AF4C7B1-27ED-4F99-9FBC-D33AD18ABF10}"/>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배열이 비어 있었다는 뜻만 된다</a:t>
            </a:r>
          </a:p>
        </p:txBody>
      </p:sp>
      <p:sp>
        <p:nvSpPr>
          <p:cNvPr id="17" name="">
            <a:extLst>
              <a:ext uri="{FF2B5EF4-FFF2-40B4-BE49-F238E27FC236}">
                <ns2:creationId id="{D491F6B5-4E6E-49BC-B3BD-A86A7BD8F521}"/>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414DAA8C-FEDF-4D80-9D2A-121673287190}"/>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7055BBCD-D86D-4E45-99C4-78EB34B296C7}"/>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찾는 값이 배열에 없다</a:t>
            </a:r>
          </a:p>
        </p:txBody>
      </p:sp>
      <p:sp>
        <p:nvSpPr>
          <p:cNvPr id="20" name="">
            <a:extLst>
              <a:ext uri="{FF2B5EF4-FFF2-40B4-BE49-F238E27FC236}">
                <ns2:creationId id="{6B51FF8E-ABD8-4FA1-82AC-AB47FEF38ED5}"/>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F008E61D-2365-441C-BF44-B23E63262CED}"/>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A4B0ABD6-1C8A-4E3A-8BFF-D653297574FD}"/>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원소가 중복된다는 뜻이다</a:t>
            </a:r>
          </a:p>
        </p:txBody>
      </p:sp>
    </p:spTree>
    <p:extLst>
      <p:ext uri="{BB962C8B-B14F-4D97-AF65-F5344CB8AC3E}">
        <ns3:creationId val="462685519"/>
      </p:ext>
    </p:extLst>
  </p:cSld>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892B9BBD-7FED-47C7-91A2-AC446247727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B7E97466-7C3E-4EA4-B06B-A3B4970E80A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022EB807-9C6C-4F71-A90E-1B59B95BDED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12  정답과 해설</a:t>
            </a:r>
          </a:p>
        </p:txBody>
      </p:sp>
      <p:sp>
        <p:nvSpPr>
          <p:cNvPr id="4" name="">
            <a:extLst>
              <a:ext uri="{FF2B5EF4-FFF2-40B4-BE49-F238E27FC236}">
                <ns2:creationId id="{5A73EFBD-DE08-4FDA-978A-60356AAE8F3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D573914-4130-4D93-BFF8-558F2F6F18F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4D7B2FD-CCB2-4C8B-A21A-BF5205CD5063}"/>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64DF0511-46A2-4DA8-B818-0762DFACFD45}"/>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024</a:t>
            </a:r>
          </a:p>
        </p:txBody>
      </p:sp>
      <p:sp>
        <p:nvSpPr>
          <p:cNvPr id="8" name="text-178-64">
            <a:extLst>
              <a:ext uri="{FF2B5EF4-FFF2-40B4-BE49-F238E27FC236}">
                <ns2:creationId id="{E37BD1C8-4451-4F6D-8D3D-554F78D40B5E}"/>
              </a:ext>
            </a:extLst>
          </p:cNvPr>
          <p:cNvSpPr>
            <a:spLocks noGrp="1"/>
          </p:cNvSpPr>
          <p:nvPr/>
        </p:nvSpPr>
        <p:spPr>
          <a:xfrm>
            <a:off x="609600" y="1619250"/>
            <a:ext cx="10972800" cy="688086"/>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오름차순 배열에서 목표값을 이진 탐색한다. lo는 후보 구간의 첫 인덱스, hi는 마지막 인덱스이고 양 끝을</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모두 포함한다. 탐색 중 lo&gt;hi가 되어 후보가 남지 않았다. 이것은 무엇을 뜻하는가?</a:t>
            </a:r>
          </a:p>
        </p:txBody>
      </p:sp>
      <p:sp>
        <p:nvSpPr>
          <p:cNvPr id="9" name="">
            <a:extLst>
              <a:ext uri="{FF2B5EF4-FFF2-40B4-BE49-F238E27FC236}">
                <ns2:creationId id="{AC85297D-BF2A-49E5-B233-B95709D825D8}"/>
              </a:ext>
            </a:extLst>
          </p:cNvPr>
          <p:cNvSpPr>
            <a:spLocks noGrp="1"/>
          </p:cNvSpPr>
          <p:nvPr/>
        </p:nvSpPr>
        <p:spPr>
          <a:xfrm>
            <a:off x="609600" y="2421636"/>
            <a:ext cx="10972800" cy="498729"/>
          </a:xfrm>
          <a:prstGeom prst="rect">
            <a:avLst/>
          </a:prstGeom>
          <a:solidFill>
            <a:srgbClr val="171717"/>
          </a:solidFill>
          <a:ln w="0">
            <a:noFill/>
          </a:ln>
        </p:spPr>
      </p:sp>
      <p:sp>
        <p:nvSpPr>
          <p:cNvPr id="10" name="text-245.6-92">
            <a:extLst>
              <a:ext uri="{FF2B5EF4-FFF2-40B4-BE49-F238E27FC236}">
                <ns2:creationId id="{12DD84A1-C799-4466-894B-1682BB3A824E}"/>
              </a:ext>
            </a:extLst>
          </p:cNvPr>
          <p:cNvSpPr>
            <a:spLocks noGrp="1"/>
          </p:cNvSpPr>
          <p:nvPr/>
        </p:nvSpPr>
        <p:spPr>
          <a:xfrm>
            <a:off x="876300" y="2497836"/>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4번 찾는 값이 배열에 없다</a:t>
            </a:r>
          </a:p>
        </p:txBody>
      </p:sp>
      <p:sp>
        <p:nvSpPr>
          <p:cNvPr id="11" name="text-324.4-64">
            <a:extLst>
              <a:ext uri="{FF2B5EF4-FFF2-40B4-BE49-F238E27FC236}">
                <ns2:creationId id="{C0291FEE-1E86-429C-808D-1E4F89256541}"/>
              </a:ext>
            </a:extLst>
          </p:cNvPr>
          <p:cNvSpPr>
            <a:spLocks noGrp="1"/>
          </p:cNvSpPr>
          <p:nvPr/>
        </p:nvSpPr>
        <p:spPr>
          <a:xfrm>
            <a:off x="609600" y="3015615"/>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50379D87-EB84-433E-8994-05B9FFFD6EE5}"/>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5D8FB12D-655D-4987-A21F-B618962E6C87}"/>
              </a:ext>
            </a:extLst>
          </p:cNvPr>
          <p:cNvSpPr>
            <a:spLocks noGrp="1"/>
          </p:cNvSpPr>
          <p:nvPr/>
        </p:nvSpPr>
        <p:spPr>
          <a:xfrm>
            <a:off x="609600" y="3392805"/>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유지한 후보 집합이 공집합이므로 실패로 종료한다.</a:t>
            </a:r>
          </a:p>
        </p:txBody>
      </p:sp>
    </p:spTree>
    <p:extLst>
      <p:ext uri="{BB962C8B-B14F-4D97-AF65-F5344CB8AC3E}">
        <ns3:creationId val="462685519"/>
      </p:ext>
    </p:extLst>
  </p:cSld>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E2B84C18-F7A2-44B9-AA63-AA75D26F58D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6C902F9E-8D49-4934-8960-82C7842138E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DDDD853-FE4E-4936-B9EA-4AF6B7F4CD3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13  </a:t>
            </a:r>
          </a:p>
        </p:txBody>
      </p:sp>
      <p:sp>
        <p:nvSpPr>
          <p:cNvPr id="4" name="">
            <a:extLst>
              <a:ext uri="{FF2B5EF4-FFF2-40B4-BE49-F238E27FC236}">
                <ns2:creationId id="{7DDE045C-6681-45DD-8F81-B88D9C8B995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4515533-D8CB-4AE2-ADA5-DAF064653FED}"/>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82323287-56AE-4E7F-AFCF-F46ADC14B5D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E77BF5E-0CE5-4C24-A88A-10B1231E763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025</a:t>
            </a:r>
          </a:p>
        </p:txBody>
      </p:sp>
      <p:sp>
        <p:nvSpPr>
          <p:cNvPr id="8" name="text-178-64">
            <a:extLst>
              <a:ext uri="{FF2B5EF4-FFF2-40B4-BE49-F238E27FC236}">
                <ns2:creationId id="{CFD9FF82-4B6E-46FC-A21F-067F4662011F}"/>
              </a:ext>
            </a:extLst>
          </p:cNvPr>
          <p:cNvSpPr>
            <a:spLocks noGrp="1"/>
          </p:cNvSpPr>
          <p:nvPr/>
        </p:nvSpPr>
        <p:spPr>
          <a:xfrm>
            <a:off x="609600" y="16954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오름차순 배열에 같은 값이 여러 번 있고, 찾는 값도 배열에 존재한다. 중간값이 일치하면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즉시 반환하는 이진 탐색이 보장하는 것은?</a:t>
            </a:r>
          </a:p>
        </p:txBody>
      </p:sp>
      <p:sp>
        <p:nvSpPr>
          <p:cNvPr id="9" name="text-316-72">
            <a:extLst>
              <a:ext uri="{FF2B5EF4-FFF2-40B4-BE49-F238E27FC236}">
                <ns2:creationId id="{82424BC4-CA8C-4101-A27F-34910B3B814A}"/>
              </a:ext>
            </a:extLst>
          </p:cNvPr>
          <p:cNvSpPr>
            <a:spLocks noGrp="1"/>
          </p:cNvSpPr>
          <p:nvPr/>
        </p:nvSpPr>
        <p:spPr>
          <a:xfrm>
            <a:off x="685800" y="25092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a:ext uri="{FF2B5EF4-FFF2-40B4-BE49-F238E27FC236}">
                <ns2:creationId id="{D8CBC289-299B-4532-90C8-DBE2E553359E}"/>
              </a:ext>
            </a:extLst>
          </p:cNvPr>
          <p:cNvSpPr>
            <a:spLocks noGrp="1"/>
          </p:cNvSpPr>
          <p:nvPr/>
        </p:nvSpPr>
        <p:spPr>
          <a:xfrm>
            <a:off x="1181100" y="25092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항상 첫 인덱스를 반환한다</a:t>
            </a:r>
          </a:p>
        </p:txBody>
      </p:sp>
      <p:sp>
        <p:nvSpPr>
          <p:cNvPr id="11" name="">
            <a:extLst>
              <a:ext uri="{FF2B5EF4-FFF2-40B4-BE49-F238E27FC236}">
                <ns2:creationId id="{27845B69-2C2D-4A66-B133-21756C19BF3E}"/>
              </a:ext>
            </a:extLst>
          </p:cNvPr>
          <p:cNvSpPr>
            <a:spLocks noGrp="1"/>
          </p:cNvSpPr>
          <p:nvPr/>
        </p:nvSpPr>
        <p:spPr>
          <a:xfrm>
            <a:off x="1181100" y="5290566"/>
            <a:ext cx="10401300" cy="9525"/>
          </a:xfrm>
          <a:prstGeom prst="rect">
            <a:avLst/>
          </a:prstGeom>
          <a:solidFill>
            <a:srgbClr val="E7E7E7"/>
          </a:solidFill>
          <a:ln w="0">
            <a:noFill/>
          </a:ln>
        </p:spPr>
      </p:sp>
      <p:sp>
        <p:nvSpPr>
          <p:cNvPr id="12" name="text-382-72">
            <a:extLst>
              <a:ext uri="{FF2B5EF4-FFF2-40B4-BE49-F238E27FC236}">
                <ns2:creationId id="{A88AA1C3-D4C6-4479-8F5E-B0A86121FFB3}"/>
              </a:ext>
            </a:extLst>
          </p:cNvPr>
          <p:cNvSpPr>
            <a:spLocks noGrp="1"/>
          </p:cNvSpPr>
          <p:nvPr/>
        </p:nvSpPr>
        <p:spPr>
          <a:xfrm>
            <a:off x="685800" y="30426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a:ext uri="{FF2B5EF4-FFF2-40B4-BE49-F238E27FC236}">
                <ns2:creationId id="{30CAC70C-7326-4FDA-AA8D-3F30D51CD390}"/>
              </a:ext>
            </a:extLst>
          </p:cNvPr>
          <p:cNvSpPr>
            <a:spLocks noGrp="1"/>
          </p:cNvSpPr>
          <p:nvPr/>
        </p:nvSpPr>
        <p:spPr>
          <a:xfrm>
            <a:off x="1181100" y="30426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일치값의 개수를 반환한다</a:t>
            </a:r>
          </a:p>
        </p:txBody>
      </p:sp>
      <p:sp>
        <p:nvSpPr>
          <p:cNvPr id="14" name="">
            <a:extLst>
              <a:ext uri="{FF2B5EF4-FFF2-40B4-BE49-F238E27FC236}">
                <ns2:creationId id="{BE94A9FD-810F-4303-93A0-177F0ED72A00}"/>
              </a:ext>
            </a:extLst>
          </p:cNvPr>
          <p:cNvSpPr>
            <a:spLocks noGrp="1"/>
          </p:cNvSpPr>
          <p:nvPr/>
        </p:nvSpPr>
        <p:spPr>
          <a:xfrm>
            <a:off x="1181100" y="5290566"/>
            <a:ext cx="10401300" cy="9525"/>
          </a:xfrm>
          <a:prstGeom prst="rect">
            <a:avLst/>
          </a:prstGeom>
          <a:solidFill>
            <a:srgbClr val="E7E7E7"/>
          </a:solidFill>
          <a:ln w="0">
            <a:noFill/>
          </a:ln>
        </p:spPr>
      </p:sp>
      <p:sp>
        <p:nvSpPr>
          <p:cNvPr id="15" name="text-448-72">
            <a:extLst>
              <a:ext uri="{FF2B5EF4-FFF2-40B4-BE49-F238E27FC236}">
                <ns2:creationId id="{C83DBD84-06E2-4B3A-9375-5864E7544F89}"/>
              </a:ext>
            </a:extLst>
          </p:cNvPr>
          <p:cNvSpPr>
            <a:spLocks noGrp="1"/>
          </p:cNvSpPr>
          <p:nvPr/>
        </p:nvSpPr>
        <p:spPr>
          <a:xfrm>
            <a:off x="685800" y="35760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a:ext uri="{FF2B5EF4-FFF2-40B4-BE49-F238E27FC236}">
                <ns2:creationId id="{5D57E5CC-816A-4F93-B434-10F1496E6478}"/>
              </a:ext>
            </a:extLst>
          </p:cNvPr>
          <p:cNvSpPr>
            <a:spLocks noGrp="1"/>
          </p:cNvSpPr>
          <p:nvPr/>
        </p:nvSpPr>
        <p:spPr>
          <a:xfrm>
            <a:off x="1181100" y="35760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일치하는 인덱스 하나를 반환한다</a:t>
            </a:r>
          </a:p>
        </p:txBody>
      </p:sp>
      <p:sp>
        <p:nvSpPr>
          <p:cNvPr id="17" name="">
            <a:extLst>
              <a:ext uri="{FF2B5EF4-FFF2-40B4-BE49-F238E27FC236}">
                <ns2:creationId id="{B45EFDCB-E438-43F1-BEFB-27DF8BA24147}"/>
              </a:ext>
            </a:extLst>
          </p:cNvPr>
          <p:cNvSpPr>
            <a:spLocks noGrp="1"/>
          </p:cNvSpPr>
          <p:nvPr/>
        </p:nvSpPr>
        <p:spPr>
          <a:xfrm>
            <a:off x="1181100" y="5290566"/>
            <a:ext cx="10401300" cy="9525"/>
          </a:xfrm>
          <a:prstGeom prst="rect">
            <a:avLst/>
          </a:prstGeom>
          <a:solidFill>
            <a:srgbClr val="E7E7E7"/>
          </a:solidFill>
          <a:ln w="0">
            <a:noFill/>
          </a:ln>
        </p:spPr>
      </p:sp>
      <p:sp>
        <p:nvSpPr>
          <p:cNvPr id="18" name="text-514-72">
            <a:extLst>
              <a:ext uri="{FF2B5EF4-FFF2-40B4-BE49-F238E27FC236}">
                <ns2:creationId id="{66B16F3A-F66E-4035-97FE-4E4EE9492546}"/>
              </a:ext>
            </a:extLst>
          </p:cNvPr>
          <p:cNvSpPr>
            <a:spLocks noGrp="1"/>
          </p:cNvSpPr>
          <p:nvPr/>
        </p:nvSpPr>
        <p:spPr>
          <a:xfrm>
            <a:off x="685800" y="41094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a:ext uri="{FF2B5EF4-FFF2-40B4-BE49-F238E27FC236}">
                <ns2:creationId id="{19139384-8BF1-48BA-BBD5-67D5EF9FBCAD}"/>
              </a:ext>
            </a:extLst>
          </p:cNvPr>
          <p:cNvSpPr>
            <a:spLocks noGrp="1"/>
          </p:cNvSpPr>
          <p:nvPr/>
        </p:nvSpPr>
        <p:spPr>
          <a:xfrm>
            <a:off x="1181100" y="41094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중복값이 있으면 항상 실패한다</a:t>
            </a:r>
          </a:p>
        </p:txBody>
      </p:sp>
      <p:sp>
        <p:nvSpPr>
          <p:cNvPr id="20" name="">
            <a:extLst>
              <a:ext uri="{FF2B5EF4-FFF2-40B4-BE49-F238E27FC236}">
                <ns2:creationId id="{AE6F94EE-DDF1-405D-A826-6513F97F361E}"/>
              </a:ext>
            </a:extLst>
          </p:cNvPr>
          <p:cNvSpPr>
            <a:spLocks noGrp="1"/>
          </p:cNvSpPr>
          <p:nvPr/>
        </p:nvSpPr>
        <p:spPr>
          <a:xfrm>
            <a:off x="1181100" y="5438775"/>
            <a:ext cx="10401300" cy="9525"/>
          </a:xfrm>
          <a:prstGeom prst="rect">
            <a:avLst/>
          </a:prstGeom>
          <a:solidFill>
            <a:srgbClr val="E7E7E7"/>
          </a:solidFill>
          <a:ln w="0">
            <a:noFill/>
          </a:ln>
        </p:spPr>
      </p:sp>
      <p:sp>
        <p:nvSpPr>
          <p:cNvPr id="21" name="text-580-72">
            <a:extLst>
              <a:ext uri="{FF2B5EF4-FFF2-40B4-BE49-F238E27FC236}">
                <ns2:creationId id="{79A4EAA3-70A1-468C-B717-480961691A77}"/>
              </a:ext>
            </a:extLst>
          </p:cNvPr>
          <p:cNvSpPr>
            <a:spLocks noGrp="1"/>
          </p:cNvSpPr>
          <p:nvPr/>
        </p:nvSpPr>
        <p:spPr>
          <a:xfrm>
            <a:off x="685800" y="46428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a:ext uri="{FF2B5EF4-FFF2-40B4-BE49-F238E27FC236}">
                <ns2:creationId id="{C4DE76D3-B514-4961-B53F-A8F7E55F7BD4}"/>
              </a:ext>
            </a:extLst>
          </p:cNvPr>
          <p:cNvSpPr>
            <a:spLocks noGrp="1"/>
          </p:cNvSpPr>
          <p:nvPr/>
        </p:nvSpPr>
        <p:spPr>
          <a:xfrm>
            <a:off x="1181100" y="46428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항상 마지막 인덱스를 반환한다</a:t>
            </a:r>
          </a:p>
        </p:txBody>
      </p:sp>
    </p:spTree>
    <p:extLst>
      <p:ext uri="{BB962C8B-B14F-4D97-AF65-F5344CB8AC3E}">
        <ns3:creationId val="462685519"/>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E7C6F51C-969D-41C9-A3F0-3F3387D8704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BAD09E29-E5DE-48C6-8CD1-B6B5988E1568}"/>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ECC1C2D-67A4-4C48-B08C-665B7EA3FCC1}"/>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13  정답과 해설</a:t>
            </a:r>
          </a:p>
        </p:txBody>
      </p:sp>
      <p:sp>
        <p:nvSpPr>
          <p:cNvPr id="4" name="">
            <a:extLst>
              <a:ext uri="{FF2B5EF4-FFF2-40B4-BE49-F238E27FC236}">
                <ns2:creationId id="{6D085475-E846-46D6-88FF-B3AB5480D6F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10B0EF4-3E90-4084-9336-EBF4D167D4AC}"/>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C44F5189-538F-409F-955D-4DE2F8DD9E80}"/>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C5C06696-EF96-4D1A-B078-7C2BA94D904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026</a:t>
            </a:r>
          </a:p>
        </p:txBody>
      </p:sp>
      <p:sp>
        <p:nvSpPr>
          <p:cNvPr id="8" name="text-178-64">
            <a:extLst>
              <a:ext uri="{FF2B5EF4-FFF2-40B4-BE49-F238E27FC236}">
                <ns2:creationId id="{D24212BE-9298-4BD1-80AB-72BA51D0B3D2}"/>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오름차순 배열에 같은 값이 여러 번 있고, 찾는 값도 배열에 존재한다. 중간값이 일치하면 즉시 반환하는</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이진 탐색이 보장하는 것은?</a:t>
            </a:r>
          </a:p>
        </p:txBody>
      </p:sp>
      <p:sp>
        <p:nvSpPr>
          <p:cNvPr id="9" name="">
            <a:extLst>
              <a:ext uri="{FF2B5EF4-FFF2-40B4-BE49-F238E27FC236}">
                <ns2:creationId id="{FC31EC96-4501-4F59-B304-60C8EBD46815}"/>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CFC30385-15DD-4CEB-AF0F-2F7AC7D21A94}"/>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3번 일치하는 인덱스 하나를 반환한다</a:t>
            </a:r>
          </a:p>
        </p:txBody>
      </p:sp>
      <p:sp>
        <p:nvSpPr>
          <p:cNvPr id="11" name="text-324.4-64">
            <a:extLst>
              <a:ext uri="{FF2B5EF4-FFF2-40B4-BE49-F238E27FC236}">
                <ns2:creationId id="{FC103C3C-2438-497D-AAB2-58787E7A5ADB}"/>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7B843F01-48E6-4513-91F0-96F4EAB6C052}"/>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D045E45F-353F-4898-9A3E-2C04BCA0FC96}"/>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목표값과 일치한 mid를 바로 반환하므로, 왼쪽이나 오른쪽에 같은 값이 더 있는지는 확인하지 않는다.</a:t>
            </a:r>
          </a:p>
        </p:txBody>
      </p:sp>
    </p:spTree>
    <p:extLst>
      <p:ext uri="{BB962C8B-B14F-4D97-AF65-F5344CB8AC3E}">
        <ns3:creationId val="46268551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28-64">
            <a:extLst xmlns:a="http://schemas.openxmlformats.org/drawingml/2006/main">
              <a:ext uri="{FF2B5EF4-FFF2-40B4-BE49-F238E27FC236}">
                <a16:creationId xmlns:a16="http://schemas.microsoft.com/office/drawing/2014/main" id="{C7275C4E-09BC-4318-8AF0-79F069FE2428}"/>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xmlns:a="http://schemas.openxmlformats.org/drawingml/2006/main">
              <a:ext uri="{FF2B5EF4-FFF2-40B4-BE49-F238E27FC236}">
                <a16:creationId xmlns:a16="http://schemas.microsoft.com/office/drawing/2014/main" id="{5249A4F2-8BBF-4CB3-A6A7-9F63FE10352E}"/>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8E1D0043-B261-4ABF-A454-C97523FAC82F}"/>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16  </a:t>
            </a:r>
          </a:p>
        </p:txBody>
      </p:sp>
      <p:sp>
        <p:nvSpPr>
          <p:cNvPr id="4" name="">
            <a:extLst xmlns:a="http://schemas.openxmlformats.org/drawingml/2006/main">
              <a:ext uri="{FF2B5EF4-FFF2-40B4-BE49-F238E27FC236}">
                <a16:creationId xmlns:a16="http://schemas.microsoft.com/office/drawing/2014/main" id="{1DAC8324-BE98-4D9F-9676-2C71F415F3C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2ECAB4-9A8E-4563-8A38-5B987D47A09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478B88CD-E94D-46AA-82ED-EE45307A7063}"/>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4EEEFCE3-4945-4129-BFA7-9A9D0F3F7F29}"/>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031</a:t>
            </a:r>
          </a:p>
        </p:txBody>
      </p:sp>
      <p:sp>
        <p:nvSpPr>
          <p:cNvPr id="8" name="text-178-64">
            <a:extLst xmlns:a="http://schemas.openxmlformats.org/drawingml/2006/main">
              <a:ext uri="{FF2B5EF4-FFF2-40B4-BE49-F238E27FC236}">
                <a16:creationId xmlns:a16="http://schemas.microsoft.com/office/drawing/2014/main" id="{A212D21A-5B25-4C0E-8F46-1509C6C33113}"/>
              </a:ext>
            </a:extLst>
          </p:cNvPr>
          <p:cNvSpPr>
            <a:spLocks xmlns:a="http://schemas.openxmlformats.org/drawingml/2006/main" noGrp="1"/>
          </p:cNvSpPr>
          <p:nvPr/>
        </p:nvSpPr>
        <p:spPr>
          <a:xfrm xmlns:a="http://schemas.openxmlformats.org/drawingml/2006/main">
            <a:off x="609600" y="1695450"/>
            <a:ext cx="109728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보간 탐색의 위치 추정이 이진 탐색과 다른 점은?</a:t>
            </a:r>
          </a:p>
        </p:txBody>
      </p:sp>
      <p:sp>
        <p:nvSpPr>
          <p:cNvPr id="9" name="text-316-72">
            <a:extLst xmlns:a="http://schemas.openxmlformats.org/drawingml/2006/main">
              <a:ext uri="{FF2B5EF4-FFF2-40B4-BE49-F238E27FC236}">
                <a16:creationId xmlns:a16="http://schemas.microsoft.com/office/drawing/2014/main" id="{B3318FEC-12EC-4F01-9F10-84426937CB8D}"/>
              </a:ext>
            </a:extLst>
          </p:cNvPr>
          <p:cNvSpPr>
            <a:spLocks xmlns:a="http://schemas.openxmlformats.org/drawingml/2006/main" noGrp="1"/>
          </p:cNvSpPr>
          <p:nvPr/>
        </p:nvSpPr>
        <p:spPr>
          <a:xfrm xmlns:a="http://schemas.openxmlformats.org/drawingml/2006/main">
            <a:off x="685800" y="30099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xmlns:a="http://schemas.openxmlformats.org/drawingml/2006/main">
              <a:ext uri="{FF2B5EF4-FFF2-40B4-BE49-F238E27FC236}">
                <a16:creationId xmlns:a16="http://schemas.microsoft.com/office/drawing/2014/main" id="{0084A01E-21AE-454A-A978-1B66555DC531}"/>
              </a:ext>
            </a:extLst>
          </p:cNvPr>
          <p:cNvSpPr>
            <a:spLocks xmlns:a="http://schemas.openxmlformats.org/drawingml/2006/main" noGrp="1"/>
          </p:cNvSpPr>
          <p:nvPr/>
        </p:nvSpPr>
        <p:spPr>
          <a:xfrm xmlns:a="http://schemas.openxmlformats.org/drawingml/2006/main">
            <a:off x="1181100" y="30099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정렬 여부를 무시한다</a:t>
            </a:r>
          </a:p>
        </p:txBody>
      </p:sp>
      <p:sp>
        <p:nvSpPr>
          <p:cNvPr id="11" name="">
            <a:extLst xmlns:a="http://schemas.openxmlformats.org/drawingml/2006/main">
              <a:ext uri="{FF2B5EF4-FFF2-40B4-BE49-F238E27FC236}">
                <a16:creationId xmlns:a16="http://schemas.microsoft.com/office/drawing/2014/main" id="{0267BB2C-5599-488D-8725-7D39C73EBECE}"/>
              </a:ext>
            </a:extLst>
          </p:cNvPr>
          <p:cNvSpPr>
            <a:spLocks xmlns:a="http://schemas.openxmlformats.org/drawingml/2006/main" noGrp="1"/>
          </p:cNvSpPr>
          <p:nvPr/>
        </p:nvSpPr>
        <p:spPr>
          <a:xfrm xmlns:a="http://schemas.openxmlformats.org/drawingml/2006/main">
            <a:off x="1181100" y="355282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2" name="text-382-72">
            <a:extLst xmlns:a="http://schemas.openxmlformats.org/drawingml/2006/main">
              <a:ext uri="{FF2B5EF4-FFF2-40B4-BE49-F238E27FC236}">
                <a16:creationId xmlns:a16="http://schemas.microsoft.com/office/drawing/2014/main" id="{6771F751-0A57-45C2-B390-910FFE1110A9}"/>
              </a:ext>
            </a:extLst>
          </p:cNvPr>
          <p:cNvSpPr>
            <a:spLocks xmlns:a="http://schemas.openxmlformats.org/drawingml/2006/main" noGrp="1"/>
          </p:cNvSpPr>
          <p:nvPr/>
        </p:nvSpPr>
        <p:spPr>
          <a:xfrm xmlns:a="http://schemas.openxmlformats.org/drawingml/2006/main">
            <a:off x="685800" y="36385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xmlns:a="http://schemas.openxmlformats.org/drawingml/2006/main">
              <a:ext uri="{FF2B5EF4-FFF2-40B4-BE49-F238E27FC236}">
                <a16:creationId xmlns:a16="http://schemas.microsoft.com/office/drawing/2014/main" id="{C642A421-3D61-4D75-A2A3-734F4DB10664}"/>
              </a:ext>
            </a:extLst>
          </p:cNvPr>
          <p:cNvSpPr>
            <a:spLocks xmlns:a="http://schemas.openxmlformats.org/drawingml/2006/main" noGrp="1"/>
          </p:cNvSpPr>
          <p:nvPr/>
        </p:nvSpPr>
        <p:spPr>
          <a:xfrm xmlns:a="http://schemas.openxmlformats.org/drawingml/2006/main">
            <a:off x="1181100" y="363855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항상 가운데만 확인한다</a:t>
            </a:r>
          </a:p>
        </p:txBody>
      </p:sp>
      <p:sp>
        <p:nvSpPr>
          <p:cNvPr id="14" name="">
            <a:extLst xmlns:a="http://schemas.openxmlformats.org/drawingml/2006/main">
              <a:ext uri="{FF2B5EF4-FFF2-40B4-BE49-F238E27FC236}">
                <a16:creationId xmlns:a16="http://schemas.microsoft.com/office/drawing/2014/main" id="{DCB9713D-3612-44D7-9FC8-2B0E3F416DAC}"/>
              </a:ext>
            </a:extLst>
          </p:cNvPr>
          <p:cNvSpPr>
            <a:spLocks xmlns:a="http://schemas.openxmlformats.org/drawingml/2006/main" noGrp="1"/>
          </p:cNvSpPr>
          <p:nvPr/>
        </p:nvSpPr>
        <p:spPr>
          <a:xfrm xmlns:a="http://schemas.openxmlformats.org/drawingml/2006/main">
            <a:off x="1181100" y="418147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5" name="text-448-72">
            <a:extLst xmlns:a="http://schemas.openxmlformats.org/drawingml/2006/main">
              <a:ext uri="{FF2B5EF4-FFF2-40B4-BE49-F238E27FC236}">
                <a16:creationId xmlns:a16="http://schemas.microsoft.com/office/drawing/2014/main" id="{66178841-3FCF-4F60-A81E-255C68284139}"/>
              </a:ext>
            </a:extLst>
          </p:cNvPr>
          <p:cNvSpPr>
            <a:spLocks xmlns:a="http://schemas.openxmlformats.org/drawingml/2006/main" noGrp="1"/>
          </p:cNvSpPr>
          <p:nvPr/>
        </p:nvSpPr>
        <p:spPr>
          <a:xfrm xmlns:a="http://schemas.openxmlformats.org/drawingml/2006/main">
            <a:off x="685800" y="42672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xmlns:a="http://schemas.openxmlformats.org/drawingml/2006/main">
              <a:ext uri="{FF2B5EF4-FFF2-40B4-BE49-F238E27FC236}">
                <a16:creationId xmlns:a16="http://schemas.microsoft.com/office/drawing/2014/main" id="{A7581AEA-F737-4F29-8C33-649F554AB408}"/>
              </a:ext>
            </a:extLst>
          </p:cNvPr>
          <p:cNvSpPr>
            <a:spLocks xmlns:a="http://schemas.openxmlformats.org/drawingml/2006/main" noGrp="1"/>
          </p:cNvSpPr>
          <p:nvPr/>
        </p:nvSpPr>
        <p:spPr>
          <a:xfrm xmlns:a="http://schemas.openxmlformats.org/drawingml/2006/main">
            <a:off x="1181100" y="42672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끝점의 값과 목표값을 사용한다</a:t>
            </a:r>
          </a:p>
        </p:txBody>
      </p:sp>
      <p:sp>
        <p:nvSpPr>
          <p:cNvPr id="17" name="">
            <a:extLst xmlns:a="http://schemas.openxmlformats.org/drawingml/2006/main">
              <a:ext uri="{FF2B5EF4-FFF2-40B4-BE49-F238E27FC236}">
                <a16:creationId xmlns:a16="http://schemas.microsoft.com/office/drawing/2014/main" id="{694E332A-AAFB-43B2-87CA-D5397290D87E}"/>
              </a:ext>
            </a:extLst>
          </p:cNvPr>
          <p:cNvSpPr>
            <a:spLocks xmlns:a="http://schemas.openxmlformats.org/drawingml/2006/main" noGrp="1"/>
          </p:cNvSpPr>
          <p:nvPr/>
        </p:nvSpPr>
        <p:spPr>
          <a:xfrm xmlns:a="http://schemas.openxmlformats.org/drawingml/2006/main">
            <a:off x="1181100" y="481012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8" name="text-514-72">
            <a:extLst xmlns:a="http://schemas.openxmlformats.org/drawingml/2006/main">
              <a:ext uri="{FF2B5EF4-FFF2-40B4-BE49-F238E27FC236}">
                <a16:creationId xmlns:a16="http://schemas.microsoft.com/office/drawing/2014/main" id="{12421E7E-8BAF-4F7B-A67B-1A96871B7A27}"/>
              </a:ext>
            </a:extLst>
          </p:cNvPr>
          <p:cNvSpPr>
            <a:spLocks xmlns:a="http://schemas.openxmlformats.org/drawingml/2006/main" noGrp="1"/>
          </p:cNvSpPr>
          <p:nvPr/>
        </p:nvSpPr>
        <p:spPr>
          <a:xfrm xmlns:a="http://schemas.openxmlformats.org/drawingml/2006/main">
            <a:off x="685800" y="48958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xmlns:a="http://schemas.openxmlformats.org/drawingml/2006/main">
              <a:ext uri="{FF2B5EF4-FFF2-40B4-BE49-F238E27FC236}">
                <a16:creationId xmlns:a16="http://schemas.microsoft.com/office/drawing/2014/main" id="{45FA9B3C-6F77-4214-B316-76C23A2FAEB3}"/>
              </a:ext>
            </a:extLst>
          </p:cNvPr>
          <p:cNvSpPr>
            <a:spLocks xmlns:a="http://schemas.openxmlformats.org/drawingml/2006/main" noGrp="1"/>
          </p:cNvSpPr>
          <p:nvPr/>
        </p:nvSpPr>
        <p:spPr>
          <a:xfrm xmlns:a="http://schemas.openxmlformats.org/drawingml/2006/main">
            <a:off x="1181100" y="489585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항상 첫 원소만 확인한다</a:t>
            </a:r>
          </a:p>
        </p:txBody>
      </p:sp>
      <p:sp>
        <p:nvSpPr>
          <p:cNvPr id="20" name="">
            <a:extLst xmlns:a="http://schemas.openxmlformats.org/drawingml/2006/main">
              <a:ext uri="{FF2B5EF4-FFF2-40B4-BE49-F238E27FC236}">
                <a16:creationId xmlns:a16="http://schemas.microsoft.com/office/drawing/2014/main" id="{77DEFF18-F1B7-4465-90F0-68F119EC1381}"/>
              </a:ext>
            </a:extLst>
          </p:cNvPr>
          <p:cNvSpPr>
            <a:spLocks xmlns:a="http://schemas.openxmlformats.org/drawingml/2006/main" noGrp="1"/>
          </p:cNvSpPr>
          <p:nvPr/>
        </p:nvSpPr>
        <p:spPr>
          <a:xfrm xmlns:a="http://schemas.openxmlformats.org/drawingml/2006/main">
            <a:off x="1181100" y="543877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21" name="text-580-72">
            <a:extLst xmlns:a="http://schemas.openxmlformats.org/drawingml/2006/main">
              <a:ext uri="{FF2B5EF4-FFF2-40B4-BE49-F238E27FC236}">
                <a16:creationId xmlns:a16="http://schemas.microsoft.com/office/drawing/2014/main" id="{ED4946E9-C8B2-417D-BDEF-C8EF71962FB0}"/>
              </a:ext>
            </a:extLst>
          </p:cNvPr>
          <p:cNvSpPr>
            <a:spLocks xmlns:a="http://schemas.openxmlformats.org/drawingml/2006/main" noGrp="1"/>
          </p:cNvSpPr>
          <p:nvPr/>
        </p:nvSpPr>
        <p:spPr>
          <a:xfrm xmlns:a="http://schemas.openxmlformats.org/drawingml/2006/main">
            <a:off x="685800" y="55245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xmlns:a="http://schemas.openxmlformats.org/drawingml/2006/main">
              <a:ext uri="{FF2B5EF4-FFF2-40B4-BE49-F238E27FC236}">
                <a16:creationId xmlns:a16="http://schemas.microsoft.com/office/drawing/2014/main" id="{AE5426FA-291B-449C-856D-20B1C73BE796}"/>
              </a:ext>
            </a:extLst>
          </p:cNvPr>
          <p:cNvSpPr>
            <a:spLocks xmlns:a="http://schemas.openxmlformats.org/drawingml/2006/main" noGrp="1"/>
          </p:cNvSpPr>
          <p:nvPr/>
        </p:nvSpPr>
        <p:spPr>
          <a:xfrm xmlns:a="http://schemas.openxmlformats.org/drawingml/2006/main">
            <a:off x="1181100" y="55245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모든 후보의 합을 계산한다</a:t>
            </a:r>
          </a:p>
        </p:txBody>
      </p:sp>
    </p:spTree>
    <p:extLst>
      <p:ext uri="{BB962C8B-B14F-4D97-AF65-F5344CB8AC3E}">
        <p14:creationId xmlns:p14="http://schemas.microsoft.com/office/powerpoint/2010/main" val="46268551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D40F78C1-8627-4988-ADB5-A7E562EBFE86}"/>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xmlns:a="http://schemas.openxmlformats.org/drawingml/2006/main">
              <a:ext uri="{FF2B5EF4-FFF2-40B4-BE49-F238E27FC236}">
                <a16:creationId xmlns:a16="http://schemas.microsoft.com/office/drawing/2014/main" id="{A9CE15BC-28E7-44CA-B96D-BA39DBC28AD9}"/>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A237395A-B858-4716-B6DD-4686C141953D}"/>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16  정답과 해설</a:t>
            </a:r>
          </a:p>
        </p:txBody>
      </p:sp>
      <p:sp>
        <p:nvSpPr>
          <p:cNvPr id="4" name="">
            <a:extLst xmlns:a="http://schemas.openxmlformats.org/drawingml/2006/main">
              <a:ext uri="{FF2B5EF4-FFF2-40B4-BE49-F238E27FC236}">
                <a16:creationId xmlns:a16="http://schemas.microsoft.com/office/drawing/2014/main" id="{9423994B-4B82-431F-85A2-592726F287DD}"/>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7C69CA-915E-44E4-9B39-7DD291DC26C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50A4D5C1-3462-4952-BDD0-0FD69E078861}"/>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FC0B20DC-50C6-4B95-807E-04DF3BE7FE24}"/>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032</a:t>
            </a:r>
          </a:p>
        </p:txBody>
      </p:sp>
      <p:sp>
        <p:nvSpPr>
          <p:cNvPr id="8" name="text-178-64">
            <a:extLst xmlns:a="http://schemas.openxmlformats.org/drawingml/2006/main">
              <a:ext uri="{FF2B5EF4-FFF2-40B4-BE49-F238E27FC236}">
                <a16:creationId xmlns:a16="http://schemas.microsoft.com/office/drawing/2014/main" id="{EA8A4947-3199-43F0-8864-1C0C5481D159}"/>
              </a:ext>
            </a:extLst>
          </p:cNvPr>
          <p:cNvSpPr>
            <a:spLocks xmlns:a="http://schemas.openxmlformats.org/drawingml/2006/main" noGrp="1"/>
          </p:cNvSpPr>
          <p:nvPr/>
        </p:nvSpPr>
        <p:spPr>
          <a:xfrm xmlns:a="http://schemas.openxmlformats.org/drawingml/2006/main">
            <a:off x="609600" y="169545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보간 탐색의 위치 추정이 이진 탐색과 다른 점은?</a:t>
            </a:r>
          </a:p>
        </p:txBody>
      </p:sp>
      <p:sp>
        <p:nvSpPr>
          <p:cNvPr id="9" name="">
            <a:extLst xmlns:a="http://schemas.openxmlformats.org/drawingml/2006/main">
              <a:ext uri="{FF2B5EF4-FFF2-40B4-BE49-F238E27FC236}">
                <a16:creationId xmlns:a16="http://schemas.microsoft.com/office/drawing/2014/main" id="{DEA1B960-7735-43E6-9EB8-871A1574893E}"/>
              </a:ext>
            </a:extLst>
          </p:cNvPr>
          <p:cNvSpPr>
            <a:spLocks xmlns:a="http://schemas.openxmlformats.org/drawingml/2006/main" noGrp="1"/>
          </p:cNvSpPr>
          <p:nvPr/>
        </p:nvSpPr>
        <p:spPr>
          <a:xfrm xmlns:a="http://schemas.openxmlformats.org/drawingml/2006/main">
            <a:off x="609600" y="2205990"/>
            <a:ext cx="10972800" cy="626745"/>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848548DB-F947-49BA-AB97-5C73A04067CE}"/>
              </a:ext>
            </a:extLst>
          </p:cNvPr>
          <p:cNvSpPr>
            <a:spLocks xmlns:a="http://schemas.openxmlformats.org/drawingml/2006/main" noGrp="1"/>
          </p:cNvSpPr>
          <p:nvPr/>
        </p:nvSpPr>
        <p:spPr>
          <a:xfrm xmlns:a="http://schemas.openxmlformats.org/drawingml/2006/main">
            <a:off x="876300" y="2339340"/>
            <a:ext cx="104394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3번 끝점의 값과 목표값을 사용한다</a:t>
            </a:r>
          </a:p>
        </p:txBody>
      </p:sp>
      <p:sp>
        <p:nvSpPr>
          <p:cNvPr id="11" name="text-324.4-64">
            <a:extLst xmlns:a="http://schemas.openxmlformats.org/drawingml/2006/main">
              <a:ext uri="{FF2B5EF4-FFF2-40B4-BE49-F238E27FC236}">
                <a16:creationId xmlns:a16="http://schemas.microsoft.com/office/drawing/2014/main" id="{16BCA63B-96E0-4BA4-B428-0F187A4B9782}"/>
              </a:ext>
            </a:extLst>
          </p:cNvPr>
          <p:cNvSpPr>
            <a:spLocks xmlns:a="http://schemas.openxmlformats.org/drawingml/2006/main" noGrp="1"/>
          </p:cNvSpPr>
          <p:nvPr/>
        </p:nvSpPr>
        <p:spPr>
          <a:xfrm xmlns:a="http://schemas.openxmlformats.org/drawingml/2006/main">
            <a:off x="609600" y="3089910"/>
            <a:ext cx="118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38F8C1F7-97F7-407E-B850-F5A4973E90EA}"/>
              </a:ext>
            </a:extLst>
          </p:cNvPr>
          <p:cNvSpPr>
            <a:spLocks xmlns:a="http://schemas.openxmlformats.org/drawingml/2006/main" noGrp="1"/>
          </p:cNvSpPr>
          <p:nvPr/>
        </p:nvSpPr>
        <p:spPr>
          <a:xfrm xmlns:a="http://schemas.openxmlformats.org/drawingml/2006/main">
            <a:off x="1752600" y="326136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E40B4EC2-8DDB-4CA3-8BF3-FD1394719394}"/>
              </a:ext>
            </a:extLst>
          </p:cNvPr>
          <p:cNvSpPr>
            <a:spLocks xmlns:a="http://schemas.openxmlformats.org/drawingml/2006/main" noGrp="1"/>
          </p:cNvSpPr>
          <p:nvPr/>
        </p:nvSpPr>
        <p:spPr>
          <a:xfrm xmlns:a="http://schemas.openxmlformats.org/drawingml/2006/main">
            <a:off x="609600" y="354711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보간 탐색은 값이 퍼진 정도를 이용해 예상 위치를 계산한다.</a:t>
            </a:r>
          </a:p>
        </p:txBody>
      </p:sp>
    </p:spTree>
    <p:extLst>
      <p:ext uri="{BB962C8B-B14F-4D97-AF65-F5344CB8AC3E}">
        <p14:creationId xmlns:p14="http://schemas.microsoft.com/office/powerpoint/2010/main" val="462685519"/>
      </p:ext>
    </p:extLst>
  </p:cSld>
</p:sld>
</file>

<file path=ppt/slides/slide3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2D694B73-72EB-4FCB-91E8-CA696956281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55A1494E-D6CF-4CF3-A38B-D2C11F42B7B7}"/>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9800C28-0414-4E86-91D3-FCA3928889F2}"/>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17  </a:t>
            </a:r>
          </a:p>
        </p:txBody>
      </p:sp>
      <p:sp>
        <p:nvSpPr>
          <p:cNvPr id="4" name="">
            <a:extLst>
              <a:ext uri="{FF2B5EF4-FFF2-40B4-BE49-F238E27FC236}">
                <ns2:creationId id="{2E94E89F-9000-4853-AA1F-CC584998957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09B61C0-B259-45F0-AF3B-958CF66272E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6072883F-4079-4CB9-AB8B-BD3CF7188424}"/>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C180E912-FF97-4F14-A6EC-C8AC09DE0C6E}"/>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033</a:t>
            </a:r>
          </a:p>
        </p:txBody>
      </p:sp>
      <p:sp>
        <p:nvSpPr>
          <p:cNvPr id="8" name="text-178-64">
            <a:extLst>
              <a:ext uri="{FF2B5EF4-FFF2-40B4-BE49-F238E27FC236}">
                <ns2:creationId id="{D0A8B897-D66B-4BB0-BDB1-7F5E0E83B57A}"/>
              </a:ext>
            </a:extLst>
          </p:cNvPr>
          <p:cNvSpPr>
            <a:spLocks noGrp="1"/>
          </p:cNvSpPr>
          <p:nvPr/>
        </p:nvSpPr>
        <p:spPr>
          <a:xfrm>
            <a:off x="609600" y="1619250"/>
            <a:ext cx="10972800" cy="189738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오름차순 배열 a의 양 끝을 포함한 후보 구간은 [lo,hi]이고, 찾는 값은 x이다. lo≤hi이며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인덱스는 0부터 센다.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보간 탐색의 위치 추정식은 다음과 같다. //는 정수 몫이다.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pos = lo + ((x-a[lo])*(hi-lo)) // (a[hi]-a[lo])</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그런데 a[lo]=a[hi]이다. 이 식을 계산하기 전에 어떤 처리가 필요한가?</a:t>
            </a:r>
          </a:p>
        </p:txBody>
      </p:sp>
      <p:sp>
        <p:nvSpPr>
          <p:cNvPr id="9" name="text-316-72">
            <a:extLst>
              <a:ext uri="{FF2B5EF4-FFF2-40B4-BE49-F238E27FC236}">
                <ns2:creationId id="{C8C5FC77-D15D-49EF-8199-2F85DEAF76D2}"/>
              </a:ext>
            </a:extLst>
          </p:cNvPr>
          <p:cNvSpPr>
            <a:spLocks noGrp="1"/>
          </p:cNvSpPr>
          <p:nvPr/>
        </p:nvSpPr>
        <p:spPr>
          <a:xfrm>
            <a:off x="685800" y="364998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2D66E0F2-61D8-4A20-83F1-7FBBB6034648}"/>
              </a:ext>
            </a:extLst>
          </p:cNvPr>
          <p:cNvSpPr>
            <a:spLocks noGrp="1"/>
          </p:cNvSpPr>
          <p:nvPr/>
        </p:nvSpPr>
        <p:spPr>
          <a:xfrm>
            <a:off x="1181100" y="364998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목표값과 무관하게 실패를 반환한다</a:t>
            </a:r>
          </a:p>
        </p:txBody>
      </p:sp>
      <p:sp>
        <p:nvSpPr>
          <p:cNvPr id="11" name="">
            <a:extLst>
              <a:ext uri="{FF2B5EF4-FFF2-40B4-BE49-F238E27FC236}">
                <ns2:creationId id="{3D8CB87E-8046-4E1E-A1F6-751A2D5DB5BD}"/>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889AF1DD-EE60-495C-B60E-C6D0E76000AD}"/>
              </a:ext>
            </a:extLst>
          </p:cNvPr>
          <p:cNvSpPr>
            <a:spLocks noGrp="1"/>
          </p:cNvSpPr>
          <p:nvPr/>
        </p:nvSpPr>
        <p:spPr>
          <a:xfrm>
            <a:off x="685800" y="409879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2E9984B6-7CD7-4FFE-B161-D78367779AE9}"/>
              </a:ext>
            </a:extLst>
          </p:cNvPr>
          <p:cNvSpPr>
            <a:spLocks noGrp="1"/>
          </p:cNvSpPr>
          <p:nvPr/>
        </p:nvSpPr>
        <p:spPr>
          <a:xfrm>
            <a:off x="1181100" y="409879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분모를 1로 바꿔 기존 위치 공식을 그대로 사용한다</a:t>
            </a:r>
          </a:p>
        </p:txBody>
      </p:sp>
      <p:sp>
        <p:nvSpPr>
          <p:cNvPr id="14" name="">
            <a:extLst>
              <a:ext uri="{FF2B5EF4-FFF2-40B4-BE49-F238E27FC236}">
                <ns2:creationId id="{D7C49C39-ACA7-4B50-B4BD-50493D379884}"/>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622FC460-E21E-4933-B9B9-8D6DB7E3BFCF}"/>
              </a:ext>
            </a:extLst>
          </p:cNvPr>
          <p:cNvSpPr>
            <a:spLocks noGrp="1"/>
          </p:cNvSpPr>
          <p:nvPr/>
        </p:nvSpPr>
        <p:spPr>
          <a:xfrm>
            <a:off x="685800" y="454761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170BD0B9-04CA-4E00-A198-53694928CCBF}"/>
              </a:ext>
            </a:extLst>
          </p:cNvPr>
          <p:cNvSpPr>
            <a:spLocks noGrp="1"/>
          </p:cNvSpPr>
          <p:nvPr/>
        </p:nvSpPr>
        <p:spPr>
          <a:xfrm>
            <a:off x="1181100" y="454761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목표값과 무관하게 lo를 반환한다</a:t>
            </a:r>
          </a:p>
        </p:txBody>
      </p:sp>
      <p:sp>
        <p:nvSpPr>
          <p:cNvPr id="17" name="">
            <a:extLst>
              <a:ext uri="{FF2B5EF4-FFF2-40B4-BE49-F238E27FC236}">
                <ns2:creationId id="{F762F7B1-C2EB-419D-94C4-6C7BE405F028}"/>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D7D129EA-FA5A-4A9B-BBF4-8D99E56A0AD3}"/>
              </a:ext>
            </a:extLst>
          </p:cNvPr>
          <p:cNvSpPr>
            <a:spLocks noGrp="1"/>
          </p:cNvSpPr>
          <p:nvPr/>
        </p:nvSpPr>
        <p:spPr>
          <a:xfrm>
            <a:off x="685800" y="499643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6DC2312D-7596-46B5-9019-22A31A68916C}"/>
              </a:ext>
            </a:extLst>
          </p:cNvPr>
          <p:cNvSpPr>
            <a:spLocks noGrp="1"/>
          </p:cNvSpPr>
          <p:nvPr/>
        </p:nvSpPr>
        <p:spPr>
          <a:xfrm>
            <a:off x="1181100" y="499643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구간 길이가 1이 될 때까지 같은 나눗셈 공식을 반복한다</a:t>
            </a:r>
          </a:p>
        </p:txBody>
      </p:sp>
      <p:sp>
        <p:nvSpPr>
          <p:cNvPr id="20" name="">
            <a:extLst>
              <a:ext uri="{FF2B5EF4-FFF2-40B4-BE49-F238E27FC236}">
                <ns2:creationId id="{43E7B521-DB53-40D8-9A28-911F30FEEB5B}"/>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646D1D8D-4EE4-4F23-8E78-5948BA0E9D96}"/>
              </a:ext>
            </a:extLst>
          </p:cNvPr>
          <p:cNvSpPr>
            <a:spLocks noGrp="1"/>
          </p:cNvSpPr>
          <p:nvPr/>
        </p:nvSpPr>
        <p:spPr>
          <a:xfrm>
            <a:off x="685800" y="544525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0E83DB4D-0D2F-4B9E-9ECA-6665AA257F38}"/>
              </a:ext>
            </a:extLst>
          </p:cNvPr>
          <p:cNvSpPr>
            <a:spLocks noGrp="1"/>
          </p:cNvSpPr>
          <p:nvPr/>
        </p:nvSpPr>
        <p:spPr>
          <a:xfrm>
            <a:off x="1181100" y="544525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목표값과 비교해 성공 또는 실패로 종료한다</a:t>
            </a:r>
          </a:p>
        </p:txBody>
      </p:sp>
    </p:spTree>
    <p:extLst>
      <p:ext uri="{BB962C8B-B14F-4D97-AF65-F5344CB8AC3E}">
        <ns3:creationId val="462685519"/>
      </p:ext>
    </p:extLst>
  </p:cSld>
</p:sld>
</file>

<file path=ppt/slides/slide3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687AF77E-0021-4F89-B408-DC46AABC3129}"/>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50D40CD4-E6FB-4EA0-88CE-EFB121CDE74A}"/>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FA3E322-5955-4C72-BD15-CEA485E9BE40}"/>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17  정답과 해설</a:t>
            </a:r>
          </a:p>
        </p:txBody>
      </p:sp>
      <p:sp>
        <p:nvSpPr>
          <p:cNvPr id="4" name="">
            <a:extLst>
              <a:ext uri="{FF2B5EF4-FFF2-40B4-BE49-F238E27FC236}">
                <ns2:creationId id="{703044E8-6924-42EA-8782-D768EEBBF25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8E1CDAB-88B1-4677-BAEC-3529821FB5B4}"/>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324A3C31-D568-462D-88FE-E1BD022F0D97}"/>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227C3B6-E55C-49E9-B74F-E7B5EE99B83C}"/>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034</a:t>
            </a:r>
          </a:p>
        </p:txBody>
      </p:sp>
      <p:sp>
        <p:nvSpPr>
          <p:cNvPr id="8" name="text-178-64">
            <a:extLst>
              <a:ext uri="{FF2B5EF4-FFF2-40B4-BE49-F238E27FC236}">
                <ns2:creationId id="{3A6DD460-2BDE-445A-A516-7DCF85DBCAFF}"/>
              </a:ext>
            </a:extLst>
          </p:cNvPr>
          <p:cNvSpPr>
            <a:spLocks noGrp="1"/>
          </p:cNvSpPr>
          <p:nvPr/>
        </p:nvSpPr>
        <p:spPr>
          <a:xfrm>
            <a:off x="609600" y="1619250"/>
            <a:ext cx="10972800" cy="163449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오름차순 배열 a의 양 끝을 포함한 후보 구간은 [lo,hi]이고, 찾는 값은 x이다. lo≤hi이며 인덱스는 0부터</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센다.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보간 탐색의 위치 추정식은 다음과 같다. //는 정수 몫이다.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pos = lo + ((x-a[lo])*(hi-lo)) // (a[hi]-a[lo])</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그런데 a[lo]=a[hi]이다. 이 식을 계산하기 전에 어떤 처리가 필요한가?</a:t>
            </a:r>
          </a:p>
        </p:txBody>
      </p:sp>
      <p:sp>
        <p:nvSpPr>
          <p:cNvPr id="9" name="">
            <a:extLst>
              <a:ext uri="{FF2B5EF4-FFF2-40B4-BE49-F238E27FC236}">
                <ns2:creationId id="{1F151AAA-45C4-44CB-9642-0A29C5F6A682}"/>
              </a:ext>
            </a:extLst>
          </p:cNvPr>
          <p:cNvSpPr>
            <a:spLocks noGrp="1"/>
          </p:cNvSpPr>
          <p:nvPr/>
        </p:nvSpPr>
        <p:spPr>
          <a:xfrm>
            <a:off x="609600" y="3368040"/>
            <a:ext cx="10972800" cy="498729"/>
          </a:xfrm>
          <a:prstGeom prst="rect">
            <a:avLst/>
          </a:prstGeom>
          <a:solidFill>
            <a:srgbClr val="171717"/>
          </a:solidFill>
          <a:ln w="0">
            <a:noFill/>
          </a:ln>
        </p:spPr>
      </p:sp>
      <p:sp>
        <p:nvSpPr>
          <p:cNvPr id="10" name="text-245.6-92">
            <a:extLst>
              <a:ext uri="{FF2B5EF4-FFF2-40B4-BE49-F238E27FC236}">
                <ns2:creationId id="{5F448BAD-F314-4CFF-9CE0-B4B45D6226B8}"/>
              </a:ext>
            </a:extLst>
          </p:cNvPr>
          <p:cNvSpPr>
            <a:spLocks noGrp="1"/>
          </p:cNvSpPr>
          <p:nvPr/>
        </p:nvSpPr>
        <p:spPr>
          <a:xfrm>
            <a:off x="876300" y="3444240"/>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5번 목표값과 비교해 성공 또는 실패로 종료한다</a:t>
            </a:r>
          </a:p>
        </p:txBody>
      </p:sp>
      <p:sp>
        <p:nvSpPr>
          <p:cNvPr id="11" name="text-324.4-64">
            <a:extLst>
              <a:ext uri="{FF2B5EF4-FFF2-40B4-BE49-F238E27FC236}">
                <ns2:creationId id="{FF53CADF-13F2-4977-A5B5-F33AA118B1A6}"/>
              </a:ext>
            </a:extLst>
          </p:cNvPr>
          <p:cNvSpPr>
            <a:spLocks noGrp="1"/>
          </p:cNvSpPr>
          <p:nvPr/>
        </p:nvSpPr>
        <p:spPr>
          <a:xfrm>
            <a:off x="609600" y="3962019"/>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6CECB597-66F7-478F-AB29-19889351DB9C}"/>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390A9C43-378A-4CFE-A380-884F8D862BFA}"/>
              </a:ext>
            </a:extLst>
          </p:cNvPr>
          <p:cNvSpPr>
            <a:spLocks noGrp="1"/>
          </p:cNvSpPr>
          <p:nvPr/>
        </p:nvSpPr>
        <p:spPr>
          <a:xfrm>
            <a:off x="609600" y="4339209"/>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분모가 0이다. 정렬된 구간의 양 끝 값이 같으면 구간 전체 값도 같다.</a:t>
            </a:r>
          </a:p>
        </p:txBody>
      </p:sp>
    </p:spTree>
    <p:extLst>
      <p:ext uri="{BB962C8B-B14F-4D97-AF65-F5344CB8AC3E}">
        <ns3:creationId val="46268551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28-64">
            <a:extLst xmlns:a="http://schemas.openxmlformats.org/drawingml/2006/main">
              <a:ext uri="{FF2B5EF4-FFF2-40B4-BE49-F238E27FC236}">
                <a16:creationId xmlns:a16="http://schemas.microsoft.com/office/drawing/2014/main" id="{85D9223C-709B-4FB1-AB05-6CD76331CF20}"/>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xmlns:a="http://schemas.openxmlformats.org/drawingml/2006/main">
              <a:ext uri="{FF2B5EF4-FFF2-40B4-BE49-F238E27FC236}">
                <a16:creationId xmlns:a16="http://schemas.microsoft.com/office/drawing/2014/main" id="{2521EC1C-80F9-4A58-9703-20A7A28657A8}"/>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E8702215-4043-4493-A776-0F97C303B5E3}"/>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18  </a:t>
            </a:r>
          </a:p>
        </p:txBody>
      </p:sp>
      <p:sp>
        <p:nvSpPr>
          <p:cNvPr id="4" name="">
            <a:extLst xmlns:a="http://schemas.openxmlformats.org/drawingml/2006/main">
              <a:ext uri="{FF2B5EF4-FFF2-40B4-BE49-F238E27FC236}">
                <a16:creationId xmlns:a16="http://schemas.microsoft.com/office/drawing/2014/main" id="{E2C26044-86EE-499A-9746-0ED9FCC2303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A6F2E8-0EE7-4C63-AC7F-07F5465BAFFF}"/>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43847B82-46D5-402E-A631-D149E4F79D88}"/>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E97DD8E1-1AA2-40EB-A3A0-B38A5C4A9E79}"/>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035</a:t>
            </a:r>
          </a:p>
        </p:txBody>
      </p:sp>
      <p:sp>
        <p:nvSpPr>
          <p:cNvPr id="8" name="text-178-64">
            <a:extLst xmlns:a="http://schemas.openxmlformats.org/drawingml/2006/main">
              <a:ext uri="{FF2B5EF4-FFF2-40B4-BE49-F238E27FC236}">
                <a16:creationId xmlns:a16="http://schemas.microsoft.com/office/drawing/2014/main" id="{922C310A-9F0D-49DC-B139-284F4940E8DE}"/>
              </a:ext>
            </a:extLst>
          </p:cNvPr>
          <p:cNvSpPr>
            <a:spLocks xmlns:a="http://schemas.openxmlformats.org/drawingml/2006/main" noGrp="1"/>
          </p:cNvSpPr>
          <p:nvPr/>
        </p:nvSpPr>
        <p:spPr>
          <a:xfrm xmlns:a="http://schemas.openxmlformats.org/drawingml/2006/main">
            <a:off x="609600" y="1695450"/>
            <a:ext cx="10972800"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보간 탐색이 잘 맞는 입력의 특징은?</a:t>
            </a:r>
          </a:p>
        </p:txBody>
      </p:sp>
      <p:sp>
        <p:nvSpPr>
          <p:cNvPr id="9" name="text-316-72">
            <a:extLst xmlns:a="http://schemas.openxmlformats.org/drawingml/2006/main">
              <a:ext uri="{FF2B5EF4-FFF2-40B4-BE49-F238E27FC236}">
                <a16:creationId xmlns:a16="http://schemas.microsoft.com/office/drawing/2014/main" id="{4F837F16-7BA5-423E-AE0C-3186FB81206B}"/>
              </a:ext>
            </a:extLst>
          </p:cNvPr>
          <p:cNvSpPr>
            <a:spLocks xmlns:a="http://schemas.openxmlformats.org/drawingml/2006/main" noGrp="1"/>
          </p:cNvSpPr>
          <p:nvPr/>
        </p:nvSpPr>
        <p:spPr>
          <a:xfrm xmlns:a="http://schemas.openxmlformats.org/drawingml/2006/main">
            <a:off x="685800" y="30099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xmlns:a="http://schemas.openxmlformats.org/drawingml/2006/main">
              <a:ext uri="{FF2B5EF4-FFF2-40B4-BE49-F238E27FC236}">
                <a16:creationId xmlns:a16="http://schemas.microsoft.com/office/drawing/2014/main" id="{297A20FC-EB6D-4388-98B3-014881141CE5}"/>
              </a:ext>
            </a:extLst>
          </p:cNvPr>
          <p:cNvSpPr>
            <a:spLocks xmlns:a="http://schemas.openxmlformats.org/drawingml/2006/main" noGrp="1"/>
          </p:cNvSpPr>
          <p:nvPr/>
        </p:nvSpPr>
        <p:spPr>
          <a:xfrm xmlns:a="http://schemas.openxmlformats.org/drawingml/2006/main">
            <a:off x="1181100" y="30099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길이는 크지만 값 순서가 무작위인 배열이다</a:t>
            </a:r>
          </a:p>
        </p:txBody>
      </p:sp>
      <p:sp>
        <p:nvSpPr>
          <p:cNvPr id="11" name="">
            <a:extLst xmlns:a="http://schemas.openxmlformats.org/drawingml/2006/main">
              <a:ext uri="{FF2B5EF4-FFF2-40B4-BE49-F238E27FC236}">
                <a16:creationId xmlns:a16="http://schemas.microsoft.com/office/drawing/2014/main" id="{0BCCEDAB-1A1A-4690-AF9B-5B12BBD118AA}"/>
              </a:ext>
            </a:extLst>
          </p:cNvPr>
          <p:cNvSpPr>
            <a:spLocks xmlns:a="http://schemas.openxmlformats.org/drawingml/2006/main" noGrp="1"/>
          </p:cNvSpPr>
          <p:nvPr/>
        </p:nvSpPr>
        <p:spPr>
          <a:xfrm xmlns:a="http://schemas.openxmlformats.org/drawingml/2006/main">
            <a:off x="1181100" y="355282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2" name="text-382-72">
            <a:extLst xmlns:a="http://schemas.openxmlformats.org/drawingml/2006/main">
              <a:ext uri="{FF2B5EF4-FFF2-40B4-BE49-F238E27FC236}">
                <a16:creationId xmlns:a16="http://schemas.microsoft.com/office/drawing/2014/main" id="{A204636C-E6D8-4667-BB0B-E67AA9E40184}"/>
              </a:ext>
            </a:extLst>
          </p:cNvPr>
          <p:cNvSpPr>
            <a:spLocks xmlns:a="http://schemas.openxmlformats.org/drawingml/2006/main" noGrp="1"/>
          </p:cNvSpPr>
          <p:nvPr/>
        </p:nvSpPr>
        <p:spPr>
          <a:xfrm xmlns:a="http://schemas.openxmlformats.org/drawingml/2006/main">
            <a:off x="685800" y="36385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xmlns:a="http://schemas.openxmlformats.org/drawingml/2006/main">
              <a:ext uri="{FF2B5EF4-FFF2-40B4-BE49-F238E27FC236}">
                <a16:creationId xmlns:a16="http://schemas.microsoft.com/office/drawing/2014/main" id="{548EB459-1687-47BC-9CEB-D957A1F0DAD1}"/>
              </a:ext>
            </a:extLst>
          </p:cNvPr>
          <p:cNvSpPr>
            <a:spLocks xmlns:a="http://schemas.openxmlformats.org/drawingml/2006/main" noGrp="1"/>
          </p:cNvSpPr>
          <p:nvPr/>
        </p:nvSpPr>
        <p:spPr>
          <a:xfrm xmlns:a="http://schemas.openxmlformats.org/drawingml/2006/main">
            <a:off x="1181100" y="363855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정렬되어 있고 값이 비교적 균등하게 분포한다</a:t>
            </a:r>
          </a:p>
        </p:txBody>
      </p:sp>
      <p:sp>
        <p:nvSpPr>
          <p:cNvPr id="14" name="">
            <a:extLst xmlns:a="http://schemas.openxmlformats.org/drawingml/2006/main">
              <a:ext uri="{FF2B5EF4-FFF2-40B4-BE49-F238E27FC236}">
                <a16:creationId xmlns:a16="http://schemas.microsoft.com/office/drawing/2014/main" id="{9F68CE33-3C57-4751-8E99-F800DBCFDB13}"/>
              </a:ext>
            </a:extLst>
          </p:cNvPr>
          <p:cNvSpPr>
            <a:spLocks xmlns:a="http://schemas.openxmlformats.org/drawingml/2006/main" noGrp="1"/>
          </p:cNvSpPr>
          <p:nvPr/>
        </p:nvSpPr>
        <p:spPr>
          <a:xfrm xmlns:a="http://schemas.openxmlformats.org/drawingml/2006/main">
            <a:off x="1181100" y="418147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5" name="text-448-72">
            <a:extLst xmlns:a="http://schemas.openxmlformats.org/drawingml/2006/main">
              <a:ext uri="{FF2B5EF4-FFF2-40B4-BE49-F238E27FC236}">
                <a16:creationId xmlns:a16="http://schemas.microsoft.com/office/drawing/2014/main" id="{008A6E64-9E55-4AC3-B566-1D2BBEA7143C}"/>
              </a:ext>
            </a:extLst>
          </p:cNvPr>
          <p:cNvSpPr>
            <a:spLocks xmlns:a="http://schemas.openxmlformats.org/drawingml/2006/main" noGrp="1"/>
          </p:cNvSpPr>
          <p:nvPr/>
        </p:nvSpPr>
        <p:spPr>
          <a:xfrm xmlns:a="http://schemas.openxmlformats.org/drawingml/2006/main">
            <a:off x="685800" y="42672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xmlns:a="http://schemas.openxmlformats.org/drawingml/2006/main">
              <a:ext uri="{FF2B5EF4-FFF2-40B4-BE49-F238E27FC236}">
                <a16:creationId xmlns:a16="http://schemas.microsoft.com/office/drawing/2014/main" id="{9B2CB4E2-B7AB-4471-9191-D2C28974D22F}"/>
              </a:ext>
            </a:extLst>
          </p:cNvPr>
          <p:cNvSpPr>
            <a:spLocks xmlns:a="http://schemas.openxmlformats.org/drawingml/2006/main" noGrp="1"/>
          </p:cNvSpPr>
          <p:nvPr/>
        </p:nvSpPr>
        <p:spPr>
          <a:xfrm xmlns:a="http://schemas.openxmlformats.org/drawingml/2006/main">
            <a:off x="1181100" y="42672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정렬되어 있지만 거의 모든 값이 한쪽 끝에 몰려 있다</a:t>
            </a:r>
          </a:p>
        </p:txBody>
      </p:sp>
      <p:sp>
        <p:nvSpPr>
          <p:cNvPr id="17" name="">
            <a:extLst xmlns:a="http://schemas.openxmlformats.org/drawingml/2006/main">
              <a:ext uri="{FF2B5EF4-FFF2-40B4-BE49-F238E27FC236}">
                <a16:creationId xmlns:a16="http://schemas.microsoft.com/office/drawing/2014/main" id="{46DCC22F-41C2-40DF-AD4D-5E49C951F280}"/>
              </a:ext>
            </a:extLst>
          </p:cNvPr>
          <p:cNvSpPr>
            <a:spLocks xmlns:a="http://schemas.openxmlformats.org/drawingml/2006/main" noGrp="1"/>
          </p:cNvSpPr>
          <p:nvPr/>
        </p:nvSpPr>
        <p:spPr>
          <a:xfrm xmlns:a="http://schemas.openxmlformats.org/drawingml/2006/main">
            <a:off x="1181100" y="481012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18" name="text-514-72">
            <a:extLst xmlns:a="http://schemas.openxmlformats.org/drawingml/2006/main">
              <a:ext uri="{FF2B5EF4-FFF2-40B4-BE49-F238E27FC236}">
                <a16:creationId xmlns:a16="http://schemas.microsoft.com/office/drawing/2014/main" id="{6E3070D1-3CDC-4883-A371-3085A2949894}"/>
              </a:ext>
            </a:extLst>
          </p:cNvPr>
          <p:cNvSpPr>
            <a:spLocks xmlns:a="http://schemas.openxmlformats.org/drawingml/2006/main" noGrp="1"/>
          </p:cNvSpPr>
          <p:nvPr/>
        </p:nvSpPr>
        <p:spPr>
          <a:xfrm xmlns:a="http://schemas.openxmlformats.org/drawingml/2006/main">
            <a:off x="685800" y="489585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xmlns:a="http://schemas.openxmlformats.org/drawingml/2006/main">
              <a:ext uri="{FF2B5EF4-FFF2-40B4-BE49-F238E27FC236}">
                <a16:creationId xmlns:a16="http://schemas.microsoft.com/office/drawing/2014/main" id="{B903E472-E883-4236-A688-BB0AA6F7FC0B}"/>
              </a:ext>
            </a:extLst>
          </p:cNvPr>
          <p:cNvSpPr>
            <a:spLocks xmlns:a="http://schemas.openxmlformats.org/drawingml/2006/main" noGrp="1"/>
          </p:cNvSpPr>
          <p:nvPr/>
        </p:nvSpPr>
        <p:spPr>
          <a:xfrm xmlns:a="http://schemas.openxmlformats.org/drawingml/2006/main">
            <a:off x="1181100" y="489585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인덱스 간격은 일정하지만 값의 분포는 고려하지 않는다</a:t>
            </a:r>
          </a:p>
        </p:txBody>
      </p:sp>
      <p:sp>
        <p:nvSpPr>
          <p:cNvPr id="20" name="">
            <a:extLst xmlns:a="http://schemas.openxmlformats.org/drawingml/2006/main">
              <a:ext uri="{FF2B5EF4-FFF2-40B4-BE49-F238E27FC236}">
                <a16:creationId xmlns:a16="http://schemas.microsoft.com/office/drawing/2014/main" id="{3031AEE3-0253-4B44-A68E-FB636D1221ED}"/>
              </a:ext>
            </a:extLst>
          </p:cNvPr>
          <p:cNvSpPr>
            <a:spLocks xmlns:a="http://schemas.openxmlformats.org/drawingml/2006/main" noGrp="1"/>
          </p:cNvSpPr>
          <p:nvPr/>
        </p:nvSpPr>
        <p:spPr>
          <a:xfrm xmlns:a="http://schemas.openxmlformats.org/drawingml/2006/main">
            <a:off x="1181100" y="5438775"/>
            <a:ext cx="10401300" cy="9525"/>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21" name="text-580-72">
            <a:extLst xmlns:a="http://schemas.openxmlformats.org/drawingml/2006/main">
              <a:ext uri="{FF2B5EF4-FFF2-40B4-BE49-F238E27FC236}">
                <a16:creationId xmlns:a16="http://schemas.microsoft.com/office/drawing/2014/main" id="{459AB3C4-F61E-4422-9967-DC10F61ECEF4}"/>
              </a:ext>
            </a:extLst>
          </p:cNvPr>
          <p:cNvSpPr>
            <a:spLocks xmlns:a="http://schemas.openxmlformats.org/drawingml/2006/main" noGrp="1"/>
          </p:cNvSpPr>
          <p:nvPr/>
        </p:nvSpPr>
        <p:spPr>
          <a:xfrm xmlns:a="http://schemas.openxmlformats.org/drawingml/2006/main">
            <a:off x="685800" y="55245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xmlns:a="http://schemas.openxmlformats.org/drawingml/2006/main">
              <a:ext uri="{FF2B5EF4-FFF2-40B4-BE49-F238E27FC236}">
                <a16:creationId xmlns:a16="http://schemas.microsoft.com/office/drawing/2014/main" id="{5FB45760-BAD7-43A7-89DD-1CB176262F28}"/>
              </a:ext>
            </a:extLst>
          </p:cNvPr>
          <p:cNvSpPr>
            <a:spLocks xmlns:a="http://schemas.openxmlformats.org/drawingml/2006/main" noGrp="1"/>
          </p:cNvSpPr>
          <p:nvPr/>
        </p:nvSpPr>
        <p:spPr>
          <a:xfrm xmlns:a="http://schemas.openxmlformats.org/drawingml/2006/main">
            <a:off x="1181100" y="5524500"/>
            <a:ext cx="1040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입력 길이가 2의 거듭제곱이면 값의 분포와 무관하다</a:t>
            </a:r>
          </a:p>
        </p:txBody>
      </p:sp>
    </p:spTree>
    <p:extLst>
      <p:ext uri="{BB962C8B-B14F-4D97-AF65-F5344CB8AC3E}">
        <p14:creationId xmlns:p14="http://schemas.microsoft.com/office/powerpoint/2010/main" val="46268551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87076FBC-C181-4066-A029-BAFEDE69568F}"/>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xmlns:a="http://schemas.openxmlformats.org/drawingml/2006/main">
              <a:ext uri="{FF2B5EF4-FFF2-40B4-BE49-F238E27FC236}">
                <a16:creationId xmlns:a16="http://schemas.microsoft.com/office/drawing/2014/main" id="{6C4AB8C4-8765-4D9B-8460-EFB8EC71ACBA}"/>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9A51CE58-AA3E-4C9B-BAA4-C9F544579181}"/>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18  정답과 해설</a:t>
            </a:r>
          </a:p>
        </p:txBody>
      </p:sp>
      <p:sp>
        <p:nvSpPr>
          <p:cNvPr id="4" name="">
            <a:extLst xmlns:a="http://schemas.openxmlformats.org/drawingml/2006/main">
              <a:ext uri="{FF2B5EF4-FFF2-40B4-BE49-F238E27FC236}">
                <a16:creationId xmlns:a16="http://schemas.microsoft.com/office/drawing/2014/main" id="{0F658341-BD85-48F7-B38F-3B9133F9AA4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EA99F6-2A7C-4A74-9DE6-1C4663AF33D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31C34CA5-BFB5-4999-AF7C-021F08F7EC6F}"/>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5976E229-2223-4500-862E-0665C3BBC216}"/>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036</a:t>
            </a:r>
          </a:p>
        </p:txBody>
      </p:sp>
      <p:sp>
        <p:nvSpPr>
          <p:cNvPr id="8" name="text-178-64">
            <a:extLst xmlns:a="http://schemas.openxmlformats.org/drawingml/2006/main">
              <a:ext uri="{FF2B5EF4-FFF2-40B4-BE49-F238E27FC236}">
                <a16:creationId xmlns:a16="http://schemas.microsoft.com/office/drawing/2014/main" id="{2FF018F3-C19C-4389-B6AE-F93C1BE5C151}"/>
              </a:ext>
            </a:extLst>
          </p:cNvPr>
          <p:cNvSpPr>
            <a:spLocks xmlns:a="http://schemas.openxmlformats.org/drawingml/2006/main" noGrp="1"/>
          </p:cNvSpPr>
          <p:nvPr/>
        </p:nvSpPr>
        <p:spPr>
          <a:xfrm xmlns:a="http://schemas.openxmlformats.org/drawingml/2006/main">
            <a:off x="609600" y="169545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보간 탐색이 잘 맞는 입력의 특징은?</a:t>
            </a:r>
          </a:p>
        </p:txBody>
      </p:sp>
      <p:sp>
        <p:nvSpPr>
          <p:cNvPr id="9" name="">
            <a:extLst xmlns:a="http://schemas.openxmlformats.org/drawingml/2006/main">
              <a:ext uri="{FF2B5EF4-FFF2-40B4-BE49-F238E27FC236}">
                <a16:creationId xmlns:a16="http://schemas.microsoft.com/office/drawing/2014/main" id="{1F6B8705-FCA4-4851-9E6A-8B9BE3A50854}"/>
              </a:ext>
            </a:extLst>
          </p:cNvPr>
          <p:cNvSpPr>
            <a:spLocks xmlns:a="http://schemas.openxmlformats.org/drawingml/2006/main" noGrp="1"/>
          </p:cNvSpPr>
          <p:nvPr/>
        </p:nvSpPr>
        <p:spPr>
          <a:xfrm xmlns:a="http://schemas.openxmlformats.org/drawingml/2006/main">
            <a:off x="609600" y="2205990"/>
            <a:ext cx="10972800" cy="626745"/>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881A8825-3475-4FA3-A2DD-582F0F0D0A6D}"/>
              </a:ext>
            </a:extLst>
          </p:cNvPr>
          <p:cNvSpPr>
            <a:spLocks xmlns:a="http://schemas.openxmlformats.org/drawingml/2006/main" noGrp="1"/>
          </p:cNvSpPr>
          <p:nvPr/>
        </p:nvSpPr>
        <p:spPr>
          <a:xfrm xmlns:a="http://schemas.openxmlformats.org/drawingml/2006/main">
            <a:off x="876300" y="2339340"/>
            <a:ext cx="104394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2번 정렬되어 있고 값이 비교적 균등하게 분포한다</a:t>
            </a:r>
          </a:p>
        </p:txBody>
      </p:sp>
      <p:sp>
        <p:nvSpPr>
          <p:cNvPr id="11" name="text-324.4-64">
            <a:extLst xmlns:a="http://schemas.openxmlformats.org/drawingml/2006/main">
              <a:ext uri="{FF2B5EF4-FFF2-40B4-BE49-F238E27FC236}">
                <a16:creationId xmlns:a16="http://schemas.microsoft.com/office/drawing/2014/main" id="{4FBF0278-1391-460E-9E8D-8C1594BB81A9}"/>
              </a:ext>
            </a:extLst>
          </p:cNvPr>
          <p:cNvSpPr>
            <a:spLocks xmlns:a="http://schemas.openxmlformats.org/drawingml/2006/main" noGrp="1"/>
          </p:cNvSpPr>
          <p:nvPr/>
        </p:nvSpPr>
        <p:spPr>
          <a:xfrm xmlns:a="http://schemas.openxmlformats.org/drawingml/2006/main">
            <a:off x="609600" y="3089910"/>
            <a:ext cx="1181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1BF2A8B0-4BA2-4C71-9101-8E2FEC4BF350}"/>
              </a:ext>
            </a:extLst>
          </p:cNvPr>
          <p:cNvSpPr>
            <a:spLocks xmlns:a="http://schemas.openxmlformats.org/drawingml/2006/main" noGrp="1"/>
          </p:cNvSpPr>
          <p:nvPr/>
        </p:nvSpPr>
        <p:spPr>
          <a:xfrm xmlns:a="http://schemas.openxmlformats.org/drawingml/2006/main">
            <a:off x="1752600" y="326136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7046110C-C3DE-4472-8CAA-4046E5898342}"/>
              </a:ext>
            </a:extLst>
          </p:cNvPr>
          <p:cNvSpPr>
            <a:spLocks xmlns:a="http://schemas.openxmlformats.org/drawingml/2006/main" noGrp="1"/>
          </p:cNvSpPr>
          <p:nvPr/>
        </p:nvSpPr>
        <p:spPr>
          <a:xfrm xmlns:a="http://schemas.openxmlformats.org/drawingml/2006/main">
            <a:off x="609600" y="354711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평균적인 효율은 값 분포 가정에 영향을 받으며 최악 선형 시간 가능성은 남는다.</a:t>
            </a:r>
          </a:p>
        </p:txBody>
      </p:sp>
    </p:spTree>
    <p:extLst>
      <p:ext uri="{BB962C8B-B14F-4D97-AF65-F5344CB8AC3E}">
        <p14:creationId xmlns:p14="http://schemas.microsoft.com/office/powerpoint/2010/main" val="462685519"/>
      </p:ext>
    </p:extLst>
  </p:cSld>
</p:sld>
</file>

<file path=ppt/slides/slide3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0186C28A-4A11-4BB7-80E7-F9BC10EF251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D5798B65-ED0F-4A95-834B-58AA5E6CC018}"/>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2B3559F-39DC-4C0B-95D2-C0B26D63608A}"/>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19  </a:t>
            </a:r>
          </a:p>
        </p:txBody>
      </p:sp>
      <p:sp>
        <p:nvSpPr>
          <p:cNvPr id="4" name="">
            <a:extLst>
              <a:ext uri="{FF2B5EF4-FFF2-40B4-BE49-F238E27FC236}">
                <ns2:creationId id="{582B2E9E-C817-42B3-A899-8BF05F6EAA1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E5A5A95-B6B2-4995-8235-1CFECF8E61D1}"/>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43B1EDDC-1BA8-41D4-8CAF-1860A9883215}"/>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4C3A3C2-3C2F-4F51-AAB2-A434DFADBA7B}"/>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037</a:t>
            </a:r>
          </a:p>
        </p:txBody>
      </p:sp>
      <p:sp>
        <p:nvSpPr>
          <p:cNvPr id="8" name="text-178-64">
            <a:extLst>
              <a:ext uri="{FF2B5EF4-FFF2-40B4-BE49-F238E27FC236}">
                <ns2:creationId id="{62FAEA5E-67BF-4947-8EB0-A531C74AFC5A}"/>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길이 n인 오름차순 숫자 배열에서 보간 탐색으로 목표값을 찾는다. 배열 값의 분포가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고르다는 가정은 없고, 원소 한 번의 접근·비교·기본 산술 연산은 상수 시간으로 센다. 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탐색의 최악 시간 복잡도를 가장 정확히 나타내는 것은?</a:t>
            </a:r>
          </a:p>
        </p:txBody>
      </p:sp>
      <p:sp>
        <p:nvSpPr>
          <p:cNvPr id="9" name="text-316-72">
            <a:extLst>
              <a:ext uri="{FF2B5EF4-FFF2-40B4-BE49-F238E27FC236}">
                <ns2:creationId id="{555F7286-86D4-42B1-8404-A987E7793A97}"/>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9C2AF031-1145-480C-A677-586CFC31EB94}"/>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a:t>
            </a:r>
          </a:p>
        </p:txBody>
      </p:sp>
      <p:sp>
        <p:nvSpPr>
          <p:cNvPr id="11" name="">
            <a:extLst>
              <a:ext uri="{FF2B5EF4-FFF2-40B4-BE49-F238E27FC236}">
                <ns2:creationId id="{867FA9E5-EBE6-47A5-B7FA-0117992AF515}"/>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03A21FE3-D638-40F9-BE32-255EEF9C6CB9}"/>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8CC37ADF-AEDC-4B43-9B74-2284C74E421A}"/>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Θ(n²)</a:t>
            </a:r>
          </a:p>
        </p:txBody>
      </p:sp>
      <p:sp>
        <p:nvSpPr>
          <p:cNvPr id="14" name="">
            <a:extLst>
              <a:ext uri="{FF2B5EF4-FFF2-40B4-BE49-F238E27FC236}">
                <ns2:creationId id="{5026A7D3-45F2-4AA3-A41D-AA871003A2F3}"/>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14359890-CA85-4437-B757-C4F8E7DD5ABC}"/>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57B9F004-CE18-4C73-9F5A-0CE3AC936777}"/>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Θ(log n)</a:t>
            </a:r>
          </a:p>
        </p:txBody>
      </p:sp>
      <p:sp>
        <p:nvSpPr>
          <p:cNvPr id="17" name="">
            <a:extLst>
              <a:ext uri="{FF2B5EF4-FFF2-40B4-BE49-F238E27FC236}">
                <ns2:creationId id="{6D229CE7-8CB6-4F86-A24F-E5D2325370D7}"/>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BB692003-FE1F-4B38-9A04-93DE3341D64B}"/>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7CC86B32-9A6B-4016-A53C-B1BD19DD2FC2}"/>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Θ(log log n)</a:t>
            </a:r>
          </a:p>
        </p:txBody>
      </p:sp>
      <p:sp>
        <p:nvSpPr>
          <p:cNvPr id="20" name="">
            <a:extLst>
              <a:ext uri="{FF2B5EF4-FFF2-40B4-BE49-F238E27FC236}">
                <ns2:creationId id="{E2F6BAA8-7E50-416B-BC51-A700226A5283}"/>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5A16B881-9513-4435-8BA6-1E9A3C013B18}"/>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96D2BFFE-8F64-498D-A010-0981CB4BC61A}"/>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 log n)</a:t>
            </a:r>
          </a:p>
        </p:txBody>
      </p:sp>
    </p:spTree>
    <p:extLst>
      <p:ext uri="{BB962C8B-B14F-4D97-AF65-F5344CB8AC3E}">
        <ns3:creationId val="462685519"/>
      </p:ext>
    </p:extLst>
  </p:cSld>
</p:sld>
</file>

<file path=ppt/slides/slide3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521DB7E0-4D2D-44FC-BEC2-453C9923EC3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7B15E42B-D189-4CA9-BAAD-747FB3F48AE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05BC0A9-0A10-4DCF-AAAB-F4538A45A693}"/>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19  정답과 해설</a:t>
            </a:r>
          </a:p>
        </p:txBody>
      </p:sp>
      <p:sp>
        <p:nvSpPr>
          <p:cNvPr id="4" name="">
            <a:extLst>
              <a:ext uri="{FF2B5EF4-FFF2-40B4-BE49-F238E27FC236}">
                <ns2:creationId id="{A8900635-563C-4280-9EAD-36D757BE1AD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7CA6EC3-B9E9-4AC9-AE1A-8C917DC12CE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B282501-E115-4269-BEC8-5AAFA6D1EE10}"/>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8A6FAF3-B3AE-4EF2-995D-8F6F80B1BF45}"/>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038</a:t>
            </a:r>
          </a:p>
        </p:txBody>
      </p:sp>
      <p:sp>
        <p:nvSpPr>
          <p:cNvPr id="8" name="text-178-64">
            <a:extLst>
              <a:ext uri="{FF2B5EF4-FFF2-40B4-BE49-F238E27FC236}">
                <ns2:creationId id="{68F63E42-4652-4DBF-ABDE-CD52E5EA06AD}"/>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길이 n인 오름차순 숫자 배열에서 보간 탐색으로 목표값을 찾는다. 배열 값의 분포가 고르다는 가정은</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없고, 원소 한 번의 접근·비교·기본 산술 연산은 상수 시간으로 센다. 이 탐색의 최악 시간 복잡도를 가장</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정확히 나타내는 것은?</a:t>
            </a:r>
          </a:p>
        </p:txBody>
      </p:sp>
      <p:sp>
        <p:nvSpPr>
          <p:cNvPr id="9" name="">
            <a:extLst>
              <a:ext uri="{FF2B5EF4-FFF2-40B4-BE49-F238E27FC236}">
                <ns2:creationId id="{914294A2-0022-4E5E-AD6C-AB9DD91E9F0C}"/>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DE84B046-CCD8-4254-A79E-DDD07884591C}"/>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1번 Θ(n)</a:t>
            </a:r>
          </a:p>
        </p:txBody>
      </p:sp>
      <p:sp>
        <p:nvSpPr>
          <p:cNvPr id="11" name="text-324.4-64">
            <a:extLst>
              <a:ext uri="{FF2B5EF4-FFF2-40B4-BE49-F238E27FC236}">
                <ns2:creationId id="{BBF92D4C-1096-4563-8E7B-6F7886905B27}"/>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799CC538-4CB2-4924-ABB8-9313315E0353}"/>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30A33FDD-F82F-464A-A901-B35676D3AF2E}"/>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값 분포가 치우치면 조금씩만 후보가 줄어들 수 있다.</a:t>
            </a:r>
          </a:p>
        </p:txBody>
      </p:sp>
    </p:spTree>
    <p:extLst>
      <p:ext uri="{BB962C8B-B14F-4D97-AF65-F5344CB8AC3E}">
        <ns3:creationId val="462685519"/>
      </p:ext>
    </p:extLst>
  </p:cSld>
</p:sld>
</file>

<file path=ppt/slides/slide3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C4C72187-5CEE-40F1-B070-33B4358031B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753CA311-9372-49B0-B5FA-58CD4C46DC91}"/>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7C4F35A0-FD9C-414C-BB69-93A286C718AD}"/>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20  </a:t>
            </a:r>
          </a:p>
        </p:txBody>
      </p:sp>
      <p:sp>
        <p:nvSpPr>
          <p:cNvPr id="4" name="">
            <a:extLst>
              <a:ext uri="{FF2B5EF4-FFF2-40B4-BE49-F238E27FC236}">
                <ns2:creationId id="{A63700ED-2B3F-47CB-9999-2183F888E3F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02EDD8C-61C7-445E-8D66-C06873A811B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B6DBAE48-D887-40B4-95FC-3D05A5C13377}"/>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6E05BEBE-5FFB-4B24-AAD7-59657C923634}"/>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039</a:t>
            </a:r>
          </a:p>
        </p:txBody>
      </p:sp>
      <p:sp>
        <p:nvSpPr>
          <p:cNvPr id="8" name="text-178-64">
            <a:extLst>
              <a:ext uri="{FF2B5EF4-FFF2-40B4-BE49-F238E27FC236}">
                <ns2:creationId id="{70FFC67F-A6A2-4C46-BF4A-72927D5AECB6}"/>
              </a:ext>
            </a:extLst>
          </p:cNvPr>
          <p:cNvSpPr>
            <a:spLocks noGrp="1"/>
          </p:cNvSpPr>
          <p:nvPr/>
        </p:nvSpPr>
        <p:spPr>
          <a:xfrm>
            <a:off x="609600" y="1619250"/>
            <a:ext cx="10972800" cy="1529334"/>
          </a:xfrm>
          <a:prstGeom prst="rect">
            <a:avLst/>
          </a:prstGeom>
          <a:noFill/>
          <a:ln w="0">
            <a:noFill/>
          </a:ln>
        </p:spPr>
        <p:txBody>
          <a:bodyPr wrap="none" lIns="0" tIns="0" rIns="0" bIns="0" anchor="t">
            <a:noAutofit/>
          </a:bodyPr>
          <a:lstStyle/>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n개 원소(n≥2)가 있는 고정 배열에서 값을 찾는 요청을 m번(m≥1) 처리한다.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처음 한 번만 배열을 정렬하며, 정렬 시간은 Θ(n log n)이라고 주어진다.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이후 각 요청은 이진 탐색으로 처리한다. 배열은 중간에 바뀌지 않는다.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정렬과 m번 탐색을 합친 최악의 총 시간 복잡도는?</a:t>
            </a:r>
          </a:p>
        </p:txBody>
      </p:sp>
      <p:sp>
        <p:nvSpPr>
          <p:cNvPr id="9" name="text-316-72">
            <a:extLst>
              <a:ext uri="{FF2B5EF4-FFF2-40B4-BE49-F238E27FC236}">
                <ns2:creationId id="{C82D2EB4-C1BA-4D88-9743-D6E81D455D4D}"/>
              </a:ext>
            </a:extLst>
          </p:cNvPr>
          <p:cNvSpPr>
            <a:spLocks noGrp="1"/>
          </p:cNvSpPr>
          <p:nvPr/>
        </p:nvSpPr>
        <p:spPr>
          <a:xfrm>
            <a:off x="685800" y="328193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15F95CB7-0340-4240-B247-A836D3202FDF}"/>
              </a:ext>
            </a:extLst>
          </p:cNvPr>
          <p:cNvSpPr>
            <a:spLocks noGrp="1"/>
          </p:cNvSpPr>
          <p:nvPr/>
        </p:nvSpPr>
        <p:spPr>
          <a:xfrm>
            <a:off x="1181100" y="328193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 log m)</a:t>
            </a:r>
          </a:p>
        </p:txBody>
      </p:sp>
      <p:sp>
        <p:nvSpPr>
          <p:cNvPr id="11" name="">
            <a:extLst>
              <a:ext uri="{FF2B5EF4-FFF2-40B4-BE49-F238E27FC236}">
                <ns2:creationId id="{C43159F4-02FC-4846-A9ED-E3EEC324BE57}"/>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826B732D-D71B-4946-AC84-91E9EB7545C0}"/>
              </a:ext>
            </a:extLst>
          </p:cNvPr>
          <p:cNvSpPr>
            <a:spLocks noGrp="1"/>
          </p:cNvSpPr>
          <p:nvPr/>
        </p:nvSpPr>
        <p:spPr>
          <a:xfrm>
            <a:off x="685800" y="373075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611C455C-8497-4FFA-8F49-111434CDCF5E}"/>
              </a:ext>
            </a:extLst>
          </p:cNvPr>
          <p:cNvSpPr>
            <a:spLocks noGrp="1"/>
          </p:cNvSpPr>
          <p:nvPr/>
        </p:nvSpPr>
        <p:spPr>
          <a:xfrm>
            <a:off x="1181100" y="373075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Θ(m+n)</a:t>
            </a:r>
          </a:p>
        </p:txBody>
      </p:sp>
      <p:sp>
        <p:nvSpPr>
          <p:cNvPr id="14" name="">
            <a:extLst>
              <a:ext uri="{FF2B5EF4-FFF2-40B4-BE49-F238E27FC236}">
                <ns2:creationId id="{D5283983-F661-4DF5-95E5-7FC1B7F09E5F}"/>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C4C04600-0E6D-413B-AD71-97D6DEB5E56E}"/>
              </a:ext>
            </a:extLst>
          </p:cNvPr>
          <p:cNvSpPr>
            <a:spLocks noGrp="1"/>
          </p:cNvSpPr>
          <p:nvPr/>
        </p:nvSpPr>
        <p:spPr>
          <a:xfrm>
            <a:off x="685800" y="417957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F2F79676-7FAE-4F8A-8664-98C14613C164}"/>
              </a:ext>
            </a:extLst>
          </p:cNvPr>
          <p:cNvSpPr>
            <a:spLocks noGrp="1"/>
          </p:cNvSpPr>
          <p:nvPr/>
        </p:nvSpPr>
        <p:spPr>
          <a:xfrm>
            <a:off x="1181100" y="417957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Θ(nm log n)만 가능</a:t>
            </a:r>
          </a:p>
        </p:txBody>
      </p:sp>
      <p:sp>
        <p:nvSpPr>
          <p:cNvPr id="17" name="">
            <a:extLst>
              <a:ext uri="{FF2B5EF4-FFF2-40B4-BE49-F238E27FC236}">
                <ns2:creationId id="{E0013040-4C98-4806-A826-3FF4B08D37F3}"/>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10E60177-5576-4522-9416-00424F5DEEF1}"/>
              </a:ext>
            </a:extLst>
          </p:cNvPr>
          <p:cNvSpPr>
            <a:spLocks noGrp="1"/>
          </p:cNvSpPr>
          <p:nvPr/>
        </p:nvSpPr>
        <p:spPr>
          <a:xfrm>
            <a:off x="685800" y="46283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FA5E6906-C5CE-405E-94A5-C14804ADC26D}"/>
              </a:ext>
            </a:extLst>
          </p:cNvPr>
          <p:cNvSpPr>
            <a:spLocks noGrp="1"/>
          </p:cNvSpPr>
          <p:nvPr/>
        </p:nvSpPr>
        <p:spPr>
          <a:xfrm>
            <a:off x="1181100" y="46283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 log n+m log n)</a:t>
            </a:r>
          </a:p>
        </p:txBody>
      </p:sp>
      <p:sp>
        <p:nvSpPr>
          <p:cNvPr id="20" name="">
            <a:extLst>
              <a:ext uri="{FF2B5EF4-FFF2-40B4-BE49-F238E27FC236}">
                <ns2:creationId id="{522DBB7C-326A-4747-B2E8-540C87CF100A}"/>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BBDF00E2-ACA1-4171-B4C0-B177D75F8C1F}"/>
              </a:ext>
            </a:extLst>
          </p:cNvPr>
          <p:cNvSpPr>
            <a:spLocks noGrp="1"/>
          </p:cNvSpPr>
          <p:nvPr/>
        </p:nvSpPr>
        <p:spPr>
          <a:xfrm>
            <a:off x="685800" y="50772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2EECD9BF-B85B-4C91-BBE6-995BA9FA6F20}"/>
              </a:ext>
            </a:extLst>
          </p:cNvPr>
          <p:cNvSpPr>
            <a:spLocks noGrp="1"/>
          </p:cNvSpPr>
          <p:nvPr/>
        </p:nvSpPr>
        <p:spPr>
          <a:xfrm>
            <a:off x="1181100" y="50772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Θ(log(n+m))</a:t>
            </a:r>
          </a:p>
        </p:txBody>
      </p:sp>
    </p:spTree>
    <p:extLst>
      <p:ext uri="{BB962C8B-B14F-4D97-AF65-F5344CB8AC3E}">
        <ns3:creationId val="462685519"/>
      </p:ext>
    </p:extLst>
  </p:cSld>
</p:sld>
</file>

<file path=ppt/slides/slide4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EBF1E49D-801A-4564-8EAC-E021AC6E5A9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E382F408-1FB3-419C-8C05-DECD3D6DD183}"/>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21A5333-7BF9-4093-A344-ABD40AFEB5CD}"/>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20  정답과 해설</a:t>
            </a:r>
          </a:p>
        </p:txBody>
      </p:sp>
      <p:sp>
        <p:nvSpPr>
          <p:cNvPr id="4" name="">
            <a:extLst>
              <a:ext uri="{FF2B5EF4-FFF2-40B4-BE49-F238E27FC236}">
                <ns2:creationId id="{BABF5706-A1C2-4FB0-B742-48EFBC012F1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07654F8-0A8C-4EEB-B445-D57F508BD00C}"/>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5E0EA830-1166-43F2-B5F3-667BFDA38D07}"/>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28488B2-D963-4ADF-B9A8-ABF6301D80AE}"/>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040</a:t>
            </a:r>
          </a:p>
        </p:txBody>
      </p:sp>
      <p:sp>
        <p:nvSpPr>
          <p:cNvPr id="8" name="text-178-64">
            <a:extLst>
              <a:ext uri="{FF2B5EF4-FFF2-40B4-BE49-F238E27FC236}">
                <ns2:creationId id="{FE80B309-8765-4F57-BFC1-9463B78315A0}"/>
              </a:ext>
            </a:extLst>
          </p:cNvPr>
          <p:cNvSpPr>
            <a:spLocks noGrp="1"/>
          </p:cNvSpPr>
          <p:nvPr/>
        </p:nvSpPr>
        <p:spPr>
          <a:xfrm>
            <a:off x="609600" y="1619250"/>
            <a:ext cx="10972800" cy="1319022"/>
          </a:xfrm>
          <a:prstGeom prst="rect">
            <a:avLst/>
          </a:prstGeom>
          <a:noFill/>
          <a:ln w="0">
            <a:noFill/>
          </a:ln>
        </p:spPr>
        <p:txBody>
          <a:bodyPr wrap="none" lIns="0" tIns="0" rIns="0" bIns="0" anchor="t">
            <a:noAutofit/>
          </a:bodyPr>
          <a:lstStyle/>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n개 원소(n≥2)가 있는 고정 배열에서 값을 찾는 요청을 m번(m≥1) 처리한다.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처음 한 번만 배열을 정렬하며, 정렬 시간은 Θ(n log n)이라고 주어진다.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이후 각 요청은 이진 탐색으로 처리한다. 배열은 중간에 바뀌지 않는다.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정렬과 m번 탐색을 합친 최악의 총 시간 복잡도는?</a:t>
            </a:r>
          </a:p>
        </p:txBody>
      </p:sp>
      <p:sp>
        <p:nvSpPr>
          <p:cNvPr id="9" name="">
            <a:extLst>
              <a:ext uri="{FF2B5EF4-FFF2-40B4-BE49-F238E27FC236}">
                <ns2:creationId id="{3E9233EF-223F-4FAF-B262-43277678B8D0}"/>
              </a:ext>
            </a:extLst>
          </p:cNvPr>
          <p:cNvSpPr>
            <a:spLocks noGrp="1"/>
          </p:cNvSpPr>
          <p:nvPr/>
        </p:nvSpPr>
        <p:spPr>
          <a:xfrm>
            <a:off x="609600" y="3052572"/>
            <a:ext cx="10972800" cy="498729"/>
          </a:xfrm>
          <a:prstGeom prst="rect">
            <a:avLst/>
          </a:prstGeom>
          <a:solidFill>
            <a:srgbClr val="171717"/>
          </a:solidFill>
          <a:ln w="0">
            <a:noFill/>
          </a:ln>
        </p:spPr>
      </p:sp>
      <p:sp>
        <p:nvSpPr>
          <p:cNvPr id="10" name="text-245.6-92">
            <a:extLst>
              <a:ext uri="{FF2B5EF4-FFF2-40B4-BE49-F238E27FC236}">
                <ns2:creationId id="{C1E3DF70-6728-4CA9-BC0A-6CDED8081B42}"/>
              </a:ext>
            </a:extLst>
          </p:cNvPr>
          <p:cNvSpPr>
            <a:spLocks noGrp="1"/>
          </p:cNvSpPr>
          <p:nvPr/>
        </p:nvSpPr>
        <p:spPr>
          <a:xfrm>
            <a:off x="876300" y="3128772"/>
            <a:ext cx="10439400" cy="346329"/>
          </a:xfrm>
          <a:prstGeom prst="rect">
            <a:avLst/>
          </a:prstGeom>
          <a:noFill/>
          <a:ln w="0">
            <a:noFill/>
          </a:ln>
        </p:spPr>
        <p:txBody>
          <a:bodyPr wrap="none" lIns="0" tIns="0" rIns="0" bIns="0" anchor="t">
            <a:noAutofit/>
          </a:bodyPr>
          <a:lstStyle/>
          <a:p>
            <a:pPr algn="l">
              <a:lnSpc>
                <a:spcPct val="108000"/>
              </a:lnSpc>
              <a:spcBef>
                <a:spcPts val="0"/>
              </a:spcBef>
              <a:spcAft>
                <a:spcPts val="0"/>
              </a:spcAft>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4번 Θ(n log n+m log n)</a:t>
            </a:r>
          </a:p>
        </p:txBody>
      </p:sp>
      <p:sp>
        <p:nvSpPr>
          <p:cNvPr id="11" name="text-324.4-64">
            <a:extLst>
              <a:ext uri="{FF2B5EF4-FFF2-40B4-BE49-F238E27FC236}">
                <ns2:creationId id="{B3E07E1C-95D1-489D-9DEA-4F2E9C3C8188}"/>
              </a:ext>
            </a:extLst>
          </p:cNvPr>
          <p:cNvSpPr>
            <a:spLocks noGrp="1"/>
          </p:cNvSpPr>
          <p:nvPr/>
        </p:nvSpPr>
        <p:spPr>
          <a:xfrm>
            <a:off x="609600" y="364655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E1B62F0A-826F-48DB-BAE3-D968F9A5C4FC}"/>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A69ACE23-6850-41BE-920C-2B6722A3D383}"/>
              </a:ext>
            </a:extLst>
          </p:cNvPr>
          <p:cNvSpPr>
            <a:spLocks noGrp="1"/>
          </p:cNvSpPr>
          <p:nvPr/>
        </p:nvSpPr>
        <p:spPr>
          <a:xfrm>
            <a:off x="609600" y="4023741"/>
            <a:ext cx="10972800" cy="635508"/>
          </a:xfrm>
          <a:prstGeom prst="rect">
            <a:avLst/>
          </a:prstGeom>
          <a:noFill/>
          <a:ln w="0">
            <a:noFill/>
          </a:ln>
        </p:spPr>
        <p:txBody>
          <a:bodyPr wrap="none" lIns="0" tIns="0" rIns="0" bIns="0" anchor="t">
            <a:noAutofit/>
          </a:bodyPr>
          <a:lstStyle/>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최악 비용 기준: 정렬 1회의 Θ(n log n)과 탐색 m회의 Θ(m log n)을 더한다.</a:t>
            </a:r>
          </a:p>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검색할 때마다 다시 정렬하지 않는다.</a:t>
            </a:r>
          </a:p>
        </p:txBody>
      </p:sp>
    </p:spTree>
    <p:extLst>
      <p:ext uri="{BB962C8B-B14F-4D97-AF65-F5344CB8AC3E}">
        <ns3:creationId val="462685519"/>
      </p:ext>
    </p:extLst>
  </p:cSld>
</p:sld>
</file>

<file path=ppt/slides/slide4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CEE0F742-0CF6-4337-BE9C-FA603AEDA02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2C1A8AA2-E35E-4BEE-BA43-4DA1E1CF257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FA98F4C-9CF2-45E2-8D41-20062FE89E6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21  </a:t>
            </a:r>
          </a:p>
        </p:txBody>
      </p:sp>
      <p:sp>
        <p:nvSpPr>
          <p:cNvPr id="4" name="">
            <a:extLst>
              <a:ext uri="{FF2B5EF4-FFF2-40B4-BE49-F238E27FC236}">
                <ns2:creationId id="{AC04C03F-759E-4FA8-B926-FBE5EB2F91A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D19E7F5-DAA8-4A74-9D6E-D258F613B53D}"/>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CD90854-849C-4EC8-BE37-1CA5034098E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AC2CBBB-84D5-4253-9B06-4DACBA35AEF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041</a:t>
            </a:r>
          </a:p>
        </p:txBody>
      </p:sp>
      <p:sp>
        <p:nvSpPr>
          <p:cNvPr id="8" name="text-178-64">
            <a:extLst>
              <a:ext uri="{FF2B5EF4-FFF2-40B4-BE49-F238E27FC236}">
                <ns2:creationId id="{A1E4D08B-C873-459E-A021-29D3A0A91C92}"/>
              </a:ext>
            </a:extLst>
          </p:cNvPr>
          <p:cNvSpPr>
            <a:spLocks noGrp="1"/>
          </p:cNvSpPr>
          <p:nvPr/>
        </p:nvSpPr>
        <p:spPr>
          <a:xfrm>
            <a:off x="609600" y="16954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a≥0, b&gt;0인 정수에서 gcd는 최대공약수, a mod b는 a를 b로 나눈 나머지이다. 유클리드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알고리즘의 gcd(a,b)=gcd(b,a mod b)가 성립하는 이유는?</a:t>
            </a:r>
          </a:p>
        </p:txBody>
      </p:sp>
      <p:sp>
        <p:nvSpPr>
          <p:cNvPr id="9" name="text-316-72">
            <a:extLst>
              <a:ext uri="{FF2B5EF4-FFF2-40B4-BE49-F238E27FC236}">
                <ns2:creationId id="{6E56588A-60A7-45F4-82FF-65A7923C323E}"/>
              </a:ext>
            </a:extLst>
          </p:cNvPr>
          <p:cNvSpPr>
            <a:spLocks noGrp="1"/>
          </p:cNvSpPr>
          <p:nvPr/>
        </p:nvSpPr>
        <p:spPr>
          <a:xfrm>
            <a:off x="685800" y="25092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a:ext uri="{FF2B5EF4-FFF2-40B4-BE49-F238E27FC236}">
                <ns2:creationId id="{1CCFBFC0-5A00-4030-8713-EC65AF301850}"/>
              </a:ext>
            </a:extLst>
          </p:cNvPr>
          <p:cNvSpPr>
            <a:spLocks noGrp="1"/>
          </p:cNvSpPr>
          <p:nvPr/>
        </p:nvSpPr>
        <p:spPr>
          <a:xfrm>
            <a:off x="1181100" y="25092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두 수의 합이 보존되기 때문이다</a:t>
            </a:r>
          </a:p>
        </p:txBody>
      </p:sp>
      <p:sp>
        <p:nvSpPr>
          <p:cNvPr id="11" name="">
            <a:extLst>
              <a:ext uri="{FF2B5EF4-FFF2-40B4-BE49-F238E27FC236}">
                <ns2:creationId id="{8EC4FAA9-0828-4AFF-941F-86071A06EC57}"/>
              </a:ext>
            </a:extLst>
          </p:cNvPr>
          <p:cNvSpPr>
            <a:spLocks noGrp="1"/>
          </p:cNvSpPr>
          <p:nvPr/>
        </p:nvSpPr>
        <p:spPr>
          <a:xfrm>
            <a:off x="1181100" y="5290566"/>
            <a:ext cx="10401300" cy="9525"/>
          </a:xfrm>
          <a:prstGeom prst="rect">
            <a:avLst/>
          </a:prstGeom>
          <a:solidFill>
            <a:srgbClr val="E7E7E7"/>
          </a:solidFill>
          <a:ln w="0">
            <a:noFill/>
          </a:ln>
        </p:spPr>
      </p:sp>
      <p:sp>
        <p:nvSpPr>
          <p:cNvPr id="12" name="text-382-72">
            <a:extLst>
              <a:ext uri="{FF2B5EF4-FFF2-40B4-BE49-F238E27FC236}">
                <ns2:creationId id="{02B306A3-C24F-4EB7-85E4-E6F6CA1BB63A}"/>
              </a:ext>
            </a:extLst>
          </p:cNvPr>
          <p:cNvSpPr>
            <a:spLocks noGrp="1"/>
          </p:cNvSpPr>
          <p:nvPr/>
        </p:nvSpPr>
        <p:spPr>
          <a:xfrm>
            <a:off x="685800" y="30426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a:ext uri="{FF2B5EF4-FFF2-40B4-BE49-F238E27FC236}">
                <ns2:creationId id="{ADE73ACE-C9A9-4EDB-83A0-67CADF7C5FCF}"/>
              </a:ext>
            </a:extLst>
          </p:cNvPr>
          <p:cNvSpPr>
            <a:spLocks noGrp="1"/>
          </p:cNvSpPr>
          <p:nvPr/>
        </p:nvSpPr>
        <p:spPr>
          <a:xfrm>
            <a:off x="1181100" y="30426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두 쌍의 공약수 집합이 같다</a:t>
            </a:r>
          </a:p>
        </p:txBody>
      </p:sp>
      <p:sp>
        <p:nvSpPr>
          <p:cNvPr id="14" name="">
            <a:extLst>
              <a:ext uri="{FF2B5EF4-FFF2-40B4-BE49-F238E27FC236}">
                <ns2:creationId id="{A9848E40-BA5D-406D-9630-F5EB8C7C68B1}"/>
              </a:ext>
            </a:extLst>
          </p:cNvPr>
          <p:cNvSpPr>
            <a:spLocks noGrp="1"/>
          </p:cNvSpPr>
          <p:nvPr/>
        </p:nvSpPr>
        <p:spPr>
          <a:xfrm>
            <a:off x="1181100" y="5290566"/>
            <a:ext cx="10401300" cy="9525"/>
          </a:xfrm>
          <a:prstGeom prst="rect">
            <a:avLst/>
          </a:prstGeom>
          <a:solidFill>
            <a:srgbClr val="E7E7E7"/>
          </a:solidFill>
          <a:ln w="0">
            <a:noFill/>
          </a:ln>
        </p:spPr>
      </p:sp>
      <p:sp>
        <p:nvSpPr>
          <p:cNvPr id="15" name="text-448-72">
            <a:extLst>
              <a:ext uri="{FF2B5EF4-FFF2-40B4-BE49-F238E27FC236}">
                <ns2:creationId id="{70FF2E1D-6723-40B4-A7FD-E5BFDC9F2220}"/>
              </a:ext>
            </a:extLst>
          </p:cNvPr>
          <p:cNvSpPr>
            <a:spLocks noGrp="1"/>
          </p:cNvSpPr>
          <p:nvPr/>
        </p:nvSpPr>
        <p:spPr>
          <a:xfrm>
            <a:off x="685800" y="35760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a:ext uri="{FF2B5EF4-FFF2-40B4-BE49-F238E27FC236}">
                <ns2:creationId id="{623D260D-4FC8-413F-ABAD-61AD8DA70337}"/>
              </a:ext>
            </a:extLst>
          </p:cNvPr>
          <p:cNvSpPr>
            <a:spLocks noGrp="1"/>
          </p:cNvSpPr>
          <p:nvPr/>
        </p:nvSpPr>
        <p:spPr>
          <a:xfrm>
            <a:off x="1181100" y="35760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나머지는 항상 1이기 때문이다</a:t>
            </a:r>
          </a:p>
        </p:txBody>
      </p:sp>
      <p:sp>
        <p:nvSpPr>
          <p:cNvPr id="17" name="">
            <a:extLst>
              <a:ext uri="{FF2B5EF4-FFF2-40B4-BE49-F238E27FC236}">
                <ns2:creationId id="{3266106B-DFD3-4F5F-9702-D9B11107DD95}"/>
              </a:ext>
            </a:extLst>
          </p:cNvPr>
          <p:cNvSpPr>
            <a:spLocks noGrp="1"/>
          </p:cNvSpPr>
          <p:nvPr/>
        </p:nvSpPr>
        <p:spPr>
          <a:xfrm>
            <a:off x="1181100" y="5290566"/>
            <a:ext cx="10401300" cy="9525"/>
          </a:xfrm>
          <a:prstGeom prst="rect">
            <a:avLst/>
          </a:prstGeom>
          <a:solidFill>
            <a:srgbClr val="E7E7E7"/>
          </a:solidFill>
          <a:ln w="0">
            <a:noFill/>
          </a:ln>
        </p:spPr>
      </p:sp>
      <p:sp>
        <p:nvSpPr>
          <p:cNvPr id="18" name="text-514-72">
            <a:extLst>
              <a:ext uri="{FF2B5EF4-FFF2-40B4-BE49-F238E27FC236}">
                <ns2:creationId id="{B5AEFDE3-BDA7-4D41-B7A6-CFCFFE65DD8F}"/>
              </a:ext>
            </a:extLst>
          </p:cNvPr>
          <p:cNvSpPr>
            <a:spLocks noGrp="1"/>
          </p:cNvSpPr>
          <p:nvPr/>
        </p:nvSpPr>
        <p:spPr>
          <a:xfrm>
            <a:off x="685800" y="41094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a:ext uri="{FF2B5EF4-FFF2-40B4-BE49-F238E27FC236}">
                <ns2:creationId id="{42543EC9-318D-4A63-BEB2-3883994DD469}"/>
              </a:ext>
            </a:extLst>
          </p:cNvPr>
          <p:cNvSpPr>
            <a:spLocks noGrp="1"/>
          </p:cNvSpPr>
          <p:nvPr/>
        </p:nvSpPr>
        <p:spPr>
          <a:xfrm>
            <a:off x="1181100" y="41094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큰 수가 매번 정확히 절반이 되기 때문이다</a:t>
            </a:r>
          </a:p>
        </p:txBody>
      </p:sp>
      <p:sp>
        <p:nvSpPr>
          <p:cNvPr id="20" name="">
            <a:extLst>
              <a:ext uri="{FF2B5EF4-FFF2-40B4-BE49-F238E27FC236}">
                <ns2:creationId id="{E634F41A-D197-454D-9A84-DEFC3D985E1A}"/>
              </a:ext>
            </a:extLst>
          </p:cNvPr>
          <p:cNvSpPr>
            <a:spLocks noGrp="1"/>
          </p:cNvSpPr>
          <p:nvPr/>
        </p:nvSpPr>
        <p:spPr>
          <a:xfrm>
            <a:off x="1181100" y="5438775"/>
            <a:ext cx="10401300" cy="9525"/>
          </a:xfrm>
          <a:prstGeom prst="rect">
            <a:avLst/>
          </a:prstGeom>
          <a:solidFill>
            <a:srgbClr val="E7E7E7"/>
          </a:solidFill>
          <a:ln w="0">
            <a:noFill/>
          </a:ln>
        </p:spPr>
      </p:sp>
      <p:sp>
        <p:nvSpPr>
          <p:cNvPr id="21" name="text-580-72">
            <a:extLst>
              <a:ext uri="{FF2B5EF4-FFF2-40B4-BE49-F238E27FC236}">
                <ns2:creationId id="{2DD5ADA6-210B-4C61-B276-8784C42D8132}"/>
              </a:ext>
            </a:extLst>
          </p:cNvPr>
          <p:cNvSpPr>
            <a:spLocks noGrp="1"/>
          </p:cNvSpPr>
          <p:nvPr/>
        </p:nvSpPr>
        <p:spPr>
          <a:xfrm>
            <a:off x="685800" y="46428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a:ext uri="{FF2B5EF4-FFF2-40B4-BE49-F238E27FC236}">
                <ns2:creationId id="{A520A900-F5D5-45D7-BED5-038274BBCBC8}"/>
              </a:ext>
            </a:extLst>
          </p:cNvPr>
          <p:cNvSpPr>
            <a:spLocks noGrp="1"/>
          </p:cNvSpPr>
          <p:nvPr/>
        </p:nvSpPr>
        <p:spPr>
          <a:xfrm>
            <a:off x="1181100" y="46428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두 수의 곱이 보존되기 때문이다</a:t>
            </a:r>
          </a:p>
        </p:txBody>
      </p:sp>
    </p:spTree>
    <p:extLst>
      <p:ext uri="{BB962C8B-B14F-4D97-AF65-F5344CB8AC3E}">
        <ns3:creationId val="462685519"/>
      </p:ext>
    </p:extLst>
  </p:cSld>
</p:sld>
</file>

<file path=ppt/slides/slide4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777A1E21-78DD-491C-AE79-644D842C4D6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704B9AA9-24A3-49BF-AC85-8F57E6F8B01E}"/>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FD2B2543-3C6D-4486-B1BA-C93BCF22165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21  정답과 해설</a:t>
            </a:r>
          </a:p>
        </p:txBody>
      </p:sp>
      <p:sp>
        <p:nvSpPr>
          <p:cNvPr id="4" name="">
            <a:extLst>
              <a:ext uri="{FF2B5EF4-FFF2-40B4-BE49-F238E27FC236}">
                <ns2:creationId id="{60638445-19DD-4302-8AE6-EEE9E585A25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F2CDD77-EEE5-45C6-8F09-A80CCDA1A8F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05D88D7-D227-499B-88CB-74413F3FA88F}"/>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934B66C-C6F3-428B-A222-7A088A0E844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042</a:t>
            </a:r>
          </a:p>
        </p:txBody>
      </p:sp>
      <p:sp>
        <p:nvSpPr>
          <p:cNvPr id="8" name="text-178-64">
            <a:extLst>
              <a:ext uri="{FF2B5EF4-FFF2-40B4-BE49-F238E27FC236}">
                <ns2:creationId id="{9CDDF6AD-4DB6-4308-9680-9E9C41A6B6BF}"/>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a≥0, b&gt;0인 정수에서 gcd는 최대공약수, a mod b는 a를 b로 나눈 나머지이다. 유클리드 알고리즘의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gcd(a,b)=gcd(b,a mod b)가 성립하는 이유는?</a:t>
            </a:r>
          </a:p>
        </p:txBody>
      </p:sp>
      <p:sp>
        <p:nvSpPr>
          <p:cNvPr id="9" name="">
            <a:extLst>
              <a:ext uri="{FF2B5EF4-FFF2-40B4-BE49-F238E27FC236}">
                <ns2:creationId id="{94F5322F-DF0B-44C1-B3AD-C489B2E1EFB4}"/>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5B7941B5-5917-44A8-8722-8D5CF025A6AD}"/>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2번 두 쌍의 공약수 집합이 같다</a:t>
            </a:r>
          </a:p>
        </p:txBody>
      </p:sp>
      <p:sp>
        <p:nvSpPr>
          <p:cNvPr id="11" name="text-324.4-64">
            <a:extLst>
              <a:ext uri="{FF2B5EF4-FFF2-40B4-BE49-F238E27FC236}">
                <ns2:creationId id="{2C105894-EC33-4B63-86DD-BF06F5E6CDF7}"/>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B40B7C6E-60AF-4C02-8641-2018F34B58AD}"/>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F077DBB2-0E95-4D9C-BC97-4E659FF131B6}"/>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a=qb+r 관계를 이용하면 a,b의 공약수와 b,r의 공약수가 서로 일치한다.</a:t>
            </a:r>
          </a:p>
        </p:txBody>
      </p:sp>
    </p:spTree>
    <p:extLst>
      <p:ext uri="{BB962C8B-B14F-4D97-AF65-F5344CB8AC3E}">
        <ns3:creationId val="462685519"/>
      </p:ext>
    </p:extLst>
  </p:cSld>
</p:sld>
</file>

<file path=ppt/slides/slide4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A6D17E59-EEFD-432E-9E77-BDFAF558A20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0B4E7A7B-0B26-4FB9-825B-EA60F95921BF}"/>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A88D4D1-A0D5-4CAC-A467-706F9DF773DD}"/>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22  </a:t>
            </a:r>
          </a:p>
        </p:txBody>
      </p:sp>
      <p:sp>
        <p:nvSpPr>
          <p:cNvPr id="4" name="">
            <a:extLst>
              <a:ext uri="{FF2B5EF4-FFF2-40B4-BE49-F238E27FC236}">
                <ns2:creationId id="{DC9E5B46-451E-4270-8537-7B77612F218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367387B-41AF-401F-ADF1-3F612A0D63F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C435A4D-F0EF-43EA-873B-4E1646FA0AD0}"/>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7773EE64-07D1-462E-B3ED-AAFFEC90678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043</a:t>
            </a:r>
          </a:p>
        </p:txBody>
      </p:sp>
      <p:sp>
        <p:nvSpPr>
          <p:cNvPr id="8" name="text-178-64">
            <a:extLst>
              <a:ext uri="{FF2B5EF4-FFF2-40B4-BE49-F238E27FC236}">
                <ns2:creationId id="{9D9D39E3-45A8-4A36-99FC-1DBCF1E7E591}"/>
              </a:ext>
            </a:extLst>
          </p:cNvPr>
          <p:cNvSpPr>
            <a:spLocks noGrp="1"/>
          </p:cNvSpPr>
          <p:nvPr/>
        </p:nvSpPr>
        <p:spPr>
          <a:xfrm>
            <a:off x="609600" y="1619250"/>
            <a:ext cx="10972800" cy="793242"/>
          </a:xfrm>
          <a:prstGeom prst="rect">
            <a:avLst/>
          </a:prstGeom>
          <a:noFill/>
          <a:ln w="0">
            <a:noFill/>
          </a:ln>
        </p:spPr>
        <p:txBody>
          <a:bodyPr wrap="none" lIns="0" tIns="0" rIns="0" bIns="0" anchor="t">
            <a:noAutofit/>
          </a:bodyPr>
          <a:lstStyle/>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gcd(a,b)는 두 정수 a,b의 최대공약수를 반환하는 함수이다. a는 0 이상의 정수이다. 두 값이</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모두 0인 경우에만 gcd(0,0)=0으로 약속한다. gcd(a,0)의 반환값은?</a:t>
            </a:r>
          </a:p>
        </p:txBody>
      </p:sp>
      <p:sp>
        <p:nvSpPr>
          <p:cNvPr id="9" name="text-316-72">
            <a:extLst>
              <a:ext uri="{FF2B5EF4-FFF2-40B4-BE49-F238E27FC236}">
                <ns2:creationId id="{946D02E6-A579-4724-AC41-F21563896038}"/>
              </a:ext>
            </a:extLst>
          </p:cNvPr>
          <p:cNvSpPr>
            <a:spLocks noGrp="1"/>
          </p:cNvSpPr>
          <p:nvPr/>
        </p:nvSpPr>
        <p:spPr>
          <a:xfrm>
            <a:off x="685800" y="25458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1E8BAC7B-C10E-47F8-9946-07615FE402C8}"/>
              </a:ext>
            </a:extLst>
          </p:cNvPr>
          <p:cNvSpPr>
            <a:spLocks noGrp="1"/>
          </p:cNvSpPr>
          <p:nvPr/>
        </p:nvSpPr>
        <p:spPr>
          <a:xfrm>
            <a:off x="1181100" y="25458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a−1</a:t>
            </a:r>
          </a:p>
        </p:txBody>
      </p:sp>
      <p:sp>
        <p:nvSpPr>
          <p:cNvPr id="11" name="">
            <a:extLst>
              <a:ext uri="{FF2B5EF4-FFF2-40B4-BE49-F238E27FC236}">
                <ns2:creationId id="{5EDA4B6E-7ACE-4169-AD99-DCB32FBA8A49}"/>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A9667A86-F2D9-4253-9E0E-1ACA31C07E29}"/>
              </a:ext>
            </a:extLst>
          </p:cNvPr>
          <p:cNvSpPr>
            <a:spLocks noGrp="1"/>
          </p:cNvSpPr>
          <p:nvPr/>
        </p:nvSpPr>
        <p:spPr>
          <a:xfrm>
            <a:off x="685800" y="29946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9B169CD3-7F0A-4AB3-A71A-DB9608C4967C}"/>
              </a:ext>
            </a:extLst>
          </p:cNvPr>
          <p:cNvSpPr>
            <a:spLocks noGrp="1"/>
          </p:cNvSpPr>
          <p:nvPr/>
        </p:nvSpPr>
        <p:spPr>
          <a:xfrm>
            <a:off x="1181100" y="29946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1만 가능</a:t>
            </a:r>
          </a:p>
        </p:txBody>
      </p:sp>
      <p:sp>
        <p:nvSpPr>
          <p:cNvPr id="14" name="">
            <a:extLst>
              <a:ext uri="{FF2B5EF4-FFF2-40B4-BE49-F238E27FC236}">
                <ns2:creationId id="{99208004-C358-47DB-B23E-2676B7EE75A5}"/>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636B2A6E-BB51-4F30-B10F-CA55D5F95D56}"/>
              </a:ext>
            </a:extLst>
          </p:cNvPr>
          <p:cNvSpPr>
            <a:spLocks noGrp="1"/>
          </p:cNvSpPr>
          <p:nvPr/>
        </p:nvSpPr>
        <p:spPr>
          <a:xfrm>
            <a:off x="685800" y="344347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46CFD1B6-DB04-4E52-B9E1-D5E5E801DA10}"/>
              </a:ext>
            </a:extLst>
          </p:cNvPr>
          <p:cNvSpPr>
            <a:spLocks noGrp="1"/>
          </p:cNvSpPr>
          <p:nvPr/>
        </p:nvSpPr>
        <p:spPr>
          <a:xfrm>
            <a:off x="1181100" y="344347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정의할 수 없다</a:t>
            </a:r>
          </a:p>
        </p:txBody>
      </p:sp>
      <p:sp>
        <p:nvSpPr>
          <p:cNvPr id="17" name="">
            <a:extLst>
              <a:ext uri="{FF2B5EF4-FFF2-40B4-BE49-F238E27FC236}">
                <ns2:creationId id="{7943ABFB-FDC5-4FF8-8D11-10A7866B7078}"/>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1CBCDB14-6AA4-40CD-9359-01CF6EF4C7BD}"/>
              </a:ext>
            </a:extLst>
          </p:cNvPr>
          <p:cNvSpPr>
            <a:spLocks noGrp="1"/>
          </p:cNvSpPr>
          <p:nvPr/>
        </p:nvSpPr>
        <p:spPr>
          <a:xfrm>
            <a:off x="685800" y="389229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6065F3C0-A6CE-4517-99E3-BA1196DD922B}"/>
              </a:ext>
            </a:extLst>
          </p:cNvPr>
          <p:cNvSpPr>
            <a:spLocks noGrp="1"/>
          </p:cNvSpPr>
          <p:nvPr/>
        </p:nvSpPr>
        <p:spPr>
          <a:xfrm>
            <a:off x="1181100" y="389229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0만 가능</a:t>
            </a:r>
          </a:p>
        </p:txBody>
      </p:sp>
      <p:sp>
        <p:nvSpPr>
          <p:cNvPr id="20" name="">
            <a:extLst>
              <a:ext uri="{FF2B5EF4-FFF2-40B4-BE49-F238E27FC236}">
                <ns2:creationId id="{BE630378-92F7-4716-9DEE-EB855CF06644}"/>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84928067-4128-4865-8D22-4C40A3608FD7}"/>
              </a:ext>
            </a:extLst>
          </p:cNvPr>
          <p:cNvSpPr>
            <a:spLocks noGrp="1"/>
          </p:cNvSpPr>
          <p:nvPr/>
        </p:nvSpPr>
        <p:spPr>
          <a:xfrm>
            <a:off x="685800" y="434111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7DC8A4D3-4919-400B-82D4-FAB5A2C86D2A}"/>
              </a:ext>
            </a:extLst>
          </p:cNvPr>
          <p:cNvSpPr>
            <a:spLocks noGrp="1"/>
          </p:cNvSpPr>
          <p:nvPr/>
        </p:nvSpPr>
        <p:spPr>
          <a:xfrm>
            <a:off x="1181100" y="434111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a</a:t>
            </a:r>
          </a:p>
        </p:txBody>
      </p:sp>
    </p:spTree>
    <p:extLst>
      <p:ext uri="{BB962C8B-B14F-4D97-AF65-F5344CB8AC3E}">
        <ns3:creationId val="462685519"/>
      </p:ext>
    </p:extLst>
  </p:cSld>
</p:sld>
</file>

<file path=ppt/slides/slide4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6F689BB2-41FE-4F4D-974A-35ED3BDE3697}"/>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653BD416-BD4D-44E4-9A81-BF36B3F471A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6F3FF0A-B928-4858-9479-2F1E293E9AE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22  정답과 해설</a:t>
            </a:r>
          </a:p>
        </p:txBody>
      </p:sp>
      <p:sp>
        <p:nvSpPr>
          <p:cNvPr id="4" name="">
            <a:extLst>
              <a:ext uri="{FF2B5EF4-FFF2-40B4-BE49-F238E27FC236}">
                <ns2:creationId id="{17D824FD-3B28-4D7D-81A5-48CA4A9C033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EED0DEC-16CE-4879-B6CD-6C1C56919674}"/>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59B0385-98BB-40A2-91C6-43975742606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149900F-D968-41D5-A688-9AE53A32A88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044</a:t>
            </a:r>
          </a:p>
        </p:txBody>
      </p:sp>
      <p:sp>
        <p:nvSpPr>
          <p:cNvPr id="8" name="text-178-64">
            <a:extLst>
              <a:ext uri="{FF2B5EF4-FFF2-40B4-BE49-F238E27FC236}">
                <ns2:creationId id="{916A86C5-117E-4343-8175-7C2455C2BE10}"/>
              </a:ext>
            </a:extLst>
          </p:cNvPr>
          <p:cNvSpPr>
            <a:spLocks noGrp="1"/>
          </p:cNvSpPr>
          <p:nvPr/>
        </p:nvSpPr>
        <p:spPr>
          <a:xfrm>
            <a:off x="609600" y="1619250"/>
            <a:ext cx="10972800" cy="688086"/>
          </a:xfrm>
          <a:prstGeom prst="rect">
            <a:avLst/>
          </a:prstGeom>
          <a:noFill/>
          <a:ln w="0">
            <a:noFill/>
          </a:ln>
        </p:spPr>
        <p:txBody>
          <a:bodyPr wrap="none" lIns="0" tIns="0" rIns="0" bIns="0" anchor="t">
            <a:noAutofit/>
          </a:bodyPr>
          <a:lstStyle/>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gcd(a,b)는 두 정수 a,b의 최대공약수를 반환하는 함수이다. a는 0 이상의 정수이다. 두 값이 모두 0인</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경우에만 gcd(0,0)=0으로 약속한다. gcd(a,0)의 반환값은?</a:t>
            </a:r>
          </a:p>
        </p:txBody>
      </p:sp>
      <p:sp>
        <p:nvSpPr>
          <p:cNvPr id="9" name="">
            <a:extLst>
              <a:ext uri="{FF2B5EF4-FFF2-40B4-BE49-F238E27FC236}">
                <ns2:creationId id="{D080BBC0-30A8-4AB4-BFEE-D4423DD17B9D}"/>
              </a:ext>
            </a:extLst>
          </p:cNvPr>
          <p:cNvSpPr>
            <a:spLocks noGrp="1"/>
          </p:cNvSpPr>
          <p:nvPr/>
        </p:nvSpPr>
        <p:spPr>
          <a:xfrm>
            <a:off x="609600" y="2421636"/>
            <a:ext cx="10972800" cy="498729"/>
          </a:xfrm>
          <a:prstGeom prst="rect">
            <a:avLst/>
          </a:prstGeom>
          <a:solidFill>
            <a:srgbClr val="171717"/>
          </a:solidFill>
          <a:ln w="0">
            <a:noFill/>
          </a:ln>
        </p:spPr>
      </p:sp>
      <p:sp>
        <p:nvSpPr>
          <p:cNvPr id="10" name="text-245.6-92">
            <a:extLst>
              <a:ext uri="{FF2B5EF4-FFF2-40B4-BE49-F238E27FC236}">
                <ns2:creationId id="{FCA42B84-F78E-4698-9E17-FD90EBEBED23}"/>
              </a:ext>
            </a:extLst>
          </p:cNvPr>
          <p:cNvSpPr>
            <a:spLocks noGrp="1"/>
          </p:cNvSpPr>
          <p:nvPr/>
        </p:nvSpPr>
        <p:spPr>
          <a:xfrm>
            <a:off x="876300" y="2497836"/>
            <a:ext cx="10439400" cy="346329"/>
          </a:xfrm>
          <a:prstGeom prst="rect">
            <a:avLst/>
          </a:prstGeom>
          <a:noFill/>
          <a:ln w="0">
            <a:noFill/>
          </a:ln>
        </p:spPr>
        <p:txBody>
          <a:bodyPr wrap="none" lIns="0" tIns="0" rIns="0" bIns="0" anchor="t">
            <a:noAutofit/>
          </a:bodyPr>
          <a:lstStyle/>
          <a:p>
            <a:pPr algn="l">
              <a:lnSpc>
                <a:spcPct val="108000"/>
              </a:lnSpc>
              <a:spcBef>
                <a:spcPts val="0"/>
              </a:spcBef>
              <a:spcAft>
                <a:spcPts val="0"/>
              </a:spcAft>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5번 a</a:t>
            </a:r>
          </a:p>
        </p:txBody>
      </p:sp>
      <p:sp>
        <p:nvSpPr>
          <p:cNvPr id="11" name="text-324.4-64">
            <a:extLst>
              <a:ext uri="{FF2B5EF4-FFF2-40B4-BE49-F238E27FC236}">
                <ns2:creationId id="{1578EB9C-34FE-4815-A4C3-5FD8B8ABCCC2}"/>
              </a:ext>
            </a:extLst>
          </p:cNvPr>
          <p:cNvSpPr>
            <a:spLocks noGrp="1"/>
          </p:cNvSpPr>
          <p:nvPr/>
        </p:nvSpPr>
        <p:spPr>
          <a:xfrm>
            <a:off x="609600" y="3015615"/>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FAE33CFE-A4C4-4B3D-8A22-866B3C69CE12}"/>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43E94293-0CC1-4BB5-9221-A1BE1C208628}"/>
              </a:ext>
            </a:extLst>
          </p:cNvPr>
          <p:cNvSpPr>
            <a:spLocks noGrp="1"/>
          </p:cNvSpPr>
          <p:nvPr/>
        </p:nvSpPr>
        <p:spPr>
          <a:xfrm>
            <a:off x="609600" y="3392805"/>
            <a:ext cx="10972800" cy="635508"/>
          </a:xfrm>
          <a:prstGeom prst="rect">
            <a:avLst/>
          </a:prstGeom>
          <a:noFill/>
          <a:ln w="0">
            <a:noFill/>
          </a:ln>
        </p:spPr>
        <p:txBody>
          <a:bodyPr wrap="none" lIns="0" tIns="0" rIns="0" bIns="0" anchor="t">
            <a:noAutofit/>
          </a:bodyPr>
          <a:lstStyle/>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a&gt;0이면 gcd(a,0)=a이다.</a:t>
            </a:r>
          </a:p>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두 수가 모두 0인 경우에는 이 문제의 정의에 따라 0을 반환한다.</a:t>
            </a:r>
          </a:p>
        </p:txBody>
      </p:sp>
    </p:spTree>
    <p:extLst>
      <p:ext uri="{BB962C8B-B14F-4D97-AF65-F5344CB8AC3E}">
        <ns3:creationId val="462685519"/>
      </p:ext>
    </p:extLst>
  </p:cSld>
</p:sld>
</file>

<file path=ppt/slides/slide4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8C7AF4AE-BCD0-48F7-91E1-C792C1366C7F}"/>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25121F6E-DB79-4F32-9127-6080DAFD67A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CABF7BD-ECAC-4DD4-A719-6501C37985C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23  </a:t>
            </a:r>
          </a:p>
        </p:txBody>
      </p:sp>
      <p:sp>
        <p:nvSpPr>
          <p:cNvPr id="4" name="">
            <a:extLst>
              <a:ext uri="{FF2B5EF4-FFF2-40B4-BE49-F238E27FC236}">
                <ns2:creationId id="{50CA9CCA-63F1-414D-8D38-F2185601B07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D527BF5-6C84-41B6-B99A-D9F9C91F67C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C7E3052D-DD26-48BE-8251-D71D7DDEDD87}"/>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45B9A071-3F13-407A-AC29-1902D8471610}"/>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045</a:t>
            </a:r>
          </a:p>
        </p:txBody>
      </p:sp>
      <p:sp>
        <p:nvSpPr>
          <p:cNvPr id="8" name="text-178-64">
            <a:extLst>
              <a:ext uri="{FF2B5EF4-FFF2-40B4-BE49-F238E27FC236}">
                <ns2:creationId id="{08B39AF2-3A7C-4A9B-B3CD-A3E8E7B4CC80}"/>
              </a:ext>
            </a:extLst>
          </p:cNvPr>
          <p:cNvSpPr>
            <a:spLocks noGrp="1"/>
          </p:cNvSpPr>
          <p:nvPr/>
        </p:nvSpPr>
        <p:spPr>
          <a:xfrm>
            <a:off x="609600" y="16954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a≥0, b&gt;0인 정수에 유클리드 갱신 (a,b)←(b,a mod b)를 적용한다. mod는 나머지 연산이다.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매번 더 작은 0 이상의 정수가 되어 종료를 보장하는 값은?</a:t>
            </a:r>
          </a:p>
        </p:txBody>
      </p:sp>
      <p:sp>
        <p:nvSpPr>
          <p:cNvPr id="9" name="text-316-72">
            <a:extLst>
              <a:ext uri="{FF2B5EF4-FFF2-40B4-BE49-F238E27FC236}">
                <ns2:creationId id="{598DE789-B30A-4D96-82FD-2C3646DA0EC9}"/>
              </a:ext>
            </a:extLst>
          </p:cNvPr>
          <p:cNvSpPr>
            <a:spLocks noGrp="1"/>
          </p:cNvSpPr>
          <p:nvPr/>
        </p:nvSpPr>
        <p:spPr>
          <a:xfrm>
            <a:off x="685800" y="25092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a:ext uri="{FF2B5EF4-FFF2-40B4-BE49-F238E27FC236}">
                <ns2:creationId id="{DF287FB7-2410-48B2-AD8B-ED7D3DC45108}"/>
              </a:ext>
            </a:extLst>
          </p:cNvPr>
          <p:cNvSpPr>
            <a:spLocks noGrp="1"/>
          </p:cNvSpPr>
          <p:nvPr/>
        </p:nvSpPr>
        <p:spPr>
          <a:xfrm>
            <a:off x="1181100" y="25092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두 번째 인수 b</a:t>
            </a:r>
          </a:p>
        </p:txBody>
      </p:sp>
      <p:sp>
        <p:nvSpPr>
          <p:cNvPr id="11" name="">
            <a:extLst>
              <a:ext uri="{FF2B5EF4-FFF2-40B4-BE49-F238E27FC236}">
                <ns2:creationId id="{CDD462AA-2E89-4FBF-AA96-6E0BF4DA9221}"/>
              </a:ext>
            </a:extLst>
          </p:cNvPr>
          <p:cNvSpPr>
            <a:spLocks noGrp="1"/>
          </p:cNvSpPr>
          <p:nvPr/>
        </p:nvSpPr>
        <p:spPr>
          <a:xfrm>
            <a:off x="1181100" y="5290566"/>
            <a:ext cx="10401300" cy="9525"/>
          </a:xfrm>
          <a:prstGeom prst="rect">
            <a:avLst/>
          </a:prstGeom>
          <a:solidFill>
            <a:srgbClr val="E7E7E7"/>
          </a:solidFill>
          <a:ln w="0">
            <a:noFill/>
          </a:ln>
        </p:spPr>
      </p:sp>
      <p:sp>
        <p:nvSpPr>
          <p:cNvPr id="12" name="text-382-72">
            <a:extLst>
              <a:ext uri="{FF2B5EF4-FFF2-40B4-BE49-F238E27FC236}">
                <ns2:creationId id="{F4FA8400-5F64-4AF3-9553-2B2F39CDFAF6}"/>
              </a:ext>
            </a:extLst>
          </p:cNvPr>
          <p:cNvSpPr>
            <a:spLocks noGrp="1"/>
          </p:cNvSpPr>
          <p:nvPr/>
        </p:nvSpPr>
        <p:spPr>
          <a:xfrm>
            <a:off x="685800" y="30426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a:ext uri="{FF2B5EF4-FFF2-40B4-BE49-F238E27FC236}">
                <ns2:creationId id="{F3CE0DCA-DA91-4A18-B2AF-921D7785E10E}"/>
              </a:ext>
            </a:extLst>
          </p:cNvPr>
          <p:cNvSpPr>
            <a:spLocks noGrp="1"/>
          </p:cNvSpPr>
          <p:nvPr/>
        </p:nvSpPr>
        <p:spPr>
          <a:xfrm>
            <a:off x="1181100" y="30426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첫 번째 인수 a, 초기 순서와 무관하게 항상 감소</a:t>
            </a:r>
          </a:p>
        </p:txBody>
      </p:sp>
      <p:sp>
        <p:nvSpPr>
          <p:cNvPr id="14" name="">
            <a:extLst>
              <a:ext uri="{FF2B5EF4-FFF2-40B4-BE49-F238E27FC236}">
                <ns2:creationId id="{9FD1D354-DA99-4B41-B653-067A13536FFD}"/>
              </a:ext>
            </a:extLst>
          </p:cNvPr>
          <p:cNvSpPr>
            <a:spLocks noGrp="1"/>
          </p:cNvSpPr>
          <p:nvPr/>
        </p:nvSpPr>
        <p:spPr>
          <a:xfrm>
            <a:off x="1181100" y="5290566"/>
            <a:ext cx="10401300" cy="9525"/>
          </a:xfrm>
          <a:prstGeom prst="rect">
            <a:avLst/>
          </a:prstGeom>
          <a:solidFill>
            <a:srgbClr val="E7E7E7"/>
          </a:solidFill>
          <a:ln w="0">
            <a:noFill/>
          </a:ln>
        </p:spPr>
      </p:sp>
      <p:sp>
        <p:nvSpPr>
          <p:cNvPr id="15" name="text-448-72">
            <a:extLst>
              <a:ext uri="{FF2B5EF4-FFF2-40B4-BE49-F238E27FC236}">
                <ns2:creationId id="{CF519E5B-C08F-4FB7-88F2-BB714862A0E8}"/>
              </a:ext>
            </a:extLst>
          </p:cNvPr>
          <p:cNvSpPr>
            <a:spLocks noGrp="1"/>
          </p:cNvSpPr>
          <p:nvPr/>
        </p:nvSpPr>
        <p:spPr>
          <a:xfrm>
            <a:off x="685800" y="35760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a:ext uri="{FF2B5EF4-FFF2-40B4-BE49-F238E27FC236}">
                <ns2:creationId id="{E83E1E88-8642-42F3-9127-4875B2CC91FA}"/>
              </a:ext>
            </a:extLst>
          </p:cNvPr>
          <p:cNvSpPr>
            <a:spLocks noGrp="1"/>
          </p:cNvSpPr>
          <p:nvPr/>
        </p:nvSpPr>
        <p:spPr>
          <a:xfrm>
            <a:off x="1181100" y="35760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두 수의 공약수 개수</a:t>
            </a:r>
          </a:p>
        </p:txBody>
      </p:sp>
      <p:sp>
        <p:nvSpPr>
          <p:cNvPr id="17" name="">
            <a:extLst>
              <a:ext uri="{FF2B5EF4-FFF2-40B4-BE49-F238E27FC236}">
                <ns2:creationId id="{54CE01B5-4D15-4F18-B7EA-7A9619024C01}"/>
              </a:ext>
            </a:extLst>
          </p:cNvPr>
          <p:cNvSpPr>
            <a:spLocks noGrp="1"/>
          </p:cNvSpPr>
          <p:nvPr/>
        </p:nvSpPr>
        <p:spPr>
          <a:xfrm>
            <a:off x="1181100" y="5290566"/>
            <a:ext cx="10401300" cy="9525"/>
          </a:xfrm>
          <a:prstGeom prst="rect">
            <a:avLst/>
          </a:prstGeom>
          <a:solidFill>
            <a:srgbClr val="E7E7E7"/>
          </a:solidFill>
          <a:ln w="0">
            <a:noFill/>
          </a:ln>
        </p:spPr>
      </p:sp>
      <p:sp>
        <p:nvSpPr>
          <p:cNvPr id="18" name="text-514-72">
            <a:extLst>
              <a:ext uri="{FF2B5EF4-FFF2-40B4-BE49-F238E27FC236}">
                <ns2:creationId id="{C45DBA69-FDD7-43B0-B1D2-366D407D412C}"/>
              </a:ext>
            </a:extLst>
          </p:cNvPr>
          <p:cNvSpPr>
            <a:spLocks noGrp="1"/>
          </p:cNvSpPr>
          <p:nvPr/>
        </p:nvSpPr>
        <p:spPr>
          <a:xfrm>
            <a:off x="685800" y="41094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a:ext uri="{FF2B5EF4-FFF2-40B4-BE49-F238E27FC236}">
                <ns2:creationId id="{C6D49B6F-2238-4395-B178-CFF149994F7C}"/>
              </a:ext>
            </a:extLst>
          </p:cNvPr>
          <p:cNvSpPr>
            <a:spLocks noGrp="1"/>
          </p:cNvSpPr>
          <p:nvPr/>
        </p:nvSpPr>
        <p:spPr>
          <a:xfrm>
            <a:off x="1181100" y="41094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두 수의 최대공약수</a:t>
            </a:r>
          </a:p>
        </p:txBody>
      </p:sp>
      <p:sp>
        <p:nvSpPr>
          <p:cNvPr id="20" name="">
            <a:extLst>
              <a:ext uri="{FF2B5EF4-FFF2-40B4-BE49-F238E27FC236}">
                <ns2:creationId id="{DA4662A7-74A9-475A-AD17-01D33E8A6406}"/>
              </a:ext>
            </a:extLst>
          </p:cNvPr>
          <p:cNvSpPr>
            <a:spLocks noGrp="1"/>
          </p:cNvSpPr>
          <p:nvPr/>
        </p:nvSpPr>
        <p:spPr>
          <a:xfrm>
            <a:off x="1181100" y="5438775"/>
            <a:ext cx="10401300" cy="9525"/>
          </a:xfrm>
          <a:prstGeom prst="rect">
            <a:avLst/>
          </a:prstGeom>
          <a:solidFill>
            <a:srgbClr val="E7E7E7"/>
          </a:solidFill>
          <a:ln w="0">
            <a:noFill/>
          </a:ln>
        </p:spPr>
      </p:sp>
      <p:sp>
        <p:nvSpPr>
          <p:cNvPr id="21" name="text-580-72">
            <a:extLst>
              <a:ext uri="{FF2B5EF4-FFF2-40B4-BE49-F238E27FC236}">
                <ns2:creationId id="{36FA8B19-7348-4BA4-B273-3534A581423F}"/>
              </a:ext>
            </a:extLst>
          </p:cNvPr>
          <p:cNvSpPr>
            <a:spLocks noGrp="1"/>
          </p:cNvSpPr>
          <p:nvPr/>
        </p:nvSpPr>
        <p:spPr>
          <a:xfrm>
            <a:off x="685800" y="46428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a:ext uri="{FF2B5EF4-FFF2-40B4-BE49-F238E27FC236}">
                <ns2:creationId id="{2999E6F2-8035-4113-8CED-B256A18F6DA7}"/>
              </a:ext>
            </a:extLst>
          </p:cNvPr>
          <p:cNvSpPr>
            <a:spLocks noGrp="1"/>
          </p:cNvSpPr>
          <p:nvPr/>
        </p:nvSpPr>
        <p:spPr>
          <a:xfrm>
            <a:off x="1181100" y="46428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두 수의 차 a−b, 항상 음이 아닌 채 감소</a:t>
            </a:r>
          </a:p>
        </p:txBody>
      </p:sp>
    </p:spTree>
    <p:extLst>
      <p:ext uri="{BB962C8B-B14F-4D97-AF65-F5344CB8AC3E}">
        <ns3:creationId val="462685519"/>
      </p:ext>
    </p:extLst>
  </p:cSld>
</p:sld>
</file>

<file path=ppt/slides/slide4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8CCDEFAB-ED9A-47D3-A87D-9E5B8E57D8CF}"/>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166F824F-E9CD-4D0F-92D4-1D834AB9E00C}"/>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F98B3D8-B7DC-4951-95F7-07383F32EF8D}"/>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23  정답과 해설</a:t>
            </a:r>
          </a:p>
        </p:txBody>
      </p:sp>
      <p:sp>
        <p:nvSpPr>
          <p:cNvPr id="4" name="">
            <a:extLst>
              <a:ext uri="{FF2B5EF4-FFF2-40B4-BE49-F238E27FC236}">
                <ns2:creationId id="{EFC56AF1-15C1-4398-8AAA-FAA1DEA7077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7BEF132-3010-43F9-84D3-391B778A7814}"/>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CCF6EF5-9A04-4B1A-8E18-EC969577DF60}"/>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103E888F-0918-4C17-AD0A-46CF48C7A55E}"/>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046</a:t>
            </a:r>
          </a:p>
        </p:txBody>
      </p:sp>
      <p:sp>
        <p:nvSpPr>
          <p:cNvPr id="8" name="text-178-64">
            <a:extLst>
              <a:ext uri="{FF2B5EF4-FFF2-40B4-BE49-F238E27FC236}">
                <ns2:creationId id="{5314040D-3858-44B4-B132-371A7F91D0F3}"/>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a≥0, b&gt;0인 정수에 유클리드 갱신 (a,b)←(b,a mod b)를 적용한다. mod는 나머지 연산이다. 매번 더 작은</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0 이상의 정수가 되어 종료를 보장하는 값은?</a:t>
            </a:r>
          </a:p>
        </p:txBody>
      </p:sp>
      <p:sp>
        <p:nvSpPr>
          <p:cNvPr id="9" name="">
            <a:extLst>
              <a:ext uri="{FF2B5EF4-FFF2-40B4-BE49-F238E27FC236}">
                <ns2:creationId id="{9AA8AB6F-D151-400F-AB0D-6F52753FF0DD}"/>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1CA69AB6-262C-4C54-8DAD-F9126B32A5CE}"/>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1번 두 번째 인수 b</a:t>
            </a:r>
          </a:p>
        </p:txBody>
      </p:sp>
      <p:sp>
        <p:nvSpPr>
          <p:cNvPr id="11" name="text-324.4-64">
            <a:extLst>
              <a:ext uri="{FF2B5EF4-FFF2-40B4-BE49-F238E27FC236}">
                <ns2:creationId id="{AC9C9E01-100D-42DF-A9B5-07A0A071552E}"/>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15D95F88-3D16-41A1-8F6F-4D4C1F224857}"/>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7CE26932-06CF-45FA-883A-BED3257EBE1E}"/>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새 두 번째 인수는 0 이상 b 미만이다.</a:t>
            </a:r>
          </a:p>
        </p:txBody>
      </p:sp>
    </p:spTree>
    <p:extLst>
      <p:ext uri="{BB962C8B-B14F-4D97-AF65-F5344CB8AC3E}">
        <ns3:creationId val="462685519"/>
      </p:ext>
    </p:extLst>
  </p:cSld>
</p:sld>
</file>

<file path=ppt/slides/slide4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6D610344-3719-4788-879B-88CFBF0A3AC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E1B61C83-4FC7-448B-8A1C-F9587DBBAD0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C517D4A-DE38-4959-B7BF-5408DA02D613}"/>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24  </a:t>
            </a:r>
          </a:p>
        </p:txBody>
      </p:sp>
      <p:sp>
        <p:nvSpPr>
          <p:cNvPr id="4" name="">
            <a:extLst>
              <a:ext uri="{FF2B5EF4-FFF2-40B4-BE49-F238E27FC236}">
                <ns2:creationId id="{6F4A672A-47EE-41D5-A42F-3753E41DDE1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0CFDD9C-ED6B-4BD3-A7A0-F8CC22AD52C9}"/>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0D9A0E4-FB08-458C-86A7-2946C7D0F75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45CA4C8-B595-4CE8-82D4-9B2EA07E06CB}"/>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047</a:t>
            </a:r>
          </a:p>
        </p:txBody>
      </p:sp>
      <p:sp>
        <p:nvSpPr>
          <p:cNvPr id="8" name="text-178-64">
            <a:extLst>
              <a:ext uri="{FF2B5EF4-FFF2-40B4-BE49-F238E27FC236}">
                <ns2:creationId id="{F9ED0806-807C-4B03-9CF0-462F62077219}"/>
              </a:ext>
            </a:extLst>
          </p:cNvPr>
          <p:cNvSpPr>
            <a:spLocks noGrp="1"/>
          </p:cNvSpPr>
          <p:nvPr/>
        </p:nvSpPr>
        <p:spPr>
          <a:xfrm>
            <a:off x="609600" y="1619250"/>
            <a:ext cx="10972800" cy="793242"/>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정수 C와 0 이상의 정수 k가 주어진다. C의 n제곱 C^n은 C를 n번 곱한 값이며, C⁰=1로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정한다. n=2k+1인 홀수일 때, C^k를 이용하여 C^n을 올바르게 나타낸 식은?</a:t>
            </a:r>
          </a:p>
        </p:txBody>
      </p:sp>
      <p:sp>
        <p:nvSpPr>
          <p:cNvPr id="9" name="text-316-72">
            <a:extLst>
              <a:ext uri="{FF2B5EF4-FFF2-40B4-BE49-F238E27FC236}">
                <ns2:creationId id="{BEB5B71F-60DE-4122-8ACF-6D3E5C959332}"/>
              </a:ext>
            </a:extLst>
          </p:cNvPr>
          <p:cNvSpPr>
            <a:spLocks noGrp="1"/>
          </p:cNvSpPr>
          <p:nvPr/>
        </p:nvSpPr>
        <p:spPr>
          <a:xfrm>
            <a:off x="685800" y="25458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987D431B-48DB-426E-B564-54F246A06DE8}"/>
              </a:ext>
            </a:extLst>
          </p:cNvPr>
          <p:cNvSpPr>
            <a:spLocks noGrp="1"/>
          </p:cNvSpPr>
          <p:nvPr/>
        </p:nvSpPr>
        <p:spPr>
          <a:xfrm>
            <a:off x="1181100" y="25458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(C^k)²</a:t>
            </a:r>
          </a:p>
        </p:txBody>
      </p:sp>
      <p:sp>
        <p:nvSpPr>
          <p:cNvPr id="11" name="">
            <a:extLst>
              <a:ext uri="{FF2B5EF4-FFF2-40B4-BE49-F238E27FC236}">
                <ns2:creationId id="{8D70BFA9-D943-418C-9E1A-ABC02C3BF6F7}"/>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A2ECD859-96D6-4242-B12B-4F3CFA0CCB16}"/>
              </a:ext>
            </a:extLst>
          </p:cNvPr>
          <p:cNvSpPr>
            <a:spLocks noGrp="1"/>
          </p:cNvSpPr>
          <p:nvPr/>
        </p:nvSpPr>
        <p:spPr>
          <a:xfrm>
            <a:off x="685800" y="29946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1202BE0A-0BA4-4398-A91F-EE483590505A}"/>
              </a:ext>
            </a:extLst>
          </p:cNvPr>
          <p:cNvSpPr>
            <a:spLocks noGrp="1"/>
          </p:cNvSpPr>
          <p:nvPr/>
        </p:nvSpPr>
        <p:spPr>
          <a:xfrm>
            <a:off x="1181100" y="29946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C+(C^k)²</a:t>
            </a:r>
          </a:p>
        </p:txBody>
      </p:sp>
      <p:sp>
        <p:nvSpPr>
          <p:cNvPr id="14" name="">
            <a:extLst>
              <a:ext uri="{FF2B5EF4-FFF2-40B4-BE49-F238E27FC236}">
                <ns2:creationId id="{3A72058E-81F4-4E2C-B46A-D9DA78A2F7FB}"/>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F6CB7800-602B-445B-B0F0-2F3EFA195913}"/>
              </a:ext>
            </a:extLst>
          </p:cNvPr>
          <p:cNvSpPr>
            <a:spLocks noGrp="1"/>
          </p:cNvSpPr>
          <p:nvPr/>
        </p:nvSpPr>
        <p:spPr>
          <a:xfrm>
            <a:off x="685800" y="344347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DC3E4ABE-1477-4289-824F-D230496AB698}"/>
              </a:ext>
            </a:extLst>
          </p:cNvPr>
          <p:cNvSpPr>
            <a:spLocks noGrp="1"/>
          </p:cNvSpPr>
          <p:nvPr/>
        </p:nvSpPr>
        <p:spPr>
          <a:xfrm>
            <a:off x="1181100" y="344347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C^k+C^k+1</a:t>
            </a:r>
          </a:p>
        </p:txBody>
      </p:sp>
      <p:sp>
        <p:nvSpPr>
          <p:cNvPr id="17" name="">
            <a:extLst>
              <a:ext uri="{FF2B5EF4-FFF2-40B4-BE49-F238E27FC236}">
                <ns2:creationId id="{EEA790CE-1142-40D5-88E5-4F7B657680F9}"/>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4BA8D78A-A488-4797-A50B-F7FC9AE534AC}"/>
              </a:ext>
            </a:extLst>
          </p:cNvPr>
          <p:cNvSpPr>
            <a:spLocks noGrp="1"/>
          </p:cNvSpPr>
          <p:nvPr/>
        </p:nvSpPr>
        <p:spPr>
          <a:xfrm>
            <a:off x="685800" y="389229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322C7FE4-A8D1-4B2C-BC57-1E258B9CFD57}"/>
              </a:ext>
            </a:extLst>
          </p:cNvPr>
          <p:cNvSpPr>
            <a:spLocks noGrp="1"/>
          </p:cNvSpPr>
          <p:nvPr/>
        </p:nvSpPr>
        <p:spPr>
          <a:xfrm>
            <a:off x="1181100" y="389229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2·C^k</a:t>
            </a:r>
          </a:p>
        </p:txBody>
      </p:sp>
      <p:sp>
        <p:nvSpPr>
          <p:cNvPr id="20" name="">
            <a:extLst>
              <a:ext uri="{FF2B5EF4-FFF2-40B4-BE49-F238E27FC236}">
                <ns2:creationId id="{8392A358-6AB6-46ED-A6AE-3F53871CD8D6}"/>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A67BCBF5-832A-4D24-885D-13DC2FF292B4}"/>
              </a:ext>
            </a:extLst>
          </p:cNvPr>
          <p:cNvSpPr>
            <a:spLocks noGrp="1"/>
          </p:cNvSpPr>
          <p:nvPr/>
        </p:nvSpPr>
        <p:spPr>
          <a:xfrm>
            <a:off x="685800" y="434111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8F704EEE-DA3E-4016-BB55-C8DC371F7AA8}"/>
              </a:ext>
            </a:extLst>
          </p:cNvPr>
          <p:cNvSpPr>
            <a:spLocks noGrp="1"/>
          </p:cNvSpPr>
          <p:nvPr/>
        </p:nvSpPr>
        <p:spPr>
          <a:xfrm>
            <a:off x="1181100" y="434111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C·(C^k)²</a:t>
            </a:r>
          </a:p>
        </p:txBody>
      </p:sp>
    </p:spTree>
    <p:extLst>
      <p:ext uri="{BB962C8B-B14F-4D97-AF65-F5344CB8AC3E}">
        <ns3:creationId val="462685519"/>
      </p:ext>
    </p:extLst>
  </p:cSld>
</p:sld>
</file>

<file path=ppt/slides/slide4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9FBC0EFC-1E4B-4B24-81F5-1E4763B341E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C5BB8D21-9378-4092-BAE8-DD953CDB069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486A9B3C-71FB-414F-A5BD-4B87A5390DD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24  정답과 해설</a:t>
            </a:r>
          </a:p>
        </p:txBody>
      </p:sp>
      <p:sp>
        <p:nvSpPr>
          <p:cNvPr id="4" name="">
            <a:extLst>
              <a:ext uri="{FF2B5EF4-FFF2-40B4-BE49-F238E27FC236}">
                <ns2:creationId id="{5F6874CF-F6B7-480C-8153-7742CE03BCD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687BF65-72D2-4BC6-9DD4-7BC73832075A}"/>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96DCB9D-063A-4F68-B6CC-FB10E256929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F7F54C9-52E7-43DE-8C0E-744C9381A82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048</a:t>
            </a:r>
          </a:p>
        </p:txBody>
      </p:sp>
      <p:sp>
        <p:nvSpPr>
          <p:cNvPr id="8" name="text-178-64">
            <a:extLst>
              <a:ext uri="{FF2B5EF4-FFF2-40B4-BE49-F238E27FC236}">
                <ns2:creationId id="{C5991A0E-3ED1-4A2E-A77D-78185270F6F9}"/>
              </a:ext>
            </a:extLst>
          </p:cNvPr>
          <p:cNvSpPr>
            <a:spLocks noGrp="1"/>
          </p:cNvSpPr>
          <p:nvPr/>
        </p:nvSpPr>
        <p:spPr>
          <a:xfrm>
            <a:off x="609600" y="1619250"/>
            <a:ext cx="10972800" cy="688086"/>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정수 C와 0 이상의 정수 k가 주어진다. C의 n제곱 C^n은 C를 n번 곱한 값이며, C⁰=1로 정한다. n=2k+1인</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홀수일 때, C^k를 이용하여 C^n을 올바르게 나타낸 식은?</a:t>
            </a:r>
          </a:p>
        </p:txBody>
      </p:sp>
      <p:sp>
        <p:nvSpPr>
          <p:cNvPr id="9" name="">
            <a:extLst>
              <a:ext uri="{FF2B5EF4-FFF2-40B4-BE49-F238E27FC236}">
                <ns2:creationId id="{8A9E82FC-66DE-4596-921F-9EA4D2CA5A36}"/>
              </a:ext>
            </a:extLst>
          </p:cNvPr>
          <p:cNvSpPr>
            <a:spLocks noGrp="1"/>
          </p:cNvSpPr>
          <p:nvPr/>
        </p:nvSpPr>
        <p:spPr>
          <a:xfrm>
            <a:off x="609600" y="2421636"/>
            <a:ext cx="10972800" cy="498729"/>
          </a:xfrm>
          <a:prstGeom prst="rect">
            <a:avLst/>
          </a:prstGeom>
          <a:solidFill>
            <a:srgbClr val="171717"/>
          </a:solidFill>
          <a:ln w="0">
            <a:noFill/>
          </a:ln>
        </p:spPr>
      </p:sp>
      <p:sp>
        <p:nvSpPr>
          <p:cNvPr id="10" name="text-245.6-92">
            <a:extLst>
              <a:ext uri="{FF2B5EF4-FFF2-40B4-BE49-F238E27FC236}">
                <ns2:creationId id="{9A1A0490-DB23-4E96-AFB2-2FBD91354B16}"/>
              </a:ext>
            </a:extLst>
          </p:cNvPr>
          <p:cNvSpPr>
            <a:spLocks noGrp="1"/>
          </p:cNvSpPr>
          <p:nvPr/>
        </p:nvSpPr>
        <p:spPr>
          <a:xfrm>
            <a:off x="876300" y="2497836"/>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5번 C·(C^k)²</a:t>
            </a:r>
          </a:p>
        </p:txBody>
      </p:sp>
      <p:sp>
        <p:nvSpPr>
          <p:cNvPr id="11" name="text-324.4-64">
            <a:extLst>
              <a:ext uri="{FF2B5EF4-FFF2-40B4-BE49-F238E27FC236}">
                <ns2:creationId id="{5D344EE3-9C5D-4869-B691-335A8650B3B4}"/>
              </a:ext>
            </a:extLst>
          </p:cNvPr>
          <p:cNvSpPr>
            <a:spLocks noGrp="1"/>
          </p:cNvSpPr>
          <p:nvPr/>
        </p:nvSpPr>
        <p:spPr>
          <a:xfrm>
            <a:off x="609600" y="3015615"/>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ECFAC5B5-52B8-4828-B1F3-92395D3459BF}"/>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2A5B5DAB-BF7A-4B57-A02C-F133EB4E21A6}"/>
              </a:ext>
            </a:extLst>
          </p:cNvPr>
          <p:cNvSpPr>
            <a:spLocks noGrp="1"/>
          </p:cNvSpPr>
          <p:nvPr/>
        </p:nvSpPr>
        <p:spPr>
          <a:xfrm>
            <a:off x="609600" y="3392805"/>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C^k를 두 번 곱하면 C를 2k번 곱한 값이다. 필요한 횟수는 2k+1번이므로 C를 한 번 더 곱한다.</a:t>
            </a:r>
          </a:p>
        </p:txBody>
      </p:sp>
    </p:spTree>
    <p:extLst>
      <p:ext uri="{BB962C8B-B14F-4D97-AF65-F5344CB8AC3E}">
        <ns3:creationId val="462685519"/>
      </p:ext>
    </p:extLst>
  </p:cSld>
</p:sld>
</file>

<file path=ppt/slides/slide4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C0E7705C-1A91-4D0F-89FF-5B7DD3E76018}"/>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C4AF0474-7C43-4605-9698-2DC31F9C57F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39AAF19-DA03-4727-B6A8-B0CFABF3FED7}"/>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25  </a:t>
            </a:r>
          </a:p>
        </p:txBody>
      </p:sp>
      <p:sp>
        <p:nvSpPr>
          <p:cNvPr id="4" name="">
            <a:extLst>
              <a:ext uri="{FF2B5EF4-FFF2-40B4-BE49-F238E27FC236}">
                <ns2:creationId id="{C2807444-2CB5-442C-8BF8-1D289C93C45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0F78D0D-A339-4964-BC85-419CB62D4F1C}"/>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0F74842-2748-4D22-BE43-69D99C4BE3A0}"/>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95A8A0E-E856-44F9-AD86-CEC10646A40B}"/>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049</a:t>
            </a:r>
          </a:p>
        </p:txBody>
      </p:sp>
      <p:sp>
        <p:nvSpPr>
          <p:cNvPr id="8" name="text-178-64">
            <a:extLst>
              <a:ext uri="{FF2B5EF4-FFF2-40B4-BE49-F238E27FC236}">
                <ns2:creationId id="{3776E4DB-D90F-47D6-A40D-6B6AEDA95FB7}"/>
              </a:ext>
            </a:extLst>
          </p:cNvPr>
          <p:cNvSpPr>
            <a:spLocks noGrp="1"/>
          </p:cNvSpPr>
          <p:nvPr/>
        </p:nvSpPr>
        <p:spPr>
          <a:xfrm>
            <a:off x="609600" y="1619250"/>
            <a:ext cx="10972800" cy="3303841"/>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아래 Python 함수 A와 B는 정수 C의 n제곱(C를 n번 곱한 값)을 구한다.</a:t>
            </a:r>
          </a:p>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n은 2, 4, 8, … 중 하나이고, //는 정수 몫이다.</a:t>
            </a:r>
          </a:p>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같은 인수로 다시 호출해도 결과를 자동으로 저장하지 않는다.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def A(C, n):</a:t>
            </a:r>
          </a:p>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if n == 1: return C</a:t>
            </a:r>
          </a:p>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return A(C, n // 2) * A(C, n // 2)</a:t>
            </a:r>
          </a:p>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def B(C, n):</a:t>
            </a:r>
          </a:p>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if n == 1: return C</a:t>
            </a:r>
          </a:p>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h = B(C, n // 2)</a:t>
            </a:r>
          </a:p>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return h * h</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곱셈·비교·대입 각각을 상수 시간으로 셀 때, A와 B의 전체 시간 복잡도는 순서대로 무엇인가?</a:t>
            </a:r>
          </a:p>
        </p:txBody>
      </p:sp>
      <p:sp>
        <p:nvSpPr>
          <p:cNvPr id="9" name="text-316-72">
            <a:extLst>
              <a:ext uri="{FF2B5EF4-FFF2-40B4-BE49-F238E27FC236}">
                <ns2:creationId id="{FAEC00B7-0972-40E1-9790-5A7C06270206}"/>
              </a:ext>
            </a:extLst>
          </p:cNvPr>
          <p:cNvSpPr>
            <a:spLocks noGrp="1"/>
          </p:cNvSpPr>
          <p:nvPr/>
        </p:nvSpPr>
        <p:spPr>
          <a:xfrm>
            <a:off x="685800" y="5056441"/>
            <a:ext cx="400050" cy="306896"/>
          </a:xfrm>
          <a:prstGeom prst="rect">
            <a:avLst/>
          </a:prstGeom>
          <a:noFill/>
          <a:ln w="0">
            <a:noFill/>
          </a:ln>
        </p:spPr>
        <p:txBody>
          <a:bodyPr wrap="none" lIns="0" tIns="0" rIns="0" bIns="0" anchor="t">
            <a:noAutofit/>
          </a:bodyPr>
          <a:lstStyle/>
          <a:p>
            <a:pPr algn="l">
              <a:lnSpc>
                <a:spcPct val="108000"/>
              </a:lnSpc>
              <a:buNone/>
              <a:defRPr sz="1425" b="1" i="0">
                <a:solidFill>
                  <a:srgbClr val="171717"/>
                </a:solidFill>
                <a:latin typeface="Consolas"/>
                <a:ea typeface="Consolas"/>
                <a:cs typeface="Consolas"/>
              </a:defRPr>
            </a:pPr>
            <a:r>
              <a:rPr sz="1425" b="1" i="0">
                <a:solidFill>
                  <a:srgbClr val="171717"/>
                </a:solidFill>
                <a:latin typeface="Consolas"/>
                <a:ea typeface="Consolas"/>
                <a:cs typeface="Consolas"/>
              </a:rPr>
              <a:t>1</a:t>
            </a:r>
          </a:p>
        </p:txBody>
      </p:sp>
      <p:sp>
        <p:nvSpPr>
          <p:cNvPr id="10" name="text-316-124">
            <a:extLst>
              <a:ext uri="{FF2B5EF4-FFF2-40B4-BE49-F238E27FC236}">
                <ns2:creationId id="{C8D5AE4C-F5A7-4476-AFF2-021BE143D0F5}"/>
              </a:ext>
            </a:extLst>
          </p:cNvPr>
          <p:cNvSpPr>
            <a:spLocks noGrp="1"/>
          </p:cNvSpPr>
          <p:nvPr/>
        </p:nvSpPr>
        <p:spPr>
          <a:xfrm>
            <a:off x="1181100" y="5056441"/>
            <a:ext cx="4857750" cy="306896"/>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둘 다 Θ(log n)</a:t>
            </a:r>
          </a:p>
        </p:txBody>
      </p:sp>
      <p:sp>
        <p:nvSpPr>
          <p:cNvPr id="11" name="">
            <a:extLst>
              <a:ext uri="{FF2B5EF4-FFF2-40B4-BE49-F238E27FC236}">
                <ns2:creationId id="{E69A5AC3-6DA4-43C2-B7F3-348F6428D02A}"/>
              </a:ext>
            </a:extLst>
          </p:cNvPr>
          <p:cNvSpPr>
            <a:spLocks noGrp="1"/>
          </p:cNvSpPr>
          <p:nvPr/>
        </p:nvSpPr>
        <p:spPr>
          <a:xfrm>
            <a:off x="609600" y="6267450"/>
            <a:ext cx="10972800" cy="9525"/>
          </a:xfrm>
          <a:prstGeom prst="rect">
            <a:avLst/>
          </a:prstGeom>
          <a:solidFill>
            <a:srgbClr val="E7E7E7"/>
          </a:solidFill>
          <a:ln w="0">
            <a:noFill/>
          </a:ln>
        </p:spPr>
      </p:sp>
      <p:sp>
        <p:nvSpPr>
          <p:cNvPr id="12" name="text-382-72">
            <a:extLst>
              <a:ext uri="{FF2B5EF4-FFF2-40B4-BE49-F238E27FC236}">
                <ns2:creationId id="{C6FF7553-8143-497C-8C72-ECC57858EA12}"/>
              </a:ext>
            </a:extLst>
          </p:cNvPr>
          <p:cNvSpPr>
            <a:spLocks noGrp="1"/>
          </p:cNvSpPr>
          <p:nvPr/>
        </p:nvSpPr>
        <p:spPr>
          <a:xfrm>
            <a:off x="685800" y="5439537"/>
            <a:ext cx="400050" cy="306896"/>
          </a:xfrm>
          <a:prstGeom prst="rect">
            <a:avLst/>
          </a:prstGeom>
          <a:noFill/>
          <a:ln w="0">
            <a:noFill/>
          </a:ln>
        </p:spPr>
        <p:txBody>
          <a:bodyPr wrap="none" lIns="0" tIns="0" rIns="0" bIns="0" anchor="t">
            <a:noAutofit/>
          </a:bodyPr>
          <a:lstStyle/>
          <a:p>
            <a:pPr algn="l">
              <a:lnSpc>
                <a:spcPct val="108000"/>
              </a:lnSpc>
              <a:buNone/>
              <a:defRPr sz="1425" b="1" i="0">
                <a:solidFill>
                  <a:srgbClr val="171717"/>
                </a:solidFill>
                <a:latin typeface="Consolas"/>
                <a:ea typeface="Consolas"/>
                <a:cs typeface="Consolas"/>
              </a:defRPr>
            </a:pPr>
            <a:r>
              <a:rPr sz="1425" b="1" i="0">
                <a:solidFill>
                  <a:srgbClr val="171717"/>
                </a:solidFill>
                <a:latin typeface="Consolas"/>
                <a:ea typeface="Consolas"/>
                <a:cs typeface="Consolas"/>
              </a:rPr>
              <a:t>2</a:t>
            </a:r>
          </a:p>
        </p:txBody>
      </p:sp>
      <p:sp>
        <p:nvSpPr>
          <p:cNvPr id="13" name="text-382-124">
            <a:extLst>
              <a:ext uri="{FF2B5EF4-FFF2-40B4-BE49-F238E27FC236}">
                <ns2:creationId id="{19F6E9DF-C310-4EE0-91CA-E1404A35CEC0}"/>
              </a:ext>
            </a:extLst>
          </p:cNvPr>
          <p:cNvSpPr>
            <a:spLocks noGrp="1"/>
          </p:cNvSpPr>
          <p:nvPr/>
        </p:nvSpPr>
        <p:spPr>
          <a:xfrm>
            <a:off x="1181100" y="5439537"/>
            <a:ext cx="4857750" cy="306896"/>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각각 Θ(n²), Θ(1)</a:t>
            </a:r>
          </a:p>
        </p:txBody>
      </p:sp>
      <p:sp>
        <p:nvSpPr>
          <p:cNvPr id="14" name="">
            <a:extLst>
              <a:ext uri="{FF2B5EF4-FFF2-40B4-BE49-F238E27FC236}">
                <ns2:creationId id="{6D0D33F7-05B2-45D8-B60B-418937238C78}"/>
              </a:ext>
            </a:extLst>
          </p:cNvPr>
          <p:cNvSpPr>
            <a:spLocks noGrp="1"/>
          </p:cNvSpPr>
          <p:nvPr/>
        </p:nvSpPr>
        <p:spPr>
          <a:xfrm>
            <a:off x="609600" y="6267450"/>
            <a:ext cx="10972800" cy="9525"/>
          </a:xfrm>
          <a:prstGeom prst="rect">
            <a:avLst/>
          </a:prstGeom>
          <a:solidFill>
            <a:srgbClr val="E7E7E7"/>
          </a:solidFill>
          <a:ln w="0">
            <a:noFill/>
          </a:ln>
        </p:spPr>
      </p:sp>
      <p:sp>
        <p:nvSpPr>
          <p:cNvPr id="15" name="text-448-72">
            <a:extLst>
              <a:ext uri="{FF2B5EF4-FFF2-40B4-BE49-F238E27FC236}">
                <ns2:creationId id="{6F82EB5F-EBC8-4CBB-92EC-F2E5EA3563B8}"/>
              </a:ext>
            </a:extLst>
          </p:cNvPr>
          <p:cNvSpPr>
            <a:spLocks noGrp="1"/>
          </p:cNvSpPr>
          <p:nvPr/>
        </p:nvSpPr>
        <p:spPr>
          <a:xfrm>
            <a:off x="685800" y="5822633"/>
            <a:ext cx="400050" cy="306896"/>
          </a:xfrm>
          <a:prstGeom prst="rect">
            <a:avLst/>
          </a:prstGeom>
          <a:noFill/>
          <a:ln w="0">
            <a:noFill/>
          </a:ln>
        </p:spPr>
        <p:txBody>
          <a:bodyPr wrap="none" lIns="0" tIns="0" rIns="0" bIns="0" anchor="t">
            <a:noAutofit/>
          </a:bodyPr>
          <a:lstStyle/>
          <a:p>
            <a:pPr algn="l">
              <a:lnSpc>
                <a:spcPct val="108000"/>
              </a:lnSpc>
              <a:buNone/>
              <a:defRPr sz="1425" b="1" i="0">
                <a:solidFill>
                  <a:srgbClr val="171717"/>
                </a:solidFill>
                <a:latin typeface="Consolas"/>
                <a:ea typeface="Consolas"/>
                <a:cs typeface="Consolas"/>
              </a:defRPr>
            </a:pPr>
            <a:r>
              <a:rPr sz="1425" b="1" i="0">
                <a:solidFill>
                  <a:srgbClr val="171717"/>
                </a:solidFill>
                <a:latin typeface="Consolas"/>
                <a:ea typeface="Consolas"/>
                <a:cs typeface="Consolas"/>
              </a:rPr>
              <a:t>3</a:t>
            </a:r>
          </a:p>
        </p:txBody>
      </p:sp>
      <p:sp>
        <p:nvSpPr>
          <p:cNvPr id="16" name="text-448-124">
            <a:extLst>
              <a:ext uri="{FF2B5EF4-FFF2-40B4-BE49-F238E27FC236}">
                <ns2:creationId id="{8FD540AF-0006-4524-80C8-00562785D6B8}"/>
              </a:ext>
            </a:extLst>
          </p:cNvPr>
          <p:cNvSpPr>
            <a:spLocks noGrp="1"/>
          </p:cNvSpPr>
          <p:nvPr/>
        </p:nvSpPr>
        <p:spPr>
          <a:xfrm>
            <a:off x="1181100" y="5822633"/>
            <a:ext cx="4857750" cy="306896"/>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둘 다 Θ(n²)</a:t>
            </a:r>
          </a:p>
        </p:txBody>
      </p:sp>
      <p:sp>
        <p:nvSpPr>
          <p:cNvPr id="17" name="">
            <a:extLst>
              <a:ext uri="{FF2B5EF4-FFF2-40B4-BE49-F238E27FC236}">
                <ns2:creationId id="{3FC72FF5-4C39-4F42-A9FE-AFDF2544A682}"/>
              </a:ext>
            </a:extLst>
          </p:cNvPr>
          <p:cNvSpPr>
            <a:spLocks noGrp="1"/>
          </p:cNvSpPr>
          <p:nvPr/>
        </p:nvSpPr>
        <p:spPr>
          <a:xfrm>
            <a:off x="609600" y="6267450"/>
            <a:ext cx="10972800" cy="9525"/>
          </a:xfrm>
          <a:prstGeom prst="rect">
            <a:avLst/>
          </a:prstGeom>
          <a:solidFill>
            <a:srgbClr val="E7E7E7"/>
          </a:solidFill>
          <a:ln w="0">
            <a:noFill/>
          </a:ln>
        </p:spPr>
      </p:sp>
      <p:sp>
        <p:nvSpPr>
          <p:cNvPr id="18" name="text-514-72">
            <a:extLst>
              <a:ext uri="{FF2B5EF4-FFF2-40B4-BE49-F238E27FC236}">
                <ns2:creationId id="{01988196-C831-431E-B7E8-9080FD94B862}"/>
              </a:ext>
            </a:extLst>
          </p:cNvPr>
          <p:cNvSpPr>
            <a:spLocks noGrp="1"/>
          </p:cNvSpPr>
          <p:nvPr/>
        </p:nvSpPr>
        <p:spPr>
          <a:xfrm>
            <a:off x="6191250" y="5056441"/>
            <a:ext cx="400050" cy="306896"/>
          </a:xfrm>
          <a:prstGeom prst="rect">
            <a:avLst/>
          </a:prstGeom>
          <a:noFill/>
          <a:ln w="0">
            <a:noFill/>
          </a:ln>
        </p:spPr>
        <p:txBody>
          <a:bodyPr wrap="none" lIns="0" tIns="0" rIns="0" bIns="0" anchor="t">
            <a:noAutofit/>
          </a:bodyPr>
          <a:lstStyle/>
          <a:p>
            <a:pPr algn="l">
              <a:lnSpc>
                <a:spcPct val="108000"/>
              </a:lnSpc>
              <a:buNone/>
              <a:defRPr sz="1425" b="1" i="0">
                <a:solidFill>
                  <a:srgbClr val="171717"/>
                </a:solidFill>
                <a:latin typeface="Consolas"/>
                <a:ea typeface="Consolas"/>
                <a:cs typeface="Consolas"/>
              </a:defRPr>
            </a:pPr>
            <a:r>
              <a:rPr sz="1425" b="1" i="0">
                <a:solidFill>
                  <a:srgbClr val="171717"/>
                </a:solidFill>
                <a:latin typeface="Consolas"/>
                <a:ea typeface="Consolas"/>
                <a:cs typeface="Consolas"/>
              </a:rPr>
              <a:t>4</a:t>
            </a:r>
          </a:p>
        </p:txBody>
      </p:sp>
      <p:sp>
        <p:nvSpPr>
          <p:cNvPr id="19" name="text-514-124">
            <a:extLst>
              <a:ext uri="{FF2B5EF4-FFF2-40B4-BE49-F238E27FC236}">
                <ns2:creationId id="{9CB4857A-1B54-4923-A8B0-BDF89D48F31D}"/>
              </a:ext>
            </a:extLst>
          </p:cNvPr>
          <p:cNvSpPr>
            <a:spLocks noGrp="1"/>
          </p:cNvSpPr>
          <p:nvPr/>
        </p:nvSpPr>
        <p:spPr>
          <a:xfrm>
            <a:off x="6629400" y="5056441"/>
            <a:ext cx="4857750" cy="306896"/>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각각 Θ(n), Θ(log n)</a:t>
            </a:r>
          </a:p>
        </p:txBody>
      </p:sp>
      <p:sp>
        <p:nvSpPr>
          <p:cNvPr id="20" name="">
            <a:extLst>
              <a:ext uri="{FF2B5EF4-FFF2-40B4-BE49-F238E27FC236}">
                <ns2:creationId id="{F0C3D381-D343-4300-ADB5-8580D5EC6BC1}"/>
              </a:ext>
            </a:extLst>
          </p:cNvPr>
          <p:cNvSpPr>
            <a:spLocks noGrp="1"/>
          </p:cNvSpPr>
          <p:nvPr/>
        </p:nvSpPr>
        <p:spPr>
          <a:xfrm>
            <a:off x="609600" y="6267450"/>
            <a:ext cx="10972800" cy="9525"/>
          </a:xfrm>
          <a:prstGeom prst="rect">
            <a:avLst/>
          </a:prstGeom>
          <a:solidFill>
            <a:srgbClr val="E7E7E7"/>
          </a:solidFill>
          <a:ln w="0">
            <a:noFill/>
          </a:ln>
        </p:spPr>
      </p:sp>
      <p:sp>
        <p:nvSpPr>
          <p:cNvPr id="21" name="text-580-72">
            <a:extLst>
              <a:ext uri="{FF2B5EF4-FFF2-40B4-BE49-F238E27FC236}">
                <ns2:creationId id="{E513D1AC-D82E-4839-BF55-DA0F78C68E0B}"/>
              </a:ext>
            </a:extLst>
          </p:cNvPr>
          <p:cNvSpPr>
            <a:spLocks noGrp="1"/>
          </p:cNvSpPr>
          <p:nvPr/>
        </p:nvSpPr>
        <p:spPr>
          <a:xfrm>
            <a:off x="6191250" y="5439537"/>
            <a:ext cx="400050" cy="306896"/>
          </a:xfrm>
          <a:prstGeom prst="rect">
            <a:avLst/>
          </a:prstGeom>
          <a:noFill/>
          <a:ln w="0">
            <a:noFill/>
          </a:ln>
        </p:spPr>
        <p:txBody>
          <a:bodyPr wrap="none" lIns="0" tIns="0" rIns="0" bIns="0" anchor="t">
            <a:noAutofit/>
          </a:bodyPr>
          <a:lstStyle/>
          <a:p>
            <a:pPr algn="l">
              <a:lnSpc>
                <a:spcPct val="108000"/>
              </a:lnSpc>
              <a:buNone/>
              <a:defRPr sz="1425" b="1" i="0">
                <a:solidFill>
                  <a:srgbClr val="171717"/>
                </a:solidFill>
                <a:latin typeface="Consolas"/>
                <a:ea typeface="Consolas"/>
                <a:cs typeface="Consolas"/>
              </a:defRPr>
            </a:pPr>
            <a:r>
              <a:rPr sz="1425" b="1" i="0">
                <a:solidFill>
                  <a:srgbClr val="171717"/>
                </a:solidFill>
                <a:latin typeface="Consolas"/>
                <a:ea typeface="Consolas"/>
                <a:cs typeface="Consolas"/>
              </a:rPr>
              <a:t>5</a:t>
            </a:r>
          </a:p>
        </p:txBody>
      </p:sp>
      <p:sp>
        <p:nvSpPr>
          <p:cNvPr id="22" name="text-580-124">
            <a:extLst>
              <a:ext uri="{FF2B5EF4-FFF2-40B4-BE49-F238E27FC236}">
                <ns2:creationId id="{401B8F09-0A7E-4491-AE62-FB2D8A07189E}"/>
              </a:ext>
            </a:extLst>
          </p:cNvPr>
          <p:cNvSpPr>
            <a:spLocks noGrp="1"/>
          </p:cNvSpPr>
          <p:nvPr/>
        </p:nvSpPr>
        <p:spPr>
          <a:xfrm>
            <a:off x="6629400" y="5439537"/>
            <a:ext cx="4857750" cy="306896"/>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각각 Θ(log n), Θ(n)</a:t>
            </a:r>
          </a:p>
        </p:txBody>
      </p:sp>
    </p:spTree>
    <p:extLst>
      <p:ext uri="{BB962C8B-B14F-4D97-AF65-F5344CB8AC3E}">
        <ns3:creationId val="462685519"/>
      </p:ext>
    </p:extLst>
  </p:cSld>
</p:sld>
</file>

<file path=ppt/slides/slide5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200C04C5-6BC8-4E9A-A82B-28AE8ABED53D}"/>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CD694A1A-727A-4D16-B7B4-F24CAE6114D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4DED3BB-7C33-41C5-AF0B-27B558EF13C0}"/>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25  정답과 해설</a:t>
            </a:r>
          </a:p>
        </p:txBody>
      </p:sp>
      <p:sp>
        <p:nvSpPr>
          <p:cNvPr id="4" name="">
            <a:extLst>
              <a:ext uri="{FF2B5EF4-FFF2-40B4-BE49-F238E27FC236}">
                <ns2:creationId id="{FE5229A2-2275-46BC-B0E3-EDD7BA6C2F4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E7A2A39-3E0F-487A-82BE-B4E1C14E2FA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2322F5B-1896-40ED-B88D-ECD27D55E4FD}"/>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6420107-0C23-4A69-86A7-EDEF38183A8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050</a:t>
            </a:r>
          </a:p>
        </p:txBody>
      </p:sp>
      <p:sp>
        <p:nvSpPr>
          <p:cNvPr id="8" name="text-178-64">
            <a:extLst>
              <a:ext uri="{FF2B5EF4-FFF2-40B4-BE49-F238E27FC236}">
                <ns2:creationId id="{F0905DD0-C987-471A-80C8-369EF77AF1D6}"/>
              </a:ext>
            </a:extLst>
          </p:cNvPr>
          <p:cNvSpPr>
            <a:spLocks noGrp="1"/>
          </p:cNvSpPr>
          <p:nvPr/>
        </p:nvSpPr>
        <p:spPr>
          <a:xfrm>
            <a:off x="609600" y="1619250"/>
            <a:ext cx="10972800" cy="3047524"/>
          </a:xfrm>
          <a:prstGeom prst="rect">
            <a:avLst/>
          </a:prstGeom>
          <a:noFill/>
          <a:ln w="0">
            <a:noFill/>
          </a:ln>
        </p:spPr>
        <p:txBody>
          <a:bodyPr wrap="none" lIns="0" tIns="0" rIns="0" bIns="0" anchor="t">
            <a:noAutofit/>
          </a:bodyPr>
          <a:lstStyle/>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아래 Python 함수 A와 B는 정수 C의 n제곱(C를 n번 곱한 값)을 구한다.</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n은 2, 4, 8, … 중 하나이고, //는 정수 몫이다.</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같은 인수로 다시 호출해도 결과를 자동으로 저장하지 않는다.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def A(C, n):</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if n == 1: return C</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return A(C, n // 2) * A(C, n // 2)</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def B(C, n):</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if n == 1: return C</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h = B(C, n // 2)</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return h * h</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곱셈·비교·대입 각각을 상수 시간으로 셀 때, A와 B의 전체 시간 복잡도는 순서대로 무엇인가?</a:t>
            </a:r>
          </a:p>
        </p:txBody>
      </p:sp>
      <p:sp>
        <p:nvSpPr>
          <p:cNvPr id="9" name="">
            <a:extLst>
              <a:ext uri="{FF2B5EF4-FFF2-40B4-BE49-F238E27FC236}">
                <ns2:creationId id="{00423847-4D66-4DAF-991E-A0C1981E7517}"/>
              </a:ext>
            </a:extLst>
          </p:cNvPr>
          <p:cNvSpPr>
            <a:spLocks noGrp="1"/>
          </p:cNvSpPr>
          <p:nvPr/>
        </p:nvSpPr>
        <p:spPr>
          <a:xfrm>
            <a:off x="609600" y="4781074"/>
            <a:ext cx="10972800" cy="452723"/>
          </a:xfrm>
          <a:prstGeom prst="rect">
            <a:avLst/>
          </a:prstGeom>
          <a:solidFill>
            <a:srgbClr val="171717"/>
          </a:solidFill>
          <a:ln w="0">
            <a:noFill/>
          </a:ln>
        </p:spPr>
      </p:sp>
      <p:sp>
        <p:nvSpPr>
          <p:cNvPr id="10" name="text-279.2-92">
            <a:extLst>
              <a:ext uri="{FF2B5EF4-FFF2-40B4-BE49-F238E27FC236}">
                <ns2:creationId id="{A8CB3F30-3A42-47FF-89AF-4301CFC348F0}"/>
              </a:ext>
            </a:extLst>
          </p:cNvPr>
          <p:cNvSpPr>
            <a:spLocks noGrp="1"/>
          </p:cNvSpPr>
          <p:nvPr/>
        </p:nvSpPr>
        <p:spPr>
          <a:xfrm>
            <a:off x="876300" y="4857274"/>
            <a:ext cx="10439400" cy="300323"/>
          </a:xfrm>
          <a:prstGeom prst="rect">
            <a:avLst/>
          </a:prstGeom>
          <a:noFill/>
          <a:ln w="0">
            <a:noFill/>
          </a:ln>
        </p:spPr>
        <p:txBody>
          <a:bodyPr wrap="none" lIns="0" tIns="0" rIns="0" bIns="0" anchor="t">
            <a:noAutofit/>
          </a:bodyPr>
          <a:lstStyle/>
          <a:p>
            <a:pPr algn="l">
              <a:lnSpc>
                <a:spcPct val="108000"/>
              </a:lnSpc>
              <a:buNone/>
              <a:defRPr sz="1388" b="1" i="0">
                <a:solidFill>
                  <a:srgbClr val="FFFFFF"/>
                </a:solidFill>
                <a:latin typeface="Malgun Gothic"/>
                <a:ea typeface="Malgun Gothic"/>
                <a:cs typeface="Malgun Gothic"/>
              </a:defRPr>
            </a:pPr>
            <a:r>
              <a:rPr sz="1388" b="1" i="0">
                <a:solidFill>
                  <a:srgbClr val="FFFFFF"/>
                </a:solidFill>
                <a:latin typeface="Malgun Gothic"/>
                <a:ea typeface="Malgun Gothic"/>
                <a:cs typeface="Malgun Gothic"/>
              </a:rPr>
              <a:t>4번 각각 Θ(n), Θ(log n)</a:t>
            </a:r>
          </a:p>
        </p:txBody>
      </p:sp>
      <p:sp>
        <p:nvSpPr>
          <p:cNvPr id="11" name="text-358-64">
            <a:extLst>
              <a:ext uri="{FF2B5EF4-FFF2-40B4-BE49-F238E27FC236}">
                <ns2:creationId id="{E219F2D7-140A-4502-A7FE-D83CEF1C8E5C}"/>
              </a:ext>
            </a:extLst>
          </p:cNvPr>
          <p:cNvSpPr>
            <a:spLocks noGrp="1"/>
          </p:cNvSpPr>
          <p:nvPr/>
        </p:nvSpPr>
        <p:spPr>
          <a:xfrm>
            <a:off x="609600" y="5329047"/>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EFB1FD2C-CA5B-49EC-8AED-BBBA4D6FA484}"/>
              </a:ext>
            </a:extLst>
          </p:cNvPr>
          <p:cNvSpPr>
            <a:spLocks noGrp="1"/>
          </p:cNvSpPr>
          <p:nvPr/>
        </p:nvSpPr>
        <p:spPr>
          <a:xfrm>
            <a:off x="609600" y="6267450"/>
            <a:ext cx="10972800" cy="9525"/>
          </a:xfrm>
          <a:prstGeom prst="rect">
            <a:avLst/>
          </a:prstGeom>
          <a:solidFill>
            <a:srgbClr val="D4D4D4"/>
          </a:solidFill>
          <a:ln w="0">
            <a:noFill/>
          </a:ln>
        </p:spPr>
      </p:sp>
      <p:sp>
        <p:nvSpPr>
          <p:cNvPr id="13" name="text-406-64">
            <a:extLst>
              <a:ext uri="{FF2B5EF4-FFF2-40B4-BE49-F238E27FC236}">
                <ns2:creationId id="{592377D6-9A4F-4DB8-9709-A192B31E4F61}"/>
              </a:ext>
            </a:extLst>
          </p:cNvPr>
          <p:cNvSpPr>
            <a:spLocks noGrp="1"/>
          </p:cNvSpPr>
          <p:nvPr/>
        </p:nvSpPr>
        <p:spPr>
          <a:xfrm>
            <a:off x="609600" y="5706237"/>
            <a:ext cx="10972800" cy="543497"/>
          </a:xfrm>
          <a:prstGeom prst="rect">
            <a:avLst/>
          </a:prstGeom>
          <a:noFill/>
          <a:ln w="0">
            <a:noFill/>
          </a:ln>
        </p:spPr>
        <p:txBody>
          <a:bodyPr wrap="none" lIns="0" tIns="0" rIns="0" bIns="0" anchor="t">
            <a:noAutofit/>
          </a:bodyPr>
          <a:lstStyle/>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A는 매번 절반 크기의 같은 계산을 두 번 한다. 호출 수가 1+2+4+…+n=2n−1이므로 Θ(n)이다. B는 한 번 계산한 결과 h를 재사용한다.</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인수는 n,n/2,…,1로 줄어 호출 수가 log₂n+1이고 각 호출의 작업이 일정하므로 Θ(log n)이다.</a:t>
            </a:r>
          </a:p>
        </p:txBody>
      </p:sp>
    </p:spTree>
    <p:extLst>
      <p:ext uri="{BB962C8B-B14F-4D97-AF65-F5344CB8AC3E}">
        <ns3:creationId val="462685519"/>
      </p:ext>
    </p:extLst>
  </p:cSld>
</p:sld>
</file>

<file path=ppt/slides/slide5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5A886B1E-E8F9-4DA5-B9D6-8A1C3F91FD7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EC58A207-14BB-4C42-837B-FF2ACD8A33CF}"/>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F556930-842F-4022-866F-813EFBD7EE6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26  </a:t>
            </a:r>
          </a:p>
        </p:txBody>
      </p:sp>
      <p:sp>
        <p:nvSpPr>
          <p:cNvPr id="4" name="">
            <a:extLst>
              <a:ext uri="{FF2B5EF4-FFF2-40B4-BE49-F238E27FC236}">
                <ns2:creationId id="{B96A348B-F998-4C56-992A-A8CBED57989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788B3E9-3CCA-4469-848D-48F2F445D4FD}"/>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89D7C41D-BDEF-4F86-9CD7-1BDAB6F77038}"/>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0EBC263-3A9E-4591-BFF8-32DD1594644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051</a:t>
            </a:r>
          </a:p>
        </p:txBody>
      </p:sp>
      <p:sp>
        <p:nvSpPr>
          <p:cNvPr id="8" name="text-178-64">
            <a:extLst>
              <a:ext uri="{FF2B5EF4-FFF2-40B4-BE49-F238E27FC236}">
                <ns2:creationId id="{6BB67B7D-A66F-4E16-976C-6DCCF8E7A44D}"/>
              </a:ext>
            </a:extLst>
          </p:cNvPr>
          <p:cNvSpPr>
            <a:spLocks noGrp="1"/>
          </p:cNvSpPr>
          <p:nvPr/>
        </p:nvSpPr>
        <p:spPr>
          <a:xfrm>
            <a:off x="609600" y="1619250"/>
            <a:ext cx="10972800" cy="3303841"/>
          </a:xfrm>
          <a:prstGeom prst="rect">
            <a:avLst/>
          </a:prstGeom>
          <a:noFill/>
          <a:ln w="0">
            <a:noFill/>
          </a:ln>
        </p:spPr>
        <p:txBody>
          <a:bodyPr wrap="none" lIns="0" tIns="0" rIns="0" bIns="0" anchor="t">
            <a:noAutofit/>
          </a:bodyPr>
          <a:lstStyle/>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power(C,n)은 정수 C의 n제곱, 즉 C를 n번 곱한 값을 반환한다. n은 0 이상의 정수이며 C⁰=1로 정한다. Python에서 //는 정수 몫, %는</a:t>
            </a:r>
          </a:p>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나머지이다.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def power(C, n):</a:t>
            </a:r>
          </a:p>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if n == 0:</a:t>
            </a:r>
          </a:p>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return 1</a:t>
            </a:r>
          </a:p>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h = power(C, n // 2)</a:t>
            </a:r>
          </a:p>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r = h * h</a:t>
            </a:r>
          </a:p>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if n % 2 == 1: r = r * C</a:t>
            </a:r>
          </a:p>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    return r</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처음 power(C,n)을 호출할 때 n≥2이다. 최초 호출과 n=0인 마지막 호출을 모두 포함한 총 함수 호출 횟수는 n에 대해 어떤 시간</a:t>
            </a:r>
          </a:p>
          <a:p>
            <a:pPr>
              <a:lnSpc>
                <a:spcPct val="108000"/>
              </a:lnSpc>
              <a:spcBef>
                <a:spcPts val="0"/>
              </a:spcBef>
              <a:spcAft>
                <a:spcPts val="0"/>
              </a:spcAft>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차수로 증가하는가?</a:t>
            </a:r>
          </a:p>
        </p:txBody>
      </p:sp>
      <p:sp>
        <p:nvSpPr>
          <p:cNvPr id="9" name="text-316-72">
            <a:extLst>
              <a:ext uri="{FF2B5EF4-FFF2-40B4-BE49-F238E27FC236}">
                <ns2:creationId id="{C6DD17ED-FBA3-4B11-A7BF-220610E5465A}"/>
              </a:ext>
            </a:extLst>
          </p:cNvPr>
          <p:cNvSpPr>
            <a:spLocks noGrp="1"/>
          </p:cNvSpPr>
          <p:nvPr/>
        </p:nvSpPr>
        <p:spPr>
          <a:xfrm>
            <a:off x="685800" y="5056441"/>
            <a:ext cx="400050" cy="306896"/>
          </a:xfrm>
          <a:prstGeom prst="rect">
            <a:avLst/>
          </a:prstGeom>
          <a:noFill/>
          <a:ln w="0">
            <a:noFill/>
          </a:ln>
        </p:spPr>
        <p:txBody>
          <a:bodyPr wrap="none" lIns="0" tIns="0" rIns="0" bIns="0" anchor="t">
            <a:noAutofit/>
          </a:bodyPr>
          <a:lstStyle/>
          <a:p>
            <a:pPr algn="l">
              <a:lnSpc>
                <a:spcPct val="108000"/>
              </a:lnSpc>
              <a:buNone/>
              <a:defRPr sz="1425" b="1" i="0">
                <a:solidFill>
                  <a:srgbClr val="171717"/>
                </a:solidFill>
                <a:latin typeface="Consolas"/>
                <a:ea typeface="Consolas"/>
                <a:cs typeface="Consolas"/>
              </a:defRPr>
            </a:pPr>
            <a:r>
              <a:rPr sz="1425" b="1" i="0">
                <a:solidFill>
                  <a:srgbClr val="171717"/>
                </a:solidFill>
                <a:latin typeface="Consolas"/>
                <a:ea typeface="Consolas"/>
                <a:cs typeface="Consolas"/>
              </a:rPr>
              <a:t>1</a:t>
            </a:r>
          </a:p>
        </p:txBody>
      </p:sp>
      <p:sp>
        <p:nvSpPr>
          <p:cNvPr id="10" name="text-316-124">
            <a:extLst>
              <a:ext uri="{FF2B5EF4-FFF2-40B4-BE49-F238E27FC236}">
                <ns2:creationId id="{2BCA4631-D123-4F31-8626-EB00742CBA08}"/>
              </a:ext>
            </a:extLst>
          </p:cNvPr>
          <p:cNvSpPr>
            <a:spLocks noGrp="1"/>
          </p:cNvSpPr>
          <p:nvPr/>
        </p:nvSpPr>
        <p:spPr>
          <a:xfrm>
            <a:off x="1181100" y="5056441"/>
            <a:ext cx="4857750" cy="306896"/>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Θ(n)</a:t>
            </a:r>
          </a:p>
        </p:txBody>
      </p:sp>
      <p:sp>
        <p:nvSpPr>
          <p:cNvPr id="11" name="">
            <a:extLst>
              <a:ext uri="{FF2B5EF4-FFF2-40B4-BE49-F238E27FC236}">
                <ns2:creationId id="{01143485-1450-4801-80ED-C942E3359665}"/>
              </a:ext>
            </a:extLst>
          </p:cNvPr>
          <p:cNvSpPr>
            <a:spLocks noGrp="1"/>
          </p:cNvSpPr>
          <p:nvPr/>
        </p:nvSpPr>
        <p:spPr>
          <a:xfrm>
            <a:off x="609600" y="6267450"/>
            <a:ext cx="10972800" cy="9525"/>
          </a:xfrm>
          <a:prstGeom prst="rect">
            <a:avLst/>
          </a:prstGeom>
          <a:solidFill>
            <a:srgbClr val="E7E7E7"/>
          </a:solidFill>
          <a:ln w="0">
            <a:noFill/>
          </a:ln>
        </p:spPr>
      </p:sp>
      <p:sp>
        <p:nvSpPr>
          <p:cNvPr id="12" name="text-382-72">
            <a:extLst>
              <a:ext uri="{FF2B5EF4-FFF2-40B4-BE49-F238E27FC236}">
                <ns2:creationId id="{FE88BDBC-7F4C-42C5-A009-60FB2AF68341}"/>
              </a:ext>
            </a:extLst>
          </p:cNvPr>
          <p:cNvSpPr>
            <a:spLocks noGrp="1"/>
          </p:cNvSpPr>
          <p:nvPr/>
        </p:nvSpPr>
        <p:spPr>
          <a:xfrm>
            <a:off x="685800" y="5439537"/>
            <a:ext cx="400050" cy="306896"/>
          </a:xfrm>
          <a:prstGeom prst="rect">
            <a:avLst/>
          </a:prstGeom>
          <a:noFill/>
          <a:ln w="0">
            <a:noFill/>
          </a:ln>
        </p:spPr>
        <p:txBody>
          <a:bodyPr wrap="none" lIns="0" tIns="0" rIns="0" bIns="0" anchor="t">
            <a:noAutofit/>
          </a:bodyPr>
          <a:lstStyle/>
          <a:p>
            <a:pPr algn="l">
              <a:lnSpc>
                <a:spcPct val="108000"/>
              </a:lnSpc>
              <a:buNone/>
              <a:defRPr sz="1425" b="1" i="0">
                <a:solidFill>
                  <a:srgbClr val="171717"/>
                </a:solidFill>
                <a:latin typeface="Consolas"/>
                <a:ea typeface="Consolas"/>
                <a:cs typeface="Consolas"/>
              </a:defRPr>
            </a:pPr>
            <a:r>
              <a:rPr sz="1425" b="1" i="0">
                <a:solidFill>
                  <a:srgbClr val="171717"/>
                </a:solidFill>
                <a:latin typeface="Consolas"/>
                <a:ea typeface="Consolas"/>
                <a:cs typeface="Consolas"/>
              </a:rPr>
              <a:t>2</a:t>
            </a:r>
          </a:p>
        </p:txBody>
      </p:sp>
      <p:sp>
        <p:nvSpPr>
          <p:cNvPr id="13" name="text-382-124">
            <a:extLst>
              <a:ext uri="{FF2B5EF4-FFF2-40B4-BE49-F238E27FC236}">
                <ns2:creationId id="{6E092CFF-881A-41B7-AE9A-99C260EDF7A0}"/>
              </a:ext>
            </a:extLst>
          </p:cNvPr>
          <p:cNvSpPr>
            <a:spLocks noGrp="1"/>
          </p:cNvSpPr>
          <p:nvPr/>
        </p:nvSpPr>
        <p:spPr>
          <a:xfrm>
            <a:off x="1181100" y="5439537"/>
            <a:ext cx="4857750" cy="306896"/>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Θ(log n)</a:t>
            </a:r>
          </a:p>
        </p:txBody>
      </p:sp>
      <p:sp>
        <p:nvSpPr>
          <p:cNvPr id="14" name="">
            <a:extLst>
              <a:ext uri="{FF2B5EF4-FFF2-40B4-BE49-F238E27FC236}">
                <ns2:creationId id="{978C1C1E-C546-4CEA-8BFB-A6AAA231D1C3}"/>
              </a:ext>
            </a:extLst>
          </p:cNvPr>
          <p:cNvSpPr>
            <a:spLocks noGrp="1"/>
          </p:cNvSpPr>
          <p:nvPr/>
        </p:nvSpPr>
        <p:spPr>
          <a:xfrm>
            <a:off x="609600" y="6267450"/>
            <a:ext cx="10972800" cy="9525"/>
          </a:xfrm>
          <a:prstGeom prst="rect">
            <a:avLst/>
          </a:prstGeom>
          <a:solidFill>
            <a:srgbClr val="E7E7E7"/>
          </a:solidFill>
          <a:ln w="0">
            <a:noFill/>
          </a:ln>
        </p:spPr>
      </p:sp>
      <p:sp>
        <p:nvSpPr>
          <p:cNvPr id="15" name="text-448-72">
            <a:extLst>
              <a:ext uri="{FF2B5EF4-FFF2-40B4-BE49-F238E27FC236}">
                <ns2:creationId id="{806730EA-6520-4B60-BFC4-6922DA566B9D}"/>
              </a:ext>
            </a:extLst>
          </p:cNvPr>
          <p:cNvSpPr>
            <a:spLocks noGrp="1"/>
          </p:cNvSpPr>
          <p:nvPr/>
        </p:nvSpPr>
        <p:spPr>
          <a:xfrm>
            <a:off x="685800" y="5822633"/>
            <a:ext cx="400050" cy="306896"/>
          </a:xfrm>
          <a:prstGeom prst="rect">
            <a:avLst/>
          </a:prstGeom>
          <a:noFill/>
          <a:ln w="0">
            <a:noFill/>
          </a:ln>
        </p:spPr>
        <p:txBody>
          <a:bodyPr wrap="none" lIns="0" tIns="0" rIns="0" bIns="0" anchor="t">
            <a:noAutofit/>
          </a:bodyPr>
          <a:lstStyle/>
          <a:p>
            <a:pPr algn="l">
              <a:lnSpc>
                <a:spcPct val="108000"/>
              </a:lnSpc>
              <a:buNone/>
              <a:defRPr sz="1425" b="1" i="0">
                <a:solidFill>
                  <a:srgbClr val="171717"/>
                </a:solidFill>
                <a:latin typeface="Consolas"/>
                <a:ea typeface="Consolas"/>
                <a:cs typeface="Consolas"/>
              </a:defRPr>
            </a:pPr>
            <a:r>
              <a:rPr sz="1425" b="1" i="0">
                <a:solidFill>
                  <a:srgbClr val="171717"/>
                </a:solidFill>
                <a:latin typeface="Consolas"/>
                <a:ea typeface="Consolas"/>
                <a:cs typeface="Consolas"/>
              </a:rPr>
              <a:t>3</a:t>
            </a:r>
          </a:p>
        </p:txBody>
      </p:sp>
      <p:sp>
        <p:nvSpPr>
          <p:cNvPr id="16" name="text-448-124">
            <a:extLst>
              <a:ext uri="{FF2B5EF4-FFF2-40B4-BE49-F238E27FC236}">
                <ns2:creationId id="{385AD204-372C-4AB6-A9E5-7102D7D779AC}"/>
              </a:ext>
            </a:extLst>
          </p:cNvPr>
          <p:cNvSpPr>
            <a:spLocks noGrp="1"/>
          </p:cNvSpPr>
          <p:nvPr/>
        </p:nvSpPr>
        <p:spPr>
          <a:xfrm>
            <a:off x="1181100" y="5822633"/>
            <a:ext cx="4857750" cy="306896"/>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Θ(n log n)</a:t>
            </a:r>
          </a:p>
        </p:txBody>
      </p:sp>
      <p:sp>
        <p:nvSpPr>
          <p:cNvPr id="17" name="">
            <a:extLst>
              <a:ext uri="{FF2B5EF4-FFF2-40B4-BE49-F238E27FC236}">
                <ns2:creationId id="{4E58A500-BC4D-45C1-A68F-23172B594763}"/>
              </a:ext>
            </a:extLst>
          </p:cNvPr>
          <p:cNvSpPr>
            <a:spLocks noGrp="1"/>
          </p:cNvSpPr>
          <p:nvPr/>
        </p:nvSpPr>
        <p:spPr>
          <a:xfrm>
            <a:off x="609600" y="6267450"/>
            <a:ext cx="10972800" cy="9525"/>
          </a:xfrm>
          <a:prstGeom prst="rect">
            <a:avLst/>
          </a:prstGeom>
          <a:solidFill>
            <a:srgbClr val="E7E7E7"/>
          </a:solidFill>
          <a:ln w="0">
            <a:noFill/>
          </a:ln>
        </p:spPr>
      </p:sp>
      <p:sp>
        <p:nvSpPr>
          <p:cNvPr id="18" name="text-514-72">
            <a:extLst>
              <a:ext uri="{FF2B5EF4-FFF2-40B4-BE49-F238E27FC236}">
                <ns2:creationId id="{24A07314-7A4C-4183-8795-36A69C85B292}"/>
              </a:ext>
            </a:extLst>
          </p:cNvPr>
          <p:cNvSpPr>
            <a:spLocks noGrp="1"/>
          </p:cNvSpPr>
          <p:nvPr/>
        </p:nvSpPr>
        <p:spPr>
          <a:xfrm>
            <a:off x="6191250" y="5056441"/>
            <a:ext cx="400050" cy="306896"/>
          </a:xfrm>
          <a:prstGeom prst="rect">
            <a:avLst/>
          </a:prstGeom>
          <a:noFill/>
          <a:ln w="0">
            <a:noFill/>
          </a:ln>
        </p:spPr>
        <p:txBody>
          <a:bodyPr wrap="none" lIns="0" tIns="0" rIns="0" bIns="0" anchor="t">
            <a:noAutofit/>
          </a:bodyPr>
          <a:lstStyle/>
          <a:p>
            <a:pPr algn="l">
              <a:lnSpc>
                <a:spcPct val="108000"/>
              </a:lnSpc>
              <a:buNone/>
              <a:defRPr sz="1425" b="1" i="0">
                <a:solidFill>
                  <a:srgbClr val="171717"/>
                </a:solidFill>
                <a:latin typeface="Consolas"/>
                <a:ea typeface="Consolas"/>
                <a:cs typeface="Consolas"/>
              </a:defRPr>
            </a:pPr>
            <a:r>
              <a:rPr sz="1425" b="1" i="0">
                <a:solidFill>
                  <a:srgbClr val="171717"/>
                </a:solidFill>
                <a:latin typeface="Consolas"/>
                <a:ea typeface="Consolas"/>
                <a:cs typeface="Consolas"/>
              </a:rPr>
              <a:t>4</a:t>
            </a:r>
          </a:p>
        </p:txBody>
      </p:sp>
      <p:sp>
        <p:nvSpPr>
          <p:cNvPr id="19" name="text-514-124">
            <a:extLst>
              <a:ext uri="{FF2B5EF4-FFF2-40B4-BE49-F238E27FC236}">
                <ns2:creationId id="{B224CD77-7DFE-4B43-BD9F-2436C90D0975}"/>
              </a:ext>
            </a:extLst>
          </p:cNvPr>
          <p:cNvSpPr>
            <a:spLocks noGrp="1"/>
          </p:cNvSpPr>
          <p:nvPr/>
        </p:nvSpPr>
        <p:spPr>
          <a:xfrm>
            <a:off x="6629400" y="5056441"/>
            <a:ext cx="4857750" cy="306896"/>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Θ(n²)</a:t>
            </a:r>
          </a:p>
        </p:txBody>
      </p:sp>
      <p:sp>
        <p:nvSpPr>
          <p:cNvPr id="20" name="">
            <a:extLst>
              <a:ext uri="{FF2B5EF4-FFF2-40B4-BE49-F238E27FC236}">
                <ns2:creationId id="{817FE5E6-FD19-44B2-993A-BC5C4A5BA1C3}"/>
              </a:ext>
            </a:extLst>
          </p:cNvPr>
          <p:cNvSpPr>
            <a:spLocks noGrp="1"/>
          </p:cNvSpPr>
          <p:nvPr/>
        </p:nvSpPr>
        <p:spPr>
          <a:xfrm>
            <a:off x="609600" y="6267450"/>
            <a:ext cx="10972800" cy="9525"/>
          </a:xfrm>
          <a:prstGeom prst="rect">
            <a:avLst/>
          </a:prstGeom>
          <a:solidFill>
            <a:srgbClr val="E7E7E7"/>
          </a:solidFill>
          <a:ln w="0">
            <a:noFill/>
          </a:ln>
        </p:spPr>
      </p:sp>
      <p:sp>
        <p:nvSpPr>
          <p:cNvPr id="21" name="text-580-72">
            <a:extLst>
              <a:ext uri="{FF2B5EF4-FFF2-40B4-BE49-F238E27FC236}">
                <ns2:creationId id="{1B5A2DA5-BA57-43FF-B4B4-F1A0D6BC3905}"/>
              </a:ext>
            </a:extLst>
          </p:cNvPr>
          <p:cNvSpPr>
            <a:spLocks noGrp="1"/>
          </p:cNvSpPr>
          <p:nvPr/>
        </p:nvSpPr>
        <p:spPr>
          <a:xfrm>
            <a:off x="6191250" y="5439537"/>
            <a:ext cx="400050" cy="306896"/>
          </a:xfrm>
          <a:prstGeom prst="rect">
            <a:avLst/>
          </a:prstGeom>
          <a:noFill/>
          <a:ln w="0">
            <a:noFill/>
          </a:ln>
        </p:spPr>
        <p:txBody>
          <a:bodyPr wrap="none" lIns="0" tIns="0" rIns="0" bIns="0" anchor="t">
            <a:noAutofit/>
          </a:bodyPr>
          <a:lstStyle/>
          <a:p>
            <a:pPr algn="l">
              <a:lnSpc>
                <a:spcPct val="108000"/>
              </a:lnSpc>
              <a:buNone/>
              <a:defRPr sz="1425" b="1" i="0">
                <a:solidFill>
                  <a:srgbClr val="171717"/>
                </a:solidFill>
                <a:latin typeface="Consolas"/>
                <a:ea typeface="Consolas"/>
                <a:cs typeface="Consolas"/>
              </a:defRPr>
            </a:pPr>
            <a:r>
              <a:rPr sz="1425" b="1" i="0">
                <a:solidFill>
                  <a:srgbClr val="171717"/>
                </a:solidFill>
                <a:latin typeface="Consolas"/>
                <a:ea typeface="Consolas"/>
                <a:cs typeface="Consolas"/>
              </a:rPr>
              <a:t>5</a:t>
            </a:r>
          </a:p>
        </p:txBody>
      </p:sp>
      <p:sp>
        <p:nvSpPr>
          <p:cNvPr id="22" name="text-580-124">
            <a:extLst>
              <a:ext uri="{FF2B5EF4-FFF2-40B4-BE49-F238E27FC236}">
                <ns2:creationId id="{66102A1F-65C2-4A98-8EC2-BA05E3997FB1}"/>
              </a:ext>
            </a:extLst>
          </p:cNvPr>
          <p:cNvSpPr>
            <a:spLocks noGrp="1"/>
          </p:cNvSpPr>
          <p:nvPr/>
        </p:nvSpPr>
        <p:spPr>
          <a:xfrm>
            <a:off x="6629400" y="5439537"/>
            <a:ext cx="4857750" cy="306896"/>
          </a:xfrm>
          <a:prstGeom prst="rect">
            <a:avLst/>
          </a:prstGeom>
          <a:noFill/>
          <a:ln w="0">
            <a:noFill/>
          </a:ln>
        </p:spPr>
        <p:txBody>
          <a:bodyPr wrap="none" lIns="0" tIns="0" rIns="0" bIns="0" anchor="t">
            <a:noAutofit/>
          </a:bodyPr>
          <a:lstStyle/>
          <a:p>
            <a:pPr algn="l">
              <a:lnSpc>
                <a:spcPct val="108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Θ(1)</a:t>
            </a:r>
          </a:p>
        </p:txBody>
      </p:sp>
    </p:spTree>
    <p:extLst>
      <p:ext uri="{BB962C8B-B14F-4D97-AF65-F5344CB8AC3E}">
        <ns3:creationId val="462685519"/>
      </p:ext>
    </p:extLst>
  </p:cSld>
</p:sld>
</file>

<file path=ppt/slides/slide5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9FAA12EB-BBF5-46B3-AA3A-C49527A6BD5C}"/>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EEC66095-832A-472E-A65E-B8F3B5AD5AD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FFFBC2FA-FFC6-4EE0-B9F1-8C6156AB788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26  정답과 해설</a:t>
            </a:r>
          </a:p>
        </p:txBody>
      </p:sp>
      <p:sp>
        <p:nvSpPr>
          <p:cNvPr id="4" name="">
            <a:extLst>
              <a:ext uri="{FF2B5EF4-FFF2-40B4-BE49-F238E27FC236}">
                <ns2:creationId id="{0DEA4E2A-405A-490B-8939-77852A82638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D3F49BA-2880-45B7-98B6-996181DDC45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62BE7E1D-4481-4814-91AB-B59DBE0A8C3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11B137C-7EF7-407C-A57F-D33E50F15D28}"/>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052</a:t>
            </a:r>
          </a:p>
        </p:txBody>
      </p:sp>
      <p:sp>
        <p:nvSpPr>
          <p:cNvPr id="8" name="text-178-64">
            <a:extLst>
              <a:ext uri="{FF2B5EF4-FFF2-40B4-BE49-F238E27FC236}">
                <ns2:creationId id="{ECE53573-77E1-4C91-B710-3A11B1B0FE82}"/>
              </a:ext>
            </a:extLst>
          </p:cNvPr>
          <p:cNvSpPr>
            <a:spLocks noGrp="1"/>
          </p:cNvSpPr>
          <p:nvPr/>
        </p:nvSpPr>
        <p:spPr>
          <a:xfrm>
            <a:off x="609600" y="1619250"/>
            <a:ext cx="10972800" cy="3218402"/>
          </a:xfrm>
          <a:prstGeom prst="rect">
            <a:avLst/>
          </a:prstGeom>
          <a:noFill/>
          <a:ln w="0">
            <a:noFill/>
          </a:ln>
        </p:spPr>
        <p:txBody>
          <a:bodyPr wrap="none" lIns="0" tIns="0" rIns="0" bIns="0" anchor="t">
            <a:noAutofit/>
          </a:bodyPr>
          <a:lstStyle/>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power(C,n)은 정수 C의 n제곱, 즉 C를 n번 곱한 값을 반환한다. n은 0 이상의 정수이며 C⁰=1로 정한다. Python에서 //는 정수 몫, %는</a:t>
            </a:r>
          </a:p>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나머지이다.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def power(C, n):</a:t>
            </a:r>
          </a:p>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if n == 0:</a:t>
            </a:r>
          </a:p>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return 1</a:t>
            </a:r>
          </a:p>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h = power(C, n // 2)</a:t>
            </a:r>
          </a:p>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r = h * h</a:t>
            </a:r>
          </a:p>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if n % 2 == 1: r = r * C</a:t>
            </a:r>
          </a:p>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return r</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처음 power(C,n)을 호출할 때 n≥2이다. 최초 호출과 n=0인 마지막 호출을 모두 포함한 총 함수 호출 횟수는 n에 대해 어떤 시간 차수로</a:t>
            </a:r>
          </a:p>
          <a:p>
            <a:pPr>
              <a:lnSpc>
                <a:spcPct val="108000"/>
              </a:lnSpc>
              <a:spcBef>
                <a:spcPts val="0"/>
              </a:spcBef>
              <a:spcAft>
                <a:spcPts val="0"/>
              </a:spcAft>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증가하는가?</a:t>
            </a:r>
          </a:p>
        </p:txBody>
      </p:sp>
      <p:sp>
        <p:nvSpPr>
          <p:cNvPr id="9" name="">
            <a:extLst>
              <a:ext uri="{FF2B5EF4-FFF2-40B4-BE49-F238E27FC236}">
                <ns2:creationId id="{5483FF06-C470-413A-AB4D-EB773080145B}"/>
              </a:ext>
            </a:extLst>
          </p:cNvPr>
          <p:cNvSpPr>
            <a:spLocks noGrp="1"/>
          </p:cNvSpPr>
          <p:nvPr/>
        </p:nvSpPr>
        <p:spPr>
          <a:xfrm>
            <a:off x="609600" y="4951952"/>
            <a:ext cx="10972800" cy="465868"/>
          </a:xfrm>
          <a:prstGeom prst="rect">
            <a:avLst/>
          </a:prstGeom>
          <a:solidFill>
            <a:srgbClr val="171717"/>
          </a:solidFill>
          <a:ln w="0">
            <a:noFill/>
          </a:ln>
        </p:spPr>
      </p:sp>
      <p:sp>
        <p:nvSpPr>
          <p:cNvPr id="10" name="text-245.6-92">
            <a:extLst>
              <a:ext uri="{FF2B5EF4-FFF2-40B4-BE49-F238E27FC236}">
                <ns2:creationId id="{4E344E26-C285-4F21-AB99-16B37ECCF21F}"/>
              </a:ext>
            </a:extLst>
          </p:cNvPr>
          <p:cNvSpPr>
            <a:spLocks noGrp="1"/>
          </p:cNvSpPr>
          <p:nvPr/>
        </p:nvSpPr>
        <p:spPr>
          <a:xfrm>
            <a:off x="876300" y="5028152"/>
            <a:ext cx="10439400" cy="313468"/>
          </a:xfrm>
          <a:prstGeom prst="rect">
            <a:avLst/>
          </a:prstGeom>
          <a:noFill/>
          <a:ln w="0">
            <a:noFill/>
          </a:ln>
        </p:spPr>
        <p:txBody>
          <a:bodyPr wrap="none" lIns="0" tIns="0" rIns="0" bIns="0" anchor="t">
            <a:noAutofit/>
          </a:bodyPr>
          <a:lstStyle/>
          <a:p>
            <a:pPr algn="l">
              <a:lnSpc>
                <a:spcPct val="108000"/>
              </a:lnSpc>
              <a:spcBef>
                <a:spcPts val="0"/>
              </a:spcBef>
              <a:spcAft>
                <a:spcPts val="0"/>
              </a:spcAft>
              <a:buNone/>
              <a:defRPr sz="1463" b="1" i="0">
                <a:solidFill>
                  <a:srgbClr val="FFFFFF"/>
                </a:solidFill>
                <a:latin typeface="Malgun Gothic"/>
                <a:ea typeface="Malgun Gothic"/>
                <a:cs typeface="Malgun Gothic"/>
              </a:defRPr>
            </a:pPr>
            <a:r>
              <a:rPr sz="1463" b="1" i="0">
                <a:solidFill>
                  <a:srgbClr val="FFFFFF"/>
                </a:solidFill>
                <a:latin typeface="Malgun Gothic"/>
                <a:ea typeface="Malgun Gothic"/>
                <a:cs typeface="Malgun Gothic"/>
              </a:rPr>
              <a:t>2번 Θ(log n)</a:t>
            </a:r>
          </a:p>
        </p:txBody>
      </p:sp>
      <p:sp>
        <p:nvSpPr>
          <p:cNvPr id="11" name="text-324.4-64">
            <a:extLst>
              <a:ext uri="{FF2B5EF4-FFF2-40B4-BE49-F238E27FC236}">
                <ns2:creationId id="{E3ECF4A8-79BF-4F3E-A82E-4B98342E929E}"/>
              </a:ext>
            </a:extLst>
          </p:cNvPr>
          <p:cNvSpPr>
            <a:spLocks noGrp="1"/>
          </p:cNvSpPr>
          <p:nvPr/>
        </p:nvSpPr>
        <p:spPr>
          <a:xfrm>
            <a:off x="609600" y="5513070"/>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0A23D887-96EB-41E4-9147-EB155C1E78E2}"/>
              </a:ext>
            </a:extLst>
          </p:cNvPr>
          <p:cNvSpPr>
            <a:spLocks noGrp="1"/>
          </p:cNvSpPr>
          <p:nvPr/>
        </p:nvSpPr>
        <p:spPr>
          <a:xfrm>
            <a:off x="609600" y="6267450"/>
            <a:ext cx="10972800" cy="9525"/>
          </a:xfrm>
          <a:prstGeom prst="rect">
            <a:avLst/>
          </a:prstGeom>
          <a:solidFill>
            <a:srgbClr val="D4D4D4"/>
          </a:solidFill>
          <a:ln w="0">
            <a:noFill/>
          </a:ln>
        </p:spPr>
      </p:sp>
      <p:sp>
        <p:nvSpPr>
          <p:cNvPr id="13" name="text-372.4-64">
            <a:extLst>
              <a:ext uri="{FF2B5EF4-FFF2-40B4-BE49-F238E27FC236}">
                <ns2:creationId id="{3FD608EF-274B-469B-9BA1-C7DE1AB92393}"/>
              </a:ext>
            </a:extLst>
          </p:cNvPr>
          <p:cNvSpPr>
            <a:spLocks noGrp="1"/>
          </p:cNvSpPr>
          <p:nvPr/>
        </p:nvSpPr>
        <p:spPr>
          <a:xfrm>
            <a:off x="609600" y="5890260"/>
            <a:ext cx="10972800" cy="313468"/>
          </a:xfrm>
          <a:prstGeom prst="rect">
            <a:avLst/>
          </a:prstGeom>
          <a:noFill/>
          <a:ln w="0">
            <a:noFill/>
          </a:ln>
        </p:spPr>
        <p:txBody>
          <a:bodyPr wrap="none" lIns="0" tIns="0" rIns="0" bIns="0" anchor="t">
            <a:noAutofit/>
          </a:bodyPr>
          <a:lstStyle/>
          <a:p>
            <a:pPr algn="l">
              <a:lnSpc>
                <a:spcPct val="108000"/>
              </a:lnSpc>
              <a:spcBef>
                <a:spcPts val="0"/>
              </a:spcBef>
              <a:spcAft>
                <a:spcPts val="0"/>
              </a:spcAft>
              <a:buNone/>
              <a:defRPr sz="1463" b="0" i="0">
                <a:solidFill>
                  <a:srgbClr val="606060"/>
                </a:solidFill>
                <a:latin typeface="Malgun Gothic"/>
                <a:ea typeface="Malgun Gothic"/>
                <a:cs typeface="Malgun Gothic"/>
              </a:defRPr>
            </a:pPr>
            <a:r>
              <a:rPr sz="1463" b="0" i="0">
                <a:solidFill>
                  <a:srgbClr val="606060"/>
                </a:solidFill>
                <a:latin typeface="Malgun Gothic"/>
                <a:ea typeface="Malgun Gothic"/>
                <a:cs typeface="Malgun Gothic"/>
              </a:rPr>
              <a:t>매번 n을 절반으로 줄이므로 0에 도달할 때까지의 총 호출 횟수는 Θ(log n)이다.</a:t>
            </a:r>
          </a:p>
        </p:txBody>
      </p:sp>
    </p:spTree>
    <p:extLst>
      <p:ext uri="{BB962C8B-B14F-4D97-AF65-F5344CB8AC3E}">
        <ns3:creationId val="462685519"/>
      </p:ext>
    </p:extLst>
  </p:cSld>
</p:sld>
</file>

<file path=ppt/slides/slide5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950B1C86-A430-41A8-B3E6-F54F8771F2F3}"/>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D09CEFFD-566A-4AA4-AB26-C4F09B994678}"/>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CFF1EEA-A45E-481A-B5C1-0876503C6FC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27  </a:t>
            </a:r>
          </a:p>
        </p:txBody>
      </p:sp>
      <p:sp>
        <p:nvSpPr>
          <p:cNvPr id="4" name="">
            <a:extLst>
              <a:ext uri="{FF2B5EF4-FFF2-40B4-BE49-F238E27FC236}">
                <ns2:creationId id="{20CAAE6D-9CF1-4AF7-A350-F201C3CB758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4EE1695-BE63-439D-B7FE-16E3561B1C05}"/>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343EF06-8A54-43D6-9504-E1FA82132293}"/>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D97061B-8A96-4FD9-B805-36F210DA556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053</a:t>
            </a:r>
          </a:p>
        </p:txBody>
      </p:sp>
      <p:sp>
        <p:nvSpPr>
          <p:cNvPr id="8" name="text-178-64">
            <a:extLst>
              <a:ext uri="{FF2B5EF4-FFF2-40B4-BE49-F238E27FC236}">
                <ns2:creationId id="{DC516B31-C593-4B55-AB10-79897ABFD1D6}"/>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길이 n인 배열 a를 오름차순 삽입 정렬한다. 인덱스는 0부터이다. i=1부터 차례로 현재</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a[i]를 앞의 정렬된 구간에 삽입한다. 각 반복 i가 시작되기 직전에 항상 성립하는 설명은?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a[p:q]는 인덱스 p부터 q−1까지의 구간이다.</a:t>
            </a:r>
          </a:p>
        </p:txBody>
      </p:sp>
      <p:sp>
        <p:nvSpPr>
          <p:cNvPr id="9" name="text-316-72">
            <a:extLst>
              <a:ext uri="{FF2B5EF4-FFF2-40B4-BE49-F238E27FC236}">
                <ns2:creationId id="{67495092-01FA-42BC-A253-A0E13C5B1819}"/>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FF48FA68-0299-45D5-8063-52DDC6C83BA7}"/>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a[i:n]가 정렬되어 있다</a:t>
            </a:r>
          </a:p>
        </p:txBody>
      </p:sp>
      <p:sp>
        <p:nvSpPr>
          <p:cNvPr id="11" name="">
            <a:extLst>
              <a:ext uri="{FF2B5EF4-FFF2-40B4-BE49-F238E27FC236}">
                <ns2:creationId id="{F6CBA4B1-029E-4B06-979C-94F107CC0887}"/>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BEAD5A1C-715F-446F-A9D2-60DEBB5490C9}"/>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FD06FD0B-3E42-4532-9FDB-A1E21AA02D43}"/>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a[i]가 전체 최솟값이다</a:t>
            </a:r>
          </a:p>
        </p:txBody>
      </p:sp>
      <p:sp>
        <p:nvSpPr>
          <p:cNvPr id="14" name="">
            <a:extLst>
              <a:ext uri="{FF2B5EF4-FFF2-40B4-BE49-F238E27FC236}">
                <ns2:creationId id="{59656EA7-25A4-4D8F-BC2D-35DE2DB46F43}"/>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32FC0680-3460-4491-BDB5-7FB011C5099F}"/>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7607E111-A54A-432C-910F-CA70F2F66EBE}"/>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a[0:i]가 정렬되어 있다</a:t>
            </a:r>
          </a:p>
        </p:txBody>
      </p:sp>
      <p:sp>
        <p:nvSpPr>
          <p:cNvPr id="17" name="">
            <a:extLst>
              <a:ext uri="{FF2B5EF4-FFF2-40B4-BE49-F238E27FC236}">
                <ns2:creationId id="{3E933FA8-CDBB-426B-B340-602464FC44BC}"/>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1EBB8170-7D04-46E9-A104-D0853740C19B}"/>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2C497B91-770D-4569-A3E8-262C5249950E}"/>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앞부분 원소가 모두 같은 값이다</a:t>
            </a:r>
          </a:p>
        </p:txBody>
      </p:sp>
      <p:sp>
        <p:nvSpPr>
          <p:cNvPr id="20" name="">
            <a:extLst>
              <a:ext uri="{FF2B5EF4-FFF2-40B4-BE49-F238E27FC236}">
                <ns2:creationId id="{196FD052-BF0D-4D90-B97E-880E53D4B9A6}"/>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48AF7D2B-64EC-468E-A903-D1EB93AFBF75}"/>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06FED0AD-ADDB-4A11-A823-14F4D9608495}"/>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전체 배열이 정렬되어 있다</a:t>
            </a:r>
          </a:p>
        </p:txBody>
      </p:sp>
    </p:spTree>
    <p:extLst>
      <p:ext uri="{BB962C8B-B14F-4D97-AF65-F5344CB8AC3E}">
        <ns3:creationId val="462685519"/>
      </p:ext>
    </p:extLst>
  </p:cSld>
</p:sld>
</file>

<file path=ppt/slides/slide5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09569640-90EA-4B7C-B620-56CFB70BFCB6}"/>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0E2A2E8E-8C47-4497-BF55-5B52916375DC}"/>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16C6765-6376-41AE-812E-FA4BD5D5056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27  정답과 해설</a:t>
            </a:r>
          </a:p>
        </p:txBody>
      </p:sp>
      <p:sp>
        <p:nvSpPr>
          <p:cNvPr id="4" name="">
            <a:extLst>
              <a:ext uri="{FF2B5EF4-FFF2-40B4-BE49-F238E27FC236}">
                <ns2:creationId id="{B86860A1-76F3-4526-82C1-D9C6BC95EF8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E90413E-58CE-4B97-9364-67B923CD493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B952CE0-CF19-4312-BEC4-0C92F1EF74F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3E9CFE6-4FC3-4D25-8308-71FACFC3E8F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054</a:t>
            </a:r>
          </a:p>
        </p:txBody>
      </p:sp>
      <p:sp>
        <p:nvSpPr>
          <p:cNvPr id="8" name="text-178-64">
            <a:extLst>
              <a:ext uri="{FF2B5EF4-FFF2-40B4-BE49-F238E27FC236}">
                <ns2:creationId id="{1A525039-28C6-4695-9C70-D5BEC2FDE338}"/>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길이 n인 배열 a를 오름차순 삽입 정렬한다. 인덱스는 0부터이다. i=1부터 차례로 현재 a[i]를 앞의 정렬된</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구간에 삽입한다. 각 반복 i가 시작되기 직전에 항상 성립하는 설명은? a[p:q]는 인덱스 p부터 q−1까지의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구간이다.</a:t>
            </a:r>
          </a:p>
        </p:txBody>
      </p:sp>
      <p:sp>
        <p:nvSpPr>
          <p:cNvPr id="9" name="">
            <a:extLst>
              <a:ext uri="{FF2B5EF4-FFF2-40B4-BE49-F238E27FC236}">
                <ns2:creationId id="{9F489550-11DD-40F7-A9CB-D2D08C4DA13D}"/>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610E4D63-02BE-4A0B-997C-2D92F05EDE7B}"/>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3번 a[0:i]가 정렬되어 있다</a:t>
            </a:r>
          </a:p>
        </p:txBody>
      </p:sp>
      <p:sp>
        <p:nvSpPr>
          <p:cNvPr id="11" name="text-324.4-64">
            <a:extLst>
              <a:ext uri="{FF2B5EF4-FFF2-40B4-BE49-F238E27FC236}">
                <ns2:creationId id="{B49C7C80-A6C8-4CB7-80B9-BE7DA1E80591}"/>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53E47265-7059-4FC0-834A-B64ED73D04E3}"/>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E64D1E83-D225-46FB-B4FE-6340163AEC24}"/>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정렬된 접두 구간에 현재 원소를 삽입하며 길이를 한 칸 늘린다.</a:t>
            </a:r>
          </a:p>
        </p:txBody>
      </p:sp>
    </p:spTree>
    <p:extLst>
      <p:ext uri="{BB962C8B-B14F-4D97-AF65-F5344CB8AC3E}">
        <ns3:creationId val="462685519"/>
      </p:ext>
    </p:extLst>
  </p:cSld>
</p:sld>
</file>

<file path=ppt/slides/slide5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A41618FD-3B3D-477C-8AFB-2640627728C8}"/>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E3A49794-823B-40B2-9A93-030A583E7F3B}"/>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8D77FF0-B271-46D0-B4C6-231147145B7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29  </a:t>
            </a:r>
          </a:p>
        </p:txBody>
      </p:sp>
      <p:sp>
        <p:nvSpPr>
          <p:cNvPr id="4" name="">
            <a:extLst>
              <a:ext uri="{FF2B5EF4-FFF2-40B4-BE49-F238E27FC236}">
                <ns2:creationId id="{EAD06ED0-EC63-4613-89EC-EC398FD5F75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1CF43BC-DBF5-41DB-96A4-C942100780E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A181604-9D74-482A-B3EC-81FE8FFDA06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9935D54-0035-444B-8545-241D3DD38E8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057</a:t>
            </a:r>
          </a:p>
        </p:txBody>
      </p:sp>
      <p:sp>
        <p:nvSpPr>
          <p:cNvPr id="8" name="text-178-64">
            <a:extLst>
              <a:ext uri="{FF2B5EF4-FFF2-40B4-BE49-F238E27FC236}">
                <ns2:creationId id="{D3379D7B-A68E-402E-8C49-F7A3765A5690}"/>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서로 다른 n개 원소가 이미 오름차순으로 정렬되어 있다. 삽입 정렬은 두 번째 원소부터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하나씩 꺼내 앞부분을 뒤에서부터 검사하고, 꺼낸 값보다 큰 원소만 오른쪽으로 민다.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비교·대입을 상수 시간으로 셀 때 이 입력의 가장 정확한 시간 복잡도는?</a:t>
            </a:r>
          </a:p>
        </p:txBody>
      </p:sp>
      <p:sp>
        <p:nvSpPr>
          <p:cNvPr id="9" name="text-316-72">
            <a:extLst>
              <a:ext uri="{FF2B5EF4-FFF2-40B4-BE49-F238E27FC236}">
                <ns2:creationId id="{7320E834-AA74-4615-A18B-8CAE48BD4D0F}"/>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5E6026A2-AF50-403E-A736-DB90CCA22C0D}"/>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 log n)</a:t>
            </a:r>
          </a:p>
        </p:txBody>
      </p:sp>
      <p:sp>
        <p:nvSpPr>
          <p:cNvPr id="11" name="">
            <a:extLst>
              <a:ext uri="{FF2B5EF4-FFF2-40B4-BE49-F238E27FC236}">
                <ns2:creationId id="{EDAC9F16-FA1A-4E9D-9D46-8CAF420E3C33}"/>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4D04786B-9695-40D3-9B07-7CD86D3BDFC3}"/>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D01CC85E-8A19-453C-A8AF-CDF189A2D259}"/>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Θ(n²)가 반드시 필요하다</a:t>
            </a:r>
          </a:p>
        </p:txBody>
      </p:sp>
      <p:sp>
        <p:nvSpPr>
          <p:cNvPr id="14" name="">
            <a:extLst>
              <a:ext uri="{FF2B5EF4-FFF2-40B4-BE49-F238E27FC236}">
                <ns2:creationId id="{7E10D975-73DD-4749-BCE9-BD48FCC510EF}"/>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35098B28-E12F-42DF-8080-784CD2B34B12}"/>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E72A63AB-36B0-4A3F-83A9-5F181C2F290F}"/>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Θ(log n)</a:t>
            </a:r>
          </a:p>
        </p:txBody>
      </p:sp>
      <p:sp>
        <p:nvSpPr>
          <p:cNvPr id="17" name="">
            <a:extLst>
              <a:ext uri="{FF2B5EF4-FFF2-40B4-BE49-F238E27FC236}">
                <ns2:creationId id="{88651E17-9D43-468A-BF24-CF7A0B9FDABA}"/>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647A26CB-D479-4EAA-A8B8-7C0322C48B2D}"/>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B040A68C-6614-4928-ABD2-41E4EA8178C0}"/>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a:t>
            </a:r>
          </a:p>
        </p:txBody>
      </p:sp>
      <p:sp>
        <p:nvSpPr>
          <p:cNvPr id="20" name="">
            <a:extLst>
              <a:ext uri="{FF2B5EF4-FFF2-40B4-BE49-F238E27FC236}">
                <ns2:creationId id="{967DD8BD-BBBA-44D2-94D5-20A23E086E01}"/>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912E9E9C-B048-4EB0-8129-F1F1B8D34A15}"/>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BA7F4F77-2F8B-488A-9342-D816ED3C518E}"/>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Θ(1)</a:t>
            </a:r>
          </a:p>
        </p:txBody>
      </p:sp>
    </p:spTree>
    <p:extLst>
      <p:ext uri="{BB962C8B-B14F-4D97-AF65-F5344CB8AC3E}">
        <ns3:creationId val="462685519"/>
      </p:ext>
    </p:extLst>
  </p:cSld>
</p:sld>
</file>

<file path=ppt/slides/slide5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D9341DB0-D03F-4178-B098-9BFBCA152669}"/>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FCE82F67-0692-4D21-880B-E54C32184AE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F00FFAC7-5689-4AC9-B9FE-B07FBE39D4C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29  정답과 해설</a:t>
            </a:r>
          </a:p>
        </p:txBody>
      </p:sp>
      <p:sp>
        <p:nvSpPr>
          <p:cNvPr id="4" name="">
            <a:extLst>
              <a:ext uri="{FF2B5EF4-FFF2-40B4-BE49-F238E27FC236}">
                <ns2:creationId id="{F3A07974-B88F-4D47-B477-785D0C70AA3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463A75D-0970-445C-86B2-9A26EDB8C5D1}"/>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C183FBE-2454-4A5C-B9DC-A283183FD7B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3AA5EEC-478F-43A3-B88E-65A9B36D83BF}"/>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058</a:t>
            </a:r>
          </a:p>
        </p:txBody>
      </p:sp>
      <p:sp>
        <p:nvSpPr>
          <p:cNvPr id="8" name="text-178-64">
            <a:extLst>
              <a:ext uri="{FF2B5EF4-FFF2-40B4-BE49-F238E27FC236}">
                <ns2:creationId id="{D0295D06-162B-4612-B94B-CC83D6450462}"/>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서로 다른 n개 원소가 이미 오름차순으로 정렬되어 있다. 삽입 정렬은 두 번째 원소부터 하나씩 꺼내</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앞부분을 뒤에서부터 검사하고, 꺼낸 값보다 큰 원소만 오른쪽으로 민다. 비교·대입을 상수 시간으로 셀 때</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이 입력의 가장 정확한 시간 복잡도는?</a:t>
            </a:r>
          </a:p>
        </p:txBody>
      </p:sp>
      <p:sp>
        <p:nvSpPr>
          <p:cNvPr id="9" name="">
            <a:extLst>
              <a:ext uri="{FF2B5EF4-FFF2-40B4-BE49-F238E27FC236}">
                <ns2:creationId id="{A908C208-DFEB-497F-BD0B-09B79F239689}"/>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EC95E2B0-0F94-4361-BF37-B633EF71DD9A}"/>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4번 Θ(n)</a:t>
            </a:r>
          </a:p>
        </p:txBody>
      </p:sp>
      <p:sp>
        <p:nvSpPr>
          <p:cNvPr id="11" name="text-324.4-64">
            <a:extLst>
              <a:ext uri="{FF2B5EF4-FFF2-40B4-BE49-F238E27FC236}">
                <ns2:creationId id="{D0614162-5F1B-463A-9494-6A72EE055DF0}"/>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98A44576-7919-454F-924D-7633600FED5A}"/>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21A8510B-8BA3-41FD-A359-16CDBAC71CE9}"/>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각 삽입에서 한 번 비교하고 이동하지 않는다. 바깥 반복은 n−1번이다.</a:t>
            </a:r>
          </a:p>
        </p:txBody>
      </p:sp>
    </p:spTree>
    <p:extLst>
      <p:ext uri="{BB962C8B-B14F-4D97-AF65-F5344CB8AC3E}">
        <ns3:creationId val="462685519"/>
      </p:ext>
    </p:extLst>
  </p:cSld>
</p:sld>
</file>

<file path=ppt/slides/slide5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596A9595-6706-409D-9A47-AB002BB00E96}"/>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9E8D72E1-0196-4411-9E8B-7DDE3422E45B}"/>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8DB7B47-5967-436D-9D84-0A98979C715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30  </a:t>
            </a:r>
          </a:p>
        </p:txBody>
      </p:sp>
      <p:sp>
        <p:nvSpPr>
          <p:cNvPr id="4" name="">
            <a:extLst>
              <a:ext uri="{FF2B5EF4-FFF2-40B4-BE49-F238E27FC236}">
                <ns2:creationId id="{E645E5F4-8751-445B-A9D8-D37B041BCCB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D64D7B7-9E3A-4021-BC79-D218B5BF236C}"/>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99D4BDF-F90F-4DED-92FB-8B55413BFE53}"/>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7285B2FB-58A1-4FA1-AD54-5E2B8EB2B5BB}"/>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059</a:t>
            </a:r>
          </a:p>
        </p:txBody>
      </p:sp>
      <p:sp>
        <p:nvSpPr>
          <p:cNvPr id="8" name="text-178-64">
            <a:extLst>
              <a:ext uri="{FF2B5EF4-FFF2-40B4-BE49-F238E27FC236}">
                <ns2:creationId id="{777B49A8-DC18-4408-9576-6113015C6268}"/>
              </a:ext>
            </a:extLst>
          </p:cNvPr>
          <p:cNvSpPr>
            <a:spLocks noGrp="1"/>
          </p:cNvSpPr>
          <p:nvPr/>
        </p:nvSpPr>
        <p:spPr>
          <a:xfrm>
            <a:off x="609600" y="16954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서로 다른 n개 원소가 내림차순인 배열을 오름차순 삽입 정렬한다. 앞 원소를 오른쪽으로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한 칸 미는 대입 a[j+1]=a[j]는 총 몇 회인가? key 저장과 마지막 삽입 대입은 제외한다.</a:t>
            </a:r>
          </a:p>
        </p:txBody>
      </p:sp>
      <p:sp>
        <p:nvSpPr>
          <p:cNvPr id="9" name="text-316-72">
            <a:extLst>
              <a:ext uri="{FF2B5EF4-FFF2-40B4-BE49-F238E27FC236}">
                <ns2:creationId id="{CF92B093-A607-4C87-8E13-45BED7FB09F1}"/>
              </a:ext>
            </a:extLst>
          </p:cNvPr>
          <p:cNvSpPr>
            <a:spLocks noGrp="1"/>
          </p:cNvSpPr>
          <p:nvPr/>
        </p:nvSpPr>
        <p:spPr>
          <a:xfrm>
            <a:off x="685800" y="25092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a:ext uri="{FF2B5EF4-FFF2-40B4-BE49-F238E27FC236}">
                <ns2:creationId id="{5FF954E4-CC11-4E66-B86D-2909EF8A0174}"/>
              </a:ext>
            </a:extLst>
          </p:cNvPr>
          <p:cNvSpPr>
            <a:spLocks noGrp="1"/>
          </p:cNvSpPr>
          <p:nvPr/>
        </p:nvSpPr>
        <p:spPr>
          <a:xfrm>
            <a:off x="1181100" y="25092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n−1</a:t>
            </a:r>
          </a:p>
        </p:txBody>
      </p:sp>
      <p:sp>
        <p:nvSpPr>
          <p:cNvPr id="11" name="">
            <a:extLst>
              <a:ext uri="{FF2B5EF4-FFF2-40B4-BE49-F238E27FC236}">
                <ns2:creationId id="{42ADC4EB-382B-410F-8803-185F789C5260}"/>
              </a:ext>
            </a:extLst>
          </p:cNvPr>
          <p:cNvSpPr>
            <a:spLocks noGrp="1"/>
          </p:cNvSpPr>
          <p:nvPr/>
        </p:nvSpPr>
        <p:spPr>
          <a:xfrm>
            <a:off x="1181100" y="5290566"/>
            <a:ext cx="10401300" cy="9525"/>
          </a:xfrm>
          <a:prstGeom prst="rect">
            <a:avLst/>
          </a:prstGeom>
          <a:solidFill>
            <a:srgbClr val="E7E7E7"/>
          </a:solidFill>
          <a:ln w="0">
            <a:noFill/>
          </a:ln>
        </p:spPr>
      </p:sp>
      <p:sp>
        <p:nvSpPr>
          <p:cNvPr id="12" name="text-382-72">
            <a:extLst>
              <a:ext uri="{FF2B5EF4-FFF2-40B4-BE49-F238E27FC236}">
                <ns2:creationId id="{997D84B0-83C7-468F-A706-50EDAFEFC75B}"/>
              </a:ext>
            </a:extLst>
          </p:cNvPr>
          <p:cNvSpPr>
            <a:spLocks noGrp="1"/>
          </p:cNvSpPr>
          <p:nvPr/>
        </p:nvSpPr>
        <p:spPr>
          <a:xfrm>
            <a:off x="685800" y="30426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a:ext uri="{FF2B5EF4-FFF2-40B4-BE49-F238E27FC236}">
                <ns2:creationId id="{33C23801-4189-4CE3-B220-3BB41C6D5A35}"/>
              </a:ext>
            </a:extLst>
          </p:cNvPr>
          <p:cNvSpPr>
            <a:spLocks noGrp="1"/>
          </p:cNvSpPr>
          <p:nvPr/>
        </p:nvSpPr>
        <p:spPr>
          <a:xfrm>
            <a:off x="1181100" y="30426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⌈log₂n⌉</a:t>
            </a:r>
          </a:p>
        </p:txBody>
      </p:sp>
      <p:sp>
        <p:nvSpPr>
          <p:cNvPr id="14" name="">
            <a:extLst>
              <a:ext uri="{FF2B5EF4-FFF2-40B4-BE49-F238E27FC236}">
                <ns2:creationId id="{DA4D8E4B-3182-4F56-AB9C-7F1D79A7F57A}"/>
              </a:ext>
            </a:extLst>
          </p:cNvPr>
          <p:cNvSpPr>
            <a:spLocks noGrp="1"/>
          </p:cNvSpPr>
          <p:nvPr/>
        </p:nvSpPr>
        <p:spPr>
          <a:xfrm>
            <a:off x="1181100" y="5290566"/>
            <a:ext cx="10401300" cy="9525"/>
          </a:xfrm>
          <a:prstGeom prst="rect">
            <a:avLst/>
          </a:prstGeom>
          <a:solidFill>
            <a:srgbClr val="E7E7E7"/>
          </a:solidFill>
          <a:ln w="0">
            <a:noFill/>
          </a:ln>
        </p:spPr>
      </p:sp>
      <p:sp>
        <p:nvSpPr>
          <p:cNvPr id="15" name="text-448-72">
            <a:extLst>
              <a:ext uri="{FF2B5EF4-FFF2-40B4-BE49-F238E27FC236}">
                <ns2:creationId id="{5F1ADA34-19A8-407F-B63A-BE7960CFA45B}"/>
              </a:ext>
            </a:extLst>
          </p:cNvPr>
          <p:cNvSpPr>
            <a:spLocks noGrp="1"/>
          </p:cNvSpPr>
          <p:nvPr/>
        </p:nvSpPr>
        <p:spPr>
          <a:xfrm>
            <a:off x="685800" y="35760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a:ext uri="{FF2B5EF4-FFF2-40B4-BE49-F238E27FC236}">
                <ns2:creationId id="{BDDEFFC7-59FC-4F31-A4C9-814DF0D12E9B}"/>
              </a:ext>
            </a:extLst>
          </p:cNvPr>
          <p:cNvSpPr>
            <a:spLocks noGrp="1"/>
          </p:cNvSpPr>
          <p:nvPr/>
        </p:nvSpPr>
        <p:spPr>
          <a:xfrm>
            <a:off x="1181100" y="35760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n(n−1)/2</a:t>
            </a:r>
          </a:p>
        </p:txBody>
      </p:sp>
      <p:sp>
        <p:nvSpPr>
          <p:cNvPr id="17" name="">
            <a:extLst>
              <a:ext uri="{FF2B5EF4-FFF2-40B4-BE49-F238E27FC236}">
                <ns2:creationId id="{6DF76FCE-EB3D-4476-93BE-9E2FA07D0656}"/>
              </a:ext>
            </a:extLst>
          </p:cNvPr>
          <p:cNvSpPr>
            <a:spLocks noGrp="1"/>
          </p:cNvSpPr>
          <p:nvPr/>
        </p:nvSpPr>
        <p:spPr>
          <a:xfrm>
            <a:off x="1181100" y="5290566"/>
            <a:ext cx="10401300" cy="9525"/>
          </a:xfrm>
          <a:prstGeom prst="rect">
            <a:avLst/>
          </a:prstGeom>
          <a:solidFill>
            <a:srgbClr val="E7E7E7"/>
          </a:solidFill>
          <a:ln w="0">
            <a:noFill/>
          </a:ln>
        </p:spPr>
      </p:sp>
      <p:sp>
        <p:nvSpPr>
          <p:cNvPr id="18" name="text-514-72">
            <a:extLst>
              <a:ext uri="{FF2B5EF4-FFF2-40B4-BE49-F238E27FC236}">
                <ns2:creationId id="{1ABDAA75-6B4D-47A5-B0C6-93059A33C098}"/>
              </a:ext>
            </a:extLst>
          </p:cNvPr>
          <p:cNvSpPr>
            <a:spLocks noGrp="1"/>
          </p:cNvSpPr>
          <p:nvPr/>
        </p:nvSpPr>
        <p:spPr>
          <a:xfrm>
            <a:off x="685800" y="41094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a:ext uri="{FF2B5EF4-FFF2-40B4-BE49-F238E27FC236}">
                <ns2:creationId id="{F0379038-8D7C-43FF-8BBF-6E6858C5080C}"/>
              </a:ext>
            </a:extLst>
          </p:cNvPr>
          <p:cNvSpPr>
            <a:spLocks noGrp="1"/>
          </p:cNvSpPr>
          <p:nvPr/>
        </p:nvSpPr>
        <p:spPr>
          <a:xfrm>
            <a:off x="1181100" y="41094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2^n</a:t>
            </a:r>
          </a:p>
        </p:txBody>
      </p:sp>
      <p:sp>
        <p:nvSpPr>
          <p:cNvPr id="20" name="">
            <a:extLst>
              <a:ext uri="{FF2B5EF4-FFF2-40B4-BE49-F238E27FC236}">
                <ns2:creationId id="{AB4DC210-94CB-4661-970B-8F0EAEDBAE1B}"/>
              </a:ext>
            </a:extLst>
          </p:cNvPr>
          <p:cNvSpPr>
            <a:spLocks noGrp="1"/>
          </p:cNvSpPr>
          <p:nvPr/>
        </p:nvSpPr>
        <p:spPr>
          <a:xfrm>
            <a:off x="1181100" y="5438775"/>
            <a:ext cx="10401300" cy="9525"/>
          </a:xfrm>
          <a:prstGeom prst="rect">
            <a:avLst/>
          </a:prstGeom>
          <a:solidFill>
            <a:srgbClr val="E7E7E7"/>
          </a:solidFill>
          <a:ln w="0">
            <a:noFill/>
          </a:ln>
        </p:spPr>
      </p:sp>
      <p:sp>
        <p:nvSpPr>
          <p:cNvPr id="21" name="text-580-72">
            <a:extLst>
              <a:ext uri="{FF2B5EF4-FFF2-40B4-BE49-F238E27FC236}">
                <ns2:creationId id="{27D0E83A-3FBF-43C7-8DEE-3F1D0CA211FF}"/>
              </a:ext>
            </a:extLst>
          </p:cNvPr>
          <p:cNvSpPr>
            <a:spLocks noGrp="1"/>
          </p:cNvSpPr>
          <p:nvPr/>
        </p:nvSpPr>
        <p:spPr>
          <a:xfrm>
            <a:off x="685800" y="46428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a:ext uri="{FF2B5EF4-FFF2-40B4-BE49-F238E27FC236}">
                <ns2:creationId id="{03A9819F-054D-4A69-83E6-F5C7559CDF0F}"/>
              </a:ext>
            </a:extLst>
          </p:cNvPr>
          <p:cNvSpPr>
            <a:spLocks noGrp="1"/>
          </p:cNvSpPr>
          <p:nvPr/>
        </p:nvSpPr>
        <p:spPr>
          <a:xfrm>
            <a:off x="1181100" y="46428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n</a:t>
            </a:r>
          </a:p>
        </p:txBody>
      </p:sp>
    </p:spTree>
    <p:extLst>
      <p:ext uri="{BB962C8B-B14F-4D97-AF65-F5344CB8AC3E}">
        <ns3:creationId val="462685519"/>
      </p:ext>
    </p:extLst>
  </p:cSld>
</p:sld>
</file>

<file path=ppt/slides/slide6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3C425BF9-5B81-4061-BEB8-8FF0A7448B1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D37B3DF9-7319-4ABD-B9C5-6A8FAC0F8BC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398E59F-2976-4CEB-A266-3831F874CAB0}"/>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30  정답과 해설</a:t>
            </a:r>
          </a:p>
        </p:txBody>
      </p:sp>
      <p:sp>
        <p:nvSpPr>
          <p:cNvPr id="4" name="">
            <a:extLst>
              <a:ext uri="{FF2B5EF4-FFF2-40B4-BE49-F238E27FC236}">
                <ns2:creationId id="{EC08FA27-5F89-4F1D-8426-47CA052F7E6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E52ADE4-DF21-4F99-94A0-DC1B4856E25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1BD722A-3CB7-4849-8C1D-DF60303C16D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27940AB-7E5D-4E79-A7D7-22448DD9F5BF}"/>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060</a:t>
            </a:r>
          </a:p>
        </p:txBody>
      </p:sp>
      <p:sp>
        <p:nvSpPr>
          <p:cNvPr id="8" name="text-178-64">
            <a:extLst>
              <a:ext uri="{FF2B5EF4-FFF2-40B4-BE49-F238E27FC236}">
                <ns2:creationId id="{C02ECDF0-0F26-4BB6-85A1-CB4A19063EA7}"/>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서로 다른 n개 원소가 내림차순인 배열을 오름차순 삽입 정렬한다. 앞 원소를 오른쪽으로 한 칸 미는 대입</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a[j+1]=a[j]는 총 몇 회인가? key 저장과 마지막 삽입 대입은 제외한다.</a:t>
            </a:r>
          </a:p>
        </p:txBody>
      </p:sp>
      <p:sp>
        <p:nvSpPr>
          <p:cNvPr id="9" name="">
            <a:extLst>
              <a:ext uri="{FF2B5EF4-FFF2-40B4-BE49-F238E27FC236}">
                <ns2:creationId id="{4311C4F2-7357-459D-B594-40556E303531}"/>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3F5A4198-A5D9-4440-ADA2-5CF18FB42EEA}"/>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3번 n(n−1)/2</a:t>
            </a:r>
          </a:p>
        </p:txBody>
      </p:sp>
      <p:sp>
        <p:nvSpPr>
          <p:cNvPr id="11" name="text-324.4-64">
            <a:extLst>
              <a:ext uri="{FF2B5EF4-FFF2-40B4-BE49-F238E27FC236}">
                <ns2:creationId id="{5E9001D0-5B09-45CF-B3E2-4949D9C1807F}"/>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8A0A3A6E-ACA2-4F9A-A6E6-7A5DB70E3967}"/>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2B712D6F-A774-40E6-B758-D739D3E02157}"/>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i번째 삽입이 i개를 이동시키므로 1부터 n−1까지 합한다.</a:t>
            </a:r>
          </a:p>
        </p:txBody>
      </p:sp>
    </p:spTree>
    <p:extLst>
      <p:ext uri="{BB962C8B-B14F-4D97-AF65-F5344CB8AC3E}">
        <ns3:creationId val="462685519"/>
      </p:ext>
    </p:extLst>
  </p:cSld>
</p:sld>
</file>

<file path=ppt/slides/slide6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9B6F4D37-00F9-471E-8CD2-092A426736E8}"/>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4B6B1EA1-1781-4103-B398-1A40145B5F0E}"/>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2164E946-01DF-43EA-A7CF-24032E854A41}"/>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31  </a:t>
            </a:r>
          </a:p>
        </p:txBody>
      </p:sp>
      <p:sp>
        <p:nvSpPr>
          <p:cNvPr id="4" name="">
            <a:extLst>
              <a:ext uri="{FF2B5EF4-FFF2-40B4-BE49-F238E27FC236}">
                <ns2:creationId id="{C30FEC06-9134-4729-BFBE-A05875D9552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E1D27DB-3AE2-4029-A750-06816DEBA65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64E70A0-557A-4DB8-BAA5-BB6D264655BD}"/>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21E1BF7-768E-4FD6-A388-BE4F461E3764}"/>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061</a:t>
            </a:r>
          </a:p>
        </p:txBody>
      </p:sp>
      <p:sp>
        <p:nvSpPr>
          <p:cNvPr id="8" name="text-178-64">
            <a:extLst>
              <a:ext uri="{FF2B5EF4-FFF2-40B4-BE49-F238E27FC236}">
                <ns2:creationId id="{FAC4286F-2159-4AA6-BA6E-B5C48572CDAC}"/>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동전 중 가짜는 정확히 하나이며 진짜보다 가볍다. 진짜 동전은 모두 같은 무게이다. 후보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중 같은 개수의 두 더미를 양팔저울의 양쪽에 올렸더니 무게가 같았다. 가짜가 있는 곳에</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대한 옳은 설명은?</a:t>
            </a:r>
          </a:p>
        </p:txBody>
      </p:sp>
      <p:sp>
        <p:nvSpPr>
          <p:cNvPr id="9" name="text-316-72">
            <a:extLst>
              <a:ext uri="{FF2B5EF4-FFF2-40B4-BE49-F238E27FC236}">
                <ns2:creationId id="{D1EA6114-16F4-4971-AE13-33483FDEC024}"/>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6AF0A6F8-BE41-4BD6-BA7F-61AC62FCD113}"/>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가짜는 왼쪽 더미에 있다</a:t>
            </a:r>
          </a:p>
        </p:txBody>
      </p:sp>
      <p:sp>
        <p:nvSpPr>
          <p:cNvPr id="11" name="">
            <a:extLst>
              <a:ext uri="{FF2B5EF4-FFF2-40B4-BE49-F238E27FC236}">
                <ns2:creationId id="{1AF0C38C-AFFD-4198-82AD-FBB07567AF71}"/>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062E66B3-F38A-4DDD-A416-6B1F58FE2E57}"/>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E621A29B-523A-4BC4-A3CE-282AABA0FB00}"/>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가짜는 저울에 올리지 않은 후보들 중에 있다</a:t>
            </a:r>
          </a:p>
        </p:txBody>
      </p:sp>
      <p:sp>
        <p:nvSpPr>
          <p:cNvPr id="14" name="">
            <a:extLst>
              <a:ext uri="{FF2B5EF4-FFF2-40B4-BE49-F238E27FC236}">
                <ns2:creationId id="{E1D4D0CD-88BB-4723-AE02-3064E40546E8}"/>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3CDBD0F7-168D-47D7-A19B-7D3547BEFBB1}"/>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82EE50AB-CC08-4F0B-AB8F-FD1E5854AC82}"/>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무게 정보로 아무것도 줄일 수 없다</a:t>
            </a:r>
          </a:p>
        </p:txBody>
      </p:sp>
      <p:sp>
        <p:nvSpPr>
          <p:cNvPr id="17" name="">
            <a:extLst>
              <a:ext uri="{FF2B5EF4-FFF2-40B4-BE49-F238E27FC236}">
                <ns2:creationId id="{162C31A8-3BF0-42BC-9BF1-46AA3CD4E506}"/>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31F1DF5B-F572-4DE2-8D65-D67E1A0A1A3E}"/>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A943EE03-518C-4573-BC6B-74DC2775F408}"/>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가짜가 두 개다</a:t>
            </a:r>
          </a:p>
        </p:txBody>
      </p:sp>
      <p:sp>
        <p:nvSpPr>
          <p:cNvPr id="20" name="">
            <a:extLst>
              <a:ext uri="{FF2B5EF4-FFF2-40B4-BE49-F238E27FC236}">
                <ns2:creationId id="{3172F01B-3EAA-4E5B-8067-FB7E2339556D}"/>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F62BE6E8-8699-4945-B142-F8D57DECA468}"/>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84F9397C-D5D3-4373-8829-8E84F7902485}"/>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가짜는 오른쪽 더미에 있다</a:t>
            </a:r>
          </a:p>
        </p:txBody>
      </p:sp>
    </p:spTree>
    <p:extLst>
      <p:ext uri="{BB962C8B-B14F-4D97-AF65-F5344CB8AC3E}">
        <ns3:creationId val="462685519"/>
      </p:ext>
    </p:extLst>
  </p:cSld>
</p:sld>
</file>

<file path=ppt/slides/slide6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ABBE1D2E-3C69-47FA-A8FB-5A0DAD1B207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90CB9DA9-7ED5-4BA1-93A3-0800A1C7347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213DF7E-07A5-4A01-9496-237D51C69741}"/>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31  정답과 해설</a:t>
            </a:r>
          </a:p>
        </p:txBody>
      </p:sp>
      <p:sp>
        <p:nvSpPr>
          <p:cNvPr id="4" name="">
            <a:extLst>
              <a:ext uri="{FF2B5EF4-FFF2-40B4-BE49-F238E27FC236}">
                <ns2:creationId id="{EEE827E2-295B-4320-9607-6FF5CAC6950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988C4F5-1074-4512-9FD2-9591E1C0A6A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3C506791-ECA0-4991-AE6E-4E566B391E5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44272F48-3093-4FD6-BD5D-0E83B3FAD61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062</a:t>
            </a:r>
          </a:p>
        </p:txBody>
      </p:sp>
      <p:sp>
        <p:nvSpPr>
          <p:cNvPr id="8" name="text-178-64">
            <a:extLst>
              <a:ext uri="{FF2B5EF4-FFF2-40B4-BE49-F238E27FC236}">
                <ns2:creationId id="{AE854C34-B45F-4998-98A5-5E71C1D14CE9}"/>
              </a:ext>
            </a:extLst>
          </p:cNvPr>
          <p:cNvSpPr>
            <a:spLocks noGrp="1"/>
          </p:cNvSpPr>
          <p:nvPr/>
        </p:nvSpPr>
        <p:spPr>
          <a:xfrm>
            <a:off x="609600" y="1619250"/>
            <a:ext cx="10972800" cy="688086"/>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동전 중 가짜는 정확히 하나이며 진짜보다 가볍다. 진짜 동전은 모두 같은 무게이다. 후보 중 같은 개수의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두 더미를 양팔저울의 양쪽에 올렸더니 무게가 같았다. 가짜가 있는 곳에 대한 옳은 설명은?</a:t>
            </a:r>
          </a:p>
        </p:txBody>
      </p:sp>
      <p:sp>
        <p:nvSpPr>
          <p:cNvPr id="9" name="">
            <a:extLst>
              <a:ext uri="{FF2B5EF4-FFF2-40B4-BE49-F238E27FC236}">
                <ns2:creationId id="{CF0ACDCF-DEE8-40F7-BA28-3F4219D17D45}"/>
              </a:ext>
            </a:extLst>
          </p:cNvPr>
          <p:cNvSpPr>
            <a:spLocks noGrp="1"/>
          </p:cNvSpPr>
          <p:nvPr/>
        </p:nvSpPr>
        <p:spPr>
          <a:xfrm>
            <a:off x="609600" y="2421636"/>
            <a:ext cx="10972800" cy="498729"/>
          </a:xfrm>
          <a:prstGeom prst="rect">
            <a:avLst/>
          </a:prstGeom>
          <a:solidFill>
            <a:srgbClr val="171717"/>
          </a:solidFill>
          <a:ln w="0">
            <a:noFill/>
          </a:ln>
        </p:spPr>
      </p:sp>
      <p:sp>
        <p:nvSpPr>
          <p:cNvPr id="10" name="text-245.6-92">
            <a:extLst>
              <a:ext uri="{FF2B5EF4-FFF2-40B4-BE49-F238E27FC236}">
                <ns2:creationId id="{A95F74DE-3567-4BC6-8F88-D641A3BA145A}"/>
              </a:ext>
            </a:extLst>
          </p:cNvPr>
          <p:cNvSpPr>
            <a:spLocks noGrp="1"/>
          </p:cNvSpPr>
          <p:nvPr/>
        </p:nvSpPr>
        <p:spPr>
          <a:xfrm>
            <a:off x="876300" y="2497836"/>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2번 가짜는 저울에 올리지 않은 후보들 중에 있다</a:t>
            </a:r>
          </a:p>
        </p:txBody>
      </p:sp>
      <p:sp>
        <p:nvSpPr>
          <p:cNvPr id="11" name="text-324.4-64">
            <a:extLst>
              <a:ext uri="{FF2B5EF4-FFF2-40B4-BE49-F238E27FC236}">
                <ns2:creationId id="{D107206C-6A3E-4345-8756-146E2D2090E4}"/>
              </a:ext>
            </a:extLst>
          </p:cNvPr>
          <p:cNvSpPr>
            <a:spLocks noGrp="1"/>
          </p:cNvSpPr>
          <p:nvPr/>
        </p:nvSpPr>
        <p:spPr>
          <a:xfrm>
            <a:off x="609600" y="3015615"/>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7677FDC0-08AD-44B8-BA9D-C01C1D1DB016}"/>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F23E7432-FD78-4198-997A-8B0B367925E6}"/>
              </a:ext>
            </a:extLst>
          </p:cNvPr>
          <p:cNvSpPr>
            <a:spLocks noGrp="1"/>
          </p:cNvSpPr>
          <p:nvPr/>
        </p:nvSpPr>
        <p:spPr>
          <a:xfrm>
            <a:off x="609600" y="3392805"/>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저울 위에 가짜가 있었다면 두 더미의 무게가 달라진다.</a:t>
            </a:r>
          </a:p>
        </p:txBody>
      </p:sp>
    </p:spTree>
    <p:extLst>
      <p:ext uri="{BB962C8B-B14F-4D97-AF65-F5344CB8AC3E}">
        <ns3:creationId val="462685519"/>
      </p:ext>
    </p:extLst>
  </p:cSld>
</p:sld>
</file>

<file path=ppt/slides/slide6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65167425-D150-4848-8E58-4BF97C1A626A}"/>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079994E4-5033-4EC2-8866-CAA3C7D866C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4791AED0-0E27-47D2-A13F-CAEADDAD00F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32  </a:t>
            </a:r>
          </a:p>
        </p:txBody>
      </p:sp>
      <p:sp>
        <p:nvSpPr>
          <p:cNvPr id="4" name="">
            <a:extLst>
              <a:ext uri="{FF2B5EF4-FFF2-40B4-BE49-F238E27FC236}">
                <ns2:creationId id="{6719FAEE-67FC-47AE-AA38-8641D767136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0C6F1B5-7D58-4FDB-97C6-06F0525C725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CD7E0FA-AB2B-4F87-B866-350113E5F4E5}"/>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6B3F1E14-84D4-4768-91E8-C4AEF0EA3B9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063</a:t>
            </a:r>
          </a:p>
        </p:txBody>
      </p:sp>
      <p:sp>
        <p:nvSpPr>
          <p:cNvPr id="8" name="text-178-64">
            <a:extLst>
              <a:ext uri="{FF2B5EF4-FFF2-40B4-BE49-F238E27FC236}">
                <ns2:creationId id="{A772C7D2-B598-44F5-9116-D90769A56BAC}"/>
              </a:ext>
            </a:extLst>
          </p:cNvPr>
          <p:cNvSpPr>
            <a:spLocks noGrp="1"/>
          </p:cNvSpPr>
          <p:nvPr/>
        </p:nvSpPr>
        <p:spPr>
          <a:xfrm>
            <a:off x="609600" y="1695450"/>
            <a:ext cx="10972800" cy="99212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동전 27개 중 정확히 하나만 가볍고 진짜 동전의 무게는 모두 같다. 매번 후보를 같은 수의</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세 그룹으로 나누고 두 그룹을 양팔저울로 비교해 후보 한 그룹만 남긴다. 후보가 1개가 될</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때까지 최악의 저울질 횟수는?</a:t>
            </a:r>
          </a:p>
        </p:txBody>
      </p:sp>
      <p:sp>
        <p:nvSpPr>
          <p:cNvPr id="9" name="text-316-72">
            <a:extLst>
              <a:ext uri="{FF2B5EF4-FFF2-40B4-BE49-F238E27FC236}">
                <ns2:creationId id="{F2C7461F-8052-4D95-A445-04BD8EA4BF23}"/>
              </a:ext>
            </a:extLst>
          </p:cNvPr>
          <p:cNvSpPr>
            <a:spLocks noGrp="1"/>
          </p:cNvSpPr>
          <p:nvPr/>
        </p:nvSpPr>
        <p:spPr>
          <a:xfrm>
            <a:off x="685800" y="2839974"/>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a:ext uri="{FF2B5EF4-FFF2-40B4-BE49-F238E27FC236}">
                <ns2:creationId id="{1BA654B0-F719-4FA3-9FA0-B66FE4468124}"/>
              </a:ext>
            </a:extLst>
          </p:cNvPr>
          <p:cNvSpPr>
            <a:spLocks noGrp="1"/>
          </p:cNvSpPr>
          <p:nvPr/>
        </p:nvSpPr>
        <p:spPr>
          <a:xfrm>
            <a:off x="1181100" y="2839974"/>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3</a:t>
            </a:r>
          </a:p>
        </p:txBody>
      </p:sp>
      <p:sp>
        <p:nvSpPr>
          <p:cNvPr id="11" name="">
            <a:extLst>
              <a:ext uri="{FF2B5EF4-FFF2-40B4-BE49-F238E27FC236}">
                <ns2:creationId id="{44EF8628-0642-4BB5-AF40-29BC19527B70}"/>
              </a:ext>
            </a:extLst>
          </p:cNvPr>
          <p:cNvSpPr>
            <a:spLocks noGrp="1"/>
          </p:cNvSpPr>
          <p:nvPr/>
        </p:nvSpPr>
        <p:spPr>
          <a:xfrm>
            <a:off x="1181100" y="5621274"/>
            <a:ext cx="10401300" cy="9525"/>
          </a:xfrm>
          <a:prstGeom prst="rect">
            <a:avLst/>
          </a:prstGeom>
          <a:solidFill>
            <a:srgbClr val="E7E7E7"/>
          </a:solidFill>
          <a:ln w="0">
            <a:noFill/>
          </a:ln>
        </p:spPr>
      </p:sp>
      <p:sp>
        <p:nvSpPr>
          <p:cNvPr id="12" name="text-382-72">
            <a:extLst>
              <a:ext uri="{FF2B5EF4-FFF2-40B4-BE49-F238E27FC236}">
                <ns2:creationId id="{A92482C3-1D19-4B1C-A335-B9B01EDA46B6}"/>
              </a:ext>
            </a:extLst>
          </p:cNvPr>
          <p:cNvSpPr>
            <a:spLocks noGrp="1"/>
          </p:cNvSpPr>
          <p:nvPr/>
        </p:nvSpPr>
        <p:spPr>
          <a:xfrm>
            <a:off x="685800" y="3373374"/>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a:ext uri="{FF2B5EF4-FFF2-40B4-BE49-F238E27FC236}">
                <ns2:creationId id="{F6B0920A-96DA-42BE-A77F-66445B50C2C8}"/>
              </a:ext>
            </a:extLst>
          </p:cNvPr>
          <p:cNvSpPr>
            <a:spLocks noGrp="1"/>
          </p:cNvSpPr>
          <p:nvPr/>
        </p:nvSpPr>
        <p:spPr>
          <a:xfrm>
            <a:off x="1181100" y="3373374"/>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4</a:t>
            </a:r>
          </a:p>
        </p:txBody>
      </p:sp>
      <p:sp>
        <p:nvSpPr>
          <p:cNvPr id="14" name="">
            <a:extLst>
              <a:ext uri="{FF2B5EF4-FFF2-40B4-BE49-F238E27FC236}">
                <ns2:creationId id="{E4CF18C2-99BD-416B-93C6-0FF10FEA06B9}"/>
              </a:ext>
            </a:extLst>
          </p:cNvPr>
          <p:cNvSpPr>
            <a:spLocks noGrp="1"/>
          </p:cNvSpPr>
          <p:nvPr/>
        </p:nvSpPr>
        <p:spPr>
          <a:xfrm>
            <a:off x="1181100" y="5621274"/>
            <a:ext cx="10401300" cy="9525"/>
          </a:xfrm>
          <a:prstGeom prst="rect">
            <a:avLst/>
          </a:prstGeom>
          <a:solidFill>
            <a:srgbClr val="E7E7E7"/>
          </a:solidFill>
          <a:ln w="0">
            <a:noFill/>
          </a:ln>
        </p:spPr>
      </p:sp>
      <p:sp>
        <p:nvSpPr>
          <p:cNvPr id="15" name="text-448-72">
            <a:extLst>
              <a:ext uri="{FF2B5EF4-FFF2-40B4-BE49-F238E27FC236}">
                <ns2:creationId id="{5CBFA193-E370-471E-90BC-28CC88CDEF8B}"/>
              </a:ext>
            </a:extLst>
          </p:cNvPr>
          <p:cNvSpPr>
            <a:spLocks noGrp="1"/>
          </p:cNvSpPr>
          <p:nvPr/>
        </p:nvSpPr>
        <p:spPr>
          <a:xfrm>
            <a:off x="685800" y="3906774"/>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a:ext uri="{FF2B5EF4-FFF2-40B4-BE49-F238E27FC236}">
                <ns2:creationId id="{8AE568A5-DEBE-4E0B-B372-95F9F9310278}"/>
              </a:ext>
            </a:extLst>
          </p:cNvPr>
          <p:cNvSpPr>
            <a:spLocks noGrp="1"/>
          </p:cNvSpPr>
          <p:nvPr/>
        </p:nvSpPr>
        <p:spPr>
          <a:xfrm>
            <a:off x="1181100" y="3906774"/>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2</a:t>
            </a:r>
          </a:p>
        </p:txBody>
      </p:sp>
      <p:sp>
        <p:nvSpPr>
          <p:cNvPr id="17" name="">
            <a:extLst>
              <a:ext uri="{FF2B5EF4-FFF2-40B4-BE49-F238E27FC236}">
                <ns2:creationId id="{80628E55-7403-4F15-8454-16168E8B5621}"/>
              </a:ext>
            </a:extLst>
          </p:cNvPr>
          <p:cNvSpPr>
            <a:spLocks noGrp="1"/>
          </p:cNvSpPr>
          <p:nvPr/>
        </p:nvSpPr>
        <p:spPr>
          <a:xfrm>
            <a:off x="1181100" y="5621274"/>
            <a:ext cx="10401300" cy="9525"/>
          </a:xfrm>
          <a:prstGeom prst="rect">
            <a:avLst/>
          </a:prstGeom>
          <a:solidFill>
            <a:srgbClr val="E7E7E7"/>
          </a:solidFill>
          <a:ln w="0">
            <a:noFill/>
          </a:ln>
        </p:spPr>
      </p:sp>
      <p:sp>
        <p:nvSpPr>
          <p:cNvPr id="18" name="text-514-72">
            <a:extLst>
              <a:ext uri="{FF2B5EF4-FFF2-40B4-BE49-F238E27FC236}">
                <ns2:creationId id="{B209E1B2-36C9-4945-9D3E-6E178EB56CC9}"/>
              </a:ext>
            </a:extLst>
          </p:cNvPr>
          <p:cNvSpPr>
            <a:spLocks noGrp="1"/>
          </p:cNvSpPr>
          <p:nvPr/>
        </p:nvSpPr>
        <p:spPr>
          <a:xfrm>
            <a:off x="685800" y="4440174"/>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a:ext uri="{FF2B5EF4-FFF2-40B4-BE49-F238E27FC236}">
                <ns2:creationId id="{E526F37D-41CD-41E5-8C44-2B1C048A089D}"/>
              </a:ext>
            </a:extLst>
          </p:cNvPr>
          <p:cNvSpPr>
            <a:spLocks noGrp="1"/>
          </p:cNvSpPr>
          <p:nvPr/>
        </p:nvSpPr>
        <p:spPr>
          <a:xfrm>
            <a:off x="1181100" y="4440174"/>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9</a:t>
            </a:r>
          </a:p>
        </p:txBody>
      </p:sp>
      <p:sp>
        <p:nvSpPr>
          <p:cNvPr id="20" name="">
            <a:extLst>
              <a:ext uri="{FF2B5EF4-FFF2-40B4-BE49-F238E27FC236}">
                <ns2:creationId id="{CDB01DCA-6076-4532-9619-3BA2977F0F0C}"/>
              </a:ext>
            </a:extLst>
          </p:cNvPr>
          <p:cNvSpPr>
            <a:spLocks noGrp="1"/>
          </p:cNvSpPr>
          <p:nvPr/>
        </p:nvSpPr>
        <p:spPr>
          <a:xfrm>
            <a:off x="1181100" y="5621274"/>
            <a:ext cx="10401300" cy="9525"/>
          </a:xfrm>
          <a:prstGeom prst="rect">
            <a:avLst/>
          </a:prstGeom>
          <a:solidFill>
            <a:srgbClr val="E7E7E7"/>
          </a:solidFill>
          <a:ln w="0">
            <a:noFill/>
          </a:ln>
        </p:spPr>
      </p:sp>
      <p:sp>
        <p:nvSpPr>
          <p:cNvPr id="21" name="text-580-72">
            <a:extLst>
              <a:ext uri="{FF2B5EF4-FFF2-40B4-BE49-F238E27FC236}">
                <ns2:creationId id="{9EF184EA-D197-4024-9491-69D888AC4B80}"/>
              </a:ext>
            </a:extLst>
          </p:cNvPr>
          <p:cNvSpPr>
            <a:spLocks noGrp="1"/>
          </p:cNvSpPr>
          <p:nvPr/>
        </p:nvSpPr>
        <p:spPr>
          <a:xfrm>
            <a:off x="685800" y="4973574"/>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a:ext uri="{FF2B5EF4-FFF2-40B4-BE49-F238E27FC236}">
                <ns2:creationId id="{EE2575D7-A444-4DC1-9A3D-780A4C5D6351}"/>
              </a:ext>
            </a:extLst>
          </p:cNvPr>
          <p:cNvSpPr>
            <a:spLocks noGrp="1"/>
          </p:cNvSpPr>
          <p:nvPr/>
        </p:nvSpPr>
        <p:spPr>
          <a:xfrm>
            <a:off x="1181100" y="4973574"/>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27</a:t>
            </a:r>
          </a:p>
        </p:txBody>
      </p:sp>
    </p:spTree>
    <p:extLst>
      <p:ext uri="{BB962C8B-B14F-4D97-AF65-F5344CB8AC3E}">
        <ns3:creationId val="462685519"/>
      </p:ext>
    </p:extLst>
  </p:cSld>
</p:sld>
</file>

<file path=ppt/slides/slide6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47924417-D9A2-4C36-B6BF-11C42353497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318129E0-AEC9-420F-871B-289F0A7226D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ABEC2C3-7CA3-4CAA-A625-94EA1E1F7BBB}"/>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32  정답과 해설</a:t>
            </a:r>
          </a:p>
        </p:txBody>
      </p:sp>
      <p:sp>
        <p:nvSpPr>
          <p:cNvPr id="4" name="">
            <a:extLst>
              <a:ext uri="{FF2B5EF4-FFF2-40B4-BE49-F238E27FC236}">
                <ns2:creationId id="{AE97543C-A5A3-4C99-8FD4-50C07103B1C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17DA457-8AA5-4CFB-9317-57ADACB250D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BC54B51-FE86-47C7-9B77-4BF71A162443}"/>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BD3C17E8-DE63-4304-B178-1016A6DA863B}"/>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064</a:t>
            </a:r>
          </a:p>
        </p:txBody>
      </p:sp>
      <p:sp>
        <p:nvSpPr>
          <p:cNvPr id="8" name="text-178-64">
            <a:extLst>
              <a:ext uri="{FF2B5EF4-FFF2-40B4-BE49-F238E27FC236}">
                <ns2:creationId id="{670CF2D3-C222-45F4-B249-6E47768E0187}"/>
              </a:ext>
            </a:extLst>
          </p:cNvPr>
          <p:cNvSpPr>
            <a:spLocks noGrp="1"/>
          </p:cNvSpPr>
          <p:nvPr/>
        </p:nvSpPr>
        <p:spPr>
          <a:xfrm>
            <a:off x="609600" y="1695450"/>
            <a:ext cx="10972800" cy="85039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동전 27개 중 정확히 하나만 가볍고 진짜 동전의 무게는 모두 같다. 매번 후보를 같은 수의 세 그룹으로</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나누고 두 그룹을 양팔저울로 비교해 후보 한 그룹만 남긴다. 후보가 1개가 될 때까지 최악의 저울질</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횟수는?</a:t>
            </a:r>
          </a:p>
        </p:txBody>
      </p:sp>
      <p:sp>
        <p:nvSpPr>
          <p:cNvPr id="9" name="">
            <a:extLst>
              <a:ext uri="{FF2B5EF4-FFF2-40B4-BE49-F238E27FC236}">
                <ns2:creationId id="{34A6876F-2E49-44C0-87B8-10C1227C1D62}"/>
              </a:ext>
            </a:extLst>
          </p:cNvPr>
          <p:cNvSpPr>
            <a:spLocks noGrp="1"/>
          </p:cNvSpPr>
          <p:nvPr/>
        </p:nvSpPr>
        <p:spPr>
          <a:xfrm>
            <a:off x="609600" y="2641092"/>
            <a:ext cx="10972800" cy="550545"/>
          </a:xfrm>
          <a:prstGeom prst="rect">
            <a:avLst/>
          </a:prstGeom>
          <a:solidFill>
            <a:srgbClr val="171717"/>
          </a:solidFill>
          <a:ln w="0">
            <a:noFill/>
          </a:ln>
        </p:spPr>
      </p:sp>
      <p:sp>
        <p:nvSpPr>
          <p:cNvPr id="10" name="text-245.6-92">
            <a:extLst>
              <a:ext uri="{FF2B5EF4-FFF2-40B4-BE49-F238E27FC236}">
                <ns2:creationId id="{2CF401DC-BC6C-4B31-BAEC-054BA13119F7}"/>
              </a:ext>
            </a:extLst>
          </p:cNvPr>
          <p:cNvSpPr>
            <a:spLocks noGrp="1"/>
          </p:cNvSpPr>
          <p:nvPr/>
        </p:nvSpPr>
        <p:spPr>
          <a:xfrm>
            <a:off x="876300" y="2698242"/>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1번 3</a:t>
            </a:r>
          </a:p>
        </p:txBody>
      </p:sp>
      <p:sp>
        <p:nvSpPr>
          <p:cNvPr id="11" name="text-324.4-64">
            <a:extLst>
              <a:ext uri="{FF2B5EF4-FFF2-40B4-BE49-F238E27FC236}">
                <ns2:creationId id="{DDCFD113-9CEC-47E5-89E2-E1A126351F6B}"/>
              </a:ext>
            </a:extLst>
          </p:cNvPr>
          <p:cNvSpPr>
            <a:spLocks noGrp="1"/>
          </p:cNvSpPr>
          <p:nvPr/>
        </p:nvSpPr>
        <p:spPr>
          <a:xfrm>
            <a:off x="609600" y="3286887"/>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65C60208-C116-4E81-B5D7-5DCB2AC42B25}"/>
              </a:ext>
            </a:extLst>
          </p:cNvPr>
          <p:cNvSpPr>
            <a:spLocks noGrp="1"/>
          </p:cNvSpPr>
          <p:nvPr/>
        </p:nvSpPr>
        <p:spPr>
          <a:xfrm>
            <a:off x="1752600" y="4387977"/>
            <a:ext cx="9829800" cy="9525"/>
          </a:xfrm>
          <a:prstGeom prst="rect">
            <a:avLst/>
          </a:prstGeom>
          <a:solidFill>
            <a:srgbClr val="D4D4D4"/>
          </a:solidFill>
          <a:ln w="0">
            <a:noFill/>
          </a:ln>
        </p:spPr>
      </p:sp>
      <p:sp>
        <p:nvSpPr>
          <p:cNvPr id="13" name="text-372.4-64">
            <a:extLst>
              <a:ext uri="{FF2B5EF4-FFF2-40B4-BE49-F238E27FC236}">
                <ns2:creationId id="{747D73B5-0E7E-4637-B374-71D1BEEA80A7}"/>
              </a:ext>
            </a:extLst>
          </p:cNvPr>
          <p:cNvSpPr>
            <a:spLocks noGrp="1"/>
          </p:cNvSpPr>
          <p:nvPr/>
        </p:nvSpPr>
        <p:spPr>
          <a:xfrm>
            <a:off x="609600" y="3801237"/>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27→9→3→1로 후보를 줄인다. 각 비교의 세 결과를 활용한다.</a:t>
            </a:r>
          </a:p>
        </p:txBody>
      </p:sp>
    </p:spTree>
    <p:extLst>
      <p:ext uri="{BB962C8B-B14F-4D97-AF65-F5344CB8AC3E}">
        <ns3:creationId val="462685519"/>
      </p:ext>
    </p:extLst>
  </p:cSld>
</p:sld>
</file>

<file path=ppt/slides/slide6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E85B1A0B-420C-43BF-80B1-65856749025C}"/>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9ADAB0A7-C684-4F53-969F-CAF18DC07FA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9208D8D-EAC3-44E7-8A83-727D107AC012}"/>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33  </a:t>
            </a:r>
          </a:p>
        </p:txBody>
      </p:sp>
      <p:sp>
        <p:nvSpPr>
          <p:cNvPr id="4" name="">
            <a:extLst>
              <a:ext uri="{FF2B5EF4-FFF2-40B4-BE49-F238E27FC236}">
                <ns2:creationId id="{F3FA411F-17D8-4424-83D9-BF09FA7C4F8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F12DE96-4799-4412-A2AF-B4CD5B2BC62A}"/>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4AAFB8C-046B-4575-A330-62ADE8F7143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7E999E39-9C7B-4876-8D2C-FA6731646400}"/>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065</a:t>
            </a:r>
          </a:p>
        </p:txBody>
      </p:sp>
      <p:sp>
        <p:nvSpPr>
          <p:cNvPr id="8" name="text-178-64">
            <a:extLst>
              <a:ext uri="{FF2B5EF4-FFF2-40B4-BE49-F238E27FC236}">
                <ns2:creationId id="{04913C2E-7DC0-498E-B361-A7C8A440CFD0}"/>
              </a:ext>
            </a:extLst>
          </p:cNvPr>
          <p:cNvSpPr>
            <a:spLocks noGrp="1"/>
          </p:cNvSpPr>
          <p:nvPr/>
        </p:nvSpPr>
        <p:spPr>
          <a:xfrm>
            <a:off x="609600" y="1619250"/>
            <a:ext cx="10972800" cy="189738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n개 동전 중 하나만 가볍고 나머지 동전의 무게는 같다. n은 2의 거듭제곱이다.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매번 후보를 같은 크기의 두 더미로 나누어 비교하고 가벼운 더미만 남긴다.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실물 양팔저울로 비교하는 횟수는 O(log n)이다. 반면 프로그램에서 각 더미의 무게를 배열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원소를 하나씩 더해 구하면 전체 합산 시간은 O(n)이다.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두 결과가 동시에 맞을 수 있는 이유는?</a:t>
            </a:r>
          </a:p>
        </p:txBody>
      </p:sp>
      <p:sp>
        <p:nvSpPr>
          <p:cNvPr id="9" name="text-316-72">
            <a:extLst>
              <a:ext uri="{FF2B5EF4-FFF2-40B4-BE49-F238E27FC236}">
                <ns2:creationId id="{BEED12DE-E198-42A7-90CE-AD182BAF2BBA}"/>
              </a:ext>
            </a:extLst>
          </p:cNvPr>
          <p:cNvSpPr>
            <a:spLocks noGrp="1"/>
          </p:cNvSpPr>
          <p:nvPr/>
        </p:nvSpPr>
        <p:spPr>
          <a:xfrm>
            <a:off x="685800" y="364998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105791BB-AFB1-4D97-A6AB-A0C531ED416C}"/>
              </a:ext>
            </a:extLst>
          </p:cNvPr>
          <p:cNvSpPr>
            <a:spLocks noGrp="1"/>
          </p:cNvSpPr>
          <p:nvPr/>
        </p:nvSpPr>
        <p:spPr>
          <a:xfrm>
            <a:off x="1181100" y="364998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재귀 깊이가 로그이면 합산 작업을 포함한 시간도 로그다</a:t>
            </a:r>
          </a:p>
        </p:txBody>
      </p:sp>
      <p:sp>
        <p:nvSpPr>
          <p:cNvPr id="11" name="">
            <a:extLst>
              <a:ext uri="{FF2B5EF4-FFF2-40B4-BE49-F238E27FC236}">
                <ns2:creationId id="{0035D139-11AF-488A-9574-BA275C4B023A}"/>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AABC5FC0-8129-41F4-AC94-D900565068D8}"/>
              </a:ext>
            </a:extLst>
          </p:cNvPr>
          <p:cNvSpPr>
            <a:spLocks noGrp="1"/>
          </p:cNvSpPr>
          <p:nvPr/>
        </p:nvSpPr>
        <p:spPr>
          <a:xfrm>
            <a:off x="685800" y="409879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F5D8272C-B3D5-40E4-8F74-0653E11D69BB}"/>
              </a:ext>
            </a:extLst>
          </p:cNvPr>
          <p:cNvSpPr>
            <a:spLocks noGrp="1"/>
          </p:cNvSpPr>
          <p:nvPr/>
        </p:nvSpPr>
        <p:spPr>
          <a:xfrm>
            <a:off x="1181100" y="409879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배열 합은 크기와 무관하게 항상 상수 시간이다</a:t>
            </a:r>
          </a:p>
        </p:txBody>
      </p:sp>
      <p:sp>
        <p:nvSpPr>
          <p:cNvPr id="14" name="">
            <a:extLst>
              <a:ext uri="{FF2B5EF4-FFF2-40B4-BE49-F238E27FC236}">
                <ns2:creationId id="{B7D11EF3-78FB-477B-9720-E97AA2214075}"/>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25FE5489-390A-4DEF-9586-DEDA8B20AE37}"/>
              </a:ext>
            </a:extLst>
          </p:cNvPr>
          <p:cNvSpPr>
            <a:spLocks noGrp="1"/>
          </p:cNvSpPr>
          <p:nvPr/>
        </p:nvSpPr>
        <p:spPr>
          <a:xfrm>
            <a:off x="685800" y="454761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2C3ACBA9-4DA0-41F2-94BC-9762E9FF34F2}"/>
              </a:ext>
            </a:extLst>
          </p:cNvPr>
          <p:cNvSpPr>
            <a:spLocks noGrp="1"/>
          </p:cNvSpPr>
          <p:nvPr/>
        </p:nvSpPr>
        <p:spPr>
          <a:xfrm>
            <a:off x="1181100" y="454761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실물 저울질도 후보 수만큼 반복하므로 선형이다</a:t>
            </a:r>
          </a:p>
        </p:txBody>
      </p:sp>
      <p:sp>
        <p:nvSpPr>
          <p:cNvPr id="17" name="">
            <a:extLst>
              <a:ext uri="{FF2B5EF4-FFF2-40B4-BE49-F238E27FC236}">
                <ns2:creationId id="{957072AA-C730-4874-9783-48328F8C6571}"/>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2E581E41-6FA7-4874-91A7-39D74160031C}"/>
              </a:ext>
            </a:extLst>
          </p:cNvPr>
          <p:cNvSpPr>
            <a:spLocks noGrp="1"/>
          </p:cNvSpPr>
          <p:nvPr/>
        </p:nvSpPr>
        <p:spPr>
          <a:xfrm>
            <a:off x="685800" y="499643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86BA19CC-3233-46C2-AC3B-7FFB0608E626}"/>
              </a:ext>
            </a:extLst>
          </p:cNvPr>
          <p:cNvSpPr>
            <a:spLocks noGrp="1"/>
          </p:cNvSpPr>
          <p:nvPr/>
        </p:nvSpPr>
        <p:spPr>
          <a:xfrm>
            <a:off x="1181100" y="499643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두 분석 모두 배열의 각 원소를 상수 번만 더한다는 뜻이다</a:t>
            </a:r>
          </a:p>
        </p:txBody>
      </p:sp>
      <p:sp>
        <p:nvSpPr>
          <p:cNvPr id="20" name="">
            <a:extLst>
              <a:ext uri="{FF2B5EF4-FFF2-40B4-BE49-F238E27FC236}">
                <ns2:creationId id="{467B10F0-EC9D-4B97-B3EB-0FB4D9967F0B}"/>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D295C59E-393D-448A-B585-2073D31C5FA9}"/>
              </a:ext>
            </a:extLst>
          </p:cNvPr>
          <p:cNvSpPr>
            <a:spLocks noGrp="1"/>
          </p:cNvSpPr>
          <p:nvPr/>
        </p:nvSpPr>
        <p:spPr>
          <a:xfrm>
            <a:off x="685800" y="544525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35FC1AFF-E8D4-4224-9652-1E071BCB4688}"/>
              </a:ext>
            </a:extLst>
          </p:cNvPr>
          <p:cNvSpPr>
            <a:spLocks noGrp="1"/>
          </p:cNvSpPr>
          <p:nvPr/>
        </p:nvSpPr>
        <p:spPr>
          <a:xfrm>
            <a:off x="1181100" y="544525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세는 기본 연산이 다르다</a:t>
            </a:r>
          </a:p>
        </p:txBody>
      </p:sp>
    </p:spTree>
    <p:extLst>
      <p:ext uri="{BB962C8B-B14F-4D97-AF65-F5344CB8AC3E}">
        <ns3:creationId val="462685519"/>
      </p:ext>
    </p:extLst>
  </p:cSld>
</p:sld>
</file>

<file path=ppt/slides/slide6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B8C2B6EB-30A3-496C-9008-E20B3DE102E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CE81E9F0-FA7E-4E2C-80CC-5D96C8D72D7B}"/>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09547581-85E1-4B8B-8897-29F141AA8C6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33  정답과 해설</a:t>
            </a:r>
          </a:p>
        </p:txBody>
      </p:sp>
      <p:sp>
        <p:nvSpPr>
          <p:cNvPr id="4" name="">
            <a:extLst>
              <a:ext uri="{FF2B5EF4-FFF2-40B4-BE49-F238E27FC236}">
                <ns2:creationId id="{25C32F2F-78D7-403E-BA3F-3C8C06EC8FD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66ACEFB-3761-4F00-A70F-9EE8F16399B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07FCED8D-9C83-4A6B-874B-BF09011C5CD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A4BFA29-30EB-4917-8CFA-FC0661F249C0}"/>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066</a:t>
            </a:r>
          </a:p>
        </p:txBody>
      </p:sp>
      <p:sp>
        <p:nvSpPr>
          <p:cNvPr id="8" name="text-178-64">
            <a:extLst>
              <a:ext uri="{FF2B5EF4-FFF2-40B4-BE49-F238E27FC236}">
                <ns2:creationId id="{655B0DC9-C6D4-4C78-B5B6-1731C8AD3172}"/>
              </a:ext>
            </a:extLst>
          </p:cNvPr>
          <p:cNvSpPr>
            <a:spLocks noGrp="1"/>
          </p:cNvSpPr>
          <p:nvPr/>
        </p:nvSpPr>
        <p:spPr>
          <a:xfrm>
            <a:off x="609600" y="1619250"/>
            <a:ext cx="10972800" cy="163449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n개 동전 중 하나만 가볍고 나머지 동전의 무게는 같다. n은 2의 거듭제곱이다.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매번 후보를 같은 크기의 두 더미로 나누어 비교하고 가벼운 더미만 남긴다.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실물 양팔저울로 비교하는 횟수는 O(log n)이다. 반면 프로그램에서 각 더미의 무게를 배열 원소를 하나씩</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더해 구하면 전체 합산 시간은 O(n)이다.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두 결과가 동시에 맞을 수 있는 이유는?</a:t>
            </a:r>
          </a:p>
        </p:txBody>
      </p:sp>
      <p:sp>
        <p:nvSpPr>
          <p:cNvPr id="9" name="">
            <a:extLst>
              <a:ext uri="{FF2B5EF4-FFF2-40B4-BE49-F238E27FC236}">
                <ns2:creationId id="{36FDEAF9-E9B7-4715-A59E-5E0461A17E9A}"/>
              </a:ext>
            </a:extLst>
          </p:cNvPr>
          <p:cNvSpPr>
            <a:spLocks noGrp="1"/>
          </p:cNvSpPr>
          <p:nvPr/>
        </p:nvSpPr>
        <p:spPr>
          <a:xfrm>
            <a:off x="609600" y="3368040"/>
            <a:ext cx="10972800" cy="498729"/>
          </a:xfrm>
          <a:prstGeom prst="rect">
            <a:avLst/>
          </a:prstGeom>
          <a:solidFill>
            <a:srgbClr val="171717"/>
          </a:solidFill>
          <a:ln w="0">
            <a:noFill/>
          </a:ln>
        </p:spPr>
      </p:sp>
      <p:sp>
        <p:nvSpPr>
          <p:cNvPr id="10" name="text-245.6-92">
            <a:extLst>
              <a:ext uri="{FF2B5EF4-FFF2-40B4-BE49-F238E27FC236}">
                <ns2:creationId id="{765C40CE-8602-4CE5-8155-D4FBAE90397F}"/>
              </a:ext>
            </a:extLst>
          </p:cNvPr>
          <p:cNvSpPr>
            <a:spLocks noGrp="1"/>
          </p:cNvSpPr>
          <p:nvPr/>
        </p:nvSpPr>
        <p:spPr>
          <a:xfrm>
            <a:off x="876300" y="3444240"/>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5번 세는 기본 연산이 다르다</a:t>
            </a:r>
          </a:p>
        </p:txBody>
      </p:sp>
      <p:sp>
        <p:nvSpPr>
          <p:cNvPr id="11" name="text-324.4-64">
            <a:extLst>
              <a:ext uri="{FF2B5EF4-FFF2-40B4-BE49-F238E27FC236}">
                <ns2:creationId id="{D4958FB3-325A-4493-B4E7-995F9DE24228}"/>
              </a:ext>
            </a:extLst>
          </p:cNvPr>
          <p:cNvSpPr>
            <a:spLocks noGrp="1"/>
          </p:cNvSpPr>
          <p:nvPr/>
        </p:nvSpPr>
        <p:spPr>
          <a:xfrm>
            <a:off x="609600" y="3962019"/>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357F60C0-7E31-4DCB-B5BF-3A9929ACB1DD}"/>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FBA0AE59-BDBF-4CB7-8AA5-CF975AD8D046}"/>
              </a:ext>
            </a:extLst>
          </p:cNvPr>
          <p:cNvSpPr>
            <a:spLocks noGrp="1"/>
          </p:cNvSpPr>
          <p:nvPr/>
        </p:nvSpPr>
        <p:spPr>
          <a:xfrm>
            <a:off x="609600" y="4339209"/>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실물 저울의 한 번 비교와 배열 원소를 더하는 작업의 비용 모형을 구분해야 한다.</a:t>
            </a:r>
          </a:p>
        </p:txBody>
      </p:sp>
    </p:spTree>
    <p:extLst>
      <p:ext uri="{BB962C8B-B14F-4D97-AF65-F5344CB8AC3E}">
        <ns3:creationId val="462685519"/>
      </p:ext>
    </p:extLst>
  </p:cSld>
</p:sld>
</file>

<file path=ppt/slides/slide6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CF3F4CC0-1E32-4C0A-B6C6-BE01986FBCB3}"/>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3F133B84-B3F2-426E-8BD8-BC7FFC269951}"/>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752AA024-153D-47C6-94A2-32F892076EEB}"/>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34  </a:t>
            </a:r>
          </a:p>
        </p:txBody>
      </p:sp>
      <p:sp>
        <p:nvSpPr>
          <p:cNvPr id="4" name="">
            <a:extLst>
              <a:ext uri="{FF2B5EF4-FFF2-40B4-BE49-F238E27FC236}">
                <ns2:creationId id="{61724FED-2E1C-4422-A61B-01CD5AFD714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1E6BB16-1195-4147-923F-B5A075352F1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B7BD9E54-9DFC-4DBB-8E76-10758BA6C115}"/>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BDA10428-8B9D-4E08-A861-DCE5D3340290}"/>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067</a:t>
            </a:r>
          </a:p>
        </p:txBody>
      </p:sp>
      <p:sp>
        <p:nvSpPr>
          <p:cNvPr id="8" name="text-178-64">
            <a:extLst>
              <a:ext uri="{FF2B5EF4-FFF2-40B4-BE49-F238E27FC236}">
                <ns2:creationId id="{EE233C30-74FB-41F3-AECE-A2572E4302FE}"/>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퀵 셀렉트는 n개 원소 중 k번째로 작은 값 하나를 찾는다. 퀵 정렬은 모든 원소를 순서대로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정렬한다. 두 방법 모두 기준값(피벗)과 각 원소를 비교해 그룹을 나눈다. 퀵 셀렉트가 퀵</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정렬과 달리 보통 수행하지 않는 작업은?</a:t>
            </a:r>
          </a:p>
        </p:txBody>
      </p:sp>
      <p:sp>
        <p:nvSpPr>
          <p:cNvPr id="9" name="text-316-72">
            <a:extLst>
              <a:ext uri="{FF2B5EF4-FFF2-40B4-BE49-F238E27FC236}">
                <ns2:creationId id="{65FA599F-0D79-4EAA-8061-EA32E489D066}"/>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84E9A551-AC58-41D7-B319-C60DD9F8ADF6}"/>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원소와 피벗 비교하기</a:t>
            </a:r>
          </a:p>
        </p:txBody>
      </p:sp>
      <p:sp>
        <p:nvSpPr>
          <p:cNvPr id="11" name="">
            <a:extLst>
              <a:ext uri="{FF2B5EF4-FFF2-40B4-BE49-F238E27FC236}">
                <ns2:creationId id="{DFEA6835-7C4D-4C02-BD86-9B78C7F95239}"/>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EE66DE21-BC10-445E-BF66-782BF13398D6}"/>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947638F5-D3C2-4A45-A0D9-7E67E1B48086}"/>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피벗 기준으로 구분하기</a:t>
            </a:r>
          </a:p>
        </p:txBody>
      </p:sp>
      <p:sp>
        <p:nvSpPr>
          <p:cNvPr id="14" name="">
            <a:extLst>
              <a:ext uri="{FF2B5EF4-FFF2-40B4-BE49-F238E27FC236}">
                <ns2:creationId id="{907707FD-D526-4125-9EF5-5D91F452B6F7}"/>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B98C617F-8FE2-4726-AC68-FC96C2F1928B}"/>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F20B1063-4ACE-4BAE-A938-90B614F4B3E7}"/>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정답이 없는 쪽을 재귀적으로 정렬하기</a:t>
            </a:r>
          </a:p>
        </p:txBody>
      </p:sp>
      <p:sp>
        <p:nvSpPr>
          <p:cNvPr id="17" name="">
            <a:extLst>
              <a:ext uri="{FF2B5EF4-FFF2-40B4-BE49-F238E27FC236}">
                <ns2:creationId id="{7649E928-5C48-40FF-BEEB-D1A79031BF71}"/>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58C08C7D-A3E4-4EDC-9370-4D130AF3D22B}"/>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1C499CB2-860A-4AD2-8B87-F2D11CBE3B86}"/>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순위에 따라 다음 구간 정하기</a:t>
            </a:r>
          </a:p>
        </p:txBody>
      </p:sp>
      <p:sp>
        <p:nvSpPr>
          <p:cNvPr id="20" name="">
            <a:extLst>
              <a:ext uri="{FF2B5EF4-FFF2-40B4-BE49-F238E27FC236}">
                <ns2:creationId id="{945635C4-7456-4575-AEEA-BC9C17CA2ECC}"/>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429EF073-998F-4215-8B47-CD7E4918F22C}"/>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62D85DC7-D50C-4961-94A1-7B18A29F547D}"/>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더 호출하지 않고 끝낼 조건을 확인하기</a:t>
            </a:r>
          </a:p>
        </p:txBody>
      </p:sp>
    </p:spTree>
    <p:extLst>
      <p:ext uri="{BB962C8B-B14F-4D97-AF65-F5344CB8AC3E}">
        <ns3:creationId val="462685519"/>
      </p:ext>
    </p:extLst>
  </p:cSld>
</p:sld>
</file>

<file path=ppt/slides/slide6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8D352B41-A17C-41D9-B6DC-8754C71DE43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0F960F96-DEBD-406D-BDD4-3D94FC87C627}"/>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A3C7987-D678-4B79-A4DA-14BF4C29C8E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34  정답과 해설</a:t>
            </a:r>
          </a:p>
        </p:txBody>
      </p:sp>
      <p:sp>
        <p:nvSpPr>
          <p:cNvPr id="4" name="">
            <a:extLst>
              <a:ext uri="{FF2B5EF4-FFF2-40B4-BE49-F238E27FC236}">
                <ns2:creationId id="{5FAA7FDC-B217-40F8-9FAB-6929356A4A1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A2C5EEE-329E-48BC-935C-E16BD7725B1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746CC2C-0095-48AB-9CC8-2343F324EBBF}"/>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11E0AE52-9C0A-405E-B759-B024641A2B1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068</a:t>
            </a:r>
          </a:p>
        </p:txBody>
      </p:sp>
      <p:sp>
        <p:nvSpPr>
          <p:cNvPr id="8" name="text-178-64">
            <a:extLst>
              <a:ext uri="{FF2B5EF4-FFF2-40B4-BE49-F238E27FC236}">
                <ns2:creationId id="{E5CDCBF2-8E91-4C61-9CC1-134FAE44FBD8}"/>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퀵 셀렉트는 n개 원소 중 k번째로 작은 값 하나를 찾는다. 퀵 정렬은 모든 원소를 순서대로 정렬한다. 두</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방법 모두 기준값(피벗)과 각 원소를 비교해 그룹을 나눈다. 퀵 셀렉트가 퀵 정렬과 달리 보통 수행하지</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않는 작업은?</a:t>
            </a:r>
          </a:p>
        </p:txBody>
      </p:sp>
      <p:sp>
        <p:nvSpPr>
          <p:cNvPr id="9" name="">
            <a:extLst>
              <a:ext uri="{FF2B5EF4-FFF2-40B4-BE49-F238E27FC236}">
                <ns2:creationId id="{0ECB9EC9-F4F2-49F3-8F24-C6FD8F9BCAE9}"/>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A784611D-40EC-4251-96B1-7A644EF1CC03}"/>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3번 정답이 없는 쪽을 재귀적으로 정렬하기</a:t>
            </a:r>
          </a:p>
        </p:txBody>
      </p:sp>
      <p:sp>
        <p:nvSpPr>
          <p:cNvPr id="11" name="text-324.4-64">
            <a:extLst>
              <a:ext uri="{FF2B5EF4-FFF2-40B4-BE49-F238E27FC236}">
                <ns2:creationId id="{99DDED30-8235-4BA2-A1F6-8B516A151D3A}"/>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5205BAB2-AD42-4947-9CC7-8410DCBE7DE3}"/>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F9FC231A-1255-4DA9-B0DF-3FB2A62BFA9E}"/>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선택 문제는 한 순위의 값만 필요하므로 한쪽만 계속 처리한다.</a:t>
            </a:r>
          </a:p>
        </p:txBody>
      </p:sp>
    </p:spTree>
    <p:extLst>
      <p:ext uri="{BB962C8B-B14F-4D97-AF65-F5344CB8AC3E}">
        <ns3:creationId val="462685519"/>
      </p:ext>
    </p:extLst>
  </p:cSld>
</p:sld>
</file>

<file path=ppt/slides/slide6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C2C7DA2A-6A8B-4284-AD06-25CDB2EADC3F}"/>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6EE28421-919C-4F0C-AECB-AA161C70C47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7AEFCFC-D7FB-4217-AF64-17FC0EED95ED}"/>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35  </a:t>
            </a:r>
          </a:p>
        </p:txBody>
      </p:sp>
      <p:sp>
        <p:nvSpPr>
          <p:cNvPr id="4" name="">
            <a:extLst>
              <a:ext uri="{FF2B5EF4-FFF2-40B4-BE49-F238E27FC236}">
                <ns2:creationId id="{3044B6C3-79F9-4415-B33A-824F9F67CF5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7A82AEC-AA48-4919-864B-2F2C3B0343BD}"/>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54B46CD-C5DE-4AF5-A316-44E1B0EE1C6F}"/>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AB1909B-FFFB-4963-8513-9604597A49EA}"/>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069</a:t>
            </a:r>
          </a:p>
        </p:txBody>
      </p:sp>
      <p:sp>
        <p:nvSpPr>
          <p:cNvPr id="8" name="text-178-64">
            <a:extLst>
              <a:ext uri="{FF2B5EF4-FFF2-40B4-BE49-F238E27FC236}">
                <ns2:creationId id="{3268B86B-A578-48E6-BA4C-EB881681207D}"/>
              </a:ext>
            </a:extLst>
          </p:cNvPr>
          <p:cNvSpPr>
            <a:spLocks noGrp="1"/>
          </p:cNvSpPr>
          <p:nvPr/>
        </p:nvSpPr>
        <p:spPr>
          <a:xfrm>
            <a:off x="609600" y="16954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퀵 셀렉트에서 L은 피벗보다 작은 원소 수, E는 피벗과 같은 원소 수이다. 중복도 각각 세어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1부터 시작하는 순위 k의 값을 찾을 때, 피벗이 정답인 조건은?</a:t>
            </a:r>
          </a:p>
        </p:txBody>
      </p:sp>
      <p:sp>
        <p:nvSpPr>
          <p:cNvPr id="9" name="text-316-72">
            <a:extLst>
              <a:ext uri="{FF2B5EF4-FFF2-40B4-BE49-F238E27FC236}">
                <ns2:creationId id="{7D7802CA-1E33-45D3-9743-90B68A7F1736}"/>
              </a:ext>
            </a:extLst>
          </p:cNvPr>
          <p:cNvSpPr>
            <a:spLocks noGrp="1"/>
          </p:cNvSpPr>
          <p:nvPr/>
        </p:nvSpPr>
        <p:spPr>
          <a:xfrm>
            <a:off x="685800" y="25092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a:ext uri="{FF2B5EF4-FFF2-40B4-BE49-F238E27FC236}">
                <ns2:creationId id="{E5210FB3-CE07-4D74-9982-675885A74A66}"/>
              </a:ext>
            </a:extLst>
          </p:cNvPr>
          <p:cNvSpPr>
            <a:spLocks noGrp="1"/>
          </p:cNvSpPr>
          <p:nvPr/>
        </p:nvSpPr>
        <p:spPr>
          <a:xfrm>
            <a:off x="1181100" y="25092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k≥L+E+1</a:t>
            </a:r>
          </a:p>
        </p:txBody>
      </p:sp>
      <p:sp>
        <p:nvSpPr>
          <p:cNvPr id="11" name="">
            <a:extLst>
              <a:ext uri="{FF2B5EF4-FFF2-40B4-BE49-F238E27FC236}">
                <ns2:creationId id="{C3CEF5EE-42B1-4381-80BD-06C930DD6CD3}"/>
              </a:ext>
            </a:extLst>
          </p:cNvPr>
          <p:cNvSpPr>
            <a:spLocks noGrp="1"/>
          </p:cNvSpPr>
          <p:nvPr/>
        </p:nvSpPr>
        <p:spPr>
          <a:xfrm>
            <a:off x="1181100" y="5290566"/>
            <a:ext cx="10401300" cy="9525"/>
          </a:xfrm>
          <a:prstGeom prst="rect">
            <a:avLst/>
          </a:prstGeom>
          <a:solidFill>
            <a:srgbClr val="E7E7E7"/>
          </a:solidFill>
          <a:ln w="0">
            <a:noFill/>
          </a:ln>
        </p:spPr>
      </p:sp>
      <p:sp>
        <p:nvSpPr>
          <p:cNvPr id="12" name="text-382-72">
            <a:extLst>
              <a:ext uri="{FF2B5EF4-FFF2-40B4-BE49-F238E27FC236}">
                <ns2:creationId id="{7EBA5C02-D4EC-4426-9DB3-8841AB756767}"/>
              </a:ext>
            </a:extLst>
          </p:cNvPr>
          <p:cNvSpPr>
            <a:spLocks noGrp="1"/>
          </p:cNvSpPr>
          <p:nvPr/>
        </p:nvSpPr>
        <p:spPr>
          <a:xfrm>
            <a:off x="685800" y="30426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a:ext uri="{FF2B5EF4-FFF2-40B4-BE49-F238E27FC236}">
                <ns2:creationId id="{A0813A00-43F6-44ED-B821-B5D6C10E6563}"/>
              </a:ext>
            </a:extLst>
          </p:cNvPr>
          <p:cNvSpPr>
            <a:spLocks noGrp="1"/>
          </p:cNvSpPr>
          <p:nvPr/>
        </p:nvSpPr>
        <p:spPr>
          <a:xfrm>
            <a:off x="1181100" y="30426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k&gt;L+E</a:t>
            </a:r>
          </a:p>
        </p:txBody>
      </p:sp>
      <p:sp>
        <p:nvSpPr>
          <p:cNvPr id="14" name="">
            <a:extLst>
              <a:ext uri="{FF2B5EF4-FFF2-40B4-BE49-F238E27FC236}">
                <ns2:creationId id="{CF9EA729-18B1-4669-A231-7207DB3FFE71}"/>
              </a:ext>
            </a:extLst>
          </p:cNvPr>
          <p:cNvSpPr>
            <a:spLocks noGrp="1"/>
          </p:cNvSpPr>
          <p:nvPr/>
        </p:nvSpPr>
        <p:spPr>
          <a:xfrm>
            <a:off x="1181100" y="5290566"/>
            <a:ext cx="10401300" cy="9525"/>
          </a:xfrm>
          <a:prstGeom prst="rect">
            <a:avLst/>
          </a:prstGeom>
          <a:solidFill>
            <a:srgbClr val="E7E7E7"/>
          </a:solidFill>
          <a:ln w="0">
            <a:noFill/>
          </a:ln>
        </p:spPr>
      </p:sp>
      <p:sp>
        <p:nvSpPr>
          <p:cNvPr id="15" name="text-448-72">
            <a:extLst>
              <a:ext uri="{FF2B5EF4-FFF2-40B4-BE49-F238E27FC236}">
                <ns2:creationId id="{49591BE0-4D8C-40E6-9DA3-C5BD2E68F2F2}"/>
              </a:ext>
            </a:extLst>
          </p:cNvPr>
          <p:cNvSpPr>
            <a:spLocks noGrp="1"/>
          </p:cNvSpPr>
          <p:nvPr/>
        </p:nvSpPr>
        <p:spPr>
          <a:xfrm>
            <a:off x="685800" y="35760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a:ext uri="{FF2B5EF4-FFF2-40B4-BE49-F238E27FC236}">
                <ns2:creationId id="{FAA30500-BB75-4E23-ADA5-48A8B6899B2C}"/>
              </a:ext>
            </a:extLst>
          </p:cNvPr>
          <p:cNvSpPr>
            <a:spLocks noGrp="1"/>
          </p:cNvSpPr>
          <p:nvPr/>
        </p:nvSpPr>
        <p:spPr>
          <a:xfrm>
            <a:off x="1181100" y="35760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L&lt;k≤L+E</a:t>
            </a:r>
          </a:p>
        </p:txBody>
      </p:sp>
      <p:sp>
        <p:nvSpPr>
          <p:cNvPr id="17" name="">
            <a:extLst>
              <a:ext uri="{FF2B5EF4-FFF2-40B4-BE49-F238E27FC236}">
                <ns2:creationId id="{F8B28EEC-287B-4506-B439-19ED548E054B}"/>
              </a:ext>
            </a:extLst>
          </p:cNvPr>
          <p:cNvSpPr>
            <a:spLocks noGrp="1"/>
          </p:cNvSpPr>
          <p:nvPr/>
        </p:nvSpPr>
        <p:spPr>
          <a:xfrm>
            <a:off x="1181100" y="5290566"/>
            <a:ext cx="10401300" cy="9525"/>
          </a:xfrm>
          <a:prstGeom prst="rect">
            <a:avLst/>
          </a:prstGeom>
          <a:solidFill>
            <a:srgbClr val="E7E7E7"/>
          </a:solidFill>
          <a:ln w="0">
            <a:noFill/>
          </a:ln>
        </p:spPr>
      </p:sp>
      <p:sp>
        <p:nvSpPr>
          <p:cNvPr id="18" name="text-514-72">
            <a:extLst>
              <a:ext uri="{FF2B5EF4-FFF2-40B4-BE49-F238E27FC236}">
                <ns2:creationId id="{A2F91CAF-878E-41BA-A806-3BEC0A820E7E}"/>
              </a:ext>
            </a:extLst>
          </p:cNvPr>
          <p:cNvSpPr>
            <a:spLocks noGrp="1"/>
          </p:cNvSpPr>
          <p:nvPr/>
        </p:nvSpPr>
        <p:spPr>
          <a:xfrm>
            <a:off x="685800" y="41094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a:ext uri="{FF2B5EF4-FFF2-40B4-BE49-F238E27FC236}">
                <ns2:creationId id="{F898F888-3E7C-4CB8-892B-9FA4EE134D7E}"/>
              </a:ext>
            </a:extLst>
          </p:cNvPr>
          <p:cNvSpPr>
            <a:spLocks noGrp="1"/>
          </p:cNvSpPr>
          <p:nvPr/>
        </p:nvSpPr>
        <p:spPr>
          <a:xfrm>
            <a:off x="1181100" y="41094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k=0</a:t>
            </a:r>
          </a:p>
        </p:txBody>
      </p:sp>
      <p:sp>
        <p:nvSpPr>
          <p:cNvPr id="20" name="">
            <a:extLst>
              <a:ext uri="{FF2B5EF4-FFF2-40B4-BE49-F238E27FC236}">
                <ns2:creationId id="{8F1E50C9-0534-486C-98C4-ACEEE081C01F}"/>
              </a:ext>
            </a:extLst>
          </p:cNvPr>
          <p:cNvSpPr>
            <a:spLocks noGrp="1"/>
          </p:cNvSpPr>
          <p:nvPr/>
        </p:nvSpPr>
        <p:spPr>
          <a:xfrm>
            <a:off x="1181100" y="5438775"/>
            <a:ext cx="10401300" cy="9525"/>
          </a:xfrm>
          <a:prstGeom prst="rect">
            <a:avLst/>
          </a:prstGeom>
          <a:solidFill>
            <a:srgbClr val="E7E7E7"/>
          </a:solidFill>
          <a:ln w="0">
            <a:noFill/>
          </a:ln>
        </p:spPr>
      </p:sp>
      <p:sp>
        <p:nvSpPr>
          <p:cNvPr id="21" name="text-580-72">
            <a:extLst>
              <a:ext uri="{FF2B5EF4-FFF2-40B4-BE49-F238E27FC236}">
                <ns2:creationId id="{D3268AFB-C7B6-4CEB-B6B3-6846339A8197}"/>
              </a:ext>
            </a:extLst>
          </p:cNvPr>
          <p:cNvSpPr>
            <a:spLocks noGrp="1"/>
          </p:cNvSpPr>
          <p:nvPr/>
        </p:nvSpPr>
        <p:spPr>
          <a:xfrm>
            <a:off x="685800" y="46428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a:ext uri="{FF2B5EF4-FFF2-40B4-BE49-F238E27FC236}">
                <ns2:creationId id="{01E0E436-E105-4C02-9CB7-BCE439D3C4E7}"/>
              </a:ext>
            </a:extLst>
          </p:cNvPr>
          <p:cNvSpPr>
            <a:spLocks noGrp="1"/>
          </p:cNvSpPr>
          <p:nvPr/>
        </p:nvSpPr>
        <p:spPr>
          <a:xfrm>
            <a:off x="1181100" y="46428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k&lt;L</a:t>
            </a:r>
          </a:p>
        </p:txBody>
      </p:sp>
    </p:spTree>
    <p:extLst>
      <p:ext uri="{BB962C8B-B14F-4D97-AF65-F5344CB8AC3E}">
        <ns3:creationId val="462685519"/>
      </p:ext>
    </p:extLst>
  </p:cSld>
</p:sld>
</file>

<file path=ppt/slides/slide7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6B11969F-6BEB-49AD-B88E-1CA80FC115FD}"/>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E68C8FA7-93FA-42CC-83CB-96BCA7129C9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23914D00-72CF-424C-A1CC-E01A94321C8B}"/>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35  정답과 해설</a:t>
            </a:r>
          </a:p>
        </p:txBody>
      </p:sp>
      <p:sp>
        <p:nvSpPr>
          <p:cNvPr id="4" name="">
            <a:extLst>
              <a:ext uri="{FF2B5EF4-FFF2-40B4-BE49-F238E27FC236}">
                <ns2:creationId id="{B2AFDA59-0161-47F5-BAE1-0090657A7A4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33C6E2B-752A-4AF1-9045-296370D105E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CE4094B-FCC8-4E64-99E4-BAF8655B4EEB}"/>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335760C4-47D9-4666-B5D1-F51D0F248B3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070</a:t>
            </a:r>
          </a:p>
        </p:txBody>
      </p:sp>
      <p:sp>
        <p:nvSpPr>
          <p:cNvPr id="8" name="text-178-64">
            <a:extLst>
              <a:ext uri="{FF2B5EF4-FFF2-40B4-BE49-F238E27FC236}">
                <ns2:creationId id="{C4E1DD81-CE4B-4D5F-9F78-851498110F90}"/>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퀵 셀렉트에서 L은 피벗보다 작은 원소 수, E는 피벗과 같은 원소 수이다. 중복도 각각 세어 1부터 시작하는</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순위 k의 값을 찾을 때, 피벗이 정답인 조건은?</a:t>
            </a:r>
          </a:p>
        </p:txBody>
      </p:sp>
      <p:sp>
        <p:nvSpPr>
          <p:cNvPr id="9" name="">
            <a:extLst>
              <a:ext uri="{FF2B5EF4-FFF2-40B4-BE49-F238E27FC236}">
                <ns2:creationId id="{55DA9A54-8F1A-4063-9A65-04C7498E23AB}"/>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06DBC7C4-2B72-4590-B31E-F7A54F153BD7}"/>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3번 L&lt;k≤L+E</a:t>
            </a:r>
          </a:p>
        </p:txBody>
      </p:sp>
      <p:sp>
        <p:nvSpPr>
          <p:cNvPr id="11" name="text-324.4-64">
            <a:extLst>
              <a:ext uri="{FF2B5EF4-FFF2-40B4-BE49-F238E27FC236}">
                <ns2:creationId id="{D99EC7C7-E053-4D2A-A13D-98834ED5B6DA}"/>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D0884347-236D-4A33-AB4D-B2B2AB7050E8}"/>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9F52452D-4C08-4BBC-B4E5-1DD8574ED846}"/>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같은 값들이 정렬 결과의 L+1부터 L+E번째 순위를 차지한다.</a:t>
            </a:r>
          </a:p>
        </p:txBody>
      </p:sp>
    </p:spTree>
    <p:extLst>
      <p:ext uri="{BB962C8B-B14F-4D97-AF65-F5344CB8AC3E}">
        <ns3:creationId val="462685519"/>
      </p:ext>
    </p:extLst>
  </p:cSld>
</p:sld>
</file>

<file path=ppt/slides/slide7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E124AE44-22F8-4E31-8973-E18A6928F176}"/>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1AF15B94-E62B-4BC6-BE1E-960A0E1A4C3C}"/>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957D1A0-5AD6-40D2-BAA5-4D937288C83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36  </a:t>
            </a:r>
          </a:p>
        </p:txBody>
      </p:sp>
      <p:sp>
        <p:nvSpPr>
          <p:cNvPr id="4" name="">
            <a:extLst>
              <a:ext uri="{FF2B5EF4-FFF2-40B4-BE49-F238E27FC236}">
                <ns2:creationId id="{0E7978B5-63B6-4AC4-B6A0-6039112858A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EA1058C-0BCD-435C-A8B2-B3A1759EE13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6D04DE0-26E1-48DE-AE88-AC658BFAA1C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E391334-9F6B-4886-84C3-E5491B5E6EEB}"/>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071</a:t>
            </a:r>
          </a:p>
        </p:txBody>
      </p:sp>
      <p:sp>
        <p:nvSpPr>
          <p:cNvPr id="8" name="text-178-64">
            <a:extLst>
              <a:ext uri="{FF2B5EF4-FFF2-40B4-BE49-F238E27FC236}">
                <ns2:creationId id="{FB4ABD21-A3E5-423B-BAF8-907199FF4409}"/>
              </a:ext>
            </a:extLst>
          </p:cNvPr>
          <p:cNvSpPr>
            <a:spLocks noGrp="1"/>
          </p:cNvSpPr>
          <p:nvPr/>
        </p:nvSpPr>
        <p:spPr>
          <a:xfrm>
            <a:off x="609600" y="16954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퀵 셀렉트에서 L은 피벗보다 작은 원소 수, E는 같은 원소 수이며 k는 1부터 세는 순위이다.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k&gt;L+E라서 큰 값 구간으로 이동한다. 그 구간 안에서의 새 순위는?</a:t>
            </a:r>
          </a:p>
        </p:txBody>
      </p:sp>
      <p:sp>
        <p:nvSpPr>
          <p:cNvPr id="9" name="text-316-72">
            <a:extLst>
              <a:ext uri="{FF2B5EF4-FFF2-40B4-BE49-F238E27FC236}">
                <ns2:creationId id="{8C5EB47F-08ED-49AC-B59C-2372DBAAFF2E}"/>
              </a:ext>
            </a:extLst>
          </p:cNvPr>
          <p:cNvSpPr>
            <a:spLocks noGrp="1"/>
          </p:cNvSpPr>
          <p:nvPr/>
        </p:nvSpPr>
        <p:spPr>
          <a:xfrm>
            <a:off x="685800" y="25092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1</a:t>
            </a:r>
          </a:p>
        </p:txBody>
      </p:sp>
      <p:sp>
        <p:nvSpPr>
          <p:cNvPr id="10" name="text-316-124">
            <a:extLst>
              <a:ext uri="{FF2B5EF4-FFF2-40B4-BE49-F238E27FC236}">
                <ns2:creationId id="{41EBEA09-7CA3-40BF-8626-151A39316192}"/>
              </a:ext>
            </a:extLst>
          </p:cNvPr>
          <p:cNvSpPr>
            <a:spLocks noGrp="1"/>
          </p:cNvSpPr>
          <p:nvPr/>
        </p:nvSpPr>
        <p:spPr>
          <a:xfrm>
            <a:off x="1181100" y="25092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k−E</a:t>
            </a:r>
          </a:p>
        </p:txBody>
      </p:sp>
      <p:sp>
        <p:nvSpPr>
          <p:cNvPr id="11" name="">
            <a:extLst>
              <a:ext uri="{FF2B5EF4-FFF2-40B4-BE49-F238E27FC236}">
                <ns2:creationId id="{412D4690-A812-4C19-BFC4-671248F88874}"/>
              </a:ext>
            </a:extLst>
          </p:cNvPr>
          <p:cNvSpPr>
            <a:spLocks noGrp="1"/>
          </p:cNvSpPr>
          <p:nvPr/>
        </p:nvSpPr>
        <p:spPr>
          <a:xfrm>
            <a:off x="1181100" y="5290566"/>
            <a:ext cx="10401300" cy="9525"/>
          </a:xfrm>
          <a:prstGeom prst="rect">
            <a:avLst/>
          </a:prstGeom>
          <a:solidFill>
            <a:srgbClr val="E7E7E7"/>
          </a:solidFill>
          <a:ln w="0">
            <a:noFill/>
          </a:ln>
        </p:spPr>
      </p:sp>
      <p:sp>
        <p:nvSpPr>
          <p:cNvPr id="12" name="text-382-72">
            <a:extLst>
              <a:ext uri="{FF2B5EF4-FFF2-40B4-BE49-F238E27FC236}">
                <ns2:creationId id="{E1912543-32BA-4410-85F8-E2A04685154B}"/>
              </a:ext>
            </a:extLst>
          </p:cNvPr>
          <p:cNvSpPr>
            <a:spLocks noGrp="1"/>
          </p:cNvSpPr>
          <p:nvPr/>
        </p:nvSpPr>
        <p:spPr>
          <a:xfrm>
            <a:off x="685800" y="30426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2</a:t>
            </a:r>
          </a:p>
        </p:txBody>
      </p:sp>
      <p:sp>
        <p:nvSpPr>
          <p:cNvPr id="13" name="text-382-124">
            <a:extLst>
              <a:ext uri="{FF2B5EF4-FFF2-40B4-BE49-F238E27FC236}">
                <ns2:creationId id="{828D0CAD-2983-4BD8-918F-3FA1B2383C8A}"/>
              </a:ext>
            </a:extLst>
          </p:cNvPr>
          <p:cNvSpPr>
            <a:spLocks noGrp="1"/>
          </p:cNvSpPr>
          <p:nvPr/>
        </p:nvSpPr>
        <p:spPr>
          <a:xfrm>
            <a:off x="1181100" y="30426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k−L−E</a:t>
            </a:r>
          </a:p>
        </p:txBody>
      </p:sp>
      <p:sp>
        <p:nvSpPr>
          <p:cNvPr id="14" name="">
            <a:extLst>
              <a:ext uri="{FF2B5EF4-FFF2-40B4-BE49-F238E27FC236}">
                <ns2:creationId id="{CD76700B-A311-420E-B90F-FE0C73EF6700}"/>
              </a:ext>
            </a:extLst>
          </p:cNvPr>
          <p:cNvSpPr>
            <a:spLocks noGrp="1"/>
          </p:cNvSpPr>
          <p:nvPr/>
        </p:nvSpPr>
        <p:spPr>
          <a:xfrm>
            <a:off x="1181100" y="5290566"/>
            <a:ext cx="10401300" cy="9525"/>
          </a:xfrm>
          <a:prstGeom prst="rect">
            <a:avLst/>
          </a:prstGeom>
          <a:solidFill>
            <a:srgbClr val="E7E7E7"/>
          </a:solidFill>
          <a:ln w="0">
            <a:noFill/>
          </a:ln>
        </p:spPr>
      </p:sp>
      <p:sp>
        <p:nvSpPr>
          <p:cNvPr id="15" name="text-448-72">
            <a:extLst>
              <a:ext uri="{FF2B5EF4-FFF2-40B4-BE49-F238E27FC236}">
                <ns2:creationId id="{43B0DB1C-5483-4552-97B5-45DFF242DB4F}"/>
              </a:ext>
            </a:extLst>
          </p:cNvPr>
          <p:cNvSpPr>
            <a:spLocks noGrp="1"/>
          </p:cNvSpPr>
          <p:nvPr/>
        </p:nvSpPr>
        <p:spPr>
          <a:xfrm>
            <a:off x="685800" y="35760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3</a:t>
            </a:r>
          </a:p>
        </p:txBody>
      </p:sp>
      <p:sp>
        <p:nvSpPr>
          <p:cNvPr id="16" name="text-448-124">
            <a:extLst>
              <a:ext uri="{FF2B5EF4-FFF2-40B4-BE49-F238E27FC236}">
                <ns2:creationId id="{F77E8A7E-5D19-4454-A473-5832A43391C9}"/>
              </a:ext>
            </a:extLst>
          </p:cNvPr>
          <p:cNvSpPr>
            <a:spLocks noGrp="1"/>
          </p:cNvSpPr>
          <p:nvPr/>
        </p:nvSpPr>
        <p:spPr>
          <a:xfrm>
            <a:off x="1181100" y="35760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L+E−k</a:t>
            </a:r>
          </a:p>
        </p:txBody>
      </p:sp>
      <p:sp>
        <p:nvSpPr>
          <p:cNvPr id="17" name="">
            <a:extLst>
              <a:ext uri="{FF2B5EF4-FFF2-40B4-BE49-F238E27FC236}">
                <ns2:creationId id="{ED05BB12-DED2-4344-95AC-6CCA94EBE3B1}"/>
              </a:ext>
            </a:extLst>
          </p:cNvPr>
          <p:cNvSpPr>
            <a:spLocks noGrp="1"/>
          </p:cNvSpPr>
          <p:nvPr/>
        </p:nvSpPr>
        <p:spPr>
          <a:xfrm>
            <a:off x="1181100" y="5290566"/>
            <a:ext cx="10401300" cy="9525"/>
          </a:xfrm>
          <a:prstGeom prst="rect">
            <a:avLst/>
          </a:prstGeom>
          <a:solidFill>
            <a:srgbClr val="E7E7E7"/>
          </a:solidFill>
          <a:ln w="0">
            <a:noFill/>
          </a:ln>
        </p:spPr>
      </p:sp>
      <p:sp>
        <p:nvSpPr>
          <p:cNvPr id="18" name="text-514-72">
            <a:extLst>
              <a:ext uri="{FF2B5EF4-FFF2-40B4-BE49-F238E27FC236}">
                <ns2:creationId id="{0AC8D712-B4CA-400F-86EE-A12BFFED5BAA}"/>
              </a:ext>
            </a:extLst>
          </p:cNvPr>
          <p:cNvSpPr>
            <a:spLocks noGrp="1"/>
          </p:cNvSpPr>
          <p:nvPr/>
        </p:nvSpPr>
        <p:spPr>
          <a:xfrm>
            <a:off x="685800" y="41094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4</a:t>
            </a:r>
          </a:p>
        </p:txBody>
      </p:sp>
      <p:sp>
        <p:nvSpPr>
          <p:cNvPr id="19" name="text-514-124">
            <a:extLst>
              <a:ext uri="{FF2B5EF4-FFF2-40B4-BE49-F238E27FC236}">
                <ns2:creationId id="{70568D90-25E2-4523-B8E1-CFF08B5995BA}"/>
              </a:ext>
            </a:extLst>
          </p:cNvPr>
          <p:cNvSpPr>
            <a:spLocks noGrp="1"/>
          </p:cNvSpPr>
          <p:nvPr/>
        </p:nvSpPr>
        <p:spPr>
          <a:xfrm>
            <a:off x="1181100" y="41094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k−L</a:t>
            </a:r>
          </a:p>
        </p:txBody>
      </p:sp>
      <p:sp>
        <p:nvSpPr>
          <p:cNvPr id="20" name="">
            <a:extLst>
              <a:ext uri="{FF2B5EF4-FFF2-40B4-BE49-F238E27FC236}">
                <ns2:creationId id="{3238B46B-068B-49D4-9EAA-CE7C3CE9D73C}"/>
              </a:ext>
            </a:extLst>
          </p:cNvPr>
          <p:cNvSpPr>
            <a:spLocks noGrp="1"/>
          </p:cNvSpPr>
          <p:nvPr/>
        </p:nvSpPr>
        <p:spPr>
          <a:xfrm>
            <a:off x="1181100" y="5438775"/>
            <a:ext cx="10401300" cy="9525"/>
          </a:xfrm>
          <a:prstGeom prst="rect">
            <a:avLst/>
          </a:prstGeom>
          <a:solidFill>
            <a:srgbClr val="E7E7E7"/>
          </a:solidFill>
          <a:ln w="0">
            <a:noFill/>
          </a:ln>
        </p:spPr>
      </p:sp>
      <p:sp>
        <p:nvSpPr>
          <p:cNvPr id="21" name="text-580-72">
            <a:extLst>
              <a:ext uri="{FF2B5EF4-FFF2-40B4-BE49-F238E27FC236}">
                <ns2:creationId id="{E18D4ACC-4388-49BF-8ACC-C2012E38496E}"/>
              </a:ext>
            </a:extLst>
          </p:cNvPr>
          <p:cNvSpPr>
            <a:spLocks noGrp="1"/>
          </p:cNvSpPr>
          <p:nvPr/>
        </p:nvSpPr>
        <p:spPr>
          <a:xfrm>
            <a:off x="685800" y="4642866"/>
            <a:ext cx="400050" cy="381000"/>
          </a:xfrm>
          <a:prstGeom prst="rect">
            <a:avLst/>
          </a:prstGeom>
          <a:noFill/>
          <a:ln w="0">
            <a:noFill/>
          </a:ln>
        </p:spPr>
        <p:txBody>
          <a:bodyPr wrap="none" lIns="0" tIns="0" rIns="0" bIns="0" anchor="t">
            <a:noAutofit/>
          </a:bodyPr>
          <a:lstStyle/>
          <a:p>
            <a:pPr algn="l">
              <a:lnSpc>
                <a:spcPct val="108000"/>
              </a:lnSpc>
              <a:buNone/>
              <a:defRPr sz="1950" b="1" i="0">
                <a:solidFill>
                  <a:srgbClr val="171717"/>
                </a:solidFill>
                <a:latin typeface="Consolas"/>
                <a:ea typeface="Consolas"/>
                <a:cs typeface="Consolas"/>
              </a:defRPr>
            </a:pPr>
            <a:r>
              <a:rPr sz="1950" b="1" i="0">
                <a:solidFill>
                  <a:srgbClr val="171717"/>
                </a:solidFill>
                <a:latin typeface="Consolas"/>
                <a:ea typeface="Consolas"/>
                <a:cs typeface="Consolas"/>
              </a:rPr>
              <a:t>5</a:t>
            </a:r>
          </a:p>
        </p:txBody>
      </p:sp>
      <p:sp>
        <p:nvSpPr>
          <p:cNvPr id="22" name="text-580-124">
            <a:extLst>
              <a:ext uri="{FF2B5EF4-FFF2-40B4-BE49-F238E27FC236}">
                <ns2:creationId id="{CF4DE5A3-09EF-461D-8157-9FC7167411D7}"/>
              </a:ext>
            </a:extLst>
          </p:cNvPr>
          <p:cNvSpPr>
            <a:spLocks noGrp="1"/>
          </p:cNvSpPr>
          <p:nvPr/>
        </p:nvSpPr>
        <p:spPr>
          <a:xfrm>
            <a:off x="1181100" y="4642866"/>
            <a:ext cx="10401300" cy="333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k+L+E</a:t>
            </a:r>
          </a:p>
        </p:txBody>
      </p:sp>
    </p:spTree>
    <p:extLst>
      <p:ext uri="{BB962C8B-B14F-4D97-AF65-F5344CB8AC3E}">
        <ns3:creationId val="462685519"/>
      </p:ext>
    </p:extLst>
  </p:cSld>
</p:sld>
</file>

<file path=ppt/slides/slide7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C451782B-7251-4F35-B87D-8D9BA370341A}"/>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48C43A64-157D-4076-A2B6-CA4EA3B2F57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74DB41B-C6DD-4458-BDD2-C0A7D186BF3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36  정답과 해설</a:t>
            </a:r>
          </a:p>
        </p:txBody>
      </p:sp>
      <p:sp>
        <p:nvSpPr>
          <p:cNvPr id="4" name="">
            <a:extLst>
              <a:ext uri="{FF2B5EF4-FFF2-40B4-BE49-F238E27FC236}">
                <ns2:creationId id="{9575173E-2F35-4708-AF7C-20BDD233091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580665C-9EB7-4932-B35C-3EE900068977}"/>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7964DC1-7922-4624-A256-B893ED45A08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ED89FAB-1E62-417D-929F-C9AC35BAC42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072</a:t>
            </a:r>
          </a:p>
        </p:txBody>
      </p:sp>
      <p:sp>
        <p:nvSpPr>
          <p:cNvPr id="8" name="text-178-64">
            <a:extLst>
              <a:ext uri="{FF2B5EF4-FFF2-40B4-BE49-F238E27FC236}">
                <ns2:creationId id="{AC469BA9-AC5C-4AA6-BAF9-8D37A4B3FC97}"/>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퀵 셀렉트에서 L은 피벗보다 작은 원소 수, E는 같은 원소 수이며 k는 1부터 세는 순위이다. k&gt;L+E라서 큰</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값 구간으로 이동한다. 그 구간 안에서의 새 순위는?</a:t>
            </a:r>
          </a:p>
        </p:txBody>
      </p:sp>
      <p:sp>
        <p:nvSpPr>
          <p:cNvPr id="9" name="">
            <a:extLst>
              <a:ext uri="{FF2B5EF4-FFF2-40B4-BE49-F238E27FC236}">
                <ns2:creationId id="{D5C84791-EC8C-4301-B2C9-E8AA42140352}"/>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7BAD0BBB-12D1-447B-BE12-40E6A604E5D2}"/>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2번 k−L−E</a:t>
            </a:r>
          </a:p>
        </p:txBody>
      </p:sp>
      <p:sp>
        <p:nvSpPr>
          <p:cNvPr id="11" name="text-324.4-64">
            <a:extLst>
              <a:ext uri="{FF2B5EF4-FFF2-40B4-BE49-F238E27FC236}">
                <ns2:creationId id="{BE26AFD7-9406-4306-B920-896AA504E465}"/>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B8AB4286-33FD-44D9-AFD5-38E65D7C2F04}"/>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FF1C11D8-CBBA-4AD8-A2FF-56E5191D7B44}"/>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버린 작은 값과 같은 값의 개수를 모두 뺀다.</a:t>
            </a:r>
          </a:p>
        </p:txBody>
      </p:sp>
    </p:spTree>
    <p:extLst>
      <p:ext uri="{BB962C8B-B14F-4D97-AF65-F5344CB8AC3E}">
        <ns3:creationId val="462685519"/>
      </p:ext>
    </p:extLst>
  </p:cSld>
</p:sld>
</file>

<file path=ppt/slides/slide7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A1F6773D-AB87-48CD-A2F9-5B7D351F4409}"/>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3269FF5B-9F81-4E9E-A0B3-6F2F7DFFB3EA}"/>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FE1CA3B-0BD7-40B1-879A-D4C48CAAE08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37  </a:t>
            </a:r>
          </a:p>
        </p:txBody>
      </p:sp>
      <p:sp>
        <p:nvSpPr>
          <p:cNvPr id="4" name="">
            <a:extLst>
              <a:ext uri="{FF2B5EF4-FFF2-40B4-BE49-F238E27FC236}">
                <ns2:creationId id="{CDB7A426-66A7-4C3E-9800-6897305E2AF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5EE9B18-2D7F-432C-A965-E51B568D9F1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BADFBB47-C4EC-42EC-988C-46C2CB2B7CCB}"/>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5924586-F932-45D2-96DF-2AA77AAF454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073</a:t>
            </a:r>
          </a:p>
        </p:txBody>
      </p:sp>
      <p:sp>
        <p:nvSpPr>
          <p:cNvPr id="8" name="text-178-64">
            <a:extLst>
              <a:ext uri="{FF2B5EF4-FFF2-40B4-BE49-F238E27FC236}">
                <ns2:creationId id="{FFA809B2-EAB8-4C03-A93F-C5A60D4C7613}"/>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n개 원소에서 k번째로 작은 값을 퀵 셀렉트로 찾는다. 현재 후보가 m개이면 한 번 분류하는</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데 Θ(m) 시간이 든다. 매번 정답 쪽에 m−1개가 남아, 후보 수가 n,n−1,…,1로 줄어드는 경우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전체 시간 복잡도는?</a:t>
            </a:r>
          </a:p>
        </p:txBody>
      </p:sp>
      <p:sp>
        <p:nvSpPr>
          <p:cNvPr id="9" name="text-316-72">
            <a:extLst>
              <a:ext uri="{FF2B5EF4-FFF2-40B4-BE49-F238E27FC236}">
                <ns2:creationId id="{D99741E7-BA47-4105-9477-4F67A74559D1}"/>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E15AF4E5-90A3-4F99-9ABE-D0D2FB0E85E1}"/>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Θ(log n)</a:t>
            </a:r>
          </a:p>
        </p:txBody>
      </p:sp>
      <p:sp>
        <p:nvSpPr>
          <p:cNvPr id="11" name="">
            <a:extLst>
              <a:ext uri="{FF2B5EF4-FFF2-40B4-BE49-F238E27FC236}">
                <ns2:creationId id="{52EE8B40-7A87-4A0D-A91F-C9D6B1A382A6}"/>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BDAAF7E9-2DC7-4F23-9449-AF2056973828}"/>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E30710DE-290E-4662-B89F-7C0C706F136F}"/>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a:t>
            </a:r>
          </a:p>
        </p:txBody>
      </p:sp>
      <p:sp>
        <p:nvSpPr>
          <p:cNvPr id="14" name="">
            <a:extLst>
              <a:ext uri="{FF2B5EF4-FFF2-40B4-BE49-F238E27FC236}">
                <ns2:creationId id="{7F9C64D9-CD47-4142-9EA6-AEF59B46822E}"/>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9A31E703-B92B-480A-9DB3-2B960499F6F9}"/>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094F5D20-A094-45AF-AC09-B7FEC2917D20}"/>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Θ(n²)</a:t>
            </a:r>
          </a:p>
        </p:txBody>
      </p:sp>
      <p:sp>
        <p:nvSpPr>
          <p:cNvPr id="17" name="">
            <a:extLst>
              <a:ext uri="{FF2B5EF4-FFF2-40B4-BE49-F238E27FC236}">
                <ns2:creationId id="{152F3FC6-96A8-489F-A436-36E5FD81C7F7}"/>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DC8290A6-24DF-4744-858B-65DC026DB6E9}"/>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38CA1705-A348-4D91-8FF1-ED0760CC00F3}"/>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Θ(2^n)</a:t>
            </a:r>
          </a:p>
        </p:txBody>
      </p:sp>
      <p:sp>
        <p:nvSpPr>
          <p:cNvPr id="20" name="">
            <a:extLst>
              <a:ext uri="{FF2B5EF4-FFF2-40B4-BE49-F238E27FC236}">
                <ns2:creationId id="{BBEDD2AA-38EE-46D7-938D-E0F94ABFCB31}"/>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76B7A5E9-B886-4ACA-B669-0724F668C316}"/>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5F1DECD8-98E4-4D71-AD7A-5F776818E04E}"/>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 log n)</a:t>
            </a:r>
          </a:p>
        </p:txBody>
      </p:sp>
    </p:spTree>
    <p:extLst>
      <p:ext uri="{BB962C8B-B14F-4D97-AF65-F5344CB8AC3E}">
        <ns3:creationId val="462685519"/>
      </p:ext>
    </p:extLst>
  </p:cSld>
</p:sld>
</file>

<file path=ppt/slides/slide7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011982CC-F42F-4409-868A-394D598B9A73}"/>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D10A3785-385E-4AF1-88B5-5C7FF58EC26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24A92ED7-95A0-4A06-AD20-8A9F8DE8EE27}"/>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37  정답과 해설</a:t>
            </a:r>
          </a:p>
        </p:txBody>
      </p:sp>
      <p:sp>
        <p:nvSpPr>
          <p:cNvPr id="4" name="">
            <a:extLst>
              <a:ext uri="{FF2B5EF4-FFF2-40B4-BE49-F238E27FC236}">
                <ns2:creationId id="{93963D64-24B7-46E0-8B99-819BA254430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6678017-4679-4926-9E9B-6143FCE51F5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8470BD2-2D3D-4D6D-87C9-1488E1DF3D5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A174AFD-345D-4586-9F50-8A6663EF5ED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074</a:t>
            </a:r>
          </a:p>
        </p:txBody>
      </p:sp>
      <p:sp>
        <p:nvSpPr>
          <p:cNvPr id="8" name="text-178-64">
            <a:extLst>
              <a:ext uri="{FF2B5EF4-FFF2-40B4-BE49-F238E27FC236}">
                <ns2:creationId id="{61D88FB0-69F7-4929-97B1-484517FFA1BA}"/>
              </a:ext>
            </a:extLst>
          </p:cNvPr>
          <p:cNvSpPr>
            <a:spLocks noGrp="1"/>
          </p:cNvSpPr>
          <p:nvPr/>
        </p:nvSpPr>
        <p:spPr>
          <a:xfrm>
            <a:off x="609600" y="1619250"/>
            <a:ext cx="10972800" cy="688086"/>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n개 원소에서 k번째로 작은 값을 퀵 셀렉트로 찾는다. 현재 후보가 m개이면 한 번 분류하는 데 Θ(m)</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시간이 든다. 매번 정답 쪽에 m−1개가 남아, 후보 수가 n,n−1,…,1로 줄어드는 경우 전체 시간 복잡도는?</a:t>
            </a:r>
          </a:p>
        </p:txBody>
      </p:sp>
      <p:sp>
        <p:nvSpPr>
          <p:cNvPr id="9" name="">
            <a:extLst>
              <a:ext uri="{FF2B5EF4-FFF2-40B4-BE49-F238E27FC236}">
                <ns2:creationId id="{63A540D2-EAE9-411F-A17F-063F2C942A8C}"/>
              </a:ext>
            </a:extLst>
          </p:cNvPr>
          <p:cNvSpPr>
            <a:spLocks noGrp="1"/>
          </p:cNvSpPr>
          <p:nvPr/>
        </p:nvSpPr>
        <p:spPr>
          <a:xfrm>
            <a:off x="609600" y="2421636"/>
            <a:ext cx="10972800" cy="498729"/>
          </a:xfrm>
          <a:prstGeom prst="rect">
            <a:avLst/>
          </a:prstGeom>
          <a:solidFill>
            <a:srgbClr val="171717"/>
          </a:solidFill>
          <a:ln w="0">
            <a:noFill/>
          </a:ln>
        </p:spPr>
      </p:sp>
      <p:sp>
        <p:nvSpPr>
          <p:cNvPr id="10" name="text-245.6-92">
            <a:extLst>
              <a:ext uri="{FF2B5EF4-FFF2-40B4-BE49-F238E27FC236}">
                <ns2:creationId id="{CC6DC201-0AFB-4C4F-95AB-86FF723B365C}"/>
              </a:ext>
            </a:extLst>
          </p:cNvPr>
          <p:cNvSpPr>
            <a:spLocks noGrp="1"/>
          </p:cNvSpPr>
          <p:nvPr/>
        </p:nvSpPr>
        <p:spPr>
          <a:xfrm>
            <a:off x="876300" y="2497836"/>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3번 Θ(n²)</a:t>
            </a:r>
          </a:p>
        </p:txBody>
      </p:sp>
      <p:sp>
        <p:nvSpPr>
          <p:cNvPr id="11" name="text-324.4-64">
            <a:extLst>
              <a:ext uri="{FF2B5EF4-FFF2-40B4-BE49-F238E27FC236}">
                <ns2:creationId id="{6934DE3C-C3E3-4ED2-A0AA-AA4F41A3C3CF}"/>
              </a:ext>
            </a:extLst>
          </p:cNvPr>
          <p:cNvSpPr>
            <a:spLocks noGrp="1"/>
          </p:cNvSpPr>
          <p:nvPr/>
        </p:nvSpPr>
        <p:spPr>
          <a:xfrm>
            <a:off x="609600" y="3015615"/>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F028A9F0-0B73-4957-A35F-DBD627AABC68}"/>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9B88AEDF-E9FB-405F-849F-1A583CC8575D}"/>
              </a:ext>
            </a:extLst>
          </p:cNvPr>
          <p:cNvSpPr>
            <a:spLocks noGrp="1"/>
          </p:cNvSpPr>
          <p:nvPr/>
        </p:nvSpPr>
        <p:spPr>
          <a:xfrm>
            <a:off x="609600" y="3392805"/>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분류 비용은 n+(n−1)+…+2에 비례한다. 이 합은 Θ(n²)이며, 후보가 한 개가 되면 반환한다.</a:t>
            </a:r>
          </a:p>
        </p:txBody>
      </p:sp>
    </p:spTree>
    <p:extLst>
      <p:ext uri="{BB962C8B-B14F-4D97-AF65-F5344CB8AC3E}">
        <ns3:creationId val="462685519"/>
      </p:ext>
    </p:extLst>
  </p:cSld>
</p:sld>
</file>

<file path=ppt/slides/slide7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2540E3D9-D99A-4099-BCE1-C6E0D0959CE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D6804AA1-654B-4397-A4A8-C64C6F9EDED7}"/>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067C786-0DCA-4A96-B77A-45593E388993}"/>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38  </a:t>
            </a:r>
          </a:p>
        </p:txBody>
      </p:sp>
      <p:sp>
        <p:nvSpPr>
          <p:cNvPr id="4" name="">
            <a:extLst>
              <a:ext uri="{FF2B5EF4-FFF2-40B4-BE49-F238E27FC236}">
                <ns2:creationId id="{D40E35B5-98FE-4379-B75C-7EA0495A1AE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7EC8780-916C-46E5-ADF3-2B6EA9E7E90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6D943F95-08DF-48E3-8C28-73ADA21A55C6}"/>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47BA5204-4A58-4E62-84C9-E08E2B88FF4E}"/>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075</a:t>
            </a:r>
          </a:p>
        </p:txBody>
      </p:sp>
      <p:sp>
        <p:nvSpPr>
          <p:cNvPr id="8" name="text-178-64">
            <a:extLst>
              <a:ext uri="{FF2B5EF4-FFF2-40B4-BE49-F238E27FC236}">
                <ns2:creationId id="{7E663152-EC20-41E7-9483-D93387117CC8}"/>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서로 다른 n개 원소에서 k번째로 작은 값을 퀵 셀렉트로 찾는다. 각 단계의 기준값(피벗)은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현재 후보 중에서 모두 같은 확률로 고른다. 무작위 선택 결과들을 확률에 따라 평균 낸</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시간(기대 시간)과 가장 오래 걸리는 경우(최악 시간)의 옳은 설명은?</a:t>
            </a:r>
          </a:p>
        </p:txBody>
      </p:sp>
      <p:sp>
        <p:nvSpPr>
          <p:cNvPr id="9" name="text-316-72">
            <a:extLst>
              <a:ext uri="{FF2B5EF4-FFF2-40B4-BE49-F238E27FC236}">
                <ns2:creationId id="{F3310459-4BD4-457E-9401-117969CB4EE3}"/>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81C22DA3-C258-48B5-857D-F6FAE91F35F5}"/>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기대 선형 시간이나 최악 이차 시간이다</a:t>
            </a:r>
          </a:p>
        </p:txBody>
      </p:sp>
      <p:sp>
        <p:nvSpPr>
          <p:cNvPr id="11" name="">
            <a:extLst>
              <a:ext uri="{FF2B5EF4-FFF2-40B4-BE49-F238E27FC236}">
                <ns2:creationId id="{BFFA971A-6170-4BF3-9D3A-C42EA3928051}"/>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FBA7915F-D01B-4DDF-96EF-BF66726F67D1}"/>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D8DA1DEF-CC67-4F1E-BBB2-C0CE1D1402B9}"/>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기대 시간은 이차이고 최악 시간은 지수다</a:t>
            </a:r>
          </a:p>
        </p:txBody>
      </p:sp>
      <p:sp>
        <p:nvSpPr>
          <p:cNvPr id="14" name="">
            <a:extLst>
              <a:ext uri="{FF2B5EF4-FFF2-40B4-BE49-F238E27FC236}">
                <ns2:creationId id="{0BFA198E-B888-47D2-9F06-F50663E63D8F}"/>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F239714B-25EC-4348-A5E1-8BAF87A5639E}"/>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B2137616-86D4-4A7E-B93F-E67725156302}"/>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기대 시간은 로그이고 최악 시간은 선형이다</a:t>
            </a:r>
          </a:p>
        </p:txBody>
      </p:sp>
      <p:sp>
        <p:nvSpPr>
          <p:cNvPr id="17" name="">
            <a:extLst>
              <a:ext uri="{FF2B5EF4-FFF2-40B4-BE49-F238E27FC236}">
                <ns2:creationId id="{DF067CC6-EA01-42AD-84B9-A42BA2B90A2B}"/>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D55A4BD6-2F3C-46BD-8AEF-DB5EE48DB440}"/>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75D4C411-B053-435D-ACC6-F856FE35CBAD}"/>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기대 시간과 최악 시간이 모두 n log n이다</a:t>
            </a:r>
          </a:p>
        </p:txBody>
      </p:sp>
      <p:sp>
        <p:nvSpPr>
          <p:cNvPr id="20" name="">
            <a:extLst>
              <a:ext uri="{FF2B5EF4-FFF2-40B4-BE49-F238E27FC236}">
                <ns2:creationId id="{CA56107A-350B-40E6-9663-C5392CEBE35D}"/>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69BBDBE7-D2CB-402A-88B0-7EBEC1A208AF}"/>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F5C5C8DB-FA48-4D79-B5B0-1C5DA7EB9778}"/>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기대 시간과 최악 시간이 모두 선형이다</a:t>
            </a:r>
          </a:p>
        </p:txBody>
      </p:sp>
    </p:spTree>
    <p:extLst>
      <p:ext uri="{BB962C8B-B14F-4D97-AF65-F5344CB8AC3E}">
        <ns3:creationId val="462685519"/>
      </p:ext>
    </p:extLst>
  </p:cSld>
</p:sld>
</file>

<file path=ppt/slides/slide7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D5BA30DB-8091-487B-AAA9-7F156989F14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77736892-875E-4E0F-BE7A-AF9B57EDEAF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E22C9BB-4C21-4898-BF94-6D88D89F6A31}"/>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38  정답과 해설</a:t>
            </a:r>
          </a:p>
        </p:txBody>
      </p:sp>
      <p:sp>
        <p:nvSpPr>
          <p:cNvPr id="4" name="">
            <a:extLst>
              <a:ext uri="{FF2B5EF4-FFF2-40B4-BE49-F238E27FC236}">
                <ns2:creationId id="{08E62BF3-9A5D-4165-8ACB-6067B6BD3D3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AA18B65-E78D-4C55-92C7-C809B20BA1C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78A0802-1515-4AF2-9A0C-2F46129C85F6}"/>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09E71C9-ED43-45CB-93E3-6C3553A9CEE1}"/>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076</a:t>
            </a:r>
          </a:p>
        </p:txBody>
      </p:sp>
      <p:sp>
        <p:nvSpPr>
          <p:cNvPr id="8" name="text-178-64">
            <a:extLst>
              <a:ext uri="{FF2B5EF4-FFF2-40B4-BE49-F238E27FC236}">
                <ns2:creationId id="{64A498DF-F46F-4AF5-BEAC-9903A25ABD33}"/>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서로 다른 n개 원소에서 k번째로 작은 값을 퀵 셀렉트로 찾는다. 각 단계의 기준값(피벗)은 현재 후보</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중에서 모두 같은 확률로 고른다. 무작위 선택 결과들을 확률에 따라 평균 낸 시간(기대 시간)과 가장 오래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걸리는 경우(최악 시간)의 옳은 설명은?</a:t>
            </a:r>
          </a:p>
        </p:txBody>
      </p:sp>
      <p:sp>
        <p:nvSpPr>
          <p:cNvPr id="9" name="">
            <a:extLst>
              <a:ext uri="{FF2B5EF4-FFF2-40B4-BE49-F238E27FC236}">
                <ns2:creationId id="{27939718-2CF5-4230-BC99-7A180BF97173}"/>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DAAF221C-5CD2-4656-8E4C-629F96283C13}"/>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1번 기대 선형 시간이나 최악 이차 시간이다</a:t>
            </a:r>
          </a:p>
        </p:txBody>
      </p:sp>
      <p:sp>
        <p:nvSpPr>
          <p:cNvPr id="11" name="text-324.4-64">
            <a:extLst>
              <a:ext uri="{FF2B5EF4-FFF2-40B4-BE49-F238E27FC236}">
                <ns2:creationId id="{90D37960-1811-41D5-80C6-D2CE632EF876}"/>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934CB1CA-A07A-4B15-918F-124D52F173A7}"/>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9DD867B9-9B61-4634-862D-E8BDFCC801B8}"/>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확률적 기대 성능과 모든 실행에 대한 최악 보장은 다르다.</a:t>
            </a:r>
          </a:p>
        </p:txBody>
      </p:sp>
    </p:spTree>
    <p:extLst>
      <p:ext uri="{BB962C8B-B14F-4D97-AF65-F5344CB8AC3E}">
        <ns3:creationId val="462685519"/>
      </p:ext>
    </p:extLst>
  </p:cSld>
</p:sld>
</file>

<file path=ppt/slides/slide7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5DA9E79E-419F-44B8-BA64-D847C347F7C1}"/>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07A1EEF4-0993-4914-833F-D4D985DE6F3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7E7503B-4ECE-4DB6-B8AC-B28701D627E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39  </a:t>
            </a:r>
          </a:p>
        </p:txBody>
      </p:sp>
      <p:sp>
        <p:nvSpPr>
          <p:cNvPr id="4" name="">
            <a:extLst>
              <a:ext uri="{FF2B5EF4-FFF2-40B4-BE49-F238E27FC236}">
                <ns2:creationId id="{DA897817-7EB6-4CA4-91C1-BCDC957B0D5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2682BEC-A304-4DC8-AAB2-83F54C017F7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BC5B48DA-3D9D-4D8E-8048-66F324222874}"/>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4D349918-9C89-46DF-BC49-E9B74E1837C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077</a:t>
            </a:r>
          </a:p>
        </p:txBody>
      </p:sp>
      <p:sp>
        <p:nvSpPr>
          <p:cNvPr id="8" name="text-178-64">
            <a:extLst>
              <a:ext uri="{FF2B5EF4-FFF2-40B4-BE49-F238E27FC236}">
                <ns2:creationId id="{35CABFE3-B7B5-4DF7-90D1-C464DAEC6DD0}"/>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퀵 셀렉트로 k번째로 작은 값을 찾는다. 원소를 기준값(피벗)보다 작은 값, 같은 값, 큰 값의</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세 그룹으로 나누고, 중복된 값도 각각 순위에 센다. 같은 값이 많은 배열에서 이렇게 세</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그룹으로 나누는 주된 이점은?</a:t>
            </a:r>
          </a:p>
        </p:txBody>
      </p:sp>
      <p:sp>
        <p:nvSpPr>
          <p:cNvPr id="9" name="text-316-72">
            <a:extLst>
              <a:ext uri="{FF2B5EF4-FFF2-40B4-BE49-F238E27FC236}">
                <ns2:creationId id="{CEB59FEB-65B2-4360-B9F3-FE64567DCBD0}"/>
              </a:ext>
            </a:extLst>
          </p:cNvPr>
          <p:cNvSpPr>
            <a:spLocks noGrp="1"/>
          </p:cNvSpPr>
          <p:nvPr/>
        </p:nvSpPr>
        <p:spPr>
          <a:xfrm>
            <a:off x="685800" y="29138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C526218E-A0B4-48B6-A28B-A7EB49582386}"/>
              </a:ext>
            </a:extLst>
          </p:cNvPr>
          <p:cNvSpPr>
            <a:spLocks noGrp="1"/>
          </p:cNvSpPr>
          <p:nvPr/>
        </p:nvSpPr>
        <p:spPr>
          <a:xfrm>
            <a:off x="1181100" y="29138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무작위 피벗 없이도 모든 입력의 최악 선형 시간을 보장한다</a:t>
            </a:r>
          </a:p>
        </p:txBody>
      </p:sp>
      <p:sp>
        <p:nvSpPr>
          <p:cNvPr id="11" name="">
            <a:extLst>
              <a:ext uri="{FF2B5EF4-FFF2-40B4-BE49-F238E27FC236}">
                <ns2:creationId id="{F8A8E6A1-95C3-40ED-97E7-0B3DADF23EC8}"/>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FBA22951-61E5-4B63-84B4-36ACE3125CD2}"/>
              </a:ext>
            </a:extLst>
          </p:cNvPr>
          <p:cNvSpPr>
            <a:spLocks noGrp="1"/>
          </p:cNvSpPr>
          <p:nvPr/>
        </p:nvSpPr>
        <p:spPr>
          <a:xfrm>
            <a:off x="685800" y="33627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3A2FD8D2-58E0-4D8E-A92A-434C0CE3E00B}"/>
              </a:ext>
            </a:extLst>
          </p:cNvPr>
          <p:cNvSpPr>
            <a:spLocks noGrp="1"/>
          </p:cNvSpPr>
          <p:nvPr/>
        </p:nvSpPr>
        <p:spPr>
          <a:xfrm>
            <a:off x="1181100" y="33627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서로 다른 값에 대해서도 매번 정확히 반으로 나눈다</a:t>
            </a:r>
          </a:p>
        </p:txBody>
      </p:sp>
      <p:sp>
        <p:nvSpPr>
          <p:cNvPr id="14" name="">
            <a:extLst>
              <a:ext uri="{FF2B5EF4-FFF2-40B4-BE49-F238E27FC236}">
                <ns2:creationId id="{8700B671-F565-4B8B-8D82-2107AB2C4901}"/>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695AC092-8BCA-403B-8207-86C2AFF37864}"/>
              </a:ext>
            </a:extLst>
          </p:cNvPr>
          <p:cNvSpPr>
            <a:spLocks noGrp="1"/>
          </p:cNvSpPr>
          <p:nvPr/>
        </p:nvSpPr>
        <p:spPr>
          <a:xfrm>
            <a:off x="685800" y="381152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3330F23E-1B34-42A3-A7C4-4AB03DF5B5D4}"/>
              </a:ext>
            </a:extLst>
          </p:cNvPr>
          <p:cNvSpPr>
            <a:spLocks noGrp="1"/>
          </p:cNvSpPr>
          <p:nvPr/>
        </p:nvSpPr>
        <p:spPr>
          <a:xfrm>
            <a:off x="1181100" y="381152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서로 다른 모든 원소까지 단 한 번의 비교로 정렬한다</a:t>
            </a:r>
          </a:p>
        </p:txBody>
      </p:sp>
      <p:sp>
        <p:nvSpPr>
          <p:cNvPr id="17" name="">
            <a:extLst>
              <a:ext uri="{FF2B5EF4-FFF2-40B4-BE49-F238E27FC236}">
                <ns2:creationId id="{7F05E4A7-4741-4B97-B4E0-A1302F582E8F}"/>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AF4E8153-0867-4C33-AA6B-493DB31C997B}"/>
              </a:ext>
            </a:extLst>
          </p:cNvPr>
          <p:cNvSpPr>
            <a:spLocks noGrp="1"/>
          </p:cNvSpPr>
          <p:nvPr/>
        </p:nvSpPr>
        <p:spPr>
          <a:xfrm>
            <a:off x="685800" y="426034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506CE004-88A9-47AD-8967-43E87DC07D24}"/>
              </a:ext>
            </a:extLst>
          </p:cNvPr>
          <p:cNvSpPr>
            <a:spLocks noGrp="1"/>
          </p:cNvSpPr>
          <p:nvPr/>
        </p:nvSpPr>
        <p:spPr>
          <a:xfrm>
            <a:off x="1181100" y="426034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같은 값 구간의 순위들을 한 번에 처리한다</a:t>
            </a:r>
          </a:p>
        </p:txBody>
      </p:sp>
      <p:sp>
        <p:nvSpPr>
          <p:cNvPr id="20" name="">
            <a:extLst>
              <a:ext uri="{FF2B5EF4-FFF2-40B4-BE49-F238E27FC236}">
                <ns2:creationId id="{51A538B7-5B3A-4355-A65D-7D0F557EFEF6}"/>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DA93EAEF-15F0-4E8C-828A-2B973D254E5D}"/>
              </a:ext>
            </a:extLst>
          </p:cNvPr>
          <p:cNvSpPr>
            <a:spLocks noGrp="1"/>
          </p:cNvSpPr>
          <p:nvPr/>
        </p:nvSpPr>
        <p:spPr>
          <a:xfrm>
            <a:off x="685800" y="470916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E25E3435-F8F9-4A21-8690-50BFDBDBB434}"/>
              </a:ext>
            </a:extLst>
          </p:cNvPr>
          <p:cNvSpPr>
            <a:spLocks noGrp="1"/>
          </p:cNvSpPr>
          <p:nvPr/>
        </p:nvSpPr>
        <p:spPr>
          <a:xfrm>
            <a:off x="1181100" y="470916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파티션 단계의 원소 비교 수를 항상 상수로 만든다</a:t>
            </a:r>
          </a:p>
        </p:txBody>
      </p:sp>
    </p:spTree>
    <p:extLst>
      <p:ext uri="{BB962C8B-B14F-4D97-AF65-F5344CB8AC3E}">
        <ns3:creationId val="462685519"/>
      </p:ext>
    </p:extLst>
  </p:cSld>
</p:sld>
</file>

<file path=ppt/slides/slide7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CF7A5D04-8160-4CC3-B8FF-67E98F32E78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0617B78A-D550-4771-8CB3-502B7570E67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4037DEF-A37B-44A4-B82A-A8BDBBDAA0F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39  정답과 해설</a:t>
            </a:r>
          </a:p>
        </p:txBody>
      </p:sp>
      <p:sp>
        <p:nvSpPr>
          <p:cNvPr id="4" name="">
            <a:extLst>
              <a:ext uri="{FF2B5EF4-FFF2-40B4-BE49-F238E27FC236}">
                <ns2:creationId id="{A42966CD-0DB7-4D73-843A-ACAA49EFE23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798A4C3-C55E-425A-8335-A8FEE0322B49}"/>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103CC46-073A-4F42-A32A-6E560A329F00}"/>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5EC9204-9836-43F9-B634-ECEBF12D48F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078</a:t>
            </a:r>
          </a:p>
        </p:txBody>
      </p:sp>
      <p:sp>
        <p:nvSpPr>
          <p:cNvPr id="8" name="text-178-64">
            <a:extLst>
              <a:ext uri="{FF2B5EF4-FFF2-40B4-BE49-F238E27FC236}">
                <ns2:creationId id="{C8C598A5-18D8-473B-8C15-0F032C0B21BD}"/>
              </a:ext>
            </a:extLst>
          </p:cNvPr>
          <p:cNvSpPr>
            <a:spLocks noGrp="1"/>
          </p:cNvSpPr>
          <p:nvPr/>
        </p:nvSpPr>
        <p:spPr>
          <a:xfrm>
            <a:off x="609600" y="1619250"/>
            <a:ext cx="10972800" cy="688086"/>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퀵 셀렉트로 k번째로 작은 값을 찾는다. 원소를 기준값(피벗)보다 작은 값, 같은 값, 큰 값의 세 그룹으로</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나누고, 중복된 값도 각각 순위에 센다. 같은 값이 많은 배열에서 이렇게 세 그룹으로 나누는 주된 이점은?</a:t>
            </a:r>
          </a:p>
        </p:txBody>
      </p:sp>
      <p:sp>
        <p:nvSpPr>
          <p:cNvPr id="9" name="">
            <a:extLst>
              <a:ext uri="{FF2B5EF4-FFF2-40B4-BE49-F238E27FC236}">
                <ns2:creationId id="{D517F26F-B029-4306-81E9-4C33E3EFFB2B}"/>
              </a:ext>
            </a:extLst>
          </p:cNvPr>
          <p:cNvSpPr>
            <a:spLocks noGrp="1"/>
          </p:cNvSpPr>
          <p:nvPr/>
        </p:nvSpPr>
        <p:spPr>
          <a:xfrm>
            <a:off x="609600" y="2421636"/>
            <a:ext cx="10972800" cy="498729"/>
          </a:xfrm>
          <a:prstGeom prst="rect">
            <a:avLst/>
          </a:prstGeom>
          <a:solidFill>
            <a:srgbClr val="171717"/>
          </a:solidFill>
          <a:ln w="0">
            <a:noFill/>
          </a:ln>
        </p:spPr>
      </p:sp>
      <p:sp>
        <p:nvSpPr>
          <p:cNvPr id="10" name="text-245.6-92">
            <a:extLst>
              <a:ext uri="{FF2B5EF4-FFF2-40B4-BE49-F238E27FC236}">
                <ns2:creationId id="{9354DBC3-4E23-4A78-B834-9E854E187921}"/>
              </a:ext>
            </a:extLst>
          </p:cNvPr>
          <p:cNvSpPr>
            <a:spLocks noGrp="1"/>
          </p:cNvSpPr>
          <p:nvPr/>
        </p:nvSpPr>
        <p:spPr>
          <a:xfrm>
            <a:off x="876300" y="2497836"/>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4번 같은 값 구간의 순위들을 한 번에 처리한다</a:t>
            </a:r>
          </a:p>
        </p:txBody>
      </p:sp>
      <p:sp>
        <p:nvSpPr>
          <p:cNvPr id="11" name="text-324.4-64">
            <a:extLst>
              <a:ext uri="{FF2B5EF4-FFF2-40B4-BE49-F238E27FC236}">
                <ns2:creationId id="{5DB8200D-17AE-4CF4-9612-8191A4F524D9}"/>
              </a:ext>
            </a:extLst>
          </p:cNvPr>
          <p:cNvSpPr>
            <a:spLocks noGrp="1"/>
          </p:cNvSpPr>
          <p:nvPr/>
        </p:nvSpPr>
        <p:spPr>
          <a:xfrm>
            <a:off x="609600" y="3015615"/>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61AC8656-D9FC-4D0E-9344-ABED0198FC3B}"/>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B877B62C-3D51-4A67-8EC2-A80A31E69263}"/>
              </a:ext>
            </a:extLst>
          </p:cNvPr>
          <p:cNvSpPr>
            <a:spLocks noGrp="1"/>
          </p:cNvSpPr>
          <p:nvPr/>
        </p:nvSpPr>
        <p:spPr>
          <a:xfrm>
            <a:off x="609600" y="3392805"/>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같은 값 구간에 k가 있으면 바로 답하고, 아니면 그 구간 전체를 제외한다.</a:t>
            </a:r>
          </a:p>
        </p:txBody>
      </p:sp>
    </p:spTree>
    <p:extLst>
      <p:ext uri="{BB962C8B-B14F-4D97-AF65-F5344CB8AC3E}">
        <ns3:creationId val="462685519"/>
      </p:ext>
    </p:extLst>
  </p:cSld>
</p:sld>
</file>

<file path=ppt/slides/slide7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3" name="text-28-64">
            <a:extLst>
              <a:ext uri="{FF2B5EF4-FFF2-40B4-BE49-F238E27FC236}">
                <ns2:creationId id="{764A551D-19E4-4FE0-BD8A-4DB8AC7A3CA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A70A1844-857E-4660-B66E-D5CE18B69581}"/>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D5F6BE15-90FD-47BA-B688-EE2A86C281C7}"/>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40  </a:t>
            </a:r>
          </a:p>
        </p:txBody>
      </p:sp>
      <p:sp>
        <p:nvSpPr>
          <p:cNvPr id="4" name="">
            <a:extLst>
              <a:ext uri="{FF2B5EF4-FFF2-40B4-BE49-F238E27FC236}">
                <ns2:creationId id="{3979911B-8446-4C0C-8797-42E524BA55A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DDD3BE1-B8D3-483F-BA3E-685103F6F12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DCD13B9-1D02-41B0-AF34-6187A8502F5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78DCC748-743E-4C75-BB47-5858079A930A}"/>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079</a:t>
            </a:r>
          </a:p>
        </p:txBody>
      </p:sp>
      <p:sp>
        <p:nvSpPr>
          <p:cNvPr id="8" name="text-178-64">
            <a:extLst>
              <a:ext uri="{FF2B5EF4-FFF2-40B4-BE49-F238E27FC236}">
                <ns2:creationId id="{04563839-D751-49D6-BC85-41061BB1B645}"/>
              </a:ext>
            </a:extLst>
          </p:cNvPr>
          <p:cNvSpPr>
            <a:spLocks noGrp="1"/>
          </p:cNvSpPr>
          <p:nvPr/>
        </p:nvSpPr>
        <p:spPr>
          <a:xfrm>
            <a:off x="609600" y="1619250"/>
            <a:ext cx="10972800" cy="152933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길이 n인 배열에서 매번 현재 배열의 절반만 새 배열로 복사하여 다음 단계로 넘긴다. n은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2의 거듭제곱이며 길이 1에서 끝낸다. 원소 한 개의 복사 비용은 일정하다. 따라서 현재</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크기가 m이면 복사 비용은 Θ(m)이다. 단계 수만이 아니라 모든 단계의 복사 시간을 더한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전체 시간 복잡도는?</a:t>
            </a:r>
          </a:p>
        </p:txBody>
      </p:sp>
      <p:sp>
        <p:nvSpPr>
          <p:cNvPr id="9" name="text-316-72">
            <a:extLst>
              <a:ext uri="{FF2B5EF4-FFF2-40B4-BE49-F238E27FC236}">
                <ns2:creationId id="{50992FD6-6C88-4D9D-8F35-E88C0D6B710D}"/>
              </a:ext>
            </a:extLst>
          </p:cNvPr>
          <p:cNvSpPr>
            <a:spLocks noGrp="1"/>
          </p:cNvSpPr>
          <p:nvPr/>
        </p:nvSpPr>
        <p:spPr>
          <a:xfrm>
            <a:off x="685800" y="3281934"/>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1</a:t>
            </a:r>
          </a:p>
        </p:txBody>
      </p:sp>
      <p:sp>
        <p:nvSpPr>
          <p:cNvPr id="10" name="text-316-124">
            <a:extLst>
              <a:ext uri="{FF2B5EF4-FFF2-40B4-BE49-F238E27FC236}">
                <ns2:creationId id="{E3C73DD9-3052-4E5C-97C5-42B042305F99}"/>
              </a:ext>
            </a:extLst>
          </p:cNvPr>
          <p:cNvSpPr>
            <a:spLocks noGrp="1"/>
          </p:cNvSpPr>
          <p:nvPr/>
        </p:nvSpPr>
        <p:spPr>
          <a:xfrm>
            <a:off x="1181100" y="3281934"/>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a:t>
            </a:r>
          </a:p>
        </p:txBody>
      </p:sp>
      <p:sp>
        <p:nvSpPr>
          <p:cNvPr id="11" name="">
            <a:extLst>
              <a:ext uri="{FF2B5EF4-FFF2-40B4-BE49-F238E27FC236}">
                <ns2:creationId id="{DE273AC3-4C7B-4BBA-8613-C158550A7E32}"/>
              </a:ext>
            </a:extLst>
          </p:cNvPr>
          <p:cNvSpPr>
            <a:spLocks noGrp="1"/>
          </p:cNvSpPr>
          <p:nvPr/>
        </p:nvSpPr>
        <p:spPr>
          <a:xfrm>
            <a:off x="609600" y="6191250"/>
            <a:ext cx="10972800" cy="9525"/>
          </a:xfrm>
          <a:prstGeom prst="rect">
            <a:avLst/>
          </a:prstGeom>
          <a:solidFill>
            <a:srgbClr val="E7E7E7"/>
          </a:solidFill>
          <a:ln w="0">
            <a:noFill/>
          </a:ln>
        </p:spPr>
      </p:sp>
      <p:sp>
        <p:nvSpPr>
          <p:cNvPr id="12" name="text-382-72">
            <a:extLst>
              <a:ext uri="{FF2B5EF4-FFF2-40B4-BE49-F238E27FC236}">
                <ns2:creationId id="{7A4AAC56-D13D-4EE8-B578-69C8BFE82CCF}"/>
              </a:ext>
            </a:extLst>
          </p:cNvPr>
          <p:cNvSpPr>
            <a:spLocks noGrp="1"/>
          </p:cNvSpPr>
          <p:nvPr/>
        </p:nvSpPr>
        <p:spPr>
          <a:xfrm>
            <a:off x="685800" y="3730752"/>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2</a:t>
            </a:r>
          </a:p>
        </p:txBody>
      </p:sp>
      <p:sp>
        <p:nvSpPr>
          <p:cNvPr id="13" name="text-382-124">
            <a:extLst>
              <a:ext uri="{FF2B5EF4-FFF2-40B4-BE49-F238E27FC236}">
                <ns2:creationId id="{A5E23FFC-A51F-4873-9A70-D00771ABCC3B}"/>
              </a:ext>
            </a:extLst>
          </p:cNvPr>
          <p:cNvSpPr>
            <a:spLocks noGrp="1"/>
          </p:cNvSpPr>
          <p:nvPr/>
        </p:nvSpPr>
        <p:spPr>
          <a:xfrm>
            <a:off x="1181100" y="3730752"/>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 log n)</a:t>
            </a:r>
          </a:p>
        </p:txBody>
      </p:sp>
      <p:sp>
        <p:nvSpPr>
          <p:cNvPr id="14" name="">
            <a:extLst>
              <a:ext uri="{FF2B5EF4-FFF2-40B4-BE49-F238E27FC236}">
                <ns2:creationId id="{FE1E0AD0-9D12-42F1-8A5F-C8DE5CE5CBFC}"/>
              </a:ext>
            </a:extLst>
          </p:cNvPr>
          <p:cNvSpPr>
            <a:spLocks noGrp="1"/>
          </p:cNvSpPr>
          <p:nvPr/>
        </p:nvSpPr>
        <p:spPr>
          <a:xfrm>
            <a:off x="609600" y="6191250"/>
            <a:ext cx="10972800" cy="9525"/>
          </a:xfrm>
          <a:prstGeom prst="rect">
            <a:avLst/>
          </a:prstGeom>
          <a:solidFill>
            <a:srgbClr val="E7E7E7"/>
          </a:solidFill>
          <a:ln w="0">
            <a:noFill/>
          </a:ln>
        </p:spPr>
      </p:sp>
      <p:sp>
        <p:nvSpPr>
          <p:cNvPr id="15" name="text-448-72">
            <a:extLst>
              <a:ext uri="{FF2B5EF4-FFF2-40B4-BE49-F238E27FC236}">
                <ns2:creationId id="{4FA42E78-7868-43CA-93D6-2945087EE166}"/>
              </a:ext>
            </a:extLst>
          </p:cNvPr>
          <p:cNvSpPr>
            <a:spLocks noGrp="1"/>
          </p:cNvSpPr>
          <p:nvPr/>
        </p:nvSpPr>
        <p:spPr>
          <a:xfrm>
            <a:off x="685800" y="4179570"/>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3</a:t>
            </a:r>
          </a:p>
        </p:txBody>
      </p:sp>
      <p:sp>
        <p:nvSpPr>
          <p:cNvPr id="16" name="text-448-124">
            <a:extLst>
              <a:ext uri="{FF2B5EF4-FFF2-40B4-BE49-F238E27FC236}">
                <ns2:creationId id="{29068DA0-A8E6-46B8-AD69-9DCF54191E13}"/>
              </a:ext>
            </a:extLst>
          </p:cNvPr>
          <p:cNvSpPr>
            <a:spLocks noGrp="1"/>
          </p:cNvSpPr>
          <p:nvPr/>
        </p:nvSpPr>
        <p:spPr>
          <a:xfrm>
            <a:off x="1181100" y="4179570"/>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Θ(log n)</a:t>
            </a:r>
          </a:p>
        </p:txBody>
      </p:sp>
      <p:sp>
        <p:nvSpPr>
          <p:cNvPr id="17" name="">
            <a:extLst>
              <a:ext uri="{FF2B5EF4-FFF2-40B4-BE49-F238E27FC236}">
                <ns2:creationId id="{47283717-3483-4740-A3B1-CAC3AACCD787}"/>
              </a:ext>
            </a:extLst>
          </p:cNvPr>
          <p:cNvSpPr>
            <a:spLocks noGrp="1"/>
          </p:cNvSpPr>
          <p:nvPr/>
        </p:nvSpPr>
        <p:spPr>
          <a:xfrm>
            <a:off x="609600" y="6191250"/>
            <a:ext cx="10972800" cy="9525"/>
          </a:xfrm>
          <a:prstGeom prst="rect">
            <a:avLst/>
          </a:prstGeom>
          <a:solidFill>
            <a:srgbClr val="E7E7E7"/>
          </a:solidFill>
          <a:ln w="0">
            <a:noFill/>
          </a:ln>
        </p:spPr>
      </p:sp>
      <p:sp>
        <p:nvSpPr>
          <p:cNvPr id="18" name="text-514-72">
            <a:extLst>
              <a:ext uri="{FF2B5EF4-FFF2-40B4-BE49-F238E27FC236}">
                <ns2:creationId id="{D6B70A5C-D2BC-4910-8880-0079A5EAAF99}"/>
              </a:ext>
            </a:extLst>
          </p:cNvPr>
          <p:cNvSpPr>
            <a:spLocks noGrp="1"/>
          </p:cNvSpPr>
          <p:nvPr/>
        </p:nvSpPr>
        <p:spPr>
          <a:xfrm>
            <a:off x="685800" y="4628388"/>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4</a:t>
            </a:r>
          </a:p>
        </p:txBody>
      </p:sp>
      <p:sp>
        <p:nvSpPr>
          <p:cNvPr id="19" name="text-514-124">
            <a:extLst>
              <a:ext uri="{FF2B5EF4-FFF2-40B4-BE49-F238E27FC236}">
                <ns2:creationId id="{9F0C6848-0C1C-419D-94ED-F917CD70BA62}"/>
              </a:ext>
            </a:extLst>
          </p:cNvPr>
          <p:cNvSpPr>
            <a:spLocks noGrp="1"/>
          </p:cNvSpPr>
          <p:nvPr/>
        </p:nvSpPr>
        <p:spPr>
          <a:xfrm>
            <a:off x="1181100" y="4628388"/>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Θ(1)</a:t>
            </a:r>
          </a:p>
        </p:txBody>
      </p:sp>
      <p:sp>
        <p:nvSpPr>
          <p:cNvPr id="20" name="">
            <a:extLst>
              <a:ext uri="{FF2B5EF4-FFF2-40B4-BE49-F238E27FC236}">
                <ns2:creationId id="{B0A30438-2C9F-4F2B-B5FF-C3E44BEF8704}"/>
              </a:ext>
            </a:extLst>
          </p:cNvPr>
          <p:cNvSpPr>
            <a:spLocks noGrp="1"/>
          </p:cNvSpPr>
          <p:nvPr/>
        </p:nvSpPr>
        <p:spPr>
          <a:xfrm>
            <a:off x="609600" y="6191250"/>
            <a:ext cx="10972800" cy="9525"/>
          </a:xfrm>
          <a:prstGeom prst="rect">
            <a:avLst/>
          </a:prstGeom>
          <a:solidFill>
            <a:srgbClr val="E7E7E7"/>
          </a:solidFill>
          <a:ln w="0">
            <a:noFill/>
          </a:ln>
        </p:spPr>
      </p:sp>
      <p:sp>
        <p:nvSpPr>
          <p:cNvPr id="21" name="text-580-72">
            <a:extLst>
              <a:ext uri="{FF2B5EF4-FFF2-40B4-BE49-F238E27FC236}">
                <ns2:creationId id="{8386AEB1-D8EF-424E-8099-EB46F9311C94}"/>
              </a:ext>
            </a:extLst>
          </p:cNvPr>
          <p:cNvSpPr>
            <a:spLocks noGrp="1"/>
          </p:cNvSpPr>
          <p:nvPr/>
        </p:nvSpPr>
        <p:spPr>
          <a:xfrm>
            <a:off x="685800" y="5077206"/>
            <a:ext cx="400050" cy="372618"/>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Consolas"/>
                <a:ea typeface="Consolas"/>
                <a:cs typeface="Consolas"/>
              </a:defRPr>
            </a:pPr>
            <a:r>
              <a:rPr sz="1800" b="1" i="0">
                <a:solidFill>
                  <a:srgbClr val="171717"/>
                </a:solidFill>
                <a:latin typeface="Consolas"/>
                <a:ea typeface="Consolas"/>
                <a:cs typeface="Consolas"/>
              </a:rPr>
              <a:t>5</a:t>
            </a:r>
          </a:p>
        </p:txBody>
      </p:sp>
      <p:sp>
        <p:nvSpPr>
          <p:cNvPr id="22" name="text-580-124">
            <a:extLst>
              <a:ext uri="{FF2B5EF4-FFF2-40B4-BE49-F238E27FC236}">
                <ns2:creationId id="{70193181-962B-469F-9C07-7BC7055EB18A}"/>
              </a:ext>
            </a:extLst>
          </p:cNvPr>
          <p:cNvSpPr>
            <a:spLocks noGrp="1"/>
          </p:cNvSpPr>
          <p:nvPr/>
        </p:nvSpPr>
        <p:spPr>
          <a:xfrm>
            <a:off x="1181100" y="5077206"/>
            <a:ext cx="10401300" cy="37261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Θ(n²)</a:t>
            </a:r>
          </a:p>
        </p:txBody>
      </p:sp>
    </p:spTree>
    <p:extLst>
      <p:ext uri="{BB962C8B-B14F-4D97-AF65-F5344CB8AC3E}">
        <ns3:creationId val="462685519"/>
      </p:ext>
    </p:extLst>
  </p:cSld>
</p:sld>
</file>

<file path=ppt/slides/slide8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C069E9C4-4505-4DD1-9EA6-6ADD9836E49C}"/>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객관식</a:t>
            </a:r>
          </a:p>
        </p:txBody>
      </p:sp>
      <p:sp>
        <p:nvSpPr>
          <p:cNvPr id="2" name="text-28-1080">
            <a:extLst>
              <a:ext uri="{FF2B5EF4-FFF2-40B4-BE49-F238E27FC236}">
                <ns2:creationId id="{133A4FBC-8E20-421D-85C9-8FE8400CFC6C}"/>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C1F34E9-21CF-4B55-9692-11E43CC94FA6}"/>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40  정답과 해설</a:t>
            </a:r>
          </a:p>
        </p:txBody>
      </p:sp>
      <p:sp>
        <p:nvSpPr>
          <p:cNvPr id="4" name="">
            <a:extLst>
              <a:ext uri="{FF2B5EF4-FFF2-40B4-BE49-F238E27FC236}">
                <ns2:creationId id="{94B6F491-9D3E-4B28-8812-74BA3E3D0A4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758BC69-E4FF-423A-BB8C-27357AB9F83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37450E35-86DB-4066-AC8A-627F1D0D79F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E6D587A-34B4-42DE-983C-1B25E50696A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080</a:t>
            </a:r>
          </a:p>
        </p:txBody>
      </p:sp>
      <p:sp>
        <p:nvSpPr>
          <p:cNvPr id="8" name="text-178-64">
            <a:extLst>
              <a:ext uri="{FF2B5EF4-FFF2-40B4-BE49-F238E27FC236}">
                <ns2:creationId id="{763A30DD-54BC-499B-A797-34B8C21C1051}"/>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길이 n인 배열에서 매번 현재 배열의 절반만 새 배열로 복사하여 다음 단계로 넘긴다. n은 2의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거듭제곱이며 길이 1에서 끝낸다. 원소 한 개의 복사 비용은 일정하다. 따라서 현재 크기가 m이면 복사</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비용은 Θ(m)이다. 단계 수만이 아니라 모든 단계의 복사 시간을 더한 전체 시간 복잡도는?</a:t>
            </a:r>
          </a:p>
        </p:txBody>
      </p:sp>
      <p:sp>
        <p:nvSpPr>
          <p:cNvPr id="9" name="">
            <a:extLst>
              <a:ext uri="{FF2B5EF4-FFF2-40B4-BE49-F238E27FC236}">
                <ns2:creationId id="{076B8B4B-C3E7-4378-A6A4-7D3606E4D769}"/>
              </a:ext>
            </a:extLst>
          </p:cNvPr>
          <p:cNvSpPr>
            <a:spLocks noGrp="1"/>
          </p:cNvSpPr>
          <p:nvPr/>
        </p:nvSpPr>
        <p:spPr>
          <a:xfrm>
            <a:off x="609600" y="2737104"/>
            <a:ext cx="10972800" cy="498729"/>
          </a:xfrm>
          <a:prstGeom prst="rect">
            <a:avLst/>
          </a:prstGeom>
          <a:solidFill>
            <a:srgbClr val="171717"/>
          </a:solidFill>
          <a:ln w="0">
            <a:noFill/>
          </a:ln>
        </p:spPr>
      </p:sp>
      <p:sp>
        <p:nvSpPr>
          <p:cNvPr id="10" name="text-279.2-92">
            <a:extLst>
              <a:ext uri="{FF2B5EF4-FFF2-40B4-BE49-F238E27FC236}">
                <ns2:creationId id="{91A9FF3A-FCF1-4FB8-BAC1-6A676F0CF962}"/>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1번 Θ(n)</a:t>
            </a:r>
          </a:p>
        </p:txBody>
      </p:sp>
      <p:sp>
        <p:nvSpPr>
          <p:cNvPr id="11" name="text-358-64">
            <a:extLst>
              <a:ext uri="{FF2B5EF4-FFF2-40B4-BE49-F238E27FC236}">
                <ns2:creationId id="{AFCBEBA2-175B-4615-80D1-4FA72DFE3DCD}"/>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571146F5-B1B9-4F9C-B597-92F9CE2B177A}"/>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8CCF81D3-C362-4228-8DCF-A3891B22E180}"/>
              </a:ext>
            </a:extLst>
          </p:cNvPr>
          <p:cNvSpPr>
            <a:spLocks noGrp="1"/>
          </p:cNvSpPr>
          <p:nvPr/>
        </p:nvSpPr>
        <p:spPr>
          <a:xfrm>
            <a:off x="609600" y="3708273"/>
            <a:ext cx="10972800" cy="63550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복사되는 원소 수는 n/2+n/4+…+1=n−1이다. 단계는 약 log₂n번이지만 각 단계의 복사량이 달라 전체 복사 시간은</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Θ(n)이다.</a:t>
            </a:r>
          </a:p>
        </p:txBody>
      </p:sp>
    </p:spTree>
    <p:extLst>
      <p:ext uri="{BB962C8B-B14F-4D97-AF65-F5344CB8AC3E}">
        <ns3:creationId val="462685519"/>
      </p:ext>
    </p:extLst>
  </p:cSld>
</p:sld>
</file>

<file path=ppt/slides/slide8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38D21B66-A778-4129-A31F-E4E625822AB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36805397-5D37-4300-A6B2-E2C8C2A54CBB}"/>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F543B814-00FA-47F5-9415-BD797CC873D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41  </a:t>
            </a:r>
          </a:p>
        </p:txBody>
      </p:sp>
      <p:sp>
        <p:nvSpPr>
          <p:cNvPr id="4" name="">
            <a:extLst>
              <a:ext uri="{FF2B5EF4-FFF2-40B4-BE49-F238E27FC236}">
                <ns2:creationId id="{C8338685-A063-431F-9A24-A0D5AB12905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D51ED59-CE48-408E-81A0-01DF8978280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3B280379-9070-4F7D-A0DB-4DA8B81F42B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B6A2ECA8-2E99-4EEB-BBA6-BDE4EE474D9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081</a:t>
            </a:r>
          </a:p>
        </p:txBody>
      </p:sp>
      <p:sp>
        <p:nvSpPr>
          <p:cNvPr id="8" name="text-178-64">
            <a:extLst>
              <a:ext uri="{FF2B5EF4-FFF2-40B4-BE49-F238E27FC236}">
                <ns2:creationId id="{40CDF966-B235-4439-A37D-7B45EFD20722}"/>
              </a:ext>
            </a:extLst>
          </p:cNvPr>
          <p:cNvSpPr>
            <a:spLocks noGrp="1"/>
          </p:cNvSpPr>
          <p:nvPr/>
        </p:nvSpPr>
        <p:spPr>
          <a:xfrm>
            <a:off x="609600" y="1619250"/>
            <a:ext cx="10972800" cy="373761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Python 함수는 0 이상의 정수 n을 받아 팩토리얼 n!을 구한다. 0!=1이며 n≥1이면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n!=n×(n−1)×…×1이다.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def fact(n):</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if n == 0:</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return 1</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return n * fact(n - 1)</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fact(5)의 ① 반환값 ② 총 함수 호출 횟수를 쓰시오. 최초 fact(5)와 마지막 fact(0) 호출을</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모두 포함한다.</a:t>
            </a:r>
          </a:p>
        </p:txBody>
      </p:sp>
      <p:sp>
        <p:nvSpPr>
          <p:cNvPr id="9" name="text-405-64">
            <a:extLst>
              <a:ext uri="{FF2B5EF4-FFF2-40B4-BE49-F238E27FC236}">
                <ns2:creationId id="{D920DD3F-C6BF-4D4A-8F98-2BD26DB434E4}"/>
              </a:ext>
            </a:extLst>
          </p:cNvPr>
          <p:cNvSpPr>
            <a:spLocks noGrp="1"/>
          </p:cNvSpPr>
          <p:nvPr/>
        </p:nvSpPr>
        <p:spPr>
          <a:xfrm>
            <a:off x="609600" y="5490210"/>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24EF3B20-BBF9-4821-8A99-C2C40FCDA232}"/>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6822C6B9-3F78-4E20-B25B-A60FDC9D59C5}"/>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AAC8C8AA-174A-42F5-93E3-D10C0F96AED0}"/>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8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9043E340-4808-437B-9AA6-9B6C616F6853}"/>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6DA2D37E-D5B7-4906-A97D-12B91124185B}"/>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2734CFB-D97C-4ECF-88CF-DE8074C5391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41  정답과 해설</a:t>
            </a:r>
          </a:p>
        </p:txBody>
      </p:sp>
      <p:sp>
        <p:nvSpPr>
          <p:cNvPr id="4" name="">
            <a:extLst>
              <a:ext uri="{FF2B5EF4-FFF2-40B4-BE49-F238E27FC236}">
                <ns2:creationId id="{581335FA-4161-4166-803B-A0414BC7B3C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8E12342-C0E7-4B0A-AA84-9A69E541E89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B1AD720-177E-4CD6-950F-CF134EA5BCA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3943DCB-1BEF-44A6-8DBC-A5E7C4146C81}"/>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082</a:t>
            </a:r>
          </a:p>
        </p:txBody>
      </p:sp>
      <p:sp>
        <p:nvSpPr>
          <p:cNvPr id="8" name="text-178-64">
            <a:extLst>
              <a:ext uri="{FF2B5EF4-FFF2-40B4-BE49-F238E27FC236}">
                <ns2:creationId id="{D0F7B87C-2AF5-479E-B402-1EABA2AD1251}"/>
              </a:ext>
            </a:extLst>
          </p:cNvPr>
          <p:cNvSpPr>
            <a:spLocks noGrp="1"/>
          </p:cNvSpPr>
          <p:nvPr/>
        </p:nvSpPr>
        <p:spPr>
          <a:xfrm>
            <a:off x="609600" y="1619250"/>
            <a:ext cx="10972800" cy="289636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다음 Python 함수는 0 이상의 정수 n을 받아 팩토리얼 n!을 구한다. 0!=1이며 n≥1이면</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n!=n×(n−1)×…×1이다.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def fact(n):</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if n == 0:</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return 1</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return n * fact(n - 1)</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fact(5)의 ① 반환값 ② 총 함수 호출 횟수를 쓰시오. 최초 fact(5)와 마지막 fact(0) 호출을 모두 포함한다.</a:t>
            </a:r>
          </a:p>
        </p:txBody>
      </p:sp>
      <p:sp>
        <p:nvSpPr>
          <p:cNvPr id="9" name="">
            <a:extLst>
              <a:ext uri="{FF2B5EF4-FFF2-40B4-BE49-F238E27FC236}">
                <ns2:creationId id="{12A09B28-AF33-4710-A7BD-499BAC3048B8}"/>
              </a:ext>
            </a:extLst>
          </p:cNvPr>
          <p:cNvSpPr>
            <a:spLocks noGrp="1"/>
          </p:cNvSpPr>
          <p:nvPr/>
        </p:nvSpPr>
        <p:spPr>
          <a:xfrm>
            <a:off x="609600" y="4629912"/>
            <a:ext cx="10972800" cy="498729"/>
          </a:xfrm>
          <a:prstGeom prst="rect">
            <a:avLst/>
          </a:prstGeom>
          <a:solidFill>
            <a:srgbClr val="171717"/>
          </a:solidFill>
          <a:ln w="0">
            <a:noFill/>
          </a:ln>
        </p:spPr>
      </p:sp>
      <p:sp>
        <p:nvSpPr>
          <p:cNvPr id="10" name="text-279.2-92">
            <a:extLst>
              <a:ext uri="{FF2B5EF4-FFF2-40B4-BE49-F238E27FC236}">
                <ns2:creationId id="{275B0B8A-E10C-4E9A-BD59-F121EF75C956}"/>
              </a:ext>
            </a:extLst>
          </p:cNvPr>
          <p:cNvSpPr>
            <a:spLocks noGrp="1"/>
          </p:cNvSpPr>
          <p:nvPr/>
        </p:nvSpPr>
        <p:spPr>
          <a:xfrm>
            <a:off x="876300" y="4706112"/>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120, 6회</a:t>
            </a:r>
          </a:p>
        </p:txBody>
      </p:sp>
      <p:sp>
        <p:nvSpPr>
          <p:cNvPr id="11" name="text-358-64">
            <a:extLst>
              <a:ext uri="{FF2B5EF4-FFF2-40B4-BE49-F238E27FC236}">
                <ns2:creationId id="{1910782E-B066-4748-926B-62BB5068C14A}"/>
              </a:ext>
            </a:extLst>
          </p:cNvPr>
          <p:cNvSpPr>
            <a:spLocks noGrp="1"/>
          </p:cNvSpPr>
          <p:nvPr/>
        </p:nvSpPr>
        <p:spPr>
          <a:xfrm>
            <a:off x="609600" y="522389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28452D1A-AFAC-4F69-AFC4-7111784910B1}"/>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FA68C344-960C-444F-AE24-3371255F58CF}"/>
              </a:ext>
            </a:extLst>
          </p:cNvPr>
          <p:cNvSpPr>
            <a:spLocks noGrp="1"/>
          </p:cNvSpPr>
          <p:nvPr/>
        </p:nvSpPr>
        <p:spPr>
          <a:xfrm>
            <a:off x="609600" y="5601081"/>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인수는 5,4,3,2,1,0이다. 곱셈은 5번이고 n=0인 호출까지 총 6번이다.</a:t>
            </a:r>
          </a:p>
        </p:txBody>
      </p:sp>
    </p:spTree>
    <p:extLst>
      <p:ext uri="{BB962C8B-B14F-4D97-AF65-F5344CB8AC3E}">
        <ns3:creationId val="462685519"/>
      </p:ext>
    </p:extLst>
  </p:cSld>
</p:sld>
</file>

<file path=ppt/slides/slide8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640EFBA8-F877-4351-9E85-F073E920595D}"/>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6EBC8F77-6050-4543-9C1F-3E5B2C136A8F}"/>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07FC3D28-96D1-4A0F-B427-87C5DA95CB73}"/>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42  </a:t>
            </a:r>
          </a:p>
        </p:txBody>
      </p:sp>
      <p:sp>
        <p:nvSpPr>
          <p:cNvPr id="4" name="">
            <a:extLst>
              <a:ext uri="{FF2B5EF4-FFF2-40B4-BE49-F238E27FC236}">
                <ns2:creationId id="{B8AEA131-D3FC-4A03-B298-979A21B7852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48337A4-FBCB-4C5D-ADB8-42A73C10DE5D}"/>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465F7B09-769F-4041-942B-0875F93B5A3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B210746F-C693-4FEA-AF7B-555FDE3A6FA0}"/>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083</a:t>
            </a:r>
          </a:p>
        </p:txBody>
      </p:sp>
      <p:sp>
        <p:nvSpPr>
          <p:cNvPr id="8" name="text-178-64">
            <a:extLst>
              <a:ext uri="{FF2B5EF4-FFF2-40B4-BE49-F238E27FC236}">
                <ns2:creationId id="{13EC6C23-3275-4EDE-AC4D-C1101881DC97}"/>
              </a:ext>
            </a:extLst>
          </p:cNvPr>
          <p:cNvSpPr>
            <a:spLocks noGrp="1"/>
          </p:cNvSpPr>
          <p:nvPr/>
        </p:nvSpPr>
        <p:spPr>
          <a:xfrm>
            <a:off x="609600" y="1619250"/>
            <a:ext cx="10972800" cy="373761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Python 함수를 fact(4)로 처음 실행한다.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def fact(n):</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if n == 0:</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return 1</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return n * fact(n - 1)</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① fact(0)이 실행되기 시작한 순간, 아직 반환하지 않은 함수 호출은 모두 몇 개인가?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fact(4)와 fact(0)도 포함한다.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② 그때 fact(0)이 반환하는 값은 무엇인가?</a:t>
            </a:r>
          </a:p>
        </p:txBody>
      </p:sp>
      <p:sp>
        <p:nvSpPr>
          <p:cNvPr id="9" name="text-405-64">
            <a:extLst>
              <a:ext uri="{FF2B5EF4-FFF2-40B4-BE49-F238E27FC236}">
                <ns2:creationId id="{2C92C4B1-164A-4105-BB71-5C49F8986659}"/>
              </a:ext>
            </a:extLst>
          </p:cNvPr>
          <p:cNvSpPr>
            <a:spLocks noGrp="1"/>
          </p:cNvSpPr>
          <p:nvPr/>
        </p:nvSpPr>
        <p:spPr>
          <a:xfrm>
            <a:off x="609600" y="5490210"/>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739EE29B-2F40-439C-8EE4-2681F0C58605}"/>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28800E70-9164-44E3-9419-AA8146BF7FF0}"/>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CC92DD14-A62C-4BEE-B327-FE3FF4CED916}"/>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8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7B4CCEA2-39F7-4F55-88D5-D8FA589F3A9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C8213649-4F0D-4F00-924D-AAFC9EE6078C}"/>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0FCAD23-ED9D-48AC-B37D-909A894EA4F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42  정답과 해설</a:t>
            </a:r>
          </a:p>
        </p:txBody>
      </p:sp>
      <p:sp>
        <p:nvSpPr>
          <p:cNvPr id="4" name="">
            <a:extLst>
              <a:ext uri="{FF2B5EF4-FFF2-40B4-BE49-F238E27FC236}">
                <ns2:creationId id="{61D17B34-CDE1-4C91-A5DB-CACBB034C00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DE9D843-C706-407B-A9BE-B1B0E131597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CC0BA85-F6AB-4589-B330-A9F03628AABD}"/>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4BE5683F-6031-461C-8322-A6CB49B4919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084</a:t>
            </a:r>
          </a:p>
        </p:txBody>
      </p:sp>
      <p:sp>
        <p:nvSpPr>
          <p:cNvPr id="8" name="text-178-64">
            <a:extLst>
              <a:ext uri="{FF2B5EF4-FFF2-40B4-BE49-F238E27FC236}">
                <ns2:creationId id="{37981B13-6EB6-4B5B-B688-DA58886E2FF0}"/>
              </a:ext>
            </a:extLst>
          </p:cNvPr>
          <p:cNvSpPr>
            <a:spLocks noGrp="1"/>
          </p:cNvSpPr>
          <p:nvPr/>
        </p:nvSpPr>
        <p:spPr>
          <a:xfrm>
            <a:off x="609600" y="1619250"/>
            <a:ext cx="10972800" cy="321183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다음 Python 함수를 fact(4)로 처음 실행한다.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def fact(n):</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if n == 0:</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return 1</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return n * fact(n - 1)</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① fact(0)이 실행되기 시작한 순간, 아직 반환하지 않은 함수 호출은 모두 몇 개인가? fact(4)와 fact(0)도</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포함한다.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② 그때 fact(0)이 반환하는 값은 무엇인가?</a:t>
            </a:r>
          </a:p>
        </p:txBody>
      </p:sp>
      <p:sp>
        <p:nvSpPr>
          <p:cNvPr id="9" name="">
            <a:extLst>
              <a:ext uri="{FF2B5EF4-FFF2-40B4-BE49-F238E27FC236}">
                <ns2:creationId id="{95B1C741-C7BA-4D69-921D-D57E0DA3FE49}"/>
              </a:ext>
            </a:extLst>
          </p:cNvPr>
          <p:cNvSpPr>
            <a:spLocks noGrp="1"/>
          </p:cNvSpPr>
          <p:nvPr/>
        </p:nvSpPr>
        <p:spPr>
          <a:xfrm>
            <a:off x="609600" y="4945380"/>
            <a:ext cx="10972800" cy="498729"/>
          </a:xfrm>
          <a:prstGeom prst="rect">
            <a:avLst/>
          </a:prstGeom>
          <a:solidFill>
            <a:srgbClr val="171717"/>
          </a:solidFill>
          <a:ln w="0">
            <a:noFill/>
          </a:ln>
        </p:spPr>
      </p:sp>
      <p:sp>
        <p:nvSpPr>
          <p:cNvPr id="10" name="text-279.2-92">
            <a:extLst>
              <a:ext uri="{FF2B5EF4-FFF2-40B4-BE49-F238E27FC236}">
                <ns2:creationId id="{8E3EF805-1635-4590-ACE4-7780E2546EBD}"/>
              </a:ext>
            </a:extLst>
          </p:cNvPr>
          <p:cNvSpPr>
            <a:spLocks noGrp="1"/>
          </p:cNvSpPr>
          <p:nvPr/>
        </p:nvSpPr>
        <p:spPr>
          <a:xfrm>
            <a:off x="876300" y="5021580"/>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5개, 1</a:t>
            </a:r>
          </a:p>
        </p:txBody>
      </p:sp>
      <p:sp>
        <p:nvSpPr>
          <p:cNvPr id="11" name="text-358-64">
            <a:extLst>
              <a:ext uri="{FF2B5EF4-FFF2-40B4-BE49-F238E27FC236}">
                <ns2:creationId id="{AF9C58E9-AD7F-4119-A115-A290A45CD676}"/>
              </a:ext>
            </a:extLst>
          </p:cNvPr>
          <p:cNvSpPr>
            <a:spLocks noGrp="1"/>
          </p:cNvSpPr>
          <p:nvPr/>
        </p:nvSpPr>
        <p:spPr>
          <a:xfrm>
            <a:off x="609600" y="5539359"/>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DD83C2C2-B68A-4E09-A876-04E9702C7D78}"/>
              </a:ext>
            </a:extLst>
          </p:cNvPr>
          <p:cNvSpPr>
            <a:spLocks noGrp="1"/>
          </p:cNvSpPr>
          <p:nvPr/>
        </p:nvSpPr>
        <p:spPr>
          <a:xfrm>
            <a:off x="609600" y="6267450"/>
            <a:ext cx="10972800" cy="9525"/>
          </a:xfrm>
          <a:prstGeom prst="rect">
            <a:avLst/>
          </a:prstGeom>
          <a:solidFill>
            <a:srgbClr val="D4D4D4"/>
          </a:solidFill>
          <a:ln w="0">
            <a:noFill/>
          </a:ln>
        </p:spPr>
      </p:sp>
      <p:sp>
        <p:nvSpPr>
          <p:cNvPr id="13" name="text-406-64">
            <a:extLst>
              <a:ext uri="{FF2B5EF4-FFF2-40B4-BE49-F238E27FC236}">
                <ns2:creationId id="{CCE05D67-403E-4902-9022-E058FD300C6D}"/>
              </a:ext>
            </a:extLst>
          </p:cNvPr>
          <p:cNvSpPr>
            <a:spLocks noGrp="1"/>
          </p:cNvSpPr>
          <p:nvPr/>
        </p:nvSpPr>
        <p:spPr>
          <a:xfrm>
            <a:off x="609600" y="5916549"/>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fact(4), fact(3), fact(2), fact(1), fact(0)이 쌓이고 fact(0)이 1을 반환한다.</a:t>
            </a:r>
          </a:p>
        </p:txBody>
      </p:sp>
    </p:spTree>
    <p:extLst>
      <p:ext uri="{BB962C8B-B14F-4D97-AF65-F5344CB8AC3E}">
        <ns3:creationId val="462685519"/>
      </p:ext>
    </p:extLst>
  </p:cSld>
</p:sld>
</file>

<file path=ppt/slides/slide8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1CF7436F-C566-46B4-9E35-7D7B101E1E83}"/>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24E10000-D7C5-49F6-A0E7-A8DFC6F3CC0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7C09AFF-1A54-4B3D-B235-01347CCACF6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43  </a:t>
            </a:r>
          </a:p>
        </p:txBody>
      </p:sp>
      <p:sp>
        <p:nvSpPr>
          <p:cNvPr id="4" name="">
            <a:extLst>
              <a:ext uri="{FF2B5EF4-FFF2-40B4-BE49-F238E27FC236}">
                <ns2:creationId id="{3265E39D-D67B-44CE-A437-B868AC685CE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4DCD872-55D3-4FE0-821E-FEE9D4994004}"/>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3873891-C2BA-4BDA-B538-61326E270BD6}"/>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179B7DA-5C85-4AAC-AD08-3571E330A9E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085</a:t>
            </a:r>
          </a:p>
        </p:txBody>
      </p:sp>
      <p:sp>
        <p:nvSpPr>
          <p:cNvPr id="8" name="text-178-64">
            <a:extLst>
              <a:ext uri="{FF2B5EF4-FFF2-40B4-BE49-F238E27FC236}">
                <ns2:creationId id="{65C3BAAB-FD41-4963-813D-8F881CE9DC7B}"/>
              </a:ext>
            </a:extLst>
          </p:cNvPr>
          <p:cNvSpPr>
            <a:spLocks noGrp="1"/>
          </p:cNvSpPr>
          <p:nvPr/>
        </p:nvSpPr>
        <p:spPr>
          <a:xfrm>
            <a:off x="609600" y="16954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Python에서 a=0,b=1로 시작해 다중 대입 a,b=b,a+b를 6번 수행한다. 오른쪽은 갱신 전</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값으로 함께 계산한다. 최종 (a,b)를 쓰시오.</a:t>
            </a:r>
          </a:p>
        </p:txBody>
      </p:sp>
      <p:sp>
        <p:nvSpPr>
          <p:cNvPr id="9" name="text-405-64">
            <a:extLst>
              <a:ext uri="{FF2B5EF4-FFF2-40B4-BE49-F238E27FC236}">
                <ns2:creationId id="{8EA9D742-19D7-462C-86CD-31BEB436BB29}"/>
              </a:ext>
            </a:extLst>
          </p:cNvPr>
          <p:cNvSpPr>
            <a:spLocks noGrp="1"/>
          </p:cNvSpPr>
          <p:nvPr/>
        </p:nvSpPr>
        <p:spPr>
          <a:xfrm>
            <a:off x="609600" y="2509266"/>
            <a:ext cx="10972800" cy="342900"/>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389BF81E-A9DC-4E91-AD57-C180CB253D14}"/>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7C1EE349-F3DB-41F4-9981-D6857CE77F1E}"/>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37486D33-AFF9-43A8-8EE1-73A08B320505}"/>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8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80AC0489-CB8C-4C81-9D4E-4D075C4AB07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C18AE048-DF5E-45C7-99DB-A59AD9A70D0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3167351-0FF5-4D0A-8495-72A6DF844530}"/>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43  정답과 해설</a:t>
            </a:r>
          </a:p>
        </p:txBody>
      </p:sp>
      <p:sp>
        <p:nvSpPr>
          <p:cNvPr id="4" name="">
            <a:extLst>
              <a:ext uri="{FF2B5EF4-FFF2-40B4-BE49-F238E27FC236}">
                <ns2:creationId id="{628822F8-400D-4CA6-8945-F507D597E9C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6A31FC5-C355-4EF8-ABB1-8AAD27F0E454}"/>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699906C4-C2EF-4110-B16D-1B13F55BBDF7}"/>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44A2839-B4D6-41C4-9DAE-626DEEF1804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086</a:t>
            </a:r>
          </a:p>
        </p:txBody>
      </p:sp>
      <p:sp>
        <p:nvSpPr>
          <p:cNvPr id="8" name="text-178-64">
            <a:extLst>
              <a:ext uri="{FF2B5EF4-FFF2-40B4-BE49-F238E27FC236}">
                <ns2:creationId id="{F2C6BB40-D2F2-4A64-A1AB-C747384CEC01}"/>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Python에서 a=0,b=1로 시작해 다중 대입 a,b=b,a+b를 6번 수행한다. 오른쪽은 갱신 전 값으로 함께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계산한다. 최종 (a,b)를 쓰시오.</a:t>
            </a:r>
          </a:p>
        </p:txBody>
      </p:sp>
      <p:sp>
        <p:nvSpPr>
          <p:cNvPr id="9" name="">
            <a:extLst>
              <a:ext uri="{FF2B5EF4-FFF2-40B4-BE49-F238E27FC236}">
                <ns2:creationId id="{01A21D08-C803-41BF-851B-3A546587E907}"/>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DF186C9A-A51D-4ACA-A187-33AF30901A19}"/>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(8,13)</a:t>
            </a:r>
          </a:p>
        </p:txBody>
      </p:sp>
      <p:sp>
        <p:nvSpPr>
          <p:cNvPr id="11" name="text-324.4-64">
            <a:extLst>
              <a:ext uri="{FF2B5EF4-FFF2-40B4-BE49-F238E27FC236}">
                <ns2:creationId id="{FDD7BDAF-C977-4985-9E58-5A357F05816F}"/>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4AFB8140-806B-4906-A69A-7E3265751600}"/>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CC60195E-CFFF-4E91-A0C2-0686CA888248}"/>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각 반복 후 (a,b)는 연속된 피보나치 수이다. 6번 뒤 F(6),F(7)이다.</a:t>
            </a:r>
          </a:p>
        </p:txBody>
      </p:sp>
    </p:spTree>
    <p:extLst>
      <p:ext uri="{BB962C8B-B14F-4D97-AF65-F5344CB8AC3E}">
        <ns3:creationId val="462685519"/>
      </p:ext>
    </p:extLst>
  </p:cSld>
</p:sld>
</file>

<file path=ppt/slides/slide8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8ECCB28B-FCA6-41DA-BC00-D786F6FAFEA3}"/>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60440163-1C92-43BB-B525-402B2802538E}"/>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F10885B0-C9E4-4519-A90B-5012C5253C3B}"/>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44  </a:t>
            </a:r>
          </a:p>
        </p:txBody>
      </p:sp>
      <p:sp>
        <p:nvSpPr>
          <p:cNvPr id="4" name="">
            <a:extLst>
              <a:ext uri="{FF2B5EF4-FFF2-40B4-BE49-F238E27FC236}">
                <ns2:creationId id="{0614689C-204F-4917-9E93-54FF94FE733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271172C-B80A-40FC-91B5-4381B4C1705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65EC6927-8961-4A99-B08A-44C1A61283F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C43B10CA-6FC0-4907-9242-31C3F9F79A4B}"/>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087</a:t>
            </a:r>
          </a:p>
        </p:txBody>
      </p:sp>
      <p:sp>
        <p:nvSpPr>
          <p:cNvPr id="8" name="text-178-64">
            <a:extLst>
              <a:ext uri="{FF2B5EF4-FFF2-40B4-BE49-F238E27FC236}">
                <ns2:creationId id="{F6BF786A-7CC3-441F-BD21-C8ECA5262F72}"/>
              </a:ext>
            </a:extLst>
          </p:cNvPr>
          <p:cNvSpPr>
            <a:spLocks noGrp="1"/>
          </p:cNvSpPr>
          <p:nvPr/>
        </p:nvSpPr>
        <p:spPr>
          <a:xfrm>
            <a:off x="609600" y="1619250"/>
            <a:ext cx="10972800" cy="336956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Python 함수에서 n은 0 이상의 정수이다. fib(0)=0, fib(1)=1이며 이후 항은 앞의 두</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항을 더한다. 이전 호출 결과는 저장하지 않는다.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def fib(n):</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if n &lt;= 1:</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return n</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return fib(n - 1) + fib(n - 2)</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fib(4)를 한 번 실행하는 전체 과정에서 fib(2)는 몇 번 호출되는가?</a:t>
            </a:r>
          </a:p>
        </p:txBody>
      </p:sp>
      <p:sp>
        <p:nvSpPr>
          <p:cNvPr id="9" name="text-405-64">
            <a:extLst>
              <a:ext uri="{FF2B5EF4-FFF2-40B4-BE49-F238E27FC236}">
                <ns2:creationId id="{2D7D91C6-D0C0-474D-ACD1-669D76868D8C}"/>
              </a:ext>
            </a:extLst>
          </p:cNvPr>
          <p:cNvSpPr>
            <a:spLocks noGrp="1"/>
          </p:cNvSpPr>
          <p:nvPr/>
        </p:nvSpPr>
        <p:spPr>
          <a:xfrm>
            <a:off x="609600" y="512216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16E9CBD4-DDB5-4DF8-BB62-603C45BF034D}"/>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9F5F34F3-4CBB-4E55-B997-13050033B9BF}"/>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C2A9777F-90FC-44B0-87A6-7ABA9A289CB6}"/>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8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370DFB8B-67DE-4558-B8A9-47345A2FEDD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B98BB27F-040D-4498-AB4C-55C4279C8AD7}"/>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227EDBBD-047F-4212-B18A-83255BC4FC1A}"/>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44  정답과 해설</a:t>
            </a:r>
          </a:p>
        </p:txBody>
      </p:sp>
      <p:sp>
        <p:nvSpPr>
          <p:cNvPr id="4" name="">
            <a:extLst>
              <a:ext uri="{FF2B5EF4-FFF2-40B4-BE49-F238E27FC236}">
                <ns2:creationId id="{65B70921-9173-4967-8B63-DEA04BB1667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E152806-9875-4A52-8701-715184E0A88E}"/>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537DD02B-64A9-4924-A3EA-4DCA744FFD97}"/>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114D033-EBC8-4BE1-889F-301FA3C95A68}"/>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088</a:t>
            </a:r>
          </a:p>
        </p:txBody>
      </p:sp>
      <p:sp>
        <p:nvSpPr>
          <p:cNvPr id="8" name="text-178-64">
            <a:extLst>
              <a:ext uri="{FF2B5EF4-FFF2-40B4-BE49-F238E27FC236}">
                <ns2:creationId id="{784B13E6-B50E-48A0-A51B-C521DB634D5B}"/>
              </a:ext>
            </a:extLst>
          </p:cNvPr>
          <p:cNvSpPr>
            <a:spLocks noGrp="1"/>
          </p:cNvSpPr>
          <p:nvPr/>
        </p:nvSpPr>
        <p:spPr>
          <a:xfrm>
            <a:off x="609600" y="1619250"/>
            <a:ext cx="10972800" cy="289636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다음 Python 함수에서 n은 0 이상의 정수이다. fib(0)=0, fib(1)=1이며 이후 항은 앞의 두 항을 더한다. 이전</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호출 결과는 저장하지 않는다.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def fib(n):</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if n &lt;= 1:</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return n</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return fib(n - 1) + fib(n - 2)</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fib(4)를 한 번 실행하는 전체 과정에서 fib(2)는 몇 번 호출되는가?</a:t>
            </a:r>
          </a:p>
        </p:txBody>
      </p:sp>
      <p:sp>
        <p:nvSpPr>
          <p:cNvPr id="9" name="">
            <a:extLst>
              <a:ext uri="{FF2B5EF4-FFF2-40B4-BE49-F238E27FC236}">
                <ns2:creationId id="{F97053B8-C6BC-408E-8A78-869DD6C9039A}"/>
              </a:ext>
            </a:extLst>
          </p:cNvPr>
          <p:cNvSpPr>
            <a:spLocks noGrp="1"/>
          </p:cNvSpPr>
          <p:nvPr/>
        </p:nvSpPr>
        <p:spPr>
          <a:xfrm>
            <a:off x="609600" y="4629912"/>
            <a:ext cx="10972800" cy="498729"/>
          </a:xfrm>
          <a:prstGeom prst="rect">
            <a:avLst/>
          </a:prstGeom>
          <a:solidFill>
            <a:srgbClr val="171717"/>
          </a:solidFill>
          <a:ln w="0">
            <a:noFill/>
          </a:ln>
        </p:spPr>
      </p:sp>
      <p:sp>
        <p:nvSpPr>
          <p:cNvPr id="10" name="text-279.2-92">
            <a:extLst>
              <a:ext uri="{FF2B5EF4-FFF2-40B4-BE49-F238E27FC236}">
                <ns2:creationId id="{ADC040A4-81B4-43F0-B535-702D587A0975}"/>
              </a:ext>
            </a:extLst>
          </p:cNvPr>
          <p:cNvSpPr>
            <a:spLocks noGrp="1"/>
          </p:cNvSpPr>
          <p:nvPr/>
        </p:nvSpPr>
        <p:spPr>
          <a:xfrm>
            <a:off x="876300" y="4706112"/>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2회</a:t>
            </a:r>
          </a:p>
        </p:txBody>
      </p:sp>
      <p:sp>
        <p:nvSpPr>
          <p:cNvPr id="11" name="text-358-64">
            <a:extLst>
              <a:ext uri="{FF2B5EF4-FFF2-40B4-BE49-F238E27FC236}">
                <ns2:creationId id="{EB86F009-5B57-4BAC-A7D1-9EE9F9733F55}"/>
              </a:ext>
            </a:extLst>
          </p:cNvPr>
          <p:cNvSpPr>
            <a:spLocks noGrp="1"/>
          </p:cNvSpPr>
          <p:nvPr/>
        </p:nvSpPr>
        <p:spPr>
          <a:xfrm>
            <a:off x="609600" y="522389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15F77C12-84E9-4EF4-BB60-0A5F05062565}"/>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74DD9F0F-0D2A-4883-988C-321B865CD322}"/>
              </a:ext>
            </a:extLst>
          </p:cNvPr>
          <p:cNvSpPr>
            <a:spLocks noGrp="1"/>
          </p:cNvSpPr>
          <p:nvPr/>
        </p:nvSpPr>
        <p:spPr>
          <a:xfrm>
            <a:off x="609600" y="5601081"/>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fib(4)가 직접 fib(2)를 한 번 호출한다. 또 fib(4)가 호출한 fib(3) 안에서 fib(2)를 한 번 더 호출하므로 총 2회이다.</a:t>
            </a:r>
          </a:p>
        </p:txBody>
      </p:sp>
    </p:spTree>
    <p:extLst>
      <p:ext uri="{BB962C8B-B14F-4D97-AF65-F5344CB8AC3E}">
        <ns3:creationId val="462685519"/>
      </p:ext>
    </p:extLst>
  </p:cSld>
</p:sld>
</file>

<file path=ppt/slides/slide8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924B5754-63D7-446C-9EEC-EE97D23D48A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CAFCF299-5340-42D5-9FDC-1486B80532EE}"/>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0FC3BEA-D169-4BF8-B66E-347A7F56DA4D}"/>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45  </a:t>
            </a:r>
          </a:p>
        </p:txBody>
      </p:sp>
      <p:sp>
        <p:nvSpPr>
          <p:cNvPr id="4" name="">
            <a:extLst>
              <a:ext uri="{FF2B5EF4-FFF2-40B4-BE49-F238E27FC236}">
                <ns2:creationId id="{DF6C659F-E430-425B-8B79-8B7BE9DCAFD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FEA3FBA-BBC6-44D1-ACFE-C4BAE5A8AC45}"/>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C0DA7332-69A1-4FBC-8933-98A87158067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739478C-89C8-4AE3-ADA5-8AE502E3F27E}"/>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089</a:t>
            </a:r>
          </a:p>
        </p:txBody>
      </p:sp>
      <p:sp>
        <p:nvSpPr>
          <p:cNvPr id="8" name="text-178-64">
            <a:extLst>
              <a:ext uri="{FF2B5EF4-FFF2-40B4-BE49-F238E27FC236}">
                <ns2:creationId id="{B14FC2A3-7842-4772-B137-8A7BD7DB10A1}"/>
              </a:ext>
            </a:extLst>
          </p:cNvPr>
          <p:cNvSpPr>
            <a:spLocks noGrp="1"/>
          </p:cNvSpPr>
          <p:nvPr/>
        </p:nvSpPr>
        <p:spPr>
          <a:xfrm>
            <a:off x="609600" y="1619250"/>
            <a:ext cx="10972800" cy="336956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Python 함수에서 n은 0 이상의 정수이다. 이전 호출 결과는 저장하지 않는다.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def fib(n):</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if n &lt;= 1:</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return n</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return fib(n - 1) + fib(n - 2)</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fib(4)를 한 번 실행할 때 함수 호출은 총 몇 회인가? 최초 fib(4)와 값을 바로 반환하는</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fib(0), fib(1)도 한 번 호출될 때마다 각각 센다.</a:t>
            </a:r>
          </a:p>
        </p:txBody>
      </p:sp>
      <p:sp>
        <p:nvSpPr>
          <p:cNvPr id="9" name="text-405-64">
            <a:extLst>
              <a:ext uri="{FF2B5EF4-FFF2-40B4-BE49-F238E27FC236}">
                <ns2:creationId id="{3B25A507-F180-4B6D-88BE-8E137EA77FBB}"/>
              </a:ext>
            </a:extLst>
          </p:cNvPr>
          <p:cNvSpPr>
            <a:spLocks noGrp="1"/>
          </p:cNvSpPr>
          <p:nvPr/>
        </p:nvSpPr>
        <p:spPr>
          <a:xfrm>
            <a:off x="609600" y="512216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05DF580A-73A7-4EE5-8967-A66D63352519}"/>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10C8EB88-EE2A-4E7C-AABD-28A619EB1AB2}"/>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5A34FBA6-7F1C-4D3B-9ABD-97F263F3819A}"/>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9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4377F619-DB4F-40CE-8C3D-4855AB055BA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3A07CCCC-7641-468D-A12D-C21E0B2989E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C01B2CE-037C-440D-B2A3-9BB7846B366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45  정답과 해설</a:t>
            </a:r>
          </a:p>
        </p:txBody>
      </p:sp>
      <p:sp>
        <p:nvSpPr>
          <p:cNvPr id="4" name="">
            <a:extLst>
              <a:ext uri="{FF2B5EF4-FFF2-40B4-BE49-F238E27FC236}">
                <ns2:creationId id="{5838C13E-B195-43AE-ACB2-F334FF02431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52648D4-49A7-4E47-BDB1-BD8CEFEB0765}"/>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9E0E620-81E1-49EF-83EA-EF55E655A32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7980FF4D-FC4D-4FEB-ACAB-72DDF9101880}"/>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090</a:t>
            </a:r>
          </a:p>
        </p:txBody>
      </p:sp>
      <p:sp>
        <p:nvSpPr>
          <p:cNvPr id="8" name="text-178-64">
            <a:extLst>
              <a:ext uri="{FF2B5EF4-FFF2-40B4-BE49-F238E27FC236}">
                <ns2:creationId id="{E3C57D63-EABA-4426-9B39-850DC3BED66F}"/>
              </a:ext>
            </a:extLst>
          </p:cNvPr>
          <p:cNvSpPr>
            <a:spLocks noGrp="1"/>
          </p:cNvSpPr>
          <p:nvPr/>
        </p:nvSpPr>
        <p:spPr>
          <a:xfrm>
            <a:off x="609600" y="1619250"/>
            <a:ext cx="10972800" cy="289636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다음 Python 함수에서 n은 0 이상의 정수이다. 이전 호출 결과는 저장하지 않는다.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def fib(n):</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if n &lt;= 1:</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return n</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return fib(n - 1) + fib(n - 2)</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fib(4)를 한 번 실행할 때 함수 호출은 총 몇 회인가? 최초 fib(4)와 값을 바로 반환하는 fib(0), fib(1)도 한 번</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호출될 때마다 각각 센다.</a:t>
            </a:r>
          </a:p>
        </p:txBody>
      </p:sp>
      <p:sp>
        <p:nvSpPr>
          <p:cNvPr id="9" name="">
            <a:extLst>
              <a:ext uri="{FF2B5EF4-FFF2-40B4-BE49-F238E27FC236}">
                <ns2:creationId id="{21826C09-C74E-400F-9D58-2B625D49E82B}"/>
              </a:ext>
            </a:extLst>
          </p:cNvPr>
          <p:cNvSpPr>
            <a:spLocks noGrp="1"/>
          </p:cNvSpPr>
          <p:nvPr/>
        </p:nvSpPr>
        <p:spPr>
          <a:xfrm>
            <a:off x="609600" y="4629912"/>
            <a:ext cx="10972800" cy="498729"/>
          </a:xfrm>
          <a:prstGeom prst="rect">
            <a:avLst/>
          </a:prstGeom>
          <a:solidFill>
            <a:srgbClr val="171717"/>
          </a:solidFill>
          <a:ln w="0">
            <a:noFill/>
          </a:ln>
        </p:spPr>
      </p:sp>
      <p:sp>
        <p:nvSpPr>
          <p:cNvPr id="10" name="text-279.2-92">
            <a:extLst>
              <a:ext uri="{FF2B5EF4-FFF2-40B4-BE49-F238E27FC236}">
                <ns2:creationId id="{1C2AA5E6-9E52-4BD8-A037-02B8F2CADEDB}"/>
              </a:ext>
            </a:extLst>
          </p:cNvPr>
          <p:cNvSpPr>
            <a:spLocks noGrp="1"/>
          </p:cNvSpPr>
          <p:nvPr/>
        </p:nvSpPr>
        <p:spPr>
          <a:xfrm>
            <a:off x="876300" y="4706112"/>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9회</a:t>
            </a:r>
          </a:p>
        </p:txBody>
      </p:sp>
      <p:sp>
        <p:nvSpPr>
          <p:cNvPr id="11" name="text-358-64">
            <a:extLst>
              <a:ext uri="{FF2B5EF4-FFF2-40B4-BE49-F238E27FC236}">
                <ns2:creationId id="{22779FA2-2116-4143-9469-12B85069FBBE}"/>
              </a:ext>
            </a:extLst>
          </p:cNvPr>
          <p:cNvSpPr>
            <a:spLocks noGrp="1"/>
          </p:cNvSpPr>
          <p:nvPr/>
        </p:nvSpPr>
        <p:spPr>
          <a:xfrm>
            <a:off x="609600" y="522389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CE3E0236-F616-4CF3-8785-3AEACA5A0B52}"/>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23A7F703-6119-406E-8966-387B86CDD381}"/>
              </a:ext>
            </a:extLst>
          </p:cNvPr>
          <p:cNvSpPr>
            <a:spLocks noGrp="1"/>
          </p:cNvSpPr>
          <p:nvPr/>
        </p:nvSpPr>
        <p:spPr>
          <a:xfrm>
            <a:off x="609600" y="5601081"/>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호출된 인수별로 세면 fib(4) 1회, fib(3) 1회, fib(2) 2회, fib(1) 3회, fib(0) 2회이다. 합은 1+1+2+3+2=9회이다.</a:t>
            </a:r>
          </a:p>
        </p:txBody>
      </p:sp>
    </p:spTree>
    <p:extLst>
      <p:ext uri="{BB962C8B-B14F-4D97-AF65-F5344CB8AC3E}">
        <ns3:creationId val="462685519"/>
      </p:ext>
    </p:extLst>
  </p:cSld>
</p:sld>
</file>

<file path=ppt/slides/slide9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BFE2B399-6ED3-434B-94B7-F8C284A11D38}"/>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EFFC5065-C0D2-4A92-B2DE-56BE8B05A4AA}"/>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1FC74FC-4F4B-4BA8-93EB-2EE0A747CC4B}"/>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46  </a:t>
            </a:r>
          </a:p>
        </p:txBody>
      </p:sp>
      <p:sp>
        <p:nvSpPr>
          <p:cNvPr id="4" name="">
            <a:extLst>
              <a:ext uri="{FF2B5EF4-FFF2-40B4-BE49-F238E27FC236}">
                <ns2:creationId id="{66724626-BB61-4C44-AC14-2E4F192228F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3BC04BC-5C72-49EB-AAD9-B8DF24657A37}"/>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E722FBD-E436-4899-82A6-D3D1B1CF5456}"/>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3EBDF9F0-FD75-4581-9F1B-E2E7FD49004C}"/>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091</a:t>
            </a:r>
          </a:p>
        </p:txBody>
      </p:sp>
      <p:sp>
        <p:nvSpPr>
          <p:cNvPr id="8" name="text-178-64">
            <a:extLst>
              <a:ext uri="{FF2B5EF4-FFF2-40B4-BE49-F238E27FC236}">
                <ns2:creationId id="{1539E0B9-F3C0-47F2-BDE0-95143BCF3A4D}"/>
              </a:ext>
            </a:extLst>
          </p:cNvPr>
          <p:cNvSpPr>
            <a:spLocks noGrp="1"/>
          </p:cNvSpPr>
          <p:nvPr/>
        </p:nvSpPr>
        <p:spPr>
          <a:xfrm>
            <a:off x="609600" y="1695450"/>
            <a:ext cx="10972800" cy="74676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[8,3,8,2,9]를 왼쪽부터 순차 탐색해 첫 8의 인덱스를 반환한다. 인덱스는 0부터이다.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반환값과 배열 원소를 8과 비교한 횟수는? 반복 조건 검사는 제외한다.</a:t>
            </a:r>
          </a:p>
        </p:txBody>
      </p:sp>
      <p:sp>
        <p:nvSpPr>
          <p:cNvPr id="9" name="text-405-64">
            <a:extLst>
              <a:ext uri="{FF2B5EF4-FFF2-40B4-BE49-F238E27FC236}">
                <ns2:creationId id="{F1499FAF-2ABE-4F23-A98E-3BAE14CBB93D}"/>
              </a:ext>
            </a:extLst>
          </p:cNvPr>
          <p:cNvSpPr>
            <a:spLocks noGrp="1"/>
          </p:cNvSpPr>
          <p:nvPr/>
        </p:nvSpPr>
        <p:spPr>
          <a:xfrm>
            <a:off x="609600" y="2594610"/>
            <a:ext cx="10972800" cy="342900"/>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00753492-EE9C-46F2-B5BA-36E91C21F8CF}"/>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ECB6F0A0-1440-42D7-BDCA-22A21BFF889D}"/>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5A659EC8-8905-43FE-814B-A5352B635A41}"/>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9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4A114545-54C4-429A-AA81-6996C4CE6C1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FD5F7AAE-2D83-4F43-AA3D-B231A3FA3521}"/>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3C2A829-28B1-4836-BEF9-10D425650277}"/>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46  정답과 해설</a:t>
            </a:r>
          </a:p>
        </p:txBody>
      </p:sp>
      <p:sp>
        <p:nvSpPr>
          <p:cNvPr id="4" name="">
            <a:extLst>
              <a:ext uri="{FF2B5EF4-FFF2-40B4-BE49-F238E27FC236}">
                <ns2:creationId id="{34ECA472-5A6B-41BE-9580-9116F957648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E6277FB-7C9F-4F46-A169-99A55A017649}"/>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BCA9ED2-FBFF-49EF-9B65-DA73EDACA866}"/>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EC5C3D2-FC2C-44AA-ABBD-48EE5B1EF5D5}"/>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092</a:t>
            </a:r>
          </a:p>
        </p:txBody>
      </p:sp>
      <p:sp>
        <p:nvSpPr>
          <p:cNvPr id="8" name="text-178-64">
            <a:extLst>
              <a:ext uri="{FF2B5EF4-FFF2-40B4-BE49-F238E27FC236}">
                <ns2:creationId id="{37BCD897-2C0E-4982-8983-5A8D9F724D30}"/>
              </a:ext>
            </a:extLst>
          </p:cNvPr>
          <p:cNvSpPr>
            <a:spLocks noGrp="1"/>
          </p:cNvSpPr>
          <p:nvPr/>
        </p:nvSpPr>
        <p:spPr>
          <a:xfrm>
            <a:off x="609600" y="1695450"/>
            <a:ext cx="10972800" cy="64008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배열 [8,3,8,2,9]를 왼쪽부터 순차 탐색해 첫 8의 인덱스를 반환한다. 인덱스는 0부터이다. 반환값과 배열</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원소를 8과 비교한 횟수는? 반복 조건 검사는 제외한다.</a:t>
            </a:r>
          </a:p>
        </p:txBody>
      </p:sp>
      <p:sp>
        <p:nvSpPr>
          <p:cNvPr id="9" name="">
            <a:extLst>
              <a:ext uri="{FF2B5EF4-FFF2-40B4-BE49-F238E27FC236}">
                <ns2:creationId id="{48598F66-73C3-41F2-BA1F-5C4CE30665A9}"/>
              </a:ext>
            </a:extLst>
          </p:cNvPr>
          <p:cNvSpPr>
            <a:spLocks noGrp="1"/>
          </p:cNvSpPr>
          <p:nvPr/>
        </p:nvSpPr>
        <p:spPr>
          <a:xfrm>
            <a:off x="609600" y="2430780"/>
            <a:ext cx="10972800" cy="550545"/>
          </a:xfrm>
          <a:prstGeom prst="rect">
            <a:avLst/>
          </a:prstGeom>
          <a:solidFill>
            <a:srgbClr val="171717"/>
          </a:solidFill>
          <a:ln w="0">
            <a:noFill/>
          </a:ln>
        </p:spPr>
      </p:sp>
      <p:sp>
        <p:nvSpPr>
          <p:cNvPr id="10" name="text-279.2-92">
            <a:extLst>
              <a:ext uri="{FF2B5EF4-FFF2-40B4-BE49-F238E27FC236}">
                <ns2:creationId id="{F55C475D-727F-45C0-9E9E-F7D2EE63FA1A}"/>
              </a:ext>
            </a:extLst>
          </p:cNvPr>
          <p:cNvSpPr>
            <a:spLocks noGrp="1"/>
          </p:cNvSpPr>
          <p:nvPr/>
        </p:nvSpPr>
        <p:spPr>
          <a:xfrm>
            <a:off x="876300" y="2487930"/>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0, 1회</a:t>
            </a:r>
          </a:p>
        </p:txBody>
      </p:sp>
      <p:sp>
        <p:nvSpPr>
          <p:cNvPr id="11" name="text-358-64">
            <a:extLst>
              <a:ext uri="{FF2B5EF4-FFF2-40B4-BE49-F238E27FC236}">
                <ns2:creationId id="{35D430F6-0C6A-4EC6-A6E5-202B6090D094}"/>
              </a:ext>
            </a:extLst>
          </p:cNvPr>
          <p:cNvSpPr>
            <a:spLocks noGrp="1"/>
          </p:cNvSpPr>
          <p:nvPr/>
        </p:nvSpPr>
        <p:spPr>
          <a:xfrm>
            <a:off x="609600" y="3076575"/>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AFCE3306-2368-4D3C-998D-F84F9615361A}"/>
              </a:ext>
            </a:extLst>
          </p:cNvPr>
          <p:cNvSpPr>
            <a:spLocks noGrp="1"/>
          </p:cNvSpPr>
          <p:nvPr/>
        </p:nvSpPr>
        <p:spPr>
          <a:xfrm>
            <a:off x="1752600" y="4177665"/>
            <a:ext cx="9829800" cy="9525"/>
          </a:xfrm>
          <a:prstGeom prst="rect">
            <a:avLst/>
          </a:prstGeom>
          <a:solidFill>
            <a:srgbClr val="D4D4D4"/>
          </a:solidFill>
          <a:ln w="0">
            <a:noFill/>
          </a:ln>
        </p:spPr>
      </p:sp>
      <p:sp>
        <p:nvSpPr>
          <p:cNvPr id="13" name="text-406-64">
            <a:extLst>
              <a:ext uri="{FF2B5EF4-FFF2-40B4-BE49-F238E27FC236}">
                <ns2:creationId id="{63AE1311-B942-4D18-AD86-1890C886B043}"/>
              </a:ext>
            </a:extLst>
          </p:cNvPr>
          <p:cNvSpPr>
            <a:spLocks noGrp="1"/>
          </p:cNvSpPr>
          <p:nvPr/>
        </p:nvSpPr>
        <p:spPr>
          <a:xfrm>
            <a:off x="609600" y="3590925"/>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첫 원소에서 즉시 일치하므로 뒤의 8은 확인하지 않는다.</a:t>
            </a:r>
          </a:p>
        </p:txBody>
      </p:sp>
    </p:spTree>
    <p:extLst>
      <p:ext uri="{BB962C8B-B14F-4D97-AF65-F5344CB8AC3E}">
        <ns3:creationId val="462685519"/>
      </p:ext>
    </p:extLst>
  </p:cSld>
</p:sld>
</file>

<file path=ppt/slides/slide9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616A75E8-BB87-48A4-8219-440425382D91}"/>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42C571A7-3E4C-419F-A878-BCAF11BB335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59415A0-8471-4B78-85A1-A4102B5B10E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47  </a:t>
            </a:r>
          </a:p>
        </p:txBody>
      </p:sp>
      <p:sp>
        <p:nvSpPr>
          <p:cNvPr id="4" name="">
            <a:extLst>
              <a:ext uri="{FF2B5EF4-FFF2-40B4-BE49-F238E27FC236}">
                <ns2:creationId id="{CEA240B5-857E-4978-ABA5-64AF1F4365B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35162D6-69E2-44B2-9C60-88A7C00C038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6961B04-4CA6-4F1F-BFDA-01697D403C5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E546C73-5ABF-449C-8DDB-B85555AFB8D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093</a:t>
            </a:r>
          </a:p>
        </p:txBody>
      </p:sp>
      <p:sp>
        <p:nvSpPr>
          <p:cNvPr id="8" name="text-178-64">
            <a:extLst>
              <a:ext uri="{FF2B5EF4-FFF2-40B4-BE49-F238E27FC236}">
                <ns2:creationId id="{D4355EE9-26AD-4B2C-A073-A14E9818E287}"/>
              </a:ext>
            </a:extLst>
          </p:cNvPr>
          <p:cNvSpPr>
            <a:spLocks noGrp="1"/>
          </p:cNvSpPr>
          <p:nvPr/>
        </p:nvSpPr>
        <p:spPr>
          <a:xfrm>
            <a:off x="609600" y="1695450"/>
            <a:ext cx="10972800" cy="74676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[8,3,8,2,9]에서 7을 왼쪽부터 순차 탐색한다. 실패 시 −1을 반환한다. 반환값과 배열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원소를 7과 비교한 횟수는? 반복 조건 검사는 제외한다.</a:t>
            </a:r>
          </a:p>
        </p:txBody>
      </p:sp>
      <p:sp>
        <p:nvSpPr>
          <p:cNvPr id="9" name="text-405-64">
            <a:extLst>
              <a:ext uri="{FF2B5EF4-FFF2-40B4-BE49-F238E27FC236}">
                <ns2:creationId id="{291BB850-F671-452A-8AA4-B723E800D284}"/>
              </a:ext>
            </a:extLst>
          </p:cNvPr>
          <p:cNvSpPr>
            <a:spLocks noGrp="1"/>
          </p:cNvSpPr>
          <p:nvPr/>
        </p:nvSpPr>
        <p:spPr>
          <a:xfrm>
            <a:off x="609600" y="2594610"/>
            <a:ext cx="10972800" cy="342900"/>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BEF0B466-BE00-4872-9635-4FB619E4AAC8}"/>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7F68F876-8DE5-47E8-9D59-53AADEC0078B}"/>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44E0DFC6-69F1-482E-97E2-8F9F58144A4D}"/>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9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FD845BB4-ED12-442D-942D-86E71FD9E40D}"/>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9A89E365-83F9-4FF8-8C8B-EABBFBC2694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C89470F-9AD3-422A-BB54-7E0EE738A6E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47  정답과 해설</a:t>
            </a:r>
          </a:p>
        </p:txBody>
      </p:sp>
      <p:sp>
        <p:nvSpPr>
          <p:cNvPr id="4" name="">
            <a:extLst>
              <a:ext uri="{FF2B5EF4-FFF2-40B4-BE49-F238E27FC236}">
                <ns2:creationId id="{28186D96-8FB8-425A-8864-309E7FA5842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5C21DE3-FE4A-4281-BD0B-3015E2A067F1}"/>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57073B2A-E90A-418C-8A50-6D1FBB51114F}"/>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08537F4-E9A3-475E-BDF1-D905CEB6475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094</a:t>
            </a:r>
          </a:p>
        </p:txBody>
      </p:sp>
      <p:sp>
        <p:nvSpPr>
          <p:cNvPr id="8" name="text-178-64">
            <a:extLst>
              <a:ext uri="{FF2B5EF4-FFF2-40B4-BE49-F238E27FC236}">
                <ns2:creationId id="{E254A01A-C493-4B50-808B-2B962FD8275A}"/>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배열 [8,3,8,2,9]에서 7을 왼쪽부터 순차 탐색한다. 실패 시 −1을 반환한다. 반환값과 배열 원소를 7과</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비교한 횟수는? 반복 조건 검사는 제외한다.</a:t>
            </a:r>
          </a:p>
        </p:txBody>
      </p:sp>
      <p:sp>
        <p:nvSpPr>
          <p:cNvPr id="9" name="">
            <a:extLst>
              <a:ext uri="{FF2B5EF4-FFF2-40B4-BE49-F238E27FC236}">
                <ns2:creationId id="{03175866-F940-4968-81F8-FAFC2D1F93FE}"/>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147AB2F5-5901-4621-85DB-0DE06E070B0A}"/>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−1, 5회</a:t>
            </a:r>
          </a:p>
        </p:txBody>
      </p:sp>
      <p:sp>
        <p:nvSpPr>
          <p:cNvPr id="11" name="text-324.4-64">
            <a:extLst>
              <a:ext uri="{FF2B5EF4-FFF2-40B4-BE49-F238E27FC236}">
                <ns2:creationId id="{6209EC9F-589D-46CB-8334-C124A0C9E98E}"/>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4935C5B5-D361-45D6-B1E7-F5F061113639}"/>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82FDEE7F-69B7-41B3-A37F-C869E4C200E7}"/>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모든 원소와 비교한 뒤 실패한다.</a:t>
            </a:r>
          </a:p>
        </p:txBody>
      </p:sp>
    </p:spTree>
    <p:extLst>
      <p:ext uri="{BB962C8B-B14F-4D97-AF65-F5344CB8AC3E}">
        <ns3:creationId val="462685519"/>
      </p:ext>
    </p:extLst>
  </p:cSld>
</p:sld>
</file>

<file path=ppt/slides/slide9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26D0DD57-B120-42C2-874A-751D51DB14A7}"/>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1E232FF4-DF79-4CFC-BF3E-A05D2B3C08C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17207F6-67A8-4201-AB09-CE02A942860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48  </a:t>
            </a:r>
          </a:p>
        </p:txBody>
      </p:sp>
      <p:sp>
        <p:nvSpPr>
          <p:cNvPr id="4" name="">
            <a:extLst>
              <a:ext uri="{FF2B5EF4-FFF2-40B4-BE49-F238E27FC236}">
                <ns2:creationId id="{EE760818-E3A8-46E8-A578-9EA5B3AF93F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0220969-B041-42A2-90D9-37C0C8C1461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3843F716-90C2-4544-B52D-C86798F8400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2DD4EDB-F967-4274-963D-205218E2413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095</a:t>
            </a:r>
          </a:p>
        </p:txBody>
      </p:sp>
      <p:sp>
        <p:nvSpPr>
          <p:cNvPr id="8" name="text-178-64">
            <a:extLst>
              <a:ext uri="{FF2B5EF4-FFF2-40B4-BE49-F238E27FC236}">
                <ns2:creationId id="{BA828166-A561-452D-A81B-760B98563B48}"/>
              </a:ext>
            </a:extLst>
          </p:cNvPr>
          <p:cNvSpPr>
            <a:spLocks noGrp="1"/>
          </p:cNvSpPr>
          <p:nvPr/>
        </p:nvSpPr>
        <p:spPr>
          <a:xfrm>
            <a:off x="609600" y="1619250"/>
            <a:ext cx="10972800" cy="152933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a=[2,5,8,11,14,17,20]에서 17을 이진 탐색한다. lo,hi는 양 끝을 포함한 후보 구간의</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첫·마지막 인덱스이다. 인덱스는 0부터이며 초기 (lo,hi)=(0,6)이다. lo≤hi인 동안 가운데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인덱스 mid=(lo+hi)//2를 확인한다. //는 정수 몫이다. a[mid]&lt;17이면 lo=mid+1,</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a[mid]&gt;17이면 hi=mid−1로 바꾸고, 같으면 즉시 끝낸다. 확인한 mid를 순서대로 쓰시오.</a:t>
            </a:r>
          </a:p>
        </p:txBody>
      </p:sp>
      <p:sp>
        <p:nvSpPr>
          <p:cNvPr id="9" name="text-405-64">
            <a:extLst>
              <a:ext uri="{FF2B5EF4-FFF2-40B4-BE49-F238E27FC236}">
                <ns2:creationId id="{926BCE6D-39FD-4A8F-883D-BAB89BF34E5E}"/>
              </a:ext>
            </a:extLst>
          </p:cNvPr>
          <p:cNvSpPr>
            <a:spLocks noGrp="1"/>
          </p:cNvSpPr>
          <p:nvPr/>
        </p:nvSpPr>
        <p:spPr>
          <a:xfrm>
            <a:off x="609600" y="328193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257DB65E-7651-47E8-A828-F7ABB5F2617D}"/>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074E433D-9648-4FD0-8257-2D9A69E6B162}"/>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42612954-068C-4BD2-BBF4-12D63A937EAC}"/>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9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2B4948DB-C61D-495A-8B99-EDBA3D6CEC29}"/>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8DB55443-C739-4CD8-AE28-A88AA77E9E7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2DE2E8A2-3DE7-4B0B-B8EA-8A3DD0354F3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48  정답과 해설</a:t>
            </a:r>
          </a:p>
        </p:txBody>
      </p:sp>
      <p:sp>
        <p:nvSpPr>
          <p:cNvPr id="4" name="">
            <a:extLst>
              <a:ext uri="{FF2B5EF4-FFF2-40B4-BE49-F238E27FC236}">
                <ns2:creationId id="{58964AB4-F1DB-4E8C-824B-AF8D7B080A7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9DACEA7-C840-4A98-839D-14F312ED548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4307D2A-3CE9-4721-A5F3-04A64658211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0A61508-C107-49E4-AC19-1EDA2A40F228}"/>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096</a:t>
            </a:r>
          </a:p>
        </p:txBody>
      </p:sp>
      <p:sp>
        <p:nvSpPr>
          <p:cNvPr id="8" name="text-178-64">
            <a:extLst>
              <a:ext uri="{FF2B5EF4-FFF2-40B4-BE49-F238E27FC236}">
                <ns2:creationId id="{77B7E06C-F34D-4F26-858B-8A3CC5249A74}"/>
              </a:ext>
            </a:extLst>
          </p:cNvPr>
          <p:cNvSpPr>
            <a:spLocks noGrp="1"/>
          </p:cNvSpPr>
          <p:nvPr/>
        </p:nvSpPr>
        <p:spPr>
          <a:xfrm>
            <a:off x="609600" y="1619250"/>
            <a:ext cx="10972800" cy="131902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배열 a=[2,5,8,11,14,17,20]에서 17을 이진 탐색한다. lo,hi는 양 끝을 포함한 후보 구간의 첫·마지막</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인덱스이다. 인덱스는 0부터이며 초기 (lo,hi)=(0,6)이다. lo≤hi인 동안 가운데 인덱스 mid=(lo+hi)//2를</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확인한다. //는 정수 몫이다. a[mid]&lt;17이면 lo=mid+1, a[mid]&gt;17이면 hi=mid−1로 바꾸고, 같으면 즉시</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끝낸다. 확인한 mid를 순서대로 쓰시오.</a:t>
            </a:r>
          </a:p>
        </p:txBody>
      </p:sp>
      <p:sp>
        <p:nvSpPr>
          <p:cNvPr id="9" name="">
            <a:extLst>
              <a:ext uri="{FF2B5EF4-FFF2-40B4-BE49-F238E27FC236}">
                <ns2:creationId id="{9CC2702B-2BD8-41A8-91D9-C10D1EF0AAF1}"/>
              </a:ext>
            </a:extLst>
          </p:cNvPr>
          <p:cNvSpPr>
            <a:spLocks noGrp="1"/>
          </p:cNvSpPr>
          <p:nvPr/>
        </p:nvSpPr>
        <p:spPr>
          <a:xfrm>
            <a:off x="609600" y="3052572"/>
            <a:ext cx="10972800" cy="498729"/>
          </a:xfrm>
          <a:prstGeom prst="rect">
            <a:avLst/>
          </a:prstGeom>
          <a:solidFill>
            <a:srgbClr val="171717"/>
          </a:solidFill>
          <a:ln w="0">
            <a:noFill/>
          </a:ln>
        </p:spPr>
      </p:sp>
      <p:sp>
        <p:nvSpPr>
          <p:cNvPr id="10" name="text-279.2-92">
            <a:extLst>
              <a:ext uri="{FF2B5EF4-FFF2-40B4-BE49-F238E27FC236}">
                <ns2:creationId id="{9FA5E6EA-826F-409C-9E66-E87DEA869F16}"/>
              </a:ext>
            </a:extLst>
          </p:cNvPr>
          <p:cNvSpPr>
            <a:spLocks noGrp="1"/>
          </p:cNvSpPr>
          <p:nvPr/>
        </p:nvSpPr>
        <p:spPr>
          <a:xfrm>
            <a:off x="876300" y="3128772"/>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3,5</a:t>
            </a:r>
          </a:p>
        </p:txBody>
      </p:sp>
      <p:sp>
        <p:nvSpPr>
          <p:cNvPr id="11" name="text-358-64">
            <a:extLst>
              <a:ext uri="{FF2B5EF4-FFF2-40B4-BE49-F238E27FC236}">
                <ns2:creationId id="{862A3892-D0AB-4338-A3B5-CA7580CB61E4}"/>
              </a:ext>
            </a:extLst>
          </p:cNvPr>
          <p:cNvSpPr>
            <a:spLocks noGrp="1"/>
          </p:cNvSpPr>
          <p:nvPr/>
        </p:nvSpPr>
        <p:spPr>
          <a:xfrm>
            <a:off x="609600" y="364655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93732373-D28F-42D3-A72E-C1584F542357}"/>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52D7E049-518C-41D3-B9DC-C111FC704D45}"/>
              </a:ext>
            </a:extLst>
          </p:cNvPr>
          <p:cNvSpPr>
            <a:spLocks noGrp="1"/>
          </p:cNvSpPr>
          <p:nvPr/>
        </p:nvSpPr>
        <p:spPr>
          <a:xfrm>
            <a:off x="609600" y="4023741"/>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mid=3의 11보다 목표가 커서 [4,6]으로 줄고 mid=5에서 찾는다.</a:t>
            </a:r>
          </a:p>
        </p:txBody>
      </p:sp>
    </p:spTree>
    <p:extLst>
      <p:ext uri="{BB962C8B-B14F-4D97-AF65-F5344CB8AC3E}">
        <ns3:creationId val="462685519"/>
      </p:ext>
    </p:extLst>
  </p:cSld>
</p:sld>
</file>

<file path=ppt/slides/slide9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9E9CA25B-58A0-4B44-BD17-0805C5F7BC5C}"/>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AE0990AF-CC91-413A-9AA1-A88598419CC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D073899-70CB-494E-99B6-E2C01171660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49  </a:t>
            </a:r>
          </a:p>
        </p:txBody>
      </p:sp>
      <p:sp>
        <p:nvSpPr>
          <p:cNvPr id="4" name="">
            <a:extLst>
              <a:ext uri="{FF2B5EF4-FFF2-40B4-BE49-F238E27FC236}">
                <ns2:creationId id="{A2E303AB-23B7-4480-A45F-9340311BCE5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2E3B607-C434-423A-8A2E-491DCF5AAD4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1F41FF8-A50C-4985-AE03-76B832281B3D}"/>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E465ACDA-961C-4C06-BE5B-CF62E564942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097</a:t>
            </a:r>
          </a:p>
        </p:txBody>
      </p:sp>
      <p:sp>
        <p:nvSpPr>
          <p:cNvPr id="8" name="text-178-64">
            <a:extLst>
              <a:ext uri="{FF2B5EF4-FFF2-40B4-BE49-F238E27FC236}">
                <ns2:creationId id="{1F316BBB-52EA-432A-A0A6-EE96FBABBD9B}"/>
              </a:ext>
            </a:extLst>
          </p:cNvPr>
          <p:cNvSpPr>
            <a:spLocks noGrp="1"/>
          </p:cNvSpPr>
          <p:nvPr/>
        </p:nvSpPr>
        <p:spPr>
          <a:xfrm>
            <a:off x="609600" y="1619250"/>
            <a:ext cx="10972800" cy="189738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a=[2,5,8,11,14,17,20]에서 6을 이진 탐색한다. 인덱스는 0부터이며 lo,hi는 양 끝을</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포함한 후보 구간의 첫·마지막 인덱스이다. 처음에는 (lo,hi)=(0,6)이다. lo≤hi인 동안 가운데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인덱스 mid=(lo+hi)//2를 확인한다. //는 정수 몫이다. a[mid]&lt;6이면 lo=mid+1,</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a[mid]&gt;6이면 hi=mid−1이고, 같으면 즉시 끝낸다. 확인한 mid를 순서대로 쓰고 종료 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(lo,hi)를 쓰시오.</a:t>
            </a:r>
          </a:p>
        </p:txBody>
      </p:sp>
      <p:sp>
        <p:nvSpPr>
          <p:cNvPr id="9" name="text-405-64">
            <a:extLst>
              <a:ext uri="{FF2B5EF4-FFF2-40B4-BE49-F238E27FC236}">
                <ns2:creationId id="{E80B099C-E370-4F65-B308-87A9864D9BB5}"/>
              </a:ext>
            </a:extLst>
          </p:cNvPr>
          <p:cNvSpPr>
            <a:spLocks noGrp="1"/>
          </p:cNvSpPr>
          <p:nvPr/>
        </p:nvSpPr>
        <p:spPr>
          <a:xfrm>
            <a:off x="609600" y="3649980"/>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54C065DE-E18B-4FF4-83F0-4FD3B0C2FC1C}"/>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AD731C66-7845-4DBB-A3CD-63258A075BBC}"/>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4645899D-FBCC-4B39-B806-C96206571869}"/>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9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B3D467FC-0FC2-45BA-80ED-59E0566B23F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E802DA08-75A1-4FA0-AF79-1409F8EBD15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F2D8125-3C45-466F-BEA4-3C831100C963}"/>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49  정답과 해설</a:t>
            </a:r>
          </a:p>
        </p:txBody>
      </p:sp>
      <p:sp>
        <p:nvSpPr>
          <p:cNvPr id="4" name="">
            <a:extLst>
              <a:ext uri="{FF2B5EF4-FFF2-40B4-BE49-F238E27FC236}">
                <ns2:creationId id="{50033A0D-9C4A-40A5-B34E-4FFCD7C311A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7D6796E-2AF2-4AB3-BE7C-7A5A01C3C8F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FDE8FE62-5D0A-432F-AD95-7F48C60C1015}"/>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31509088-08CD-4692-BE1E-43DF6F9C176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098</a:t>
            </a:r>
          </a:p>
        </p:txBody>
      </p:sp>
      <p:sp>
        <p:nvSpPr>
          <p:cNvPr id="8" name="text-178-64">
            <a:extLst>
              <a:ext uri="{FF2B5EF4-FFF2-40B4-BE49-F238E27FC236}">
                <ns2:creationId id="{27526EFD-4FD0-49E1-9F79-3BECE8409641}"/>
              </a:ext>
            </a:extLst>
          </p:cNvPr>
          <p:cNvSpPr>
            <a:spLocks noGrp="1"/>
          </p:cNvSpPr>
          <p:nvPr/>
        </p:nvSpPr>
        <p:spPr>
          <a:xfrm>
            <a:off x="609600" y="1619250"/>
            <a:ext cx="10972800" cy="131902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배열 a=[2,5,8,11,14,17,20]에서 6을 이진 탐색한다. 인덱스는 0부터이며 lo,hi는 양 끝을 포함한 후보</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구간의 첫·마지막 인덱스이다. 처음에는 (lo,hi)=(0,6)이다. lo≤hi인 동안 가운데 인덱스 mid=(lo+hi)//2를</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확인한다. //는 정수 몫이다. a[mid]&lt;6이면 lo=mid+1, a[mid]&gt;6이면 hi=mid−1이고, 같으면 즉시 끝낸다.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확인한 mid를 순서대로 쓰고 종료 시 (lo,hi)를 쓰시오.</a:t>
            </a:r>
          </a:p>
        </p:txBody>
      </p:sp>
      <p:sp>
        <p:nvSpPr>
          <p:cNvPr id="9" name="">
            <a:extLst>
              <a:ext uri="{FF2B5EF4-FFF2-40B4-BE49-F238E27FC236}">
                <ns2:creationId id="{5C976C79-3ABE-488B-AC91-5A6B341110FD}"/>
              </a:ext>
            </a:extLst>
          </p:cNvPr>
          <p:cNvSpPr>
            <a:spLocks noGrp="1"/>
          </p:cNvSpPr>
          <p:nvPr/>
        </p:nvSpPr>
        <p:spPr>
          <a:xfrm>
            <a:off x="609600" y="3052572"/>
            <a:ext cx="10972800" cy="498729"/>
          </a:xfrm>
          <a:prstGeom prst="rect">
            <a:avLst/>
          </a:prstGeom>
          <a:solidFill>
            <a:srgbClr val="171717"/>
          </a:solidFill>
          <a:ln w="0">
            <a:noFill/>
          </a:ln>
        </p:spPr>
      </p:sp>
      <p:sp>
        <p:nvSpPr>
          <p:cNvPr id="10" name="text-279.2-92">
            <a:extLst>
              <a:ext uri="{FF2B5EF4-FFF2-40B4-BE49-F238E27FC236}">
                <ns2:creationId id="{DF74E1C8-8657-4D7D-9BFC-59EB944903D4}"/>
              </a:ext>
            </a:extLst>
          </p:cNvPr>
          <p:cNvSpPr>
            <a:spLocks noGrp="1"/>
          </p:cNvSpPr>
          <p:nvPr/>
        </p:nvSpPr>
        <p:spPr>
          <a:xfrm>
            <a:off x="876300" y="3128772"/>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3,1,2; (2,1)</a:t>
            </a:r>
          </a:p>
        </p:txBody>
      </p:sp>
      <p:sp>
        <p:nvSpPr>
          <p:cNvPr id="11" name="text-358-64">
            <a:extLst>
              <a:ext uri="{FF2B5EF4-FFF2-40B4-BE49-F238E27FC236}">
                <ns2:creationId id="{C7CF3C08-0408-4BC8-8FEA-F29A23A08655}"/>
              </a:ext>
            </a:extLst>
          </p:cNvPr>
          <p:cNvSpPr>
            <a:spLocks noGrp="1"/>
          </p:cNvSpPr>
          <p:nvPr/>
        </p:nvSpPr>
        <p:spPr>
          <a:xfrm>
            <a:off x="609600" y="364655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4C4480A7-3008-45AF-874C-B8611E2F3876}"/>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7F0DA4A0-4F9D-4A12-B43C-A8ED666D0828}"/>
              </a:ext>
            </a:extLst>
          </p:cNvPr>
          <p:cNvSpPr>
            <a:spLocks noGrp="1"/>
          </p:cNvSpPr>
          <p:nvPr/>
        </p:nvSpPr>
        <p:spPr>
          <a:xfrm>
            <a:off x="609600" y="4023741"/>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11보다 작아 [0,2], 5보다 커서 [2,2], 8보다 작아 hi=1이 된다.</a:t>
            </a:r>
          </a:p>
        </p:txBody>
      </p:sp>
    </p:spTree>
    <p:extLst>
      <p:ext uri="{BB962C8B-B14F-4D97-AF65-F5344CB8AC3E}">
        <ns3:creationId val="462685519"/>
      </p:ext>
    </p:extLst>
  </p:cSld>
</p:sld>
</file>

<file path=ppt/slides/slide9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BCAC6905-CB2A-44F7-80F8-D74B5CB9D3D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DD90D08B-49A1-4348-ACA7-39E177B96BC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4305F95E-6656-4B1D-A9D0-787FF057DC8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50  </a:t>
            </a:r>
          </a:p>
        </p:txBody>
      </p:sp>
      <p:sp>
        <p:nvSpPr>
          <p:cNvPr id="4" name="">
            <a:extLst>
              <a:ext uri="{FF2B5EF4-FFF2-40B4-BE49-F238E27FC236}">
                <ns2:creationId id="{086392A6-0590-49F3-9C75-69F8F87F946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DEB2572-82E1-44A6-858C-0B13414E6F8D}"/>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34458D7-CDD2-4992-9A99-CFEF76AD1404}"/>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F81FC26-0297-41FA-8878-12D030EA461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099</a:t>
            </a:r>
          </a:p>
        </p:txBody>
      </p:sp>
      <p:sp>
        <p:nvSpPr>
          <p:cNvPr id="8" name="text-178-64">
            <a:extLst>
              <a:ext uri="{FF2B5EF4-FFF2-40B4-BE49-F238E27FC236}">
                <ns2:creationId id="{4494DCAD-AE73-4645-B54F-E1B9E5042C00}"/>
              </a:ext>
            </a:extLst>
          </p:cNvPr>
          <p:cNvSpPr>
            <a:spLocks noGrp="1"/>
          </p:cNvSpPr>
          <p:nvPr/>
        </p:nvSpPr>
        <p:spPr>
          <a:xfrm>
            <a:off x="609600" y="1695450"/>
            <a:ext cx="10972800" cy="99212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오름차순 배열의 후보 인덱스가 양 끝을 포함한 [0,9]이다. 가운데 인덱스는 (0+9)/2를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내림해 고른다. 그 원소보다 목표값이 크면, 검사한 원소를 제외한 다음 후보 구간과 원소</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수는?</a:t>
            </a:r>
          </a:p>
        </p:txBody>
      </p:sp>
      <p:sp>
        <p:nvSpPr>
          <p:cNvPr id="9" name="text-405-64">
            <a:extLst>
              <a:ext uri="{FF2B5EF4-FFF2-40B4-BE49-F238E27FC236}">
                <ns2:creationId id="{5507DC18-6C1C-4537-A71C-2821A8D99434}"/>
              </a:ext>
            </a:extLst>
          </p:cNvPr>
          <p:cNvSpPr>
            <a:spLocks noGrp="1"/>
          </p:cNvSpPr>
          <p:nvPr/>
        </p:nvSpPr>
        <p:spPr>
          <a:xfrm>
            <a:off x="609600" y="2839974"/>
            <a:ext cx="10972800" cy="342900"/>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D13C3D89-A4C8-41BD-B6AA-5E7EA10EFB83}"/>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706697D4-5CB7-49BF-8C56-1599D03FB4A0}"/>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7870310B-F3CE-4517-ABE0-46B9310FA2EF}"/>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10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DC0600AA-B59F-40F6-93C8-BE32F40A2C3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8C03E40D-3954-4C68-A252-E8903308F84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8FB3CAD-1788-4340-B026-5E46573E1FF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50  정답과 해설</a:t>
            </a:r>
          </a:p>
        </p:txBody>
      </p:sp>
      <p:sp>
        <p:nvSpPr>
          <p:cNvPr id="4" name="">
            <a:extLst>
              <a:ext uri="{FF2B5EF4-FFF2-40B4-BE49-F238E27FC236}">
                <ns2:creationId id="{4BD36A92-0F01-4901-939E-5D978F8090F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588D359-A886-4C90-A3D1-E6CB5FFFD407}"/>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84B194F-A5EE-445F-B174-6884FCDE6723}"/>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98D860F-3424-48C9-9960-595537FC62C4}"/>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100</a:t>
            </a:r>
          </a:p>
        </p:txBody>
      </p:sp>
      <p:sp>
        <p:nvSpPr>
          <p:cNvPr id="8" name="text-178-64">
            <a:extLst>
              <a:ext uri="{FF2B5EF4-FFF2-40B4-BE49-F238E27FC236}">
                <ns2:creationId id="{8243DF95-67C7-4317-BE6E-9F24C18B2713}"/>
              </a:ext>
            </a:extLst>
          </p:cNvPr>
          <p:cNvSpPr>
            <a:spLocks noGrp="1"/>
          </p:cNvSpPr>
          <p:nvPr/>
        </p:nvSpPr>
        <p:spPr>
          <a:xfrm>
            <a:off x="609600" y="1695450"/>
            <a:ext cx="10972800" cy="64008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오름차순 배열의 후보 인덱스가 양 끝을 포함한 [0,9]이다. 가운데 인덱스는 (0+9)/2를 내림해 고른다. 그</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원소보다 목표값이 크면, 검사한 원소를 제외한 다음 후보 구간과 원소 수는?</a:t>
            </a:r>
          </a:p>
        </p:txBody>
      </p:sp>
      <p:sp>
        <p:nvSpPr>
          <p:cNvPr id="9" name="">
            <a:extLst>
              <a:ext uri="{FF2B5EF4-FFF2-40B4-BE49-F238E27FC236}">
                <ns2:creationId id="{E063D381-13A4-4B4C-8A12-3BEA5E49DE21}"/>
              </a:ext>
            </a:extLst>
          </p:cNvPr>
          <p:cNvSpPr>
            <a:spLocks noGrp="1"/>
          </p:cNvSpPr>
          <p:nvPr/>
        </p:nvSpPr>
        <p:spPr>
          <a:xfrm>
            <a:off x="609600" y="2430780"/>
            <a:ext cx="10972800" cy="550545"/>
          </a:xfrm>
          <a:prstGeom prst="rect">
            <a:avLst/>
          </a:prstGeom>
          <a:solidFill>
            <a:srgbClr val="171717"/>
          </a:solidFill>
          <a:ln w="0">
            <a:noFill/>
          </a:ln>
        </p:spPr>
      </p:sp>
      <p:sp>
        <p:nvSpPr>
          <p:cNvPr id="10" name="text-279.2-92">
            <a:extLst>
              <a:ext uri="{FF2B5EF4-FFF2-40B4-BE49-F238E27FC236}">
                <ns2:creationId id="{2767F928-AE7F-4FAA-BC59-8C425ABA7B42}"/>
              </a:ext>
            </a:extLst>
          </p:cNvPr>
          <p:cNvSpPr>
            <a:spLocks noGrp="1"/>
          </p:cNvSpPr>
          <p:nvPr/>
        </p:nvSpPr>
        <p:spPr>
          <a:xfrm>
            <a:off x="876300" y="2487930"/>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[5,9], 5개</a:t>
            </a:r>
          </a:p>
        </p:txBody>
      </p:sp>
      <p:sp>
        <p:nvSpPr>
          <p:cNvPr id="11" name="text-358-64">
            <a:extLst>
              <a:ext uri="{FF2B5EF4-FFF2-40B4-BE49-F238E27FC236}">
                <ns2:creationId id="{AB6A6090-26FF-4FA1-B274-858D54FD9C76}"/>
              </a:ext>
            </a:extLst>
          </p:cNvPr>
          <p:cNvSpPr>
            <a:spLocks noGrp="1"/>
          </p:cNvSpPr>
          <p:nvPr/>
        </p:nvSpPr>
        <p:spPr>
          <a:xfrm>
            <a:off x="609600" y="3076575"/>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B47B2303-6DE5-4859-BF96-BE6432D9E4C2}"/>
              </a:ext>
            </a:extLst>
          </p:cNvPr>
          <p:cNvSpPr>
            <a:spLocks noGrp="1"/>
          </p:cNvSpPr>
          <p:nvPr/>
        </p:nvSpPr>
        <p:spPr>
          <a:xfrm>
            <a:off x="1752600" y="4177665"/>
            <a:ext cx="9829800" cy="9525"/>
          </a:xfrm>
          <a:prstGeom prst="rect">
            <a:avLst/>
          </a:prstGeom>
          <a:solidFill>
            <a:srgbClr val="D4D4D4"/>
          </a:solidFill>
          <a:ln w="0">
            <a:noFill/>
          </a:ln>
        </p:spPr>
      </p:sp>
      <p:sp>
        <p:nvSpPr>
          <p:cNvPr id="13" name="text-406-64">
            <a:extLst>
              <a:ext uri="{FF2B5EF4-FFF2-40B4-BE49-F238E27FC236}">
                <ns2:creationId id="{0D849821-1ACC-427D-BF4F-AFD82A8C0AA6}"/>
              </a:ext>
            </a:extLst>
          </p:cNvPr>
          <p:cNvSpPr>
            <a:spLocks noGrp="1"/>
          </p:cNvSpPr>
          <p:nvPr/>
        </p:nvSpPr>
        <p:spPr>
          <a:xfrm>
            <a:off x="609600" y="3590925"/>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mid=4이며 mid를 제외한 오른쪽 다섯 원소만 남는다.</a:t>
            </a:r>
          </a:p>
        </p:txBody>
      </p:sp>
    </p:spTree>
    <p:extLst>
      <p:ext uri="{BB962C8B-B14F-4D97-AF65-F5344CB8AC3E}">
        <ns3:creationId val="462685519"/>
      </p:ext>
    </p:extLst>
  </p:cSld>
</p:sld>
</file>

<file path=ppt/slides/slide10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CCFDF874-664B-409D-B296-BD9270E6FEAC}"/>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8A8C2A73-9CA9-4F74-803C-56964650617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0C1B8693-363A-4E47-ADDB-95A833EF018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53  </a:t>
            </a:r>
          </a:p>
        </p:txBody>
      </p:sp>
      <p:sp>
        <p:nvSpPr>
          <p:cNvPr id="4" name="">
            <a:extLst>
              <a:ext uri="{FF2B5EF4-FFF2-40B4-BE49-F238E27FC236}">
                <ns2:creationId id="{22178913-1033-4972-AE0A-1913A98A4D7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A63314A-0F85-4C56-A1AD-CAA930F12C3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56BE77B-8351-4928-A904-88AF791C0CD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029282E-B563-4FF5-B391-0519955FB4E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105</a:t>
            </a:r>
          </a:p>
        </p:txBody>
      </p:sp>
      <p:sp>
        <p:nvSpPr>
          <p:cNvPr id="8" name="text-178-64">
            <a:extLst>
              <a:ext uri="{FF2B5EF4-FFF2-40B4-BE49-F238E27FC236}">
                <ns2:creationId id="{AEEBCB25-54A7-4F9D-8D19-5B862D63E65C}"/>
              </a:ext>
            </a:extLst>
          </p:cNvPr>
          <p:cNvSpPr>
            <a:spLocks noGrp="1"/>
          </p:cNvSpPr>
          <p:nvPr/>
        </p:nvSpPr>
        <p:spPr>
          <a:xfrm>
            <a:off x="609600" y="1619250"/>
            <a:ext cx="10972800" cy="226542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서로 다른 15개 원소가 오름차순인 배열 a에서 목표값 x를 이진 탐색한다. lo,hi는 양 끝을</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포함한 후보 구간의 첫·마지막 인덱스이다. 인덱스는 0부터이며 초기 (lo,hi)=(0,14)이다.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lo≤hi인 동안 가운데 인덱스 mid=(lo+hi)//2를 확인한다. //는 정수 몫이다. a[mid]=x이면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즉시 끝낸다. 작으면 lo=mid+1, 크면 hi=mid−1로 바꾸고, lo&gt;hi이면 실패로 끝낸다.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목표값이 존재하거나 존재하지 않는 모든 경우 중, 가운데 원소를 확인하는 반복 횟수의</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최댓값은?</a:t>
            </a:r>
          </a:p>
        </p:txBody>
      </p:sp>
      <p:sp>
        <p:nvSpPr>
          <p:cNvPr id="9" name="text-405-64">
            <a:extLst>
              <a:ext uri="{FF2B5EF4-FFF2-40B4-BE49-F238E27FC236}">
                <ns2:creationId id="{9ED35843-C4E2-432C-B6CF-86CD23897543}"/>
              </a:ext>
            </a:extLst>
          </p:cNvPr>
          <p:cNvSpPr>
            <a:spLocks noGrp="1"/>
          </p:cNvSpPr>
          <p:nvPr/>
        </p:nvSpPr>
        <p:spPr>
          <a:xfrm>
            <a:off x="609600" y="4018026"/>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68E5690D-529D-41A6-B0EB-A23CC70C13F3}"/>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964A5131-6E69-4F70-96C4-03D8A71F5F19}"/>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4C56F1CD-D280-4F90-B491-9390113B0CC0}"/>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0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B01B1158-967F-41F3-BD42-BBA6FC146D8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65FFF5E1-1715-40A5-B1A9-7F2E33A9785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237AECC-E090-4D54-BBAA-FC99EB3FD637}"/>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53  정답과 해설</a:t>
            </a:r>
          </a:p>
        </p:txBody>
      </p:sp>
      <p:sp>
        <p:nvSpPr>
          <p:cNvPr id="4" name="">
            <a:extLst>
              <a:ext uri="{FF2B5EF4-FFF2-40B4-BE49-F238E27FC236}">
                <ns2:creationId id="{3B402CD5-627A-4266-A5E4-BB3C8C9680D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16F3674-A2B4-4C92-94A4-EB6A0704754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6F01477-BAF7-4831-9681-7CE69D604624}"/>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C70252E7-3928-407E-9745-FC93FDB8C005}"/>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106</a:t>
            </a:r>
          </a:p>
        </p:txBody>
      </p:sp>
      <p:sp>
        <p:nvSpPr>
          <p:cNvPr id="8" name="text-178-64">
            <a:extLst>
              <a:ext uri="{FF2B5EF4-FFF2-40B4-BE49-F238E27FC236}">
                <ns2:creationId id="{05985920-1380-44A7-B010-AEC6BECDEB2A}"/>
              </a:ext>
            </a:extLst>
          </p:cNvPr>
          <p:cNvSpPr>
            <a:spLocks noGrp="1"/>
          </p:cNvSpPr>
          <p:nvPr/>
        </p:nvSpPr>
        <p:spPr>
          <a:xfrm>
            <a:off x="609600" y="1619250"/>
            <a:ext cx="10972800" cy="163449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서로 다른 15개 원소가 오름차순인 배열 a에서 목표값 x를 이진 탐색한다. lo,hi는 양 끝을 포함한 후보</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구간의 첫·마지막 인덱스이다. 인덱스는 0부터이며 초기 (lo,hi)=(0,14)이다. lo≤hi인 동안 가운데 인덱스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mid=(lo+hi)//2를 확인한다. //는 정수 몫이다. a[mid]=x이면 즉시 끝낸다. 작으면 lo=mid+1, 크면</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hi=mid−1로 바꾸고, lo&gt;hi이면 실패로 끝낸다. 목표값이 존재하거나 존재하지 않는 모든 경우 중, 가운데</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원소를 확인하는 반복 횟수의 최댓값은?</a:t>
            </a:r>
          </a:p>
        </p:txBody>
      </p:sp>
      <p:sp>
        <p:nvSpPr>
          <p:cNvPr id="9" name="">
            <a:extLst>
              <a:ext uri="{FF2B5EF4-FFF2-40B4-BE49-F238E27FC236}">
                <ns2:creationId id="{A146E210-1855-4642-AE67-8443680B81C1}"/>
              </a:ext>
            </a:extLst>
          </p:cNvPr>
          <p:cNvSpPr>
            <a:spLocks noGrp="1"/>
          </p:cNvSpPr>
          <p:nvPr/>
        </p:nvSpPr>
        <p:spPr>
          <a:xfrm>
            <a:off x="609600" y="3368040"/>
            <a:ext cx="10972800" cy="498729"/>
          </a:xfrm>
          <a:prstGeom prst="rect">
            <a:avLst/>
          </a:prstGeom>
          <a:solidFill>
            <a:srgbClr val="171717"/>
          </a:solidFill>
          <a:ln w="0">
            <a:noFill/>
          </a:ln>
        </p:spPr>
      </p:sp>
      <p:sp>
        <p:nvSpPr>
          <p:cNvPr id="10" name="text-245.6-92">
            <a:extLst>
              <a:ext uri="{FF2B5EF4-FFF2-40B4-BE49-F238E27FC236}">
                <ns2:creationId id="{F3157724-AB7B-4604-AE2D-26E46EB9F4A1}"/>
              </a:ext>
            </a:extLst>
          </p:cNvPr>
          <p:cNvSpPr>
            <a:spLocks noGrp="1"/>
          </p:cNvSpPr>
          <p:nvPr/>
        </p:nvSpPr>
        <p:spPr>
          <a:xfrm>
            <a:off x="876300" y="3444240"/>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4회</a:t>
            </a:r>
          </a:p>
        </p:txBody>
      </p:sp>
      <p:sp>
        <p:nvSpPr>
          <p:cNvPr id="11" name="text-324.4-64">
            <a:extLst>
              <a:ext uri="{FF2B5EF4-FFF2-40B4-BE49-F238E27FC236}">
                <ns2:creationId id="{553A39F3-BB14-42D1-95A3-DE4F1DE6A3C5}"/>
              </a:ext>
            </a:extLst>
          </p:cNvPr>
          <p:cNvSpPr>
            <a:spLocks noGrp="1"/>
          </p:cNvSpPr>
          <p:nvPr/>
        </p:nvSpPr>
        <p:spPr>
          <a:xfrm>
            <a:off x="609600" y="3962019"/>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0676DA12-851E-42D8-BEAF-7DF81F7DE8E0}"/>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4C656301-D741-4D4E-94DE-1B797E92A6C3}"/>
              </a:ext>
            </a:extLst>
          </p:cNvPr>
          <p:cNvSpPr>
            <a:spLocks noGrp="1"/>
          </p:cNvSpPr>
          <p:nvPr/>
        </p:nvSpPr>
        <p:spPr>
          <a:xfrm>
            <a:off x="609600" y="4339209"/>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후보 수 15→7→3→1을 차례로 검사한다. 루프 한 번의 목표값 비교 묶음을 한 회로 센다.</a:t>
            </a:r>
          </a:p>
        </p:txBody>
      </p:sp>
    </p:spTree>
    <p:extLst>
      <p:ext uri="{BB962C8B-B14F-4D97-AF65-F5344CB8AC3E}">
        <ns3:creationId val="462685519"/>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28-64">
            <a:extLst xmlns:a="http://schemas.openxmlformats.org/drawingml/2006/main">
              <a:ext uri="{FF2B5EF4-FFF2-40B4-BE49-F238E27FC236}">
                <a16:creationId xmlns:a16="http://schemas.microsoft.com/office/drawing/2014/main" id="{0D027EA3-E622-4D5C-A356-398080C57547}"/>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xmlns:a="http://schemas.openxmlformats.org/drawingml/2006/main">
              <a:ext uri="{FF2B5EF4-FFF2-40B4-BE49-F238E27FC236}">
                <a16:creationId xmlns:a16="http://schemas.microsoft.com/office/drawing/2014/main" id="{DC2A3A0B-9613-4777-A580-E9D2ED78A885}"/>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77C530DE-530B-4D84-BD46-18B59C8CD303}"/>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54  </a:t>
            </a:r>
          </a:p>
        </p:txBody>
      </p:sp>
      <p:sp>
        <p:nvSpPr>
          <p:cNvPr id="4" name="">
            <a:extLst xmlns:a="http://schemas.openxmlformats.org/drawingml/2006/main">
              <a:ext uri="{FF2B5EF4-FFF2-40B4-BE49-F238E27FC236}">
                <a16:creationId xmlns:a16="http://schemas.microsoft.com/office/drawing/2014/main" id="{28C65C72-3A00-409A-9C64-56A3075495E5}"/>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25C7994-F10D-4C6B-8E16-3B2995D0BE1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7AEA8E74-6815-41BF-BF94-34D2DF0133E3}"/>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2D7514C7-6D8B-4741-ABDB-861B76BE666E}"/>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107</a:t>
            </a:r>
          </a:p>
        </p:txBody>
      </p:sp>
      <p:sp>
        <p:nvSpPr>
          <p:cNvPr id="8" name="text-178-64">
            <a:extLst xmlns:a="http://schemas.openxmlformats.org/drawingml/2006/main">
              <a:ext uri="{FF2B5EF4-FFF2-40B4-BE49-F238E27FC236}">
                <a16:creationId xmlns:a16="http://schemas.microsoft.com/office/drawing/2014/main" id="{B072BD47-B50D-455B-A8DD-B8C269829196}"/>
              </a:ext>
            </a:extLst>
          </p:cNvPr>
          <p:cNvSpPr>
            <a:spLocks xmlns:a="http://schemas.openxmlformats.org/drawingml/2006/main" noGrp="1"/>
          </p:cNvSpPr>
          <p:nvPr/>
        </p:nvSpPr>
        <p:spPr>
          <a:xfrm xmlns:a="http://schemas.openxmlformats.org/drawingml/2006/main">
            <a:off x="609600" y="1695450"/>
            <a:ext cx="10972800" cy="2487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spcAft>
                <a:spcPts val="400"/>
              </a:spcAft>
              <a:buNone/>
              <a:defRPr sz="2100" b="0" i="0">
                <a:solidFill>
                  <a:srgbClr val="171717"/>
                </a:solidFill>
                <a:latin typeface="Malgun Gothic"/>
                <a:ea typeface="Malgun Gothic"/>
                <a:cs typeface="Malgun Gothic"/>
              </a:defRPr>
            </a:pPr>
            <a:r>
              <a:rPr sz="1800">
                <a:latin typeface="Malgun Gothic"/>
              </a:rPr>
              <a:t>오름차순 배열 a = [10, 20, 30, 40, 50]에서 값 40을 찾으려고 한다.</a:t>
            </a:r>
          </a:p>
          <a:p xmlns:a="http://schemas.openxmlformats.org/drawingml/2006/main">
            <a:pPr>
              <a:spcAft>
                <a:spcPts val="400"/>
              </a:spcAft>
            </a:pPr>
            <a:r>
              <a:rPr sz="1800">
                <a:latin typeface="Malgun Gothic"/>
              </a:rPr>
              <a:t>인덱스는 0부터 시작하며, a[i]는 인덱스 i에 있는 값이다.</a:t>
            </a:r>
          </a:p>
          <a:p xmlns:a="http://schemas.openxmlformats.org/drawingml/2006/main">
            <a:pPr>
              <a:spcAft>
                <a:spcPts val="400"/>
              </a:spcAft>
            </a:pPr>
            <a:r>
              <a:rPr sz="1800">
                <a:latin typeface="Malgun Gothic"/>
              </a:rPr>
              <a:t>탐색 구간의 시작 인덱스 lo = 0, 끝 인덱스 hi = 4, 찾을 값 x = 40이다.</a:t>
            </a:r>
          </a:p>
          <a:p xmlns:a="http://schemas.openxmlformats.org/drawingml/2006/main">
            <a:pPr>
              <a:spcAft>
                <a:spcPts val="400"/>
              </a:spcAft>
            </a:pPr>
            <a:r>
              <a:rPr sz="1800">
                <a:latin typeface="Malgun Gothic"/>
              </a:rPr>
              <a:t>보간 탐색에서 처음 확인할 인덱스 pos를 다음 식으로 계산한다.</a:t>
            </a:r>
          </a:p>
          <a:p xmlns:a="http://schemas.openxmlformats.org/drawingml/2006/main">
            <a:pPr>
              <a:spcAft>
                <a:spcPts val="400"/>
              </a:spcAft>
            </a:pPr>
            <a:r>
              <a:rPr sz="1800">
                <a:latin typeface="Malgun Gothic"/>
              </a:rPr>
              <a:t>pos = lo + ((x - a[lo]) * (hi - lo)) // (a[hi] - a[lo])</a:t>
            </a:r>
          </a:p>
          <a:p xmlns:a="http://schemas.openxmlformats.org/drawingml/2006/main">
            <a:pPr>
              <a:spcAft>
                <a:spcPts val="400"/>
              </a:spcAft>
            </a:pPr>
            <a:r>
              <a:rPr sz="1800">
                <a:latin typeface="Malgun Gothic"/>
              </a:rPr>
              <a:t>여기서 *는 곱셈, //는 나눗셈의 정수 몫이다. 예: 7 // 2 = 3.</a:t>
            </a:r>
          </a:p>
          <a:p xmlns:a="http://schemas.openxmlformats.org/drawingml/2006/main">
            <a:pPr>
              <a:spcAft>
                <a:spcPts val="400"/>
              </a:spcAft>
            </a:pPr>
            <a:r>
              <a:rPr sz="1800">
                <a:latin typeface="Malgun Gothic"/>
              </a:rPr>
              <a:t>위 식에 주어진 값을 대입하여 인덱스 pos를 구하시오.</a:t>
            </a:r>
          </a:p>
        </p:txBody>
      </p:sp>
      <p:sp>
        <p:nvSpPr>
          <p:cNvPr id="9" name="text-405-64">
            <a:extLst xmlns:a="http://schemas.openxmlformats.org/drawingml/2006/main">
              <a:ext uri="{FF2B5EF4-FFF2-40B4-BE49-F238E27FC236}">
                <a16:creationId xmlns:a16="http://schemas.microsoft.com/office/drawing/2014/main" id="{BFB3DB18-6DA8-4B26-BE65-A187180B7322}"/>
              </a:ext>
            </a:extLst>
          </p:cNvPr>
          <p:cNvSpPr>
            <a:spLocks xmlns:a="http://schemas.openxmlformats.org/drawingml/2006/main" noGrp="1"/>
          </p:cNvSpPr>
          <p:nvPr/>
        </p:nvSpPr>
        <p:spPr>
          <a:xfrm xmlns:a="http://schemas.openxmlformats.org/drawingml/2006/main">
            <a:off x="609600" y="438912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spcAft>
                <a:spcPts val="400"/>
              </a:spcAft>
              <a:buNone/>
              <a:defRPr sz="1575" b="0" i="0">
                <a:solidFill>
                  <a:srgbClr val="606060"/>
                </a:solidFill>
                <a:latin typeface="Malgun Gothic"/>
                <a:ea typeface="Malgun Gothic"/>
                <a:cs typeface="Malgun Gothic"/>
              </a:defRPr>
            </a:pPr>
            <a:r>
              <a:rPr sz="1575">
                <a:latin typeface="Malgun Gothic"/>
              </a:rPr>
              <a:t>인덱스 값과, 값을 대입한 계산식 한 줄을 함께 쓰시오.</a:t>
            </a:r>
          </a:p>
        </p:txBody>
      </p:sp>
      <p:sp>
        <p:nvSpPr>
          <p:cNvPr id="10" name="">
            <a:extLst xmlns:a="http://schemas.openxmlformats.org/drawingml/2006/main">
              <a:ext uri="{FF2B5EF4-FFF2-40B4-BE49-F238E27FC236}">
                <a16:creationId xmlns:a16="http://schemas.microsoft.com/office/drawing/2014/main" id="{BBACA652-02E5-4652-AA8E-81866D57D880}"/>
              </a:ext>
            </a:extLst>
          </p:cNvPr>
          <p:cNvSpPr>
            <a:spLocks xmlns:a="http://schemas.openxmlformats.org/drawingml/2006/main" noGrp="1"/>
          </p:cNvSpPr>
          <p:nvPr/>
        </p:nvSpPr>
        <p:spPr>
          <a:xfrm xmlns:a="http://schemas.openxmlformats.org/drawingml/2006/main">
            <a:off x="609600" y="493776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B4E9067-1A36-4A24-B851-697D6A2307CE}"/>
              </a:ext>
            </a:extLst>
          </p:cNvPr>
          <p:cNvSpPr>
            <a:spLocks xmlns:a="http://schemas.openxmlformats.org/drawingml/2006/main" noGrp="1"/>
          </p:cNvSpPr>
          <p:nvPr/>
        </p:nvSpPr>
        <p:spPr>
          <a:xfrm xmlns:a="http://schemas.openxmlformats.org/drawingml/2006/main">
            <a:off x="609600" y="544068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2D2400A-AD7C-4DF5-B246-EBCF5989E838}"/>
              </a:ext>
            </a:extLst>
          </p:cNvPr>
          <p:cNvSpPr>
            <a:spLocks xmlns:a="http://schemas.openxmlformats.org/drawingml/2006/main" noGrp="1"/>
          </p:cNvSpPr>
          <p:nvPr/>
        </p:nvSpPr>
        <p:spPr>
          <a:xfrm xmlns:a="http://schemas.openxmlformats.org/drawingml/2006/main">
            <a:off x="609600" y="59436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Tree>
    <p:extLst>
      <p:ext uri="{BB962C8B-B14F-4D97-AF65-F5344CB8AC3E}">
        <p14:creationId xmlns:p14="http://schemas.microsoft.com/office/powerpoint/2010/main" val="462685519"/>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B6106BCC-EF41-440C-9085-5C1214FE1769}"/>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xmlns:a="http://schemas.openxmlformats.org/drawingml/2006/main">
              <a:ext uri="{FF2B5EF4-FFF2-40B4-BE49-F238E27FC236}">
                <a16:creationId xmlns:a16="http://schemas.microsoft.com/office/drawing/2014/main" id="{23088D41-B698-4698-8C07-96C3172B85C3}"/>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A5F4BA9C-AB27-4F89-B543-130F068C29B5}"/>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54  정답과 해설</a:t>
            </a:r>
          </a:p>
        </p:txBody>
      </p:sp>
      <p:sp>
        <p:nvSpPr>
          <p:cNvPr id="4" name="">
            <a:extLst xmlns:a="http://schemas.openxmlformats.org/drawingml/2006/main">
              <a:ext uri="{FF2B5EF4-FFF2-40B4-BE49-F238E27FC236}">
                <a16:creationId xmlns:a16="http://schemas.microsoft.com/office/drawing/2014/main" id="{0E0BE8CC-0720-4549-ACE4-DC12F0AF2EAC}"/>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8C5D2BA-0C7E-440C-BE32-63C1AAAF3D6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F89CD754-5902-4702-A138-84BA84C002E3}"/>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537E1B96-10E6-4A89-94D2-6A984B2F82AB}"/>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108</a:t>
            </a:r>
          </a:p>
        </p:txBody>
      </p:sp>
      <p:sp>
        <p:nvSpPr>
          <p:cNvPr id="8" name="text-178-64">
            <a:extLst xmlns:a="http://schemas.openxmlformats.org/drawingml/2006/main">
              <a:ext uri="{FF2B5EF4-FFF2-40B4-BE49-F238E27FC236}">
                <a16:creationId xmlns:a16="http://schemas.microsoft.com/office/drawing/2014/main" id="{692E3527-1994-459D-84EF-6C804A9A78A5}"/>
              </a:ext>
            </a:extLst>
          </p:cNvPr>
          <p:cNvSpPr>
            <a:spLocks xmlns:a="http://schemas.openxmlformats.org/drawingml/2006/main" noGrp="1"/>
          </p:cNvSpPr>
          <p:nvPr/>
        </p:nvSpPr>
        <p:spPr>
          <a:xfrm xmlns:a="http://schemas.openxmlformats.org/drawingml/2006/main">
            <a:off x="609600" y="1695450"/>
            <a:ext cx="10972800" cy="74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a:latin typeface="Malgun Gothic"/>
              </a:rPr>
              <a:t>a = [10, 20, 30, 40, 50], lo = 0, hi = 4, x = 40</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a:latin typeface="Malgun Gothic"/>
              </a:rPr>
              <a:t>보간 탐색의 첫 확인 위치 pos를 계산한다.</a:t>
            </a:r>
          </a:p>
        </p:txBody>
      </p:sp>
      <p:sp>
        <p:nvSpPr>
          <p:cNvPr id="9" name="">
            <a:extLst xmlns:a="http://schemas.openxmlformats.org/drawingml/2006/main">
              <a:ext uri="{FF2B5EF4-FFF2-40B4-BE49-F238E27FC236}">
                <a16:creationId xmlns:a16="http://schemas.microsoft.com/office/drawing/2014/main" id="{F78139B1-9F6A-4F36-9BE0-C912D2B37FB0}"/>
              </a:ext>
            </a:extLst>
          </p:cNvPr>
          <p:cNvSpPr>
            <a:spLocks xmlns:a="http://schemas.openxmlformats.org/drawingml/2006/main" noGrp="1"/>
          </p:cNvSpPr>
          <p:nvPr/>
        </p:nvSpPr>
        <p:spPr>
          <a:xfrm xmlns:a="http://schemas.openxmlformats.org/drawingml/2006/main">
            <a:off x="609600" y="2635250"/>
            <a:ext cx="10972800" cy="65532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79.2-92">
            <a:extLst xmlns:a="http://schemas.openxmlformats.org/drawingml/2006/main">
              <a:ext uri="{FF2B5EF4-FFF2-40B4-BE49-F238E27FC236}">
                <a16:creationId xmlns:a16="http://schemas.microsoft.com/office/drawing/2014/main" id="{C31C0A07-99E5-4DB2-B2C3-FE1B6A349168}"/>
              </a:ext>
            </a:extLst>
          </p:cNvPr>
          <p:cNvSpPr>
            <a:spLocks xmlns:a="http://schemas.openxmlformats.org/drawingml/2006/main" noGrp="1"/>
          </p:cNvSpPr>
          <p:nvPr/>
        </p:nvSpPr>
        <p:spPr>
          <a:xfrm xmlns:a="http://schemas.openxmlformats.org/drawingml/2006/main">
            <a:off x="876300" y="2762250"/>
            <a:ext cx="10439400" cy="452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2025" b="1" i="0">
                <a:solidFill>
                  <a:srgbClr val="FFFFFF"/>
                </a:solidFill>
                <a:latin typeface="Malgun Gothic"/>
                <a:ea typeface="Malgun Gothic"/>
                <a:cs typeface="Malgun Gothic"/>
              </a:rPr>
              <a:t>pos = 3  (네 번째 원소의 값은 40)</a:t>
            </a:r>
          </a:p>
        </p:txBody>
      </p:sp>
      <p:sp>
        <p:nvSpPr>
          <p:cNvPr id="11" name="text-358-64">
            <a:extLst xmlns:a="http://schemas.openxmlformats.org/drawingml/2006/main">
              <a:ext uri="{FF2B5EF4-FFF2-40B4-BE49-F238E27FC236}">
                <a16:creationId xmlns:a16="http://schemas.microsoft.com/office/drawing/2014/main" id="{1B909603-FE59-4E0A-A892-3C6F7E979A7F}"/>
              </a:ext>
            </a:extLst>
          </p:cNvPr>
          <p:cNvSpPr>
            <a:spLocks xmlns:a="http://schemas.openxmlformats.org/drawingml/2006/main" noGrp="1"/>
          </p:cNvSpPr>
          <p:nvPr/>
        </p:nvSpPr>
        <p:spPr>
          <a:xfrm xmlns:a="http://schemas.openxmlformats.org/drawingml/2006/main">
            <a:off x="609600" y="3569970"/>
            <a:ext cx="11811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8C7D251D-F23A-4E7B-9840-2596271F3469}"/>
              </a:ext>
            </a:extLst>
          </p:cNvPr>
          <p:cNvSpPr>
            <a:spLocks xmlns:a="http://schemas.openxmlformats.org/drawingml/2006/main" noGrp="1"/>
          </p:cNvSpPr>
          <p:nvPr/>
        </p:nvSpPr>
        <p:spPr>
          <a:xfrm xmlns:a="http://schemas.openxmlformats.org/drawingml/2006/main">
            <a:off x="1752600" y="378587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406-64">
            <a:extLst xmlns:a="http://schemas.openxmlformats.org/drawingml/2006/main">
              <a:ext uri="{FF2B5EF4-FFF2-40B4-BE49-F238E27FC236}">
                <a16:creationId xmlns:a16="http://schemas.microsoft.com/office/drawing/2014/main" id="{C94F52C4-AF96-42D0-95BD-D2595A40FE32}"/>
              </a:ext>
            </a:extLst>
          </p:cNvPr>
          <p:cNvSpPr>
            <a:spLocks xmlns:a="http://schemas.openxmlformats.org/drawingml/2006/main" noGrp="1"/>
          </p:cNvSpPr>
          <p:nvPr/>
        </p:nvSpPr>
        <p:spPr>
          <a:xfrm xmlns:a="http://schemas.openxmlformats.org/drawingml/2006/main">
            <a:off x="609600" y="4077970"/>
            <a:ext cx="109728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a:latin typeface="Malgun Gothic"/>
              </a:rPr>
              <a:t>양 끝의 값: a[lo] = 10, a[hi] = 50</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a:latin typeface="Malgun Gothic"/>
              </a:rPr>
              <a:t>pos = 0 + ((40 − 10) × (4 − 0)) // (50 − 10)</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a:latin typeface="Malgun Gothic"/>
              </a:rPr>
              <a:t>       = 120 // 40 = 3</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a:latin typeface="Malgun Gothic"/>
              </a:rPr>
              <a:t>인덱스는 0부터 세므로, 인덱스 3은 네 번째 원소이다.</a:t>
            </a:r>
          </a:p>
        </p:txBody>
      </p:sp>
    </p:spTree>
    <p:extLst>
      <p:ext uri="{BB962C8B-B14F-4D97-AF65-F5344CB8AC3E}">
        <p14:creationId xmlns:p14="http://schemas.microsoft.com/office/powerpoint/2010/main" val="462685519"/>
      </p:ext>
    </p:extLst>
  </p:cSld>
</p:sld>
</file>

<file path=ppt/slides/slide10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4EBDA856-D3F8-4C16-9072-D372F9FC140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7757EC01-CCBD-49A1-BB79-DEDCCFD37A27}"/>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B49EF69-7422-4F5C-AFF5-13474F4188B0}"/>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55  </a:t>
            </a:r>
          </a:p>
        </p:txBody>
      </p:sp>
      <p:sp>
        <p:nvSpPr>
          <p:cNvPr id="4" name="">
            <a:extLst>
              <a:ext uri="{FF2B5EF4-FFF2-40B4-BE49-F238E27FC236}">
                <ns2:creationId id="{C0D29471-E92E-4181-843E-ABE6BD56F8D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9DA803C-187F-4F07-83DA-1D420CC19B6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4C50562D-3DC4-4179-9928-A51F8B5F822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13F852D3-4D24-49F3-9B1C-05DE08A6030E}"/>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109</a:t>
            </a:r>
          </a:p>
        </p:txBody>
      </p:sp>
      <p:sp>
        <p:nvSpPr>
          <p:cNvPr id="8" name="text-178-64">
            <a:extLst>
              <a:ext uri="{FF2B5EF4-FFF2-40B4-BE49-F238E27FC236}">
                <ns2:creationId id="{411A62C0-15D0-4BAD-A18E-E62588CF8767}"/>
              </a:ext>
            </a:extLst>
          </p:cNvPr>
          <p:cNvSpPr>
            <a:spLocks noGrp="1"/>
          </p:cNvSpPr>
          <p:nvPr/>
        </p:nvSpPr>
        <p:spPr>
          <a:xfrm>
            <a:off x="609600" y="1695450"/>
            <a:ext cx="10972800" cy="99212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최대공약수를 구하는 유클리드 알고리즘은 b≠0인 동안 (a,b)를 (b,a%b)로 동시에 갱신한다.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%는 나머지 연산이다. (84,30)에서 시작해 각 갱신 직후의 쌍을 종료할 때까지 순서대로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쓰시오.</a:t>
            </a:r>
          </a:p>
        </p:txBody>
      </p:sp>
      <p:sp>
        <p:nvSpPr>
          <p:cNvPr id="9" name="text-405-64">
            <a:extLst>
              <a:ext uri="{FF2B5EF4-FFF2-40B4-BE49-F238E27FC236}">
                <ns2:creationId id="{D113F760-2795-4CA0-BB8C-F960373B24FC}"/>
              </a:ext>
            </a:extLst>
          </p:cNvPr>
          <p:cNvSpPr>
            <a:spLocks noGrp="1"/>
          </p:cNvSpPr>
          <p:nvPr/>
        </p:nvSpPr>
        <p:spPr>
          <a:xfrm>
            <a:off x="609600" y="2839974"/>
            <a:ext cx="10972800" cy="342900"/>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85B340C7-A1C4-4223-9D7C-2D555178031E}"/>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53FEE6D0-4EB6-4C15-859D-9FDE74B9A948}"/>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AE468197-249A-4020-A31B-FF0098D499DC}"/>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1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54640195-8A3F-4A6D-8311-B71665ED658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762AB461-9AD6-445A-B927-9C7304AAA9B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4D3B31E-3B86-4FF3-9750-A70A33F5C63D}"/>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55  정답과 해설</a:t>
            </a:r>
          </a:p>
        </p:txBody>
      </p:sp>
      <p:sp>
        <p:nvSpPr>
          <p:cNvPr id="4" name="">
            <a:extLst>
              <a:ext uri="{FF2B5EF4-FFF2-40B4-BE49-F238E27FC236}">
                <ns2:creationId id="{74526AB6-63D1-4B14-835B-FC61E553D04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4D9D0A3-4673-4D63-8883-A155B7117161}"/>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F5BC34D2-D3B5-4E5C-8D12-B74A033E8BD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DF52C14-0EC4-4AA4-8743-DDCA8F7348E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110</a:t>
            </a:r>
          </a:p>
        </p:txBody>
      </p:sp>
      <p:sp>
        <p:nvSpPr>
          <p:cNvPr id="8" name="text-178-64">
            <a:extLst>
              <a:ext uri="{FF2B5EF4-FFF2-40B4-BE49-F238E27FC236}">
                <ns2:creationId id="{1DBA9634-0D6E-4CB0-8A9D-D8026AB595B8}"/>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최대공약수를 구하는 유클리드 알고리즘은 b≠0인 동안 (a,b)를 (b,a%b)로 동시에 갱신한다. %는 나머지</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연산이다. (84,30)에서 시작해 각 갱신 직후의 쌍을 종료할 때까지 순서대로 쓰시오.</a:t>
            </a:r>
          </a:p>
        </p:txBody>
      </p:sp>
      <p:sp>
        <p:nvSpPr>
          <p:cNvPr id="9" name="">
            <a:extLst>
              <a:ext uri="{FF2B5EF4-FFF2-40B4-BE49-F238E27FC236}">
                <ns2:creationId id="{2C5578C3-2D07-4B40-A69F-E8F64844FE19}"/>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A3BBFE07-FAD6-4ACA-A7F2-A8D667B5C98F}"/>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(30,24)→(24,6)→(6,0)</a:t>
            </a:r>
          </a:p>
        </p:txBody>
      </p:sp>
      <p:sp>
        <p:nvSpPr>
          <p:cNvPr id="11" name="text-324.4-64">
            <a:extLst>
              <a:ext uri="{FF2B5EF4-FFF2-40B4-BE49-F238E27FC236}">
                <ns2:creationId id="{A4595788-D65B-43B4-A952-09C035EF8B47}"/>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E138A2C0-C46A-4536-B61F-9EB00FEB527E}"/>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EF2FE98E-C34B-46ED-8D58-38BD22FDD320}"/>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84 mod 30=24, 30 mod 24=6, 24 mod 6=0이다. 최대공약수는 6이다.</a:t>
            </a:r>
          </a:p>
        </p:txBody>
      </p:sp>
    </p:spTree>
    <p:extLst>
      <p:ext uri="{BB962C8B-B14F-4D97-AF65-F5344CB8AC3E}">
        <ns3:creationId val="462685519"/>
      </p:ext>
    </p:extLst>
  </p:cSld>
</p:sld>
</file>

<file path=ppt/slides/slide1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2C303DF7-B652-4530-81FC-1D91F25E1D36}"/>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70775AE9-F8CE-4690-BE36-4F08AD1783F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AAB47EE-BEC7-4A3E-8F6F-387FDE1741D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56  </a:t>
            </a:r>
          </a:p>
        </p:txBody>
      </p:sp>
      <p:sp>
        <p:nvSpPr>
          <p:cNvPr id="4" name="">
            <a:extLst>
              <a:ext uri="{FF2B5EF4-FFF2-40B4-BE49-F238E27FC236}">
                <ns2:creationId id="{D397BE91-EC6F-4406-9298-C142972333B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A49B159-49E4-4865-B996-7015AF00BC8A}"/>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591E45EF-17F0-47D3-BC4E-E412E735B518}"/>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C9A22A6D-9507-4E21-823D-31446E83706C}"/>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111</a:t>
            </a:r>
          </a:p>
        </p:txBody>
      </p:sp>
      <p:sp>
        <p:nvSpPr>
          <p:cNvPr id="8" name="text-178-64">
            <a:extLst>
              <a:ext uri="{FF2B5EF4-FFF2-40B4-BE49-F238E27FC236}">
                <ns2:creationId id="{3FD26BCD-16A3-4EC7-8D8F-28BF9FBE64EF}"/>
              </a:ext>
            </a:extLst>
          </p:cNvPr>
          <p:cNvSpPr>
            <a:spLocks noGrp="1"/>
          </p:cNvSpPr>
          <p:nvPr/>
        </p:nvSpPr>
        <p:spPr>
          <a:xfrm>
            <a:off x="609600" y="1695450"/>
            <a:ext cx="10972800" cy="99212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유클리드 알고리즘은 b≠0인 동안 (a,b)를 (b,a%b)로 동시에 바꾸고, b=0이면 a를 반환한다.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%는 나머지 연산이다. (35,64)에서 시작할 때 첫 갱신 직후의 쌍과 최종 최대공약수를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쓰시오.</a:t>
            </a:r>
          </a:p>
        </p:txBody>
      </p:sp>
      <p:sp>
        <p:nvSpPr>
          <p:cNvPr id="9" name="text-405-64">
            <a:extLst>
              <a:ext uri="{FF2B5EF4-FFF2-40B4-BE49-F238E27FC236}">
                <ns2:creationId id="{A20F2B8F-C368-4BB0-93DA-DBC9FB029647}"/>
              </a:ext>
            </a:extLst>
          </p:cNvPr>
          <p:cNvSpPr>
            <a:spLocks noGrp="1"/>
          </p:cNvSpPr>
          <p:nvPr/>
        </p:nvSpPr>
        <p:spPr>
          <a:xfrm>
            <a:off x="609600" y="2839974"/>
            <a:ext cx="10972800" cy="342900"/>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098B716A-D58D-47BA-8E98-0AD67DE53350}"/>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51743F0E-75A2-4125-8233-0F5E631D9DB0}"/>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3CC9C249-2649-486B-AB0D-4E66B0ABA401}"/>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1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A9A5EB88-9CE1-49F1-A43F-FD6D6BD44F5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AE01FAF9-722D-49A0-9432-9EA4EB37BB7F}"/>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7A41427-2AE7-4416-96B1-7B2C04B707D7}"/>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56  정답과 해설</a:t>
            </a:r>
          </a:p>
        </p:txBody>
      </p:sp>
      <p:sp>
        <p:nvSpPr>
          <p:cNvPr id="4" name="">
            <a:extLst>
              <a:ext uri="{FF2B5EF4-FFF2-40B4-BE49-F238E27FC236}">
                <ns2:creationId id="{37464915-D5F5-4858-A687-47FE5889250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56FD2C8-932B-4EC5-A3B1-1A92B2BC2FD5}"/>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8C695FE6-EF25-4D70-9F02-E9241C1493D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32DBE29E-25E8-495B-953B-149AE9005D1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112</a:t>
            </a:r>
          </a:p>
        </p:txBody>
      </p:sp>
      <p:sp>
        <p:nvSpPr>
          <p:cNvPr id="8" name="text-178-64">
            <a:extLst>
              <a:ext uri="{FF2B5EF4-FFF2-40B4-BE49-F238E27FC236}">
                <ns2:creationId id="{825A1E17-20D1-4A3A-B5BE-67191B7E9166}"/>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유클리드 알고리즘은 b≠0인 동안 (a,b)를 (b,a%b)로 동시에 바꾸고, b=0이면 a를 반환한다. %는 나머지</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연산이다. (35,64)에서 시작할 때 첫 갱신 직후의 쌍과 최종 최대공약수를 쓰시오.</a:t>
            </a:r>
          </a:p>
        </p:txBody>
      </p:sp>
      <p:sp>
        <p:nvSpPr>
          <p:cNvPr id="9" name="">
            <a:extLst>
              <a:ext uri="{FF2B5EF4-FFF2-40B4-BE49-F238E27FC236}">
                <ns2:creationId id="{80C35698-C096-4B9D-B4EA-FD5974A6B7B6}"/>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C46D61C9-3DFE-42E1-8BAC-3BC2F612A289}"/>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(64,35), 1</a:t>
            </a:r>
          </a:p>
        </p:txBody>
      </p:sp>
      <p:sp>
        <p:nvSpPr>
          <p:cNvPr id="11" name="text-324.4-64">
            <a:extLst>
              <a:ext uri="{FF2B5EF4-FFF2-40B4-BE49-F238E27FC236}">
                <ns2:creationId id="{E4863813-479E-44D1-9C16-BEEAEEDBB5D5}"/>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20D7F85A-926D-44B7-A575-D97E0B538FA3}"/>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FD8B9469-6154-42EB-AEA2-93EEB225DDA1}"/>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a&lt;b여도 a mod b=a이므로 먼저 자리가 바뀐다. 이후 64,35,29,6,5,1,0으로 진행한다.</a:t>
            </a:r>
          </a:p>
        </p:txBody>
      </p:sp>
    </p:spTree>
    <p:extLst>
      <p:ext uri="{BB962C8B-B14F-4D97-AF65-F5344CB8AC3E}">
        <ns3:creationId val="462685519"/>
      </p:ext>
    </p:extLst>
  </p:cSld>
</p:sld>
</file>

<file path=ppt/slides/slide1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41D88501-6DE6-4288-9922-A8700281B6F8}"/>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7E614416-8611-4121-ADB1-7CC3A0B600CB}"/>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D13458C8-8919-47D8-9D6D-BB5B49DB277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57  </a:t>
            </a:r>
          </a:p>
        </p:txBody>
      </p:sp>
      <p:sp>
        <p:nvSpPr>
          <p:cNvPr id="4" name="">
            <a:extLst>
              <a:ext uri="{FF2B5EF4-FFF2-40B4-BE49-F238E27FC236}">
                <ns2:creationId id="{BF6C8568-4935-4672-BAE6-42CE69FA02C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CF0B7C6-F0A9-471B-9D35-6A8C13D1B7C4}"/>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365F050B-B698-4CCC-8D4C-AB983FEDC32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744F2F9-2C7C-43A7-A0AF-9026F1E3EF9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113</a:t>
            </a:r>
          </a:p>
        </p:txBody>
      </p:sp>
      <p:sp>
        <p:nvSpPr>
          <p:cNvPr id="8" name="text-178-64">
            <a:extLst>
              <a:ext uri="{FF2B5EF4-FFF2-40B4-BE49-F238E27FC236}">
                <ns2:creationId id="{8A6B7DC2-35D6-4344-8AE0-6F930D129181}"/>
              </a:ext>
            </a:extLst>
          </p:cNvPr>
          <p:cNvSpPr>
            <a:spLocks noGrp="1"/>
          </p:cNvSpPr>
          <p:nvPr/>
        </p:nvSpPr>
        <p:spPr>
          <a:xfrm>
            <a:off x="609600" y="16954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유클리드 알고리즘은 b≠0인 동안 (a,b)를 (b,a%b)로 바꾸고 b=0이면 a를 반환한다. %는</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나머지 연산이다. gcd(0,18)을 이 규칙 그대로 실행할 때 % 연산 횟수와 반환값은?</a:t>
            </a:r>
          </a:p>
        </p:txBody>
      </p:sp>
      <p:sp>
        <p:nvSpPr>
          <p:cNvPr id="9" name="text-405-64">
            <a:extLst>
              <a:ext uri="{FF2B5EF4-FFF2-40B4-BE49-F238E27FC236}">
                <ns2:creationId id="{9D18BE85-5A84-4F4C-80D8-CC9BB6EF30B8}"/>
              </a:ext>
            </a:extLst>
          </p:cNvPr>
          <p:cNvSpPr>
            <a:spLocks noGrp="1"/>
          </p:cNvSpPr>
          <p:nvPr/>
        </p:nvSpPr>
        <p:spPr>
          <a:xfrm>
            <a:off x="609600" y="2509266"/>
            <a:ext cx="10972800" cy="342900"/>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AB2ED6F8-9DA4-437B-8B5B-B7B08816EF22}"/>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1FEF4F0E-EB61-4DC3-B742-DAEA6EFFD208}"/>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4D1B1BE6-65B2-4A4D-BF3B-824A7A7BC837}"/>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1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BAA59DD8-8D9D-459B-8194-209ED8C30CE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3658D0FA-F8A8-4F02-995B-2D6AEAF3AA9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A330F9D-8976-4690-983C-36C0EDC63A8C}"/>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57  정답과 해설</a:t>
            </a:r>
          </a:p>
        </p:txBody>
      </p:sp>
      <p:sp>
        <p:nvSpPr>
          <p:cNvPr id="4" name="">
            <a:extLst>
              <a:ext uri="{FF2B5EF4-FFF2-40B4-BE49-F238E27FC236}">
                <ns2:creationId id="{6D7CFD6E-7686-46C1-8C14-1F18768C74A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84F4D0C-0898-4CE7-B4E4-4E0B4AC4B7A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C7BEDF23-B7C3-4486-95FA-C37965035E16}"/>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1C233CDA-95E6-4DA0-ACCB-CA203C8DB80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114</a:t>
            </a:r>
          </a:p>
        </p:txBody>
      </p:sp>
      <p:sp>
        <p:nvSpPr>
          <p:cNvPr id="8" name="text-178-64">
            <a:extLst>
              <a:ext uri="{FF2B5EF4-FFF2-40B4-BE49-F238E27FC236}">
                <ns2:creationId id="{234CC25C-82DC-4531-A9CC-49342A72831C}"/>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유클리드 알고리즘은 b≠0인 동안 (a,b)를 (b,a%b)로 바꾸고 b=0이면 a를 반환한다. %는 나머지 연산이다.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gcd(0,18)을 이 규칙 그대로 실행할 때 % 연산 횟수와 반환값은?</a:t>
            </a:r>
          </a:p>
        </p:txBody>
      </p:sp>
      <p:sp>
        <p:nvSpPr>
          <p:cNvPr id="9" name="">
            <a:extLst>
              <a:ext uri="{FF2B5EF4-FFF2-40B4-BE49-F238E27FC236}">
                <ns2:creationId id="{7BA6466D-5565-414B-9B0E-B0211A28AE0A}"/>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9F1D2662-1A78-49E2-A793-F1D0B20395AB}"/>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1회, 18</a:t>
            </a:r>
          </a:p>
        </p:txBody>
      </p:sp>
      <p:sp>
        <p:nvSpPr>
          <p:cNvPr id="11" name="text-324.4-64">
            <a:extLst>
              <a:ext uri="{FF2B5EF4-FFF2-40B4-BE49-F238E27FC236}">
                <ns2:creationId id="{F09F9D5A-D500-48EF-AA91-D0CDAC374706}"/>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7EB67EC5-7B0B-4FAB-BCBF-17690C40DE3C}"/>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1FD4506F-3653-4FA1-902D-620DBC5C73A0}"/>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한 번 갱신하면 (18,0)이므로 종료한다.</a:t>
            </a:r>
          </a:p>
        </p:txBody>
      </p:sp>
    </p:spTree>
    <p:extLst>
      <p:ext uri="{BB962C8B-B14F-4D97-AF65-F5344CB8AC3E}">
        <ns3:creationId val="462685519"/>
      </p:ext>
    </p:extLst>
  </p:cSld>
</p:sld>
</file>

<file path=ppt/slides/slide11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A6611D4A-997A-411D-93C7-AD6FFED4178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8B950A5C-2C4C-44DC-AA15-20EF4ED3B53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4BE4A8E3-5FE7-409B-BC5D-2A46BF5C2BBA}"/>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58  </a:t>
            </a:r>
          </a:p>
        </p:txBody>
      </p:sp>
      <p:sp>
        <p:nvSpPr>
          <p:cNvPr id="4" name="">
            <a:extLst>
              <a:ext uri="{FF2B5EF4-FFF2-40B4-BE49-F238E27FC236}">
                <ns2:creationId id="{D1E6309A-D9C8-4F3B-9947-79DE94EADE0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496EF4B-9E8D-4AF0-AEDB-82A53107DFA4}"/>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D40AC0C-9493-4B56-BD4F-E25B781D4A9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C25CAEEC-C55A-4C6F-90EF-4CE82ADA9A21}"/>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115</a:t>
            </a:r>
          </a:p>
        </p:txBody>
      </p:sp>
      <p:sp>
        <p:nvSpPr>
          <p:cNvPr id="8" name="text-178-64">
            <a:extLst>
              <a:ext uri="{FF2B5EF4-FFF2-40B4-BE49-F238E27FC236}">
                <ns2:creationId id="{73AB01DC-DC70-4F2D-BC59-645C1D27ACB5}"/>
              </a:ext>
            </a:extLst>
          </p:cNvPr>
          <p:cNvSpPr>
            <a:spLocks noGrp="1"/>
          </p:cNvSpPr>
          <p:nvPr/>
        </p:nvSpPr>
        <p:spPr>
          <a:xfrm>
            <a:off x="609600" y="1619250"/>
            <a:ext cx="10972800" cy="3901916"/>
          </a:xfrm>
          <a:prstGeom prst="rect">
            <a:avLst/>
          </a:prstGeom>
          <a:noFill/>
          <a:ln w="0">
            <a:noFill/>
          </a:ln>
        </p:spPr>
        <p:txBody>
          <a:bodyPr wrap="none" lIns="0" tIns="0" rIns="0" bIns="0" anchor="t">
            <a:noAutofit/>
          </a:bodyPr>
          <a:lstStyle/>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power(C,n)은 정수 C의 n제곱, 즉 C를 n번 곱한 값을 반환한다. n은 0 이상의 정수이며 C⁰=1로 정한다.</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Python에서 //는 정수 몫, %는 나머지이다.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def power(C, n):</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if n == 0:</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return 1</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h = power(C, n // 2)</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 = h * h</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if n % 2 == 1: r = r * C</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return r</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power(2,13)을 실행한다. 최초 호출부터 n=0인 마지막 호출까지, 함수에 전달되는 n의 값을 순서대로 쓰시오.</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반환값이나 곱셈 횟수는 구하지 않는다.</a:t>
            </a:r>
          </a:p>
        </p:txBody>
      </p:sp>
      <p:sp>
        <p:nvSpPr>
          <p:cNvPr id="9" name="text-405-64">
            <a:extLst>
              <a:ext uri="{FF2B5EF4-FFF2-40B4-BE49-F238E27FC236}">
                <ns2:creationId id="{82940E52-230A-4BF5-B2FF-B5548C4AC1B1}"/>
              </a:ext>
            </a:extLst>
          </p:cNvPr>
          <p:cNvSpPr>
            <a:spLocks noGrp="1"/>
          </p:cNvSpPr>
          <p:nvPr/>
        </p:nvSpPr>
        <p:spPr>
          <a:xfrm>
            <a:off x="609600" y="5654516"/>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C3897974-74BD-4F25-8779-44DA985D5D6C}"/>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7EBA8ED3-908B-483D-A83A-08E3AE8A6FF6}"/>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727B0D8B-DAE8-4DB7-A41D-7E132A73160C}"/>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1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6ED9B922-34B2-4DA0-8807-0F45F6614C58}"/>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0FA53A1A-982B-48EA-A361-D817CC527BF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3188F6D-9192-4AF9-B0DA-5571BA550BC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58  정답과 해설</a:t>
            </a:r>
          </a:p>
        </p:txBody>
      </p:sp>
      <p:sp>
        <p:nvSpPr>
          <p:cNvPr id="4" name="">
            <a:extLst>
              <a:ext uri="{FF2B5EF4-FFF2-40B4-BE49-F238E27FC236}">
                <ns2:creationId id="{1D02F33D-ED3D-4F8A-9821-012FB15F03F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A6B1BB6-66E3-42A2-A660-055613182797}"/>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FCA7D16C-63E8-4544-866A-92C65152D08B}"/>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77A9B47-DD77-4C7E-BAEA-0C0537EEC1E4}"/>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116</a:t>
            </a:r>
          </a:p>
        </p:txBody>
      </p:sp>
      <p:sp>
        <p:nvSpPr>
          <p:cNvPr id="8" name="text-178-64">
            <a:extLst>
              <a:ext uri="{FF2B5EF4-FFF2-40B4-BE49-F238E27FC236}">
                <ns2:creationId id="{2BFC5E75-444E-4A5D-9CF2-E7338AA9B1FF}"/>
              </a:ext>
            </a:extLst>
          </p:cNvPr>
          <p:cNvSpPr>
            <a:spLocks noGrp="1"/>
          </p:cNvSpPr>
          <p:nvPr/>
        </p:nvSpPr>
        <p:spPr>
          <a:xfrm>
            <a:off x="609600" y="1619250"/>
            <a:ext cx="10972800" cy="3218402"/>
          </a:xfrm>
          <a:prstGeom prst="rect">
            <a:avLst/>
          </a:prstGeom>
          <a:noFill/>
          <a:ln w="0">
            <a:noFill/>
          </a:ln>
        </p:spPr>
        <p:txBody>
          <a:bodyPr wrap="none" lIns="0" tIns="0" rIns="0" bIns="0" anchor="t">
            <a:noAutofit/>
          </a:bodyPr>
          <a:lstStyle/>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power(C,n)은 정수 C의 n제곱, 즉 C를 n번 곱한 값을 반환한다. n은 0 이상의 정수이며 C⁰=1로 정한다. Python에서 //는 정수 몫, %는</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나머지이다.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def power(C, n):</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if n == 0:</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return 1</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h = power(C, n // 2)</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r = h * h</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if n % 2 == 1: r = r * C</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    return r</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power(2,13)을 실행한다. 최초 호출부터 n=0인 마지막 호출까지, 함수에 전달되는 n의 값을 순서대로 쓰시오. 반환값이나 곱셈 횟수는</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구하지 않는다.</a:t>
            </a:r>
          </a:p>
        </p:txBody>
      </p:sp>
      <p:sp>
        <p:nvSpPr>
          <p:cNvPr id="9" name="">
            <a:extLst>
              <a:ext uri="{FF2B5EF4-FFF2-40B4-BE49-F238E27FC236}">
                <ns2:creationId id="{6AE4BEB0-1243-4E61-8B5A-714B927DD485}"/>
              </a:ext>
            </a:extLst>
          </p:cNvPr>
          <p:cNvSpPr>
            <a:spLocks noGrp="1"/>
          </p:cNvSpPr>
          <p:nvPr/>
        </p:nvSpPr>
        <p:spPr>
          <a:xfrm>
            <a:off x="609600" y="4951952"/>
            <a:ext cx="10972800" cy="465868"/>
          </a:xfrm>
          <a:prstGeom prst="rect">
            <a:avLst/>
          </a:prstGeom>
          <a:solidFill>
            <a:srgbClr val="171717"/>
          </a:solidFill>
          <a:ln w="0">
            <a:noFill/>
          </a:ln>
        </p:spPr>
      </p:sp>
      <p:sp>
        <p:nvSpPr>
          <p:cNvPr id="10" name="text-279.2-92">
            <a:extLst>
              <a:ext uri="{FF2B5EF4-FFF2-40B4-BE49-F238E27FC236}">
                <ns2:creationId id="{EEF3AC5E-3F80-44C3-A52A-7E9A57FEF0E0}"/>
              </a:ext>
            </a:extLst>
          </p:cNvPr>
          <p:cNvSpPr>
            <a:spLocks noGrp="1"/>
          </p:cNvSpPr>
          <p:nvPr/>
        </p:nvSpPr>
        <p:spPr>
          <a:xfrm>
            <a:off x="876300" y="5028152"/>
            <a:ext cx="10439400" cy="313468"/>
          </a:xfrm>
          <a:prstGeom prst="rect">
            <a:avLst/>
          </a:prstGeom>
          <a:noFill/>
          <a:ln w="0">
            <a:noFill/>
          </a:ln>
        </p:spPr>
        <p:txBody>
          <a:bodyPr wrap="none" lIns="0" tIns="0" rIns="0" bIns="0" anchor="t">
            <a:noAutofit/>
          </a:bodyPr>
          <a:lstStyle/>
          <a:p>
            <a:pPr algn="l">
              <a:lnSpc>
                <a:spcPct val="108000"/>
              </a:lnSpc>
              <a:buNone/>
              <a:defRPr sz="1463" b="1" i="0">
                <a:solidFill>
                  <a:srgbClr val="FFFFFF"/>
                </a:solidFill>
                <a:latin typeface="Malgun Gothic"/>
                <a:ea typeface="Malgun Gothic"/>
                <a:cs typeface="Malgun Gothic"/>
              </a:defRPr>
            </a:pPr>
            <a:r>
              <a:rPr sz="1463" b="1" i="0">
                <a:solidFill>
                  <a:srgbClr val="FFFFFF"/>
                </a:solidFill>
                <a:latin typeface="Malgun Gothic"/>
                <a:ea typeface="Malgun Gothic"/>
                <a:cs typeface="Malgun Gothic"/>
              </a:rPr>
              <a:t>13 → 6 → 3 → 1 → 0</a:t>
            </a:r>
          </a:p>
        </p:txBody>
      </p:sp>
      <p:sp>
        <p:nvSpPr>
          <p:cNvPr id="11" name="text-358-64">
            <a:extLst>
              <a:ext uri="{FF2B5EF4-FFF2-40B4-BE49-F238E27FC236}">
                <ns2:creationId id="{9D1774FF-CEDE-4C4F-91B3-4398B43AFAEB}"/>
              </a:ext>
            </a:extLst>
          </p:cNvPr>
          <p:cNvSpPr>
            <a:spLocks noGrp="1"/>
          </p:cNvSpPr>
          <p:nvPr/>
        </p:nvSpPr>
        <p:spPr>
          <a:xfrm>
            <a:off x="609600" y="5513070"/>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5F6D044D-915D-4FEE-AEF4-C3E755C3ECCE}"/>
              </a:ext>
            </a:extLst>
          </p:cNvPr>
          <p:cNvSpPr>
            <a:spLocks noGrp="1"/>
          </p:cNvSpPr>
          <p:nvPr/>
        </p:nvSpPr>
        <p:spPr>
          <a:xfrm>
            <a:off x="609600" y="6267450"/>
            <a:ext cx="10972800" cy="9525"/>
          </a:xfrm>
          <a:prstGeom prst="rect">
            <a:avLst/>
          </a:prstGeom>
          <a:solidFill>
            <a:srgbClr val="D4D4D4"/>
          </a:solidFill>
          <a:ln w="0">
            <a:noFill/>
          </a:ln>
        </p:spPr>
      </p:sp>
      <p:sp>
        <p:nvSpPr>
          <p:cNvPr id="13" name="text-406-64">
            <a:extLst>
              <a:ext uri="{FF2B5EF4-FFF2-40B4-BE49-F238E27FC236}">
                <ns2:creationId id="{006E0A5F-2662-4830-A31C-FA87790F8768}"/>
              </a:ext>
            </a:extLst>
          </p:cNvPr>
          <p:cNvSpPr>
            <a:spLocks noGrp="1"/>
          </p:cNvSpPr>
          <p:nvPr/>
        </p:nvSpPr>
        <p:spPr>
          <a:xfrm>
            <a:off x="609600" y="5890260"/>
            <a:ext cx="10972800" cy="313468"/>
          </a:xfrm>
          <a:prstGeom prst="rect">
            <a:avLst/>
          </a:prstGeom>
          <a:noFill/>
          <a:ln w="0">
            <a:noFill/>
          </a:ln>
        </p:spPr>
        <p:txBody>
          <a:bodyPr wrap="none" lIns="0" tIns="0" rIns="0" bIns="0" anchor="t">
            <a:noAutofit/>
          </a:bodyPr>
          <a:lstStyle/>
          <a:p>
            <a:pPr algn="l">
              <a:lnSpc>
                <a:spcPct val="108000"/>
              </a:lnSpc>
              <a:buNone/>
              <a:defRPr sz="1463" b="0" i="0">
                <a:solidFill>
                  <a:srgbClr val="606060"/>
                </a:solidFill>
                <a:latin typeface="Malgun Gothic"/>
                <a:ea typeface="Malgun Gothic"/>
                <a:cs typeface="Malgun Gothic"/>
              </a:defRPr>
            </a:pPr>
            <a:r>
              <a:rPr sz="1463" b="0" i="0">
                <a:solidFill>
                  <a:srgbClr val="606060"/>
                </a:solidFill>
                <a:latin typeface="Malgun Gothic"/>
                <a:ea typeface="Malgun Gothic"/>
                <a:cs typeface="Malgun Gothic"/>
              </a:rPr>
              <a:t>다음 호출의 두 번째 인수는 n//2이다. 13//2=6, 6//2=3, 3//2=1, 1//2=0이며 n=0에서는 더 호출하지 않는다.</a:t>
            </a:r>
          </a:p>
        </p:txBody>
      </p:sp>
    </p:spTree>
    <p:extLst>
      <p:ext uri="{BB962C8B-B14F-4D97-AF65-F5344CB8AC3E}">
        <ns3:creationId val="462685519"/>
      </p:ext>
    </p:extLst>
  </p:cSld>
</p:sld>
</file>

<file path=ppt/slides/slide1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575939D6-3366-4048-95D1-7258DAF5E61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C762BF10-C9B8-4497-B449-89D0DC72EA6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074B3037-E5AD-42ED-9511-FF197A2CD73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59  </a:t>
            </a:r>
          </a:p>
        </p:txBody>
      </p:sp>
      <p:sp>
        <p:nvSpPr>
          <p:cNvPr id="4" name="">
            <a:extLst>
              <a:ext uri="{FF2B5EF4-FFF2-40B4-BE49-F238E27FC236}">
                <ns2:creationId id="{26923D10-D677-4C5B-BAD8-2BE55081DF1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C86300A-3146-413A-8E4C-F99E41A1996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6EC6947-8107-4448-AA90-2A231921FE9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478BE395-E8C6-496A-B200-EEE033B21F8C}"/>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117</a:t>
            </a:r>
          </a:p>
        </p:txBody>
      </p:sp>
      <p:sp>
        <p:nvSpPr>
          <p:cNvPr id="8" name="text-178-64">
            <a:extLst>
              <a:ext uri="{FF2B5EF4-FFF2-40B4-BE49-F238E27FC236}">
                <ns2:creationId id="{15D808A7-A4EC-47E6-9ADF-21C9D45649D9}"/>
              </a:ext>
            </a:extLst>
          </p:cNvPr>
          <p:cNvSpPr>
            <a:spLocks noGrp="1"/>
          </p:cNvSpPr>
          <p:nvPr/>
        </p:nvSpPr>
        <p:spPr>
          <a:xfrm>
            <a:off x="609600" y="1619250"/>
            <a:ext cx="10972800" cy="3901916"/>
          </a:xfrm>
          <a:prstGeom prst="rect">
            <a:avLst/>
          </a:prstGeom>
          <a:noFill/>
          <a:ln w="0">
            <a:noFill/>
          </a:ln>
        </p:spPr>
        <p:txBody>
          <a:bodyPr wrap="none" lIns="0" tIns="0" rIns="0" bIns="0" anchor="t">
            <a:noAutofit/>
          </a:bodyPr>
          <a:lstStyle/>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power(C,n)은 정수 C의 n제곱, 즉 C를 n번 곱한 값을 반환한다. n은 0 이상의 정수이며 C⁰=1로 정한다.</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Python에서 //는 정수 몫, %는 나머지이다.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def power(C, n):</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if n == 0:</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return 1</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h = power(C, n // 2)</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 = h * h</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if n % 2 == 1: r = r * C</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return r</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power(2,13)을 실행할 때 * 연산은 총 몇 회인가? 모든 재귀 호출에서 실행한 *를 합산한다. 1을 곱해도 * 한 번은</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1회이고, n=0에서 1을 반환할 때는 곱셈하지 않는다.</a:t>
            </a:r>
          </a:p>
        </p:txBody>
      </p:sp>
      <p:sp>
        <p:nvSpPr>
          <p:cNvPr id="9" name="text-405-64">
            <a:extLst>
              <a:ext uri="{FF2B5EF4-FFF2-40B4-BE49-F238E27FC236}">
                <ns2:creationId id="{B92FCF8F-5045-4771-AD5B-87342AB16BB3}"/>
              </a:ext>
            </a:extLst>
          </p:cNvPr>
          <p:cNvSpPr>
            <a:spLocks noGrp="1"/>
          </p:cNvSpPr>
          <p:nvPr/>
        </p:nvSpPr>
        <p:spPr>
          <a:xfrm>
            <a:off x="609600" y="5654516"/>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4B0D04A0-67DA-4A8E-99F2-BCE2B6C4A3D0}"/>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F4999D6D-C6A8-4921-A22E-426305E2B6C9}"/>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415C4CF4-D9C4-4B12-80F7-A9D280EE5DB0}"/>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EC1422FB-2657-44C0-B350-FC6A28532E0F}"/>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2CC12707-5FF7-48FE-9BFC-93295245BA93}"/>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F50A6EFE-8D63-4D9B-8D61-E622FA433A67}"/>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59  정답과 해설</a:t>
            </a:r>
          </a:p>
        </p:txBody>
      </p:sp>
      <p:sp>
        <p:nvSpPr>
          <p:cNvPr id="4" name="">
            <a:extLst>
              <a:ext uri="{FF2B5EF4-FFF2-40B4-BE49-F238E27FC236}">
                <ns2:creationId id="{B1902F80-CA2E-4F9A-99AC-463A6DFF97C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55B98BF-B893-46BF-B55D-11F9EAB200B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04B0714D-D1B8-4446-9F9D-F79936EB74E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21B4315-E3D9-4D31-82B9-3F4A7F191E8C}"/>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118</a:t>
            </a:r>
          </a:p>
        </p:txBody>
      </p:sp>
      <p:sp>
        <p:nvSpPr>
          <p:cNvPr id="8" name="text-178-64">
            <a:extLst>
              <a:ext uri="{FF2B5EF4-FFF2-40B4-BE49-F238E27FC236}">
                <ns2:creationId id="{32B0CC7A-5F27-492D-B5BB-40B53919A9A1}"/>
              </a:ext>
            </a:extLst>
          </p:cNvPr>
          <p:cNvSpPr>
            <a:spLocks noGrp="1"/>
          </p:cNvSpPr>
          <p:nvPr/>
        </p:nvSpPr>
        <p:spPr>
          <a:xfrm>
            <a:off x="609600" y="1619250"/>
            <a:ext cx="10972800" cy="2817495"/>
          </a:xfrm>
          <a:prstGeom prst="rect">
            <a:avLst/>
          </a:prstGeom>
          <a:noFill/>
          <a:ln w="0">
            <a:noFill/>
          </a:ln>
        </p:spPr>
        <p:txBody>
          <a:bodyPr wrap="none" lIns="0" tIns="0" rIns="0" bIns="0" anchor="t">
            <a:noAutofit/>
          </a:bodyPr>
          <a:lstStyle/>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power(C,n)은 정수 C의 n제곱, 즉 C를 n번 곱한 값을 반환한다. n은 0 이상의 정수이며 C⁰=1로 정한다. Python에서 //는 정수 몫, %는 나머지이다.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def power(C, n):</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if n == 0:</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return 1</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h = power(C, n // 2)</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r = h * h</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if n % 2 == 1: r = r * C</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return r</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power(2,13)을 실행할 때 * 연산은 총 몇 회인가? 모든 재귀 호출에서 실행한 *를 합산한다. 1을 곱해도 * 한 번은 1회이고, n=0에서 1을 반환할</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때는 곱셈하지 않는다.</a:t>
            </a:r>
          </a:p>
        </p:txBody>
      </p:sp>
      <p:sp>
        <p:nvSpPr>
          <p:cNvPr id="9" name="">
            <a:extLst>
              <a:ext uri="{FF2B5EF4-FFF2-40B4-BE49-F238E27FC236}">
                <ns2:creationId id="{48D3814E-4E96-4625-8ACC-13EBFAF3B36B}"/>
              </a:ext>
            </a:extLst>
          </p:cNvPr>
          <p:cNvSpPr>
            <a:spLocks noGrp="1"/>
          </p:cNvSpPr>
          <p:nvPr/>
        </p:nvSpPr>
        <p:spPr>
          <a:xfrm>
            <a:off x="609600" y="4551045"/>
            <a:ext cx="10972800" cy="452723"/>
          </a:xfrm>
          <a:prstGeom prst="rect">
            <a:avLst/>
          </a:prstGeom>
          <a:solidFill>
            <a:srgbClr val="171717"/>
          </a:solidFill>
          <a:ln w="0">
            <a:noFill/>
          </a:ln>
        </p:spPr>
      </p:sp>
      <p:sp>
        <p:nvSpPr>
          <p:cNvPr id="10" name="text-279.2-92">
            <a:extLst>
              <a:ext uri="{FF2B5EF4-FFF2-40B4-BE49-F238E27FC236}">
                <ns2:creationId id="{B3B9C273-C3E3-4DCB-9D7B-E74A8D22BC00}"/>
              </a:ext>
            </a:extLst>
          </p:cNvPr>
          <p:cNvSpPr>
            <a:spLocks noGrp="1"/>
          </p:cNvSpPr>
          <p:nvPr/>
        </p:nvSpPr>
        <p:spPr>
          <a:xfrm>
            <a:off x="876300" y="4627245"/>
            <a:ext cx="10439400" cy="300323"/>
          </a:xfrm>
          <a:prstGeom prst="rect">
            <a:avLst/>
          </a:prstGeom>
          <a:noFill/>
          <a:ln w="0">
            <a:noFill/>
          </a:ln>
        </p:spPr>
        <p:txBody>
          <a:bodyPr wrap="none" lIns="0" tIns="0" rIns="0" bIns="0" anchor="t">
            <a:noAutofit/>
          </a:bodyPr>
          <a:lstStyle/>
          <a:p>
            <a:pPr algn="l">
              <a:lnSpc>
                <a:spcPct val="108000"/>
              </a:lnSpc>
              <a:buNone/>
              <a:defRPr sz="1388" b="1" i="0">
                <a:solidFill>
                  <a:srgbClr val="FFFFFF"/>
                </a:solidFill>
                <a:latin typeface="Malgun Gothic"/>
                <a:ea typeface="Malgun Gothic"/>
                <a:cs typeface="Malgun Gothic"/>
              </a:defRPr>
            </a:pPr>
            <a:r>
              <a:rPr sz="1388" b="1" i="0">
                <a:solidFill>
                  <a:srgbClr val="FFFFFF"/>
                </a:solidFill>
                <a:latin typeface="Malgun Gothic"/>
                <a:ea typeface="Malgun Gothic"/>
                <a:cs typeface="Malgun Gothic"/>
              </a:rPr>
              <a:t>7회</a:t>
            </a:r>
          </a:p>
        </p:txBody>
      </p:sp>
      <p:sp>
        <p:nvSpPr>
          <p:cNvPr id="11" name="text-358-64">
            <a:extLst>
              <a:ext uri="{FF2B5EF4-FFF2-40B4-BE49-F238E27FC236}">
                <ns2:creationId id="{C3FE0D43-FEA4-436D-9FF3-AFCD8A1B1C8C}"/>
              </a:ext>
            </a:extLst>
          </p:cNvPr>
          <p:cNvSpPr>
            <a:spLocks noGrp="1"/>
          </p:cNvSpPr>
          <p:nvPr/>
        </p:nvSpPr>
        <p:spPr>
          <a:xfrm>
            <a:off x="609600" y="5099018"/>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677E27BE-83DE-41E5-B2FC-B9674BE225A8}"/>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0FB5FC4B-645A-40F6-A6E5-8F28ACFEC4C8}"/>
              </a:ext>
            </a:extLst>
          </p:cNvPr>
          <p:cNvSpPr>
            <a:spLocks noGrp="1"/>
          </p:cNvSpPr>
          <p:nvPr/>
        </p:nvSpPr>
        <p:spPr>
          <a:xfrm>
            <a:off x="609600" y="5476208"/>
            <a:ext cx="10972800" cy="543497"/>
          </a:xfrm>
          <a:prstGeom prst="rect">
            <a:avLst/>
          </a:prstGeom>
          <a:noFill/>
          <a:ln w="0">
            <a:noFill/>
          </a:ln>
        </p:spPr>
        <p:txBody>
          <a:bodyPr wrap="none" lIns="0" tIns="0" rIns="0" bIns="0" anchor="t">
            <a:noAutofit/>
          </a:bodyPr>
          <a:lstStyle/>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n이 13,6,3,1인 네 호출에서 h*h를 각 1회 실행한다. 그중 13,3,1은 홀수이므로 r*C를 각 1회 더 실행한다. n=0은 곱셈 0회이므로 전체는</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4+3=7회이다.</a:t>
            </a:r>
          </a:p>
        </p:txBody>
      </p:sp>
    </p:spTree>
    <p:extLst>
      <p:ext uri="{BB962C8B-B14F-4D97-AF65-F5344CB8AC3E}">
        <ns3:creationId val="462685519"/>
      </p:ext>
    </p:extLst>
  </p:cSld>
</p:sld>
</file>

<file path=ppt/slides/slide1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A29CD281-C698-40BE-85DB-7025B4815649}"/>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C78617EE-99A7-469C-BAE6-F3BD3C1AEB6E}"/>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02016929-1A70-4C17-A7E9-E6C7272990A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60  </a:t>
            </a:r>
          </a:p>
        </p:txBody>
      </p:sp>
      <p:sp>
        <p:nvSpPr>
          <p:cNvPr id="4" name="">
            <a:extLst>
              <a:ext uri="{FF2B5EF4-FFF2-40B4-BE49-F238E27FC236}">
                <ns2:creationId id="{D2D9E9B9-529C-49A1-803D-715A538E7FA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998E1E4-B200-45D6-9382-75081653DD35}"/>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A7CB8ED-8FEB-4379-8C47-766A3A3ECCD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856DC77-9264-4365-8E6B-A4F74B596915}"/>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119</a:t>
            </a:r>
          </a:p>
        </p:txBody>
      </p:sp>
      <p:sp>
        <p:nvSpPr>
          <p:cNvPr id="8" name="text-178-64">
            <a:extLst>
              <a:ext uri="{FF2B5EF4-FFF2-40B4-BE49-F238E27FC236}">
                <ns2:creationId id="{BDE1010B-01AA-4026-A598-955AD518A556}"/>
              </a:ext>
            </a:extLst>
          </p:cNvPr>
          <p:cNvSpPr>
            <a:spLocks noGrp="1"/>
          </p:cNvSpPr>
          <p:nvPr/>
        </p:nvSpPr>
        <p:spPr>
          <a:xfrm>
            <a:off x="609600" y="1619250"/>
            <a:ext cx="10972800" cy="3901916"/>
          </a:xfrm>
          <a:prstGeom prst="rect">
            <a:avLst/>
          </a:prstGeom>
          <a:noFill/>
          <a:ln w="0">
            <a:noFill/>
          </a:ln>
        </p:spPr>
        <p:txBody>
          <a:bodyPr wrap="none" lIns="0" tIns="0" rIns="0" bIns="0" anchor="t">
            <a:noAutofit/>
          </a:bodyPr>
          <a:lstStyle/>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power(C,n)은 정수 C의 n제곱, 즉 C를 n번 곱한 값을 반환한다. n은 0 이상의 정수이며 C⁰=1로 정한다.</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Python에서 //는 정수 몫, %는 나머지이다.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def power(C, n):</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if n == 0:</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return 1</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h = power(C, n // 2)</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 = h * h</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if n % 2 == 1: r = r * C</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return r</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power(3,5)의 ① 반환값과 ② 모든 호출에서 실행한 * 연산의 총횟수를 쓰시오. 1을 곱해도 * 한 번은 1회이고,</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n=0에서 1을 반환할 때는 곱셈하지 않는다.</a:t>
            </a:r>
          </a:p>
        </p:txBody>
      </p:sp>
      <p:sp>
        <p:nvSpPr>
          <p:cNvPr id="9" name="text-405-64">
            <a:extLst>
              <a:ext uri="{FF2B5EF4-FFF2-40B4-BE49-F238E27FC236}">
                <ns2:creationId id="{919D8017-D75D-45E9-8DA4-99A357B2AF23}"/>
              </a:ext>
            </a:extLst>
          </p:cNvPr>
          <p:cNvSpPr>
            <a:spLocks noGrp="1"/>
          </p:cNvSpPr>
          <p:nvPr/>
        </p:nvSpPr>
        <p:spPr>
          <a:xfrm>
            <a:off x="609600" y="5654516"/>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45871E29-78E4-4443-A115-F33F483EC167}"/>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06CE14D4-EE91-4F9B-A0BD-D1BBFB3BB63D}"/>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D7142EF4-2354-4BFF-B403-50300BCE3CC5}"/>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2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1C99113F-AEB1-48D5-94C2-820AB4EA0611}"/>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5D8D10B1-41A6-473D-9C7E-087B349DC54B}"/>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25499C82-867B-4342-8CE5-2CDEE000B3DC}"/>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60  정답과 해설</a:t>
            </a:r>
          </a:p>
        </p:txBody>
      </p:sp>
      <p:sp>
        <p:nvSpPr>
          <p:cNvPr id="4" name="">
            <a:extLst>
              <a:ext uri="{FF2B5EF4-FFF2-40B4-BE49-F238E27FC236}">
                <ns2:creationId id="{3F005223-CDC1-4C81-A365-BEF72E50D90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CEF5B9B-800D-40CE-B3E2-CC6851D44CA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4FEC10DF-00FA-401F-8510-276553CB69F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66E6D94-877A-45E8-887A-92DAF470149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120</a:t>
            </a:r>
          </a:p>
        </p:txBody>
      </p:sp>
      <p:sp>
        <p:nvSpPr>
          <p:cNvPr id="8" name="text-178-64">
            <a:extLst>
              <a:ext uri="{FF2B5EF4-FFF2-40B4-BE49-F238E27FC236}">
                <ns2:creationId id="{3CAB7729-42C8-4100-855D-6B39E283E840}"/>
              </a:ext>
            </a:extLst>
          </p:cNvPr>
          <p:cNvSpPr>
            <a:spLocks noGrp="1"/>
          </p:cNvSpPr>
          <p:nvPr/>
        </p:nvSpPr>
        <p:spPr>
          <a:xfrm>
            <a:off x="609600" y="1619250"/>
            <a:ext cx="10972800" cy="2817495"/>
          </a:xfrm>
          <a:prstGeom prst="rect">
            <a:avLst/>
          </a:prstGeom>
          <a:noFill/>
          <a:ln w="0">
            <a:noFill/>
          </a:ln>
        </p:spPr>
        <p:txBody>
          <a:bodyPr wrap="none" lIns="0" tIns="0" rIns="0" bIns="0" anchor="t">
            <a:noAutofit/>
          </a:bodyPr>
          <a:lstStyle/>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power(C,n)은 정수 C의 n제곱, 즉 C를 n번 곱한 값을 반환한다. n은 0 이상의 정수이며 C⁰=1로 정한다. Python에서 //는 정수 몫, %는 나머지이다.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def power(C, n):</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if n == 0:</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return 1</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h = power(C, n // 2)</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r = h * h</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if n % 2 == 1: r = r * C</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    return r</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power(3,5)의 ① 반환값과 ② 모든 호출에서 실행한 * 연산의 총횟수를 쓰시오. 1을 곱해도 * 한 번은 1회이고, n=0에서 1을 반환할 때는 곱셈하지</a:t>
            </a:r>
          </a:p>
          <a:p>
            <a:pPr algn="l">
              <a:lnSpc>
                <a:spcPct val="108000"/>
              </a:lnSpc>
              <a:buNone/>
              <a:defRPr sz="1313" b="0" i="0">
                <a:solidFill>
                  <a:srgbClr val="606060"/>
                </a:solidFill>
                <a:latin typeface="Malgun Gothic"/>
                <a:ea typeface="Malgun Gothic"/>
                <a:cs typeface="Malgun Gothic"/>
              </a:defRPr>
            </a:pPr>
            <a:r>
              <a:rPr sz="1313" b="0" i="0">
                <a:solidFill>
                  <a:srgbClr val="606060"/>
                </a:solidFill>
                <a:latin typeface="Malgun Gothic"/>
                <a:ea typeface="Malgun Gothic"/>
                <a:cs typeface="Malgun Gothic"/>
              </a:rPr>
              <a:t>않는다.</a:t>
            </a:r>
          </a:p>
        </p:txBody>
      </p:sp>
      <p:sp>
        <p:nvSpPr>
          <p:cNvPr id="9" name="">
            <a:extLst>
              <a:ext uri="{FF2B5EF4-FFF2-40B4-BE49-F238E27FC236}">
                <ns2:creationId id="{3FE35EE1-60CB-4172-9AA3-57888D401325}"/>
              </a:ext>
            </a:extLst>
          </p:cNvPr>
          <p:cNvSpPr>
            <a:spLocks noGrp="1"/>
          </p:cNvSpPr>
          <p:nvPr/>
        </p:nvSpPr>
        <p:spPr>
          <a:xfrm>
            <a:off x="609600" y="4551045"/>
            <a:ext cx="10972800" cy="452723"/>
          </a:xfrm>
          <a:prstGeom prst="rect">
            <a:avLst/>
          </a:prstGeom>
          <a:solidFill>
            <a:srgbClr val="171717"/>
          </a:solidFill>
          <a:ln w="0">
            <a:noFill/>
          </a:ln>
        </p:spPr>
      </p:sp>
      <p:sp>
        <p:nvSpPr>
          <p:cNvPr id="10" name="text-279.2-92">
            <a:extLst>
              <a:ext uri="{FF2B5EF4-FFF2-40B4-BE49-F238E27FC236}">
                <ns2:creationId id="{86C34246-5E07-4F6E-B776-EBAA0670B7D7}"/>
              </a:ext>
            </a:extLst>
          </p:cNvPr>
          <p:cNvSpPr>
            <a:spLocks noGrp="1"/>
          </p:cNvSpPr>
          <p:nvPr/>
        </p:nvSpPr>
        <p:spPr>
          <a:xfrm>
            <a:off x="876300" y="4627245"/>
            <a:ext cx="10439400" cy="300323"/>
          </a:xfrm>
          <a:prstGeom prst="rect">
            <a:avLst/>
          </a:prstGeom>
          <a:noFill/>
          <a:ln w="0">
            <a:noFill/>
          </a:ln>
        </p:spPr>
        <p:txBody>
          <a:bodyPr wrap="none" lIns="0" tIns="0" rIns="0" bIns="0" anchor="t">
            <a:noAutofit/>
          </a:bodyPr>
          <a:lstStyle/>
          <a:p>
            <a:pPr algn="l">
              <a:lnSpc>
                <a:spcPct val="108000"/>
              </a:lnSpc>
              <a:buNone/>
              <a:defRPr sz="1388" b="1" i="0">
                <a:solidFill>
                  <a:srgbClr val="FFFFFF"/>
                </a:solidFill>
                <a:latin typeface="Malgun Gothic"/>
                <a:ea typeface="Malgun Gothic"/>
                <a:cs typeface="Malgun Gothic"/>
              </a:defRPr>
            </a:pPr>
            <a:r>
              <a:rPr sz="1388" b="1" i="0">
                <a:solidFill>
                  <a:srgbClr val="FFFFFF"/>
                </a:solidFill>
                <a:latin typeface="Malgun Gothic"/>
                <a:ea typeface="Malgun Gothic"/>
                <a:cs typeface="Malgun Gothic"/>
              </a:rPr>
              <a:t>① 243  ② 5회</a:t>
            </a:r>
          </a:p>
        </p:txBody>
      </p:sp>
      <p:sp>
        <p:nvSpPr>
          <p:cNvPr id="11" name="text-358-64">
            <a:extLst>
              <a:ext uri="{FF2B5EF4-FFF2-40B4-BE49-F238E27FC236}">
                <ns2:creationId id="{C7BDE2CE-96AE-47FA-94A4-4335F25826ED}"/>
              </a:ext>
            </a:extLst>
          </p:cNvPr>
          <p:cNvSpPr>
            <a:spLocks noGrp="1"/>
          </p:cNvSpPr>
          <p:nvPr/>
        </p:nvSpPr>
        <p:spPr>
          <a:xfrm>
            <a:off x="609600" y="5099018"/>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3FEF509F-90BB-480D-9170-47341A42DC96}"/>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09B81185-771E-4CDA-A3E7-15A714F2B689}"/>
              </a:ext>
            </a:extLst>
          </p:cNvPr>
          <p:cNvSpPr>
            <a:spLocks noGrp="1"/>
          </p:cNvSpPr>
          <p:nvPr/>
        </p:nvSpPr>
        <p:spPr>
          <a:xfrm>
            <a:off x="609600" y="5476208"/>
            <a:ext cx="10972800" cy="543497"/>
          </a:xfrm>
          <a:prstGeom prst="rect">
            <a:avLst/>
          </a:prstGeom>
          <a:noFill/>
          <a:ln w="0">
            <a:noFill/>
          </a:ln>
        </p:spPr>
        <p:txBody>
          <a:bodyPr wrap="none" lIns="0" tIns="0" rIns="0" bIns="0" anchor="t">
            <a:noAutofit/>
          </a:bodyPr>
          <a:lstStyle/>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호출되는 n은 5,2,1,0이다. n=0의 반환값은 1이며, 돌아오면서 n=1에서 1×1×3=3(2회), n=2에서 3×3=9(1회), n=5에서 9×9×3=243(2회)을</a:t>
            </a:r>
          </a:p>
          <a:p>
            <a:pPr algn="l">
              <a:lnSpc>
                <a:spcPct val="108000"/>
              </a:lnSpc>
              <a:buNone/>
              <a:defRPr sz="1388" b="0" i="0">
                <a:solidFill>
                  <a:srgbClr val="606060"/>
                </a:solidFill>
                <a:latin typeface="Malgun Gothic"/>
                <a:ea typeface="Malgun Gothic"/>
                <a:cs typeface="Malgun Gothic"/>
              </a:defRPr>
            </a:pPr>
            <a:r>
              <a:rPr sz="1388" b="0" i="0">
                <a:solidFill>
                  <a:srgbClr val="606060"/>
                </a:solidFill>
                <a:latin typeface="Malgun Gothic"/>
                <a:ea typeface="Malgun Gothic"/>
                <a:cs typeface="Malgun Gothic"/>
              </a:rPr>
              <a:t>계산한다. 총 2+1+2=5회이다.</a:t>
            </a:r>
          </a:p>
        </p:txBody>
      </p:sp>
    </p:spTree>
    <p:extLst>
      <p:ext uri="{BB962C8B-B14F-4D97-AF65-F5344CB8AC3E}">
        <ns3:creationId val="462685519"/>
      </p:ext>
    </p:extLst>
  </p:cSld>
</p:sld>
</file>

<file path=ppt/slides/slide1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93012ED0-5F93-4E3B-A9D6-FEF03FD08CF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D6916776-15D9-4CA8-ADB4-8B710DC6B05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C887C4A-7711-4EBC-8670-113C477B1947}"/>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61  </a:t>
            </a:r>
          </a:p>
        </p:txBody>
      </p:sp>
      <p:sp>
        <p:nvSpPr>
          <p:cNvPr id="4" name="">
            <a:extLst>
              <a:ext uri="{FF2B5EF4-FFF2-40B4-BE49-F238E27FC236}">
                <ns2:creationId id="{96A1609B-C557-4383-AAF4-BF9751AF0DB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73CA49D-231D-4FF5-B3D1-F6E02D757EC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386FCD0B-39EA-4F40-962F-54E81518008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AAFD2E5-AB96-43E7-AAEE-03640EF6B7B4}"/>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121</a:t>
            </a:r>
          </a:p>
        </p:txBody>
      </p:sp>
      <p:sp>
        <p:nvSpPr>
          <p:cNvPr id="8" name="text-178-64">
            <a:extLst>
              <a:ext uri="{FF2B5EF4-FFF2-40B4-BE49-F238E27FC236}">
                <ns2:creationId id="{0A86810C-D1F9-4474-82D6-5031CBB55787}"/>
              </a:ext>
            </a:extLst>
          </p:cNvPr>
          <p:cNvSpPr>
            <a:spLocks noGrp="1"/>
          </p:cNvSpPr>
          <p:nvPr/>
        </p:nvSpPr>
        <p:spPr>
          <a:xfrm>
            <a:off x="609600" y="1619250"/>
            <a:ext cx="10972800" cy="793242"/>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인덱스가 0부터인 [5,2,4,1]을 오름차순 삽입 정렬한다. i=1부터 시작해 현재 a[i]를 앞의</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정렬된 구간 a[0]~a[i−1]에 삽입한다. i=1과 i=2의 삽입을 마친 직후 배열을 각각 쓰시오.</a:t>
            </a:r>
          </a:p>
        </p:txBody>
      </p:sp>
      <p:sp>
        <p:nvSpPr>
          <p:cNvPr id="9" name="text-405-64">
            <a:extLst>
              <a:ext uri="{FF2B5EF4-FFF2-40B4-BE49-F238E27FC236}">
                <ns2:creationId id="{50D48649-E60C-4E95-B530-7F63DD0EB1EF}"/>
              </a:ext>
            </a:extLst>
          </p:cNvPr>
          <p:cNvSpPr>
            <a:spLocks noGrp="1"/>
          </p:cNvSpPr>
          <p:nvPr/>
        </p:nvSpPr>
        <p:spPr>
          <a:xfrm>
            <a:off x="609600" y="2545842"/>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두 단계의 배열을 각각 쓰시오. 별도의 과정 설명은 필요하지 않습니다.</a:t>
            </a:r>
          </a:p>
        </p:txBody>
      </p:sp>
      <p:sp>
        <p:nvSpPr>
          <p:cNvPr id="10" name="">
            <a:extLst>
              <a:ext uri="{FF2B5EF4-FFF2-40B4-BE49-F238E27FC236}">
                <ns2:creationId id="{122A6C9B-6F9E-4B64-B23E-18BD1F7126DD}"/>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27F6C135-59F2-49FD-9D6F-460032C7B786}"/>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4AE0784D-63D9-45D5-837D-EBCE3074BBC0}"/>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53E04752-44FB-4E19-A02D-18F7088897DD}"/>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B4ECB448-737E-49F9-92C5-9A52AD0BAD2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C091B4CA-30AA-4972-9AA2-40C49AD4670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61  정답과 해설</a:t>
            </a:r>
          </a:p>
        </p:txBody>
      </p:sp>
      <p:sp>
        <p:nvSpPr>
          <p:cNvPr id="4" name="">
            <a:extLst>
              <a:ext uri="{FF2B5EF4-FFF2-40B4-BE49-F238E27FC236}">
                <ns2:creationId id="{2011EA79-9ADE-4968-AE5E-D0ACF26AC85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65EDB5C-4A42-43F5-9BBF-A7AE30FEEAE1}"/>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56BC1E64-9EFD-4B77-9F3C-5D50B715BBB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EC8E0865-9EE1-4355-9521-8915F45C7FEF}"/>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122</a:t>
            </a:r>
          </a:p>
        </p:txBody>
      </p:sp>
      <p:sp>
        <p:nvSpPr>
          <p:cNvPr id="8" name="text-178-64">
            <a:extLst>
              <a:ext uri="{FF2B5EF4-FFF2-40B4-BE49-F238E27FC236}">
                <ns2:creationId id="{7D9B6F94-AEFF-4786-8E7D-043D5B29BD2C}"/>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인덱스가 0부터인 [5,2,4,1]을 오름차순 삽입 정렬한다. i=1부터 시작해 현재 a[i]를 앞의 정렬된 구간</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a[0]~a[i−1]에 삽입한다. i=1과 i=2의 삽입을 마친 직후 배열을 각각 쓰시오.</a:t>
            </a:r>
          </a:p>
        </p:txBody>
      </p:sp>
      <p:sp>
        <p:nvSpPr>
          <p:cNvPr id="9" name="">
            <a:extLst>
              <a:ext uri="{FF2B5EF4-FFF2-40B4-BE49-F238E27FC236}">
                <ns2:creationId id="{6DFB5C05-CBAD-4E19-ADFF-15830CA73C72}"/>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B12BE5DE-E7F0-4007-BB59-71392EB29895}"/>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[2,5,4,1], [2,4,5,1]</a:t>
            </a:r>
          </a:p>
        </p:txBody>
      </p:sp>
      <p:sp>
        <p:nvSpPr>
          <p:cNvPr id="11" name="text-324.4-64">
            <a:extLst>
              <a:ext uri="{FF2B5EF4-FFF2-40B4-BE49-F238E27FC236}">
                <ns2:creationId id="{911F4AC0-3460-4916-8285-ADFEB197E613}"/>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E3C49369-6A2A-49A5-B347-C291CFA5C9CF}"/>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A8961BE6-7770-4631-B5C0-47103DEB0900}"/>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2를 5 앞에, 다음 4를 2와 5 사이에 삽입한다.</a:t>
            </a:r>
          </a:p>
        </p:txBody>
      </p:sp>
    </p:spTree>
    <p:extLst>
      <p:ext uri="{BB962C8B-B14F-4D97-AF65-F5344CB8AC3E}">
        <ns3:creationId val="462685519"/>
      </p:ext>
    </p:extLst>
  </p:cSld>
</p:sld>
</file>

<file path=ppt/slides/slide1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003386FE-AD85-4984-B990-00D6D54587E1}"/>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D99F6916-C66E-4497-89BF-86881409211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F7D3315-8429-4BB5-A19F-B88D794228B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62  </a:t>
            </a:r>
          </a:p>
        </p:txBody>
      </p:sp>
      <p:sp>
        <p:nvSpPr>
          <p:cNvPr id="4" name="">
            <a:extLst>
              <a:ext uri="{FF2B5EF4-FFF2-40B4-BE49-F238E27FC236}">
                <ns2:creationId id="{7FE4807B-5F61-453E-90ED-108334DA1C0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940AE0B-E8DA-466E-9FAB-CBA0DD4D16E1}"/>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E0F7517-22BE-4818-B0B0-A00E5055B44B}"/>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01472B3-35A7-4F28-A850-06FE25A48841}"/>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123</a:t>
            </a:r>
          </a:p>
        </p:txBody>
      </p:sp>
      <p:sp>
        <p:nvSpPr>
          <p:cNvPr id="8" name="text-178-64">
            <a:extLst>
              <a:ext uri="{FF2B5EF4-FFF2-40B4-BE49-F238E27FC236}">
                <ns2:creationId id="{34FCA017-C0EB-4FC9-AFE6-86C950C2741F}"/>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[4,3,2,1]을 오름차순 삽입 정렬한다. 두 번째 원소부터 현재 값을 key에 보관하고,</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앞부분에서 key보다 큰 원소를 오른쪽으로 한 칸씩 민 뒤 key를 넣는다. 원소를 한 칸 미는</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대입은 총 몇 회인가? key를 보관하거나 마지막에 넣는 대입은 세지 않는다.</a:t>
            </a:r>
          </a:p>
        </p:txBody>
      </p:sp>
      <p:sp>
        <p:nvSpPr>
          <p:cNvPr id="9" name="text-405-64">
            <a:extLst>
              <a:ext uri="{FF2B5EF4-FFF2-40B4-BE49-F238E27FC236}">
                <ns2:creationId id="{DBDD9E0A-A16B-4F06-B05E-79560D6658F0}"/>
              </a:ext>
            </a:extLst>
          </p:cNvPr>
          <p:cNvSpPr>
            <a:spLocks noGrp="1"/>
          </p:cNvSpPr>
          <p:nvPr/>
        </p:nvSpPr>
        <p:spPr>
          <a:xfrm>
            <a:off x="609600" y="2913888"/>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3293A399-4577-47CC-BD22-68525F1841A3}"/>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926E88D0-F2D8-4655-AB9F-664113B79A93}"/>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1BBB91BF-1BCA-4619-A499-E9549166FE2A}"/>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6D643DA8-55F9-4C8D-809E-5EBBECE0E45C}"/>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CAB7A850-0904-4C2F-AA60-B85599C51071}"/>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959268D-A076-4E93-9FF6-B02501A64A7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62  정답과 해설</a:t>
            </a:r>
          </a:p>
        </p:txBody>
      </p:sp>
      <p:sp>
        <p:nvSpPr>
          <p:cNvPr id="4" name="">
            <a:extLst>
              <a:ext uri="{FF2B5EF4-FFF2-40B4-BE49-F238E27FC236}">
                <ns2:creationId id="{1A4FD635-BBB3-4F95-81EF-182EAC9FC9D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0DF51C5-AF17-4D65-B4E8-4434828130E5}"/>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E44C5F2-E6BF-48A8-B1EC-5D021F315D78}"/>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DFDEBB2-4C00-42BD-92B6-93EA0FFF1F5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124</a:t>
            </a:r>
          </a:p>
        </p:txBody>
      </p:sp>
      <p:sp>
        <p:nvSpPr>
          <p:cNvPr id="8" name="text-178-64">
            <a:extLst>
              <a:ext uri="{FF2B5EF4-FFF2-40B4-BE49-F238E27FC236}">
                <ns2:creationId id="{D6E5AB58-4A9E-48E1-8022-A5FEF4938C06}"/>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배열 [4,3,2,1]을 오름차순 삽입 정렬한다. 두 번째 원소부터 현재 값을 key에 보관하고, 앞부분에서 key보다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큰 원소를 오른쪽으로 한 칸씩 민 뒤 key를 넣는다. 원소를 한 칸 미는 대입은 총 몇 회인가? key를</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보관하거나 마지막에 넣는 대입은 세지 않는다.</a:t>
            </a:r>
          </a:p>
        </p:txBody>
      </p:sp>
      <p:sp>
        <p:nvSpPr>
          <p:cNvPr id="9" name="">
            <a:extLst>
              <a:ext uri="{FF2B5EF4-FFF2-40B4-BE49-F238E27FC236}">
                <ns2:creationId id="{5BA2245B-BEA5-49E2-840E-13BDDF79B1A9}"/>
              </a:ext>
            </a:extLst>
          </p:cNvPr>
          <p:cNvSpPr>
            <a:spLocks noGrp="1"/>
          </p:cNvSpPr>
          <p:nvPr/>
        </p:nvSpPr>
        <p:spPr>
          <a:xfrm>
            <a:off x="609600" y="2737104"/>
            <a:ext cx="10972800" cy="498729"/>
          </a:xfrm>
          <a:prstGeom prst="rect">
            <a:avLst/>
          </a:prstGeom>
          <a:solidFill>
            <a:srgbClr val="171717"/>
          </a:solidFill>
          <a:ln w="0">
            <a:noFill/>
          </a:ln>
        </p:spPr>
      </p:sp>
      <p:sp>
        <p:nvSpPr>
          <p:cNvPr id="10" name="text-279.2-92">
            <a:extLst>
              <a:ext uri="{FF2B5EF4-FFF2-40B4-BE49-F238E27FC236}">
                <ns2:creationId id="{E66478E1-B149-4FF4-920B-E35C077AE3E5}"/>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6회</a:t>
            </a:r>
          </a:p>
        </p:txBody>
      </p:sp>
      <p:sp>
        <p:nvSpPr>
          <p:cNvPr id="11" name="text-358-64">
            <a:extLst>
              <a:ext uri="{FF2B5EF4-FFF2-40B4-BE49-F238E27FC236}">
                <ns2:creationId id="{CCE1055D-E2EB-4D44-9A85-0D54028A66FA}"/>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C9C687EC-9BAC-4BB4-B4DF-5D97E5B7FACB}"/>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0A928D83-B6DC-4479-9970-61E203AD6665}"/>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각 삽입에서 1,2,3개를 이동시킨다.</a:t>
            </a:r>
          </a:p>
        </p:txBody>
      </p:sp>
    </p:spTree>
    <p:extLst>
      <p:ext uri="{BB962C8B-B14F-4D97-AF65-F5344CB8AC3E}">
        <ns3:creationId val="462685519"/>
      </p:ext>
    </p:extLst>
  </p:cSld>
</p:sld>
</file>

<file path=ppt/slides/slide12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73619A7B-D81B-4766-A884-5C1FE661A071}"/>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445C2082-FCB1-4667-9106-E0ABE8F1F007}"/>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8909833-D69C-4DC9-8D60-9151DFD7067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64  </a:t>
            </a:r>
          </a:p>
        </p:txBody>
      </p:sp>
      <p:sp>
        <p:nvSpPr>
          <p:cNvPr id="4" name="">
            <a:extLst>
              <a:ext uri="{FF2B5EF4-FFF2-40B4-BE49-F238E27FC236}">
                <ns2:creationId id="{631614F7-D809-4827-8AF4-D9CB24A50B3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C41629D-24B6-4763-A994-4B607D3411EC}"/>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64C008AC-3F08-46AC-A160-ACD5B6600DA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4587966-331A-430B-9564-D4397BDEF3F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127</a:t>
            </a:r>
          </a:p>
        </p:txBody>
      </p:sp>
      <p:sp>
        <p:nvSpPr>
          <p:cNvPr id="8" name="text-178-64">
            <a:extLst>
              <a:ext uri="{FF2B5EF4-FFF2-40B4-BE49-F238E27FC236}">
                <ns2:creationId id="{A033D047-2478-4896-B2C9-8A8092201A6F}"/>
              </a:ext>
            </a:extLst>
          </p:cNvPr>
          <p:cNvSpPr>
            <a:spLocks noGrp="1"/>
          </p:cNvSpPr>
          <p:nvPr/>
        </p:nvSpPr>
        <p:spPr>
          <a:xfrm>
            <a:off x="609600" y="1619250"/>
            <a:ext cx="10972800" cy="152933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1번부터 9번까지 동전 중 정확히 하나가 가볍고, 진짜 동전의 무게는 모두 같다. 양팔저울에</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1~3번과 4~6번을 올렸더니 무게가 같았다. ① 가짜일 수 있는 동전 번호를 쓰시오. ② 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결과를 알고 난 뒤, 가짜를 반드시 찾는 데 추가로 필요한 저울질의 최소 횟수는 최악의</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경우 몇 회인가?</a:t>
            </a:r>
          </a:p>
        </p:txBody>
      </p:sp>
      <p:sp>
        <p:nvSpPr>
          <p:cNvPr id="9" name="text-405-64">
            <a:extLst>
              <a:ext uri="{FF2B5EF4-FFF2-40B4-BE49-F238E27FC236}">
                <ns2:creationId id="{DADCDC72-682C-40F5-A7C0-FF76D1D59C98}"/>
              </a:ext>
            </a:extLst>
          </p:cNvPr>
          <p:cNvSpPr>
            <a:spLocks noGrp="1"/>
          </p:cNvSpPr>
          <p:nvPr/>
        </p:nvSpPr>
        <p:spPr>
          <a:xfrm>
            <a:off x="609600" y="328193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B12A3356-36F2-44E1-9BFC-055CC5ADEE79}"/>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1B4BCBE9-F0DC-49B5-8414-1FD9CCF22102}"/>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B86C0AA0-BA49-40CF-9030-3E75A7381393}"/>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2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35465943-CC9D-4232-A122-C5F234A3F06C}"/>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B6FEB4B8-4D44-4C2A-9E28-E7253F507438}"/>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E3C1855-42AA-49F2-89E6-F68879114BAB}"/>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64  정답과 해설</a:t>
            </a:r>
          </a:p>
        </p:txBody>
      </p:sp>
      <p:sp>
        <p:nvSpPr>
          <p:cNvPr id="4" name="">
            <a:extLst>
              <a:ext uri="{FF2B5EF4-FFF2-40B4-BE49-F238E27FC236}">
                <ns2:creationId id="{5EBB7EA7-A9AA-456E-9CD8-49FD94A7453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A06B79D-3747-4B02-B904-954B3F07F8D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059CD26-D897-41EF-9F5E-DBF9A61D3084}"/>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971007F-71ED-4258-B313-E8680CB757F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128</a:t>
            </a:r>
          </a:p>
        </p:txBody>
      </p:sp>
      <p:sp>
        <p:nvSpPr>
          <p:cNvPr id="8" name="text-178-64">
            <a:extLst>
              <a:ext uri="{FF2B5EF4-FFF2-40B4-BE49-F238E27FC236}">
                <ns2:creationId id="{19D1E192-2E2B-45E6-818B-8BB0FF3AF50C}"/>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1번부터 9번까지 동전 중 정확히 하나가 가볍고, 진짜 동전의 무게는 모두 같다. 양팔저울에 1~3번과</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4~6번을 올렸더니 무게가 같았다. ① 가짜일 수 있는 동전 번호를 쓰시오. ② 이 결과를 알고 난 뒤, 가짜를</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반드시 찾는 데 추가로 필요한 저울질의 최소 횟수는 최악의 경우 몇 회인가?</a:t>
            </a:r>
          </a:p>
        </p:txBody>
      </p:sp>
      <p:sp>
        <p:nvSpPr>
          <p:cNvPr id="9" name="">
            <a:extLst>
              <a:ext uri="{FF2B5EF4-FFF2-40B4-BE49-F238E27FC236}">
                <ns2:creationId id="{09D4215C-E845-4F9A-9C97-9C8299BE5810}"/>
              </a:ext>
            </a:extLst>
          </p:cNvPr>
          <p:cNvSpPr>
            <a:spLocks noGrp="1"/>
          </p:cNvSpPr>
          <p:nvPr/>
        </p:nvSpPr>
        <p:spPr>
          <a:xfrm>
            <a:off x="609600" y="2737104"/>
            <a:ext cx="10972800" cy="498729"/>
          </a:xfrm>
          <a:prstGeom prst="rect">
            <a:avLst/>
          </a:prstGeom>
          <a:solidFill>
            <a:srgbClr val="171717"/>
          </a:solidFill>
          <a:ln w="0">
            <a:noFill/>
          </a:ln>
        </p:spPr>
      </p:sp>
      <p:sp>
        <p:nvSpPr>
          <p:cNvPr id="10" name="text-279.2-92">
            <a:extLst>
              <a:ext uri="{FF2B5EF4-FFF2-40B4-BE49-F238E27FC236}">
                <ns2:creationId id="{DDEFD693-61F3-4A15-9C11-76B26DBDD5B1}"/>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7~9번, 1회</a:t>
            </a:r>
          </a:p>
        </p:txBody>
      </p:sp>
      <p:sp>
        <p:nvSpPr>
          <p:cNvPr id="11" name="text-358-64">
            <a:extLst>
              <a:ext uri="{FF2B5EF4-FFF2-40B4-BE49-F238E27FC236}">
                <ns2:creationId id="{19C24B28-6361-4E06-A599-35C0F2CDE311}"/>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83BFFB70-4F22-4E55-B923-2F8A5ED18F60}"/>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244A33D5-20FF-4202-82CD-8D9BD2EC06FE}"/>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7번과 8번을 비교하면 가벼운 쪽 또는 균형일 때 9번을 고를 수 있다.</a:t>
            </a:r>
          </a:p>
        </p:txBody>
      </p:sp>
    </p:spTree>
    <p:extLst>
      <p:ext uri="{BB962C8B-B14F-4D97-AF65-F5344CB8AC3E}">
        <ns3:creationId val="462685519"/>
      </p:ext>
    </p:extLst>
  </p:cSld>
</p:sld>
</file>

<file path=ppt/slides/slide12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8420B2EA-B181-40B7-B53D-8EA8B1B52FCA}"/>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31771222-9767-40B0-A1F9-8FF1367F3E1C}"/>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50AFAD6C-B0EA-4AB1-A2E5-DE12247771E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65  </a:t>
            </a:r>
          </a:p>
        </p:txBody>
      </p:sp>
      <p:sp>
        <p:nvSpPr>
          <p:cNvPr id="4" name="">
            <a:extLst>
              <a:ext uri="{FF2B5EF4-FFF2-40B4-BE49-F238E27FC236}">
                <ns2:creationId id="{E8B5A574-AED2-4326-BB32-48E7E91D2EA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6336A74-2F7E-43DA-9A8A-590232B23E2E}"/>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CACE82DC-594F-4D0E-A9A6-808BDB4977B6}"/>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8AB165D-34FD-4E75-91D0-7C779A7A6C1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129</a:t>
            </a:r>
          </a:p>
        </p:txBody>
      </p:sp>
      <p:sp>
        <p:nvSpPr>
          <p:cNvPr id="8" name="text-178-64">
            <a:extLst>
              <a:ext uri="{FF2B5EF4-FFF2-40B4-BE49-F238E27FC236}">
                <ns2:creationId id="{2534BCB2-BB8E-43F0-88F2-2008BB27CE6D}"/>
              </a:ext>
            </a:extLst>
          </p:cNvPr>
          <p:cNvSpPr>
            <a:spLocks noGrp="1"/>
          </p:cNvSpPr>
          <p:nvPr/>
        </p:nvSpPr>
        <p:spPr>
          <a:xfrm>
            <a:off x="609600" y="1695450"/>
            <a:ext cx="10972800" cy="99212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동전 81개 중 정확히 하나만 가볍고 진짜 무게는 모두 같다. 매번 후보를 같은 수의 세</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그룹으로 나누어 두 그룹을 비교하고 가짜가 있는 한 그룹만 남긴다. 두 번 저울질한 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최대 후보 수는?</a:t>
            </a:r>
          </a:p>
        </p:txBody>
      </p:sp>
      <p:sp>
        <p:nvSpPr>
          <p:cNvPr id="9" name="text-405-64">
            <a:extLst>
              <a:ext uri="{FF2B5EF4-FFF2-40B4-BE49-F238E27FC236}">
                <ns2:creationId id="{1D75815F-9AEA-4EFA-B6CB-F53FB343277E}"/>
              </a:ext>
            </a:extLst>
          </p:cNvPr>
          <p:cNvSpPr>
            <a:spLocks noGrp="1"/>
          </p:cNvSpPr>
          <p:nvPr/>
        </p:nvSpPr>
        <p:spPr>
          <a:xfrm>
            <a:off x="609600" y="2839974"/>
            <a:ext cx="10972800" cy="342900"/>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E9764ED7-3A15-4E3F-8C39-1317C8408A54}"/>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3871568C-3066-479C-812F-B599EC595360}"/>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9825257D-6DF9-4511-994C-7FC0A308C39F}"/>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13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0F19BB11-3C98-44A9-9340-E54439D82DD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FBCA5BB2-445B-4D76-A633-ADDC95136283}"/>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FAA62B7-4F18-485C-BB1D-3386114F1A3A}"/>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65  정답과 해설</a:t>
            </a:r>
          </a:p>
        </p:txBody>
      </p:sp>
      <p:sp>
        <p:nvSpPr>
          <p:cNvPr id="4" name="">
            <a:extLst>
              <a:ext uri="{FF2B5EF4-FFF2-40B4-BE49-F238E27FC236}">
                <ns2:creationId id="{123B8EF6-8226-40DD-AEB0-3F894F19C47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99DBFCD-4514-40C4-B653-282BEEF0FDC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5E11A6C-F2F6-4377-BA7E-434708B5D4E7}"/>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B22C8C1-9799-4D53-B2BA-BABF0AAC7F6C}"/>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130</a:t>
            </a:r>
          </a:p>
        </p:txBody>
      </p:sp>
      <p:sp>
        <p:nvSpPr>
          <p:cNvPr id="8" name="text-178-64">
            <a:extLst>
              <a:ext uri="{FF2B5EF4-FFF2-40B4-BE49-F238E27FC236}">
                <ns2:creationId id="{AD123AFC-AFB4-48FE-865F-046F83B10A46}"/>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동전 81개 중 정확히 하나만 가볍고 진짜 무게는 모두 같다. 매번 후보를 같은 수의 세 그룹으로 나누어 두</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그룹을 비교하고 가짜가 있는 한 그룹만 남긴다. 두 번 저울질한 뒤 최대 후보 수는?</a:t>
            </a:r>
          </a:p>
        </p:txBody>
      </p:sp>
      <p:sp>
        <p:nvSpPr>
          <p:cNvPr id="9" name="">
            <a:extLst>
              <a:ext uri="{FF2B5EF4-FFF2-40B4-BE49-F238E27FC236}">
                <ns2:creationId id="{252C49F6-9284-4507-89D8-408C038250B6}"/>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D79D82DD-68CD-4BAE-815E-7DFC1D0BE295}"/>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9개</a:t>
            </a:r>
          </a:p>
        </p:txBody>
      </p:sp>
      <p:sp>
        <p:nvSpPr>
          <p:cNvPr id="11" name="text-324.4-64">
            <a:extLst>
              <a:ext uri="{FF2B5EF4-FFF2-40B4-BE49-F238E27FC236}">
                <ns2:creationId id="{5B6A4089-389C-4D36-9A22-D9C6C64B5E0C}"/>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67331910-2F39-4D45-A88D-D4E6A841FBF5}"/>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36EDA1C2-9575-4BB8-AEA2-A15A7BFF9FA5}"/>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81→27→9이다. 각 단계에서 같은 크기 세 그룹으로 나눈다.</a:t>
            </a:r>
          </a:p>
        </p:txBody>
      </p:sp>
    </p:spTree>
    <p:extLst>
      <p:ext uri="{BB962C8B-B14F-4D97-AF65-F5344CB8AC3E}">
        <ns3:creationId val="462685519"/>
      </p:ext>
    </p:extLst>
  </p:cSld>
</p:sld>
</file>

<file path=ppt/slides/slide13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DA392FB1-9147-4C04-BEF0-15F7E35696FF}"/>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8D59580C-C563-4DBD-B056-B3E669F8994F}"/>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25D15AC-3989-4E1A-AB6D-2D9558C1C1DC}"/>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66  </a:t>
            </a:r>
          </a:p>
        </p:txBody>
      </p:sp>
      <p:sp>
        <p:nvSpPr>
          <p:cNvPr id="4" name="">
            <a:extLst>
              <a:ext uri="{FF2B5EF4-FFF2-40B4-BE49-F238E27FC236}">
                <ns2:creationId id="{C74F5B69-DF4E-4CAA-8153-E6AB8FD767C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D2848B7-7253-4C27-BE00-F3D82B71B18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42E7B205-E455-45EC-9F51-7D1F28EF5A6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0E69187-2298-4FB1-B07A-31B6A3583911}"/>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131</a:t>
            </a:r>
          </a:p>
        </p:txBody>
      </p:sp>
      <p:sp>
        <p:nvSpPr>
          <p:cNvPr id="8" name="text-178-64">
            <a:extLst>
              <a:ext uri="{FF2B5EF4-FFF2-40B4-BE49-F238E27FC236}">
                <ns2:creationId id="{953AED09-85CE-4804-8B56-29E2ADE6A5B7}"/>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[7,2,5,2,9,4]를 기준값(피벗) 4보다 작은 값, 4와 같은 값, 4보다 큰 값의 세 그룹으로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나눈다. 각 그룹 안에서는 원래 배열에 나타난 순서를 유지한다. 세 그룹의 배열을 작은 값,</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같은 값, 큰 값 순서로 쓰시오.</a:t>
            </a:r>
          </a:p>
        </p:txBody>
      </p:sp>
      <p:sp>
        <p:nvSpPr>
          <p:cNvPr id="9" name="text-405-64">
            <a:extLst>
              <a:ext uri="{FF2B5EF4-FFF2-40B4-BE49-F238E27FC236}">
                <ns2:creationId id="{7B060D78-3449-47E9-9E38-9AE0E0405439}"/>
              </a:ext>
            </a:extLst>
          </p:cNvPr>
          <p:cNvSpPr>
            <a:spLocks noGrp="1"/>
          </p:cNvSpPr>
          <p:nvPr/>
        </p:nvSpPr>
        <p:spPr>
          <a:xfrm>
            <a:off x="609600" y="2913888"/>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FF31B7CC-9CED-44B0-B6A0-9B712489E4D6}"/>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83992CB8-CA33-4C3C-94CA-641927E1E492}"/>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CF82B6ED-01F3-402C-A9F6-0B6F6D90287E}"/>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6FABB31E-92BC-4660-B5D8-BF9B271D067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DFEB282E-72B5-4DEB-8F4E-40BCE4630CCB}"/>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0FE6066-54E2-4916-A7FF-B241511D65BC}"/>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66  정답과 해설</a:t>
            </a:r>
          </a:p>
        </p:txBody>
      </p:sp>
      <p:sp>
        <p:nvSpPr>
          <p:cNvPr id="4" name="">
            <a:extLst>
              <a:ext uri="{FF2B5EF4-FFF2-40B4-BE49-F238E27FC236}">
                <ns2:creationId id="{7DF232D3-BEE9-49EA-A7C7-60118448E7E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F60094E-F0A2-4196-AC6C-490359F7EF3E}"/>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5A595D44-44A5-47BB-A668-40B71D249550}"/>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1AE694AB-7255-4912-A67C-F89AC668196A}"/>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132</a:t>
            </a:r>
          </a:p>
        </p:txBody>
      </p:sp>
      <p:sp>
        <p:nvSpPr>
          <p:cNvPr id="8" name="text-178-64">
            <a:extLst>
              <a:ext uri="{FF2B5EF4-FFF2-40B4-BE49-F238E27FC236}">
                <ns2:creationId id="{E07DA15C-F6AF-4084-B7D4-4D120F7387D1}"/>
              </a:ext>
            </a:extLst>
          </p:cNvPr>
          <p:cNvSpPr>
            <a:spLocks noGrp="1"/>
          </p:cNvSpPr>
          <p:nvPr/>
        </p:nvSpPr>
        <p:spPr>
          <a:xfrm>
            <a:off x="609600" y="1619250"/>
            <a:ext cx="10972800" cy="688086"/>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배열 [7,2,5,2,9,4]를 기준값(피벗) 4보다 작은 값, 4와 같은 값, 4보다 큰 값의 세 그룹으로 나눈다. 각 그룹</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안에서는 원래 배열에 나타난 순서를 유지한다. 세 그룹의 배열을 작은 값, 같은 값, 큰 값 순서로 쓰시오.</a:t>
            </a:r>
          </a:p>
        </p:txBody>
      </p:sp>
      <p:sp>
        <p:nvSpPr>
          <p:cNvPr id="9" name="">
            <a:extLst>
              <a:ext uri="{FF2B5EF4-FFF2-40B4-BE49-F238E27FC236}">
                <ns2:creationId id="{5B90AACE-E9A9-484B-A23A-74A5D56FF878}"/>
              </a:ext>
            </a:extLst>
          </p:cNvPr>
          <p:cNvSpPr>
            <a:spLocks noGrp="1"/>
          </p:cNvSpPr>
          <p:nvPr/>
        </p:nvSpPr>
        <p:spPr>
          <a:xfrm>
            <a:off x="609600" y="2421636"/>
            <a:ext cx="10972800" cy="498729"/>
          </a:xfrm>
          <a:prstGeom prst="rect">
            <a:avLst/>
          </a:prstGeom>
          <a:solidFill>
            <a:srgbClr val="171717"/>
          </a:solidFill>
          <a:ln w="0">
            <a:noFill/>
          </a:ln>
        </p:spPr>
      </p:sp>
      <p:sp>
        <p:nvSpPr>
          <p:cNvPr id="10" name="text-279.2-92">
            <a:extLst>
              <a:ext uri="{FF2B5EF4-FFF2-40B4-BE49-F238E27FC236}">
                <ns2:creationId id="{0042E2CF-D86F-4622-BD66-AD9C637C6385}"/>
              </a:ext>
            </a:extLst>
          </p:cNvPr>
          <p:cNvSpPr>
            <a:spLocks noGrp="1"/>
          </p:cNvSpPr>
          <p:nvPr/>
        </p:nvSpPr>
        <p:spPr>
          <a:xfrm>
            <a:off x="876300" y="2497836"/>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[2,2], [4], [7,5,9]</a:t>
            </a:r>
          </a:p>
        </p:txBody>
      </p:sp>
      <p:sp>
        <p:nvSpPr>
          <p:cNvPr id="11" name="text-358-64">
            <a:extLst>
              <a:ext uri="{FF2B5EF4-FFF2-40B4-BE49-F238E27FC236}">
                <ns2:creationId id="{266929D8-BCB5-4B63-BBDD-9747721FBD05}"/>
              </a:ext>
            </a:extLst>
          </p:cNvPr>
          <p:cNvSpPr>
            <a:spLocks noGrp="1"/>
          </p:cNvSpPr>
          <p:nvPr/>
        </p:nvSpPr>
        <p:spPr>
          <a:xfrm>
            <a:off x="609600" y="3015615"/>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AA5CD4BA-4985-46B4-B456-1E2E47341774}"/>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29515B47-F006-4E9F-9F36-B7B20C33BC13}"/>
              </a:ext>
            </a:extLst>
          </p:cNvPr>
          <p:cNvSpPr>
            <a:spLocks noGrp="1"/>
          </p:cNvSpPr>
          <p:nvPr/>
        </p:nvSpPr>
        <p:spPr>
          <a:xfrm>
            <a:off x="609600" y="3392805"/>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각 원소를 4와 비교하여 세 구간에 넣는다.</a:t>
            </a:r>
          </a:p>
        </p:txBody>
      </p:sp>
    </p:spTree>
    <p:extLst>
      <p:ext uri="{BB962C8B-B14F-4D97-AF65-F5344CB8AC3E}">
        <ns3:creationId val="462685519"/>
      </p:ext>
    </p:extLst>
  </p:cSld>
</p:sld>
</file>

<file path=ppt/slides/slide13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97ADEAAA-8D32-4C88-A4E1-AF693C255C47}"/>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454C1658-32BE-4E70-83CE-978CC029926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E8C93BE-C555-4B33-9627-A239CEAF0731}"/>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67  </a:t>
            </a:r>
          </a:p>
        </p:txBody>
      </p:sp>
      <p:sp>
        <p:nvSpPr>
          <p:cNvPr id="4" name="">
            <a:extLst>
              <a:ext uri="{FF2B5EF4-FFF2-40B4-BE49-F238E27FC236}">
                <ns2:creationId id="{98ACFE8F-2424-4338-9ECF-B9B356D0A0D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7DF38E8-E639-481D-B6BA-352DF7AF00C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6717D53-9795-4891-A728-0C1FED93A75F}"/>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81CCA62-9D57-40ED-B2A5-27C120B4BF1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133</a:t>
            </a:r>
          </a:p>
        </p:txBody>
      </p:sp>
      <p:sp>
        <p:nvSpPr>
          <p:cNvPr id="8" name="text-178-64">
            <a:extLst>
              <a:ext uri="{FF2B5EF4-FFF2-40B4-BE49-F238E27FC236}">
                <ns2:creationId id="{900CEC5C-50DC-42E7-A403-53CB610296C4}"/>
              </a:ext>
            </a:extLst>
          </p:cNvPr>
          <p:cNvSpPr>
            <a:spLocks noGrp="1"/>
          </p:cNvSpPr>
          <p:nvPr/>
        </p:nvSpPr>
        <p:spPr>
          <a:xfrm>
            <a:off x="609600" y="1619250"/>
            <a:ext cx="10972800" cy="152933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[7,2,5,2,9,4]에서 중복된 값도 각각 세어 5번째로 작은 값을 찾는다. 기준값 4보다 작은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값, 같은 값, 큰 값의 세 그룹으로 나눈다. 작은 그룹과 같은 그룹을 제외하고 큰 그룹에서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계속 찾는다. ① 큰 그룹 안에서는 몇 번째로 작은 값을 찾아야 하는가? ② 최종 찾는 값은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무엇인가? 순위는 1부터 센다.</a:t>
            </a:r>
          </a:p>
        </p:txBody>
      </p:sp>
      <p:sp>
        <p:nvSpPr>
          <p:cNvPr id="9" name="text-405-64">
            <a:extLst>
              <a:ext uri="{FF2B5EF4-FFF2-40B4-BE49-F238E27FC236}">
                <ns2:creationId id="{4B429BB0-84E1-4E43-B2C0-941CCB0403B6}"/>
              </a:ext>
            </a:extLst>
          </p:cNvPr>
          <p:cNvSpPr>
            <a:spLocks noGrp="1"/>
          </p:cNvSpPr>
          <p:nvPr/>
        </p:nvSpPr>
        <p:spPr>
          <a:xfrm>
            <a:off x="609600" y="328193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D84D8A8C-FD79-4FB0-A72C-FBC7261EF481}"/>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AD4FCAD6-3D3E-43A2-B620-6751DD6E734C}"/>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4B1FD5DC-1CB2-491C-9E2D-6F47F94FD317}"/>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3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BED5AFAD-808B-40FE-B58C-23993888ED8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794FD213-8156-4927-9E5A-175070A06C0F}"/>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0C2B10D-57FC-49CB-93AB-0F61384E033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67  정답과 해설</a:t>
            </a:r>
          </a:p>
        </p:txBody>
      </p:sp>
      <p:sp>
        <p:nvSpPr>
          <p:cNvPr id="4" name="">
            <a:extLst>
              <a:ext uri="{FF2B5EF4-FFF2-40B4-BE49-F238E27FC236}">
                <ns2:creationId id="{1B4B3741-724E-4057-8815-FE42E94003E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C63BFEE-0689-4216-8E08-E3B8DF4EFEF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1D988A1-0919-4B0D-B075-31535281231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63D00C8-4FCA-4EB0-958F-89DAE648922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134</a:t>
            </a:r>
          </a:p>
        </p:txBody>
      </p:sp>
      <p:sp>
        <p:nvSpPr>
          <p:cNvPr id="8" name="text-178-64">
            <a:extLst>
              <a:ext uri="{FF2B5EF4-FFF2-40B4-BE49-F238E27FC236}">
                <ns2:creationId id="{40697B00-248F-422C-BD86-814A159275AE}"/>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배열 [7,2,5,2,9,4]에서 중복된 값도 각각 세어 5번째로 작은 값을 찾는다. 기준값 4보다 작은 값, 같은 값, 큰</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값의 세 그룹으로 나눈다. 작은 그룹과 같은 그룹을 제외하고 큰 그룹에서 계속 찾는다. ① 큰 그룹</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안에서는 몇 번째로 작은 값을 찾아야 하는가? ② 최종 찾는 값은 무엇인가? 순위는 1부터 센다.</a:t>
            </a:r>
          </a:p>
        </p:txBody>
      </p:sp>
      <p:sp>
        <p:nvSpPr>
          <p:cNvPr id="9" name="">
            <a:extLst>
              <a:ext uri="{FF2B5EF4-FFF2-40B4-BE49-F238E27FC236}">
                <ns2:creationId id="{6D84C5DD-9626-4A6A-91F1-B07CDECDB5EA}"/>
              </a:ext>
            </a:extLst>
          </p:cNvPr>
          <p:cNvSpPr>
            <a:spLocks noGrp="1"/>
          </p:cNvSpPr>
          <p:nvPr/>
        </p:nvSpPr>
        <p:spPr>
          <a:xfrm>
            <a:off x="609600" y="2737104"/>
            <a:ext cx="10972800" cy="498729"/>
          </a:xfrm>
          <a:prstGeom prst="rect">
            <a:avLst/>
          </a:prstGeom>
          <a:solidFill>
            <a:srgbClr val="171717"/>
          </a:solidFill>
          <a:ln w="0">
            <a:noFill/>
          </a:ln>
        </p:spPr>
      </p:sp>
      <p:sp>
        <p:nvSpPr>
          <p:cNvPr id="10" name="text-279.2-92">
            <a:extLst>
              <a:ext uri="{FF2B5EF4-FFF2-40B4-BE49-F238E27FC236}">
                <ns2:creationId id="{455949A5-5D2D-4A87-A369-09F67B2C84C1}"/>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spcBef>
                <a:spcPts val="0"/>
              </a:spcBef>
              <a:spcAft>
                <a:spcPts val="0"/>
              </a:spcAft>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2번째, 7</a:t>
            </a:r>
          </a:p>
        </p:txBody>
      </p:sp>
      <p:sp>
        <p:nvSpPr>
          <p:cNvPr id="11" name="text-358-64">
            <a:extLst>
              <a:ext uri="{FF2B5EF4-FFF2-40B4-BE49-F238E27FC236}">
                <ns2:creationId id="{AFE19EF7-4ADE-46C7-AD26-232875812A94}"/>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69A29950-F30B-4DA4-AB2D-19154CA7568D}"/>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01CF91CD-DB33-4C72-99AA-5ADEBBE88C1D}"/>
              </a:ext>
            </a:extLst>
          </p:cNvPr>
          <p:cNvSpPr>
            <a:spLocks noGrp="1"/>
          </p:cNvSpPr>
          <p:nvPr/>
        </p:nvSpPr>
        <p:spPr>
          <a:xfrm>
            <a:off x="609600" y="3708273"/>
            <a:ext cx="10972800" cy="635508"/>
          </a:xfrm>
          <a:prstGeom prst="rect">
            <a:avLst/>
          </a:prstGeom>
          <a:noFill/>
          <a:ln w="0">
            <a:noFill/>
          </a:ln>
        </p:spPr>
        <p:txBody>
          <a:bodyPr wrap="none" lIns="0" tIns="0" rIns="0" bIns="0" anchor="t">
            <a:noAutofit/>
          </a:bodyPr>
          <a:lstStyle/>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작은 값 2개와 같은 값 1개를 제외하면 새 순위는 5 − 2 − 1 = 2이다.</a:t>
            </a:r>
          </a:p>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큰 값 [7,5,9] 중 두 번째로 작은 값은 7이다.</a:t>
            </a:r>
          </a:p>
        </p:txBody>
      </p:sp>
    </p:spTree>
    <p:extLst>
      <p:ext uri="{BB962C8B-B14F-4D97-AF65-F5344CB8AC3E}">
        <ns3:creationId val="462685519"/>
      </p:ext>
    </p:extLst>
  </p:cSld>
</p:sld>
</file>

<file path=ppt/slides/slide13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D3BFC538-863C-452E-B3D1-ADD1990D7111}"/>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0BC866E5-F842-40E8-856E-72AE9F848CA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B82CB40-175B-4017-8F17-AEF42721B2B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68  </a:t>
            </a:r>
          </a:p>
        </p:txBody>
      </p:sp>
      <p:sp>
        <p:nvSpPr>
          <p:cNvPr id="4" name="">
            <a:extLst>
              <a:ext uri="{FF2B5EF4-FFF2-40B4-BE49-F238E27FC236}">
                <ns2:creationId id="{45D08A59-8F0A-4F6F-AB17-B67131A9AF1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093CD5E-1D83-4741-A11C-0184E06A376A}"/>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69D385F2-A0A2-43BF-87DD-C02A19CBF0D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3C695319-FD3C-47F5-8274-07CBDAFA5FE5}"/>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135</a:t>
            </a:r>
          </a:p>
        </p:txBody>
      </p:sp>
      <p:sp>
        <p:nvSpPr>
          <p:cNvPr id="8" name="text-178-64">
            <a:extLst>
              <a:ext uri="{FF2B5EF4-FFF2-40B4-BE49-F238E27FC236}">
                <ns2:creationId id="{F46C7628-9206-493C-9047-555EB3026B6F}"/>
              </a:ext>
            </a:extLst>
          </p:cNvPr>
          <p:cNvSpPr>
            <a:spLocks noGrp="1"/>
          </p:cNvSpPr>
          <p:nvPr/>
        </p:nvSpPr>
        <p:spPr>
          <a:xfrm>
            <a:off x="609600" y="16954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[4,1,4,2,4,7]에서 중복도 각각 세어 4번째로 작은 값을 찾는다. 피벗 4로 분할할 때 L은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4보다 작은 원소 수, E는 4와 같은 원소 수이다. L,E와 찾는 값을 쓰시오.</a:t>
            </a:r>
          </a:p>
        </p:txBody>
      </p:sp>
      <p:sp>
        <p:nvSpPr>
          <p:cNvPr id="9" name="text-405-64">
            <a:extLst>
              <a:ext uri="{FF2B5EF4-FFF2-40B4-BE49-F238E27FC236}">
                <ns2:creationId id="{05B8611F-C6D6-4F1E-B31B-6B82B81F3D77}"/>
              </a:ext>
            </a:extLst>
          </p:cNvPr>
          <p:cNvSpPr>
            <a:spLocks noGrp="1"/>
          </p:cNvSpPr>
          <p:nvPr/>
        </p:nvSpPr>
        <p:spPr>
          <a:xfrm>
            <a:off x="609600" y="2509266"/>
            <a:ext cx="10972800" cy="342900"/>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9AFD2C70-98D4-48E6-86F1-BBC26432C7EE}"/>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ECE3A46C-D9D0-4623-9C10-588E0E51CB5B}"/>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9028CB94-73D8-4193-9743-A397D2263747}"/>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13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11CC8EED-C4B3-406A-B1B4-0459E6A3C7F3}"/>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AC1C1793-A931-482E-979C-3ECA3892787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FD79CBF-01CA-4B2D-B097-5DB42DBED1A2}"/>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68  정답과 해설</a:t>
            </a:r>
          </a:p>
        </p:txBody>
      </p:sp>
      <p:sp>
        <p:nvSpPr>
          <p:cNvPr id="4" name="">
            <a:extLst>
              <a:ext uri="{FF2B5EF4-FFF2-40B4-BE49-F238E27FC236}">
                <ns2:creationId id="{2AA3384B-68C1-424A-A377-0C407862614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E562A1A-3187-444F-90D1-28B066B738C7}"/>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586FFA7-A413-40DE-9C4B-F6FF6FAD344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AE21609-57AE-4938-AE0A-277ED4849AD5}"/>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136</a:t>
            </a:r>
          </a:p>
        </p:txBody>
      </p:sp>
      <p:sp>
        <p:nvSpPr>
          <p:cNvPr id="8" name="text-178-64">
            <a:extLst>
              <a:ext uri="{FF2B5EF4-FFF2-40B4-BE49-F238E27FC236}">
                <ns2:creationId id="{C0A7E2AB-22D3-4ED4-81CF-59B9FD86DB2C}"/>
              </a:ext>
            </a:extLst>
          </p:cNvPr>
          <p:cNvSpPr>
            <a:spLocks noGrp="1"/>
          </p:cNvSpPr>
          <p:nvPr/>
        </p:nvSpPr>
        <p:spPr>
          <a:xfrm>
            <a:off x="609600" y="1695450"/>
            <a:ext cx="10972800" cy="56692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[4,1,4,2,4,7]에서 중복도 각각 세어 4번째로 작은 값을 찾는다. 피벗 4로 분할할 때 L은 4보다 작은 원소 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E는 4와 같은 원소 수이다. L,E와 찾는 값을 쓰시오.</a:t>
            </a:r>
          </a:p>
        </p:txBody>
      </p:sp>
      <p:sp>
        <p:nvSpPr>
          <p:cNvPr id="9" name="">
            <a:extLst>
              <a:ext uri="{FF2B5EF4-FFF2-40B4-BE49-F238E27FC236}">
                <ns2:creationId id="{D4ACAEA8-F57A-47B9-AB62-411517EA7DE0}"/>
              </a:ext>
            </a:extLst>
          </p:cNvPr>
          <p:cNvSpPr>
            <a:spLocks noGrp="1"/>
          </p:cNvSpPr>
          <p:nvPr/>
        </p:nvSpPr>
        <p:spPr>
          <a:xfrm>
            <a:off x="609600" y="2357628"/>
            <a:ext cx="10972800" cy="550545"/>
          </a:xfrm>
          <a:prstGeom prst="rect">
            <a:avLst/>
          </a:prstGeom>
          <a:solidFill>
            <a:srgbClr val="171717"/>
          </a:solidFill>
          <a:ln w="0">
            <a:noFill/>
          </a:ln>
        </p:spPr>
      </p:sp>
      <p:sp>
        <p:nvSpPr>
          <p:cNvPr id="10" name="text-245.6-92">
            <a:extLst>
              <a:ext uri="{FF2B5EF4-FFF2-40B4-BE49-F238E27FC236}">
                <ns2:creationId id="{722099CA-6A95-4FE9-8A04-73667A3C7200}"/>
              </a:ext>
            </a:extLst>
          </p:cNvPr>
          <p:cNvSpPr>
            <a:spLocks noGrp="1"/>
          </p:cNvSpPr>
          <p:nvPr/>
        </p:nvSpPr>
        <p:spPr>
          <a:xfrm>
            <a:off x="876300" y="2414778"/>
            <a:ext cx="10439400" cy="436245"/>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L=2,E=3, 답=4</a:t>
            </a:r>
          </a:p>
        </p:txBody>
      </p:sp>
      <p:sp>
        <p:nvSpPr>
          <p:cNvPr id="11" name="text-324.4-64">
            <a:extLst>
              <a:ext uri="{FF2B5EF4-FFF2-40B4-BE49-F238E27FC236}">
                <ns2:creationId id="{0B02DCD7-2B9E-4F60-B989-3988AA1604EF}"/>
              </a:ext>
            </a:extLst>
          </p:cNvPr>
          <p:cNvSpPr>
            <a:spLocks noGrp="1"/>
          </p:cNvSpPr>
          <p:nvPr/>
        </p:nvSpPr>
        <p:spPr>
          <a:xfrm>
            <a:off x="609600" y="3003423"/>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384D96D0-74AC-4D8D-A39D-6D8454D5B34D}"/>
              </a:ext>
            </a:extLst>
          </p:cNvPr>
          <p:cNvSpPr>
            <a:spLocks noGrp="1"/>
          </p:cNvSpPr>
          <p:nvPr/>
        </p:nvSpPr>
        <p:spPr>
          <a:xfrm>
            <a:off x="1752600" y="4104513"/>
            <a:ext cx="9829800" cy="9525"/>
          </a:xfrm>
          <a:prstGeom prst="rect">
            <a:avLst/>
          </a:prstGeom>
          <a:solidFill>
            <a:srgbClr val="D4D4D4"/>
          </a:solidFill>
          <a:ln w="0">
            <a:noFill/>
          </a:ln>
        </p:spPr>
      </p:sp>
      <p:sp>
        <p:nvSpPr>
          <p:cNvPr id="13" name="text-372.4-64">
            <a:extLst>
              <a:ext uri="{FF2B5EF4-FFF2-40B4-BE49-F238E27FC236}">
                <ns2:creationId id="{36786766-AB32-41DC-AF85-6EE68FE65427}"/>
              </a:ext>
            </a:extLst>
          </p:cNvPr>
          <p:cNvSpPr>
            <a:spLocks noGrp="1"/>
          </p:cNvSpPr>
          <p:nvPr/>
        </p:nvSpPr>
        <p:spPr>
          <a:xfrm>
            <a:off x="609600" y="3517773"/>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같은 값 구간이 3~5번째 순위를 차지한다.</a:t>
            </a:r>
          </a:p>
        </p:txBody>
      </p:sp>
    </p:spTree>
    <p:extLst>
      <p:ext uri="{BB962C8B-B14F-4D97-AF65-F5344CB8AC3E}">
        <ns3:creationId val="462685519"/>
      </p:ext>
    </p:extLst>
  </p:cSld>
</p:sld>
</file>

<file path=ppt/slides/slide13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2D6DC393-07D8-4A95-864E-9558CAE23E7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A16AD208-FDF3-47F7-8C72-32C6D202125B}"/>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F665B0C-961D-446D-8668-5F3C0E36720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69  </a:t>
            </a:r>
          </a:p>
        </p:txBody>
      </p:sp>
      <p:sp>
        <p:nvSpPr>
          <p:cNvPr id="4" name="">
            <a:extLst>
              <a:ext uri="{FF2B5EF4-FFF2-40B4-BE49-F238E27FC236}">
                <ns2:creationId id="{A4B5A781-7910-453F-88E4-377D7F360F9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442DD02-9F25-430B-BA59-69F3A6DB241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F21BC0DF-E1DF-46E6-B832-F547B4C6F314}"/>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3F49CAF6-A456-4118-A1EF-36BDB4EA4F6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137</a:t>
            </a:r>
          </a:p>
        </p:txBody>
      </p:sp>
      <p:sp>
        <p:nvSpPr>
          <p:cNvPr id="8" name="text-178-64">
            <a:extLst>
              <a:ext uri="{FF2B5EF4-FFF2-40B4-BE49-F238E27FC236}">
                <ns2:creationId id="{6B3C4C26-8E8B-4CE8-855C-76E98B916D6F}"/>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T(n)은 입력 크기 n에서 수행하는 전체 기본 연산 횟수이다. 크기 1에서는 연산을 1회 한다.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크기 n&gt;1에서는 연산 n회를 한 다음 크기 n/2의 문제 하나를 푼다. n은 1,2,4,8,… 중</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하나이다. 따라서 T(1)=1, T(n)=n+T(n/2)이다. T(8)의 정확한 값을 구하시오.</a:t>
            </a:r>
          </a:p>
        </p:txBody>
      </p:sp>
      <p:sp>
        <p:nvSpPr>
          <p:cNvPr id="9" name="text-405-64">
            <a:extLst>
              <a:ext uri="{FF2B5EF4-FFF2-40B4-BE49-F238E27FC236}">
                <ns2:creationId id="{D571C042-26DB-4E3A-9E45-B055BD291DA1}"/>
              </a:ext>
            </a:extLst>
          </p:cNvPr>
          <p:cNvSpPr>
            <a:spLocks noGrp="1"/>
          </p:cNvSpPr>
          <p:nvPr/>
        </p:nvSpPr>
        <p:spPr>
          <a:xfrm>
            <a:off x="609600" y="2913888"/>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BF50C1A4-4F8E-48BA-9601-D972A49156E4}"/>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23761DFE-E297-4A17-95F7-54EFE6241A2D}"/>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2BD550FB-72C1-471E-8EB3-71E56B819C29}"/>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3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263128AA-E856-45BC-9AB5-4EE3B1D49B19}"/>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4D28FA41-320A-4639-A40E-0F9E6E13749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B9C7AA5-B8AC-466A-A24B-128D648EC8A3}"/>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69  정답과 해설</a:t>
            </a:r>
          </a:p>
        </p:txBody>
      </p:sp>
      <p:sp>
        <p:nvSpPr>
          <p:cNvPr id="4" name="">
            <a:extLst>
              <a:ext uri="{FF2B5EF4-FFF2-40B4-BE49-F238E27FC236}">
                <ns2:creationId id="{9DA46183-0E43-4033-B23C-73EE59ED5BD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D40DBAF-9315-4F0A-B2DC-684F4E97C89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3F5AEAE2-8A90-40F3-B186-CEF26084A18B}"/>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DFBB4FD-62F5-4BB0-B368-EA4F384641AA}"/>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138</a:t>
            </a:r>
          </a:p>
        </p:txBody>
      </p:sp>
      <p:sp>
        <p:nvSpPr>
          <p:cNvPr id="8" name="text-178-64">
            <a:extLst>
              <a:ext uri="{FF2B5EF4-FFF2-40B4-BE49-F238E27FC236}">
                <ns2:creationId id="{77CED739-A3D4-4EC2-B163-FEDFF121BE16}"/>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T(n)은 입력 크기 n에서 수행하는 전체 기본 연산 횟수이다. 크기 1에서는 연산을 1회 한다. 크기</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n&gt;1에서는 연산 n회를 한 다음 크기 n/2의 문제 하나를 푼다. n은 1,2,4,8,… 중 하나이다. 따라서 T(1)=1,</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T(n)=n+T(n/2)이다. T(8)의 정확한 값을 구하시오.</a:t>
            </a:r>
          </a:p>
        </p:txBody>
      </p:sp>
      <p:sp>
        <p:nvSpPr>
          <p:cNvPr id="9" name="">
            <a:extLst>
              <a:ext uri="{FF2B5EF4-FFF2-40B4-BE49-F238E27FC236}">
                <ns2:creationId id="{CD5936BC-A2F3-4849-BF57-EA90B81F8255}"/>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8A8D3A73-8857-474D-AB9D-E6ED432E05AF}"/>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15</a:t>
            </a:r>
          </a:p>
        </p:txBody>
      </p:sp>
      <p:sp>
        <p:nvSpPr>
          <p:cNvPr id="11" name="text-324.4-64">
            <a:extLst>
              <a:ext uri="{FF2B5EF4-FFF2-40B4-BE49-F238E27FC236}">
                <ns2:creationId id="{FCD292EB-71EE-4181-91C5-96EB07FCB132}"/>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9123623D-109F-4D6C-9139-B98FCD93E25B}"/>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C43078EC-30F0-4812-802B-A22CF047788B}"/>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T(8)=8+4+2+1=15이다. 마지막 T(1)=1의 비용도 더한다.</a:t>
            </a:r>
          </a:p>
        </p:txBody>
      </p:sp>
    </p:spTree>
    <p:extLst>
      <p:ext uri="{BB962C8B-B14F-4D97-AF65-F5344CB8AC3E}">
        <ns3:creationId val="462685519"/>
      </p:ext>
    </p:extLst>
  </p:cSld>
</p:sld>
</file>

<file path=ppt/slides/slide13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538FF7BC-BC24-4E02-A795-B347EE7B758A}"/>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8C7E8B13-ADFB-4C41-9ED1-38D26D6D45D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5B85516-F984-43EB-80C2-D7C5932AE09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70  </a:t>
            </a:r>
          </a:p>
        </p:txBody>
      </p:sp>
      <p:sp>
        <p:nvSpPr>
          <p:cNvPr id="4" name="">
            <a:extLst>
              <a:ext uri="{FF2B5EF4-FFF2-40B4-BE49-F238E27FC236}">
                <ns2:creationId id="{4069C16B-9DEC-4555-A172-1FBE84EFD0E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16ACE83-23FA-4D28-B622-CB71245901C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4E202B9A-B226-4E45-9D37-CB9CCE917043}"/>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C78BAD8-990D-45C0-8275-1240CF8EC94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139</a:t>
            </a:r>
          </a:p>
        </p:txBody>
      </p:sp>
      <p:sp>
        <p:nvSpPr>
          <p:cNvPr id="8" name="text-178-64">
            <a:extLst>
              <a:ext uri="{FF2B5EF4-FFF2-40B4-BE49-F238E27FC236}">
                <ns2:creationId id="{9654EDD1-8C2E-41A7-BDDF-79CDC011845A}"/>
              </a:ext>
            </a:extLst>
          </p:cNvPr>
          <p:cNvSpPr>
            <a:spLocks noGrp="1"/>
          </p:cNvSpPr>
          <p:nvPr/>
        </p:nvSpPr>
        <p:spPr>
          <a:xfrm>
            <a:off x="609600" y="1619250"/>
            <a:ext cx="10972800" cy="152933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27행 27열 별무늬를 만드는 함수가 있다. 크기가 1이면 별 하나를 반환하고 더 호출하지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않는다. 그 외에는 크기를 3으로 나눈 무늬를 같은 함수로 한 번 구해 재사용한다. ① 크기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27의 최초 호출부터 크기 1의 마지막 호출까지 총 몇 번 호출하는가? ② 최종 27행 27열을</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모두 출력할 때 공백을 포함한 문자 수는 몇 개인가? 줄바꿈은 세지 않는다.</a:t>
            </a:r>
          </a:p>
        </p:txBody>
      </p:sp>
      <p:sp>
        <p:nvSpPr>
          <p:cNvPr id="9" name="text-405-64">
            <a:extLst>
              <a:ext uri="{FF2B5EF4-FFF2-40B4-BE49-F238E27FC236}">
                <ns2:creationId id="{03B34651-0993-42C1-AD54-8967EAFB0A30}"/>
              </a:ext>
            </a:extLst>
          </p:cNvPr>
          <p:cNvSpPr>
            <a:spLocks noGrp="1"/>
          </p:cNvSpPr>
          <p:nvPr/>
        </p:nvSpPr>
        <p:spPr>
          <a:xfrm>
            <a:off x="609600" y="328193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B7A39230-C1B1-417B-B1C3-8A0DE82D7440}"/>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90FC69A7-9E97-4638-841D-432A89D2B383}"/>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3C6859A0-8AFA-47E4-A9FA-24D41390EBA0}"/>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4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C4D32A4E-BE1B-4403-A648-C5E5E5EEDF27}"/>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계산·추적</a:t>
            </a:r>
          </a:p>
        </p:txBody>
      </p:sp>
      <p:sp>
        <p:nvSpPr>
          <p:cNvPr id="2" name="text-28-1080">
            <a:extLst>
              <a:ext uri="{FF2B5EF4-FFF2-40B4-BE49-F238E27FC236}">
                <ns2:creationId id="{F160490B-D347-4F88-A89E-0436666A307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DAB063A-055F-49EC-9CE4-6E4152B036E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70  정답과 해설</a:t>
            </a:r>
          </a:p>
        </p:txBody>
      </p:sp>
      <p:sp>
        <p:nvSpPr>
          <p:cNvPr id="4" name="">
            <a:extLst>
              <a:ext uri="{FF2B5EF4-FFF2-40B4-BE49-F238E27FC236}">
                <ns2:creationId id="{BD98E984-C5C4-43F3-84DE-D2CDEBF49CB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6D43B5C-CD23-4397-B023-031A223BBCF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25B7070-146A-4678-A007-92D6045E3AA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CA0C58D5-73B1-436E-90DA-30A7F3D28841}"/>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140</a:t>
            </a:r>
          </a:p>
        </p:txBody>
      </p:sp>
      <p:sp>
        <p:nvSpPr>
          <p:cNvPr id="8" name="text-178-64">
            <a:extLst>
              <a:ext uri="{FF2B5EF4-FFF2-40B4-BE49-F238E27FC236}">
                <ns2:creationId id="{070E2ABA-1913-4E4C-BCCF-35F175BB0348}"/>
              </a:ext>
            </a:extLst>
          </p:cNvPr>
          <p:cNvSpPr>
            <a:spLocks noGrp="1"/>
          </p:cNvSpPr>
          <p:nvPr/>
        </p:nvSpPr>
        <p:spPr>
          <a:xfrm>
            <a:off x="609600" y="1619250"/>
            <a:ext cx="10972800" cy="131902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27행 27열 별무늬를 만드는 함수가 있다. 크기가 1이면 별 하나를 반환하고 더 호출하지 않는다. 그 외에는</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크기를 3으로 나눈 무늬를 같은 함수로 한 번 구해 재사용한다. ① 크기 27의 최초 호출부터 크기 1의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마지막 호출까지 총 몇 번 호출하는가? ② 최종 27행 27열을 모두 출력할 때 공백을 포함한 문자 수는 몇</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개인가? 줄바꿈은 세지 않는다.</a:t>
            </a:r>
          </a:p>
        </p:txBody>
      </p:sp>
      <p:sp>
        <p:nvSpPr>
          <p:cNvPr id="9" name="">
            <a:extLst>
              <a:ext uri="{FF2B5EF4-FFF2-40B4-BE49-F238E27FC236}">
                <ns2:creationId id="{B24F76F0-F190-49DC-A221-3A76A3158771}"/>
              </a:ext>
            </a:extLst>
          </p:cNvPr>
          <p:cNvSpPr>
            <a:spLocks noGrp="1"/>
          </p:cNvSpPr>
          <p:nvPr/>
        </p:nvSpPr>
        <p:spPr>
          <a:xfrm>
            <a:off x="609600" y="3052572"/>
            <a:ext cx="10972800" cy="498729"/>
          </a:xfrm>
          <a:prstGeom prst="rect">
            <a:avLst/>
          </a:prstGeom>
          <a:solidFill>
            <a:srgbClr val="171717"/>
          </a:solidFill>
          <a:ln w="0">
            <a:noFill/>
          </a:ln>
        </p:spPr>
      </p:sp>
      <p:sp>
        <p:nvSpPr>
          <p:cNvPr id="10" name="text-279.2-92">
            <a:extLst>
              <a:ext uri="{FF2B5EF4-FFF2-40B4-BE49-F238E27FC236}">
                <ns2:creationId id="{97E8D84B-F60A-4A59-8992-23C2DFF18EA2}"/>
              </a:ext>
            </a:extLst>
          </p:cNvPr>
          <p:cNvSpPr>
            <a:spLocks noGrp="1"/>
          </p:cNvSpPr>
          <p:nvPr/>
        </p:nvSpPr>
        <p:spPr>
          <a:xfrm>
            <a:off x="876300" y="3128772"/>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① 4회  ② 729개</a:t>
            </a:r>
          </a:p>
        </p:txBody>
      </p:sp>
      <p:sp>
        <p:nvSpPr>
          <p:cNvPr id="11" name="text-358-64">
            <a:extLst>
              <a:ext uri="{FF2B5EF4-FFF2-40B4-BE49-F238E27FC236}">
                <ns2:creationId id="{CFFBCB65-F74E-4443-9520-FAC568C119B8}"/>
              </a:ext>
            </a:extLst>
          </p:cNvPr>
          <p:cNvSpPr>
            <a:spLocks noGrp="1"/>
          </p:cNvSpPr>
          <p:nvPr/>
        </p:nvSpPr>
        <p:spPr>
          <a:xfrm>
            <a:off x="609600" y="364655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2ACDA278-F194-4864-9077-B7A4D88FDFD7}"/>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3AD50616-2679-4AF0-B07C-0B2B8DDF194D}"/>
              </a:ext>
            </a:extLst>
          </p:cNvPr>
          <p:cNvSpPr>
            <a:spLocks noGrp="1"/>
          </p:cNvSpPr>
          <p:nvPr/>
        </p:nvSpPr>
        <p:spPr>
          <a:xfrm>
            <a:off x="609600" y="4023741"/>
            <a:ext cx="10972800" cy="63550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함수에 전달되는 크기는 27,9,3,1이므로 4회 호출한다. 최종 출력은 27행×27열=729개 위치이며, 각 위치의 별 또는</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공백을 하나의 문자로 센다.</a:t>
            </a:r>
          </a:p>
        </p:txBody>
      </p:sp>
    </p:spTree>
    <p:extLst>
      <p:ext uri="{BB962C8B-B14F-4D97-AF65-F5344CB8AC3E}">
        <ns3:creationId val="462685519"/>
      </p:ext>
    </p:extLst>
  </p:cSld>
</p:sld>
</file>

<file path=ppt/slides/slide14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F3AC6C2F-2D88-4F25-98D1-B2DDE1F2870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477E27E1-CE71-4D31-8061-8F79325D3DA7}"/>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19DC26C-0798-4975-83D9-F0D1017D93E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71  </a:t>
            </a:r>
          </a:p>
        </p:txBody>
      </p:sp>
      <p:sp>
        <p:nvSpPr>
          <p:cNvPr id="4" name="">
            <a:extLst>
              <a:ext uri="{FF2B5EF4-FFF2-40B4-BE49-F238E27FC236}">
                <ns2:creationId id="{A129E96C-7E64-4E63-B6E5-F8A12948F37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0202485-3D26-40D7-9300-AFFCF51F41BE}"/>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8BB209D-C592-4A03-8F0B-32B744C547C0}"/>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70E7D393-CE3B-4231-889B-7FD54CBAC11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141</a:t>
            </a:r>
          </a:p>
        </p:txBody>
      </p:sp>
      <p:sp>
        <p:nvSpPr>
          <p:cNvPr id="8" name="text-178-64">
            <a:extLst>
              <a:ext uri="{FF2B5EF4-FFF2-40B4-BE49-F238E27FC236}">
                <ns2:creationId id="{D0C57207-136F-48A2-A8D1-280B8818A17B}"/>
              </a:ext>
            </a:extLst>
          </p:cNvPr>
          <p:cNvSpPr>
            <a:spLocks noGrp="1"/>
          </p:cNvSpPr>
          <p:nvPr/>
        </p:nvSpPr>
        <p:spPr>
          <a:xfrm>
            <a:off x="609600" y="1619250"/>
            <a:ext cx="10972800" cy="3842766"/>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다음 Python 코드에서 N은 2,4,8,… 중 하나이다. //는 나눗셈의 정수 몫이다. count += 1 한 번을 기본</a:t>
            </a:r>
          </a:p>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연산 1회로 센다.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n = N</a:t>
            </a:r>
          </a:p>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count = 0</a:t>
            </a:r>
          </a:p>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while n &gt; 0:</a:t>
            </a:r>
          </a:p>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    for i in range(n):</a:t>
            </a:r>
          </a:p>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        count += 1</a:t>
            </a:r>
          </a:p>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    n = n // 2</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각 while 반복에서 count가 증가하는 횟수를 N을 사용해 순서대로 쓰시오.</a:t>
            </a:r>
          </a:p>
          <a:p>
            <a:pPr algn="l">
              <a:lnSpc>
                <a:spcPct val="108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n이 계속 절반으로 줄어도 전체 시간이 O(log N)이 아닌 이유를 설명하고, 전체 시간 복잡도를 쓰시오.</a:t>
            </a:r>
          </a:p>
        </p:txBody>
      </p:sp>
      <p:sp>
        <p:nvSpPr>
          <p:cNvPr id="9" name="text-405-64">
            <a:extLst>
              <a:ext uri="{FF2B5EF4-FFF2-40B4-BE49-F238E27FC236}">
                <ns2:creationId id="{978CC342-32B6-4D68-B49B-5F9145A0ACE4}"/>
              </a:ext>
            </a:extLst>
          </p:cNvPr>
          <p:cNvSpPr>
            <a:spLocks noGrp="1"/>
          </p:cNvSpPr>
          <p:nvPr/>
        </p:nvSpPr>
        <p:spPr>
          <a:xfrm>
            <a:off x="609600" y="5595366"/>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556C9612-6FAF-4014-9E96-7C2FEF893D1B}"/>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AF5883E5-9A1B-439D-B223-9ACE587C74EE}"/>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F6710CB9-AF38-45BC-968B-BEB6487FF961}"/>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4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82051E0C-FEF9-415C-8643-9AC2974E9AC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86487788-AE55-420C-9C34-A11CA1FAC49C}"/>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6012719-CD38-4A6F-B17D-2AA6DE1B428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71  정답과 해설</a:t>
            </a:r>
          </a:p>
        </p:txBody>
      </p:sp>
      <p:sp>
        <p:nvSpPr>
          <p:cNvPr id="4" name="">
            <a:extLst>
              <a:ext uri="{FF2B5EF4-FFF2-40B4-BE49-F238E27FC236}">
                <ns2:creationId id="{9C35F2CD-9FC4-49A8-9327-A6319FF4FDF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0EAB897-2866-4F20-B4FE-81FE5931638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F5F6DB8-0603-4450-8F13-1F26333F289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3ECDE71-BD14-4A6F-900E-693B18573FD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142</a:t>
            </a:r>
          </a:p>
        </p:txBody>
      </p:sp>
      <p:sp>
        <p:nvSpPr>
          <p:cNvPr id="8" name="text-178-64">
            <a:extLst>
              <a:ext uri="{FF2B5EF4-FFF2-40B4-BE49-F238E27FC236}">
                <ns2:creationId id="{BF055B37-D9F1-4BAB-9FA8-8A7D417E4035}"/>
              </a:ext>
            </a:extLst>
          </p:cNvPr>
          <p:cNvSpPr>
            <a:spLocks noGrp="1"/>
          </p:cNvSpPr>
          <p:nvPr/>
        </p:nvSpPr>
        <p:spPr>
          <a:xfrm>
            <a:off x="609600" y="1619250"/>
            <a:ext cx="10972800" cy="29489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다음 Python 코드에서 N은 2,4,8,… 중 하나이다. //는 나눗셈의 정수 몫이다. count += 1 한 번을 기본 연산 1회로 센다.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n = N</a:t>
            </a:r>
          </a:p>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count = 0</a:t>
            </a:r>
          </a:p>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while n &gt; 0:</a:t>
            </a:r>
          </a:p>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    for i in range(n):</a:t>
            </a:r>
          </a:p>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        count += 1</a:t>
            </a:r>
          </a:p>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    n = n // 2</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① 각 while 반복에서 count가 증가하는 횟수를 N을 사용해 순서대로 쓰시오.</a:t>
            </a:r>
          </a:p>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② n이 계속 절반으로 줄어도 전체 시간이 O(log N)이 아닌 이유를 설명하고, 전체 시간 복잡도를 쓰시오.</a:t>
            </a:r>
          </a:p>
        </p:txBody>
      </p:sp>
      <p:sp>
        <p:nvSpPr>
          <p:cNvPr id="9" name="">
            <a:extLst>
              <a:ext uri="{FF2B5EF4-FFF2-40B4-BE49-F238E27FC236}">
                <ns2:creationId id="{6CC35272-D596-42EA-8DC9-1EFD6FFB050B}"/>
              </a:ext>
            </a:extLst>
          </p:cNvPr>
          <p:cNvSpPr>
            <a:spLocks noGrp="1"/>
          </p:cNvSpPr>
          <p:nvPr/>
        </p:nvSpPr>
        <p:spPr>
          <a:xfrm>
            <a:off x="609600" y="4682490"/>
            <a:ext cx="10972800" cy="485584"/>
          </a:xfrm>
          <a:prstGeom prst="rect">
            <a:avLst/>
          </a:prstGeom>
          <a:solidFill>
            <a:srgbClr val="171717"/>
          </a:solidFill>
          <a:ln w="0">
            <a:noFill/>
          </a:ln>
        </p:spPr>
      </p:sp>
      <p:sp>
        <p:nvSpPr>
          <p:cNvPr id="10" name="text-245.6-92">
            <a:extLst>
              <a:ext uri="{FF2B5EF4-FFF2-40B4-BE49-F238E27FC236}">
                <ns2:creationId id="{F414B900-90F4-4DB7-B188-8540A6F65ED8}"/>
              </a:ext>
            </a:extLst>
          </p:cNvPr>
          <p:cNvSpPr>
            <a:spLocks noGrp="1"/>
          </p:cNvSpPr>
          <p:nvPr/>
        </p:nvSpPr>
        <p:spPr>
          <a:xfrm>
            <a:off x="876300" y="4758690"/>
            <a:ext cx="10439400" cy="333184"/>
          </a:xfrm>
          <a:prstGeom prst="rect">
            <a:avLst/>
          </a:prstGeom>
          <a:noFill/>
          <a:ln w="0">
            <a:noFill/>
          </a:ln>
        </p:spPr>
        <p:txBody>
          <a:bodyPr wrap="none" lIns="0" tIns="0" rIns="0" bIns="0" anchor="t">
            <a:noAutofit/>
          </a:bodyPr>
          <a:lstStyle/>
          <a:p>
            <a:pPr algn="l">
              <a:lnSpc>
                <a:spcPct val="108000"/>
              </a:lnSpc>
              <a:buNone/>
              <a:defRPr sz="1575" b="1" i="0">
                <a:solidFill>
                  <a:srgbClr val="FFFFFF"/>
                </a:solidFill>
                <a:latin typeface="Malgun Gothic"/>
                <a:ea typeface="Malgun Gothic"/>
                <a:cs typeface="Malgun Gothic"/>
              </a:defRPr>
            </a:pPr>
            <a:r>
              <a:rPr sz="1575" b="1" i="0">
                <a:solidFill>
                  <a:srgbClr val="FFFFFF"/>
                </a:solidFill>
                <a:latin typeface="Malgun Gothic"/>
                <a:ea typeface="Malgun Gothic"/>
                <a:cs typeface="Malgun Gothic"/>
              </a:rPr>
              <a:t>① N,N/2,N/4,…,1  ② 전체 시간은 Θ(N)이다.</a:t>
            </a:r>
          </a:p>
        </p:txBody>
      </p:sp>
      <p:sp>
        <p:nvSpPr>
          <p:cNvPr id="11" name="text-324.4-64">
            <a:extLst>
              <a:ext uri="{FF2B5EF4-FFF2-40B4-BE49-F238E27FC236}">
                <ns2:creationId id="{8B0B45CB-7CA7-4687-9CCC-0B2A483F289C}"/>
              </a:ext>
            </a:extLst>
          </p:cNvPr>
          <p:cNvSpPr>
            <a:spLocks noGrp="1"/>
          </p:cNvSpPr>
          <p:nvPr/>
        </p:nvSpPr>
        <p:spPr>
          <a:xfrm>
            <a:off x="609600" y="5263324"/>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60DB513F-F481-453C-8FEC-CBF0706B843A}"/>
              </a:ext>
            </a:extLst>
          </p:cNvPr>
          <p:cNvSpPr>
            <a:spLocks noGrp="1"/>
          </p:cNvSpPr>
          <p:nvPr/>
        </p:nvSpPr>
        <p:spPr>
          <a:xfrm>
            <a:off x="609600" y="6267450"/>
            <a:ext cx="10972800" cy="9525"/>
          </a:xfrm>
          <a:prstGeom prst="rect">
            <a:avLst/>
          </a:prstGeom>
          <a:solidFill>
            <a:srgbClr val="D4D4D4"/>
          </a:solidFill>
          <a:ln w="0">
            <a:noFill/>
          </a:ln>
        </p:spPr>
      </p:sp>
      <p:sp>
        <p:nvSpPr>
          <p:cNvPr id="13" name="text-372.4-64">
            <a:extLst>
              <a:ext uri="{FF2B5EF4-FFF2-40B4-BE49-F238E27FC236}">
                <ns2:creationId id="{077CFCA3-A373-4730-878F-4DFE214426D4}"/>
              </a:ext>
            </a:extLst>
          </p:cNvPr>
          <p:cNvSpPr>
            <a:spLocks noGrp="1"/>
          </p:cNvSpPr>
          <p:nvPr/>
        </p:nvSpPr>
        <p:spPr>
          <a:xfrm>
            <a:off x="609600" y="5640514"/>
            <a:ext cx="10972800" cy="609219"/>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while 반복은 log₂N+1번이지만 각 단계에서 for 반복 횟수가 다르다. count 증가 횟수는 N+N/2+…+1=2N−1이다. 첫</a:t>
            </a:r>
          </a:p>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단계만도 N회이며 전체도 N에 비례하므로 Θ(N)이다. 따라서 절반 축소만 보고 전체 시간을 O(log N)이라고 할 수 없다.</a:t>
            </a:r>
          </a:p>
        </p:txBody>
      </p:sp>
    </p:spTree>
    <p:extLst>
      <p:ext uri="{BB962C8B-B14F-4D97-AF65-F5344CB8AC3E}">
        <ns3:creationId val="462685519"/>
      </p:ext>
    </p:extLst>
  </p:cSld>
</p:sld>
</file>

<file path=ppt/slides/slide14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8B037466-B2D9-4953-8712-002347B8BA2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B9B8CFD4-6109-4F7B-8129-91624EC977EB}"/>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C5EF4853-DFA9-483D-8150-6F68052CC60C}"/>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72  </a:t>
            </a:r>
          </a:p>
        </p:txBody>
      </p:sp>
      <p:sp>
        <p:nvSpPr>
          <p:cNvPr id="4" name="">
            <a:extLst>
              <a:ext uri="{FF2B5EF4-FFF2-40B4-BE49-F238E27FC236}">
                <ns2:creationId id="{33450604-98C5-46C2-B97F-88A3E7BE11F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E6BF429-667B-4FE1-BD58-CA1D6B9AACF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34D7277-D4EA-4810-AA77-16F67064142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3C5869D8-118B-45D7-872A-98157C3F145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143</a:t>
            </a:r>
          </a:p>
        </p:txBody>
      </p:sp>
      <p:sp>
        <p:nvSpPr>
          <p:cNvPr id="8" name="text-178-64">
            <a:extLst>
              <a:ext uri="{FF2B5EF4-FFF2-40B4-BE49-F238E27FC236}">
                <ns2:creationId id="{E808CF82-1430-4667-BAD3-FD96F0DD8E65}"/>
              </a:ext>
            </a:extLst>
          </p:cNvPr>
          <p:cNvSpPr>
            <a:spLocks noGrp="1"/>
          </p:cNvSpPr>
          <p:nvPr/>
        </p:nvSpPr>
        <p:spPr>
          <a:xfrm>
            <a:off x="609600" y="1619250"/>
            <a:ext cx="10972800" cy="3901916"/>
          </a:xfrm>
          <a:prstGeom prst="rect">
            <a:avLst/>
          </a:prstGeom>
          <a:noFill/>
          <a:ln w="0">
            <a:noFill/>
          </a:ln>
        </p:spPr>
        <p:txBody>
          <a:bodyPr wrap="none" lIns="0" tIns="0" rIns="0" bIns="0" anchor="t">
            <a:noAutofit/>
          </a:bodyPr>
          <a:lstStyle/>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아래 Python 코드는 오름차순 배열 a에서 x의 인덱스를 찾으려 한다. lo,hi는 양 끝을 포함한 후보 구간의 첫·마지막 인덱스이고</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mid는 가운데 인덱스이다. 인덱스는 0부터이며 //는 정수 몫이다.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lo, hi = 0, len(a) - 1</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while lo &lt;= hi:</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    mid = (lo + hi) // 2</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    if a[mid] == x:</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        break</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    if a[mid] &lt; x:</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        lo = mid</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    else:</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        hi = mid - 1</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lo = mid 때문에 while 반복이 끝나지 않는 최소 길이의 배열 a와 목표값 x를 하나 제시하고, 반복해도 구간이 바뀌지 않는 이유를</a:t>
            </a:r>
          </a:p>
          <a:p>
            <a:pPr>
              <a:lnSpc>
                <a:spcPct val="108000"/>
              </a:lnSpc>
              <a:spcBef>
                <a:spcPts val="0"/>
              </a:spcBef>
              <a:spcAft>
                <a:spcPts val="0"/>
              </a:spcAft>
              <a:buNone/>
              <a:defRPr sz="1463" b="0" i="0">
                <a:solidFill>
                  <a:srgbClr val="171717"/>
                </a:solidFill>
                <a:latin typeface="Malgun Gothic"/>
                <a:ea typeface="Malgun Gothic"/>
                <a:cs typeface="Malgun Gothic"/>
              </a:defRPr>
            </a:pPr>
            <a:r>
              <a:rPr sz="1463" b="0" i="0">
                <a:solidFill>
                  <a:srgbClr val="171717"/>
                </a:solidFill>
                <a:latin typeface="Malgun Gothic"/>
                <a:ea typeface="Malgun Gothic"/>
                <a:cs typeface="Malgun Gothic"/>
              </a:rPr>
              <a:t>설명하시오.</a:t>
            </a:r>
          </a:p>
        </p:txBody>
      </p:sp>
      <p:sp>
        <p:nvSpPr>
          <p:cNvPr id="9" name="text-405-64">
            <a:extLst>
              <a:ext uri="{FF2B5EF4-FFF2-40B4-BE49-F238E27FC236}">
                <ns2:creationId id="{59CB823D-68A5-4701-9C5D-679BFDF201EF}"/>
              </a:ext>
            </a:extLst>
          </p:cNvPr>
          <p:cNvSpPr>
            <a:spLocks noGrp="1"/>
          </p:cNvSpPr>
          <p:nvPr/>
        </p:nvSpPr>
        <p:spPr>
          <a:xfrm>
            <a:off x="609600" y="5654516"/>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E859D3DD-F931-4E38-8CF5-F154E1AC222E}"/>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30F4A631-9696-409F-93AA-5B3F4C61DCFB}"/>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78FD53D7-F6CE-4A4E-9ABD-8F095E857123}"/>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4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2C1513BD-6693-469F-94D0-ECC21C43456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DDA59F2B-63D9-4CA4-8E26-DE14A5D84E3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0BF3DF42-83B2-4543-844C-FA012AE4C646}"/>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72  정답과 해설</a:t>
            </a:r>
          </a:p>
        </p:txBody>
      </p:sp>
      <p:sp>
        <p:nvSpPr>
          <p:cNvPr id="4" name="">
            <a:extLst>
              <a:ext uri="{FF2B5EF4-FFF2-40B4-BE49-F238E27FC236}">
                <ns2:creationId id="{8DA69DA9-2165-48B4-A841-CA46C6B1455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EB88737-5B64-4002-934D-AB37CD2668C7}"/>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A0F048B-1A18-4B0D-95D5-50EC0DF02B0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D29A158-5D74-4E8F-8C52-94EDF58579B8}"/>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144</a:t>
            </a:r>
          </a:p>
        </p:txBody>
      </p:sp>
      <p:sp>
        <p:nvSpPr>
          <p:cNvPr id="8" name="text-178-64">
            <a:extLst>
              <a:ext uri="{FF2B5EF4-FFF2-40B4-BE49-F238E27FC236}">
                <ns2:creationId id="{0309B86B-BA16-4356-99F6-8727C36A4240}"/>
              </a:ext>
            </a:extLst>
          </p:cNvPr>
          <p:cNvSpPr>
            <a:spLocks noGrp="1"/>
          </p:cNvSpPr>
          <p:nvPr/>
        </p:nvSpPr>
        <p:spPr>
          <a:xfrm>
            <a:off x="609600" y="1619250"/>
            <a:ext cx="10972800" cy="2817495"/>
          </a:xfrm>
          <a:prstGeom prst="rect">
            <a:avLst/>
          </a:prstGeom>
          <a:noFill/>
          <a:ln w="0">
            <a:noFill/>
          </a:ln>
        </p:spPr>
        <p:txBody>
          <a:bodyPr wrap="none" lIns="0" tIns="0" rIns="0" bIns="0" anchor="t">
            <a:noAutofit/>
          </a:bodyPr>
          <a:lstStyle/>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아래 Python 코드는 오름차순 배열 a에서 x의 인덱스를 찾으려 한다. lo,hi는 양 끝을 포함한 후보 구간의 첫·마지막 인덱스이고 mid는 가운데 인덱스이다. 인덱스는</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0부터이며 //는 정수 몫이다.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lo, hi = 0, len(a) - 1</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while lo &lt;= hi:</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    mid = (lo + hi) // 2</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    if a[mid] == x:</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        break</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    if a[mid] &lt; x:</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        lo = mid</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    else:</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        hi = mid - 1</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nSpc>
                <a:spcPct val="108000"/>
              </a:lnSpc>
              <a:spcBef>
                <a:spcPts val="0"/>
              </a:spcBef>
              <a:spcAft>
                <a:spcPts val="0"/>
              </a:spcAft>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lo = mid 때문에 while 반복이 끝나지 않는 최소 길이의 배열 a와 목표값 x를 하나 제시하고, 반복해도 구간이 바뀌지 않는 이유를 설명하시오.</a:t>
            </a:r>
          </a:p>
        </p:txBody>
      </p:sp>
      <p:sp>
        <p:nvSpPr>
          <p:cNvPr id="9" name="">
            <a:extLst>
              <a:ext uri="{FF2B5EF4-FFF2-40B4-BE49-F238E27FC236}">
                <ns2:creationId id="{36820AB2-7F4D-4D89-8AE5-CA290E752A88}"/>
              </a:ext>
            </a:extLst>
          </p:cNvPr>
          <p:cNvSpPr>
            <a:spLocks noGrp="1"/>
          </p:cNvSpPr>
          <p:nvPr/>
        </p:nvSpPr>
        <p:spPr>
          <a:xfrm>
            <a:off x="609600" y="4551045"/>
            <a:ext cx="10972800" cy="446151"/>
          </a:xfrm>
          <a:prstGeom prst="rect">
            <a:avLst/>
          </a:prstGeom>
          <a:solidFill>
            <a:srgbClr val="171717"/>
          </a:solidFill>
          <a:ln w="0">
            <a:noFill/>
          </a:ln>
        </p:spPr>
      </p:sp>
      <p:sp>
        <p:nvSpPr>
          <p:cNvPr id="10" name="text-279.2-92">
            <a:extLst>
              <a:ext uri="{FF2B5EF4-FFF2-40B4-BE49-F238E27FC236}">
                <ns2:creationId id="{493062FC-1472-406F-BB55-8C04834663D7}"/>
              </a:ext>
            </a:extLst>
          </p:cNvPr>
          <p:cNvSpPr>
            <a:spLocks noGrp="1"/>
          </p:cNvSpPr>
          <p:nvPr/>
        </p:nvSpPr>
        <p:spPr>
          <a:xfrm>
            <a:off x="876300" y="4627245"/>
            <a:ext cx="10439400" cy="293751"/>
          </a:xfrm>
          <a:prstGeom prst="rect">
            <a:avLst/>
          </a:prstGeom>
          <a:noFill/>
          <a:ln w="0">
            <a:noFill/>
          </a:ln>
        </p:spPr>
        <p:txBody>
          <a:bodyPr wrap="none" lIns="0" tIns="0" rIns="0" bIns="0" anchor="t">
            <a:noAutofit/>
          </a:bodyPr>
          <a:lstStyle/>
          <a:p>
            <a:pPr>
              <a:lnSpc>
                <a:spcPct val="108000"/>
              </a:lnSpc>
              <a:spcBef>
                <a:spcPts val="0"/>
              </a:spcBef>
              <a:spcAft>
                <a:spcPts val="0"/>
              </a:spcAft>
              <a:buNone/>
              <a:defRPr sz="1350" b="1" i="0">
                <a:solidFill>
                  <a:srgbClr val="FFFFFF"/>
                </a:solidFill>
                <a:latin typeface="Malgun Gothic"/>
                <a:ea typeface="Malgun Gothic"/>
                <a:cs typeface="Malgun Gothic"/>
              </a:defRPr>
            </a:pPr>
            <a:r>
              <a:rPr sz="1350" b="1" i="0">
                <a:solidFill>
                  <a:srgbClr val="FFFFFF"/>
                </a:solidFill>
                <a:latin typeface="Malgun Gothic"/>
                <a:ea typeface="Malgun Gothic"/>
                <a:cs typeface="Malgun Gothic"/>
              </a:rPr>
              <a:t>길이 1: a=[1], x=2이면 lo=hi=mid=0이 반복된다.</a:t>
            </a:r>
          </a:p>
        </p:txBody>
      </p:sp>
      <p:sp>
        <p:nvSpPr>
          <p:cNvPr id="11" name="text-358-64">
            <a:extLst>
              <a:ext uri="{FF2B5EF4-FFF2-40B4-BE49-F238E27FC236}">
                <ns2:creationId id="{B05E0833-02C1-4659-AADE-8D90B4C6BA2E}"/>
              </a:ext>
            </a:extLst>
          </p:cNvPr>
          <p:cNvSpPr>
            <a:spLocks noGrp="1"/>
          </p:cNvSpPr>
          <p:nvPr/>
        </p:nvSpPr>
        <p:spPr>
          <a:xfrm>
            <a:off x="609600" y="5092446"/>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D4270DD8-BE92-4DC1-A939-A2DE21903EB9}"/>
              </a:ext>
            </a:extLst>
          </p:cNvPr>
          <p:cNvSpPr>
            <a:spLocks noGrp="1"/>
          </p:cNvSpPr>
          <p:nvPr/>
        </p:nvSpPr>
        <p:spPr>
          <a:xfrm>
            <a:off x="609600" y="6267450"/>
            <a:ext cx="10972800" cy="9525"/>
          </a:xfrm>
          <a:prstGeom prst="rect">
            <a:avLst/>
          </a:prstGeom>
          <a:solidFill>
            <a:srgbClr val="D4D4D4"/>
          </a:solidFill>
          <a:ln w="0">
            <a:noFill/>
          </a:ln>
        </p:spPr>
      </p:sp>
      <p:sp>
        <p:nvSpPr>
          <p:cNvPr id="13" name="text-406-64">
            <a:extLst>
              <a:ext uri="{FF2B5EF4-FFF2-40B4-BE49-F238E27FC236}">
                <ns2:creationId id="{DB40618D-F462-4358-950B-5E8F92C92C1A}"/>
              </a:ext>
            </a:extLst>
          </p:cNvPr>
          <p:cNvSpPr>
            <a:spLocks noGrp="1"/>
          </p:cNvSpPr>
          <p:nvPr/>
        </p:nvSpPr>
        <p:spPr>
          <a:xfrm>
            <a:off x="609600" y="5469636"/>
            <a:ext cx="10972800" cy="766953"/>
          </a:xfrm>
          <a:prstGeom prst="rect">
            <a:avLst/>
          </a:prstGeom>
          <a:noFill/>
          <a:ln w="0">
            <a:noFill/>
          </a:ln>
        </p:spPr>
        <p:txBody>
          <a:bodyPr wrap="none" lIns="0" tIns="0" rIns="0" bIns="0" anchor="t">
            <a:noAutofit/>
          </a:bodyPr>
          <a:lstStyle/>
          <a:p>
            <a:pPr>
              <a:lnSpc>
                <a:spcPct val="108000"/>
              </a:lnSpc>
              <a:spcBef>
                <a:spcPts val="0"/>
              </a:spcBef>
              <a:spcAft>
                <a:spcPts val="0"/>
              </a:spcAft>
              <a:buNone/>
              <a:defRPr sz="1350" b="0" i="0">
                <a:solidFill>
                  <a:srgbClr val="606060"/>
                </a:solidFill>
                <a:latin typeface="Malgun Gothic"/>
                <a:ea typeface="Malgun Gothic"/>
                <a:cs typeface="Malgun Gothic"/>
              </a:defRPr>
            </a:pPr>
            <a:r>
              <a:rPr sz="1350" b="0" i="0">
                <a:solidFill>
                  <a:srgbClr val="606060"/>
                </a:solidFill>
                <a:latin typeface="Malgun Gothic"/>
                <a:ea typeface="Malgun Gothic"/>
                <a:cs typeface="Malgun Gothic"/>
              </a:rPr>
              <a:t>1&lt;2이므로 lo=mid=0으로 갱신해도 후보 구간이 그대로이다.</a:t>
            </a:r>
          </a:p>
          <a:p>
            <a:pPr>
              <a:lnSpc>
                <a:spcPct val="108000"/>
              </a:lnSpc>
              <a:spcBef>
                <a:spcPts val="0"/>
              </a:spcBef>
              <a:spcAft>
                <a:spcPts val="0"/>
              </a:spcAft>
              <a:buNone/>
              <a:defRPr sz="1350" b="0" i="0">
                <a:solidFill>
                  <a:srgbClr val="606060"/>
                </a:solidFill>
                <a:latin typeface="Malgun Gothic"/>
                <a:ea typeface="Malgun Gothic"/>
                <a:cs typeface="Malgun Gothic"/>
              </a:defRPr>
            </a:pPr>
            <a:r>
              <a:rPr sz="1350" b="0" i="0">
                <a:solidFill>
                  <a:srgbClr val="606060"/>
                </a:solidFill>
                <a:latin typeface="Malgun Gothic"/>
                <a:ea typeface="Malgun Gothic"/>
                <a:cs typeface="Malgun Gothic"/>
              </a:rPr>
              <a:t>빈 배열은 반복을 시작하지 않으므로 최소 길이는 1이다.</a:t>
            </a:r>
          </a:p>
          <a:p>
            <a:pPr>
              <a:lnSpc>
                <a:spcPct val="108000"/>
              </a:lnSpc>
              <a:spcBef>
                <a:spcPts val="0"/>
              </a:spcBef>
              <a:spcAft>
                <a:spcPts val="0"/>
              </a:spcAft>
              <a:buNone/>
              <a:defRPr sz="1350" b="0" i="0">
                <a:solidFill>
                  <a:srgbClr val="606060"/>
                </a:solidFill>
                <a:latin typeface="Malgun Gothic"/>
                <a:ea typeface="Malgun Gothic"/>
                <a:cs typeface="Malgun Gothic"/>
              </a:defRPr>
            </a:pPr>
            <a:r>
              <a:rPr sz="1350" b="0" i="0">
                <a:solidFill>
                  <a:srgbClr val="606060"/>
                </a:solidFill>
                <a:latin typeface="Malgun Gothic"/>
                <a:ea typeface="Malgun Gothic"/>
                <a:cs typeface="Malgun Gothic"/>
              </a:rPr>
              <a:t>올바른 갱신 lo=mid+1은 검사한 원소를 제외하고 종료시킨다.</a:t>
            </a:r>
          </a:p>
        </p:txBody>
      </p:sp>
    </p:spTree>
    <p:extLst>
      <p:ext uri="{BB962C8B-B14F-4D97-AF65-F5344CB8AC3E}">
        <ns3:creationId val="462685519"/>
      </p:ext>
    </p:extLst>
  </p:cSld>
</p:sld>
</file>

<file path=ppt/slides/slide14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9C671C15-8EAD-4AD4-A627-00EE8905023F}"/>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864AE822-02CA-42F7-A67A-BB4E21B77A2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C3CC279-6BA8-47C2-8EE9-602D28D4477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74  </a:t>
            </a:r>
          </a:p>
        </p:txBody>
      </p:sp>
      <p:sp>
        <p:nvSpPr>
          <p:cNvPr id="4" name="">
            <a:extLst>
              <a:ext uri="{FF2B5EF4-FFF2-40B4-BE49-F238E27FC236}">
                <ns2:creationId id="{A9FFCD22-330B-4472-873D-6EDAF4E83A8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CBFE9DD-2122-4F41-87AD-A23426255C0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809273C1-3845-4812-ADDD-645B5D92736D}"/>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9657927F-4882-4FD8-9B2C-F67A38D8CAE4}"/>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147</a:t>
            </a:r>
          </a:p>
        </p:txBody>
      </p:sp>
      <p:sp>
        <p:nvSpPr>
          <p:cNvPr id="8" name="text-178-64">
            <a:extLst>
              <a:ext uri="{FF2B5EF4-FFF2-40B4-BE49-F238E27FC236}">
                <ns2:creationId id="{0828895B-7B19-4B02-AE22-5FD209CC84FB}"/>
              </a:ext>
            </a:extLst>
          </p:cNvPr>
          <p:cNvSpPr>
            <a:spLocks noGrp="1"/>
          </p:cNvSpPr>
          <p:nvPr/>
        </p:nvSpPr>
        <p:spPr>
          <a:xfrm>
            <a:off x="609600" y="1619250"/>
            <a:ext cx="10972800" cy="189738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a=[4,1,3]에서 4를 찾는다. lo,hi는 양 끝을 포함한 후보 구간의 첫·마지막 인덱스이다.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인덱스는 0부터이며 초기 (lo,hi)=(0,2)이다. lo≤hi인 동안 가운데 인덱스 mid=(lo+hi)//2를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확인한다. //는 정수 몫이다. a[mid]=4이면 성공으로 끝내고, 작으면 lo=mid+1, 크면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hi=mid−1로 바꾼다. lo&gt;hi이면 실패로 끝낸다. 실제로 4가 있는데도 탐색이 실패하는</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이유를, 처음 확인한 값과 버려지는 구간을 들어 설명하시오.</a:t>
            </a:r>
          </a:p>
        </p:txBody>
      </p:sp>
      <p:sp>
        <p:nvSpPr>
          <p:cNvPr id="9" name="text-405-64">
            <a:extLst>
              <a:ext uri="{FF2B5EF4-FFF2-40B4-BE49-F238E27FC236}">
                <ns2:creationId id="{15011622-EB7F-4C38-9335-C9871B1C3C57}"/>
              </a:ext>
            </a:extLst>
          </p:cNvPr>
          <p:cNvSpPr>
            <a:spLocks noGrp="1"/>
          </p:cNvSpPr>
          <p:nvPr/>
        </p:nvSpPr>
        <p:spPr>
          <a:xfrm>
            <a:off x="609600" y="3649980"/>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29F3C00C-1673-4961-83B6-1D38A581382E}"/>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AEDD8AD8-DCC2-4F4D-ABAA-5D06D7CDAA8E}"/>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4930C1B9-8921-4DDB-A289-195F7E836928}"/>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4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D20D4968-1D33-4D2D-9EDC-EB485450CA0D}"/>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6B49CD30-47F7-4B68-A750-A553EF68613E}"/>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1A5CF1A-51D4-4A3A-892F-48FA76BEFC87}"/>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74  정답과 해설</a:t>
            </a:r>
          </a:p>
        </p:txBody>
      </p:sp>
      <p:sp>
        <p:nvSpPr>
          <p:cNvPr id="4" name="">
            <a:extLst>
              <a:ext uri="{FF2B5EF4-FFF2-40B4-BE49-F238E27FC236}">
                <ns2:creationId id="{18114752-3729-4BA7-A98F-2133C39DE67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DA349F5-6D57-440C-B7CF-51E6C65FEED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64008DC-A51F-4A9E-BB63-84B88D3F8193}"/>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3D4C2588-A0E3-42E4-B739-1F4A3F2E9100}"/>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148</a:t>
            </a:r>
          </a:p>
        </p:txBody>
      </p:sp>
      <p:sp>
        <p:nvSpPr>
          <p:cNvPr id="8" name="text-178-64">
            <a:extLst>
              <a:ext uri="{FF2B5EF4-FFF2-40B4-BE49-F238E27FC236}">
                <ns2:creationId id="{2D280607-1817-4605-B4B5-88836B1AD411}"/>
              </a:ext>
            </a:extLst>
          </p:cNvPr>
          <p:cNvSpPr>
            <a:spLocks noGrp="1"/>
          </p:cNvSpPr>
          <p:nvPr/>
        </p:nvSpPr>
        <p:spPr>
          <a:xfrm>
            <a:off x="609600" y="1619250"/>
            <a:ext cx="10972800" cy="163449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배열 a=[4,1,3]에서 4를 찾는다. lo,hi는 양 끝을 포함한 후보 구간의 첫·마지막 인덱스이다. 인덱스는</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0부터이며 초기 (lo,hi)=(0,2)이다. lo≤hi인 동안 가운데 인덱스 mid=(lo+hi)//2를 확인한다. //는 정수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몫이다. a[mid]=4이면 성공으로 끝내고, 작으면 lo=mid+1, 크면 hi=mid−1로 바꾼다. lo&gt;hi이면 실패로</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끝낸다. 실제로 4가 있는데도 탐색이 실패하는 이유를, 처음 확인한 값과 버려지는 구간을 들어</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설명하시오.</a:t>
            </a:r>
          </a:p>
        </p:txBody>
      </p:sp>
      <p:sp>
        <p:nvSpPr>
          <p:cNvPr id="9" name="">
            <a:extLst>
              <a:ext uri="{FF2B5EF4-FFF2-40B4-BE49-F238E27FC236}">
                <ns2:creationId id="{28BC9D0D-C841-4D32-A100-8D4A98073CCC}"/>
              </a:ext>
            </a:extLst>
          </p:cNvPr>
          <p:cNvSpPr>
            <a:spLocks noGrp="1"/>
          </p:cNvSpPr>
          <p:nvPr/>
        </p:nvSpPr>
        <p:spPr>
          <a:xfrm>
            <a:off x="609600" y="3368040"/>
            <a:ext cx="10972800" cy="498729"/>
          </a:xfrm>
          <a:prstGeom prst="rect">
            <a:avLst/>
          </a:prstGeom>
          <a:solidFill>
            <a:srgbClr val="171717"/>
          </a:solidFill>
          <a:ln w="0">
            <a:noFill/>
          </a:ln>
        </p:spPr>
      </p:sp>
      <p:sp>
        <p:nvSpPr>
          <p:cNvPr id="10" name="text-245.6-92">
            <a:extLst>
              <a:ext uri="{FF2B5EF4-FFF2-40B4-BE49-F238E27FC236}">
                <ns2:creationId id="{E0B79145-F739-43E6-9637-EFFC2209AD69}"/>
              </a:ext>
            </a:extLst>
          </p:cNvPr>
          <p:cNvSpPr>
            <a:spLocks noGrp="1"/>
          </p:cNvSpPr>
          <p:nvPr/>
        </p:nvSpPr>
        <p:spPr>
          <a:xfrm>
            <a:off x="876300" y="3444240"/>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mid=1의 값 1을 보고 왼쪽을 버리면 실제 4도 버린다.</a:t>
            </a:r>
          </a:p>
        </p:txBody>
      </p:sp>
      <p:sp>
        <p:nvSpPr>
          <p:cNvPr id="11" name="text-324.4-64">
            <a:extLst>
              <a:ext uri="{FF2B5EF4-FFF2-40B4-BE49-F238E27FC236}">
                <ns2:creationId id="{1F3F3160-88B8-4A02-965B-A8419CC66E84}"/>
              </a:ext>
            </a:extLst>
          </p:cNvPr>
          <p:cNvSpPr>
            <a:spLocks noGrp="1"/>
          </p:cNvSpPr>
          <p:nvPr/>
        </p:nvSpPr>
        <p:spPr>
          <a:xfrm>
            <a:off x="609600" y="3962019"/>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854B7F20-9DDB-493A-A02A-4DF08B902E4E}"/>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0EAC8A7F-C73F-436D-A1F3-A7B331BE15C0}"/>
              </a:ext>
            </a:extLst>
          </p:cNvPr>
          <p:cNvSpPr>
            <a:spLocks noGrp="1"/>
          </p:cNvSpPr>
          <p:nvPr/>
        </p:nvSpPr>
        <p:spPr>
          <a:xfrm>
            <a:off x="609600" y="4339209"/>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절반을 버리는 근거는 정렬 순서이다. 중간값 비교만으로 무정렬 구간의 나머지 값을 판단할 수 없다.</a:t>
            </a:r>
          </a:p>
        </p:txBody>
      </p:sp>
    </p:spTree>
    <p:extLst>
      <p:ext uri="{BB962C8B-B14F-4D97-AF65-F5344CB8AC3E}">
        <ns3:creationId val="462685519"/>
      </p:ext>
    </p:extLst>
  </p:cSld>
</p:sld>
</file>

<file path=ppt/slides/slide14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AF6CB0D8-D907-43C1-A56A-8495A2137264}"/>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AA9ACD19-7BD6-47F7-AD65-2284A8F5CA5C}"/>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A358D2C-DEC7-449C-8958-A5F36D2D98C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75  </a:t>
            </a:r>
          </a:p>
        </p:txBody>
      </p:sp>
      <p:sp>
        <p:nvSpPr>
          <p:cNvPr id="4" name="">
            <a:extLst>
              <a:ext uri="{FF2B5EF4-FFF2-40B4-BE49-F238E27FC236}">
                <ns2:creationId id="{37E637CB-58C6-42DC-A314-622F74588F1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78A5B1D-A243-472F-B1CA-E224FAF9B9A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8BBA6D19-3640-46B4-B407-6BBA3DD314C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7091A8F7-CBBE-4E61-AB40-BA873F3356B8}"/>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149</a:t>
            </a:r>
          </a:p>
        </p:txBody>
      </p:sp>
      <p:sp>
        <p:nvSpPr>
          <p:cNvPr id="8" name="text-178-64">
            <a:extLst>
              <a:ext uri="{FF2B5EF4-FFF2-40B4-BE49-F238E27FC236}">
                <ns2:creationId id="{6D15CCAD-9575-4A07-955D-7650D14C7EE4}"/>
              </a:ext>
            </a:extLst>
          </p:cNvPr>
          <p:cNvSpPr>
            <a:spLocks noGrp="1"/>
          </p:cNvSpPr>
          <p:nvPr/>
        </p:nvSpPr>
        <p:spPr>
          <a:xfrm>
            <a:off x="609600" y="1619250"/>
            <a:ext cx="10972800" cy="152933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a에는 원소가 하나 이상 있고 모든 값이 5이다. lo와 hi는 양 끝을 포함한 후보 구간의</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시작·끝 인덱스이고, 찾는 값은 x이다. 보간 탐색의 위치 추정식에는 a[hi]−a[lo]로 나누는</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계산이 있다. ① 이 나눗셈을 그대로 실행하면 어떤 문제가 생기는가? ② x=5인 경우와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x≠5인 경우 각각, 탐색을 어떻게 끝내야 하는가?</a:t>
            </a:r>
          </a:p>
        </p:txBody>
      </p:sp>
      <p:sp>
        <p:nvSpPr>
          <p:cNvPr id="9" name="text-405-64">
            <a:extLst>
              <a:ext uri="{FF2B5EF4-FFF2-40B4-BE49-F238E27FC236}">
                <ns2:creationId id="{2539B4B5-C97F-4381-9A37-5D3DB260AD22}"/>
              </a:ext>
            </a:extLst>
          </p:cNvPr>
          <p:cNvSpPr>
            <a:spLocks noGrp="1"/>
          </p:cNvSpPr>
          <p:nvPr/>
        </p:nvSpPr>
        <p:spPr>
          <a:xfrm>
            <a:off x="609600" y="328193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A8BBD6B7-20F0-4A36-937E-33AC0C1436A5}"/>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CB4C6A70-FE5B-40C0-806E-1B75C14A5BC8}"/>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1B4AAE6B-3547-4B3C-9CAD-CC59B3CC04ED}"/>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5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DB9CDF64-2B4A-4F1A-BD24-CD52D02EC6A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2FE4BDE9-0573-48F4-B14C-859617B6287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99CB8F8-E5E1-4D32-89E5-385F7DF8BC91}"/>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75  정답과 해설</a:t>
            </a:r>
          </a:p>
        </p:txBody>
      </p:sp>
      <p:sp>
        <p:nvSpPr>
          <p:cNvPr id="4" name="">
            <a:extLst>
              <a:ext uri="{FF2B5EF4-FFF2-40B4-BE49-F238E27FC236}">
                <ns2:creationId id="{CB0E01AD-0165-4544-A5EE-F0D31702072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A798EE0-3CFC-46E5-A3E1-3E7B42D26EC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B81392D-5D23-4617-8CCC-0E7408C29BE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DBE2407-7459-4798-BFE0-882B0E18458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150</a:t>
            </a:r>
          </a:p>
        </p:txBody>
      </p:sp>
      <p:sp>
        <p:nvSpPr>
          <p:cNvPr id="8" name="text-178-64">
            <a:extLst>
              <a:ext uri="{FF2B5EF4-FFF2-40B4-BE49-F238E27FC236}">
                <ns2:creationId id="{CCD6F4E2-63BA-4077-8602-258F53CA3159}"/>
              </a:ext>
            </a:extLst>
          </p:cNvPr>
          <p:cNvSpPr>
            <a:spLocks noGrp="1"/>
          </p:cNvSpPr>
          <p:nvPr/>
        </p:nvSpPr>
        <p:spPr>
          <a:xfrm>
            <a:off x="609600" y="1619250"/>
            <a:ext cx="10972800" cy="131902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배열 a에는 원소가 하나 이상 있고 모든 값이 5이다. lo와 hi는 양 끝을 포함한 후보 구간의 시작·끝</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인덱스이고, 찾는 값은 x이다. 보간 탐색의 위치 추정식에는 a[hi]−a[lo]로 나누는 계산이 있다. ① 이</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나눗셈을 그대로 실행하면 어떤 문제가 생기는가? ② x=5인 경우와 x≠5인 경우 각각, 탐색을 어떻게</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끝내야 하는가?</a:t>
            </a:r>
          </a:p>
        </p:txBody>
      </p:sp>
      <p:sp>
        <p:nvSpPr>
          <p:cNvPr id="9" name="">
            <a:extLst>
              <a:ext uri="{FF2B5EF4-FFF2-40B4-BE49-F238E27FC236}">
                <ns2:creationId id="{5235250E-ED2D-40B3-B7A3-62951BC60D4E}"/>
              </a:ext>
            </a:extLst>
          </p:cNvPr>
          <p:cNvSpPr>
            <a:spLocks noGrp="1"/>
          </p:cNvSpPr>
          <p:nvPr/>
        </p:nvSpPr>
        <p:spPr>
          <a:xfrm>
            <a:off x="609600" y="3052572"/>
            <a:ext cx="10972800" cy="498729"/>
          </a:xfrm>
          <a:prstGeom prst="rect">
            <a:avLst/>
          </a:prstGeom>
          <a:solidFill>
            <a:srgbClr val="171717"/>
          </a:solidFill>
          <a:ln w="0">
            <a:noFill/>
          </a:ln>
        </p:spPr>
      </p:sp>
      <p:sp>
        <p:nvSpPr>
          <p:cNvPr id="10" name="text-245.6-92">
            <a:extLst>
              <a:ext uri="{FF2B5EF4-FFF2-40B4-BE49-F238E27FC236}">
                <ns2:creationId id="{8E151AE1-BF39-4B00-A4A0-9EA2B768D84A}"/>
              </a:ext>
            </a:extLst>
          </p:cNvPr>
          <p:cNvSpPr>
            <a:spLocks noGrp="1"/>
          </p:cNvSpPr>
          <p:nvPr/>
        </p:nvSpPr>
        <p:spPr>
          <a:xfrm>
            <a:off x="876300" y="3128772"/>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① 0으로 나누게 된다. ② x=5이면 성공, x≠5이면 실패로 끝낸다.</a:t>
            </a:r>
          </a:p>
        </p:txBody>
      </p:sp>
      <p:sp>
        <p:nvSpPr>
          <p:cNvPr id="11" name="text-324.4-64">
            <a:extLst>
              <a:ext uri="{FF2B5EF4-FFF2-40B4-BE49-F238E27FC236}">
                <ns2:creationId id="{763C431B-C55F-4019-A0AE-73F5ABF73624}"/>
              </a:ext>
            </a:extLst>
          </p:cNvPr>
          <p:cNvSpPr>
            <a:spLocks noGrp="1"/>
          </p:cNvSpPr>
          <p:nvPr/>
        </p:nvSpPr>
        <p:spPr>
          <a:xfrm>
            <a:off x="609600" y="364655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B2F39793-BF7B-488B-AFB8-4B94E77C2BFB}"/>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D40B0B59-8FC3-4E41-8CCB-9BD74744B713}"/>
              </a:ext>
            </a:extLst>
          </p:cNvPr>
          <p:cNvSpPr>
            <a:spLocks noGrp="1"/>
          </p:cNvSpPr>
          <p:nvPr/>
        </p:nvSpPr>
        <p:spPr>
          <a:xfrm>
            <a:off x="609600" y="4023741"/>
            <a:ext cx="10972800" cy="63550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양 끝 값이 모두 5이므로 분모는 5−5=0이다. 모든 원소가 5라고 주어졌으므로 x=5일 때는 어느 후보 위치도</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일치한다. 다른 값을 찾을 때는 일치하는 원소가 없으므로 위치 식을 계산할 필요가 없다.</a:t>
            </a:r>
          </a:p>
        </p:txBody>
      </p:sp>
    </p:spTree>
    <p:extLst>
      <p:ext uri="{BB962C8B-B14F-4D97-AF65-F5344CB8AC3E}">
        <ns3:creationId val="462685519"/>
      </p:ext>
    </p:extLst>
  </p:cSld>
</p:sld>
</file>

<file path=ppt/slides/slide15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72B285FA-E645-419B-BB78-056E0F81D24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90B7FA53-3A74-4E25-ADA1-96AE1CB97CC1}"/>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DF3D857-814B-4D9E-86D8-425ED04B4D86}"/>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76  </a:t>
            </a:r>
          </a:p>
        </p:txBody>
      </p:sp>
      <p:sp>
        <p:nvSpPr>
          <p:cNvPr id="4" name="">
            <a:extLst>
              <a:ext uri="{FF2B5EF4-FFF2-40B4-BE49-F238E27FC236}">
                <ns2:creationId id="{4432D100-0E14-4D46-BD9F-989248B6003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1D6FD47-1A14-418E-86BB-680DF22008DE}"/>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9A16DA8-03C0-469E-A455-E8ADC74AB88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CDADD60F-2C73-443E-BA83-4524BB218AF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151</a:t>
            </a:r>
          </a:p>
        </p:txBody>
      </p:sp>
      <p:sp>
        <p:nvSpPr>
          <p:cNvPr id="8" name="text-178-64">
            <a:extLst>
              <a:ext uri="{FF2B5EF4-FFF2-40B4-BE49-F238E27FC236}">
                <ns2:creationId id="{FDEA43BA-FAB2-47D8-ADED-9F65E8BC4424}"/>
              </a:ext>
            </a:extLst>
          </p:cNvPr>
          <p:cNvSpPr>
            <a:spLocks noGrp="1"/>
          </p:cNvSpPr>
          <p:nvPr/>
        </p:nvSpPr>
        <p:spPr>
          <a:xfrm>
            <a:off x="609600" y="1619250"/>
            <a:ext cx="10972800" cy="3369564"/>
          </a:xfrm>
          <a:prstGeom prst="rect">
            <a:avLst/>
          </a:prstGeom>
          <a:noFill/>
          <a:ln w="0">
            <a:noFill/>
          </a:ln>
        </p:spPr>
        <p:txBody>
          <a:bodyPr wrap="none" lIns="0" tIns="0" rIns="0" bIns="0" anchor="t">
            <a:noAutofit/>
          </a:bodyPr>
          <a:lstStyle/>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n개 번호(n≥2)가 든 목록에서 번호를 찾는 요청이 m번(m≥1) 들어온다. 요청마다 찾는</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번호는 달라도 되며 목록 자체는 바뀌지 않는다.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방법 A: 요청이 올 때마다 첫 원소부터 하나씩 순차 탐색한다.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방법 B: 처음 한 번 오름차순으로 정렬한 뒤, 매 요청을 이진 탐색한다.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정렬 한 번의 시간은 Θ(n log n), 원소 한 번의 비교는 상수 시간으로 주어진다.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① 각 방법의 m번 요청을 합친 최악의 총 시간 복잡도를 쓰시오. B는 처음 정렬하는 시간도</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포함한다.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② 요청이 적을 때와 같은 목록을 여러 번 검색할 때 중, 어느 상황에서 B를 고려하는지</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이유를 설명하시오. 정확한 손익분기 횟수는 구하지 않는다.</a:t>
            </a:r>
          </a:p>
        </p:txBody>
      </p:sp>
      <p:sp>
        <p:nvSpPr>
          <p:cNvPr id="9" name="text-405-64">
            <a:extLst>
              <a:ext uri="{FF2B5EF4-FFF2-40B4-BE49-F238E27FC236}">
                <ns2:creationId id="{403FDE57-986F-4DA0-AEAE-3460E25B8B35}"/>
              </a:ext>
            </a:extLst>
          </p:cNvPr>
          <p:cNvSpPr>
            <a:spLocks noGrp="1"/>
          </p:cNvSpPr>
          <p:nvPr/>
        </p:nvSpPr>
        <p:spPr>
          <a:xfrm>
            <a:off x="609600" y="512216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36EB324B-AC40-4902-B6ED-0EF6C9340875}"/>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02C51F01-B3B2-475E-8ED4-4C1DB5D38D47}"/>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FEC5402F-F86A-4C11-BDE6-DEBA772FECD7}"/>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5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C8D066F2-0289-4AFC-864E-9197D5DF568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6CB38632-746E-4BB1-9435-D42B68DDD82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C9805DD-2721-4B7B-95D0-5ED55955C096}"/>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76  정답과 해설</a:t>
            </a:r>
          </a:p>
        </p:txBody>
      </p:sp>
      <p:sp>
        <p:nvSpPr>
          <p:cNvPr id="4" name="">
            <a:extLst>
              <a:ext uri="{FF2B5EF4-FFF2-40B4-BE49-F238E27FC236}">
                <ns2:creationId id="{CABE9F39-19EB-4EC2-BF07-5F158700628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92DAEA4-AA1B-4EFA-A96D-6D8D2302B55D}"/>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8D96CCCF-2164-4F16-B7B5-BF395BD934DB}"/>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1E5B52D1-C91E-4D2E-96B4-94FAF4939DF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152</a:t>
            </a:r>
          </a:p>
        </p:txBody>
      </p:sp>
      <p:sp>
        <p:nvSpPr>
          <p:cNvPr id="8" name="text-178-64">
            <a:extLst>
              <a:ext uri="{FF2B5EF4-FFF2-40B4-BE49-F238E27FC236}">
                <ns2:creationId id="{64E36B43-63F8-4DDB-A800-BAAE0D48CDA6}"/>
              </a:ext>
            </a:extLst>
          </p:cNvPr>
          <p:cNvSpPr>
            <a:spLocks noGrp="1"/>
          </p:cNvSpPr>
          <p:nvPr/>
        </p:nvSpPr>
        <p:spPr>
          <a:xfrm>
            <a:off x="609600" y="1619250"/>
            <a:ext cx="10972800" cy="2580894"/>
          </a:xfrm>
          <a:prstGeom prst="rect">
            <a:avLst/>
          </a:prstGeom>
          <a:noFill/>
          <a:ln w="0">
            <a:noFill/>
          </a:ln>
        </p:spPr>
        <p:txBody>
          <a:bodyPr wrap="none" lIns="0" tIns="0" rIns="0" bIns="0" anchor="t">
            <a:noAutofit/>
          </a:bodyPr>
          <a:lstStyle/>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n개 번호(n≥2)가 든 목록에서 번호를 찾는 요청이 m번(m≥1) 들어온다. 요청마다 찾는 번호는 달라도 되며</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목록 자체는 바뀌지 않는다.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방법 A: 요청이 올 때마다 첫 원소부터 하나씩 순차 탐색한다.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방법 B: 처음 한 번 오름차순으로 정렬한 뒤, 매 요청을 이진 탐색한다.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정렬 한 번의 시간은 Θ(n log n), 원소 한 번의 비교는 상수 시간으로 주어진다.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① 각 방법의 m번 요청을 합친 최악의 총 시간 복잡도를 쓰시오. B는 처음 정렬하는 시간도 포함한다.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② 요청이 적을 때와 같은 목록을 여러 번 검색할 때 중, 어느 상황에서 B를 고려하는지 이유를</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설명하시오. 정확한 손익분기 횟수는 구하지 않는다.</a:t>
            </a:r>
          </a:p>
        </p:txBody>
      </p:sp>
      <p:sp>
        <p:nvSpPr>
          <p:cNvPr id="9" name="">
            <a:extLst>
              <a:ext uri="{FF2B5EF4-FFF2-40B4-BE49-F238E27FC236}">
                <ns2:creationId id="{D95EC5D2-4D4A-4136-91B2-9E4C31F4E968}"/>
              </a:ext>
            </a:extLst>
          </p:cNvPr>
          <p:cNvSpPr>
            <a:spLocks noGrp="1"/>
          </p:cNvSpPr>
          <p:nvPr/>
        </p:nvSpPr>
        <p:spPr>
          <a:xfrm>
            <a:off x="609600" y="4314444"/>
            <a:ext cx="10972800" cy="787908"/>
          </a:xfrm>
          <a:prstGeom prst="rect">
            <a:avLst/>
          </a:prstGeom>
          <a:solidFill>
            <a:srgbClr val="171717"/>
          </a:solidFill>
          <a:ln w="0">
            <a:noFill/>
          </a:ln>
        </p:spPr>
      </p:sp>
      <p:sp>
        <p:nvSpPr>
          <p:cNvPr id="10" name="text-245.6-92">
            <a:extLst>
              <a:ext uri="{FF2B5EF4-FFF2-40B4-BE49-F238E27FC236}">
                <ns2:creationId id="{7D3294DA-B7F2-4948-814E-088A16DC21BC}"/>
              </a:ext>
            </a:extLst>
          </p:cNvPr>
          <p:cNvSpPr>
            <a:spLocks noGrp="1"/>
          </p:cNvSpPr>
          <p:nvPr/>
        </p:nvSpPr>
        <p:spPr>
          <a:xfrm>
            <a:off x="876300" y="4390644"/>
            <a:ext cx="10439400" cy="635508"/>
          </a:xfrm>
          <a:prstGeom prst="rect">
            <a:avLst/>
          </a:prstGeom>
          <a:noFill/>
          <a:ln w="0">
            <a:noFill/>
          </a:ln>
        </p:spPr>
        <p:txBody>
          <a:bodyPr wrap="none" lIns="0" tIns="0" rIns="0" bIns="0" anchor="t">
            <a:noAutofit/>
          </a:bodyPr>
          <a:lstStyle/>
          <a:p>
            <a:pPr>
              <a:lnSpc>
                <a:spcPct val="108000"/>
              </a:lnSpc>
              <a:spcBef>
                <a:spcPts val="0"/>
              </a:spcBef>
              <a:spcAft>
                <a:spcPts val="0"/>
              </a:spcAft>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① A: Θ(mn), B: Θ(n log n + m log n)</a:t>
            </a:r>
          </a:p>
          <a:p>
            <a:pPr>
              <a:lnSpc>
                <a:spcPct val="108000"/>
              </a:lnSpc>
              <a:spcBef>
                <a:spcPts val="0"/>
              </a:spcBef>
              <a:spcAft>
                <a:spcPts val="0"/>
              </a:spcAft>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② 같은 목록을 여러 번 검색할 때 B를 고려한다.</a:t>
            </a:r>
          </a:p>
        </p:txBody>
      </p:sp>
      <p:sp>
        <p:nvSpPr>
          <p:cNvPr id="11" name="text-324.4-64">
            <a:extLst>
              <a:ext uri="{FF2B5EF4-FFF2-40B4-BE49-F238E27FC236}">
                <ns2:creationId id="{124F9C31-43AD-4E13-AEA6-826CA51D254A}"/>
              </a:ext>
            </a:extLst>
          </p:cNvPr>
          <p:cNvSpPr>
            <a:spLocks noGrp="1"/>
          </p:cNvSpPr>
          <p:nvPr/>
        </p:nvSpPr>
        <p:spPr>
          <a:xfrm>
            <a:off x="609600" y="5197602"/>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1EE42148-6936-4BD5-8C01-047300F5A1AE}"/>
              </a:ext>
            </a:extLst>
          </p:cNvPr>
          <p:cNvSpPr>
            <a:spLocks noGrp="1"/>
          </p:cNvSpPr>
          <p:nvPr/>
        </p:nvSpPr>
        <p:spPr>
          <a:xfrm>
            <a:off x="609600" y="6267450"/>
            <a:ext cx="10972800" cy="9525"/>
          </a:xfrm>
          <a:prstGeom prst="rect">
            <a:avLst/>
          </a:prstGeom>
          <a:solidFill>
            <a:srgbClr val="D4D4D4"/>
          </a:solidFill>
          <a:ln w="0">
            <a:noFill/>
          </a:ln>
        </p:spPr>
      </p:sp>
      <p:sp>
        <p:nvSpPr>
          <p:cNvPr id="13" name="text-372.4-64">
            <a:extLst>
              <a:ext uri="{FF2B5EF4-FFF2-40B4-BE49-F238E27FC236}">
                <ns2:creationId id="{219FED5B-4566-4F89-B368-B6B9809BFD1B}"/>
              </a:ext>
            </a:extLst>
          </p:cNvPr>
          <p:cNvSpPr>
            <a:spLocks noGrp="1"/>
          </p:cNvSpPr>
          <p:nvPr/>
        </p:nvSpPr>
        <p:spPr>
          <a:xfrm>
            <a:off x="609600" y="5574792"/>
            <a:ext cx="10972800" cy="635508"/>
          </a:xfrm>
          <a:prstGeom prst="rect">
            <a:avLst/>
          </a:prstGeom>
          <a:noFill/>
          <a:ln w="0">
            <a:noFill/>
          </a:ln>
        </p:spPr>
        <p:txBody>
          <a:bodyPr wrap="none" lIns="0" tIns="0" rIns="0" bIns="0" anchor="t">
            <a:noAutofit/>
          </a:bodyPr>
          <a:lstStyle/>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A는 요청마다 최악 n개를 비교하므로 m번이면 Θ(mn)이다. B는 정렬 비용을 한 번만 들이고 요청당 최악 Θ(log n)을</a:t>
            </a:r>
          </a:p>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쓴다. 검색이 적으면 초기 정렬 비용이 클 수 있지만 검색이 많아지면 요청당 탐색 비용을 줄이는 이점이 커진다.</a:t>
            </a:r>
          </a:p>
        </p:txBody>
      </p:sp>
    </p:spTree>
    <p:extLst>
      <p:ext uri="{BB962C8B-B14F-4D97-AF65-F5344CB8AC3E}">
        <ns3:creationId val="462685519"/>
      </p:ext>
    </p:extLst>
  </p:cSld>
</p:sld>
</file>

<file path=ppt/slides/slide15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9D7F05FF-2272-4418-9414-F56BCD9A0363}"/>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9F39D1FF-438A-40E8-83A8-DF7D80ED2D73}"/>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CCB16495-470B-40CE-8D1C-6002FAA680E3}"/>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77  </a:t>
            </a:r>
          </a:p>
        </p:txBody>
      </p:sp>
      <p:sp>
        <p:nvSpPr>
          <p:cNvPr id="4" name="">
            <a:extLst>
              <a:ext uri="{FF2B5EF4-FFF2-40B4-BE49-F238E27FC236}">
                <ns2:creationId id="{C4648B76-A2B2-4ACD-946E-2E2A1006674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D986CAB-C646-455F-96F1-D85226D6A8C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900DD14-224A-40A5-B5EC-BC357146AFD8}"/>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C2BC649-0233-4632-BDE0-CB49034FF77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153</a:t>
            </a:r>
          </a:p>
        </p:txBody>
      </p:sp>
      <p:sp>
        <p:nvSpPr>
          <p:cNvPr id="8" name="text-178-64">
            <a:extLst>
              <a:ext uri="{FF2B5EF4-FFF2-40B4-BE49-F238E27FC236}">
                <ns2:creationId id="{4DFF80D4-AA49-4A9F-8BA9-98FCF37A9412}"/>
              </a:ext>
            </a:extLst>
          </p:cNvPr>
          <p:cNvSpPr>
            <a:spLocks noGrp="1"/>
          </p:cNvSpPr>
          <p:nvPr/>
        </p:nvSpPr>
        <p:spPr>
          <a:xfrm>
            <a:off x="609600" y="1619250"/>
            <a:ext cx="10972800" cy="116128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최대공약수를 구하는 유클리드 알고리즘은 b가 0이 아닐 동안 (a,b)를 (b,a%b)로 동시에</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바꾼다. %는 a를 b로 나눈 나머지이며, b=0이면 a를 반환한다. (18,12)에서 시작한다. 시작</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쌍부터 종료할 때까지의 (a,b)를 순서대로 쓰고, 최종 최대공약수를 쓰시오.</a:t>
            </a:r>
          </a:p>
        </p:txBody>
      </p:sp>
      <p:sp>
        <p:nvSpPr>
          <p:cNvPr id="9" name="text-405-64">
            <a:extLst>
              <a:ext uri="{FF2B5EF4-FFF2-40B4-BE49-F238E27FC236}">
                <ns2:creationId id="{E47B95F3-126A-4E78-8B33-62ADBF2F90FE}"/>
              </a:ext>
            </a:extLst>
          </p:cNvPr>
          <p:cNvSpPr>
            <a:spLocks noGrp="1"/>
          </p:cNvSpPr>
          <p:nvPr/>
        </p:nvSpPr>
        <p:spPr>
          <a:xfrm>
            <a:off x="609600" y="2913888"/>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56BD165E-DA03-45DA-85AD-883E46C292F7}"/>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E42D342F-2CFD-41F4-BCFF-455E2CEC0283}"/>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CB68CA5B-1084-47CC-AEC4-17CD642DD978}"/>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5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F1D3CB80-19B5-491E-B96A-5EF1642E8A79}"/>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0982F33A-E813-4B62-BE56-E4CA24E8696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EF36D4D-4C15-48AF-8FE3-C68A64B2A55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77  정답과 해설</a:t>
            </a:r>
          </a:p>
        </p:txBody>
      </p:sp>
      <p:sp>
        <p:nvSpPr>
          <p:cNvPr id="4" name="">
            <a:extLst>
              <a:ext uri="{FF2B5EF4-FFF2-40B4-BE49-F238E27FC236}">
                <ns2:creationId id="{4AD1520E-959E-4A17-98B5-03E8EE650E8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0FE03F7-A28B-4549-B2BE-3A65C6003599}"/>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1645AD0-74AB-4ED3-980A-D72C608747D4}"/>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521CF6C5-9139-4557-A240-49A6A082685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154</a:t>
            </a:r>
          </a:p>
        </p:txBody>
      </p:sp>
      <p:sp>
        <p:nvSpPr>
          <p:cNvPr id="8" name="text-178-64">
            <a:extLst>
              <a:ext uri="{FF2B5EF4-FFF2-40B4-BE49-F238E27FC236}">
                <ns2:creationId id="{0A7A7F18-DD5F-4BC6-8705-97CE45DD4AA1}"/>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최대공약수를 구하는 유클리드 알고리즘은 b가 0이 아닐 동안 (a,b)를 (b,a%b)로 동시에 바꾼다. %는 a를</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b로 나눈 나머지이며, b=0이면 a를 반환한다. (18,12)에서 시작한다. 시작 쌍부터 종료할 때까지의 (a,b)를</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순서대로 쓰고, 최종 최대공약수를 쓰시오.</a:t>
            </a:r>
          </a:p>
        </p:txBody>
      </p:sp>
      <p:sp>
        <p:nvSpPr>
          <p:cNvPr id="9" name="">
            <a:extLst>
              <a:ext uri="{FF2B5EF4-FFF2-40B4-BE49-F238E27FC236}">
                <ns2:creationId id="{02A58314-1F65-404D-BC45-3F578A445D7D}"/>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1EB20E02-E098-4182-A711-8CE22A0FC00F}"/>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(18,12) → (12,6) → (6,0), 최대공약수 6</a:t>
            </a:r>
          </a:p>
        </p:txBody>
      </p:sp>
      <p:sp>
        <p:nvSpPr>
          <p:cNvPr id="11" name="text-324.4-64">
            <a:extLst>
              <a:ext uri="{FF2B5EF4-FFF2-40B4-BE49-F238E27FC236}">
                <ns2:creationId id="{EEBCAD39-424D-4EE7-8FF8-0720DA18B476}"/>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4B1C70BB-6DAD-46A8-8400-A2D3EB8E8817}"/>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2972D799-ECEC-45A9-8243-1957BAF55770}"/>
              </a:ext>
            </a:extLst>
          </p:cNvPr>
          <p:cNvSpPr>
            <a:spLocks noGrp="1"/>
          </p:cNvSpPr>
          <p:nvPr/>
        </p:nvSpPr>
        <p:spPr>
          <a:xfrm>
            <a:off x="609600" y="3708273"/>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18%12=6, 12%6=0이다. 두 번째 값이 0이 되었을 때 첫 번째 값 6이 최대공약수다.</a:t>
            </a:r>
          </a:p>
        </p:txBody>
      </p:sp>
    </p:spTree>
    <p:extLst>
      <p:ext uri="{BB962C8B-B14F-4D97-AF65-F5344CB8AC3E}">
        <ns3:creationId val="462685519"/>
      </p:ext>
    </p:extLst>
  </p:cSld>
</p:sld>
</file>

<file path=ppt/slides/slide15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570240CB-E111-46B9-916D-292B60A6290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CF5B01D4-5D3A-420C-80CB-45825CAF26D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85A866C-E1AD-42A1-9B9B-D66F7E8F630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78  </a:t>
            </a:r>
          </a:p>
        </p:txBody>
      </p:sp>
      <p:sp>
        <p:nvSpPr>
          <p:cNvPr id="4" name="">
            <a:extLst>
              <a:ext uri="{FF2B5EF4-FFF2-40B4-BE49-F238E27FC236}">
                <ns2:creationId id="{E9089EBF-518A-40F0-8AAC-6D55BEB2DE3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AA15D6D-1622-4BD7-8BE5-545B437AF56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9B18D0E-059C-4F69-8608-9C21A2E869E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CD5C733-0861-4A78-80B6-7021BD299C38}"/>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155</a:t>
            </a:r>
          </a:p>
        </p:txBody>
      </p:sp>
      <p:sp>
        <p:nvSpPr>
          <p:cNvPr id="8" name="text-178-64">
            <a:extLst>
              <a:ext uri="{FF2B5EF4-FFF2-40B4-BE49-F238E27FC236}">
                <ns2:creationId id="{FAE2C693-175D-4014-9CEC-4AD8FF163E9B}"/>
              </a:ext>
            </a:extLst>
          </p:cNvPr>
          <p:cNvSpPr>
            <a:spLocks noGrp="1"/>
          </p:cNvSpPr>
          <p:nvPr/>
        </p:nvSpPr>
        <p:spPr>
          <a:xfrm>
            <a:off x="609600" y="1619250"/>
            <a:ext cx="10972800" cy="3901916"/>
          </a:xfrm>
          <a:prstGeom prst="rect">
            <a:avLst/>
          </a:prstGeom>
          <a:noFill/>
          <a:ln w="0">
            <a:noFill/>
          </a:ln>
        </p:spPr>
        <p:txBody>
          <a:bodyPr wrap="none" lIns="0" tIns="0" rIns="0" bIns="0" anchor="t">
            <a:noAutofit/>
          </a:bodyPr>
          <a:lstStyle/>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power(C, k)는 C의 k제곱을 계산해 반환하는 함수이다.</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예를 들어 power(2, 4)는 2×2×2×2인 16을 반환한다.</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이 함수는 호출할 때마다 다시 계산하며, 이전 결과를 자동으로 저장하지 않는다.</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2⁸ = 2⁴ × 2⁴를 계산하는 다음 두 코드를 비교하시오.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코드 A:</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h = power(2, 4)</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result = h * h</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코드 B:</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    result = power(2, 4) * power(2, 4)</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① 코드 A와 B에서 power(2, 4)를 각각 몇 번 호출하는가?</a:t>
            </a:r>
          </a:p>
          <a:p>
            <a:pPr algn="l">
              <a:lnSpc>
                <a:spcPct val="108000"/>
              </a:lnSpc>
              <a:buNone/>
              <a:defRPr sz="1688" b="0" i="0">
                <a:solidFill>
                  <a:srgbClr val="171717"/>
                </a:solidFill>
                <a:latin typeface="Malgun Gothic"/>
                <a:ea typeface="Malgun Gothic"/>
                <a:cs typeface="Malgun Gothic"/>
              </a:defRPr>
            </a:pPr>
            <a:r>
              <a:rPr sz="1688" b="0" i="0">
                <a:solidFill>
                  <a:srgbClr val="171717"/>
                </a:solidFill>
                <a:latin typeface="Malgun Gothic"/>
                <a:ea typeface="Malgun Gothic"/>
                <a:cs typeface="Malgun Gothic"/>
              </a:rPr>
              <a:t>② 같은 거듭제곱을 두 번 계산하는 쪽을 고르고, 왜 계산이 더 필요한지 설명하시오.</a:t>
            </a:r>
          </a:p>
        </p:txBody>
      </p:sp>
      <p:sp>
        <p:nvSpPr>
          <p:cNvPr id="9" name="text-405-64">
            <a:extLst>
              <a:ext uri="{FF2B5EF4-FFF2-40B4-BE49-F238E27FC236}">
                <ns2:creationId id="{D1AD06BA-E71F-4A22-81C7-C8CE3401B5CB}"/>
              </a:ext>
            </a:extLst>
          </p:cNvPr>
          <p:cNvSpPr>
            <a:spLocks noGrp="1"/>
          </p:cNvSpPr>
          <p:nvPr/>
        </p:nvSpPr>
        <p:spPr>
          <a:xfrm>
            <a:off x="609600" y="5654516"/>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① 두 호출 횟수 ② 중복 계산하는 코드와 그 이유를 쓰시오.</a:t>
            </a:r>
          </a:p>
        </p:txBody>
      </p:sp>
      <p:sp>
        <p:nvSpPr>
          <p:cNvPr id="10" name="">
            <a:extLst>
              <a:ext uri="{FF2B5EF4-FFF2-40B4-BE49-F238E27FC236}">
                <ns2:creationId id="{177D4E3F-0342-4952-AAE5-45FEAA832CEE}"/>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739CF4A1-38F2-4AFF-B2E5-D0E224A43443}"/>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70AF8ED7-A3A7-4984-847E-D01169F71A24}"/>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5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3C6C8863-E0B3-4E09-9E3A-634E2356CAA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B500C6E7-111F-4D5F-9267-874D16FB7C58}"/>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35B0A94-C3CB-447F-8F3F-3ABB275F431C}"/>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78  정답과 해설</a:t>
            </a:r>
          </a:p>
        </p:txBody>
      </p:sp>
      <p:sp>
        <p:nvSpPr>
          <p:cNvPr id="4" name="">
            <a:extLst>
              <a:ext uri="{FF2B5EF4-FFF2-40B4-BE49-F238E27FC236}">
                <ns2:creationId id="{AD7D4A9A-C9FA-4399-BA33-4A23072C310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6B9AEB6-974B-4EC1-90E1-22A841ED68C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F15214E9-D141-43F4-A473-A72F62C27098}"/>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0994AD1-09FC-4DD6-9CAA-A669BCE9DC0F}"/>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156</a:t>
            </a:r>
          </a:p>
        </p:txBody>
      </p:sp>
      <p:sp>
        <p:nvSpPr>
          <p:cNvPr id="8" name="text-178-64">
            <a:extLst>
              <a:ext uri="{FF2B5EF4-FFF2-40B4-BE49-F238E27FC236}">
                <ns2:creationId id="{0DB786F4-DAF1-4F5C-BD58-6CA8513C1C4C}"/>
              </a:ext>
            </a:extLst>
          </p:cNvPr>
          <p:cNvSpPr>
            <a:spLocks noGrp="1"/>
          </p:cNvSpPr>
          <p:nvPr/>
        </p:nvSpPr>
        <p:spPr>
          <a:xfrm>
            <a:off x="609600" y="1619250"/>
            <a:ext cx="10972800" cy="2791206"/>
          </a:xfrm>
          <a:prstGeom prst="rect">
            <a:avLst/>
          </a:prstGeom>
          <a:noFill/>
          <a:ln w="0">
            <a:noFill/>
          </a:ln>
        </p:spPr>
        <p:txBody>
          <a:bodyPr wrap="none" lIns="0" tIns="0" rIns="0" bIns="0" anchor="t">
            <a:noAutofit/>
          </a:bodyPr>
          <a:lstStyle/>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power(C, k)는 C의 k제곱을 계산해 반환하는 함수이다.</a:t>
            </a:r>
          </a:p>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예를 들어 power(2, 4)는 2×2×2×2인 16을 반환한다.</a:t>
            </a:r>
          </a:p>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이 함수는 호출할 때마다 다시 계산하며, 이전 결과를 자동으로 저장하지 않는다.</a:t>
            </a:r>
          </a:p>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2⁸ = 2⁴ × 2⁴를 계산하는 다음 두 코드를 비교하시오.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코드 A:</a:t>
            </a:r>
          </a:p>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    h = power(2, 4)</a:t>
            </a:r>
          </a:p>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    result = h * h</a:t>
            </a:r>
          </a:p>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코드 B:</a:t>
            </a:r>
          </a:p>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    result = power(2, 4) * power(2, 4)</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① 코드 A와 B에서 power(2, 4)를 각각 몇 번 호출하는가?</a:t>
            </a:r>
          </a:p>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② 같은 거듭제곱을 두 번 계산하는 쪽을 고르고, 왜 계산이 더 필요한지 설명하시오.</a:t>
            </a:r>
          </a:p>
        </p:txBody>
      </p:sp>
      <p:sp>
        <p:nvSpPr>
          <p:cNvPr id="9" name="">
            <a:extLst>
              <a:ext uri="{FF2B5EF4-FFF2-40B4-BE49-F238E27FC236}">
                <ns2:creationId id="{09038FBD-5097-4E5A-9890-9DE2CC3ECF8E}"/>
              </a:ext>
            </a:extLst>
          </p:cNvPr>
          <p:cNvSpPr>
            <a:spLocks noGrp="1"/>
          </p:cNvSpPr>
          <p:nvPr/>
        </p:nvSpPr>
        <p:spPr>
          <a:xfrm>
            <a:off x="609600" y="4524756"/>
            <a:ext cx="10972800" cy="446151"/>
          </a:xfrm>
          <a:prstGeom prst="rect">
            <a:avLst/>
          </a:prstGeom>
          <a:solidFill>
            <a:srgbClr val="171717"/>
          </a:solidFill>
          <a:ln w="0">
            <a:noFill/>
          </a:ln>
        </p:spPr>
      </p:sp>
      <p:sp>
        <p:nvSpPr>
          <p:cNvPr id="10" name="text-245.6-92">
            <a:extLst>
              <a:ext uri="{FF2B5EF4-FFF2-40B4-BE49-F238E27FC236}">
                <ns2:creationId id="{CF9ED10B-E6EF-439F-9B71-7695864B419F}"/>
              </a:ext>
            </a:extLst>
          </p:cNvPr>
          <p:cNvSpPr>
            <a:spLocks noGrp="1"/>
          </p:cNvSpPr>
          <p:nvPr/>
        </p:nvSpPr>
        <p:spPr>
          <a:xfrm>
            <a:off x="876300" y="4600956"/>
            <a:ext cx="10439400" cy="293751"/>
          </a:xfrm>
          <a:prstGeom prst="rect">
            <a:avLst/>
          </a:prstGeom>
          <a:noFill/>
          <a:ln w="0">
            <a:noFill/>
          </a:ln>
        </p:spPr>
        <p:txBody>
          <a:bodyPr wrap="none" lIns="0" tIns="0" rIns="0" bIns="0" anchor="t">
            <a:noAutofit/>
          </a:bodyPr>
          <a:lstStyle/>
          <a:p>
            <a:pPr algn="l">
              <a:lnSpc>
                <a:spcPct val="108000"/>
              </a:lnSpc>
              <a:buNone/>
              <a:defRPr sz="1350" b="1" i="0">
                <a:solidFill>
                  <a:srgbClr val="FFFFFF"/>
                </a:solidFill>
                <a:latin typeface="Malgun Gothic"/>
                <a:ea typeface="Malgun Gothic"/>
                <a:cs typeface="Malgun Gothic"/>
              </a:defRPr>
            </a:pPr>
            <a:r>
              <a:rPr sz="1350" b="1" i="0">
                <a:solidFill>
                  <a:srgbClr val="FFFFFF"/>
                </a:solidFill>
                <a:latin typeface="Malgun Gothic"/>
                <a:ea typeface="Malgun Gothic"/>
                <a:cs typeface="Malgun Gothic"/>
              </a:rPr>
              <a:t>① A는 1회, B는 2회. ② B가 같은 거듭제곱을 두 번 계산한다.</a:t>
            </a:r>
          </a:p>
        </p:txBody>
      </p:sp>
      <p:sp>
        <p:nvSpPr>
          <p:cNvPr id="11" name="text-324.4-64">
            <a:extLst>
              <a:ext uri="{FF2B5EF4-FFF2-40B4-BE49-F238E27FC236}">
                <ns2:creationId id="{2FCC3F13-B765-45BB-BF7D-3C365D31CA7B}"/>
              </a:ext>
            </a:extLst>
          </p:cNvPr>
          <p:cNvSpPr>
            <a:spLocks noGrp="1"/>
          </p:cNvSpPr>
          <p:nvPr/>
        </p:nvSpPr>
        <p:spPr>
          <a:xfrm>
            <a:off x="609600" y="5066157"/>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05CC1637-2A04-4FCA-B3D6-BFA381ECCB94}"/>
              </a:ext>
            </a:extLst>
          </p:cNvPr>
          <p:cNvSpPr>
            <a:spLocks noGrp="1"/>
          </p:cNvSpPr>
          <p:nvPr/>
        </p:nvSpPr>
        <p:spPr>
          <a:xfrm>
            <a:off x="609600" y="6267450"/>
            <a:ext cx="10972800" cy="9525"/>
          </a:xfrm>
          <a:prstGeom prst="rect">
            <a:avLst/>
          </a:prstGeom>
          <a:solidFill>
            <a:srgbClr val="D4D4D4"/>
          </a:solidFill>
          <a:ln w="0">
            <a:noFill/>
          </a:ln>
        </p:spPr>
      </p:sp>
      <p:sp>
        <p:nvSpPr>
          <p:cNvPr id="13" name="text-372.4-64">
            <a:extLst>
              <a:ext uri="{FF2B5EF4-FFF2-40B4-BE49-F238E27FC236}">
                <ns2:creationId id="{47EF6CC2-DBAF-4EA2-BD63-3EEFF4126B3B}"/>
              </a:ext>
            </a:extLst>
          </p:cNvPr>
          <p:cNvSpPr>
            <a:spLocks noGrp="1"/>
          </p:cNvSpPr>
          <p:nvPr/>
        </p:nvSpPr>
        <p:spPr>
          <a:xfrm>
            <a:off x="609600" y="5443347"/>
            <a:ext cx="10972800" cy="766953"/>
          </a:xfrm>
          <a:prstGeom prst="rect">
            <a:avLst/>
          </a:prstGeom>
          <a:noFill/>
          <a:ln w="0">
            <a:noFill/>
          </a:ln>
        </p:spPr>
        <p:txBody>
          <a:bodyPr wrap="none" lIns="0" tIns="0" rIns="0" bIns="0" anchor="t">
            <a:noAutofit/>
          </a:bodyPr>
          <a:lstStyle/>
          <a:p>
            <a:pPr algn="l">
              <a:lnSpc>
                <a:spcPct val="108000"/>
              </a:lnSpc>
              <a:buNone/>
              <a:defRPr sz="1350" b="0" i="0">
                <a:solidFill>
                  <a:srgbClr val="606060"/>
                </a:solidFill>
                <a:latin typeface="Malgun Gothic"/>
                <a:ea typeface="Malgun Gothic"/>
                <a:cs typeface="Malgun Gothic"/>
              </a:defRPr>
            </a:pPr>
            <a:r>
              <a:rPr sz="1350" b="0" i="0">
                <a:solidFill>
                  <a:srgbClr val="606060"/>
                </a:solidFill>
                <a:latin typeface="Malgun Gothic"/>
                <a:ea typeface="Malgun Gothic"/>
                <a:cs typeface="Malgun Gothic"/>
              </a:rPr>
              <a:t>A는 power(2,4)의 계산 결과를 h에 저장하고 h를 두 번 사용한다. B는 동일한 함수를 두 번 호출하며, 호출할 때마다 2⁴를 다시 계산한다. 두</a:t>
            </a:r>
          </a:p>
          <a:p>
            <a:pPr algn="l">
              <a:lnSpc>
                <a:spcPct val="108000"/>
              </a:lnSpc>
              <a:buNone/>
              <a:defRPr sz="1350" b="0" i="0">
                <a:solidFill>
                  <a:srgbClr val="606060"/>
                </a:solidFill>
                <a:latin typeface="Malgun Gothic"/>
                <a:ea typeface="Malgun Gothic"/>
                <a:cs typeface="Malgun Gothic"/>
              </a:defRPr>
            </a:pPr>
            <a:r>
              <a:rPr sz="1350" b="0" i="0">
                <a:solidFill>
                  <a:srgbClr val="606060"/>
                </a:solidFill>
                <a:latin typeface="Malgun Gothic"/>
                <a:ea typeface="Malgun Gothic"/>
                <a:cs typeface="Malgun Gothic"/>
              </a:rPr>
              <a:t>코드 모두 마지막 곱셈은 한 번이지만 B는 거듭제곱 계산을 한 번 더 수행한다. 정확한 시간 복잡도나 result의 값은 이 문제에서 요구하지</a:t>
            </a:r>
          </a:p>
          <a:p>
            <a:pPr algn="l">
              <a:lnSpc>
                <a:spcPct val="108000"/>
              </a:lnSpc>
              <a:buNone/>
              <a:defRPr sz="1350" b="0" i="0">
                <a:solidFill>
                  <a:srgbClr val="606060"/>
                </a:solidFill>
                <a:latin typeface="Malgun Gothic"/>
                <a:ea typeface="Malgun Gothic"/>
                <a:cs typeface="Malgun Gothic"/>
              </a:defRPr>
            </a:pPr>
            <a:r>
              <a:rPr sz="1350" b="0" i="0">
                <a:solidFill>
                  <a:srgbClr val="606060"/>
                </a:solidFill>
                <a:latin typeface="Malgun Gothic"/>
                <a:ea typeface="Malgun Gothic"/>
                <a:cs typeface="Malgun Gothic"/>
              </a:rPr>
              <a:t>않는다.</a:t>
            </a:r>
          </a:p>
        </p:txBody>
      </p:sp>
    </p:spTree>
    <p:extLst>
      <p:ext uri="{BB962C8B-B14F-4D97-AF65-F5344CB8AC3E}">
        <ns3:creationId val="462685519"/>
      </p:ext>
    </p:extLst>
  </p:cSld>
</p:sld>
</file>

<file path=ppt/slides/slide15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539B03F4-2C0B-4BF9-88A8-A4DFD8EB622D}"/>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F8EE3E41-17FD-41ED-ACA5-EF27B5AFCF68}"/>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56310CD-27E0-4CAA-A828-FC345AF71EDA}"/>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79  </a:t>
            </a:r>
          </a:p>
        </p:txBody>
      </p:sp>
      <p:sp>
        <p:nvSpPr>
          <p:cNvPr id="4" name="">
            <a:extLst>
              <a:ext uri="{FF2B5EF4-FFF2-40B4-BE49-F238E27FC236}">
                <ns2:creationId id="{35F97555-F3F6-4BCA-8C2E-C4F5B738BC6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0783E85-F522-4514-9465-7D956FA00E9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33BC2B0-7248-4E97-98CB-428ECE55A80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BB6B1AE-BB28-4A2E-8260-520BACDCC0C5}"/>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157</a:t>
            </a:r>
          </a:p>
        </p:txBody>
      </p:sp>
      <p:sp>
        <p:nvSpPr>
          <p:cNvPr id="8" name="text-178-64">
            <a:extLst>
              <a:ext uri="{FF2B5EF4-FFF2-40B4-BE49-F238E27FC236}">
                <ns2:creationId id="{08F502D5-4FFD-48D6-9DA5-170EC75C1855}"/>
              </a:ext>
            </a:extLst>
          </p:cNvPr>
          <p:cNvSpPr>
            <a:spLocks noGrp="1"/>
          </p:cNvSpPr>
          <p:nvPr/>
        </p:nvSpPr>
        <p:spPr>
          <a:xfrm>
            <a:off x="609600" y="1638300"/>
            <a:ext cx="10972800" cy="3295650"/>
          </a:xfrm>
          <a:prstGeom prst="rect">
            <a:avLst/>
          </a:prstGeom>
          <a:noFill/>
          <a:ln w="0">
            <a:noFill/>
          </a:ln>
        </p:spPr>
        <p:txBody>
          <a:bodyPr wrap="none" lIns="0" tIns="0" rIns="0" bIns="0" anchor="t">
            <a:noAutofit/>
          </a:bodyPr>
          <a:lstStyle/>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다음 C 코드는 피보나치 수열의 다음 두 항을 계산하려는 코드이다.</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갱신 전 a는 현재 항, b는 다음 항이다. 갱신 후에는 각각</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기존 b와 기존 a + b가 되어야 한다.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a = b;</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b = a + b;</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① 갱신 전 a = 2, b = 3일 때, 위 코드 실행 후 a와 b의 값을 쓰시오.</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② 의도한 결과와 달라지는 이유를 설명하고, 임시 변수를 사용하여 수정하시오.</a:t>
            </a:r>
          </a:p>
        </p:txBody>
      </p:sp>
      <p:sp>
        <p:nvSpPr>
          <p:cNvPr id="9" name="text-405-64">
            <a:extLst>
              <a:ext uri="{FF2B5EF4-FFF2-40B4-BE49-F238E27FC236}">
                <ns2:creationId id="{3ADB94A4-8B5C-4A3F-9DD8-F7B5AF20955D}"/>
              </a:ext>
            </a:extLst>
          </p:cNvPr>
          <p:cNvSpPr>
            <a:spLocks noGrp="1"/>
          </p:cNvSpPr>
          <p:nvPr/>
        </p:nvSpPr>
        <p:spPr>
          <a:xfrm>
            <a:off x="609600" y="5124450"/>
            <a:ext cx="10972800" cy="342900"/>
          </a:xfrm>
          <a:prstGeom prst="rect">
            <a:avLst/>
          </a:prstGeom>
          <a:noFill/>
          <a:ln w="0">
            <a:noFill/>
          </a:ln>
        </p:spPr>
        <p:txBody>
          <a:bodyPr wrap="none" lIns="0" tIns="0" rIns="0" bIns="0" anchor="t">
            <a:noAutofit/>
          </a:bodyPr>
          <a:lstStyle/>
          <a:p>
            <a:pPr algn="l">
              <a:lnSpc>
                <a:spcPct val="108000"/>
              </a:lnSpc>
              <a:buNone/>
              <a:defRPr sz="1575" b="0" i="0">
                <a:solidFill>
                  <a:srgbClr val="191919"/>
                </a:solidFill>
                <a:latin typeface="Malgun Gothic"/>
                <a:ea typeface="Malgun Gothic"/>
                <a:cs typeface="Malgun Gothic"/>
              </a:defRPr>
            </a:pPr>
            <a:r>
              <a:rPr sz="1575" b="0" i="0">
                <a:solidFill>
                  <a:srgbClr val="191919"/>
                </a:solidFill>
                <a:latin typeface="Malgun Gothic"/>
                <a:ea typeface="Malgun Gothic"/>
                <a:cs typeface="Malgun Gothic"/>
              </a:rPr>
              <a:t>배점: 실행 결과 2점 · 오류 원인 3점 · 수정안 5점. C 코드로 수정안을 쓰시오.</a:t>
            </a:r>
          </a:p>
        </p:txBody>
      </p:sp>
      <p:sp>
        <p:nvSpPr>
          <p:cNvPr id="10" name="">
            <a:extLst>
              <a:ext uri="{FF2B5EF4-FFF2-40B4-BE49-F238E27FC236}">
                <ns2:creationId id="{C5C847BD-6D5B-4545-B5DF-460599A66E24}"/>
              </a:ext>
            </a:extLst>
          </p:cNvPr>
          <p:cNvSpPr>
            <a:spLocks noGrp="1"/>
          </p:cNvSpPr>
          <p:nvPr/>
        </p:nvSpPr>
        <p:spPr>
          <a:xfrm>
            <a:off x="609600" y="5619750"/>
            <a:ext cx="10972800" cy="9525"/>
          </a:xfrm>
          <a:prstGeom prst="rect">
            <a:avLst/>
          </a:prstGeom>
          <a:solidFill>
            <a:srgbClr val="D4D4D4"/>
          </a:solidFill>
          <a:ln w="0">
            <a:noFill/>
          </a:ln>
        </p:spPr>
      </p:sp>
      <p:sp>
        <p:nvSpPr>
          <p:cNvPr id="11" name="">
            <a:extLst>
              <a:ext uri="{FF2B5EF4-FFF2-40B4-BE49-F238E27FC236}">
                <ns2:creationId id="{2CA297E0-CB1F-414F-9FF9-D23EC01676CD}"/>
              </a:ext>
            </a:extLst>
          </p:cNvPr>
          <p:cNvSpPr>
            <a:spLocks noGrp="1"/>
          </p:cNvSpPr>
          <p:nvPr/>
        </p:nvSpPr>
        <p:spPr>
          <a:xfrm>
            <a:off x="609600" y="5953125"/>
            <a:ext cx="10972800" cy="9525"/>
          </a:xfrm>
          <a:prstGeom prst="rect">
            <a:avLst/>
          </a:prstGeom>
          <a:solidFill>
            <a:srgbClr val="D4D4D4"/>
          </a:solidFill>
          <a:ln w="0">
            <a:noFill/>
          </a:ln>
        </p:spPr>
      </p:sp>
      <p:sp>
        <p:nvSpPr>
          <p:cNvPr id="12" name="">
            <a:extLst>
              <a:ext uri="{FF2B5EF4-FFF2-40B4-BE49-F238E27FC236}">
                <ns2:creationId id="{A7918E3C-C4FA-4B0E-8001-2EE82D24A753}"/>
              </a:ext>
            </a:extLst>
          </p:cNvPr>
          <p:cNvSpPr>
            <a:spLocks noGrp="1"/>
          </p:cNvSpPr>
          <p:nvPr/>
        </p:nvSpPr>
        <p:spPr>
          <a:xfrm>
            <a:off x="609600" y="6286500"/>
            <a:ext cx="10972800" cy="9525"/>
          </a:xfrm>
          <a:prstGeom prst="rect">
            <a:avLst/>
          </a:prstGeom>
          <a:solidFill>
            <a:srgbClr val="D4D4D4"/>
          </a:solidFill>
          <a:ln w="0">
            <a:noFill/>
          </a:ln>
        </p:spPr>
      </p:sp>
    </p:spTree>
    <p:extLst>
      <p:ext uri="{BB962C8B-B14F-4D97-AF65-F5344CB8AC3E}">
        <ns3:creationId val="462685519"/>
      </p:ext>
    </p:extLst>
  </p:cSld>
</p:sld>
</file>

<file path=ppt/slides/slide15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D3A8C46E-3167-46AD-AF51-A768F6FAE006}"/>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93E00D85-BBC0-473E-BFE4-22A21FE2C5D3}"/>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3D3EB6EF-4FF0-487F-8B67-59D000AACE10}"/>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79  정답과 해설</a:t>
            </a:r>
          </a:p>
        </p:txBody>
      </p:sp>
      <p:sp>
        <p:nvSpPr>
          <p:cNvPr id="4" name="">
            <a:extLst>
              <a:ext uri="{FF2B5EF4-FFF2-40B4-BE49-F238E27FC236}">
                <ns2:creationId id="{F75EA706-EF5A-46AE-AC56-3400EE6FC7A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BC3A738-C129-448B-BCB6-2EC63E19C964}"/>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CF14CBCE-6FCB-4D0D-A4BD-EDA5CDF7B8A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78022B65-003C-47A1-B915-0228868BB305}"/>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158</a:t>
            </a:r>
          </a:p>
        </p:txBody>
      </p:sp>
      <p:sp>
        <p:nvSpPr>
          <p:cNvPr id="8" name="text-178-64">
            <a:extLst>
              <a:ext uri="{FF2B5EF4-FFF2-40B4-BE49-F238E27FC236}">
                <ns2:creationId id="{4B1C598B-DC82-4812-BEF1-2489A6A3FD30}"/>
              </a:ext>
            </a:extLst>
          </p:cNvPr>
          <p:cNvSpPr>
            <a:spLocks noGrp="1"/>
          </p:cNvSpPr>
          <p:nvPr/>
        </p:nvSpPr>
        <p:spPr>
          <a:xfrm>
            <a:off x="609600" y="1676400"/>
            <a:ext cx="10972800" cy="400050"/>
          </a:xfrm>
          <a:prstGeom prst="rect">
            <a:avLst/>
          </a:prstGeom>
          <a:noFill/>
          <a:ln w="0">
            <a:noFill/>
          </a:ln>
        </p:spPr>
        <p:txBody>
          <a:bodyPr wrap="none" lIns="0" tIns="0" rIns="0" bIns="0" anchor="t">
            <a:noAutofit/>
          </a:bodyPr>
          <a:lstStyle/>
          <a:p>
            <a:pPr algn="l">
              <a:lnSpc>
                <a:spcPct val="108000"/>
              </a:lnSpc>
              <a:buNone/>
              <a:defRPr sz="1950" b="0" i="0">
                <a:solidFill>
                  <a:srgbClr val="191919"/>
                </a:solidFill>
                <a:latin typeface="Malgun Gothic"/>
                <a:ea typeface="Malgun Gothic"/>
                <a:cs typeface="Malgun Gothic"/>
              </a:defRPr>
            </a:pPr>
            <a:r>
              <a:rPr sz="1950" b="0" i="0">
                <a:solidFill>
                  <a:srgbClr val="191919"/>
                </a:solidFill>
                <a:latin typeface="Malgun Gothic"/>
                <a:ea typeface="Malgun Gothic"/>
                <a:cs typeface="Malgun Gothic"/>
              </a:rPr>
              <a:t>a = 2, b = 3에서 순차 대입의 결과를 확인하고 수정한다.</a:t>
            </a:r>
          </a:p>
        </p:txBody>
      </p:sp>
      <p:sp>
        <p:nvSpPr>
          <p:cNvPr id="9" name="">
            <a:extLst>
              <a:ext uri="{FF2B5EF4-FFF2-40B4-BE49-F238E27FC236}">
                <ns2:creationId id="{2399FC36-FF3D-458A-B002-C97FF5CCB377}"/>
              </a:ext>
            </a:extLst>
          </p:cNvPr>
          <p:cNvSpPr>
            <a:spLocks noGrp="1"/>
          </p:cNvSpPr>
          <p:nvPr/>
        </p:nvSpPr>
        <p:spPr>
          <a:xfrm>
            <a:off x="609600" y="2205990"/>
            <a:ext cx="10972800" cy="626745"/>
          </a:xfrm>
          <a:prstGeom prst="rect">
            <a:avLst/>
          </a:prstGeom>
          <a:solidFill>
            <a:srgbClr val="171717"/>
          </a:solidFill>
          <a:ln w="0">
            <a:noFill/>
          </a:ln>
        </p:spPr>
      </p:sp>
      <p:sp>
        <p:nvSpPr>
          <p:cNvPr id="10" name="text-245.6-92">
            <a:extLst>
              <a:ext uri="{FF2B5EF4-FFF2-40B4-BE49-F238E27FC236}">
                <ns2:creationId id="{CB82FF44-5953-422E-B92C-8A5BC80CC837}"/>
              </a:ext>
            </a:extLst>
          </p:cNvPr>
          <p:cNvSpPr>
            <a:spLocks noGrp="1"/>
          </p:cNvSpPr>
          <p:nvPr/>
        </p:nvSpPr>
        <p:spPr>
          <a:xfrm>
            <a:off x="876300" y="2343150"/>
            <a:ext cx="10439400" cy="419100"/>
          </a:xfrm>
          <a:prstGeom prst="rect">
            <a:avLst/>
          </a:prstGeom>
          <a:noFill/>
          <a:ln w="0">
            <a:noFill/>
          </a:ln>
        </p:spPr>
        <p:txBody>
          <a:bodyPr wrap="none" lIns="0" tIns="0" rIns="0" bIns="0" anchor="t">
            <a:noAutofit/>
          </a:bodyPr>
          <a:lstStyle/>
          <a:p>
            <a:pPr algn="l">
              <a:lnSpc>
                <a:spcPct val="108000"/>
              </a:lnSpc>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① 실제 결과: a = 3, b = 6    /    의도한 결과: a = 3, b = 5</a:t>
            </a:r>
          </a:p>
        </p:txBody>
      </p:sp>
      <p:sp>
        <p:nvSpPr>
          <p:cNvPr id="11" name="text-324.4-64">
            <a:extLst>
              <a:ext uri="{FF2B5EF4-FFF2-40B4-BE49-F238E27FC236}">
                <ns2:creationId id="{2D01AB26-B534-4D1A-A4CA-13AF1EDA285C}"/>
              </a:ext>
            </a:extLst>
          </p:cNvPr>
          <p:cNvSpPr>
            <a:spLocks noGrp="1"/>
          </p:cNvSpPr>
          <p:nvPr/>
        </p:nvSpPr>
        <p:spPr>
          <a:xfrm>
            <a:off x="609600" y="3089910"/>
            <a:ext cx="1181100" cy="361950"/>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EB3067C4-432E-49B9-9410-7965F1195DFB}"/>
              </a:ext>
            </a:extLst>
          </p:cNvPr>
          <p:cNvSpPr>
            <a:spLocks noGrp="1"/>
          </p:cNvSpPr>
          <p:nvPr/>
        </p:nvSpPr>
        <p:spPr>
          <a:xfrm>
            <a:off x="1752600" y="3261360"/>
            <a:ext cx="9829800" cy="9525"/>
          </a:xfrm>
          <a:prstGeom prst="rect">
            <a:avLst/>
          </a:prstGeom>
          <a:solidFill>
            <a:srgbClr val="D4D4D4"/>
          </a:solidFill>
          <a:ln w="0">
            <a:noFill/>
          </a:ln>
        </p:spPr>
      </p:sp>
      <p:sp>
        <p:nvSpPr>
          <p:cNvPr id="13" name="text-372.4-64">
            <a:extLst>
              <a:ext uri="{FF2B5EF4-FFF2-40B4-BE49-F238E27FC236}">
                <ns2:creationId id="{0E8AB619-D76A-4EDF-9903-1FF53A9F217C}"/>
              </a:ext>
            </a:extLst>
          </p:cNvPr>
          <p:cNvSpPr>
            <a:spLocks noGrp="1"/>
          </p:cNvSpPr>
          <p:nvPr/>
        </p:nvSpPr>
        <p:spPr>
          <a:xfrm>
            <a:off x="609600" y="3543300"/>
            <a:ext cx="10972800" cy="2533650"/>
          </a:xfrm>
          <a:prstGeom prst="rect">
            <a:avLst/>
          </a:prstGeom>
          <a:noFill/>
          <a:ln w="0">
            <a:noFill/>
          </a:ln>
        </p:spPr>
        <p:txBody>
          <a:bodyPr wrap="none" lIns="0" tIns="0" rIns="0" bIns="0" anchor="t">
            <a:noAutofit/>
          </a:bodyPr>
          <a:lstStyle/>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② a = b;를 실행하면 기존 a의 값 2가 사라진다.</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따라서 b = a + b;는 2 + 3이 아니라 3 + 3을 계산한다.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int t = a + b;</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a = b;</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b = t;</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875" b="0" i="0">
                <a:solidFill>
                  <a:srgbClr val="191919"/>
                </a:solidFill>
                <a:latin typeface="Malgun Gothic"/>
                <a:ea typeface="Malgun Gothic"/>
                <a:cs typeface="Malgun Gothic"/>
              </a:defRPr>
            </a:pPr>
            <a:r>
              <a:rPr sz="1875" b="0" i="0">
                <a:solidFill>
                  <a:srgbClr val="191919"/>
                </a:solidFill>
                <a:latin typeface="Malgun Gothic"/>
                <a:ea typeface="Malgun Gothic"/>
                <a:cs typeface="Malgun Gothic"/>
              </a:rPr>
              <a:t>덮어쓰기 전에 합 5를 t에 저장하므로, 갱신 후 a = 3, b = 5가 된다.</a:t>
            </a:r>
          </a:p>
        </p:txBody>
      </p:sp>
    </p:spTree>
    <p:extLst>
      <p:ext uri="{BB962C8B-B14F-4D97-AF65-F5344CB8AC3E}">
        <ns3:creationId val="462685519"/>
      </p:ext>
    </p:extLst>
  </p:cSld>
</p:sld>
</file>

<file path=ppt/slides/slide16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372C7960-3453-4834-9A4F-D683D968FFF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3B2F9310-21A0-4006-99D5-D7B185A33B7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238A3B7D-75D9-4AB8-9E1A-AF784C781087}"/>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81  </a:t>
            </a:r>
          </a:p>
        </p:txBody>
      </p:sp>
      <p:sp>
        <p:nvSpPr>
          <p:cNvPr id="4" name="">
            <a:extLst>
              <a:ext uri="{FF2B5EF4-FFF2-40B4-BE49-F238E27FC236}">
                <ns2:creationId id="{442D7218-1C55-44BC-B482-F4D71599E6D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C9171E1-FE38-4207-9DF2-BDEA47CCB221}"/>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CCC7CD8-B78B-4DA3-BF62-427D4AEF169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D1574DD9-CF38-46C7-9CC7-0F01D33FFC50}"/>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161</a:t>
            </a:r>
          </a:p>
        </p:txBody>
      </p:sp>
      <p:sp>
        <p:nvSpPr>
          <p:cNvPr id="8" name="text-178-64">
            <a:extLst>
              <a:ext uri="{FF2B5EF4-FFF2-40B4-BE49-F238E27FC236}">
                <ns2:creationId id="{63323732-9AAE-44A0-93DA-76AF16C08455}"/>
              </a:ext>
            </a:extLst>
          </p:cNvPr>
          <p:cNvSpPr>
            <a:spLocks noGrp="1"/>
          </p:cNvSpPr>
          <p:nvPr/>
        </p:nvSpPr>
        <p:spPr>
          <a:xfrm>
            <a:off x="609600" y="1619250"/>
            <a:ext cx="10972800" cy="336956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삽입 정렬은 두 번째 원소부터 현재 값을 key에 보관하고, 앞부분에서 key보다 큰 원소를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오른쪽으로 한 칸씩 민 뒤 key를 넣는다. key는 이번에 삽입할 값이다.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서로 다른 n개 원소(n≥2)의 두 입력 A=[1,2,…,n]과 B=[n,n−1,…,1]을 이 방법으로 오름차순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정렬한다.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앞 원소를 한 칸 미는 대입만 '이동 1회'로 세며, key 저장과 마지막 삽입은 이동 수에서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제외한다.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① A와 B에서 전체 이동 횟수와 시간 복잡도는 각각 무엇인가?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② 둘 다 삽입 단계는 n−1번인데 전체 시간이 달라지는 이유를 설명하시오. 비교·대입은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상수 시간이다.</a:t>
            </a:r>
          </a:p>
        </p:txBody>
      </p:sp>
      <p:sp>
        <p:nvSpPr>
          <p:cNvPr id="9" name="text-405-64">
            <a:extLst>
              <a:ext uri="{FF2B5EF4-FFF2-40B4-BE49-F238E27FC236}">
                <ns2:creationId id="{7C8CFCBC-E014-4EBE-9A59-11638E8B38D2}"/>
              </a:ext>
            </a:extLst>
          </p:cNvPr>
          <p:cNvSpPr>
            <a:spLocks noGrp="1"/>
          </p:cNvSpPr>
          <p:nvPr/>
        </p:nvSpPr>
        <p:spPr>
          <a:xfrm>
            <a:off x="609600" y="512216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6F3F66F6-0357-4F3E-B458-572AE9E79F2F}"/>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6C532E2E-2F86-4AA7-BAE0-13869C132FED}"/>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F96104AC-7C62-4FC2-87E4-1AC2E9F9E628}"/>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6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EFA2FCD8-2474-428E-8A1D-2B9A0604F5F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D8A68C81-0485-49F1-966E-50E4D1C98151}"/>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7C5DD03D-7F8D-4EEA-9A60-BD84E4D9635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81  정답과 해설</a:t>
            </a:r>
          </a:p>
        </p:txBody>
      </p:sp>
      <p:sp>
        <p:nvSpPr>
          <p:cNvPr id="4" name="">
            <a:extLst>
              <a:ext uri="{FF2B5EF4-FFF2-40B4-BE49-F238E27FC236}">
                <ns2:creationId id="{9237F4A6-39A0-49B6-A35E-FD53441E251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C0D42F9-21C3-44E6-AA82-BD236F7B812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2835FF3-E062-4ED0-A81E-738DA6EADDDD}"/>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52F89A3-6E92-4C3D-9E27-12B54C52E99A}"/>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162</a:t>
            </a:r>
          </a:p>
        </p:txBody>
      </p:sp>
      <p:sp>
        <p:nvSpPr>
          <p:cNvPr id="8" name="text-178-64">
            <a:extLst>
              <a:ext uri="{FF2B5EF4-FFF2-40B4-BE49-F238E27FC236}">
                <ns2:creationId id="{2FA39ABE-CF22-4478-A095-315C286ADBCB}"/>
              </a:ext>
            </a:extLst>
          </p:cNvPr>
          <p:cNvSpPr>
            <a:spLocks noGrp="1"/>
          </p:cNvSpPr>
          <p:nvPr/>
        </p:nvSpPr>
        <p:spPr>
          <a:xfrm>
            <a:off x="609600" y="1619250"/>
            <a:ext cx="10972800" cy="1949958"/>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삽입 정렬은 두 번째 원소부터 현재 값을 key에 보관하고, 앞부분에서 key보다 큰 원소를 오른쪽으로 한</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칸씩 민 뒤 key를 넣는다. key는 이번에 삽입할 값이다.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서로 다른 n개 원소(n≥2)의 두 입력 A=[1,2,…,n]과 B=[n,n−1,…,1]을 이 방법으로 오름차순 정렬한다.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앞 원소를 한 칸 미는 대입만 '이동 1회'로 세며, key 저장과 마지막 삽입은 이동 수에서 제외한다.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① A와 B에서 전체 이동 횟수와 시간 복잡도는 각각 무엇인가?</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② 둘 다 삽입 단계는 n−1번인데 전체 시간이 달라지는 이유를 설명하시오. 비교·대입은 상수 시간이다.</a:t>
            </a:r>
          </a:p>
        </p:txBody>
      </p:sp>
      <p:sp>
        <p:nvSpPr>
          <p:cNvPr id="9" name="">
            <a:extLst>
              <a:ext uri="{FF2B5EF4-FFF2-40B4-BE49-F238E27FC236}">
                <ns2:creationId id="{B6960E47-DE7C-4430-82A7-71E63BCD68E6}"/>
              </a:ext>
            </a:extLst>
          </p:cNvPr>
          <p:cNvSpPr>
            <a:spLocks noGrp="1"/>
          </p:cNvSpPr>
          <p:nvPr/>
        </p:nvSpPr>
        <p:spPr>
          <a:xfrm>
            <a:off x="609600" y="3683508"/>
            <a:ext cx="10972800" cy="787908"/>
          </a:xfrm>
          <a:prstGeom prst="rect">
            <a:avLst/>
          </a:prstGeom>
          <a:solidFill>
            <a:srgbClr val="171717"/>
          </a:solidFill>
          <a:ln w="0">
            <a:noFill/>
          </a:ln>
        </p:spPr>
      </p:sp>
      <p:sp>
        <p:nvSpPr>
          <p:cNvPr id="10" name="text-245.6-92">
            <a:extLst>
              <a:ext uri="{FF2B5EF4-FFF2-40B4-BE49-F238E27FC236}">
                <ns2:creationId id="{CCF957E5-ECE7-4DC0-8FFD-DA0BA50415FF}"/>
              </a:ext>
            </a:extLst>
          </p:cNvPr>
          <p:cNvSpPr>
            <a:spLocks noGrp="1"/>
          </p:cNvSpPr>
          <p:nvPr/>
        </p:nvSpPr>
        <p:spPr>
          <a:xfrm>
            <a:off x="876300" y="3759708"/>
            <a:ext cx="10439400" cy="635508"/>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① A: 이동 0회, Θ(n). B: 이동 n(n−1)/2회, Θ(n²).</a:t>
            </a:r>
          </a:p>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② 각 삽입에서 앞 원소를 옮기는 횟수가 다르다.</a:t>
            </a:r>
          </a:p>
        </p:txBody>
      </p:sp>
      <p:sp>
        <p:nvSpPr>
          <p:cNvPr id="11" name="text-362.2-64">
            <a:extLst>
              <a:ext uri="{FF2B5EF4-FFF2-40B4-BE49-F238E27FC236}">
                <ns2:creationId id="{2DDD1157-05B1-4511-9D10-B64EFB4BCB09}"/>
              </a:ext>
            </a:extLst>
          </p:cNvPr>
          <p:cNvSpPr>
            <a:spLocks noGrp="1"/>
          </p:cNvSpPr>
          <p:nvPr/>
        </p:nvSpPr>
        <p:spPr>
          <a:xfrm>
            <a:off x="609600" y="4566666"/>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ED7B2AB4-A5E6-4EF5-9C8E-1CBA4FB3B309}"/>
              </a:ext>
            </a:extLst>
          </p:cNvPr>
          <p:cNvSpPr>
            <a:spLocks noGrp="1"/>
          </p:cNvSpPr>
          <p:nvPr/>
        </p:nvSpPr>
        <p:spPr>
          <a:xfrm>
            <a:off x="609600" y="6191250"/>
            <a:ext cx="10972800" cy="9525"/>
          </a:xfrm>
          <a:prstGeom prst="rect">
            <a:avLst/>
          </a:prstGeom>
          <a:solidFill>
            <a:srgbClr val="D4D4D4"/>
          </a:solidFill>
          <a:ln w="0">
            <a:noFill/>
          </a:ln>
        </p:spPr>
      </p:sp>
      <p:sp>
        <p:nvSpPr>
          <p:cNvPr id="13" name="text-410.2-64">
            <a:extLst>
              <a:ext uri="{FF2B5EF4-FFF2-40B4-BE49-F238E27FC236}">
                <ns2:creationId id="{653104E8-5418-4A0E-BE55-D435D09461BF}"/>
              </a:ext>
            </a:extLst>
          </p:cNvPr>
          <p:cNvSpPr>
            <a:spLocks noGrp="1"/>
          </p:cNvSpPr>
          <p:nvPr/>
        </p:nvSpPr>
        <p:spPr>
          <a:xfrm>
            <a:off x="609600" y="4943856"/>
            <a:ext cx="10972800" cy="63550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A는 각 단계에서 바로 앞 원소와 한 번 비교하면 이동 없이 끝난다. B는 1개,2개,…,n−1개를 차례로 이동하므로 총</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1+2+…+(n−1)=n(n−1)/2회이다. 바깥 단계가 같아도 각 단계의 작업량을 더해야 전체 시간을 알 수 있다.</a:t>
            </a:r>
          </a:p>
        </p:txBody>
      </p:sp>
    </p:spTree>
    <p:extLst>
      <p:ext uri="{BB962C8B-B14F-4D97-AF65-F5344CB8AC3E}">
        <ns3:creationId val="462685519"/>
      </p:ext>
    </p:extLst>
  </p:cSld>
</p:sld>
</file>

<file path=ppt/slides/slide16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6CBEBC5E-51AF-4C4F-A019-7249F335915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8D121246-1341-4C31-AA23-630D32581C0C}"/>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88E8667E-1306-44B6-B19D-5B5B1563BE92}"/>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82  </a:t>
            </a:r>
          </a:p>
        </p:txBody>
      </p:sp>
      <p:sp>
        <p:nvSpPr>
          <p:cNvPr id="4" name="">
            <a:extLst>
              <a:ext uri="{FF2B5EF4-FFF2-40B4-BE49-F238E27FC236}">
                <ns2:creationId id="{C559477F-A661-4DBB-8AE8-8773435EF17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B7D1074-9F4C-40CF-8833-E6A764E6EF22}"/>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B2452F4-6042-4B7E-9A9C-C0D9CD96E09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86A07B7-D217-4ECA-9312-E3AA535D47C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163</a:t>
            </a:r>
          </a:p>
        </p:txBody>
      </p:sp>
      <p:sp>
        <p:nvSpPr>
          <p:cNvPr id="8" name="text-178-64">
            <a:extLst>
              <a:ext uri="{FF2B5EF4-FFF2-40B4-BE49-F238E27FC236}">
                <ns2:creationId id="{63AE22E3-0026-46A0-943A-4C1B632E112C}"/>
              </a:ext>
            </a:extLst>
          </p:cNvPr>
          <p:cNvSpPr>
            <a:spLocks noGrp="1"/>
          </p:cNvSpPr>
          <p:nvPr/>
        </p:nvSpPr>
        <p:spPr>
          <a:xfrm>
            <a:off x="609600" y="1619250"/>
            <a:ext cx="10972800" cy="152933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진짜 동전은 모두 같은 무게이고 가짜는 정확히 하나이다. 기존 방법은 같은 개수의 두</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더미를 양팔저울로 비교하여, 무게가 다르면 가벼운 더미만 후보로 남긴다. 가짜가 더</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가벼운지 더 무거운지 모르는 상황에서 이 방법을 그대로 쓰면 안 되는 이유를 설명하시오.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새 동전 찾기 알고리즘을 설계할 필요는 없다.</a:t>
            </a:r>
          </a:p>
        </p:txBody>
      </p:sp>
      <p:sp>
        <p:nvSpPr>
          <p:cNvPr id="9" name="text-405-64">
            <a:extLst>
              <a:ext uri="{FF2B5EF4-FFF2-40B4-BE49-F238E27FC236}">
                <ns2:creationId id="{4B635470-7565-4713-BB1B-9D9A9B84206C}"/>
              </a:ext>
            </a:extLst>
          </p:cNvPr>
          <p:cNvSpPr>
            <a:spLocks noGrp="1"/>
          </p:cNvSpPr>
          <p:nvPr/>
        </p:nvSpPr>
        <p:spPr>
          <a:xfrm>
            <a:off x="609600" y="328193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F82944AB-133A-44D8-A11F-DE21E58FE50B}"/>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681DC4AB-9E21-4686-B9B4-E5C8996A48B7}"/>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078090E7-D81A-4FB7-847C-9CA9FD994A87}"/>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6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86748ACB-02BD-42E5-B436-AEBCE55BAA9D}"/>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60900F97-2CFF-4C52-95D6-55AFF65BA278}"/>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771E11BA-17C0-4B31-8DE9-5187057F04A3}"/>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82  정답과 해설</a:t>
            </a:r>
          </a:p>
        </p:txBody>
      </p:sp>
      <p:sp>
        <p:nvSpPr>
          <p:cNvPr id="4" name="">
            <a:extLst>
              <a:ext uri="{FF2B5EF4-FFF2-40B4-BE49-F238E27FC236}">
                <ns2:creationId id="{D4F35D4A-CF64-4159-B4DB-A74BF16CD08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02DAA45-0908-44FB-AA2D-C25E99F3762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06E082A9-367D-449B-8A87-A1976E92E0C7}"/>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B3DF94F0-6DAC-4272-9F48-676C8875416C}"/>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164</a:t>
            </a:r>
          </a:p>
        </p:txBody>
      </p:sp>
      <p:sp>
        <p:nvSpPr>
          <p:cNvPr id="8" name="text-178-64">
            <a:extLst>
              <a:ext uri="{FF2B5EF4-FFF2-40B4-BE49-F238E27FC236}">
                <ns2:creationId id="{12BB8F30-265E-4C10-B63F-38B759197B37}"/>
              </a:ext>
            </a:extLst>
          </p:cNvPr>
          <p:cNvSpPr>
            <a:spLocks noGrp="1"/>
          </p:cNvSpPr>
          <p:nvPr/>
        </p:nvSpPr>
        <p:spPr>
          <a:xfrm>
            <a:off x="609600" y="1619250"/>
            <a:ext cx="10972800" cy="1003554"/>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진짜 동전은 모두 같은 무게이고 가짜는 정확히 하나이다. 기존 방법은 같은 개수의 두 더미를 양팔저울로</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비교하여, 무게가 다르면 가벼운 더미만 후보로 남긴다. 가짜가 더 가벼운지 더 무거운지 모르는 상황에서</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이 방법을 그대로 쓰면 안 되는 이유를 설명하시오. 새 동전 찾기 알고리즘을 설계할 필요는 없다.</a:t>
            </a:r>
          </a:p>
        </p:txBody>
      </p:sp>
      <p:sp>
        <p:nvSpPr>
          <p:cNvPr id="9" name="">
            <a:extLst>
              <a:ext uri="{FF2B5EF4-FFF2-40B4-BE49-F238E27FC236}">
                <ns2:creationId id="{EEA4903C-B082-4010-98DE-EEFD6B0F9D8C}"/>
              </a:ext>
            </a:extLst>
          </p:cNvPr>
          <p:cNvSpPr>
            <a:spLocks noGrp="1"/>
          </p:cNvSpPr>
          <p:nvPr/>
        </p:nvSpPr>
        <p:spPr>
          <a:xfrm>
            <a:off x="609600" y="2737104"/>
            <a:ext cx="10972800" cy="498729"/>
          </a:xfrm>
          <a:prstGeom prst="rect">
            <a:avLst/>
          </a:prstGeom>
          <a:solidFill>
            <a:srgbClr val="171717"/>
          </a:solidFill>
          <a:ln w="0">
            <a:noFill/>
          </a:ln>
        </p:spPr>
      </p:sp>
      <p:sp>
        <p:nvSpPr>
          <p:cNvPr id="10" name="text-245.6-92">
            <a:extLst>
              <a:ext uri="{FF2B5EF4-FFF2-40B4-BE49-F238E27FC236}">
                <ns2:creationId id="{5CCB6F3F-1240-4DB7-B632-D7439FEFB3EE}"/>
              </a:ext>
            </a:extLst>
          </p:cNvPr>
          <p:cNvSpPr>
            <a:spLocks noGrp="1"/>
          </p:cNvSpPr>
          <p:nvPr/>
        </p:nvSpPr>
        <p:spPr>
          <a:xfrm>
            <a:off x="876300" y="2813304"/>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가짜가 무거운 동전일 수도 있으므로 가벼운 더미만 남기면 실제 가짜를 버릴 수 있다.</a:t>
            </a:r>
          </a:p>
        </p:txBody>
      </p:sp>
      <p:sp>
        <p:nvSpPr>
          <p:cNvPr id="11" name="text-362.2-64">
            <a:extLst>
              <a:ext uri="{FF2B5EF4-FFF2-40B4-BE49-F238E27FC236}">
                <ns2:creationId id="{FD3B8FF6-B1B9-4EA2-ADEC-A1B4B150B5BC}"/>
              </a:ext>
            </a:extLst>
          </p:cNvPr>
          <p:cNvSpPr>
            <a:spLocks noGrp="1"/>
          </p:cNvSpPr>
          <p:nvPr/>
        </p:nvSpPr>
        <p:spPr>
          <a:xfrm>
            <a:off x="609600" y="3331083"/>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7746460E-9D5E-4118-B346-4CFA8E98EB90}"/>
              </a:ext>
            </a:extLst>
          </p:cNvPr>
          <p:cNvSpPr>
            <a:spLocks noGrp="1"/>
          </p:cNvSpPr>
          <p:nvPr/>
        </p:nvSpPr>
        <p:spPr>
          <a:xfrm>
            <a:off x="609600" y="6191250"/>
            <a:ext cx="10972800" cy="9525"/>
          </a:xfrm>
          <a:prstGeom prst="rect">
            <a:avLst/>
          </a:prstGeom>
          <a:solidFill>
            <a:srgbClr val="D4D4D4"/>
          </a:solidFill>
          <a:ln w="0">
            <a:noFill/>
          </a:ln>
        </p:spPr>
      </p:sp>
      <p:sp>
        <p:nvSpPr>
          <p:cNvPr id="13" name="text-410.2-64">
            <a:extLst>
              <a:ext uri="{FF2B5EF4-FFF2-40B4-BE49-F238E27FC236}">
                <ns2:creationId id="{485C3D03-764B-46E2-990D-0D6FAD6F7124}"/>
              </a:ext>
            </a:extLst>
          </p:cNvPr>
          <p:cNvSpPr>
            <a:spLocks noGrp="1"/>
          </p:cNvSpPr>
          <p:nvPr/>
        </p:nvSpPr>
        <p:spPr>
          <a:xfrm>
            <a:off x="609600" y="3708273"/>
            <a:ext cx="10972800" cy="63550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같은 개수인 두 더미의 무게가 다르면, 가벼운 더미에 가벼운 가짜가 있거나 무거운 더미에 무거운 가짜가 있을 수</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있다. 어느 경우인지 주어지지 않아 한쪽을 확정할 수 없다.</a:t>
            </a:r>
          </a:p>
        </p:txBody>
      </p:sp>
    </p:spTree>
    <p:extLst>
      <p:ext uri="{BB962C8B-B14F-4D97-AF65-F5344CB8AC3E}">
        <ns3:creationId val="462685519"/>
      </p:ext>
    </p:extLst>
  </p:cSld>
</p:sld>
</file>

<file path=ppt/slides/slide16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818E0697-CD05-41E5-BBB8-22F6CC8B5E2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CCCF54E6-1B01-4EA4-AF4B-F9E468F0B75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7C5BA9B-FB31-40D4-B90F-CED38E1BFCAB}"/>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83  </a:t>
            </a:r>
          </a:p>
        </p:txBody>
      </p:sp>
      <p:sp>
        <p:nvSpPr>
          <p:cNvPr id="4" name="">
            <a:extLst>
              <a:ext uri="{FF2B5EF4-FFF2-40B4-BE49-F238E27FC236}">
                <ns2:creationId id="{08481805-4647-4C2A-813B-828ACFF38E5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F96B8C6-1BEA-496B-8BC6-B5D33D676E90}"/>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1912E9E-18B9-4245-8FB8-73686A4ACEA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2D16453-A424-478F-BE35-B88C7BF5267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165</a:t>
            </a:r>
          </a:p>
        </p:txBody>
      </p:sp>
      <p:sp>
        <p:nvSpPr>
          <p:cNvPr id="8" name="text-178-64">
            <a:extLst>
              <a:ext uri="{FF2B5EF4-FFF2-40B4-BE49-F238E27FC236}">
                <ns2:creationId id="{AE5F7BC3-1D59-4F22-B1D7-F85F6AC30F5F}"/>
              </a:ext>
            </a:extLst>
          </p:cNvPr>
          <p:cNvSpPr>
            <a:spLocks noGrp="1"/>
          </p:cNvSpPr>
          <p:nvPr/>
        </p:nvSpPr>
        <p:spPr>
          <a:xfrm>
            <a:off x="609600" y="1619250"/>
            <a:ext cx="10972800" cy="1529334"/>
          </a:xfrm>
          <a:prstGeom prst="rect">
            <a:avLst/>
          </a:prstGeom>
          <a:noFill/>
          <a:ln w="0">
            <a:noFill/>
          </a:ln>
        </p:spPr>
        <p:txBody>
          <a:bodyPr wrap="none" lIns="0" tIns="0" rIns="0" bIns="0" anchor="t">
            <a:noAutofit/>
          </a:bodyPr>
          <a:lstStyle/>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동전 27개 중 가짜는 정확히 하나이며 진짜보다 가볍고, 진짜 동전의 무게는 모두 같다.</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매번 후보를 같은 수의 세 그룹으로 나누고 두 그룹을 양팔저울로 비교한다. 무게가 다르면</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가벼운 그룹, 같으면 저울에 올리지 않은 그룹만 남긴다. 후보가 1개가 될 때까지의 후보 수</a:t>
            </a:r>
          </a:p>
          <a:p>
            <a:pPr>
              <a:lnSpc>
                <a:spcPct val="108000"/>
              </a:lnSpc>
              <a:spcBef>
                <a:spcPts val="0"/>
              </a:spcBef>
              <a:spcAft>
                <a:spcPts val="0"/>
              </a:spcAft>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변화를 처음 27개부터 쓰고, 저울질 총횟수를 쓰시오.</a:t>
            </a:r>
          </a:p>
        </p:txBody>
      </p:sp>
      <p:sp>
        <p:nvSpPr>
          <p:cNvPr id="9" name="text-405-64">
            <a:extLst>
              <a:ext uri="{FF2B5EF4-FFF2-40B4-BE49-F238E27FC236}">
                <ns2:creationId id="{4F57A476-E783-44E4-83F5-9197C3A1F027}"/>
              </a:ext>
            </a:extLst>
          </p:cNvPr>
          <p:cNvSpPr>
            <a:spLocks noGrp="1"/>
          </p:cNvSpPr>
          <p:nvPr/>
        </p:nvSpPr>
        <p:spPr>
          <a:xfrm>
            <a:off x="609600" y="328193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1AC3D0F6-E19F-42AA-8707-60CA62475959}"/>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0B952D82-F0DE-4DC1-BE18-5963A91922B3}"/>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9BAC0711-A5A3-41F5-BF9C-B9A805F0A332}"/>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6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017D7F7A-9289-409E-8AAC-40BBE460671A}"/>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1FF132F1-C76C-4147-9F6B-D9C63C9DC88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CB422F21-786F-46FC-941E-E952F370E32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83  정답과 해설</a:t>
            </a:r>
          </a:p>
        </p:txBody>
      </p:sp>
      <p:sp>
        <p:nvSpPr>
          <p:cNvPr id="4" name="">
            <a:extLst>
              <a:ext uri="{FF2B5EF4-FFF2-40B4-BE49-F238E27FC236}">
                <ns2:creationId id="{AE8F2190-8865-4CA2-B724-FF14702D657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465CACB-5754-4D12-B476-B110BED0687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76A6E0C-8683-41FD-A806-3E4DE6AF2E7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145F5C8F-9347-4F48-87A2-1C47084A03C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166</a:t>
            </a:r>
          </a:p>
        </p:txBody>
      </p:sp>
      <p:sp>
        <p:nvSpPr>
          <p:cNvPr id="8" name="text-178-64">
            <a:extLst>
              <a:ext uri="{FF2B5EF4-FFF2-40B4-BE49-F238E27FC236}">
                <ns2:creationId id="{AF255451-A7D3-4D02-808C-5EE411F04344}"/>
              </a:ext>
            </a:extLst>
          </p:cNvPr>
          <p:cNvSpPr>
            <a:spLocks noGrp="1"/>
          </p:cNvSpPr>
          <p:nvPr/>
        </p:nvSpPr>
        <p:spPr>
          <a:xfrm>
            <a:off x="609600" y="1619250"/>
            <a:ext cx="10972800" cy="1319022"/>
          </a:xfrm>
          <a:prstGeom prst="rect">
            <a:avLst/>
          </a:prstGeom>
          <a:noFill/>
          <a:ln w="0">
            <a:noFill/>
          </a:ln>
        </p:spPr>
        <p:txBody>
          <a:bodyPr wrap="none" lIns="0" tIns="0" rIns="0" bIns="0" anchor="t">
            <a:noAutofit/>
          </a:bodyPr>
          <a:lstStyle/>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동전 27개 중 가짜는 정확히 하나이며 진짜보다 가볍고, 진짜 동전의 무게는 모두 같다. 매번 후보를 같은</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수의 세 그룹으로 나누고 두 그룹을 양팔저울로 비교한다. 무게가 다르면 가벼운 그룹, 같으면 저울에</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올리지 않은 그룹만 남긴다. 후보가 1개가 될 때까지의 후보 수 변화를 처음 27개부터 쓰고, 저울질</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총횟수를 쓰시오.</a:t>
            </a:r>
          </a:p>
        </p:txBody>
      </p:sp>
      <p:sp>
        <p:nvSpPr>
          <p:cNvPr id="9" name="">
            <a:extLst>
              <a:ext uri="{FF2B5EF4-FFF2-40B4-BE49-F238E27FC236}">
                <ns2:creationId id="{F841D61F-89FA-4199-A7C1-0B74748988DC}"/>
              </a:ext>
            </a:extLst>
          </p:cNvPr>
          <p:cNvSpPr>
            <a:spLocks noGrp="1"/>
          </p:cNvSpPr>
          <p:nvPr/>
        </p:nvSpPr>
        <p:spPr>
          <a:xfrm>
            <a:off x="609600" y="3052572"/>
            <a:ext cx="10972800" cy="498729"/>
          </a:xfrm>
          <a:prstGeom prst="rect">
            <a:avLst/>
          </a:prstGeom>
          <a:solidFill>
            <a:srgbClr val="171717"/>
          </a:solidFill>
          <a:ln w="0">
            <a:noFill/>
          </a:ln>
        </p:spPr>
      </p:sp>
      <p:sp>
        <p:nvSpPr>
          <p:cNvPr id="10" name="text-245.6-92">
            <a:extLst>
              <a:ext uri="{FF2B5EF4-FFF2-40B4-BE49-F238E27FC236}">
                <ns2:creationId id="{4DE129C6-48C7-4AA5-8F18-7D0051B9BC9D}"/>
              </a:ext>
            </a:extLst>
          </p:cNvPr>
          <p:cNvSpPr>
            <a:spLocks noGrp="1"/>
          </p:cNvSpPr>
          <p:nvPr/>
        </p:nvSpPr>
        <p:spPr>
          <a:xfrm>
            <a:off x="876300" y="3128772"/>
            <a:ext cx="10439400" cy="346329"/>
          </a:xfrm>
          <a:prstGeom prst="rect">
            <a:avLst/>
          </a:prstGeom>
          <a:noFill/>
          <a:ln w="0">
            <a:noFill/>
          </a:ln>
        </p:spPr>
        <p:txBody>
          <a:bodyPr wrap="none" lIns="0" tIns="0" rIns="0" bIns="0" anchor="t">
            <a:noAutofit/>
          </a:bodyPr>
          <a:lstStyle/>
          <a:p>
            <a:pPr algn="l">
              <a:lnSpc>
                <a:spcPct val="108000"/>
              </a:lnSpc>
              <a:spcBef>
                <a:spcPts val="0"/>
              </a:spcBef>
              <a:spcAft>
                <a:spcPts val="0"/>
              </a:spcAft>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27 → 9 → 3 → 1, 총 3회</a:t>
            </a:r>
          </a:p>
        </p:txBody>
      </p:sp>
      <p:sp>
        <p:nvSpPr>
          <p:cNvPr id="11" name="text-324.4-64">
            <a:extLst>
              <a:ext uri="{FF2B5EF4-FFF2-40B4-BE49-F238E27FC236}">
                <ns2:creationId id="{754E3578-C8A4-497F-8690-38FB84DD31EB}"/>
              </a:ext>
            </a:extLst>
          </p:cNvPr>
          <p:cNvSpPr>
            <a:spLocks noGrp="1"/>
          </p:cNvSpPr>
          <p:nvPr/>
        </p:nvSpPr>
        <p:spPr>
          <a:xfrm>
            <a:off x="609600" y="364655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7138226D-DBD9-49A0-A035-C2F2BDE0F38C}"/>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4DC9E5EC-5D9E-4913-99E6-5D2598C4FD13}"/>
              </a:ext>
            </a:extLst>
          </p:cNvPr>
          <p:cNvSpPr>
            <a:spLocks noGrp="1"/>
          </p:cNvSpPr>
          <p:nvPr/>
        </p:nvSpPr>
        <p:spPr>
          <a:xfrm>
            <a:off x="609600" y="4023741"/>
            <a:ext cx="10972800" cy="635508"/>
          </a:xfrm>
          <a:prstGeom prst="rect">
            <a:avLst/>
          </a:prstGeom>
          <a:noFill/>
          <a:ln w="0">
            <a:noFill/>
          </a:ln>
        </p:spPr>
        <p:txBody>
          <a:bodyPr wrap="none" lIns="0" tIns="0" rIns="0" bIns="0" anchor="t">
            <a:noAutofit/>
          </a:bodyPr>
          <a:lstStyle/>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기울면 가벼운 그룹, 균형이면 저울에 올리지 않은 그룹만 남긴다.</a:t>
            </a:r>
          </a:p>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후보 수는 27, 9, 3, 1로 줄어들며 세 번 비교하면 한 개가 남는다.</a:t>
            </a:r>
          </a:p>
        </p:txBody>
      </p:sp>
    </p:spTree>
    <p:extLst>
      <p:ext uri="{BB962C8B-B14F-4D97-AF65-F5344CB8AC3E}">
        <ns3:creationId val="462685519"/>
      </p:ext>
    </p:extLst>
  </p:cSld>
</p:sld>
</file>

<file path=ppt/slides/slide16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3208D9E0-3355-4850-A856-9D8577C9469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2B13146D-6ED1-4E1F-A595-2AD6B6E120CD}"/>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41C26DC9-6ECC-41B7-BF03-93CCD0B24F8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84  </a:t>
            </a:r>
          </a:p>
        </p:txBody>
      </p:sp>
      <p:sp>
        <p:nvSpPr>
          <p:cNvPr id="4" name="">
            <a:extLst>
              <a:ext uri="{FF2B5EF4-FFF2-40B4-BE49-F238E27FC236}">
                <ns2:creationId id="{88182804-11E1-4F74-849E-7F788F055BF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7808F9A-DC27-43B6-9609-3EB19E16C549}"/>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EE0B2F5-638B-4A82-A871-59E5271C8FA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C402D585-5C9E-4579-A2A3-584B2579B474}"/>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167</a:t>
            </a:r>
          </a:p>
        </p:txBody>
      </p:sp>
      <p:sp>
        <p:nvSpPr>
          <p:cNvPr id="8" name="text-178-64">
            <a:extLst>
              <a:ext uri="{FF2B5EF4-FFF2-40B4-BE49-F238E27FC236}">
                <ns2:creationId id="{617A3D59-22A0-40C3-AC3D-64355468C2F1}"/>
              </a:ext>
            </a:extLst>
          </p:cNvPr>
          <p:cNvSpPr>
            <a:spLocks noGrp="1"/>
          </p:cNvSpPr>
          <p:nvPr/>
        </p:nvSpPr>
        <p:spPr>
          <a:xfrm>
            <a:off x="609600" y="1619250"/>
            <a:ext cx="10972800" cy="373761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동전의 무게를 저장한 길이 n=2^k인 배열이 있다(k≥1). 진짜 동전은 모두 같은 무게이며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가짜 하나만 더 가볍다.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매 단계 후보를 같은 크기의 두 절반으로 나누고 가벼운 절반만 남기며, 후보가 1개이면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끝낸다.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실물 양팔저울로는 두 더미를 한 번에 비교한다. 프로그램에서는 두 절반의 무게 합을 모두</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원소를 하나씩 읽어 처음부터 계산한다. 원소 하나를 읽고 더하는 비용은 상수</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시간이다.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① 실물 저울질의 총횟수를 n으로 나타내시오.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② 프로그램이 합산을 위해 읽는 원소 수를 단계별 합으로 쓰고, 전체 합산 시간 복잡도를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구하시오.</a:t>
            </a:r>
          </a:p>
        </p:txBody>
      </p:sp>
      <p:sp>
        <p:nvSpPr>
          <p:cNvPr id="9" name="text-405-64">
            <a:extLst>
              <a:ext uri="{FF2B5EF4-FFF2-40B4-BE49-F238E27FC236}">
                <ns2:creationId id="{FEEB9A20-7F7B-40EF-A15A-B7E476FC5784}"/>
              </a:ext>
            </a:extLst>
          </p:cNvPr>
          <p:cNvSpPr>
            <a:spLocks noGrp="1"/>
          </p:cNvSpPr>
          <p:nvPr/>
        </p:nvSpPr>
        <p:spPr>
          <a:xfrm>
            <a:off x="609600" y="5490210"/>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F5EC87BC-D042-4330-A594-6375F2802A2A}"/>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6DCF639D-FC15-4BDE-8190-A581DB5C97A9}"/>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47716E5E-B4E7-4B39-A8C1-A18A89D88436}"/>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6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AD67ADF3-9308-4DC7-AA4A-DF4B89872298}"/>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599C1F64-6305-468E-8D74-25B2D3F68F88}"/>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0E4957C-6545-49FD-A244-C7BCD5E6BFA0}"/>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84  정답과 해설</a:t>
            </a:r>
          </a:p>
        </p:txBody>
      </p:sp>
      <p:sp>
        <p:nvSpPr>
          <p:cNvPr id="4" name="">
            <a:extLst>
              <a:ext uri="{FF2B5EF4-FFF2-40B4-BE49-F238E27FC236}">
                <ns2:creationId id="{A77FE236-6B9B-49C8-A815-4952433704E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41E5AC1-464E-45BD-A10E-98F5677A261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C714EF9-DC09-4A55-8A88-37C3D0B88D4D}"/>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7FB4805-9D46-4991-A096-D76E1DE8477C}"/>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168</a:t>
            </a:r>
          </a:p>
        </p:txBody>
      </p:sp>
      <p:sp>
        <p:nvSpPr>
          <p:cNvPr id="8" name="text-178-64">
            <a:extLst>
              <a:ext uri="{FF2B5EF4-FFF2-40B4-BE49-F238E27FC236}">
                <ns2:creationId id="{98E8353F-3737-4A4C-9103-6625787C0EE2}"/>
              </a:ext>
            </a:extLst>
          </p:cNvPr>
          <p:cNvSpPr>
            <a:spLocks noGrp="1"/>
          </p:cNvSpPr>
          <p:nvPr/>
        </p:nvSpPr>
        <p:spPr>
          <a:xfrm>
            <a:off x="609600" y="1619250"/>
            <a:ext cx="10972800" cy="2265426"/>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동전의 무게를 저장한 길이 n=2^k인 배열이 있다(k≥1). 진짜 동전은 모두 같은 무게이며 가짜 하나만 더</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가볍다.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매 단계 후보를 같은 크기의 두 절반으로 나누고 가벼운 절반만 남기며, 후보가 1개이면 끝낸다.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실물 양팔저울로는 두 더미를 한 번에 비교한다. 프로그램에서는 두 절반의 무게 합을 모두 배열 원소를</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하나씩 읽어 처음부터 계산한다. 원소 하나를 읽고 더하는 비용은 상수 시간이다.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① 실물 저울질의 총횟수를 n으로 나타내시오.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② 프로그램이 합산을 위해 읽는 원소 수를 단계별 합으로 쓰고, 전체 합산 시간 복잡도를 구하시오.</a:t>
            </a:r>
          </a:p>
        </p:txBody>
      </p:sp>
      <p:sp>
        <p:nvSpPr>
          <p:cNvPr id="9" name="">
            <a:extLst>
              <a:ext uri="{FF2B5EF4-FFF2-40B4-BE49-F238E27FC236}">
                <ns2:creationId id="{15B9C4FE-AE2F-43C0-A37D-F783EF662922}"/>
              </a:ext>
            </a:extLst>
          </p:cNvPr>
          <p:cNvSpPr>
            <a:spLocks noGrp="1"/>
          </p:cNvSpPr>
          <p:nvPr/>
        </p:nvSpPr>
        <p:spPr>
          <a:xfrm>
            <a:off x="609600" y="3998976"/>
            <a:ext cx="10972800" cy="787908"/>
          </a:xfrm>
          <a:prstGeom prst="rect">
            <a:avLst/>
          </a:prstGeom>
          <a:solidFill>
            <a:srgbClr val="171717"/>
          </a:solidFill>
          <a:ln w="0">
            <a:noFill/>
          </a:ln>
        </p:spPr>
      </p:sp>
      <p:sp>
        <p:nvSpPr>
          <p:cNvPr id="10" name="text-279.2-92">
            <a:extLst>
              <a:ext uri="{FF2B5EF4-FFF2-40B4-BE49-F238E27FC236}">
                <ns2:creationId id="{D46C7F0F-C5C7-4EC3-B6AF-C27C82FE9605}"/>
              </a:ext>
            </a:extLst>
          </p:cNvPr>
          <p:cNvSpPr>
            <a:spLocks noGrp="1"/>
          </p:cNvSpPr>
          <p:nvPr/>
        </p:nvSpPr>
        <p:spPr>
          <a:xfrm>
            <a:off x="876300" y="4075176"/>
            <a:ext cx="10439400" cy="635508"/>
          </a:xfrm>
          <a:prstGeom prst="rect">
            <a:avLst/>
          </a:prstGeom>
          <a:noFill/>
          <a:ln w="0">
            <a:noFill/>
          </a:ln>
        </p:spPr>
        <p:txBody>
          <a:bodyPr wrap="none" lIns="0" tIns="0" rIns="0" bIns="0" anchor="t">
            <a:noAutofit/>
          </a:bodyPr>
          <a:lstStyle/>
          <a:p>
            <a:pPr>
              <a:lnSpc>
                <a:spcPct val="108000"/>
              </a:lnSpc>
              <a:spcBef>
                <a:spcPts val="0"/>
              </a:spcBef>
              <a:spcAft>
                <a:spcPts val="0"/>
              </a:spcAft>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① log₂n회</a:t>
            </a:r>
          </a:p>
          <a:p>
            <a:pPr>
              <a:lnSpc>
                <a:spcPct val="108000"/>
              </a:lnSpc>
              <a:spcBef>
                <a:spcPts val="0"/>
              </a:spcBef>
              <a:spcAft>
                <a:spcPts val="0"/>
              </a:spcAft>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② n+n/2+…+2=2n−2개, 전체 합산 시간 Θ(n)</a:t>
            </a:r>
          </a:p>
        </p:txBody>
      </p:sp>
      <p:sp>
        <p:nvSpPr>
          <p:cNvPr id="11" name="text-358-64">
            <a:extLst>
              <a:ext uri="{FF2B5EF4-FFF2-40B4-BE49-F238E27FC236}">
                <ns2:creationId id="{D96920E1-382E-42A3-A9FF-3A5B249BDF38}"/>
              </a:ext>
            </a:extLst>
          </p:cNvPr>
          <p:cNvSpPr>
            <a:spLocks noGrp="1"/>
          </p:cNvSpPr>
          <p:nvPr/>
        </p:nvSpPr>
        <p:spPr>
          <a:xfrm>
            <a:off x="609600" y="4882134"/>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1F704992-8745-4148-A0B9-CFCF08DB449B}"/>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D25F4836-AED9-4E33-906A-1424E7BCF6F7}"/>
              </a:ext>
            </a:extLst>
          </p:cNvPr>
          <p:cNvSpPr>
            <a:spLocks noGrp="1"/>
          </p:cNvSpPr>
          <p:nvPr/>
        </p:nvSpPr>
        <p:spPr>
          <a:xfrm>
            <a:off x="609600" y="5259324"/>
            <a:ext cx="10972800" cy="635508"/>
          </a:xfrm>
          <a:prstGeom prst="rect">
            <a:avLst/>
          </a:prstGeom>
          <a:noFill/>
          <a:ln w="0">
            <a:noFill/>
          </a:ln>
        </p:spPr>
        <p:txBody>
          <a:bodyPr wrap="none" lIns="0" tIns="0" rIns="0" bIns="0" anchor="t">
            <a:noAutofit/>
          </a:bodyPr>
          <a:lstStyle/>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저울질 한 번마다 후보가 절반이 된다. 프로그램에서는 현재 후보가 m개일 때 두 절반을 합쳐 m개의 원소를 읽는다.</a:t>
            </a:r>
          </a:p>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후보가 1개인 단계는 이미 끝났으므로 합산하지 않는다. 예를 들어 n=8이면 8+4+2=14개를 읽는다.</a:t>
            </a:r>
          </a:p>
        </p:txBody>
      </p:sp>
    </p:spTree>
    <p:extLst>
      <p:ext uri="{BB962C8B-B14F-4D97-AF65-F5344CB8AC3E}">
        <ns3:creationId val="462685519"/>
      </p:ext>
    </p:extLst>
  </p:cSld>
</p:sld>
</file>

<file path=ppt/slides/slide16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4489F320-3472-4CEA-91CE-D517E71FAF17}"/>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788B049E-4C16-437C-825A-8BBB04B1FE64}"/>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0ACD9F73-36D4-4A10-90F7-BEC34500E3A6}"/>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85  </a:t>
            </a:r>
          </a:p>
        </p:txBody>
      </p:sp>
      <p:sp>
        <p:nvSpPr>
          <p:cNvPr id="4" name="">
            <a:extLst>
              <a:ext uri="{FF2B5EF4-FFF2-40B4-BE49-F238E27FC236}">
                <ns2:creationId id="{33CCCDFB-40B4-49DC-B74D-51826CF510A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C28A72F-41BA-4633-9183-4BA9EA646A5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8C05873-99A1-4705-8651-3069BA3577B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12BCDE0-AD4F-44F0-B44B-4A028B37CDC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169</a:t>
            </a:r>
          </a:p>
        </p:txBody>
      </p:sp>
      <p:sp>
        <p:nvSpPr>
          <p:cNvPr id="8" name="text-178-64">
            <a:extLst>
              <a:ext uri="{FF2B5EF4-FFF2-40B4-BE49-F238E27FC236}">
                <ns2:creationId id="{613409AD-A8E3-49A4-A585-B41E92D16D22}"/>
              </a:ext>
            </a:extLst>
          </p:cNvPr>
          <p:cNvSpPr>
            <a:spLocks noGrp="1"/>
          </p:cNvSpPr>
          <p:nvPr/>
        </p:nvSpPr>
        <p:spPr>
          <a:xfrm>
            <a:off x="609600" y="1619250"/>
            <a:ext cx="10972800" cy="152933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퀵 셀렉트에서 기준값(피벗)보다 작은 원소가 L개, 같은 원소가 E개이다. 중복된 값도 각각</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세어 전체에서 k번째로 작은 값을 찾으며 순위는 1부터 센다. k&gt;L+E여서 큰 값 그룹으로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이동할 때 올바른 새 순위는 k−L−E이다. k−L만 사용하면 틀리는 간단한 배열·피벗·k를 직접</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하나 만들고, 그 예에서 올바른 새 순위와 잘못된 새 순위를 비교하여 설명하시오.</a:t>
            </a:r>
          </a:p>
        </p:txBody>
      </p:sp>
      <p:sp>
        <p:nvSpPr>
          <p:cNvPr id="9" name="text-405-64">
            <a:extLst>
              <a:ext uri="{FF2B5EF4-FFF2-40B4-BE49-F238E27FC236}">
                <ns2:creationId id="{7F5031DA-3C9C-4E1F-962C-3D02EB2AD790}"/>
              </a:ext>
            </a:extLst>
          </p:cNvPr>
          <p:cNvSpPr>
            <a:spLocks noGrp="1"/>
          </p:cNvSpPr>
          <p:nvPr/>
        </p:nvSpPr>
        <p:spPr>
          <a:xfrm>
            <a:off x="609600" y="3281934"/>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DE172651-9E80-4CB3-AB0F-AB7194138753}"/>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24BF1FFB-5E2A-40B2-937B-0646C02F6001}"/>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8BCF4363-BFD8-4231-ADE2-D48779E588CD}"/>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7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9D07FF6D-5397-40FD-B851-6898624EE49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B4ED47A0-0F15-4E29-81A5-E157803D357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6FE39BBC-9748-4EF8-9206-6863C8ADAE80}"/>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85  정답과 해설</a:t>
            </a:r>
          </a:p>
        </p:txBody>
      </p:sp>
      <p:sp>
        <p:nvSpPr>
          <p:cNvPr id="4" name="">
            <a:extLst>
              <a:ext uri="{FF2B5EF4-FFF2-40B4-BE49-F238E27FC236}">
                <ns2:creationId id="{65D7DD93-059D-417B-ADAA-189AC1117D2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D706E63-28D4-4ED5-939E-878F4143DCD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559E156-0368-48D6-BECF-1133B90E1A4B}"/>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929EDFE-3950-4C21-A932-08121EC03560}"/>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170</a:t>
            </a:r>
          </a:p>
        </p:txBody>
      </p:sp>
      <p:sp>
        <p:nvSpPr>
          <p:cNvPr id="8" name="text-178-64">
            <a:extLst>
              <a:ext uri="{FF2B5EF4-FFF2-40B4-BE49-F238E27FC236}">
                <ns2:creationId id="{87AADE26-B3BB-40F4-B9AB-82CECAB67D7C}"/>
              </a:ext>
            </a:extLst>
          </p:cNvPr>
          <p:cNvSpPr>
            <a:spLocks noGrp="1"/>
          </p:cNvSpPr>
          <p:nvPr/>
        </p:nvSpPr>
        <p:spPr>
          <a:xfrm>
            <a:off x="609600" y="1619250"/>
            <a:ext cx="10972800" cy="131902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퀵 셀렉트에서 기준값(피벗)보다 작은 원소가 L개, 같은 원소가 E개이다. 중복된 값도 각각 세어 전체에서</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k번째로 작은 값을 찾으며 순위는 1부터 센다. k&gt;L+E여서 큰 값 그룹으로 이동할 때 올바른 새 순위는</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k−L−E이다. k−L만 사용하면 틀리는 간단한 배열·피벗·k를 직접 하나 만들고, 그 예에서 올바른 새 순위와</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잘못된 새 순위를 비교하여 설명하시오.</a:t>
            </a:r>
          </a:p>
        </p:txBody>
      </p:sp>
      <p:sp>
        <p:nvSpPr>
          <p:cNvPr id="9" name="">
            <a:extLst>
              <a:ext uri="{FF2B5EF4-FFF2-40B4-BE49-F238E27FC236}">
                <ns2:creationId id="{E45513DC-1F2A-4CB7-BAC5-729E1ADF45D6}"/>
              </a:ext>
            </a:extLst>
          </p:cNvPr>
          <p:cNvSpPr>
            <a:spLocks noGrp="1"/>
          </p:cNvSpPr>
          <p:nvPr/>
        </p:nvSpPr>
        <p:spPr>
          <a:xfrm>
            <a:off x="609600" y="3052572"/>
            <a:ext cx="10972800" cy="498729"/>
          </a:xfrm>
          <a:prstGeom prst="rect">
            <a:avLst/>
          </a:prstGeom>
          <a:solidFill>
            <a:srgbClr val="171717"/>
          </a:solidFill>
          <a:ln w="0">
            <a:noFill/>
          </a:ln>
        </p:spPr>
      </p:sp>
      <p:sp>
        <p:nvSpPr>
          <p:cNvPr id="10" name="text-279.2-92">
            <a:extLst>
              <a:ext uri="{FF2B5EF4-FFF2-40B4-BE49-F238E27FC236}">
                <ns2:creationId id="{21A77E3C-3A8A-4663-B629-8A6A85DBC79C}"/>
              </a:ext>
            </a:extLst>
          </p:cNvPr>
          <p:cNvSpPr>
            <a:spLocks noGrp="1"/>
          </p:cNvSpPr>
          <p:nvPr/>
        </p:nvSpPr>
        <p:spPr>
          <a:xfrm>
            <a:off x="876300" y="3128772"/>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[1,2,2,2,5], 피벗 2,k=5이면 L=1,E=3이다. 큰 구간 [5]에서는 1번째를 찾아야 한다.</a:t>
            </a:r>
          </a:p>
        </p:txBody>
      </p:sp>
      <p:sp>
        <p:nvSpPr>
          <p:cNvPr id="11" name="text-358-64">
            <a:extLst>
              <a:ext uri="{FF2B5EF4-FFF2-40B4-BE49-F238E27FC236}">
                <ns2:creationId id="{F9E82496-E59F-4923-A694-84C684C1326F}"/>
              </a:ext>
            </a:extLst>
          </p:cNvPr>
          <p:cNvSpPr>
            <a:spLocks noGrp="1"/>
          </p:cNvSpPr>
          <p:nvPr/>
        </p:nvSpPr>
        <p:spPr>
          <a:xfrm>
            <a:off x="609600" y="364655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7527850B-AABA-407B-8436-76C7E8C6EB0E}"/>
              </a:ext>
            </a:extLst>
          </p:cNvPr>
          <p:cNvSpPr>
            <a:spLocks noGrp="1"/>
          </p:cNvSpPr>
          <p:nvPr/>
        </p:nvSpPr>
        <p:spPr>
          <a:xfrm>
            <a:off x="609600" y="6191250"/>
            <a:ext cx="10972800" cy="9525"/>
          </a:xfrm>
          <a:prstGeom prst="rect">
            <a:avLst/>
          </a:prstGeom>
          <a:solidFill>
            <a:srgbClr val="D4D4D4"/>
          </a:solidFill>
          <a:ln w="0">
            <a:noFill/>
          </a:ln>
        </p:spPr>
      </p:sp>
      <p:sp>
        <p:nvSpPr>
          <p:cNvPr id="13" name="text-406-64">
            <a:extLst>
              <a:ext uri="{FF2B5EF4-FFF2-40B4-BE49-F238E27FC236}">
                <ns2:creationId id="{504A9676-C7FA-4369-8E7C-90EE92F74ECF}"/>
              </a:ext>
            </a:extLst>
          </p:cNvPr>
          <p:cNvSpPr>
            <a:spLocks noGrp="1"/>
          </p:cNvSpPr>
          <p:nvPr/>
        </p:nvSpPr>
        <p:spPr>
          <a:xfrm>
            <a:off x="609600" y="4023741"/>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k−L=4는 크기 1인 구간에서 유효하지 않다. 같은 값 E개도 앞선 순위에 포함된다.</a:t>
            </a:r>
          </a:p>
        </p:txBody>
      </p:sp>
    </p:spTree>
    <p:extLst>
      <p:ext uri="{BB962C8B-B14F-4D97-AF65-F5344CB8AC3E}">
        <ns3:creationId val="462685519"/>
      </p:ext>
    </p:extLst>
  </p:cSld>
</p:sld>
</file>

<file path=ppt/slides/slide17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8DF86FB4-B643-4140-8DC9-C0004F9AE5A6}"/>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7111FD7D-E63F-4902-AF9E-EDCD40870BCA}"/>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5D3EE6D-6217-41B4-AEE4-3E2B4F62E241}"/>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86  </a:t>
            </a:r>
          </a:p>
        </p:txBody>
      </p:sp>
      <p:sp>
        <p:nvSpPr>
          <p:cNvPr id="4" name="">
            <a:extLst>
              <a:ext uri="{FF2B5EF4-FFF2-40B4-BE49-F238E27FC236}">
                <ns2:creationId id="{9AF86517-C7CC-4F7F-ACBE-CA186B8ABC7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A44656E-0B11-456F-89F8-521E2D8BEDEE}"/>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7B02CC7-BB84-4195-B0CD-F34E2D23A648}"/>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4E81B63D-6D18-4B75-9721-0A90A0E32A8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171</a:t>
            </a:r>
          </a:p>
        </p:txBody>
      </p:sp>
      <p:sp>
        <p:nvSpPr>
          <p:cNvPr id="8" name="text-178-64">
            <a:extLst>
              <a:ext uri="{FF2B5EF4-FFF2-40B4-BE49-F238E27FC236}">
                <ns2:creationId id="{1165C2E2-DF22-447A-8374-60C0D026F2A0}"/>
              </a:ext>
            </a:extLst>
          </p:cNvPr>
          <p:cNvSpPr>
            <a:spLocks noGrp="1"/>
          </p:cNvSpPr>
          <p:nvPr/>
        </p:nvSpPr>
        <p:spPr>
          <a:xfrm>
            <a:off x="609600" y="1619250"/>
            <a:ext cx="10972800" cy="189738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퀵 셀렉트로 n개 원소 중 k번째로 작은 값을 찾는다. 매 단계 기준값(피벗)을 현재 후보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중에서 모두 같은 확률로 고른다. 무작위 선택 결과를 확률에 따라 평균 낸 실행 시간은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O(n)이라고 알려져 있다. ① 이것이 모든 실행에서 O(n) 시간을 보장하지 않는 이유를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설명하시오. ② 시간이 많이 걸리게 하는 피벗 선택의 예를 들고, 그때 후보 수가 어떻게</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줄어드는지 쓰시오.</a:t>
            </a:r>
          </a:p>
        </p:txBody>
      </p:sp>
      <p:sp>
        <p:nvSpPr>
          <p:cNvPr id="9" name="text-405-64">
            <a:extLst>
              <a:ext uri="{FF2B5EF4-FFF2-40B4-BE49-F238E27FC236}">
                <ns2:creationId id="{94EB05C0-78D1-4EF6-9A2D-3E2A1DF8EDE7}"/>
              </a:ext>
            </a:extLst>
          </p:cNvPr>
          <p:cNvSpPr>
            <a:spLocks noGrp="1"/>
          </p:cNvSpPr>
          <p:nvPr/>
        </p:nvSpPr>
        <p:spPr>
          <a:xfrm>
            <a:off x="609600" y="3649980"/>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250A8727-6732-4862-A7AF-10666EE25855}"/>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85318FC8-D03D-46EF-9D4B-EF8D38D4D3B7}"/>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56E65864-2D3B-4161-88E4-93A8F2B115F2}"/>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7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A41EC4D7-5CA0-48DA-9365-59B0A9021D4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3049658C-0F7C-422A-A4E9-04883C2CF07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D567BB3B-B43F-460C-8F89-351C7ED0D37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86  정답과 해설</a:t>
            </a:r>
          </a:p>
        </p:txBody>
      </p:sp>
      <p:sp>
        <p:nvSpPr>
          <p:cNvPr id="4" name="">
            <a:extLst>
              <a:ext uri="{FF2B5EF4-FFF2-40B4-BE49-F238E27FC236}">
                <ns2:creationId id="{03F4C0AB-1162-418A-9EC1-63632819592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274799D-B7D7-4EA4-85AB-5C252033132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D0D6DB3-3EC8-4301-AEDE-DD3FEFF6B40F}"/>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E2283076-93B1-453A-9209-95EC37A84DD1}"/>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172</a:t>
            </a:r>
          </a:p>
        </p:txBody>
      </p:sp>
      <p:sp>
        <p:nvSpPr>
          <p:cNvPr id="8" name="text-178-64">
            <a:extLst>
              <a:ext uri="{FF2B5EF4-FFF2-40B4-BE49-F238E27FC236}">
                <ns2:creationId id="{D25EDD2D-B9E7-4438-A604-879EF0DAB54B}"/>
              </a:ext>
            </a:extLst>
          </p:cNvPr>
          <p:cNvSpPr>
            <a:spLocks noGrp="1"/>
          </p:cNvSpPr>
          <p:nvPr/>
        </p:nvSpPr>
        <p:spPr>
          <a:xfrm>
            <a:off x="609600" y="1619250"/>
            <a:ext cx="10972800" cy="131902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퀵 셀렉트로 n개 원소 중 k번째로 작은 값을 찾는다. 매 단계 기준값(피벗)을 현재 후보 중에서 모두 같은</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확률로 고른다. 무작위 선택 결과를 확률에 따라 평균 낸 실행 시간은 O(n)이라고 알려져 있다. ① 이것이</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모든 실행에서 O(n) 시간을 보장하지 않는 이유를 설명하시오. ② 시간이 많이 걸리게 하는 피벗 선택의</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예를 들고, 그때 후보 수가 어떻게 줄어드는지 쓰시오.</a:t>
            </a:r>
          </a:p>
        </p:txBody>
      </p:sp>
      <p:sp>
        <p:nvSpPr>
          <p:cNvPr id="9" name="">
            <a:extLst>
              <a:ext uri="{FF2B5EF4-FFF2-40B4-BE49-F238E27FC236}">
                <ns2:creationId id="{FCCEDDFF-C4EB-430D-B7D4-E99ECCF020C5}"/>
              </a:ext>
            </a:extLst>
          </p:cNvPr>
          <p:cNvSpPr>
            <a:spLocks noGrp="1"/>
          </p:cNvSpPr>
          <p:nvPr/>
        </p:nvSpPr>
        <p:spPr>
          <a:xfrm>
            <a:off x="609600" y="3052572"/>
            <a:ext cx="10972800" cy="498729"/>
          </a:xfrm>
          <a:prstGeom prst="rect">
            <a:avLst/>
          </a:prstGeom>
          <a:solidFill>
            <a:srgbClr val="171717"/>
          </a:solidFill>
          <a:ln w="0">
            <a:noFill/>
          </a:ln>
        </p:spPr>
      </p:sp>
      <p:sp>
        <p:nvSpPr>
          <p:cNvPr id="10" name="text-245.6-92">
            <a:extLst>
              <a:ext uri="{FF2B5EF4-FFF2-40B4-BE49-F238E27FC236}">
                <ns2:creationId id="{A0F4BCAF-0609-446B-B53D-76D4E859D1E0}"/>
              </a:ext>
            </a:extLst>
          </p:cNvPr>
          <p:cNvSpPr>
            <a:spLocks noGrp="1"/>
          </p:cNvSpPr>
          <p:nvPr/>
        </p:nvSpPr>
        <p:spPr>
          <a:xfrm>
            <a:off x="876300" y="3128772"/>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무작위 피벗이 반복해서 극단값이면 후보가 한 개씩만 줄어 이차 시간이 걸린다.</a:t>
            </a:r>
          </a:p>
        </p:txBody>
      </p:sp>
      <p:sp>
        <p:nvSpPr>
          <p:cNvPr id="11" name="text-324.4-64">
            <a:extLst>
              <a:ext uri="{FF2B5EF4-FFF2-40B4-BE49-F238E27FC236}">
                <ns2:creationId id="{EDE56E7B-C163-4AC4-B134-987F9491D948}"/>
              </a:ext>
            </a:extLst>
          </p:cNvPr>
          <p:cNvSpPr>
            <a:spLocks noGrp="1"/>
          </p:cNvSpPr>
          <p:nvPr/>
        </p:nvSpPr>
        <p:spPr>
          <a:xfrm>
            <a:off x="609600" y="364655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50CE4E5E-3E57-48B0-BA49-371CB9BDE37E}"/>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CBE55F18-32C6-4653-8B55-783DF725D6DC}"/>
              </a:ext>
            </a:extLst>
          </p:cNvPr>
          <p:cNvSpPr>
            <a:spLocks noGrp="1"/>
          </p:cNvSpPr>
          <p:nvPr/>
        </p:nvSpPr>
        <p:spPr>
          <a:xfrm>
            <a:off x="609600" y="4023741"/>
            <a:ext cx="10972800" cy="346329"/>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기대값은 피벗 선택의 확률을 평균한 비용이다. 최악 보장과 평균 성능은 별도로 표현한다.</a:t>
            </a:r>
          </a:p>
        </p:txBody>
      </p:sp>
    </p:spTree>
    <p:extLst>
      <p:ext uri="{BB962C8B-B14F-4D97-AF65-F5344CB8AC3E}">
        <ns3:creationId val="462685519"/>
      </p:ext>
    </p:extLst>
  </p:cSld>
</p:sld>
</file>

<file path=ppt/slides/slide17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DE277CA5-54A1-49DC-9377-DC5BAD5C056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FC3C91CB-6A9B-42A9-9207-DB0BFB937BC7}"/>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1FFADB92-CD58-4457-8526-574FCB1CA03A}"/>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88  </a:t>
            </a:r>
          </a:p>
        </p:txBody>
      </p:sp>
      <p:sp>
        <p:nvSpPr>
          <p:cNvPr id="4" name="">
            <a:extLst>
              <a:ext uri="{FF2B5EF4-FFF2-40B4-BE49-F238E27FC236}">
                <ns2:creationId id="{2E01F685-36B7-4F03-AF1B-6375691EC04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9BAF19B-DF6C-4209-9DB9-FA24ECC17289}"/>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48875345-DBE0-490F-B855-EBCE73F31AB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F256CB40-7667-4BD6-B7C6-1B73BE03E95F}"/>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175</a:t>
            </a:r>
          </a:p>
        </p:txBody>
      </p:sp>
      <p:sp>
        <p:nvSpPr>
          <p:cNvPr id="8" name="text-178-64">
            <a:extLst>
              <a:ext uri="{FF2B5EF4-FFF2-40B4-BE49-F238E27FC236}">
                <ns2:creationId id="{DDE90BCA-1BBE-47A5-A862-4ED1BE4560CA}"/>
              </a:ext>
            </a:extLst>
          </p:cNvPr>
          <p:cNvSpPr>
            <a:spLocks noGrp="1"/>
          </p:cNvSpPr>
          <p:nvPr/>
        </p:nvSpPr>
        <p:spPr>
          <a:xfrm>
            <a:off x="609600" y="1619250"/>
            <a:ext cx="10972800" cy="189738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삽입 정렬은 먼저 앞의 n−1개가 정렬되어 있다고 보고, 마지막 원소를 알맞은 위치에 넣어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n개 정렬을 완성할 수 있다. 그래서 문제 크기가 한 번에 1씩 줄어든다고 표현한다. 서로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다른 n개 원소가 내림차순인 경우를 들어, 이 사실만으로 전체 시간을 O(n)이라고 결론낼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수 없는 이유를 설명하시오. 각 삽입에서 앞 원소를 몇 개나 오른쪽으로 밀 수 있는지와</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전체 이동 횟수를 근거로 쓰시오.</a:t>
            </a:r>
          </a:p>
        </p:txBody>
      </p:sp>
      <p:sp>
        <p:nvSpPr>
          <p:cNvPr id="9" name="text-405-64">
            <a:extLst>
              <a:ext uri="{FF2B5EF4-FFF2-40B4-BE49-F238E27FC236}">
                <ns2:creationId id="{1B0E5729-575A-477E-A230-CA8E54BC2771}"/>
              </a:ext>
            </a:extLst>
          </p:cNvPr>
          <p:cNvSpPr>
            <a:spLocks noGrp="1"/>
          </p:cNvSpPr>
          <p:nvPr/>
        </p:nvSpPr>
        <p:spPr>
          <a:xfrm>
            <a:off x="609600" y="3649980"/>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BA3F5DE5-018F-4C39-8614-B51247DEC475}"/>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B0D04045-A703-4FE7-AB78-4BFC12A95D92}"/>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F05D2112-AC81-48C3-A14F-6522E506E459}"/>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7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22BEF29E-A37A-4D86-80AC-E412C53878C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AB608FF1-09E3-42DC-9E6B-24E4FAFE4F53}"/>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DB60470D-8BFA-4624-92C8-12D28A659C8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88  정답과 해설</a:t>
            </a:r>
          </a:p>
        </p:txBody>
      </p:sp>
      <p:sp>
        <p:nvSpPr>
          <p:cNvPr id="4" name="">
            <a:extLst>
              <a:ext uri="{FF2B5EF4-FFF2-40B4-BE49-F238E27FC236}">
                <ns2:creationId id="{DB95F96B-7F84-4E6F-A9F4-B4BA7E59B6D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C33AD11-957D-4E0C-954D-A94FA27FAEF1}"/>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011605A3-E8ED-4C2A-97B3-B71206AA689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41EE4EA0-ACDE-4F15-88B6-71075D2FE4AB}"/>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176</a:t>
            </a:r>
          </a:p>
        </p:txBody>
      </p:sp>
      <p:sp>
        <p:nvSpPr>
          <p:cNvPr id="8" name="text-178-64">
            <a:extLst>
              <a:ext uri="{FF2B5EF4-FFF2-40B4-BE49-F238E27FC236}">
                <ns2:creationId id="{691E6667-D468-4CCA-931C-18A3C9125DE7}"/>
              </a:ext>
            </a:extLst>
          </p:cNvPr>
          <p:cNvSpPr>
            <a:spLocks noGrp="1"/>
          </p:cNvSpPr>
          <p:nvPr/>
        </p:nvSpPr>
        <p:spPr>
          <a:xfrm>
            <a:off x="609600" y="1619250"/>
            <a:ext cx="10972800" cy="1319022"/>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삽입 정렬은 먼저 앞의 n−1개가 정렬되어 있다고 보고, 마지막 원소를 알맞은 위치에 넣어 n개 정렬을</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완성할 수 있다. 그래서 문제 크기가 한 번에 1씩 줄어든다고 표현한다. 서로 다른 n개 원소가 내림차순인</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경우를 들어, 이 사실만으로 전체 시간을 O(n)이라고 결론낼 수 없는 이유를 설명하시오. 각 삽입에서 앞</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원소를 몇 개나 오른쪽으로 밀 수 있는지와 전체 이동 횟수를 근거로 쓰시오.</a:t>
            </a:r>
          </a:p>
        </p:txBody>
      </p:sp>
      <p:sp>
        <p:nvSpPr>
          <p:cNvPr id="9" name="">
            <a:extLst>
              <a:ext uri="{FF2B5EF4-FFF2-40B4-BE49-F238E27FC236}">
                <ns2:creationId id="{00188EFE-D2B9-49B0-BBFA-ADCCF0A07E4C}"/>
              </a:ext>
            </a:extLst>
          </p:cNvPr>
          <p:cNvSpPr>
            <a:spLocks noGrp="1"/>
          </p:cNvSpPr>
          <p:nvPr/>
        </p:nvSpPr>
        <p:spPr>
          <a:xfrm>
            <a:off x="609600" y="3052572"/>
            <a:ext cx="10972800" cy="498729"/>
          </a:xfrm>
          <a:prstGeom prst="rect">
            <a:avLst/>
          </a:prstGeom>
          <a:solidFill>
            <a:srgbClr val="171717"/>
          </a:solidFill>
          <a:ln w="0">
            <a:noFill/>
          </a:ln>
        </p:spPr>
      </p:sp>
      <p:sp>
        <p:nvSpPr>
          <p:cNvPr id="10" name="text-245.6-92">
            <a:extLst>
              <a:ext uri="{FF2B5EF4-FFF2-40B4-BE49-F238E27FC236}">
                <ns2:creationId id="{91A12F5B-43D8-4757-BC92-63B93C05872B}"/>
              </a:ext>
            </a:extLst>
          </p:cNvPr>
          <p:cNvSpPr>
            <a:spLocks noGrp="1"/>
          </p:cNvSpPr>
          <p:nvPr/>
        </p:nvSpPr>
        <p:spPr>
          <a:xfrm>
            <a:off x="876300" y="3128772"/>
            <a:ext cx="10439400" cy="346329"/>
          </a:xfrm>
          <a:prstGeom prst="rect">
            <a:avLst/>
          </a:prstGeom>
          <a:noFill/>
          <a:ln w="0">
            <a:noFill/>
          </a:ln>
        </p:spPr>
        <p:txBody>
          <a:bodyPr wrap="none" lIns="0" tIns="0" rIns="0" bIns="0" anchor="t">
            <a:noAutofit/>
          </a:bodyPr>
          <a:lstStyle/>
          <a:p>
            <a:pPr>
              <a:lnSpc>
                <a:spcPct val="108000"/>
              </a:lnSpc>
              <a:spcBef>
                <a:spcPts val="0"/>
              </a:spcBef>
              <a:spcAft>
                <a:spcPts val="0"/>
              </a:spcAft>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삽입 단계마다 여러 원소를 옮길 수 있어, 최악 시간은 Θ(n²)이다.</a:t>
            </a:r>
          </a:p>
        </p:txBody>
      </p:sp>
      <p:sp>
        <p:nvSpPr>
          <p:cNvPr id="11" name="text-324.4-64">
            <a:extLst>
              <a:ext uri="{FF2B5EF4-FFF2-40B4-BE49-F238E27FC236}">
                <ns2:creationId id="{64736D59-3742-4076-BE92-1A9918FC5E4A}"/>
              </a:ext>
            </a:extLst>
          </p:cNvPr>
          <p:cNvSpPr>
            <a:spLocks noGrp="1"/>
          </p:cNvSpPr>
          <p:nvPr/>
        </p:nvSpPr>
        <p:spPr>
          <a:xfrm>
            <a:off x="609600" y="3646551"/>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A3E3E3B9-BEE4-4F90-884F-52E939EFC138}"/>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DAA2C693-D13B-45D6-A1E5-B5433622728F}"/>
              </a:ext>
            </a:extLst>
          </p:cNvPr>
          <p:cNvSpPr>
            <a:spLocks noGrp="1"/>
          </p:cNvSpPr>
          <p:nvPr/>
        </p:nvSpPr>
        <p:spPr>
          <a:xfrm>
            <a:off x="609600" y="4023741"/>
            <a:ext cx="10972800" cy="924687"/>
          </a:xfrm>
          <a:prstGeom prst="rect">
            <a:avLst/>
          </a:prstGeom>
          <a:noFill/>
          <a:ln w="0">
            <a:noFill/>
          </a:ln>
        </p:spPr>
        <p:txBody>
          <a:bodyPr wrap="none" lIns="0" tIns="0" rIns="0" bIns="0" anchor="t">
            <a:noAutofit/>
          </a:bodyPr>
          <a:lstStyle/>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역순 입력의 이동 횟수는 1+2+…+(n−1)이다. 단계별 비용을 더해야 한다.</a:t>
            </a:r>
          </a:p>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이미 정렬된 입력에서는 각 삽입이 상수 시간이며, 전체는 Θ(n)이다.</a:t>
            </a:r>
          </a:p>
          <a:p>
            <a:pPr>
              <a:lnSpc>
                <a:spcPct val="108000"/>
              </a:lnSpc>
              <a:spcBef>
                <a:spcPts val="0"/>
              </a:spcBef>
              <a:spcAft>
                <a:spcPts val="0"/>
              </a:spcAft>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정렬된 입력만 선형 시간인 것은 아니다.</a:t>
            </a:r>
          </a:p>
        </p:txBody>
      </p:sp>
    </p:spTree>
    <p:extLst>
      <p:ext uri="{BB962C8B-B14F-4D97-AF65-F5344CB8AC3E}">
        <ns3:creationId val="462685519"/>
      </p:ext>
    </p:extLst>
  </p:cSld>
</p:sld>
</file>

<file path=ppt/slides/slide17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A349791C-D754-40ED-A7F3-8ED44F5E734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6F0AAD45-CAE3-4529-B8FE-831577F2A18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4D48BC97-B071-4764-BC48-7CB95164714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89  </a:t>
            </a:r>
          </a:p>
        </p:txBody>
      </p:sp>
      <p:sp>
        <p:nvSpPr>
          <p:cNvPr id="4" name="">
            <a:extLst>
              <a:ext uri="{FF2B5EF4-FFF2-40B4-BE49-F238E27FC236}">
                <ns2:creationId id="{F4729428-256E-47B3-9B6B-035CEE53C89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660D854-A289-4D0F-A1FD-273083A29AB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0C87480-4AA0-4D13-98D9-18DAC69D9DE4}"/>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10DD64C4-992E-4009-845B-2A29EBC0AAF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177</a:t>
            </a:r>
          </a:p>
        </p:txBody>
      </p:sp>
      <p:sp>
        <p:nvSpPr>
          <p:cNvPr id="8" name="text-178-64">
            <a:extLst>
              <a:ext uri="{FF2B5EF4-FFF2-40B4-BE49-F238E27FC236}">
                <ns2:creationId id="{36E3853F-3017-4CFE-A156-5A5C41402606}"/>
              </a:ext>
            </a:extLst>
          </p:cNvPr>
          <p:cNvSpPr>
            <a:spLocks noGrp="1"/>
          </p:cNvSpPr>
          <p:nvPr/>
        </p:nvSpPr>
        <p:spPr>
          <a:xfrm>
            <a:off x="609600" y="1619250"/>
            <a:ext cx="10972800" cy="3888772"/>
          </a:xfrm>
          <a:prstGeom prst="rect">
            <a:avLst/>
          </a:prstGeom>
          <a:noFill/>
          <a:ln w="0">
            <a:noFill/>
          </a:ln>
        </p:spPr>
        <p:txBody>
          <a:bodyPr wrap="none" lIns="0" tIns="0" rIns="0" bIns="0" anchor="t">
            <a:noAutofit/>
          </a:bodyPr>
          <a:lstStyle/>
          <a:p>
            <a:pPr algn="l">
              <a:lnSpc>
                <a:spcPct val="108000"/>
              </a:lnSpc>
              <a:buNone/>
              <a:defRPr sz="1988" b="0" i="0">
                <a:solidFill>
                  <a:srgbClr val="171717"/>
                </a:solidFill>
                <a:latin typeface="Malgun Gothic"/>
                <a:ea typeface="Malgun Gothic"/>
                <a:cs typeface="Malgun Gothic"/>
              </a:defRPr>
            </a:pPr>
            <a:r>
              <a:rPr sz="1988" b="0" i="0">
                <a:solidFill>
                  <a:srgbClr val="171717"/>
                </a:solidFill>
                <a:latin typeface="Malgun Gothic"/>
                <a:ea typeface="Malgun Gothic"/>
                <a:cs typeface="Malgun Gothic"/>
              </a:rPr>
              <a:t>다음 Python 코드에서 n은 0 이상의 정수이고, //는 나눗셈의 정수 몫이다.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988" b="0" i="0">
                <a:solidFill>
                  <a:srgbClr val="171717"/>
                </a:solidFill>
                <a:latin typeface="Malgun Gothic"/>
                <a:ea typeface="Malgun Gothic"/>
                <a:cs typeface="Malgun Gothic"/>
              </a:defRPr>
            </a:pPr>
            <a:r>
              <a:rPr sz="1988" b="0" i="0">
                <a:solidFill>
                  <a:srgbClr val="171717"/>
                </a:solidFill>
                <a:latin typeface="Malgun Gothic"/>
                <a:ea typeface="Malgun Gothic"/>
                <a:cs typeface="Malgun Gothic"/>
              </a:rPr>
              <a:t>def f(n):</a:t>
            </a:r>
          </a:p>
          <a:p>
            <a:pPr algn="l">
              <a:lnSpc>
                <a:spcPct val="108000"/>
              </a:lnSpc>
              <a:buNone/>
              <a:defRPr sz="1988" b="0" i="0">
                <a:solidFill>
                  <a:srgbClr val="171717"/>
                </a:solidFill>
                <a:latin typeface="Malgun Gothic"/>
                <a:ea typeface="Malgun Gothic"/>
                <a:cs typeface="Malgun Gothic"/>
              </a:defRPr>
            </a:pPr>
            <a:r>
              <a:rPr sz="1988" b="0" i="0">
                <a:solidFill>
                  <a:srgbClr val="171717"/>
                </a:solidFill>
                <a:latin typeface="Malgun Gothic"/>
                <a:ea typeface="Malgun Gothic"/>
                <a:cs typeface="Malgun Gothic"/>
              </a:rPr>
              <a:t>    print(n)</a:t>
            </a:r>
          </a:p>
          <a:p>
            <a:pPr algn="l">
              <a:lnSpc>
                <a:spcPct val="108000"/>
              </a:lnSpc>
              <a:buNone/>
              <a:defRPr sz="1988" b="0" i="0">
                <a:solidFill>
                  <a:srgbClr val="171717"/>
                </a:solidFill>
                <a:latin typeface="Malgun Gothic"/>
                <a:ea typeface="Malgun Gothic"/>
                <a:cs typeface="Malgun Gothic"/>
              </a:defRPr>
            </a:pPr>
            <a:r>
              <a:rPr sz="1988" b="0" i="0">
                <a:solidFill>
                  <a:srgbClr val="171717"/>
                </a:solidFill>
                <a:latin typeface="Malgun Gothic"/>
                <a:ea typeface="Malgun Gothic"/>
                <a:cs typeface="Malgun Gothic"/>
              </a:rPr>
              <a:t>    f(n // 2)</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988" b="0" i="0">
                <a:solidFill>
                  <a:srgbClr val="171717"/>
                </a:solidFill>
                <a:latin typeface="Malgun Gothic"/>
                <a:ea typeface="Malgun Gothic"/>
                <a:cs typeface="Malgun Gothic"/>
              </a:defRPr>
            </a:pPr>
            <a:r>
              <a:rPr sz="1988" b="0" i="0">
                <a:solidFill>
                  <a:srgbClr val="171717"/>
                </a:solidFill>
                <a:latin typeface="Malgun Gothic"/>
                <a:ea typeface="Malgun Gothic"/>
                <a:cs typeface="Malgun Gothic"/>
              </a:rPr>
              <a:t>f(4)</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
            </a:r>
          </a:p>
          <a:p>
            <a:pPr algn="l">
              <a:lnSpc>
                <a:spcPct val="108000"/>
              </a:lnSpc>
              <a:buNone/>
              <a:defRPr sz="1988" b="0" i="0">
                <a:solidFill>
                  <a:srgbClr val="171717"/>
                </a:solidFill>
                <a:latin typeface="Malgun Gothic"/>
                <a:ea typeface="Malgun Gothic"/>
                <a:cs typeface="Malgun Gothic"/>
              </a:defRPr>
            </a:pPr>
            <a:r>
              <a:rPr sz="1988" b="0" i="0">
                <a:solidFill>
                  <a:srgbClr val="171717"/>
                </a:solidFill>
                <a:latin typeface="Malgun Gothic"/>
                <a:ea typeface="Malgun Gothic"/>
                <a:cs typeface="Malgun Gothic"/>
              </a:rPr>
              <a:t>① 이 코드가 재귀 호출을 스스로 멈추어 정상적으로 끝나지 못하는 이유를 설명하시오.</a:t>
            </a:r>
          </a:p>
          <a:p>
            <a:pPr algn="l">
              <a:lnSpc>
                <a:spcPct val="108000"/>
              </a:lnSpc>
              <a:buNone/>
              <a:defRPr sz="1988" b="0" i="0">
                <a:solidFill>
                  <a:srgbClr val="171717"/>
                </a:solidFill>
                <a:latin typeface="Malgun Gothic"/>
                <a:ea typeface="Malgun Gothic"/>
                <a:cs typeface="Malgun Gothic"/>
              </a:defRPr>
            </a:pPr>
            <a:r>
              <a:rPr sz="1988" b="0" i="0">
                <a:solidFill>
                  <a:srgbClr val="171717"/>
                </a:solidFill>
                <a:latin typeface="Malgun Gothic"/>
                <a:ea typeface="Malgun Gothic"/>
                <a:cs typeface="Malgun Gothic"/>
              </a:rPr>
              <a:t>② 자기 자신을 더 호출하지 않고 정상 종료하려면 어떤 조건과 반환문을 어디에 추가해야</a:t>
            </a:r>
          </a:p>
          <a:p>
            <a:pPr algn="l">
              <a:lnSpc>
                <a:spcPct val="108000"/>
              </a:lnSpc>
              <a:buNone/>
              <a:defRPr sz="1988" b="0" i="0">
                <a:solidFill>
                  <a:srgbClr val="171717"/>
                </a:solidFill>
                <a:latin typeface="Malgun Gothic"/>
                <a:ea typeface="Malgun Gothic"/>
                <a:cs typeface="Malgun Gothic"/>
              </a:defRPr>
            </a:pPr>
            <a:r>
              <a:rPr sz="1988" b="0" i="0">
                <a:solidFill>
                  <a:srgbClr val="171717"/>
                </a:solidFill>
                <a:latin typeface="Malgun Gothic"/>
                <a:ea typeface="Malgun Gothic"/>
                <a:cs typeface="Malgun Gothic"/>
              </a:rPr>
              <a:t>하는지 쓰시오.</a:t>
            </a:r>
          </a:p>
        </p:txBody>
      </p:sp>
      <p:sp>
        <p:nvSpPr>
          <p:cNvPr id="9" name="text-405-64">
            <a:extLst>
              <a:ext uri="{FF2B5EF4-FFF2-40B4-BE49-F238E27FC236}">
                <ns2:creationId id="{9522DBD5-D1F9-40AF-BFC2-DBA529FEACC5}"/>
              </a:ext>
            </a:extLst>
          </p:cNvPr>
          <p:cNvSpPr>
            <a:spLocks noGrp="1"/>
          </p:cNvSpPr>
          <p:nvPr/>
        </p:nvSpPr>
        <p:spPr>
          <a:xfrm>
            <a:off x="609600" y="5641372"/>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72D8D1C1-E595-4F62-8406-4AB5C0029413}"/>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AE6DD853-8D74-4C8A-8161-03610B0F28AF}"/>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1F31843D-0D96-4447-9B41-92682CABC275}"/>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7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E84AB714-90E3-4657-A83E-EB1C441A0BA8}"/>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732F28B8-0F67-4FCA-B8B2-8E79AB0BD263}"/>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F6FF60B-43B4-4997-A953-049568E385FD}"/>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89  정답과 해설</a:t>
            </a:r>
          </a:p>
        </p:txBody>
      </p:sp>
      <p:sp>
        <p:nvSpPr>
          <p:cNvPr id="4" name="">
            <a:extLst>
              <a:ext uri="{FF2B5EF4-FFF2-40B4-BE49-F238E27FC236}">
                <ns2:creationId id="{2FA599EC-8B85-4CDC-A27B-92E13F20CC1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FD83E43-F6C1-4C0A-BB20-4D827876413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1F804E2-0245-4275-A82E-B49F0D8AD27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4B099B7-6B30-44DA-9D28-73BD5F80090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178</a:t>
            </a:r>
          </a:p>
        </p:txBody>
      </p:sp>
      <p:sp>
        <p:nvSpPr>
          <p:cNvPr id="8" name="text-178-64">
            <a:extLst>
              <a:ext uri="{FF2B5EF4-FFF2-40B4-BE49-F238E27FC236}">
                <ns2:creationId id="{BDF1751E-112D-422F-8B47-5F7420919B15}"/>
              </a:ext>
            </a:extLst>
          </p:cNvPr>
          <p:cNvSpPr>
            <a:spLocks noGrp="1"/>
          </p:cNvSpPr>
          <p:nvPr/>
        </p:nvSpPr>
        <p:spPr>
          <a:xfrm>
            <a:off x="609600" y="1619250"/>
            <a:ext cx="10972800" cy="2620327"/>
          </a:xfrm>
          <a:prstGeom prst="rect">
            <a:avLst/>
          </a:prstGeom>
          <a:noFill/>
          <a:ln w="0">
            <a:noFill/>
          </a:ln>
        </p:spPr>
        <p:txBody>
          <a:bodyPr wrap="none" lIns="0" tIns="0" rIns="0" bIns="0" anchor="t">
            <a:noAutofit/>
          </a:bodyPr>
          <a:lstStyle/>
          <a:p>
            <a:pPr algn="l">
              <a:lnSpc>
                <a:spcPct val="108000"/>
              </a:lnSpc>
              <a:buNone/>
              <a:defRPr sz="1463" b="0" i="0">
                <a:solidFill>
                  <a:srgbClr val="606060"/>
                </a:solidFill>
                <a:latin typeface="Malgun Gothic"/>
                <a:ea typeface="Malgun Gothic"/>
                <a:cs typeface="Malgun Gothic"/>
              </a:defRPr>
            </a:pPr>
            <a:r>
              <a:rPr sz="1463" b="0" i="0">
                <a:solidFill>
                  <a:srgbClr val="606060"/>
                </a:solidFill>
                <a:latin typeface="Malgun Gothic"/>
                <a:ea typeface="Malgun Gothic"/>
                <a:cs typeface="Malgun Gothic"/>
              </a:rPr>
              <a:t>다음 Python 코드에서 n은 0 이상의 정수이고, //는 나눗셈의 정수 몫이다.</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463" b="0" i="0">
                <a:solidFill>
                  <a:srgbClr val="606060"/>
                </a:solidFill>
                <a:latin typeface="Malgun Gothic"/>
                <a:ea typeface="Malgun Gothic"/>
                <a:cs typeface="Malgun Gothic"/>
              </a:defRPr>
            </a:pPr>
            <a:r>
              <a:rPr sz="1463" b="0" i="0">
                <a:solidFill>
                  <a:srgbClr val="606060"/>
                </a:solidFill>
                <a:latin typeface="Malgun Gothic"/>
                <a:ea typeface="Malgun Gothic"/>
                <a:cs typeface="Malgun Gothic"/>
              </a:rPr>
              <a:t>def f(n):</a:t>
            </a:r>
          </a:p>
          <a:p>
            <a:pPr algn="l">
              <a:lnSpc>
                <a:spcPct val="108000"/>
              </a:lnSpc>
              <a:buNone/>
              <a:defRPr sz="1463" b="0" i="0">
                <a:solidFill>
                  <a:srgbClr val="606060"/>
                </a:solidFill>
                <a:latin typeface="Malgun Gothic"/>
                <a:ea typeface="Malgun Gothic"/>
                <a:cs typeface="Malgun Gothic"/>
              </a:defRPr>
            </a:pPr>
            <a:r>
              <a:rPr sz="1463" b="0" i="0">
                <a:solidFill>
                  <a:srgbClr val="606060"/>
                </a:solidFill>
                <a:latin typeface="Malgun Gothic"/>
                <a:ea typeface="Malgun Gothic"/>
                <a:cs typeface="Malgun Gothic"/>
              </a:rPr>
              <a:t>    print(n)</a:t>
            </a:r>
          </a:p>
          <a:p>
            <a:pPr algn="l">
              <a:lnSpc>
                <a:spcPct val="108000"/>
              </a:lnSpc>
              <a:buNone/>
              <a:defRPr sz="1463" b="0" i="0">
                <a:solidFill>
                  <a:srgbClr val="606060"/>
                </a:solidFill>
                <a:latin typeface="Malgun Gothic"/>
                <a:ea typeface="Malgun Gothic"/>
                <a:cs typeface="Malgun Gothic"/>
              </a:defRPr>
            </a:pPr>
            <a:r>
              <a:rPr sz="1463" b="0" i="0">
                <a:solidFill>
                  <a:srgbClr val="606060"/>
                </a:solidFill>
                <a:latin typeface="Malgun Gothic"/>
                <a:ea typeface="Malgun Gothic"/>
                <a:cs typeface="Malgun Gothic"/>
              </a:rPr>
              <a:t>    f(n // 2)</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463" b="0" i="0">
                <a:solidFill>
                  <a:srgbClr val="606060"/>
                </a:solidFill>
                <a:latin typeface="Malgun Gothic"/>
                <a:ea typeface="Malgun Gothic"/>
                <a:cs typeface="Malgun Gothic"/>
              </a:defRPr>
            </a:pPr>
            <a:r>
              <a:rPr sz="1463" b="0" i="0">
                <a:solidFill>
                  <a:srgbClr val="606060"/>
                </a:solidFill>
                <a:latin typeface="Malgun Gothic"/>
                <a:ea typeface="Malgun Gothic"/>
                <a:cs typeface="Malgun Gothic"/>
              </a:rPr>
              <a:t>f(4)</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
            </a:r>
          </a:p>
          <a:p>
            <a:pPr algn="l">
              <a:lnSpc>
                <a:spcPct val="108000"/>
              </a:lnSpc>
              <a:buNone/>
              <a:defRPr sz="1463" b="0" i="0">
                <a:solidFill>
                  <a:srgbClr val="606060"/>
                </a:solidFill>
                <a:latin typeface="Malgun Gothic"/>
                <a:ea typeface="Malgun Gothic"/>
                <a:cs typeface="Malgun Gothic"/>
              </a:defRPr>
            </a:pPr>
            <a:r>
              <a:rPr sz="1463" b="0" i="0">
                <a:solidFill>
                  <a:srgbClr val="606060"/>
                </a:solidFill>
                <a:latin typeface="Malgun Gothic"/>
                <a:ea typeface="Malgun Gothic"/>
                <a:cs typeface="Malgun Gothic"/>
              </a:rPr>
              <a:t>① 이 코드가 재귀 호출을 스스로 멈추어 정상적으로 끝나지 못하는 이유를 설명하시오.</a:t>
            </a:r>
          </a:p>
          <a:p>
            <a:pPr algn="l">
              <a:lnSpc>
                <a:spcPct val="108000"/>
              </a:lnSpc>
              <a:buNone/>
              <a:defRPr sz="1463" b="0" i="0">
                <a:solidFill>
                  <a:srgbClr val="606060"/>
                </a:solidFill>
                <a:latin typeface="Malgun Gothic"/>
                <a:ea typeface="Malgun Gothic"/>
                <a:cs typeface="Malgun Gothic"/>
              </a:defRPr>
            </a:pPr>
            <a:r>
              <a:rPr sz="1463" b="0" i="0">
                <a:solidFill>
                  <a:srgbClr val="606060"/>
                </a:solidFill>
                <a:latin typeface="Malgun Gothic"/>
                <a:ea typeface="Malgun Gothic"/>
                <a:cs typeface="Malgun Gothic"/>
              </a:rPr>
              <a:t>② 자기 자신을 더 호출하지 않고 정상 종료하려면 어떤 조건과 반환문을 어디에 추가해야 하는지 쓰시오.</a:t>
            </a:r>
          </a:p>
        </p:txBody>
      </p:sp>
      <p:sp>
        <p:nvSpPr>
          <p:cNvPr id="9" name="">
            <a:extLst>
              <a:ext uri="{FF2B5EF4-FFF2-40B4-BE49-F238E27FC236}">
                <ns2:creationId id="{B86689EC-BE4F-4D9C-A425-3A2B4EE55632}"/>
              </a:ext>
            </a:extLst>
          </p:cNvPr>
          <p:cNvSpPr>
            <a:spLocks noGrp="1"/>
          </p:cNvSpPr>
          <p:nvPr/>
        </p:nvSpPr>
        <p:spPr>
          <a:xfrm>
            <a:off x="609600" y="4353878"/>
            <a:ext cx="10972800" cy="748475"/>
          </a:xfrm>
          <a:prstGeom prst="rect">
            <a:avLst/>
          </a:prstGeom>
          <a:solidFill>
            <a:srgbClr val="171717"/>
          </a:solidFill>
          <a:ln w="0">
            <a:noFill/>
          </a:ln>
        </p:spPr>
      </p:sp>
      <p:sp>
        <p:nvSpPr>
          <p:cNvPr id="10" name="text-245.6-92">
            <a:extLst>
              <a:ext uri="{FF2B5EF4-FFF2-40B4-BE49-F238E27FC236}">
                <ns2:creationId id="{900B1F2D-CEAF-4778-919C-8BA53FC347F0}"/>
              </a:ext>
            </a:extLst>
          </p:cNvPr>
          <p:cNvSpPr>
            <a:spLocks noGrp="1"/>
          </p:cNvSpPr>
          <p:nvPr/>
        </p:nvSpPr>
        <p:spPr>
          <a:xfrm>
            <a:off x="876300" y="4430078"/>
            <a:ext cx="10439400" cy="596075"/>
          </a:xfrm>
          <a:prstGeom prst="rect">
            <a:avLst/>
          </a:prstGeom>
          <a:noFill/>
          <a:ln w="0">
            <a:noFill/>
          </a:ln>
        </p:spPr>
        <p:txBody>
          <a:bodyPr wrap="none" lIns="0" tIns="0" rIns="0" bIns="0" anchor="t">
            <a:noAutofit/>
          </a:bodyPr>
          <a:lstStyle/>
          <a:p>
            <a:pPr algn="l">
              <a:lnSpc>
                <a:spcPct val="108000"/>
              </a:lnSpc>
              <a:buNone/>
              <a:defRPr sz="1538" b="1" i="0">
                <a:solidFill>
                  <a:srgbClr val="FFFFFF"/>
                </a:solidFill>
                <a:latin typeface="Malgun Gothic"/>
                <a:ea typeface="Malgun Gothic"/>
                <a:cs typeface="Malgun Gothic"/>
              </a:defRPr>
            </a:pPr>
            <a:r>
              <a:rPr sz="1538" b="1" i="0">
                <a:solidFill>
                  <a:srgbClr val="FFFFFF"/>
                </a:solidFill>
                <a:latin typeface="Malgun Gothic"/>
                <a:ea typeface="Malgun Gothic"/>
                <a:cs typeface="Malgun Gothic"/>
              </a:rPr>
              <a:t>① 4,2,1,0 뒤에도 0//2=0이므로 f(0)을 계속 호출한다.</a:t>
            </a:r>
          </a:p>
          <a:p>
            <a:pPr algn="l">
              <a:lnSpc>
                <a:spcPct val="108000"/>
              </a:lnSpc>
              <a:buNone/>
              <a:defRPr sz="1538" b="1" i="0">
                <a:solidFill>
                  <a:srgbClr val="FFFFFF"/>
                </a:solidFill>
                <a:latin typeface="Malgun Gothic"/>
                <a:ea typeface="Malgun Gothic"/>
                <a:cs typeface="Malgun Gothic"/>
              </a:defRPr>
            </a:pPr>
            <a:r>
              <a:rPr sz="1538" b="1" i="0">
                <a:solidFill>
                  <a:srgbClr val="FFFFFF"/>
                </a:solidFill>
                <a:latin typeface="Malgun Gothic"/>
                <a:ea typeface="Malgun Gothic"/>
                <a:cs typeface="Malgun Gothic"/>
              </a:rPr>
              <a:t>② f(n//2)를 호출하기 전에 if n==0: return을 넣는다.</a:t>
            </a:r>
          </a:p>
        </p:txBody>
      </p:sp>
      <p:sp>
        <p:nvSpPr>
          <p:cNvPr id="11" name="text-324.4-64">
            <a:extLst>
              <a:ext uri="{FF2B5EF4-FFF2-40B4-BE49-F238E27FC236}">
                <ns2:creationId id="{83FB500C-BA9E-4484-B654-A5500BF07AAB}"/>
              </a:ext>
            </a:extLst>
          </p:cNvPr>
          <p:cNvSpPr>
            <a:spLocks noGrp="1"/>
          </p:cNvSpPr>
          <p:nvPr/>
        </p:nvSpPr>
        <p:spPr>
          <a:xfrm>
            <a:off x="609600" y="5197602"/>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E6236B02-8D35-4795-A81D-2894FAD6BC55}"/>
              </a:ext>
            </a:extLst>
          </p:cNvPr>
          <p:cNvSpPr>
            <a:spLocks noGrp="1"/>
          </p:cNvSpPr>
          <p:nvPr/>
        </p:nvSpPr>
        <p:spPr>
          <a:xfrm>
            <a:off x="609600" y="6266117"/>
            <a:ext cx="10972800" cy="9525"/>
          </a:xfrm>
          <a:prstGeom prst="rect">
            <a:avLst/>
          </a:prstGeom>
          <a:solidFill>
            <a:srgbClr val="D4D4D4"/>
          </a:solidFill>
          <a:ln w="0">
            <a:noFill/>
          </a:ln>
        </p:spPr>
      </p:sp>
      <p:sp>
        <p:nvSpPr>
          <p:cNvPr id="13" name="text-372.4-64">
            <a:extLst>
              <a:ext uri="{FF2B5EF4-FFF2-40B4-BE49-F238E27FC236}">
                <ns2:creationId id="{FBA8E71D-54CF-4003-8608-0BB78B531C11}"/>
              </a:ext>
            </a:extLst>
          </p:cNvPr>
          <p:cNvSpPr>
            <a:spLocks noGrp="1"/>
          </p:cNvSpPr>
          <p:nvPr/>
        </p:nvSpPr>
        <p:spPr>
          <a:xfrm>
            <a:off x="609600" y="5574792"/>
            <a:ext cx="10972800" cy="596075"/>
          </a:xfrm>
          <a:prstGeom prst="rect">
            <a:avLst/>
          </a:prstGeom>
          <a:noFill/>
          <a:ln w="0">
            <a:noFill/>
          </a:ln>
        </p:spPr>
        <p:txBody>
          <a:bodyPr wrap="none" lIns="0" tIns="0" rIns="0" bIns="0" anchor="t">
            <a:noAutofit/>
          </a:bodyPr>
          <a:lstStyle/>
          <a:p>
            <a:pPr algn="l">
              <a:lnSpc>
                <a:spcPct val="108000"/>
              </a:lnSpc>
              <a:buNone/>
              <a:defRPr sz="1538" b="0" i="0">
                <a:solidFill>
                  <a:srgbClr val="606060"/>
                </a:solidFill>
                <a:latin typeface="Malgun Gothic"/>
                <a:ea typeface="Malgun Gothic"/>
                <a:cs typeface="Malgun Gothic"/>
              </a:defRPr>
            </a:pPr>
            <a:r>
              <a:rPr sz="1538" b="0" i="0">
                <a:solidFill>
                  <a:srgbClr val="606060"/>
                </a:solidFill>
                <a:latin typeface="Malgun Gothic"/>
                <a:ea typeface="Malgun Gothic"/>
                <a:cs typeface="Malgun Gothic"/>
              </a:rPr>
              <a:t>n=0에서 더 호출하지 않으면 앞선 호출도 차례로 끝난다. 예를 들어 print(n)과 f(n//2) 사이에 if n==0: return을 넣는다. 함수</a:t>
            </a:r>
          </a:p>
          <a:p>
            <a:pPr algn="l">
              <a:lnSpc>
                <a:spcPct val="108000"/>
              </a:lnSpc>
              <a:buNone/>
              <a:defRPr sz="1538" b="0" i="0">
                <a:solidFill>
                  <a:srgbClr val="606060"/>
                </a:solidFill>
                <a:latin typeface="Malgun Gothic"/>
                <a:ea typeface="Malgun Gothic"/>
                <a:cs typeface="Malgun Gothic"/>
              </a:defRPr>
            </a:pPr>
            <a:r>
              <a:rPr sz="1538" b="0" i="0">
                <a:solidFill>
                  <a:srgbClr val="606060"/>
                </a:solidFill>
                <a:latin typeface="Malgun Gothic"/>
                <a:ea typeface="Malgun Gothic"/>
                <a:cs typeface="Malgun Gothic"/>
              </a:rPr>
              <a:t>시작에 같은 조건을 넣어도 올바르다. 원래 코드는 스스로 멈추지 못해 실제 Python에서는 호출 한도 오류로 중단될 수 있다.</a:t>
            </a:r>
          </a:p>
        </p:txBody>
      </p:sp>
    </p:spTree>
    <p:extLst>
      <p:ext uri="{BB962C8B-B14F-4D97-AF65-F5344CB8AC3E}">
        <ns3:creationId val="462685519"/>
      </p:ext>
    </p:extLst>
  </p:cSld>
</p:sld>
</file>

<file path=ppt/slides/slide17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2954415E-9C1B-432C-8558-9DF94594C019}"/>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5DCC2883-0784-4195-A729-58BB350FF4A6}"/>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CCA821C6-4BB0-4596-95D0-549233394B00}"/>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90  </a:t>
            </a:r>
          </a:p>
        </p:txBody>
      </p:sp>
      <p:sp>
        <p:nvSpPr>
          <p:cNvPr id="4" name="">
            <a:extLst>
              <a:ext uri="{FF2B5EF4-FFF2-40B4-BE49-F238E27FC236}">
                <ns2:creationId id="{10EF52CE-C9AC-4508-92EC-54D83CB3F80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B6EB9FF-1E2B-45D0-8294-1B42B03B9161}"/>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AAA82871-6990-41A0-92E1-F226671714B2}"/>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B2D8CA0D-299F-48E9-8181-28F1D924027D}"/>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179</a:t>
            </a:r>
          </a:p>
        </p:txBody>
      </p:sp>
      <p:sp>
        <p:nvSpPr>
          <p:cNvPr id="8" name="text-178-64">
            <a:extLst>
              <a:ext uri="{FF2B5EF4-FFF2-40B4-BE49-F238E27FC236}">
                <ns2:creationId id="{F54B22FB-6E9F-45A4-A3F4-0F5ACA946A97}"/>
              </a:ext>
            </a:extLst>
          </p:cNvPr>
          <p:cNvSpPr>
            <a:spLocks noGrp="1"/>
          </p:cNvSpPr>
          <p:nvPr/>
        </p:nvSpPr>
        <p:spPr>
          <a:xfrm>
            <a:off x="609600" y="1619250"/>
            <a:ext cx="10972800" cy="226542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N행 N열 별무늬를 만드는 함수가 있다. N=3^k이고 k는 1 이상의 정수이다. 크기가 1이면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별 하나를 반환하고 끝낸다. 그 외에는 크기 N/3의 무늬를 같은 함수로 한 번 구해 3×3</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구역 중 가운데를 제외한 8개 구역에 재사용한다. ① 최초 호출과 크기 1의 마지막 호출을</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포함한 총 호출 횟수를 k로 나타내시오. ② 별과 공백을 합쳐 N²개 문자를 한 글자씩</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출력한다면 출력 시간은 어떤 차수인가? 문자당 출력 비용은 일정하고 줄바꿈은 제외한다.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③ 호출 수만으로 전체 시간을 판단할 수 없는 이유를 설명하시오.</a:t>
            </a:r>
          </a:p>
        </p:txBody>
      </p:sp>
      <p:sp>
        <p:nvSpPr>
          <p:cNvPr id="9" name="text-405-64">
            <a:extLst>
              <a:ext uri="{FF2B5EF4-FFF2-40B4-BE49-F238E27FC236}">
                <ns2:creationId id="{CE991635-DA7E-4628-AD81-9E43BB8505AB}"/>
              </a:ext>
            </a:extLst>
          </p:cNvPr>
          <p:cNvSpPr>
            <a:spLocks noGrp="1"/>
          </p:cNvSpPr>
          <p:nvPr/>
        </p:nvSpPr>
        <p:spPr>
          <a:xfrm>
            <a:off x="609600" y="4018026"/>
            <a:ext cx="10972800" cy="3200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풀이 과정과 판단 근거를 함께 쓰시오.</a:t>
            </a:r>
          </a:p>
        </p:txBody>
      </p:sp>
      <p:sp>
        <p:nvSpPr>
          <p:cNvPr id="10" name="">
            <a:extLst>
              <a:ext uri="{FF2B5EF4-FFF2-40B4-BE49-F238E27FC236}">
                <ns2:creationId id="{E5E4B5E1-21AC-4B7D-B8E2-336CFD5002BB}"/>
              </a:ext>
            </a:extLst>
          </p:cNvPr>
          <p:cNvSpPr>
            <a:spLocks noGrp="1"/>
          </p:cNvSpPr>
          <p:nvPr/>
        </p:nvSpPr>
        <p:spPr>
          <a:xfrm>
            <a:off x="609600" y="6191250"/>
            <a:ext cx="10972800" cy="9525"/>
          </a:xfrm>
          <a:prstGeom prst="rect">
            <a:avLst/>
          </a:prstGeom>
          <a:solidFill>
            <a:srgbClr val="D4D4D4"/>
          </a:solidFill>
          <a:ln w="0">
            <a:noFill/>
          </a:ln>
        </p:spPr>
      </p:sp>
      <p:sp>
        <p:nvSpPr>
          <p:cNvPr id="11" name="">
            <a:extLst>
              <a:ext uri="{FF2B5EF4-FFF2-40B4-BE49-F238E27FC236}">
                <ns2:creationId id="{A0A70568-111A-428E-8442-7611CBBEC6BA}"/>
              </a:ext>
            </a:extLst>
          </p:cNvPr>
          <p:cNvSpPr>
            <a:spLocks noGrp="1"/>
          </p:cNvSpPr>
          <p:nvPr/>
        </p:nvSpPr>
        <p:spPr>
          <a:xfrm>
            <a:off x="609600" y="6191250"/>
            <a:ext cx="10972800" cy="9525"/>
          </a:xfrm>
          <a:prstGeom prst="rect">
            <a:avLst/>
          </a:prstGeom>
          <a:solidFill>
            <a:srgbClr val="D4D4D4"/>
          </a:solidFill>
          <a:ln w="0">
            <a:noFill/>
          </a:ln>
        </p:spPr>
      </p:sp>
      <p:sp>
        <p:nvSpPr>
          <p:cNvPr id="12" name="">
            <a:extLst>
              <a:ext uri="{FF2B5EF4-FFF2-40B4-BE49-F238E27FC236}">
                <ns2:creationId id="{ED1D8B96-B086-43E5-BB03-B939AD2C60AD}"/>
              </a:ext>
            </a:extLst>
          </p:cNvPr>
          <p:cNvSpPr>
            <a:spLocks noGrp="1"/>
          </p:cNvSpPr>
          <p:nvPr/>
        </p:nvSpPr>
        <p:spPr>
          <a:xfrm>
            <a:off x="609600" y="6191250"/>
            <a:ext cx="10972800" cy="9525"/>
          </a:xfrm>
          <a:prstGeom prst="rect">
            <a:avLst/>
          </a:prstGeom>
          <a:solidFill>
            <a:srgbClr val="D4D4D4"/>
          </a:solidFill>
          <a:ln w="0">
            <a:noFill/>
          </a:ln>
        </p:spPr>
      </p:sp>
    </p:spTree>
    <p:extLst>
      <p:ext uri="{BB962C8B-B14F-4D97-AF65-F5344CB8AC3E}">
        <ns3:creationId val="462685519"/>
      </p:ext>
    </p:extLst>
  </p:cSld>
</p:sld>
</file>

<file path=ppt/slides/slide18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D77829B3-E92D-46B2-AC20-41DBADDE26D2}"/>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서술·설계</a:t>
            </a:r>
          </a:p>
        </p:txBody>
      </p:sp>
      <p:sp>
        <p:nvSpPr>
          <p:cNvPr id="2" name="text-28-1080">
            <a:extLst>
              <a:ext uri="{FF2B5EF4-FFF2-40B4-BE49-F238E27FC236}">
                <ns2:creationId id="{8AF33727-AC27-40AE-BA87-A93B4A8E3387}"/>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E1133A2A-4889-4942-BD71-D000E114ABE1}"/>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90  정답과 해설</a:t>
            </a:r>
          </a:p>
        </p:txBody>
      </p:sp>
      <p:sp>
        <p:nvSpPr>
          <p:cNvPr id="4" name="">
            <a:extLst>
              <a:ext uri="{FF2B5EF4-FFF2-40B4-BE49-F238E27FC236}">
                <ns2:creationId id="{0E46C200-46AC-43C0-BBE3-7B6DBD5DC68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E13C762-202A-47D3-A0C4-3F42E69571D7}"/>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7ED1DFF-22C8-4ED9-AC95-235232A7865A}"/>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020FEF44-A649-453A-9922-830666EE3BDA}"/>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180</a:t>
            </a:r>
          </a:p>
        </p:txBody>
      </p:sp>
      <p:sp>
        <p:nvSpPr>
          <p:cNvPr id="8" name="text-178-64">
            <a:extLst>
              <a:ext uri="{FF2B5EF4-FFF2-40B4-BE49-F238E27FC236}">
                <ns2:creationId id="{78C244A9-13C4-4CA4-9D82-4CAA52210491}"/>
              </a:ext>
            </a:extLst>
          </p:cNvPr>
          <p:cNvSpPr>
            <a:spLocks noGrp="1"/>
          </p:cNvSpPr>
          <p:nvPr/>
        </p:nvSpPr>
        <p:spPr>
          <a:xfrm>
            <a:off x="609600" y="1619250"/>
            <a:ext cx="10972800" cy="163449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N행 N열 별무늬를 만드는 함수가 있다. N=3^k이고 k는 1 이상의 정수이다. 크기가 1이면 별 하나를</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반환하고 끝낸다. 그 외에는 크기 N/3의 무늬를 같은 함수로 한 번 구해 3×3 구역 중 가운데를 제외한 8개</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구역에 재사용한다. ① 최초 호출과 크기 1의 마지막 호출을 포함한 총 호출 횟수를 k로 나타내시오. ②</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별과 공백을 합쳐 N²개 문자를 한 글자씩 출력한다면 출력 시간은 어떤 차수인가? 문자당 출력 비용은</a:t>
            </a:r>
          </a:p>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일정하고 줄바꿈은 제외한다. ③ 호출 수만으로 전체 시간을 판단할 수 없는 이유를 설명하시오.</a:t>
            </a:r>
          </a:p>
        </p:txBody>
      </p:sp>
      <p:sp>
        <p:nvSpPr>
          <p:cNvPr id="9" name="">
            <a:extLst>
              <a:ext uri="{FF2B5EF4-FFF2-40B4-BE49-F238E27FC236}">
                <ns2:creationId id="{44A3BE14-FAC0-4FB6-8E71-7BA5F2F3EDF8}"/>
              </a:ext>
            </a:extLst>
          </p:cNvPr>
          <p:cNvSpPr>
            <a:spLocks noGrp="1"/>
          </p:cNvSpPr>
          <p:nvPr/>
        </p:nvSpPr>
        <p:spPr>
          <a:xfrm>
            <a:off x="609600" y="3368040"/>
            <a:ext cx="10972800" cy="498729"/>
          </a:xfrm>
          <a:prstGeom prst="rect">
            <a:avLst/>
          </a:prstGeom>
          <a:solidFill>
            <a:srgbClr val="171717"/>
          </a:solidFill>
          <a:ln w="0">
            <a:noFill/>
          </a:ln>
        </p:spPr>
      </p:sp>
      <p:sp>
        <p:nvSpPr>
          <p:cNvPr id="10" name="text-245.6-92">
            <a:extLst>
              <a:ext uri="{FF2B5EF4-FFF2-40B4-BE49-F238E27FC236}">
                <ns2:creationId id="{1974A69A-D0D6-41BA-89CD-45E3364D63F2}"/>
              </a:ext>
            </a:extLst>
          </p:cNvPr>
          <p:cNvSpPr>
            <a:spLocks noGrp="1"/>
          </p:cNvSpPr>
          <p:nvPr/>
        </p:nvSpPr>
        <p:spPr>
          <a:xfrm>
            <a:off x="876300" y="3444240"/>
            <a:ext cx="10439400" cy="346329"/>
          </a:xfrm>
          <a:prstGeom prst="rect">
            <a:avLst/>
          </a:prstGeom>
          <a:noFill/>
          <a:ln w="0">
            <a:noFill/>
          </a:ln>
        </p:spPr>
        <p:txBody>
          <a:bodyPr wrap="none" lIns="0" tIns="0" rIns="0" bIns="0" anchor="t">
            <a:noAutofit/>
          </a:bodyPr>
          <a:lstStyle/>
          <a:p>
            <a:pPr algn="l">
              <a:lnSpc>
                <a:spcPct val="108000"/>
              </a:lnSpc>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① k+1회  ② Θ(N²)  ③ 호출 횟수 외에 무늬 구성과 출력 작업이 필요하다.</a:t>
            </a:r>
          </a:p>
        </p:txBody>
      </p:sp>
      <p:sp>
        <p:nvSpPr>
          <p:cNvPr id="11" name="text-324.4-64">
            <a:extLst>
              <a:ext uri="{FF2B5EF4-FFF2-40B4-BE49-F238E27FC236}">
                <ns2:creationId id="{D3CC45F5-1148-4459-8A65-EE4E23A4F7B9}"/>
              </a:ext>
            </a:extLst>
          </p:cNvPr>
          <p:cNvSpPr>
            <a:spLocks noGrp="1"/>
          </p:cNvSpPr>
          <p:nvPr/>
        </p:nvSpPr>
        <p:spPr>
          <a:xfrm>
            <a:off x="609600" y="3962019"/>
            <a:ext cx="1181100" cy="32004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12" name="">
            <a:extLst>
              <a:ext uri="{FF2B5EF4-FFF2-40B4-BE49-F238E27FC236}">
                <ns2:creationId id="{F59DE321-E256-4CF3-9BFF-019D71B52E71}"/>
              </a:ext>
            </a:extLst>
          </p:cNvPr>
          <p:cNvSpPr>
            <a:spLocks noGrp="1"/>
          </p:cNvSpPr>
          <p:nvPr/>
        </p:nvSpPr>
        <p:spPr>
          <a:xfrm>
            <a:off x="609600" y="6191250"/>
            <a:ext cx="10972800" cy="9525"/>
          </a:xfrm>
          <a:prstGeom prst="rect">
            <a:avLst/>
          </a:prstGeom>
          <a:solidFill>
            <a:srgbClr val="D4D4D4"/>
          </a:solidFill>
          <a:ln w="0">
            <a:noFill/>
          </a:ln>
        </p:spPr>
      </p:sp>
      <p:sp>
        <p:nvSpPr>
          <p:cNvPr id="13" name="text-372.4-64">
            <a:extLst>
              <a:ext uri="{FF2B5EF4-FFF2-40B4-BE49-F238E27FC236}">
                <ns2:creationId id="{333DD3DB-DDB2-4823-BD40-96C0E59EFE24}"/>
              </a:ext>
            </a:extLst>
          </p:cNvPr>
          <p:cNvSpPr>
            <a:spLocks noGrp="1"/>
          </p:cNvSpPr>
          <p:nvPr/>
        </p:nvSpPr>
        <p:spPr>
          <a:xfrm>
            <a:off x="609600" y="4339209"/>
            <a:ext cx="10972800" cy="63550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호출 크기는 3^k,3^(k−1),…,3,1이므로 k+1회이다. 출력할 위치는 N²개이고 한 위치마다 일정한 시간이 들어 출력</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자체가 Θ(N²)이다. 따라서 재귀 호출이 Θ(log N)회라는 사실만으로 전체 시간이 O(log N)이라고 할 수 없다.</a:t>
            </a:r>
          </a:p>
        </p:txBody>
      </p:sp>
    </p:spTree>
    <p:extLst>
      <p:ext uri="{BB962C8B-B14F-4D97-AF65-F5344CB8AC3E}">
        <ns3:creationId val="462685519"/>
      </p:ext>
    </p:extLst>
  </p:cSld>
</p:sld>
</file>

<file path=ppt/slides/slide18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9B320EEE-CFD6-40F4-8EBE-BFE916691D58}"/>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a:ext uri="{FF2B5EF4-FFF2-40B4-BE49-F238E27FC236}">
                <ns2:creationId id="{0C6D24A1-EF6F-4145-9925-D0A615C772B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FCABB58F-F967-43D3-B957-42F5FD41E2F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91  </a:t>
            </a:r>
          </a:p>
        </p:txBody>
      </p:sp>
      <p:sp>
        <p:nvSpPr>
          <p:cNvPr id="4" name="">
            <a:extLst>
              <a:ext uri="{FF2B5EF4-FFF2-40B4-BE49-F238E27FC236}">
                <ns2:creationId id="{F808BA10-B3FC-4759-A65A-9708AFFC067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E0E6729-B5DF-4876-A225-C79B1488F3BB}"/>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FD13F11-3CE4-410F-9CBD-8FC4AD040E3F}"/>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ABD3A7B4-C62E-4D4F-8F97-EF048FE09BB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181</a:t>
            </a:r>
          </a:p>
        </p:txBody>
      </p:sp>
      <p:sp>
        <p:nvSpPr>
          <p:cNvPr id="8" name="text-178-64">
            <a:extLst>
              <a:ext uri="{FF2B5EF4-FFF2-40B4-BE49-F238E27FC236}">
                <ns2:creationId id="{88B4E9AA-E801-4CE7-8AB8-29FE3BAB16DC}"/>
              </a:ext>
            </a:extLst>
          </p:cNvPr>
          <p:cNvSpPr>
            <a:spLocks noGrp="1"/>
          </p:cNvSpPr>
          <p:nvPr/>
        </p:nvSpPr>
        <p:spPr>
          <a:xfrm>
            <a:off x="609600" y="1695450"/>
            <a:ext cx="10972800" cy="112014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길이 n인 정수 배열 a와 정수 x가 주어진다. x가 처음 등장하는 인덱스(0부터)를 반환하고</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없으면 −1을 반환하는 first_index를 작성하시오. 0≤n≤1000이며 원소와 x는 C의 int</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범위이다. 배열은 바꾸지 않는다.</a:t>
            </a:r>
          </a:p>
        </p:txBody>
      </p:sp>
      <p:sp>
        <p:nvSpPr>
          <p:cNvPr id="9" name="text-405-64">
            <a:extLst>
              <a:ext uri="{FF2B5EF4-FFF2-40B4-BE49-F238E27FC236}">
                <ns2:creationId id="{EB0C8662-D1FB-46EA-A437-DC52F05096A3}"/>
              </a:ext>
            </a:extLst>
          </p:cNvPr>
          <p:cNvSpPr>
            <a:spLocks noGrp="1"/>
          </p:cNvSpPr>
          <p:nvPr/>
        </p:nvSpPr>
        <p:spPr>
          <a:xfrm>
            <a:off x="609600" y="296799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first_index(a,x) / C: int first_index(const int a[],int n,int x)</a:t>
            </a:r>
          </a:p>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또는 C 하나로 함수와 시간 복잡도를 작성하시오. 기본 정수 연산은 O(1)로 센다.</a:t>
            </a:r>
          </a:p>
        </p:txBody>
      </p:sp>
      <p:sp>
        <p:nvSpPr>
          <p:cNvPr id="10" name="">
            <a:extLst>
              <a:ext uri="{FF2B5EF4-FFF2-40B4-BE49-F238E27FC236}">
                <ns2:creationId id="{FA6C47FE-8964-4000-A0C2-68AC34E83774}"/>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42A6DEC5-082D-4D6B-B485-41DCC33D64B0}"/>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CB5BF02E-689C-47FE-9798-C7BE3234F380}"/>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A434F792-0883-4C94-8B62-F44B653E8159}"/>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8686E002-ECEA-4F66-BBB9-2BB021747068}"/>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547A9C1C-0C3B-4736-8EF3-17AC431BD06B}"/>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91  정답과 해설</a:t>
            </a:r>
          </a:p>
        </p:txBody>
      </p:sp>
      <p:sp>
        <p:nvSpPr>
          <p:cNvPr id="4" name="">
            <a:extLst xmlns:a="http://schemas.openxmlformats.org/drawingml/2006/main">
              <a:ext uri="{FF2B5EF4-FFF2-40B4-BE49-F238E27FC236}">
                <a16:creationId xmlns:a16="http://schemas.microsoft.com/office/drawing/2014/main" id="{410D0358-6116-436A-B0F8-8087960AC575}"/>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05562CF-BF0D-468A-9DDA-C0E899535BE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AD03A6AB-2D68-4E66-8CBB-E520A3F6B205}"/>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FA336B88-0315-404F-AE26-66BBD47383FF}"/>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182</a:t>
            </a:r>
          </a:p>
        </p:txBody>
      </p:sp>
      <p:sp>
        <p:nvSpPr>
          <p:cNvPr id="8" name="text-178-64">
            <a:extLst xmlns:a="http://schemas.openxmlformats.org/drawingml/2006/main">
              <a:ext uri="{FF2B5EF4-FFF2-40B4-BE49-F238E27FC236}">
                <a16:creationId xmlns:a16="http://schemas.microsoft.com/office/drawing/2014/main" id="{5109CBFF-E0E0-450C-BB3B-FF89F24D9E1A}"/>
              </a:ext>
            </a:extLst>
          </p:cNvPr>
          <p:cNvSpPr>
            <a:spLocks xmlns:a="http://schemas.openxmlformats.org/drawingml/2006/main" noGrp="1"/>
          </p:cNvSpPr>
          <p:nvPr/>
        </p:nvSpPr>
        <p:spPr>
          <a:xfrm xmlns:a="http://schemas.openxmlformats.org/drawingml/2006/main">
            <a:off x="609600" y="169545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첫 등장 위치</a:t>
            </a:r>
          </a:p>
        </p:txBody>
      </p:sp>
      <p:sp>
        <p:nvSpPr>
          <p:cNvPr id="9" name="">
            <a:extLst xmlns:a="http://schemas.openxmlformats.org/drawingml/2006/main">
              <a:ext uri="{FF2B5EF4-FFF2-40B4-BE49-F238E27FC236}">
                <a16:creationId xmlns:a16="http://schemas.microsoft.com/office/drawing/2014/main" id="{82E93A64-63E2-45CA-B914-E577205371B0}"/>
              </a:ext>
            </a:extLst>
          </p:cNvPr>
          <p:cNvSpPr>
            <a:spLocks xmlns:a="http://schemas.openxmlformats.org/drawingml/2006/main" noGrp="1"/>
          </p:cNvSpPr>
          <p:nvPr/>
        </p:nvSpPr>
        <p:spPr>
          <a:xfrm xmlns:a="http://schemas.openxmlformats.org/drawingml/2006/main">
            <a:off x="609600" y="2205990"/>
            <a:ext cx="10972800" cy="65532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682C0D78-3F92-4528-941E-560932DFAF1F}"/>
              </a:ext>
            </a:extLst>
          </p:cNvPr>
          <p:cNvSpPr>
            <a:spLocks xmlns:a="http://schemas.openxmlformats.org/drawingml/2006/main" noGrp="1"/>
          </p:cNvSpPr>
          <p:nvPr/>
        </p:nvSpPr>
        <p:spPr>
          <a:xfrm xmlns:a="http://schemas.openxmlformats.org/drawingml/2006/main">
            <a:off x="876300" y="2332990"/>
            <a:ext cx="10439400" cy="452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2025" b="1" i="0">
                <a:solidFill>
                  <a:srgbClr val="FFFFFF"/>
                </a:solidFill>
                <a:latin typeface="Malgun Gothic"/>
                <a:ea typeface="Malgun Gothic"/>
                <a:cs typeface="Malgun Gothic"/>
              </a:defRPr>
              <a:spcBef>
                <a:spcPts val="0"/>
              </a:spcBef>
              <a:spcAft>
                <a:spcPts val="0"/>
              </a:spcAft>
            </a:pPr>
            <a:r>
              <a:rPr sz="2025" b="1" i="0">
                <a:solidFill>
                  <a:srgbClr val="FFFFFF"/>
                </a:solidFill>
                <a:latin typeface="Malgun Gothic"/>
                <a:ea typeface="Malgun Gothic"/>
                <a:cs typeface="Malgun Gothic"/>
              </a:rPr>
              <a:t>왼쪽부터 검사하고 첫 일치에서 반환한다.</a:t>
            </a:r>
          </a:p>
        </p:txBody>
      </p:sp>
      <p:sp>
        <p:nvSpPr>
          <p:cNvPr id="11" name="text-324.4-64">
            <a:extLst xmlns:a="http://schemas.openxmlformats.org/drawingml/2006/main">
              <a:ext uri="{FF2B5EF4-FFF2-40B4-BE49-F238E27FC236}">
                <a16:creationId xmlns:a16="http://schemas.microsoft.com/office/drawing/2014/main" id="{92141D2D-71A7-49B6-B808-63B10B47DE8F}"/>
              </a:ext>
            </a:extLst>
          </p:cNvPr>
          <p:cNvSpPr>
            <a:spLocks xmlns:a="http://schemas.openxmlformats.org/drawingml/2006/main" noGrp="1"/>
          </p:cNvSpPr>
          <p:nvPr/>
        </p:nvSpPr>
        <p:spPr>
          <a:xfrm xmlns:a="http://schemas.openxmlformats.org/drawingml/2006/main">
            <a:off x="609600" y="3140710"/>
            <a:ext cx="11811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55129D7E-EDCE-41FD-B7B9-8D5915AF8D75}"/>
              </a:ext>
            </a:extLst>
          </p:cNvPr>
          <p:cNvSpPr>
            <a:spLocks xmlns:a="http://schemas.openxmlformats.org/drawingml/2006/main" noGrp="1"/>
          </p:cNvSpPr>
          <p:nvPr/>
        </p:nvSpPr>
        <p:spPr>
          <a:xfrm xmlns:a="http://schemas.openxmlformats.org/drawingml/2006/main">
            <a:off x="1752600" y="335661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91A8B2DA-FCDA-4352-9E32-06DA5B49E0CA}"/>
              </a:ext>
            </a:extLst>
          </p:cNvPr>
          <p:cNvSpPr>
            <a:spLocks xmlns:a="http://schemas.openxmlformats.org/drawingml/2006/main" noGrp="1"/>
          </p:cNvSpPr>
          <p:nvPr/>
        </p:nvSpPr>
        <p:spPr>
          <a:xfrm xmlns:a="http://schemas.openxmlformats.org/drawingml/2006/main">
            <a:off x="609600" y="3648710"/>
            <a:ext cx="10972800" cy="154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예: [8,3,8]에서 8을 찾으면 인덱스 0에서 즉시 반환한다.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끝까지 일치하지 않거나 빈 배열이면 −1이다. 배열은 바꾸지 않는다.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최악 시간 Θ(n), 추가 공간 Θ(1).</a:t>
            </a:r>
          </a:p>
        </p:txBody>
      </p:sp>
    </p:spTree>
    <p:extLst>
      <p:ext uri="{BB962C8B-B14F-4D97-AF65-F5344CB8AC3E}">
        <p14:creationId xmlns:p14="http://schemas.microsoft.com/office/powerpoint/2010/main" val="462685519"/>
      </p:ext>
    </p:extLst>
  </p:cSld>
</p:sld>
</file>

<file path=ppt/slides/slide1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28-64">
            <a:extLst xmlns:a="http://schemas.openxmlformats.org/drawingml/2006/main">
              <a:ext uri="{FF2B5EF4-FFF2-40B4-BE49-F238E27FC236}">
                <a16:creationId xmlns:a16="http://schemas.microsoft.com/office/drawing/2014/main" id="{7C0F782E-3F85-4D43-94CD-793B938BEF43}"/>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B2709467-D3DE-4746-9A0D-C37AA2C7FF91}"/>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8F95E5E2-3F2A-4E7C-B06E-5B9C34724686}"/>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defRPr sz="1800">
                <a:solidFill>
                  <a:srgbClr val="5B5B5B"/>
                </a:solidFill>
                <a:latin typeface="Malgun Gothic"/>
                <a:ea typeface="Malgun Gothic"/>
                <a:cs typeface="Malgun Gothic"/>
              </a:defRPr>
              <a:spcBef>
                <a:spcPts val="0"/>
              </a:spcBef>
              <a:spcAft>
                <a:spcPts val="0"/>
              </a:spcAft>
            </a:pPr>
            <a:r>
              <a:rPr sz="3000" b="1" i="0">
                <a:solidFill>
                  <a:srgbClr val="171717"/>
                </a:solidFill>
                <a:latin typeface="Malgun Gothic"/>
                <a:ea typeface="Malgun Gothic"/>
                <a:cs typeface="Malgun Gothic"/>
              </a:rPr>
              <a:t>문제 91  Python 구현</a:t>
            </a:r>
          </a:p>
        </p:txBody>
      </p:sp>
      <p:sp>
        <p:nvSpPr>
          <p:cNvPr id="4" name="">
            <a:extLst xmlns:a="http://schemas.openxmlformats.org/drawingml/2006/main">
              <a:ext uri="{FF2B5EF4-FFF2-40B4-BE49-F238E27FC236}">
                <a16:creationId xmlns:a16="http://schemas.microsoft.com/office/drawing/2014/main" id="{81C0F82C-E9AA-4E46-9C99-88B467F0797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039B36-A763-4F96-BDC7-EE718C11048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5E41E65B-2AA9-41FA-8E0F-E3F0D6BDD86C}"/>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CCB63AF0-50A0-42A0-9CD7-CF108DBCDEF6}"/>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183</a:t>
            </a:r>
          </a:p>
        </p:txBody>
      </p:sp>
      <p:sp>
        <p:nvSpPr>
          <p:cNvPr id="8" name="text-163-64">
            <a:extLst xmlns:a="http://schemas.openxmlformats.org/drawingml/2006/main">
              <a:ext uri="{FF2B5EF4-FFF2-40B4-BE49-F238E27FC236}">
                <a16:creationId xmlns:a16="http://schemas.microsoft.com/office/drawing/2014/main" id="{042DF307-979B-40CC-951F-DB5664526AB5}"/>
              </a:ext>
            </a:extLst>
          </p:cNvPr>
          <p:cNvSpPr>
            <a:spLocks xmlns:a="http://schemas.openxmlformats.org/drawingml/2006/main" noGrp="1"/>
          </p:cNvSpPr>
          <p:nvPr/>
        </p:nvSpPr>
        <p:spPr>
          <a:xfrm xmlns:a="http://schemas.openxmlformats.org/drawingml/2006/main">
            <a:off x="609600" y="1552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첫 등장 위치</a:t>
            </a:r>
          </a:p>
        </p:txBody>
      </p:sp>
      <p:sp>
        <p:nvSpPr>
          <p:cNvPr id="9" name="">
            <a:extLst xmlns:a="http://schemas.openxmlformats.org/drawingml/2006/main">
              <a:ext uri="{FF2B5EF4-FFF2-40B4-BE49-F238E27FC236}">
                <a16:creationId xmlns:a16="http://schemas.microsoft.com/office/drawing/2014/main" id="{D2B50D6C-DBD0-4E24-A27F-57E160CFA32F}"/>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60A7BAA6-93C6-4192-A65E-E0D587C6FE71}"/>
              </a:ext>
            </a:extLst>
          </p:cNvPr>
          <p:cNvSpPr>
            <a:spLocks xmlns:a="http://schemas.openxmlformats.org/drawingml/2006/main" noGrp="1"/>
          </p:cNvSpPr>
          <p:nvPr/>
        </p:nvSpPr>
        <p:spPr>
          <a:xfrm xmlns:a="http://schemas.openxmlformats.org/drawingml/2006/main">
            <a:off x="904875"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A79FE319-C944-45F6-8149-130F8AEB8B21}"/>
              </a:ext>
            </a:extLst>
          </p:cNvPr>
          <p:cNvSpPr>
            <a:spLocks xmlns:a="http://schemas.openxmlformats.org/drawingml/2006/main" noGrp="1"/>
          </p:cNvSpPr>
          <p:nvPr/>
        </p:nvSpPr>
        <p:spPr>
          <a:xfrm xmlns:a="http://schemas.openxmlformats.org/drawingml/2006/main">
            <a:off x="1285875" y="211455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def first_index(a, x):</a:t>
            </a:r>
          </a:p>
        </p:txBody>
      </p:sp>
      <p:sp>
        <p:nvSpPr>
          <p:cNvPr id="12" name="text-242.5-81">
            <a:extLst xmlns:a="http://schemas.openxmlformats.org/drawingml/2006/main">
              <a:ext uri="{FF2B5EF4-FFF2-40B4-BE49-F238E27FC236}">
                <a16:creationId xmlns:a16="http://schemas.microsoft.com/office/drawing/2014/main" id="{7C84B8E2-4478-475A-B4C8-041A68D402C1}"/>
              </a:ext>
            </a:extLst>
          </p:cNvPr>
          <p:cNvSpPr>
            <a:spLocks xmlns:a="http://schemas.openxmlformats.org/drawingml/2006/main" noGrp="1"/>
          </p:cNvSpPr>
          <p:nvPr/>
        </p:nvSpPr>
        <p:spPr>
          <a:xfrm xmlns:a="http://schemas.openxmlformats.org/drawingml/2006/main">
            <a:off x="904875"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8DBF1F6E-AAA4-4E0B-832B-A470658B1C2C}"/>
              </a:ext>
            </a:extLst>
          </p:cNvPr>
          <p:cNvSpPr>
            <a:spLocks xmlns:a="http://schemas.openxmlformats.org/drawingml/2006/main" noGrp="1"/>
          </p:cNvSpPr>
          <p:nvPr/>
        </p:nvSpPr>
        <p:spPr>
          <a:xfrm xmlns:a="http://schemas.openxmlformats.org/drawingml/2006/main">
            <a:off x="1285875" y="2426589"/>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for i, value in enumerate(a):</a:t>
            </a:r>
          </a:p>
        </p:txBody>
      </p:sp>
      <p:sp>
        <p:nvSpPr>
          <p:cNvPr id="14" name="text-263-81">
            <a:extLst xmlns:a="http://schemas.openxmlformats.org/drawingml/2006/main">
              <a:ext uri="{FF2B5EF4-FFF2-40B4-BE49-F238E27FC236}">
                <a16:creationId xmlns:a16="http://schemas.microsoft.com/office/drawing/2014/main" id="{89D59F25-9781-4949-B30A-C07DD50B52BF}"/>
              </a:ext>
            </a:extLst>
          </p:cNvPr>
          <p:cNvSpPr>
            <a:spLocks xmlns:a="http://schemas.openxmlformats.org/drawingml/2006/main" noGrp="1"/>
          </p:cNvSpPr>
          <p:nvPr/>
        </p:nvSpPr>
        <p:spPr>
          <a:xfrm xmlns:a="http://schemas.openxmlformats.org/drawingml/2006/main">
            <a:off x="904875"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C765E98D-654A-46D8-8611-CC4C798045F3}"/>
              </a:ext>
            </a:extLst>
          </p:cNvPr>
          <p:cNvSpPr>
            <a:spLocks xmlns:a="http://schemas.openxmlformats.org/drawingml/2006/main" noGrp="1"/>
          </p:cNvSpPr>
          <p:nvPr/>
        </p:nvSpPr>
        <p:spPr>
          <a:xfrm xmlns:a="http://schemas.openxmlformats.org/drawingml/2006/main">
            <a:off x="1285875" y="2738628"/>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value == x:</a:t>
            </a:r>
          </a:p>
        </p:txBody>
      </p:sp>
      <p:sp>
        <p:nvSpPr>
          <p:cNvPr id="16" name="text-283.5-81">
            <a:extLst xmlns:a="http://schemas.openxmlformats.org/drawingml/2006/main">
              <a:ext uri="{FF2B5EF4-FFF2-40B4-BE49-F238E27FC236}">
                <a16:creationId xmlns:a16="http://schemas.microsoft.com/office/drawing/2014/main" id="{E547B5FD-10E7-4E62-B47B-28CDD0557656}"/>
              </a:ext>
            </a:extLst>
          </p:cNvPr>
          <p:cNvSpPr>
            <a:spLocks xmlns:a="http://schemas.openxmlformats.org/drawingml/2006/main" noGrp="1"/>
          </p:cNvSpPr>
          <p:nvPr/>
        </p:nvSpPr>
        <p:spPr>
          <a:xfrm xmlns:a="http://schemas.openxmlformats.org/drawingml/2006/main">
            <a:off x="904875"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2FC01A1A-296C-45C3-B5C7-AF82655DF4B3}"/>
              </a:ext>
            </a:extLst>
          </p:cNvPr>
          <p:cNvSpPr>
            <a:spLocks xmlns:a="http://schemas.openxmlformats.org/drawingml/2006/main" noGrp="1"/>
          </p:cNvSpPr>
          <p:nvPr/>
        </p:nvSpPr>
        <p:spPr>
          <a:xfrm xmlns:a="http://schemas.openxmlformats.org/drawingml/2006/main">
            <a:off x="1285875" y="3050667"/>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i</a:t>
            </a:r>
          </a:p>
        </p:txBody>
      </p:sp>
      <p:sp>
        <p:nvSpPr>
          <p:cNvPr id="18" name="text-304-81">
            <a:extLst xmlns:a="http://schemas.openxmlformats.org/drawingml/2006/main">
              <a:ext uri="{FF2B5EF4-FFF2-40B4-BE49-F238E27FC236}">
                <a16:creationId xmlns:a16="http://schemas.microsoft.com/office/drawing/2014/main" id="{DD7BCCBA-27F3-4ACF-8384-E6143AF116A6}"/>
              </a:ext>
            </a:extLst>
          </p:cNvPr>
          <p:cNvSpPr>
            <a:spLocks xmlns:a="http://schemas.openxmlformats.org/drawingml/2006/main" noGrp="1"/>
          </p:cNvSpPr>
          <p:nvPr/>
        </p:nvSpPr>
        <p:spPr>
          <a:xfrm xmlns:a="http://schemas.openxmlformats.org/drawingml/2006/main">
            <a:off x="904875"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742700C3-00C0-4396-9994-DF9D6D8F61CF}"/>
              </a:ext>
            </a:extLst>
          </p:cNvPr>
          <p:cNvSpPr>
            <a:spLocks xmlns:a="http://schemas.openxmlformats.org/drawingml/2006/main" noGrp="1"/>
          </p:cNvSpPr>
          <p:nvPr/>
        </p:nvSpPr>
        <p:spPr>
          <a:xfrm xmlns:a="http://schemas.openxmlformats.org/drawingml/2006/main">
            <a:off x="1285875" y="3362706"/>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-1</a:t>
            </a:r>
          </a:p>
        </p:txBody>
      </p:sp>
      <p:sp>
        <p:nvSpPr>
          <p:cNvPr id="20" name="text-635-64">
            <a:extLst xmlns:a="http://schemas.openxmlformats.org/drawingml/2006/main">
              <a:ext uri="{FF2B5EF4-FFF2-40B4-BE49-F238E27FC236}">
                <a16:creationId xmlns:a16="http://schemas.microsoft.com/office/drawing/2014/main" id="{5C512BB7-AE11-4570-ADF4-8E3876F2A092}"/>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시간 O(n).</a:t>
            </a:r>
          </a:p>
        </p:txBody>
      </p:sp>
    </p:spTree>
    <p:extLst>
      <p:ext uri="{BB962C8B-B14F-4D97-AF65-F5344CB8AC3E}">
        <p14:creationId xmlns:p14="http://schemas.microsoft.com/office/powerpoint/2010/main" val="462685519"/>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28-64">
            <a:extLst xmlns:a="http://schemas.openxmlformats.org/drawingml/2006/main">
              <a:ext uri="{FF2B5EF4-FFF2-40B4-BE49-F238E27FC236}">
                <a16:creationId xmlns:a16="http://schemas.microsoft.com/office/drawing/2014/main" id="{984E5B8A-B8F8-4963-B93A-942934378E7D}"/>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D031115A-99EC-4046-AF83-F73FF10EC50C}"/>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CF8C03FF-480A-4FED-A6EE-36976057AB0F}"/>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91  C 구현</a:t>
            </a:r>
          </a:p>
        </p:txBody>
      </p:sp>
      <p:sp>
        <p:nvSpPr>
          <p:cNvPr id="4" name="">
            <a:extLst xmlns:a="http://schemas.openxmlformats.org/drawingml/2006/main">
              <a:ext uri="{FF2B5EF4-FFF2-40B4-BE49-F238E27FC236}">
                <a16:creationId xmlns:a16="http://schemas.microsoft.com/office/drawing/2014/main" id="{DD3EFD36-1525-45E3-B303-6A5BD4574CB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360660-067B-464C-A177-A839B091BAD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A7571525-AFFC-441A-891B-2961F0D055FD}"/>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263F83C8-4469-4777-AA69-86A1C5D44F17}"/>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184</a:t>
            </a:r>
          </a:p>
        </p:txBody>
      </p:sp>
      <p:sp>
        <p:nvSpPr>
          <p:cNvPr id="8" name="text-163-64">
            <a:extLst xmlns:a="http://schemas.openxmlformats.org/drawingml/2006/main">
              <a:ext uri="{FF2B5EF4-FFF2-40B4-BE49-F238E27FC236}">
                <a16:creationId xmlns:a16="http://schemas.microsoft.com/office/drawing/2014/main" id="{B110C633-A338-40BA-8285-B5EB9F1963BC}"/>
              </a:ext>
            </a:extLst>
          </p:cNvPr>
          <p:cNvSpPr>
            <a:spLocks xmlns:a="http://schemas.openxmlformats.org/drawingml/2006/main" noGrp="1"/>
          </p:cNvSpPr>
          <p:nvPr/>
        </p:nvSpPr>
        <p:spPr>
          <a:xfrm xmlns:a="http://schemas.openxmlformats.org/drawingml/2006/main">
            <a:off x="609600" y="1552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첫 등장 위치</a:t>
            </a:r>
          </a:p>
        </p:txBody>
      </p:sp>
      <p:sp>
        <p:nvSpPr>
          <p:cNvPr id="9" name="">
            <a:extLst xmlns:a="http://schemas.openxmlformats.org/drawingml/2006/main">
              <a:ext uri="{FF2B5EF4-FFF2-40B4-BE49-F238E27FC236}">
                <a16:creationId xmlns:a16="http://schemas.microsoft.com/office/drawing/2014/main" id="{914251CF-8C0C-46F3-8CCA-A983477DC517}"/>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60600369-B8C8-4536-A3B6-DCD98EBC042D}"/>
              </a:ext>
            </a:extLst>
          </p:cNvPr>
          <p:cNvSpPr>
            <a:spLocks xmlns:a="http://schemas.openxmlformats.org/drawingml/2006/main" noGrp="1"/>
          </p:cNvSpPr>
          <p:nvPr/>
        </p:nvSpPr>
        <p:spPr>
          <a:xfrm xmlns:a="http://schemas.openxmlformats.org/drawingml/2006/main">
            <a:off x="904875"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26BE16BD-1213-41EB-A0EF-158DE2467F15}"/>
              </a:ext>
            </a:extLst>
          </p:cNvPr>
          <p:cNvSpPr>
            <a:spLocks xmlns:a="http://schemas.openxmlformats.org/drawingml/2006/main" noGrp="1"/>
          </p:cNvSpPr>
          <p:nvPr/>
        </p:nvSpPr>
        <p:spPr>
          <a:xfrm xmlns:a="http://schemas.openxmlformats.org/drawingml/2006/main">
            <a:off x="1285875" y="211455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int first_index(const int a[], int n, int x) {</a:t>
            </a:r>
          </a:p>
        </p:txBody>
      </p:sp>
      <p:sp>
        <p:nvSpPr>
          <p:cNvPr id="12" name="text-242.5-81">
            <a:extLst xmlns:a="http://schemas.openxmlformats.org/drawingml/2006/main">
              <a:ext uri="{FF2B5EF4-FFF2-40B4-BE49-F238E27FC236}">
                <a16:creationId xmlns:a16="http://schemas.microsoft.com/office/drawing/2014/main" id="{E0935C9D-40CD-47AD-955A-DEC72DBEE8C3}"/>
              </a:ext>
            </a:extLst>
          </p:cNvPr>
          <p:cNvSpPr>
            <a:spLocks xmlns:a="http://schemas.openxmlformats.org/drawingml/2006/main" noGrp="1"/>
          </p:cNvSpPr>
          <p:nvPr/>
        </p:nvSpPr>
        <p:spPr>
          <a:xfrm xmlns:a="http://schemas.openxmlformats.org/drawingml/2006/main">
            <a:off x="904875"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F329EC73-F4DE-49AC-BAE5-D89901A28125}"/>
              </a:ext>
            </a:extLst>
          </p:cNvPr>
          <p:cNvSpPr>
            <a:spLocks xmlns:a="http://schemas.openxmlformats.org/drawingml/2006/main" noGrp="1"/>
          </p:cNvSpPr>
          <p:nvPr/>
        </p:nvSpPr>
        <p:spPr>
          <a:xfrm xmlns:a="http://schemas.openxmlformats.org/drawingml/2006/main">
            <a:off x="1285875" y="2426589"/>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for (int i = 0; i &lt; n; ++i)</a:t>
            </a:r>
          </a:p>
        </p:txBody>
      </p:sp>
      <p:sp>
        <p:nvSpPr>
          <p:cNvPr id="14" name="text-263-81">
            <a:extLst xmlns:a="http://schemas.openxmlformats.org/drawingml/2006/main">
              <a:ext uri="{FF2B5EF4-FFF2-40B4-BE49-F238E27FC236}">
                <a16:creationId xmlns:a16="http://schemas.microsoft.com/office/drawing/2014/main" id="{4D07F288-7EDA-4ABD-BC7F-ADEB3EC9AD84}"/>
              </a:ext>
            </a:extLst>
          </p:cNvPr>
          <p:cNvSpPr>
            <a:spLocks xmlns:a="http://schemas.openxmlformats.org/drawingml/2006/main" noGrp="1"/>
          </p:cNvSpPr>
          <p:nvPr/>
        </p:nvSpPr>
        <p:spPr>
          <a:xfrm xmlns:a="http://schemas.openxmlformats.org/drawingml/2006/main">
            <a:off x="904875"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61CA12AC-8558-4356-BAEB-09DA8BB89501}"/>
              </a:ext>
            </a:extLst>
          </p:cNvPr>
          <p:cNvSpPr>
            <a:spLocks xmlns:a="http://schemas.openxmlformats.org/drawingml/2006/main" noGrp="1"/>
          </p:cNvSpPr>
          <p:nvPr/>
        </p:nvSpPr>
        <p:spPr>
          <a:xfrm xmlns:a="http://schemas.openxmlformats.org/drawingml/2006/main">
            <a:off x="1285875" y="2738628"/>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(a[i] == x) return i;</a:t>
            </a:r>
          </a:p>
        </p:txBody>
      </p:sp>
      <p:sp>
        <p:nvSpPr>
          <p:cNvPr id="16" name="text-283.5-81">
            <a:extLst xmlns:a="http://schemas.openxmlformats.org/drawingml/2006/main">
              <a:ext uri="{FF2B5EF4-FFF2-40B4-BE49-F238E27FC236}">
                <a16:creationId xmlns:a16="http://schemas.microsoft.com/office/drawing/2014/main" id="{27AF3AE4-8654-4887-B8A7-069ED5380662}"/>
              </a:ext>
            </a:extLst>
          </p:cNvPr>
          <p:cNvSpPr>
            <a:spLocks xmlns:a="http://schemas.openxmlformats.org/drawingml/2006/main" noGrp="1"/>
          </p:cNvSpPr>
          <p:nvPr/>
        </p:nvSpPr>
        <p:spPr>
          <a:xfrm xmlns:a="http://schemas.openxmlformats.org/drawingml/2006/main">
            <a:off x="904875"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1E7C43A1-6056-46D7-8292-D7815A165844}"/>
              </a:ext>
            </a:extLst>
          </p:cNvPr>
          <p:cNvSpPr>
            <a:spLocks xmlns:a="http://schemas.openxmlformats.org/drawingml/2006/main" noGrp="1"/>
          </p:cNvSpPr>
          <p:nvPr/>
        </p:nvSpPr>
        <p:spPr>
          <a:xfrm xmlns:a="http://schemas.openxmlformats.org/drawingml/2006/main">
            <a:off x="1285875" y="3050667"/>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-1;</a:t>
            </a:r>
          </a:p>
        </p:txBody>
      </p:sp>
      <p:sp>
        <p:nvSpPr>
          <p:cNvPr id="18" name="text-304-81">
            <a:extLst xmlns:a="http://schemas.openxmlformats.org/drawingml/2006/main">
              <a:ext uri="{FF2B5EF4-FFF2-40B4-BE49-F238E27FC236}">
                <a16:creationId xmlns:a16="http://schemas.microsoft.com/office/drawing/2014/main" id="{A6D40B87-931D-4B7F-811E-C8591A25A2CE}"/>
              </a:ext>
            </a:extLst>
          </p:cNvPr>
          <p:cNvSpPr>
            <a:spLocks xmlns:a="http://schemas.openxmlformats.org/drawingml/2006/main" noGrp="1"/>
          </p:cNvSpPr>
          <p:nvPr/>
        </p:nvSpPr>
        <p:spPr>
          <a:xfrm xmlns:a="http://schemas.openxmlformats.org/drawingml/2006/main">
            <a:off x="904875"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39A647E5-7221-4E56-9A71-F4F8FFC7E082}"/>
              </a:ext>
            </a:extLst>
          </p:cNvPr>
          <p:cNvSpPr>
            <a:spLocks xmlns:a="http://schemas.openxmlformats.org/drawingml/2006/main" noGrp="1"/>
          </p:cNvSpPr>
          <p:nvPr/>
        </p:nvSpPr>
        <p:spPr>
          <a:xfrm xmlns:a="http://schemas.openxmlformats.org/drawingml/2006/main">
            <a:off x="1285875" y="3362706"/>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a:t>
            </a:r>
          </a:p>
        </p:txBody>
      </p:sp>
      <p:sp>
        <p:nvSpPr>
          <p:cNvPr id="20" name="text-635-64">
            <a:extLst xmlns:a="http://schemas.openxmlformats.org/drawingml/2006/main">
              <a:ext uri="{FF2B5EF4-FFF2-40B4-BE49-F238E27FC236}">
                <a16:creationId xmlns:a16="http://schemas.microsoft.com/office/drawing/2014/main" id="{59B12FA8-40D9-401B-BDF0-B65FA1D47173}"/>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시간 O(n).</a:t>
            </a:r>
          </a:p>
        </p:txBody>
      </p:sp>
    </p:spTree>
    <p:extLst>
      <p:ext uri="{BB962C8B-B14F-4D97-AF65-F5344CB8AC3E}">
        <p14:creationId xmlns:p14="http://schemas.microsoft.com/office/powerpoint/2010/main" val="462685519"/>
      </p:ext>
    </p:extLst>
  </p:cSld>
</p:sld>
</file>

<file path=ppt/slides/slide18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994D7A4F-23BF-469B-B4D7-C1A52BD195AA}"/>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a:ext uri="{FF2B5EF4-FFF2-40B4-BE49-F238E27FC236}">
                <ns2:creationId id="{7EC9888C-8BBC-4B5B-B3AE-965438C4620C}"/>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4B3AAAAB-A480-4C91-98D7-83DDA423DEF8}"/>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92  </a:t>
            </a:r>
          </a:p>
        </p:txBody>
      </p:sp>
      <p:sp>
        <p:nvSpPr>
          <p:cNvPr id="4" name="">
            <a:extLst>
              <a:ext uri="{FF2B5EF4-FFF2-40B4-BE49-F238E27FC236}">
                <ns2:creationId id="{660A00D2-EB6A-481B-B9C4-36B73A2383D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5E1AD20-9674-4794-82FB-58FF32E8A24A}"/>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D10BED4A-9319-4D79-8642-8B31F831C90B}"/>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3DF5C2C-2D84-47F2-8701-BDF7EAE577F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185</a:t>
            </a:r>
          </a:p>
        </p:txBody>
      </p:sp>
      <p:sp>
        <p:nvSpPr>
          <p:cNvPr id="8" name="text-178-64">
            <a:extLst>
              <a:ext uri="{FF2B5EF4-FFF2-40B4-BE49-F238E27FC236}">
                <ns2:creationId id="{683B9C99-D37C-4220-B8FC-706460E9E12B}"/>
              </a:ext>
            </a:extLst>
          </p:cNvPr>
          <p:cNvSpPr>
            <a:spLocks noGrp="1"/>
          </p:cNvSpPr>
          <p:nvPr/>
        </p:nvSpPr>
        <p:spPr>
          <a:xfrm>
            <a:off x="609600" y="1695450"/>
            <a:ext cx="10972800" cy="112014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길이 n인 배열 a에는 서로 다른 정수가 오름차순으로 있다. 정수 x의 인덱스(0부터)를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반환하고 없으면 −1을 반환하는 binary_search를 작성하시오. 0≤n≤1000이며 원소와 x는</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C의 int 범위이다.</a:t>
            </a:r>
          </a:p>
        </p:txBody>
      </p:sp>
      <p:sp>
        <p:nvSpPr>
          <p:cNvPr id="9" name="text-405-64">
            <a:extLst>
              <a:ext uri="{FF2B5EF4-FFF2-40B4-BE49-F238E27FC236}">
                <ns2:creationId id="{D344F5F9-EA44-42E2-ADD0-0E37E70244BD}"/>
              </a:ext>
            </a:extLst>
          </p:cNvPr>
          <p:cNvSpPr>
            <a:spLocks noGrp="1"/>
          </p:cNvSpPr>
          <p:nvPr/>
        </p:nvSpPr>
        <p:spPr>
          <a:xfrm>
            <a:off x="609600" y="296799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binary_search(a,x) / C: int binary_search(const int a[],int n,int x)</a:t>
            </a:r>
          </a:p>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또는 C 하나로 함수와 시간 복잡도를 작성하시오. 기본 정수 연산은 O(1)로 센다.</a:t>
            </a:r>
          </a:p>
        </p:txBody>
      </p:sp>
      <p:sp>
        <p:nvSpPr>
          <p:cNvPr id="10" name="">
            <a:extLst>
              <a:ext uri="{FF2B5EF4-FFF2-40B4-BE49-F238E27FC236}">
                <ns2:creationId id="{DA9B48B2-3454-4FD3-B26F-959DEB7669CD}"/>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6A40248E-0D1E-4533-9327-FC03593CF75D}"/>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CC58B6EA-FF5B-4410-B34C-3E8838E0D72D}"/>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1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D0950C2F-C484-41A1-8FF7-D3C4203CCF1B}"/>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FE4A9B81-E9F2-4F9F-96D8-8BE649A9F208}"/>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0919072E-512C-4290-AF74-80C64036BF11}"/>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92  정답과 해설</a:t>
            </a:r>
          </a:p>
        </p:txBody>
      </p:sp>
      <p:sp>
        <p:nvSpPr>
          <p:cNvPr id="4" name="">
            <a:extLst xmlns:a="http://schemas.openxmlformats.org/drawingml/2006/main">
              <a:ext uri="{FF2B5EF4-FFF2-40B4-BE49-F238E27FC236}">
                <a16:creationId xmlns:a16="http://schemas.microsoft.com/office/drawing/2014/main" id="{7056CC67-E5CF-4919-AA10-28A85DA288F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34FDEE-AF16-488C-B8ED-0F898A3CDF3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A2257BD6-7A99-425E-94C8-BCE4BE3F551D}"/>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153BFA94-BECB-4CB5-BE1E-6AF6A39A7930}"/>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186</a:t>
            </a:r>
          </a:p>
        </p:txBody>
      </p:sp>
      <p:sp>
        <p:nvSpPr>
          <p:cNvPr id="8" name="text-178-64">
            <a:extLst xmlns:a="http://schemas.openxmlformats.org/drawingml/2006/main">
              <a:ext uri="{FF2B5EF4-FFF2-40B4-BE49-F238E27FC236}">
                <a16:creationId xmlns:a16="http://schemas.microsoft.com/office/drawing/2014/main" id="{F353B952-13F9-4164-9870-A32730C85782}"/>
              </a:ext>
            </a:extLst>
          </p:cNvPr>
          <p:cNvSpPr>
            <a:spLocks xmlns:a="http://schemas.openxmlformats.org/drawingml/2006/main" noGrp="1"/>
          </p:cNvSpPr>
          <p:nvPr/>
        </p:nvSpPr>
        <p:spPr>
          <a:xfrm xmlns:a="http://schemas.openxmlformats.org/drawingml/2006/main">
            <a:off x="609600" y="169545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이진 탐색</a:t>
            </a:r>
          </a:p>
        </p:txBody>
      </p:sp>
      <p:sp>
        <p:nvSpPr>
          <p:cNvPr id="9" name="">
            <a:extLst xmlns:a="http://schemas.openxmlformats.org/drawingml/2006/main">
              <a:ext uri="{FF2B5EF4-FFF2-40B4-BE49-F238E27FC236}">
                <a16:creationId xmlns:a16="http://schemas.microsoft.com/office/drawing/2014/main" id="{967A460A-5ADA-4BDC-BB01-037BD766448E}"/>
              </a:ext>
            </a:extLst>
          </p:cNvPr>
          <p:cNvSpPr>
            <a:spLocks xmlns:a="http://schemas.openxmlformats.org/drawingml/2006/main" noGrp="1"/>
          </p:cNvSpPr>
          <p:nvPr/>
        </p:nvSpPr>
        <p:spPr>
          <a:xfrm xmlns:a="http://schemas.openxmlformats.org/drawingml/2006/main">
            <a:off x="609600" y="2205990"/>
            <a:ext cx="10972800" cy="65532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956FE5D2-3465-4C97-8CD7-7BDE5481A9DE}"/>
              </a:ext>
            </a:extLst>
          </p:cNvPr>
          <p:cNvSpPr>
            <a:spLocks xmlns:a="http://schemas.openxmlformats.org/drawingml/2006/main" noGrp="1"/>
          </p:cNvSpPr>
          <p:nvPr/>
        </p:nvSpPr>
        <p:spPr>
          <a:xfrm xmlns:a="http://schemas.openxmlformats.org/drawingml/2006/main">
            <a:off x="876300" y="2332990"/>
            <a:ext cx="10439400" cy="452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2025" b="1" i="0">
                <a:solidFill>
                  <a:srgbClr val="FFFFFF"/>
                </a:solidFill>
                <a:latin typeface="Malgun Gothic"/>
                <a:ea typeface="Malgun Gothic"/>
                <a:cs typeface="Malgun Gothic"/>
              </a:defRPr>
              <a:spcBef>
                <a:spcPts val="0"/>
              </a:spcBef>
              <a:spcAft>
                <a:spcPts val="0"/>
              </a:spcAft>
            </a:pPr>
            <a:r>
              <a:rPr sz="2025" b="1" i="0">
                <a:solidFill>
                  <a:srgbClr val="FFFFFF"/>
                </a:solidFill>
                <a:latin typeface="Malgun Gothic"/>
                <a:ea typeface="Malgun Gothic"/>
                <a:cs typeface="Malgun Gothic"/>
              </a:rPr>
              <a:t>양 끝을 포함한 탐색 구간을 유지하며 중간값 비교 후 구간을 줄인다.</a:t>
            </a:r>
          </a:p>
        </p:txBody>
      </p:sp>
      <p:sp>
        <p:nvSpPr>
          <p:cNvPr id="11" name="text-324.4-64">
            <a:extLst xmlns:a="http://schemas.openxmlformats.org/drawingml/2006/main">
              <a:ext uri="{FF2B5EF4-FFF2-40B4-BE49-F238E27FC236}">
                <a16:creationId xmlns:a16="http://schemas.microsoft.com/office/drawing/2014/main" id="{4F040D0F-8D1A-4828-BC47-E2EFDD32B359}"/>
              </a:ext>
            </a:extLst>
          </p:cNvPr>
          <p:cNvSpPr>
            <a:spLocks xmlns:a="http://schemas.openxmlformats.org/drawingml/2006/main" noGrp="1"/>
          </p:cNvSpPr>
          <p:nvPr/>
        </p:nvSpPr>
        <p:spPr>
          <a:xfrm xmlns:a="http://schemas.openxmlformats.org/drawingml/2006/main">
            <a:off x="609600" y="3140710"/>
            <a:ext cx="11811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6BD4C7CC-4695-4443-9FFC-ACEDF0A49EE6}"/>
              </a:ext>
            </a:extLst>
          </p:cNvPr>
          <p:cNvSpPr>
            <a:spLocks xmlns:a="http://schemas.openxmlformats.org/drawingml/2006/main" noGrp="1"/>
          </p:cNvSpPr>
          <p:nvPr/>
        </p:nvSpPr>
        <p:spPr>
          <a:xfrm xmlns:a="http://schemas.openxmlformats.org/drawingml/2006/main">
            <a:off x="1752600" y="335661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3DAA2477-954C-4E66-9E13-9BD26FD1CB21}"/>
              </a:ext>
            </a:extLst>
          </p:cNvPr>
          <p:cNvSpPr>
            <a:spLocks xmlns:a="http://schemas.openxmlformats.org/drawingml/2006/main" noGrp="1"/>
          </p:cNvSpPr>
          <p:nvPr/>
        </p:nvSpPr>
        <p:spPr>
          <a:xfrm xmlns:a="http://schemas.openxmlformats.org/drawingml/2006/main">
            <a:off x="609600" y="3648710"/>
            <a:ext cx="10972800" cy="154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예: [2,5,8,11,14,17,20]에서 17은 인덱스 3, 5를 검사해 찾는다.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중간값이 작으면 lo=mid+1, 크면 hi=mid−1로 검사한 원소도 제외한다.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lo&gt;hi이면 −1. 최악 시간 O(log(n+1)), 추가 공간 Θ(1).</a:t>
            </a:r>
          </a:p>
        </p:txBody>
      </p:sp>
    </p:spTree>
    <p:extLst>
      <p:ext uri="{BB962C8B-B14F-4D97-AF65-F5344CB8AC3E}">
        <p14:creationId xmlns:p14="http://schemas.microsoft.com/office/powerpoint/2010/main" val="462685519"/>
      </p:ext>
    </p:extLst>
  </p:cSld>
</p:sld>
</file>

<file path=ppt/slides/slide1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text-28-64">
            <a:extLst xmlns:a="http://schemas.openxmlformats.org/drawingml/2006/main">
              <a:ext uri="{FF2B5EF4-FFF2-40B4-BE49-F238E27FC236}">
                <a16:creationId xmlns:a16="http://schemas.microsoft.com/office/drawing/2014/main" id="{87D7C7D6-FB4B-43AA-8934-CA489B7C6A36}"/>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791A6957-25F7-48EA-9878-6F856C7CCCA7}"/>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AE430203-D8C2-4EB6-A416-E6A2FB232C71}"/>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defRPr sz="1800">
                <a:solidFill>
                  <a:srgbClr val="5B5B5B"/>
                </a:solidFill>
                <a:latin typeface="Malgun Gothic"/>
                <a:ea typeface="Malgun Gothic"/>
                <a:cs typeface="Malgun Gothic"/>
              </a:defRPr>
              <a:spcBef>
                <a:spcPts val="0"/>
              </a:spcBef>
              <a:spcAft>
                <a:spcPts val="0"/>
              </a:spcAft>
            </a:pPr>
            <a:r>
              <a:rPr sz="3000" b="1" i="0">
                <a:solidFill>
                  <a:srgbClr val="171717"/>
                </a:solidFill>
                <a:latin typeface="Malgun Gothic"/>
                <a:ea typeface="Malgun Gothic"/>
                <a:cs typeface="Malgun Gothic"/>
              </a:rPr>
              <a:t>문제 92  Python 구현</a:t>
            </a:r>
          </a:p>
        </p:txBody>
      </p:sp>
      <p:sp>
        <p:nvSpPr>
          <p:cNvPr id="4" name="">
            <a:extLst xmlns:a="http://schemas.openxmlformats.org/drawingml/2006/main">
              <a:ext uri="{FF2B5EF4-FFF2-40B4-BE49-F238E27FC236}">
                <a16:creationId xmlns:a16="http://schemas.microsoft.com/office/drawing/2014/main" id="{BF6AE8C3-F07B-4EBA-9EDA-61D0009D572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5F22A8-7FCC-48DA-B94D-8BCADBAC20F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5E36486A-9084-4BE9-90B4-AB2FAA0BD461}"/>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50347EB8-F636-4020-AE0B-F702A6757499}"/>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187</a:t>
            </a:r>
          </a:p>
        </p:txBody>
      </p:sp>
      <p:sp>
        <p:nvSpPr>
          <p:cNvPr id="8" name="text-163-64">
            <a:extLst xmlns:a="http://schemas.openxmlformats.org/drawingml/2006/main">
              <a:ext uri="{FF2B5EF4-FFF2-40B4-BE49-F238E27FC236}">
                <a16:creationId xmlns:a16="http://schemas.microsoft.com/office/drawing/2014/main" id="{0381F3DE-9CF0-4AD5-8558-7C2A0C4F23D0}"/>
              </a:ext>
            </a:extLst>
          </p:cNvPr>
          <p:cNvSpPr>
            <a:spLocks xmlns:a="http://schemas.openxmlformats.org/drawingml/2006/main" noGrp="1"/>
          </p:cNvSpPr>
          <p:nvPr/>
        </p:nvSpPr>
        <p:spPr>
          <a:xfrm xmlns:a="http://schemas.openxmlformats.org/drawingml/2006/main">
            <a:off x="609600" y="1552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이진 탐색</a:t>
            </a:r>
          </a:p>
        </p:txBody>
      </p:sp>
      <p:sp>
        <p:nvSpPr>
          <p:cNvPr id="9" name="">
            <a:extLst xmlns:a="http://schemas.openxmlformats.org/drawingml/2006/main">
              <a:ext uri="{FF2B5EF4-FFF2-40B4-BE49-F238E27FC236}">
                <a16:creationId xmlns:a16="http://schemas.microsoft.com/office/drawing/2014/main" id="{30F88B2B-F2BF-41F6-8AC4-A21BFFFB5F65}"/>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0AC73B3B-5815-4804-A4B7-8E3F04FCD710}"/>
              </a:ext>
            </a:extLst>
          </p:cNvPr>
          <p:cNvSpPr>
            <a:spLocks xmlns:a="http://schemas.openxmlformats.org/drawingml/2006/main" noGrp="1"/>
          </p:cNvSpPr>
          <p:nvPr/>
        </p:nvSpPr>
        <p:spPr>
          <a:xfrm xmlns:a="http://schemas.openxmlformats.org/drawingml/2006/main">
            <a:off x="904875"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03307E55-77EB-4F3B-BA03-CBF9F78723DD}"/>
              </a:ext>
            </a:extLst>
          </p:cNvPr>
          <p:cNvSpPr>
            <a:spLocks xmlns:a="http://schemas.openxmlformats.org/drawingml/2006/main" noGrp="1"/>
          </p:cNvSpPr>
          <p:nvPr/>
        </p:nvSpPr>
        <p:spPr>
          <a:xfrm xmlns:a="http://schemas.openxmlformats.org/drawingml/2006/main">
            <a:off x="1285875" y="211455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def binary_search(a, x):</a:t>
            </a:r>
          </a:p>
        </p:txBody>
      </p:sp>
      <p:sp>
        <p:nvSpPr>
          <p:cNvPr id="12" name="text-242.5-81">
            <a:extLst xmlns:a="http://schemas.openxmlformats.org/drawingml/2006/main">
              <a:ext uri="{FF2B5EF4-FFF2-40B4-BE49-F238E27FC236}">
                <a16:creationId xmlns:a16="http://schemas.microsoft.com/office/drawing/2014/main" id="{A51C4442-B727-4D31-850F-6205E9FEBD1E}"/>
              </a:ext>
            </a:extLst>
          </p:cNvPr>
          <p:cNvSpPr>
            <a:spLocks xmlns:a="http://schemas.openxmlformats.org/drawingml/2006/main" noGrp="1"/>
          </p:cNvSpPr>
          <p:nvPr/>
        </p:nvSpPr>
        <p:spPr>
          <a:xfrm xmlns:a="http://schemas.openxmlformats.org/drawingml/2006/main">
            <a:off x="904875"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A28A142C-EB9C-43EF-B587-CF82365D4AE5}"/>
              </a:ext>
            </a:extLst>
          </p:cNvPr>
          <p:cNvSpPr>
            <a:spLocks xmlns:a="http://schemas.openxmlformats.org/drawingml/2006/main" noGrp="1"/>
          </p:cNvSpPr>
          <p:nvPr/>
        </p:nvSpPr>
        <p:spPr>
          <a:xfrm xmlns:a="http://schemas.openxmlformats.org/drawingml/2006/main">
            <a:off x="1285875" y="2426589"/>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lo, hi = 0, len(a) - 1</a:t>
            </a:r>
          </a:p>
        </p:txBody>
      </p:sp>
      <p:sp>
        <p:nvSpPr>
          <p:cNvPr id="14" name="text-263-81">
            <a:extLst xmlns:a="http://schemas.openxmlformats.org/drawingml/2006/main">
              <a:ext uri="{FF2B5EF4-FFF2-40B4-BE49-F238E27FC236}">
                <a16:creationId xmlns:a16="http://schemas.microsoft.com/office/drawing/2014/main" id="{F2AF37F6-4EAE-4CBF-AEF5-9BE340E6445C}"/>
              </a:ext>
            </a:extLst>
          </p:cNvPr>
          <p:cNvSpPr>
            <a:spLocks xmlns:a="http://schemas.openxmlformats.org/drawingml/2006/main" noGrp="1"/>
          </p:cNvSpPr>
          <p:nvPr/>
        </p:nvSpPr>
        <p:spPr>
          <a:xfrm xmlns:a="http://schemas.openxmlformats.org/drawingml/2006/main">
            <a:off x="904875"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BB03C0C1-D7CF-4263-B63D-2ADF7D9CE92F}"/>
              </a:ext>
            </a:extLst>
          </p:cNvPr>
          <p:cNvSpPr>
            <a:spLocks xmlns:a="http://schemas.openxmlformats.org/drawingml/2006/main" noGrp="1"/>
          </p:cNvSpPr>
          <p:nvPr/>
        </p:nvSpPr>
        <p:spPr>
          <a:xfrm xmlns:a="http://schemas.openxmlformats.org/drawingml/2006/main">
            <a:off x="1285875" y="2738628"/>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while lo &lt;= hi:</a:t>
            </a:r>
          </a:p>
        </p:txBody>
      </p:sp>
      <p:sp>
        <p:nvSpPr>
          <p:cNvPr id="16" name="text-283.5-81">
            <a:extLst xmlns:a="http://schemas.openxmlformats.org/drawingml/2006/main">
              <a:ext uri="{FF2B5EF4-FFF2-40B4-BE49-F238E27FC236}">
                <a16:creationId xmlns:a16="http://schemas.microsoft.com/office/drawing/2014/main" id="{7E91B19A-1769-4F57-8F6C-BFF4006FC32D}"/>
              </a:ext>
            </a:extLst>
          </p:cNvPr>
          <p:cNvSpPr>
            <a:spLocks xmlns:a="http://schemas.openxmlformats.org/drawingml/2006/main" noGrp="1"/>
          </p:cNvSpPr>
          <p:nvPr/>
        </p:nvSpPr>
        <p:spPr>
          <a:xfrm xmlns:a="http://schemas.openxmlformats.org/drawingml/2006/main">
            <a:off x="904875"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5F85FB31-5B53-4EA0-BCB5-CE228E1541C5}"/>
              </a:ext>
            </a:extLst>
          </p:cNvPr>
          <p:cNvSpPr>
            <a:spLocks xmlns:a="http://schemas.openxmlformats.org/drawingml/2006/main" noGrp="1"/>
          </p:cNvSpPr>
          <p:nvPr/>
        </p:nvSpPr>
        <p:spPr>
          <a:xfrm xmlns:a="http://schemas.openxmlformats.org/drawingml/2006/main">
            <a:off x="1285875" y="3050667"/>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mid = lo + (hi - lo) // 2</a:t>
            </a:r>
          </a:p>
        </p:txBody>
      </p:sp>
      <p:sp>
        <p:nvSpPr>
          <p:cNvPr id="18" name="text-304-81">
            <a:extLst xmlns:a="http://schemas.openxmlformats.org/drawingml/2006/main">
              <a:ext uri="{FF2B5EF4-FFF2-40B4-BE49-F238E27FC236}">
                <a16:creationId xmlns:a16="http://schemas.microsoft.com/office/drawing/2014/main" id="{5071DB6C-4230-449C-8CFD-E7DC27CD884C}"/>
              </a:ext>
            </a:extLst>
          </p:cNvPr>
          <p:cNvSpPr>
            <a:spLocks xmlns:a="http://schemas.openxmlformats.org/drawingml/2006/main" noGrp="1"/>
          </p:cNvSpPr>
          <p:nvPr/>
        </p:nvSpPr>
        <p:spPr>
          <a:xfrm xmlns:a="http://schemas.openxmlformats.org/drawingml/2006/main">
            <a:off x="904875"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CDDF2A1A-0F8F-49C1-AE77-8AB468D53BFD}"/>
              </a:ext>
            </a:extLst>
          </p:cNvPr>
          <p:cNvSpPr>
            <a:spLocks xmlns:a="http://schemas.openxmlformats.org/drawingml/2006/main" noGrp="1"/>
          </p:cNvSpPr>
          <p:nvPr/>
        </p:nvSpPr>
        <p:spPr>
          <a:xfrm xmlns:a="http://schemas.openxmlformats.org/drawingml/2006/main">
            <a:off x="1285875" y="3362706"/>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a[mid] == x:</a:t>
            </a:r>
          </a:p>
        </p:txBody>
      </p:sp>
      <p:sp>
        <p:nvSpPr>
          <p:cNvPr id="20" name="text-324.5-81">
            <a:extLst xmlns:a="http://schemas.openxmlformats.org/drawingml/2006/main">
              <a:ext uri="{FF2B5EF4-FFF2-40B4-BE49-F238E27FC236}">
                <a16:creationId xmlns:a16="http://schemas.microsoft.com/office/drawing/2014/main" id="{F4421F15-A285-467D-B921-EF6263AA6EE1}"/>
              </a:ext>
            </a:extLst>
          </p:cNvPr>
          <p:cNvSpPr>
            <a:spLocks xmlns:a="http://schemas.openxmlformats.org/drawingml/2006/main" noGrp="1"/>
          </p:cNvSpPr>
          <p:nvPr/>
        </p:nvSpPr>
        <p:spPr>
          <a:xfrm xmlns:a="http://schemas.openxmlformats.org/drawingml/2006/main">
            <a:off x="904875"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xmlns:a="http://schemas.openxmlformats.org/drawingml/2006/main">
              <a:ext uri="{FF2B5EF4-FFF2-40B4-BE49-F238E27FC236}">
                <a16:creationId xmlns:a16="http://schemas.microsoft.com/office/drawing/2014/main" id="{DDC86486-CB50-4851-A539-064268B80EFC}"/>
              </a:ext>
            </a:extLst>
          </p:cNvPr>
          <p:cNvSpPr>
            <a:spLocks xmlns:a="http://schemas.openxmlformats.org/drawingml/2006/main" noGrp="1"/>
          </p:cNvSpPr>
          <p:nvPr/>
        </p:nvSpPr>
        <p:spPr>
          <a:xfrm xmlns:a="http://schemas.openxmlformats.org/drawingml/2006/main">
            <a:off x="1285875" y="3674745"/>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mid</a:t>
            </a:r>
          </a:p>
        </p:txBody>
      </p:sp>
      <p:sp>
        <p:nvSpPr>
          <p:cNvPr id="22" name="text-345-81">
            <a:extLst xmlns:a="http://schemas.openxmlformats.org/drawingml/2006/main">
              <a:ext uri="{FF2B5EF4-FFF2-40B4-BE49-F238E27FC236}">
                <a16:creationId xmlns:a16="http://schemas.microsoft.com/office/drawing/2014/main" id="{5E82649A-4C3D-4280-A33F-A8B1AC90D420}"/>
              </a:ext>
            </a:extLst>
          </p:cNvPr>
          <p:cNvSpPr>
            <a:spLocks xmlns:a="http://schemas.openxmlformats.org/drawingml/2006/main" noGrp="1"/>
          </p:cNvSpPr>
          <p:nvPr/>
        </p:nvSpPr>
        <p:spPr>
          <a:xfrm xmlns:a="http://schemas.openxmlformats.org/drawingml/2006/main">
            <a:off x="904875"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xmlns:a="http://schemas.openxmlformats.org/drawingml/2006/main">
              <a:ext uri="{FF2B5EF4-FFF2-40B4-BE49-F238E27FC236}">
                <a16:creationId xmlns:a16="http://schemas.microsoft.com/office/drawing/2014/main" id="{906F2234-B4C7-4261-879D-58090B3EC8A9}"/>
              </a:ext>
            </a:extLst>
          </p:cNvPr>
          <p:cNvSpPr>
            <a:spLocks xmlns:a="http://schemas.openxmlformats.org/drawingml/2006/main" noGrp="1"/>
          </p:cNvSpPr>
          <p:nvPr/>
        </p:nvSpPr>
        <p:spPr>
          <a:xfrm xmlns:a="http://schemas.openxmlformats.org/drawingml/2006/main">
            <a:off x="1285875" y="3986784"/>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a[mid] &lt; x:</a:t>
            </a:r>
          </a:p>
        </p:txBody>
      </p:sp>
      <p:sp>
        <p:nvSpPr>
          <p:cNvPr id="24" name="text-365.5-81">
            <a:extLst xmlns:a="http://schemas.openxmlformats.org/drawingml/2006/main">
              <a:ext uri="{FF2B5EF4-FFF2-40B4-BE49-F238E27FC236}">
                <a16:creationId xmlns:a16="http://schemas.microsoft.com/office/drawing/2014/main" id="{629CEC8A-5D72-4E39-85C9-6BD0E0C8C816}"/>
              </a:ext>
            </a:extLst>
          </p:cNvPr>
          <p:cNvSpPr>
            <a:spLocks xmlns:a="http://schemas.openxmlformats.org/drawingml/2006/main" noGrp="1"/>
          </p:cNvSpPr>
          <p:nvPr/>
        </p:nvSpPr>
        <p:spPr>
          <a:xfrm xmlns:a="http://schemas.openxmlformats.org/drawingml/2006/main">
            <a:off x="904875" y="4336923"/>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08</a:t>
            </a:r>
          </a:p>
        </p:txBody>
      </p:sp>
      <p:sp>
        <p:nvSpPr>
          <p:cNvPr id="25" name="text-365.5-135">
            <a:extLst xmlns:a="http://schemas.openxmlformats.org/drawingml/2006/main">
              <a:ext uri="{FF2B5EF4-FFF2-40B4-BE49-F238E27FC236}">
                <a16:creationId xmlns:a16="http://schemas.microsoft.com/office/drawing/2014/main" id="{BF558927-6888-4ED0-8428-55E7E667A4D1}"/>
              </a:ext>
            </a:extLst>
          </p:cNvPr>
          <p:cNvSpPr>
            <a:spLocks xmlns:a="http://schemas.openxmlformats.org/drawingml/2006/main" noGrp="1"/>
          </p:cNvSpPr>
          <p:nvPr/>
        </p:nvSpPr>
        <p:spPr>
          <a:xfrm xmlns:a="http://schemas.openxmlformats.org/drawingml/2006/main">
            <a:off x="1285875" y="4298823"/>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lo = mid + 1</a:t>
            </a:r>
          </a:p>
        </p:txBody>
      </p:sp>
      <p:sp>
        <p:nvSpPr>
          <p:cNvPr id="26" name="text-386-81">
            <a:extLst xmlns:a="http://schemas.openxmlformats.org/drawingml/2006/main">
              <a:ext uri="{FF2B5EF4-FFF2-40B4-BE49-F238E27FC236}">
                <a16:creationId xmlns:a16="http://schemas.microsoft.com/office/drawing/2014/main" id="{7DAAD6F4-2000-4D16-A780-D6DFA396DE9F}"/>
              </a:ext>
            </a:extLst>
          </p:cNvPr>
          <p:cNvSpPr>
            <a:spLocks xmlns:a="http://schemas.openxmlformats.org/drawingml/2006/main" noGrp="1"/>
          </p:cNvSpPr>
          <p:nvPr/>
        </p:nvSpPr>
        <p:spPr>
          <a:xfrm xmlns:a="http://schemas.openxmlformats.org/drawingml/2006/main">
            <a:off x="904875" y="4648962"/>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09</a:t>
            </a:r>
          </a:p>
        </p:txBody>
      </p:sp>
      <p:sp>
        <p:nvSpPr>
          <p:cNvPr id="27" name="text-386-135">
            <a:extLst xmlns:a="http://schemas.openxmlformats.org/drawingml/2006/main">
              <a:ext uri="{FF2B5EF4-FFF2-40B4-BE49-F238E27FC236}">
                <a16:creationId xmlns:a16="http://schemas.microsoft.com/office/drawing/2014/main" id="{05CFA954-03D9-40A0-ADCE-5DE90B1CC51E}"/>
              </a:ext>
            </a:extLst>
          </p:cNvPr>
          <p:cNvSpPr>
            <a:spLocks xmlns:a="http://schemas.openxmlformats.org/drawingml/2006/main" noGrp="1"/>
          </p:cNvSpPr>
          <p:nvPr/>
        </p:nvSpPr>
        <p:spPr>
          <a:xfrm xmlns:a="http://schemas.openxmlformats.org/drawingml/2006/main">
            <a:off x="1285875" y="4610862"/>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else:</a:t>
            </a:r>
          </a:p>
        </p:txBody>
      </p:sp>
      <p:sp>
        <p:nvSpPr>
          <p:cNvPr id="28" name="text-406.5-81">
            <a:extLst xmlns:a="http://schemas.openxmlformats.org/drawingml/2006/main">
              <a:ext uri="{FF2B5EF4-FFF2-40B4-BE49-F238E27FC236}">
                <a16:creationId xmlns:a16="http://schemas.microsoft.com/office/drawing/2014/main" id="{FAC54847-137E-4C1F-BAE6-740F92E393CB}"/>
              </a:ext>
            </a:extLst>
          </p:cNvPr>
          <p:cNvSpPr>
            <a:spLocks xmlns:a="http://schemas.openxmlformats.org/drawingml/2006/main" noGrp="1"/>
          </p:cNvSpPr>
          <p:nvPr/>
        </p:nvSpPr>
        <p:spPr>
          <a:xfrm xmlns:a="http://schemas.openxmlformats.org/drawingml/2006/main">
            <a:off x="904875" y="4961001"/>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10</a:t>
            </a:r>
          </a:p>
        </p:txBody>
      </p:sp>
      <p:sp>
        <p:nvSpPr>
          <p:cNvPr id="29" name="text-406.5-135">
            <a:extLst xmlns:a="http://schemas.openxmlformats.org/drawingml/2006/main">
              <a:ext uri="{FF2B5EF4-FFF2-40B4-BE49-F238E27FC236}">
                <a16:creationId xmlns:a16="http://schemas.microsoft.com/office/drawing/2014/main" id="{31DECEB5-5317-467F-B5A7-4224FBF4A01F}"/>
              </a:ext>
            </a:extLst>
          </p:cNvPr>
          <p:cNvSpPr>
            <a:spLocks xmlns:a="http://schemas.openxmlformats.org/drawingml/2006/main" noGrp="1"/>
          </p:cNvSpPr>
          <p:nvPr/>
        </p:nvSpPr>
        <p:spPr>
          <a:xfrm xmlns:a="http://schemas.openxmlformats.org/drawingml/2006/main">
            <a:off x="1285875" y="4922901"/>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hi = mid - 1</a:t>
            </a:r>
          </a:p>
        </p:txBody>
      </p:sp>
      <p:sp>
        <p:nvSpPr>
          <p:cNvPr id="30" name="text-427-81">
            <a:extLst xmlns:a="http://schemas.openxmlformats.org/drawingml/2006/main">
              <a:ext uri="{FF2B5EF4-FFF2-40B4-BE49-F238E27FC236}">
                <a16:creationId xmlns:a16="http://schemas.microsoft.com/office/drawing/2014/main" id="{80B04F96-1ADD-4634-A969-6F31A67BF472}"/>
              </a:ext>
            </a:extLst>
          </p:cNvPr>
          <p:cNvSpPr>
            <a:spLocks xmlns:a="http://schemas.openxmlformats.org/drawingml/2006/main" noGrp="1"/>
          </p:cNvSpPr>
          <p:nvPr/>
        </p:nvSpPr>
        <p:spPr>
          <a:xfrm xmlns:a="http://schemas.openxmlformats.org/drawingml/2006/main">
            <a:off x="904875" y="527304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11</a:t>
            </a:r>
          </a:p>
        </p:txBody>
      </p:sp>
      <p:sp>
        <p:nvSpPr>
          <p:cNvPr id="31" name="text-427-135">
            <a:extLst xmlns:a="http://schemas.openxmlformats.org/drawingml/2006/main">
              <a:ext uri="{FF2B5EF4-FFF2-40B4-BE49-F238E27FC236}">
                <a16:creationId xmlns:a16="http://schemas.microsoft.com/office/drawing/2014/main" id="{106F241B-2CC2-4B7D-A68C-5DB6E58C6AEF}"/>
              </a:ext>
            </a:extLst>
          </p:cNvPr>
          <p:cNvSpPr>
            <a:spLocks xmlns:a="http://schemas.openxmlformats.org/drawingml/2006/main" noGrp="1"/>
          </p:cNvSpPr>
          <p:nvPr/>
        </p:nvSpPr>
        <p:spPr>
          <a:xfrm xmlns:a="http://schemas.openxmlformats.org/drawingml/2006/main">
            <a:off x="1285875" y="523494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-1</a:t>
            </a:r>
          </a:p>
        </p:txBody>
      </p:sp>
      <p:sp>
        <p:nvSpPr>
          <p:cNvPr id="32" name="text-635-64">
            <a:extLst xmlns:a="http://schemas.openxmlformats.org/drawingml/2006/main">
              <a:ext uri="{FF2B5EF4-FFF2-40B4-BE49-F238E27FC236}">
                <a16:creationId xmlns:a16="http://schemas.microsoft.com/office/drawing/2014/main" id="{74B9D561-4899-4275-8427-469FE1952407}"/>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시간 O(log(n+1)).</a:t>
            </a:r>
          </a:p>
        </p:txBody>
      </p:sp>
    </p:spTree>
    <p:extLst>
      <p:ext uri="{BB962C8B-B14F-4D97-AF65-F5344CB8AC3E}">
        <p14:creationId xmlns:p14="http://schemas.microsoft.com/office/powerpoint/2010/main" val="462685519"/>
      </p:ext>
    </p:extLst>
  </p:cSld>
</p:sld>
</file>

<file path=ppt/slides/slide1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28-64">
            <a:extLst xmlns:a="http://schemas.openxmlformats.org/drawingml/2006/main">
              <a:ext uri="{FF2B5EF4-FFF2-40B4-BE49-F238E27FC236}">
                <a16:creationId xmlns:a16="http://schemas.microsoft.com/office/drawing/2014/main" id="{3FC9FE73-8EEE-4784-88AA-1A4DBA0BA429}"/>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3991350E-23A7-46BA-B826-EC38BEE2422B}"/>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8294B8D3-AF93-4FFD-9F38-0E5EA807F979}"/>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92  C 구현</a:t>
            </a:r>
          </a:p>
        </p:txBody>
      </p:sp>
      <p:sp>
        <p:nvSpPr>
          <p:cNvPr id="4" name="">
            <a:extLst xmlns:a="http://schemas.openxmlformats.org/drawingml/2006/main">
              <a:ext uri="{FF2B5EF4-FFF2-40B4-BE49-F238E27FC236}">
                <a16:creationId xmlns:a16="http://schemas.microsoft.com/office/drawing/2014/main" id="{17EDC2D7-AEEE-45DF-BBEC-EA0FC3702D6B}"/>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E1FF6A-33E8-4D23-A9E2-637CE96AED0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B7725F2F-CF3A-42B5-A741-B3F706606A32}"/>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6F5567D4-2FF5-4BA1-8222-6EC32463764E}"/>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188</a:t>
            </a:r>
          </a:p>
        </p:txBody>
      </p:sp>
      <p:sp>
        <p:nvSpPr>
          <p:cNvPr id="8" name="text-163-64">
            <a:extLst xmlns:a="http://schemas.openxmlformats.org/drawingml/2006/main">
              <a:ext uri="{FF2B5EF4-FFF2-40B4-BE49-F238E27FC236}">
                <a16:creationId xmlns:a16="http://schemas.microsoft.com/office/drawing/2014/main" id="{70431F19-4D8C-4540-9AEB-118649AC37B8}"/>
              </a:ext>
            </a:extLst>
          </p:cNvPr>
          <p:cNvSpPr>
            <a:spLocks xmlns:a="http://schemas.openxmlformats.org/drawingml/2006/main" noGrp="1"/>
          </p:cNvSpPr>
          <p:nvPr/>
        </p:nvSpPr>
        <p:spPr>
          <a:xfrm xmlns:a="http://schemas.openxmlformats.org/drawingml/2006/main">
            <a:off x="609600" y="1552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이진 탐색</a:t>
            </a:r>
          </a:p>
        </p:txBody>
      </p:sp>
      <p:sp>
        <p:nvSpPr>
          <p:cNvPr id="9" name="">
            <a:extLst xmlns:a="http://schemas.openxmlformats.org/drawingml/2006/main">
              <a:ext uri="{FF2B5EF4-FFF2-40B4-BE49-F238E27FC236}">
                <a16:creationId xmlns:a16="http://schemas.microsoft.com/office/drawing/2014/main" id="{1557B673-AEA3-4F2E-AF73-3E17E361F623}"/>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684530EB-ABB0-40DB-8433-F4E6B13460BE}"/>
              </a:ext>
            </a:extLst>
          </p:cNvPr>
          <p:cNvSpPr>
            <a:spLocks xmlns:a="http://schemas.openxmlformats.org/drawingml/2006/main" noGrp="1"/>
          </p:cNvSpPr>
          <p:nvPr/>
        </p:nvSpPr>
        <p:spPr>
          <a:xfrm xmlns:a="http://schemas.openxmlformats.org/drawingml/2006/main">
            <a:off x="904875"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90250BFA-F282-42F3-9973-2DACDFEBB48A}"/>
              </a:ext>
            </a:extLst>
          </p:cNvPr>
          <p:cNvSpPr>
            <a:spLocks xmlns:a="http://schemas.openxmlformats.org/drawingml/2006/main" noGrp="1"/>
          </p:cNvSpPr>
          <p:nvPr/>
        </p:nvSpPr>
        <p:spPr>
          <a:xfrm xmlns:a="http://schemas.openxmlformats.org/drawingml/2006/main">
            <a:off x="1285875" y="211455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int binary_search(const int a[], int n, int x) {</a:t>
            </a:r>
          </a:p>
        </p:txBody>
      </p:sp>
      <p:sp>
        <p:nvSpPr>
          <p:cNvPr id="12" name="text-242.5-81">
            <a:extLst xmlns:a="http://schemas.openxmlformats.org/drawingml/2006/main">
              <a:ext uri="{FF2B5EF4-FFF2-40B4-BE49-F238E27FC236}">
                <a16:creationId xmlns:a16="http://schemas.microsoft.com/office/drawing/2014/main" id="{9BE967FF-FAF2-4BB9-89AA-3092E035E68F}"/>
              </a:ext>
            </a:extLst>
          </p:cNvPr>
          <p:cNvSpPr>
            <a:spLocks xmlns:a="http://schemas.openxmlformats.org/drawingml/2006/main" noGrp="1"/>
          </p:cNvSpPr>
          <p:nvPr/>
        </p:nvSpPr>
        <p:spPr>
          <a:xfrm xmlns:a="http://schemas.openxmlformats.org/drawingml/2006/main">
            <a:off x="904875"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023189AF-F2F2-4912-B421-026E8AE219C5}"/>
              </a:ext>
            </a:extLst>
          </p:cNvPr>
          <p:cNvSpPr>
            <a:spLocks xmlns:a="http://schemas.openxmlformats.org/drawingml/2006/main" noGrp="1"/>
          </p:cNvSpPr>
          <p:nvPr/>
        </p:nvSpPr>
        <p:spPr>
          <a:xfrm xmlns:a="http://schemas.openxmlformats.org/drawingml/2006/main">
            <a:off x="1285875" y="2426589"/>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int lo = 0, hi = n - 1;</a:t>
            </a:r>
          </a:p>
        </p:txBody>
      </p:sp>
      <p:sp>
        <p:nvSpPr>
          <p:cNvPr id="14" name="text-263-81">
            <a:extLst xmlns:a="http://schemas.openxmlformats.org/drawingml/2006/main">
              <a:ext uri="{FF2B5EF4-FFF2-40B4-BE49-F238E27FC236}">
                <a16:creationId xmlns:a16="http://schemas.microsoft.com/office/drawing/2014/main" id="{F6511A18-FC0E-4A28-8A8C-F208B9484D6B}"/>
              </a:ext>
            </a:extLst>
          </p:cNvPr>
          <p:cNvSpPr>
            <a:spLocks xmlns:a="http://schemas.openxmlformats.org/drawingml/2006/main" noGrp="1"/>
          </p:cNvSpPr>
          <p:nvPr/>
        </p:nvSpPr>
        <p:spPr>
          <a:xfrm xmlns:a="http://schemas.openxmlformats.org/drawingml/2006/main">
            <a:off x="904875"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17B651C7-73AD-4B6B-8FB5-AF2EBFC3841C}"/>
              </a:ext>
            </a:extLst>
          </p:cNvPr>
          <p:cNvSpPr>
            <a:spLocks xmlns:a="http://schemas.openxmlformats.org/drawingml/2006/main" noGrp="1"/>
          </p:cNvSpPr>
          <p:nvPr/>
        </p:nvSpPr>
        <p:spPr>
          <a:xfrm xmlns:a="http://schemas.openxmlformats.org/drawingml/2006/main">
            <a:off x="1285875" y="2738628"/>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while (lo &lt;= hi) {</a:t>
            </a:r>
          </a:p>
        </p:txBody>
      </p:sp>
      <p:sp>
        <p:nvSpPr>
          <p:cNvPr id="16" name="text-283.5-81">
            <a:extLst xmlns:a="http://schemas.openxmlformats.org/drawingml/2006/main">
              <a:ext uri="{FF2B5EF4-FFF2-40B4-BE49-F238E27FC236}">
                <a16:creationId xmlns:a16="http://schemas.microsoft.com/office/drawing/2014/main" id="{2A144DE1-77E5-4C7F-9D00-E69F1896D5DB}"/>
              </a:ext>
            </a:extLst>
          </p:cNvPr>
          <p:cNvSpPr>
            <a:spLocks xmlns:a="http://schemas.openxmlformats.org/drawingml/2006/main" noGrp="1"/>
          </p:cNvSpPr>
          <p:nvPr/>
        </p:nvSpPr>
        <p:spPr>
          <a:xfrm xmlns:a="http://schemas.openxmlformats.org/drawingml/2006/main">
            <a:off x="904875"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F8E6A3CB-4111-40C2-B845-8252D0974842}"/>
              </a:ext>
            </a:extLst>
          </p:cNvPr>
          <p:cNvSpPr>
            <a:spLocks xmlns:a="http://schemas.openxmlformats.org/drawingml/2006/main" noGrp="1"/>
          </p:cNvSpPr>
          <p:nvPr/>
        </p:nvSpPr>
        <p:spPr>
          <a:xfrm xmlns:a="http://schemas.openxmlformats.org/drawingml/2006/main">
            <a:off x="1285875" y="3050667"/>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int mid = lo + (hi - lo) / 2;</a:t>
            </a:r>
          </a:p>
        </p:txBody>
      </p:sp>
      <p:sp>
        <p:nvSpPr>
          <p:cNvPr id="18" name="text-304-81">
            <a:extLst xmlns:a="http://schemas.openxmlformats.org/drawingml/2006/main">
              <a:ext uri="{FF2B5EF4-FFF2-40B4-BE49-F238E27FC236}">
                <a16:creationId xmlns:a16="http://schemas.microsoft.com/office/drawing/2014/main" id="{1AFB439B-B199-437E-803C-0AD0B6F7DED9}"/>
              </a:ext>
            </a:extLst>
          </p:cNvPr>
          <p:cNvSpPr>
            <a:spLocks xmlns:a="http://schemas.openxmlformats.org/drawingml/2006/main" noGrp="1"/>
          </p:cNvSpPr>
          <p:nvPr/>
        </p:nvSpPr>
        <p:spPr>
          <a:xfrm xmlns:a="http://schemas.openxmlformats.org/drawingml/2006/main">
            <a:off x="904875"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51D6F367-D0E1-4EF5-A50B-98036859D5B9}"/>
              </a:ext>
            </a:extLst>
          </p:cNvPr>
          <p:cNvSpPr>
            <a:spLocks xmlns:a="http://schemas.openxmlformats.org/drawingml/2006/main" noGrp="1"/>
          </p:cNvSpPr>
          <p:nvPr/>
        </p:nvSpPr>
        <p:spPr>
          <a:xfrm xmlns:a="http://schemas.openxmlformats.org/drawingml/2006/main">
            <a:off x="1285875" y="3362706"/>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(a[mid] == x) return mid;</a:t>
            </a:r>
          </a:p>
        </p:txBody>
      </p:sp>
      <p:sp>
        <p:nvSpPr>
          <p:cNvPr id="20" name="text-324.5-81">
            <a:extLst xmlns:a="http://schemas.openxmlformats.org/drawingml/2006/main">
              <a:ext uri="{FF2B5EF4-FFF2-40B4-BE49-F238E27FC236}">
                <a16:creationId xmlns:a16="http://schemas.microsoft.com/office/drawing/2014/main" id="{B982149E-F8E5-4332-AC83-F1DC92E6E6A3}"/>
              </a:ext>
            </a:extLst>
          </p:cNvPr>
          <p:cNvSpPr>
            <a:spLocks xmlns:a="http://schemas.openxmlformats.org/drawingml/2006/main" noGrp="1"/>
          </p:cNvSpPr>
          <p:nvPr/>
        </p:nvSpPr>
        <p:spPr>
          <a:xfrm xmlns:a="http://schemas.openxmlformats.org/drawingml/2006/main">
            <a:off x="904875"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xmlns:a="http://schemas.openxmlformats.org/drawingml/2006/main">
              <a:ext uri="{FF2B5EF4-FFF2-40B4-BE49-F238E27FC236}">
                <a16:creationId xmlns:a16="http://schemas.microsoft.com/office/drawing/2014/main" id="{52CC5644-7E35-47B6-B01F-AE407C35ED74}"/>
              </a:ext>
            </a:extLst>
          </p:cNvPr>
          <p:cNvSpPr>
            <a:spLocks xmlns:a="http://schemas.openxmlformats.org/drawingml/2006/main" noGrp="1"/>
          </p:cNvSpPr>
          <p:nvPr/>
        </p:nvSpPr>
        <p:spPr>
          <a:xfrm xmlns:a="http://schemas.openxmlformats.org/drawingml/2006/main">
            <a:off x="1285875" y="3674745"/>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(a[mid] &lt; x) lo = mid + 1;</a:t>
            </a:r>
          </a:p>
        </p:txBody>
      </p:sp>
      <p:sp>
        <p:nvSpPr>
          <p:cNvPr id="22" name="text-345-81">
            <a:extLst xmlns:a="http://schemas.openxmlformats.org/drawingml/2006/main">
              <a:ext uri="{FF2B5EF4-FFF2-40B4-BE49-F238E27FC236}">
                <a16:creationId xmlns:a16="http://schemas.microsoft.com/office/drawing/2014/main" id="{B64EF755-56D3-4B99-9BC6-98C16C00EC7E}"/>
              </a:ext>
            </a:extLst>
          </p:cNvPr>
          <p:cNvSpPr>
            <a:spLocks xmlns:a="http://schemas.openxmlformats.org/drawingml/2006/main" noGrp="1"/>
          </p:cNvSpPr>
          <p:nvPr/>
        </p:nvSpPr>
        <p:spPr>
          <a:xfrm xmlns:a="http://schemas.openxmlformats.org/drawingml/2006/main">
            <a:off x="904875"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xmlns:a="http://schemas.openxmlformats.org/drawingml/2006/main">
              <a:ext uri="{FF2B5EF4-FFF2-40B4-BE49-F238E27FC236}">
                <a16:creationId xmlns:a16="http://schemas.microsoft.com/office/drawing/2014/main" id="{4A9DAADE-B67A-4F14-9949-D4BE4A7FF363}"/>
              </a:ext>
            </a:extLst>
          </p:cNvPr>
          <p:cNvSpPr>
            <a:spLocks xmlns:a="http://schemas.openxmlformats.org/drawingml/2006/main" noGrp="1"/>
          </p:cNvSpPr>
          <p:nvPr/>
        </p:nvSpPr>
        <p:spPr>
          <a:xfrm xmlns:a="http://schemas.openxmlformats.org/drawingml/2006/main">
            <a:off x="1285875" y="3986784"/>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else hi = mid - 1;</a:t>
            </a:r>
          </a:p>
        </p:txBody>
      </p:sp>
      <p:sp>
        <p:nvSpPr>
          <p:cNvPr id="24" name="text-365.5-81">
            <a:extLst xmlns:a="http://schemas.openxmlformats.org/drawingml/2006/main">
              <a:ext uri="{FF2B5EF4-FFF2-40B4-BE49-F238E27FC236}">
                <a16:creationId xmlns:a16="http://schemas.microsoft.com/office/drawing/2014/main" id="{4A149610-6A39-4AAC-B7D8-11EB9062B397}"/>
              </a:ext>
            </a:extLst>
          </p:cNvPr>
          <p:cNvSpPr>
            <a:spLocks xmlns:a="http://schemas.openxmlformats.org/drawingml/2006/main" noGrp="1"/>
          </p:cNvSpPr>
          <p:nvPr/>
        </p:nvSpPr>
        <p:spPr>
          <a:xfrm xmlns:a="http://schemas.openxmlformats.org/drawingml/2006/main">
            <a:off x="904875" y="4336923"/>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08</a:t>
            </a:r>
          </a:p>
        </p:txBody>
      </p:sp>
      <p:sp>
        <p:nvSpPr>
          <p:cNvPr id="25" name="text-365.5-135">
            <a:extLst xmlns:a="http://schemas.openxmlformats.org/drawingml/2006/main">
              <a:ext uri="{FF2B5EF4-FFF2-40B4-BE49-F238E27FC236}">
                <a16:creationId xmlns:a16="http://schemas.microsoft.com/office/drawing/2014/main" id="{050530BE-2866-44ED-BA15-47B7EED5DBD7}"/>
              </a:ext>
            </a:extLst>
          </p:cNvPr>
          <p:cNvSpPr>
            <a:spLocks xmlns:a="http://schemas.openxmlformats.org/drawingml/2006/main" noGrp="1"/>
          </p:cNvSpPr>
          <p:nvPr/>
        </p:nvSpPr>
        <p:spPr>
          <a:xfrm xmlns:a="http://schemas.openxmlformats.org/drawingml/2006/main">
            <a:off x="1285875" y="4298823"/>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t>
            </a:r>
          </a:p>
        </p:txBody>
      </p:sp>
      <p:sp>
        <p:nvSpPr>
          <p:cNvPr id="26" name="text-386-81">
            <a:extLst xmlns:a="http://schemas.openxmlformats.org/drawingml/2006/main">
              <a:ext uri="{FF2B5EF4-FFF2-40B4-BE49-F238E27FC236}">
                <a16:creationId xmlns:a16="http://schemas.microsoft.com/office/drawing/2014/main" id="{FF9A950C-10F1-438F-A9E9-00808A25CF31}"/>
              </a:ext>
            </a:extLst>
          </p:cNvPr>
          <p:cNvSpPr>
            <a:spLocks xmlns:a="http://schemas.openxmlformats.org/drawingml/2006/main" noGrp="1"/>
          </p:cNvSpPr>
          <p:nvPr/>
        </p:nvSpPr>
        <p:spPr>
          <a:xfrm xmlns:a="http://schemas.openxmlformats.org/drawingml/2006/main">
            <a:off x="904875" y="4648962"/>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09</a:t>
            </a:r>
          </a:p>
        </p:txBody>
      </p:sp>
      <p:sp>
        <p:nvSpPr>
          <p:cNvPr id="27" name="text-386-135">
            <a:extLst xmlns:a="http://schemas.openxmlformats.org/drawingml/2006/main">
              <a:ext uri="{FF2B5EF4-FFF2-40B4-BE49-F238E27FC236}">
                <a16:creationId xmlns:a16="http://schemas.microsoft.com/office/drawing/2014/main" id="{164C708E-06D9-4F70-91B7-35F034D5E95B}"/>
              </a:ext>
            </a:extLst>
          </p:cNvPr>
          <p:cNvSpPr>
            <a:spLocks xmlns:a="http://schemas.openxmlformats.org/drawingml/2006/main" noGrp="1"/>
          </p:cNvSpPr>
          <p:nvPr/>
        </p:nvSpPr>
        <p:spPr>
          <a:xfrm xmlns:a="http://schemas.openxmlformats.org/drawingml/2006/main">
            <a:off x="1285875" y="4610862"/>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-1;</a:t>
            </a:r>
          </a:p>
        </p:txBody>
      </p:sp>
      <p:sp>
        <p:nvSpPr>
          <p:cNvPr id="28" name="text-406.5-81">
            <a:extLst xmlns:a="http://schemas.openxmlformats.org/drawingml/2006/main">
              <a:ext uri="{FF2B5EF4-FFF2-40B4-BE49-F238E27FC236}">
                <a16:creationId xmlns:a16="http://schemas.microsoft.com/office/drawing/2014/main" id="{B14DFBE8-7CE2-46BF-A61A-A3265373430B}"/>
              </a:ext>
            </a:extLst>
          </p:cNvPr>
          <p:cNvSpPr>
            <a:spLocks xmlns:a="http://schemas.openxmlformats.org/drawingml/2006/main" noGrp="1"/>
          </p:cNvSpPr>
          <p:nvPr/>
        </p:nvSpPr>
        <p:spPr>
          <a:xfrm xmlns:a="http://schemas.openxmlformats.org/drawingml/2006/main">
            <a:off x="904875" y="4961001"/>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10</a:t>
            </a:r>
          </a:p>
        </p:txBody>
      </p:sp>
      <p:sp>
        <p:nvSpPr>
          <p:cNvPr id="29" name="text-406.5-135">
            <a:extLst xmlns:a="http://schemas.openxmlformats.org/drawingml/2006/main">
              <a:ext uri="{FF2B5EF4-FFF2-40B4-BE49-F238E27FC236}">
                <a16:creationId xmlns:a16="http://schemas.microsoft.com/office/drawing/2014/main" id="{427C5E4A-DFEC-4F3E-84B6-7E3D406F2DD6}"/>
              </a:ext>
            </a:extLst>
          </p:cNvPr>
          <p:cNvSpPr>
            <a:spLocks xmlns:a="http://schemas.openxmlformats.org/drawingml/2006/main" noGrp="1"/>
          </p:cNvSpPr>
          <p:nvPr/>
        </p:nvSpPr>
        <p:spPr>
          <a:xfrm xmlns:a="http://schemas.openxmlformats.org/drawingml/2006/main">
            <a:off x="1285875" y="4922901"/>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a:t>
            </a:r>
          </a:p>
        </p:txBody>
      </p:sp>
      <p:sp>
        <p:nvSpPr>
          <p:cNvPr id="30" name="text-635-64">
            <a:extLst xmlns:a="http://schemas.openxmlformats.org/drawingml/2006/main">
              <a:ext uri="{FF2B5EF4-FFF2-40B4-BE49-F238E27FC236}">
                <a16:creationId xmlns:a16="http://schemas.microsoft.com/office/drawing/2014/main" id="{6D47FD07-ADBA-4236-B214-5AFAF372BA0B}"/>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시간 O(log(n+1)).</a:t>
            </a:r>
          </a:p>
        </p:txBody>
      </p:sp>
    </p:spTree>
    <p:extLst>
      <p:ext uri="{BB962C8B-B14F-4D97-AF65-F5344CB8AC3E}">
        <p14:creationId xmlns:p14="http://schemas.microsoft.com/office/powerpoint/2010/main" val="462685519"/>
      </p:ext>
    </p:extLst>
  </p:cSld>
</p:sld>
</file>

<file path=ppt/slides/slide19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C426D9D7-B440-4D83-9362-B4A106A9565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a:ext uri="{FF2B5EF4-FFF2-40B4-BE49-F238E27FC236}">
                <ns2:creationId id="{25C62BDE-4264-41CA-96A0-2CC43538384F}"/>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97797795-2A5B-4236-8B3C-99D7A6E34D3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95  </a:t>
            </a:r>
          </a:p>
        </p:txBody>
      </p:sp>
      <p:sp>
        <p:nvSpPr>
          <p:cNvPr id="4" name="">
            <a:extLst>
              <a:ext uri="{FF2B5EF4-FFF2-40B4-BE49-F238E27FC236}">
                <ns2:creationId id="{2801487E-8C24-4416-A66D-113E5211375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5EC0FCA-F8CF-45FB-A54F-72E4F926A5D3}"/>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1FF9AED1-44FD-4C7A-B293-22017306610B}"/>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28CF831A-10B2-46DC-B343-7A1F53255D13}"/>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197</a:t>
            </a:r>
          </a:p>
        </p:txBody>
      </p:sp>
      <p:sp>
        <p:nvSpPr>
          <p:cNvPr id="8" name="text-178-64">
            <a:extLst>
              <a:ext uri="{FF2B5EF4-FFF2-40B4-BE49-F238E27FC236}">
                <ns2:creationId id="{C4609DD0-B201-4497-BC28-4B1A88286641}"/>
              </a:ext>
            </a:extLst>
          </p:cNvPr>
          <p:cNvSpPr>
            <a:spLocks noGrp="1"/>
          </p:cNvSpPr>
          <p:nvPr/>
        </p:nvSpPr>
        <p:spPr>
          <a:xfrm>
            <a:off x="609600" y="1695450"/>
            <a:ext cx="10972800" cy="992124"/>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정수 a,b의 최대공약수를 반환하는 gcd_value(a,b)를 반복문으로 작성하시오.</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0≤a,b≤10⁹이며 두 값이 모두 0인 경우의 반환값은 0으로 정한다. 둘 중 하나만 0이면 다른</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값이 최대공약수이다.</a:t>
            </a:r>
          </a:p>
        </p:txBody>
      </p:sp>
      <p:sp>
        <p:nvSpPr>
          <p:cNvPr id="9" name="text-405-64">
            <a:extLst>
              <a:ext uri="{FF2B5EF4-FFF2-40B4-BE49-F238E27FC236}">
                <ns2:creationId id="{4C1CFE57-7409-42D3-AACE-6984902F3FA6}"/>
              </a:ext>
            </a:extLst>
          </p:cNvPr>
          <p:cNvSpPr>
            <a:spLocks noGrp="1"/>
          </p:cNvSpPr>
          <p:nvPr/>
        </p:nvSpPr>
        <p:spPr>
          <a:xfrm>
            <a:off x="609600" y="2839974"/>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gcd_value(a,b) / C: int gcd_value(int a,int b)</a:t>
            </a:r>
          </a:p>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또는 C 하나로 함수와 시간 복잡도를 작성하시오. 기본 정수 연산은 O(1)로 센다.</a:t>
            </a:r>
          </a:p>
        </p:txBody>
      </p:sp>
      <p:sp>
        <p:nvSpPr>
          <p:cNvPr id="10" name="">
            <a:extLst>
              <a:ext uri="{FF2B5EF4-FFF2-40B4-BE49-F238E27FC236}">
                <ns2:creationId id="{8B7AE4E5-3A8A-45D4-82F6-67CD76B129F4}"/>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EA5EB4F1-A875-4848-B715-965F3325EA19}"/>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2C7FF6E8-E148-41C1-BDA1-0118B1DDBD97}"/>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1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504E3737-5507-4109-A966-1B525B53CDF8}"/>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FEE186EA-C7B6-4007-82C1-2C5A36251914}"/>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85D1D41E-8C51-44FB-9744-9CCF7846E11A}"/>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95  정답과 해설</a:t>
            </a:r>
          </a:p>
        </p:txBody>
      </p:sp>
      <p:sp>
        <p:nvSpPr>
          <p:cNvPr id="4" name="">
            <a:extLst xmlns:a="http://schemas.openxmlformats.org/drawingml/2006/main">
              <a:ext uri="{FF2B5EF4-FFF2-40B4-BE49-F238E27FC236}">
                <a16:creationId xmlns:a16="http://schemas.microsoft.com/office/drawing/2014/main" id="{08A404A7-6C5A-4B23-AA39-FC565F12B9E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3C7537-A30C-4BE2-9925-BB7413E3479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FECCF2BE-9D74-430F-8D37-5BF3D283A89E}"/>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6B175617-5440-40C5-A039-EE19AC4889DE}"/>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198</a:t>
            </a:r>
          </a:p>
        </p:txBody>
      </p:sp>
      <p:sp>
        <p:nvSpPr>
          <p:cNvPr id="8" name="text-178-64">
            <a:extLst xmlns:a="http://schemas.openxmlformats.org/drawingml/2006/main">
              <a:ext uri="{FF2B5EF4-FFF2-40B4-BE49-F238E27FC236}">
                <a16:creationId xmlns:a16="http://schemas.microsoft.com/office/drawing/2014/main" id="{EFD54DA4-9A30-4242-B71C-5986DDECE425}"/>
              </a:ext>
            </a:extLst>
          </p:cNvPr>
          <p:cNvSpPr>
            <a:spLocks xmlns:a="http://schemas.openxmlformats.org/drawingml/2006/main" noGrp="1"/>
          </p:cNvSpPr>
          <p:nvPr/>
        </p:nvSpPr>
        <p:spPr>
          <a:xfrm xmlns:a="http://schemas.openxmlformats.org/drawingml/2006/main">
            <a:off x="609600" y="169545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유클리드 호제법</a:t>
            </a:r>
          </a:p>
        </p:txBody>
      </p:sp>
      <p:sp>
        <p:nvSpPr>
          <p:cNvPr id="9" name="">
            <a:extLst xmlns:a="http://schemas.openxmlformats.org/drawingml/2006/main">
              <a:ext uri="{FF2B5EF4-FFF2-40B4-BE49-F238E27FC236}">
                <a16:creationId xmlns:a16="http://schemas.microsoft.com/office/drawing/2014/main" id="{A8143096-DD1D-46A3-9284-DCD4C628E8EB}"/>
              </a:ext>
            </a:extLst>
          </p:cNvPr>
          <p:cNvSpPr>
            <a:spLocks xmlns:a="http://schemas.openxmlformats.org/drawingml/2006/main" noGrp="1"/>
          </p:cNvSpPr>
          <p:nvPr/>
        </p:nvSpPr>
        <p:spPr>
          <a:xfrm xmlns:a="http://schemas.openxmlformats.org/drawingml/2006/main">
            <a:off x="609600" y="2205990"/>
            <a:ext cx="10972800" cy="65532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7E0F6FA5-9443-46B5-9432-236CF481F738}"/>
              </a:ext>
            </a:extLst>
          </p:cNvPr>
          <p:cNvSpPr>
            <a:spLocks xmlns:a="http://schemas.openxmlformats.org/drawingml/2006/main" noGrp="1"/>
          </p:cNvSpPr>
          <p:nvPr/>
        </p:nvSpPr>
        <p:spPr>
          <a:xfrm xmlns:a="http://schemas.openxmlformats.org/drawingml/2006/main">
            <a:off x="876300" y="2332990"/>
            <a:ext cx="10439400" cy="452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2025" b="1" i="0">
                <a:solidFill>
                  <a:srgbClr val="FFFFFF"/>
                </a:solidFill>
                <a:latin typeface="Malgun Gothic"/>
                <a:ea typeface="Malgun Gothic"/>
                <a:cs typeface="Malgun Gothic"/>
              </a:defRPr>
              <a:spcBef>
                <a:spcPts val="0"/>
              </a:spcBef>
              <a:spcAft>
                <a:spcPts val="0"/>
              </a:spcAft>
            </a:pPr>
            <a:r>
              <a:rPr sz="2025" b="1" i="0">
                <a:solidFill>
                  <a:srgbClr val="FFFFFF"/>
                </a:solidFill>
                <a:latin typeface="Malgun Gothic"/>
                <a:ea typeface="Malgun Gothic"/>
                <a:cs typeface="Malgun Gothic"/>
              </a:rPr>
              <a:t>(a,b)를 (b,a mod b)로 바꾸다가 b가 0이면 a를 반환한다.</a:t>
            </a:r>
          </a:p>
        </p:txBody>
      </p:sp>
      <p:sp>
        <p:nvSpPr>
          <p:cNvPr id="11" name="text-324.4-64">
            <a:extLst xmlns:a="http://schemas.openxmlformats.org/drawingml/2006/main">
              <a:ext uri="{FF2B5EF4-FFF2-40B4-BE49-F238E27FC236}">
                <a16:creationId xmlns:a16="http://schemas.microsoft.com/office/drawing/2014/main" id="{147343DE-6CC5-4D31-8B86-61C0F5D46758}"/>
              </a:ext>
            </a:extLst>
          </p:cNvPr>
          <p:cNvSpPr>
            <a:spLocks xmlns:a="http://schemas.openxmlformats.org/drawingml/2006/main" noGrp="1"/>
          </p:cNvSpPr>
          <p:nvPr/>
        </p:nvSpPr>
        <p:spPr>
          <a:xfrm xmlns:a="http://schemas.openxmlformats.org/drawingml/2006/main">
            <a:off x="609600" y="3140710"/>
            <a:ext cx="11811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264D9060-F92A-411C-A2CC-D5A689EE60DB}"/>
              </a:ext>
            </a:extLst>
          </p:cNvPr>
          <p:cNvSpPr>
            <a:spLocks xmlns:a="http://schemas.openxmlformats.org/drawingml/2006/main" noGrp="1"/>
          </p:cNvSpPr>
          <p:nvPr/>
        </p:nvSpPr>
        <p:spPr>
          <a:xfrm xmlns:a="http://schemas.openxmlformats.org/drawingml/2006/main">
            <a:off x="1752600" y="335661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8BF770A4-7998-4281-8E44-2D9FEF223F51}"/>
              </a:ext>
            </a:extLst>
          </p:cNvPr>
          <p:cNvSpPr>
            <a:spLocks xmlns:a="http://schemas.openxmlformats.org/drawingml/2006/main" noGrp="1"/>
          </p:cNvSpPr>
          <p:nvPr/>
        </p:nvSpPr>
        <p:spPr>
          <a:xfrm xmlns:a="http://schemas.openxmlformats.org/drawingml/2006/main">
            <a:off x="609600" y="3648710"/>
            <a:ext cx="10972800" cy="154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예: (84,30), (30,24), (24,6), (6,0) 순서로 바뀌며 답은 6이다.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b=0이면 나머지를 계산하지 않는다. (0,0)의 반환값은 약속대로 0이다.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나머지 연산을 O(1)로 셀 때 시간 O(log(max(a,b)+2)), 추가 공간 Θ(1).</a:t>
            </a:r>
          </a:p>
        </p:txBody>
      </p:sp>
    </p:spTree>
    <p:extLst>
      <p:ext uri="{BB962C8B-B14F-4D97-AF65-F5344CB8AC3E}">
        <p14:creationId xmlns:p14="http://schemas.microsoft.com/office/powerpoint/2010/main" val="462685519"/>
      </p:ext>
    </p:extLst>
  </p:cSld>
</p:sld>
</file>

<file path=ppt/slides/slide1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28-64">
            <a:extLst xmlns:a="http://schemas.openxmlformats.org/drawingml/2006/main">
              <a:ext uri="{FF2B5EF4-FFF2-40B4-BE49-F238E27FC236}">
                <a16:creationId xmlns:a16="http://schemas.microsoft.com/office/drawing/2014/main" id="{1EDDC2EF-FD68-4075-8CD2-EDAC34125403}"/>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9E15E575-8E0B-42A3-B339-3DCDAF39EF42}"/>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435B136C-3B83-4D27-A9F2-DE11EB5A62D7}"/>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defRPr sz="1800">
                <a:solidFill>
                  <a:srgbClr val="5B5B5B"/>
                </a:solidFill>
                <a:latin typeface="Malgun Gothic"/>
                <a:ea typeface="Malgun Gothic"/>
                <a:cs typeface="Malgun Gothic"/>
              </a:defRPr>
              <a:spcBef>
                <a:spcPts val="0"/>
              </a:spcBef>
              <a:spcAft>
                <a:spcPts val="0"/>
              </a:spcAft>
            </a:pPr>
            <a:r>
              <a:rPr sz="3000" b="1" i="0">
                <a:solidFill>
                  <a:srgbClr val="171717"/>
                </a:solidFill>
                <a:latin typeface="Malgun Gothic"/>
                <a:ea typeface="Malgun Gothic"/>
                <a:cs typeface="Malgun Gothic"/>
              </a:rPr>
              <a:t>문제 95  Python 구현</a:t>
            </a:r>
          </a:p>
        </p:txBody>
      </p:sp>
      <p:sp>
        <p:nvSpPr>
          <p:cNvPr id="4" name="">
            <a:extLst xmlns:a="http://schemas.openxmlformats.org/drawingml/2006/main">
              <a:ext uri="{FF2B5EF4-FFF2-40B4-BE49-F238E27FC236}">
                <a16:creationId xmlns:a16="http://schemas.microsoft.com/office/drawing/2014/main" id="{9D2718CC-EE5B-43B9-87E1-D834761C020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F93451-9F82-4A56-9DE8-F9A3E6573B7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D2C22965-6654-42E3-B807-2F9B335F1072}"/>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BCCC1134-3E62-4DED-A75C-A1216CFC6AC3}"/>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199</a:t>
            </a:r>
          </a:p>
        </p:txBody>
      </p:sp>
      <p:sp>
        <p:nvSpPr>
          <p:cNvPr id="8" name="text-163-64">
            <a:extLst xmlns:a="http://schemas.openxmlformats.org/drawingml/2006/main">
              <a:ext uri="{FF2B5EF4-FFF2-40B4-BE49-F238E27FC236}">
                <a16:creationId xmlns:a16="http://schemas.microsoft.com/office/drawing/2014/main" id="{7A3300B8-6565-47A4-8331-A8C83FF6E31C}"/>
              </a:ext>
            </a:extLst>
          </p:cNvPr>
          <p:cNvSpPr>
            <a:spLocks xmlns:a="http://schemas.openxmlformats.org/drawingml/2006/main" noGrp="1"/>
          </p:cNvSpPr>
          <p:nvPr/>
        </p:nvSpPr>
        <p:spPr>
          <a:xfrm xmlns:a="http://schemas.openxmlformats.org/drawingml/2006/main">
            <a:off x="609600" y="1552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유클리드 호제법</a:t>
            </a:r>
          </a:p>
        </p:txBody>
      </p:sp>
      <p:sp>
        <p:nvSpPr>
          <p:cNvPr id="9" name="">
            <a:extLst xmlns:a="http://schemas.openxmlformats.org/drawingml/2006/main">
              <a:ext uri="{FF2B5EF4-FFF2-40B4-BE49-F238E27FC236}">
                <a16:creationId xmlns:a16="http://schemas.microsoft.com/office/drawing/2014/main" id="{450F6DC0-38F6-4137-B829-B582EC10D044}"/>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B46A5DDC-6847-40CF-9731-FE16FCC036BB}"/>
              </a:ext>
            </a:extLst>
          </p:cNvPr>
          <p:cNvSpPr>
            <a:spLocks xmlns:a="http://schemas.openxmlformats.org/drawingml/2006/main" noGrp="1"/>
          </p:cNvSpPr>
          <p:nvPr/>
        </p:nvSpPr>
        <p:spPr>
          <a:xfrm xmlns:a="http://schemas.openxmlformats.org/drawingml/2006/main">
            <a:off x="904875"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32A65515-497C-405C-9906-D83313AB0714}"/>
              </a:ext>
            </a:extLst>
          </p:cNvPr>
          <p:cNvSpPr>
            <a:spLocks xmlns:a="http://schemas.openxmlformats.org/drawingml/2006/main" noGrp="1"/>
          </p:cNvSpPr>
          <p:nvPr/>
        </p:nvSpPr>
        <p:spPr>
          <a:xfrm xmlns:a="http://schemas.openxmlformats.org/drawingml/2006/main">
            <a:off x="1285875" y="211455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def gcd_value(a, b):</a:t>
            </a:r>
          </a:p>
        </p:txBody>
      </p:sp>
      <p:sp>
        <p:nvSpPr>
          <p:cNvPr id="12" name="text-242.5-81">
            <a:extLst xmlns:a="http://schemas.openxmlformats.org/drawingml/2006/main">
              <a:ext uri="{FF2B5EF4-FFF2-40B4-BE49-F238E27FC236}">
                <a16:creationId xmlns:a16="http://schemas.microsoft.com/office/drawing/2014/main" id="{89ADD090-30AE-49F4-8089-CF6074E16093}"/>
              </a:ext>
            </a:extLst>
          </p:cNvPr>
          <p:cNvSpPr>
            <a:spLocks xmlns:a="http://schemas.openxmlformats.org/drawingml/2006/main" noGrp="1"/>
          </p:cNvSpPr>
          <p:nvPr/>
        </p:nvSpPr>
        <p:spPr>
          <a:xfrm xmlns:a="http://schemas.openxmlformats.org/drawingml/2006/main">
            <a:off x="904875"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AAB6D832-E417-4B0D-814F-80A3D2566D79}"/>
              </a:ext>
            </a:extLst>
          </p:cNvPr>
          <p:cNvSpPr>
            <a:spLocks xmlns:a="http://schemas.openxmlformats.org/drawingml/2006/main" noGrp="1"/>
          </p:cNvSpPr>
          <p:nvPr/>
        </p:nvSpPr>
        <p:spPr>
          <a:xfrm xmlns:a="http://schemas.openxmlformats.org/drawingml/2006/main">
            <a:off x="1285875" y="2426589"/>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while b != 0:</a:t>
            </a:r>
          </a:p>
        </p:txBody>
      </p:sp>
      <p:sp>
        <p:nvSpPr>
          <p:cNvPr id="14" name="text-263-81">
            <a:extLst xmlns:a="http://schemas.openxmlformats.org/drawingml/2006/main">
              <a:ext uri="{FF2B5EF4-FFF2-40B4-BE49-F238E27FC236}">
                <a16:creationId xmlns:a16="http://schemas.microsoft.com/office/drawing/2014/main" id="{06896543-A602-4809-B4D2-531331F3D71B}"/>
              </a:ext>
            </a:extLst>
          </p:cNvPr>
          <p:cNvSpPr>
            <a:spLocks xmlns:a="http://schemas.openxmlformats.org/drawingml/2006/main" noGrp="1"/>
          </p:cNvSpPr>
          <p:nvPr/>
        </p:nvSpPr>
        <p:spPr>
          <a:xfrm xmlns:a="http://schemas.openxmlformats.org/drawingml/2006/main">
            <a:off x="904875"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4381269E-3340-4BB7-AA2D-9791AB88E7AA}"/>
              </a:ext>
            </a:extLst>
          </p:cNvPr>
          <p:cNvSpPr>
            <a:spLocks xmlns:a="http://schemas.openxmlformats.org/drawingml/2006/main" noGrp="1"/>
          </p:cNvSpPr>
          <p:nvPr/>
        </p:nvSpPr>
        <p:spPr>
          <a:xfrm xmlns:a="http://schemas.openxmlformats.org/drawingml/2006/main">
            <a:off x="1285875" y="2738628"/>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 b = b, a % b</a:t>
            </a:r>
          </a:p>
        </p:txBody>
      </p:sp>
      <p:sp>
        <p:nvSpPr>
          <p:cNvPr id="16" name="text-283.5-81">
            <a:extLst xmlns:a="http://schemas.openxmlformats.org/drawingml/2006/main">
              <a:ext uri="{FF2B5EF4-FFF2-40B4-BE49-F238E27FC236}">
                <a16:creationId xmlns:a16="http://schemas.microsoft.com/office/drawing/2014/main" id="{8EB60610-A081-4FD3-B898-63E7496DE92F}"/>
              </a:ext>
            </a:extLst>
          </p:cNvPr>
          <p:cNvSpPr>
            <a:spLocks xmlns:a="http://schemas.openxmlformats.org/drawingml/2006/main" noGrp="1"/>
          </p:cNvSpPr>
          <p:nvPr/>
        </p:nvSpPr>
        <p:spPr>
          <a:xfrm xmlns:a="http://schemas.openxmlformats.org/drawingml/2006/main">
            <a:off x="904875"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0FD037D1-FF4D-4EFE-AAEE-63F7B8D49BA7}"/>
              </a:ext>
            </a:extLst>
          </p:cNvPr>
          <p:cNvSpPr>
            <a:spLocks xmlns:a="http://schemas.openxmlformats.org/drawingml/2006/main" noGrp="1"/>
          </p:cNvSpPr>
          <p:nvPr/>
        </p:nvSpPr>
        <p:spPr>
          <a:xfrm xmlns:a="http://schemas.openxmlformats.org/drawingml/2006/main">
            <a:off x="1285875" y="3050667"/>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a</a:t>
            </a:r>
          </a:p>
        </p:txBody>
      </p:sp>
      <p:sp>
        <p:nvSpPr>
          <p:cNvPr id="18" name="text-635-64">
            <a:extLst xmlns:a="http://schemas.openxmlformats.org/drawingml/2006/main">
              <a:ext uri="{FF2B5EF4-FFF2-40B4-BE49-F238E27FC236}">
                <a16:creationId xmlns:a16="http://schemas.microsoft.com/office/drawing/2014/main" id="{B60FAE23-7492-4B1B-A35F-C25787F1FA37}"/>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시간 O(log(max(a,b)+2)).</a:t>
            </a:r>
          </a:p>
        </p:txBody>
      </p:sp>
    </p:spTree>
    <p:extLst>
      <p:ext uri="{BB962C8B-B14F-4D97-AF65-F5344CB8AC3E}">
        <p14:creationId xmlns:p14="http://schemas.microsoft.com/office/powerpoint/2010/main" val="462685519"/>
      </p:ext>
    </p:extLst>
  </p:cSld>
</p:sld>
</file>

<file path=ppt/slides/slide2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28-64">
            <a:extLst xmlns:a="http://schemas.openxmlformats.org/drawingml/2006/main">
              <a:ext uri="{FF2B5EF4-FFF2-40B4-BE49-F238E27FC236}">
                <a16:creationId xmlns:a16="http://schemas.microsoft.com/office/drawing/2014/main" id="{CB715C93-F73E-4954-8079-063D39003DD8}"/>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919E278D-51C0-4F62-9731-288530EFB295}"/>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F2CDD5D0-E8CD-4EEC-B5AE-70F3FB41E7F5}"/>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95  C 구현</a:t>
            </a:r>
          </a:p>
        </p:txBody>
      </p:sp>
      <p:sp>
        <p:nvSpPr>
          <p:cNvPr id="4" name="">
            <a:extLst xmlns:a="http://schemas.openxmlformats.org/drawingml/2006/main">
              <a:ext uri="{FF2B5EF4-FFF2-40B4-BE49-F238E27FC236}">
                <a16:creationId xmlns:a16="http://schemas.microsoft.com/office/drawing/2014/main" id="{9105221E-1CD3-4618-B41D-411090DDD99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549B18-F888-43C6-8450-D29F722B9FA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12B90023-AB2F-4D10-A433-1097BA90F58A}"/>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2B3F82AA-BE9C-4C6B-9BAB-CA1B476F940E}"/>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200</a:t>
            </a:r>
          </a:p>
        </p:txBody>
      </p:sp>
      <p:sp>
        <p:nvSpPr>
          <p:cNvPr id="8" name="text-163-64">
            <a:extLst xmlns:a="http://schemas.openxmlformats.org/drawingml/2006/main">
              <a:ext uri="{FF2B5EF4-FFF2-40B4-BE49-F238E27FC236}">
                <a16:creationId xmlns:a16="http://schemas.microsoft.com/office/drawing/2014/main" id="{C19B9924-CFD3-463C-ADFC-BEC0B45AAB95}"/>
              </a:ext>
            </a:extLst>
          </p:cNvPr>
          <p:cNvSpPr>
            <a:spLocks xmlns:a="http://schemas.openxmlformats.org/drawingml/2006/main" noGrp="1"/>
          </p:cNvSpPr>
          <p:nvPr/>
        </p:nvSpPr>
        <p:spPr>
          <a:xfrm xmlns:a="http://schemas.openxmlformats.org/drawingml/2006/main">
            <a:off x="609600" y="1552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유클리드 호제법</a:t>
            </a:r>
          </a:p>
        </p:txBody>
      </p:sp>
      <p:sp>
        <p:nvSpPr>
          <p:cNvPr id="9" name="">
            <a:extLst xmlns:a="http://schemas.openxmlformats.org/drawingml/2006/main">
              <a:ext uri="{FF2B5EF4-FFF2-40B4-BE49-F238E27FC236}">
                <a16:creationId xmlns:a16="http://schemas.microsoft.com/office/drawing/2014/main" id="{16C39195-6C41-468C-8145-1A68C9F08584}"/>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EFB36CF9-9A08-4E4B-895B-F4BD39A5D7DB}"/>
              </a:ext>
            </a:extLst>
          </p:cNvPr>
          <p:cNvSpPr>
            <a:spLocks xmlns:a="http://schemas.openxmlformats.org/drawingml/2006/main" noGrp="1"/>
          </p:cNvSpPr>
          <p:nvPr/>
        </p:nvSpPr>
        <p:spPr>
          <a:xfrm xmlns:a="http://schemas.openxmlformats.org/drawingml/2006/main">
            <a:off x="904875"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926643DA-2E0E-4EF5-BE3D-0E5A71A789DC}"/>
              </a:ext>
            </a:extLst>
          </p:cNvPr>
          <p:cNvSpPr>
            <a:spLocks xmlns:a="http://schemas.openxmlformats.org/drawingml/2006/main" noGrp="1"/>
          </p:cNvSpPr>
          <p:nvPr/>
        </p:nvSpPr>
        <p:spPr>
          <a:xfrm xmlns:a="http://schemas.openxmlformats.org/drawingml/2006/main">
            <a:off x="1285875" y="211455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int gcd_value(int a, int b) {</a:t>
            </a:r>
          </a:p>
        </p:txBody>
      </p:sp>
      <p:sp>
        <p:nvSpPr>
          <p:cNvPr id="12" name="text-242.5-81">
            <a:extLst xmlns:a="http://schemas.openxmlformats.org/drawingml/2006/main">
              <a:ext uri="{FF2B5EF4-FFF2-40B4-BE49-F238E27FC236}">
                <a16:creationId xmlns:a16="http://schemas.microsoft.com/office/drawing/2014/main" id="{5031F9AF-BA02-4B70-BC14-25152DAAFDAA}"/>
              </a:ext>
            </a:extLst>
          </p:cNvPr>
          <p:cNvSpPr>
            <a:spLocks xmlns:a="http://schemas.openxmlformats.org/drawingml/2006/main" noGrp="1"/>
          </p:cNvSpPr>
          <p:nvPr/>
        </p:nvSpPr>
        <p:spPr>
          <a:xfrm xmlns:a="http://schemas.openxmlformats.org/drawingml/2006/main">
            <a:off x="904875"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54097DD7-5EDE-4521-8787-FAE2F30F0375}"/>
              </a:ext>
            </a:extLst>
          </p:cNvPr>
          <p:cNvSpPr>
            <a:spLocks xmlns:a="http://schemas.openxmlformats.org/drawingml/2006/main" noGrp="1"/>
          </p:cNvSpPr>
          <p:nvPr/>
        </p:nvSpPr>
        <p:spPr>
          <a:xfrm xmlns:a="http://schemas.openxmlformats.org/drawingml/2006/main">
            <a:off x="1285875" y="2426589"/>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while (b != 0) {</a:t>
            </a:r>
          </a:p>
        </p:txBody>
      </p:sp>
      <p:sp>
        <p:nvSpPr>
          <p:cNvPr id="14" name="text-263-81">
            <a:extLst xmlns:a="http://schemas.openxmlformats.org/drawingml/2006/main">
              <a:ext uri="{FF2B5EF4-FFF2-40B4-BE49-F238E27FC236}">
                <a16:creationId xmlns:a16="http://schemas.microsoft.com/office/drawing/2014/main" id="{2781E085-8651-40D6-A939-D8B7A7628EDD}"/>
              </a:ext>
            </a:extLst>
          </p:cNvPr>
          <p:cNvSpPr>
            <a:spLocks xmlns:a="http://schemas.openxmlformats.org/drawingml/2006/main" noGrp="1"/>
          </p:cNvSpPr>
          <p:nvPr/>
        </p:nvSpPr>
        <p:spPr>
          <a:xfrm xmlns:a="http://schemas.openxmlformats.org/drawingml/2006/main">
            <a:off x="904875"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458DB037-520C-4EC4-8702-C450738AA120}"/>
              </a:ext>
            </a:extLst>
          </p:cNvPr>
          <p:cNvSpPr>
            <a:spLocks xmlns:a="http://schemas.openxmlformats.org/drawingml/2006/main" noGrp="1"/>
          </p:cNvSpPr>
          <p:nvPr/>
        </p:nvSpPr>
        <p:spPr>
          <a:xfrm xmlns:a="http://schemas.openxmlformats.org/drawingml/2006/main">
            <a:off x="1285875" y="2738628"/>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int r = a % b;</a:t>
            </a:r>
          </a:p>
        </p:txBody>
      </p:sp>
      <p:sp>
        <p:nvSpPr>
          <p:cNvPr id="16" name="text-283.5-81">
            <a:extLst xmlns:a="http://schemas.openxmlformats.org/drawingml/2006/main">
              <a:ext uri="{FF2B5EF4-FFF2-40B4-BE49-F238E27FC236}">
                <a16:creationId xmlns:a16="http://schemas.microsoft.com/office/drawing/2014/main" id="{CE847A49-7BCD-44C1-83E2-8F10454180DF}"/>
              </a:ext>
            </a:extLst>
          </p:cNvPr>
          <p:cNvSpPr>
            <a:spLocks xmlns:a="http://schemas.openxmlformats.org/drawingml/2006/main" noGrp="1"/>
          </p:cNvSpPr>
          <p:nvPr/>
        </p:nvSpPr>
        <p:spPr>
          <a:xfrm xmlns:a="http://schemas.openxmlformats.org/drawingml/2006/main">
            <a:off x="904875"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A99DC151-4AAA-4561-B253-8CE31893E0E6}"/>
              </a:ext>
            </a:extLst>
          </p:cNvPr>
          <p:cNvSpPr>
            <a:spLocks xmlns:a="http://schemas.openxmlformats.org/drawingml/2006/main" noGrp="1"/>
          </p:cNvSpPr>
          <p:nvPr/>
        </p:nvSpPr>
        <p:spPr>
          <a:xfrm xmlns:a="http://schemas.openxmlformats.org/drawingml/2006/main">
            <a:off x="1285875" y="3050667"/>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 = b;</a:t>
            </a:r>
          </a:p>
        </p:txBody>
      </p:sp>
      <p:sp>
        <p:nvSpPr>
          <p:cNvPr id="18" name="text-304-81">
            <a:extLst xmlns:a="http://schemas.openxmlformats.org/drawingml/2006/main">
              <a:ext uri="{FF2B5EF4-FFF2-40B4-BE49-F238E27FC236}">
                <a16:creationId xmlns:a16="http://schemas.microsoft.com/office/drawing/2014/main" id="{351CB41B-8838-4F92-B45E-EE1369594543}"/>
              </a:ext>
            </a:extLst>
          </p:cNvPr>
          <p:cNvSpPr>
            <a:spLocks xmlns:a="http://schemas.openxmlformats.org/drawingml/2006/main" noGrp="1"/>
          </p:cNvSpPr>
          <p:nvPr/>
        </p:nvSpPr>
        <p:spPr>
          <a:xfrm xmlns:a="http://schemas.openxmlformats.org/drawingml/2006/main">
            <a:off x="904875"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FDC17381-6C3F-48EC-98A7-682814BAB7CC}"/>
              </a:ext>
            </a:extLst>
          </p:cNvPr>
          <p:cNvSpPr>
            <a:spLocks xmlns:a="http://schemas.openxmlformats.org/drawingml/2006/main" noGrp="1"/>
          </p:cNvSpPr>
          <p:nvPr/>
        </p:nvSpPr>
        <p:spPr>
          <a:xfrm xmlns:a="http://schemas.openxmlformats.org/drawingml/2006/main">
            <a:off x="1285875" y="3362706"/>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b = r;</a:t>
            </a:r>
          </a:p>
        </p:txBody>
      </p:sp>
      <p:sp>
        <p:nvSpPr>
          <p:cNvPr id="20" name="text-324.5-81">
            <a:extLst xmlns:a="http://schemas.openxmlformats.org/drawingml/2006/main">
              <a:ext uri="{FF2B5EF4-FFF2-40B4-BE49-F238E27FC236}">
                <a16:creationId xmlns:a16="http://schemas.microsoft.com/office/drawing/2014/main" id="{2E368A60-64AE-4D00-865D-871C3C7DAB70}"/>
              </a:ext>
            </a:extLst>
          </p:cNvPr>
          <p:cNvSpPr>
            <a:spLocks xmlns:a="http://schemas.openxmlformats.org/drawingml/2006/main" noGrp="1"/>
          </p:cNvSpPr>
          <p:nvPr/>
        </p:nvSpPr>
        <p:spPr>
          <a:xfrm xmlns:a="http://schemas.openxmlformats.org/drawingml/2006/main">
            <a:off x="904875"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xmlns:a="http://schemas.openxmlformats.org/drawingml/2006/main">
              <a:ext uri="{FF2B5EF4-FFF2-40B4-BE49-F238E27FC236}">
                <a16:creationId xmlns:a16="http://schemas.microsoft.com/office/drawing/2014/main" id="{6A1FD0F4-7FCC-4FF6-AA2C-590C4650535B}"/>
              </a:ext>
            </a:extLst>
          </p:cNvPr>
          <p:cNvSpPr>
            <a:spLocks xmlns:a="http://schemas.openxmlformats.org/drawingml/2006/main" noGrp="1"/>
          </p:cNvSpPr>
          <p:nvPr/>
        </p:nvSpPr>
        <p:spPr>
          <a:xfrm xmlns:a="http://schemas.openxmlformats.org/drawingml/2006/main">
            <a:off x="1285875" y="3674745"/>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t>
            </a:r>
          </a:p>
        </p:txBody>
      </p:sp>
      <p:sp>
        <p:nvSpPr>
          <p:cNvPr id="22" name="text-345-81">
            <a:extLst xmlns:a="http://schemas.openxmlformats.org/drawingml/2006/main">
              <a:ext uri="{FF2B5EF4-FFF2-40B4-BE49-F238E27FC236}">
                <a16:creationId xmlns:a16="http://schemas.microsoft.com/office/drawing/2014/main" id="{CDE57DF6-0099-4708-8259-BABA3E1976D7}"/>
              </a:ext>
            </a:extLst>
          </p:cNvPr>
          <p:cNvSpPr>
            <a:spLocks xmlns:a="http://schemas.openxmlformats.org/drawingml/2006/main" noGrp="1"/>
          </p:cNvSpPr>
          <p:nvPr/>
        </p:nvSpPr>
        <p:spPr>
          <a:xfrm xmlns:a="http://schemas.openxmlformats.org/drawingml/2006/main">
            <a:off x="904875"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xmlns:a="http://schemas.openxmlformats.org/drawingml/2006/main">
              <a:ext uri="{FF2B5EF4-FFF2-40B4-BE49-F238E27FC236}">
                <a16:creationId xmlns:a16="http://schemas.microsoft.com/office/drawing/2014/main" id="{23692751-149E-40B1-B4E5-F3CBDC7333E2}"/>
              </a:ext>
            </a:extLst>
          </p:cNvPr>
          <p:cNvSpPr>
            <a:spLocks xmlns:a="http://schemas.openxmlformats.org/drawingml/2006/main" noGrp="1"/>
          </p:cNvSpPr>
          <p:nvPr/>
        </p:nvSpPr>
        <p:spPr>
          <a:xfrm xmlns:a="http://schemas.openxmlformats.org/drawingml/2006/main">
            <a:off x="1285875" y="3986784"/>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a;</a:t>
            </a:r>
          </a:p>
        </p:txBody>
      </p:sp>
      <p:sp>
        <p:nvSpPr>
          <p:cNvPr id="24" name="text-365.5-81">
            <a:extLst xmlns:a="http://schemas.openxmlformats.org/drawingml/2006/main">
              <a:ext uri="{FF2B5EF4-FFF2-40B4-BE49-F238E27FC236}">
                <a16:creationId xmlns:a16="http://schemas.microsoft.com/office/drawing/2014/main" id="{CA4603F9-55CA-4CF6-A98B-8CA6C7DD5879}"/>
              </a:ext>
            </a:extLst>
          </p:cNvPr>
          <p:cNvSpPr>
            <a:spLocks xmlns:a="http://schemas.openxmlformats.org/drawingml/2006/main" noGrp="1"/>
          </p:cNvSpPr>
          <p:nvPr/>
        </p:nvSpPr>
        <p:spPr>
          <a:xfrm xmlns:a="http://schemas.openxmlformats.org/drawingml/2006/main">
            <a:off x="904875" y="4336923"/>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08</a:t>
            </a:r>
          </a:p>
        </p:txBody>
      </p:sp>
      <p:sp>
        <p:nvSpPr>
          <p:cNvPr id="25" name="text-365.5-135">
            <a:extLst xmlns:a="http://schemas.openxmlformats.org/drawingml/2006/main">
              <a:ext uri="{FF2B5EF4-FFF2-40B4-BE49-F238E27FC236}">
                <a16:creationId xmlns:a16="http://schemas.microsoft.com/office/drawing/2014/main" id="{3879AB74-3EF8-4201-99BB-FCE381011275}"/>
              </a:ext>
            </a:extLst>
          </p:cNvPr>
          <p:cNvSpPr>
            <a:spLocks xmlns:a="http://schemas.openxmlformats.org/drawingml/2006/main" noGrp="1"/>
          </p:cNvSpPr>
          <p:nvPr/>
        </p:nvSpPr>
        <p:spPr>
          <a:xfrm xmlns:a="http://schemas.openxmlformats.org/drawingml/2006/main">
            <a:off x="1285875" y="4298823"/>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a:t>
            </a:r>
          </a:p>
        </p:txBody>
      </p:sp>
      <p:sp>
        <p:nvSpPr>
          <p:cNvPr id="26" name="text-635-64">
            <a:extLst xmlns:a="http://schemas.openxmlformats.org/drawingml/2006/main">
              <a:ext uri="{FF2B5EF4-FFF2-40B4-BE49-F238E27FC236}">
                <a16:creationId xmlns:a16="http://schemas.microsoft.com/office/drawing/2014/main" id="{A0CBB284-583C-4A9F-890E-F8C6C744489F}"/>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시간 O(log(max(a,b)+2)).</a:t>
            </a:r>
          </a:p>
        </p:txBody>
      </p:sp>
    </p:spTree>
    <p:extLst>
      <p:ext uri="{BB962C8B-B14F-4D97-AF65-F5344CB8AC3E}">
        <p14:creationId xmlns:p14="http://schemas.microsoft.com/office/powerpoint/2010/main" val="462685519"/>
      </p:ext>
    </p:extLst>
  </p:cSld>
</p:sld>
</file>

<file path=ppt/slides/slide20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3DC52C60-1934-4658-9937-55AFAB86D75E}"/>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a:ext uri="{FF2B5EF4-FFF2-40B4-BE49-F238E27FC236}">
                <ns2:creationId id="{EC6D1100-84A0-4B8B-9B3F-73E07AABF475}"/>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B9AC89FC-1C3E-4B6E-93CE-904B16E2CDF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97  </a:t>
            </a:r>
          </a:p>
        </p:txBody>
      </p:sp>
      <p:sp>
        <p:nvSpPr>
          <p:cNvPr id="4" name="">
            <a:extLst>
              <a:ext uri="{FF2B5EF4-FFF2-40B4-BE49-F238E27FC236}">
                <ns2:creationId id="{FDD742C0-A8B6-4C75-9B67-809D41A4498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360F9E4-B502-4769-954D-9121526D0E4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EB424848-77B5-4F4B-8DDF-B7604CD4A5F6}"/>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68B3BD16-D84B-4E2D-A3A8-68AB3BCB3DE2}"/>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205</a:t>
            </a:r>
          </a:p>
        </p:txBody>
      </p:sp>
      <p:sp>
        <p:nvSpPr>
          <p:cNvPr id="8" name="text-178-64">
            <a:extLst>
              <a:ext uri="{FF2B5EF4-FFF2-40B4-BE49-F238E27FC236}">
                <ns2:creationId id="{4AACEF92-5F61-4F1E-A650-1FA41688EE00}"/>
              </a:ext>
            </a:extLst>
          </p:cNvPr>
          <p:cNvSpPr>
            <a:spLocks noGrp="1"/>
          </p:cNvSpPr>
          <p:nvPr/>
        </p:nvSpPr>
        <p:spPr>
          <a:xfrm>
            <a:off x="609600" y="1695450"/>
            <a:ext cx="10972800" cy="112014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길이 n인 정수 배열 a를 원본 배열 안에서 오름차순으로 바꾸는 insertion_sort를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작성하시오. 0≤n≤1000이며 원소는 C의 int 범위이다. 앞 원소는 삽입할 값보다 클 때만</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오른쪽으로 민다. 별도 정렬 결과를 반환하지 않는다.</a:t>
            </a:r>
          </a:p>
        </p:txBody>
      </p:sp>
      <p:sp>
        <p:nvSpPr>
          <p:cNvPr id="9" name="text-405-64">
            <a:extLst>
              <a:ext uri="{FF2B5EF4-FFF2-40B4-BE49-F238E27FC236}">
                <ns2:creationId id="{26BB31DA-F02C-42E1-99C7-FE2E80BED9EE}"/>
              </a:ext>
            </a:extLst>
          </p:cNvPr>
          <p:cNvSpPr>
            <a:spLocks noGrp="1"/>
          </p:cNvSpPr>
          <p:nvPr/>
        </p:nvSpPr>
        <p:spPr>
          <a:xfrm>
            <a:off x="609600" y="296799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insertion_sort(a) / C: void insertion_sort(int a[],int n)</a:t>
            </a:r>
          </a:p>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또는 C 하나로 함수와 시간 복잡도를 작성하시오. 기본 정수 연산은 O(1)로 센다.</a:t>
            </a:r>
          </a:p>
        </p:txBody>
      </p:sp>
      <p:sp>
        <p:nvSpPr>
          <p:cNvPr id="10" name="">
            <a:extLst>
              <a:ext uri="{FF2B5EF4-FFF2-40B4-BE49-F238E27FC236}">
                <ns2:creationId id="{4CC22CF0-6019-4389-BB7E-2179CA1D5283}"/>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96FCF5EF-0A69-472C-BE4E-5F787EA116B8}"/>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95A4A44A-212E-4247-B8A5-274CC70D1CAB}"/>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20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text-28-64">
            <a:extLst>
              <a:ext uri="{FF2B5EF4-FFF2-40B4-BE49-F238E27FC236}">
                <ns2:creationId id="{3D0EB56E-D024-4EB8-8AED-9BE8AA0D661A}"/>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a:ext uri="{FF2B5EF4-FFF2-40B4-BE49-F238E27FC236}">
                <ns2:creationId id="{4705E3FA-DDA7-4F78-8C33-952A69449912}"/>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FD0F9B3F-1AA0-48D9-9573-B425C03C3A7A}"/>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97  정답과 해설</a:t>
            </a:r>
          </a:p>
        </p:txBody>
      </p:sp>
      <p:sp>
        <p:nvSpPr>
          <p:cNvPr id="4" name="">
            <a:extLst>
              <a:ext uri="{FF2B5EF4-FFF2-40B4-BE49-F238E27FC236}">
                <ns2:creationId id="{E92D9B21-DF9F-459F-9C6A-E6C29F5D949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60EE52B-1662-4E61-A155-C7AABDEF9CE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CCAA39AF-372A-44C6-8180-4BD60DA57AA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8E6EC371-F209-4E7D-993B-6EE698B96511}"/>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206</a:t>
            </a:r>
          </a:p>
        </p:txBody>
      </p:sp>
      <p:sp>
        <p:nvSpPr>
          <p:cNvPr id="8" name="text-178-64">
            <a:extLst>
              <a:ext uri="{FF2B5EF4-FFF2-40B4-BE49-F238E27FC236}">
                <ns2:creationId id="{61AFA6CD-39ED-4348-80F5-D84910F0887C}"/>
              </a:ext>
            </a:extLst>
          </p:cNvPr>
          <p:cNvSpPr>
            <a:spLocks noGrp="1"/>
          </p:cNvSpPr>
          <p:nvPr/>
        </p:nvSpPr>
        <p:spPr>
          <a:xfrm>
            <a:off x="609600" y="1695450"/>
            <a:ext cx="10972800" cy="320040"/>
          </a:xfrm>
          <a:prstGeom prst="rect">
            <a:avLst/>
          </a:prstGeom>
          <a:noFill/>
          <a:ln w="0">
            <a:noFill/>
          </a:ln>
        </p:spPr>
        <p:txBody>
          <a:bodyPr wrap="none" lIns="0" tIns="0" rIns="0" bIns="0" anchor="t">
            <a:noAutofit/>
          </a:bodyPr>
          <a:lstStyle/>
          <a:p>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삽입 정렬</a:t>
            </a:r>
          </a:p>
        </p:txBody>
      </p:sp>
      <p:sp>
        <p:nvSpPr>
          <p:cNvPr id="9" name="">
            <a:extLst>
              <a:ext uri="{FF2B5EF4-FFF2-40B4-BE49-F238E27FC236}">
                <ns2:creationId id="{A3D44413-8D29-4FC9-A23E-1E34A9FA47A3}"/>
              </a:ext>
            </a:extLst>
          </p:cNvPr>
          <p:cNvSpPr>
            <a:spLocks noGrp="1"/>
          </p:cNvSpPr>
          <p:nvPr/>
        </p:nvSpPr>
        <p:spPr>
          <a:xfrm>
            <a:off x="609600" y="2110740"/>
            <a:ext cx="10972800" cy="566452"/>
          </a:xfrm>
          <a:prstGeom prst="rect">
            <a:avLst/>
          </a:prstGeom>
          <a:solidFill>
            <a:srgbClr val="171717"/>
          </a:solidFill>
          <a:ln w="0">
            <a:noFill/>
          </a:ln>
        </p:spPr>
      </p:sp>
      <p:sp>
        <p:nvSpPr>
          <p:cNvPr id="10" name="text-245.6-92">
            <a:extLst>
              <a:ext uri="{FF2B5EF4-FFF2-40B4-BE49-F238E27FC236}">
                <ns2:creationId id="{A77DB824-8F6C-41B0-B6E1-0D81C5BBD874}"/>
              </a:ext>
            </a:extLst>
          </p:cNvPr>
          <p:cNvSpPr>
            <a:spLocks noGrp="1"/>
          </p:cNvSpPr>
          <p:nvPr/>
        </p:nvSpPr>
        <p:spPr>
          <a:xfrm>
            <a:off x="876300" y="2167890"/>
            <a:ext cx="10439400" cy="452152"/>
          </a:xfrm>
          <a:prstGeom prst="rect">
            <a:avLst/>
          </a:prstGeom>
          <a:noFill/>
          <a:ln w="0">
            <a:noFill/>
          </a:ln>
        </p:spPr>
        <p:txBody>
          <a:bodyPr wrap="none" lIns="0" tIns="0" rIns="0" bIns="0" anchor="t">
            <a:noAutofit/>
          </a:bodyPr>
          <a:lstStyle/>
          <a:p>
            <a:pPr algn="l">
              <a:lnSpc>
                <a:spcPct val="108000"/>
              </a:lnSpc>
              <a:spcBef>
                <a:spcPts val="0"/>
              </a:spcBef>
              <a:spcAft>
                <a:spcPts val="0"/>
              </a:spcAft>
              <a:buNone/>
              <a:defRPr sz="2025" b="1" i="0">
                <a:solidFill>
                  <a:srgbClr val="FFFFFF"/>
                </a:solidFill>
                <a:latin typeface="Malgun Gothic"/>
                <a:ea typeface="Malgun Gothic"/>
                <a:cs typeface="Malgun Gothic"/>
              </a:defRPr>
            </a:pPr>
            <a:r>
              <a:rPr sz="2025" b="1" i="0">
                <a:solidFill>
                  <a:srgbClr val="FFFFFF"/>
                </a:solidFill>
                <a:latin typeface="Malgun Gothic"/>
                <a:ea typeface="Malgun Gothic"/>
                <a:cs typeface="Malgun Gothic"/>
              </a:rPr>
              <a:t>현재 값을 보관한 뒤 그보다 큰 앞 원소만 한 칸씩 민다.</a:t>
            </a:r>
          </a:p>
        </p:txBody>
      </p:sp>
      <p:sp>
        <p:nvSpPr>
          <p:cNvPr id="11" name="text-324.4-64">
            <a:extLst>
              <a:ext uri="{FF2B5EF4-FFF2-40B4-BE49-F238E27FC236}">
                <ns2:creationId id="{976B9562-951D-4269-A0AB-C908D2B8A774}"/>
              </a:ext>
            </a:extLst>
          </p:cNvPr>
          <p:cNvSpPr>
            <a:spLocks noGrp="1"/>
          </p:cNvSpPr>
          <p:nvPr/>
        </p:nvSpPr>
        <p:spPr>
          <a:xfrm>
            <a:off x="609600" y="2772442"/>
            <a:ext cx="1181100" cy="368332"/>
          </a:xfrm>
          <a:prstGeom prst="rect">
            <a:avLst/>
          </a:prstGeom>
          <a:noFill/>
          <a:ln w="0">
            <a:noFill/>
          </a:ln>
        </p:spPr>
        <p:txBody>
          <a:bodyPr wrap="none" lIns="0" tIns="0" rIns="0" bIns="0" anchor="t">
            <a:noAutofit/>
          </a:bodyPr>
          <a:lstStyle/>
          <a:p>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a:ext uri="{FF2B5EF4-FFF2-40B4-BE49-F238E27FC236}">
                <ns2:creationId id="{12D17C5D-9014-4FB5-9293-F1B63B7F5BB5}"/>
              </a:ext>
            </a:extLst>
          </p:cNvPr>
          <p:cNvSpPr>
            <a:spLocks noGrp="1"/>
          </p:cNvSpPr>
          <p:nvPr/>
        </p:nvSpPr>
        <p:spPr>
          <a:xfrm>
            <a:off x="1752600" y="5109305"/>
            <a:ext cx="9829800" cy="9525"/>
          </a:xfrm>
          <a:prstGeom prst="rect">
            <a:avLst/>
          </a:prstGeom>
          <a:solidFill>
            <a:srgbClr val="D4D4D4"/>
          </a:solidFill>
          <a:ln w="0">
            <a:noFill/>
          </a:ln>
        </p:spPr>
      </p:sp>
      <p:sp>
        <p:nvSpPr>
          <p:cNvPr id="13" name="text-372.4-64">
            <a:extLst>
              <a:ext uri="{FF2B5EF4-FFF2-40B4-BE49-F238E27FC236}">
                <ns2:creationId id="{9784F220-1D04-42DE-A153-493A6839792B}"/>
              </a:ext>
            </a:extLst>
          </p:cNvPr>
          <p:cNvSpPr>
            <a:spLocks noGrp="1"/>
          </p:cNvSpPr>
          <p:nvPr/>
        </p:nvSpPr>
        <p:spPr>
          <a:xfrm>
            <a:off x="609600" y="3293174"/>
            <a:ext cx="10972800" cy="1549432"/>
          </a:xfrm>
          <a:prstGeom prst="rect">
            <a:avLst/>
          </a:prstGeom>
          <a:noFill/>
          <a:ln w="0">
            <a:noFill/>
          </a:ln>
        </p:spPr>
        <p:txBody>
          <a:bodyPr wrap="none" lIns="0" tIns="0" rIns="0" bIns="0" anchor="t">
            <a:noAutofit/>
          </a:bodyPr>
          <a:lstStyle/>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예: [5,2,4,1]의 앞부분은 [2,5], 다음 [2,4,5]로 정렬된다.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key보다 큰 값만 옮기므로 같은 값의 원래 순서를 유지한다.</a:t>
            </a:r>
          </a:p>
          <a:p>
            <a:pPr>
              <a:lnSpc>
                <a:spcPct val="108000"/>
              </a:lnSpc>
              <a:spcBef>
                <a:spcPts val="0"/>
              </a:spcBef>
              <a:spcAft>
                <a:spcPts val="0"/>
              </a:spcAft>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최선 Θ(n), 최악 Θ(n²), 추가 공간 Θ(1). 원본 배열을 바꾼다.</a:t>
            </a:r>
          </a:p>
        </p:txBody>
      </p:sp>
    </p:spTree>
    <p:extLst>
      <p:ext uri="{BB962C8B-B14F-4D97-AF65-F5344CB8AC3E}">
        <ns3:creationId val="462685519"/>
      </p:ext>
    </p:extLst>
  </p:cSld>
</p:sld>
</file>

<file path=ppt/slides/slide20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7" name="text-28-64">
            <a:extLst>
              <a:ext uri="{FF2B5EF4-FFF2-40B4-BE49-F238E27FC236}">
                <ns2:creationId id="{BCDCC4E7-0CF6-4946-AAA8-C7FF8F14A37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a:ext uri="{FF2B5EF4-FFF2-40B4-BE49-F238E27FC236}">
                <ns2:creationId id="{633F5CE9-E286-44BF-BF16-77D4CCBD7DC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AD141E6D-4BAB-47C1-8298-97219401EBD8}"/>
              </a:ext>
            </a:extLst>
          </p:cNvPr>
          <p:cNvSpPr>
            <a:spLocks noGrp="1"/>
          </p:cNvSpPr>
          <p:nvPr/>
        </p:nvSpPr>
        <p:spPr>
          <a:xfrm>
            <a:off x="590550" y="685800"/>
            <a:ext cx="10991850" cy="638175"/>
          </a:xfrm>
          <a:prstGeom prst="rect">
            <a:avLst/>
          </a:prstGeom>
          <a:noFill/>
          <a:ln w="0">
            <a:noFill/>
          </a:ln>
        </p:spPr>
        <p:txBody>
          <a:bodyPr wrap="square" lIns="0" tIns="0" rIns="0" bIns="0" anchor="t">
            <a:noAutofit/>
          </a:bodyPr>
          <a:lstStyle/>
          <a:p>
            <a:pPr>
              <a:lnSpc>
                <a:spcPct val="108000"/>
              </a:lnSpc>
              <a:defRPr sz="1800">
                <a:solidFill>
                  <a:srgbClr val="5B5B5B"/>
                </a:solidFill>
                <a:latin typeface="Malgun Gothic"/>
                <a:ea typeface="Malgun Gothic"/>
                <a:cs typeface="Malgun Gothic"/>
              </a:defRPr>
              <a:spcBef>
                <a:spcPts val="0"/>
              </a:spcBef>
              <a:spcAft>
                <a:spcPts val="0"/>
              </a:spcAft>
            </a:pPr>
            <a:r>
              <a:rPr sz="3000" b="1" i="0">
                <a:solidFill>
                  <a:srgbClr val="171717"/>
                </a:solidFill>
                <a:latin typeface="Malgun Gothic"/>
                <a:ea typeface="Malgun Gothic"/>
                <a:cs typeface="Malgun Gothic"/>
              </a:rPr>
              <a:t>문제 97  Python 구현</a:t>
            </a:r>
          </a:p>
        </p:txBody>
      </p:sp>
      <p:sp>
        <p:nvSpPr>
          <p:cNvPr id="4" name="">
            <a:extLst>
              <a:ext uri="{FF2B5EF4-FFF2-40B4-BE49-F238E27FC236}">
                <ns2:creationId id="{7E644142-5174-4F6E-A9AA-16C49CE1550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71FE726-7282-47EF-BC3C-728A5EBA768C}"/>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99048307-2E08-4639-8BC8-B4699A489EC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39D6D21B-D21D-482E-A8CE-41EA994C1574}"/>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207</a:t>
            </a:r>
          </a:p>
        </p:txBody>
      </p:sp>
      <p:sp>
        <p:nvSpPr>
          <p:cNvPr id="8" name="text-163-64">
            <a:extLst>
              <a:ext uri="{FF2B5EF4-FFF2-40B4-BE49-F238E27FC236}">
                <ns2:creationId id="{3880C354-6AF4-4313-B71F-479F29EE8C0C}"/>
              </a:ext>
            </a:extLst>
          </p:cNvPr>
          <p:cNvSpPr>
            <a:spLocks noGrp="1"/>
          </p:cNvSpPr>
          <p:nvPr/>
        </p:nvSpPr>
        <p:spPr>
          <a:xfrm>
            <a:off x="609600" y="1552575"/>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삽입 정렬</a:t>
            </a:r>
          </a:p>
        </p:txBody>
      </p:sp>
      <p:sp>
        <p:nvSpPr>
          <p:cNvPr id="9" name="">
            <a:extLst>
              <a:ext uri="{FF2B5EF4-FFF2-40B4-BE49-F238E27FC236}">
                <ns2:creationId id="{71FEBF50-9B92-449A-A7F2-6354713A99F0}"/>
              </a:ext>
            </a:extLst>
          </p:cNvPr>
          <p:cNvSpPr>
            <a:spLocks noGrp="1"/>
          </p:cNvSpPr>
          <p:nvPr/>
        </p:nvSpPr>
        <p:spPr>
          <a:xfrm>
            <a:off x="609600" y="1981200"/>
            <a:ext cx="10972800" cy="3962400"/>
          </a:xfrm>
          <a:prstGeom prst="rect">
            <a:avLst/>
          </a:prstGeom>
          <a:solidFill>
            <a:srgbClr val="171717"/>
          </a:solidFill>
          <a:ln w="0">
            <a:noFill/>
          </a:ln>
        </p:spPr>
      </p:sp>
      <p:sp>
        <p:nvSpPr>
          <p:cNvPr id="10" name="text-222-81">
            <a:extLst>
              <a:ext uri="{FF2B5EF4-FFF2-40B4-BE49-F238E27FC236}">
                <ns2:creationId id="{D59CA1E5-FB0B-414C-B6F4-8942C5A20C12}"/>
              </a:ext>
            </a:extLst>
          </p:cNvPr>
          <p:cNvSpPr>
            <a:spLocks noGrp="1"/>
          </p:cNvSpPr>
          <p:nvPr/>
        </p:nvSpPr>
        <p:spPr>
          <a:xfrm>
            <a:off x="904875" y="2152650"/>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a:ext uri="{FF2B5EF4-FFF2-40B4-BE49-F238E27FC236}">
                <ns2:creationId id="{20F39BCA-A626-4E38-8B49-9B1EB783893D}"/>
              </a:ext>
            </a:extLst>
          </p:cNvPr>
          <p:cNvSpPr>
            <a:spLocks noGrp="1"/>
          </p:cNvSpPr>
          <p:nvPr/>
        </p:nvSpPr>
        <p:spPr>
          <a:xfrm>
            <a:off x="1285875" y="2114550"/>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def insertion_sort(a):</a:t>
            </a:r>
          </a:p>
        </p:txBody>
      </p:sp>
      <p:sp>
        <p:nvSpPr>
          <p:cNvPr id="12" name="text-242.5-81">
            <a:extLst>
              <a:ext uri="{FF2B5EF4-FFF2-40B4-BE49-F238E27FC236}">
                <ns2:creationId id="{7753A66E-D100-4DA7-A49D-7E6566796463}"/>
              </a:ext>
            </a:extLst>
          </p:cNvPr>
          <p:cNvSpPr>
            <a:spLocks noGrp="1"/>
          </p:cNvSpPr>
          <p:nvPr/>
        </p:nvSpPr>
        <p:spPr>
          <a:xfrm>
            <a:off x="904875" y="2464689"/>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a:ext uri="{FF2B5EF4-FFF2-40B4-BE49-F238E27FC236}">
                <ns2:creationId id="{912F81F0-B7D2-480C-83AD-08EE613EFFD1}"/>
              </a:ext>
            </a:extLst>
          </p:cNvPr>
          <p:cNvSpPr>
            <a:spLocks noGrp="1"/>
          </p:cNvSpPr>
          <p:nvPr/>
        </p:nvSpPr>
        <p:spPr>
          <a:xfrm>
            <a:off x="1285875" y="2426589"/>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for i in range(1, len(a)):</a:t>
            </a:r>
          </a:p>
        </p:txBody>
      </p:sp>
      <p:sp>
        <p:nvSpPr>
          <p:cNvPr id="14" name="text-263-81">
            <a:extLst>
              <a:ext uri="{FF2B5EF4-FFF2-40B4-BE49-F238E27FC236}">
                <ns2:creationId id="{0E59A878-9B08-4FCB-B6FF-D21593425480}"/>
              </a:ext>
            </a:extLst>
          </p:cNvPr>
          <p:cNvSpPr>
            <a:spLocks noGrp="1"/>
          </p:cNvSpPr>
          <p:nvPr/>
        </p:nvSpPr>
        <p:spPr>
          <a:xfrm>
            <a:off x="904875" y="2776728"/>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a:ext uri="{FF2B5EF4-FFF2-40B4-BE49-F238E27FC236}">
                <ns2:creationId id="{D373D9A0-1ABA-4E58-83B5-0EE7B789E9ED}"/>
              </a:ext>
            </a:extLst>
          </p:cNvPr>
          <p:cNvSpPr>
            <a:spLocks noGrp="1"/>
          </p:cNvSpPr>
          <p:nvPr/>
        </p:nvSpPr>
        <p:spPr>
          <a:xfrm>
            <a:off x="1285875" y="2738628"/>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key = a[i]</a:t>
            </a:r>
          </a:p>
        </p:txBody>
      </p:sp>
      <p:sp>
        <p:nvSpPr>
          <p:cNvPr id="16" name="text-283.5-81">
            <a:extLst>
              <a:ext uri="{FF2B5EF4-FFF2-40B4-BE49-F238E27FC236}">
                <ns2:creationId id="{6A8DA337-A77D-413C-BC09-AAED59962EF8}"/>
              </a:ext>
            </a:extLst>
          </p:cNvPr>
          <p:cNvSpPr>
            <a:spLocks noGrp="1"/>
          </p:cNvSpPr>
          <p:nvPr/>
        </p:nvSpPr>
        <p:spPr>
          <a:xfrm>
            <a:off x="904875" y="3088767"/>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a:ext uri="{FF2B5EF4-FFF2-40B4-BE49-F238E27FC236}">
                <ns2:creationId id="{2F7C6E16-DAF6-4938-9548-4C24F822CB27}"/>
              </a:ext>
            </a:extLst>
          </p:cNvPr>
          <p:cNvSpPr>
            <a:spLocks noGrp="1"/>
          </p:cNvSpPr>
          <p:nvPr/>
        </p:nvSpPr>
        <p:spPr>
          <a:xfrm>
            <a:off x="1285875" y="3050667"/>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j = i - 1</a:t>
            </a:r>
          </a:p>
        </p:txBody>
      </p:sp>
      <p:sp>
        <p:nvSpPr>
          <p:cNvPr id="18" name="text-304-81">
            <a:extLst>
              <a:ext uri="{FF2B5EF4-FFF2-40B4-BE49-F238E27FC236}">
                <ns2:creationId id="{67B478BD-8EEC-4849-9FAD-F2E70E351820}"/>
              </a:ext>
            </a:extLst>
          </p:cNvPr>
          <p:cNvSpPr>
            <a:spLocks noGrp="1"/>
          </p:cNvSpPr>
          <p:nvPr/>
        </p:nvSpPr>
        <p:spPr>
          <a:xfrm>
            <a:off x="904875" y="3400806"/>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a:ext uri="{FF2B5EF4-FFF2-40B4-BE49-F238E27FC236}">
                <ns2:creationId id="{85A3305F-7F2F-41BA-AD63-DAF77DF650E4}"/>
              </a:ext>
            </a:extLst>
          </p:cNvPr>
          <p:cNvSpPr>
            <a:spLocks noGrp="1"/>
          </p:cNvSpPr>
          <p:nvPr/>
        </p:nvSpPr>
        <p:spPr>
          <a:xfrm>
            <a:off x="1285875" y="3362706"/>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while j &gt;= 0 and a[j] &gt; key:</a:t>
            </a:r>
          </a:p>
        </p:txBody>
      </p:sp>
      <p:sp>
        <p:nvSpPr>
          <p:cNvPr id="20" name="text-324.5-81">
            <a:extLst>
              <a:ext uri="{FF2B5EF4-FFF2-40B4-BE49-F238E27FC236}">
                <ns2:creationId id="{2E304F99-A951-45AD-9131-A369F711A893}"/>
              </a:ext>
            </a:extLst>
          </p:cNvPr>
          <p:cNvSpPr>
            <a:spLocks noGrp="1"/>
          </p:cNvSpPr>
          <p:nvPr/>
        </p:nvSpPr>
        <p:spPr>
          <a:xfrm>
            <a:off x="904875" y="3712845"/>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a:ext uri="{FF2B5EF4-FFF2-40B4-BE49-F238E27FC236}">
                <ns2:creationId id="{1649EA25-D346-4E31-B198-4FFB015B4AF5}"/>
              </a:ext>
            </a:extLst>
          </p:cNvPr>
          <p:cNvSpPr>
            <a:spLocks noGrp="1"/>
          </p:cNvSpPr>
          <p:nvPr/>
        </p:nvSpPr>
        <p:spPr>
          <a:xfrm>
            <a:off x="1285875" y="3674745"/>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a[j + 1] = a[j]</a:t>
            </a:r>
          </a:p>
        </p:txBody>
      </p:sp>
      <p:sp>
        <p:nvSpPr>
          <p:cNvPr id="22" name="text-345-81">
            <a:extLst>
              <a:ext uri="{FF2B5EF4-FFF2-40B4-BE49-F238E27FC236}">
                <ns2:creationId id="{E151000D-A507-415B-A1C7-82FB066D8B57}"/>
              </a:ext>
            </a:extLst>
          </p:cNvPr>
          <p:cNvSpPr>
            <a:spLocks noGrp="1"/>
          </p:cNvSpPr>
          <p:nvPr/>
        </p:nvSpPr>
        <p:spPr>
          <a:xfrm>
            <a:off x="904875" y="4024884"/>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a:ext uri="{FF2B5EF4-FFF2-40B4-BE49-F238E27FC236}">
                <ns2:creationId id="{8C370DA1-09C4-4B96-AC71-9EFA336543E8}"/>
              </a:ext>
            </a:extLst>
          </p:cNvPr>
          <p:cNvSpPr>
            <a:spLocks noGrp="1"/>
          </p:cNvSpPr>
          <p:nvPr/>
        </p:nvSpPr>
        <p:spPr>
          <a:xfrm>
            <a:off x="1285875" y="3986784"/>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j -= 1</a:t>
            </a:r>
          </a:p>
        </p:txBody>
      </p:sp>
      <p:sp>
        <p:nvSpPr>
          <p:cNvPr id="24" name="text-365.5-81">
            <a:extLst>
              <a:ext uri="{FF2B5EF4-FFF2-40B4-BE49-F238E27FC236}">
                <ns2:creationId id="{CF0FCCDE-18B4-43A0-ACF3-A0FF03E5E882}"/>
              </a:ext>
            </a:extLst>
          </p:cNvPr>
          <p:cNvSpPr>
            <a:spLocks noGrp="1"/>
          </p:cNvSpPr>
          <p:nvPr/>
        </p:nvSpPr>
        <p:spPr>
          <a:xfrm>
            <a:off x="904875" y="4336923"/>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08</a:t>
            </a:r>
          </a:p>
        </p:txBody>
      </p:sp>
      <p:sp>
        <p:nvSpPr>
          <p:cNvPr id="25" name="text-365.5-135">
            <a:extLst>
              <a:ext uri="{FF2B5EF4-FFF2-40B4-BE49-F238E27FC236}">
                <ns2:creationId id="{C78CE054-C8B4-497B-8AC4-FC7EF03B04CD}"/>
              </a:ext>
            </a:extLst>
          </p:cNvPr>
          <p:cNvSpPr>
            <a:spLocks noGrp="1"/>
          </p:cNvSpPr>
          <p:nvPr/>
        </p:nvSpPr>
        <p:spPr>
          <a:xfrm>
            <a:off x="1285875" y="4298823"/>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a[j + 1] = key</a:t>
            </a:r>
          </a:p>
        </p:txBody>
      </p:sp>
      <p:sp>
        <p:nvSpPr>
          <p:cNvPr id="26" name="text-635-64">
            <a:extLst>
              <a:ext uri="{FF2B5EF4-FFF2-40B4-BE49-F238E27FC236}">
                <ns2:creationId id="{148D5D98-08C9-4282-AAF4-FC416E225AF9}"/>
              </a:ext>
            </a:extLst>
          </p:cNvPr>
          <p:cNvSpPr>
            <a:spLocks noGrp="1"/>
          </p:cNvSpPr>
          <p:nvPr/>
        </p:nvSpPr>
        <p:spPr>
          <a:xfrm>
            <a:off x="609600" y="6048375"/>
            <a:ext cx="10972800" cy="213360"/>
          </a:xfrm>
          <a:prstGeom prst="rect">
            <a:avLst/>
          </a:prstGeom>
          <a:noFill/>
          <a:ln w="0">
            <a:noFill/>
          </a:ln>
        </p:spPr>
        <p:txBody>
          <a:bodyPr wrap="none" lIns="0" tIns="0" rIns="0" bIns="0" anchor="t">
            <a:noAutofit/>
          </a:bodyPr>
          <a:lstStyle/>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최악 시간 O(n²), 정렬된 입력 O(n).</a:t>
            </a:r>
          </a:p>
        </p:txBody>
      </p:sp>
    </p:spTree>
    <p:extLst>
      <p:ext uri="{BB962C8B-B14F-4D97-AF65-F5344CB8AC3E}">
        <ns3:creationId val="462685519"/>
      </p:ext>
    </p:extLst>
  </p:cSld>
</p:sld>
</file>

<file path=ppt/slides/slide20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31" name="text-28-64">
            <a:extLst>
              <a:ext uri="{FF2B5EF4-FFF2-40B4-BE49-F238E27FC236}">
                <ns2:creationId id="{6A654DA5-D6F7-4793-BE99-17A8FF37117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a:ext uri="{FF2B5EF4-FFF2-40B4-BE49-F238E27FC236}">
                <ns2:creationId id="{1D5F44F6-D3CB-4EC1-9E39-8F5AE5037E0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4508EB53-5FA2-4EBD-92C5-AD863304557A}"/>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97  C 구현</a:t>
            </a:r>
          </a:p>
        </p:txBody>
      </p:sp>
      <p:sp>
        <p:nvSpPr>
          <p:cNvPr id="4" name="">
            <a:extLst>
              <a:ext uri="{FF2B5EF4-FFF2-40B4-BE49-F238E27FC236}">
                <ns2:creationId id="{23AF97E1-143F-4DF3-968A-913522B95F9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39BCDD3-6635-4A58-990B-B6AF1334BCD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049BDACB-F642-46A6-A16F-D29B747D3E76}"/>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734286C7-34E9-47BB-BFAA-E72E88DB3108}"/>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208</a:t>
            </a:r>
          </a:p>
        </p:txBody>
      </p:sp>
      <p:sp>
        <p:nvSpPr>
          <p:cNvPr id="8" name="text-163-64">
            <a:extLst>
              <a:ext uri="{FF2B5EF4-FFF2-40B4-BE49-F238E27FC236}">
                <ns2:creationId id="{53694D93-E28E-4981-93A7-59E03ABA9778}"/>
              </a:ext>
            </a:extLst>
          </p:cNvPr>
          <p:cNvSpPr>
            <a:spLocks noGrp="1"/>
          </p:cNvSpPr>
          <p:nvPr/>
        </p:nvSpPr>
        <p:spPr>
          <a:xfrm>
            <a:off x="609600" y="1552575"/>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삽입 정렬</a:t>
            </a:r>
          </a:p>
        </p:txBody>
      </p:sp>
      <p:sp>
        <p:nvSpPr>
          <p:cNvPr id="9" name="">
            <a:extLst>
              <a:ext uri="{FF2B5EF4-FFF2-40B4-BE49-F238E27FC236}">
                <ns2:creationId id="{6D0AEC33-87DE-4D3A-93B2-8A5DFA3C8EB4}"/>
              </a:ext>
            </a:extLst>
          </p:cNvPr>
          <p:cNvSpPr>
            <a:spLocks noGrp="1"/>
          </p:cNvSpPr>
          <p:nvPr/>
        </p:nvSpPr>
        <p:spPr>
          <a:xfrm>
            <a:off x="609600" y="1981200"/>
            <a:ext cx="10972800" cy="3962400"/>
          </a:xfrm>
          <a:prstGeom prst="rect">
            <a:avLst/>
          </a:prstGeom>
          <a:solidFill>
            <a:srgbClr val="171717"/>
          </a:solidFill>
          <a:ln w="0">
            <a:noFill/>
          </a:ln>
        </p:spPr>
      </p:sp>
      <p:sp>
        <p:nvSpPr>
          <p:cNvPr id="10" name="text-222-81">
            <a:extLst>
              <a:ext uri="{FF2B5EF4-FFF2-40B4-BE49-F238E27FC236}">
                <ns2:creationId id="{B9E542A6-4288-45D1-AF3E-DB2140A90C5E}"/>
              </a:ext>
            </a:extLst>
          </p:cNvPr>
          <p:cNvSpPr>
            <a:spLocks noGrp="1"/>
          </p:cNvSpPr>
          <p:nvPr/>
        </p:nvSpPr>
        <p:spPr>
          <a:xfrm>
            <a:off x="904875" y="2152650"/>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a:ext uri="{FF2B5EF4-FFF2-40B4-BE49-F238E27FC236}">
                <ns2:creationId id="{1DA8FBEF-4349-4B60-8F2C-15A13D540101}"/>
              </a:ext>
            </a:extLst>
          </p:cNvPr>
          <p:cNvSpPr>
            <a:spLocks noGrp="1"/>
          </p:cNvSpPr>
          <p:nvPr/>
        </p:nvSpPr>
        <p:spPr>
          <a:xfrm>
            <a:off x="1285875" y="2114550"/>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void insertion_sort(int a[], int n) {</a:t>
            </a:r>
          </a:p>
        </p:txBody>
      </p:sp>
      <p:sp>
        <p:nvSpPr>
          <p:cNvPr id="12" name="text-242.5-81">
            <a:extLst>
              <a:ext uri="{FF2B5EF4-FFF2-40B4-BE49-F238E27FC236}">
                <ns2:creationId id="{B1185535-C689-48F6-B0DE-EDB0008561CE}"/>
              </a:ext>
            </a:extLst>
          </p:cNvPr>
          <p:cNvSpPr>
            <a:spLocks noGrp="1"/>
          </p:cNvSpPr>
          <p:nvPr/>
        </p:nvSpPr>
        <p:spPr>
          <a:xfrm>
            <a:off x="904875" y="2464689"/>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a:ext uri="{FF2B5EF4-FFF2-40B4-BE49-F238E27FC236}">
                <ns2:creationId id="{201A8F27-B64D-4A93-93F2-E5D73ADA05F4}"/>
              </a:ext>
            </a:extLst>
          </p:cNvPr>
          <p:cNvSpPr>
            <a:spLocks noGrp="1"/>
          </p:cNvSpPr>
          <p:nvPr/>
        </p:nvSpPr>
        <p:spPr>
          <a:xfrm>
            <a:off x="1285875" y="2426589"/>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for (int i = 1; i &lt; n; ++i) {</a:t>
            </a:r>
          </a:p>
        </p:txBody>
      </p:sp>
      <p:sp>
        <p:nvSpPr>
          <p:cNvPr id="14" name="text-263-81">
            <a:extLst>
              <a:ext uri="{FF2B5EF4-FFF2-40B4-BE49-F238E27FC236}">
                <ns2:creationId id="{59A6166F-50B3-49CD-B809-976933B648FD}"/>
              </a:ext>
            </a:extLst>
          </p:cNvPr>
          <p:cNvSpPr>
            <a:spLocks noGrp="1"/>
          </p:cNvSpPr>
          <p:nvPr/>
        </p:nvSpPr>
        <p:spPr>
          <a:xfrm>
            <a:off x="904875" y="2776728"/>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a:ext uri="{FF2B5EF4-FFF2-40B4-BE49-F238E27FC236}">
                <ns2:creationId id="{32F478DF-97D4-452B-BD35-F556271E2384}"/>
              </a:ext>
            </a:extLst>
          </p:cNvPr>
          <p:cNvSpPr>
            <a:spLocks noGrp="1"/>
          </p:cNvSpPr>
          <p:nvPr/>
        </p:nvSpPr>
        <p:spPr>
          <a:xfrm>
            <a:off x="1285875" y="2738628"/>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int key = a[i], j = i - 1;</a:t>
            </a:r>
          </a:p>
        </p:txBody>
      </p:sp>
      <p:sp>
        <p:nvSpPr>
          <p:cNvPr id="16" name="text-283.5-81">
            <a:extLst>
              <a:ext uri="{FF2B5EF4-FFF2-40B4-BE49-F238E27FC236}">
                <ns2:creationId id="{8CBB851C-5A3A-46AF-9A58-A9BE42AADC7D}"/>
              </a:ext>
            </a:extLst>
          </p:cNvPr>
          <p:cNvSpPr>
            <a:spLocks noGrp="1"/>
          </p:cNvSpPr>
          <p:nvPr/>
        </p:nvSpPr>
        <p:spPr>
          <a:xfrm>
            <a:off x="904875" y="3088767"/>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a:ext uri="{FF2B5EF4-FFF2-40B4-BE49-F238E27FC236}">
                <ns2:creationId id="{CFB23323-697A-402F-88C6-5085FCAADCF4}"/>
              </a:ext>
            </a:extLst>
          </p:cNvPr>
          <p:cNvSpPr>
            <a:spLocks noGrp="1"/>
          </p:cNvSpPr>
          <p:nvPr/>
        </p:nvSpPr>
        <p:spPr>
          <a:xfrm>
            <a:off x="1285875" y="3050667"/>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while (j &gt;= 0 &amp;&amp; a[j] &gt; key) {</a:t>
            </a:r>
          </a:p>
        </p:txBody>
      </p:sp>
      <p:sp>
        <p:nvSpPr>
          <p:cNvPr id="18" name="text-304-81">
            <a:extLst>
              <a:ext uri="{FF2B5EF4-FFF2-40B4-BE49-F238E27FC236}">
                <ns2:creationId id="{EEFFAA44-F881-4F23-83FD-27C30C3BF6C5}"/>
              </a:ext>
            </a:extLst>
          </p:cNvPr>
          <p:cNvSpPr>
            <a:spLocks noGrp="1"/>
          </p:cNvSpPr>
          <p:nvPr/>
        </p:nvSpPr>
        <p:spPr>
          <a:xfrm>
            <a:off x="904875" y="3400806"/>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a:ext uri="{FF2B5EF4-FFF2-40B4-BE49-F238E27FC236}">
                <ns2:creationId id="{F02E81A7-4A93-4A9E-90F1-BB1D079D31AD}"/>
              </a:ext>
            </a:extLst>
          </p:cNvPr>
          <p:cNvSpPr>
            <a:spLocks noGrp="1"/>
          </p:cNvSpPr>
          <p:nvPr/>
        </p:nvSpPr>
        <p:spPr>
          <a:xfrm>
            <a:off x="1285875" y="3362706"/>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a[j + 1] = a[j];</a:t>
            </a:r>
          </a:p>
        </p:txBody>
      </p:sp>
      <p:sp>
        <p:nvSpPr>
          <p:cNvPr id="20" name="text-324.5-81">
            <a:extLst>
              <a:ext uri="{FF2B5EF4-FFF2-40B4-BE49-F238E27FC236}">
                <ns2:creationId id="{04E7E9B3-9AED-45E8-8AC3-62820E0F4759}"/>
              </a:ext>
            </a:extLst>
          </p:cNvPr>
          <p:cNvSpPr>
            <a:spLocks noGrp="1"/>
          </p:cNvSpPr>
          <p:nvPr/>
        </p:nvSpPr>
        <p:spPr>
          <a:xfrm>
            <a:off x="904875" y="3712845"/>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a:ext uri="{FF2B5EF4-FFF2-40B4-BE49-F238E27FC236}">
                <ns2:creationId id="{564553CB-949E-4B58-9089-F5E34C5B3AFF}"/>
              </a:ext>
            </a:extLst>
          </p:cNvPr>
          <p:cNvSpPr>
            <a:spLocks noGrp="1"/>
          </p:cNvSpPr>
          <p:nvPr/>
        </p:nvSpPr>
        <p:spPr>
          <a:xfrm>
            <a:off x="1285875" y="3674745"/>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--j;</a:t>
            </a:r>
          </a:p>
        </p:txBody>
      </p:sp>
      <p:sp>
        <p:nvSpPr>
          <p:cNvPr id="22" name="text-345-81">
            <a:extLst>
              <a:ext uri="{FF2B5EF4-FFF2-40B4-BE49-F238E27FC236}">
                <ns2:creationId id="{F585EC61-6640-4374-9564-DBE4EADFE92E}"/>
              </a:ext>
            </a:extLst>
          </p:cNvPr>
          <p:cNvSpPr>
            <a:spLocks noGrp="1"/>
          </p:cNvSpPr>
          <p:nvPr/>
        </p:nvSpPr>
        <p:spPr>
          <a:xfrm>
            <a:off x="904875" y="4024884"/>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a:ext uri="{FF2B5EF4-FFF2-40B4-BE49-F238E27FC236}">
                <ns2:creationId id="{3B9B46CA-E90A-4EB3-933F-56185D48DE9A}"/>
              </a:ext>
            </a:extLst>
          </p:cNvPr>
          <p:cNvSpPr>
            <a:spLocks noGrp="1"/>
          </p:cNvSpPr>
          <p:nvPr/>
        </p:nvSpPr>
        <p:spPr>
          <a:xfrm>
            <a:off x="1285875" y="3986784"/>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t>
            </a:r>
          </a:p>
        </p:txBody>
      </p:sp>
      <p:sp>
        <p:nvSpPr>
          <p:cNvPr id="24" name="text-365.5-81">
            <a:extLst>
              <a:ext uri="{FF2B5EF4-FFF2-40B4-BE49-F238E27FC236}">
                <ns2:creationId id="{A4A33EB2-1BB3-46A4-90C1-04C1940FE863}"/>
              </a:ext>
            </a:extLst>
          </p:cNvPr>
          <p:cNvSpPr>
            <a:spLocks noGrp="1"/>
          </p:cNvSpPr>
          <p:nvPr/>
        </p:nvSpPr>
        <p:spPr>
          <a:xfrm>
            <a:off x="904875" y="4336923"/>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08</a:t>
            </a:r>
          </a:p>
        </p:txBody>
      </p:sp>
      <p:sp>
        <p:nvSpPr>
          <p:cNvPr id="25" name="text-365.5-135">
            <a:extLst>
              <a:ext uri="{FF2B5EF4-FFF2-40B4-BE49-F238E27FC236}">
                <ns2:creationId id="{047B18F2-5F71-4B01-A0BD-75979958C2FE}"/>
              </a:ext>
            </a:extLst>
          </p:cNvPr>
          <p:cNvSpPr>
            <a:spLocks noGrp="1"/>
          </p:cNvSpPr>
          <p:nvPr/>
        </p:nvSpPr>
        <p:spPr>
          <a:xfrm>
            <a:off x="1285875" y="4298823"/>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a[j + 1] = key;</a:t>
            </a:r>
          </a:p>
        </p:txBody>
      </p:sp>
      <p:sp>
        <p:nvSpPr>
          <p:cNvPr id="26" name="text-386-81">
            <a:extLst>
              <a:ext uri="{FF2B5EF4-FFF2-40B4-BE49-F238E27FC236}">
                <ns2:creationId id="{98B0A52C-CBA2-4BF1-8B24-F162C45CD1D0}"/>
              </a:ext>
            </a:extLst>
          </p:cNvPr>
          <p:cNvSpPr>
            <a:spLocks noGrp="1"/>
          </p:cNvSpPr>
          <p:nvPr/>
        </p:nvSpPr>
        <p:spPr>
          <a:xfrm>
            <a:off x="904875" y="4648962"/>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09</a:t>
            </a:r>
          </a:p>
        </p:txBody>
      </p:sp>
      <p:sp>
        <p:nvSpPr>
          <p:cNvPr id="27" name="text-386-135">
            <a:extLst>
              <a:ext uri="{FF2B5EF4-FFF2-40B4-BE49-F238E27FC236}">
                <ns2:creationId id="{458B5685-C999-4607-A87B-4C64EE22E078}"/>
              </a:ext>
            </a:extLst>
          </p:cNvPr>
          <p:cNvSpPr>
            <a:spLocks noGrp="1"/>
          </p:cNvSpPr>
          <p:nvPr/>
        </p:nvSpPr>
        <p:spPr>
          <a:xfrm>
            <a:off x="1285875" y="4610862"/>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t>
            </a:r>
          </a:p>
        </p:txBody>
      </p:sp>
      <p:sp>
        <p:nvSpPr>
          <p:cNvPr id="28" name="text-406.5-81">
            <a:extLst>
              <a:ext uri="{FF2B5EF4-FFF2-40B4-BE49-F238E27FC236}">
                <ns2:creationId id="{69C52B2B-59EA-4CB0-A8B5-E2B34B5FDA59}"/>
              </a:ext>
            </a:extLst>
          </p:cNvPr>
          <p:cNvSpPr>
            <a:spLocks noGrp="1"/>
          </p:cNvSpPr>
          <p:nvPr/>
        </p:nvSpPr>
        <p:spPr>
          <a:xfrm>
            <a:off x="904875" y="4961001"/>
            <a:ext cx="317500" cy="279400"/>
          </a:xfrm>
          <a:prstGeom prst="rect">
            <a:avLst/>
          </a:prstGeom>
          <a:noFill/>
          <a:ln w="0">
            <a:noFill/>
          </a:ln>
        </p:spPr>
        <p:txBody>
          <a:bodyPr wrap="square" lIns="0" tIns="0" rIns="0" bIns="0" anchor="t">
            <a:noAutofit/>
          </a:bodyPr>
          <a:lstStyle/>
          <a:p>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10</a:t>
            </a:r>
          </a:p>
        </p:txBody>
      </p:sp>
      <p:sp>
        <p:nvSpPr>
          <p:cNvPr id="29" name="text-406.5-135">
            <a:extLst>
              <a:ext uri="{FF2B5EF4-FFF2-40B4-BE49-F238E27FC236}">
                <ns2:creationId id="{1E3B015D-8C97-4B38-A93F-45DDF4632D6F}"/>
              </a:ext>
            </a:extLst>
          </p:cNvPr>
          <p:cNvSpPr>
            <a:spLocks noGrp="1"/>
          </p:cNvSpPr>
          <p:nvPr/>
        </p:nvSpPr>
        <p:spPr>
          <a:xfrm>
            <a:off x="1285875" y="4922901"/>
            <a:ext cx="10115550" cy="317500"/>
          </a:xfrm>
          <a:prstGeom prst="rect">
            <a:avLst/>
          </a:prstGeom>
          <a:noFill/>
          <a:ln w="0">
            <a:noFill/>
          </a:ln>
        </p:spPr>
        <p:txBody>
          <a:bodyPr wrap="none" lIns="0" tIns="0" rIns="0" bIns="0" anchor="t">
            <a:noAutofit/>
          </a:bodyPr>
          <a:lstStyle/>
          <a:p>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a:t>
            </a:r>
          </a:p>
        </p:txBody>
      </p:sp>
      <p:sp>
        <p:nvSpPr>
          <p:cNvPr id="30" name="text-635-64">
            <a:extLst>
              <a:ext uri="{FF2B5EF4-FFF2-40B4-BE49-F238E27FC236}">
                <ns2:creationId id="{71D46067-33F5-42A5-81DE-E1E08025EB7C}"/>
              </a:ext>
            </a:extLst>
          </p:cNvPr>
          <p:cNvSpPr>
            <a:spLocks noGrp="1"/>
          </p:cNvSpPr>
          <p:nvPr/>
        </p:nvSpPr>
        <p:spPr>
          <a:xfrm>
            <a:off x="609600" y="6048375"/>
            <a:ext cx="10972800" cy="213360"/>
          </a:xfrm>
          <a:prstGeom prst="rect">
            <a:avLst/>
          </a:prstGeom>
          <a:noFill/>
          <a:ln w="0">
            <a:noFill/>
          </a:ln>
        </p:spPr>
        <p:txBody>
          <a:bodyPr wrap="none" lIns="0" tIns="0" rIns="0" bIns="0" anchor="t">
            <a:noAutofit/>
          </a:bodyPr>
          <a:lstStyle/>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최악 시간 O(n²), 정렬된 입력 O(n).</a:t>
            </a:r>
          </a:p>
        </p:txBody>
      </p:sp>
    </p:spTree>
    <p:extLst>
      <p:ext uri="{BB962C8B-B14F-4D97-AF65-F5344CB8AC3E}">
        <ns3:creationId val="462685519"/>
      </p:ext>
    </p:extLst>
  </p:cSld>
</p:sld>
</file>

<file path=ppt/slides/slide20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B6840D6D-5BA7-4019-AA44-DD4282EAE5D9}"/>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a:ext uri="{FF2B5EF4-FFF2-40B4-BE49-F238E27FC236}">
                <ns2:creationId id="{A338B1FE-3A02-424E-9CF0-6031628383A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FD8A3FDE-973B-487A-82BB-A428810FCF19}"/>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98  </a:t>
            </a:r>
          </a:p>
        </p:txBody>
      </p:sp>
      <p:sp>
        <p:nvSpPr>
          <p:cNvPr id="4" name="">
            <a:extLst>
              <a:ext uri="{FF2B5EF4-FFF2-40B4-BE49-F238E27FC236}">
                <ns2:creationId id="{EBFF2AAC-3DAC-404F-9A94-899BDFC5961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D3FD225-1EB1-4883-8AF0-6699BA671147}"/>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D2589AE-2666-411C-BE59-EC62B850CDA5}"/>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3D238AAE-6ACC-474A-BCB5-E717FC995348}"/>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209</a:t>
            </a:r>
          </a:p>
        </p:txBody>
      </p:sp>
      <p:sp>
        <p:nvSpPr>
          <p:cNvPr id="8" name="text-178-64">
            <a:extLst>
              <a:ext uri="{FF2B5EF4-FFF2-40B4-BE49-F238E27FC236}">
                <ns2:creationId id="{755CBB0C-3981-4044-9256-3BC85AA1DAF3}"/>
              </a:ext>
            </a:extLst>
          </p:cNvPr>
          <p:cNvSpPr>
            <a:spLocks noGrp="1"/>
          </p:cNvSpPr>
          <p:nvPr/>
        </p:nvSpPr>
        <p:spPr>
          <a:xfrm>
            <a:off x="609600" y="1695450"/>
            <a:ext cx="10972800" cy="112014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길이 n인 정수 배열 a에서 중복도 각각 세어 k번째로 작은 값을 반환하는 quick_select를</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작성하시오. 1≤n≤1000, 1≤k≤n이며 원소는 C의 int 범위이다. k는 1부터 세는 순위이고</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배열 변경을 허용한다.</a:t>
            </a:r>
          </a:p>
        </p:txBody>
      </p:sp>
      <p:sp>
        <p:nvSpPr>
          <p:cNvPr id="9" name="text-405-64">
            <a:extLst>
              <a:ext uri="{FF2B5EF4-FFF2-40B4-BE49-F238E27FC236}">
                <ns2:creationId id="{062B64FE-15A2-4916-A322-73B79697B860}"/>
              </a:ext>
            </a:extLst>
          </p:cNvPr>
          <p:cNvSpPr>
            <a:spLocks noGrp="1"/>
          </p:cNvSpPr>
          <p:nvPr/>
        </p:nvSpPr>
        <p:spPr>
          <a:xfrm>
            <a:off x="609600" y="296799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quick_select(a,k) / C: int quick_select(int a[],int n,int k)</a:t>
            </a:r>
          </a:p>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또는 C 하나로 함수와 시간 복잡도를 작성하시오. 기본 정수 연산은 O(1)로 센다.</a:t>
            </a:r>
          </a:p>
        </p:txBody>
      </p:sp>
      <p:sp>
        <p:nvSpPr>
          <p:cNvPr id="10" name="">
            <a:extLst>
              <a:ext uri="{FF2B5EF4-FFF2-40B4-BE49-F238E27FC236}">
                <ns2:creationId id="{E5656528-3B66-48EF-B0DC-A6AD19F949F8}"/>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5D3EC116-B440-4910-AEFF-5E1D09940319}"/>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BCB0C35F-7411-4428-9105-CD93742B47D7}"/>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2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A545E9F8-6641-460F-919A-87F251988B4F}"/>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8F880810-881A-435D-A39B-CFEAD3FA6111}"/>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C42C29AE-6A0A-406E-B1C5-CD899AB77E7E}"/>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98  정답과 해설</a:t>
            </a:r>
          </a:p>
        </p:txBody>
      </p:sp>
      <p:sp>
        <p:nvSpPr>
          <p:cNvPr id="4" name="">
            <a:extLst xmlns:a="http://schemas.openxmlformats.org/drawingml/2006/main">
              <a:ext uri="{FF2B5EF4-FFF2-40B4-BE49-F238E27FC236}">
                <a16:creationId xmlns:a16="http://schemas.microsoft.com/office/drawing/2014/main" id="{C47091F3-5F29-49A1-860E-5FBF07942EA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8B51FF-0BD8-4663-AD1B-E6F83BEB5AA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11203C69-7E56-475D-8C15-CD80BF1469A3}"/>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0CDEF66D-C0C3-435F-8AE7-2043AA016734}"/>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210</a:t>
            </a:r>
          </a:p>
        </p:txBody>
      </p:sp>
      <p:sp>
        <p:nvSpPr>
          <p:cNvPr id="8" name="text-178-64">
            <a:extLst xmlns:a="http://schemas.openxmlformats.org/drawingml/2006/main">
              <a:ext uri="{FF2B5EF4-FFF2-40B4-BE49-F238E27FC236}">
                <a16:creationId xmlns:a16="http://schemas.microsoft.com/office/drawing/2014/main" id="{31DD8A5E-BB24-4C92-A0CB-6C72629B6EE9}"/>
              </a:ext>
            </a:extLst>
          </p:cNvPr>
          <p:cNvSpPr>
            <a:spLocks xmlns:a="http://schemas.openxmlformats.org/drawingml/2006/main" noGrp="1"/>
          </p:cNvSpPr>
          <p:nvPr/>
        </p:nvSpPr>
        <p:spPr>
          <a:xfrm xmlns:a="http://schemas.openxmlformats.org/drawingml/2006/main">
            <a:off x="609600" y="169545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퀵 셀렉트</a:t>
            </a:r>
          </a:p>
        </p:txBody>
      </p:sp>
      <p:sp>
        <p:nvSpPr>
          <p:cNvPr id="9" name="">
            <a:extLst xmlns:a="http://schemas.openxmlformats.org/drawingml/2006/main">
              <a:ext uri="{FF2B5EF4-FFF2-40B4-BE49-F238E27FC236}">
                <a16:creationId xmlns:a16="http://schemas.microsoft.com/office/drawing/2014/main" id="{72E28E8F-2D20-4975-B732-458F0FD73B1C}"/>
              </a:ext>
            </a:extLst>
          </p:cNvPr>
          <p:cNvSpPr>
            <a:spLocks xmlns:a="http://schemas.openxmlformats.org/drawingml/2006/main" noGrp="1"/>
          </p:cNvSpPr>
          <p:nvPr/>
        </p:nvSpPr>
        <p:spPr>
          <a:xfrm xmlns:a="http://schemas.openxmlformats.org/drawingml/2006/main">
            <a:off x="609600" y="2205990"/>
            <a:ext cx="10972800" cy="65532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3B7AD763-4803-48E5-BF72-2B2AAEF71CC4}"/>
              </a:ext>
            </a:extLst>
          </p:cNvPr>
          <p:cNvSpPr>
            <a:spLocks xmlns:a="http://schemas.openxmlformats.org/drawingml/2006/main" noGrp="1"/>
          </p:cNvSpPr>
          <p:nvPr/>
        </p:nvSpPr>
        <p:spPr>
          <a:xfrm xmlns:a="http://schemas.openxmlformats.org/drawingml/2006/main">
            <a:off x="876300" y="2332990"/>
            <a:ext cx="10439400" cy="452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2025" b="1" i="0">
                <a:solidFill>
                  <a:srgbClr val="FFFFFF"/>
                </a:solidFill>
                <a:latin typeface="Malgun Gothic"/>
                <a:ea typeface="Malgun Gothic"/>
                <a:cs typeface="Malgun Gothic"/>
              </a:defRPr>
              <a:spcBef>
                <a:spcPts val="0"/>
              </a:spcBef>
              <a:spcAft>
                <a:spcPts val="0"/>
              </a:spcAft>
            </a:pPr>
            <a:r>
              <a:rPr sz="2025" b="1" i="0">
                <a:solidFill>
                  <a:srgbClr val="FFFFFF"/>
                </a:solidFill>
                <a:latin typeface="Malgun Gothic"/>
                <a:ea typeface="Malgun Gothic"/>
                <a:cs typeface="Malgun Gothic"/>
              </a:rPr>
              <a:t>피벗 이하를 앞으로 모으고 피벗의 최종 위치와 목표 인덱스를 비교한다.</a:t>
            </a:r>
          </a:p>
        </p:txBody>
      </p:sp>
      <p:sp>
        <p:nvSpPr>
          <p:cNvPr id="11" name="text-324.4-64">
            <a:extLst xmlns:a="http://schemas.openxmlformats.org/drawingml/2006/main">
              <a:ext uri="{FF2B5EF4-FFF2-40B4-BE49-F238E27FC236}">
                <a16:creationId xmlns:a16="http://schemas.microsoft.com/office/drawing/2014/main" id="{5C4FA828-DC43-4968-A0A1-FD05B921AEFB}"/>
              </a:ext>
            </a:extLst>
          </p:cNvPr>
          <p:cNvSpPr>
            <a:spLocks xmlns:a="http://schemas.openxmlformats.org/drawingml/2006/main" noGrp="1"/>
          </p:cNvSpPr>
          <p:nvPr/>
        </p:nvSpPr>
        <p:spPr>
          <a:xfrm xmlns:a="http://schemas.openxmlformats.org/drawingml/2006/main">
            <a:off x="609600" y="3140710"/>
            <a:ext cx="11811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852A64D6-6B49-4C8D-A13E-5862CBDBF69D}"/>
              </a:ext>
            </a:extLst>
          </p:cNvPr>
          <p:cNvSpPr>
            <a:spLocks xmlns:a="http://schemas.openxmlformats.org/drawingml/2006/main" noGrp="1"/>
          </p:cNvSpPr>
          <p:nvPr/>
        </p:nvSpPr>
        <p:spPr>
          <a:xfrm xmlns:a="http://schemas.openxmlformats.org/drawingml/2006/main">
            <a:off x="1752600" y="335661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EC18B628-C3D9-4EBA-9284-A74B2AC90405}"/>
              </a:ext>
            </a:extLst>
          </p:cNvPr>
          <p:cNvSpPr>
            <a:spLocks xmlns:a="http://schemas.openxmlformats.org/drawingml/2006/main" noGrp="1"/>
          </p:cNvSpPr>
          <p:nvPr/>
        </p:nvSpPr>
        <p:spPr>
          <a:xfrm xmlns:a="http://schemas.openxmlformats.org/drawingml/2006/main">
            <a:off x="609600" y="3648710"/>
            <a:ext cx="10972800" cy="154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목표 인덱스는 k−1로 고정한다. 피벗의 위치 p와 비교해 한쪽만 남긴다.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같은 값도 각각 순위에 포함한다. 이 구현은 마지막 원소를 피벗으로 쓴다.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최악 Θ(n²), 추가 공간 Θ(1). 무작위 피벗의 기대 시간 보장과 구별한다.</a:t>
            </a:r>
          </a:p>
        </p:txBody>
      </p:sp>
    </p:spTree>
    <p:extLst>
      <p:ext uri="{BB962C8B-B14F-4D97-AF65-F5344CB8AC3E}">
        <p14:creationId xmlns:p14="http://schemas.microsoft.com/office/powerpoint/2010/main" val="462685519"/>
      </p:ext>
    </p:extLst>
  </p:cSld>
</p:sld>
</file>

<file path=ppt/slides/slide2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text-28-64">
            <a:extLst xmlns:a="http://schemas.openxmlformats.org/drawingml/2006/main">
              <a:ext uri="{FF2B5EF4-FFF2-40B4-BE49-F238E27FC236}">
                <a16:creationId xmlns:a16="http://schemas.microsoft.com/office/drawing/2014/main" id="{2C470AFB-CDC9-427B-ABC8-DCBEDF5A9049}"/>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01B5A21B-47E8-4B36-A0EA-D8771D0A8918}"/>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C39E5D03-A968-4CDF-B58B-5487CF7DD9E2}"/>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defRPr sz="1800">
                <a:solidFill>
                  <a:srgbClr val="5B5B5B"/>
                </a:solidFill>
                <a:latin typeface="Malgun Gothic"/>
                <a:ea typeface="Malgun Gothic"/>
                <a:cs typeface="Malgun Gothic"/>
              </a:defRPr>
              <a:spcBef>
                <a:spcPts val="0"/>
              </a:spcBef>
              <a:spcAft>
                <a:spcPts val="0"/>
              </a:spcAft>
            </a:pPr>
            <a:r>
              <a:rPr sz="3000" b="1" i="0">
                <a:solidFill>
                  <a:srgbClr val="171717"/>
                </a:solidFill>
                <a:latin typeface="Malgun Gothic"/>
                <a:ea typeface="Malgun Gothic"/>
                <a:cs typeface="Malgun Gothic"/>
              </a:rPr>
              <a:t>문제 98  Python 구현</a:t>
            </a:r>
          </a:p>
        </p:txBody>
      </p:sp>
      <p:sp>
        <p:nvSpPr>
          <p:cNvPr id="4" name="">
            <a:extLst xmlns:a="http://schemas.openxmlformats.org/drawingml/2006/main">
              <a:ext uri="{FF2B5EF4-FFF2-40B4-BE49-F238E27FC236}">
                <a16:creationId xmlns:a16="http://schemas.microsoft.com/office/drawing/2014/main" id="{980E39B9-F596-4F9D-81D6-3BD1B7EC761C}"/>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5C79B0-91EF-4506-B150-DE864A3D077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CEE06E20-3917-44D7-B631-5A7B2997DAAB}"/>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60B2D94F-112A-4C3C-9E46-1B920018B18F}"/>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211</a:t>
            </a:r>
          </a:p>
        </p:txBody>
      </p:sp>
      <p:sp>
        <p:nvSpPr>
          <p:cNvPr id="8" name="text-163-64">
            <a:extLst xmlns:a="http://schemas.openxmlformats.org/drawingml/2006/main">
              <a:ext uri="{FF2B5EF4-FFF2-40B4-BE49-F238E27FC236}">
                <a16:creationId xmlns:a16="http://schemas.microsoft.com/office/drawing/2014/main" id="{856C511A-E44D-4A21-B15B-F3DBA8E4D724}"/>
              </a:ext>
            </a:extLst>
          </p:cNvPr>
          <p:cNvSpPr>
            <a:spLocks xmlns:a="http://schemas.openxmlformats.org/drawingml/2006/main" noGrp="1"/>
          </p:cNvSpPr>
          <p:nvPr/>
        </p:nvSpPr>
        <p:spPr>
          <a:xfrm xmlns:a="http://schemas.openxmlformats.org/drawingml/2006/main">
            <a:off x="609600" y="1552575"/>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500" b="0" i="0">
                <a:solidFill>
                  <a:srgbClr val="606060"/>
                </a:solidFill>
                <a:latin typeface="Malgun Gothic"/>
                <a:ea typeface="Malgun Gothic"/>
                <a:cs typeface="Malgun Gothic"/>
              </a:rPr>
              <a:t>퀵 셀렉트 (왼쪽 코드 다음에 오른쪽 코드가 이어짐)</a:t>
            </a:r>
          </a:p>
        </p:txBody>
      </p:sp>
      <p:sp>
        <p:nvSpPr>
          <p:cNvPr id="9" name="">
            <a:extLst xmlns:a="http://schemas.openxmlformats.org/drawingml/2006/main">
              <a:ext uri="{FF2B5EF4-FFF2-40B4-BE49-F238E27FC236}">
                <a16:creationId xmlns:a16="http://schemas.microsoft.com/office/drawing/2014/main" id="{67FD8513-C5FB-4B83-9106-32443AC45743}"/>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B09ED562-7E5A-4031-AD4D-DCC863866286}"/>
              </a:ext>
            </a:extLst>
          </p:cNvPr>
          <p:cNvSpPr>
            <a:spLocks xmlns:a="http://schemas.openxmlformats.org/drawingml/2006/main" noGrp="1"/>
          </p:cNvSpPr>
          <p:nvPr/>
        </p:nvSpPr>
        <p:spPr>
          <a:xfrm xmlns:a="http://schemas.openxmlformats.org/drawingml/2006/main">
            <a:off x="749300"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137D73B4-ABE9-4B44-B805-826E0661CC67}"/>
              </a:ext>
            </a:extLst>
          </p:cNvPr>
          <p:cNvSpPr>
            <a:spLocks xmlns:a="http://schemas.openxmlformats.org/drawingml/2006/main" noGrp="1"/>
          </p:cNvSpPr>
          <p:nvPr/>
        </p:nvSpPr>
        <p:spPr>
          <a:xfrm xmlns:a="http://schemas.openxmlformats.org/drawingml/2006/main">
            <a:off x="1130300" y="2114550"/>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def quick_select(a, k):</a:t>
            </a:r>
          </a:p>
        </p:txBody>
      </p:sp>
      <p:sp>
        <p:nvSpPr>
          <p:cNvPr id="12" name="text-242.5-81">
            <a:extLst xmlns:a="http://schemas.openxmlformats.org/drawingml/2006/main">
              <a:ext uri="{FF2B5EF4-FFF2-40B4-BE49-F238E27FC236}">
                <a16:creationId xmlns:a16="http://schemas.microsoft.com/office/drawing/2014/main" id="{95AF498C-646D-450A-8B5A-77C63E88D72F}"/>
              </a:ext>
            </a:extLst>
          </p:cNvPr>
          <p:cNvSpPr>
            <a:spLocks xmlns:a="http://schemas.openxmlformats.org/drawingml/2006/main" noGrp="1"/>
          </p:cNvSpPr>
          <p:nvPr/>
        </p:nvSpPr>
        <p:spPr>
          <a:xfrm xmlns:a="http://schemas.openxmlformats.org/drawingml/2006/main">
            <a:off x="749300"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4E3151E3-C582-42C6-8347-A2722E48B51A}"/>
              </a:ext>
            </a:extLst>
          </p:cNvPr>
          <p:cNvSpPr>
            <a:spLocks xmlns:a="http://schemas.openxmlformats.org/drawingml/2006/main" noGrp="1"/>
          </p:cNvSpPr>
          <p:nvPr/>
        </p:nvSpPr>
        <p:spPr>
          <a:xfrm xmlns:a="http://schemas.openxmlformats.org/drawingml/2006/main">
            <a:off x="1130300" y="2426589"/>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lo, hi, target = 0, len(a) - 1, k - 1</a:t>
            </a:r>
          </a:p>
        </p:txBody>
      </p:sp>
      <p:sp>
        <p:nvSpPr>
          <p:cNvPr id="14" name="text-263-81">
            <a:extLst xmlns:a="http://schemas.openxmlformats.org/drawingml/2006/main">
              <a:ext uri="{FF2B5EF4-FFF2-40B4-BE49-F238E27FC236}">
                <a16:creationId xmlns:a16="http://schemas.microsoft.com/office/drawing/2014/main" id="{111BC8CF-C0AC-4B47-8C49-B0203642F305}"/>
              </a:ext>
            </a:extLst>
          </p:cNvPr>
          <p:cNvSpPr>
            <a:spLocks xmlns:a="http://schemas.openxmlformats.org/drawingml/2006/main" noGrp="1"/>
          </p:cNvSpPr>
          <p:nvPr/>
        </p:nvSpPr>
        <p:spPr>
          <a:xfrm xmlns:a="http://schemas.openxmlformats.org/drawingml/2006/main">
            <a:off x="749300"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E4997C3D-65BA-42A5-B854-9197A2622522}"/>
              </a:ext>
            </a:extLst>
          </p:cNvPr>
          <p:cNvSpPr>
            <a:spLocks xmlns:a="http://schemas.openxmlformats.org/drawingml/2006/main" noGrp="1"/>
          </p:cNvSpPr>
          <p:nvPr/>
        </p:nvSpPr>
        <p:spPr>
          <a:xfrm xmlns:a="http://schemas.openxmlformats.org/drawingml/2006/main">
            <a:off x="1130300" y="2738628"/>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while lo &lt;= hi:</a:t>
            </a:r>
          </a:p>
        </p:txBody>
      </p:sp>
      <p:sp>
        <p:nvSpPr>
          <p:cNvPr id="16" name="text-283.5-81">
            <a:extLst xmlns:a="http://schemas.openxmlformats.org/drawingml/2006/main">
              <a:ext uri="{FF2B5EF4-FFF2-40B4-BE49-F238E27FC236}">
                <a16:creationId xmlns:a16="http://schemas.microsoft.com/office/drawing/2014/main" id="{00D2C6CE-FAD7-4AD5-878F-02D985B3F1D4}"/>
              </a:ext>
            </a:extLst>
          </p:cNvPr>
          <p:cNvSpPr>
            <a:spLocks xmlns:a="http://schemas.openxmlformats.org/drawingml/2006/main" noGrp="1"/>
          </p:cNvSpPr>
          <p:nvPr/>
        </p:nvSpPr>
        <p:spPr>
          <a:xfrm xmlns:a="http://schemas.openxmlformats.org/drawingml/2006/main">
            <a:off x="749300"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696FED5F-E4BD-4DEC-846E-44C7740B41FE}"/>
              </a:ext>
            </a:extLst>
          </p:cNvPr>
          <p:cNvSpPr>
            <a:spLocks xmlns:a="http://schemas.openxmlformats.org/drawingml/2006/main" noGrp="1"/>
          </p:cNvSpPr>
          <p:nvPr/>
        </p:nvSpPr>
        <p:spPr>
          <a:xfrm xmlns:a="http://schemas.openxmlformats.org/drawingml/2006/main">
            <a:off x="1130300" y="3050667"/>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pivot, p = a[hi], lo</a:t>
            </a:r>
          </a:p>
        </p:txBody>
      </p:sp>
      <p:sp>
        <p:nvSpPr>
          <p:cNvPr id="18" name="text-304-81">
            <a:extLst xmlns:a="http://schemas.openxmlformats.org/drawingml/2006/main">
              <a:ext uri="{FF2B5EF4-FFF2-40B4-BE49-F238E27FC236}">
                <a16:creationId xmlns:a16="http://schemas.microsoft.com/office/drawing/2014/main" id="{910DE3FE-B9A9-42AB-A007-2349C020354A}"/>
              </a:ext>
            </a:extLst>
          </p:cNvPr>
          <p:cNvSpPr>
            <a:spLocks xmlns:a="http://schemas.openxmlformats.org/drawingml/2006/main" noGrp="1"/>
          </p:cNvSpPr>
          <p:nvPr/>
        </p:nvSpPr>
        <p:spPr>
          <a:xfrm xmlns:a="http://schemas.openxmlformats.org/drawingml/2006/main">
            <a:off x="749300"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DDF11487-0F54-4CC3-8B76-2C09FDA23B2F}"/>
              </a:ext>
            </a:extLst>
          </p:cNvPr>
          <p:cNvSpPr>
            <a:spLocks xmlns:a="http://schemas.openxmlformats.org/drawingml/2006/main" noGrp="1"/>
          </p:cNvSpPr>
          <p:nvPr/>
        </p:nvSpPr>
        <p:spPr>
          <a:xfrm xmlns:a="http://schemas.openxmlformats.org/drawingml/2006/main">
            <a:off x="1130300" y="3362706"/>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for j in range(lo, hi):</a:t>
            </a:r>
          </a:p>
        </p:txBody>
      </p:sp>
      <p:sp>
        <p:nvSpPr>
          <p:cNvPr id="20" name="text-324.5-81">
            <a:extLst xmlns:a="http://schemas.openxmlformats.org/drawingml/2006/main">
              <a:ext uri="{FF2B5EF4-FFF2-40B4-BE49-F238E27FC236}">
                <a16:creationId xmlns:a16="http://schemas.microsoft.com/office/drawing/2014/main" id="{35114FB7-EC86-48E9-A38A-EFAE134FE165}"/>
              </a:ext>
            </a:extLst>
          </p:cNvPr>
          <p:cNvSpPr>
            <a:spLocks xmlns:a="http://schemas.openxmlformats.org/drawingml/2006/main" noGrp="1"/>
          </p:cNvSpPr>
          <p:nvPr/>
        </p:nvSpPr>
        <p:spPr>
          <a:xfrm xmlns:a="http://schemas.openxmlformats.org/drawingml/2006/main">
            <a:off x="749300"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xmlns:a="http://schemas.openxmlformats.org/drawingml/2006/main">
              <a:ext uri="{FF2B5EF4-FFF2-40B4-BE49-F238E27FC236}">
                <a16:creationId xmlns:a16="http://schemas.microsoft.com/office/drawing/2014/main" id="{ECE21906-63C3-419C-A802-2B25C1643596}"/>
              </a:ext>
            </a:extLst>
          </p:cNvPr>
          <p:cNvSpPr>
            <a:spLocks xmlns:a="http://schemas.openxmlformats.org/drawingml/2006/main" noGrp="1"/>
          </p:cNvSpPr>
          <p:nvPr/>
        </p:nvSpPr>
        <p:spPr>
          <a:xfrm xmlns:a="http://schemas.openxmlformats.org/drawingml/2006/main">
            <a:off x="1130300" y="3674745"/>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a[j] &lt;= pivot:</a:t>
            </a:r>
          </a:p>
        </p:txBody>
      </p:sp>
      <p:sp>
        <p:nvSpPr>
          <p:cNvPr id="22" name="text-345-81">
            <a:extLst xmlns:a="http://schemas.openxmlformats.org/drawingml/2006/main">
              <a:ext uri="{FF2B5EF4-FFF2-40B4-BE49-F238E27FC236}">
                <a16:creationId xmlns:a16="http://schemas.microsoft.com/office/drawing/2014/main" id="{F549E05A-84DE-4660-9110-6AA75AA5BEF5}"/>
              </a:ext>
            </a:extLst>
          </p:cNvPr>
          <p:cNvSpPr>
            <a:spLocks xmlns:a="http://schemas.openxmlformats.org/drawingml/2006/main" noGrp="1"/>
          </p:cNvSpPr>
          <p:nvPr/>
        </p:nvSpPr>
        <p:spPr>
          <a:xfrm xmlns:a="http://schemas.openxmlformats.org/drawingml/2006/main">
            <a:off x="749300"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xmlns:a="http://schemas.openxmlformats.org/drawingml/2006/main">
              <a:ext uri="{FF2B5EF4-FFF2-40B4-BE49-F238E27FC236}">
                <a16:creationId xmlns:a16="http://schemas.microsoft.com/office/drawing/2014/main" id="{9A8A3204-381B-4CAC-91D1-F462035EA2E2}"/>
              </a:ext>
            </a:extLst>
          </p:cNvPr>
          <p:cNvSpPr>
            <a:spLocks xmlns:a="http://schemas.openxmlformats.org/drawingml/2006/main" noGrp="1"/>
          </p:cNvSpPr>
          <p:nvPr/>
        </p:nvSpPr>
        <p:spPr>
          <a:xfrm xmlns:a="http://schemas.openxmlformats.org/drawingml/2006/main">
            <a:off x="1130300" y="3986784"/>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a[p], a[j] = a[j], a[p]</a:t>
            </a:r>
          </a:p>
        </p:txBody>
      </p:sp>
      <p:sp>
        <p:nvSpPr>
          <p:cNvPr id="24" name="text-365.5-81">
            <a:extLst xmlns:a="http://schemas.openxmlformats.org/drawingml/2006/main">
              <a:ext uri="{FF2B5EF4-FFF2-40B4-BE49-F238E27FC236}">
                <a16:creationId xmlns:a16="http://schemas.microsoft.com/office/drawing/2014/main" id="{EDE79766-12C7-40DE-9D7B-071D13731D1C}"/>
              </a:ext>
            </a:extLst>
          </p:cNvPr>
          <p:cNvSpPr>
            <a:spLocks xmlns:a="http://schemas.openxmlformats.org/drawingml/2006/main" noGrp="1"/>
          </p:cNvSpPr>
          <p:nvPr/>
        </p:nvSpPr>
        <p:spPr>
          <a:xfrm xmlns:a="http://schemas.openxmlformats.org/drawingml/2006/main">
            <a:off x="749300" y="4336923"/>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08</a:t>
            </a:r>
          </a:p>
        </p:txBody>
      </p:sp>
      <p:sp>
        <p:nvSpPr>
          <p:cNvPr id="25" name="text-365.5-135">
            <a:extLst xmlns:a="http://schemas.openxmlformats.org/drawingml/2006/main">
              <a:ext uri="{FF2B5EF4-FFF2-40B4-BE49-F238E27FC236}">
                <a16:creationId xmlns:a16="http://schemas.microsoft.com/office/drawing/2014/main" id="{DB78F5D4-8BCE-4763-90F0-B93AEEA0530F}"/>
              </a:ext>
            </a:extLst>
          </p:cNvPr>
          <p:cNvSpPr>
            <a:spLocks xmlns:a="http://schemas.openxmlformats.org/drawingml/2006/main" noGrp="1"/>
          </p:cNvSpPr>
          <p:nvPr/>
        </p:nvSpPr>
        <p:spPr>
          <a:xfrm xmlns:a="http://schemas.openxmlformats.org/drawingml/2006/main">
            <a:off x="1130300" y="4298823"/>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p += 1</a:t>
            </a:r>
          </a:p>
        </p:txBody>
      </p:sp>
      <p:sp>
        <p:nvSpPr>
          <p:cNvPr id="26" name="text-386-81">
            <a:extLst xmlns:a="http://schemas.openxmlformats.org/drawingml/2006/main">
              <a:ext uri="{FF2B5EF4-FFF2-40B4-BE49-F238E27FC236}">
                <a16:creationId xmlns:a16="http://schemas.microsoft.com/office/drawing/2014/main" id="{929EF6DE-757F-4FC0-BFE7-ED6E46FBD178}"/>
              </a:ext>
            </a:extLst>
          </p:cNvPr>
          <p:cNvSpPr>
            <a:spLocks xmlns:a="http://schemas.openxmlformats.org/drawingml/2006/main" noGrp="1"/>
          </p:cNvSpPr>
          <p:nvPr/>
        </p:nvSpPr>
        <p:spPr>
          <a:xfrm xmlns:a="http://schemas.openxmlformats.org/drawingml/2006/main">
            <a:off x="6273800"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09</a:t>
            </a:r>
          </a:p>
        </p:txBody>
      </p:sp>
      <p:sp>
        <p:nvSpPr>
          <p:cNvPr id="27" name="text-386-135">
            <a:extLst xmlns:a="http://schemas.openxmlformats.org/drawingml/2006/main">
              <a:ext uri="{FF2B5EF4-FFF2-40B4-BE49-F238E27FC236}">
                <a16:creationId xmlns:a16="http://schemas.microsoft.com/office/drawing/2014/main" id="{C56F0839-066E-44FD-8512-45142A38A43C}"/>
              </a:ext>
            </a:extLst>
          </p:cNvPr>
          <p:cNvSpPr>
            <a:spLocks xmlns:a="http://schemas.openxmlformats.org/drawingml/2006/main" noGrp="1"/>
          </p:cNvSpPr>
          <p:nvPr/>
        </p:nvSpPr>
        <p:spPr>
          <a:xfrm xmlns:a="http://schemas.openxmlformats.org/drawingml/2006/main">
            <a:off x="6654800" y="2114550"/>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a[p], a[hi] = a[hi], a[p]</a:t>
            </a:r>
          </a:p>
        </p:txBody>
      </p:sp>
      <p:sp>
        <p:nvSpPr>
          <p:cNvPr id="28" name="text-406.5-81">
            <a:extLst xmlns:a="http://schemas.openxmlformats.org/drawingml/2006/main">
              <a:ext uri="{FF2B5EF4-FFF2-40B4-BE49-F238E27FC236}">
                <a16:creationId xmlns:a16="http://schemas.microsoft.com/office/drawing/2014/main" id="{03DE5445-4321-40EB-BA91-93C8291644F2}"/>
              </a:ext>
            </a:extLst>
          </p:cNvPr>
          <p:cNvSpPr>
            <a:spLocks xmlns:a="http://schemas.openxmlformats.org/drawingml/2006/main" noGrp="1"/>
          </p:cNvSpPr>
          <p:nvPr/>
        </p:nvSpPr>
        <p:spPr>
          <a:xfrm xmlns:a="http://schemas.openxmlformats.org/drawingml/2006/main">
            <a:off x="6273800"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10</a:t>
            </a:r>
          </a:p>
        </p:txBody>
      </p:sp>
      <p:sp>
        <p:nvSpPr>
          <p:cNvPr id="29" name="text-406.5-135">
            <a:extLst xmlns:a="http://schemas.openxmlformats.org/drawingml/2006/main">
              <a:ext uri="{FF2B5EF4-FFF2-40B4-BE49-F238E27FC236}">
                <a16:creationId xmlns:a16="http://schemas.microsoft.com/office/drawing/2014/main" id="{4F63DC8C-988D-4F28-A5B7-6FE6E5F784F4}"/>
              </a:ext>
            </a:extLst>
          </p:cNvPr>
          <p:cNvSpPr>
            <a:spLocks xmlns:a="http://schemas.openxmlformats.org/drawingml/2006/main" noGrp="1"/>
          </p:cNvSpPr>
          <p:nvPr/>
        </p:nvSpPr>
        <p:spPr>
          <a:xfrm xmlns:a="http://schemas.openxmlformats.org/drawingml/2006/main">
            <a:off x="6654800" y="2426589"/>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p == target:</a:t>
            </a:r>
          </a:p>
        </p:txBody>
      </p:sp>
      <p:sp>
        <p:nvSpPr>
          <p:cNvPr id="30" name="text-427-81">
            <a:extLst xmlns:a="http://schemas.openxmlformats.org/drawingml/2006/main">
              <a:ext uri="{FF2B5EF4-FFF2-40B4-BE49-F238E27FC236}">
                <a16:creationId xmlns:a16="http://schemas.microsoft.com/office/drawing/2014/main" id="{B3FFDB0C-66D5-4C1D-AF04-3E97024CA1EB}"/>
              </a:ext>
            </a:extLst>
          </p:cNvPr>
          <p:cNvSpPr>
            <a:spLocks xmlns:a="http://schemas.openxmlformats.org/drawingml/2006/main" noGrp="1"/>
          </p:cNvSpPr>
          <p:nvPr/>
        </p:nvSpPr>
        <p:spPr>
          <a:xfrm xmlns:a="http://schemas.openxmlformats.org/drawingml/2006/main">
            <a:off x="6273800"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11</a:t>
            </a:r>
          </a:p>
        </p:txBody>
      </p:sp>
      <p:sp>
        <p:nvSpPr>
          <p:cNvPr id="31" name="text-427-135">
            <a:extLst xmlns:a="http://schemas.openxmlformats.org/drawingml/2006/main">
              <a:ext uri="{FF2B5EF4-FFF2-40B4-BE49-F238E27FC236}">
                <a16:creationId xmlns:a16="http://schemas.microsoft.com/office/drawing/2014/main" id="{8FF021BB-B729-4069-84A0-CAA3687D08FF}"/>
              </a:ext>
            </a:extLst>
          </p:cNvPr>
          <p:cNvSpPr>
            <a:spLocks xmlns:a="http://schemas.openxmlformats.org/drawingml/2006/main" noGrp="1"/>
          </p:cNvSpPr>
          <p:nvPr/>
        </p:nvSpPr>
        <p:spPr>
          <a:xfrm xmlns:a="http://schemas.openxmlformats.org/drawingml/2006/main">
            <a:off x="6654800" y="2738628"/>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a[p]</a:t>
            </a:r>
          </a:p>
        </p:txBody>
      </p:sp>
      <p:sp>
        <p:nvSpPr>
          <p:cNvPr id="32" name="text-447.5-81">
            <a:extLst xmlns:a="http://schemas.openxmlformats.org/drawingml/2006/main">
              <a:ext uri="{FF2B5EF4-FFF2-40B4-BE49-F238E27FC236}">
                <a16:creationId xmlns:a16="http://schemas.microsoft.com/office/drawing/2014/main" id="{BF5AC861-519F-4022-AEFE-E01ACB5179E9}"/>
              </a:ext>
            </a:extLst>
          </p:cNvPr>
          <p:cNvSpPr>
            <a:spLocks xmlns:a="http://schemas.openxmlformats.org/drawingml/2006/main" noGrp="1"/>
          </p:cNvSpPr>
          <p:nvPr/>
        </p:nvSpPr>
        <p:spPr>
          <a:xfrm xmlns:a="http://schemas.openxmlformats.org/drawingml/2006/main">
            <a:off x="6273800"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12</a:t>
            </a:r>
          </a:p>
        </p:txBody>
      </p:sp>
      <p:sp>
        <p:nvSpPr>
          <p:cNvPr id="33" name="text-447.5-135">
            <a:extLst xmlns:a="http://schemas.openxmlformats.org/drawingml/2006/main">
              <a:ext uri="{FF2B5EF4-FFF2-40B4-BE49-F238E27FC236}">
                <a16:creationId xmlns:a16="http://schemas.microsoft.com/office/drawing/2014/main" id="{48079350-165A-4650-AE2B-839B01927905}"/>
              </a:ext>
            </a:extLst>
          </p:cNvPr>
          <p:cNvSpPr>
            <a:spLocks xmlns:a="http://schemas.openxmlformats.org/drawingml/2006/main" noGrp="1"/>
          </p:cNvSpPr>
          <p:nvPr/>
        </p:nvSpPr>
        <p:spPr>
          <a:xfrm xmlns:a="http://schemas.openxmlformats.org/drawingml/2006/main">
            <a:off x="6654800" y="3050667"/>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p &lt; target:</a:t>
            </a:r>
          </a:p>
        </p:txBody>
      </p:sp>
      <p:sp>
        <p:nvSpPr>
          <p:cNvPr id="34" name="text-468-81">
            <a:extLst xmlns:a="http://schemas.openxmlformats.org/drawingml/2006/main">
              <a:ext uri="{FF2B5EF4-FFF2-40B4-BE49-F238E27FC236}">
                <a16:creationId xmlns:a16="http://schemas.microsoft.com/office/drawing/2014/main" id="{DE21FE21-1638-4CF5-B63F-2FE04245337B}"/>
              </a:ext>
            </a:extLst>
          </p:cNvPr>
          <p:cNvSpPr>
            <a:spLocks xmlns:a="http://schemas.openxmlformats.org/drawingml/2006/main" noGrp="1"/>
          </p:cNvSpPr>
          <p:nvPr/>
        </p:nvSpPr>
        <p:spPr>
          <a:xfrm xmlns:a="http://schemas.openxmlformats.org/drawingml/2006/main">
            <a:off x="6273800"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13</a:t>
            </a:r>
          </a:p>
        </p:txBody>
      </p:sp>
      <p:sp>
        <p:nvSpPr>
          <p:cNvPr id="35" name="text-468-135">
            <a:extLst xmlns:a="http://schemas.openxmlformats.org/drawingml/2006/main">
              <a:ext uri="{FF2B5EF4-FFF2-40B4-BE49-F238E27FC236}">
                <a16:creationId xmlns:a16="http://schemas.microsoft.com/office/drawing/2014/main" id="{EFF9C261-107A-4BFA-9A34-A21C583955EF}"/>
              </a:ext>
            </a:extLst>
          </p:cNvPr>
          <p:cNvSpPr>
            <a:spLocks xmlns:a="http://schemas.openxmlformats.org/drawingml/2006/main" noGrp="1"/>
          </p:cNvSpPr>
          <p:nvPr/>
        </p:nvSpPr>
        <p:spPr>
          <a:xfrm xmlns:a="http://schemas.openxmlformats.org/drawingml/2006/main">
            <a:off x="6654800" y="3362706"/>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lo = p + 1</a:t>
            </a:r>
          </a:p>
        </p:txBody>
      </p:sp>
      <p:sp>
        <p:nvSpPr>
          <p:cNvPr id="36" name="text-488.5-81">
            <a:extLst xmlns:a="http://schemas.openxmlformats.org/drawingml/2006/main">
              <a:ext uri="{FF2B5EF4-FFF2-40B4-BE49-F238E27FC236}">
                <a16:creationId xmlns:a16="http://schemas.microsoft.com/office/drawing/2014/main" id="{F64A6900-80A5-4493-B0F5-6BFA2D1C9BD8}"/>
              </a:ext>
            </a:extLst>
          </p:cNvPr>
          <p:cNvSpPr>
            <a:spLocks xmlns:a="http://schemas.openxmlformats.org/drawingml/2006/main" noGrp="1"/>
          </p:cNvSpPr>
          <p:nvPr/>
        </p:nvSpPr>
        <p:spPr>
          <a:xfrm xmlns:a="http://schemas.openxmlformats.org/drawingml/2006/main">
            <a:off x="6273800"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14</a:t>
            </a:r>
          </a:p>
        </p:txBody>
      </p:sp>
      <p:sp>
        <p:nvSpPr>
          <p:cNvPr id="37" name="text-488.5-135">
            <a:extLst xmlns:a="http://schemas.openxmlformats.org/drawingml/2006/main">
              <a:ext uri="{FF2B5EF4-FFF2-40B4-BE49-F238E27FC236}">
                <a16:creationId xmlns:a16="http://schemas.microsoft.com/office/drawing/2014/main" id="{F9719648-BF7C-410B-97D7-870596B2C9EB}"/>
              </a:ext>
            </a:extLst>
          </p:cNvPr>
          <p:cNvSpPr>
            <a:spLocks xmlns:a="http://schemas.openxmlformats.org/drawingml/2006/main" noGrp="1"/>
          </p:cNvSpPr>
          <p:nvPr/>
        </p:nvSpPr>
        <p:spPr>
          <a:xfrm xmlns:a="http://schemas.openxmlformats.org/drawingml/2006/main">
            <a:off x="6654800" y="3674745"/>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else:</a:t>
            </a:r>
          </a:p>
        </p:txBody>
      </p:sp>
      <p:sp>
        <p:nvSpPr>
          <p:cNvPr id="38" name="text-509-81">
            <a:extLst xmlns:a="http://schemas.openxmlformats.org/drawingml/2006/main">
              <a:ext uri="{FF2B5EF4-FFF2-40B4-BE49-F238E27FC236}">
                <a16:creationId xmlns:a16="http://schemas.microsoft.com/office/drawing/2014/main" id="{CBF7235A-0327-47FC-BE44-DFDBA04A569A}"/>
              </a:ext>
            </a:extLst>
          </p:cNvPr>
          <p:cNvSpPr>
            <a:spLocks xmlns:a="http://schemas.openxmlformats.org/drawingml/2006/main" noGrp="1"/>
          </p:cNvSpPr>
          <p:nvPr/>
        </p:nvSpPr>
        <p:spPr>
          <a:xfrm xmlns:a="http://schemas.openxmlformats.org/drawingml/2006/main">
            <a:off x="6273800"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15</a:t>
            </a:r>
          </a:p>
        </p:txBody>
      </p:sp>
      <p:sp>
        <p:nvSpPr>
          <p:cNvPr id="39" name="text-509-135">
            <a:extLst xmlns:a="http://schemas.openxmlformats.org/drawingml/2006/main">
              <a:ext uri="{FF2B5EF4-FFF2-40B4-BE49-F238E27FC236}">
                <a16:creationId xmlns:a16="http://schemas.microsoft.com/office/drawing/2014/main" id="{FE8E8BAB-8F0A-423A-99AB-AF93BC8FD519}"/>
              </a:ext>
            </a:extLst>
          </p:cNvPr>
          <p:cNvSpPr>
            <a:spLocks xmlns:a="http://schemas.openxmlformats.org/drawingml/2006/main" noGrp="1"/>
          </p:cNvSpPr>
          <p:nvPr/>
        </p:nvSpPr>
        <p:spPr>
          <a:xfrm xmlns:a="http://schemas.openxmlformats.org/drawingml/2006/main">
            <a:off x="6654800" y="3986784"/>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hi = p - 1</a:t>
            </a:r>
          </a:p>
        </p:txBody>
      </p:sp>
      <p:sp>
        <p:nvSpPr>
          <p:cNvPr id="40" name="text-635-64">
            <a:extLst xmlns:a="http://schemas.openxmlformats.org/drawingml/2006/main">
              <a:ext uri="{FF2B5EF4-FFF2-40B4-BE49-F238E27FC236}">
                <a16:creationId xmlns:a16="http://schemas.microsoft.com/office/drawing/2014/main" id="{C931C340-7DE2-41C7-AA6E-9907E9D67FF5}"/>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이 고정 피벗 구현의 최악 시간 O(n²). 모든 입력에서 선형이라고 주장할 수 없다.</a:t>
            </a:r>
          </a:p>
        </p:txBody>
      </p:sp>
    </p:spTree>
    <p:extLst>
      <p:ext uri="{BB962C8B-B14F-4D97-AF65-F5344CB8AC3E}">
        <p14:creationId xmlns:p14="http://schemas.microsoft.com/office/powerpoint/2010/main" val="462685519"/>
      </p:ext>
    </p:extLst>
  </p:cSld>
</p:sld>
</file>

<file path=ppt/slides/slide2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ext-28-64">
            <a:extLst xmlns:a="http://schemas.openxmlformats.org/drawingml/2006/main">
              <a:ext uri="{FF2B5EF4-FFF2-40B4-BE49-F238E27FC236}">
                <a16:creationId xmlns:a16="http://schemas.microsoft.com/office/drawing/2014/main" id="{73F98EE8-2390-4D29-B64E-15F5DE182CD3}"/>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ADA36D6E-3C1F-4DC3-8C42-B870F0DE9F1C}"/>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750063FF-B7FF-40F1-82D2-1A83311725E7}"/>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98  C 구현</a:t>
            </a:r>
          </a:p>
        </p:txBody>
      </p:sp>
      <p:sp>
        <p:nvSpPr>
          <p:cNvPr id="4" name="">
            <a:extLst xmlns:a="http://schemas.openxmlformats.org/drawingml/2006/main">
              <a:ext uri="{FF2B5EF4-FFF2-40B4-BE49-F238E27FC236}">
                <a16:creationId xmlns:a16="http://schemas.microsoft.com/office/drawing/2014/main" id="{1B85A63D-A33F-46C5-A601-EF3D2646376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E0850F-0649-4596-B5D7-09D3E724962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1BD5F0FD-10AF-436C-B9E4-B65626DB03BF}"/>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488AD149-91C6-48B0-B262-72E83504FF98}"/>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212</a:t>
            </a:r>
          </a:p>
        </p:txBody>
      </p:sp>
      <p:sp>
        <p:nvSpPr>
          <p:cNvPr id="8" name="text-163-64">
            <a:extLst xmlns:a="http://schemas.openxmlformats.org/drawingml/2006/main">
              <a:ext uri="{FF2B5EF4-FFF2-40B4-BE49-F238E27FC236}">
                <a16:creationId xmlns:a16="http://schemas.microsoft.com/office/drawing/2014/main" id="{49962DF3-FFD3-481A-A2C0-F9E3CF1CE465}"/>
              </a:ext>
            </a:extLst>
          </p:cNvPr>
          <p:cNvSpPr>
            <a:spLocks xmlns:a="http://schemas.openxmlformats.org/drawingml/2006/main" noGrp="1"/>
          </p:cNvSpPr>
          <p:nvPr/>
        </p:nvSpPr>
        <p:spPr>
          <a:xfrm xmlns:a="http://schemas.openxmlformats.org/drawingml/2006/main">
            <a:off x="609600" y="1552575"/>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500" b="0" i="0">
                <a:solidFill>
                  <a:srgbClr val="606060"/>
                </a:solidFill>
                <a:latin typeface="Malgun Gothic"/>
                <a:ea typeface="Malgun Gothic"/>
                <a:cs typeface="Malgun Gothic"/>
              </a:rPr>
              <a:t>퀵 셀렉트 (왼쪽 코드 다음에 오른쪽 코드가 이어짐)</a:t>
            </a:r>
          </a:p>
        </p:txBody>
      </p:sp>
      <p:sp>
        <p:nvSpPr>
          <p:cNvPr id="9" name="">
            <a:extLst xmlns:a="http://schemas.openxmlformats.org/drawingml/2006/main">
              <a:ext uri="{FF2B5EF4-FFF2-40B4-BE49-F238E27FC236}">
                <a16:creationId xmlns:a16="http://schemas.microsoft.com/office/drawing/2014/main" id="{A9FEA3AD-5E7D-408F-8AB6-C57C9698AF55}"/>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B45DD7EA-26A6-45B4-BDD8-99B23C72DCE7}"/>
              </a:ext>
            </a:extLst>
          </p:cNvPr>
          <p:cNvSpPr>
            <a:spLocks xmlns:a="http://schemas.openxmlformats.org/drawingml/2006/main" noGrp="1"/>
          </p:cNvSpPr>
          <p:nvPr/>
        </p:nvSpPr>
        <p:spPr>
          <a:xfrm xmlns:a="http://schemas.openxmlformats.org/drawingml/2006/main">
            <a:off x="749300"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A782C7A2-DA52-40E0-9CCD-E0924B52CED1}"/>
              </a:ext>
            </a:extLst>
          </p:cNvPr>
          <p:cNvSpPr>
            <a:spLocks xmlns:a="http://schemas.openxmlformats.org/drawingml/2006/main" noGrp="1"/>
          </p:cNvSpPr>
          <p:nvPr/>
        </p:nvSpPr>
        <p:spPr>
          <a:xfrm xmlns:a="http://schemas.openxmlformats.org/drawingml/2006/main">
            <a:off x="1130300" y="2114550"/>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int quick_select(int a[], int n, int k) {</a:t>
            </a:r>
          </a:p>
        </p:txBody>
      </p:sp>
      <p:sp>
        <p:nvSpPr>
          <p:cNvPr id="12" name="text-242.5-81">
            <a:extLst xmlns:a="http://schemas.openxmlformats.org/drawingml/2006/main">
              <a:ext uri="{FF2B5EF4-FFF2-40B4-BE49-F238E27FC236}">
                <a16:creationId xmlns:a16="http://schemas.microsoft.com/office/drawing/2014/main" id="{978558D0-B057-4A9A-B66E-DC1F03392811}"/>
              </a:ext>
            </a:extLst>
          </p:cNvPr>
          <p:cNvSpPr>
            <a:spLocks xmlns:a="http://schemas.openxmlformats.org/drawingml/2006/main" noGrp="1"/>
          </p:cNvSpPr>
          <p:nvPr/>
        </p:nvSpPr>
        <p:spPr>
          <a:xfrm xmlns:a="http://schemas.openxmlformats.org/drawingml/2006/main">
            <a:off x="749300"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8BD06663-EE1D-4B89-A1FA-BCEBC5D31A97}"/>
              </a:ext>
            </a:extLst>
          </p:cNvPr>
          <p:cNvSpPr>
            <a:spLocks xmlns:a="http://schemas.openxmlformats.org/drawingml/2006/main" noGrp="1"/>
          </p:cNvSpPr>
          <p:nvPr/>
        </p:nvSpPr>
        <p:spPr>
          <a:xfrm xmlns:a="http://schemas.openxmlformats.org/drawingml/2006/main">
            <a:off x="1130300" y="2426589"/>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int lo=0, hi=n-1, target=k-1;</a:t>
            </a:r>
          </a:p>
        </p:txBody>
      </p:sp>
      <p:sp>
        <p:nvSpPr>
          <p:cNvPr id="14" name="text-263-81">
            <a:extLst xmlns:a="http://schemas.openxmlformats.org/drawingml/2006/main">
              <a:ext uri="{FF2B5EF4-FFF2-40B4-BE49-F238E27FC236}">
                <a16:creationId xmlns:a16="http://schemas.microsoft.com/office/drawing/2014/main" id="{92ED79B1-20E4-4C23-9E01-45000227EE28}"/>
              </a:ext>
            </a:extLst>
          </p:cNvPr>
          <p:cNvSpPr>
            <a:spLocks xmlns:a="http://schemas.openxmlformats.org/drawingml/2006/main" noGrp="1"/>
          </p:cNvSpPr>
          <p:nvPr/>
        </p:nvSpPr>
        <p:spPr>
          <a:xfrm xmlns:a="http://schemas.openxmlformats.org/drawingml/2006/main">
            <a:off x="749300"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C10C4BC0-1661-469F-86D6-7029B9DDA62B}"/>
              </a:ext>
            </a:extLst>
          </p:cNvPr>
          <p:cNvSpPr>
            <a:spLocks xmlns:a="http://schemas.openxmlformats.org/drawingml/2006/main" noGrp="1"/>
          </p:cNvSpPr>
          <p:nvPr/>
        </p:nvSpPr>
        <p:spPr>
          <a:xfrm xmlns:a="http://schemas.openxmlformats.org/drawingml/2006/main">
            <a:off x="1130300" y="2738628"/>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while (lo &lt;= hi) {</a:t>
            </a:r>
          </a:p>
        </p:txBody>
      </p:sp>
      <p:sp>
        <p:nvSpPr>
          <p:cNvPr id="16" name="text-283.5-81">
            <a:extLst xmlns:a="http://schemas.openxmlformats.org/drawingml/2006/main">
              <a:ext uri="{FF2B5EF4-FFF2-40B4-BE49-F238E27FC236}">
                <a16:creationId xmlns:a16="http://schemas.microsoft.com/office/drawing/2014/main" id="{2954B0EE-E32D-4B65-9D9D-BEE24F3C07D3}"/>
              </a:ext>
            </a:extLst>
          </p:cNvPr>
          <p:cNvSpPr>
            <a:spLocks xmlns:a="http://schemas.openxmlformats.org/drawingml/2006/main" noGrp="1"/>
          </p:cNvSpPr>
          <p:nvPr/>
        </p:nvSpPr>
        <p:spPr>
          <a:xfrm xmlns:a="http://schemas.openxmlformats.org/drawingml/2006/main">
            <a:off x="749300"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473BE4F9-2755-40E0-9578-33576327753F}"/>
              </a:ext>
            </a:extLst>
          </p:cNvPr>
          <p:cNvSpPr>
            <a:spLocks xmlns:a="http://schemas.openxmlformats.org/drawingml/2006/main" noGrp="1"/>
          </p:cNvSpPr>
          <p:nvPr/>
        </p:nvSpPr>
        <p:spPr>
          <a:xfrm xmlns:a="http://schemas.openxmlformats.org/drawingml/2006/main">
            <a:off x="1130300" y="3050667"/>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int pivot=a[hi], p=lo;</a:t>
            </a:r>
          </a:p>
        </p:txBody>
      </p:sp>
      <p:sp>
        <p:nvSpPr>
          <p:cNvPr id="18" name="text-304-81">
            <a:extLst xmlns:a="http://schemas.openxmlformats.org/drawingml/2006/main">
              <a:ext uri="{FF2B5EF4-FFF2-40B4-BE49-F238E27FC236}">
                <a16:creationId xmlns:a16="http://schemas.microsoft.com/office/drawing/2014/main" id="{D89FC4FA-4E63-4E1D-A131-A2AD3EEB6328}"/>
              </a:ext>
            </a:extLst>
          </p:cNvPr>
          <p:cNvSpPr>
            <a:spLocks xmlns:a="http://schemas.openxmlformats.org/drawingml/2006/main" noGrp="1"/>
          </p:cNvSpPr>
          <p:nvPr/>
        </p:nvSpPr>
        <p:spPr>
          <a:xfrm xmlns:a="http://schemas.openxmlformats.org/drawingml/2006/main">
            <a:off x="749300"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C9EF2643-59E8-4228-8536-BE4BB14472B6}"/>
              </a:ext>
            </a:extLst>
          </p:cNvPr>
          <p:cNvSpPr>
            <a:spLocks xmlns:a="http://schemas.openxmlformats.org/drawingml/2006/main" noGrp="1"/>
          </p:cNvSpPr>
          <p:nvPr/>
        </p:nvSpPr>
        <p:spPr>
          <a:xfrm xmlns:a="http://schemas.openxmlformats.org/drawingml/2006/main">
            <a:off x="1130300" y="3362706"/>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for (int j=lo; j&lt;hi; ++j) {</a:t>
            </a:r>
          </a:p>
        </p:txBody>
      </p:sp>
      <p:sp>
        <p:nvSpPr>
          <p:cNvPr id="20" name="text-324.5-81">
            <a:extLst xmlns:a="http://schemas.openxmlformats.org/drawingml/2006/main">
              <a:ext uri="{FF2B5EF4-FFF2-40B4-BE49-F238E27FC236}">
                <a16:creationId xmlns:a16="http://schemas.microsoft.com/office/drawing/2014/main" id="{45A4E4A5-0F1B-4403-BC1B-2D6615108818}"/>
              </a:ext>
            </a:extLst>
          </p:cNvPr>
          <p:cNvSpPr>
            <a:spLocks xmlns:a="http://schemas.openxmlformats.org/drawingml/2006/main" noGrp="1"/>
          </p:cNvSpPr>
          <p:nvPr/>
        </p:nvSpPr>
        <p:spPr>
          <a:xfrm xmlns:a="http://schemas.openxmlformats.org/drawingml/2006/main">
            <a:off x="749300"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xmlns:a="http://schemas.openxmlformats.org/drawingml/2006/main">
              <a:ext uri="{FF2B5EF4-FFF2-40B4-BE49-F238E27FC236}">
                <a16:creationId xmlns:a16="http://schemas.microsoft.com/office/drawing/2014/main" id="{75456202-12C7-4F5D-9603-1BDAE0AB8A88}"/>
              </a:ext>
            </a:extLst>
          </p:cNvPr>
          <p:cNvSpPr>
            <a:spLocks xmlns:a="http://schemas.openxmlformats.org/drawingml/2006/main" noGrp="1"/>
          </p:cNvSpPr>
          <p:nvPr/>
        </p:nvSpPr>
        <p:spPr>
          <a:xfrm xmlns:a="http://schemas.openxmlformats.org/drawingml/2006/main">
            <a:off x="1130300" y="3674745"/>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(a[j] &lt;= pivot) {</a:t>
            </a:r>
          </a:p>
        </p:txBody>
      </p:sp>
      <p:sp>
        <p:nvSpPr>
          <p:cNvPr id="22" name="text-345-81">
            <a:extLst xmlns:a="http://schemas.openxmlformats.org/drawingml/2006/main">
              <a:ext uri="{FF2B5EF4-FFF2-40B4-BE49-F238E27FC236}">
                <a16:creationId xmlns:a16="http://schemas.microsoft.com/office/drawing/2014/main" id="{1F110222-D565-4BAA-B563-F36C68BF7A1C}"/>
              </a:ext>
            </a:extLst>
          </p:cNvPr>
          <p:cNvSpPr>
            <a:spLocks xmlns:a="http://schemas.openxmlformats.org/drawingml/2006/main" noGrp="1"/>
          </p:cNvSpPr>
          <p:nvPr/>
        </p:nvSpPr>
        <p:spPr>
          <a:xfrm xmlns:a="http://schemas.openxmlformats.org/drawingml/2006/main">
            <a:off x="749300"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xmlns:a="http://schemas.openxmlformats.org/drawingml/2006/main">
              <a:ext uri="{FF2B5EF4-FFF2-40B4-BE49-F238E27FC236}">
                <a16:creationId xmlns:a16="http://schemas.microsoft.com/office/drawing/2014/main" id="{3BDACECC-5E2B-4A74-ADD8-7303C9687580}"/>
              </a:ext>
            </a:extLst>
          </p:cNvPr>
          <p:cNvSpPr>
            <a:spLocks xmlns:a="http://schemas.openxmlformats.org/drawingml/2006/main" noGrp="1"/>
          </p:cNvSpPr>
          <p:nvPr/>
        </p:nvSpPr>
        <p:spPr>
          <a:xfrm xmlns:a="http://schemas.openxmlformats.org/drawingml/2006/main">
            <a:off x="1130300" y="3986784"/>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int t=a[p]; a[p++]=a[j]; a[j]=t;</a:t>
            </a:r>
          </a:p>
        </p:txBody>
      </p:sp>
      <p:sp>
        <p:nvSpPr>
          <p:cNvPr id="24" name="text-365.5-81">
            <a:extLst xmlns:a="http://schemas.openxmlformats.org/drawingml/2006/main">
              <a:ext uri="{FF2B5EF4-FFF2-40B4-BE49-F238E27FC236}">
                <a16:creationId xmlns:a16="http://schemas.microsoft.com/office/drawing/2014/main" id="{27248833-2519-4666-8944-6C9D92E7B522}"/>
              </a:ext>
            </a:extLst>
          </p:cNvPr>
          <p:cNvSpPr>
            <a:spLocks xmlns:a="http://schemas.openxmlformats.org/drawingml/2006/main" noGrp="1"/>
          </p:cNvSpPr>
          <p:nvPr/>
        </p:nvSpPr>
        <p:spPr>
          <a:xfrm xmlns:a="http://schemas.openxmlformats.org/drawingml/2006/main">
            <a:off x="749300" y="4336923"/>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08</a:t>
            </a:r>
          </a:p>
        </p:txBody>
      </p:sp>
      <p:sp>
        <p:nvSpPr>
          <p:cNvPr id="25" name="text-365.5-135">
            <a:extLst xmlns:a="http://schemas.openxmlformats.org/drawingml/2006/main">
              <a:ext uri="{FF2B5EF4-FFF2-40B4-BE49-F238E27FC236}">
                <a16:creationId xmlns:a16="http://schemas.microsoft.com/office/drawing/2014/main" id="{A05BD74B-DEA4-4870-AC50-4D7FE23D9FCB}"/>
              </a:ext>
            </a:extLst>
          </p:cNvPr>
          <p:cNvSpPr>
            <a:spLocks xmlns:a="http://schemas.openxmlformats.org/drawingml/2006/main" noGrp="1"/>
          </p:cNvSpPr>
          <p:nvPr/>
        </p:nvSpPr>
        <p:spPr>
          <a:xfrm xmlns:a="http://schemas.openxmlformats.org/drawingml/2006/main">
            <a:off x="1130300" y="4298823"/>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t>
            </a:r>
          </a:p>
        </p:txBody>
      </p:sp>
      <p:sp>
        <p:nvSpPr>
          <p:cNvPr id="26" name="text-386-81">
            <a:extLst xmlns:a="http://schemas.openxmlformats.org/drawingml/2006/main">
              <a:ext uri="{FF2B5EF4-FFF2-40B4-BE49-F238E27FC236}">
                <a16:creationId xmlns:a16="http://schemas.microsoft.com/office/drawing/2014/main" id="{0A731C9C-5E6D-4556-A22F-5D4AE0505847}"/>
              </a:ext>
            </a:extLst>
          </p:cNvPr>
          <p:cNvSpPr>
            <a:spLocks xmlns:a="http://schemas.openxmlformats.org/drawingml/2006/main" noGrp="1"/>
          </p:cNvSpPr>
          <p:nvPr/>
        </p:nvSpPr>
        <p:spPr>
          <a:xfrm xmlns:a="http://schemas.openxmlformats.org/drawingml/2006/main">
            <a:off x="749300" y="4648962"/>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09</a:t>
            </a:r>
          </a:p>
        </p:txBody>
      </p:sp>
      <p:sp>
        <p:nvSpPr>
          <p:cNvPr id="27" name="text-386-135">
            <a:extLst xmlns:a="http://schemas.openxmlformats.org/drawingml/2006/main">
              <a:ext uri="{FF2B5EF4-FFF2-40B4-BE49-F238E27FC236}">
                <a16:creationId xmlns:a16="http://schemas.microsoft.com/office/drawing/2014/main" id="{A1EB62C9-A4B6-4849-9813-0C7EC1CC85F5}"/>
              </a:ext>
            </a:extLst>
          </p:cNvPr>
          <p:cNvSpPr>
            <a:spLocks xmlns:a="http://schemas.openxmlformats.org/drawingml/2006/main" noGrp="1"/>
          </p:cNvSpPr>
          <p:nvPr/>
        </p:nvSpPr>
        <p:spPr>
          <a:xfrm xmlns:a="http://schemas.openxmlformats.org/drawingml/2006/main">
            <a:off x="1130300" y="4610862"/>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t>
            </a:r>
          </a:p>
        </p:txBody>
      </p:sp>
      <p:sp>
        <p:nvSpPr>
          <p:cNvPr id="28" name="text-406.5-81">
            <a:extLst xmlns:a="http://schemas.openxmlformats.org/drawingml/2006/main">
              <a:ext uri="{FF2B5EF4-FFF2-40B4-BE49-F238E27FC236}">
                <a16:creationId xmlns:a16="http://schemas.microsoft.com/office/drawing/2014/main" id="{C438FF7B-2CDD-4BEF-98EE-3F7732FDD881}"/>
              </a:ext>
            </a:extLst>
          </p:cNvPr>
          <p:cNvSpPr>
            <a:spLocks xmlns:a="http://schemas.openxmlformats.org/drawingml/2006/main" noGrp="1"/>
          </p:cNvSpPr>
          <p:nvPr/>
        </p:nvSpPr>
        <p:spPr>
          <a:xfrm xmlns:a="http://schemas.openxmlformats.org/drawingml/2006/main">
            <a:off x="6273800"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10</a:t>
            </a:r>
          </a:p>
        </p:txBody>
      </p:sp>
      <p:sp>
        <p:nvSpPr>
          <p:cNvPr id="29" name="text-406.5-135">
            <a:extLst xmlns:a="http://schemas.openxmlformats.org/drawingml/2006/main">
              <a:ext uri="{FF2B5EF4-FFF2-40B4-BE49-F238E27FC236}">
                <a16:creationId xmlns:a16="http://schemas.microsoft.com/office/drawing/2014/main" id="{C809807A-1688-442C-AC48-794E39796A51}"/>
              </a:ext>
            </a:extLst>
          </p:cNvPr>
          <p:cNvSpPr>
            <a:spLocks xmlns:a="http://schemas.openxmlformats.org/drawingml/2006/main" noGrp="1"/>
          </p:cNvSpPr>
          <p:nvPr/>
        </p:nvSpPr>
        <p:spPr>
          <a:xfrm xmlns:a="http://schemas.openxmlformats.org/drawingml/2006/main">
            <a:off x="6654800" y="2114550"/>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int t=a[p]; a[p]=a[hi]; a[hi]=t;</a:t>
            </a:r>
          </a:p>
        </p:txBody>
      </p:sp>
      <p:sp>
        <p:nvSpPr>
          <p:cNvPr id="30" name="text-427-81">
            <a:extLst xmlns:a="http://schemas.openxmlformats.org/drawingml/2006/main">
              <a:ext uri="{FF2B5EF4-FFF2-40B4-BE49-F238E27FC236}">
                <a16:creationId xmlns:a16="http://schemas.microsoft.com/office/drawing/2014/main" id="{3ED5CB75-9D2D-40FD-889E-63A4EE27D3C0}"/>
              </a:ext>
            </a:extLst>
          </p:cNvPr>
          <p:cNvSpPr>
            <a:spLocks xmlns:a="http://schemas.openxmlformats.org/drawingml/2006/main" noGrp="1"/>
          </p:cNvSpPr>
          <p:nvPr/>
        </p:nvSpPr>
        <p:spPr>
          <a:xfrm xmlns:a="http://schemas.openxmlformats.org/drawingml/2006/main">
            <a:off x="6273800"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11</a:t>
            </a:r>
          </a:p>
        </p:txBody>
      </p:sp>
      <p:sp>
        <p:nvSpPr>
          <p:cNvPr id="31" name="text-427-135">
            <a:extLst xmlns:a="http://schemas.openxmlformats.org/drawingml/2006/main">
              <a:ext uri="{FF2B5EF4-FFF2-40B4-BE49-F238E27FC236}">
                <a16:creationId xmlns:a16="http://schemas.microsoft.com/office/drawing/2014/main" id="{B8F1A10F-8E68-4465-BB9F-317A97759A00}"/>
              </a:ext>
            </a:extLst>
          </p:cNvPr>
          <p:cNvSpPr>
            <a:spLocks xmlns:a="http://schemas.openxmlformats.org/drawingml/2006/main" noGrp="1"/>
          </p:cNvSpPr>
          <p:nvPr/>
        </p:nvSpPr>
        <p:spPr>
          <a:xfrm xmlns:a="http://schemas.openxmlformats.org/drawingml/2006/main">
            <a:off x="6654800" y="2426589"/>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(p == target) return a[p];</a:t>
            </a:r>
          </a:p>
        </p:txBody>
      </p:sp>
      <p:sp>
        <p:nvSpPr>
          <p:cNvPr id="32" name="text-447.5-81">
            <a:extLst xmlns:a="http://schemas.openxmlformats.org/drawingml/2006/main">
              <a:ext uri="{FF2B5EF4-FFF2-40B4-BE49-F238E27FC236}">
                <a16:creationId xmlns:a16="http://schemas.microsoft.com/office/drawing/2014/main" id="{5F7F148E-9D4B-4209-9DF7-771E733EDA71}"/>
              </a:ext>
            </a:extLst>
          </p:cNvPr>
          <p:cNvSpPr>
            <a:spLocks xmlns:a="http://schemas.openxmlformats.org/drawingml/2006/main" noGrp="1"/>
          </p:cNvSpPr>
          <p:nvPr/>
        </p:nvSpPr>
        <p:spPr>
          <a:xfrm xmlns:a="http://schemas.openxmlformats.org/drawingml/2006/main">
            <a:off x="6273800"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12</a:t>
            </a:r>
          </a:p>
        </p:txBody>
      </p:sp>
      <p:sp>
        <p:nvSpPr>
          <p:cNvPr id="33" name="text-447.5-135">
            <a:extLst xmlns:a="http://schemas.openxmlformats.org/drawingml/2006/main">
              <a:ext uri="{FF2B5EF4-FFF2-40B4-BE49-F238E27FC236}">
                <a16:creationId xmlns:a16="http://schemas.microsoft.com/office/drawing/2014/main" id="{64C101C1-2A8A-4F6F-A10F-2629582A2443}"/>
              </a:ext>
            </a:extLst>
          </p:cNvPr>
          <p:cNvSpPr>
            <a:spLocks xmlns:a="http://schemas.openxmlformats.org/drawingml/2006/main" noGrp="1"/>
          </p:cNvSpPr>
          <p:nvPr/>
        </p:nvSpPr>
        <p:spPr>
          <a:xfrm xmlns:a="http://schemas.openxmlformats.org/drawingml/2006/main">
            <a:off x="6654800" y="2738628"/>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(p &lt; target) lo=p+1;</a:t>
            </a:r>
          </a:p>
        </p:txBody>
      </p:sp>
      <p:sp>
        <p:nvSpPr>
          <p:cNvPr id="34" name="text-468-81">
            <a:extLst xmlns:a="http://schemas.openxmlformats.org/drawingml/2006/main">
              <a:ext uri="{FF2B5EF4-FFF2-40B4-BE49-F238E27FC236}">
                <a16:creationId xmlns:a16="http://schemas.microsoft.com/office/drawing/2014/main" id="{40390DAF-40E4-4AC1-9952-F50FA3F1C14D}"/>
              </a:ext>
            </a:extLst>
          </p:cNvPr>
          <p:cNvSpPr>
            <a:spLocks xmlns:a="http://schemas.openxmlformats.org/drawingml/2006/main" noGrp="1"/>
          </p:cNvSpPr>
          <p:nvPr/>
        </p:nvSpPr>
        <p:spPr>
          <a:xfrm xmlns:a="http://schemas.openxmlformats.org/drawingml/2006/main">
            <a:off x="6273800"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13</a:t>
            </a:r>
          </a:p>
        </p:txBody>
      </p:sp>
      <p:sp>
        <p:nvSpPr>
          <p:cNvPr id="35" name="text-468-135">
            <a:extLst xmlns:a="http://schemas.openxmlformats.org/drawingml/2006/main">
              <a:ext uri="{FF2B5EF4-FFF2-40B4-BE49-F238E27FC236}">
                <a16:creationId xmlns:a16="http://schemas.microsoft.com/office/drawing/2014/main" id="{2B9B690F-EC4C-4181-A4B6-8E05019CCEAE}"/>
              </a:ext>
            </a:extLst>
          </p:cNvPr>
          <p:cNvSpPr>
            <a:spLocks xmlns:a="http://schemas.openxmlformats.org/drawingml/2006/main" noGrp="1"/>
          </p:cNvSpPr>
          <p:nvPr/>
        </p:nvSpPr>
        <p:spPr>
          <a:xfrm xmlns:a="http://schemas.openxmlformats.org/drawingml/2006/main">
            <a:off x="6654800" y="3050667"/>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else hi=p-1;</a:t>
            </a:r>
          </a:p>
        </p:txBody>
      </p:sp>
      <p:sp>
        <p:nvSpPr>
          <p:cNvPr id="36" name="text-488.5-81">
            <a:extLst xmlns:a="http://schemas.openxmlformats.org/drawingml/2006/main">
              <a:ext uri="{FF2B5EF4-FFF2-40B4-BE49-F238E27FC236}">
                <a16:creationId xmlns:a16="http://schemas.microsoft.com/office/drawing/2014/main" id="{0AD783E9-EA88-4119-8BB6-0D38C00815FE}"/>
              </a:ext>
            </a:extLst>
          </p:cNvPr>
          <p:cNvSpPr>
            <a:spLocks xmlns:a="http://schemas.openxmlformats.org/drawingml/2006/main" noGrp="1"/>
          </p:cNvSpPr>
          <p:nvPr/>
        </p:nvSpPr>
        <p:spPr>
          <a:xfrm xmlns:a="http://schemas.openxmlformats.org/drawingml/2006/main">
            <a:off x="6273800"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14</a:t>
            </a:r>
          </a:p>
        </p:txBody>
      </p:sp>
      <p:sp>
        <p:nvSpPr>
          <p:cNvPr id="37" name="text-488.5-135">
            <a:extLst xmlns:a="http://schemas.openxmlformats.org/drawingml/2006/main">
              <a:ext uri="{FF2B5EF4-FFF2-40B4-BE49-F238E27FC236}">
                <a16:creationId xmlns:a16="http://schemas.microsoft.com/office/drawing/2014/main" id="{ADBEBF80-1CE9-40A9-9E89-4E1FF3C34AE1}"/>
              </a:ext>
            </a:extLst>
          </p:cNvPr>
          <p:cNvSpPr>
            <a:spLocks xmlns:a="http://schemas.openxmlformats.org/drawingml/2006/main" noGrp="1"/>
          </p:cNvSpPr>
          <p:nvPr/>
        </p:nvSpPr>
        <p:spPr>
          <a:xfrm xmlns:a="http://schemas.openxmlformats.org/drawingml/2006/main">
            <a:off x="6654800" y="3362706"/>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t>
            </a:r>
          </a:p>
        </p:txBody>
      </p:sp>
      <p:sp>
        <p:nvSpPr>
          <p:cNvPr id="38" name="text-509-81">
            <a:extLst xmlns:a="http://schemas.openxmlformats.org/drawingml/2006/main">
              <a:ext uri="{FF2B5EF4-FFF2-40B4-BE49-F238E27FC236}">
                <a16:creationId xmlns:a16="http://schemas.microsoft.com/office/drawing/2014/main" id="{BC3C0044-1FD0-49E2-9D57-479657686B86}"/>
              </a:ext>
            </a:extLst>
          </p:cNvPr>
          <p:cNvSpPr>
            <a:spLocks xmlns:a="http://schemas.openxmlformats.org/drawingml/2006/main" noGrp="1"/>
          </p:cNvSpPr>
          <p:nvPr/>
        </p:nvSpPr>
        <p:spPr>
          <a:xfrm xmlns:a="http://schemas.openxmlformats.org/drawingml/2006/main">
            <a:off x="6273800"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15</a:t>
            </a:r>
          </a:p>
        </p:txBody>
      </p:sp>
      <p:sp>
        <p:nvSpPr>
          <p:cNvPr id="39" name="text-509-135">
            <a:extLst xmlns:a="http://schemas.openxmlformats.org/drawingml/2006/main">
              <a:ext uri="{FF2B5EF4-FFF2-40B4-BE49-F238E27FC236}">
                <a16:creationId xmlns:a16="http://schemas.microsoft.com/office/drawing/2014/main" id="{3768DE12-24BE-47D0-BA4C-3ECE72D334A2}"/>
              </a:ext>
            </a:extLst>
          </p:cNvPr>
          <p:cNvSpPr>
            <a:spLocks xmlns:a="http://schemas.openxmlformats.org/drawingml/2006/main" noGrp="1"/>
          </p:cNvSpPr>
          <p:nvPr/>
        </p:nvSpPr>
        <p:spPr>
          <a:xfrm xmlns:a="http://schemas.openxmlformats.org/drawingml/2006/main">
            <a:off x="6654800" y="3674745"/>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0; /* unreachable for valid k */</a:t>
            </a:r>
          </a:p>
        </p:txBody>
      </p:sp>
      <p:sp>
        <p:nvSpPr>
          <p:cNvPr id="40" name="text-529.5-81">
            <a:extLst xmlns:a="http://schemas.openxmlformats.org/drawingml/2006/main">
              <a:ext uri="{FF2B5EF4-FFF2-40B4-BE49-F238E27FC236}">
                <a16:creationId xmlns:a16="http://schemas.microsoft.com/office/drawing/2014/main" id="{A2A15C13-5291-4C44-BDF4-BE8A19200903}"/>
              </a:ext>
            </a:extLst>
          </p:cNvPr>
          <p:cNvSpPr>
            <a:spLocks xmlns:a="http://schemas.openxmlformats.org/drawingml/2006/main" noGrp="1"/>
          </p:cNvSpPr>
          <p:nvPr/>
        </p:nvSpPr>
        <p:spPr>
          <a:xfrm xmlns:a="http://schemas.openxmlformats.org/drawingml/2006/main">
            <a:off x="6273800"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16</a:t>
            </a:r>
          </a:p>
        </p:txBody>
      </p:sp>
      <p:sp>
        <p:nvSpPr>
          <p:cNvPr id="41" name="text-529.5-135">
            <a:extLst xmlns:a="http://schemas.openxmlformats.org/drawingml/2006/main">
              <a:ext uri="{FF2B5EF4-FFF2-40B4-BE49-F238E27FC236}">
                <a16:creationId xmlns:a16="http://schemas.microsoft.com/office/drawing/2014/main" id="{25F75447-AF42-48EF-96EA-7D2AB5B390FE}"/>
              </a:ext>
            </a:extLst>
          </p:cNvPr>
          <p:cNvSpPr>
            <a:spLocks xmlns:a="http://schemas.openxmlformats.org/drawingml/2006/main" noGrp="1"/>
          </p:cNvSpPr>
          <p:nvPr/>
        </p:nvSpPr>
        <p:spPr>
          <a:xfrm xmlns:a="http://schemas.openxmlformats.org/drawingml/2006/main">
            <a:off x="6654800" y="3986784"/>
            <a:ext cx="4762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a:t>
            </a:r>
          </a:p>
        </p:txBody>
      </p:sp>
      <p:sp>
        <p:nvSpPr>
          <p:cNvPr id="42" name="text-635-64">
            <a:extLst xmlns:a="http://schemas.openxmlformats.org/drawingml/2006/main">
              <a:ext uri="{FF2B5EF4-FFF2-40B4-BE49-F238E27FC236}">
                <a16:creationId xmlns:a16="http://schemas.microsoft.com/office/drawing/2014/main" id="{C6DF6F87-C7EB-4342-9848-03407EB2D316}"/>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이 고정 피벗 구현의 최악 시간 O(n²). 모든 입력에서 선형이라고 주장할 수 없다.</a:t>
            </a:r>
          </a:p>
        </p:txBody>
      </p:sp>
    </p:spTree>
    <p:extLst>
      <p:ext uri="{BB962C8B-B14F-4D97-AF65-F5344CB8AC3E}">
        <p14:creationId xmlns:p14="http://schemas.microsoft.com/office/powerpoint/2010/main" val="462685519"/>
      </p:ext>
    </p:extLst>
  </p:cSld>
</p:sld>
</file>

<file path=ppt/slides/slide2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6B8B1E68-EA23-46F1-9D71-10151FD88AE6}"/>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a:ext uri="{FF2B5EF4-FFF2-40B4-BE49-F238E27FC236}">
                <ns2:creationId id="{D3504E75-B9BF-45B8-B1C3-A9A2A985F471}"/>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2A5BC11A-02F3-42B5-9281-7889FC0597A3}"/>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99  </a:t>
            </a:r>
          </a:p>
        </p:txBody>
      </p:sp>
      <p:sp>
        <p:nvSpPr>
          <p:cNvPr id="4" name="">
            <a:extLst>
              <a:ext uri="{FF2B5EF4-FFF2-40B4-BE49-F238E27FC236}">
                <ns2:creationId id="{BDED277B-6679-44A8-A041-6F3ACA4566B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689E364-CB1D-408B-B9D4-759EB5C1B92D}"/>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2FD79B8D-42D0-4229-92C9-3294C369C2A1}"/>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69C9DB1F-7B8C-4002-8354-082FBAFC350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213</a:t>
            </a:r>
          </a:p>
        </p:txBody>
      </p:sp>
      <p:sp>
        <p:nvSpPr>
          <p:cNvPr id="8" name="text-178-64">
            <a:extLst>
              <a:ext uri="{FF2B5EF4-FFF2-40B4-BE49-F238E27FC236}">
                <ns2:creationId id="{3E09D9BC-76ED-4895-9F1B-7CD4BA02577A}"/>
              </a:ext>
            </a:extLst>
          </p:cNvPr>
          <p:cNvSpPr>
            <a:spLocks noGrp="1"/>
          </p:cNvSpPr>
          <p:nvPr/>
        </p:nvSpPr>
        <p:spPr>
          <a:xfrm>
            <a:off x="609600" y="1695450"/>
            <a:ext cx="10972800" cy="112014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피보나치 수는 F(0)=0, F(1)=1, n≥2에서 F(n)=F(n−1)+F(n−2)이다. 정수 0≤n≤90에 대해</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F(n)을 반환하는 fibonacci(n)을 반복문으로 작성하시오. C 반환형은 long long이다. 필요한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F(n)까지만 계산하시오.</a:t>
            </a:r>
          </a:p>
        </p:txBody>
      </p:sp>
      <p:sp>
        <p:nvSpPr>
          <p:cNvPr id="9" name="text-405-64">
            <a:extLst>
              <a:ext uri="{FF2B5EF4-FFF2-40B4-BE49-F238E27FC236}">
                <ns2:creationId id="{9F06F57D-2B1C-4509-804B-8FD5A4F162AA}"/>
              </a:ext>
            </a:extLst>
          </p:cNvPr>
          <p:cNvSpPr>
            <a:spLocks noGrp="1"/>
          </p:cNvSpPr>
          <p:nvPr/>
        </p:nvSpPr>
        <p:spPr>
          <a:xfrm>
            <a:off x="609600" y="296799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fibonacci(n) / C: long long fibonacci(int n)</a:t>
            </a:r>
          </a:p>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또는 C 하나로 함수와 시간 복잡도를 작성하시오. 기본 정수 연산은 O(1)로 센다.</a:t>
            </a:r>
          </a:p>
        </p:txBody>
      </p:sp>
      <p:sp>
        <p:nvSpPr>
          <p:cNvPr id="10" name="">
            <a:extLst>
              <a:ext uri="{FF2B5EF4-FFF2-40B4-BE49-F238E27FC236}">
                <ns2:creationId id="{72734F26-8D41-434D-BF1F-360EF3843A0A}"/>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E8B32E03-2EA7-4461-A243-919D66264AFF}"/>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A8E790D5-1975-4B1E-BA90-6ADF5465D5C7}"/>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2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A62E4BE9-D180-4AA8-8F10-83151DD114C1}"/>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EBFF2711-60FD-401B-BBE0-01935DFC735C}"/>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9CEFD888-ABD7-4018-ABBE-800B3A1E549B}"/>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99  정답과 해설</a:t>
            </a:r>
          </a:p>
        </p:txBody>
      </p:sp>
      <p:sp>
        <p:nvSpPr>
          <p:cNvPr id="4" name="">
            <a:extLst xmlns:a="http://schemas.openxmlformats.org/drawingml/2006/main">
              <a:ext uri="{FF2B5EF4-FFF2-40B4-BE49-F238E27FC236}">
                <a16:creationId xmlns:a16="http://schemas.microsoft.com/office/drawing/2014/main" id="{0A5E103F-B835-49EA-9266-5FA0EA1E55F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7A9036-D963-43E1-A713-2C27E03A3E0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0828B94C-D316-45B3-B338-C8472AD345BC}"/>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DCECA032-596F-46FB-B0EE-3692AF532A7F}"/>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214</a:t>
            </a:r>
          </a:p>
        </p:txBody>
      </p:sp>
      <p:sp>
        <p:nvSpPr>
          <p:cNvPr id="8" name="text-178-64">
            <a:extLst xmlns:a="http://schemas.openxmlformats.org/drawingml/2006/main">
              <a:ext uri="{FF2B5EF4-FFF2-40B4-BE49-F238E27FC236}">
                <a16:creationId xmlns:a16="http://schemas.microsoft.com/office/drawing/2014/main" id="{7CDFF127-89EE-4806-93C3-0914144C31CB}"/>
              </a:ext>
            </a:extLst>
          </p:cNvPr>
          <p:cNvSpPr>
            <a:spLocks xmlns:a="http://schemas.openxmlformats.org/drawingml/2006/main" noGrp="1"/>
          </p:cNvSpPr>
          <p:nvPr/>
        </p:nvSpPr>
        <p:spPr>
          <a:xfrm xmlns:a="http://schemas.openxmlformats.org/drawingml/2006/main">
            <a:off x="609600" y="169545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반복 피보나치</a:t>
            </a:r>
          </a:p>
        </p:txBody>
      </p:sp>
      <p:sp>
        <p:nvSpPr>
          <p:cNvPr id="9" name="">
            <a:extLst xmlns:a="http://schemas.openxmlformats.org/drawingml/2006/main">
              <a:ext uri="{FF2B5EF4-FFF2-40B4-BE49-F238E27FC236}">
                <a16:creationId xmlns:a16="http://schemas.microsoft.com/office/drawing/2014/main" id="{74031E20-B266-47D2-96A3-46C68C62D81D}"/>
              </a:ext>
            </a:extLst>
          </p:cNvPr>
          <p:cNvSpPr>
            <a:spLocks xmlns:a="http://schemas.openxmlformats.org/drawingml/2006/main" noGrp="1"/>
          </p:cNvSpPr>
          <p:nvPr/>
        </p:nvSpPr>
        <p:spPr>
          <a:xfrm xmlns:a="http://schemas.openxmlformats.org/drawingml/2006/main">
            <a:off x="609600" y="2205990"/>
            <a:ext cx="10972800" cy="65532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7508361D-6D96-483A-891A-6AA33A776627}"/>
              </a:ext>
            </a:extLst>
          </p:cNvPr>
          <p:cNvSpPr>
            <a:spLocks xmlns:a="http://schemas.openxmlformats.org/drawingml/2006/main" noGrp="1"/>
          </p:cNvSpPr>
          <p:nvPr/>
        </p:nvSpPr>
        <p:spPr>
          <a:xfrm xmlns:a="http://schemas.openxmlformats.org/drawingml/2006/main">
            <a:off x="876300" y="2332990"/>
            <a:ext cx="10439400" cy="452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2025" b="1" i="0">
                <a:solidFill>
                  <a:srgbClr val="FFFFFF"/>
                </a:solidFill>
                <a:latin typeface="Malgun Gothic"/>
                <a:ea typeface="Malgun Gothic"/>
                <a:cs typeface="Malgun Gothic"/>
              </a:defRPr>
              <a:spcBef>
                <a:spcPts val="0"/>
              </a:spcBef>
              <a:spcAft>
                <a:spcPts val="0"/>
              </a:spcAft>
            </a:pPr>
            <a:r>
              <a:rPr sz="2025" b="1" i="0">
                <a:solidFill>
                  <a:srgbClr val="FFFFFF"/>
                </a:solidFill>
                <a:latin typeface="Malgun Gothic"/>
                <a:ea typeface="Malgun Gothic"/>
                <a:cs typeface="Malgun Gothic"/>
              </a:rPr>
              <a:t>n≥2에서 F(2)부터 F(n)까지만 차례로 계산한다.</a:t>
            </a:r>
          </a:p>
        </p:txBody>
      </p:sp>
      <p:sp>
        <p:nvSpPr>
          <p:cNvPr id="11" name="text-324.4-64">
            <a:extLst xmlns:a="http://schemas.openxmlformats.org/drawingml/2006/main">
              <a:ext uri="{FF2B5EF4-FFF2-40B4-BE49-F238E27FC236}">
                <a16:creationId xmlns:a16="http://schemas.microsoft.com/office/drawing/2014/main" id="{069C1937-EDD2-4BA3-823F-DD87C5CF79EB}"/>
              </a:ext>
            </a:extLst>
          </p:cNvPr>
          <p:cNvSpPr>
            <a:spLocks xmlns:a="http://schemas.openxmlformats.org/drawingml/2006/main" noGrp="1"/>
          </p:cNvSpPr>
          <p:nvPr/>
        </p:nvSpPr>
        <p:spPr>
          <a:xfrm xmlns:a="http://schemas.openxmlformats.org/drawingml/2006/main">
            <a:off x="609600" y="3140710"/>
            <a:ext cx="11811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7E48E9E4-3791-4327-B092-89224618550B}"/>
              </a:ext>
            </a:extLst>
          </p:cNvPr>
          <p:cNvSpPr>
            <a:spLocks xmlns:a="http://schemas.openxmlformats.org/drawingml/2006/main" noGrp="1"/>
          </p:cNvSpPr>
          <p:nvPr/>
        </p:nvSpPr>
        <p:spPr>
          <a:xfrm xmlns:a="http://schemas.openxmlformats.org/drawingml/2006/main">
            <a:off x="1752600" y="335661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F58E28E4-48D7-4EEC-A46B-ED9C66B7C2F7}"/>
              </a:ext>
            </a:extLst>
          </p:cNvPr>
          <p:cNvSpPr>
            <a:spLocks xmlns:a="http://schemas.openxmlformats.org/drawingml/2006/main" noGrp="1"/>
          </p:cNvSpPr>
          <p:nvPr/>
        </p:nvSpPr>
        <p:spPr>
          <a:xfrm xmlns:a="http://schemas.openxmlformats.org/drawingml/2006/main">
            <a:off x="609600" y="3648710"/>
            <a:ext cx="10972800" cy="154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n=0이면 0, n=1이면 1을 반환한다. 이후 두 이전 항의 합을 구한다.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F(90)=2880067194370816120. 필요한 F(n)까지만 계산한다.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기본 덧셈을 O(1)로 셀 때 시간 Θ(n), 추가 공간 Θ(1).</a:t>
            </a:r>
          </a:p>
        </p:txBody>
      </p:sp>
    </p:spTree>
    <p:extLst>
      <p:ext uri="{BB962C8B-B14F-4D97-AF65-F5344CB8AC3E}">
        <p14:creationId xmlns:p14="http://schemas.microsoft.com/office/powerpoint/2010/main" val="462685519"/>
      </p:ext>
    </p:extLst>
  </p:cSld>
</p:sld>
</file>

<file path=ppt/slides/slide2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28-64">
            <a:extLst xmlns:a="http://schemas.openxmlformats.org/drawingml/2006/main">
              <a:ext uri="{FF2B5EF4-FFF2-40B4-BE49-F238E27FC236}">
                <a16:creationId xmlns:a16="http://schemas.microsoft.com/office/drawing/2014/main" id="{7603C424-4E41-4497-A961-2EFC914E87D3}"/>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234F5B38-5A12-47A2-AFB7-38AFC09BF00C}"/>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8F24AA1C-5AAF-4435-9620-CB684335E91C}"/>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defRPr sz="1800">
                <a:solidFill>
                  <a:srgbClr val="5B5B5B"/>
                </a:solidFill>
                <a:latin typeface="Malgun Gothic"/>
                <a:ea typeface="Malgun Gothic"/>
                <a:cs typeface="Malgun Gothic"/>
              </a:defRPr>
              <a:spcBef>
                <a:spcPts val="0"/>
              </a:spcBef>
              <a:spcAft>
                <a:spcPts val="0"/>
              </a:spcAft>
            </a:pPr>
            <a:r>
              <a:rPr sz="3000" b="1" i="0">
                <a:solidFill>
                  <a:srgbClr val="171717"/>
                </a:solidFill>
                <a:latin typeface="Malgun Gothic"/>
                <a:ea typeface="Malgun Gothic"/>
                <a:cs typeface="Malgun Gothic"/>
              </a:rPr>
              <a:t>문제 99  Python 구현</a:t>
            </a:r>
          </a:p>
        </p:txBody>
      </p:sp>
      <p:sp>
        <p:nvSpPr>
          <p:cNvPr id="4" name="">
            <a:extLst xmlns:a="http://schemas.openxmlformats.org/drawingml/2006/main">
              <a:ext uri="{FF2B5EF4-FFF2-40B4-BE49-F238E27FC236}">
                <a16:creationId xmlns:a16="http://schemas.microsoft.com/office/drawing/2014/main" id="{CAE00983-517D-43ED-BF88-47D1DB218A04}"/>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8E46B0-0D63-4E5F-96E9-D61C7D73B3A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09FE8EEA-8062-4ACC-A002-902266F6858A}"/>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93FA0700-5098-4EA1-8A4D-4663F2250A8C}"/>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215</a:t>
            </a:r>
          </a:p>
        </p:txBody>
      </p:sp>
      <p:sp>
        <p:nvSpPr>
          <p:cNvPr id="8" name="text-163-64">
            <a:extLst xmlns:a="http://schemas.openxmlformats.org/drawingml/2006/main">
              <a:ext uri="{FF2B5EF4-FFF2-40B4-BE49-F238E27FC236}">
                <a16:creationId xmlns:a16="http://schemas.microsoft.com/office/drawing/2014/main" id="{8665DB5A-A7A4-4EDF-8836-591022BC0037}"/>
              </a:ext>
            </a:extLst>
          </p:cNvPr>
          <p:cNvSpPr>
            <a:spLocks xmlns:a="http://schemas.openxmlformats.org/drawingml/2006/main" noGrp="1"/>
          </p:cNvSpPr>
          <p:nvPr/>
        </p:nvSpPr>
        <p:spPr>
          <a:xfrm xmlns:a="http://schemas.openxmlformats.org/drawingml/2006/main">
            <a:off x="609600" y="1552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반복 피보나치</a:t>
            </a:r>
          </a:p>
        </p:txBody>
      </p:sp>
      <p:sp>
        <p:nvSpPr>
          <p:cNvPr id="9" name="">
            <a:extLst xmlns:a="http://schemas.openxmlformats.org/drawingml/2006/main">
              <a:ext uri="{FF2B5EF4-FFF2-40B4-BE49-F238E27FC236}">
                <a16:creationId xmlns:a16="http://schemas.microsoft.com/office/drawing/2014/main" id="{7CF4A8B9-67E6-4150-AA6D-5AF6F0E4B7DF}"/>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AF2DD5CE-2DA9-4CF3-AA61-B0388C8F3CAA}"/>
              </a:ext>
            </a:extLst>
          </p:cNvPr>
          <p:cNvSpPr>
            <a:spLocks xmlns:a="http://schemas.openxmlformats.org/drawingml/2006/main" noGrp="1"/>
          </p:cNvSpPr>
          <p:nvPr/>
        </p:nvSpPr>
        <p:spPr>
          <a:xfrm xmlns:a="http://schemas.openxmlformats.org/drawingml/2006/main">
            <a:off x="904875"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55CC4641-25F8-4C56-A4BA-20C8E1C6B9CE}"/>
              </a:ext>
            </a:extLst>
          </p:cNvPr>
          <p:cNvSpPr>
            <a:spLocks xmlns:a="http://schemas.openxmlformats.org/drawingml/2006/main" noGrp="1"/>
          </p:cNvSpPr>
          <p:nvPr/>
        </p:nvSpPr>
        <p:spPr>
          <a:xfrm xmlns:a="http://schemas.openxmlformats.org/drawingml/2006/main">
            <a:off x="1285875" y="211455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def fibonacci(n):</a:t>
            </a:r>
          </a:p>
        </p:txBody>
      </p:sp>
      <p:sp>
        <p:nvSpPr>
          <p:cNvPr id="12" name="text-242.5-81">
            <a:extLst xmlns:a="http://schemas.openxmlformats.org/drawingml/2006/main">
              <a:ext uri="{FF2B5EF4-FFF2-40B4-BE49-F238E27FC236}">
                <a16:creationId xmlns:a16="http://schemas.microsoft.com/office/drawing/2014/main" id="{A375C094-26C6-4AE0-B500-C48893491E1F}"/>
              </a:ext>
            </a:extLst>
          </p:cNvPr>
          <p:cNvSpPr>
            <a:spLocks xmlns:a="http://schemas.openxmlformats.org/drawingml/2006/main" noGrp="1"/>
          </p:cNvSpPr>
          <p:nvPr/>
        </p:nvSpPr>
        <p:spPr>
          <a:xfrm xmlns:a="http://schemas.openxmlformats.org/drawingml/2006/main">
            <a:off x="904875"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24AE5900-9487-4DFD-A783-3D1ADFE41551}"/>
              </a:ext>
            </a:extLst>
          </p:cNvPr>
          <p:cNvSpPr>
            <a:spLocks xmlns:a="http://schemas.openxmlformats.org/drawingml/2006/main" noGrp="1"/>
          </p:cNvSpPr>
          <p:nvPr/>
        </p:nvSpPr>
        <p:spPr>
          <a:xfrm xmlns:a="http://schemas.openxmlformats.org/drawingml/2006/main">
            <a:off x="1285875" y="2426589"/>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n &lt; 2:</a:t>
            </a:r>
          </a:p>
        </p:txBody>
      </p:sp>
      <p:sp>
        <p:nvSpPr>
          <p:cNvPr id="14" name="text-263-81">
            <a:extLst xmlns:a="http://schemas.openxmlformats.org/drawingml/2006/main">
              <a:ext uri="{FF2B5EF4-FFF2-40B4-BE49-F238E27FC236}">
                <a16:creationId xmlns:a16="http://schemas.microsoft.com/office/drawing/2014/main" id="{3AB86436-4FE9-426E-B506-24B0FCCE8EEF}"/>
              </a:ext>
            </a:extLst>
          </p:cNvPr>
          <p:cNvSpPr>
            <a:spLocks xmlns:a="http://schemas.openxmlformats.org/drawingml/2006/main" noGrp="1"/>
          </p:cNvSpPr>
          <p:nvPr/>
        </p:nvSpPr>
        <p:spPr>
          <a:xfrm xmlns:a="http://schemas.openxmlformats.org/drawingml/2006/main">
            <a:off x="904875"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46F3211E-72A1-433B-B923-028A3B3C2244}"/>
              </a:ext>
            </a:extLst>
          </p:cNvPr>
          <p:cNvSpPr>
            <a:spLocks xmlns:a="http://schemas.openxmlformats.org/drawingml/2006/main" noGrp="1"/>
          </p:cNvSpPr>
          <p:nvPr/>
        </p:nvSpPr>
        <p:spPr>
          <a:xfrm xmlns:a="http://schemas.openxmlformats.org/drawingml/2006/main">
            <a:off x="1285875" y="2738628"/>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n</a:t>
            </a:r>
          </a:p>
        </p:txBody>
      </p:sp>
      <p:sp>
        <p:nvSpPr>
          <p:cNvPr id="16" name="text-283.5-81">
            <a:extLst xmlns:a="http://schemas.openxmlformats.org/drawingml/2006/main">
              <a:ext uri="{FF2B5EF4-FFF2-40B4-BE49-F238E27FC236}">
                <a16:creationId xmlns:a16="http://schemas.microsoft.com/office/drawing/2014/main" id="{FB8F15BA-477C-4A97-83BC-4FE57A68EF6B}"/>
              </a:ext>
            </a:extLst>
          </p:cNvPr>
          <p:cNvSpPr>
            <a:spLocks xmlns:a="http://schemas.openxmlformats.org/drawingml/2006/main" noGrp="1"/>
          </p:cNvSpPr>
          <p:nvPr/>
        </p:nvSpPr>
        <p:spPr>
          <a:xfrm xmlns:a="http://schemas.openxmlformats.org/drawingml/2006/main">
            <a:off x="904875"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034508A0-50AD-4F5D-BD1D-73A56E22E187}"/>
              </a:ext>
            </a:extLst>
          </p:cNvPr>
          <p:cNvSpPr>
            <a:spLocks xmlns:a="http://schemas.openxmlformats.org/drawingml/2006/main" noGrp="1"/>
          </p:cNvSpPr>
          <p:nvPr/>
        </p:nvSpPr>
        <p:spPr>
          <a:xfrm xmlns:a="http://schemas.openxmlformats.org/drawingml/2006/main">
            <a:off x="1285875" y="3050667"/>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 b = 0, 1</a:t>
            </a:r>
          </a:p>
        </p:txBody>
      </p:sp>
      <p:sp>
        <p:nvSpPr>
          <p:cNvPr id="18" name="text-304-81">
            <a:extLst xmlns:a="http://schemas.openxmlformats.org/drawingml/2006/main">
              <a:ext uri="{FF2B5EF4-FFF2-40B4-BE49-F238E27FC236}">
                <a16:creationId xmlns:a16="http://schemas.microsoft.com/office/drawing/2014/main" id="{7E746CC3-2395-49E7-BA0B-CE5E4A10D03C}"/>
              </a:ext>
            </a:extLst>
          </p:cNvPr>
          <p:cNvSpPr>
            <a:spLocks xmlns:a="http://schemas.openxmlformats.org/drawingml/2006/main" noGrp="1"/>
          </p:cNvSpPr>
          <p:nvPr/>
        </p:nvSpPr>
        <p:spPr>
          <a:xfrm xmlns:a="http://schemas.openxmlformats.org/drawingml/2006/main">
            <a:off x="904875"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7DE7381C-E140-4207-B159-28A3094F48F1}"/>
              </a:ext>
            </a:extLst>
          </p:cNvPr>
          <p:cNvSpPr>
            <a:spLocks xmlns:a="http://schemas.openxmlformats.org/drawingml/2006/main" noGrp="1"/>
          </p:cNvSpPr>
          <p:nvPr/>
        </p:nvSpPr>
        <p:spPr>
          <a:xfrm xmlns:a="http://schemas.openxmlformats.org/drawingml/2006/main">
            <a:off x="1285875" y="3362706"/>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for i in range(2, n + 1):</a:t>
            </a:r>
          </a:p>
        </p:txBody>
      </p:sp>
      <p:sp>
        <p:nvSpPr>
          <p:cNvPr id="20" name="text-324.5-81">
            <a:extLst xmlns:a="http://schemas.openxmlformats.org/drawingml/2006/main">
              <a:ext uri="{FF2B5EF4-FFF2-40B4-BE49-F238E27FC236}">
                <a16:creationId xmlns:a16="http://schemas.microsoft.com/office/drawing/2014/main" id="{703DD211-24A6-4FA1-9FDE-47F2FCAB958C}"/>
              </a:ext>
            </a:extLst>
          </p:cNvPr>
          <p:cNvSpPr>
            <a:spLocks xmlns:a="http://schemas.openxmlformats.org/drawingml/2006/main" noGrp="1"/>
          </p:cNvSpPr>
          <p:nvPr/>
        </p:nvSpPr>
        <p:spPr>
          <a:xfrm xmlns:a="http://schemas.openxmlformats.org/drawingml/2006/main">
            <a:off x="904875"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xmlns:a="http://schemas.openxmlformats.org/drawingml/2006/main">
              <a:ext uri="{FF2B5EF4-FFF2-40B4-BE49-F238E27FC236}">
                <a16:creationId xmlns:a16="http://schemas.microsoft.com/office/drawing/2014/main" id="{B95ECACE-F88A-470F-8AD3-308A84CE3714}"/>
              </a:ext>
            </a:extLst>
          </p:cNvPr>
          <p:cNvSpPr>
            <a:spLocks xmlns:a="http://schemas.openxmlformats.org/drawingml/2006/main" noGrp="1"/>
          </p:cNvSpPr>
          <p:nvPr/>
        </p:nvSpPr>
        <p:spPr>
          <a:xfrm xmlns:a="http://schemas.openxmlformats.org/drawingml/2006/main">
            <a:off x="1285875" y="3674745"/>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 b = b, a + b</a:t>
            </a:r>
          </a:p>
        </p:txBody>
      </p:sp>
      <p:sp>
        <p:nvSpPr>
          <p:cNvPr id="22" name="text-345-81">
            <a:extLst xmlns:a="http://schemas.openxmlformats.org/drawingml/2006/main">
              <a:ext uri="{FF2B5EF4-FFF2-40B4-BE49-F238E27FC236}">
                <a16:creationId xmlns:a16="http://schemas.microsoft.com/office/drawing/2014/main" id="{18B353AB-BE89-4EBA-9388-84EF0A7FCC51}"/>
              </a:ext>
            </a:extLst>
          </p:cNvPr>
          <p:cNvSpPr>
            <a:spLocks xmlns:a="http://schemas.openxmlformats.org/drawingml/2006/main" noGrp="1"/>
          </p:cNvSpPr>
          <p:nvPr/>
        </p:nvSpPr>
        <p:spPr>
          <a:xfrm xmlns:a="http://schemas.openxmlformats.org/drawingml/2006/main">
            <a:off x="904875"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xmlns:a="http://schemas.openxmlformats.org/drawingml/2006/main">
              <a:ext uri="{FF2B5EF4-FFF2-40B4-BE49-F238E27FC236}">
                <a16:creationId xmlns:a16="http://schemas.microsoft.com/office/drawing/2014/main" id="{E13F3CC4-93DE-4F66-9924-E21F5298C23D}"/>
              </a:ext>
            </a:extLst>
          </p:cNvPr>
          <p:cNvSpPr>
            <a:spLocks xmlns:a="http://schemas.openxmlformats.org/drawingml/2006/main" noGrp="1"/>
          </p:cNvSpPr>
          <p:nvPr/>
        </p:nvSpPr>
        <p:spPr>
          <a:xfrm xmlns:a="http://schemas.openxmlformats.org/drawingml/2006/main">
            <a:off x="1285875" y="3986784"/>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b</a:t>
            </a:r>
          </a:p>
        </p:txBody>
      </p:sp>
      <p:sp>
        <p:nvSpPr>
          <p:cNvPr id="24" name="text-635-64">
            <a:extLst xmlns:a="http://schemas.openxmlformats.org/drawingml/2006/main">
              <a:ext uri="{FF2B5EF4-FFF2-40B4-BE49-F238E27FC236}">
                <a16:creationId xmlns:a16="http://schemas.microsoft.com/office/drawing/2014/main" id="{CF9E4038-3336-4DFE-8E2F-75CCAF294D9F}"/>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시간 O(n). F(90)=2880067194370816120이다.</a:t>
            </a:r>
          </a:p>
        </p:txBody>
      </p:sp>
    </p:spTree>
    <p:extLst>
      <p:ext uri="{BB962C8B-B14F-4D97-AF65-F5344CB8AC3E}">
        <p14:creationId xmlns:p14="http://schemas.microsoft.com/office/powerpoint/2010/main" val="462685519"/>
      </p:ext>
    </p:extLst>
  </p:cSld>
</p:sld>
</file>

<file path=ppt/slides/slide2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28-64">
            <a:extLst xmlns:a="http://schemas.openxmlformats.org/drawingml/2006/main">
              <a:ext uri="{FF2B5EF4-FFF2-40B4-BE49-F238E27FC236}">
                <a16:creationId xmlns:a16="http://schemas.microsoft.com/office/drawing/2014/main" id="{97FA4FFE-0486-4661-876B-12DC438CD3E3}"/>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2E73B5F3-D66D-4D88-9D8C-761C15D22E7B}"/>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20A27FE1-4910-4DA1-B0B2-3B5555ECB1AA}"/>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99  C 구현</a:t>
            </a:r>
          </a:p>
        </p:txBody>
      </p:sp>
      <p:sp>
        <p:nvSpPr>
          <p:cNvPr id="4" name="">
            <a:extLst xmlns:a="http://schemas.openxmlformats.org/drawingml/2006/main">
              <a:ext uri="{FF2B5EF4-FFF2-40B4-BE49-F238E27FC236}">
                <a16:creationId xmlns:a16="http://schemas.microsoft.com/office/drawing/2014/main" id="{522A5CE9-7438-4052-83EF-07CEECC8FAB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73FEE7-A2A3-4A3D-A8FC-7F978FC89E0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126794D7-B83D-4323-862D-A4FC7FB3A7AD}"/>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113A6CA3-6B14-4BE8-8D1A-AB9D9AFD713A}"/>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216</a:t>
            </a:r>
          </a:p>
        </p:txBody>
      </p:sp>
      <p:sp>
        <p:nvSpPr>
          <p:cNvPr id="8" name="text-163-64">
            <a:extLst xmlns:a="http://schemas.openxmlformats.org/drawingml/2006/main">
              <a:ext uri="{FF2B5EF4-FFF2-40B4-BE49-F238E27FC236}">
                <a16:creationId xmlns:a16="http://schemas.microsoft.com/office/drawing/2014/main" id="{43A218AD-FCF0-4143-A770-E81E492B4F77}"/>
              </a:ext>
            </a:extLst>
          </p:cNvPr>
          <p:cNvSpPr>
            <a:spLocks xmlns:a="http://schemas.openxmlformats.org/drawingml/2006/main" noGrp="1"/>
          </p:cNvSpPr>
          <p:nvPr/>
        </p:nvSpPr>
        <p:spPr>
          <a:xfrm xmlns:a="http://schemas.openxmlformats.org/drawingml/2006/main">
            <a:off x="609600" y="1552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반복 피보나치</a:t>
            </a:r>
          </a:p>
        </p:txBody>
      </p:sp>
      <p:sp>
        <p:nvSpPr>
          <p:cNvPr id="9" name="">
            <a:extLst xmlns:a="http://schemas.openxmlformats.org/drawingml/2006/main">
              <a:ext uri="{FF2B5EF4-FFF2-40B4-BE49-F238E27FC236}">
                <a16:creationId xmlns:a16="http://schemas.microsoft.com/office/drawing/2014/main" id="{C01373F3-AE74-480C-8A09-4CE7B485D516}"/>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09BE3BDE-EE37-4213-BD23-BD8092C92BF1}"/>
              </a:ext>
            </a:extLst>
          </p:cNvPr>
          <p:cNvSpPr>
            <a:spLocks xmlns:a="http://schemas.openxmlformats.org/drawingml/2006/main" noGrp="1"/>
          </p:cNvSpPr>
          <p:nvPr/>
        </p:nvSpPr>
        <p:spPr>
          <a:xfrm xmlns:a="http://schemas.openxmlformats.org/drawingml/2006/main">
            <a:off x="904875"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D3B4FD4F-9420-4A9F-BAA1-706BDA8C0158}"/>
              </a:ext>
            </a:extLst>
          </p:cNvPr>
          <p:cNvSpPr>
            <a:spLocks xmlns:a="http://schemas.openxmlformats.org/drawingml/2006/main" noGrp="1"/>
          </p:cNvSpPr>
          <p:nvPr/>
        </p:nvSpPr>
        <p:spPr>
          <a:xfrm xmlns:a="http://schemas.openxmlformats.org/drawingml/2006/main">
            <a:off x="1285875" y="211455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long long fibonacci(int n) {</a:t>
            </a:r>
          </a:p>
        </p:txBody>
      </p:sp>
      <p:sp>
        <p:nvSpPr>
          <p:cNvPr id="12" name="text-242.5-81">
            <a:extLst xmlns:a="http://schemas.openxmlformats.org/drawingml/2006/main">
              <a:ext uri="{FF2B5EF4-FFF2-40B4-BE49-F238E27FC236}">
                <a16:creationId xmlns:a16="http://schemas.microsoft.com/office/drawing/2014/main" id="{1901A014-33F1-4C7F-8EC2-C311AAF69250}"/>
              </a:ext>
            </a:extLst>
          </p:cNvPr>
          <p:cNvSpPr>
            <a:spLocks xmlns:a="http://schemas.openxmlformats.org/drawingml/2006/main" noGrp="1"/>
          </p:cNvSpPr>
          <p:nvPr/>
        </p:nvSpPr>
        <p:spPr>
          <a:xfrm xmlns:a="http://schemas.openxmlformats.org/drawingml/2006/main">
            <a:off x="904875"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E249ACD6-F7BE-4124-9E79-0C3B806D6F7E}"/>
              </a:ext>
            </a:extLst>
          </p:cNvPr>
          <p:cNvSpPr>
            <a:spLocks xmlns:a="http://schemas.openxmlformats.org/drawingml/2006/main" noGrp="1"/>
          </p:cNvSpPr>
          <p:nvPr/>
        </p:nvSpPr>
        <p:spPr>
          <a:xfrm xmlns:a="http://schemas.openxmlformats.org/drawingml/2006/main">
            <a:off x="1285875" y="2426589"/>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(n &lt; 2) return n;</a:t>
            </a:r>
          </a:p>
        </p:txBody>
      </p:sp>
      <p:sp>
        <p:nvSpPr>
          <p:cNvPr id="14" name="text-263-81">
            <a:extLst xmlns:a="http://schemas.openxmlformats.org/drawingml/2006/main">
              <a:ext uri="{FF2B5EF4-FFF2-40B4-BE49-F238E27FC236}">
                <a16:creationId xmlns:a16="http://schemas.microsoft.com/office/drawing/2014/main" id="{FCD41C32-824C-47BD-95D2-73DD2CEA568A}"/>
              </a:ext>
            </a:extLst>
          </p:cNvPr>
          <p:cNvSpPr>
            <a:spLocks xmlns:a="http://schemas.openxmlformats.org/drawingml/2006/main" noGrp="1"/>
          </p:cNvSpPr>
          <p:nvPr/>
        </p:nvSpPr>
        <p:spPr>
          <a:xfrm xmlns:a="http://schemas.openxmlformats.org/drawingml/2006/main">
            <a:off x="904875"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6141E0EA-58C7-4156-A8D2-A657EE1F2477}"/>
              </a:ext>
            </a:extLst>
          </p:cNvPr>
          <p:cNvSpPr>
            <a:spLocks xmlns:a="http://schemas.openxmlformats.org/drawingml/2006/main" noGrp="1"/>
          </p:cNvSpPr>
          <p:nvPr/>
        </p:nvSpPr>
        <p:spPr>
          <a:xfrm xmlns:a="http://schemas.openxmlformats.org/drawingml/2006/main">
            <a:off x="1285875" y="2738628"/>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long long a=0, b=1;</a:t>
            </a:r>
          </a:p>
        </p:txBody>
      </p:sp>
      <p:sp>
        <p:nvSpPr>
          <p:cNvPr id="16" name="text-283.5-81">
            <a:extLst xmlns:a="http://schemas.openxmlformats.org/drawingml/2006/main">
              <a:ext uri="{FF2B5EF4-FFF2-40B4-BE49-F238E27FC236}">
                <a16:creationId xmlns:a16="http://schemas.microsoft.com/office/drawing/2014/main" id="{F3004DE7-8EE9-400E-AE9B-2DBA44C19008}"/>
              </a:ext>
            </a:extLst>
          </p:cNvPr>
          <p:cNvSpPr>
            <a:spLocks xmlns:a="http://schemas.openxmlformats.org/drawingml/2006/main" noGrp="1"/>
          </p:cNvSpPr>
          <p:nvPr/>
        </p:nvSpPr>
        <p:spPr>
          <a:xfrm xmlns:a="http://schemas.openxmlformats.org/drawingml/2006/main">
            <a:off x="904875"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779D577B-31B2-4806-9414-8A8F99E6A694}"/>
              </a:ext>
            </a:extLst>
          </p:cNvPr>
          <p:cNvSpPr>
            <a:spLocks xmlns:a="http://schemas.openxmlformats.org/drawingml/2006/main" noGrp="1"/>
          </p:cNvSpPr>
          <p:nvPr/>
        </p:nvSpPr>
        <p:spPr>
          <a:xfrm xmlns:a="http://schemas.openxmlformats.org/drawingml/2006/main">
            <a:off x="1285875" y="3050667"/>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for (int i=2; i&lt;=n; ++i) {</a:t>
            </a:r>
          </a:p>
        </p:txBody>
      </p:sp>
      <p:sp>
        <p:nvSpPr>
          <p:cNvPr id="18" name="text-304-81">
            <a:extLst xmlns:a="http://schemas.openxmlformats.org/drawingml/2006/main">
              <a:ext uri="{FF2B5EF4-FFF2-40B4-BE49-F238E27FC236}">
                <a16:creationId xmlns:a16="http://schemas.microsoft.com/office/drawing/2014/main" id="{4CFEC75F-257C-4D0A-BB16-38AAA6441190}"/>
              </a:ext>
            </a:extLst>
          </p:cNvPr>
          <p:cNvSpPr>
            <a:spLocks xmlns:a="http://schemas.openxmlformats.org/drawingml/2006/main" noGrp="1"/>
          </p:cNvSpPr>
          <p:nvPr/>
        </p:nvSpPr>
        <p:spPr>
          <a:xfrm xmlns:a="http://schemas.openxmlformats.org/drawingml/2006/main">
            <a:off x="904875"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43BCFD2E-47E3-4083-A2FC-383DBC0EADE1}"/>
              </a:ext>
            </a:extLst>
          </p:cNvPr>
          <p:cNvSpPr>
            <a:spLocks xmlns:a="http://schemas.openxmlformats.org/drawingml/2006/main" noGrp="1"/>
          </p:cNvSpPr>
          <p:nvPr/>
        </p:nvSpPr>
        <p:spPr>
          <a:xfrm xmlns:a="http://schemas.openxmlformats.org/drawingml/2006/main">
            <a:off x="1285875" y="3362706"/>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long long next=a+b;</a:t>
            </a:r>
          </a:p>
        </p:txBody>
      </p:sp>
      <p:sp>
        <p:nvSpPr>
          <p:cNvPr id="20" name="text-324.5-81">
            <a:extLst xmlns:a="http://schemas.openxmlformats.org/drawingml/2006/main">
              <a:ext uri="{FF2B5EF4-FFF2-40B4-BE49-F238E27FC236}">
                <a16:creationId xmlns:a16="http://schemas.microsoft.com/office/drawing/2014/main" id="{7C20994B-8327-4FCC-AE18-2E0E2F6D5887}"/>
              </a:ext>
            </a:extLst>
          </p:cNvPr>
          <p:cNvSpPr>
            <a:spLocks xmlns:a="http://schemas.openxmlformats.org/drawingml/2006/main" noGrp="1"/>
          </p:cNvSpPr>
          <p:nvPr/>
        </p:nvSpPr>
        <p:spPr>
          <a:xfrm xmlns:a="http://schemas.openxmlformats.org/drawingml/2006/main">
            <a:off x="904875"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xmlns:a="http://schemas.openxmlformats.org/drawingml/2006/main">
              <a:ext uri="{FF2B5EF4-FFF2-40B4-BE49-F238E27FC236}">
                <a16:creationId xmlns:a16="http://schemas.microsoft.com/office/drawing/2014/main" id="{352E60A2-A66C-49CA-A501-AF7C69297154}"/>
              </a:ext>
            </a:extLst>
          </p:cNvPr>
          <p:cNvSpPr>
            <a:spLocks xmlns:a="http://schemas.openxmlformats.org/drawingml/2006/main" noGrp="1"/>
          </p:cNvSpPr>
          <p:nvPr/>
        </p:nvSpPr>
        <p:spPr>
          <a:xfrm xmlns:a="http://schemas.openxmlformats.org/drawingml/2006/main">
            <a:off x="1285875" y="3674745"/>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a=b; b=next;</a:t>
            </a:r>
          </a:p>
        </p:txBody>
      </p:sp>
      <p:sp>
        <p:nvSpPr>
          <p:cNvPr id="22" name="text-345-81">
            <a:extLst xmlns:a="http://schemas.openxmlformats.org/drawingml/2006/main">
              <a:ext uri="{FF2B5EF4-FFF2-40B4-BE49-F238E27FC236}">
                <a16:creationId xmlns:a16="http://schemas.microsoft.com/office/drawing/2014/main" id="{CD207E18-4582-4621-95A9-07F872418C4C}"/>
              </a:ext>
            </a:extLst>
          </p:cNvPr>
          <p:cNvSpPr>
            <a:spLocks xmlns:a="http://schemas.openxmlformats.org/drawingml/2006/main" noGrp="1"/>
          </p:cNvSpPr>
          <p:nvPr/>
        </p:nvSpPr>
        <p:spPr>
          <a:xfrm xmlns:a="http://schemas.openxmlformats.org/drawingml/2006/main">
            <a:off x="904875"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xmlns:a="http://schemas.openxmlformats.org/drawingml/2006/main">
              <a:ext uri="{FF2B5EF4-FFF2-40B4-BE49-F238E27FC236}">
                <a16:creationId xmlns:a16="http://schemas.microsoft.com/office/drawing/2014/main" id="{9E1C0C7D-D97A-4C4D-9A29-44C6D6BA43F0}"/>
              </a:ext>
            </a:extLst>
          </p:cNvPr>
          <p:cNvSpPr>
            <a:spLocks xmlns:a="http://schemas.openxmlformats.org/drawingml/2006/main" noGrp="1"/>
          </p:cNvSpPr>
          <p:nvPr/>
        </p:nvSpPr>
        <p:spPr>
          <a:xfrm xmlns:a="http://schemas.openxmlformats.org/drawingml/2006/main">
            <a:off x="1285875" y="3986784"/>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t>
            </a:r>
          </a:p>
        </p:txBody>
      </p:sp>
      <p:sp>
        <p:nvSpPr>
          <p:cNvPr id="24" name="text-365.5-81">
            <a:extLst xmlns:a="http://schemas.openxmlformats.org/drawingml/2006/main">
              <a:ext uri="{FF2B5EF4-FFF2-40B4-BE49-F238E27FC236}">
                <a16:creationId xmlns:a16="http://schemas.microsoft.com/office/drawing/2014/main" id="{3CBF7DA8-339D-4A19-9605-DB2430C0C2FB}"/>
              </a:ext>
            </a:extLst>
          </p:cNvPr>
          <p:cNvSpPr>
            <a:spLocks xmlns:a="http://schemas.openxmlformats.org/drawingml/2006/main" noGrp="1"/>
          </p:cNvSpPr>
          <p:nvPr/>
        </p:nvSpPr>
        <p:spPr>
          <a:xfrm xmlns:a="http://schemas.openxmlformats.org/drawingml/2006/main">
            <a:off x="904875" y="4336923"/>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08</a:t>
            </a:r>
          </a:p>
        </p:txBody>
      </p:sp>
      <p:sp>
        <p:nvSpPr>
          <p:cNvPr id="25" name="text-365.5-135">
            <a:extLst xmlns:a="http://schemas.openxmlformats.org/drawingml/2006/main">
              <a:ext uri="{FF2B5EF4-FFF2-40B4-BE49-F238E27FC236}">
                <a16:creationId xmlns:a16="http://schemas.microsoft.com/office/drawing/2014/main" id="{1FF1EAF6-2E78-411F-8D1E-4F2F007BF0A7}"/>
              </a:ext>
            </a:extLst>
          </p:cNvPr>
          <p:cNvSpPr>
            <a:spLocks xmlns:a="http://schemas.openxmlformats.org/drawingml/2006/main" noGrp="1"/>
          </p:cNvSpPr>
          <p:nvPr/>
        </p:nvSpPr>
        <p:spPr>
          <a:xfrm xmlns:a="http://schemas.openxmlformats.org/drawingml/2006/main">
            <a:off x="1285875" y="4298823"/>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b;</a:t>
            </a:r>
          </a:p>
        </p:txBody>
      </p:sp>
      <p:sp>
        <p:nvSpPr>
          <p:cNvPr id="26" name="text-386-81">
            <a:extLst xmlns:a="http://schemas.openxmlformats.org/drawingml/2006/main">
              <a:ext uri="{FF2B5EF4-FFF2-40B4-BE49-F238E27FC236}">
                <a16:creationId xmlns:a16="http://schemas.microsoft.com/office/drawing/2014/main" id="{5725FB2F-540F-47D5-8C9E-A86367E9FE44}"/>
              </a:ext>
            </a:extLst>
          </p:cNvPr>
          <p:cNvSpPr>
            <a:spLocks xmlns:a="http://schemas.openxmlformats.org/drawingml/2006/main" noGrp="1"/>
          </p:cNvSpPr>
          <p:nvPr/>
        </p:nvSpPr>
        <p:spPr>
          <a:xfrm xmlns:a="http://schemas.openxmlformats.org/drawingml/2006/main">
            <a:off x="904875" y="4648962"/>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09</a:t>
            </a:r>
          </a:p>
        </p:txBody>
      </p:sp>
      <p:sp>
        <p:nvSpPr>
          <p:cNvPr id="27" name="text-386-135">
            <a:extLst xmlns:a="http://schemas.openxmlformats.org/drawingml/2006/main">
              <a:ext uri="{FF2B5EF4-FFF2-40B4-BE49-F238E27FC236}">
                <a16:creationId xmlns:a16="http://schemas.microsoft.com/office/drawing/2014/main" id="{5A663828-E039-4C3C-A721-E9BBF4E6D0A1}"/>
              </a:ext>
            </a:extLst>
          </p:cNvPr>
          <p:cNvSpPr>
            <a:spLocks xmlns:a="http://schemas.openxmlformats.org/drawingml/2006/main" noGrp="1"/>
          </p:cNvSpPr>
          <p:nvPr/>
        </p:nvSpPr>
        <p:spPr>
          <a:xfrm xmlns:a="http://schemas.openxmlformats.org/drawingml/2006/main">
            <a:off x="1285875" y="4610862"/>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a:t>
            </a:r>
          </a:p>
        </p:txBody>
      </p:sp>
      <p:sp>
        <p:nvSpPr>
          <p:cNvPr id="28" name="text-635-64">
            <a:extLst xmlns:a="http://schemas.openxmlformats.org/drawingml/2006/main">
              <a:ext uri="{FF2B5EF4-FFF2-40B4-BE49-F238E27FC236}">
                <a16:creationId xmlns:a16="http://schemas.microsoft.com/office/drawing/2014/main" id="{E5FF183C-2BD5-47E6-A0C1-8CF8892BCC18}"/>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시간 O(n). F(90)=2880067194370816120이다.</a:t>
            </a:r>
          </a:p>
        </p:txBody>
      </p:sp>
    </p:spTree>
    <p:extLst>
      <p:ext uri="{BB962C8B-B14F-4D97-AF65-F5344CB8AC3E}">
        <p14:creationId xmlns:p14="http://schemas.microsoft.com/office/powerpoint/2010/main" val="462685519"/>
      </p:ext>
    </p:extLst>
  </p:cSld>
</p:sld>
</file>

<file path=ppt/slides/slide2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28-64">
            <a:extLst>
              <a:ext uri="{FF2B5EF4-FFF2-40B4-BE49-F238E27FC236}">
                <ns2:creationId id="{1D149835-3372-409E-A72C-AD1FB6FD0125}"/>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a:ext uri="{FF2B5EF4-FFF2-40B4-BE49-F238E27FC236}">
                <ns2:creationId id="{9C73BFD1-414E-411D-BC1C-4564596BD2CE}"/>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ns2:creationId id="{C4D50AFD-CE54-4C8E-B3CD-7CDDBA079395}"/>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100  </a:t>
            </a:r>
          </a:p>
        </p:txBody>
      </p:sp>
      <p:sp>
        <p:nvSpPr>
          <p:cNvPr id="4" name="">
            <a:extLst>
              <a:ext uri="{FF2B5EF4-FFF2-40B4-BE49-F238E27FC236}">
                <ns2:creationId id="{8232F36D-C60E-4345-BD7E-5E4064BDF8A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EA1E088-9AAE-4284-B1FB-5CCBB6433526}"/>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ns2:creationId id="{7C3DB198-2388-4F96-920F-404FC11BAEEF}"/>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a:ext uri="{FF2B5EF4-FFF2-40B4-BE49-F238E27FC236}">
                <ns2:creationId id="{1768C1A8-B358-430B-8A68-0E3FE68503F9}"/>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217</a:t>
            </a:r>
          </a:p>
        </p:txBody>
      </p:sp>
      <p:sp>
        <p:nvSpPr>
          <p:cNvPr id="8" name="text-178-64">
            <a:extLst>
              <a:ext uri="{FF2B5EF4-FFF2-40B4-BE49-F238E27FC236}">
                <ns2:creationId id="{5D1C34F9-63CF-433C-8AEC-F9689C6707E1}"/>
              </a:ext>
            </a:extLst>
          </p:cNvPr>
          <p:cNvSpPr>
            <a:spLocks noGrp="1"/>
          </p:cNvSpPr>
          <p:nvPr/>
        </p:nvSpPr>
        <p:spPr>
          <a:xfrm>
            <a:off x="609600" y="1695450"/>
            <a:ext cx="10972800" cy="1120140"/>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길이 n=2^k(1≤n≤1024, k는 0 이상의 정수)인 배열 weights에 0이 정확히 하나 있고</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나머지는 1이다. 왼쪽 절반의 합을 조사하며 0의 인덱스(0부터)를 반환하는 light_coin을</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작성하시오.</a:t>
            </a:r>
          </a:p>
        </p:txBody>
      </p:sp>
      <p:sp>
        <p:nvSpPr>
          <p:cNvPr id="9" name="text-405-64">
            <a:extLst>
              <a:ext uri="{FF2B5EF4-FFF2-40B4-BE49-F238E27FC236}">
                <ns2:creationId id="{881F0525-6390-464E-A82B-9F7359ADA4BF}"/>
              </a:ext>
            </a:extLst>
          </p:cNvPr>
          <p:cNvSpPr>
            <a:spLocks noGrp="1"/>
          </p:cNvSpPr>
          <p:nvPr/>
        </p:nvSpPr>
        <p:spPr>
          <a:xfrm>
            <a:off x="609600" y="296799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light_coin(weights) / C: int light_coin(const int weights[],int n)</a:t>
            </a:r>
          </a:p>
          <a:p>
            <a:pPr algn="l">
              <a:lnSpc>
                <a:spcPct val="108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Python 또는 C 하나로 함수와 시간 복잡도를 작성하시오. 기본 정수 연산은 O(1)로 센다.</a:t>
            </a:r>
          </a:p>
        </p:txBody>
      </p:sp>
      <p:sp>
        <p:nvSpPr>
          <p:cNvPr id="10" name="">
            <a:extLst>
              <a:ext uri="{FF2B5EF4-FFF2-40B4-BE49-F238E27FC236}">
                <ns2:creationId id="{C03E47FB-F8D5-4B84-9F80-A777A88FF1B2}"/>
              </a:ext>
            </a:extLst>
          </p:cNvPr>
          <p:cNvSpPr>
            <a:spLocks noGrp="1"/>
          </p:cNvSpPr>
          <p:nvPr/>
        </p:nvSpPr>
        <p:spPr>
          <a:xfrm>
            <a:off x="609600" y="4495800"/>
            <a:ext cx="10972800" cy="9525"/>
          </a:xfrm>
          <a:prstGeom prst="rect">
            <a:avLst/>
          </a:prstGeom>
          <a:solidFill>
            <a:srgbClr val="D4D4D4"/>
          </a:solidFill>
          <a:ln w="0">
            <a:noFill/>
          </a:ln>
        </p:spPr>
      </p:sp>
      <p:sp>
        <p:nvSpPr>
          <p:cNvPr id="11" name="">
            <a:extLst>
              <a:ext uri="{FF2B5EF4-FFF2-40B4-BE49-F238E27FC236}">
                <ns2:creationId id="{4A6889E4-952C-4997-B02E-31A6AC4B20DD}"/>
              </a:ext>
            </a:extLst>
          </p:cNvPr>
          <p:cNvSpPr>
            <a:spLocks noGrp="1"/>
          </p:cNvSpPr>
          <p:nvPr/>
        </p:nvSpPr>
        <p:spPr>
          <a:xfrm>
            <a:off x="609600" y="5181600"/>
            <a:ext cx="10972800" cy="9525"/>
          </a:xfrm>
          <a:prstGeom prst="rect">
            <a:avLst/>
          </a:prstGeom>
          <a:solidFill>
            <a:srgbClr val="D4D4D4"/>
          </a:solidFill>
          <a:ln w="0">
            <a:noFill/>
          </a:ln>
        </p:spPr>
      </p:sp>
      <p:sp>
        <p:nvSpPr>
          <p:cNvPr id="12" name="">
            <a:extLst>
              <a:ext uri="{FF2B5EF4-FFF2-40B4-BE49-F238E27FC236}">
                <ns2:creationId id="{652536E7-01B9-4A94-B45C-BBA0A7BDADEB}"/>
              </a:ext>
            </a:extLst>
          </p:cNvPr>
          <p:cNvSpPr>
            <a:spLocks noGrp="1"/>
          </p:cNvSpPr>
          <p:nvPr/>
        </p:nvSpPr>
        <p:spPr>
          <a:xfrm>
            <a:off x="609600" y="5867400"/>
            <a:ext cx="10972800" cy="9525"/>
          </a:xfrm>
          <a:prstGeom prst="rect">
            <a:avLst/>
          </a:prstGeom>
          <a:solidFill>
            <a:srgbClr val="D4D4D4"/>
          </a:solidFill>
          <a:ln w="0">
            <a:noFill/>
          </a:ln>
        </p:spPr>
      </p:sp>
    </p:spTree>
    <p:extLst>
      <p:ext uri="{BB962C8B-B14F-4D97-AF65-F5344CB8AC3E}">
        <ns3:creationId val="462685519"/>
      </p:ext>
    </p:extLst>
  </p:cSld>
</p:sld>
</file>

<file path=ppt/slides/slide2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64">
            <a:extLst xmlns:a="http://schemas.openxmlformats.org/drawingml/2006/main">
              <a:ext uri="{FF2B5EF4-FFF2-40B4-BE49-F238E27FC236}">
                <a16:creationId xmlns:a16="http://schemas.microsoft.com/office/drawing/2014/main" id="{DB28527A-276A-4B4A-A2F7-DCB78899527A}"/>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B1082C4A-05D5-497A-82B5-FFACC1B15E91}"/>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4F7F3D9D-31F6-4E75-B5C8-11A2BCD4DB97}"/>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100  정답과 해설</a:t>
            </a:r>
          </a:p>
        </p:txBody>
      </p:sp>
      <p:sp>
        <p:nvSpPr>
          <p:cNvPr id="4" name="">
            <a:extLst xmlns:a="http://schemas.openxmlformats.org/drawingml/2006/main">
              <a:ext uri="{FF2B5EF4-FFF2-40B4-BE49-F238E27FC236}">
                <a16:creationId xmlns:a16="http://schemas.microsoft.com/office/drawing/2014/main" id="{358E0BB5-46DF-4FBA-92E4-517AB297779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39F7AD-2382-446A-B47C-0C08102E3AA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3A357C4F-EB8F-467F-A9B5-07B3ADBA793F}"/>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3B9859F6-D04C-4595-9C8D-5500104A2BC8}"/>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218</a:t>
            </a:r>
          </a:p>
        </p:txBody>
      </p:sp>
      <p:sp>
        <p:nvSpPr>
          <p:cNvPr id="8" name="text-178-64">
            <a:extLst xmlns:a="http://schemas.openxmlformats.org/drawingml/2006/main">
              <a:ext uri="{FF2B5EF4-FFF2-40B4-BE49-F238E27FC236}">
                <a16:creationId xmlns:a16="http://schemas.microsoft.com/office/drawing/2014/main" id="{26AAD9EC-4EC8-4502-91DA-137B0A68D0D8}"/>
              </a:ext>
            </a:extLst>
          </p:cNvPr>
          <p:cNvSpPr>
            <a:spLocks xmlns:a="http://schemas.openxmlformats.org/drawingml/2006/main" noGrp="1"/>
          </p:cNvSpPr>
          <p:nvPr/>
        </p:nvSpPr>
        <p:spPr>
          <a:xfrm xmlns:a="http://schemas.openxmlformats.org/drawingml/2006/main">
            <a:off x="609600" y="1695450"/>
            <a:ext cx="109728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i="0">
                <a:solidFill>
                  <a:srgbClr val="606060"/>
                </a:solidFill>
                <a:latin typeface="Malgun Gothic"/>
                <a:ea typeface="Malgun Gothic"/>
                <a:cs typeface="Malgun Gothic"/>
              </a:defRPr>
            </a:pPr>
            <a:r>
              <a:rPr sz="1800" b="0" i="0">
                <a:solidFill>
                  <a:srgbClr val="606060"/>
                </a:solidFill>
                <a:latin typeface="Malgun Gothic"/>
                <a:ea typeface="Malgun Gothic"/>
                <a:cs typeface="Malgun Gothic"/>
              </a:rPr>
              <a:t>가벼운 동전 찾기</a:t>
            </a:r>
          </a:p>
        </p:txBody>
      </p:sp>
      <p:sp>
        <p:nvSpPr>
          <p:cNvPr id="9" name="">
            <a:extLst xmlns:a="http://schemas.openxmlformats.org/drawingml/2006/main">
              <a:ext uri="{FF2B5EF4-FFF2-40B4-BE49-F238E27FC236}">
                <a16:creationId xmlns:a16="http://schemas.microsoft.com/office/drawing/2014/main" id="{440F29D3-518D-47EA-8DF5-45CA486161CE}"/>
              </a:ext>
            </a:extLst>
          </p:cNvPr>
          <p:cNvSpPr>
            <a:spLocks xmlns:a="http://schemas.openxmlformats.org/drawingml/2006/main" noGrp="1"/>
          </p:cNvSpPr>
          <p:nvPr/>
        </p:nvSpPr>
        <p:spPr>
          <a:xfrm xmlns:a="http://schemas.openxmlformats.org/drawingml/2006/main">
            <a:off x="609600" y="2205990"/>
            <a:ext cx="10972800" cy="65532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45.6-92">
            <a:extLst xmlns:a="http://schemas.openxmlformats.org/drawingml/2006/main">
              <a:ext uri="{FF2B5EF4-FFF2-40B4-BE49-F238E27FC236}">
                <a16:creationId xmlns:a16="http://schemas.microsoft.com/office/drawing/2014/main" id="{E1ED83ED-F1B9-4801-A074-DD559E386118}"/>
              </a:ext>
            </a:extLst>
          </p:cNvPr>
          <p:cNvSpPr>
            <a:spLocks xmlns:a="http://schemas.openxmlformats.org/drawingml/2006/main" noGrp="1"/>
          </p:cNvSpPr>
          <p:nvPr/>
        </p:nvSpPr>
        <p:spPr>
          <a:xfrm xmlns:a="http://schemas.openxmlformats.org/drawingml/2006/main">
            <a:off x="876300" y="2332990"/>
            <a:ext cx="10439400" cy="452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2025" b="1" i="0">
                <a:solidFill>
                  <a:srgbClr val="FFFFFF"/>
                </a:solidFill>
                <a:latin typeface="Malgun Gothic"/>
                <a:ea typeface="Malgun Gothic"/>
                <a:cs typeface="Malgun Gothic"/>
              </a:defRPr>
              <a:spcBef>
                <a:spcPts val="0"/>
              </a:spcBef>
              <a:spcAft>
                <a:spcPts val="0"/>
              </a:spcAft>
            </a:pPr>
            <a:r>
              <a:rPr sz="2025" b="1" i="0">
                <a:solidFill>
                  <a:srgbClr val="FFFFFF"/>
                </a:solidFill>
                <a:latin typeface="Malgun Gothic"/>
                <a:ea typeface="Malgun Gothic"/>
                <a:cs typeface="Malgun Gothic"/>
              </a:rPr>
              <a:t>왼쪽 합이 원소 수보다 작으면 왼쪽, 같으면 오른쪽으로 범위를 줄인다.</a:t>
            </a:r>
          </a:p>
        </p:txBody>
      </p:sp>
      <p:sp>
        <p:nvSpPr>
          <p:cNvPr id="11" name="text-324.4-64">
            <a:extLst xmlns:a="http://schemas.openxmlformats.org/drawingml/2006/main">
              <a:ext uri="{FF2B5EF4-FFF2-40B4-BE49-F238E27FC236}">
                <a16:creationId xmlns:a16="http://schemas.microsoft.com/office/drawing/2014/main" id="{EDF6CF97-369E-4BF0-8CC3-022DFD1FDEE3}"/>
              </a:ext>
            </a:extLst>
          </p:cNvPr>
          <p:cNvSpPr>
            <a:spLocks xmlns:a="http://schemas.openxmlformats.org/drawingml/2006/main" noGrp="1"/>
          </p:cNvSpPr>
          <p:nvPr/>
        </p:nvSpPr>
        <p:spPr>
          <a:xfrm xmlns:a="http://schemas.openxmlformats.org/drawingml/2006/main">
            <a:off x="609600" y="3140710"/>
            <a:ext cx="11811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25" b="1" i="0">
                <a:solidFill>
                  <a:srgbClr val="171717"/>
                </a:solidFill>
                <a:latin typeface="Malgun Gothic"/>
                <a:ea typeface="Malgun Gothic"/>
                <a:cs typeface="Malgun Gothic"/>
              </a:defRPr>
            </a:pPr>
            <a:r>
              <a:rPr sz="1725" b="1" i="0">
                <a:solidFill>
                  <a:srgbClr val="171717"/>
                </a:solidFill>
                <a:latin typeface="Malgun Gothic"/>
                <a:ea typeface="Malgun Gothic"/>
                <a:cs typeface="Malgun Gothic"/>
              </a:rPr>
              <a:t>해설</a:t>
            </a:r>
          </a:p>
        </p:txBody>
      </p:sp>
      <p:sp>
        <p:nvSpPr>
          <p:cNvPr id="12" name="">
            <a:extLst xmlns:a="http://schemas.openxmlformats.org/drawingml/2006/main">
              <a:ext uri="{FF2B5EF4-FFF2-40B4-BE49-F238E27FC236}">
                <a16:creationId xmlns:a16="http://schemas.microsoft.com/office/drawing/2014/main" id="{30960907-DF6C-4DE2-832B-1CAB69F91D9A}"/>
              </a:ext>
            </a:extLst>
          </p:cNvPr>
          <p:cNvSpPr>
            <a:spLocks xmlns:a="http://schemas.openxmlformats.org/drawingml/2006/main" noGrp="1"/>
          </p:cNvSpPr>
          <p:nvPr/>
        </p:nvSpPr>
        <p:spPr>
          <a:xfrm xmlns:a="http://schemas.openxmlformats.org/drawingml/2006/main">
            <a:off x="1752600" y="3356610"/>
            <a:ext cx="9829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text-372.4-64">
            <a:extLst xmlns:a="http://schemas.openxmlformats.org/drawingml/2006/main">
              <a:ext uri="{FF2B5EF4-FFF2-40B4-BE49-F238E27FC236}">
                <a16:creationId xmlns:a16="http://schemas.microsoft.com/office/drawing/2014/main" id="{47D736F7-772A-434E-A8E6-2D6F2DB00C2D}"/>
              </a:ext>
            </a:extLst>
          </p:cNvPr>
          <p:cNvSpPr>
            <a:spLocks xmlns:a="http://schemas.openxmlformats.org/drawingml/2006/main" noGrp="1"/>
          </p:cNvSpPr>
          <p:nvPr/>
        </p:nvSpPr>
        <p:spPr>
          <a:xfrm xmlns:a="http://schemas.openxmlformats.org/drawingml/2006/main">
            <a:off x="609600" y="3648710"/>
            <a:ext cx="10972800" cy="154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예: [1,1,0,1]에서 왼쪽 합은 2이므로 오른쪽 두 원소만 남긴다.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그다음 왼쪽 합이 0이면 그 위치가 답이다. 한 개가 남으면 종료한다.</a:t>
            </a:r>
          </a:p>
          <a:p xmlns:a="http://schemas.openxmlformats.org/drawingml/2006/main">
            <a:pPr>
              <a:lnSpc>
                <a:spcPct val="130000"/>
              </a:lnSpc>
              <a:defRPr sz="1800">
                <a:solidFill>
                  <a:srgbClr val="5B5B5B"/>
                </a:solidFill>
                <a:latin typeface="Malgun Gothic"/>
                <a:ea typeface="Malgun Gothic"/>
                <a:cs typeface="Malgun Gothic"/>
              </a:defRPr>
              <a:spcBef>
                <a:spcPts val="0"/>
              </a:spcBef>
              <a:spcAft>
                <a:spcPts val="0"/>
              </a:spcAft>
            </a:pPr>
            <a:r>
              <a:rPr sz="1800" b="0" i="0">
                <a:solidFill>
                  <a:srgbClr val="606060"/>
                </a:solidFill>
                <a:latin typeface="Malgun Gothic"/>
                <a:ea typeface="Malgun Gothic"/>
                <a:cs typeface="Malgun Gothic"/>
              </a:rPr>
              <a:t>합산량 n/2+n/4+…+1. 시간 Θ(n), 추가 공간 Θ(1).</a:t>
            </a:r>
          </a:p>
        </p:txBody>
      </p:sp>
    </p:spTree>
    <p:extLst>
      <p:ext uri="{BB962C8B-B14F-4D97-AF65-F5344CB8AC3E}">
        <p14:creationId xmlns:p14="http://schemas.microsoft.com/office/powerpoint/2010/main" val="462685519"/>
      </p:ext>
    </p:extLst>
  </p:cSld>
</p:sld>
</file>

<file path=ppt/slides/slide2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28-64">
            <a:extLst xmlns:a="http://schemas.openxmlformats.org/drawingml/2006/main">
              <a:ext uri="{FF2B5EF4-FFF2-40B4-BE49-F238E27FC236}">
                <a16:creationId xmlns:a16="http://schemas.microsoft.com/office/drawing/2014/main" id="{B6B5FEE8-AFAA-4A8A-AB8F-CB3C97CD2054}"/>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6F0A29FE-7BD8-4DA9-BD49-D01F8B5000FB}"/>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629CFB25-7AF0-446F-BBF7-864A0CE4307A}"/>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defRPr sz="1800">
                <a:solidFill>
                  <a:srgbClr val="5B5B5B"/>
                </a:solidFill>
                <a:latin typeface="Malgun Gothic"/>
                <a:ea typeface="Malgun Gothic"/>
                <a:cs typeface="Malgun Gothic"/>
              </a:defRPr>
              <a:spcBef>
                <a:spcPts val="0"/>
              </a:spcBef>
              <a:spcAft>
                <a:spcPts val="0"/>
              </a:spcAft>
            </a:pPr>
            <a:r>
              <a:rPr sz="3000" b="1" i="0">
                <a:solidFill>
                  <a:srgbClr val="171717"/>
                </a:solidFill>
                <a:latin typeface="Malgun Gothic"/>
                <a:ea typeface="Malgun Gothic"/>
                <a:cs typeface="Malgun Gothic"/>
              </a:rPr>
              <a:t>문제 100  Python 구현</a:t>
            </a:r>
          </a:p>
        </p:txBody>
      </p:sp>
      <p:sp>
        <p:nvSpPr>
          <p:cNvPr id="4" name="">
            <a:extLst xmlns:a="http://schemas.openxmlformats.org/drawingml/2006/main">
              <a:ext uri="{FF2B5EF4-FFF2-40B4-BE49-F238E27FC236}">
                <a16:creationId xmlns:a16="http://schemas.microsoft.com/office/drawing/2014/main" id="{42CAECB0-F7F4-4103-B75C-40C667F1F26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0133AC-F5C2-41A6-8FCD-29B25B651A3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89C33000-8375-4EB3-B362-334768E251F9}"/>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022AD50A-F1C1-462D-AC7C-6CA40FC069E9}"/>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219</a:t>
            </a:r>
          </a:p>
        </p:txBody>
      </p:sp>
      <p:sp>
        <p:nvSpPr>
          <p:cNvPr id="8" name="text-163-64">
            <a:extLst xmlns:a="http://schemas.openxmlformats.org/drawingml/2006/main">
              <a:ext uri="{FF2B5EF4-FFF2-40B4-BE49-F238E27FC236}">
                <a16:creationId xmlns:a16="http://schemas.microsoft.com/office/drawing/2014/main" id="{04CC5D3D-5D36-494B-B589-C50344799E7B}"/>
              </a:ext>
            </a:extLst>
          </p:cNvPr>
          <p:cNvSpPr>
            <a:spLocks xmlns:a="http://schemas.openxmlformats.org/drawingml/2006/main" noGrp="1"/>
          </p:cNvSpPr>
          <p:nvPr/>
        </p:nvSpPr>
        <p:spPr>
          <a:xfrm xmlns:a="http://schemas.openxmlformats.org/drawingml/2006/main">
            <a:off x="609600" y="1552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가벼운 동전 찾기</a:t>
            </a:r>
          </a:p>
        </p:txBody>
      </p:sp>
      <p:sp>
        <p:nvSpPr>
          <p:cNvPr id="9" name="">
            <a:extLst xmlns:a="http://schemas.openxmlformats.org/drawingml/2006/main">
              <a:ext uri="{FF2B5EF4-FFF2-40B4-BE49-F238E27FC236}">
                <a16:creationId xmlns:a16="http://schemas.microsoft.com/office/drawing/2014/main" id="{3877BA7E-8825-4C6C-8953-45A669D3F121}"/>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CA97F53D-B83C-4D07-8366-9CA291DE0CFA}"/>
              </a:ext>
            </a:extLst>
          </p:cNvPr>
          <p:cNvSpPr>
            <a:spLocks xmlns:a="http://schemas.openxmlformats.org/drawingml/2006/main" noGrp="1"/>
          </p:cNvSpPr>
          <p:nvPr/>
        </p:nvSpPr>
        <p:spPr>
          <a:xfrm xmlns:a="http://schemas.openxmlformats.org/drawingml/2006/main">
            <a:off x="904875"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8759BB75-31BF-4EA7-BB57-AF0F758A622C}"/>
              </a:ext>
            </a:extLst>
          </p:cNvPr>
          <p:cNvSpPr>
            <a:spLocks xmlns:a="http://schemas.openxmlformats.org/drawingml/2006/main" noGrp="1"/>
          </p:cNvSpPr>
          <p:nvPr/>
        </p:nvSpPr>
        <p:spPr>
          <a:xfrm xmlns:a="http://schemas.openxmlformats.org/drawingml/2006/main">
            <a:off x="1285875" y="211455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def light_coin(weights):</a:t>
            </a:r>
          </a:p>
        </p:txBody>
      </p:sp>
      <p:sp>
        <p:nvSpPr>
          <p:cNvPr id="12" name="text-242.5-81">
            <a:extLst xmlns:a="http://schemas.openxmlformats.org/drawingml/2006/main">
              <a:ext uri="{FF2B5EF4-FFF2-40B4-BE49-F238E27FC236}">
                <a16:creationId xmlns:a16="http://schemas.microsoft.com/office/drawing/2014/main" id="{2A7E3869-B1B1-4F12-AF52-0B906DC566BC}"/>
              </a:ext>
            </a:extLst>
          </p:cNvPr>
          <p:cNvSpPr>
            <a:spLocks xmlns:a="http://schemas.openxmlformats.org/drawingml/2006/main" noGrp="1"/>
          </p:cNvSpPr>
          <p:nvPr/>
        </p:nvSpPr>
        <p:spPr>
          <a:xfrm xmlns:a="http://schemas.openxmlformats.org/drawingml/2006/main">
            <a:off x="904875"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1FA30A5D-2912-47F6-B601-163C2E76728E}"/>
              </a:ext>
            </a:extLst>
          </p:cNvPr>
          <p:cNvSpPr>
            <a:spLocks xmlns:a="http://schemas.openxmlformats.org/drawingml/2006/main" noGrp="1"/>
          </p:cNvSpPr>
          <p:nvPr/>
        </p:nvSpPr>
        <p:spPr>
          <a:xfrm xmlns:a="http://schemas.openxmlformats.org/drawingml/2006/main">
            <a:off x="1285875" y="2426589"/>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lo, hi = 0, len(weights)</a:t>
            </a:r>
          </a:p>
        </p:txBody>
      </p:sp>
      <p:sp>
        <p:nvSpPr>
          <p:cNvPr id="14" name="text-263-81">
            <a:extLst xmlns:a="http://schemas.openxmlformats.org/drawingml/2006/main">
              <a:ext uri="{FF2B5EF4-FFF2-40B4-BE49-F238E27FC236}">
                <a16:creationId xmlns:a16="http://schemas.microsoft.com/office/drawing/2014/main" id="{569D307F-29B4-4606-AE04-1F5C74039BA8}"/>
              </a:ext>
            </a:extLst>
          </p:cNvPr>
          <p:cNvSpPr>
            <a:spLocks xmlns:a="http://schemas.openxmlformats.org/drawingml/2006/main" noGrp="1"/>
          </p:cNvSpPr>
          <p:nvPr/>
        </p:nvSpPr>
        <p:spPr>
          <a:xfrm xmlns:a="http://schemas.openxmlformats.org/drawingml/2006/main">
            <a:off x="904875"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36D0962A-7A22-4492-8534-15B852D47FA0}"/>
              </a:ext>
            </a:extLst>
          </p:cNvPr>
          <p:cNvSpPr>
            <a:spLocks xmlns:a="http://schemas.openxmlformats.org/drawingml/2006/main" noGrp="1"/>
          </p:cNvSpPr>
          <p:nvPr/>
        </p:nvSpPr>
        <p:spPr>
          <a:xfrm xmlns:a="http://schemas.openxmlformats.org/drawingml/2006/main">
            <a:off x="1285875" y="2738628"/>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while hi - lo &gt; 1:</a:t>
            </a:r>
          </a:p>
        </p:txBody>
      </p:sp>
      <p:sp>
        <p:nvSpPr>
          <p:cNvPr id="16" name="text-283.5-81">
            <a:extLst xmlns:a="http://schemas.openxmlformats.org/drawingml/2006/main">
              <a:ext uri="{FF2B5EF4-FFF2-40B4-BE49-F238E27FC236}">
                <a16:creationId xmlns:a16="http://schemas.microsoft.com/office/drawing/2014/main" id="{C5685DB9-A5D9-4C1F-ADD5-4B992D339990}"/>
              </a:ext>
            </a:extLst>
          </p:cNvPr>
          <p:cNvSpPr>
            <a:spLocks xmlns:a="http://schemas.openxmlformats.org/drawingml/2006/main" noGrp="1"/>
          </p:cNvSpPr>
          <p:nvPr/>
        </p:nvSpPr>
        <p:spPr>
          <a:xfrm xmlns:a="http://schemas.openxmlformats.org/drawingml/2006/main">
            <a:off x="904875"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A2AA8FC1-69A7-4579-897F-5A7FD0EAB6E3}"/>
              </a:ext>
            </a:extLst>
          </p:cNvPr>
          <p:cNvSpPr>
            <a:spLocks xmlns:a="http://schemas.openxmlformats.org/drawingml/2006/main" noGrp="1"/>
          </p:cNvSpPr>
          <p:nvPr/>
        </p:nvSpPr>
        <p:spPr>
          <a:xfrm xmlns:a="http://schemas.openxmlformats.org/drawingml/2006/main">
            <a:off x="1285875" y="3050667"/>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mid = (lo + hi) // 2</a:t>
            </a:r>
          </a:p>
        </p:txBody>
      </p:sp>
      <p:sp>
        <p:nvSpPr>
          <p:cNvPr id="18" name="text-304-81">
            <a:extLst xmlns:a="http://schemas.openxmlformats.org/drawingml/2006/main">
              <a:ext uri="{FF2B5EF4-FFF2-40B4-BE49-F238E27FC236}">
                <a16:creationId xmlns:a16="http://schemas.microsoft.com/office/drawing/2014/main" id="{0D833BBD-0824-446E-AA45-6DBC23E9C0D8}"/>
              </a:ext>
            </a:extLst>
          </p:cNvPr>
          <p:cNvSpPr>
            <a:spLocks xmlns:a="http://schemas.openxmlformats.org/drawingml/2006/main" noGrp="1"/>
          </p:cNvSpPr>
          <p:nvPr/>
        </p:nvSpPr>
        <p:spPr>
          <a:xfrm xmlns:a="http://schemas.openxmlformats.org/drawingml/2006/main">
            <a:off x="904875"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0BF4B430-D620-411E-9EA7-6A304947BB60}"/>
              </a:ext>
            </a:extLst>
          </p:cNvPr>
          <p:cNvSpPr>
            <a:spLocks xmlns:a="http://schemas.openxmlformats.org/drawingml/2006/main" noGrp="1"/>
          </p:cNvSpPr>
          <p:nvPr/>
        </p:nvSpPr>
        <p:spPr>
          <a:xfrm xmlns:a="http://schemas.openxmlformats.org/drawingml/2006/main">
            <a:off x="1285875" y="3362706"/>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total = sum(weights[i] for i in range(lo, mid))</a:t>
            </a:r>
          </a:p>
        </p:txBody>
      </p:sp>
      <p:sp>
        <p:nvSpPr>
          <p:cNvPr id="20" name="text-324.5-81">
            <a:extLst xmlns:a="http://schemas.openxmlformats.org/drawingml/2006/main">
              <a:ext uri="{FF2B5EF4-FFF2-40B4-BE49-F238E27FC236}">
                <a16:creationId xmlns:a16="http://schemas.microsoft.com/office/drawing/2014/main" id="{269D6D6C-814C-47AF-8592-1465BA9B611E}"/>
              </a:ext>
            </a:extLst>
          </p:cNvPr>
          <p:cNvSpPr>
            <a:spLocks xmlns:a="http://schemas.openxmlformats.org/drawingml/2006/main" noGrp="1"/>
          </p:cNvSpPr>
          <p:nvPr/>
        </p:nvSpPr>
        <p:spPr>
          <a:xfrm xmlns:a="http://schemas.openxmlformats.org/drawingml/2006/main">
            <a:off x="904875"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xmlns:a="http://schemas.openxmlformats.org/drawingml/2006/main">
              <a:ext uri="{FF2B5EF4-FFF2-40B4-BE49-F238E27FC236}">
                <a16:creationId xmlns:a16="http://schemas.microsoft.com/office/drawing/2014/main" id="{C74473D4-D5DE-45BA-9CD6-391845AE0190}"/>
              </a:ext>
            </a:extLst>
          </p:cNvPr>
          <p:cNvSpPr>
            <a:spLocks xmlns:a="http://schemas.openxmlformats.org/drawingml/2006/main" noGrp="1"/>
          </p:cNvSpPr>
          <p:nvPr/>
        </p:nvSpPr>
        <p:spPr>
          <a:xfrm xmlns:a="http://schemas.openxmlformats.org/drawingml/2006/main">
            <a:off x="1285875" y="3674745"/>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total &lt; mid - lo:</a:t>
            </a:r>
          </a:p>
        </p:txBody>
      </p:sp>
      <p:sp>
        <p:nvSpPr>
          <p:cNvPr id="22" name="text-345-81">
            <a:extLst xmlns:a="http://schemas.openxmlformats.org/drawingml/2006/main">
              <a:ext uri="{FF2B5EF4-FFF2-40B4-BE49-F238E27FC236}">
                <a16:creationId xmlns:a16="http://schemas.microsoft.com/office/drawing/2014/main" id="{5C78F00D-9E67-4775-9D8E-4281FD577541}"/>
              </a:ext>
            </a:extLst>
          </p:cNvPr>
          <p:cNvSpPr>
            <a:spLocks xmlns:a="http://schemas.openxmlformats.org/drawingml/2006/main" noGrp="1"/>
          </p:cNvSpPr>
          <p:nvPr/>
        </p:nvSpPr>
        <p:spPr>
          <a:xfrm xmlns:a="http://schemas.openxmlformats.org/drawingml/2006/main">
            <a:off x="904875"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xmlns:a="http://schemas.openxmlformats.org/drawingml/2006/main">
              <a:ext uri="{FF2B5EF4-FFF2-40B4-BE49-F238E27FC236}">
                <a16:creationId xmlns:a16="http://schemas.microsoft.com/office/drawing/2014/main" id="{989BE08E-43CC-45E9-9D40-72292C16AE5F}"/>
              </a:ext>
            </a:extLst>
          </p:cNvPr>
          <p:cNvSpPr>
            <a:spLocks xmlns:a="http://schemas.openxmlformats.org/drawingml/2006/main" noGrp="1"/>
          </p:cNvSpPr>
          <p:nvPr/>
        </p:nvSpPr>
        <p:spPr>
          <a:xfrm xmlns:a="http://schemas.openxmlformats.org/drawingml/2006/main">
            <a:off x="1285875" y="3986784"/>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hi = mid</a:t>
            </a:r>
          </a:p>
        </p:txBody>
      </p:sp>
      <p:sp>
        <p:nvSpPr>
          <p:cNvPr id="24" name="text-365.5-81">
            <a:extLst xmlns:a="http://schemas.openxmlformats.org/drawingml/2006/main">
              <a:ext uri="{FF2B5EF4-FFF2-40B4-BE49-F238E27FC236}">
                <a16:creationId xmlns:a16="http://schemas.microsoft.com/office/drawing/2014/main" id="{F843BA46-9E2A-483C-900B-310727F3EDE8}"/>
              </a:ext>
            </a:extLst>
          </p:cNvPr>
          <p:cNvSpPr>
            <a:spLocks xmlns:a="http://schemas.openxmlformats.org/drawingml/2006/main" noGrp="1"/>
          </p:cNvSpPr>
          <p:nvPr/>
        </p:nvSpPr>
        <p:spPr>
          <a:xfrm xmlns:a="http://schemas.openxmlformats.org/drawingml/2006/main">
            <a:off x="904875" y="4336923"/>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08</a:t>
            </a:r>
          </a:p>
        </p:txBody>
      </p:sp>
      <p:sp>
        <p:nvSpPr>
          <p:cNvPr id="25" name="text-365.5-135">
            <a:extLst xmlns:a="http://schemas.openxmlformats.org/drawingml/2006/main">
              <a:ext uri="{FF2B5EF4-FFF2-40B4-BE49-F238E27FC236}">
                <a16:creationId xmlns:a16="http://schemas.microsoft.com/office/drawing/2014/main" id="{FDACCDDF-B3FB-47A7-BC3E-4A8A67B31832}"/>
              </a:ext>
            </a:extLst>
          </p:cNvPr>
          <p:cNvSpPr>
            <a:spLocks xmlns:a="http://schemas.openxmlformats.org/drawingml/2006/main" noGrp="1"/>
          </p:cNvSpPr>
          <p:nvPr/>
        </p:nvSpPr>
        <p:spPr>
          <a:xfrm xmlns:a="http://schemas.openxmlformats.org/drawingml/2006/main">
            <a:off x="1285875" y="4298823"/>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else:</a:t>
            </a:r>
          </a:p>
        </p:txBody>
      </p:sp>
      <p:sp>
        <p:nvSpPr>
          <p:cNvPr id="26" name="text-386-81">
            <a:extLst xmlns:a="http://schemas.openxmlformats.org/drawingml/2006/main">
              <a:ext uri="{FF2B5EF4-FFF2-40B4-BE49-F238E27FC236}">
                <a16:creationId xmlns:a16="http://schemas.microsoft.com/office/drawing/2014/main" id="{A58A70EE-61BB-4B18-B7EE-7C85E082D594}"/>
              </a:ext>
            </a:extLst>
          </p:cNvPr>
          <p:cNvSpPr>
            <a:spLocks xmlns:a="http://schemas.openxmlformats.org/drawingml/2006/main" noGrp="1"/>
          </p:cNvSpPr>
          <p:nvPr/>
        </p:nvSpPr>
        <p:spPr>
          <a:xfrm xmlns:a="http://schemas.openxmlformats.org/drawingml/2006/main">
            <a:off x="904875" y="4648962"/>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09</a:t>
            </a:r>
          </a:p>
        </p:txBody>
      </p:sp>
      <p:sp>
        <p:nvSpPr>
          <p:cNvPr id="27" name="text-386-135">
            <a:extLst xmlns:a="http://schemas.openxmlformats.org/drawingml/2006/main">
              <a:ext uri="{FF2B5EF4-FFF2-40B4-BE49-F238E27FC236}">
                <a16:creationId xmlns:a16="http://schemas.microsoft.com/office/drawing/2014/main" id="{2A2ABB20-EF10-464A-8D80-A213D35ADDF7}"/>
              </a:ext>
            </a:extLst>
          </p:cNvPr>
          <p:cNvSpPr>
            <a:spLocks xmlns:a="http://schemas.openxmlformats.org/drawingml/2006/main" noGrp="1"/>
          </p:cNvSpPr>
          <p:nvPr/>
        </p:nvSpPr>
        <p:spPr>
          <a:xfrm xmlns:a="http://schemas.openxmlformats.org/drawingml/2006/main">
            <a:off x="1285875" y="4610862"/>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lo = mid</a:t>
            </a:r>
          </a:p>
        </p:txBody>
      </p:sp>
      <p:sp>
        <p:nvSpPr>
          <p:cNvPr id="28" name="text-406.5-81">
            <a:extLst xmlns:a="http://schemas.openxmlformats.org/drawingml/2006/main">
              <a:ext uri="{FF2B5EF4-FFF2-40B4-BE49-F238E27FC236}">
                <a16:creationId xmlns:a16="http://schemas.microsoft.com/office/drawing/2014/main" id="{2A4AB7FF-C0F4-4678-AAD6-C3F923F14470}"/>
              </a:ext>
            </a:extLst>
          </p:cNvPr>
          <p:cNvSpPr>
            <a:spLocks xmlns:a="http://schemas.openxmlformats.org/drawingml/2006/main" noGrp="1"/>
          </p:cNvSpPr>
          <p:nvPr/>
        </p:nvSpPr>
        <p:spPr>
          <a:xfrm xmlns:a="http://schemas.openxmlformats.org/drawingml/2006/main">
            <a:off x="904875" y="4961001"/>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10</a:t>
            </a:r>
          </a:p>
        </p:txBody>
      </p:sp>
      <p:sp>
        <p:nvSpPr>
          <p:cNvPr id="29" name="text-406.5-135">
            <a:extLst xmlns:a="http://schemas.openxmlformats.org/drawingml/2006/main">
              <a:ext uri="{FF2B5EF4-FFF2-40B4-BE49-F238E27FC236}">
                <a16:creationId xmlns:a16="http://schemas.microsoft.com/office/drawing/2014/main" id="{0D5AD205-28AE-40C8-9F49-4A689F5B3811}"/>
              </a:ext>
            </a:extLst>
          </p:cNvPr>
          <p:cNvSpPr>
            <a:spLocks xmlns:a="http://schemas.openxmlformats.org/drawingml/2006/main" noGrp="1"/>
          </p:cNvSpPr>
          <p:nvPr/>
        </p:nvSpPr>
        <p:spPr>
          <a:xfrm xmlns:a="http://schemas.openxmlformats.org/drawingml/2006/main">
            <a:off x="1285875" y="4922901"/>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lo</a:t>
            </a:r>
          </a:p>
        </p:txBody>
      </p:sp>
      <p:sp>
        <p:nvSpPr>
          <p:cNvPr id="30" name="text-635-64">
            <a:extLst xmlns:a="http://schemas.openxmlformats.org/drawingml/2006/main">
              <a:ext uri="{FF2B5EF4-FFF2-40B4-BE49-F238E27FC236}">
                <a16:creationId xmlns:a16="http://schemas.microsoft.com/office/drawing/2014/main" id="{E77FE9CE-E357-4264-B739-1E7E08B4487C}"/>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배열 합 연산을 포함한 시간 O(n). 범위를 줄이는 단계 수만 O(log n)이다.</a:t>
            </a:r>
          </a:p>
        </p:txBody>
      </p:sp>
    </p:spTree>
    <p:extLst>
      <p:ext uri="{BB962C8B-B14F-4D97-AF65-F5344CB8AC3E}">
        <p14:creationId xmlns:p14="http://schemas.microsoft.com/office/powerpoint/2010/main" val="462685519"/>
      </p:ext>
    </p:extLst>
  </p:cSld>
</p:sld>
</file>

<file path=ppt/slides/slide2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28-64">
            <a:extLst xmlns:a="http://schemas.openxmlformats.org/drawingml/2006/main">
              <a:ext uri="{FF2B5EF4-FFF2-40B4-BE49-F238E27FC236}">
                <a16:creationId xmlns:a16="http://schemas.microsoft.com/office/drawing/2014/main" id="{A5869390-CE9B-4284-8416-CE9D80068DB8}"/>
              </a:ext>
            </a:extLst>
          </p:cNvPr>
          <p:cNvSpPr>
            <a:spLocks xmlns:a="http://schemas.openxmlformats.org/drawingml/2006/main" noGrp="1"/>
          </p:cNvSpPr>
          <p:nvPr/>
        </p:nvSpPr>
        <p:spPr>
          <a:xfrm xmlns:a="http://schemas.openxmlformats.org/drawingml/2006/main">
            <a:off x="609600" y="2667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3장 축소 정복  /  Python/C 구현</a:t>
            </a:r>
          </a:p>
        </p:txBody>
      </p:sp>
      <p:sp>
        <p:nvSpPr>
          <p:cNvPr id="2" name="text-28-1080">
            <a:extLst xmlns:a="http://schemas.openxmlformats.org/drawingml/2006/main">
              <a:ext uri="{FF2B5EF4-FFF2-40B4-BE49-F238E27FC236}">
                <a16:creationId xmlns:a16="http://schemas.microsoft.com/office/drawing/2014/main" id="{8738B112-7223-4439-989C-34B133643F3C}"/>
              </a:ext>
            </a:extLst>
          </p:cNvPr>
          <p:cNvSpPr>
            <a:spLocks xmlns:a="http://schemas.openxmlformats.org/drawingml/2006/main" noGrp="1"/>
          </p:cNvSpPr>
          <p:nvPr/>
        </p:nvSpPr>
        <p:spPr>
          <a:xfrm xmlns:a="http://schemas.openxmlformats.org/drawingml/2006/main">
            <a:off x="10287000" y="266700"/>
            <a:ext cx="1295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xmlns:a="http://schemas.openxmlformats.org/drawingml/2006/main">
              <a:ext uri="{FF2B5EF4-FFF2-40B4-BE49-F238E27FC236}">
                <a16:creationId xmlns:a16="http://schemas.microsoft.com/office/drawing/2014/main" id="{3AD7C024-17C9-4A5A-8125-87FA56E7B047}"/>
              </a:ext>
            </a:extLst>
          </p:cNvPr>
          <p:cNvSpPr>
            <a:spLocks xmlns:a="http://schemas.openxmlformats.org/drawingml/2006/main" noGrp="1"/>
          </p:cNvSpPr>
          <p:nvPr/>
        </p:nvSpPr>
        <p:spPr>
          <a:xfrm xmlns:a="http://schemas.openxmlformats.org/drawingml/2006/main">
            <a:off x="590550" y="685800"/>
            <a:ext cx="10991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100  C 구현</a:t>
            </a:r>
          </a:p>
        </p:txBody>
      </p:sp>
      <p:sp>
        <p:nvSpPr>
          <p:cNvPr id="4" name="">
            <a:extLst xmlns:a="http://schemas.openxmlformats.org/drawingml/2006/main">
              <a:ext uri="{FF2B5EF4-FFF2-40B4-BE49-F238E27FC236}">
                <a16:creationId xmlns:a16="http://schemas.microsoft.com/office/drawing/2014/main" id="{3875ECC3-D1C6-488E-8F01-CD9B1698B5FC}"/>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2112FF-FAF2-44A1-A3A5-80206ED3C45F}"/>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6" name="text-693-64">
            <a:extLst xmlns:a="http://schemas.openxmlformats.org/drawingml/2006/main">
              <a:ext uri="{FF2B5EF4-FFF2-40B4-BE49-F238E27FC236}">
                <a16:creationId xmlns:a16="http://schemas.microsoft.com/office/drawing/2014/main" id="{4DED1470-9C2A-439D-8D31-182CB4DB7603}"/>
              </a:ext>
            </a:extLst>
          </p:cNvPr>
          <p:cNvSpPr>
            <a:spLocks xmlns:a="http://schemas.openxmlformats.org/drawingml/2006/main" noGrp="1"/>
          </p:cNvSpPr>
          <p:nvPr/>
        </p:nvSpPr>
        <p:spPr>
          <a:xfrm xmlns:a="http://schemas.openxmlformats.org/drawingml/2006/main">
            <a:off x="609600" y="660082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03 / DECREASE AND CONQUER · EXERCISES</a:t>
            </a:r>
          </a:p>
        </p:txBody>
      </p:sp>
      <p:sp>
        <p:nvSpPr>
          <p:cNvPr id="7" name="text-689-1160">
            <a:extLst xmlns:a="http://schemas.openxmlformats.org/drawingml/2006/main">
              <a:ext uri="{FF2B5EF4-FFF2-40B4-BE49-F238E27FC236}">
                <a16:creationId xmlns:a16="http://schemas.microsoft.com/office/drawing/2014/main" id="{42782A92-6885-4CFF-A215-6B00D0D81857}"/>
              </a:ext>
            </a:extLst>
          </p:cNvPr>
          <p:cNvSpPr>
            <a:spLocks xmlns:a="http://schemas.openxmlformats.org/drawingml/2006/main" noGrp="1"/>
          </p:cNvSpPr>
          <p:nvPr/>
        </p:nvSpPr>
        <p:spPr>
          <a:xfrm xmlns:a="http://schemas.openxmlformats.org/drawingml/2006/main">
            <a:off x="11049000" y="65627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220</a:t>
            </a:r>
          </a:p>
        </p:txBody>
      </p:sp>
      <p:sp>
        <p:nvSpPr>
          <p:cNvPr id="8" name="text-163-64">
            <a:extLst xmlns:a="http://schemas.openxmlformats.org/drawingml/2006/main">
              <a:ext uri="{FF2B5EF4-FFF2-40B4-BE49-F238E27FC236}">
                <a16:creationId xmlns:a16="http://schemas.microsoft.com/office/drawing/2014/main" id="{B2CC8417-E2D0-4C75-B5E1-56559C7C901E}"/>
              </a:ext>
            </a:extLst>
          </p:cNvPr>
          <p:cNvSpPr>
            <a:spLocks xmlns:a="http://schemas.openxmlformats.org/drawingml/2006/main" noGrp="1"/>
          </p:cNvSpPr>
          <p:nvPr/>
        </p:nvSpPr>
        <p:spPr>
          <a:xfrm xmlns:a="http://schemas.openxmlformats.org/drawingml/2006/main">
            <a:off x="609600" y="1552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가벼운 동전 찾기</a:t>
            </a:r>
          </a:p>
        </p:txBody>
      </p:sp>
      <p:sp>
        <p:nvSpPr>
          <p:cNvPr id="9" name="">
            <a:extLst xmlns:a="http://schemas.openxmlformats.org/drawingml/2006/main">
              <a:ext uri="{FF2B5EF4-FFF2-40B4-BE49-F238E27FC236}">
                <a16:creationId xmlns:a16="http://schemas.microsoft.com/office/drawing/2014/main" id="{F7D299E3-7876-46AD-94CE-892FDA83F531}"/>
              </a:ext>
            </a:extLst>
          </p:cNvPr>
          <p:cNvSpPr>
            <a:spLocks xmlns:a="http://schemas.openxmlformats.org/drawingml/2006/main" noGrp="1"/>
          </p:cNvSpPr>
          <p:nvPr/>
        </p:nvSpPr>
        <p:spPr>
          <a:xfrm xmlns:a="http://schemas.openxmlformats.org/drawingml/2006/main">
            <a:off x="609600" y="1981200"/>
            <a:ext cx="10972800" cy="396240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10" name="text-222-81">
            <a:extLst xmlns:a="http://schemas.openxmlformats.org/drawingml/2006/main">
              <a:ext uri="{FF2B5EF4-FFF2-40B4-BE49-F238E27FC236}">
                <a16:creationId xmlns:a16="http://schemas.microsoft.com/office/drawing/2014/main" id="{BA36EF9F-114E-497C-A2C0-321A95C639C9}"/>
              </a:ext>
            </a:extLst>
          </p:cNvPr>
          <p:cNvSpPr>
            <a:spLocks xmlns:a="http://schemas.openxmlformats.org/drawingml/2006/main" noGrp="1"/>
          </p:cNvSpPr>
          <p:nvPr/>
        </p:nvSpPr>
        <p:spPr>
          <a:xfrm xmlns:a="http://schemas.openxmlformats.org/drawingml/2006/main">
            <a:off x="904875" y="2152650"/>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01</a:t>
            </a:r>
          </a:p>
        </p:txBody>
      </p:sp>
      <p:sp>
        <p:nvSpPr>
          <p:cNvPr id="11" name="text-222-135">
            <a:extLst xmlns:a="http://schemas.openxmlformats.org/drawingml/2006/main">
              <a:ext uri="{FF2B5EF4-FFF2-40B4-BE49-F238E27FC236}">
                <a16:creationId xmlns:a16="http://schemas.microsoft.com/office/drawing/2014/main" id="{EA2A8CBA-F637-493F-9738-B6060615CCBF}"/>
              </a:ext>
            </a:extLst>
          </p:cNvPr>
          <p:cNvSpPr>
            <a:spLocks xmlns:a="http://schemas.openxmlformats.org/drawingml/2006/main" noGrp="1"/>
          </p:cNvSpPr>
          <p:nvPr/>
        </p:nvSpPr>
        <p:spPr>
          <a:xfrm xmlns:a="http://schemas.openxmlformats.org/drawingml/2006/main">
            <a:off x="1285875" y="2114550"/>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int light_coin(const int weights[], int n) {</a:t>
            </a:r>
          </a:p>
        </p:txBody>
      </p:sp>
      <p:sp>
        <p:nvSpPr>
          <p:cNvPr id="12" name="text-242.5-81">
            <a:extLst xmlns:a="http://schemas.openxmlformats.org/drawingml/2006/main">
              <a:ext uri="{FF2B5EF4-FFF2-40B4-BE49-F238E27FC236}">
                <a16:creationId xmlns:a16="http://schemas.microsoft.com/office/drawing/2014/main" id="{E05C69DC-8659-4DD6-B3EC-A01D85F9EE9B}"/>
              </a:ext>
            </a:extLst>
          </p:cNvPr>
          <p:cNvSpPr>
            <a:spLocks xmlns:a="http://schemas.openxmlformats.org/drawingml/2006/main" noGrp="1"/>
          </p:cNvSpPr>
          <p:nvPr/>
        </p:nvSpPr>
        <p:spPr>
          <a:xfrm xmlns:a="http://schemas.openxmlformats.org/drawingml/2006/main">
            <a:off x="904875" y="2464689"/>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02</a:t>
            </a:r>
          </a:p>
        </p:txBody>
      </p:sp>
      <p:sp>
        <p:nvSpPr>
          <p:cNvPr id="13" name="text-242.5-135">
            <a:extLst xmlns:a="http://schemas.openxmlformats.org/drawingml/2006/main">
              <a:ext uri="{FF2B5EF4-FFF2-40B4-BE49-F238E27FC236}">
                <a16:creationId xmlns:a16="http://schemas.microsoft.com/office/drawing/2014/main" id="{0FAE4CA2-F80D-4909-950A-97DBCE6A2302}"/>
              </a:ext>
            </a:extLst>
          </p:cNvPr>
          <p:cNvSpPr>
            <a:spLocks xmlns:a="http://schemas.openxmlformats.org/drawingml/2006/main" noGrp="1"/>
          </p:cNvSpPr>
          <p:nvPr/>
        </p:nvSpPr>
        <p:spPr>
          <a:xfrm xmlns:a="http://schemas.openxmlformats.org/drawingml/2006/main">
            <a:off x="1285875" y="2426589"/>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int lo=0, hi=n;</a:t>
            </a:r>
          </a:p>
        </p:txBody>
      </p:sp>
      <p:sp>
        <p:nvSpPr>
          <p:cNvPr id="14" name="text-263-81">
            <a:extLst xmlns:a="http://schemas.openxmlformats.org/drawingml/2006/main">
              <a:ext uri="{FF2B5EF4-FFF2-40B4-BE49-F238E27FC236}">
                <a16:creationId xmlns:a16="http://schemas.microsoft.com/office/drawing/2014/main" id="{2F4E37AD-0000-4A7A-B767-7AC89A53DEAC}"/>
              </a:ext>
            </a:extLst>
          </p:cNvPr>
          <p:cNvSpPr>
            <a:spLocks xmlns:a="http://schemas.openxmlformats.org/drawingml/2006/main" noGrp="1"/>
          </p:cNvSpPr>
          <p:nvPr/>
        </p:nvSpPr>
        <p:spPr>
          <a:xfrm xmlns:a="http://schemas.openxmlformats.org/drawingml/2006/main">
            <a:off x="904875" y="2776728"/>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03</a:t>
            </a:r>
          </a:p>
        </p:txBody>
      </p:sp>
      <p:sp>
        <p:nvSpPr>
          <p:cNvPr id="15" name="text-263-135">
            <a:extLst xmlns:a="http://schemas.openxmlformats.org/drawingml/2006/main">
              <a:ext uri="{FF2B5EF4-FFF2-40B4-BE49-F238E27FC236}">
                <a16:creationId xmlns:a16="http://schemas.microsoft.com/office/drawing/2014/main" id="{600B7D20-CB42-4AB2-BDB4-C783F8D431A9}"/>
              </a:ext>
            </a:extLst>
          </p:cNvPr>
          <p:cNvSpPr>
            <a:spLocks xmlns:a="http://schemas.openxmlformats.org/drawingml/2006/main" noGrp="1"/>
          </p:cNvSpPr>
          <p:nvPr/>
        </p:nvSpPr>
        <p:spPr>
          <a:xfrm xmlns:a="http://schemas.openxmlformats.org/drawingml/2006/main">
            <a:off x="1285875" y="2738628"/>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while (hi-lo &gt; 1) {</a:t>
            </a:r>
          </a:p>
        </p:txBody>
      </p:sp>
      <p:sp>
        <p:nvSpPr>
          <p:cNvPr id="16" name="text-283.5-81">
            <a:extLst xmlns:a="http://schemas.openxmlformats.org/drawingml/2006/main">
              <a:ext uri="{FF2B5EF4-FFF2-40B4-BE49-F238E27FC236}">
                <a16:creationId xmlns:a16="http://schemas.microsoft.com/office/drawing/2014/main" id="{9FB1DFE2-BE9C-4D0E-9E53-DF5CB82B7196}"/>
              </a:ext>
            </a:extLst>
          </p:cNvPr>
          <p:cNvSpPr>
            <a:spLocks xmlns:a="http://schemas.openxmlformats.org/drawingml/2006/main" noGrp="1"/>
          </p:cNvSpPr>
          <p:nvPr/>
        </p:nvSpPr>
        <p:spPr>
          <a:xfrm xmlns:a="http://schemas.openxmlformats.org/drawingml/2006/main">
            <a:off x="904875" y="3088767"/>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04</a:t>
            </a:r>
          </a:p>
        </p:txBody>
      </p:sp>
      <p:sp>
        <p:nvSpPr>
          <p:cNvPr id="17" name="text-283.5-135">
            <a:extLst xmlns:a="http://schemas.openxmlformats.org/drawingml/2006/main">
              <a:ext uri="{FF2B5EF4-FFF2-40B4-BE49-F238E27FC236}">
                <a16:creationId xmlns:a16="http://schemas.microsoft.com/office/drawing/2014/main" id="{092CD87F-BE13-4716-9DAC-5B25B5D750C1}"/>
              </a:ext>
            </a:extLst>
          </p:cNvPr>
          <p:cNvSpPr>
            <a:spLocks xmlns:a="http://schemas.openxmlformats.org/drawingml/2006/main" noGrp="1"/>
          </p:cNvSpPr>
          <p:nvPr/>
        </p:nvSpPr>
        <p:spPr>
          <a:xfrm xmlns:a="http://schemas.openxmlformats.org/drawingml/2006/main">
            <a:off x="1285875" y="3050667"/>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int mid=(lo+hi)/2, total=0;</a:t>
            </a:r>
          </a:p>
        </p:txBody>
      </p:sp>
      <p:sp>
        <p:nvSpPr>
          <p:cNvPr id="18" name="text-304-81">
            <a:extLst xmlns:a="http://schemas.openxmlformats.org/drawingml/2006/main">
              <a:ext uri="{FF2B5EF4-FFF2-40B4-BE49-F238E27FC236}">
                <a16:creationId xmlns:a16="http://schemas.microsoft.com/office/drawing/2014/main" id="{B8FE960D-6F8A-46C5-A8C3-9595178D01C5}"/>
              </a:ext>
            </a:extLst>
          </p:cNvPr>
          <p:cNvSpPr>
            <a:spLocks xmlns:a="http://schemas.openxmlformats.org/drawingml/2006/main" noGrp="1"/>
          </p:cNvSpPr>
          <p:nvPr/>
        </p:nvSpPr>
        <p:spPr>
          <a:xfrm xmlns:a="http://schemas.openxmlformats.org/drawingml/2006/main">
            <a:off x="904875" y="3400806"/>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05</a:t>
            </a:r>
          </a:p>
        </p:txBody>
      </p:sp>
      <p:sp>
        <p:nvSpPr>
          <p:cNvPr id="19" name="text-304-135">
            <a:extLst xmlns:a="http://schemas.openxmlformats.org/drawingml/2006/main">
              <a:ext uri="{FF2B5EF4-FFF2-40B4-BE49-F238E27FC236}">
                <a16:creationId xmlns:a16="http://schemas.microsoft.com/office/drawing/2014/main" id="{5A3743CB-D4DE-4475-9E16-4771420047B1}"/>
              </a:ext>
            </a:extLst>
          </p:cNvPr>
          <p:cNvSpPr>
            <a:spLocks xmlns:a="http://schemas.openxmlformats.org/drawingml/2006/main" noGrp="1"/>
          </p:cNvSpPr>
          <p:nvPr/>
        </p:nvSpPr>
        <p:spPr>
          <a:xfrm xmlns:a="http://schemas.openxmlformats.org/drawingml/2006/main">
            <a:off x="1285875" y="3362706"/>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for (int i=lo; i&lt;mid; ++i) total+=weights[i];</a:t>
            </a:r>
          </a:p>
        </p:txBody>
      </p:sp>
      <p:sp>
        <p:nvSpPr>
          <p:cNvPr id="20" name="text-324.5-81">
            <a:extLst xmlns:a="http://schemas.openxmlformats.org/drawingml/2006/main">
              <a:ext uri="{FF2B5EF4-FFF2-40B4-BE49-F238E27FC236}">
                <a16:creationId xmlns:a16="http://schemas.microsoft.com/office/drawing/2014/main" id="{EEC5E5BD-674C-458B-978D-52A652C92DCA}"/>
              </a:ext>
            </a:extLst>
          </p:cNvPr>
          <p:cNvSpPr>
            <a:spLocks xmlns:a="http://schemas.openxmlformats.org/drawingml/2006/main" noGrp="1"/>
          </p:cNvSpPr>
          <p:nvPr/>
        </p:nvSpPr>
        <p:spPr>
          <a:xfrm xmlns:a="http://schemas.openxmlformats.org/drawingml/2006/main">
            <a:off x="904875" y="3712845"/>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06</a:t>
            </a:r>
          </a:p>
        </p:txBody>
      </p:sp>
      <p:sp>
        <p:nvSpPr>
          <p:cNvPr id="21" name="text-324.5-135">
            <a:extLst xmlns:a="http://schemas.openxmlformats.org/drawingml/2006/main">
              <a:ext uri="{FF2B5EF4-FFF2-40B4-BE49-F238E27FC236}">
                <a16:creationId xmlns:a16="http://schemas.microsoft.com/office/drawing/2014/main" id="{D24EA9B4-9C5C-4B07-817F-B573A9EC5AB7}"/>
              </a:ext>
            </a:extLst>
          </p:cNvPr>
          <p:cNvSpPr>
            <a:spLocks xmlns:a="http://schemas.openxmlformats.org/drawingml/2006/main" noGrp="1"/>
          </p:cNvSpPr>
          <p:nvPr/>
        </p:nvSpPr>
        <p:spPr>
          <a:xfrm xmlns:a="http://schemas.openxmlformats.org/drawingml/2006/main">
            <a:off x="1285875" y="3674745"/>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if (total &lt; mid-lo) hi=mid;</a:t>
            </a:r>
          </a:p>
        </p:txBody>
      </p:sp>
      <p:sp>
        <p:nvSpPr>
          <p:cNvPr id="22" name="text-345-81">
            <a:extLst xmlns:a="http://schemas.openxmlformats.org/drawingml/2006/main">
              <a:ext uri="{FF2B5EF4-FFF2-40B4-BE49-F238E27FC236}">
                <a16:creationId xmlns:a16="http://schemas.microsoft.com/office/drawing/2014/main" id="{F9FB7403-4803-4D13-B141-32A53DC9B0DE}"/>
              </a:ext>
            </a:extLst>
          </p:cNvPr>
          <p:cNvSpPr>
            <a:spLocks xmlns:a="http://schemas.openxmlformats.org/drawingml/2006/main" noGrp="1"/>
          </p:cNvSpPr>
          <p:nvPr/>
        </p:nvSpPr>
        <p:spPr>
          <a:xfrm xmlns:a="http://schemas.openxmlformats.org/drawingml/2006/main">
            <a:off x="904875" y="4024884"/>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07</a:t>
            </a:r>
          </a:p>
        </p:txBody>
      </p:sp>
      <p:sp>
        <p:nvSpPr>
          <p:cNvPr id="23" name="text-345-135">
            <a:extLst xmlns:a="http://schemas.openxmlformats.org/drawingml/2006/main">
              <a:ext uri="{FF2B5EF4-FFF2-40B4-BE49-F238E27FC236}">
                <a16:creationId xmlns:a16="http://schemas.microsoft.com/office/drawing/2014/main" id="{A683E2AD-A084-420F-A9EE-4A6397DC1EEA}"/>
              </a:ext>
            </a:extLst>
          </p:cNvPr>
          <p:cNvSpPr>
            <a:spLocks xmlns:a="http://schemas.openxmlformats.org/drawingml/2006/main" noGrp="1"/>
          </p:cNvSpPr>
          <p:nvPr/>
        </p:nvSpPr>
        <p:spPr>
          <a:xfrm xmlns:a="http://schemas.openxmlformats.org/drawingml/2006/main">
            <a:off x="1285875" y="3986784"/>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else lo=mid;</a:t>
            </a:r>
          </a:p>
        </p:txBody>
      </p:sp>
      <p:sp>
        <p:nvSpPr>
          <p:cNvPr id="24" name="text-365.5-81">
            <a:extLst xmlns:a="http://schemas.openxmlformats.org/drawingml/2006/main">
              <a:ext uri="{FF2B5EF4-FFF2-40B4-BE49-F238E27FC236}">
                <a16:creationId xmlns:a16="http://schemas.microsoft.com/office/drawing/2014/main" id="{C89E1BC8-CB3E-4836-A6B8-2330F6C08768}"/>
              </a:ext>
            </a:extLst>
          </p:cNvPr>
          <p:cNvSpPr>
            <a:spLocks xmlns:a="http://schemas.openxmlformats.org/drawingml/2006/main" noGrp="1"/>
          </p:cNvSpPr>
          <p:nvPr/>
        </p:nvSpPr>
        <p:spPr>
          <a:xfrm xmlns:a="http://schemas.openxmlformats.org/drawingml/2006/main">
            <a:off x="904875" y="4336923"/>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08</a:t>
            </a:r>
          </a:p>
        </p:txBody>
      </p:sp>
      <p:sp>
        <p:nvSpPr>
          <p:cNvPr id="25" name="text-365.5-135">
            <a:extLst xmlns:a="http://schemas.openxmlformats.org/drawingml/2006/main">
              <a:ext uri="{FF2B5EF4-FFF2-40B4-BE49-F238E27FC236}">
                <a16:creationId xmlns:a16="http://schemas.microsoft.com/office/drawing/2014/main" id="{82B6A2EF-4E7E-4958-8FDC-3C7207DFE9F3}"/>
              </a:ext>
            </a:extLst>
          </p:cNvPr>
          <p:cNvSpPr>
            <a:spLocks xmlns:a="http://schemas.openxmlformats.org/drawingml/2006/main" noGrp="1"/>
          </p:cNvSpPr>
          <p:nvPr/>
        </p:nvSpPr>
        <p:spPr>
          <a:xfrm xmlns:a="http://schemas.openxmlformats.org/drawingml/2006/main">
            <a:off x="1285875" y="4298823"/>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a:t>
            </a:r>
          </a:p>
        </p:txBody>
      </p:sp>
      <p:sp>
        <p:nvSpPr>
          <p:cNvPr id="26" name="text-386-81">
            <a:extLst xmlns:a="http://schemas.openxmlformats.org/drawingml/2006/main">
              <a:ext uri="{FF2B5EF4-FFF2-40B4-BE49-F238E27FC236}">
                <a16:creationId xmlns:a16="http://schemas.microsoft.com/office/drawing/2014/main" id="{FDF07A9B-E6A8-4BEF-B7C9-1A1975A9984D}"/>
              </a:ext>
            </a:extLst>
          </p:cNvPr>
          <p:cNvSpPr>
            <a:spLocks xmlns:a="http://schemas.openxmlformats.org/drawingml/2006/main" noGrp="1"/>
          </p:cNvSpPr>
          <p:nvPr/>
        </p:nvSpPr>
        <p:spPr>
          <a:xfrm xmlns:a="http://schemas.openxmlformats.org/drawingml/2006/main">
            <a:off x="904875" y="4648962"/>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09</a:t>
            </a:r>
          </a:p>
        </p:txBody>
      </p:sp>
      <p:sp>
        <p:nvSpPr>
          <p:cNvPr id="27" name="text-386-135">
            <a:extLst xmlns:a="http://schemas.openxmlformats.org/drawingml/2006/main">
              <a:ext uri="{FF2B5EF4-FFF2-40B4-BE49-F238E27FC236}">
                <a16:creationId xmlns:a16="http://schemas.microsoft.com/office/drawing/2014/main" id="{430A059E-494A-40C7-B893-6B81607CF777}"/>
              </a:ext>
            </a:extLst>
          </p:cNvPr>
          <p:cNvSpPr>
            <a:spLocks xmlns:a="http://schemas.openxmlformats.org/drawingml/2006/main" noGrp="1"/>
          </p:cNvSpPr>
          <p:nvPr/>
        </p:nvSpPr>
        <p:spPr>
          <a:xfrm xmlns:a="http://schemas.openxmlformats.org/drawingml/2006/main">
            <a:off x="1285875" y="4610862"/>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    return lo;</a:t>
            </a:r>
          </a:p>
        </p:txBody>
      </p:sp>
      <p:sp>
        <p:nvSpPr>
          <p:cNvPr id="28" name="text-406.5-81">
            <a:extLst xmlns:a="http://schemas.openxmlformats.org/drawingml/2006/main">
              <a:ext uri="{FF2B5EF4-FFF2-40B4-BE49-F238E27FC236}">
                <a16:creationId xmlns:a16="http://schemas.microsoft.com/office/drawing/2014/main" id="{05D3D5F8-87D2-4FA4-BE0C-1BDCD8358CB5}"/>
              </a:ext>
            </a:extLst>
          </p:cNvPr>
          <p:cNvSpPr>
            <a:spLocks xmlns:a="http://schemas.openxmlformats.org/drawingml/2006/main" noGrp="1"/>
          </p:cNvSpPr>
          <p:nvPr/>
        </p:nvSpPr>
        <p:spPr>
          <a:xfrm xmlns:a="http://schemas.openxmlformats.org/drawingml/2006/main">
            <a:off x="904875" y="4961001"/>
            <a:ext cx="317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0000"/>
              </a:lnSpc>
              <a:buNone/>
              <a:defRPr sz="1200" b="0" i="0">
                <a:solidFill>
                  <a:srgbClr val="8D8D8D"/>
                </a:solidFill>
                <a:latin typeface="Consolas"/>
                <a:ea typeface="Consolas"/>
                <a:cs typeface="Consolas"/>
              </a:defRPr>
              <a:spcBef>
                <a:spcPts val="0"/>
              </a:spcBef>
              <a:spcAft>
                <a:spcPts val="0"/>
              </a:spcAft>
            </a:pPr>
            <a:r>
              <a:rPr sz="1200" b="0" i="0">
                <a:solidFill>
                  <a:srgbClr val="8D8D8D"/>
                </a:solidFill>
                <a:latin typeface="Consolas"/>
                <a:ea typeface="Consolas"/>
                <a:cs typeface="Consolas"/>
              </a:rPr>
              <a:t>10</a:t>
            </a:r>
          </a:p>
        </p:txBody>
      </p:sp>
      <p:sp>
        <p:nvSpPr>
          <p:cNvPr id="29" name="text-406.5-135">
            <a:extLst xmlns:a="http://schemas.openxmlformats.org/drawingml/2006/main">
              <a:ext uri="{FF2B5EF4-FFF2-40B4-BE49-F238E27FC236}">
                <a16:creationId xmlns:a16="http://schemas.microsoft.com/office/drawing/2014/main" id="{7332BD66-6FBB-40E8-8636-D0405596638E}"/>
              </a:ext>
            </a:extLst>
          </p:cNvPr>
          <p:cNvSpPr>
            <a:spLocks xmlns:a="http://schemas.openxmlformats.org/drawingml/2006/main" noGrp="1"/>
          </p:cNvSpPr>
          <p:nvPr/>
        </p:nvSpPr>
        <p:spPr>
          <a:xfrm xmlns:a="http://schemas.openxmlformats.org/drawingml/2006/main">
            <a:off x="1285875" y="4922901"/>
            <a:ext cx="1011555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30000"/>
              </a:lnSpc>
              <a:buNone/>
              <a:defRPr sz="1575" b="0" i="0">
                <a:solidFill>
                  <a:srgbClr val="FFFFFF"/>
                </a:solidFill>
                <a:latin typeface="Consolas"/>
                <a:ea typeface="Consolas"/>
                <a:cs typeface="Consolas"/>
              </a:defRPr>
              <a:spcBef>
                <a:spcPts val="0"/>
              </a:spcBef>
              <a:spcAft>
                <a:spcPts val="0"/>
              </a:spcAft>
            </a:pPr>
            <a:r>
              <a:rPr sz="1575" b="0" i="0">
                <a:solidFill>
                  <a:srgbClr val="FFFFFF"/>
                </a:solidFill>
                <a:latin typeface="Consolas"/>
                <a:ea typeface="Consolas"/>
                <a:cs typeface="Consolas"/>
              </a:rPr>
              <a:t>}</a:t>
            </a:r>
          </a:p>
        </p:txBody>
      </p:sp>
      <p:sp>
        <p:nvSpPr>
          <p:cNvPr id="30" name="text-635-64">
            <a:extLst xmlns:a="http://schemas.openxmlformats.org/drawingml/2006/main">
              <a:ext uri="{FF2B5EF4-FFF2-40B4-BE49-F238E27FC236}">
                <a16:creationId xmlns:a16="http://schemas.microsoft.com/office/drawing/2014/main" id="{E2C90F2E-249C-4E49-A442-E4A60E86D002}"/>
              </a:ext>
            </a:extLst>
          </p:cNvPr>
          <p:cNvSpPr>
            <a:spLocks xmlns:a="http://schemas.openxmlformats.org/drawingml/2006/main" noGrp="1"/>
          </p:cNvSpPr>
          <p:nvPr/>
        </p:nvSpPr>
        <p:spPr>
          <a:xfrm xmlns:a="http://schemas.openxmlformats.org/drawingml/2006/main">
            <a:off x="609600" y="6048375"/>
            <a:ext cx="109728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배열 합 연산을 포함한 시간 O(n). 범위를 줄이는 단계 수만 O(log n)이다.</a:t>
            </a:r>
          </a:p>
        </p:txBody>
      </p:sp>
    </p:spTree>
    <p:extLst>
      <p:ext uri="{BB962C8B-B14F-4D97-AF65-F5344CB8AC3E}">
        <p14:creationId xmlns:p14="http://schemas.microsoft.com/office/powerpoint/2010/main" val="46268551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2026-09-19T14:52:36.0860000Z</dcterms:created>
  <dcterms:modified xsi:type="dcterms:W3CDTF">2026-09-19T14:52:36.0860000Z</dcterms:modified>
</coreProperties>
</file>