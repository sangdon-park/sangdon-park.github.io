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Lst>
  <p:notesMasterIdLst>
    <p:notesMasterId r:id="rId2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notesMaster" Target="notesMasters/notesMaster1.xml"/><Relationship Id="rId203" Type="http://schemas.openxmlformats.org/officeDocument/2006/relationships/presProps" Target="presProps.xml"/><Relationship Id="rId204" Type="http://schemas.openxmlformats.org/officeDocument/2006/relationships/viewProps" Target="viewProps.xml"/><Relationship Id="rId205" Type="http://schemas.openxmlformats.org/officeDocument/2006/relationships/theme" Target="theme/theme1.xml"/><Relationship Id="rId2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
10! = 3,628,800이죠.
여기서 2¹⁰과 비교해 보세요. 1,024입니다.
같은 n=10인데 팩토리얼이 지수보다 3,500배 큽니다.
왜 이렇게 차이가 날까요?
2ⁿ은 매번 2를 곱합니다. 곱하는 수가 항상 2로 고정이에요.
n!은 매번 다른 수를 곱합니다. 1, 2, 3, ... n으로 점점 커져요.
n이 커질수록 곱하는 수 자체가 커지니까 훨씬 빨리 커지는 겁니다.
n이 4를 넘어가면 n! 이 2ⁿ을 앞지릅니다. 그리고 격차가 계속 벌어져요.
n=10에서 3,500배.
n=20에서는 2조 배가 넘습니다.
그래서 실무 판단이 이렇게 갈립니다.
O(2ⁿ)은 n이 20까지 가능합니다.
O(n!)은 n이 10까지가 한계예요.
두 배 차이죠. 별거 아닌 것 같지만 실제로는 엄청난 제약입니다.
나머지 보기 볼게요.
①번 1,024는 2¹⁰이고요.
③번 10만은 관계없는 수입니다.
④번 1억은 10⁸이고요.
⑤번 100억은 10¹⁰, 그러니까 nⁿ입니다. 10의 10승이죠.
⑤번이 재밌어요. nⁿ은 n! 보다도 큽니다. 100억 대 360만이니까 약 2,700배죠.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똑같이 O(n)이지만 공간이 O(n)에서 O(1)이 됩니다.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 주관식입니다. 61번이에요.
"완전 탐색이 순진한 방법이라고 불리는 이유를 한 문장으로 쓰시오."
영어로 naive method라고 하죠. naive가 순진하다, 세상 물정 모른다는 뜻이에요.
자, 왜 순진하다고 할까요?
이렇게 생각해 보세요.
똑똑한 사람이 자물쇠를 열려고 해요. 그러면 어떻게 할까요?
주인의 생일을 떠올려 보거나, 자주 쓰는 번호를 먼저 넣어 보거나, 다이얼에 닳은 자국을 살펴보거나 하겠죠.
머리를 쓰는 겁니다.
그런데 완전 탐색은요? 그런 거 없어요. 0000부터 그냥 다 해봅니다.
머리를 안 쓰는 거죠. 그래서 순진하다고 하는 겁니다.
이걸 한 문장으로 정리해 보세요. 아이디어 없이, 있는 그대로, 다 시도한다. 이런 표현이 들어가면 됩니다.
이 문제는 정답을 외워서 쓰는 게 아니라 이유를 만들어 내는 문제입니다.
주관식에서 이런 유형이 나오면 이렇게 접근하세요.
먼저 반대 상황을 떠올립니다. 순진하지 않은 방법이 뭘까요? 머리를 쓰는 방법이죠.
그러면 순진한 방법은 머리를 안 쓰는 방법입니다.
이렇게 반대를 먼저 생각하면 정의가 선명해집니다.
시험에서 "왜 그렇게 부르는가" 유형이 나오면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"영리한 아이디어 없이 가능한 모든 경우를 그대로 다 시도하기 때문이다."
핵심 표현은 두 개예요. 아이디어 없이, 그리고 모두 시도.
brute force라는 말도 같은 맥락이에요.
brute가 짐승, 무식한 힘이라는 뜻이고 force가 힘이니까, 직역하면 무식한 힘입니다. 머리 대신 힘으로 민다는 거죠.
그런데 여기서 오해하지 마셔야 할 게 있어요.
순진하다는 말에 부정적인 뜻만 있는 게 아닙니다.
순진하다는 건 뒤집어 말하면 정직하다는 거예요. 잔머리를 안 쓰니까 실수도 없습니다.
그래서 완전 탐색은 항상 맞는 답을 줍니다. 이게 얼마나 큰 장점이냐면요.
여러분이 복잡한 알고리즘을 만들었어요. 이게 맞는지 어떻게 확인하죠?
완전 탐색으로 짠 코드랑 결과를 비교하면 됩니다. 느리지만 확실하니까 기준이 되는 거예요.
실무에서 이걸 실제로 씁니다. 작은 입력으로 두 코드를 돌려서 답이 같은지 확인하는 거요.
그러니까 순진하다는 건 약점이자 강점입니다.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62번입니다.
"0에서 9로 이루어진 4자리 자물쇠를 0000부터 순서대로 모두 시도할 때, 마지막까지 갔다면 총 몇 회 시도한 것인지 쓰시오."
앞의 4번 문제 기억나시죠? 거기서는 8234를 찾고 멈췄어요. 8235회였죠.
이번엔 안 멈추는 경우입니다.
코드로 치면 exit()을 지운 거예요. 정답을 찾아도 계속 도는 거죠.
그러면 어디까지 갈까요?
9999까지 갑니다. 마지막이니까요.
0000부터 9999까지면 몇 개죠?
3번 문제에서 이미 구했어요. 같은 값입니다. 바로 쓰실 수 있죠?
4번 문제와 이 문제를 나란히 놓고 보세요.
4번은 찾고 멈추는 경우고 이건 안 멈추는 경우입니다.
같은 코드에서 exit() 한 줄이 있느냐 없느냐로 8,235와 10,000이 갈려요.
그리고 이게 1장에서 배운 최선과 최악의 차이이기도 합니다.
정답이 어디 있느냐에 따라 실행 횟수가 달라지는 알고리즘과, 무조건 끝까지 도는 알고리즘. 이 둘을 구분하실 줄 알아야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10,000회입니다.
0000부터 9999까지 빠짐없이 시도하면 10⁴ = 10,000회예요.
이게 이 자물쇠의 탐색 공간 전체입니다.
여기서 짚고 갈 게 있어요.
완전 탐색의 최악의 경우가 바로 이겁니다. 탐색 공간 전체를 다 도는 거요.
그러면 최선의 경우는 뭘까요? 첫 번째 시도인 0000이 정답인 경우죠. 1회입니다.
평균은요? 정답이 어디에 있을 확률이 다 똑같다고 치면 중간쯤이니까 약 5,000회예요.
1장에서 배운 최선, 평균, 최악이 여기서 그대로 적용됩니다.
그리고 실무 감각을 하나 더 드릴게요.
이렇게 정답을 찾아도 안 멈추는 코드, 실제로 많이 짜게 됩니다.
왜냐면 답이 여러 개일 수도 있고, 최적해를 찾아야 할 수도 있거든요.
정답 하나만 필요하면 즉시 멈추고, 최적해가 필요하면 끝까지 돌아야 합니다.
이 구분이 2.3절 3단계 템플릿의 마지막 단계예요. 15번, 17번 문제에서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63번입니다. 계산 문제예요.
"4자리 자물쇠를 초당 1,000회 시도할 수 있을 때, 최악의 경우 걸리는 시간을 쓰시오."
초당 1,000회면 기계로 자동으로 돌린다고 생각하시면 됩니다. 손으로는 못 하죠.
자, 계산은 간단해요.
총 몇 번 해야 하죠? 방금 62번에서 구했어요. 10,000회입니다.
초당 몇 번 하죠? 1,000회고요.
그러면 몇 초 걸릴까요? 전체 횟수를 초당 횟수로 나누면 됩니다.
나눗셈 한 번이면 끝나요.
계산하시고 나서 이 숫자가 어떤 느낌인지도 생각해 보세요. 길게 느껴지시나요, 짧게 느껴지시나요.
이 문제를 풀고 나서 한 가지를 더 해보세요.
여러분이 실제로 쓰는 비밀번호가 몇 자리인지, 그걸 이 속도로 뚫으면 얼마나 걸리는지 계산해 보는 겁니다.
숫자만 여섯 자리면 100만이니까 1,000초, 약 17분입니다.
생각보다 짧죠.
그래서 요즘 서비스가 문자와 특수문자를 섞으라고 하는 겁니다. 자리당 선택지를 늘리는 거예요.
배운 걸 자기 상황에 적용해 보면 훨씬 오래 기억됩니다.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10초입니다.
10,000 나누기 1,000은 10이죠. 4자리 자물쇠는 10초면 뚫립니다. 별거 아니에요.
자, 그러면 자릿수를 늘려 볼까요. 같은 속도로요.
6자리면 경우의 수가 100만이니까 1,000초, 약 17분입니다.
8자리면 1억이니까 10만 초, 약 28시간이에요.
10자리면 100억이니까 1,000만 초, 약 116일입니다.
12자리면 1조니까 10억 초, 약 32년이에요.
보이시죠? 자리 두 개마다 100배씩 뜁니다.
여기서 이 절의 핵심 메시지가 나와요.
완전 탐색은 작은 문제에서는 아주 잘 통합니다. 10초면 끝나잖아요.
그런데 문제가 조금만 커지면 갑자기 못 쓰게 됩니다. 32년을 어떻게 기다려요.
이 급격한 전환이 2.6절 조합적 폭발의 주제입니다.
그리고 이 계산이 실제로 쓰이는 데가 있어요. 비밀번호를 왜 길게 만들라고 하는지가 바로 이겁니다.
여러분한테는 자리 두 개 더 외우는 일이지만, 뚫으려는 쪽에는 100배 더 걸리는 일이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64번입니다.
"완전 탐색에서 탐색 공간이라는 말이 가리키는 것을 한 문장으로 쓰시오."
탐색 공간. 영어로 search space라고 합니다.
이 장에서 계속 나오는 용어예요. 그런데 정확히 뭘 가리키는지 헷갈릴 수 있습니다.
이렇게 생각해 보세요.
자물쇠 문제에서 우리가 확인해야 하는 게 뭐였죠? 0000부터 9999까지 만 개였어요.
주사위 세 개 문제에서는요? 216가지였고요.
부분집합 문제에서는 2ⁿ개였습니다.
이 만 개, 216가지, 2ⁿ개. 이것들을 통틀어서 뭐라고 부를까요?
그게 탐색 공간입니다.
그리고 중요한 게 하나 더 있어요. 완전 탐색에서는 탐색 공간의 크기가 곧 실행 횟수예요.
이 두 가지를 담아서 한 문장으로 써 보세요.
용어를 정의하는 문제는 이렇게 접근하세요.
그 용어가 실제로 쓰인 문장을 떠올립니다.
"탐색 공간이 크다", "탐색 공간을 줄인다", "탐색 공간을 계산한다."
이 문장들에서 탐색 공간 자리에 뭘 넣어도 말이 되는지 보세요.
경우의 수를 넣어 보면 다 말이 됩니다. 확인해야 할 후보의 개수를 넣어도 되고요.
이렇게 용법에서 정의를 끌어내는 방법, 낯선 용어를 만났을 때 유용합니다.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"알고리즘이 확인해야 하는 모든 후보의 집합, 즉 경우의 수 전체를 가리킨다."
핵심은 확인해야 하는 모든 후보예요.
정답이 그 안에 있다고 보장되는 범위, 그게 탐색 공간입니다.
여기서 중요한 성질을 짚고 갈게요.
완전 탐색의 실행 시간은 탐색 공간의 크기와 사실상 같습니다.
만 개면 만 번, 백만 개면 백만 번 돌아요.
그래서 코드를 짜기 전에 탐색 공간부터 계산하는 겁니다. 그 숫자가 곧 실행 시간이니까요.
그리고 3장부터 배울 고급 기법들이 뭘 하는지도 여기서 정리됩니다.
백트래킹은 탐색 공간의 일부를 잘라 냅니다. 가망 없는 갈래를 안 보는 거죠.
분할 정복은 탐색 공간 자체를 쪼갭니다.
동적 계획법은 같은 자리를 여러 번 안 보게 만들고요.
셋 다 공통점이 뭐죠? 실제로 확인하는 후보의 수를 줄이는 겁니다.
그러니까 알고리즘을 개선한다는 건 대부분 탐색 공간을 어떻게 줄일까의 문제예요.
이 관점을 지금 잡아 두시면 3장부터가 훨씬 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65번, 주관식입니다. 화면에 코드가 있어요.
n이 4로 정해져 있고요.
i가 range(n), 그러니까 0부터 3까지 돕니다.
j도 range(n), 0부터 3까지 돌고요.
안에서 print를 합니다.
print가 총 몇 번 실행되는지 세는 문제예요.
자, 여기서 앞의 문제들과 다른 점이 있습니다.
10번, 12번에서는 j가 i+1부터 시작했죠. 그래서 절반만 봤어요.
그런데 이 코드는요? j가 0부터 시작합니다. i랑 상관없이요.
그러면 i가 뭐든 j는 항상 네 번 돕니다.
i는 몇 번 돌죠? 네 번이고요.
그러면 총 몇 번일까요?
곱하시면 됩니다. 숫자가 작으니까 손으로 다 세보셔도 돼요.
이 문제와 12번을 비교해 보세요.
12번은 j가 i+1부터였고 이건 j가 0부터입니다.
12번은 n(n−1)/2, 이건 n²이죠.
같은 이중 반복문인데 안쪽 시작점 하나로 답이 달라집니다.
그리고 n이 4로 작게 주어졌으니까 직접 다 세어 보실 수도 있어요.
i가 0일 때 네 번, 1일 때 네 번, 2일 때 네 번, 3일 때 네 번. 이렇게요.
공식이 헷갈리면 직접 세는 게 제일 확실합니다.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16회입니다.
4 × 4 = 16이죠.
안쪽 반복문이 바깥의 i와 무관하게 항상 4번 돈다는 게 핵심입니다.
i가 0일 때 j가 0,1,2,3. 네 번.
i가 1일 때도 네 번.
i가 2일 때도 네 번.
i가 3일 때도 네 번.
합쳐서 16번이에요.
자, 앞에서 본 것들과 비교해 볼게요. 이게 중요합니다.
j가 range(i+1, n)이면요? 3+2+1+0 = 6번입니다. n(n−1)/2 이죠.
j가 range(i, n)이면요? 4+3+2+1 = 10번이에요. n(n+1)/2 고요.
j가 range(n)이면요? 16번입니다. n² 이죠.
세 가지가 다 다릅니다. 6, 10, 16이에요.
그런데 빅오는요? 셋 다 O(n²)입니다.
그래서 문제를 읽을 때 뭘 묻는지 정확히 봐야 해요.
"총 실행 횟수"를 물으면 6, 10, 16을 구분해야 하고요.
"시간 복잡도"를 물으면 셋 다 O(n²)입니다.
시험에서 이 둘을 섞어서 냅니다. 문제 마지막 부분을 꼭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66번입니다.
"주사위 세 개를 던져 나온 눈의 합이 4가 되는 경우의 수를 쓰시오. 주사위는 서로 구별한다."
13번에서 조건 검사가 216번이라고 했죠. 이번엔 통과한 개수를 세는 겁니다.
합이 4가 되려면 어떻게 해야 할까요?
주사위 눈은 1부터 6까지입니다. 최소가 1이에요.
세 개를 더해서 4가 되려면, 최소 조합이 1+1+1 = 3이니까 딱 1만 더 있으면 됩니다.
그러니까 두 개는 1이고 하나는 2인 경우밖에 없어요.
그럼 몇 가지죠?
여기서 "주사위는 서로 구별한다"는 조건이 중요합니다.
2가 첫 번째 주사위에 나올 수도 있고, 두 번째, 세 번째에 나올 수도 있잖아요.
세 자리 중에 어디에 2가 오느냐를 세면 됩니다.
직접 나열해 보세요.
이 문제는 13번과 짝입니다.
13번은 반복 횟수 216을 물었고 이건 조건을 통과한 개수를 묻습니다.
같은 코드에서 나오는 두 숫자예요.
그리고 합이 4라는 게 극단적인 값이라 손으로 셀 수 있습니다.
만약 합이 10이었다면 27가지인데 손으로 세기 힘들죠. 그래서 컴퓨터를 쓰는 겁니다.
작은 값으로 손으로 확인하고, 큰 값은 컴퓨터에 맡기고. 이게 완전 탐색을 배우는 이유이기도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3가지입니다.
(1, 1, 2), (1, 2, 1), (2, 1, 1) 이렇게 세 가지죠.
주사위를 구별하니까 2가 어느 자리에 오느냐가 다른 경우가 됩니다.
만약 구별하지 않는다면요? {1, 1, 2} 하나뿐이에요. 한 가지가 됩니다.
이 차이가 순열과 조합의 차이예요. 2.4절에서 제대로 다룹니다.
코드로 보면 명확합니다. 삼중 반복문에서 d1, d2, d3를 따로 돌리잖아요. 그러면 자리가 구별되는 거예요.
여기서 하나 더 확인하고 갈게요.
합이 3이면 몇 가지죠? (1,1,1) 하나입니다.
합이 4면 세 가지고요.
합이 5면요? (1,1,3)이 세 가지, (1,2,2)가 세 가지. 총 여섯 가지입니다.
합이 10이면요? 27가지예요. 13번에서 나온 그 숫자죠.
합이 가운데 값에 가까울수록 경우의 수가 많습니다. 3부터 18까지 중에 10이나 11이 가장 많아요.
이게 주사위 두 개 던질 때 7이 제일 잘 나오는 것과 같은 이유입니다.
그런데 이걸 손으로 다 세기는 힘들죠. 그래서 완전 탐색으로 216가지를 다 만들어서 세는 겁니다. 컴퓨터한테는 216번이 아무것도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67번입니다.
"길이가 1,000인 리스트에서 서로 다른 두 원소의 모든 쌍을 검사하면 대략 몇 번 비교하게 되는지 쓰시오."
12번에서 배운 공식을 실제 숫자에 적용하는 문제예요.
공식이 뭐였죠? n(n−1)/2 입니다.
n이 1,000이니까 대입하면요.
1000 곱하기 999 나누기 2죠.
1000 곱하기 999가 얼마죠? 999,000입니다.
그걸 2로 나누면요?
계산해 보세요.
그리고 "대략"이라고 했으니까 정확한 값이 아니라 어림수로 답하셔도 됩니다.
어림잡는 방법을 알려드릴게요. n(n−1)/2 는 n이 클 때 대략 n²/2 예요.
1000의 제곱이 백만이고, 그걸 2로 나누면 50만이죠.
암산으로도 나옵니다.
이런 계산 문제는 정확한 값보다 자릿수 감각이 중요합니다.
499,500이라고 정확히 쓰는 것도 좋지만, "약 50만"이라고 말할 수 있는 게 실전에서 더 유용해요.
왜냐면 우리가 알고 싶은 건 "이게 감당 가능한가"거든요.
50만이면 순식간이고 5억이면 위험합니다. 자릿수만 알면 판단이 됩니다.
그러니까 큰 수를 만나면 정확히 계산하려고 애쓰지 마시고 자릿수부터 파악하세요.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50만 번입니다. 정확히는 1000 × 999 ÷ 2 = 499,500회예요.
n이 클 때 n(n−1)/2 는 대략 n²/2 라고 보시면 됩니다. 어림잡을 때 편해요.
여기서 규모 감각을 잡고 갑시다.
n이 100이면 약 5,000번. 순식간이죠.
n이 1,000이면 약 50만 번. 여전히 빠릅니다.
n이 10,000이면 약 5,000만 번. 파이썬으로는 몇 초 걸립니다.
n이 100,000이면 약 50억 번. 못 씁니다.
n이 10배가 되면 비교 횟수는 100배가 돼요. 제곱이니까요.
그래서 모든 쌍을 보는 방식은 n이 만 정도까지가 실용적인 한계입니다.
그럼 그보다 크면 어떻게 하냐고요?
방법이 있습니다. 예를 들어 합이 K인 쌍을 찾는 문제요.
리스트를 정렬한 다음에 양쪽 끝에서 좁혀 오면 O(n log n)에 됩니다.
아니면 딕셔너리에 넣고 K에서 각 원소를 뺀 값이 있는지 확인하면 O(n)에 되고요.
그러니까 O(n²)이 나왔다고 끝이 아니에요. 더 좋은 방법을 찾는 게 다음 단계입니다.
지금은 완전 탐색을 배우는 중이니까 여기까지만 하고, 3장부터 그 방법들을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68번입니다. 화면에 코드가 있어요.
i가 range(n−1), j가 range(i+1, n)입니다.
우리가 계속 본 그 구조죠. 서로 다른 쌍을 한 번씩 보는 코드입니다.
문제는요. 안쪽을 range(i+1, n) 대신 range(n)으로 바꾸면 총 실행 횟수가 몇 배가 되느냐입니다.
자, 두 경우를 각각 세어 보세요.
원래대로면 몇 번이죠? 12번에서 구했어요. n(n−1)/2 입니다.
바꾸면 어떻게 될까요? j가 i랑 상관없이 항상 n번 돕니다.
i는 몇 번 돌죠? range(n−1)이니까 n−1번이에요.
그러면 (n−1) 곱하기 n 이 되겠네요.
이제 두 값을 나눠 보세요.
n(n−1) 나누기 n(n−1)/2 가 얼마죠?
약분하면 간단하게 나옵니다.
이 문제는 상수배 차이를 다루고 있습니다.
두 배는 큰가요, 작은가요?
빅오로는 아무 차이가 없습니다. 둘 다 O(n²)이에요.
그런데 실행 시간으로는 정확히 두 배입니다. 10초가 20초가 되는 거죠.
코딩 테스트에서 이 차이로 통과와 실패가 갈리기도 합니다.
그러니까 빅오가 같다고 신경 안 써도 되는 게 아니에요. 이미 최적 차수에 도달했다면 상수를 줄이는 게 유일한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2배입니다.
원래가 n(n−1)/2 이고 바꾸면 n(n−1)이니까 정확히 두 배죠.
절반만 보던 걸 전부 보게 되는 거예요.
왜 절반이냐면요. 표로 그려 보면 이해가 쉽습니다.
n 곱하기 n 짜리 격자를 생각해 보세요. i가 세로, j가 가로예요.
j를 0부터 돌리면 격자 전체를 다 채웁니다.
j를 i+1부터 돌리면 대각선 위쪽 삼각형만 채워요.
삼각형은 사각형의 절반이죠. 그래서 두 배입니다.
여기서 중요한 걸 짚고 갈게요.
두 배 차이면 큰가요, 작은가요?
실행 시간으로는 큽니다. 10초 걸릴 게 20초 걸리는 거예요. 코딩 테스트에서는 이 차이로 통과와 실패가 갈리기도 합니다.
그런데 빅오로는요? 둘 다 O(n²)입니다. 상수배는 무시하니까요.
그러니까 이렇게 정리하세요.
빅오는 같지만 실제 실행 시간은 두 배 차이가 난다.
빅오가 같다고 성능이 같은 게 아니에요. 이건 1장 마지막에도 나온 얘기입니다.
그리고 실무에서는 이런 상수배 개선도 중요합니다. 특히 이미 최적의 차수에 도달했을 때는 상수를 줄이는 게 유일한 방법이거든요.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69번, 주관식입니다.
"완전 탐색 3단계 템플릿의 각 단계를 영어 명칭으로 순서대로 쓰시오."
15번에서 우리말 순서를 물었죠. 이번엔 영어입니다.
왜 영어까지 외우라고 하냐면요.
논문이나 해외 자료를 보면 이 용어가 그대로 나옵니다. 번역서만 봐서는 연결이 안 돼요.
그리고 영어를 보면 뜻이 더 명확해지는 경우도 있습니다.
세 단계를 다시 떠올려 보세요.
후보 해 생성. 후보가 영어로 뭐죠? candidate입니다. 생성은 generation이고요.
조건 검증. 조건이 condition, 검증이 validation이죠.
해 선택. 해가 solution, 선택이 selection입니다.
이렇게 단어를 하나씩 붙이면 됩니다.
순서대로 세 개를 써 보세요.
영어 용어를 외우라고 하는 이유를 하나 더 말씀드릴게요.
여러분이 나중에 모르는 걸 검색할 때, 한글로 검색하는 것과 영어로 검색하는 것은 나오는 자료의 양이 열 배 이상 차이 납니다.
"완전 탐색 템플릿"으로 검색하면 몇 개 안 나와요.
"brute force template"으로 검색하면 훨씬 많이 나옵니다.
그래서 핵심 용어는 영어를 같이 알아 두시는 게 좋습니다.
지금 외우는 게 나중에 검색어가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Candidate Generation, Condition Validation, Solution Selection.
각각 후보 해 생성, 조건 검증, 해 선택에 대응합니다.
단어를 하나씩 뜯어보면 뜻이 더 선명해져요.
Candidate는 후보자예요. 선거에서 후보라고 할 때 그 단어입니다. 아직 당선된 건 아니고 가능성만 있는 거죠.
완전 탐색에서 만드는 것들이 딱 그렇습니다. 정답일 수도 있고 아닐 수도 있는 것들이에요.
Validation은 유효성 검사입니다. 웹 개발에서 폼 validation이라고 하죠. 입력이 규칙에 맞는지 확인하는 거요. 같은 뜻입니다.
Selection은 고르는 거고요.
그리고 영어로 보면 각 단계가 뭘 다루는지가 명확해집니다.
생성 단계는 candidate를 다루고요.
검증 단계는 condition을 다루고요.
선택 단계는 solution을 다룹니다.
candidate가 condition을 통과하면 solution이 되는 거예요.
이 흐름을 기억하시면 세 단어가 그냥 외워집니다.
시험에서는 우리말과 영어를 섞어서 물어볼 수 있어요. 예를 들어 "Condition Validation에 해당하는 단계를 우리말로 쓰시오" 같은 식으로요. 양방향으로 연결해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70번입니다.
"완전 탐색에서 후보 해를 만들어 낼 때 쓰이는 대표적인 도구 세 가지를 쓰시오."
1단계인 후보 해 생성을 실제로 뭘로 하느냐를 묻는 겁니다.
지금까지 본 예제들을 떠올려 보세요.
자물쇠 문제에서는 뭘로 만들었죠? 반복문 네 겹이었어요.
주사위 문제도 반복문 세 겹이었고요.
약수 찾기는 반복문 한 겹이었습니다.
그러면 첫 번째 도구는 반복문이네요.
그런데 반복문만으로는 불편한 경우가 있죠. 뽑는 개수가 많아지면 반복문을 계속 늘려야 하니까요.
그래서 2.4절에서 배울 게 있습니다. 뭐였죠?
순서를 정해서 뽑는 것과, 순서 없이 고르기만 하는 것.
이 두 가지가 나머지 도구입니다.
세 개를 다 쓰세요.
이 문제를 풀면서 각 도구를 언제 쓰는지도 정리해 보세요.
정해야 할 게 두세 개면 반복문.
r개를 순서 있게 뽑으면 순열.
r개를 순서 없이 고르면 조합.
각각을 넣을지 말지 정하면 비트마스크.
네 가지죠.
문제를 읽고 이 넷 중 어디에 해당하는지 판단하는 게 완전 탐색의 첫 단추입니다.
여기서 잘못 고르면 그 뒤로 아무리 잘 짜도 답이 안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반복문, 순열, 조합.
세 가지를 언제 쓰는지 정리해 드릴게요.
반복문은 정해야 할 변수가 적을 때 씁니다. 한두 개, 많아야 세 개 정도요.
자물쇠는 네 겹까지 갔는데, 이 정도가 반복문으로 버틸 수 있는 한계예요. 다섯 겹, 여섯 겹으로 가면 코드가 감당이 안 됩니다.
순열은 순서를 정해야 할 때 씁니다. 1등, 2등, 3등을 정하거나 방문 순서를 정하는 문제요.
조합은 고르기만 하면 될 때 씁니다. 대표 몇 명 뽑기, 메뉴 몇 개 고르기 같은 거요.
여기에 하나 더 붙일 게 있어요. 부분집합이 필요할 때는 비트마스크를 씁니다.
2.5절에서 나오는 1 &lt;&lt; n 방식이죠. 각 원소를 넣을지 뺄지를 비트 하나로 표현하는 겁니다.
그러니까 실제로는 네 가지 도구가 있는 셈이에요. 반복문, 순열, 조합, 비트마스크.
문제를 보고 어느 도구를 쓸지 판단하는 게 완전 탐색의 첫 관문입니다.
"몇 개를 정해야 하나?" 적으면 반복문.
"순서가 중요한가?" 중요하면 순열, 아니면 조합.
"넣을지 말지를 정하는 문제인가?" 그러면 비트마스크.
이 세 질문으로 대부분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71번, 주관식입니다.
"A, B, C에서 2개를 뽑는 순열을 모두 나열하시오."
21번에서 개수가 6이라는 걸 구했죠. 이번엔 실제로 다 써 보는 겁니다.
왜 나열까지 시키냐면요.
개수만 아는 것과 실제로 만들 줄 아는 것은 다르거든요.
코드를 짤 때는 실제로 만들어야 합니다. 개수만 알아서는 아무것도 못 해요.
자, 빠짐없이 중복 없이 나열하는 방법입니다.
첫 자리를 고정하고 둘째 자리를 바꾸는 겁니다.
첫 자리가 A일 때. 둘째에 뭐가 올 수 있죠? B와 C요. 두 개죠.
첫 자리가 B일 때. A와 C고요.
첫 자리가 C일 때. A와 B입니다.
이렇게 하면 순서대로 빠짐없이 나옵니다.
여섯 개를 다 써 보세요.
개수만 아는 것과 실제로 만들 줄 아는 것은 다릅니다.
시험에서 나열하라고 하는 이유가 이거예요.
그리고 나열할 때는 반드시 순서를 정해서 하세요. 마구잡이로 하면 빠뜨리거나 중복됩니다.
첫 자리를 고정하고 나머지를 채우는 방식이 제일 안전합니다.
이게 사실 코드가 하는 일이랑 같아요. 반복문이 순서대로 도는 게 그거죠.
손으로 나열하는 연습이 코드를 이해하는 데도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(A,B), (A,C), (B,A), (B,C), (C,A), (C,B).
여섯 개죠.
방금 말씀드린 방식으로 만들면 순서대로 나옵니다. 첫 자리를 A, B, C로 고정하고 각각 둘째 자리를 채우는 거예요.
이 순서가 사실 itertools의 permutations가 만들어 내는 순서와 같습니다. 사전순이라고 하죠.
자, 조합이라면 어떻게 될까요?
(A,B), (A,C), (B,C) 세 개만 남습니다.
(B,A)는 (A,B)와 같으니까 빼고요. (C,A)는 (A,C)와 같으니까 빼고요. (C,B)는 (B,C)와 같으니까 뺍니다.
조합을 만들 때는 이렇게 하면 됩니다. 앞에 있는 것보다 뒤에 있는 것만 짝지으면 됩니다.
A 뒤에는 B, C가 있으니까 (A,B), (A,C).
B 뒤에는 C만 있으니까 (B,C).
C 뒤에는 없으니까 끝.
어? 이거 어디서 본 것 같지 않으세요?
10번, 11번에서 j를 i+1부터 돌린 그 방식입니다.
중첩 반복문에서 j = i+1로 시작하는 게 바로 조합을 만드는 코드였던 거예요.
이렇게 앞에서 배운 게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72번입니다.
"5명 중에서 금메달, 은메달, 동메달을 받을 사람을 정하는 경우의 수를 쓰시오."
올림픽 시상대를 생각하시면 됩니다.
여기서 순서가 중요한가요?
당연하죠. A가 금이고 B가 은인 경우와, B가 금이고 A가 은인 경우는 완전히 다릅니다.
당사자한테는 하늘과 땅 차이죠.
그러면 순열입니다. 5P3이에요.
계산해 볼게요.
금메달을 누가 받죠? 5명 중 아무나. 5가지입니다.
은메달은요? 금메달 받은 사람 빼고 4명 중에. 4가지죠.
동메달은요? 3가지고요.
곱하시면 됩니다.
암산으로 되죠?
이 문제를 풀고 나서 조합이었다면 어떻게 되는지도 계산해 보세요.
"5명 중 대표 3명을 뽑아라"였다면 5C3 = 10가지입니다.
60과 10. 여섯 배 차이죠.
왜 여섯 배냐면 3명을 순서 매기는 방법이 3! = 6이기 때문입니다.
이렇게 순열과 조합을 짝지어서 계산해 보면 둘의 관계가 몸에 익습니다.
한쪽만 구하고 넘어가지 마시고 항상 다른 쪽도 같이 구해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60가지입니다.
5P3 = 5 × 4 × 3 = 60이죠.
만약 조합이었다면 어떻게 될까요?
5C3 = 60 ÷ 3! = 60 ÷ 6 = 10가지입니다.
"5명 중에 대표 3명을 뽑아라"였다면 10가지예요.
같은 5명, 같은 3명인데 순서를 따지느냐 아니냐로 60과 10이 됩니다. 여섯 배 차이죠.
여기서 왜 6배냐면요. 3명을 순서대로 세우는 방법이 3! = 6가지이기 때문입니다.
대표 세 명을 정하고 나서 누가 금, 은, 동인지를 또 정하는 거니까요.
그래서 순열 = 조합 × r! 인 겁니다.
이 관계를 알아 두시면 계산이 편해요.
조합을 구할 때 조합 공식을 그대로 쓰는 것보다, 순열을 먼저 구하고 r!로 나누는 게 실수가 적습니다.
예를 들어 7C3을 구한다고 하면요.
7P3 = 7 × 6 × 5 = 210. 그리고 3! = 6. 210 ÷ 6 = 35.
공식 n!/(r!(n−r)!) 에 넣어서 5040/(6×24) 를 계산하는 것보다 훨씬 간단하죠.
시험에서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73번입니다.
"5가지 음식 중 2가지를 골라 함께 먹는 경우의 수를 쓰시오."
72번과 비교해 보세요. 5명 중 3명 뽑는 거였고 이건 5가지 중 2가지입니다.
그런데 더 중요한 차이가 있어요.
메달은 순서가 있었죠. 금, 은, 동으로 자리가 달랐습니다.
음식은요? 짜장면과 짬뽕을 시키는 거나 짬뽕과 짜장면을 시키는 거나 같은 주문이잖아요.
순서가 없습니다.
그러면 조합이에요. 5C2입니다.
계산 방법은 방금 알려드렸죠.
먼저 순열을 구합니다. 5P2 = 5 × 4 = 20.
그다음 2!로 나눕니다. 2! = 2죠.
20 나누기 2는요?
아니면 직접 세어 보셔도 됩니다. 음식에 번호를 붙여서 1-2, 1-3, 1-4, 1-5, 2-3, ... 이렇게요.
이 문제의 답과 12번의 공식을 비교해 보세요.
5C2 = 10이고 n(n−1)/2 에 5를 넣으면 5×4/2 = 10입니다.
같은 값이죠.
두 개를 고르는 조합과, 이중 반복문에서 i&lt;j 쌍의 개수가 같은 겁니다.
당연해요. 둘 다 서로 다른 두 개를 순서 없이 고르는 거니까요.
이렇게 다른 자리에서 배운 것들이 같은 것이라는 걸 알아채면 기억이 훨씬 단단해집니다.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10가지입니다.
5C2 = (5 × 4) ÷ 2 = 10이죠.
직접 나열하면 (1,2), (1,3), (1,4), (1,5), (2,3), (2,4), (2,5), (3,4), (3,5), (4,5) 열 개입니다.
세는 방식이 4 + 3 + 2 + 1 = 10이에요.
어디서 본 패턴이죠? n(n−1)/2 입니다. 12번 문제에서 나온 그 식이에요.
5 × 4 ÷ 2 = 10. 맞습니다.
그러니까 두 개를 고르는 조합은 항상 n(n−1)/2 예요. 이 둘은 같은 겁니다.
리스트에서 모든 쌍을 검사하는 이중 반복문의 실행 횟수와, n개에서 2개를 고르는 조합의 개수가 같은 이유가 이거죠.
같은 일을 하고 있으니까요.
여기서 실무 감각을 하나 드릴게요.
메뉴 다섯 개짜리 식당에서 두 개 세트를 만들면 10가지 조합이 나옵니다.
메뉴가 열 개면요? 45가지예요.
스무 개면요? 190가지고요.
메뉴는 두 배씩 늘었는데 조합은 네 배 넘게 늘어납니다. 제곱으로 커지니까요.
그래서 세트 메뉴를 다 만들어 놓기가 어려운 거예요. 이런 게 조합적 폭발의 가벼운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74번입니다.
"같은 n과 r에 대해 조합의 개수가 순열의 개수보다 작거나 같은 이유를 한 문장으로 쓰시오."
지금까지 계속 확인했죠.
3P2가 6이고 3C2가 3이었어요. 조합이 절반이었습니다.
5P3이 60이고 5C3이 10이었어요. 조합이 6분의 1이었고요.
4P2가 12이고 4C2가 6이었습니다. 절반이었죠.
왜 조합이 항상 작을까요?
이렇게 생각해 보세요.
조합에서 (A, B)라는 묶음 하나가 있어요.
이걸 순열에서는 몇 번 셀까요?
(A,B)와 (B,A). 두 번 셉니다.
세 개짜리 묶음이면요? (A,B,C), (A,C,B), (B,A,C), (B,C,A), (C,A,B), (C,B,A). 여섯 번이죠.
r개를 순서 매기는 방법이 r! 이니까 r!번 세는 겁니다.
이걸 한 문장으로 정리해 보세요.
이 문제는 이유를 설명하는 문제입니다.
이런 유형에서 점수를 받으려면 구체적인 근거가 들어가야 해요.
"조합이 더 작으니까"는 답이 아닙니다. 그건 현상이지 이유가 아니죠.
"순서만 바꾼 것을 여러 번 세니까"라고 해야 이유입니다.
그리고 몇 번 세는지까지 쓰면 더 좋고요. r!번이죠.
시험에서 이유를 물으면 항상 "왜"에 답하고 있는지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"순열은 같은 묶음을 순서만 바꾸어 r!번 중복해서 세기 때문이다."
핵심은 r!번 중복해서 센다는 겁니다.
그래서 nPr을 r!로 나눈 것이 nCr이에요.
식으로 쓰면 nCr = nPr ÷ r! 입니다.
여기서 "작거나 같다"고 한 이유도 짚고 갈게요.
언제 같아질까요? r이 1일 때입니다.
1개를 뽑는 순열과 조합은 같아요. 1! = 1이니까 나눠도 그대로거든요.
5P1 = 5, 5C1 = 5. 같습니다.
r이 2 이상이면 조합이 반드시 작아집니다.
그리고 r이 커질수록 차이가 벌어져요.
5C2는 5P2의 2분의 1이고요.
5C3은 5P3의 6분의 1이고요.
5C4는 5P4의 24분의 1입니다.
r! 로 나누니까 r이 커지면 나누는 값이 폭발하죠.
그런데 재밌는 게 있어요. 조합은 r이 n의 절반일 때 가장 큽니다.
5C0=1, 5C1=5, 5C2=10, 5C3=10, 5C4=5, 5C5=1.
가운데가 제일 크고 양 끝이 작습니다.
이건 다 고르거나 하나도 안 고르는 경우가 각각 한 가지밖에 없기 때문이에요.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75번입니다.
"서로 다른 n개를 하나도 남기지 않고 모두 나열하는 순열의 개수를 n에 대한 식으로 쓰시오."
26번에서 1, 2, 3 세 개를 다 쓰는 경우를 봤죠. 6가지였습니다.
그 일반형이에요.
n개를 전부 나열하는 겁니다. r이 n인 경우죠.
24번에서 배운 식에 넣어 보세요. n × (n−1) × … × (n−r+1) 이었죠.
r에 n을 넣으면 끝 항이 n − n + 1 = 1 이 됩니다.
그러니까 n부터 1까지 다 곱하는 거예요.
n × (n−1) × (n−2) × … × 2 × 1.
이걸 부르는 이름이 있죠. 기호로 어떻게 쓰나요?
간단하게 쓰시면 됩니다.
이 문제는 24번 식에 r = n 을 대입하는 겁니다.
끝 항이 n − n + 1 = 1 이 되죠. 그래서 1까지 다 곱합니다.
이렇게 일반식에 특수한 값을 넣어 보는 연습을 하시면 좋아요.
식이 맞는지 검증하는 방법이기도 하고, 특수한 경우를 이해하는 방법이기도 합니다.
r=1을 넣으면 어떻게 될까요? n 하나만 남습니다. nP1 = n. 맞죠.
이렇게 양 끝을 확인하는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입니다. 엔 팩토리얼이라고 읽어요.
n부터 1까지 다 곱한 값입니다.
이 값이 왜 중요하냐면요, 순서를 정하는 문제는 전부 이 값이 탐색 공간이 되기 때문입니다.
몇 가지 예를 들어 볼게요.
외판원 순회에서 n개 도시를 방문하는 순서. n! 입니다.
n명을 한 줄로 세우는 방법. n! 이고요.
n개의 작업을 처리하는 순서를 정하는 문제. 역시 n! 입니다.
그래서 "순서를 정하라"는 문제를 만나면 일단 n! 을 의심하셔야 해요.
그리고 n! 을 보는 순간 이렇게 생각하시면 됩니다.
"아, 이건 n이 10 넘어가면 완전 탐색으로 못 풀겠구나."
실제 값을 다시 확인할게요.
5! = 120
8! = 40,320
10! = 3,628,800
12! = 479,001,600
15! = 약 1.3조
10까지는 괜찮고 12부터 위험하고 15면 불가능합니다.
그래서 순서를 정하는 문제 중에 n이 큰 것들은 다른 방법을 씁니다.
외판원 순회를 예로 들면요. 동적 계획법으로 O(2ⁿ × n²)까지 줄일 수 있어요. 여전히 지수지만 n! 보다는 훨씬 낫습니다.
그것도 안 되면 근사 알고리즘이나 휴리스틱으로 갑니다. 10장, 11장에서 배울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76번입니다.
"중첩 반복문 대신 itertools를 쓸 때, 뽑는 개수를 3개에서 4개로 늘리려면 코드를 어떻게 고치면 되는지 한 문장으로 쓰시오."
25번에서 itertools의 이득이 코드에 있다고 했죠. 그 이득을 구체적으로 확인하는 문제입니다.
먼저 중첩 반복문으로 3개를 고르는 코드를 떠올려 보세요.
for i, for j in range(i+1, n), for k in range(j+1, n). 세 겹이죠.
여기서 4개로 늘리려면 뭘 해야 할까요?
for문을 하나 더 써야 하고요.
새 인덱스 변수 l도 만들어야 하고요.
range(k+1, n)으로 범위도 맞춰야 합니다.
들여쓰기도 한 단계 더 들어가고요.
꽤 귀찮죠.
그러면 itertools는요?
combinations(arr, 3)이라고 되어 있을 텐데, 여기서 뭘 바꾸면 될까요?
한 글자면 됩니다.
이 문제는 코드의 유지보수 관점을 묻습니다.
실무에서 코드를 평가할 때 실행 속도만 보지 않습니다. 고치기 쉬운지도 봐요.
요구사항은 항상 바뀌거든요.
"3개 조합으로 했는데 4개도 봐 주세요"라는 요청이 옵니다. 반드시 옵니다.
그때 숫자 하나 바꾸면 되는 코드와, 반복문을 다시 짜야 하는 코드는 하늘과 땅 차이예요.
이런 관점을 지금부터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"combinations(arr, 3)의 숫자 3을 4로 바꾸기만 하면 된다."
숫자 하나입니다. 그게 전부예요.
중첩 반복문이었다면 for문을 한 겹 더 쓰고, 인덱스 변수를 만들고, 범위를 맞추고, 들여쓰기까지 고쳐야 합니다.
그리고 실수하기 쉬워요. range(k+1, n)에서 k를 j로 잘못 쓰면 중복이 생기거든요.
itertools는 그럴 일이 없습니다.
이게 itertools의 실질적인 이득이에요. 속도가 아니라 수정 비용입니다.
여기서 실무 얘기를 하나 덧붙일게요.
코드를 평가할 때 두 가지를 봅니다.
하나는 실행 시간이에요. 얼마나 빨리 도느냐.
다른 하나는 수정 비용입니다. 요구사항이 바뀌었을 때 얼마나 쉽게 고칠 수 있느냐.
itertools는 첫 번째는 개선하지 않지만 두 번째를 크게 개선합니다.
그리고 실무에서는 두 번째가 더 자주 문제가 돼요. 요구사항은 늘 바뀌니까요.
"3개 조합으로 하다가 4개도 봐야 한다"는 요청이 오면요. 반복문 코드는 다시 짜야 하지만 itertools 코드는 숫자만 바꾸면 됩니다.
이런 게 좋은 코드의 조건 중 하나예요.
물론 실행 시간이 발목을 잡으면 그때는 알고리즘 자체를 바꿔야 하고요. 그건 다른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77번입니다. 2.4절 마지막 문제예요.
"어떤 문제를 순열로 셀지 조합으로 셀지 판단할 때 스스로에게 던져야 할 질문을 한 문장으로 쓰시오."
이 절 전체를 한 문장으로 요약하는 문제입니다.
지금까지 여러 상황을 봤죠.
메달은 순열, 세트 메뉴는 조합.
비밀번호는 순열, 로또는 조합.
방문 순서는 순열, 대표 선발은 조합.
이것들을 하나로 꿰는 질문이 뭘까요?
제가 여러 번 말씀드린 표현이 있어요.
"자리를 바꾸면 어떻게 되는가"입니다.
금메달과 은메달을 바꾸면? 다른 결과죠.
세트에 들어간 두 메뉴를 바꾸면? 같은 세트죠.
이걸 질문 형태로 한 문장으로 만들어 보세요.
답에 "순서" 또는 "자리를 바꾸면"이라는 표현이 들어가야 합니다.
이 문제는 2.4절 전체를 한 문장으로 압축하는 문제입니다.
이런 문제를 풀 때는 지금까지 본 예제들을 다 떠올려서 공통점을 찾으세요.
메달, 비밀번호, 방문 순서는 순열이었고요.
세트 메뉴, 로또, 대표 선발은 조합이었습니다.
이 둘을 가르는 하나의 질문이 뭐죠?
여러 사례에서 공통 원리를 뽑아내는 것. 이게 진짜 공부입니다.
사례만 외우면 새로운 문제에서 막히거든요.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"뽑은 것들의 자리를 서로 바꾸면 다른 경우가 되는가?"
달라지면 순열, 같으면 조합입니다.
이 질문 하나로 이 절의 모든 문제가 갈립니다.
몇 개 더 연습해 볼게요.
카드 5장을 받는 포커. 손에 든 카드의 순서가 중요한가요? 아니죠. 조합입니다.
책 다섯 권을 책장에 꽂는 순서. 중요한가요? 네. 순열이죠.
피자 토핑 세 개 고르기. 페퍼로니, 올리브, 버섯 순서가 중요한가요? 아니죠. 조합입니다.
계주 주자 순서 정하기. 중요하죠. 순열입니다.
비밀번호 자물쇠. 순열이고요. 참고로 여기는 중복도 허용되니까 중복 순열입니다.
이렇게 연습해 보시면 감이 잡혀요.
그리고 헷갈릴 때 쓰는 방법이 하나 더 있습니다.
작은 수로 직접 세어 보는 거예요.
원소 세 개로 두 개를 뽑는다고 치고, 문제 상황에서 (A,B)와 (B,A)가 같은 건지 다른 건지 판단해 보세요.
같으면 조합이고 다르면 순열입니다.
3초면 됩니다. 그리고 공식을 잘못 쓰는 것보다 훨씬 안전해요.
시험에서 헷갈리면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78번, 주관식입니다.
"무차별 문자열 매칭을 개선한 알고리즘 두 가지를 시간 복잡도와 함께 쓰시오."
33번에서 무차별 방식이 O(n×m)이라고 했죠.
이게 느려서 사람들이 개선했습니다. 두 가지가 유명해요.
수업에서 이름이 나왔습니다. 떠올려 보세요.
하나는 세 글자 약자예요. 만든 사람 세 명의 이름 앞글자를 딴 겁니다.
다른 하나는 두 사람 이름을 붙인 거고요.
그리고 각각의 시간 복잡도도 함께 써야 합니다.
하나는 곱하기가 더하기로 바뀌었고요.
다른 하나는 나누기가 됐습니다. 패턴이 길수록 빨라지는 신기한 알고리즘이에요.
두 개를 이름과 복잡도까지 짝지어 쓰세요.
이 문제는 개선 방향을 아는지를 묻습니다.
완전 탐색이 기준선이고, 거기서 뭘 개선했는지를 알아야 해요.
그리고 시간 복잡도까지 짝지어 외우셔야 합니다.
O(nm)에서 O(n+m)으로 가는 게 얼마나 큰 개선인지 숫자로 느껴 보세요.
n이 100만이고 m이 1,000이면요.
O(nm)은 10억이고 O(n+m)은 100만입니다. 천 배 차이예요.
곱하기가 더하기가 되면 이런 일이 벌어집니다.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KMP는 O(n+m), 보이어-무어는 O(n/m).
두 알고리즘이 어떻게 빨라졌는지 감만 잡고 갈게요. 자세한 건 12장에서 배웁니다.
KMP부터요. Knuth, Morris, Pratt 세 사람의 이름을 딴 겁니다.
무차별 방식의 낭비가 뭐였죠? 한 글자 틀리면 시작 위치를 한 칸만 옮기고 처음부터 다시 비교합니다.
그런데 앞에서 이미 여러 글자를 맞춰 봤잖아요. 그 정보를 버리는 게 낭비예요.
KMP는 그 정보를 저장해 뒀다가 몇 칸을 건너뛸 수 있는지 계산합니다. 그래서 텍스트를 한 번만 훑고 끝나요. O(n+m)입니다.
보이어-무어는 발상이 다릅니다.
패턴을 뒤에서부터 비교해요. 마지막 글자부터 맞춰 봅니다.
그러면 안 맞았을 때 여러 칸을 한 번에 건너뛸 수 있어요. 텍스트의 그 글자가 패턴에 아예 없으면 패턴 길이만큼 통째로 점프합니다.
그래서 평균 O(n/m)이에요. 패턴이 길수록 더 많이 건너뛰니까 빨라집니다.
여기서 배울 점이 있어요.
같은 문제를 푸는데 발상 하나로 O(nm)이 O(n+m)이 되고 O(n/m)까지 갑니다.
1장에서 최대공약수로 백만 배 차이를 봤죠. 여기서도 같은 얘기예요. 알고리즘은 아이디어입니다.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79번입니다.
"가장 가까운 두 수를 찾는 문제를 분할 정복으로 개선하면 시간 복잡도가 어떻게 되는지 쓰시오."
35번에서 이 문제를 완전 탐색으로 풀었죠. O(n²)이었습니다.
모든 쌍을 다 봐야 하니까요.
그런데 이걸 더 빠르게 할 수 있습니다.
분할 정복이 뭐죠? 문제를 반으로 쪼개서 각각 풀고 합치는 겁니다.
여기서는 이렇게 합니다.
점들을 반으로 나눕니다. 왼쪽 절반, 오른쪽 절반.
왼쪽에서 가장 가까운 쌍을 찾고요.
오른쪽에서도 찾습니다.
그리고 경계 부근만 따로 확인해요. 왼쪽 하나와 오른쪽 하나가 짝인 경우요.
이렇게 하면 훨씬 적은 쌍만 봐도 됩니다.
문제를 반씩 쪼개는 알고리즘의 시간 복잡도가 보통 뭐가 되죠?
정렬에서 많이 보셨을 겁니다.
이 문제는 완전 탐색이 끝이 아니라는 걸 보여 줍니다.
O(n²)이 나왔다고 해서 그게 이 문제의 한계는 아니에요.
문제의 구조를 이용하면 더 빠른 방법이 있습니다.
그러면 완전 탐색은 왜 배우냐고요?
첫째, 일단 맞는 답을 얻습니다.
둘째, 개선한 코드를 검증할 기준이 됩니다.
셋째, 만들다 보면 개선 아이디어가 보입니다.
먼저 맞게 만들고 그다음에 빠르게 만드는 것. 이 순서가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O(n log n)입니다.
완전 탐색이 O(n²)이었는데 O(n log n)까지 내려갑니다.
왜 log n이 나오냐면요. 문제를 반씩 쪼개니까 쪼개는 깊이가 log n이거든요.
그리고 각 깊이에서 n에 비례하는 일을 하니까 n × log n 이 됩니다.
병합 정렬이랑 똑같은 구조예요. 4장에서 제대로 배웁니다.
숫자로 얼마나 좋아지는지 볼게요. n이 100만이라고 하면요.
O(n²)은 1조 번입니다. 못 돌립니다.
O(n log n)은 100만 × 20 = 2천만 번이에요. 1초 안에 끝납니다.
5만 배 차이입니다.
여기서 중요한 걸 짚고 갈게요.
완전 탐색으로 O(n²)이 나왔다고 해서 그게 이 문제의 한계는 아니라는 겁니다.
문제 자체의 구조를 이용하면 더 빠른 방법이 있어요.
그러면 완전 탐색은 왜 배우냐고요?
첫째, 일단 맞는 답을 얻습니다. 개선은 그다음이에요.
둘째, 개선한 코드가 맞는지 검증할 기준이 됩니다.
셋째, 문제 구조를 이해하는 과정에서 개선 아이디어가 나옵니다.
실제로 최근접 쌍 문제도 완전 탐색으로 모든 쌍을 보다가 "가까운 점끼리만 보면 되지 않나"에서 분할 정복이 나온 거예요.
2.7절에서 이 얘기를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80번입니다.
"부분집합 생성 코드에서 i &amp; (1 &lt;&lt; j) 가 검사하는 내용을 한 문장으로 쓰시오."
38번, 39번에서 비트 연산을 봤죠. 이번엔 조합된 형태입니다.
두 부분으로 나눠서 보세요.
먼저 1 &lt;&lt; j 가 뭐죠? 39번에서 배웠어요. 2의 j승입니다.
이진수로 보면 j번째 자리만 1이고 나머지는 다 0인 수예요.
j가 0이면 001, j가 1이면 010, j가 2면 100이죠.
그다음 &amp; 가 뭐죠? and 연산입니다. 두 비트가 다 1일 때만 1이 나와요.
그러면 i &amp; (1 &lt;&lt; j) 를 하면 어떻게 될까요?
1 &lt;&lt; j 는 j번째 자리만 1이잖아요. 나머지 자리는 0이니까 and 하면 다 0이 됩니다.
j번째 자리만 남아요.
i의 j번째 비트가 1이면 결과가 0이 아니고, 0이면 결과가 0입니다.
그러니까 이게 뭘 검사하는 거죠?
비트 연산자를 정리하고 갑시다.
&amp; 는 and 입니다. 둘 다 1일 때만 1이에요.
| 는 or 입니다. 하나라도 1이면 1이고요.
^ 는 xor 입니다. 다르면 1이에요.
&lt;&lt; 와 &gt;&gt; 는 왼쪽, 오른쪽 시프트고요.
이 다섯 개면 대부분의 비트 조작을 할 수 있습니다.
그리고 우선순위 문제가 있어요. 파이썬에서 == 가 &amp; 보다 높습니다.
그래서 괄호를 넉넉하게 치는 게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"i를 이진수로 보았을 때 j번째 비트가 1인지 확인한다."
예로 확인해 볼게요. i가 5, j가 2인 경우입니다.
i는 이진수로 101이고요.
1 &lt;&lt; 2 는 100입니다.
101 &amp; 100 을 하면 100이 나와요. 십진수로 4죠.
0이 아니니까 참입니다. 2번 비트가 1인 게 맞습니다.
이번엔 j가 1인 경우요.
101 &amp; 010 을 하면 000입니다. 0이죠.
거짓입니다. 1번 비트가 0인 게 맞습니다.
파이썬에서 0은 거짓이고 0이 아니면 참이니까 if 문에 그대로 넣을 수 있어요.
여기서 헷갈리기 쉬운 걸 짚고 갈게요.
결과가 1이 아니라 2의 j승이 나옵니다. j가 2면 4가 나와요.
그래서 if i &amp; (1 &lt;&lt; j) == 1 이라고 쓰면 틀립니다. j가 0일 때만 맞아요.
그냥 if i &amp; (1 &lt;&lt; j) 라고 쓰거나, if i &amp; (1 &lt;&lt; j) != 0 이라고 써야 합니다.
이거 실제로 자주 하는 실수예요.
그리고 비트 연산자와 비교 연산자의 우선순위 문제도 있습니다. 파이썬에서 == 가 &amp; 보다 우선순위가 높아요. 그래서 괄호를 안 치면 의도와 다르게 동작합니다.
헷갈리면 괄호를 넉넉하게 치세요. 그게 제일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81번입니다.
"길이 n인 텍스트에서 길이 m인 패턴을 무차별 매칭할 때, 최선의 경우 비교 횟수를 n과 m으로 쓰시오."
33번에서 최악의 경우를 봤죠. (n−m+1) × m 이었습니다.
이번엔 최선입니다.
최선이 언제일까요?
각 시작 위치에서 비교를 최소로 하는 경우예요.
34번에서 break를 배웠죠. 한 글자라도 틀리면 바로 빠져나갑니다.
그러면 최소 비교는 몇 번이죠? 한 번입니다. 첫 글자에서 바로 틀리는 경우요.
예를 들어 텍스트가 aaaaaa이고 패턴이 bbb라고 해보세요.
모든 위치에서 첫 글자 a와 b를 비교하고 바로 실패합니다.
각 위치에서 한 번씩만 비교하는 거죠.
그러면 시작 위치가 몇 개죠? 31번에서 구했어요.
곱하시면 됩니다. 각 위치에서 한 번씩이니까 그냥 위치 개수예요.
최선과 최악을 같이 보는 습관을 들이세요.
한쪽만 보면 알고리즘의 성격을 반쯤만 아는 겁니다.
최선과 최악의 차이가 크면 입력에 민감한 알고리즘이고요.
차이가 없으면 안정적인 알고리즘입니다.
무차별 문자열 매칭은 차이가 m배나 나죠. 입력에 아주 민감합니다.
그래서 어떤 입력이 들어오느냐가 성능을 크게 좌우해요.
이런 성질을 알아야 실제로 쓸지 말지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 m + 1회입니다.
시작 위치가 n−m+1개이고 각 위치에서 첫 글자만 비교하고 실패하니까요.
최악과 최선을 나란히 놓고 볼게요.
최악은 (n−m+1) × m 회입니다. 각 위치에서 m번씩 비교하는 경우죠.
최선은 (n−m+1) × 1 회고요.
차이가 m배입니다.
최악이 언제 나오냐면요. 패턴의 마지막 글자에서만 어긋나는 경우예요.
텍스트가 aaaaaaaab, 패턴이 aab 같은 경우입니다. 매번 앞의 두 글자는 맞고 마지막에서 틀리죠.
이런 입력을 일부러 만들 수도 있어요. 그래서 무차별 매칭은 최악의 경우를 대비해야 합니다.
그런데 실제로는요?
일상적인 텍스트에서는 첫 글자에서 걸러지는 경우가 대부분입니다. 그래서 평균적으로는 최선에 가까워요.
무차별 매칭이 O(n×m)인데도 실무에서 종종 쓰이는 이유가 이겁니다. 평균이 O(n)에 가깝거든요.
1장에서 배운 최선, 평균, 최악의 구분이 여기서 실제로 의미를 갖습니다.
빅오만 보면 O(nm)이라 나빠 보이는데, 평균을 보면 쓸 만하다는 거죠.
그래서 알고리즘을 고를 때 최악만 보면 안 됩니다. 실제 입력이 어떤지도 봐야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82번입니다.
"가장 가까운 두 수를 찾는 코드에서 best 변수가 담고 있는 값이 무엇인지 한 문장으로 쓰시오."
35번 코드를 다시 떠올려 보세요.
min_diff와 best 두 변수가 있었죠.
min_diff는 지금까지의 최소 차이를 담고요.
best는 그때의 두 수를 담습니다.
코드에서 이렇게 되어 있었어요.
if diff &lt; min_diff:
    min_diff = diff
    best = (arr[i], arr[j])
둘이 짝으로 갱신됩니다.
자, best는 반복이 도는 중간중간 어떤 값을 갖고 있을까요?
전체 최적값일까요? 아니죠. 아직 다 안 봤으니까요.
지금까지 본 것들 중에서 가장 좋은 값입니다.
그리고 반복이 다 끝나면 그게 전체 최적값이 되는 거고요.
이걸 한 문장으로 쓰세요.
"지금까지"라는 표현이 들어가는 게 중요합니다.
이 패턴을 최적화 문제의 3종 세트라고 기억하세요.
초기화, 비교, 갱신입니다.
그리고 짝으로 움직이는 변수들이 있으면 반드시 같이 갱신해야 합니다.
min_diff만 바꾸고 best를 안 바꾸면 값은 맞는데 그 값이 어디서 나왔는지가 틀려요.
이게 실제로 자주 나는 버그입니다.
그래서 최적값과 그 위치를 함께 저장할 때는 두 줄을 항상 붙여서 쓰는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"지금까지 검사한 쌍 중에서 차이가 가장 작았던 두 수의 쌍이다."
핵심은 지금까지라는 표현이에요.
반복이 도는 도중에는 전체 최적값이 아닙니다. 그때까지의 최적값이죠.
반복이 다 끝나야 비로소 전체 최적값이 됩니다.
이런 변수를 실무에서 뭐라고 부르냐면요. 누적 최적값이라고 합니다. 영어로는 running best 또는 current best예요.
running이 달리는 중이라는 뜻이잖아요. 진행 중인 최적값이라는 뜻입니다.
이 패턴이 최적화 문제에서 항상 나옵니다.
블랙잭 문제의 best도 같고요.
1장 최대값 찾기의 largest도 같습니다.
2.3절 템플릿의 best_solution도 같고요.
세 가지가 세트로 움직입니다.
첫째, 초기화. 어떤 값보다도 나쁜 값으로 시작합니다. 무한대나 0이요.
둘째, 비교. 새 후보가 지금 것보다 나은지 봅니다.
셋째, 갱신. 나으면 바꿉니다.
그리고 여기서 흔한 버그를 하나 알려드릴게요.
min_diff만 갱신하고 best를 갱신하는 걸 빼먹는 겁니다.
그러면 최소 차이는 맞게 나오는데 그 쌍이 엉뚱한 게 나와요.
짝으로 움직이는 변수는 짝으로 갱신하세요. 이거 실제로 자주 나는 실수입니다.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83번입니다. 2.5절 마지막 문제예요.
"원소가 10개인 집합의 부분집합 개수를 쓰시오."
37번에서 공식을 배웠죠. 2ⁿ입니다.
n에 10을 넣으면 되겠네요.
2의 10승이 얼마죠?
이건 외워 두시면 좋습니다. 컴퓨터 쪽에서 계속 나오는 숫자예요.
2, 4, 8, 16, 32, 64, 128, 256, 512, 1024.
열 번 곱했죠.
그래서 2의 10승은 1,024입니다.
이 숫자가 왜 중요하냐면요. 1킬로바이트가 1,024바이트잖아요. 그게 2의 10승이에요.
그리고 대략 천이라고 기억하시면 편합니다. 2의 10승은 약 천이에요.
이걸 기준으로 2의 20승은 약 백만, 2의 30승은 약 십억이라고 계산할 수 있습니다.
답을 쓰세요.
2의 거듭제곱은 몇 개 외워 두시면 평생 씁니다.
2¹⁰ = 1,024. 약 천입니다.
2²⁰ = 약 백만.
2³⁰ = 약 10억.
이 세 개만 알면 나머지는 곱해서 만들 수 있어요.
2²⁵는 2²⁰ 곱하기 2⁵니까 백만 곱하기 32, 약 3,200만이죠.
이렇게 쪼개서 계산하면 큰 지수도 암산이 됩니다.
컴퓨터 쪽 일을 하시면 이 숫자들을 계속 만나게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1,024개입니다.
2¹⁰ = 1,024죠.
여기서 꼭 외워 두실 세 가지를 드릴게요. 이 장 후반부에서 계속 씁니다.
2의 10승은 1,024. 약 천입니다.
2의 20승은 1,048,576. 약 백만이고요.
2의 30승은 약 10억입니다.
10씩 늘어날 때마다 약 1,000배가 돼요.
이걸 알면 어떤 계산이 가능하냐면요.
원소가 25개인 집합의 부분집합은요? 20승이 백만이고 5승이 32니까 약 3,200만입니다.
원소가 40개면요? 30승이 10억이고 10승이 천이니까 약 1조입니다.
이렇게 나눠서 계산하면 큰 수도 암산으로 어림잡을 수 있어요.
그리고 실무 판단에도 씁니다.
부분집합을 다 만드는 완전 탐색은 원소가 20개까지가 한계예요. 100만이면 감당되니까요.
25개면 3,200만이라 슬슬 느려지고요.
30개면 10억이라 못 씁니다.
그래서 문제에 "N은 20 이하"라고 적혀 있으면 그건 사실상 "부분집합 완전 탐색을 쓰라"는 힌트예요.
코딩 테스트에서 입력 제한이 이런 힌트 역할을 합니다. 2.8절에서 다시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84번, 주관식입니다.
"조합적 폭발의 세 가지 대표 유형을 빅오 표기로 쓰시오."
42번에서 다항 시간을 다뤘죠. 이번엔 세 개를 다 쓰는 겁니다.
수업 슬라이드에서 세 가지를 나란히 보여드렸어요.
첫째, 반복문을 중첩할 때 나오는 것. 이중, 삼중 for문이죠.
둘째, 포함할지 말지를 반복해서 선택할 때 나오는 것. 부분집합이요.
셋째, 순서를 나열할 때 나오는 것. 순열, 외판원 순회고요.
각각을 빅오로 어떻게 쓰죠?
첫째는 n의 k제곱이니까 O(nᵏ).
둘째는 2를 n번 곱하니까 O(2ⁿ).
셋째는 팩토리얼이니까 O(n!).
세 개를 순서대로 쓰세요.
증가 속도가 느린 것부터 쓰시면 됩니다.
세 유형을 외울 때 대표 문제와 함께 묶으세요.
O(nᵏ)은 모든 쌍 비교, 삼중 반복문.
O(2ⁿ)은 부분집합, 배낭 문제.
O(n!)은 순열, 외판원 순회.
이렇게 짝지어 놓으면 문제를 보고 유형을 바로 판단할 수 있습니다.
"이거 부분집합 문제네. 그럼 2ⁿ이고 n이 20 이하여야 하겠다."
이런 판단이 3초 안에 나와야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O(nᵏ), O(2ⁿ), O(n!).
각각 어디서 나오는지 다시 정리할게요.
O(nᵏ)은 다항 시간입니다. 반복문 k겹 중첩에서 나와요. 대표 예가 모든 쌍 비교, 삼중 반복문이고요.
O(2ⁿ)은 지수 시간입니다. 포함과 비포함의 선택이 반복될 때 나와요. 부분집합, 배낭 문제가 대표적입니다.
O(n!)은 팩토리얼 시간이고요. 순서를 나열할 때 나옵니다. 순열, 외판원 순회, 줄 세우기죠.
n=20에서의 값도 같이 외워 두세요.
O(n²)이면 400.
O(2ⁿ)이면 약 100만.
O(n!)이면 약 2.4 × 10¹⁸.
세 단계가 확연히 다릅니다.
그리고 실무 판단 기준도 정리하면요.
다항 시간은 n이 수백에서 수천까지 감당됩니다.
지수 시간은 n이 20 정도까지고요.
팩토리얼은 n이 10 정도까지입니다.
이 세 줄을 외워 두시면 문제를 보자마자 판단이 섭니다.
"이건 부분집합 문제네. 2ⁿ이고, n이 15니까 3만 정도. 가능하다."
이런 판단이 3초 만에 나와야 합니다. 그게 코딩 테스트에서 시간을 벌어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85번입니다.
"n = 5 일 때 n!, 2ⁿ, nⁿ 의 값을 각각 쓰시오."
세 가지를 작은 수에서 비교해 보는 문제예요.
하나씩 계산하시면 됩니다.
n! 은 5!이니까 5 × 4 × 3 × 2 × 1 이죠.
2ⁿ은 2⁵니까 2를 다섯 번 곱하고요.
nⁿ은 5⁵니까 5를 다섯 번 곱합니다.
암산으로 다 됩니다.
5!부터요. 5 × 4는 20, × 3은 60, × 2는 120, × 1은 120이죠.
2⁵는요? 2, 4, 8, 16, 32입니다.
5⁵는요? 5, 25, 125, 625, 3125고요.
세 개를 다 쓰세요.
그리고 크기 순서도 확인해 보세요. n=5에서는 어느 게 제일 크죠?
작은 n에서 계산해 보는 게 왜 중요하냐면요.
증가 속도를 눈으로 확인할 수 있기 때문입니다.
n=5에서 세 값을 구하고, n=10에서 다시 구해 보세요.
어느 게 얼마나 빨리 커지는지가 보입니다.
그리고 순서가 뒤집히는 지점도 찾을 수 있고요.
공식만 외우면 감이 안 옵니다. 숫자를 직접 만들어 봐야 몸에 익어요.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n! = 120, 2ⁿ = 32, nⁿ = 3,125.
n=5에서는 nⁿ이 가장 크고 2ⁿ이 가장 작습니다.
그런데 여기서 중요한 걸 짚고 갈게요.
이 순서가 계속 유지될까요?
nⁿ은 계속 제일 큽니다. n! 보다 항상 커요. 왜냐면 n을 n번 곱하는 게 1부터 n까지 곱하는 것보다 크니까요.
그런데 n! 과 2ⁿ의 관계는 달라집니다.
n=1이면 1과 2. 2ⁿ이 큽니다.
n=2면 2와 4. 2ⁿ이 큽니다.
n=3이면 6과 8. 2ⁿ이 큽니다.
n=4면 24와 16. 여기서 역전됩니다.
n=5면 120과 32. n! 이 훨씬 큽니다.
n=10이면 360만과 1,024. 비교가 안 됩니다.
n=4에서 뒤집히는 거예요.
이게 왜 중요하냐면요.
작은 값 몇 개만 보고 "2ⁿ이 더 크네" 하고 판단하면 틀린다는 겁니다.
증가 속도를 비교할 때는 충분히 큰 n에서 봐야 해요. 이게 1장에서 배운 점근의 관점입니다.
빅오가 큰 n에서의 행동만 보는 이유가 이거예요.
시험에서 "n이 작을 때와 클 때 순서가 뒤바뀌는 예를 들어라" 같은 문제가 나올 수 있습니다. n! 과 2ⁿ이 좋은 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86번입니다.
"각 자리가 0~9인 8자리 비밀번호의 경우의 수를 쓰시오."
3번에서 4자리를 구했죠. 10,000이었습니다.
이번엔 8자리예요.
자리마다 10가지가 곱해지니까 10을 여덟 번 곱하면 됩니다.
10⁸ 이죠.
10의 거듭제곱은 0의 개수로 세면 편합니다.
10¹은 10. 0이 하나.
10²는 100. 0이 둘.
10⁸은 0이 여덟 개입니다.
100,000,000이죠.
이걸 우리말로 뭐라고 하죠?
만이 10⁴, 억이 10⁸입니다.
그러니까 1억이에요.
답을 쓰시고, 이게 완전 탐색으로 감당 가능한 크기인지도 생각해 보세요.
이 계산은 실생활과 바로 연결됩니다.
여러분이 쓰는 비밀번호가 몇 자리인지, 그게 얼마나 안전한지를 계산해 보세요.
그리고 문자를 섞으면 어떻게 되는지도요.
숫자만 8자리면 1억입니다.
소문자까지 섞으면 36의 8승, 약 2.8조예요.
대소문자와 특수문자까지면 90의 8승, 약 4,300조고요.
같은 8자리인데 4천만 배 차이입니다.
배운 걸 자기 생활에 적용해 보면 훨씬 오래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1억 가지입니다. 10⁸이죠.
자, 이게 감당 가능한 크기일까요?
경우에 따라 다릅니다.
요즘 컴퓨터가 초당 1억 번 정도 기본 연산을 하니까, 단순한 검사라면 1초쯤 걸려요. 가능합니다.
그런데 각 시도마다 네트워크 요청을 보내야 한다면요? 초당 1만 번 정도밖에 못 합니다.
1억 나누기 1만은 1만 초, 약 3시간이에요.
수업 슬라이드에 나온 숫자가 이겁니다. 8자리에 초당 1만 번이면 약 3시간.
여기서 실무 감각을 하나 드릴게요.
같은 경우의 수라도 한 번 확인하는 데 걸리는 시간에 따라 결과가 완전히 달라집니다.
메모리 안에서 숫자 비교만 하면 나노초 단위입니다.
디스크를 읽으면 밀리초 단위고요.
네트워크를 타면 수십 밀리초입니다.
백만 배씩 차이가 나요.
그래서 경우의 수만 보고 판단하면 안 되고, 한 번 확인하는 비용도 같이 봐야 합니다.
코딩 테스트에서는 대부분 메모리 안에서 계산하니까 초당 1억 번 기준으로 잡으시면 됩니다.
그런데 실무에서 데이터베이스를 조회하거나 API를 호출하는 반복문이라면 기준이 완전히 달라져요. 이건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87번입니다.
"원소가 30개인 집합의 부분집합 개수는 대략 얼마인지 쓰시오."
83번에서 원소 10개면 1,024개라고 했죠.
이번엔 30개입니다.
2³⁰을 구해야 하는데, 직접 곱하면 힘드니까 쪼개서 계산합니다.
2¹⁰이 약 천이라고 했죠. 정확히는 1,024지만 약 천으로 봅니다.
그러면 2³⁰은요?
2³⁰ = 2¹⁰ × 2¹⁰ × 2¹⁰ 이죠.
약 천 × 천 × 천입니다.
천 곱하기 천은 백만이고요.
백만 곱하기 천은 십억입니다.
그러니까 약 10억이에요.
정확히는 1,073,741,824입니다. 약 10.7억이죠.
이렇게 2¹⁰을 단위로 쪼개면 큰 지수도 암산이 됩니다.
답을 쓰세요.
이런 큰 수 계산은 2¹⁰을 단위로 쪼개세요.
2³⁰ = 2¹⁰ × 2¹⁰ × 2¹⁰ 이고, 각각이 약 천이니까 천의 세제곱, 10억입니다.
2²⁵는요? 2²⁰ × 2⁵ 니까 백만 곱하기 32, 3,200만이고요.
이렇게 아는 값으로 쪼개면 어떤 지수든 어림잡을 수 있습니다.
정확한 값이 필요한 게 아니라 자릿수만 알면 되니까요.
실전에서는 이 정도면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10억 개입니다. 2³⁰ ≈ 1.07 × 10⁹ 이죠.
여기서 규모의 변화를 정리해 볼게요.
원소 10개면 약 천 개.
원소 20개면 약 백만 개.
원소 30개면 약 10억 개.
원소 40개면 약 1조 개.
원소가 10개 늘 때마다 약 1,000배씩 늘어납니다.
이게 왜 무서우냐면요.
원소 20개짜리 문제를 풀었어요. 100만 번이니까 1초도 안 걸립니다. 잘 돌아가요.
그런데 데이터가 늘어서 30개가 됐어요. 원소가 열 개 늘었을 뿐인데 10억 번이 됩니다. 수십 초 걸려요.
40개가 되면 1조 번, 몇 시간입니다.
원소 스무 개 차이로 1초가 몇 시간이 되는 거예요.
그래서 실무에서 이런 기준을 씁니다.
부분집합 완전 탐색은 n이 20 이하일 때만 씁니다.
n이 25면 3,200만 번이라 슬슬 위험하고요.
n이 30을 넘으면 다른 방법을 찾아야 해요.
다른 방법이 뭐냐면요. 동적 계획법입니다.
배낭 문제를 예로 들면 완전 탐색은 O(2ⁿ)인데 동적 계획법은 O(NW)입니다. 물건 개수와 배낭 용량의 곱이죠.
물건이 100개고 용량이 1,000이면 10만 번입니다. 2¹⁰⁰과는 비교가 안 되죠.
6장에서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88번입니다.
"도시가 10개인 외판원 순회 문제에서 확인해야 할 방문 순서의 개수를 쓰시오."
46번에서 TSP가 O(n!)이라고 했죠.
n에 10을 넣으면 10! 입니다.
44번에서 이미 계산했어요. 3,628,800이죠. 약 360만입니다.
이 숫자를 쓰시면 됩니다.
그리고 이게 감당 가능한지도 생각해 보세요.
360만 번이면 요즘 컴퓨터로 몇 초 안에 됩니다. 가능한 수준이에요.
그런데 각 경로마다 거리를 계산해야 하잖아요. 도시 10개면 10번 더해야 하니까 실제로는 3,600만 번 정도 연산이 필요합니다.
그래도 1초 내외입니다. 아직 괜찮아요.
그러면 20개면요? 2.4 × 10¹⁸ 이니까 770년입니다.
10개와 20개 사이 어디서 무너지는지도 감을 잡아 두세요.
이 값과 앞의 값들을 나란히 놓고 보세요.
10! = 360만.
2²⁰ = 100만.
20³ = 8,000.
같은 규모의 n인데 유형에 따라 이렇게 다릅니다.
그리고 n을 조금 키우면 차이가 폭발하고요.
이 감각이 있으면 문제를 보자마자 "이건 되겠다, 저건 안 되겠다"가 나옵니다.
계산을 다 안 해도 유형만 보고 판단할 수 있게 되는 거죠.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3,628,800가지입니다. 10! 이죠. 약 360만 가지고요.
이 정도면 완전 탐색이 가능합니다. 몇 초면 끝나요.
그러면 어디서부터 안 될까요? 하나씩 볼게요.
10! 약 360만. 몇 초. 가능합니다.
11! 약 4천만. 수십 초. 슬슬 힘듭니다.
12! 약 4.8억. 몇 분. 위험해요.
13! 약 62억. 한 시간 넘습니다.
15! 약 1.3조. 며칠 걸려요.
20! 약 2.4경. 770년입니다.
10에서 12 사이가 경계선입니다.
한 개 늘 때마다 곱해지는 배수가 커지니까 순식간에 무너져요.
10에서 11로 갈 때 11배, 11에서 12로 갈 때 12배입니다.
이게 팩토리얼의 무서운 점이에요.
2ⁿ은 매번 2배씩만 늘어나는데, n! 은 늘어나는 배수 자체가 커집니다.
그래서 실무 기준이 이렇습니다.
O(n!) 완전 탐색은 n이 10 정도까지입니다. 주관식 91번에서 다시 물어봅니다.
그리고 이 한계 때문에 TSP를 푸는 다른 방법들이 발전했어요.
동적 계획법을 쓰면 O(2ⁿ × n²)까지 줄어서 n이 20 정도까지 갑니다.
그것도 안 되면 근사 알고리즘으로 정확한 답을 포기하고 충분히 좋은 답을 빠르게 구합니다.
10장, 11장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89번입니다.
"부분집합을 만드는 문제에서 원소가 하나 늘어나면 경우의 수는 몇 배가 되는지 쓰시오."
43번에서 2ⁿ이 나오는 이유를 배웠죠.
각 원소마다 넣을지 말지 두 갈래 선택이 있다고 했습니다.
그러면 원소가 하나 늘면 어떻게 될까요?
기존의 모든 부분집합 각각에 대해, 새 원소를 넣은 버전과 안 넣은 버전이 생깁니다.
예를 들어 {A, B}의 부분집합이 네 개였어요. 공집합, {A}, {B}, {A,B}.
여기에 C를 추가하면요?
기존 네 개는 그대로 남고요. C를 안 넣은 경우죠.
거기에 C를 넣은 네 개가 새로 생깁니다. {C}, {A,C}, {B,C}, {A,B,C}.
합쳐서 여덟 개예요.
네 개에서 여덟 개. 몇 배죠?
간단하게 답하시면 됩니다.
지수와 팩토리얼의 차이를 여기서 확실히 하고 갑시다.
지수는 늘어나는 배수가 고정입니다. 2ⁿ은 항상 2배죠.
팩토리얼은 배수가 계속 커집니다. n에서 n+1로 갈 때 (n+1)배예요.
그래서 결국 팩토리얼이 어떤 지수보다도 빨리 커집니다.
이 성질을 알면 값을 다 계산하지 않고도 크기를 비교할 수 있어요.
n이 충분히 크면 n! 이 2ⁿ보다 크다. 이건 항상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2배입니다.
새 원소를 포함하는 경우와 포함하지 않는 경우로 정확히 갈라지니까요.
숫자로 확인할게요.
원소 0개면 부분집합 1개. 공집합뿐이죠.
1개면 2개.
2개면 4개.
3개면 8개.
4개면 16개.
계속 두 배씩입니다. 그래서 2ⁿ이에요.
여기서 다른 유형과 비교해 볼게요.
부분집합은 원소가 하나 늘면 2배입니다. 고정이에요.
순열은 n에서 n+1로 갈 때 (n+1)배입니다. 배수가 계속 커져요.
비밀번호 자릿수는 하나 늘면 10배고요. 이것도 고정입니다.
배수가 고정인 것과 커지는 것의 차이가 지수와 팩토리얼의 차이예요.
지수는 배수가 고정입니다. 2ⁿ은 항상 2배, 10ⁿ은 항상 10배죠.
팩토리얼은 배수가 커집니다. 그래서 결국 어떤 지수보다도 빨리 커져요.
이걸 알면 두 가지 예측이 가능합니다.
첫째, n이 충분히 크면 n! 이 항상 2ⁿ보다 큽니다.
둘째, 그 뒤집히는 지점이 n=4 근처입니다. 85번에서 확인했죠.
이런 성질을 알아 두시면 시험에서 값을 다 계산하지 않고도 크기 비교를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90번입니다.
"O(2ⁿ) 완전 탐색을 현실적으로 시도해 볼 수 있는 n의 대략적인 상한을 쓰시오."
실무 기준선을 묻는 문제예요.
계산해 봅시다.
우리가 감당할 수 있는 연산 횟수가 대략 수백만에서 수천만이라고 했죠.
2ⁿ이 백만 정도가 되는 n은 얼마일까요?
2²⁰이 약 백만이었습니다. 83번, 87번에서 계속 나왔죠.
그러면 n이 20이면 백만 번. 안전합니다.
n이 25면요? 2²⁵는 2²⁰ 곱하기 2⁵니까 백만 곱하기 32, 약 3,200만입니다. 슬슬 느려져요.
n이 30이면요? 약 10억입니다. 위험합니다.
그러면 상한을 어디로 잡아야 할까요?
수업 슬라이드에서도 이 기준이 나왔습니다. 배낭 문제에서 N이 20 이하면 완전 탐색 가능하다고 했죠.
답을 쓰세요.
이 기준선을 외워 두시는 게 이 절에서 제일 실용적입니다.
문제의 입력 제한이 곧 힌트예요.
"N은 20 이하"라고 적혀 있으면 출제자가 "부분집합 완전 탐색으로 풀어라"라고 말하는 겁니다.
"N은 10 이하"면 순열을 쓰라는 뜻이고요.
"N은 100,000 이하"면 O(n log n) 이하로 만들라는 뜻입니다.
문제를 읽을 때 제한 조건을 먼저 보세요. 거기에 답이 절반쯤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20입니다.
2²⁰ ≈ 100만이라 수백만 번 수준이고, 이건 대체로 통과합니다.
기준을 정리해 드릴게요.
n = 20 이면 약 100만. 안전합니다.
n = 25 면 약 3,200만. 보통 가능하지만 각 검사가 무거우면 위험해요.
n = 30 이면 약 10억. 대부분 시간 초과입니다.
그래서 문제에 "N은 20 이하"라고 적혀 있으면 그게 힌트예요.
출제자가 "부분집합 완전 탐색으로 풀어라"라고 말하고 있는 겁니다.
코딩 테스트에서 입력 제한이 이런 힌트 역할을 합니다. 정리해 드릴게요.
N ≤ 10 정도면 순열, O(n!)을 쓰라는 뜻입니다.
N ≤ 20 정도면 부분집합, O(2ⁿ)이고요.
N ≤ 100 정도면 삼중 반복문, O(n³)입니다.
N ≤ 1,000 정도면 이중 반복문, O(n²)이고요.
N ≤ 100,000 이면 O(n log n) 이하를 요구하는 겁니다.
N ≤ 10,000,000 이면 O(n)이어야 하고요.
이 표를 외워 두세요.
문제를 읽자마자 입력 제한을 보고 이 표에 대입하면 어떤 알고리즘을 써야 하는지 바로 나옵니다.
이게 코딩 테스트에서 제일 유용한 감각입니다. 문제를 다 읽기 전에 방향이 잡히거든요.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91번입니다.
"O(n!) 완전 탐색이 위험해지기 시작하는 n의 대략적인 값을 쓰시오."
90번에서 2ⁿ은 20까지라고 했죠. 이번엔 팩토리얼입니다.
88번에서 계산했던 걸 떠올려 보세요.
10! 은 약 360만. 몇 초면 되죠. 가능합니다.
11! 은 약 4천만. 수십 초. 슬슬 힘들어요.
12! 은 약 4.8억. 몇 분입니다. 위험하죠.
13! 은 약 62억. 한 시간 넘습니다.
그러면 어디가 경계일까요?
10까지는 확실히 되고, 12부터는 확실히 안 됩니다.
그 사이 어디쯤이죠.
수업 슬라이드에서도 기준이 나왔습니다. O(n!)에서 n이 10을 넘으면 위험하다고 했어요.
답을 쓰세요.
그리고 2ⁿ의 20과 비교해 보세요. 절반이죠. 이 차이가 왜 생기는지도 생각해 보시고요.
2ⁿ의 20과 n! 의 10을 짝으로 외우세요.
절반이죠. 이 차이가 팩토리얼이 얼마나 더 가파른지를 보여 줍니다.
그리고 실전에서 이 두 숫자를 계속 씁니다.
순서를 정하는 문제인데 n이 12래요. 그러면 완전 탐색은 위험합니다.
부분집합 문제인데 n이 18이래요. 그러면 가능합니다.
이 판단이 몇 초 안에 나와야 해요.
그러려면 두 숫자를 반사적으로 떠올릴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10입니다.
10! 은 약 360만으로 아직 견딜 만하지만, 12! 은 약 4억 8천만, 15! 은 약 1.3조가 됩니다.
n이 10을 넘어가면 다른 방법을 찾아야 해요.
2ⁿ의 상한이 20이고 n! 의 상한이 10입니다. 정확히 절반이죠.
왜 이렇게 차이가 날까요?
같은 n에서 n! 이 2ⁿ보다 훨씬 크기 때문입니다.
n=10에서 360만 대 1,024. 3,500배 차이죠.
n=20에서는 2조 배가 넘습니다.
그래서 감당 가능한 n이 절반으로 줄어드는 거예요.
여기서 하나 정리하고 갑시다. 세 가지 상한입니다.
O(n!) 은 n ≤ 10.
O(2ⁿ) 은 n ≤ 20.
O(n³) 은 n ≤ 500 정도.
O(n²) 은 n ≤ 10,000 정도.
이 네 줄이 완전 탐색 판단의 핵심입니다.
그리고 실전에서 이렇게 씁니다.
문제를 읽었어요. 순서를 정하는 문제네요. 그러면 n! 입니다.
입력 제한을 봤어요. N이 8이래요. 8! = 40,320. 안전합니다. 완전 탐색으로 가면 됩니다.
만약 N이 15였다면요? 1.3조입니다. 완전 탐색 포기하고 다른 방법을 찾아야 해요.
이 판단이 문제 풀이의 첫 관문입니다. 여기서 방향을 잘못 잡으면 아무리 코드를 잘 짜도 시간 초과가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92번입니다. 2.6절 마지막 문제예요.
"조합적 폭발이 일어난 문제를 더 빠른 컴퓨터로 해결할 수 있는지 답하고, 그 이유를 한 문장으로 쓰시오."
48번에서 20! 이 770년 걸린다고 했죠.
그러면 컴퓨터를 빠른 걸로 바꾸면 될까요?
계산해 봅시다.
100배 빠른 컴퓨터를 쓰면 7.7년입니다. 여전히 못 씁니다.
1만 배 빠르면 28일이에요. 그래도 못 씁니다.
100만 배 빠르면 40분입니다. 겨우 되네요.
그런데 100만 배 빠른 컴퓨터가 있나요? 없죠.
그리고 도시가 하나 더 늘어서 21개가 되면요? 21배가 되니까 다시 원점입니다.
그러니까 하드웨어로는 못 이깁니다.
왜 못 이길까요?
하드웨어 개선은 몇 배로 곱해집니다. 상수배죠.
경우의 수는 지수나 팩토리얼로 늘어납니다.
상수배가 지수를 못 이깁니다.
이걸 답과 이유로 나눠서 쓰세요.
이 문제는 1장의 결론과 같은 얘기입니다.
1장에서 최대공약수로 백만 배 차이를 봤죠. 그때도 컴퓨터를 바꿔서 될 일이 아니라고 했습니다.
여기서도 같은 얘기예요.
하드웨어는 상수배, 알고리즘은 차수.
이 한 문장이 이 과목 전체를 관통합니다.
그리고 이게 여러분이 알고리즘을 배우는 이유이기도 하고요.
돈으로 해결할 수 없는 문제를 아이디어로 해결하는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"해결할 수 없다. 하드웨어 개선은 상수배 효과인데 경우의 수는 지수나 팩토리얼로 늘어나기 때문이다."
핵심은 상수배와 지수의 대결입니다. 상수배는 절대 못 이겨요.
숫자로 다시 확인할게요.
20! 이 770년입니다.
컴퓨터 100대로 나눠서 병렬로 돌리면요? 7.7년이에요.
1만 대로 돌리면 28일이고요.
그런데 도시를 하나만 더하면 21! 이 되어 21배가 됩니다. 1만 대로도 다시 1.6년이 되죠.
컴퓨터를 만 대 늘리는 것보다 도시 하나 늘어나는 게 더 큰 영향을 미치는 겁니다.
이게 조합적 폭발의 본질이에요.
그러면 어떻게 해야 할까요? 세 가지 길이 있습니다.
첫째, 더 좋은 알고리즘을 찾습니다. 차수를 낮추는 거죠. TSP를 동적 계획법으로 O(2ⁿ × n²)까지 줄이는 게 이겁니다.
둘째, 정확한 답을 포기합니다. 근사 알고리즘으로 충분히 좋은 답을 빠르게 구해요. 10장 내용입니다.
셋째, 보장을 포기합니다. 휴리스틱으로 대체로 잘 되는 답을 구하고요. 11장이죠.
그러니까 알고리즘을 배우는 이유가 여기 있습니다.
돈으로 해결할 수 없는 문제를 아이디어로 해결하는 거예요.
1장 첫 시간에 최대공약수로 백만 배 차이를 봤죠. 그때 한 얘기가 여기서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93번, 주관식입니다.
"N-Queens와 스도쿠는 완전 탐색에서 발전한 어떤 기법의 대표 응용인지 쓰시오."
50번에서 가지치기 얘기를 했죠.
이 두 문제가 왜 그 기법의 대표 사례인지 생각해 보세요.
N-Queens는 체스판에 퀸을 놓는 문제입니다. 서로 공격할 수 없게 놔야 해요.
퀸을 하나 놓을 때마다 뭘 할 수 있죠?
이미 놓은 퀸들과 충돌하는지 검사할 수 있습니다.
충돌하면요? 그 자리는 안 되니까 다른 자리를 봐야죠. 그 아래로는 더 안 봐도 됩니다.
스도쿠도 같습니다. 숫자를 하나 채울 때마다 같은 줄, 같은 칸에 중복이 있는지 봅니다. 있으면 되돌아가요.
두 문제의 공통점이 뭐죠?
중간에 규칙 위반을 발견하면 즉시 되돌아간다는 겁니다.
그 기법 이름을 쓰세요.
백트래킹이 얼마나 강력한지 숫자로 느껴 보세요.
8-Queens를 완전 탐색으로 하면 1,700만 가지인데 백트래킹으로 하면 15,000번입니다.
1,000배 넘게 줄어요.
가지치기 하나로 이렇게 됩니다.
그리고 핵심은 위에서 자를수록 효과가 크다는 거예요.
나무 밑동을 자르면 가지 전체가 사라지니까요.
그래서 백트래킹에서는 가능한 한 일찍 판단하는 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백트래킹입니다.
두 문제 모두 규칙을 어기는 순간 그 갈래를 버리고 되돌아갑니다.
끝까지 만든 뒤에 검사하는 완전 탐색보다 훨씬 적은 경우만 확인하죠.
숫자로 얼마나 차이 나는지 볼게요. 8-Queens 기준입니다.
완전 탐색으로 하면요. 64칸에서 8칸을 고르는 조합이니까 약 44억 가지입니다.
조금 줄여서 각 줄에 하나씩 놓는다고 하면 8⁸ = 약 1,700만 가지고요.
백트래킹으로 하면요? 약 15,000번 정도만 확인합니다.
1,700만에서 15,000이니까 1,000배 넘게 줄었어요.
왜 이렇게 줄까요?
첫 줄에 퀸을 놓고 둘째 줄에 놓을 때, 이미 충돌하는 자리들이 많이 걸러집니다.
그러면 그 아래 여섯 줄에 대한 모든 경우가 통째로 사라져요.
위에서 자를수록 잘려 나가는 양이 큽니다. 나무 밑동을 자르면 가지 전체가 사라지는 것처럼요.
그래서 백트래킹은 가능한 한 일찍 판단하는 게 중요합니다.
이걸 7장에서 제대로 배웁니다. 오늘은 완전 탐색에 가지치기를 더한 것이라는 관계와 대표 사례만 알아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94번입니다.
"병합 정렬과 이진 탐색은 완전 탐색에서 발전한 어떤 기법의 대표 응용인지 쓰시오."
93번과 짝인 문제예요.
이번엔 다른 기법입니다.
병합 정렬이 뭐 하죠?
리스트를 반으로 나눕니다. 각각을 따로 정렬해요. 그리고 둘을 합칩니다.
이진 탐색은요?
범위를 반으로 나눕니다. 한쪽만 남기고 버려요. 그리고 또 반으로 나눕니다.
두 문제의 공통점이 뭐죠?
문제를 반으로 나눈다는 겁니다.
큰 문제를 작은 문제로 쪼개서 푸는 거예요.
이 기법 이름이 뭐죠?
한자로도 있고 영어로도 있습니다. Divide and Conquer라고 하죠.
우리말로 뭐라고 부르나요?
분할 정복의 두 가지 형태를 구분해 두세요.
나눠서 둘 다 푸는 것. 병합 정렬이 이거고 O(n log n)입니다.
나눠서 한쪽만 푸는 것. 이진 탐색이 이거고 O(log n)이고요.
버리는 쪽이 훨씬 빠릅니다.
그리고 우리 교재는 3장이 축소 정복, 4장이 분할 정복이에요.
축소 정복은 문제를 조금씩 줄이는 거고, 분할 정복은 반으로 쪼개는 겁니다.
비슷해 보이지만 다릅니다. 3장에서 구분해서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분할 정복입니다. 영어로 Divide and Conquer고요.
문제를 절반으로 나누어 각각 해결한 뒤 합치거나, 절반을 버리고 남은 쪽만 봅니다.
두 가지가 조금 다릅니다.
병합 정렬은 나눈 걸 둘 다 풉니다. 그리고 합쳐요. 그래서 O(n log n)입니다.
이진 탐색은 한쪽을 버립니다. 하나만 풀어요. 그래서 O(log n)이고요.
둘 다 분할 정복인데 결과가 다르죠.
버리는 쪽이 훨씬 빠릅니다. 당연하죠. 절반을 아예 안 보니까요.
여기서 정리하고 갈게요. 완전 탐색에서 발전한 세 갈래입니다.
백트래킹은 가지치기를 더했습니다. 가망 없는 갈래를 자릅니다. 대표 응용이 N-Queens, 스도쿠고요.
분할 정복은 문제 분할을 더했습니다. 반으로 쪼갭니다. 대표 응용이 병합 정렬, 이진 탐색이에요.
동적 계획법은 기억을 더했습니다. 계산 결과를 저장합니다. 대표 응용이 피보나치, 배낭 문제고요.
세 가지가 각각 뭘 더했고 대표 응용이 뭔지. 이 표를 통째로 외워 두세요.
시험에 나옵니다. 그리고 3장부터 이 세 개를 하나씩 배우니까 지금 지도를 그려 두면 학습이 훨씬 수월합니다.
참고로 우리 교재는 3장이 축소 정복, 4장이 분할 정복입니다. 축소 정복은 문제를 조금씩 줄이는 거고 분할 정복은 반으로 쪼개는 거예요. 비슷하지만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95번입니다.
"피보나치 수열을 완전 탐색으로 계산할 때와 메모이제이션을 사용할 때의 시간 복잡도를 각각 쓰시오."
51번, 53번에서 계속 나온 얘기죠.
두 가지를 각각 써야 합니다.
먼저 완전 탐색, 그러니까 정의를 그대로 재귀로 옮긴 경우요.
F(n)을 구하려면 F(n−1)과 F(n−2)를 구해야 합니다. 각각이 또 두 개씩 부르고요.
호출이 두 배씩 늘어나는 구조죠.
그러면 몇 번 호출될까요? 대략 2를 n번 곱한 만큼입니다.
다음으로 메모이제이션을 쓴 경우요.
F(0)부터 F(n)까지 각각 한 번씩만 계산합니다.
몇 개죠? n+1개예요.
빅오로 쓰면요?
두 가지를 다 쓰세요.
이 두 값의 차이를 실감해 보세요.
n이 50일 때 2ⁿ은 약 1,000조입니다. 초당 1억 번 계산해도 수백 년이에요.
같은 n에서 O(n)은 50번입니다. 눈 깜빡할 새죠.
두 줄 추가로 수백 년이 0초가 됩니다.
이게 알고리즘의 힘이에요.
그리고 이런 개선이 가능한 이유는 중복이 있었기 때문입니다.
중복이 없는 문제에는 이 기법이 안 통해요. 6장에서 그 조건을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완전 탐색은 O(2ⁿ), 메모이제이션은 O(n).
왜 완전 탐색이 O(2ⁿ)이냐면요.
fib(n)이 fib(n−1)과 fib(n−2)를 부릅니다. 호출이 두 갈래로 갈라져요.
그게 n단계 반복되니까 대략 2ⁿ개의 호출이 생깁니다.
정확히는 황금비의 n제곱에 비례하는데, 대략 2ⁿ으로 봅니다.
메모이제이션을 쓰면 왜 O(n)이냐면요.
F(0), F(1), F(2), ..., F(n) 각각을 한 번씩만 계산합니다. 두 번째부터는 딕셔너리에서 꺼내니까 상수 시간이에요.
계산할 값이 n+1개니까 O(n)입니다.
실제 값을 볼게요.
n = 30 이면 완전 탐색은 약 270만 번, 메모는 31번.
n = 50 이면 완전 탐색은 약 2,000억 번, 메모는 51번.
n = 100 이면 완전 탐색은 우주가 끝나도 못 끝냅니다. 메모는 101번이고요.
두 줄 추가로 이렇게 됩니다.
여기서 공간 복잡도도 짚고 갈게요.
완전 탐색은 저장을 안 하니까 공간이 O(n)입니다. 재귀 스택 깊이만큼이죠.
메모이제이션은 n개를 저장하니까 공간도 O(n)이고요.
공간은 비슷한데 시간이 천문학적으로 차이 납니다.
그러니까 이건 아주 유리한 거래예요. 1장에서 배운 시간과 공간의 트레이드오프인데, 이 경우는 거의 공짜로 시간을 얻는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96번입니다. 2.7절 마지막 문제예요.
"동적 계획법을 완전 탐색과 비교하여 한 문장으로 정의하시오."
수업 슬라이드에 딱 한 문장으로 나온 표현이 있었습니다.
기억나세요?
"동적 계획법 = 기억력을 장착한 스마트한 완전 탐색"
이거였죠.
왜 이 표현이 정확하냐면요.
동적 계획법도 결국 모든 경우를 봅니다. 완전 탐색과 탐색 범위가 같아요.
다만 같은 걸 두 번 계산하지 않을 뿐입니다.
그러니까 완전 탐색이 아니라고 할 수 없어요. 완전 탐색인데 낭비만 없앤 겁니다.
이걸 한 문장으로 쓰시면 됩니다.
'기억' 또는 '메모이제이션'이라는 표현과 '완전 탐색'이라는 표현이 둘 다 들어가야 합니다.
한 문장 정의를 만드는 연습을 해두시면 좋습니다.
시험에서도 나오지만, 남한테 설명할 때도 필요하거든요.
좋은 정의는 두 가지를 담습니다. 무엇과 같고, 무엇이 다른가.
동적 계획법은 완전 탐색과 같습니다. 탐색 범위가 같아요.
그런데 기억을 한다는 게 다릅니다.
이 두 가지를 담으면 좋은 정의가 됩니다.
다른 기법들도 이 틀로 정의해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"기억(메모이제이션)을 장착한 완전 탐색이다."
탐색의 범위는 같지만 이미 계산한 부분 문제를 다시 계산하지 않는다는 점이 다릅니다.
여기서 세 기법을 한 문장씩으로 정리하고 2.7절을 마무리하겠습니다.
백트래킹은 가지치기를 장착한 완전 탐색입니다. 볼 필요 없는 갈래를 안 봅니다.
분할 정복은 문제를 쪼개는 완전 탐색입니다. 큰 문제 대신 작은 문제를 풉니다.
동적 계획법은 기억을 장착한 완전 탐색입니다. 같은 계산을 두 번 하지 않습니다.
셋 다 공통점이 있어요. 정확성은 그대로 유지합니다.
답이 달라지지 않아요. 완전 탐색이 찾는 답과 똑같은 답을 찾습니다. 다만 더 빨리 찾을 뿐이죠.
이게 중요합니다.
빠르게 만들면서 정확성을 잃으면 그건 다른 얘기예요. 근사 알고리즘이나 휴리스틱이 그렇습니다. 10장, 11장에서 배웁니다.
3장부터 6장까지 배우는 것들은 정확성을 유지하면서 빠르게 만드는 방법들이에요.
그래서 2장이 중요한 겁니다. 여기가 기준점이거든요.
완전 탐색을 제대로 이해하지 못하면 나머지 기법들이 왜 그렇게 생겼는지 알 수가 없습니다.
"완전 탐색의 무엇을 개선한 것인가"를 항상 물어보세요. 그 관점으로 보면 3장부터가 훨씬 쉬워집니다.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97번, 주관식입니다.
"O(n³) 알고리즘을 n = 100 에서 실행할 때의 대략적인 연산 횟수를 쓰시오."
계산 문제예요.
n³에 100을 넣으면 됩니다.
100 × 100 × 100 이죠.
100 × 100은 만이고요.
만 × 100은 백만입니다.
10⁶ 이네요.
이걸 우리말로 뭐라고 하죠? 백만입니다.
자, 그러면 이게 감당 가능할까요?
요즘 컴퓨터가 초당 1억 번 정도 처리한다고 했죠.
백만 번이면 0.01초입니다. 순식간이에요.
아주 안전합니다.
수업 슬라이드에서도 "O(n³), n≤100 : 10⁶, 매우 안전"이라고 나왔죠.
답을 쓰세요.
그리고 n이 1,000이면 어떻게 되는지도 계산해 보세요.
이 계산이 코딩 테스트 판단의 마지막 조각입니다.
O(n³)에서 n이 얼마까지 가능한지를 아는 거죠.
그리고 이걸로 판단표가 완성됩니다.
n! 은 10, 2ⁿ은 20, n³은 500, n²은 만, n log n은 백만, n은 천만.
여섯 줄이에요.
이 표를 외워 두시면 문제를 읽자마자 방향이 잡힙니다.
그리고 이게 코딩 테스트에서 제일 유용한 지식입니다.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100만 번입니다. 10⁶ 이죠.
수십만에서 수백만 번은 현재 컴퓨터에서 매우 안전한 범위입니다.
n을 바꿔 가며 확인해 볼게요.
n = 100 이면 10⁶. 백만. 안전합니다.
n = 200 이면 8 × 10⁶. 800만. 괜찮아요.
n = 500 이면 1.25 × 10⁸. 1억 2,500만. 슬슬 위험합니다.
n = 1,000 이면 10⁹. 10억. 시간 초과 나기 쉽습니다.
그러니까 삼중 반복문은 n이 수백까지가 한계예요.
여기서 코딩 테스트 판단표를 완성해 드릴게요. 이거 외워 두시면 정말 유용합니다.
O(n!) 이면 n ≤ 10.
O(2ⁿ) 이면 n ≤ 20.
O(n³) 이면 n ≤ 500.
O(n²) 이면 n ≤ 10,000.
O(n log n) 이면 n ≤ 1,000,000.
O(n) 이면 n ≤ 10,000,000.
이 여섯 줄입니다.
문제를 읽고 입력 제한을 보면 어떤 복잡도까지 허용되는지 바로 나와요.
거꾸로도 씁니다. 내가 생각한 방법이 O(n²)인데 n이 10만이래요. 그러면 안 됩니다. 다른 방법을 찾아야 해요.
이 판단을 코드 짜기 전에 30초 안에 하시면 시간을 크게 아낍니다.
파이썬은 C보다 느리니까 기준을 조금 보수적으로 잡으시는 게 좋고요.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98번입니다.
"완전 탐색에서 자주 쓰이는 코드 패턴 다섯 가지를 쓰시오."
2장 전체를 통해 본 코드 형태들을 정리하는 문제예요.
하나씩 떠올려 보세요.
약수 찾기, 소수 판별. 반복문 하나였죠.
최근접 쌍, 두 수의 합. 반복문 두 겹이었고요.
r개를 골라 조건 확인. combinations를 썼습니다.
순서 있게 r개 나열. permutations를 썼고요.
모든 부분집합. 비트마스크였습니다.
다섯 개가 나왔네요.
수업 슬라이드 마지막 정리표에 이 다섯 개가 나왔습니다.
각각의 코드 형태도 같이 떠올려 보세요.
for i in range(n)
for i, for j in range(i+1, n)
for c in combinations(arr, r)
for p in permutations(arr, r)
for i in range(1 &lt;&lt; n)
이렇게 다섯 가지죠.
다섯 개를 다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단일 for, 이중 for, combinations, permutations, 비트마스크.
각각 어떤 문제에 쓰는지 정리해 드릴게요.
단일 for는 변수 하나를 정하는 문제입니다. 약수 찾기, 소수 판별이죠. O(n)입니다.
이중 for는 두 개를 정하는 문제고요. 최근접 쌍, 합이 K인 쌍이요. O(n²)입니다.
combinations는 r개를 순서 없이 고르는 문제입니다. 세 수의 합, 블랙잭, 배낭이죠. O(nCr)이고요.
permutations는 순서 있게 나열하는 문제고요. 숫자 야구, 외판원 순회입니다. O(n!)이에요.
비트마스크는 모든 부분집합을 보는 문제입니다. 부분집합 합, 배낭이죠. O(2ⁿ)입니다.
여기서 문제 유형을 판별하는 질문을 정리해 드릴게요.
정해야 할 게 몇 개인가? 하나면 단일 for, 둘이면 이중 for.
r개를 고르는가? 순서가 중요하면 permutations, 아니면 combinations.
각각을 넣을지 말지 정하는가? 그러면 비트마스크.
이 세 질문으로 다섯 패턴이 다 갈립니다.
그리고 실전에서는 이 패턴을 손에 익혀 두는 게 중요해요.
문제를 읽고 유형을 파악한 다음, 해당 패턴을 껍데기로 먼저 쓰고 안을 채우는 겁니다.
껍데기를 외워 두면 시작이 빨라집니다. 그리고 인덱스 실수도 줄어요.
백준이나 프로그래머스에서 완전 탐색 태그 문제를 스무 개 정도 풀면 자연스럽게 손에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99번입니다.
"0/1 배낭 문제를 완전 탐색으로 풀 때의 시간 복잡도를 쓰고, 물건이 20개 이하이면 시도해 볼 만한 이유를 함께 쓰시오."
0/1 배낭 문제가 뭐죠?
물건들이 있고 각각 무게와 가치가 있습니다. 배낭 용량이 정해져 있고요.
무게 합이 용량을 넘지 않으면서 가치 합이 최대가 되게 물건을 고르는 문제입니다.
0/1이라는 건 물건을 쪼갤 수 없다는 뜻이에요. 통째로 넣거나 아예 안 넣거나입니다.
자, 그러면 각 물건마다 몇 가지 선택이 있죠?
두 가지입니다. 넣거나 안 넣거나.
물건이 n개면 경우의 수가 몇이죠?
43번에서 배웠어요. 2ⁿ입니다.
부분집합 문제랑 똑같은 구조예요.
그러면 n이 20이면 2²⁰ 이 얼마죠?
83번, 90번에서 계속 나왔습니다.
두 가지를 다 쓰세요. 복잡도와 이유요.
배낭 문제는 이 과목에서 계속 나오는 문제입니다.
2장에서 완전 탐색으로 O(2ⁿ)인 걸 보고요.
5장 그리디에서 실패하는 걸 보고요.
6장 동적 계획법에서 O(NW)로 푸는 걸 배웁니다.
8장 분기한정에서 또 나오고요.
같은 문제를 네 번 만나는 거예요.
그러니까 지금 이 문제의 구조를 확실히 이해해 두시면 나중에 훨씬 편합니다.
각 물건마다 넣거나 안 넣거나. 이 구조요.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"O(2ⁿ)이며, 2²⁰ ≈ 100만이라 계산량이 안전한 범위이기 때문이다."
각 물건을 넣거나 넣지 않는 두 갈래 선택이므로 2ⁿ이고요.
n이 20이면 약 100만 번이라 1초 안에 충분히 돌아갑니다.
여기서 몇 가지를 확인하고 갈게요.
물건이 30개면요? 약 10억입니다. 위험해요.
40개면요? 약 1조입니다. 못 씁니다.
그래서 완전 탐색 배낭은 n이 20 정도까지입니다.
그러면 물건이 100개면 어떻게 하죠?
동적 계획법을 씁니다.
DP로 풀면 O(N × W)입니다. 물건 개수와 배낭 용량의 곱이에요.
물건이 100개고 용량이 1,000이면 10만 번입니다.
2¹⁰⁰이랑 비교해 보세요. 비교 자체가 무의미하죠.
어떻게 이렇게 줄어드냐면요.
완전 탐색은 물건 조합을 다 만들어 봅니다. 그런데 조합이 달라도 무게 합이 같으면 이후 상황이 똑같거든요.
그러니까 무게별로 최고 가치만 기억해 두면 됩니다. 조합 자체를 기억할 필요가 없어요.
이게 6장 동적 계획법의 핵심 아이디어입니다.
그러니까 이렇게 정리하세요.
물건 20개 이하면 완전 탐색으로 충분하고, 그 이상이면 동적 계획법으로 갑니다.
문제의 입력 제한이 어느 쪽을 쓰라는 힌트예요.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100번입니다. 2장 마지막 문제예요.
"회문이 무엇인지 한 문장으로 쓰시오."
회문. 영어로 palindrome이라고 합니다.
60번에서 코드를 봤죠. s == s[::-1] 이면 회문이라고 했습니다.
그러면 회문이 뭘까요?
뒤집었는데 원래랑 같은 문자열이에요.
예를 들어 level을 뒤집으면 level입니다. 같죠. 회문이에요.
noon을 뒤집으면 noon입니다. 회문이고요.
hello를 뒤집으면 olleh입니다. 다르죠. 회문이 아닙니다.
우리말로도 있어요. 기러기, 토마토, 스위스, 별똥별. 다 회문입니다.
문장으로도 있고요. "다시 합창합시다" 같은 거요.
이걸 한 문장으로 정의해 보세요.
'앞에서 읽으나 뒤에서 읽으나 같다'는 표현이 들어가면 됩니다.
2장 마지막 문제입니다.
정의를 쓰는 문제인데, 이런 건 짧고 정확하게 쓰는 게 좋습니다.
길게 쓴다고 점수가 올라가지 않아요. 오히려 틀린 말이 섞일 위험이 커집니다.
핵심만 담으세요.
앞에서 읽으나 뒤에서 읽으나 같다. 이 한 문장이면 충분합니다.
그리고 실제 코드에서 조심할 것들도 같이 떠올려 보세요. 대소문자, 공백, 개행 문자요.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"앞에서 읽으나 뒤에서 읽으나 같은 문자열이다."
level, noon처럼 뒤집어도 원래와 같은 문자열이죠.
파이썬에서는 s == s[::-1] 한 줄로 판별합니다.
여기서 몇 가지 실전 주의점을 짚고 갈게요.
첫째, 대소문자 문제입니다.
"Racecar"는 회문일까요?
사람이 보기엔 회문 같은데, 컴퓨터는 R과 r을 다르게 봅니다. 그래서 회문이 아니라고 판단해요.
대소문자를 무시하려면 s.lower()로 바꾼 뒤 비교해야 합니다.
둘째, 공백과 문장 부호입니다.
"A man, a plan, a canal, Panama"는 유명한 회문 문장인데요. 공백과 쉼표를 빼고 소문자로 바꿔야 회문이 됩니다.
문제에서 어떻게 처리하라고 하는지 꼭 확인하세요.
셋째, 개행 문자입니다. 56번에서 말씀드린 거요.
sys.stdin.readline으로 읽으면 "level\n"이 됩니다. 뒤집으면 "\nlevel"이라 회문이 아니게 돼요.
strip()을 꼭 붙이셔야 합니다.
이 세 가지가 회문 문제에서 틀리는 주요 원인입니다.
자, 이걸로 2장 100문제가 끝났습니다.
수고하셨어요. 다음 시간에는 3장 축소 정복으로 들어갑니다.
완전 탐색이 모든 경우를 다 봤다면, 축소 정복은 문제 크기를 조금씩 줄여 가면서 푸는 방법이에요. 오늘 배운 게 기준점이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1.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1.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slideLayout" Target="../slideLayouts/slideLayout1.xm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1.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1.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1.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slideLayout" Target="../slideLayouts/slideLayout1.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slideLayout" Target="../slideLayouts/slideLayout1.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slideLayout" Target="../slideLayouts/slideLayout1.xm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image" Target="../media/image-90-3.png"/><Relationship Id="rId4" Type="http://schemas.openxmlformats.org/officeDocument/2006/relationships/slideLayout" Target="../slideLayouts/slideLayout1.xml"/><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slideLayout" Target="../slideLayouts/slideLayout1.xml"/><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image" Target="../media/image-94-3.png"/><Relationship Id="rId4" Type="http://schemas.openxmlformats.org/officeDocument/2006/relationships/slideLayout" Target="../slideLayouts/slideLayout1.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1.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1.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1.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1.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image" Target="../media/image-110-3.png"/><Relationship Id="rId4" Type="http://schemas.openxmlformats.org/officeDocument/2006/relationships/slideLayout" Target="../slideLayouts/slideLayout1.xml"/><Relationship Id="rId5"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image" Target="../media/image-112-2.png"/><Relationship Id="rId3" Type="http://schemas.openxmlformats.org/officeDocument/2006/relationships/image" Target="../media/image-112-3.png"/><Relationship Id="rId4" Type="http://schemas.openxmlformats.org/officeDocument/2006/relationships/slideLayout" Target="../slideLayouts/slideLayout1.xml"/><Relationship Id="rId5"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slideLayout" Target="../slideLayouts/slideLayout1.xml"/><Relationship Id="rId5"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1.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image" Target="../media/image-118-2.png"/><Relationship Id="rId3" Type="http://schemas.openxmlformats.org/officeDocument/2006/relationships/image" Target="../media/image-118-3.png"/><Relationship Id="rId4" Type="http://schemas.openxmlformats.org/officeDocument/2006/relationships/slideLayout" Target="../slideLayouts/slideLayout1.xml"/><Relationship Id="rId5"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image" Target="../media/image-120-2.png"/><Relationship Id="rId3" Type="http://schemas.openxmlformats.org/officeDocument/2006/relationships/image" Target="../media/image-120-3.png"/><Relationship Id="rId4" Type="http://schemas.openxmlformats.org/officeDocument/2006/relationships/slideLayout" Target="../slideLayouts/slideLayout1.xm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image" Target="../media/image-121-2.png"/><Relationship Id="rId3" Type="http://schemas.openxmlformats.org/officeDocument/2006/relationships/slideLayout" Target="../slideLayouts/slideLayout1.xm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image" Target="../media/image-122-2.png"/><Relationship Id="rId3" Type="http://schemas.openxmlformats.org/officeDocument/2006/relationships/image" Target="../media/image-122-3.png"/><Relationship Id="rId4" Type="http://schemas.openxmlformats.org/officeDocument/2006/relationships/slideLayout" Target="../slideLayouts/slideLayout1.xml"/><Relationship Id="rId5"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image" Target="../media/image-123-2.png"/><Relationship Id="rId3" Type="http://schemas.openxmlformats.org/officeDocument/2006/relationships/slideLayout" Target="../slideLayouts/slideLayout1.xml"/><Relationship Id="rId4"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image" Target="../media/image-124-2.png"/><Relationship Id="rId3" Type="http://schemas.openxmlformats.org/officeDocument/2006/relationships/image" Target="../media/image-124-3.png"/><Relationship Id="rId4" Type="http://schemas.openxmlformats.org/officeDocument/2006/relationships/slideLayout" Target="../slideLayouts/slideLayout1.xml"/><Relationship Id="rId5"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1.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image" Target="../media/image-126-2.png"/><Relationship Id="rId3" Type="http://schemas.openxmlformats.org/officeDocument/2006/relationships/image" Target="../media/image-126-3.png"/><Relationship Id="rId4" Type="http://schemas.openxmlformats.org/officeDocument/2006/relationships/slideLayout" Target="../slideLayouts/slideLayout1.xml"/><Relationship Id="rId5"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image" Target="../media/image-127-2.png"/><Relationship Id="rId3" Type="http://schemas.openxmlformats.org/officeDocument/2006/relationships/slideLayout" Target="../slideLayouts/slideLayout1.xml"/><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image" Target="../media/image-128-3.png"/><Relationship Id="rId4" Type="http://schemas.openxmlformats.org/officeDocument/2006/relationships/slideLayout" Target="../slideLayouts/slideLayout1.xml"/><Relationship Id="rId5"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slideLayout" Target="../slideLayouts/slideLayout1.xm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image" Target="../media/image-130-3.png"/><Relationship Id="rId4" Type="http://schemas.openxmlformats.org/officeDocument/2006/relationships/slideLayout" Target="../slideLayouts/slideLayout1.xml"/><Relationship Id="rId5"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image" Target="../media/image-131-2.png"/><Relationship Id="rId3" Type="http://schemas.openxmlformats.org/officeDocument/2006/relationships/slideLayout" Target="../slideLayouts/slideLayout1.xml"/><Relationship Id="rId4"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image" Target="../media/image-132-2.png"/><Relationship Id="rId3" Type="http://schemas.openxmlformats.org/officeDocument/2006/relationships/image" Target="../media/image-132-3.png"/><Relationship Id="rId4" Type="http://schemas.openxmlformats.org/officeDocument/2006/relationships/slideLayout" Target="../slideLayouts/slideLayout1.xml"/><Relationship Id="rId5"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1.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image" Target="../media/image-134-3.png"/><Relationship Id="rId4" Type="http://schemas.openxmlformats.org/officeDocument/2006/relationships/slideLayout" Target="../slideLayouts/slideLayout1.xml"/><Relationship Id="rId5"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1.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image" Target="../media/image-136-2.png"/><Relationship Id="rId3" Type="http://schemas.openxmlformats.org/officeDocument/2006/relationships/image" Target="../media/image-136-3.png"/><Relationship Id="rId4" Type="http://schemas.openxmlformats.org/officeDocument/2006/relationships/slideLayout" Target="../slideLayouts/slideLayout1.xml"/><Relationship Id="rId5"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image" Target="../media/image-137-2.png"/><Relationship Id="rId3" Type="http://schemas.openxmlformats.org/officeDocument/2006/relationships/slideLayout" Target="../slideLayouts/slideLayout1.xml"/><Relationship Id="rId4"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image" Target="../media/image-138-3.png"/><Relationship Id="rId4" Type="http://schemas.openxmlformats.org/officeDocument/2006/relationships/slideLayout" Target="../slideLayouts/slideLayout1.xml"/><Relationship Id="rId5"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image" Target="../media/image-139-2.png"/><Relationship Id="rId3" Type="http://schemas.openxmlformats.org/officeDocument/2006/relationships/slideLayout" Target="../slideLayouts/slideLayout1.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image" Target="../media/image-140-2.png"/><Relationship Id="rId3" Type="http://schemas.openxmlformats.org/officeDocument/2006/relationships/image" Target="../media/image-140-3.png"/><Relationship Id="rId4" Type="http://schemas.openxmlformats.org/officeDocument/2006/relationships/slideLayout" Target="../slideLayouts/slideLayout1.xml"/><Relationship Id="rId5"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image" Target="../media/image-141-2.png"/><Relationship Id="rId3" Type="http://schemas.openxmlformats.org/officeDocument/2006/relationships/slideLayout" Target="../slideLayouts/slideLayout1.xml"/><Relationship Id="rId4"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image" Target="../media/image-142-2.png"/><Relationship Id="rId3" Type="http://schemas.openxmlformats.org/officeDocument/2006/relationships/image" Target="../media/image-142-3.png"/><Relationship Id="rId4" Type="http://schemas.openxmlformats.org/officeDocument/2006/relationships/slideLayout" Target="../slideLayouts/slideLayout1.xml"/><Relationship Id="rId5"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slideLayout" Target="../slideLayouts/slideLayout1.xml"/><Relationship Id="rId4"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image" Target="../media/image-144-2.png"/><Relationship Id="rId3" Type="http://schemas.openxmlformats.org/officeDocument/2006/relationships/image" Target="../media/image-144-3.png"/><Relationship Id="rId4" Type="http://schemas.openxmlformats.org/officeDocument/2006/relationships/slideLayout" Target="../slideLayouts/slideLayout1.xml"/><Relationship Id="rId5"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slideLayout" Target="../slideLayouts/slideLayout1.xml"/><Relationship Id="rId4"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image" Target="../media/image-146-2.png"/><Relationship Id="rId3" Type="http://schemas.openxmlformats.org/officeDocument/2006/relationships/image" Target="../media/image-146-3.png"/><Relationship Id="rId4" Type="http://schemas.openxmlformats.org/officeDocument/2006/relationships/slideLayout" Target="../slideLayouts/slideLayout1.xml"/><Relationship Id="rId5"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image" Target="../media/image-147-2.png"/><Relationship Id="rId3" Type="http://schemas.openxmlformats.org/officeDocument/2006/relationships/slideLayout" Target="../slideLayouts/slideLayout1.xml"/><Relationship Id="rId4"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image" Target="../media/image-148-2.png"/><Relationship Id="rId3" Type="http://schemas.openxmlformats.org/officeDocument/2006/relationships/image" Target="../media/image-148-3.png"/><Relationship Id="rId4" Type="http://schemas.openxmlformats.org/officeDocument/2006/relationships/slideLayout" Target="../slideLayouts/slideLayout1.xml"/><Relationship Id="rId5"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image" Target="../media/image-149-2.png"/><Relationship Id="rId3" Type="http://schemas.openxmlformats.org/officeDocument/2006/relationships/slideLayout" Target="../slideLayouts/slideLayout1.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image" Target="../media/image-150-2.png"/><Relationship Id="rId3" Type="http://schemas.openxmlformats.org/officeDocument/2006/relationships/image" Target="../media/image-150-3.png"/><Relationship Id="rId4" Type="http://schemas.openxmlformats.org/officeDocument/2006/relationships/slideLayout" Target="../slideLayouts/slideLayout1.xml"/><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png"/><Relationship Id="rId2" Type="http://schemas.openxmlformats.org/officeDocument/2006/relationships/image" Target="../media/image-151-2.png"/><Relationship Id="rId3" Type="http://schemas.openxmlformats.org/officeDocument/2006/relationships/slideLayout" Target="../slideLayouts/slideLayout1.xml"/><Relationship Id="rId4"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image" Target="../media/image-152-2.png"/><Relationship Id="rId3" Type="http://schemas.openxmlformats.org/officeDocument/2006/relationships/image" Target="../media/image-152-3.png"/><Relationship Id="rId4" Type="http://schemas.openxmlformats.org/officeDocument/2006/relationships/slideLayout" Target="../slideLayouts/slideLayout1.xml"/><Relationship Id="rId5"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image" Target="../media/image-153-2.png"/><Relationship Id="rId3" Type="http://schemas.openxmlformats.org/officeDocument/2006/relationships/slideLayout" Target="../slideLayouts/slideLayout1.xml"/><Relationship Id="rId4"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png"/><Relationship Id="rId2" Type="http://schemas.openxmlformats.org/officeDocument/2006/relationships/image" Target="../media/image-154-2.png"/><Relationship Id="rId3" Type="http://schemas.openxmlformats.org/officeDocument/2006/relationships/image" Target="../media/image-154-3.png"/><Relationship Id="rId4" Type="http://schemas.openxmlformats.org/officeDocument/2006/relationships/slideLayout" Target="../slideLayouts/slideLayout1.xml"/><Relationship Id="rId5"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image" Target="../media/image-155-2.png"/><Relationship Id="rId3" Type="http://schemas.openxmlformats.org/officeDocument/2006/relationships/slideLayout" Target="../slideLayouts/slideLayout1.xml"/><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image" Target="../media/image-156-2.png"/><Relationship Id="rId3" Type="http://schemas.openxmlformats.org/officeDocument/2006/relationships/image" Target="../media/image-156-3.png"/><Relationship Id="rId4" Type="http://schemas.openxmlformats.org/officeDocument/2006/relationships/slideLayout" Target="../slideLayouts/slideLayout1.xml"/><Relationship Id="rId5"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png"/><Relationship Id="rId2" Type="http://schemas.openxmlformats.org/officeDocument/2006/relationships/image" Target="../media/image-157-2.png"/><Relationship Id="rId3" Type="http://schemas.openxmlformats.org/officeDocument/2006/relationships/slideLayout" Target="../slideLayouts/slideLayout1.xml"/><Relationship Id="rId4"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png"/><Relationship Id="rId2" Type="http://schemas.openxmlformats.org/officeDocument/2006/relationships/image" Target="../media/image-158-2.png"/><Relationship Id="rId3" Type="http://schemas.openxmlformats.org/officeDocument/2006/relationships/image" Target="../media/image-158-3.png"/><Relationship Id="rId4" Type="http://schemas.openxmlformats.org/officeDocument/2006/relationships/slideLayout" Target="../slideLayouts/slideLayout1.xml"/><Relationship Id="rId5"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image" Target="../media/image-159-2.png"/><Relationship Id="rId3" Type="http://schemas.openxmlformats.org/officeDocument/2006/relationships/slideLayout" Target="../slideLayouts/slideLayout1.xml"/><Relationship Id="rId4"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png"/><Relationship Id="rId2" Type="http://schemas.openxmlformats.org/officeDocument/2006/relationships/image" Target="../media/image-160-2.png"/><Relationship Id="rId3" Type="http://schemas.openxmlformats.org/officeDocument/2006/relationships/image" Target="../media/image-160-3.png"/><Relationship Id="rId4" Type="http://schemas.openxmlformats.org/officeDocument/2006/relationships/slideLayout" Target="../slideLayouts/slideLayout1.xml"/><Relationship Id="rId5"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png"/><Relationship Id="rId2" Type="http://schemas.openxmlformats.org/officeDocument/2006/relationships/image" Target="../media/image-161-2.png"/><Relationship Id="rId3" Type="http://schemas.openxmlformats.org/officeDocument/2006/relationships/slideLayout" Target="../slideLayouts/slideLayout1.xml"/><Relationship Id="rId4"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image" Target="../media/image-162-2.png"/><Relationship Id="rId3" Type="http://schemas.openxmlformats.org/officeDocument/2006/relationships/image" Target="../media/image-162-3.png"/><Relationship Id="rId4" Type="http://schemas.openxmlformats.org/officeDocument/2006/relationships/slideLayout" Target="../slideLayouts/slideLayout1.xml"/><Relationship Id="rId5"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image" Target="../media/image-163-2.png"/><Relationship Id="rId3" Type="http://schemas.openxmlformats.org/officeDocument/2006/relationships/slideLayout" Target="../slideLayouts/slideLayout1.xml"/><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png"/><Relationship Id="rId2" Type="http://schemas.openxmlformats.org/officeDocument/2006/relationships/image" Target="../media/image-164-2.png"/><Relationship Id="rId3" Type="http://schemas.openxmlformats.org/officeDocument/2006/relationships/image" Target="../media/image-164-3.png"/><Relationship Id="rId4" Type="http://schemas.openxmlformats.org/officeDocument/2006/relationships/slideLayout" Target="../slideLayouts/slideLayout1.xml"/><Relationship Id="rId5"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image" Target="../media/image-165-2.png"/><Relationship Id="rId3" Type="http://schemas.openxmlformats.org/officeDocument/2006/relationships/slideLayout" Target="../slideLayouts/slideLayout1.xml"/><Relationship Id="rId4"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png"/><Relationship Id="rId2" Type="http://schemas.openxmlformats.org/officeDocument/2006/relationships/image" Target="../media/image-166-2.png"/><Relationship Id="rId3" Type="http://schemas.openxmlformats.org/officeDocument/2006/relationships/image" Target="../media/image-166-3.png"/><Relationship Id="rId4" Type="http://schemas.openxmlformats.org/officeDocument/2006/relationships/slideLayout" Target="../slideLayouts/slideLayout1.xml"/><Relationship Id="rId5"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png"/><Relationship Id="rId2" Type="http://schemas.openxmlformats.org/officeDocument/2006/relationships/image" Target="../media/image-167-2.png"/><Relationship Id="rId3" Type="http://schemas.openxmlformats.org/officeDocument/2006/relationships/slideLayout" Target="../slideLayouts/slideLayout1.xml"/><Relationship Id="rId4"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image" Target="../media/image-168-2.png"/><Relationship Id="rId3" Type="http://schemas.openxmlformats.org/officeDocument/2006/relationships/image" Target="../media/image-168-3.png"/><Relationship Id="rId4" Type="http://schemas.openxmlformats.org/officeDocument/2006/relationships/slideLayout" Target="../slideLayouts/slideLayout1.xml"/><Relationship Id="rId5"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image" Target="../media/image-169-2.png"/><Relationship Id="rId3" Type="http://schemas.openxmlformats.org/officeDocument/2006/relationships/slideLayout" Target="../slideLayouts/slideLayout1.xml"/><Relationship Id="rId4"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png"/><Relationship Id="rId2" Type="http://schemas.openxmlformats.org/officeDocument/2006/relationships/image" Target="../media/image-170-2.png"/><Relationship Id="rId3" Type="http://schemas.openxmlformats.org/officeDocument/2006/relationships/image" Target="../media/image-170-3.png"/><Relationship Id="rId4" Type="http://schemas.openxmlformats.org/officeDocument/2006/relationships/slideLayout" Target="../slideLayouts/slideLayout1.xml"/><Relationship Id="rId5"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png"/><Relationship Id="rId2" Type="http://schemas.openxmlformats.org/officeDocument/2006/relationships/image" Target="../media/image-171-2.png"/><Relationship Id="rId3" Type="http://schemas.openxmlformats.org/officeDocument/2006/relationships/slideLayout" Target="../slideLayouts/slideLayout1.xml"/><Relationship Id="rId4"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png"/><Relationship Id="rId2" Type="http://schemas.openxmlformats.org/officeDocument/2006/relationships/image" Target="../media/image-172-2.png"/><Relationship Id="rId3" Type="http://schemas.openxmlformats.org/officeDocument/2006/relationships/image" Target="../media/image-172-3.png"/><Relationship Id="rId4" Type="http://schemas.openxmlformats.org/officeDocument/2006/relationships/slideLayout" Target="../slideLayouts/slideLayout1.xml"/><Relationship Id="rId5"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image" Target="../media/image-173-2.png"/><Relationship Id="rId3" Type="http://schemas.openxmlformats.org/officeDocument/2006/relationships/slideLayout" Target="../slideLayouts/slideLayout1.xml"/><Relationship Id="rId4"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png"/><Relationship Id="rId2" Type="http://schemas.openxmlformats.org/officeDocument/2006/relationships/image" Target="../media/image-174-2.png"/><Relationship Id="rId3" Type="http://schemas.openxmlformats.org/officeDocument/2006/relationships/image" Target="../media/image-174-3.png"/><Relationship Id="rId4" Type="http://schemas.openxmlformats.org/officeDocument/2006/relationships/slideLayout" Target="../slideLayouts/slideLayout1.xml"/><Relationship Id="rId5"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png"/><Relationship Id="rId2" Type="http://schemas.openxmlformats.org/officeDocument/2006/relationships/image" Target="../media/image-175-2.png"/><Relationship Id="rId3" Type="http://schemas.openxmlformats.org/officeDocument/2006/relationships/slideLayout" Target="../slideLayouts/slideLayout1.xml"/><Relationship Id="rId4"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png"/><Relationship Id="rId2" Type="http://schemas.openxmlformats.org/officeDocument/2006/relationships/image" Target="../media/image-176-2.png"/><Relationship Id="rId3" Type="http://schemas.openxmlformats.org/officeDocument/2006/relationships/image" Target="../media/image-176-3.png"/><Relationship Id="rId4" Type="http://schemas.openxmlformats.org/officeDocument/2006/relationships/slideLayout" Target="../slideLayouts/slideLayout1.xml"/><Relationship Id="rId5"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png"/><Relationship Id="rId2" Type="http://schemas.openxmlformats.org/officeDocument/2006/relationships/image" Target="../media/image-177-2.png"/><Relationship Id="rId3" Type="http://schemas.openxmlformats.org/officeDocument/2006/relationships/slideLayout" Target="../slideLayouts/slideLayout1.xml"/><Relationship Id="rId4"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image" Target="../media/image-178-2.png"/><Relationship Id="rId3" Type="http://schemas.openxmlformats.org/officeDocument/2006/relationships/image" Target="../media/image-178-3.png"/><Relationship Id="rId4" Type="http://schemas.openxmlformats.org/officeDocument/2006/relationships/slideLayout" Target="../slideLayouts/slideLayout1.xml"/><Relationship Id="rId5"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179-1.png"/><Relationship Id="rId2" Type="http://schemas.openxmlformats.org/officeDocument/2006/relationships/image" Target="../media/image-179-2.png"/><Relationship Id="rId3" Type="http://schemas.openxmlformats.org/officeDocument/2006/relationships/slideLayout" Target="../slideLayouts/slideLayout1.xml"/><Relationship Id="rId4"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png"/><Relationship Id="rId2" Type="http://schemas.openxmlformats.org/officeDocument/2006/relationships/image" Target="../media/image-180-2.png"/><Relationship Id="rId3" Type="http://schemas.openxmlformats.org/officeDocument/2006/relationships/image" Target="../media/image-180-3.png"/><Relationship Id="rId4" Type="http://schemas.openxmlformats.org/officeDocument/2006/relationships/slideLayout" Target="../slideLayouts/slideLayout1.xml"/><Relationship Id="rId5"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181-1.png"/><Relationship Id="rId2" Type="http://schemas.openxmlformats.org/officeDocument/2006/relationships/image" Target="../media/image-181-2.png"/><Relationship Id="rId3" Type="http://schemas.openxmlformats.org/officeDocument/2006/relationships/slideLayout" Target="../slideLayouts/slideLayout1.xml"/><Relationship Id="rId4"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image" Target="../media/image-182-2.png"/><Relationship Id="rId3" Type="http://schemas.openxmlformats.org/officeDocument/2006/relationships/image" Target="../media/image-182-3.png"/><Relationship Id="rId4" Type="http://schemas.openxmlformats.org/officeDocument/2006/relationships/slideLayout" Target="../slideLayouts/slideLayout1.xml"/><Relationship Id="rId5"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image-183-1.png"/><Relationship Id="rId2" Type="http://schemas.openxmlformats.org/officeDocument/2006/relationships/image" Target="../media/image-183-2.png"/><Relationship Id="rId3" Type="http://schemas.openxmlformats.org/officeDocument/2006/relationships/slideLayout" Target="../slideLayouts/slideLayout1.xml"/><Relationship Id="rId4"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png"/><Relationship Id="rId2" Type="http://schemas.openxmlformats.org/officeDocument/2006/relationships/image" Target="../media/image-184-2.png"/><Relationship Id="rId3" Type="http://schemas.openxmlformats.org/officeDocument/2006/relationships/image" Target="../media/image-184-3.png"/><Relationship Id="rId4" Type="http://schemas.openxmlformats.org/officeDocument/2006/relationships/slideLayout" Target="../slideLayouts/slideLayout1.xml"/><Relationship Id="rId5"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png"/><Relationship Id="rId2" Type="http://schemas.openxmlformats.org/officeDocument/2006/relationships/image" Target="../media/image-185-2.png"/><Relationship Id="rId3" Type="http://schemas.openxmlformats.org/officeDocument/2006/relationships/slideLayout" Target="../slideLayouts/slideLayout1.xml"/><Relationship Id="rId4"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png"/><Relationship Id="rId2" Type="http://schemas.openxmlformats.org/officeDocument/2006/relationships/image" Target="../media/image-186-2.png"/><Relationship Id="rId3" Type="http://schemas.openxmlformats.org/officeDocument/2006/relationships/image" Target="../media/image-186-3.png"/><Relationship Id="rId4" Type="http://schemas.openxmlformats.org/officeDocument/2006/relationships/slideLayout" Target="../slideLayouts/slideLayout1.xml"/><Relationship Id="rId5"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image-187-1.png"/><Relationship Id="rId2" Type="http://schemas.openxmlformats.org/officeDocument/2006/relationships/image" Target="../media/image-187-2.png"/><Relationship Id="rId3" Type="http://schemas.openxmlformats.org/officeDocument/2006/relationships/slideLayout" Target="../slideLayouts/slideLayout1.xml"/><Relationship Id="rId4"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png"/><Relationship Id="rId2" Type="http://schemas.openxmlformats.org/officeDocument/2006/relationships/image" Target="../media/image-188-2.png"/><Relationship Id="rId3" Type="http://schemas.openxmlformats.org/officeDocument/2006/relationships/image" Target="../media/image-188-3.png"/><Relationship Id="rId4" Type="http://schemas.openxmlformats.org/officeDocument/2006/relationships/slideLayout" Target="../slideLayouts/slideLayout1.xml"/><Relationship Id="rId5"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png"/><Relationship Id="rId2" Type="http://schemas.openxmlformats.org/officeDocument/2006/relationships/image" Target="../media/image-189-2.png"/><Relationship Id="rId3" Type="http://schemas.openxmlformats.org/officeDocument/2006/relationships/slideLayout" Target="../slideLayouts/slideLayout1.xml"/><Relationship Id="rId4"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png"/><Relationship Id="rId2" Type="http://schemas.openxmlformats.org/officeDocument/2006/relationships/image" Target="../media/image-190-2.png"/><Relationship Id="rId3" Type="http://schemas.openxmlformats.org/officeDocument/2006/relationships/image" Target="../media/image-190-3.png"/><Relationship Id="rId4" Type="http://schemas.openxmlformats.org/officeDocument/2006/relationships/slideLayout" Target="../slideLayouts/slideLayout1.xml"/><Relationship Id="rId5"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png"/><Relationship Id="rId2" Type="http://schemas.openxmlformats.org/officeDocument/2006/relationships/image" Target="../media/image-191-2.png"/><Relationship Id="rId3" Type="http://schemas.openxmlformats.org/officeDocument/2006/relationships/slideLayout" Target="../slideLayouts/slideLayout1.xml"/><Relationship Id="rId4"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png"/><Relationship Id="rId2" Type="http://schemas.openxmlformats.org/officeDocument/2006/relationships/image" Target="../media/image-192-2.png"/><Relationship Id="rId3" Type="http://schemas.openxmlformats.org/officeDocument/2006/relationships/image" Target="../media/image-192-3.png"/><Relationship Id="rId4" Type="http://schemas.openxmlformats.org/officeDocument/2006/relationships/slideLayout" Target="../slideLayouts/slideLayout1.xml"/><Relationship Id="rId5"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png"/><Relationship Id="rId2" Type="http://schemas.openxmlformats.org/officeDocument/2006/relationships/image" Target="../media/image-193-2.png"/><Relationship Id="rId3" Type="http://schemas.openxmlformats.org/officeDocument/2006/relationships/slideLayout" Target="../slideLayouts/slideLayout1.xml"/><Relationship Id="rId4"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png"/><Relationship Id="rId2" Type="http://schemas.openxmlformats.org/officeDocument/2006/relationships/image" Target="../media/image-194-2.png"/><Relationship Id="rId3" Type="http://schemas.openxmlformats.org/officeDocument/2006/relationships/image" Target="../media/image-194-3.png"/><Relationship Id="rId4" Type="http://schemas.openxmlformats.org/officeDocument/2006/relationships/slideLayout" Target="../slideLayouts/slideLayout1.xml"/><Relationship Id="rId5"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png"/><Relationship Id="rId2" Type="http://schemas.openxmlformats.org/officeDocument/2006/relationships/image" Target="../media/image-195-2.png"/><Relationship Id="rId3" Type="http://schemas.openxmlformats.org/officeDocument/2006/relationships/slideLayout" Target="../slideLayouts/slideLayout1.xml"/><Relationship Id="rId4"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png"/><Relationship Id="rId2" Type="http://schemas.openxmlformats.org/officeDocument/2006/relationships/image" Target="../media/image-196-2.png"/><Relationship Id="rId3" Type="http://schemas.openxmlformats.org/officeDocument/2006/relationships/image" Target="../media/image-196-3.png"/><Relationship Id="rId4" Type="http://schemas.openxmlformats.org/officeDocument/2006/relationships/slideLayout" Target="../slideLayouts/slideLayout1.xml"/><Relationship Id="rId5"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png"/><Relationship Id="rId2" Type="http://schemas.openxmlformats.org/officeDocument/2006/relationships/image" Target="../media/image-197-2.png"/><Relationship Id="rId3" Type="http://schemas.openxmlformats.org/officeDocument/2006/relationships/slideLayout" Target="../slideLayouts/slideLayout1.xml"/><Relationship Id="rId4"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png"/><Relationship Id="rId2" Type="http://schemas.openxmlformats.org/officeDocument/2006/relationships/image" Target="../media/image-198-2.png"/><Relationship Id="rId3" Type="http://schemas.openxmlformats.org/officeDocument/2006/relationships/image" Target="../media/image-198-3.png"/><Relationship Id="rId4" Type="http://schemas.openxmlformats.org/officeDocument/2006/relationships/slideLayout" Target="../slideLayouts/slideLayout1.xml"/><Relationship Id="rId5"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png"/><Relationship Id="rId2" Type="http://schemas.openxmlformats.org/officeDocument/2006/relationships/image" Target="../media/image-199-2.png"/><Relationship Id="rId3" Type="http://schemas.openxmlformats.org/officeDocument/2006/relationships/slideLayout" Target="../slideLayouts/slideLayout1.xml"/><Relationship Id="rId4"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png"/><Relationship Id="rId2" Type="http://schemas.openxmlformats.org/officeDocument/2006/relationships/image" Target="../media/image-200-2.png"/><Relationship Id="rId3" Type="http://schemas.openxmlformats.org/officeDocument/2006/relationships/image" Target="../media/image-200-3.png"/><Relationship Id="rId4" Type="http://schemas.openxmlformats.org/officeDocument/2006/relationships/slideLayout" Target="../slideLayouts/slideLayout1.xml"/><Relationship Id="rId5"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01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탐색(brute force)을 가리키는 다른 이름으로 볼 수 없는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탐욕적 선택 기법(greedy method)</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전수 조사(exhaustive search)</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무차별 대입 기법</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순진한 방법(naive method)</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모든 경우 시도 기법</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01</a:t>
            </a:r>
            <a:endParaRPr lang="en-US" sz="1200" dirty="0"/>
          </a:p>
        </p:txBody>
      </p:sp>
      <p:sp>
        <p:nvSpPr>
          <p:cNvPr id="8" name="Text 5"/>
          <p:cNvSpPr/>
          <p:nvPr/>
        </p:nvSpPr>
        <p:spPr>
          <a:xfrm>
            <a:off x="658368" y="1882712"/>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탐색(brute force)을 가리키는 다른 이름으로 볼 수 없는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탐욕적 선택 기법(greedy method)</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02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모든 경우를 확인하므로 정답을 놓치지 않는다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복잡한 수학 없이 반복문만으로 구현할 수 있다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경우의 수가 많아도 실행 시간이 거의 늘지 않는다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입력이 커지면 경우의 수가 급격히 늘어난다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고급 알고리즘을 설계할 때 출발점으로 삼을 수 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 대한 설명으로 옳지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경우의 수가 많아도 실행 시간이 거의 늘지 않는다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탐색의 치명적 약점이 바로 실행 시간이다. 경우의 수가 곧 실행 횟수이므로 입력이 조금만 커져도 시간이 폭발한다. 나머지 넷은 완전 탐색의 대표적인 성질이다.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03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0부터 9까지의 숫자로 이루어진 4자리 자물쇠의 비밀번호 경우의 수는?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10,000가지</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40가지</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5,040가지</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1,000가지</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100,000가지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0부터 9까지의 숫자로 이루어진 4자리 자물쇠의 비밀번호 경우의 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10,000가지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각 자리마다 10가지이므로 10 × 10 × 10 × 10 = 10⁴ = 10,000가지다. 자릿수가 하나 늘 때마다 경우의 수는 10배가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04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출력되는 count 값은?</a:t>
            </a:r>
            <a:endParaRPr lang="en-US" sz="2300" dirty="0"/>
          </a:p>
        </p:txBody>
      </p:sp>
      <p:sp>
        <p:nvSpPr>
          <p:cNvPr id="9" name="Shape 6"/>
          <p:cNvSpPr/>
          <p:nvPr/>
        </p:nvSpPr>
        <p:spPr>
          <a:xfrm>
            <a:off x="658368" y="2312543"/>
            <a:ext cx="4875581"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87558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875581"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4052621"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secret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FE0A0"/>
                </a:solidFill>
                <a:latin typeface="Consolas" pitchFamily="34" charset="0"/>
                <a:ea typeface="Consolas" pitchFamily="34" charset="-122"/>
                <a:cs typeface="Consolas" pitchFamily="34" charset="-120"/>
              </a:rPr>
              <a:t>"8234"</a:t>
            </a:r>
            <a:endParaRPr lang="en-US" sz="1200" dirty="0"/>
          </a:p>
        </p:txBody>
      </p:sp>
      <p:sp>
        <p:nvSpPr>
          <p:cNvPr id="17" name="Text 14"/>
          <p:cNvSpPr/>
          <p:nvPr/>
        </p:nvSpPr>
        <p:spPr>
          <a:xfrm>
            <a:off x="859536" y="292061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count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126359"/>
            <a:ext cx="4509821"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d1</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33209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d2</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3783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d3</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74357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d4</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4931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attempt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a:t>
            </a:r>
            <a:pPr indent="0" marL="0">
              <a:buNone/>
            </a:pPr>
            <a:r>
              <a:rPr lang="en-US" sz="1200" dirty="0">
                <a:solidFill>
                  <a:srgbClr val="9FE0A0"/>
                </a:solidFill>
                <a:latin typeface="Consolas" pitchFamily="34" charset="0"/>
                <a:ea typeface="Consolas" pitchFamily="34" charset="-122"/>
                <a:cs typeface="Consolas" pitchFamily="34" charset="-120"/>
              </a:rPr>
              <a:t>"{d1}{d2}{d3}{d4}"</a:t>
            </a:r>
            <a:endParaRPr lang="en-US" sz="1200" dirty="0"/>
          </a:p>
        </p:txBody>
      </p:sp>
      <p:sp>
        <p:nvSpPr>
          <p:cNvPr id="23" name="Text 20"/>
          <p:cNvSpPr/>
          <p:nvPr/>
        </p:nvSpPr>
        <p:spPr>
          <a:xfrm>
            <a:off x="859536" y="415505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count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4" name="Text 21"/>
          <p:cNvSpPr/>
          <p:nvPr/>
        </p:nvSpPr>
        <p:spPr>
          <a:xfrm>
            <a:off x="859536" y="436079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attempt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secret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566539"/>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print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count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exit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Shape 23"/>
          <p:cNvSpPr/>
          <p:nvPr/>
        </p:nvSpPr>
        <p:spPr>
          <a:xfrm>
            <a:off x="5863133" y="2312543"/>
            <a:ext cx="570402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6100877" y="2312543"/>
            <a:ext cx="5301691"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8235</a:t>
            </a:r>
            <a:endParaRPr lang="en-US" sz="1600" dirty="0"/>
          </a:p>
        </p:txBody>
      </p:sp>
      <p:sp>
        <p:nvSpPr>
          <p:cNvPr id="28" name="Shape 25"/>
          <p:cNvSpPr/>
          <p:nvPr/>
        </p:nvSpPr>
        <p:spPr>
          <a:xfrm>
            <a:off x="5863133" y="2952623"/>
            <a:ext cx="570402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6100877" y="2952623"/>
            <a:ext cx="5301691"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8234</a:t>
            </a:r>
            <a:endParaRPr lang="en-US" sz="1600" dirty="0"/>
          </a:p>
        </p:txBody>
      </p:sp>
      <p:sp>
        <p:nvSpPr>
          <p:cNvPr id="30" name="Shape 27"/>
          <p:cNvSpPr/>
          <p:nvPr/>
        </p:nvSpPr>
        <p:spPr>
          <a:xfrm>
            <a:off x="5863133" y="3592703"/>
            <a:ext cx="570402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6100877" y="3592703"/>
            <a:ext cx="5301691"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8236</a:t>
            </a:r>
            <a:endParaRPr lang="en-US" sz="1600" dirty="0"/>
          </a:p>
        </p:txBody>
      </p:sp>
      <p:sp>
        <p:nvSpPr>
          <p:cNvPr id="32" name="Shape 29"/>
          <p:cNvSpPr/>
          <p:nvPr/>
        </p:nvSpPr>
        <p:spPr>
          <a:xfrm>
            <a:off x="5863133" y="4232783"/>
            <a:ext cx="570402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6100877" y="4232783"/>
            <a:ext cx="5301691"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10000</a:t>
            </a:r>
            <a:endParaRPr lang="en-US" sz="1600" dirty="0"/>
          </a:p>
        </p:txBody>
      </p:sp>
      <p:sp>
        <p:nvSpPr>
          <p:cNvPr id="34" name="Shape 31"/>
          <p:cNvSpPr/>
          <p:nvPr/>
        </p:nvSpPr>
        <p:spPr>
          <a:xfrm>
            <a:off x="5863133" y="4872863"/>
            <a:ext cx="570402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6100877" y="4872863"/>
            <a:ext cx="5301691"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04</a:t>
            </a:r>
            <a:endParaRPr lang="en-US" sz="1200" dirty="0"/>
          </a:p>
        </p:txBody>
      </p:sp>
      <p:sp>
        <p:nvSpPr>
          <p:cNvPr id="8" name="Text 5"/>
          <p:cNvSpPr/>
          <p:nvPr/>
        </p:nvSpPr>
        <p:spPr>
          <a:xfrm>
            <a:off x="658368" y="1827403"/>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출력되는 count 값은?</a:t>
            </a:r>
            <a:endParaRPr lang="en-US" sz="1500" dirty="0"/>
          </a:p>
        </p:txBody>
      </p:sp>
      <p:sp>
        <p:nvSpPr>
          <p:cNvPr id="9" name="Shape 6"/>
          <p:cNvSpPr/>
          <p:nvPr/>
        </p:nvSpPr>
        <p:spPr>
          <a:xfrm>
            <a:off x="658368" y="2367661"/>
            <a:ext cx="4875581"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67661"/>
            <a:ext cx="487558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4875581"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4052621"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secret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FE0A0"/>
                </a:solidFill>
                <a:latin typeface="Consolas" pitchFamily="34" charset="0"/>
                <a:ea typeface="Consolas" pitchFamily="34" charset="-122"/>
                <a:cs typeface="Consolas" pitchFamily="34" charset="-120"/>
              </a:rPr>
              <a:t>"8234"</a:t>
            </a:r>
            <a:endParaRPr lang="en-US" sz="1200" dirty="0"/>
          </a:p>
        </p:txBody>
      </p:sp>
      <p:sp>
        <p:nvSpPr>
          <p:cNvPr id="17" name="Text 14"/>
          <p:cNvSpPr/>
          <p:nvPr/>
        </p:nvSpPr>
        <p:spPr>
          <a:xfrm>
            <a:off x="859536" y="297573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count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181477"/>
            <a:ext cx="4509821"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d1</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38721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d2</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9295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d3</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79869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d4</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10</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00443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attempt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a:t>
            </a:r>
            <a:pPr indent="0" marL="0">
              <a:buNone/>
            </a:pPr>
            <a:r>
              <a:rPr lang="en-US" sz="1200" dirty="0">
                <a:solidFill>
                  <a:srgbClr val="9FE0A0"/>
                </a:solidFill>
                <a:latin typeface="Consolas" pitchFamily="34" charset="0"/>
                <a:ea typeface="Consolas" pitchFamily="34" charset="-122"/>
                <a:cs typeface="Consolas" pitchFamily="34" charset="-120"/>
              </a:rPr>
              <a:t>"{d1}{d2}{d3}{d4}"</a:t>
            </a:r>
            <a:endParaRPr lang="en-US" sz="1200" dirty="0"/>
          </a:p>
        </p:txBody>
      </p:sp>
      <p:sp>
        <p:nvSpPr>
          <p:cNvPr id="23" name="Text 20"/>
          <p:cNvSpPr/>
          <p:nvPr/>
        </p:nvSpPr>
        <p:spPr>
          <a:xfrm>
            <a:off x="859536" y="421017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count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4" name="Text 21"/>
          <p:cNvSpPr/>
          <p:nvPr/>
        </p:nvSpPr>
        <p:spPr>
          <a:xfrm>
            <a:off x="859536" y="441591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attempt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secret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621657"/>
            <a:ext cx="4509821"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print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count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exit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Shape 23"/>
          <p:cNvSpPr/>
          <p:nvPr/>
        </p:nvSpPr>
        <p:spPr>
          <a:xfrm>
            <a:off x="5863133" y="2367661"/>
            <a:ext cx="5704027"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7" name="Shape 24"/>
          <p:cNvSpPr/>
          <p:nvPr/>
        </p:nvSpPr>
        <p:spPr>
          <a:xfrm>
            <a:off x="6119165" y="256882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8" name="Image 1" descr="/home/claude/icons/check_white.png">    </p:cNvPr>
          <p:cNvPicPr>
            <a:picLocks noChangeAspect="1"/>
          </p:cNvPicPr>
          <p:nvPr/>
        </p:nvPicPr>
        <p:blipFill>
          <a:blip r:embed="rId2"/>
          <a:stretch>
            <a:fillRect/>
          </a:stretch>
        </p:blipFill>
        <p:spPr>
          <a:xfrm>
            <a:off x="6252301" y="2701966"/>
            <a:ext cx="245791" cy="245791"/>
          </a:xfrm>
          <a:prstGeom prst="rect">
            <a:avLst/>
          </a:prstGeom>
        </p:spPr>
      </p:pic>
      <p:sp>
        <p:nvSpPr>
          <p:cNvPr id="29" name="Text 25"/>
          <p:cNvSpPr/>
          <p:nvPr/>
        </p:nvSpPr>
        <p:spPr>
          <a:xfrm>
            <a:off x="6795821" y="2367661"/>
            <a:ext cx="4478731"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8235</a:t>
            </a:r>
            <a:endParaRPr lang="en-US" sz="1350" dirty="0"/>
          </a:p>
        </p:txBody>
      </p:sp>
      <p:sp>
        <p:nvSpPr>
          <p:cNvPr id="30" name="Shape 26"/>
          <p:cNvSpPr/>
          <p:nvPr/>
        </p:nvSpPr>
        <p:spPr>
          <a:xfrm>
            <a:off x="5863133" y="3519805"/>
            <a:ext cx="5704027" cy="1666240"/>
          </a:xfrm>
          <a:prstGeom prst="roundRect">
            <a:avLst>
              <a:gd name="adj" fmla="val 658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Shape 27"/>
          <p:cNvSpPr/>
          <p:nvPr/>
        </p:nvSpPr>
        <p:spPr>
          <a:xfrm>
            <a:off x="6119165" y="375754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2" name="Image 2" descr="/home/claude/icons/bulb_white.png">    </p:cNvPr>
          <p:cNvPicPr>
            <a:picLocks noChangeAspect="1"/>
          </p:cNvPicPr>
          <p:nvPr/>
        </p:nvPicPr>
        <p:blipFill>
          <a:blip r:embed="rId3"/>
          <a:stretch>
            <a:fillRect/>
          </a:stretch>
        </p:blipFill>
        <p:spPr>
          <a:xfrm>
            <a:off x="6242792" y="3881176"/>
            <a:ext cx="228234" cy="228234"/>
          </a:xfrm>
          <a:prstGeom prst="rect">
            <a:avLst/>
          </a:prstGeom>
        </p:spPr>
      </p:pic>
      <p:sp>
        <p:nvSpPr>
          <p:cNvPr id="33" name="Text 28"/>
          <p:cNvSpPr/>
          <p:nvPr/>
        </p:nvSpPr>
        <p:spPr>
          <a:xfrm>
            <a:off x="6777533" y="3666109"/>
            <a:ext cx="4515307" cy="137363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0000부터 순서대로 시도하며 시도할 때마다 count를 1 증가시킨다. 0000이 1회째이므로 8234는 8234 + 1 = 8235회째에 발견된다. 숫자 자체와 시도 횟수가 1만큼 차이 난다는 점이 핵심이다.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05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탐색이 정답을 놓치지 않는 근거로 가장 적절한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반복문이 언제나 정해진 횟수만큼만 돌고 끝나기 때문이다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경우의 수를 미리 계산해 두고 탐색을 시작하기 때문이다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정답에 가까울 것 같은 후보부터 우선 확인하기 때문이다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가능한 경우를 하나도 빠뜨리지 않고 모두 확인하기 때문이다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조건을 만족하지 않는 후보를 미리 걸러내고 시작하기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탐색이 정답을 놓치지 않는 근거로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가능한 경우를 하나도 빠뜨리지 않고 모두 확인하기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탐색 공간을 빠짐없이 훑는다는 점이 정확성의 유일한 근거다. 정답에 가까운 것부터 보거나 미리 걸러내는 것은 휴리스틱이나 가지치기이며 완전 탐색 자체의 성질이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06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탐색을 우선 시도해 볼 만한 상황으로 가장 적절한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입력의 크기가 미리 정해져 있지 않아 알 수 없는 경우</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탐색해야 할 경우의 수가 수백만 이하로 계산되는 경우</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구해야 할 정답이 여러 개일 가능성이 있는 경우</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미리 오름차순으로 정렬되어 있는 경우</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반복문을 두 겹 이상 사용할 수 없다는 제약이 있는 경우</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탐색을 우선 시도해 볼 만한 상황으로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탐색해야 할 경우의 수가 수백만 이하로 계산되는 경우</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탐색의 가능 여부를 가르는 것은 오직 탐색 공간의 크기다. 경우의 수를 먼저 계산해 수백만 이하이면 시도해 볼 만하다. 정렬 여부나 정답 개수는 판단 기준이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07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탐색에서 중첩 반복문의 개수를 결정하는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문제에서 요구하는 정답의 개수</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입력 데이터의 총 개수</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동시에 정해야 하는 변수의 개수</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사용할 수 있는 메모리의 크기</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리스트에 저장된 값의 최대 크기</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중첩 반복문의 개수를 결정하는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동시에 정해야 하는 변수의 개수</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찾아야 할 변수가 하나면 반복문 하나, 둘이면 둘, 셋이면 셋이다. 변수의 개수와 중첩 깊이가 같다는 것이 이 절의 핵심 패턴이며, 그만큼 시간 복잡도의 차수도 올라간다.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08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find_divisors(10)의 반환값은?</a:t>
            </a:r>
            <a:endParaRPr lang="en-US" sz="2300" dirty="0"/>
          </a:p>
        </p:txBody>
      </p:sp>
      <p:sp>
        <p:nvSpPr>
          <p:cNvPr id="9" name="Shape 6"/>
          <p:cNvSpPr/>
          <p:nvPr/>
        </p:nvSpPr>
        <p:spPr>
          <a:xfrm>
            <a:off x="658368" y="2312543"/>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endParaRPr lang="en-US" sz="1300" dirty="0"/>
          </a:p>
        </p:txBody>
      </p:sp>
      <p:sp>
        <p:nvSpPr>
          <p:cNvPr id="22" name="Shape 19"/>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248656" y="231254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[1, 2, 5, 10]</a:t>
            </a:r>
            <a:endParaRPr lang="en-US" sz="1600" dirty="0"/>
          </a:p>
        </p:txBody>
      </p:sp>
      <p:sp>
        <p:nvSpPr>
          <p:cNvPr id="24" name="Shape 21"/>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248656" y="295262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[1, 2, 4, 5, 10]</a:t>
            </a:r>
            <a:endParaRPr lang="en-US" sz="1600" dirty="0"/>
          </a:p>
        </p:txBody>
      </p:sp>
      <p:sp>
        <p:nvSpPr>
          <p:cNvPr id="26" name="Shape 23"/>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359270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[1, 2, 5]</a:t>
            </a:r>
            <a:endParaRPr lang="en-US" sz="1600" dirty="0"/>
          </a:p>
        </p:txBody>
      </p:sp>
      <p:sp>
        <p:nvSpPr>
          <p:cNvPr id="28" name="Shape 25"/>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423278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[2, 5, 10]</a:t>
            </a:r>
            <a:endParaRPr lang="en-US" sz="1600" dirty="0"/>
          </a:p>
        </p:txBody>
      </p:sp>
      <p:sp>
        <p:nvSpPr>
          <p:cNvPr id="30" name="Shape 27"/>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487286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 5, 10]</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08</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find_divisors(10)의 반환값은?</a:t>
            </a:r>
            <a:endParaRPr lang="en-US" sz="1500" dirty="0"/>
          </a:p>
        </p:txBody>
      </p:sp>
      <p:sp>
        <p:nvSpPr>
          <p:cNvPr id="9" name="Shape 6"/>
          <p:cNvSpPr/>
          <p:nvPr/>
        </p:nvSpPr>
        <p:spPr>
          <a:xfrm>
            <a:off x="658368" y="2486787"/>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0926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endParaRPr lang="en-US" sz="1300" dirty="0"/>
          </a:p>
        </p:txBody>
      </p:sp>
      <p:sp>
        <p:nvSpPr>
          <p:cNvPr id="22" name="Shape 19"/>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5" name="Text 21"/>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[1, 2, 5, 10]</a:t>
            </a:r>
            <a:endParaRPr lang="en-US" sz="1350" dirty="0"/>
          </a:p>
        </p:txBody>
      </p:sp>
      <p:sp>
        <p:nvSpPr>
          <p:cNvPr id="26" name="Shape 22"/>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9" name="Text 24"/>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1부터 10까지 모두 시도하여 10을 나누어떨어지게 하는 수를 모은다. 1, 2, 5, 10이 해당하며 1과 자기 자신도 약수이므로 포함된다.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09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시간 복잡도는? (n은 입력값)</a:t>
            </a:r>
            <a:endParaRPr lang="en-US" sz="2300" dirty="0"/>
          </a:p>
        </p:txBody>
      </p:sp>
      <p:sp>
        <p:nvSpPr>
          <p:cNvPr id="9" name="Shape 6"/>
          <p:cNvSpPr/>
          <p:nvPr/>
        </p:nvSpPr>
        <p:spPr>
          <a:xfrm>
            <a:off x="658368" y="2312543"/>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endParaRPr lang="en-US" sz="1300" dirty="0"/>
          </a:p>
        </p:txBody>
      </p:sp>
      <p:sp>
        <p:nvSpPr>
          <p:cNvPr id="22" name="Shape 19"/>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248656" y="231254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O(√n)</a:t>
            </a:r>
            <a:endParaRPr lang="en-US" sz="1600" dirty="0"/>
          </a:p>
        </p:txBody>
      </p:sp>
      <p:sp>
        <p:nvSpPr>
          <p:cNvPr id="24" name="Shape 21"/>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248656" y="295262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O(1)</a:t>
            </a:r>
            <a:endParaRPr lang="en-US" sz="1600" dirty="0"/>
          </a:p>
        </p:txBody>
      </p:sp>
      <p:sp>
        <p:nvSpPr>
          <p:cNvPr id="26" name="Shape 23"/>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359270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O(log n)</a:t>
            </a:r>
            <a:endParaRPr lang="en-US" sz="1600" dirty="0"/>
          </a:p>
        </p:txBody>
      </p:sp>
      <p:sp>
        <p:nvSpPr>
          <p:cNvPr id="28" name="Shape 25"/>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423278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O(n²)</a:t>
            </a:r>
            <a:endParaRPr lang="en-US" sz="1600" dirty="0"/>
          </a:p>
        </p:txBody>
      </p:sp>
      <p:sp>
        <p:nvSpPr>
          <p:cNvPr id="30" name="Shape 27"/>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4872863"/>
            <a:ext cx="6153912"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O(n)</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09</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시간 복잡도는? (n은 입력값)</a:t>
            </a:r>
            <a:endParaRPr lang="en-US" sz="1500" dirty="0"/>
          </a:p>
        </p:txBody>
      </p:sp>
      <p:sp>
        <p:nvSpPr>
          <p:cNvPr id="9" name="Shape 6"/>
          <p:cNvSpPr/>
          <p:nvPr/>
        </p:nvSpPr>
        <p:spPr>
          <a:xfrm>
            <a:off x="658368" y="2486787"/>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0926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divisors</a:t>
            </a:r>
            <a:endParaRPr lang="en-US" sz="1300" dirty="0"/>
          </a:p>
        </p:txBody>
      </p:sp>
      <p:sp>
        <p:nvSpPr>
          <p:cNvPr id="22" name="Shape 19"/>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5" name="Text 21"/>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⑤   O(n)</a:t>
            </a:r>
            <a:endParaRPr lang="en-US" sz="1350" dirty="0"/>
          </a:p>
        </p:txBody>
      </p:sp>
      <p:sp>
        <p:nvSpPr>
          <p:cNvPr id="26" name="Shape 22"/>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9" name="Text 24"/>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반복문이 1부터 n까지 정확히 n번 돈다. 참고로 √n까지만 검사하고 짝을 함께 구하는 방식으로 개선하면 O(√n)이 되지만, 이 코드는 그렇게 되어 있지 않다.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10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arr = [1, 3, 5, 7, 9], K = 10 으로 실행한 결과는?</a:t>
            </a:r>
            <a:endParaRPr lang="en-US" sz="2300" dirty="0"/>
          </a:p>
        </p:txBody>
      </p:sp>
      <p:sp>
        <p:nvSpPr>
          <p:cNvPr id="9" name="Shape 6"/>
          <p:cNvSpPr/>
          <p:nvPr/>
        </p:nvSpPr>
        <p:spPr>
          <a:xfrm>
            <a:off x="658368" y="2312543"/>
            <a:ext cx="5342291"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5342291"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4519331"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976531"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38907"/>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059047"/>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endParaRPr lang="en-US" sz="1300" dirty="0"/>
          </a:p>
        </p:txBody>
      </p:sp>
      <p:sp>
        <p:nvSpPr>
          <p:cNvPr id="23" name="Shape 20"/>
          <p:cNvSpPr/>
          <p:nvPr/>
        </p:nvSpPr>
        <p:spPr>
          <a:xfrm>
            <a:off x="6329843" y="2312543"/>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6567587" y="2312543"/>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[(3, 7)]</a:t>
            </a:r>
            <a:endParaRPr lang="en-US" sz="1600" dirty="0"/>
          </a:p>
        </p:txBody>
      </p:sp>
      <p:sp>
        <p:nvSpPr>
          <p:cNvPr id="25" name="Shape 22"/>
          <p:cNvSpPr/>
          <p:nvPr/>
        </p:nvSpPr>
        <p:spPr>
          <a:xfrm>
            <a:off x="6329843" y="2952623"/>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6567587" y="2952623"/>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[(1, 9), (3, 7), (5, 5)]</a:t>
            </a:r>
            <a:endParaRPr lang="en-US" sz="1600" dirty="0"/>
          </a:p>
        </p:txBody>
      </p:sp>
      <p:sp>
        <p:nvSpPr>
          <p:cNvPr id="27" name="Shape 24"/>
          <p:cNvSpPr/>
          <p:nvPr/>
        </p:nvSpPr>
        <p:spPr>
          <a:xfrm>
            <a:off x="6329843" y="3592703"/>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6567587" y="3592703"/>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[(1, 9), (9, 1), (3, 7), (7, 3)]</a:t>
            </a:r>
            <a:endParaRPr lang="en-US" sz="1600" dirty="0"/>
          </a:p>
        </p:txBody>
      </p:sp>
      <p:sp>
        <p:nvSpPr>
          <p:cNvPr id="29" name="Shape 26"/>
          <p:cNvSpPr/>
          <p:nvPr/>
        </p:nvSpPr>
        <p:spPr>
          <a:xfrm>
            <a:off x="6329843" y="4232783"/>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6567587" y="4232783"/>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[(1, 9), (3, 7)]</a:t>
            </a:r>
            <a:endParaRPr lang="en-US" sz="1600" dirty="0"/>
          </a:p>
        </p:txBody>
      </p:sp>
      <p:sp>
        <p:nvSpPr>
          <p:cNvPr id="31" name="Shape 28"/>
          <p:cNvSpPr/>
          <p:nvPr/>
        </p:nvSpPr>
        <p:spPr>
          <a:xfrm>
            <a:off x="6329843" y="4872863"/>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2" name="Text 29"/>
          <p:cNvSpPr/>
          <p:nvPr/>
        </p:nvSpPr>
        <p:spPr>
          <a:xfrm>
            <a:off x="6567587" y="4872863"/>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[(5, 5)]</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10</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arr = [1, 3, 5, 7, 9], K = 10 으로 실행한 결과는?</a:t>
            </a:r>
            <a:endParaRPr lang="en-US" sz="1500" dirty="0"/>
          </a:p>
        </p:txBody>
      </p:sp>
      <p:sp>
        <p:nvSpPr>
          <p:cNvPr id="9" name="Shape 6"/>
          <p:cNvSpPr/>
          <p:nvPr/>
        </p:nvSpPr>
        <p:spPr>
          <a:xfrm>
            <a:off x="658368" y="2486787"/>
            <a:ext cx="5342291"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5342291"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4519331"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4976531"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09263"/>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233291"/>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endParaRPr lang="en-US" sz="1300" dirty="0"/>
          </a:p>
        </p:txBody>
      </p:sp>
      <p:sp>
        <p:nvSpPr>
          <p:cNvPr id="23" name="Shape 20"/>
          <p:cNvSpPr/>
          <p:nvPr/>
        </p:nvSpPr>
        <p:spPr>
          <a:xfrm>
            <a:off x="6329843" y="2486787"/>
            <a:ext cx="5237317"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6585875"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6719011" y="2821092"/>
            <a:ext cx="245791" cy="245791"/>
          </a:xfrm>
          <a:prstGeom prst="rect">
            <a:avLst/>
          </a:prstGeom>
        </p:spPr>
      </p:pic>
      <p:sp>
        <p:nvSpPr>
          <p:cNvPr id="26" name="Text 22"/>
          <p:cNvSpPr/>
          <p:nvPr/>
        </p:nvSpPr>
        <p:spPr>
          <a:xfrm>
            <a:off x="7262531" y="2486787"/>
            <a:ext cx="4012021"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[(1, 9), (3, 7)]</a:t>
            </a:r>
            <a:endParaRPr lang="en-US" sz="1350" dirty="0"/>
          </a:p>
        </p:txBody>
      </p:sp>
      <p:sp>
        <p:nvSpPr>
          <p:cNvPr id="27" name="Shape 23"/>
          <p:cNvSpPr/>
          <p:nvPr/>
        </p:nvSpPr>
        <p:spPr>
          <a:xfrm>
            <a:off x="6329843" y="3638931"/>
            <a:ext cx="5237317"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6585875"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6709501" y="4000302"/>
            <a:ext cx="228234" cy="228234"/>
          </a:xfrm>
          <a:prstGeom prst="rect">
            <a:avLst/>
          </a:prstGeom>
        </p:spPr>
      </p:pic>
      <p:sp>
        <p:nvSpPr>
          <p:cNvPr id="30" name="Text 25"/>
          <p:cNvSpPr/>
          <p:nvPr/>
        </p:nvSpPr>
        <p:spPr>
          <a:xfrm>
            <a:off x="7244243" y="3785235"/>
            <a:ext cx="4048597"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j를 i+1부터 돌리므로 같은 쌍을 두 번 세지 않고 자기 자신과도 짝짓지 않는다. 합이 10인 쌍은 (1,9)와 (3,7) 두 개다.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11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안쪽 반복문의 시작을 j = i + 1 로 둔 이유로 가장 적절한 것은?</a:t>
            </a:r>
            <a:endParaRPr lang="en-US" sz="2300" dirty="0"/>
          </a:p>
        </p:txBody>
      </p:sp>
      <p:sp>
        <p:nvSpPr>
          <p:cNvPr id="9" name="Shape 6"/>
          <p:cNvSpPr/>
          <p:nvPr/>
        </p:nvSpPr>
        <p:spPr>
          <a:xfrm>
            <a:off x="658368" y="2508250"/>
            <a:ext cx="5342291"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5342291"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4519331"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976531"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254754"/>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endParaRPr lang="en-US" sz="1300" dirty="0"/>
          </a:p>
        </p:txBody>
      </p:sp>
      <p:sp>
        <p:nvSpPr>
          <p:cNvPr id="23" name="Shape 20"/>
          <p:cNvSpPr/>
          <p:nvPr/>
        </p:nvSpPr>
        <p:spPr>
          <a:xfrm>
            <a:off x="6329843" y="2508250"/>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6567587" y="2508250"/>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인덱스가 리스트 범위를 벗어나지 않게 하기 위해</a:t>
            </a:r>
            <a:endParaRPr lang="en-US" sz="1600" dirty="0"/>
          </a:p>
        </p:txBody>
      </p:sp>
      <p:sp>
        <p:nvSpPr>
          <p:cNvPr id="25" name="Shape 22"/>
          <p:cNvSpPr/>
          <p:nvPr/>
        </p:nvSpPr>
        <p:spPr>
          <a:xfrm>
            <a:off x="6329843" y="3148330"/>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6567587" y="3148330"/>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리스트를 정렬된 상태로 유지하기 위해</a:t>
            </a:r>
            <a:endParaRPr lang="en-US" sz="1600" dirty="0"/>
          </a:p>
        </p:txBody>
      </p:sp>
      <p:sp>
        <p:nvSpPr>
          <p:cNvPr id="27" name="Shape 24"/>
          <p:cNvSpPr/>
          <p:nvPr/>
        </p:nvSpPr>
        <p:spPr>
          <a:xfrm>
            <a:off x="6329843" y="3788410"/>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6567587" y="3788410"/>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같은 쌍이 두 번 세어지는 것을 막기 위해</a:t>
            </a:r>
            <a:endParaRPr lang="en-US" sz="1600" dirty="0"/>
          </a:p>
        </p:txBody>
      </p:sp>
      <p:sp>
        <p:nvSpPr>
          <p:cNvPr id="29" name="Shape 26"/>
          <p:cNvSpPr/>
          <p:nvPr/>
        </p:nvSpPr>
        <p:spPr>
          <a:xfrm>
            <a:off x="6329843" y="4428490"/>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6567587" y="4428490"/>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합이 K보다 커지는 경우를 미리 제외하기 위해</a:t>
            </a:r>
            <a:endParaRPr lang="en-US" sz="1600" dirty="0"/>
          </a:p>
        </p:txBody>
      </p:sp>
      <p:sp>
        <p:nvSpPr>
          <p:cNvPr id="31" name="Shape 28"/>
          <p:cNvSpPr/>
          <p:nvPr/>
        </p:nvSpPr>
        <p:spPr>
          <a:xfrm>
            <a:off x="6329843" y="5068570"/>
            <a:ext cx="5237317"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2" name="Text 29"/>
          <p:cNvSpPr/>
          <p:nvPr/>
        </p:nvSpPr>
        <p:spPr>
          <a:xfrm>
            <a:off x="6567587" y="5068570"/>
            <a:ext cx="4834981"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시간 복잡도를 O(n)으로 낮추기 위해</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11</a:t>
            </a:r>
            <a:endParaRPr lang="en-US" sz="1200" dirty="0"/>
          </a:p>
        </p:txBody>
      </p:sp>
      <p:sp>
        <p:nvSpPr>
          <p:cNvPr id="8" name="Text 5"/>
          <p:cNvSpPr/>
          <p:nvPr/>
        </p:nvSpPr>
        <p:spPr>
          <a:xfrm>
            <a:off x="658368" y="1647063"/>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안쪽 반복문의 시작을 j = i + 1 로 둔 이유로 가장 적절한 것은?</a:t>
            </a:r>
            <a:endParaRPr lang="en-US" sz="1500" dirty="0"/>
          </a:p>
        </p:txBody>
      </p:sp>
      <p:sp>
        <p:nvSpPr>
          <p:cNvPr id="9" name="Shape 6"/>
          <p:cNvSpPr/>
          <p:nvPr/>
        </p:nvSpPr>
        <p:spPr>
          <a:xfrm>
            <a:off x="658368" y="2187321"/>
            <a:ext cx="5342291"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187321"/>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388489"/>
            <a:ext cx="5342291" cy="109728"/>
          </a:xfrm>
          <a:prstGeom prst="rect">
            <a:avLst/>
          </a:prstGeom>
          <a:solidFill>
            <a:srgbClr val="2A2856"/>
          </a:solidFill>
          <a:ln w="12700">
            <a:solidFill>
              <a:srgbClr val="2A2856"/>
            </a:solidFill>
            <a:prstDash val="solid"/>
          </a:ln>
        </p:spPr>
      </p:sp>
      <p:sp>
        <p:nvSpPr>
          <p:cNvPr id="12" name="Shape 9"/>
          <p:cNvSpPr/>
          <p:nvPr/>
        </p:nvSpPr>
        <p:spPr>
          <a:xfrm>
            <a:off x="786384" y="229247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29247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29247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05609"/>
            <a:ext cx="4519331"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589657"/>
            <a:ext cx="4976531"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find_pairs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13685"/>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37713"/>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261741"/>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485769"/>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K</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09797"/>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3933825"/>
            <a:ext cx="4976531"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pairs</a:t>
            </a:r>
            <a:endParaRPr lang="en-US" sz="1300" dirty="0"/>
          </a:p>
        </p:txBody>
      </p:sp>
      <p:sp>
        <p:nvSpPr>
          <p:cNvPr id="23" name="Shape 20"/>
          <p:cNvSpPr/>
          <p:nvPr/>
        </p:nvSpPr>
        <p:spPr>
          <a:xfrm>
            <a:off x="6329843" y="2187321"/>
            <a:ext cx="5237317"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6585875"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6719011" y="2582840"/>
            <a:ext cx="245791" cy="245791"/>
          </a:xfrm>
          <a:prstGeom prst="rect">
            <a:avLst/>
          </a:prstGeom>
        </p:spPr>
      </p:pic>
      <p:sp>
        <p:nvSpPr>
          <p:cNvPr id="26" name="Text 22"/>
          <p:cNvSpPr/>
          <p:nvPr/>
        </p:nvSpPr>
        <p:spPr>
          <a:xfrm>
            <a:off x="7262531" y="2187321"/>
            <a:ext cx="4012021"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같은 쌍이 두 번 세어지는 것을 막기 위해</a:t>
            </a:r>
            <a:endParaRPr lang="en-US" sz="1350" dirty="0"/>
          </a:p>
        </p:txBody>
      </p:sp>
      <p:sp>
        <p:nvSpPr>
          <p:cNvPr id="27" name="Shape 23"/>
          <p:cNvSpPr/>
          <p:nvPr/>
        </p:nvSpPr>
        <p:spPr>
          <a:xfrm>
            <a:off x="6329843" y="3461893"/>
            <a:ext cx="5237317"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6585875" y="3699637"/>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6709501" y="3823264"/>
            <a:ext cx="228234" cy="228234"/>
          </a:xfrm>
          <a:prstGeom prst="rect">
            <a:avLst/>
          </a:prstGeom>
        </p:spPr>
      </p:pic>
      <p:sp>
        <p:nvSpPr>
          <p:cNvPr id="30" name="Text 25"/>
          <p:cNvSpPr/>
          <p:nvPr/>
        </p:nvSpPr>
        <p:spPr>
          <a:xfrm>
            <a:off x="7244243" y="3608197"/>
            <a:ext cx="4048597" cy="1611884"/>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j를 0부터 돌리면 (1,9)와 (9,1)이 모두 세어지고 (1,1)처럼 자기 자신과 짝을 이루는 경우도 생긴다. i+1부터 시작하면 i &lt; j가 보장되어 각 쌍이 한 번씩만 나온다. 복잡도는 여전히 O(n²)이다.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12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길이 n인 리스트에서 서로 다른 두 원소의 쌍을 모두 검사할 때 총 비교 횟수는?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n(n+1)/2</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n²</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n(n−1)/2</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n−1</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2n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길이 n인 리스트에서 서로 다른 두 원소의 쌍을 모두 검사할 때 총 비교 횟수는?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n(n−1)/2</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i가 고정될 때마다 j가 하나씩 줄어들며 도므로 (n−1) + (n−2) + … + 1 = n(n−1)/2 이다. 빅오로는 O(n²)이다.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13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안쪽 조건 검사가 실행되는 총 횟수는?</a:t>
            </a:r>
            <a:endParaRPr lang="en-US" sz="2300" dirty="0"/>
          </a:p>
        </p:txBody>
      </p:sp>
      <p:sp>
        <p:nvSpPr>
          <p:cNvPr id="9" name="Shape 6"/>
          <p:cNvSpPr/>
          <p:nvPr/>
        </p:nvSpPr>
        <p:spPr>
          <a:xfrm>
            <a:off x="658368" y="2312543"/>
            <a:ext cx="5551505" cy="2340864"/>
          </a:xfrm>
          <a:prstGeom prst="roundRect">
            <a:avLst>
              <a:gd name="adj" fmla="val 312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5551505"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5551505"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4728545"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5185745"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dice_sum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38907"/>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results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d1</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d2</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d3</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d1</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d2</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d3</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059047"/>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results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d1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3" name="Text 20"/>
          <p:cNvSpPr/>
          <p:nvPr/>
        </p:nvSpPr>
        <p:spPr>
          <a:xfrm>
            <a:off x="859536" y="4283075"/>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results</a:t>
            </a:r>
            <a:endParaRPr lang="en-US" sz="1300" dirty="0"/>
          </a:p>
        </p:txBody>
      </p:sp>
      <p:sp>
        <p:nvSpPr>
          <p:cNvPr id="24" name="Shape 21"/>
          <p:cNvSpPr/>
          <p:nvPr/>
        </p:nvSpPr>
        <p:spPr>
          <a:xfrm>
            <a:off x="6539057" y="2312543"/>
            <a:ext cx="5028103"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6776801" y="2312543"/>
            <a:ext cx="4625767"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216회</a:t>
            </a:r>
            <a:endParaRPr lang="en-US" sz="1600" dirty="0"/>
          </a:p>
        </p:txBody>
      </p:sp>
      <p:sp>
        <p:nvSpPr>
          <p:cNvPr id="26" name="Shape 23"/>
          <p:cNvSpPr/>
          <p:nvPr/>
        </p:nvSpPr>
        <p:spPr>
          <a:xfrm>
            <a:off x="6539057" y="2952623"/>
            <a:ext cx="5028103"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6776801" y="2952623"/>
            <a:ext cx="4625767"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18회</a:t>
            </a:r>
            <a:endParaRPr lang="en-US" sz="1600" dirty="0"/>
          </a:p>
        </p:txBody>
      </p:sp>
      <p:sp>
        <p:nvSpPr>
          <p:cNvPr id="28" name="Shape 25"/>
          <p:cNvSpPr/>
          <p:nvPr/>
        </p:nvSpPr>
        <p:spPr>
          <a:xfrm>
            <a:off x="6539057" y="3592703"/>
            <a:ext cx="5028103"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6776801" y="3592703"/>
            <a:ext cx="4625767"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36회</a:t>
            </a:r>
            <a:endParaRPr lang="en-US" sz="1600" dirty="0"/>
          </a:p>
        </p:txBody>
      </p:sp>
      <p:sp>
        <p:nvSpPr>
          <p:cNvPr id="30" name="Shape 27"/>
          <p:cNvSpPr/>
          <p:nvPr/>
        </p:nvSpPr>
        <p:spPr>
          <a:xfrm>
            <a:off x="6539057" y="4232783"/>
            <a:ext cx="5028103"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6776801" y="4232783"/>
            <a:ext cx="4625767"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27회</a:t>
            </a:r>
            <a:endParaRPr lang="en-US" sz="1600" dirty="0"/>
          </a:p>
        </p:txBody>
      </p:sp>
      <p:sp>
        <p:nvSpPr>
          <p:cNvPr id="32" name="Shape 29"/>
          <p:cNvSpPr/>
          <p:nvPr/>
        </p:nvSpPr>
        <p:spPr>
          <a:xfrm>
            <a:off x="6539057" y="4872863"/>
            <a:ext cx="5028103"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6776801" y="4872863"/>
            <a:ext cx="4625767" cy="548640"/>
          </a:xfrm>
          <a:prstGeom prst="rect">
            <a:avLst/>
          </a:prstGeom>
          <a:noFill/>
          <a:ln/>
        </p:spPr>
        <p:txBody>
          <a:bodyPr wrap="square" lIns="0" tIns="0" rIns="0" bIns="0" rtlCol="0" anchor="ctr"/>
          <a:lstStyle/>
          <a:p>
            <a:pPr indent="0" marL="0">
              <a:buNone/>
            </a:pPr>
            <a:r>
              <a:rPr lang="en-US" sz="1600" b="1" dirty="0">
                <a:solidFill>
                  <a:srgbClr val="7C3AED"/>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666회</a:t>
            </a:r>
            <a:endParaRPr lang="en-US" sz="1600" dirty="0"/>
          </a:p>
        </p:txBody>
      </p:sp>
      <p:sp>
        <p:nvSpPr>
          <p:cNvPr id="35"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13</a:t>
            </a:r>
            <a:endParaRPr lang="en-US" sz="1200" dirty="0"/>
          </a:p>
        </p:txBody>
      </p:sp>
      <p:sp>
        <p:nvSpPr>
          <p:cNvPr id="8" name="Text 5"/>
          <p:cNvSpPr/>
          <p:nvPr/>
        </p:nvSpPr>
        <p:spPr>
          <a:xfrm>
            <a:off x="658368" y="1827403"/>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안쪽 조건 검사가 실행되는 총 횟수는?</a:t>
            </a:r>
            <a:endParaRPr lang="en-US" sz="1500" dirty="0"/>
          </a:p>
        </p:txBody>
      </p:sp>
      <p:sp>
        <p:nvSpPr>
          <p:cNvPr id="9" name="Shape 6"/>
          <p:cNvSpPr/>
          <p:nvPr/>
        </p:nvSpPr>
        <p:spPr>
          <a:xfrm>
            <a:off x="658368" y="2367661"/>
            <a:ext cx="5551505" cy="2340864"/>
          </a:xfrm>
          <a:prstGeom prst="roundRect">
            <a:avLst>
              <a:gd name="adj" fmla="val 312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67661"/>
            <a:ext cx="5551505"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5551505"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4728545"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5185745"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dice_sum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94025"/>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results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218053"/>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d1</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442081"/>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d2</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66109"/>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d3</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90137"/>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d1</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d2</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d3</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114165"/>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results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append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d1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d3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3" name="Text 20"/>
          <p:cNvSpPr/>
          <p:nvPr/>
        </p:nvSpPr>
        <p:spPr>
          <a:xfrm>
            <a:off x="859536" y="4338193"/>
            <a:ext cx="5185745"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results</a:t>
            </a:r>
            <a:endParaRPr lang="en-US" sz="1300" dirty="0"/>
          </a:p>
        </p:txBody>
      </p:sp>
      <p:sp>
        <p:nvSpPr>
          <p:cNvPr id="24" name="Shape 21"/>
          <p:cNvSpPr/>
          <p:nvPr/>
        </p:nvSpPr>
        <p:spPr>
          <a:xfrm>
            <a:off x="6539057" y="2367661"/>
            <a:ext cx="5028103"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5" name="Shape 22"/>
          <p:cNvSpPr/>
          <p:nvPr/>
        </p:nvSpPr>
        <p:spPr>
          <a:xfrm>
            <a:off x="6795089" y="256882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6" name="Image 1" descr="/home/claude/icons/check_white.png">    </p:cNvPr>
          <p:cNvPicPr>
            <a:picLocks noChangeAspect="1"/>
          </p:cNvPicPr>
          <p:nvPr/>
        </p:nvPicPr>
        <p:blipFill>
          <a:blip r:embed="rId2"/>
          <a:stretch>
            <a:fillRect/>
          </a:stretch>
        </p:blipFill>
        <p:spPr>
          <a:xfrm>
            <a:off x="6928226" y="2701966"/>
            <a:ext cx="245791" cy="245791"/>
          </a:xfrm>
          <a:prstGeom prst="rect">
            <a:avLst/>
          </a:prstGeom>
        </p:spPr>
      </p:pic>
      <p:sp>
        <p:nvSpPr>
          <p:cNvPr id="27" name="Text 23"/>
          <p:cNvSpPr/>
          <p:nvPr/>
        </p:nvSpPr>
        <p:spPr>
          <a:xfrm>
            <a:off x="7471745" y="2367661"/>
            <a:ext cx="3802807"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216회</a:t>
            </a:r>
            <a:endParaRPr lang="en-US" sz="1350" dirty="0"/>
          </a:p>
        </p:txBody>
      </p:sp>
      <p:sp>
        <p:nvSpPr>
          <p:cNvPr id="28" name="Shape 24"/>
          <p:cNvSpPr/>
          <p:nvPr/>
        </p:nvSpPr>
        <p:spPr>
          <a:xfrm>
            <a:off x="6539057" y="3519805"/>
            <a:ext cx="5028103" cy="1666240"/>
          </a:xfrm>
          <a:prstGeom prst="roundRect">
            <a:avLst>
              <a:gd name="adj" fmla="val 658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Shape 25"/>
          <p:cNvSpPr/>
          <p:nvPr/>
        </p:nvSpPr>
        <p:spPr>
          <a:xfrm>
            <a:off x="6795089" y="375754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0" name="Image 2" descr="/home/claude/icons/bulb_white.png">    </p:cNvPr>
          <p:cNvPicPr>
            <a:picLocks noChangeAspect="1"/>
          </p:cNvPicPr>
          <p:nvPr/>
        </p:nvPicPr>
        <p:blipFill>
          <a:blip r:embed="rId3"/>
          <a:stretch>
            <a:fillRect/>
          </a:stretch>
        </p:blipFill>
        <p:spPr>
          <a:xfrm>
            <a:off x="6918716" y="3881176"/>
            <a:ext cx="228234" cy="228234"/>
          </a:xfrm>
          <a:prstGeom prst="rect">
            <a:avLst/>
          </a:prstGeom>
        </p:spPr>
      </p:pic>
      <p:sp>
        <p:nvSpPr>
          <p:cNvPr id="31" name="Text 26"/>
          <p:cNvSpPr/>
          <p:nvPr/>
        </p:nvSpPr>
        <p:spPr>
          <a:xfrm>
            <a:off x="7453457" y="3666109"/>
            <a:ext cx="3839383" cy="137363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주사위마다 6가지이므로 6 × 6 × 6 = 216회다. 27은 세 수의 합이 10이 되는 경우의 수이지 반복 횟수가 아니다. 반복 횟수와 조건을 통과한 개수를 구별해야 한다.</a:t>
            </a:r>
            <a:endParaRPr lang="en-US" sz="1300" dirty="0"/>
          </a:p>
        </p:txBody>
      </p:sp>
      <p:sp>
        <p:nvSpPr>
          <p:cNvPr id="33" name="Text 2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14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찾아야 할 변수가 세 개이고 각 변수의 후보가 n가지일 때, 중첩 반복문으로 구현한 완전 탐색의 시간 복잡도는?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O(n log n)</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O(n²)</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O(3n)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O(n³)</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O(3ⁿ)</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찾아야 할 변수가 세 개이고 각 변수의 후보가 n가지일 때, 중첩 반복문으로 구현한 완전 탐색의 시간 복잡도는?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O(n³)</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변수 하나마다 반복문 한 겹이 붙고 각 반복이 n번 도므로 n × n × n = n³ 이다. 변수 개수가 지수 자리가 아니라 곱해지는 횟수로 들어간다는 점을 혼동하지 않아야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15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탐색의 3단계 템플릿을 순서대로 바르게 나열한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후보 해 생성 → 해 선택 → 조건 검증</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조건 검증 → 후보 해 생성 → 해 선택</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해 선택 → 후보 해 생성 → 조건 검증</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후보 해 생성 → 조건 검증 → 해 선택</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조건 검증 → 해 선택 → 후보 해 생성</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탐색의 3단계 템플릿을 순서대로 바르게 나열한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후보 해 생성 → 조건 검증 → 해 선택</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가능한 경우를 만들고(생성), 문제 조건을 만족하는지 보고(검증), 통과한 것을 답으로 삼거나 최적값과 비교한다(선택). 이 순서는 어떤 완전 탐색 문제에서도 동일하다.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16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 템플릿에서 '조건 검증' 단계가 코드로 나타나는 형태로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후보가 문제 조건을 만족하는지 판단하는 if 문</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가능한 경우를 만들어 내는 for 문</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최적값을 담아 두는 변수의 초기화</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결과를 모아 두는 리스트의 append 호출</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함수의 마지막 return 문</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템플릿에서 '조건 검증' 단계가 코드로 나타나는 형태로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후보가 문제 조건을 만족하는지 판단하는 if 문</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생성은 반복문이, 검증은 조건문이, 선택은 반환이나 최적값 갱신이 담당한다. 조건문은 만들어진 후보를 걸러 내는 거름망 역할을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17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탐색에서 '해 선택' 단계가 정답 하나만 필요한 경우와 최적해가 필요한 경우에 각각 어떻게 달라지는가?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하나만 필요하면 계속 비교·갱신하고, 최적해가 필요하면 즉시 반환한다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하나만 필요하면 즉시 반환하고, 최적해가 필요하면 계속 비교·갱신한다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두 경우 모두 반드시 끝까지 탐색을 마친 뒤에 결과를 반환한다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두 경우 모두 첫 번째 후보를 만나는 순간 그것을 반환한다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하나만 필요하면 후보 생성 단계를 통째로 건너뛸 수 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17</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'해 선택' 단계가 정답 하나만 필요한 경우와 최적해가 필요한 경우에 각각 어떻게 달라지는가?</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하나만 필요하면 즉시 반환하고, 최적해가 필요하면 계속 비교·갱신한다</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조건을 만족하는 답 하나면 충분한 문제는 찾는 즉시 return 하여 남은 탐색을 생략할 수 있다. 최적해를 구해야 하면 모든 후보를 끝까지 보며 최적값을 갱신해야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18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탐색의 후보 해 생성 단계가 반드시 지켜야 할 성질은?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생성한 후보를 정렬된 순서로 유지해야 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정답에 가까운 후보부터 생성해야 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빠짐없이 그리고 중복 없이 생성해야 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생성 개수가 입력 크기보다 작아야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생성 도중 조건을 만족하면 즉시 멈춰야 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탐색의 후보 해 생성 단계가 반드시 지켜야 할 성질은?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빠짐없이 그리고 중복 없이 생성해야 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하나라도 빠지면 정답을 놓칠 수 있어 정확성이 무너지고, 중복이 생기면 같은 경우를 여러 번 세어 결과가 틀어지거나 시간이 낭비된다. 생성 순서나 정렬 여부는 요구 사항이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19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 구조가 고급 알고리즘의 출발점이 된다고 말하는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고급 기법들이 완전 탐색의 비효율을 줄이는 방향으로 발전했기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탐색이 어떤 문제에서든 가장 빠른 방법으로 알려져 있기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고급 기법들이 완전 탐색보다 구현하기 훨씬 간단하기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고급 기법들이 완전 탐색과 똑같은 시간 복잡도를 갖기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탐색이 정답 대신 근사한 답만 구해 주기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19</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구조가 고급 알고리즘의 출발점이 된다고 말하는 이유로 가장 적절한 것은?</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고급 기법들이 완전 탐색의 비효율을 줄이는 방향으로 발전했기 때문이다</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백트래킹은 가지치기를, 분할 정복은 문제 분할을, 동적 계획법은 기억을 더해 완전 탐색의 낭비를 줄인 것이다. 기준점이 되는 구조가 완전 탐색이다.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순열과 조합을 구분하는 기준으로 가장 적절한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같은 원소를 두 번 이상 뽑는 것이 허용되는가</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뽑아야 하는 원소의 개수가 미리 정해져 있는가</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뽑은 결과에서 순서가 다르면 다른 경우로 볼 것인가</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원본 데이터가 오름차순으로 정렬되어 있는가</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결과를 리스트와 튜플 중 어느 쪽으로 저장하는가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순열과 조합을 구분하는 기준으로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뽑은 결과에서 순서가 다르면 다른 경우로 볼 것인가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순서를 구별하면 순열, 구별하지 않으면 조합이다. 1등과 2등을 정하는 문제는 순열, 대표 두 명을 뽑는 문제는 조합이다.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21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400824" cy="1444752"/>
          </a:xfrm>
          <a:prstGeom prst="roundRect">
            <a:avLst>
              <a:gd name="adj" fmla="val 506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permutations</a:t>
            </a:r>
            <a:endParaRPr lang="en-US" sz="1300" dirty="0"/>
          </a:p>
        </p:txBody>
      </p:sp>
      <p:sp>
        <p:nvSpPr>
          <p:cNvPr id="17" name="Text 14"/>
          <p:cNvSpPr/>
          <p:nvPr/>
        </p:nvSpPr>
        <p:spPr>
          <a:xfrm>
            <a:off x="859536" y="293890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list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permutations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4035064"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Shape 17"/>
          <p:cNvSpPr/>
          <p:nvPr/>
        </p:nvSpPr>
        <p:spPr>
          <a:xfrm>
            <a:off x="5388376" y="231254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1" name="Text 18"/>
          <p:cNvSpPr/>
          <p:nvPr/>
        </p:nvSpPr>
        <p:spPr>
          <a:xfrm>
            <a:off x="5626120" y="231254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2" name="Shape 19"/>
          <p:cNvSpPr/>
          <p:nvPr/>
        </p:nvSpPr>
        <p:spPr>
          <a:xfrm>
            <a:off x="5388376" y="295262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626120" y="295262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6</a:t>
            </a:r>
            <a:endParaRPr lang="en-US" sz="1600" dirty="0"/>
          </a:p>
        </p:txBody>
      </p:sp>
      <p:sp>
        <p:nvSpPr>
          <p:cNvPr id="24" name="Shape 21"/>
          <p:cNvSpPr/>
          <p:nvPr/>
        </p:nvSpPr>
        <p:spPr>
          <a:xfrm>
            <a:off x="5388376" y="359270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626120" y="359270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26" name="Shape 23"/>
          <p:cNvSpPr/>
          <p:nvPr/>
        </p:nvSpPr>
        <p:spPr>
          <a:xfrm>
            <a:off x="5388376" y="423278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626120" y="423278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9</a:t>
            </a:r>
            <a:endParaRPr lang="en-US" sz="1600" dirty="0"/>
          </a:p>
        </p:txBody>
      </p:sp>
      <p:sp>
        <p:nvSpPr>
          <p:cNvPr id="28" name="Shape 25"/>
          <p:cNvSpPr/>
          <p:nvPr/>
        </p:nvSpPr>
        <p:spPr>
          <a:xfrm>
            <a:off x="5388376" y="487286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626120" y="487286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8</a:t>
            </a:r>
            <a:endParaRPr lang="en-US" sz="1600" dirty="0"/>
          </a:p>
        </p:txBody>
      </p:sp>
      <p:sp>
        <p:nvSpPr>
          <p:cNvPr id="31" name="Text 2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21</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486787"/>
            <a:ext cx="4400824" cy="1444752"/>
          </a:xfrm>
          <a:prstGeom prst="roundRect">
            <a:avLst>
              <a:gd name="adj" fmla="val 506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400824"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permutations</a:t>
            </a:r>
            <a:endParaRPr lang="en-US" sz="1300" dirty="0"/>
          </a:p>
        </p:txBody>
      </p:sp>
      <p:sp>
        <p:nvSpPr>
          <p:cNvPr id="17" name="Text 14"/>
          <p:cNvSpPr/>
          <p:nvPr/>
        </p:nvSpPr>
        <p:spPr>
          <a:xfrm>
            <a:off x="859536" y="3113151"/>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list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permutations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4035064"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Shape 17"/>
          <p:cNvSpPr/>
          <p:nvPr/>
        </p:nvSpPr>
        <p:spPr>
          <a:xfrm>
            <a:off x="5388376" y="2486787"/>
            <a:ext cx="6178784"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1" name="Shape 18"/>
          <p:cNvSpPr/>
          <p:nvPr/>
        </p:nvSpPr>
        <p:spPr>
          <a:xfrm>
            <a:off x="5644408"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2" name="Image 1" descr="/home/claude/icons/check_white.png">    </p:cNvPr>
          <p:cNvPicPr>
            <a:picLocks noChangeAspect="1"/>
          </p:cNvPicPr>
          <p:nvPr/>
        </p:nvPicPr>
        <p:blipFill>
          <a:blip r:embed="rId2"/>
          <a:stretch>
            <a:fillRect/>
          </a:stretch>
        </p:blipFill>
        <p:spPr>
          <a:xfrm>
            <a:off x="5777545" y="2821092"/>
            <a:ext cx="245791" cy="245791"/>
          </a:xfrm>
          <a:prstGeom prst="rect">
            <a:avLst/>
          </a:prstGeom>
        </p:spPr>
      </p:pic>
      <p:sp>
        <p:nvSpPr>
          <p:cNvPr id="23" name="Text 19"/>
          <p:cNvSpPr/>
          <p:nvPr/>
        </p:nvSpPr>
        <p:spPr>
          <a:xfrm>
            <a:off x="6321064" y="2486787"/>
            <a:ext cx="4953488"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②   6</a:t>
            </a:r>
            <a:endParaRPr lang="en-US" sz="1350" dirty="0"/>
          </a:p>
        </p:txBody>
      </p:sp>
      <p:sp>
        <p:nvSpPr>
          <p:cNvPr id="24" name="Shape 20"/>
          <p:cNvSpPr/>
          <p:nvPr/>
        </p:nvSpPr>
        <p:spPr>
          <a:xfrm>
            <a:off x="5388376" y="3638931"/>
            <a:ext cx="6178784"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Shape 21"/>
          <p:cNvSpPr/>
          <p:nvPr/>
        </p:nvSpPr>
        <p:spPr>
          <a:xfrm>
            <a:off x="5644408"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6" name="Image 2" descr="/home/claude/icons/bulb_white.png">    </p:cNvPr>
          <p:cNvPicPr>
            <a:picLocks noChangeAspect="1"/>
          </p:cNvPicPr>
          <p:nvPr/>
        </p:nvPicPr>
        <p:blipFill>
          <a:blip r:embed="rId3"/>
          <a:stretch>
            <a:fillRect/>
          </a:stretch>
        </p:blipFill>
        <p:spPr>
          <a:xfrm>
            <a:off x="5768035" y="4000302"/>
            <a:ext cx="228234" cy="228234"/>
          </a:xfrm>
          <a:prstGeom prst="rect">
            <a:avLst/>
          </a:prstGeom>
        </p:spPr>
      </p:pic>
      <p:sp>
        <p:nvSpPr>
          <p:cNvPr id="27" name="Text 22"/>
          <p:cNvSpPr/>
          <p:nvPr/>
        </p:nvSpPr>
        <p:spPr>
          <a:xfrm>
            <a:off x="6302776" y="3785235"/>
            <a:ext cx="4990064"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3개 중 2개를 순서 있게 나열하므로 3P2 = 3 × 2 = 6이다. (A,B)와 (B,A)를 서로 다른 경우로 세기 때문에 조합보다 개수가 많다.</a:t>
            </a:r>
            <a:endParaRPr lang="en-US" sz="1300" dirty="0"/>
          </a:p>
        </p:txBody>
      </p:sp>
      <p:sp>
        <p:nvSpPr>
          <p:cNvPr id="29"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22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400824" cy="1444752"/>
          </a:xfrm>
          <a:prstGeom prst="roundRect">
            <a:avLst>
              <a:gd name="adj" fmla="val 506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endParaRPr lang="en-US" sz="1300" dirty="0"/>
          </a:p>
        </p:txBody>
      </p:sp>
      <p:sp>
        <p:nvSpPr>
          <p:cNvPr id="17" name="Text 14"/>
          <p:cNvSpPr/>
          <p:nvPr/>
        </p:nvSpPr>
        <p:spPr>
          <a:xfrm>
            <a:off x="859536" y="293890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list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combinations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4035064"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Shape 17"/>
          <p:cNvSpPr/>
          <p:nvPr/>
        </p:nvSpPr>
        <p:spPr>
          <a:xfrm>
            <a:off x="5388376" y="231254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1" name="Text 18"/>
          <p:cNvSpPr/>
          <p:nvPr/>
        </p:nvSpPr>
        <p:spPr>
          <a:xfrm>
            <a:off x="5626120" y="231254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2" name="Shape 19"/>
          <p:cNvSpPr/>
          <p:nvPr/>
        </p:nvSpPr>
        <p:spPr>
          <a:xfrm>
            <a:off x="5388376" y="295262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626120" y="295262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6</a:t>
            </a:r>
            <a:endParaRPr lang="en-US" sz="1600" dirty="0"/>
          </a:p>
        </p:txBody>
      </p:sp>
      <p:sp>
        <p:nvSpPr>
          <p:cNvPr id="24" name="Shape 21"/>
          <p:cNvSpPr/>
          <p:nvPr/>
        </p:nvSpPr>
        <p:spPr>
          <a:xfrm>
            <a:off x="5388376" y="359270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626120" y="359270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26" name="Shape 23"/>
          <p:cNvSpPr/>
          <p:nvPr/>
        </p:nvSpPr>
        <p:spPr>
          <a:xfrm>
            <a:off x="5388376" y="423278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626120" y="423278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9</a:t>
            </a:r>
            <a:endParaRPr lang="en-US" sz="1600" dirty="0"/>
          </a:p>
        </p:txBody>
      </p:sp>
      <p:sp>
        <p:nvSpPr>
          <p:cNvPr id="28" name="Shape 25"/>
          <p:cNvSpPr/>
          <p:nvPr/>
        </p:nvSpPr>
        <p:spPr>
          <a:xfrm>
            <a:off x="5388376" y="487286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626120" y="4872863"/>
            <a:ext cx="5776448"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4</a:t>
            </a:r>
            <a:endParaRPr lang="en-US" sz="1600" dirty="0"/>
          </a:p>
        </p:txBody>
      </p:sp>
      <p:sp>
        <p:nvSpPr>
          <p:cNvPr id="31" name="Text 2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22</a:t>
            </a:r>
            <a:endParaRPr lang="en-US" sz="1200" dirty="0"/>
          </a:p>
        </p:txBody>
      </p:sp>
      <p:sp>
        <p:nvSpPr>
          <p:cNvPr id="8" name="Text 5"/>
          <p:cNvSpPr/>
          <p:nvPr/>
        </p:nvSpPr>
        <p:spPr>
          <a:xfrm>
            <a:off x="658368" y="206565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605913"/>
            <a:ext cx="4400824" cy="1444752"/>
          </a:xfrm>
          <a:prstGeom prst="roundRect">
            <a:avLst>
              <a:gd name="adj" fmla="val 506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endParaRPr lang="en-US" sz="1300" dirty="0"/>
          </a:p>
        </p:txBody>
      </p:sp>
      <p:sp>
        <p:nvSpPr>
          <p:cNvPr id="17" name="Text 14"/>
          <p:cNvSpPr/>
          <p:nvPr/>
        </p:nvSpPr>
        <p:spPr>
          <a:xfrm>
            <a:off x="859536" y="323227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FE0A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list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combinations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items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680333"/>
            <a:ext cx="4035064"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result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Shape 17"/>
          <p:cNvSpPr/>
          <p:nvPr/>
        </p:nvSpPr>
        <p:spPr>
          <a:xfrm>
            <a:off x="5388376" y="2605913"/>
            <a:ext cx="6178784"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1" name="Shape 18"/>
          <p:cNvSpPr/>
          <p:nvPr/>
        </p:nvSpPr>
        <p:spPr>
          <a:xfrm>
            <a:off x="5644408"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2" name="Image 1" descr="/home/claude/icons/check_white.png">    </p:cNvPr>
          <p:cNvPicPr>
            <a:picLocks noChangeAspect="1"/>
          </p:cNvPicPr>
          <p:nvPr/>
        </p:nvPicPr>
        <p:blipFill>
          <a:blip r:embed="rId2"/>
          <a:stretch>
            <a:fillRect/>
          </a:stretch>
        </p:blipFill>
        <p:spPr>
          <a:xfrm>
            <a:off x="5777545" y="2940218"/>
            <a:ext cx="245791" cy="245791"/>
          </a:xfrm>
          <a:prstGeom prst="rect">
            <a:avLst/>
          </a:prstGeom>
        </p:spPr>
      </p:pic>
      <p:sp>
        <p:nvSpPr>
          <p:cNvPr id="23" name="Text 19"/>
          <p:cNvSpPr/>
          <p:nvPr/>
        </p:nvSpPr>
        <p:spPr>
          <a:xfrm>
            <a:off x="6321064" y="2605913"/>
            <a:ext cx="4953488"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3</a:t>
            </a:r>
            <a:endParaRPr lang="en-US" sz="1350" dirty="0"/>
          </a:p>
        </p:txBody>
      </p:sp>
      <p:sp>
        <p:nvSpPr>
          <p:cNvPr id="24" name="Shape 20"/>
          <p:cNvSpPr/>
          <p:nvPr/>
        </p:nvSpPr>
        <p:spPr>
          <a:xfrm>
            <a:off x="5388376" y="3758057"/>
            <a:ext cx="6178784"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Shape 21"/>
          <p:cNvSpPr/>
          <p:nvPr/>
        </p:nvSpPr>
        <p:spPr>
          <a:xfrm>
            <a:off x="5644408"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6" name="Image 2" descr="/home/claude/icons/bulb_white.png">    </p:cNvPr>
          <p:cNvPicPr>
            <a:picLocks noChangeAspect="1"/>
          </p:cNvPicPr>
          <p:nvPr/>
        </p:nvPicPr>
        <p:blipFill>
          <a:blip r:embed="rId3"/>
          <a:stretch>
            <a:fillRect/>
          </a:stretch>
        </p:blipFill>
        <p:spPr>
          <a:xfrm>
            <a:off x="5768035" y="4119428"/>
            <a:ext cx="228234" cy="228234"/>
          </a:xfrm>
          <a:prstGeom prst="rect">
            <a:avLst/>
          </a:prstGeom>
        </p:spPr>
      </p:pic>
      <p:sp>
        <p:nvSpPr>
          <p:cNvPr id="27" name="Text 22"/>
          <p:cNvSpPr/>
          <p:nvPr/>
        </p:nvSpPr>
        <p:spPr>
          <a:xfrm>
            <a:off x="6302776" y="3904361"/>
            <a:ext cx="4990064"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3개 중 2개를 순서 없이 고르므로 3C2 = 3이다. (A,B)와 (B,A)를 같은 경우로 보기 때문에 순열의 절반이 된다.</a:t>
            </a:r>
            <a:endParaRPr lang="en-US" sz="1300" dirty="0"/>
          </a:p>
        </p:txBody>
      </p:sp>
      <p:sp>
        <p:nvSpPr>
          <p:cNvPr id="29"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23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중 조합(combination)으로 세어야 하는 상황은?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5명 중에서 회장과 부회장을 각각 한 명씩 정하는 경우</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5개 메뉴 중 서로 다른 2개를 골라 세트를 만드는 경우</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서로 다른 숫자 3개를 이어 붙여 비밀번호를 만드는 경우</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네 개의 도시를 한 번씩 방문하는 순서를 정하는 경우</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달리기 경기에서 1등, 2등, 3등을 각각 정하는 경우</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중 조합(combination)으로 세어야 하는 상황은?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5개 메뉴 중 서로 다른 2개를 골라 세트를 만드는 경우</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세트에서는 초코·바닐라와 바닐라·초코가 같은 메뉴이므로 순서를 구별하지 않는다. 나머지 넷은 모두 순서가 결과를 바꾸므로 순열이다.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24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서로 다른 n개에서 r개를 뽑아 순서 있게 나열하는 경우의 수를 나타내는 식은?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r × (r−1) × … × 2 × 1</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 × (n−1) × … × (n−r) 의 곱</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 / (r! × (n−r)!)</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n × n × … × n (n을 r번 곱함)</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n × (n−1) × … × (n−r+1)</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서로 다른 n개에서 r개를 뽑아 순서 있게 나열하는 경우의 수를 나타내는 식은?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n × (n−1) × … × (n−r+1)</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첫 자리에 n가지, 다음 자리에 n−1가지 식으로 r개를 채우므로 n부터 시작해 r개의 수를 곱한다. 두 번째 식은 조합의 개수다.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25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itertools를 사용해 완전 탐색을 구현했을 때 얻는 효과로 옳은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조건을 만족하지 않는 후보를 자동으로 건너뛴다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탐색해야 할 경우의 수가 줄어든다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시간 복잡도의 차수가 한 단계 낮아진다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중첩 반복문을 짧은 코드로 대체할 수 있다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메모리를 전혀 사용하지 않고 동작한다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itertools를 사용해 완전 탐색을 구현했을 때 얻는 효과로 옳은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중첩 반복문을 짧은 코드로 대체할 수 있다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itertools는 코드를 짧고 수정하기 쉽게 만들어 줄 뿐 내부적으로는 모든 경우를 그대로 생성한다. 경우의 수도 복잡도도 달라지지 않는다.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26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숫자 1, 2, 3을 한 번씩 모두 사용해 만들 수 있는 세 자리 수의 개수는?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3개</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6개</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9개</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27개</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12개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숫자 1, 2, 3을 한 번씩 모두 사용해 만들 수 있는 세 자리 수의 개수는?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6개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세 개를 모두 사용해 순서 있게 나열하므로 3! = 3 × 2 × 1 = 6개다. permutations(nums, 3)으로 생성되는 후보의 개수와 같다.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27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4가지 맛 중 2가지를 골라 더블 컵을 만들 때 가능한 메뉴의 가짓수는? (순서 무관)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6가지</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12가지</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8가지</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16가지</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4가지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4가지 맛 중 2가지를 골라 더블 컵을 만들 때 가능한 메뉴의 가짓수는? (순서 무관)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6가지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4C2 = (4 × 3) / (2 × 1) = 6가지다. 순서를 구별했다면 4P2 = 12가지가 되지만, 초코·바닐라와 바닐라·초코는 같은 메뉴이므로 조합으로 센다.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28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로또처럼 45개의 번호 중 6개를 순서 없이 뽑는 경우의 수를 구하는 식으로 옳은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45! / 39!</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45! / (6! × 39!)</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45⁶</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45 × 44 × 43 × 42 × 41 × 40</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6! / 45!</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로또처럼 45개의 번호 중 6개를 순서 없이 뽑는 경우의 수를 구하는 식으로 옳은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45! / (6! × 39!)</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조합의 개수는 n! / (r! × (n−r)!) 이므로 45! / (6! × 39!) = 8,145,060이다. 네 번째 식은 순서를 구별한 45P6으로 이 값의 720배다.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29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n개 원소로 만들 수 있는 순열의 개수가 n! 이라는 것이 의미하는 바로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후보의 수가 n의 값과 무관하게 항상 일정하게 유지된다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n이 아무리 커져도 후보의 수가 완만하게만 늘어난다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후보의 수가 n의 크기에 정확히 정비례해서 늘어난다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후보의 수가 n의 제곱에 비례하는 속도로 늘어난다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n이 조금만 커져도 후보의 수가 감당할 수 없이 늘어난다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n개 원소로 만들 수 있는 순열의 개수가 n! 이라는 것이 의미하는 바로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n이 조금만 커져도 후보의 수가 감당할 수 없이 늘어난다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 은 약 360만이지만 20! 은 약 2.4 × 10¹⁸ 이다. 팩토리얼은 이 장에서 다루는 증가 유형 중 가장 빠르며, 순열을 전부 생성하는 방식은 n이 10을 넘기면 곧 한계에 부딪힌다.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0부터 9까지의 서로 다른 숫자 3개로 만드는 비밀번호의 개수는?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504개</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1,000개</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120개</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30개</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720개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0부터 9까지의 서로 다른 숫자 3개로 만드는 비밀번호의 개수는?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720개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서로 다른 세 숫자를 순서 있게 배치하므로 10P3 = 10 × 9 × 8 = 720개다. 중복을 허용했다면 10³ = 1,000개가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31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길이 n인 텍스트에서 길이 m인 패턴을 찾을 때, 비교를 시작할 수 있는 위치의 개수는?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길이 n인 텍스트에서 길이 m인 패턴을 찾을 때, 비교를 시작할 수 있는 위치의 개수는?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n − m + 1개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패턴이 텍스트를 벗어나지 않으려면 시작 위치가 0부터 n−m까지여야 하므로 n−m+1개다. n=11, m=3이면 9개의 시작 위치를 검사한다.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32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text = "ababcabcababd", pattern = "abc" 로 실행한 결과는?</a:t>
            </a:r>
            <a:endParaRPr lang="en-US" sz="2300" dirty="0"/>
          </a:p>
        </p:txBody>
      </p:sp>
      <p:sp>
        <p:nvSpPr>
          <p:cNvPr id="9" name="Shape 6"/>
          <p:cNvSpPr/>
          <p:nvPr/>
        </p:nvSpPr>
        <p:spPr>
          <a:xfrm>
            <a:off x="658368" y="2508250"/>
            <a:ext cx="448933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489338"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66637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12357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bf_match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32206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52780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93928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5076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False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55650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62246"/>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endParaRPr lang="en-US" sz="1200" dirty="0"/>
          </a:p>
        </p:txBody>
      </p:sp>
      <p:sp>
        <p:nvSpPr>
          <p:cNvPr id="26" name="Shape 23"/>
          <p:cNvSpPr/>
          <p:nvPr/>
        </p:nvSpPr>
        <p:spPr>
          <a:xfrm>
            <a:off x="5476890" y="2508250"/>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714634" y="2508250"/>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[5, 8]</a:t>
            </a:r>
            <a:endParaRPr lang="en-US" sz="1600" dirty="0"/>
          </a:p>
        </p:txBody>
      </p:sp>
      <p:sp>
        <p:nvSpPr>
          <p:cNvPr id="28" name="Shape 25"/>
          <p:cNvSpPr/>
          <p:nvPr/>
        </p:nvSpPr>
        <p:spPr>
          <a:xfrm>
            <a:off x="5476890" y="3148330"/>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714634" y="3148330"/>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[0, 2, 5]</a:t>
            </a:r>
            <a:endParaRPr lang="en-US" sz="1600" dirty="0"/>
          </a:p>
        </p:txBody>
      </p:sp>
      <p:sp>
        <p:nvSpPr>
          <p:cNvPr id="30" name="Shape 27"/>
          <p:cNvSpPr/>
          <p:nvPr/>
        </p:nvSpPr>
        <p:spPr>
          <a:xfrm>
            <a:off x="5476890" y="3788410"/>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714634" y="3788410"/>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32" name="Shape 29"/>
          <p:cNvSpPr/>
          <p:nvPr/>
        </p:nvSpPr>
        <p:spPr>
          <a:xfrm>
            <a:off x="5476890" y="4428490"/>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714634" y="4428490"/>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[2, 5]</a:t>
            </a:r>
            <a:endParaRPr lang="en-US" sz="1600" dirty="0"/>
          </a:p>
        </p:txBody>
      </p:sp>
      <p:sp>
        <p:nvSpPr>
          <p:cNvPr id="34" name="Shape 31"/>
          <p:cNvSpPr/>
          <p:nvPr/>
        </p:nvSpPr>
        <p:spPr>
          <a:xfrm>
            <a:off x="5476890" y="5068570"/>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714634" y="5068570"/>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32</a:t>
            </a:r>
            <a:endParaRPr lang="en-US" sz="1200" dirty="0"/>
          </a:p>
        </p:txBody>
      </p:sp>
      <p:sp>
        <p:nvSpPr>
          <p:cNvPr id="8" name="Text 5"/>
          <p:cNvSpPr/>
          <p:nvPr/>
        </p:nvSpPr>
        <p:spPr>
          <a:xfrm>
            <a:off x="658368" y="193357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text = "ababcabcababd", pattern = "abc" 로 실행한 결과는?</a:t>
            </a:r>
            <a:endParaRPr lang="en-US" sz="1500" dirty="0"/>
          </a:p>
        </p:txBody>
      </p:sp>
      <p:sp>
        <p:nvSpPr>
          <p:cNvPr id="9" name="Shape 6"/>
          <p:cNvSpPr/>
          <p:nvPr/>
        </p:nvSpPr>
        <p:spPr>
          <a:xfrm>
            <a:off x="658368" y="2473833"/>
            <a:ext cx="448933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73833"/>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75001"/>
            <a:ext cx="4489338" cy="109728"/>
          </a:xfrm>
          <a:prstGeom prst="rect">
            <a:avLst/>
          </a:prstGeom>
          <a:solidFill>
            <a:srgbClr val="2A2856"/>
          </a:solidFill>
          <a:ln w="12700">
            <a:solidFill>
              <a:srgbClr val="2A2856"/>
            </a:solidFill>
            <a:prstDash val="solid"/>
          </a:ln>
        </p:spPr>
      </p:sp>
      <p:sp>
        <p:nvSpPr>
          <p:cNvPr id="12" name="Shape 9"/>
          <p:cNvSpPr/>
          <p:nvPr/>
        </p:nvSpPr>
        <p:spPr>
          <a:xfrm>
            <a:off x="786384" y="257898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7898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7898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92121"/>
            <a:ext cx="366637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76169"/>
            <a:ext cx="412357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bf_match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08190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28764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49338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9912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90486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1060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1634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False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52208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2782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endParaRPr lang="en-US" sz="1200" dirty="0"/>
          </a:p>
        </p:txBody>
      </p:sp>
      <p:sp>
        <p:nvSpPr>
          <p:cNvPr id="26" name="Shape 23"/>
          <p:cNvSpPr/>
          <p:nvPr/>
        </p:nvSpPr>
        <p:spPr>
          <a:xfrm>
            <a:off x="5476890" y="2473833"/>
            <a:ext cx="6090270"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7" name="Shape 24"/>
          <p:cNvSpPr/>
          <p:nvPr/>
        </p:nvSpPr>
        <p:spPr>
          <a:xfrm>
            <a:off x="5732922" y="267500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8" name="Image 1" descr="/home/claude/icons/check_white.png">    </p:cNvPr>
          <p:cNvPicPr>
            <a:picLocks noChangeAspect="1"/>
          </p:cNvPicPr>
          <p:nvPr/>
        </p:nvPicPr>
        <p:blipFill>
          <a:blip r:embed="rId2"/>
          <a:stretch>
            <a:fillRect/>
          </a:stretch>
        </p:blipFill>
        <p:spPr>
          <a:xfrm>
            <a:off x="5866059" y="2808138"/>
            <a:ext cx="245791" cy="245791"/>
          </a:xfrm>
          <a:prstGeom prst="rect">
            <a:avLst/>
          </a:prstGeom>
        </p:spPr>
      </p:pic>
      <p:sp>
        <p:nvSpPr>
          <p:cNvPr id="29" name="Text 25"/>
          <p:cNvSpPr/>
          <p:nvPr/>
        </p:nvSpPr>
        <p:spPr>
          <a:xfrm>
            <a:off x="6409578" y="2473833"/>
            <a:ext cx="4864974"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[2, 5]</a:t>
            </a:r>
            <a:endParaRPr lang="en-US" sz="1350" dirty="0"/>
          </a:p>
        </p:txBody>
      </p:sp>
      <p:sp>
        <p:nvSpPr>
          <p:cNvPr id="30" name="Shape 26"/>
          <p:cNvSpPr/>
          <p:nvPr/>
        </p:nvSpPr>
        <p:spPr>
          <a:xfrm>
            <a:off x="5476890" y="3625977"/>
            <a:ext cx="6090270"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Shape 27"/>
          <p:cNvSpPr/>
          <p:nvPr/>
        </p:nvSpPr>
        <p:spPr>
          <a:xfrm>
            <a:off x="5732922" y="386372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2" name="Image 2" descr="/home/claude/icons/bulb_white.png">    </p:cNvPr>
          <p:cNvPicPr>
            <a:picLocks noChangeAspect="1"/>
          </p:cNvPicPr>
          <p:nvPr/>
        </p:nvPicPr>
        <p:blipFill>
          <a:blip r:embed="rId3"/>
          <a:stretch>
            <a:fillRect/>
          </a:stretch>
        </p:blipFill>
        <p:spPr>
          <a:xfrm>
            <a:off x="5856549" y="3987348"/>
            <a:ext cx="228234" cy="228234"/>
          </a:xfrm>
          <a:prstGeom prst="rect">
            <a:avLst/>
          </a:prstGeom>
        </p:spPr>
      </p:pic>
      <p:sp>
        <p:nvSpPr>
          <p:cNvPr id="33" name="Text 28"/>
          <p:cNvSpPr/>
          <p:nvPr/>
        </p:nvSpPr>
        <p:spPr>
          <a:xfrm>
            <a:off x="6391290" y="3772281"/>
            <a:ext cx="4901550"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인덱스 2에서 abc, 인덱스 5에서 abc가 일치한다. 인덱스 0은 aba이므로 세 번째 문자에서 어긋난다.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33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무차별 문자열 매칭의 최악의 경우 시간 복잡도는? (텍스트 길이 n, 패턴 길이 m)</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O(n / m)</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O(n + m)</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O(m)</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O(n × m)</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무차별 문자열 매칭의 최악의 경우 시간 복잡도는? (텍스트 길이 n, 패턴 길이 m)</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O(n × m)</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시작 위치가 최대 n−m+1개이고 각 위치에서 최대 m번 비교하므로 곱해서 O(n×m)이다. KMP가 O(n+m), 보이어-무어가 평균 O(n/m)으로 이를 개선한 알고리즘이다.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34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break 문이 하는 역할로 가장 적절한 것은?</a:t>
            </a:r>
            <a:endParaRPr lang="en-US" sz="2300" dirty="0"/>
          </a:p>
        </p:txBody>
      </p:sp>
      <p:sp>
        <p:nvSpPr>
          <p:cNvPr id="9" name="Shape 6"/>
          <p:cNvSpPr/>
          <p:nvPr/>
        </p:nvSpPr>
        <p:spPr>
          <a:xfrm>
            <a:off x="658368" y="2312543"/>
            <a:ext cx="448933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89338"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66637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12357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bf_match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92061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12635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33209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3783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74357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4931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15505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False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36079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566539"/>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endParaRPr lang="en-US" sz="1200" dirty="0"/>
          </a:p>
        </p:txBody>
      </p:sp>
      <p:sp>
        <p:nvSpPr>
          <p:cNvPr id="26" name="Shape 23"/>
          <p:cNvSpPr/>
          <p:nvPr/>
        </p:nvSpPr>
        <p:spPr>
          <a:xfrm>
            <a:off x="5476890" y="2312543"/>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714634" y="2312543"/>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한 글자라도 어긋나면 남은 비교를 생략하고 다음 시작 위치로 넘어간다</a:t>
            </a:r>
            <a:endParaRPr lang="en-US" sz="1600" dirty="0"/>
          </a:p>
        </p:txBody>
      </p:sp>
      <p:sp>
        <p:nvSpPr>
          <p:cNvPr id="28" name="Shape 25"/>
          <p:cNvSpPr/>
          <p:nvPr/>
        </p:nvSpPr>
        <p:spPr>
          <a:xfrm>
            <a:off x="5476890" y="2952623"/>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714634" y="2952623"/>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패턴을 찾으면 함수 전체를 즉시 끝내고 지금까지의 결과를 반환한다</a:t>
            </a:r>
            <a:endParaRPr lang="en-US" sz="1600" dirty="0"/>
          </a:p>
        </p:txBody>
      </p:sp>
      <p:sp>
        <p:nvSpPr>
          <p:cNvPr id="30" name="Shape 27"/>
          <p:cNvSpPr/>
          <p:nvPr/>
        </p:nvSpPr>
        <p:spPr>
          <a:xfrm>
            <a:off x="5476890" y="3592703"/>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714634" y="3592703"/>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패턴 길이가 텍스트보다 길 때 발생하는 인덱스 오류를 막아 준다</a:t>
            </a:r>
            <a:endParaRPr lang="en-US" sz="1600" dirty="0"/>
          </a:p>
        </p:txBody>
      </p:sp>
      <p:sp>
        <p:nvSpPr>
          <p:cNvPr id="32" name="Shape 29"/>
          <p:cNvSpPr/>
          <p:nvPr/>
        </p:nvSpPr>
        <p:spPr>
          <a:xfrm>
            <a:off x="5476890" y="4232783"/>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714634" y="4232783"/>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텍스트의 마지막 글자에 도달하면 바깥 반복문까지 함께 멈춘다</a:t>
            </a:r>
            <a:endParaRPr lang="en-US" sz="1600" dirty="0"/>
          </a:p>
        </p:txBody>
      </p:sp>
      <p:sp>
        <p:nvSpPr>
          <p:cNvPr id="34" name="Shape 31"/>
          <p:cNvSpPr/>
          <p:nvPr/>
        </p:nvSpPr>
        <p:spPr>
          <a:xfrm>
            <a:off x="5476890" y="4872863"/>
            <a:ext cx="609027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714634" y="4872863"/>
            <a:ext cx="568793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이미 찾은 시작 위치를 다시 검사하지 않도록 건너뛰게 한다</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34</a:t>
            </a:r>
            <a:endParaRPr lang="en-US" sz="1200" dirty="0"/>
          </a:p>
        </p:txBody>
      </p:sp>
      <p:sp>
        <p:nvSpPr>
          <p:cNvPr id="8" name="Text 5"/>
          <p:cNvSpPr/>
          <p:nvPr/>
        </p:nvSpPr>
        <p:spPr>
          <a:xfrm>
            <a:off x="658368" y="176618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break 문이 하는 역할로 가장 적절한 것은?</a:t>
            </a:r>
            <a:endParaRPr lang="en-US" sz="1500" dirty="0"/>
          </a:p>
        </p:txBody>
      </p:sp>
      <p:sp>
        <p:nvSpPr>
          <p:cNvPr id="9" name="Shape 6"/>
          <p:cNvSpPr/>
          <p:nvPr/>
        </p:nvSpPr>
        <p:spPr>
          <a:xfrm>
            <a:off x="658368" y="2306447"/>
            <a:ext cx="448933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06447"/>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07615"/>
            <a:ext cx="4489338" cy="109728"/>
          </a:xfrm>
          <a:prstGeom prst="rect">
            <a:avLst/>
          </a:prstGeom>
          <a:solidFill>
            <a:srgbClr val="2A2856"/>
          </a:solidFill>
          <a:ln w="12700">
            <a:solidFill>
              <a:srgbClr val="2A2856"/>
            </a:solidFill>
            <a:prstDash val="solid"/>
          </a:ln>
        </p:spPr>
      </p:sp>
      <p:sp>
        <p:nvSpPr>
          <p:cNvPr id="12" name="Shape 9"/>
          <p:cNvSpPr/>
          <p:nvPr/>
        </p:nvSpPr>
        <p:spPr>
          <a:xfrm>
            <a:off x="786384" y="241160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160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160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24735"/>
            <a:ext cx="366637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08783"/>
            <a:ext cx="412357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bf_match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91452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12026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32600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3174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73748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4322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text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pattern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14896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False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35470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ok</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560443"/>
            <a:ext cx="412357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found</a:t>
            </a:r>
            <a:endParaRPr lang="en-US" sz="1200" dirty="0"/>
          </a:p>
        </p:txBody>
      </p:sp>
      <p:sp>
        <p:nvSpPr>
          <p:cNvPr id="26" name="Shape 23"/>
          <p:cNvSpPr/>
          <p:nvPr/>
        </p:nvSpPr>
        <p:spPr>
          <a:xfrm>
            <a:off x="5476890" y="2306447"/>
            <a:ext cx="6090270"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7" name="Shape 24"/>
          <p:cNvSpPr/>
          <p:nvPr/>
        </p:nvSpPr>
        <p:spPr>
          <a:xfrm>
            <a:off x="5732922" y="256882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8" name="Image 1" descr="/home/claude/icons/check_white.png">    </p:cNvPr>
          <p:cNvPicPr>
            <a:picLocks noChangeAspect="1"/>
          </p:cNvPicPr>
          <p:nvPr/>
        </p:nvPicPr>
        <p:blipFill>
          <a:blip r:embed="rId2"/>
          <a:stretch>
            <a:fillRect/>
          </a:stretch>
        </p:blipFill>
        <p:spPr>
          <a:xfrm>
            <a:off x="5866059" y="2701966"/>
            <a:ext cx="245791" cy="245791"/>
          </a:xfrm>
          <a:prstGeom prst="rect">
            <a:avLst/>
          </a:prstGeom>
        </p:spPr>
      </p:pic>
      <p:sp>
        <p:nvSpPr>
          <p:cNvPr id="29" name="Text 25"/>
          <p:cNvSpPr/>
          <p:nvPr/>
        </p:nvSpPr>
        <p:spPr>
          <a:xfrm>
            <a:off x="6409578" y="2306447"/>
            <a:ext cx="4864974"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한 글자라도 어긋나면 남은 비교를 생략하고 다음 시작 위치로 넘어간다</a:t>
            </a:r>
            <a:endParaRPr lang="en-US" sz="1350" dirty="0"/>
          </a:p>
        </p:txBody>
      </p:sp>
      <p:sp>
        <p:nvSpPr>
          <p:cNvPr id="30" name="Shape 26"/>
          <p:cNvSpPr/>
          <p:nvPr/>
        </p:nvSpPr>
        <p:spPr>
          <a:xfrm>
            <a:off x="5476890" y="3581019"/>
            <a:ext cx="6090270" cy="1666240"/>
          </a:xfrm>
          <a:prstGeom prst="roundRect">
            <a:avLst>
              <a:gd name="adj" fmla="val 658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Shape 27"/>
          <p:cNvSpPr/>
          <p:nvPr/>
        </p:nvSpPr>
        <p:spPr>
          <a:xfrm>
            <a:off x="5732922" y="381876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2" name="Image 2" descr="/home/claude/icons/bulb_white.png">    </p:cNvPr>
          <p:cNvPicPr>
            <a:picLocks noChangeAspect="1"/>
          </p:cNvPicPr>
          <p:nvPr/>
        </p:nvPicPr>
        <p:blipFill>
          <a:blip r:embed="rId3"/>
          <a:stretch>
            <a:fillRect/>
          </a:stretch>
        </p:blipFill>
        <p:spPr>
          <a:xfrm>
            <a:off x="5856549" y="3942390"/>
            <a:ext cx="228234" cy="228234"/>
          </a:xfrm>
          <a:prstGeom prst="rect">
            <a:avLst/>
          </a:prstGeom>
        </p:spPr>
      </p:pic>
      <p:sp>
        <p:nvSpPr>
          <p:cNvPr id="33" name="Text 28"/>
          <p:cNvSpPr/>
          <p:nvPr/>
        </p:nvSpPr>
        <p:spPr>
          <a:xfrm>
            <a:off x="6391290" y="3727323"/>
            <a:ext cx="4901550" cy="137363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안쪽 반복문의 break이므로 그 시작 위치에 대한 비교만 중단된다. 한 글자만 달라도 그 위치는 이미 실패이므로 나머지를 볼 필요가 없다. 함수를 끝내는 것은 return이지 break가 아니다.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35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arr = [10, 3, 22, 15, 17, 9] 로 실행했을 때 반환되는 최소 차이는?</a:t>
            </a:r>
            <a:endParaRPr lang="en-US" sz="2300" dirty="0"/>
          </a:p>
        </p:txBody>
      </p:sp>
      <p:sp>
        <p:nvSpPr>
          <p:cNvPr id="9" name="Shape 6"/>
          <p:cNvSpPr/>
          <p:nvPr/>
        </p:nvSpPr>
        <p:spPr>
          <a:xfrm>
            <a:off x="658368" y="2508250"/>
            <a:ext cx="439277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392778"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6981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2701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closest_pair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float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FE0A0"/>
                </a:solidFill>
                <a:latin typeface="Consolas" pitchFamily="34" charset="0"/>
                <a:ea typeface="Consolas" pitchFamily="34" charset="-122"/>
                <a:cs typeface="Consolas" pitchFamily="34" charset="-120"/>
              </a:rPr>
              <a:t>'inf'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32206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52780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93928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abs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5076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endParaRPr lang="en-US" sz="1200" dirty="0"/>
          </a:p>
        </p:txBody>
      </p:sp>
      <p:sp>
        <p:nvSpPr>
          <p:cNvPr id="24" name="Text 21"/>
          <p:cNvSpPr/>
          <p:nvPr/>
        </p:nvSpPr>
        <p:spPr>
          <a:xfrm>
            <a:off x="859536" y="455650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6224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endParaRPr lang="en-US" sz="1200" dirty="0"/>
          </a:p>
        </p:txBody>
      </p:sp>
      <p:sp>
        <p:nvSpPr>
          <p:cNvPr id="26" name="Shape 23"/>
          <p:cNvSpPr/>
          <p:nvPr/>
        </p:nvSpPr>
        <p:spPr>
          <a:xfrm>
            <a:off x="5380330" y="250825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618074" y="250825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7</a:t>
            </a:r>
            <a:endParaRPr lang="en-US" sz="1600" dirty="0"/>
          </a:p>
        </p:txBody>
      </p:sp>
      <p:sp>
        <p:nvSpPr>
          <p:cNvPr id="28" name="Shape 25"/>
          <p:cNvSpPr/>
          <p:nvPr/>
        </p:nvSpPr>
        <p:spPr>
          <a:xfrm>
            <a:off x="5380330" y="314833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618074" y="314833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30" name="Shape 27"/>
          <p:cNvSpPr/>
          <p:nvPr/>
        </p:nvSpPr>
        <p:spPr>
          <a:xfrm>
            <a:off x="5380330" y="378841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618074" y="378841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32" name="Shape 29"/>
          <p:cNvSpPr/>
          <p:nvPr/>
        </p:nvSpPr>
        <p:spPr>
          <a:xfrm>
            <a:off x="5380330" y="442849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618074" y="442849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5</a:t>
            </a:r>
            <a:endParaRPr lang="en-US" sz="1600" dirty="0"/>
          </a:p>
        </p:txBody>
      </p:sp>
      <p:sp>
        <p:nvSpPr>
          <p:cNvPr id="34" name="Shape 31"/>
          <p:cNvSpPr/>
          <p:nvPr/>
        </p:nvSpPr>
        <p:spPr>
          <a:xfrm>
            <a:off x="5380330" y="506857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618074" y="506857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35</a:t>
            </a:r>
            <a:endParaRPr lang="en-US" sz="1200" dirty="0"/>
          </a:p>
        </p:txBody>
      </p:sp>
      <p:sp>
        <p:nvSpPr>
          <p:cNvPr id="8" name="Text 5"/>
          <p:cNvSpPr/>
          <p:nvPr/>
        </p:nvSpPr>
        <p:spPr>
          <a:xfrm>
            <a:off x="658368" y="193357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arr = [10, 3, 22, 15, 17, 9] 로 실행했을 때 반환되는 최소 차이는?</a:t>
            </a:r>
            <a:endParaRPr lang="en-US" sz="1500" dirty="0"/>
          </a:p>
        </p:txBody>
      </p:sp>
      <p:sp>
        <p:nvSpPr>
          <p:cNvPr id="9" name="Shape 6"/>
          <p:cNvSpPr/>
          <p:nvPr/>
        </p:nvSpPr>
        <p:spPr>
          <a:xfrm>
            <a:off x="658368" y="2473833"/>
            <a:ext cx="439277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73833"/>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75001"/>
            <a:ext cx="4392778" cy="109728"/>
          </a:xfrm>
          <a:prstGeom prst="rect">
            <a:avLst/>
          </a:prstGeom>
          <a:solidFill>
            <a:srgbClr val="2A2856"/>
          </a:solidFill>
          <a:ln w="12700">
            <a:solidFill>
              <a:srgbClr val="2A2856"/>
            </a:solidFill>
            <a:prstDash val="solid"/>
          </a:ln>
        </p:spPr>
      </p:sp>
      <p:sp>
        <p:nvSpPr>
          <p:cNvPr id="12" name="Shape 9"/>
          <p:cNvSpPr/>
          <p:nvPr/>
        </p:nvSpPr>
        <p:spPr>
          <a:xfrm>
            <a:off x="786384" y="257898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7898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7898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92121"/>
            <a:ext cx="356981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76169"/>
            <a:ext cx="402701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closest_pair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08190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float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FE0A0"/>
                </a:solidFill>
                <a:latin typeface="Consolas" pitchFamily="34" charset="0"/>
                <a:ea typeface="Consolas" pitchFamily="34" charset="-122"/>
                <a:cs typeface="Consolas" pitchFamily="34" charset="-120"/>
              </a:rPr>
              <a:t>'inf'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28764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49338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9912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90486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abs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1060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1634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endParaRPr lang="en-US" sz="1200" dirty="0"/>
          </a:p>
        </p:txBody>
      </p:sp>
      <p:sp>
        <p:nvSpPr>
          <p:cNvPr id="24" name="Text 21"/>
          <p:cNvSpPr/>
          <p:nvPr/>
        </p:nvSpPr>
        <p:spPr>
          <a:xfrm>
            <a:off x="859536" y="452208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2782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endParaRPr lang="en-US" sz="1200" dirty="0"/>
          </a:p>
        </p:txBody>
      </p:sp>
      <p:sp>
        <p:nvSpPr>
          <p:cNvPr id="26" name="Shape 23"/>
          <p:cNvSpPr/>
          <p:nvPr/>
        </p:nvSpPr>
        <p:spPr>
          <a:xfrm>
            <a:off x="5380330" y="2473833"/>
            <a:ext cx="6186830"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7" name="Shape 24"/>
          <p:cNvSpPr/>
          <p:nvPr/>
        </p:nvSpPr>
        <p:spPr>
          <a:xfrm>
            <a:off x="5636362" y="267500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8" name="Image 1" descr="/home/claude/icons/check_white.png">    </p:cNvPr>
          <p:cNvPicPr>
            <a:picLocks noChangeAspect="1"/>
          </p:cNvPicPr>
          <p:nvPr/>
        </p:nvPicPr>
        <p:blipFill>
          <a:blip r:embed="rId2"/>
          <a:stretch>
            <a:fillRect/>
          </a:stretch>
        </p:blipFill>
        <p:spPr>
          <a:xfrm>
            <a:off x="5769498" y="2808138"/>
            <a:ext cx="245791" cy="245791"/>
          </a:xfrm>
          <a:prstGeom prst="rect">
            <a:avLst/>
          </a:prstGeom>
        </p:spPr>
      </p:pic>
      <p:sp>
        <p:nvSpPr>
          <p:cNvPr id="29" name="Text 25"/>
          <p:cNvSpPr/>
          <p:nvPr/>
        </p:nvSpPr>
        <p:spPr>
          <a:xfrm>
            <a:off x="6313018" y="2473833"/>
            <a:ext cx="4961534"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⑤   1</a:t>
            </a:r>
            <a:endParaRPr lang="en-US" sz="1350" dirty="0"/>
          </a:p>
        </p:txBody>
      </p:sp>
      <p:sp>
        <p:nvSpPr>
          <p:cNvPr id="30" name="Shape 26"/>
          <p:cNvSpPr/>
          <p:nvPr/>
        </p:nvSpPr>
        <p:spPr>
          <a:xfrm>
            <a:off x="5380330" y="3625977"/>
            <a:ext cx="6186830"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Shape 27"/>
          <p:cNvSpPr/>
          <p:nvPr/>
        </p:nvSpPr>
        <p:spPr>
          <a:xfrm>
            <a:off x="5636362" y="386372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2" name="Image 2" descr="/home/claude/icons/bulb_white.png">    </p:cNvPr>
          <p:cNvPicPr>
            <a:picLocks noChangeAspect="1"/>
          </p:cNvPicPr>
          <p:nvPr/>
        </p:nvPicPr>
        <p:blipFill>
          <a:blip r:embed="rId3"/>
          <a:stretch>
            <a:fillRect/>
          </a:stretch>
        </p:blipFill>
        <p:spPr>
          <a:xfrm>
            <a:off x="5759988" y="3987348"/>
            <a:ext cx="228234" cy="228234"/>
          </a:xfrm>
          <a:prstGeom prst="rect">
            <a:avLst/>
          </a:prstGeom>
        </p:spPr>
      </p:pic>
      <p:sp>
        <p:nvSpPr>
          <p:cNvPr id="33" name="Text 28"/>
          <p:cNvSpPr/>
          <p:nvPr/>
        </p:nvSpPr>
        <p:spPr>
          <a:xfrm>
            <a:off x="6294730" y="3772281"/>
            <a:ext cx="4998110"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10과 9의 차이가 1로 가장 작다. 15와 17의 차이 2가 그다음이다. 모든 쌍을 검사하는 O(n²) 방식이며 분할 정복을 적용하면 O(n log n)까지 개선된다.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36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min_diff를 float('inf')로 초기화한 이유로 가장 적절한 것은?</a:t>
            </a:r>
            <a:endParaRPr lang="en-US" sz="2300" dirty="0"/>
          </a:p>
        </p:txBody>
      </p:sp>
      <p:sp>
        <p:nvSpPr>
          <p:cNvPr id="9" name="Shape 6"/>
          <p:cNvSpPr/>
          <p:nvPr/>
        </p:nvSpPr>
        <p:spPr>
          <a:xfrm>
            <a:off x="658368" y="2508250"/>
            <a:ext cx="439277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392778"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6981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2701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closest_pair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float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FE0A0"/>
                </a:solidFill>
                <a:latin typeface="Consolas" pitchFamily="34" charset="0"/>
                <a:ea typeface="Consolas" pitchFamily="34" charset="-122"/>
                <a:cs typeface="Consolas" pitchFamily="34" charset="-120"/>
              </a:rPr>
              <a:t>'inf'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32206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52780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93928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abs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5076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endParaRPr lang="en-US" sz="1200" dirty="0"/>
          </a:p>
        </p:txBody>
      </p:sp>
      <p:sp>
        <p:nvSpPr>
          <p:cNvPr id="24" name="Text 21"/>
          <p:cNvSpPr/>
          <p:nvPr/>
        </p:nvSpPr>
        <p:spPr>
          <a:xfrm>
            <a:off x="859536" y="455650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62246"/>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endParaRPr lang="en-US" sz="1200" dirty="0"/>
          </a:p>
        </p:txBody>
      </p:sp>
      <p:sp>
        <p:nvSpPr>
          <p:cNvPr id="26" name="Shape 23"/>
          <p:cNvSpPr/>
          <p:nvPr/>
        </p:nvSpPr>
        <p:spPr>
          <a:xfrm>
            <a:off x="5380330" y="250825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618074" y="250825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정렬되지 않은 리스트도 처리할 수 있게 하기 위해</a:t>
            </a:r>
            <a:endParaRPr lang="en-US" sz="1600" dirty="0"/>
          </a:p>
        </p:txBody>
      </p:sp>
      <p:sp>
        <p:nvSpPr>
          <p:cNvPr id="28" name="Shape 25"/>
          <p:cNvSpPr/>
          <p:nvPr/>
        </p:nvSpPr>
        <p:spPr>
          <a:xfrm>
            <a:off x="5380330" y="314833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618074" y="314833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차이를 정수가 아닌 실수형으로 계산하도록 하기 위해</a:t>
            </a:r>
            <a:endParaRPr lang="en-US" sz="1600" dirty="0"/>
          </a:p>
        </p:txBody>
      </p:sp>
      <p:sp>
        <p:nvSpPr>
          <p:cNvPr id="30" name="Shape 27"/>
          <p:cNvSpPr/>
          <p:nvPr/>
        </p:nvSpPr>
        <p:spPr>
          <a:xfrm>
            <a:off x="5380330" y="378841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618074" y="378841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두 수의 차이가 음수가 되는 경우를 미리 막기 위해</a:t>
            </a:r>
            <a:endParaRPr lang="en-US" sz="1600" dirty="0"/>
          </a:p>
        </p:txBody>
      </p:sp>
      <p:sp>
        <p:nvSpPr>
          <p:cNvPr id="32" name="Shape 29"/>
          <p:cNvSpPr/>
          <p:nvPr/>
        </p:nvSpPr>
        <p:spPr>
          <a:xfrm>
            <a:off x="5380330" y="442849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618074" y="442849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리스트가 비어 있을 때 생기는 오류를 피하기 위해</a:t>
            </a:r>
            <a:endParaRPr lang="en-US" sz="1600" dirty="0"/>
          </a:p>
        </p:txBody>
      </p:sp>
      <p:sp>
        <p:nvSpPr>
          <p:cNvPr id="34" name="Shape 31"/>
          <p:cNvSpPr/>
          <p:nvPr/>
        </p:nvSpPr>
        <p:spPr>
          <a:xfrm>
            <a:off x="5380330" y="5068570"/>
            <a:ext cx="6186830"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618074" y="5068570"/>
            <a:ext cx="5784494"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첫 번째로 계산되는 차이가 반드시 갱신되도록 하기 위해</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36</a:t>
            </a:r>
            <a:endParaRPr lang="en-US" sz="1200" dirty="0"/>
          </a:p>
        </p:txBody>
      </p:sp>
      <p:sp>
        <p:nvSpPr>
          <p:cNvPr id="8" name="Text 5"/>
          <p:cNvSpPr/>
          <p:nvPr/>
        </p:nvSpPr>
        <p:spPr>
          <a:xfrm>
            <a:off x="658368" y="188531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min_diff를 float('inf')로 초기화한 이유로 가장 적절한 것은?</a:t>
            </a:r>
            <a:endParaRPr lang="en-US" sz="1500" dirty="0"/>
          </a:p>
        </p:txBody>
      </p:sp>
      <p:sp>
        <p:nvSpPr>
          <p:cNvPr id="9" name="Shape 6"/>
          <p:cNvSpPr/>
          <p:nvPr/>
        </p:nvSpPr>
        <p:spPr>
          <a:xfrm>
            <a:off x="658368" y="2425573"/>
            <a:ext cx="4392778"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25573"/>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26741"/>
            <a:ext cx="4392778" cy="109728"/>
          </a:xfrm>
          <a:prstGeom prst="rect">
            <a:avLst/>
          </a:prstGeom>
          <a:solidFill>
            <a:srgbClr val="2A2856"/>
          </a:solidFill>
          <a:ln w="12700">
            <a:solidFill>
              <a:srgbClr val="2A2856"/>
            </a:solidFill>
            <a:prstDash val="solid"/>
          </a:ln>
        </p:spPr>
      </p:sp>
      <p:sp>
        <p:nvSpPr>
          <p:cNvPr id="12" name="Shape 9"/>
          <p:cNvSpPr/>
          <p:nvPr/>
        </p:nvSpPr>
        <p:spPr>
          <a:xfrm>
            <a:off x="786384" y="253072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3072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3072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43861"/>
            <a:ext cx="3569818"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27909"/>
            <a:ext cx="4027018"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closest_pair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03364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float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FE0A0"/>
                </a:solidFill>
                <a:latin typeface="Consolas" pitchFamily="34" charset="0"/>
                <a:ea typeface="Consolas" pitchFamily="34" charset="-122"/>
                <a:cs typeface="Consolas" pitchFamily="34" charset="-120"/>
              </a:rPr>
              <a:t>'inf'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23938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44512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5086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85660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abs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06234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26808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diff</a:t>
            </a:r>
            <a:endParaRPr lang="en-US" sz="1200" dirty="0"/>
          </a:p>
        </p:txBody>
      </p:sp>
      <p:sp>
        <p:nvSpPr>
          <p:cNvPr id="24" name="Text 21"/>
          <p:cNvSpPr/>
          <p:nvPr/>
        </p:nvSpPr>
        <p:spPr>
          <a:xfrm>
            <a:off x="859536" y="447382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679569"/>
            <a:ext cx="4027018"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best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min_diff</a:t>
            </a:r>
            <a:endParaRPr lang="en-US" sz="1200" dirty="0"/>
          </a:p>
        </p:txBody>
      </p:sp>
      <p:sp>
        <p:nvSpPr>
          <p:cNvPr id="26" name="Shape 23"/>
          <p:cNvSpPr/>
          <p:nvPr/>
        </p:nvSpPr>
        <p:spPr>
          <a:xfrm>
            <a:off x="5380330" y="2425573"/>
            <a:ext cx="6186830"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7" name="Shape 24"/>
          <p:cNvSpPr/>
          <p:nvPr/>
        </p:nvSpPr>
        <p:spPr>
          <a:xfrm>
            <a:off x="5636362"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8" name="Image 1" descr="/home/claude/icons/check_white.png">    </p:cNvPr>
          <p:cNvPicPr>
            <a:picLocks noChangeAspect="1"/>
          </p:cNvPicPr>
          <p:nvPr/>
        </p:nvPicPr>
        <p:blipFill>
          <a:blip r:embed="rId2"/>
          <a:stretch>
            <a:fillRect/>
          </a:stretch>
        </p:blipFill>
        <p:spPr>
          <a:xfrm>
            <a:off x="5769498" y="2821092"/>
            <a:ext cx="245791" cy="245791"/>
          </a:xfrm>
          <a:prstGeom prst="rect">
            <a:avLst/>
          </a:prstGeom>
        </p:spPr>
      </p:pic>
      <p:sp>
        <p:nvSpPr>
          <p:cNvPr id="29" name="Text 25"/>
          <p:cNvSpPr/>
          <p:nvPr/>
        </p:nvSpPr>
        <p:spPr>
          <a:xfrm>
            <a:off x="6313018" y="2425573"/>
            <a:ext cx="4961534"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⑤   첫 번째로 계산되는 차이가 반드시 갱신되도록 하기 위해</a:t>
            </a:r>
            <a:endParaRPr lang="en-US" sz="1350" dirty="0"/>
          </a:p>
        </p:txBody>
      </p:sp>
      <p:sp>
        <p:nvSpPr>
          <p:cNvPr id="30" name="Shape 26"/>
          <p:cNvSpPr/>
          <p:nvPr/>
        </p:nvSpPr>
        <p:spPr>
          <a:xfrm>
            <a:off x="5380330" y="3700145"/>
            <a:ext cx="6186830"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Shape 27"/>
          <p:cNvSpPr/>
          <p:nvPr/>
        </p:nvSpPr>
        <p:spPr>
          <a:xfrm>
            <a:off x="5636362" y="393788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2" name="Image 2" descr="/home/claude/icons/bulb_white.png">    </p:cNvPr>
          <p:cNvPicPr>
            <a:picLocks noChangeAspect="1"/>
          </p:cNvPicPr>
          <p:nvPr/>
        </p:nvPicPr>
        <p:blipFill>
          <a:blip r:embed="rId3"/>
          <a:stretch>
            <a:fillRect/>
          </a:stretch>
        </p:blipFill>
        <p:spPr>
          <a:xfrm>
            <a:off x="5759988" y="4061516"/>
            <a:ext cx="228234" cy="228234"/>
          </a:xfrm>
          <a:prstGeom prst="rect">
            <a:avLst/>
          </a:prstGeom>
        </p:spPr>
      </p:pic>
      <p:sp>
        <p:nvSpPr>
          <p:cNvPr id="33" name="Text 28"/>
          <p:cNvSpPr/>
          <p:nvPr/>
        </p:nvSpPr>
        <p:spPr>
          <a:xfrm>
            <a:off x="6294730" y="3846449"/>
            <a:ext cx="4998110"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0으로 초기화하면 어떤 차이도 그보다 작지 않아 갱신이 일어나지 않는다. 최소값을 구할 때는 가능한 어떤 값보다 큰 값으로, 최대값을 구할 때는 반대로 초기화한다.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37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원소가 n개인 집합의 부분집합 개수는? (공집합과 자기 자신 포함)</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n²개</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2ⁿ개</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n!개</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2n개</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n(n−1)/2개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원소가 n개인 집합의 부분집합 개수는? (공집합과 자기 자신 포함)</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2ⁿ개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각 원소마다 포함하거나 포함하지 않는 두 가지 선택이 있으므로 2를 n번 곱한다. 원소 3개면 8개, 10개면 1,024개, 20개면 약 100만 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38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arr = ['A', 'B', 'C'] 이고 i = 5 일 때 만들어지는 부분집합은?</a:t>
            </a:r>
            <a:endParaRPr lang="en-US" sz="2300" dirty="0"/>
          </a:p>
        </p:txBody>
      </p:sp>
      <p:sp>
        <p:nvSpPr>
          <p:cNvPr id="9" name="Shape 6"/>
          <p:cNvSpPr/>
          <p:nvPr/>
        </p:nvSpPr>
        <p:spPr>
          <a:xfrm>
            <a:off x="658368" y="2508250"/>
            <a:ext cx="4023360"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power_set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3220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subsets</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5278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cur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9392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&amp;</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507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cur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5565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subsets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cur</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622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subsets</a:t>
            </a:r>
            <a:endParaRPr lang="en-US" sz="1200" dirty="0"/>
          </a:p>
        </p:txBody>
      </p:sp>
      <p:sp>
        <p:nvSpPr>
          <p:cNvPr id="26" name="Shape 23"/>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['A', 'B', 'C']</a:t>
            </a:r>
            <a:endParaRPr lang="en-US" sz="1600" dirty="0"/>
          </a:p>
        </p:txBody>
      </p:sp>
      <p:sp>
        <p:nvSpPr>
          <p:cNvPr id="28" name="Shape 25"/>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['A', 'B']</a:t>
            </a:r>
            <a:endParaRPr lang="en-US" sz="1600" dirty="0"/>
          </a:p>
        </p:txBody>
      </p:sp>
      <p:sp>
        <p:nvSpPr>
          <p:cNvPr id="30" name="Shape 27"/>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['B', 'C']</a:t>
            </a:r>
            <a:endParaRPr lang="en-US" sz="1600" dirty="0"/>
          </a:p>
        </p:txBody>
      </p:sp>
      <p:sp>
        <p:nvSpPr>
          <p:cNvPr id="32" name="Shape 29"/>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['A', 'C']</a:t>
            </a:r>
            <a:endParaRPr lang="en-US" sz="1600" dirty="0"/>
          </a:p>
        </p:txBody>
      </p:sp>
      <p:sp>
        <p:nvSpPr>
          <p:cNvPr id="34" name="Shape 31"/>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['C']</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38</a:t>
            </a:r>
            <a:endParaRPr lang="en-US" sz="1200" dirty="0"/>
          </a:p>
        </p:txBody>
      </p:sp>
      <p:sp>
        <p:nvSpPr>
          <p:cNvPr id="8" name="Text 5"/>
          <p:cNvSpPr/>
          <p:nvPr/>
        </p:nvSpPr>
        <p:spPr>
          <a:xfrm>
            <a:off x="658368" y="193357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arr = ['A', 'B', 'C'] 이고 i = 5 일 때 만들어지는 부분집합은?</a:t>
            </a:r>
            <a:endParaRPr lang="en-US" sz="1500" dirty="0"/>
          </a:p>
        </p:txBody>
      </p:sp>
      <p:sp>
        <p:nvSpPr>
          <p:cNvPr id="9" name="Shape 6"/>
          <p:cNvSpPr/>
          <p:nvPr/>
        </p:nvSpPr>
        <p:spPr>
          <a:xfrm>
            <a:off x="658368" y="2473833"/>
            <a:ext cx="4023360" cy="2606040"/>
          </a:xfrm>
          <a:prstGeom prst="roundRect">
            <a:avLst>
              <a:gd name="adj" fmla="val 2807"/>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7383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7500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7898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7898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7898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9212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76169"/>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power_set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0819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2876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subsets</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4933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991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cur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9048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for</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range</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106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i</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&amp;</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3" name="Text 20"/>
          <p:cNvSpPr/>
          <p:nvPr/>
        </p:nvSpPr>
        <p:spPr>
          <a:xfrm>
            <a:off x="859536" y="43163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cur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arr</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j</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5220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subsets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append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cur</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5" name="Text 22"/>
          <p:cNvSpPr/>
          <p:nvPr/>
        </p:nvSpPr>
        <p:spPr>
          <a:xfrm>
            <a:off x="859536" y="47278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subsets</a:t>
            </a:r>
            <a:endParaRPr lang="en-US" sz="1200" dirty="0"/>
          </a:p>
        </p:txBody>
      </p:sp>
      <p:sp>
        <p:nvSpPr>
          <p:cNvPr id="26" name="Shape 23"/>
          <p:cNvSpPr/>
          <p:nvPr/>
        </p:nvSpPr>
        <p:spPr>
          <a:xfrm>
            <a:off x="5010912" y="247383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7" name="Shape 24"/>
          <p:cNvSpPr/>
          <p:nvPr/>
        </p:nvSpPr>
        <p:spPr>
          <a:xfrm>
            <a:off x="5266944" y="267500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8" name="Image 1" descr="/home/claude/icons/check_white.png">    </p:cNvPr>
          <p:cNvPicPr>
            <a:picLocks noChangeAspect="1"/>
          </p:cNvPicPr>
          <p:nvPr/>
        </p:nvPicPr>
        <p:blipFill>
          <a:blip r:embed="rId2"/>
          <a:stretch>
            <a:fillRect/>
          </a:stretch>
        </p:blipFill>
        <p:spPr>
          <a:xfrm>
            <a:off x="5400081" y="2808138"/>
            <a:ext cx="245791" cy="245791"/>
          </a:xfrm>
          <a:prstGeom prst="rect">
            <a:avLst/>
          </a:prstGeom>
        </p:spPr>
      </p:pic>
      <p:sp>
        <p:nvSpPr>
          <p:cNvPr id="29" name="Text 25"/>
          <p:cNvSpPr/>
          <p:nvPr/>
        </p:nvSpPr>
        <p:spPr>
          <a:xfrm>
            <a:off x="5943600" y="247383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['A', 'C']</a:t>
            </a:r>
            <a:endParaRPr lang="en-US" sz="1350" dirty="0"/>
          </a:p>
        </p:txBody>
      </p:sp>
      <p:sp>
        <p:nvSpPr>
          <p:cNvPr id="30" name="Shape 26"/>
          <p:cNvSpPr/>
          <p:nvPr/>
        </p:nvSpPr>
        <p:spPr>
          <a:xfrm>
            <a:off x="5010912" y="362597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Shape 27"/>
          <p:cNvSpPr/>
          <p:nvPr/>
        </p:nvSpPr>
        <p:spPr>
          <a:xfrm>
            <a:off x="5266944" y="386372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2" name="Image 2" descr="/home/claude/icons/bulb_white.png">    </p:cNvPr>
          <p:cNvPicPr>
            <a:picLocks noChangeAspect="1"/>
          </p:cNvPicPr>
          <p:nvPr/>
        </p:nvPicPr>
        <p:blipFill>
          <a:blip r:embed="rId3"/>
          <a:stretch>
            <a:fillRect/>
          </a:stretch>
        </p:blipFill>
        <p:spPr>
          <a:xfrm>
            <a:off x="5390571" y="3987348"/>
            <a:ext cx="228234" cy="228234"/>
          </a:xfrm>
          <a:prstGeom prst="rect">
            <a:avLst/>
          </a:prstGeom>
        </p:spPr>
      </p:pic>
      <p:sp>
        <p:nvSpPr>
          <p:cNvPr id="33" name="Text 28"/>
          <p:cNvSpPr/>
          <p:nvPr/>
        </p:nvSpPr>
        <p:spPr>
          <a:xfrm>
            <a:off x="5925312" y="377228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5를 이진수로 쓰면 101이다. 0번 비트와 2번 비트가 1이므로 arr[0]인 A와 arr[2]인 C가 선택된다.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39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부분집합 생성 코드에서 1 &lt;&lt; n 이 나타내는 값은?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n / 2</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n²</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2ⁿ</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2n</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부분집합 생성 코드에서 1 &lt;&lt; n 이 나타내는 값은?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2ⁿ</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1을 왼쪽으로 n비트 이동하면 2를 n번 곱한 것과 같다. 따라서 range(1 &lt;&lt; n)은 0부터 2ⁿ−1까지를 순회하며 모든 부분집합에 하나씩 대응한다.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조합적 폭발(combinatorial explosion)을 가장 잘 설명한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반복문 안에서 예외가 연쇄적으로 발생해 프로그램이 멈추어 버리는 현상</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입력이 커질수록 프로그램이 사용하는 메모리가 일정하게 늘어나는 현상</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확인해야 할 경우의 수가 입력 크기에 정비례해 완만하게 늘어나는 현상</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입력이 조금만 커져도 확인할 경우의 수가 감당할 수 없이 늘어나는 현상</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계산 결과의 자릿수가 넘쳐 값이 잘못 저장되어 버리는 현상</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40</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조합적 폭발(combinatorial explosion)을 가장 잘 설명한 것은?</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입력이 조금만 커져도 확인할 경우의 수가 감당할 수 없이 늘어나는 현상</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n이 20 정도만 되어도 2ⁿ은 약 100만, n! 은 약 2.4 × 10¹⁸ 이 된다. 완전 탐색이 실패하는 거의 모든 경우가 이 현상 때문이다.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41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 = 20 일 때 값이 가장 큰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2ⁿ</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n²</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n³</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n log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 = 20 일 때 값이 가장 큰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20! 은 약 2.43 × 10¹⁸, 2²⁰ 은 약 100만, 20² 은 400, 20³ 은 8,000이다. 팩토리얼이 압도적으로 크며 이 장에서 다루는 세 가지 폭발 유형 중 가장 가파르다.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42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중 중첩 반복문에서 나타나는 다항 시간 증가 유형은?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O(2ⁿ)</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O(nᵏ)</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O(nⁿ)</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O(log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중 중첩 반복문에서 나타나는 다항 시간 증가 유형은?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O(nᵏ)</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반복문을 k겹 중첩하면 O(nᵏ)이 된다. 2ⁿ은 포함·비포함을 반복하는 선택 구조에서, n! 은 순서를 나열하는 구조에서 나타난다.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43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부분집합을 만드는 문제에서 O(2ⁿ)이 나오는 근본적인 이유는?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부분집합의 크기가 원소마다 달라지기 때문이다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원소를 순서대로 나열하는 방법이 여러 가지이기 때문이다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반복문을 n겹으로 중첩해야 하기 때문이다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각 원소를 다른 모든 원소와 한 번씩 비교하기 때문이다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원소마다 포함할지 말지 두 갈래의 선택이 반복되기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부분집합을 만드는 문제에서 O(2ⁿ)이 나오는 근본적인 이유는?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원소마다 포함할지 말지 두 갈래의 선택이 반복되기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원소 하나가 늘 때마다 경우의 수가 두 배가 된다. 시작이 1가지, 원소 1개면 2가지, 2개면 4가지, n개면 2ⁿ가지가 되는 구조다.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44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10! 의 값에 가장 가까운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약 1,024</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약 360만</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약 10만</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약 1억</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약 100억</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10! 의 값에 가장 가까운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약 360만</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 = 3,628,800으로 약 360만이다. 같은 n에서 2¹⁰ 은 1,024에 불과하므로 팩토리얼이 지수보다 훨씬 빠르게 커진다는 것을 알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45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탐색으로 비밀번호를 찾을 때, 자릿수가 하나 늘어나면 경우의 수는 어떻게 변하는가? (각 자리 0~9)</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2배가 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10배가 된다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10이 더해진다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제곱이 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변하지 않는다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탐색으로 비밀번호를 찾을 때, 자릿수가 하나 늘어나면 경우의 수는 어떻게 변하는가? (각 자리 0~9)</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10배가 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자리마다 10가지 선택이 곱해지므로 자릿수가 하나 늘 때마다 10배가 된다. 4자리 1만, 6자리 100만, 8자리 1억으로 늘어난다.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46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도시가 n개인 외판원 순회 문제에서 모든 방문 순서를 확인하는 완전 탐색의 시간 복잡도는?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O(n²)</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O(2ⁿ)</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O(n³)</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O(n log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도시가 n개인 외판원 순회 문제에서 모든 방문 순서를 확인하는 완전 탐색의 시간 복잡도는?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모든 도시를 한 번씩 방문하는 순서를 전부 나열하는 것이므로 순열의 개수만큼 확인해야 한다. 도시 4개면 24가지, 10개면 약 360만 가지, 20개면 약 2.4 × 10¹⁸ 가지다.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47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네 개의 도시를 한 번씩 방문하는 경로를 모두 나열하면 몇 가지인가?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64가지</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16가지</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12가지</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24가지</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4가지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네 개의 도시를 한 번씩 방문하는 경로를 모두 나열하면 몇 가지인가?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24가지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4! = 4 × 3 × 2 × 1 = 24가지다. 출발 도시를 고정하면 3! = 6가지로 줄고, 방향을 구별하지 않으면 3가지까지 줄어든다.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48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 = 20 인 순열을 모두 생성하는 계산이 현실적으로 불가능한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메모리 용량이 순열 하나를 담기에 부족하기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초당 1억 번을 계산해도 수백 년이 걸리기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파이썬의 재귀 깊이 제한에 걸리기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정수 자료형의 범위를 넘어서기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순열을 생성하는 함수가 20개까지만 지원하기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 = 20 인 순열을 모두 생성하는 계산이 현실적으로 불가능한 이유로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초당 1억 번을 계산해도 수백 년이 걸리기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20! 은 약 2.43 × 10¹⁸ 이고, 초당 1억 번을 처리해도 약 770년이 걸린다. 메모리나 자료형이 아니라 계산량 자체가 문제다.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96</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49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탐색의 가능 여부를 판단할 때 가장 먼저 확인해야 할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탐색해야 할 경우의 수를 계산하는 일</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사용할 반복문의 개수를 정하는 일</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입력 데이터가 정렬되어 있는지 확인하는 일</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재귀와 반복 중 어느 쪽으로 구현할지 정하는 일</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출력 형식이 무엇인지 확인하는 일</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97</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탐색의 가능 여부를 판단할 때 가장 먼저 확인해야 할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탐색해야 할 경우의 수를 계산하는 일</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중요한 것은 입력 크기 n 자체가 아니라 그로부터 만들어지는 탐색 공간의 크기다. n이 20이어도 O(n²)이면 400에 불과하지만 O(n!)이면 계산이 불가능하다.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 가지치기(pruning)를 더한 기법은?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동적 계획법</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분할 정복</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백트래킹</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그리디 알고리즘</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이진 탐색</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 가지치기(pruning)를 더한 기법은?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백트래킹</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정답이 될 수 없다고 판단되는 가지를 미리 잘라 내어 탐색량을 줄이는 것이 백트래킹이다. N-Queens와 스도쿠가 대표적인 적용 사례다.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100</a:t>
            </a:r>
            <a:endParaRPr lang="en-US" sz="10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51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 기억(메모이제이션)을 더한 기법은?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백트래킹</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분할 정복</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동적 계획법</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선형 탐색</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101</a:t>
            </a:r>
            <a:endParaRPr lang="en-US" sz="10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 기억(메모이제이션)을 더한 기법은?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동적 계획법</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한 번 계산한 부분 문제의 결과를 저장해 두었다가 재사용한다. 피보나치 수열이 완전 탐색으로는 O(2ⁿ)이지만 메모이제이션을 쓰면 O(n)이 되는 것이 대표적인 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102</a:t>
            </a:r>
            <a:endParaRPr lang="en-US" sz="10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52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합이 10인 부분집합을 찾을 때 백트래킹이 완전 탐색보다 빠른 이유는?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더하다가 이미 10을 넘으면 그 갈래를 더 이상 보지 않기 때문이다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부분집합을 만들지 않고 원소의 합만 따로 계산해서 비교하기 때문이다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한 번 계산해 둔 합을 저장했다가 필요할 때 그대로 다시 쓰기 때문이다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부분집합을 크기가 작은 것부터 차례대로 만들어 보고 멈추기 때문이다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만들어야 하는 부분집합의 개수 자체가 2ⁿ보다 훨씬 적기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103</a:t>
            </a:r>
            <a:endParaRPr lang="en-US" sz="10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합이 10인 부분집합을 찾을 때 백트래킹이 완전 탐색보다 빠른 이유는?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더하다가 이미 10을 넘으면 그 갈래를 더 이상 보지 않기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탐색은 합이 100을 넘어가도 부분집합을 끝까지 완성한 뒤에야 검사한다. 백트래킹은 중간에 가망이 없다고 판단되면 즉시 되돌아간다. 계산 결과를 저장하는 것은 동적 계획법이다.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104</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53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코드가 완전 탐색 방식의 피보나치보다 빠른 이유는?</a:t>
            </a:r>
            <a:endParaRPr lang="en-US" sz="2300" dirty="0"/>
          </a:p>
        </p:txBody>
      </p:sp>
      <p:sp>
        <p:nvSpPr>
          <p:cNvPr id="9" name="Shape 6"/>
          <p:cNvSpPr/>
          <p:nvPr/>
        </p:nvSpPr>
        <p:spPr>
          <a:xfrm>
            <a:off x="658368" y="2312543"/>
            <a:ext cx="4023360" cy="2340864"/>
          </a:xfrm>
          <a:prstGeom prst="roundRect">
            <a:avLst>
              <a:gd name="adj" fmla="val 312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endParaRPr lang="en-US" sz="1300" dirty="0"/>
          </a:p>
        </p:txBody>
      </p:sp>
      <p:sp>
        <p:nvSpPr>
          <p:cNvPr id="22" name="Text 19"/>
          <p:cNvSpPr/>
          <p:nvPr/>
        </p:nvSpPr>
        <p:spPr>
          <a:xfrm>
            <a:off x="859536" y="405904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3" name="Text 20"/>
          <p:cNvSpPr/>
          <p:nvPr/>
        </p:nvSpPr>
        <p:spPr>
          <a:xfrm>
            <a:off x="859536" y="428307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4" name="Shape 21"/>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248656" y="2312543"/>
            <a:ext cx="6153912" cy="548640"/>
          </a:xfrm>
          <a:prstGeom prst="rect">
            <a:avLst/>
          </a:prstGeom>
          <a:noFill/>
          <a:ln/>
        </p:spPr>
        <p:txBody>
          <a:bodyPr wrap="square" lIns="0" tIns="0" rIns="0" bIns="0" rtlCol="0" anchor="ctr"/>
          <a:lstStyle/>
          <a:p>
            <a:pPr indent="0" marL="0">
              <a:buNone/>
            </a:pPr>
            <a:r>
              <a:rPr lang="en-US" sz="1600" b="1" dirty="0">
                <a:solidFill>
                  <a:srgbClr val="14B8A6"/>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덧셈 대신 곱셈을 사용해 계산량을 줄였기 때문이다</a:t>
            </a:r>
            <a:endParaRPr lang="en-US" sz="1600" dirty="0"/>
          </a:p>
        </p:txBody>
      </p:sp>
      <p:sp>
        <p:nvSpPr>
          <p:cNvPr id="26" name="Shape 23"/>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2952623"/>
            <a:ext cx="6153912" cy="548640"/>
          </a:xfrm>
          <a:prstGeom prst="rect">
            <a:avLst/>
          </a:prstGeom>
          <a:noFill/>
          <a:ln/>
        </p:spPr>
        <p:txBody>
          <a:bodyPr wrap="square" lIns="0" tIns="0" rIns="0" bIns="0" rtlCol="0" anchor="ctr"/>
          <a:lstStyle/>
          <a:p>
            <a:pPr indent="0" marL="0">
              <a:buNone/>
            </a:pPr>
            <a:r>
              <a:rPr lang="en-US" sz="1600" b="1" dirty="0">
                <a:solidFill>
                  <a:srgbClr val="14B8A6"/>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계산 도중 가망이 없는 값을 미리 걸러 내고 넘어가기 때문이다</a:t>
            </a:r>
            <a:endParaRPr lang="en-US" sz="1600" dirty="0"/>
          </a:p>
        </p:txBody>
      </p:sp>
      <p:sp>
        <p:nvSpPr>
          <p:cNvPr id="28" name="Shape 25"/>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3592703"/>
            <a:ext cx="6153912" cy="548640"/>
          </a:xfrm>
          <a:prstGeom prst="rect">
            <a:avLst/>
          </a:prstGeom>
          <a:noFill/>
          <a:ln/>
        </p:spPr>
        <p:txBody>
          <a:bodyPr wrap="square" lIns="0" tIns="0" rIns="0" bIns="0" rtlCol="0" anchor="ctr"/>
          <a:lstStyle/>
          <a:p>
            <a:pPr indent="0" marL="0">
              <a:buNone/>
            </a:pPr>
            <a:r>
              <a:rPr lang="en-US" sz="1600" b="1" dirty="0">
                <a:solidFill>
                  <a:srgbClr val="14B8A6"/>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재귀 호출을 모두 반복문으로 바꾸어 구현했기 때문이다</a:t>
            </a:r>
            <a:endParaRPr lang="en-US" sz="1600" dirty="0"/>
          </a:p>
        </p:txBody>
      </p:sp>
      <p:sp>
        <p:nvSpPr>
          <p:cNvPr id="30" name="Shape 27"/>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4232783"/>
            <a:ext cx="6153912" cy="548640"/>
          </a:xfrm>
          <a:prstGeom prst="rect">
            <a:avLst/>
          </a:prstGeom>
          <a:noFill/>
          <a:ln/>
        </p:spPr>
        <p:txBody>
          <a:bodyPr wrap="square" lIns="0" tIns="0" rIns="0" bIns="0" rtlCol="0" anchor="ctr"/>
          <a:lstStyle/>
          <a:p>
            <a:pPr indent="0" marL="0">
              <a:buNone/>
            </a:pPr>
            <a:r>
              <a:rPr lang="en-US" sz="1600" b="1" dirty="0">
                <a:solidFill>
                  <a:srgbClr val="14B8A6"/>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문제를 절반씩 나누어 따로 계산한 뒤 합치기 때문이다</a:t>
            </a:r>
            <a:endParaRPr lang="en-US" sz="1600" dirty="0"/>
          </a:p>
        </p:txBody>
      </p:sp>
      <p:sp>
        <p:nvSpPr>
          <p:cNvPr id="32" name="Shape 29"/>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248656" y="4872863"/>
            <a:ext cx="6153912" cy="548640"/>
          </a:xfrm>
          <a:prstGeom prst="rect">
            <a:avLst/>
          </a:prstGeom>
          <a:noFill/>
          <a:ln/>
        </p:spPr>
        <p:txBody>
          <a:bodyPr wrap="square" lIns="0" tIns="0" rIns="0" bIns="0" rtlCol="0" anchor="ctr"/>
          <a:lstStyle/>
          <a:p>
            <a:pPr indent="0" marL="0">
              <a:buNone/>
            </a:pPr>
            <a:r>
              <a:rPr lang="en-US" sz="1600" b="1" dirty="0">
                <a:solidFill>
                  <a:srgbClr val="14B8A6"/>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이미 계산한 값을 저장해 두고 다시 계산하지 않기 때문이다</a:t>
            </a:r>
            <a:endParaRPr lang="en-US" sz="1600" dirty="0"/>
          </a:p>
        </p:txBody>
      </p:sp>
      <p:sp>
        <p:nvSpPr>
          <p:cNvPr id="35"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105</a:t>
            </a:r>
            <a:endParaRPr lang="en-US" sz="10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53</a:t>
            </a:r>
            <a:endParaRPr lang="en-US" sz="1200" dirty="0"/>
          </a:p>
        </p:txBody>
      </p:sp>
      <p:sp>
        <p:nvSpPr>
          <p:cNvPr id="8" name="Text 5"/>
          <p:cNvSpPr/>
          <p:nvPr/>
        </p:nvSpPr>
        <p:spPr>
          <a:xfrm>
            <a:off x="658368" y="188531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코드가 완전 탐색 방식의 피보나치보다 빠른 이유는?</a:t>
            </a:r>
            <a:endParaRPr lang="en-US" sz="1500" dirty="0"/>
          </a:p>
        </p:txBody>
      </p:sp>
      <p:sp>
        <p:nvSpPr>
          <p:cNvPr id="9" name="Shape 6"/>
          <p:cNvSpPr/>
          <p:nvPr/>
        </p:nvSpPr>
        <p:spPr>
          <a:xfrm>
            <a:off x="658368" y="2425573"/>
            <a:ext cx="4023360" cy="2340864"/>
          </a:xfrm>
          <a:prstGeom prst="roundRect">
            <a:avLst>
              <a:gd name="adj" fmla="val 312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2557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2674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3072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3072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3072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4386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2790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051937"/>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27596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49999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2402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94804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endParaRPr lang="en-US" sz="1300" dirty="0"/>
          </a:p>
        </p:txBody>
      </p:sp>
      <p:sp>
        <p:nvSpPr>
          <p:cNvPr id="22" name="Text 19"/>
          <p:cNvSpPr/>
          <p:nvPr/>
        </p:nvSpPr>
        <p:spPr>
          <a:xfrm>
            <a:off x="859536" y="41720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fib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3" name="Text 20"/>
          <p:cNvSpPr/>
          <p:nvPr/>
        </p:nvSpPr>
        <p:spPr>
          <a:xfrm>
            <a:off x="859536" y="43961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memo</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4" name="Shape 21"/>
          <p:cNvSpPr/>
          <p:nvPr/>
        </p:nvSpPr>
        <p:spPr>
          <a:xfrm>
            <a:off x="5010912" y="2425573"/>
            <a:ext cx="6556248"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5" name="Shape 22"/>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6"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7" name="Text 23"/>
          <p:cNvSpPr/>
          <p:nvPr/>
        </p:nvSpPr>
        <p:spPr>
          <a:xfrm>
            <a:off x="5943600" y="2425573"/>
            <a:ext cx="5330952"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⑤   이미 계산한 값을 저장해 두고 다시 계산하지 않기 때문이다</a:t>
            </a:r>
            <a:endParaRPr lang="en-US" sz="1350" dirty="0"/>
          </a:p>
        </p:txBody>
      </p:sp>
      <p:sp>
        <p:nvSpPr>
          <p:cNvPr id="28" name="Shape 24"/>
          <p:cNvSpPr/>
          <p:nvPr/>
        </p:nvSpPr>
        <p:spPr>
          <a:xfrm>
            <a:off x="5010912" y="3700145"/>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Shape 25"/>
          <p:cNvSpPr/>
          <p:nvPr/>
        </p:nvSpPr>
        <p:spPr>
          <a:xfrm>
            <a:off x="5266944" y="393788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0" name="Image 2" descr="/home/claude/icons/bulb_white.png">    </p:cNvPr>
          <p:cNvPicPr>
            <a:picLocks noChangeAspect="1"/>
          </p:cNvPicPr>
          <p:nvPr/>
        </p:nvPicPr>
        <p:blipFill>
          <a:blip r:embed="rId3"/>
          <a:stretch>
            <a:fillRect/>
          </a:stretch>
        </p:blipFill>
        <p:spPr>
          <a:xfrm>
            <a:off x="5390571" y="4061516"/>
            <a:ext cx="228234" cy="228234"/>
          </a:xfrm>
          <a:prstGeom prst="rect">
            <a:avLst/>
          </a:prstGeom>
        </p:spPr>
      </p:pic>
      <p:sp>
        <p:nvSpPr>
          <p:cNvPr id="31" name="Text 26"/>
          <p:cNvSpPr/>
          <p:nvPr/>
        </p:nvSpPr>
        <p:spPr>
          <a:xfrm>
            <a:off x="5925312" y="3846449"/>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정의를 그대로 재귀로 옮기면 F(3)과 F(2)가 여러 번 다시 계산되어 O(2ⁿ)이 된다. memo에 결과를 저장하면 각 값을 한 번씩만 계산하므로 O(n)이 된다.</a:t>
            </a:r>
            <a:endParaRPr lang="en-US" sz="1300" dirty="0"/>
          </a:p>
        </p:txBody>
      </p:sp>
      <p:sp>
        <p:nvSpPr>
          <p:cNvPr id="33" name="Text 2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106</a:t>
            </a:r>
            <a:endParaRPr lang="en-US" sz="10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54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전화번호부에서 이름을 찾는 두 방법 중 완전 탐색에 해당하는 것과 그 시간 복잡도를 바르게 짝지은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첫 페이지부터 한 줄씩 확인 — O(log n)</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중간을 펼쳐 절반씩 버림 — O(log n)</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첫 페이지부터 한 줄씩 확인 — O(n)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중간을 펼쳐 절반씩 버림 — O(n)</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첫 페이지부터 한 줄씩 확인 — O(n²)</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107</a:t>
            </a:r>
            <a:endParaRPr lang="en-US" sz="10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전화번호부에서 이름을 찾는 두 방법 중 완전 탐색에 해당하는 것과 그 시간 복잡도를 바르게 짝지은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첫 페이지부터 한 줄씩 확인 — 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탐색에 해당하는 것은 처음부터 끝까지 훑는 선형 검색으로 O(n)이다. 절반씩 버리는 이진 탐색은 분할 정복의 사고가 적용된 방식으로 O(log n)이다.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108</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55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 설계에서 완전 탐색을 먼저 구현해 보라고 권하는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탐색이 다른 어떤 기법보다 메모리를 적게 쓰기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탐색은 입력 크기와 무관하게 항상 같은 속도로 동작하기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탐색은 코드가 길어져서 오히려 실수를 줄여 주기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탐색이 대부분의 문제에서 가장 빠른 방법이기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14B8A6"/>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문제의 구조를 파악하고 정답을 확인할 기준을 얻을 수 있기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109</a:t>
            </a:r>
            <a:endParaRPr lang="en-US" sz="10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 설계에서 완전 탐색을 먼저 구현해 보라고 권하는 이유로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문제의 구조를 파악하고 정답을 확인할 기준을 얻을 수 있기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느리더라도 확실히 맞는 답을 주므로, 최적화한 코드의 결과를 검증하는 기준으로 쓸 수 있고 문제의 구조도 드러난다. 그다음에 어디를 줄일지 고민하는 것이 올바른 순서다.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110</a:t>
            </a:r>
            <a:endParaRPr lang="en-US" sz="10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56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코딩 테스트에서 입력이 많을 때 input() 대신 sys.stdin.readline 을 쓰는 이유는?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잘못된 입력이 들어오면 예외를 발생시키기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입력값의 자료형을 자동으로 변환해 주기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줄 끝의 개행 문자를 자동으로 없애 주기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여러 줄을 한 번에 리스트로 만들어 주기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입력을 읽는 속도가 훨씬 빠르기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111</a:t>
            </a:r>
            <a:endParaRPr lang="en-US" sz="10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코딩 테스트에서 입력이 많을 때 input() 대신 sys.stdin.readline 을 쓰는 이유는?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입력을 읽는 속도가 훨씬 빠르기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대량 입력에서 input()은 느려 시간 초과의 원인이 된다. sys.stdin.readline은 개행 문자를 그대로 남기므로 문자열을 다룰 때는 strip()을 따로 붙여야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112</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57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087002" cy="2340864"/>
          </a:xfrm>
          <a:prstGeom prst="roundRect">
            <a:avLst>
              <a:gd name="adj" fmla="val 312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087002"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87002"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64042"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721242"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endParaRPr lang="en-US" sz="1300" dirty="0"/>
          </a:p>
        </p:txBody>
      </p:sp>
      <p:sp>
        <p:nvSpPr>
          <p:cNvPr id="17" name="Text 14"/>
          <p:cNvSpPr/>
          <p:nvPr/>
        </p:nvSpPr>
        <p:spPr>
          <a:xfrm>
            <a:off x="859536" y="2938907"/>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4</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5</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9</a:t>
            </a:r>
            <a:endParaRPr lang="en-US" sz="1300" dirty="0"/>
          </a:p>
        </p:txBody>
      </p:sp>
      <p:sp>
        <p:nvSpPr>
          <p:cNvPr id="19" name="Text 16"/>
          <p:cNvSpPr/>
          <p:nvPr/>
        </p:nvSpPr>
        <p:spPr>
          <a:xfrm>
            <a:off x="859536" y="3386963"/>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20" name="Text 17"/>
          <p:cNvSpPr/>
          <p:nvPr/>
        </p:nvSpPr>
        <p:spPr>
          <a:xfrm>
            <a:off x="859536" y="3610991"/>
            <a:ext cx="3721242"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sum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059047"/>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Text 20"/>
          <p:cNvSpPr/>
          <p:nvPr/>
        </p:nvSpPr>
        <p:spPr>
          <a:xfrm>
            <a:off x="859536" y="4283075"/>
            <a:ext cx="3721242"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4" name="Shape 21"/>
          <p:cNvSpPr/>
          <p:nvPr/>
        </p:nvSpPr>
        <p:spPr>
          <a:xfrm>
            <a:off x="5074554" y="2312543"/>
            <a:ext cx="6492606"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312298" y="2312543"/>
            <a:ext cx="6090270"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5</a:t>
            </a:r>
            <a:endParaRPr lang="en-US" sz="1600" dirty="0"/>
          </a:p>
        </p:txBody>
      </p:sp>
      <p:sp>
        <p:nvSpPr>
          <p:cNvPr id="26" name="Shape 23"/>
          <p:cNvSpPr/>
          <p:nvPr/>
        </p:nvSpPr>
        <p:spPr>
          <a:xfrm>
            <a:off x="5074554" y="2952623"/>
            <a:ext cx="6492606"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312298" y="2952623"/>
            <a:ext cx="6090270"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28" name="Shape 25"/>
          <p:cNvSpPr/>
          <p:nvPr/>
        </p:nvSpPr>
        <p:spPr>
          <a:xfrm>
            <a:off x="5074554" y="3592703"/>
            <a:ext cx="6492606"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312298" y="3592703"/>
            <a:ext cx="6090270"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30" name="Shape 27"/>
          <p:cNvSpPr/>
          <p:nvPr/>
        </p:nvSpPr>
        <p:spPr>
          <a:xfrm>
            <a:off x="5074554" y="4232783"/>
            <a:ext cx="6492606"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312298" y="4232783"/>
            <a:ext cx="6090270"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32" name="Shape 29"/>
          <p:cNvSpPr/>
          <p:nvPr/>
        </p:nvSpPr>
        <p:spPr>
          <a:xfrm>
            <a:off x="5074554" y="4872863"/>
            <a:ext cx="6492606"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312298" y="4872863"/>
            <a:ext cx="6090270"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10</a:t>
            </a:r>
            <a:endParaRPr lang="en-US" sz="1600" dirty="0"/>
          </a:p>
        </p:txBody>
      </p:sp>
      <p:sp>
        <p:nvSpPr>
          <p:cNvPr id="35"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113</a:t>
            </a:r>
            <a:endParaRPr lang="en-US" sz="10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57</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486787"/>
            <a:ext cx="4087002" cy="2340864"/>
          </a:xfrm>
          <a:prstGeom prst="roundRect">
            <a:avLst>
              <a:gd name="adj" fmla="val 312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87002"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87002"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64042"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721242"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endParaRPr lang="en-US" sz="1300" dirty="0"/>
          </a:p>
        </p:txBody>
      </p:sp>
      <p:sp>
        <p:nvSpPr>
          <p:cNvPr id="17" name="Text 14"/>
          <p:cNvSpPr/>
          <p:nvPr/>
        </p:nvSpPr>
        <p:spPr>
          <a:xfrm>
            <a:off x="859536" y="3113151"/>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4</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5</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9</a:t>
            </a:r>
            <a:endParaRPr lang="en-US" sz="1300" dirty="0"/>
          </a:p>
        </p:txBody>
      </p:sp>
      <p:sp>
        <p:nvSpPr>
          <p:cNvPr id="19" name="Text 16"/>
          <p:cNvSpPr/>
          <p:nvPr/>
        </p:nvSpPr>
        <p:spPr>
          <a:xfrm>
            <a:off x="859536" y="3561207"/>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20" name="Text 17"/>
          <p:cNvSpPr/>
          <p:nvPr/>
        </p:nvSpPr>
        <p:spPr>
          <a:xfrm>
            <a:off x="859536" y="3785235"/>
            <a:ext cx="3721242"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09263"/>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sum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233291"/>
            <a:ext cx="3721242"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Text 20"/>
          <p:cNvSpPr/>
          <p:nvPr/>
        </p:nvSpPr>
        <p:spPr>
          <a:xfrm>
            <a:off x="859536" y="4457319"/>
            <a:ext cx="3721242"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4" name="Shape 21"/>
          <p:cNvSpPr/>
          <p:nvPr/>
        </p:nvSpPr>
        <p:spPr>
          <a:xfrm>
            <a:off x="5074554" y="2486787"/>
            <a:ext cx="6492606"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5" name="Shape 22"/>
          <p:cNvSpPr/>
          <p:nvPr/>
        </p:nvSpPr>
        <p:spPr>
          <a:xfrm>
            <a:off x="5330586"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6" name="Image 1" descr="/home/claude/icons/check_white.png">    </p:cNvPr>
          <p:cNvPicPr>
            <a:picLocks noChangeAspect="1"/>
          </p:cNvPicPr>
          <p:nvPr/>
        </p:nvPicPr>
        <p:blipFill>
          <a:blip r:embed="rId2"/>
          <a:stretch>
            <a:fillRect/>
          </a:stretch>
        </p:blipFill>
        <p:spPr>
          <a:xfrm>
            <a:off x="5463723" y="2821092"/>
            <a:ext cx="245791" cy="245791"/>
          </a:xfrm>
          <a:prstGeom prst="rect">
            <a:avLst/>
          </a:prstGeom>
        </p:spPr>
      </p:pic>
      <p:sp>
        <p:nvSpPr>
          <p:cNvPr id="27" name="Text 23"/>
          <p:cNvSpPr/>
          <p:nvPr/>
        </p:nvSpPr>
        <p:spPr>
          <a:xfrm>
            <a:off x="6007242" y="2486787"/>
            <a:ext cx="5267310"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2</a:t>
            </a:r>
            <a:endParaRPr lang="en-US" sz="1350" dirty="0"/>
          </a:p>
        </p:txBody>
      </p:sp>
      <p:sp>
        <p:nvSpPr>
          <p:cNvPr id="28" name="Shape 24"/>
          <p:cNvSpPr/>
          <p:nvPr/>
        </p:nvSpPr>
        <p:spPr>
          <a:xfrm>
            <a:off x="5074554" y="3638931"/>
            <a:ext cx="6492606"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Shape 25"/>
          <p:cNvSpPr/>
          <p:nvPr/>
        </p:nvSpPr>
        <p:spPr>
          <a:xfrm>
            <a:off x="5330586"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0" name="Image 2" descr="/home/claude/icons/bulb_white.png">    </p:cNvPr>
          <p:cNvPicPr>
            <a:picLocks noChangeAspect="1"/>
          </p:cNvPicPr>
          <p:nvPr/>
        </p:nvPicPr>
        <p:blipFill>
          <a:blip r:embed="rId3"/>
          <a:stretch>
            <a:fillRect/>
          </a:stretch>
        </p:blipFill>
        <p:spPr>
          <a:xfrm>
            <a:off x="5454213" y="4000302"/>
            <a:ext cx="228234" cy="228234"/>
          </a:xfrm>
          <a:prstGeom prst="rect">
            <a:avLst/>
          </a:prstGeom>
        </p:spPr>
      </p:pic>
      <p:sp>
        <p:nvSpPr>
          <p:cNvPr id="31" name="Text 26"/>
          <p:cNvSpPr/>
          <p:nvPr/>
        </p:nvSpPr>
        <p:spPr>
          <a:xfrm>
            <a:off x="5988954" y="3785235"/>
            <a:ext cx="5303886"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1부터 5까지에서 서로 다른 세 수를 골라 합이 9가 되는 경우는 (1,3,5)와 (2,3,4) 두 가지다. combinations는 순서를 구별하지 않으므로 (3,1,5) 같은 것은 따로 세지 않는다.</a:t>
            </a:r>
            <a:endParaRPr lang="en-US" sz="1300" dirty="0"/>
          </a:p>
        </p:txBody>
      </p:sp>
      <p:sp>
        <p:nvSpPr>
          <p:cNvPr id="33" name="Text 2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114</a:t>
            </a:r>
            <a:endParaRPr lang="en-US" sz="10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58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400824" cy="2564892"/>
          </a:xfrm>
          <a:prstGeom prst="roundRect">
            <a:avLst>
              <a:gd name="adj" fmla="val 2852"/>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endParaRPr lang="en-US" sz="1300" dirty="0"/>
          </a:p>
        </p:txBody>
      </p:sp>
      <p:sp>
        <p:nvSpPr>
          <p:cNvPr id="17" name="Text 14"/>
          <p:cNvSpPr/>
          <p:nvPr/>
        </p:nvSpPr>
        <p:spPr>
          <a:xfrm>
            <a:off x="859536" y="2938907"/>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blackjack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cards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386963"/>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cards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sum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05904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3" name="Text 20"/>
          <p:cNvSpPr/>
          <p:nvPr/>
        </p:nvSpPr>
        <p:spPr>
          <a:xfrm>
            <a:off x="859536" y="428307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endParaRPr lang="en-US" sz="1300" dirty="0"/>
          </a:p>
        </p:txBody>
      </p:sp>
      <p:sp>
        <p:nvSpPr>
          <p:cNvPr id="24" name="Text 21"/>
          <p:cNvSpPr/>
          <p:nvPr/>
        </p:nvSpPr>
        <p:spPr>
          <a:xfrm>
            <a:off x="859536" y="4507103"/>
            <a:ext cx="4035064"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blackjack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5</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6</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8</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9</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5" name="Shape 22"/>
          <p:cNvSpPr/>
          <p:nvPr/>
        </p:nvSpPr>
        <p:spPr>
          <a:xfrm>
            <a:off x="5388376" y="231254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626120" y="2312543"/>
            <a:ext cx="5776448"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22</a:t>
            </a:r>
            <a:endParaRPr lang="en-US" sz="1600" dirty="0"/>
          </a:p>
        </p:txBody>
      </p:sp>
      <p:sp>
        <p:nvSpPr>
          <p:cNvPr id="27" name="Shape 24"/>
          <p:cNvSpPr/>
          <p:nvPr/>
        </p:nvSpPr>
        <p:spPr>
          <a:xfrm>
            <a:off x="5388376" y="295262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626120" y="2952623"/>
            <a:ext cx="5776448"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20</a:t>
            </a:r>
            <a:endParaRPr lang="en-US" sz="1600" dirty="0"/>
          </a:p>
        </p:txBody>
      </p:sp>
      <p:sp>
        <p:nvSpPr>
          <p:cNvPr id="29" name="Shape 26"/>
          <p:cNvSpPr/>
          <p:nvPr/>
        </p:nvSpPr>
        <p:spPr>
          <a:xfrm>
            <a:off x="5388376" y="359270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626120" y="3592703"/>
            <a:ext cx="5776448"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18</a:t>
            </a:r>
            <a:endParaRPr lang="en-US" sz="1600" dirty="0"/>
          </a:p>
        </p:txBody>
      </p:sp>
      <p:sp>
        <p:nvSpPr>
          <p:cNvPr id="31" name="Shape 28"/>
          <p:cNvSpPr/>
          <p:nvPr/>
        </p:nvSpPr>
        <p:spPr>
          <a:xfrm>
            <a:off x="5388376" y="423278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2" name="Text 29"/>
          <p:cNvSpPr/>
          <p:nvPr/>
        </p:nvSpPr>
        <p:spPr>
          <a:xfrm>
            <a:off x="5626120" y="4232783"/>
            <a:ext cx="5776448"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24</a:t>
            </a:r>
            <a:endParaRPr lang="en-US" sz="1600" dirty="0"/>
          </a:p>
        </p:txBody>
      </p:sp>
      <p:sp>
        <p:nvSpPr>
          <p:cNvPr id="33" name="Shape 30"/>
          <p:cNvSpPr/>
          <p:nvPr/>
        </p:nvSpPr>
        <p:spPr>
          <a:xfrm>
            <a:off x="5388376" y="4872863"/>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4" name="Text 31"/>
          <p:cNvSpPr/>
          <p:nvPr/>
        </p:nvSpPr>
        <p:spPr>
          <a:xfrm>
            <a:off x="5626120" y="4872863"/>
            <a:ext cx="5776448"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21</a:t>
            </a:r>
            <a:endParaRPr lang="en-US" sz="1600" dirty="0"/>
          </a:p>
        </p:txBody>
      </p:sp>
      <p:sp>
        <p:nvSpPr>
          <p:cNvPr id="36" name="Text 3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115</a:t>
            </a:r>
            <a:endParaRPr lang="en-US" sz="10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58</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486787"/>
            <a:ext cx="4400824" cy="2564892"/>
          </a:xfrm>
          <a:prstGeom prst="roundRect">
            <a:avLst>
              <a:gd name="adj" fmla="val 2852"/>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400824"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from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itertools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import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endParaRPr lang="en-US" sz="1300" dirty="0"/>
          </a:p>
        </p:txBody>
      </p:sp>
      <p:sp>
        <p:nvSpPr>
          <p:cNvPr id="17" name="Text 14"/>
          <p:cNvSpPr/>
          <p:nvPr/>
        </p:nvSpPr>
        <p:spPr>
          <a:xfrm>
            <a:off x="859536" y="3113151"/>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blackjack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cards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56120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combinations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cards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3</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sum</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c</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09263"/>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M</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233291"/>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3" name="Text 20"/>
          <p:cNvSpPr/>
          <p:nvPr/>
        </p:nvSpPr>
        <p:spPr>
          <a:xfrm>
            <a:off x="859536" y="445731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best</a:t>
            </a:r>
            <a:endParaRPr lang="en-US" sz="1300" dirty="0"/>
          </a:p>
        </p:txBody>
      </p:sp>
      <p:sp>
        <p:nvSpPr>
          <p:cNvPr id="24" name="Text 21"/>
          <p:cNvSpPr/>
          <p:nvPr/>
        </p:nvSpPr>
        <p:spPr>
          <a:xfrm>
            <a:off x="859536" y="4681347"/>
            <a:ext cx="4035064" cy="224028"/>
          </a:xfrm>
          <a:prstGeom prst="rect">
            <a:avLst/>
          </a:prstGeom>
          <a:noFill/>
          <a:ln/>
        </p:spPr>
        <p:txBody>
          <a:bodyPr wrap="square" lIns="0" tIns="0" rIns="0" bIns="0" rtlCol="0" anchor="ctr"/>
          <a:lstStyle/>
          <a:p>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blackjack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5</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6</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7</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8</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9</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5" name="Shape 22"/>
          <p:cNvSpPr/>
          <p:nvPr/>
        </p:nvSpPr>
        <p:spPr>
          <a:xfrm>
            <a:off x="5388376" y="2486787"/>
            <a:ext cx="6178784"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6" name="Shape 23"/>
          <p:cNvSpPr/>
          <p:nvPr/>
        </p:nvSpPr>
        <p:spPr>
          <a:xfrm>
            <a:off x="5644408"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7" name="Image 1" descr="/home/claude/icons/check_white.png">    </p:cNvPr>
          <p:cNvPicPr>
            <a:picLocks noChangeAspect="1"/>
          </p:cNvPicPr>
          <p:nvPr/>
        </p:nvPicPr>
        <p:blipFill>
          <a:blip r:embed="rId2"/>
          <a:stretch>
            <a:fillRect/>
          </a:stretch>
        </p:blipFill>
        <p:spPr>
          <a:xfrm>
            <a:off x="5777545" y="2821092"/>
            <a:ext cx="245791" cy="245791"/>
          </a:xfrm>
          <a:prstGeom prst="rect">
            <a:avLst/>
          </a:prstGeom>
        </p:spPr>
      </p:pic>
      <p:sp>
        <p:nvSpPr>
          <p:cNvPr id="28" name="Text 24"/>
          <p:cNvSpPr/>
          <p:nvPr/>
        </p:nvSpPr>
        <p:spPr>
          <a:xfrm>
            <a:off x="6321064" y="2486787"/>
            <a:ext cx="4953488"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⑤   21</a:t>
            </a:r>
            <a:endParaRPr lang="en-US" sz="1350" dirty="0"/>
          </a:p>
        </p:txBody>
      </p:sp>
      <p:sp>
        <p:nvSpPr>
          <p:cNvPr id="29" name="Shape 25"/>
          <p:cNvSpPr/>
          <p:nvPr/>
        </p:nvSpPr>
        <p:spPr>
          <a:xfrm>
            <a:off x="5388376" y="3638931"/>
            <a:ext cx="6178784"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Shape 26"/>
          <p:cNvSpPr/>
          <p:nvPr/>
        </p:nvSpPr>
        <p:spPr>
          <a:xfrm>
            <a:off x="5644408"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1" name="Image 2" descr="/home/claude/icons/bulb_white.png">    </p:cNvPr>
          <p:cNvPicPr>
            <a:picLocks noChangeAspect="1"/>
          </p:cNvPicPr>
          <p:nvPr/>
        </p:nvPicPr>
        <p:blipFill>
          <a:blip r:embed="rId3"/>
          <a:stretch>
            <a:fillRect/>
          </a:stretch>
        </p:blipFill>
        <p:spPr>
          <a:xfrm>
            <a:off x="5768035" y="4000302"/>
            <a:ext cx="228234" cy="228234"/>
          </a:xfrm>
          <a:prstGeom prst="rect">
            <a:avLst/>
          </a:prstGeom>
        </p:spPr>
      </p:pic>
      <p:sp>
        <p:nvSpPr>
          <p:cNvPr id="32" name="Text 27"/>
          <p:cNvSpPr/>
          <p:nvPr/>
        </p:nvSpPr>
        <p:spPr>
          <a:xfrm>
            <a:off x="6302776" y="3785235"/>
            <a:ext cx="4990064"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세 장의 합이 21을 넘지 않으면서 가장 큰 경우를 찾는다. 5+7+9 = 21이 조건을 만족하는 최대값이다. 6+8+9 = 23은 21을 넘으므로 제외된다.</a:t>
            </a:r>
            <a:endParaRPr lang="en-US" sz="1300" dirty="0"/>
          </a:p>
        </p:txBody>
      </p:sp>
      <p:sp>
        <p:nvSpPr>
          <p:cNvPr id="34"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116</a:t>
            </a:r>
            <a:endParaRPr lang="en-US" sz="10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59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N개의 원소 중 3개를 고르는 완전 탐색을 N = 100 에서 수행할 때 확인해야 할 경우의 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약 1억 가지</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약 100만 가지</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약 300가지</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약 16만 가지</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338CA"/>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약 100가지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117</a:t>
            </a:r>
            <a:endParaRPr lang="en-US" sz="10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N개의 원소 중 3개를 고르는 완전 탐색을 N = 100 에서 수행할 때 확인해야 할 경우의 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약 16만 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100C3 = (100 × 99 × 98) / 6 = 161,700가지다. 수십만 번은 현재 컴퓨터로 충분히 안전한 범위이므로 완전 탐색을 적용할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118</a:t>
            </a:r>
            <a:endParaRPr lang="en-US" sz="10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60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회문인지 판단하는 s[::-1]의 의미는?</a:t>
            </a:r>
            <a:endParaRPr lang="en-US" sz="2300" dirty="0"/>
          </a:p>
        </p:txBody>
      </p:sp>
      <p:sp>
        <p:nvSpPr>
          <p:cNvPr id="9" name="Shape 6"/>
          <p:cNvSpPr/>
          <p:nvPr/>
        </p:nvSpPr>
        <p:spPr>
          <a:xfrm>
            <a:off x="658368" y="2312543"/>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input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strip</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'회문'</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else</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'아님'</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312543"/>
            <a:ext cx="6153912"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문자열에서 첫 글자를 제외한 나머지</a:t>
            </a:r>
            <a:endParaRPr lang="en-US" sz="1600" dirty="0"/>
          </a:p>
        </p:txBody>
      </p:sp>
      <p:sp>
        <p:nvSpPr>
          <p:cNvPr id="23" name="Shape 20"/>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2952623"/>
            <a:ext cx="6153912"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문자열의 마지막 한 글자</a:t>
            </a:r>
            <a:endParaRPr lang="en-US" sz="1600" dirty="0"/>
          </a:p>
        </p:txBody>
      </p:sp>
      <p:sp>
        <p:nvSpPr>
          <p:cNvPr id="25" name="Shape 22"/>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592703"/>
            <a:ext cx="6153912"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문자열을 거꾸로 뒤집은 결과</a:t>
            </a:r>
            <a:endParaRPr lang="en-US" sz="1600" dirty="0"/>
          </a:p>
        </p:txBody>
      </p:sp>
      <p:sp>
        <p:nvSpPr>
          <p:cNvPr id="27" name="Shape 24"/>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232783"/>
            <a:ext cx="6153912"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문자열을 한 글자씩 나눈 리스트</a:t>
            </a:r>
            <a:endParaRPr lang="en-US" sz="1600" dirty="0"/>
          </a:p>
        </p:txBody>
      </p:sp>
      <p:sp>
        <p:nvSpPr>
          <p:cNvPr id="29" name="Shape 26"/>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4872863"/>
            <a:ext cx="6153912" cy="548640"/>
          </a:xfrm>
          <a:prstGeom prst="rect">
            <a:avLst/>
          </a:prstGeom>
          <a:noFill/>
          <a:ln/>
        </p:spPr>
        <p:txBody>
          <a:bodyPr wrap="square" lIns="0" tIns="0" rIns="0" bIns="0" rtlCol="0" anchor="ctr"/>
          <a:lstStyle/>
          <a:p>
            <a:pPr indent="0" marL="0">
              <a:buNone/>
            </a:pPr>
            <a:r>
              <a:rPr lang="en-US" sz="1600" b="1" dirty="0">
                <a:solidFill>
                  <a:srgbClr val="4338CA"/>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문자열의 길이에서 1을 뺀 값</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119</a:t>
            </a:r>
            <a:endParaRPr lang="en-US" sz="10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60</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회문인지 판단하는 s[::-1]의 의미는?</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input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strip</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'회문'</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else</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FE0A0"/>
                </a:solidFill>
                <a:latin typeface="Consolas" pitchFamily="34" charset="0"/>
                <a:ea typeface="Consolas" pitchFamily="34" charset="-122"/>
                <a:cs typeface="Consolas" pitchFamily="34" charset="-120"/>
              </a:rPr>
              <a:t>'아님'</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문자열을 거꾸로 뒤집은 결과</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슬라이싱의 세 번째 값이 −1이면 뒤에서부터 한 칸씩 이동하며 읽으므로 문자열이 뒤집힌다. 뒤집은 결과가 원래와 같으면 앞뒤로 읽어도 같은 회문이다.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120</a:t>
            </a:r>
            <a:endParaRPr lang="en-US" sz="10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61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완전 탐색이 '순진한 방법(naive method)'이라고 불리는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121</a:t>
            </a:r>
            <a:endParaRPr lang="en-US" sz="10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탐색이 '순진한 방법(naive method)'이라고 불리는 이유를 한 문장으로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영리한 아이디어 없이 가능한 모든 경우를 그대로 다 시도하기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따로 머리를 쓰지 않고 힘으로 밀어붙인다는 뜻에서 brute force라고도 부른다. 순진하다는 표현에 부정적인 뜻만 있는 것은 아니며, 그만큼 확실하다는 장점과 짝을 이룬다.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122</a:t>
            </a:r>
            <a:endParaRPr lang="en-US" sz="10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62 · 주관식</a:t>
            </a:r>
            <a:endParaRPr lang="en-US" sz="1200" dirty="0"/>
          </a:p>
        </p:txBody>
      </p:sp>
      <p:sp>
        <p:nvSpPr>
          <p:cNvPr id="8" name="Text 5"/>
          <p:cNvSpPr/>
          <p:nvPr/>
        </p:nvSpPr>
        <p:spPr>
          <a:xfrm>
            <a:off x="658368" y="1733804"/>
            <a:ext cx="10497312" cy="958088"/>
          </a:xfrm>
          <a:prstGeom prst="rect">
            <a:avLst/>
          </a:prstGeom>
          <a:noFill/>
          <a:ln/>
        </p:spPr>
        <p:txBody>
          <a:bodyPr wrap="square" lIns="0" tIns="0" rIns="0" bIns="0" rtlCol="0" anchor="t"/>
          <a:lstStyle/>
          <a:p>
            <a:pPr indent="0" marL="0">
              <a:lnSpc>
                <a:spcPct val="122000"/>
              </a:lnSpc>
              <a:buNone/>
            </a:pPr>
            <a:r>
              <a:rPr lang="en-US" sz="2600" b="1" dirty="0">
                <a:solidFill>
                  <a:srgbClr val="1E1B3A"/>
                </a:solidFill>
                <a:latin typeface="Malgun Gothic" pitchFamily="34" charset="0"/>
                <a:ea typeface="Malgun Gothic" pitchFamily="34" charset="-122"/>
                <a:cs typeface="Malgun Gothic" pitchFamily="34" charset="-120"/>
              </a:rPr>
              <a:t>0~9로 이루어진 4자리 자물쇠를 0000부터 순서대로 모두 시도할 때, 마지막까지 갔다면 총 몇 회 시도한 것인지 쓰시오.</a:t>
            </a:r>
            <a:endParaRPr lang="en-US" sz="2600" dirty="0"/>
          </a:p>
        </p:txBody>
      </p:sp>
      <p:sp>
        <p:nvSpPr>
          <p:cNvPr id="9" name="Shape 6"/>
          <p:cNvSpPr/>
          <p:nvPr/>
        </p:nvSpPr>
        <p:spPr>
          <a:xfrm>
            <a:off x="658368" y="2947924"/>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22244"/>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45871"/>
            <a:ext cx="228234" cy="228234"/>
          </a:xfrm>
          <a:prstGeom prst="rect">
            <a:avLst/>
          </a:prstGeom>
        </p:spPr>
      </p:pic>
      <p:sp>
        <p:nvSpPr>
          <p:cNvPr id="12" name="Text 8"/>
          <p:cNvSpPr/>
          <p:nvPr/>
        </p:nvSpPr>
        <p:spPr>
          <a:xfrm>
            <a:off x="1572768" y="3185668"/>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46372"/>
            <a:ext cx="10140696" cy="0"/>
          </a:xfrm>
          <a:prstGeom prst="line">
            <a:avLst/>
          </a:prstGeom>
          <a:noFill/>
          <a:ln w="12700">
            <a:solidFill>
              <a:srgbClr val="C9C6E4"/>
            </a:solidFill>
            <a:prstDash val="dash"/>
          </a:ln>
        </p:spPr>
      </p:sp>
      <p:sp>
        <p:nvSpPr>
          <p:cNvPr id="14" name="Shape 10"/>
          <p:cNvSpPr/>
          <p:nvPr/>
        </p:nvSpPr>
        <p:spPr>
          <a:xfrm>
            <a:off x="1042416" y="4795012"/>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123</a:t>
            </a:r>
            <a:endParaRPr lang="en-US" sz="10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62</a:t>
            </a:r>
            <a:endParaRPr lang="en-US" sz="1200" dirty="0"/>
          </a:p>
        </p:txBody>
      </p:sp>
      <p:sp>
        <p:nvSpPr>
          <p:cNvPr id="8" name="Text 5"/>
          <p:cNvSpPr/>
          <p:nvPr/>
        </p:nvSpPr>
        <p:spPr>
          <a:xfrm>
            <a:off x="658368" y="1899285"/>
            <a:ext cx="1049731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0~9로 이루어진 4자리 자물쇠를 0000부터 순서대로 모두 시도할 때, 마지막까지 갔다면 총 몇 회 시도한 것인지 쓰시오.</a:t>
            </a:r>
            <a:endParaRPr lang="en-US" sz="1500" dirty="0"/>
          </a:p>
        </p:txBody>
      </p:sp>
      <p:sp>
        <p:nvSpPr>
          <p:cNvPr id="9" name="Shape 6"/>
          <p:cNvSpPr/>
          <p:nvPr/>
        </p:nvSpPr>
        <p:spPr>
          <a:xfrm>
            <a:off x="658368" y="2687193"/>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88836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21498"/>
            <a:ext cx="245791" cy="245791"/>
          </a:xfrm>
          <a:prstGeom prst="rect">
            <a:avLst/>
          </a:prstGeom>
        </p:spPr>
      </p:pic>
      <p:sp>
        <p:nvSpPr>
          <p:cNvPr id="12" name="Text 8"/>
          <p:cNvSpPr/>
          <p:nvPr/>
        </p:nvSpPr>
        <p:spPr>
          <a:xfrm>
            <a:off x="1591056" y="2687193"/>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10,000회</a:t>
            </a:r>
            <a:endParaRPr lang="en-US" sz="1350" dirty="0"/>
          </a:p>
        </p:txBody>
      </p:sp>
      <p:sp>
        <p:nvSpPr>
          <p:cNvPr id="13" name="Shape 9"/>
          <p:cNvSpPr/>
          <p:nvPr/>
        </p:nvSpPr>
        <p:spPr>
          <a:xfrm>
            <a:off x="658368" y="3839337"/>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7708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0708"/>
            <a:ext cx="228234" cy="228234"/>
          </a:xfrm>
          <a:prstGeom prst="rect">
            <a:avLst/>
          </a:prstGeom>
        </p:spPr>
      </p:pic>
      <p:sp>
        <p:nvSpPr>
          <p:cNvPr id="16" name="Text 11"/>
          <p:cNvSpPr/>
          <p:nvPr/>
        </p:nvSpPr>
        <p:spPr>
          <a:xfrm>
            <a:off x="1572768" y="3985641"/>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0000부터 9999까지 빠짐없이 시도하면 10⁴ = 10,000회다. 정답을 찾는 즉시 멈추지 않고 끝까지 돌린 경우의 횟수다.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124</a:t>
            </a:r>
            <a:endParaRPr lang="en-US" sz="10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63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4자리 자물쇠를 초당 1,000회 시도할 수 있을 때, 최악의 경우 걸리는 시간을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125</a:t>
            </a:r>
            <a:endParaRPr lang="en-US" sz="10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4자리 자물쇠를 초당 1,000회 시도할 수 있을 때, 최악의 경우 걸리는 시간을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10초</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10,000 ÷ 1,000 = 10초다. 같은 속도로 8자리를 시도하면 1억 ÷ 1,000 = 10만 초, 약 28시간이 걸린다.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126</a:t>
            </a:r>
            <a:endParaRPr lang="en-US" sz="10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64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완전 탐색에서 '탐색 공간'이라는 말이 가리키는 것을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127</a:t>
            </a:r>
            <a:endParaRPr lang="en-US" sz="10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§2.1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64</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'탐색 공간'이라는 말이 가리키는 것을 한 문장으로 쓰시오.</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알고리즘이 확인해야 하는 모든 후보의 집합, 즉 경우의 수 전체를 가리킨다.</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탐색의 실행 시간은 사실상 탐색 공간의 크기와 같다. 그래서 코드를 짜기 전에 탐색 공간부터 계산해 보는 것이다.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128</a:t>
            </a:r>
            <a:endParaRPr lang="en-US" sz="10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65 · 주관식</a:t>
            </a:r>
            <a:endParaRPr lang="en-US" sz="1200" dirty="0"/>
          </a:p>
        </p:txBody>
      </p:sp>
      <p:sp>
        <p:nvSpPr>
          <p:cNvPr id="8" name="Text 5"/>
          <p:cNvSpPr/>
          <p:nvPr/>
        </p:nvSpPr>
        <p:spPr>
          <a:xfrm>
            <a:off x="658368" y="1829689"/>
            <a:ext cx="1049731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print가 실행되는 총 횟수를 쓰시오.</a:t>
            </a:r>
            <a:endParaRPr lang="en-US" sz="2300" dirty="0"/>
          </a:p>
        </p:txBody>
      </p:sp>
      <p:sp>
        <p:nvSpPr>
          <p:cNvPr id="9" name="Shape 6"/>
          <p:cNvSpPr/>
          <p:nvPr/>
        </p:nvSpPr>
        <p:spPr>
          <a:xfrm>
            <a:off x="3169768" y="2550287"/>
            <a:ext cx="5852160" cy="1536192"/>
          </a:xfrm>
          <a:prstGeom prst="roundRect">
            <a:avLst>
              <a:gd name="adj" fmla="val 4762"/>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550287"/>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751455"/>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655443"/>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655443"/>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655443"/>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568575"/>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95262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4</a:t>
            </a:r>
            <a:endParaRPr lang="en-US" sz="1400" dirty="0"/>
          </a:p>
        </p:txBody>
      </p:sp>
      <p:sp>
        <p:nvSpPr>
          <p:cNvPr id="17" name="Text 14"/>
          <p:cNvSpPr/>
          <p:nvPr/>
        </p:nvSpPr>
        <p:spPr>
          <a:xfrm>
            <a:off x="3370936" y="319951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44639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9" name="Text 16"/>
          <p:cNvSpPr/>
          <p:nvPr/>
        </p:nvSpPr>
        <p:spPr>
          <a:xfrm>
            <a:off x="3370936" y="369328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print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Shape 17"/>
          <p:cNvSpPr/>
          <p:nvPr/>
        </p:nvSpPr>
        <p:spPr>
          <a:xfrm>
            <a:off x="658368" y="4397375"/>
            <a:ext cx="10908792" cy="786384"/>
          </a:xfrm>
          <a:prstGeom prst="roundRect">
            <a:avLst>
              <a:gd name="adj" fmla="val 13953"/>
            </a:avLst>
          </a:prstGeom>
          <a:solidFill>
            <a:srgbClr val="EEF0FF"/>
          </a:solidFill>
          <a:ln w="12700">
            <a:solidFill>
              <a:srgbClr val="E7E6FB"/>
            </a:solidFill>
            <a:prstDash val="solid"/>
          </a:ln>
        </p:spPr>
      </p:sp>
      <p:sp>
        <p:nvSpPr>
          <p:cNvPr id="21" name="Shape 18"/>
          <p:cNvSpPr/>
          <p:nvPr/>
        </p:nvSpPr>
        <p:spPr>
          <a:xfrm>
            <a:off x="932688" y="4552823"/>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22" name="Image 1" descr="/home/claude/icons/pen_white.png">    </p:cNvPr>
          <p:cNvPicPr>
            <a:picLocks noChangeAspect="1"/>
          </p:cNvPicPr>
          <p:nvPr/>
        </p:nvPicPr>
        <p:blipFill>
          <a:blip r:embed="rId2"/>
          <a:stretch>
            <a:fillRect/>
          </a:stretch>
        </p:blipFill>
        <p:spPr>
          <a:xfrm>
            <a:off x="1056315" y="4676450"/>
            <a:ext cx="228234" cy="228234"/>
          </a:xfrm>
          <a:prstGeom prst="rect">
            <a:avLst/>
          </a:prstGeom>
        </p:spPr>
      </p:pic>
      <p:sp>
        <p:nvSpPr>
          <p:cNvPr id="23" name="Text 19"/>
          <p:cNvSpPr/>
          <p:nvPr/>
        </p:nvSpPr>
        <p:spPr>
          <a:xfrm>
            <a:off x="1572768" y="4397375"/>
            <a:ext cx="9720072" cy="786384"/>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5" name="Text 20"/>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129</a:t>
            </a:r>
            <a:endParaRPr lang="en-US" sz="10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65</a:t>
            </a:r>
            <a:endParaRPr lang="en-US" sz="1200" dirty="0"/>
          </a:p>
        </p:txBody>
      </p:sp>
      <p:sp>
        <p:nvSpPr>
          <p:cNvPr id="8" name="Text 5"/>
          <p:cNvSpPr/>
          <p:nvPr/>
        </p:nvSpPr>
        <p:spPr>
          <a:xfrm>
            <a:off x="658368" y="2065655"/>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print가 실행되는 총 횟수를 쓰시오.</a:t>
            </a:r>
            <a:endParaRPr lang="en-US" sz="1500" dirty="0"/>
          </a:p>
        </p:txBody>
      </p:sp>
      <p:sp>
        <p:nvSpPr>
          <p:cNvPr id="9" name="Shape 6"/>
          <p:cNvSpPr/>
          <p:nvPr/>
        </p:nvSpPr>
        <p:spPr>
          <a:xfrm>
            <a:off x="658368" y="2605913"/>
            <a:ext cx="4023360" cy="1444752"/>
          </a:xfrm>
          <a:prstGeom prst="roundRect">
            <a:avLst>
              <a:gd name="adj" fmla="val 506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4</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Shape 17"/>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1" name="Shape 18"/>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2"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3" name="Text 19"/>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16회</a:t>
            </a:r>
            <a:endParaRPr lang="en-US" sz="1350" dirty="0"/>
          </a:p>
        </p:txBody>
      </p:sp>
      <p:sp>
        <p:nvSpPr>
          <p:cNvPr id="24" name="Shape 20"/>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Shape 21"/>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6"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7" name="Text 22"/>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바깥과 안쪽이 각각 4번씩 돌므로 4 × 4 = 16회다. 안쪽 반복이 바깥의 인덱스와 무관하게 항상 n번 돈다는 점이 핵심이다.</a:t>
            </a:r>
            <a:endParaRPr lang="en-US" sz="1300" dirty="0"/>
          </a:p>
        </p:txBody>
      </p:sp>
      <p:sp>
        <p:nvSpPr>
          <p:cNvPr id="29"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130</a:t>
            </a:r>
            <a:endParaRPr lang="en-US" sz="10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66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주사위 세 개를 던져 나온 눈의 합이 4가 되는 경우의 수를 쓰시오. (주사위는 서로 구별한다)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131</a:t>
            </a:r>
            <a:endParaRPr lang="en-US" sz="10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주사위 세 개를 던져 나온 눈의 합이 4가 되는 경우의 수를 쓰시오. (주사위는 서로 구별한다)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3가지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(1,1,2), (1,2,1), (2,1,1) 세 가지다. 삼중 반복문으로 216가지를 모두 만든 뒤 조건을 통과한 것만 세면 이 값이 나온다.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132</a:t>
            </a:r>
            <a:endParaRPr lang="en-US" sz="10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67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길이가 1,000인 리스트에서 서로 다른 두 원소의 모든 쌍을 검사하면 대략 몇 번 비교하게 되는지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133</a:t>
            </a:r>
            <a:endParaRPr lang="en-US" sz="10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67</a:t>
            </a:r>
            <a:endParaRPr lang="en-US" sz="1200" dirty="0"/>
          </a:p>
        </p:txBody>
      </p:sp>
      <p:sp>
        <p:nvSpPr>
          <p:cNvPr id="8" name="Text 5"/>
          <p:cNvSpPr/>
          <p:nvPr/>
        </p:nvSpPr>
        <p:spPr>
          <a:xfrm>
            <a:off x="658368" y="216350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길이가 1,000인 리스트에서 서로 다른 두 원소의 모든 쌍을 검사하면 대략 몇 번 비교하게 되는지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50만 번 (1000 × 999 ÷ 2 = 499,500)</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n(n−1)/2 이므로 약 n²/2 이다. n이 10배가 되면 비교 횟수는 약 100배가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134</a:t>
            </a:r>
            <a:endParaRPr lang="en-US" sz="10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68 · 주관식</a:t>
            </a:r>
            <a:endParaRPr lang="en-US" sz="1200" dirty="0"/>
          </a:p>
        </p:txBody>
      </p:sp>
      <p:sp>
        <p:nvSpPr>
          <p:cNvPr id="8" name="Text 5"/>
          <p:cNvSpPr/>
          <p:nvPr/>
        </p:nvSpPr>
        <p:spPr>
          <a:xfrm>
            <a:off x="658368" y="1757426"/>
            <a:ext cx="1049731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안쪽 반복문을 range(i + 1, n) 대신 range(n)으로 바꾸면 총 실행 횟수는 몇 배가 되는지 쓰시오.</a:t>
            </a:r>
            <a:endParaRPr lang="en-US" sz="2300" dirty="0"/>
          </a:p>
        </p:txBody>
      </p:sp>
      <p:sp>
        <p:nvSpPr>
          <p:cNvPr id="9" name="Shape 6"/>
          <p:cNvSpPr/>
          <p:nvPr/>
        </p:nvSpPr>
        <p:spPr>
          <a:xfrm>
            <a:off x="3169768" y="2869438"/>
            <a:ext cx="5852160" cy="1289304"/>
          </a:xfrm>
          <a:prstGeom prst="roundRect">
            <a:avLst>
              <a:gd name="adj" fmla="val 567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869438"/>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3070606"/>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974594"/>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974594"/>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974594"/>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887726"/>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3271774"/>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518662"/>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765550"/>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check</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arr</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arr</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9" name="Shape 16"/>
          <p:cNvSpPr/>
          <p:nvPr/>
        </p:nvSpPr>
        <p:spPr>
          <a:xfrm>
            <a:off x="658368" y="4469638"/>
            <a:ext cx="10908792" cy="786384"/>
          </a:xfrm>
          <a:prstGeom prst="roundRect">
            <a:avLst>
              <a:gd name="adj" fmla="val 13953"/>
            </a:avLst>
          </a:prstGeom>
          <a:solidFill>
            <a:srgbClr val="EEF0FF"/>
          </a:solidFill>
          <a:ln w="12700">
            <a:solidFill>
              <a:srgbClr val="E7E6FB"/>
            </a:solidFill>
            <a:prstDash val="solid"/>
          </a:ln>
        </p:spPr>
      </p:sp>
      <p:sp>
        <p:nvSpPr>
          <p:cNvPr id="20" name="Shape 17"/>
          <p:cNvSpPr/>
          <p:nvPr/>
        </p:nvSpPr>
        <p:spPr>
          <a:xfrm>
            <a:off x="932688" y="4625086"/>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21" name="Image 1" descr="/home/claude/icons/pen_white.png">    </p:cNvPr>
          <p:cNvPicPr>
            <a:picLocks noChangeAspect="1"/>
          </p:cNvPicPr>
          <p:nvPr/>
        </p:nvPicPr>
        <p:blipFill>
          <a:blip r:embed="rId2"/>
          <a:stretch>
            <a:fillRect/>
          </a:stretch>
        </p:blipFill>
        <p:spPr>
          <a:xfrm>
            <a:off x="1056315" y="4748713"/>
            <a:ext cx="228234" cy="228234"/>
          </a:xfrm>
          <a:prstGeom prst="rect">
            <a:avLst/>
          </a:prstGeom>
        </p:spPr>
      </p:pic>
      <p:sp>
        <p:nvSpPr>
          <p:cNvPr id="22" name="Text 18"/>
          <p:cNvSpPr/>
          <p:nvPr/>
        </p:nvSpPr>
        <p:spPr>
          <a:xfrm>
            <a:off x="1572768" y="4469638"/>
            <a:ext cx="9720072" cy="786384"/>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4" name="Text 1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135</a:t>
            </a:r>
            <a:endParaRPr lang="en-US" sz="10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§2.2  </a:t>
            </a:r>
            <a:pPr indent="0" marL="0">
              <a:buNone/>
            </a:pP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68</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안쪽 반복문을 range(i + 1, n) 대신 range(n)으로 바꾸면 총 실행 횟수는 몇 배가 되는지 쓰시오.</a:t>
            </a:r>
            <a:endParaRPr lang="en-US" sz="1500" dirty="0"/>
          </a:p>
        </p:txBody>
      </p:sp>
      <p:sp>
        <p:nvSpPr>
          <p:cNvPr id="9" name="Shape 6"/>
          <p:cNvSpPr/>
          <p:nvPr/>
        </p:nvSpPr>
        <p:spPr>
          <a:xfrm>
            <a:off x="658368" y="2486787"/>
            <a:ext cx="4023360" cy="1220724"/>
          </a:xfrm>
          <a:prstGeom prst="roundRect">
            <a:avLst>
              <a:gd name="adj" fmla="val 599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check</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Shape 16"/>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0" name="Shape 17"/>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1"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2" name="Text 18"/>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약 2배</a:t>
            </a:r>
            <a:endParaRPr lang="en-US" sz="1350" dirty="0"/>
          </a:p>
        </p:txBody>
      </p:sp>
      <p:sp>
        <p:nvSpPr>
          <p:cNvPr id="23" name="Shape 19"/>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Shape 20"/>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5"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6" name="Text 21"/>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원래는 n(n−1)/2 회이고 바꾸면 n²회이므로 약 두 배가 된다. 빅오는 둘 다 O(n²)로 같지만 실제 실행 횟수는 두 배 차이가 난다.</a:t>
            </a:r>
            <a:endParaRPr lang="en-US" sz="1300" dirty="0"/>
          </a:p>
        </p:txBody>
      </p:sp>
      <p:sp>
        <p:nvSpPr>
          <p:cNvPr id="28" name="Text 2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136</a:t>
            </a:r>
            <a:endParaRPr lang="en-US" sz="10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69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완전 탐색 3단계 템플릿의 각 단계를 영어 명칭으로 순서대로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137</a:t>
            </a:r>
            <a:endParaRPr lang="en-US" sz="10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69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3단계 템플릿의 각 단계를 영어 명칭으로 순서대로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Candidate Generation, Condition Validation, Solution Selection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후보 해 생성, 조건 검증, 해 선택에 각각 대응한다. 영어 명칭은 논문이나 해외 자료를 볼 때 그대로 등장한다.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138</a:t>
            </a:r>
            <a:endParaRPr lang="en-US" sz="10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70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완전 탐색에서 후보 해를 만들어 낼 때 쓰이는 대표적인 도구 세 가지를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139</a:t>
            </a:r>
            <a:endParaRPr lang="en-US" sz="10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§2.3  </a:t>
            </a:r>
            <a:pPr indent="0" marL="0">
              <a:buNone/>
            </a:pP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후보 해를 만들어 낼 때 쓰이는 대표적인 도구 세 가지를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반복문, 순열, 조합</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변수가 적으면 중첩 반복문으로 충분하고, 순서를 정해야 하면 순열, 고르기만 하면 되면 조합을 쓴다. 부분집합이 필요하면 비트마스크를 함께 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140</a:t>
            </a:r>
            <a:endParaRPr lang="en-US" sz="10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71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['A', 'B', 'C'] 에서 2개를 뽑는 순열을 모두 나열하시오.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141</a:t>
            </a:r>
            <a:endParaRPr lang="en-US" sz="10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['A', 'B', 'C'] 에서 2개를 뽑는 순열을 모두 나열하시오.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(A,B), (A,C), (B,A), (B,C), (C,A), (C,B)</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6가지다. 조합이라면 (A,B), (A,C), (B,C) 세 가지만 남는다. 같은 두 글자라도 자리를 바꾼 것을 따로 세는지가 둘을 가른다.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142</a:t>
            </a:r>
            <a:endParaRPr lang="en-US" sz="10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72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5명 중에서 금메달, 은메달, 동메달을 받을 사람을 정하는 경우의 수를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143</a:t>
            </a:r>
            <a:endParaRPr lang="en-US" sz="10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72</a:t>
            </a:r>
            <a:endParaRPr lang="en-US" sz="1200" dirty="0"/>
          </a:p>
        </p:txBody>
      </p:sp>
      <p:sp>
        <p:nvSpPr>
          <p:cNvPr id="8" name="Text 5"/>
          <p:cNvSpPr/>
          <p:nvPr/>
        </p:nvSpPr>
        <p:spPr>
          <a:xfrm>
            <a:off x="658368" y="216350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5명 중에서 금메달, 은메달, 동메달을 받을 사람을 정하는 경우의 수를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60가지</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5P3 = 5 × 4 × 3 = 60이다. 누가 금인지 은인지가 달라지면 다른 결과이므로 순열로 센다.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144</a:t>
            </a:r>
            <a:endParaRPr lang="en-US" sz="10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73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5가지 음식 중 2가지를 골라 함께 먹는 경우의 수를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145</a:t>
            </a:r>
            <a:endParaRPr lang="en-US" sz="10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5가지 음식 중 2가지를 골라 함께 먹는 경우의 수를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10가지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5C2 = (5 × 4) ÷ 2 = 10이다. 짜장면과 짬뽕을 고르는 것과 짬뽕과 짜장면을 고르는 것은 같은 선택이므로 조합으로 센다.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146</a:t>
            </a:r>
            <a:endParaRPr lang="en-US" sz="10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74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같은 n과 r에 대해 조합의 개수가 순열의 개수보다 작거나 같은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147</a:t>
            </a:r>
            <a:endParaRPr lang="en-US" sz="10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74</a:t>
            </a:r>
            <a:endParaRPr lang="en-US" sz="1200" dirty="0"/>
          </a:p>
        </p:txBody>
      </p:sp>
      <p:sp>
        <p:nvSpPr>
          <p:cNvPr id="8" name="Text 5"/>
          <p:cNvSpPr/>
          <p:nvPr/>
        </p:nvSpPr>
        <p:spPr>
          <a:xfrm>
            <a:off x="658368" y="216350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같은 n과 r에 대해 조합의 개수가 순열의 개수보다 작거나 같은 이유를 한 문장으로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순열은 같은 묶음을 순서만 바꾸어 r!번 중복해서 세기 때문이다.</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nPr을 r!로 나눈 것이 nCr이다. r이 1이면 두 값이 같고, r이 커질수록 차이가 벌어진다.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148</a:t>
            </a:r>
            <a:endParaRPr lang="en-US" sz="10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75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서로 다른 n개를 하나도 남기지 않고 모두 나열하는 순열의 개수를 n에 대한 식으로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149</a:t>
            </a:r>
            <a:endParaRPr lang="en-US" sz="10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서로 다른 n개를 하나도 남기지 않고 모두 나열하는 순열의 개수를 n에 대한 식으로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첫 자리에 n가지, 다음에 n−1가지 식으로 끝까지 곱한 값이다. 외판원 순회처럼 전체 순서를 정하는 문제에서 이 값이 그대로 탐색 공간이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150</a:t>
            </a:r>
            <a:endParaRPr lang="en-US" sz="10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76 · 주관식</a:t>
            </a:r>
            <a:endParaRPr lang="en-US" sz="1200" dirty="0"/>
          </a:p>
        </p:txBody>
      </p:sp>
      <p:sp>
        <p:nvSpPr>
          <p:cNvPr id="8" name="Text 5"/>
          <p:cNvSpPr/>
          <p:nvPr/>
        </p:nvSpPr>
        <p:spPr>
          <a:xfrm>
            <a:off x="658368" y="1750822"/>
            <a:ext cx="10497312" cy="924052"/>
          </a:xfrm>
          <a:prstGeom prst="rect">
            <a:avLst/>
          </a:prstGeom>
          <a:noFill/>
          <a:ln/>
        </p:spPr>
        <p:txBody>
          <a:bodyPr wrap="square" lIns="0" tIns="0" rIns="0" bIns="0" rtlCol="0" anchor="t"/>
          <a:lstStyle/>
          <a:p>
            <a:pPr indent="0" marL="0">
              <a:lnSpc>
                <a:spcPct val="122000"/>
              </a:lnSpc>
              <a:buNone/>
            </a:pPr>
            <a:r>
              <a:rPr lang="en-US" sz="2500" b="1" dirty="0">
                <a:solidFill>
                  <a:srgbClr val="1E1B3A"/>
                </a:solidFill>
                <a:latin typeface="Malgun Gothic" pitchFamily="34" charset="0"/>
                <a:ea typeface="Malgun Gothic" pitchFamily="34" charset="-122"/>
                <a:cs typeface="Malgun Gothic" pitchFamily="34" charset="-120"/>
              </a:rPr>
              <a:t>중첩 반복문 대신 itertools를 쓸 때, 뽑는 개수를 3개에서 4개로 늘리려면 코드를 어떻게 고치면 되는지 한 문장으로 쓰시오.</a:t>
            </a:r>
            <a:endParaRPr lang="en-US" sz="2500" dirty="0"/>
          </a:p>
        </p:txBody>
      </p:sp>
      <p:sp>
        <p:nvSpPr>
          <p:cNvPr id="9" name="Shape 6"/>
          <p:cNvSpPr/>
          <p:nvPr/>
        </p:nvSpPr>
        <p:spPr>
          <a:xfrm>
            <a:off x="658368" y="2930906"/>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05226"/>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28853"/>
            <a:ext cx="228234" cy="228234"/>
          </a:xfrm>
          <a:prstGeom prst="rect">
            <a:avLst/>
          </a:prstGeom>
        </p:spPr>
      </p:pic>
      <p:sp>
        <p:nvSpPr>
          <p:cNvPr id="12" name="Text 8"/>
          <p:cNvSpPr/>
          <p:nvPr/>
        </p:nvSpPr>
        <p:spPr>
          <a:xfrm>
            <a:off x="1572768" y="3168650"/>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29354"/>
            <a:ext cx="10140696" cy="0"/>
          </a:xfrm>
          <a:prstGeom prst="line">
            <a:avLst/>
          </a:prstGeom>
          <a:noFill/>
          <a:ln w="12700">
            <a:solidFill>
              <a:srgbClr val="C9C6E4"/>
            </a:solidFill>
            <a:prstDash val="dash"/>
          </a:ln>
        </p:spPr>
      </p:sp>
      <p:sp>
        <p:nvSpPr>
          <p:cNvPr id="14" name="Shape 10"/>
          <p:cNvSpPr/>
          <p:nvPr/>
        </p:nvSpPr>
        <p:spPr>
          <a:xfrm>
            <a:off x="1042416" y="4777994"/>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151</a:t>
            </a:r>
            <a:endParaRPr lang="en-US" sz="10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76</a:t>
            </a:r>
            <a:endParaRPr lang="en-US" sz="1200" dirty="0"/>
          </a:p>
        </p:txBody>
      </p:sp>
      <p:sp>
        <p:nvSpPr>
          <p:cNvPr id="8" name="Text 5"/>
          <p:cNvSpPr/>
          <p:nvPr/>
        </p:nvSpPr>
        <p:spPr>
          <a:xfrm>
            <a:off x="658368" y="1899285"/>
            <a:ext cx="1049731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중첩 반복문 대신 itertools를 쓸 때, 뽑는 개수를 3개에서 4개로 늘리려면 코드를 어떻게 고치면 되는지 한 문장으로 쓰시오.</a:t>
            </a:r>
            <a:endParaRPr lang="en-US" sz="1500" dirty="0"/>
          </a:p>
        </p:txBody>
      </p:sp>
      <p:sp>
        <p:nvSpPr>
          <p:cNvPr id="9" name="Shape 6"/>
          <p:cNvSpPr/>
          <p:nvPr/>
        </p:nvSpPr>
        <p:spPr>
          <a:xfrm>
            <a:off x="658368" y="2687193"/>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88836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21498"/>
            <a:ext cx="245791" cy="245791"/>
          </a:xfrm>
          <a:prstGeom prst="rect">
            <a:avLst/>
          </a:prstGeom>
        </p:spPr>
      </p:pic>
      <p:sp>
        <p:nvSpPr>
          <p:cNvPr id="12" name="Text 8"/>
          <p:cNvSpPr/>
          <p:nvPr/>
        </p:nvSpPr>
        <p:spPr>
          <a:xfrm>
            <a:off x="1591056" y="2687193"/>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combinations(arr, 3)의 숫자 3을 4로 바꾸기만 하면 된다.</a:t>
            </a:r>
            <a:endParaRPr lang="en-US" sz="1350" dirty="0"/>
          </a:p>
        </p:txBody>
      </p:sp>
      <p:sp>
        <p:nvSpPr>
          <p:cNvPr id="13" name="Shape 9"/>
          <p:cNvSpPr/>
          <p:nvPr/>
        </p:nvSpPr>
        <p:spPr>
          <a:xfrm>
            <a:off x="658368" y="3839337"/>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7708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0708"/>
            <a:ext cx="228234" cy="228234"/>
          </a:xfrm>
          <a:prstGeom prst="rect">
            <a:avLst/>
          </a:prstGeom>
        </p:spPr>
      </p:pic>
      <p:sp>
        <p:nvSpPr>
          <p:cNvPr id="16" name="Text 11"/>
          <p:cNvSpPr/>
          <p:nvPr/>
        </p:nvSpPr>
        <p:spPr>
          <a:xfrm>
            <a:off x="1572768" y="3985641"/>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중첩 반복문이었다면 for문을 한 겹 더 쓰고 인덱스 변수도 하나 더 만들어야 한다. itertools의 실질적인 이득은 이 수정 비용에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152</a:t>
            </a:r>
            <a:endParaRPr lang="en-US" sz="10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77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어떤 문제를 순열로 셀지 조합으로 셀지 판단할 때 스스로에게 던져야 할 질문을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153</a:t>
            </a:r>
            <a:endParaRPr lang="en-US" sz="10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§2.4  </a:t>
            </a:r>
            <a:pPr indent="0" marL="0">
              <a:buNone/>
            </a:pP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어떤 문제를 순열로 셀지 조합으로 셀지 판단할 때 스스로에게 던져야 할 질문을 한 문장으로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뽑은 것들의 자리를 서로 바꾸면 다른 경우가 되는가?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달라지면 순열, 같으면 조합이다. 메달 색이 바뀌면 다른 결과지만 세트 메뉴는 순서를 바꿔도 같은 메뉴다.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154</a:t>
            </a:r>
            <a:endParaRPr lang="en-US" sz="10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78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무차별 문자열 매칭을 개선한 알고리즘 두 가지를 시간 복잡도와 함께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155</a:t>
            </a:r>
            <a:endParaRPr lang="en-US" sz="10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무차별 문자열 매칭을 개선한 알고리즘 두 가지를 시간 복잡도와 함께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KMP는 O(n+m), 보이어-무어는 O(n/m)</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무차별 방식은 O(n×m)이다. KMP는 이미 비교한 정보를 활용하고, 보이어-무어는 패턴 뒤쪽부터 비교해 여러 칸을 한 번에 건너뛴다.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156</a:t>
            </a:r>
            <a:endParaRPr lang="en-US" sz="10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79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가장 가까운 두 수를 찾는 문제를 분할 정복으로 개선하면 시간 복잡도가 어떻게 되는지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157</a:t>
            </a:r>
            <a:endParaRPr lang="en-US" sz="10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79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가장 가까운 두 수를 찾는 문제를 분할 정복으로 개선하면 시간 복잡도가 어떻게 되는지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O(n log 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탐색은 모든 쌍을 보므로 O(n²)이다. 점들을 반으로 나누어 각각 푼 뒤 경계 부근만 따로 처리하면 O(n log n)까지 내려간다.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158</a:t>
            </a:r>
            <a:endParaRPr lang="en-US" sz="10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80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부분집합 생성 코드에서 i &amp; (1 &lt;&lt; j) 가 검사하는 내용을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159</a:t>
            </a:r>
            <a:endParaRPr lang="en-US" sz="10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부분집합 생성 코드에서 i &amp; (1 &lt;&lt; j) 가 검사하는 내용을 한 문장으로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i를 이진수로 보았을 때 j번째 비트가 1인지 확인한다.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1을 j칸 왼쪽으로 밀면 j번째 자리만 1인 수가 되고, 그것과 i를 and 연산하면 해당 자리만 남는다. 1이면 j번째 원소를 부분집합에 넣는다.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160</a:t>
            </a:r>
            <a:endParaRPr lang="en-US" sz="10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81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길이 n인 텍스트에서 길이 m인 패턴을 무차별 매칭할 때, 최선의 경우 비교 횟수를 n과 m으로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161</a:t>
            </a:r>
            <a:endParaRPr lang="en-US" sz="10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길이 n인 텍스트에서 길이 m인 패턴을 무차별 매칭할 때, 최선의 경우 비교 횟수를 n과 m으로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n − m + 1회</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모든 시작 위치에서 첫 글자부터 어긋나면 위치마다 한 번씩만 비교하고 넘어간다. 최악의 경우에는 위치마다 m번씩 비교하므로 (n−m+1) × m 이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162</a:t>
            </a:r>
            <a:endParaRPr lang="en-US" sz="10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82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가장 가까운 두 수를 찾는 코드에서 best 변수가 담고 있는 값이 무엇인지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163</a:t>
            </a:r>
            <a:endParaRPr lang="en-US" sz="10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가장 가까운 두 수를 찾는 코드에서 best 변수가 담고 있는 값이 무엇인지 한 문장으로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지금까지 검사한 쌍 중에서 차이가 가장 작았던 두 수의 쌍이다.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완전 탐색 템플릿의 '해 선택' 단계에 해당한다. 더 작은 차이를 만나면 그때마다 갱신하고, 반복이 끝나면 전체에서 가장 좋은 값이 남는다.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164</a:t>
            </a:r>
            <a:endParaRPr lang="en-US" sz="10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83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원소가 10개인 집합의 부분집합 개수를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165</a:t>
            </a:r>
            <a:endParaRPr lang="en-US" sz="10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§2.5  </a:t>
            </a:r>
            <a:pPr indent="0" marL="0">
              <a:buNone/>
            </a:pP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원소가 10개인 집합의 부분집합 개수를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1,024개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2¹⁰ = 1,024다. 원소가 20개면 약 100만 개, 30개면 약 10억 개가 되어 곧 감당하기 어려워진다.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166</a:t>
            </a:r>
            <a:endParaRPr lang="en-US" sz="10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84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조합적 폭발의 세 가지 대표 유형을 빅오 표기로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167</a:t>
            </a:r>
            <a:endParaRPr lang="en-US" sz="10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조합적 폭발의 세 가지 대표 유형을 빅오 표기로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O(nᵏ), O(2ⁿ), 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각각 반복문 중첩, 포함과 비포함의 선택, 순서 나열에서 나온다. 오른쪽으로 갈수록 증가 속도가 가파르다.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168</a:t>
            </a:r>
            <a:endParaRPr lang="en-US" sz="10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85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n = 5 일 때 n!, 2ⁿ, nⁿ 의 값을 각각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169</a:t>
            </a:r>
            <a:endParaRPr lang="en-US" sz="10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 = 5 일 때 n!, 2ⁿ, nⁿ 의 값을 각각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n! = 120, 2ⁿ = 32, nⁿ = 3,125</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n이 작을 때는 nⁿ이 가장 크지만, n = 10 이 넘어가면 n! 이 2ⁿ을 크게 앞지른다. 증가 속도를 비교할 때는 작은 값만 보고 판단하면 안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170</a:t>
            </a:r>
            <a:endParaRPr lang="en-US" sz="10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86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각 자리가 0~9인 8자리 비밀번호의 경우의 수를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171</a:t>
            </a:r>
            <a:endParaRPr lang="en-US" sz="10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각 자리가 0~9인 8자리 비밀번호의 경우의 수를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1억 가지 (10⁸)</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자리마다 10가지가 곱해진다. 초당 1만 번씩 시도한다면 1억 ÷ 1만 = 1만 초, 약 3시간이 걸린다.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172</a:t>
            </a:r>
            <a:endParaRPr lang="en-US" sz="10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87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원소가 30개인 집합의 부분집합 개수는 대략 얼마인지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173</a:t>
            </a:r>
            <a:endParaRPr lang="en-US" sz="10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원소가 30개인 집합의 부분집합 개수는 대략 얼마인지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10억 개 (2³⁰ ≈ 1.07 × 10⁹)</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원소가 20개일 때 약 100만이던 것이 30개에서 약 10억이 된다. 원소 10개가 늘었을 뿐인데 1,000배가 된 것이다.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174</a:t>
            </a:r>
            <a:endParaRPr lang="en-US" sz="10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88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도시가 10개인 외판원 순회 문제에서 확인해야 할 방문 순서의 개수를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175</a:t>
            </a:r>
            <a:endParaRPr lang="en-US" sz="10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도시가 10개인 외판원 순회 문제에서 확인해야 할 방문 순서의 개수를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3,628,800가지 (10!)</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약 360만 가지로 아직은 계산이 가능한 수준이다. 그러나 도시가 20개가 되면 약 2.4 × 10¹⁸ 가지가 되어 불가능해진다.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176</a:t>
            </a:r>
            <a:endParaRPr lang="en-US" sz="10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89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부분집합을 만드는 문제에서 원소가 하나 늘어나면 경우의 수는 몇 배가 되는지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177</a:t>
            </a:r>
            <a:endParaRPr lang="en-US" sz="10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89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부분집합을 만드는 문제에서 원소가 하나 늘어나면 경우의 수는 몇 배가 되는지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2배</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새 원소를 포함하는 경우와 포함하지 않는 경우로 갈라지므로 정확히 두 배가 된다. 이 두 배가 반복되어 2ⁿ이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178</a:t>
            </a:r>
            <a:endParaRPr lang="en-US" sz="10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90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O(2ⁿ) 완전 탐색을 현실적으로 시도해 볼 수 있는 n의 대략적인 상한을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179</a:t>
            </a:r>
            <a:endParaRPr lang="en-US" sz="10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90</a:t>
            </a:r>
            <a:endParaRPr lang="en-US" sz="1200" dirty="0"/>
          </a:p>
        </p:txBody>
      </p:sp>
      <p:sp>
        <p:nvSpPr>
          <p:cNvPr id="8" name="Text 5"/>
          <p:cNvSpPr/>
          <p:nvPr/>
        </p:nvSpPr>
        <p:spPr>
          <a:xfrm>
            <a:off x="658368" y="2163509"/>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O(2ⁿ) 완전 탐색을 현실적으로 시도해 볼 수 있는 n의 대략적인 상한을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20</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2²⁰ ≈ 100만으로 수백만 번 수준이라 대체로 통과한다. n이 30이면 약 10억이 되어 위험해진다.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180</a:t>
            </a:r>
            <a:endParaRPr lang="en-US" sz="10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91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O(n!) 완전 탐색이 위험해지기 시작하는 n의 대략적인 값을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181</a:t>
            </a:r>
            <a:endParaRPr lang="en-US" sz="10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O(n!) 완전 탐색이 위험해지기 시작하는 n의 대략적인 값을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10</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 은 약 360만으로 아직 견딜 만하지만 12! 은 약 4억 8천만, 15! 은 약 1.3조가 된다. n이 10을 넘어가면 다른 방법을 찾아야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182</a:t>
            </a:r>
            <a:endParaRPr lang="en-US" sz="10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92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조합적 폭발이 일어난 문제를 더 빠른 컴퓨터로 해결할 수 있는지 답하고, 그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183</a:t>
            </a:r>
            <a:endParaRPr lang="en-US" sz="10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§2.6  </a:t>
            </a:r>
            <a:pPr indent="0" marL="0">
              <a:buNone/>
            </a:pP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92</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조합적 폭발이 일어난 문제를 더 빠른 컴퓨터로 해결할 수 있는지 답하고, 그 이유를 한 문장으로 쓰시오.</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해결할 수 없다. 하드웨어 개선은 상수배 효과인데 경우의 수는 지수나 팩토리얼로 늘어나기 때문이다.</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770년 걸리는 계산을 컴퓨터 100대로 나눠도 7.7년이다. 차수를 바꾸지 않으면 의미 있는 개선이 되지 않는다.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184</a:t>
            </a:r>
            <a:endParaRPr lang="en-US" sz="10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93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N-Queens와 스도쿠는 완전 탐색에서 발전한 어떤 기법의 대표 응용인지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4B8A6"/>
          </a:solidFill>
          <a:ln w="12700">
            <a:solidFill>
              <a:srgbClr val="14B8A6"/>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4B8A6"/>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185</a:t>
            </a:r>
            <a:endParaRPr lang="en-US" sz="10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N-Queens와 스도쿠는 완전 탐색에서 발전한 어떤 기법의 대표 응용인지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백트래킹</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두 문제 모두 규칙을 어기는 순간 그 갈래를 버리고 되돌아간다. 끝까지 만든 뒤 검사하는 완전 탐색보다 훨씬 적은 경우만 확인한다.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186</a:t>
            </a:r>
            <a:endParaRPr lang="en-US" sz="10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94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병합 정렬과 이진 탐색은 완전 탐색에서 발전한 어떤 기법의 대표 응용인지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4B8A6"/>
          </a:solidFill>
          <a:ln w="12700">
            <a:solidFill>
              <a:srgbClr val="14B8A6"/>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4B8A6"/>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187</a:t>
            </a:r>
            <a:endParaRPr lang="en-US" sz="10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병합 정렬과 이진 탐색은 완전 탐색에서 발전한 어떤 기법의 대표 응용인지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분할 정복</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문제를 절반으로 나누어 각각 해결한 뒤 합치거나, 절반을 버리고 남은 쪽만 본다. 전체를 훑는 대신 나누는 것이 핵심이다.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188</a:t>
            </a:r>
            <a:endParaRPr lang="en-US" sz="10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95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피보나치 수열을 완전 탐색으로 계산할 때와 메모이제이션을 사용할 때의 시간 복잡도를 각각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4B8A6"/>
          </a:solidFill>
          <a:ln w="12700">
            <a:solidFill>
              <a:srgbClr val="14B8A6"/>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4B8A6"/>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189</a:t>
            </a:r>
            <a:endParaRPr lang="en-US" sz="10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피보나치 수열을 완전 탐색으로 계산할 때와 메모이제이션을 사용할 때의 시간 복잡도를 각각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완전 탐색은 O(2ⁿ), 메모이제이션은 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정의를 그대로 재귀로 옮기면 같은 값을 여러 번 다시 계산한다. 한 번 구한 값을 저장해 두면 각 값을 한 번씩만 계산하므로 O(n)이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190</a:t>
            </a:r>
            <a:endParaRPr lang="en-US" sz="10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96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동적 계획법을 완전 탐색과 비교하여 한 문장으로 정의하시오.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14B8A6"/>
          </a:solidFill>
          <a:ln w="12700">
            <a:solidFill>
              <a:srgbClr val="14B8A6"/>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14B8A6"/>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191</a:t>
            </a:r>
            <a:endParaRPr lang="en-US" sz="10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14B8A6"/>
                </a:solidFill>
                <a:latin typeface="Malgun Gothic" pitchFamily="34" charset="0"/>
                <a:ea typeface="Malgun Gothic" pitchFamily="34" charset="-122"/>
                <a:cs typeface="Malgun Gothic" pitchFamily="34" charset="-120"/>
              </a:rPr>
              <a:t>§2.7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동적 계획법을 완전 탐색과 비교하여 한 문장으로 정의하시오.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기억(메모이제이션)을 장착한 완전 탐색이다.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탐색의 범위는 같지만 이미 계산한 부분 문제를 다시 계산하지 않는다는 점이 다르다. 중복 부분 문제가 많은 문제일수록 효과가 크다.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192</a:t>
            </a:r>
            <a:endParaRPr lang="en-US" sz="10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97 · 주관식</a:t>
            </a:r>
            <a:endParaRPr lang="en-US" sz="1200" dirty="0"/>
          </a:p>
        </p:txBody>
      </p:sp>
      <p:sp>
        <p:nvSpPr>
          <p:cNvPr id="8" name="Text 5"/>
          <p:cNvSpPr/>
          <p:nvPr/>
        </p:nvSpPr>
        <p:spPr>
          <a:xfrm>
            <a:off x="658368" y="1716786"/>
            <a:ext cx="1049731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O(n³) 알고리즘을 n = 100 에서 실행할 때의 대략적인 연산 횟수를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338CA"/>
          </a:solidFill>
          <a:ln w="12700">
            <a:solidFill>
              <a:srgbClr val="4338CA"/>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338CA"/>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193</a:t>
            </a:r>
            <a:endParaRPr lang="en-US" sz="10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O(n³) 알고리즘을 n = 100 에서 실행할 때의 대략적인 연산 횟수를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100만 번 (10⁶)</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100³ = 1,000,000이다. 수십만에서 수백만 번은 현재 컴퓨터에서 매우 안전한 범위이므로 완전 탐색을 적용해도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194</a:t>
            </a:r>
            <a:endParaRPr lang="en-US" sz="10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98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완전 탐색에서 자주 쓰이는 코드 패턴 다섯 가지를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4338CA"/>
          </a:solidFill>
          <a:ln w="12700">
            <a:solidFill>
              <a:srgbClr val="4338CA"/>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4338CA"/>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195</a:t>
            </a:r>
            <a:endParaRPr lang="en-US" sz="10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자주 쓰이는 코드 패턴 다섯 가지를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단일 for, 이중 for, combinations, permutations, 비트마스크</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각각 약수·소수 판별, 최근접 쌍, r개 선택, 순서 있는 나열, 모든 부분집합에 대응한다. 처음 보는 문제도 이 다섯 가지 중 어디에 해당하는지부터 판단하면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196</a:t>
            </a:r>
            <a:endParaRPr lang="en-US" sz="10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99 · 주관식</a:t>
            </a:r>
            <a:endParaRPr lang="en-US" sz="1200" dirty="0"/>
          </a:p>
        </p:txBody>
      </p:sp>
      <p:sp>
        <p:nvSpPr>
          <p:cNvPr id="8" name="Text 5"/>
          <p:cNvSpPr/>
          <p:nvPr/>
        </p:nvSpPr>
        <p:spPr>
          <a:xfrm>
            <a:off x="658368" y="1733804"/>
            <a:ext cx="10497312" cy="958088"/>
          </a:xfrm>
          <a:prstGeom prst="rect">
            <a:avLst/>
          </a:prstGeom>
          <a:noFill/>
          <a:ln/>
        </p:spPr>
        <p:txBody>
          <a:bodyPr wrap="square" lIns="0" tIns="0" rIns="0" bIns="0" rtlCol="0" anchor="t"/>
          <a:lstStyle/>
          <a:p>
            <a:pPr indent="0" marL="0">
              <a:lnSpc>
                <a:spcPct val="122000"/>
              </a:lnSpc>
              <a:buNone/>
            </a:pPr>
            <a:r>
              <a:rPr lang="en-US" sz="2600" b="1" dirty="0">
                <a:solidFill>
                  <a:srgbClr val="1E1B3A"/>
                </a:solidFill>
                <a:latin typeface="Malgun Gothic" pitchFamily="34" charset="0"/>
                <a:ea typeface="Malgun Gothic" pitchFamily="34" charset="-122"/>
                <a:cs typeface="Malgun Gothic" pitchFamily="34" charset="-120"/>
              </a:rPr>
              <a:t>0/1 배낭 문제를 완전 탐색으로 풀 때의 시간 복잡도를 쓰고, 물건이 20개 이하이면 시도해 볼 만한 이유를 함께 쓰시오.</a:t>
            </a:r>
            <a:endParaRPr lang="en-US" sz="2600" dirty="0"/>
          </a:p>
        </p:txBody>
      </p:sp>
      <p:sp>
        <p:nvSpPr>
          <p:cNvPr id="9" name="Shape 6"/>
          <p:cNvSpPr/>
          <p:nvPr/>
        </p:nvSpPr>
        <p:spPr>
          <a:xfrm>
            <a:off x="658368" y="2947924"/>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22244"/>
            <a:ext cx="475488" cy="475488"/>
          </a:xfrm>
          <a:prstGeom prst="ellipse">
            <a:avLst/>
          </a:prstGeom>
          <a:solidFill>
            <a:srgbClr val="4338CA"/>
          </a:solidFill>
          <a:ln w="12700">
            <a:solidFill>
              <a:srgbClr val="4338CA"/>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45871"/>
            <a:ext cx="228234" cy="228234"/>
          </a:xfrm>
          <a:prstGeom prst="rect">
            <a:avLst/>
          </a:prstGeom>
        </p:spPr>
      </p:pic>
      <p:sp>
        <p:nvSpPr>
          <p:cNvPr id="12" name="Text 8"/>
          <p:cNvSpPr/>
          <p:nvPr/>
        </p:nvSpPr>
        <p:spPr>
          <a:xfrm>
            <a:off x="1572768" y="3185668"/>
            <a:ext cx="9720072" cy="548640"/>
          </a:xfrm>
          <a:prstGeom prst="rect">
            <a:avLst/>
          </a:prstGeom>
          <a:noFill/>
          <a:ln/>
        </p:spPr>
        <p:txBody>
          <a:bodyPr wrap="square" lIns="0" tIns="0" rIns="0" bIns="0" rtlCol="0" anchor="ctr"/>
          <a:lstStyle/>
          <a:p>
            <a:pPr indent="0" marL="0">
              <a:buNone/>
            </a:pPr>
            <a:r>
              <a:rPr lang="en-US" sz="1700" b="1" dirty="0">
                <a:solidFill>
                  <a:srgbClr val="4338CA"/>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46372"/>
            <a:ext cx="10140696" cy="0"/>
          </a:xfrm>
          <a:prstGeom prst="line">
            <a:avLst/>
          </a:prstGeom>
          <a:noFill/>
          <a:ln w="12700">
            <a:solidFill>
              <a:srgbClr val="C9C6E4"/>
            </a:solidFill>
            <a:prstDash val="dash"/>
          </a:ln>
        </p:spPr>
      </p:sp>
      <p:sp>
        <p:nvSpPr>
          <p:cNvPr id="14" name="Shape 10"/>
          <p:cNvSpPr/>
          <p:nvPr/>
        </p:nvSpPr>
        <p:spPr>
          <a:xfrm>
            <a:off x="1042416" y="4795012"/>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197</a:t>
            </a:r>
            <a:endParaRPr lang="en-US" sz="10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99</a:t>
            </a:r>
            <a:endParaRPr lang="en-US" sz="1200" dirty="0"/>
          </a:p>
        </p:txBody>
      </p:sp>
      <p:sp>
        <p:nvSpPr>
          <p:cNvPr id="8" name="Text 5"/>
          <p:cNvSpPr/>
          <p:nvPr/>
        </p:nvSpPr>
        <p:spPr>
          <a:xfrm>
            <a:off x="658368" y="1899285"/>
            <a:ext cx="1049731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0/1 배낭 문제를 완전 탐색으로 풀 때의 시간 복잡도를 쓰고, 물건이 20개 이하이면 시도해 볼 만한 이유를 함께 쓰시오.</a:t>
            </a:r>
            <a:endParaRPr lang="en-US" sz="1500" dirty="0"/>
          </a:p>
        </p:txBody>
      </p:sp>
      <p:sp>
        <p:nvSpPr>
          <p:cNvPr id="9" name="Shape 6"/>
          <p:cNvSpPr/>
          <p:nvPr/>
        </p:nvSpPr>
        <p:spPr>
          <a:xfrm>
            <a:off x="658368" y="2687193"/>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88836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21498"/>
            <a:ext cx="245791" cy="245791"/>
          </a:xfrm>
          <a:prstGeom prst="rect">
            <a:avLst/>
          </a:prstGeom>
        </p:spPr>
      </p:pic>
      <p:sp>
        <p:nvSpPr>
          <p:cNvPr id="12" name="Text 8"/>
          <p:cNvSpPr/>
          <p:nvPr/>
        </p:nvSpPr>
        <p:spPr>
          <a:xfrm>
            <a:off x="1591056" y="2687193"/>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O(2ⁿ)이며, 2²⁰ ≈ 100만이라 계산량이 안전한 범위이기 때문이다.</a:t>
            </a:r>
            <a:endParaRPr lang="en-US" sz="1350" dirty="0"/>
          </a:p>
        </p:txBody>
      </p:sp>
      <p:sp>
        <p:nvSpPr>
          <p:cNvPr id="13" name="Shape 9"/>
          <p:cNvSpPr/>
          <p:nvPr/>
        </p:nvSpPr>
        <p:spPr>
          <a:xfrm>
            <a:off x="658368" y="3839337"/>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7708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0708"/>
            <a:ext cx="228234" cy="228234"/>
          </a:xfrm>
          <a:prstGeom prst="rect">
            <a:avLst/>
          </a:prstGeom>
        </p:spPr>
      </p:pic>
      <p:sp>
        <p:nvSpPr>
          <p:cNvPr id="16" name="Text 11"/>
          <p:cNvSpPr/>
          <p:nvPr/>
        </p:nvSpPr>
        <p:spPr>
          <a:xfrm>
            <a:off x="1572768" y="3985641"/>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각 물건을 넣거나 넣지 않는 두 갈래 선택이므로 2ⁿ이다. 물건이 30개가 되면 약 10억이 되어 동적 계획법으로 바꿔야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198</a:t>
            </a:r>
            <a:endParaRPr lang="en-US" sz="10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701784" y="365760"/>
            <a:ext cx="1828800"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701784" y="365760"/>
            <a:ext cx="1828800"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100 · 주관식</a:t>
            </a:r>
            <a:endParaRPr lang="en-US" sz="1200" dirty="0"/>
          </a:p>
        </p:txBody>
      </p:sp>
      <p:sp>
        <p:nvSpPr>
          <p:cNvPr id="8" name="Text 5"/>
          <p:cNvSpPr/>
          <p:nvPr/>
        </p:nvSpPr>
        <p:spPr>
          <a:xfrm>
            <a:off x="658368" y="1946529"/>
            <a:ext cx="1049731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회문(palindrome)이 무엇인지 한 문장으로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4338CA"/>
          </a:solidFill>
          <a:ln w="12700">
            <a:solidFill>
              <a:srgbClr val="4338CA"/>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4338CA"/>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199</a:t>
            </a:r>
            <a:endParaRPr lang="en-US" sz="10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indent="0" marL="0">
              <a:buNone/>
            </a:pPr>
            <a:r>
              <a:rPr lang="en-US" sz="1200" b="1" dirty="0">
                <a:solidFill>
                  <a:srgbClr val="4338CA"/>
                </a:solidFill>
                <a:latin typeface="Malgun Gothic" pitchFamily="34" charset="0"/>
                <a:ea typeface="Malgun Gothic" pitchFamily="34" charset="-122"/>
                <a:cs typeface="Malgun Gothic" pitchFamily="34" charset="-120"/>
              </a:rPr>
              <a:t>§2.8  </a:t>
            </a:r>
            <a:pPr indent="0" marL="0">
              <a:buNone/>
            </a:pP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100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회문(palindrome)이 무엇인지 한 문장으로 쓰시오.</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앞에서 읽으나 뒤에서 읽으나 같은 문자열이다.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level, noon처럼 뒤집어도 원래와 같은 문자열을 말한다. 파이썬에서는 s == s[::-1] 한 줄로 판별할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200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200</Slides>
  <Notes>200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200</vt:i4>
      </vt:variant>
    </vt:vector>
  </HeadingPairs>
  <TitlesOfParts>
    <vt:vector size="2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2장 완전 탐색 · 브루트 포스 — 연습문제 100문항</dc:title>
  <dc:subject>PptxGenJS Presentation</dc:subject>
  <dc:creator>대전대학교 컴퓨터공학과</dc:creator>
  <cp:lastModifiedBy>대전대학교 컴퓨터공학과</cp:lastModifiedBy>
  <cp:revision>1</cp:revision>
  <dcterms:created xsi:type="dcterms:W3CDTF">2026-08-04T09:04:29Z</dcterms:created>
  <dcterms:modified xsi:type="dcterms:W3CDTF">2026-08-04T09:04:29Z</dcterms:modified>
</cp:coreProperties>
</file>