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rts/chart1.xml" ContentType="application/vnd.openxmlformats-officedocument.drawingml.chart+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320" r:id="rId18"/>
    <p:sldId id="321" r:id="rId19"/>
    <p:sldId id="322" r:id="rId20"/>
    <p:sldId id="323" r:id="rId21"/>
    <p:sldId id="324" r:id="rId22"/>
    <p:sldId id="325" r:id="rId23"/>
    <p:sldId id="326" r:id="rId24"/>
    <p:sldId id="327" r:id="rId25"/>
    <p:sldId id="328" r:id="rId26"/>
    <p:sldId id="329" r:id="rId27"/>
    <p:sldId id="330" r:id="rId28"/>
    <p:sldId id="33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 id="317" r:id="rId75"/>
    <p:sldId id="318" r:id="rId76"/>
    <p:sldId id="319" r:id="rId77"/>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변화</c:v>
          </c:tx>
          <c:spPr>
            <a:solidFill>
              <a:srgbClr val="7A9FA9"/>
            </a:solidFill>
          </c:spPr>
          <c:invertIfNegative val="0"/>
          <c:dPt>
            <c:idx val="2"/>
            <c:invertIfNegative val="0"/>
            <c:bubble3D val="0"/>
            <c:spPr>
              <a:solidFill>
                <a:srgbClr val="EA8D47"/>
              </a:solidFill>
            </c:spPr>
            <c:extLst>
              <c:ext xmlns:c16="http://schemas.microsoft.com/office/drawing/2014/chart" uri="{C3380CC4-5D6E-409C-BE32-E72D297353CC}">
                <c16:uniqueId val="{00000001-5D01-4430-8A6B-B253845AB292}"/>
              </c:ext>
            </c:extLst>
          </c:dPt>
          <c:dPt>
            <c:idx val="3"/>
            <c:invertIfNegative val="0"/>
            <c:bubble3D val="0"/>
            <c:spPr>
              <a:solidFill>
                <a:srgbClr val="EA8D47"/>
              </a:solidFill>
            </c:spPr>
            <c:extLst>
              <c:ext xmlns:c16="http://schemas.microsoft.com/office/drawing/2014/chart" uri="{C3380CC4-5D6E-409C-BE32-E72D297353CC}">
                <c16:uniqueId val="{00000003-5D01-4430-8A6B-B253845AB292}"/>
              </c:ext>
            </c:extLst>
          </c:dPt>
          <c:dPt>
            <c:idx val="4"/>
            <c:invertIfNegative val="0"/>
            <c:bubble3D val="0"/>
            <c:spPr>
              <a:solidFill>
                <a:srgbClr val="EA8D47"/>
              </a:solidFill>
            </c:spPr>
            <c:extLst>
              <c:ext xmlns:c16="http://schemas.microsoft.com/office/drawing/2014/chart" uri="{C3380CC4-5D6E-409C-BE32-E72D297353CC}">
                <c16:uniqueId val="{00000005-5D01-4430-8A6B-B253845AB292}"/>
              </c:ext>
            </c:extLst>
          </c:dPt>
          <c:dLbls>
            <c:dLbl>
              <c:idx val="0"/>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D01-4430-8A6B-B253845AB292}"/>
                </c:ext>
              </c:extLst>
            </c:dLbl>
            <c:dLbl>
              <c:idx val="1"/>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D01-4430-8A6B-B253845AB292}"/>
                </c:ext>
              </c:extLst>
            </c:dLbl>
            <c:dLbl>
              <c:idx val="2"/>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D01-4430-8A6B-B253845AB292}"/>
                </c:ext>
              </c:extLst>
            </c:dLbl>
            <c:dLbl>
              <c:idx val="3"/>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D01-4430-8A6B-B253845AB292}"/>
                </c:ext>
              </c:extLst>
            </c:dLbl>
            <c:dLbl>
              <c:idx val="4"/>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D01-4430-8A6B-B253845AB292}"/>
                </c:ext>
              </c:extLst>
            </c:dLbl>
            <c:dLbl>
              <c:idx val="5"/>
              <c:spPr/>
              <c:txPr>
                <a:bodyPr anchorCtr="1"/>
                <a:lstStyle/>
                <a:p>
                  <a:pPr>
                    <a:defRPr sz="1350" b="1">
                      <a:solidFill>
                        <a:srgbClr val="FFFFFF"/>
                      </a:solidFill>
                      <a:latin typeface="Malgun Gothic"/>
                      <a:ea typeface="Malgun Gothic"/>
                      <a:cs typeface="Malgun Gothic"/>
                    </a:defRPr>
                  </a:pPr>
                  <a:endParaRPr lang="ko-KR"/>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D01-4430-8A6B-B253845AB292}"/>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1일</c:v>
                </c:pt>
                <c:pt idx="1">
                  <c:v>2일</c:v>
                </c:pt>
                <c:pt idx="2">
                  <c:v>3일</c:v>
                </c:pt>
                <c:pt idx="3">
                  <c:v>4일</c:v>
                </c:pt>
                <c:pt idx="4">
                  <c:v>5일</c:v>
                </c:pt>
                <c:pt idx="5">
                  <c:v>6일</c:v>
                </c:pt>
              </c:strCache>
            </c:strRef>
          </c:cat>
          <c:val>
            <c:numRef>
              <c:f>'Chart Data'!$B$2:$B$7</c:f>
              <c:numCache>
                <c:formatCode>General</c:formatCode>
                <c:ptCount val="6"/>
                <c:pt idx="0">
                  <c:v>3</c:v>
                </c:pt>
                <c:pt idx="1">
                  <c:v>-5</c:v>
                </c:pt>
                <c:pt idx="2">
                  <c:v>12</c:v>
                </c:pt>
                <c:pt idx="3">
                  <c:v>-2</c:v>
                </c:pt>
                <c:pt idx="4">
                  <c:v>7</c:v>
                </c:pt>
                <c:pt idx="5">
                  <c:v>-9</c:v>
                </c:pt>
              </c:numCache>
            </c:numRef>
          </c:val>
          <c:extLst>
            <c:ext xmlns:c16="http://schemas.microsoft.com/office/drawing/2014/chart" uri="{C3380CC4-5D6E-409C-BE32-E72D297353CC}">
              <c16:uniqueId val="{00000009-5D01-4430-8A6B-B253845AB292}"/>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0"/>
        </c:scaling>
        <c:delete val="0"/>
        <c:axPos val="l"/>
        <c:majorGridlines>
          <c:spPr>
            <a:ln w="9525">
              <a:solidFill>
                <a:srgbClr val="DDDDDD"/>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50112"/>
        <c:crosses val="autoZero"/>
        <c:crossBetween val="between"/>
        <c:majorUnit val="5"/>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장에서는 분할 정복의 기본을 먼저 보고</a:t>
            </a:r>
            <a:r>
              <a:rPr lang="en-US" altLang="ko-KR"/>
              <a:t>, </a:t>
            </a:r>
            <a:r>
              <a:rPr lang="ko-KR" altLang="en-US"/>
              <a:t>머지 소트와 퀵 소트를 이어서 배웁니다</a:t>
            </a:r>
            <a:r>
              <a:rPr lang="en-US" altLang="ko-KR"/>
              <a:t>. </a:t>
            </a:r>
            <a:r>
              <a:rPr lang="ko-KR" altLang="en-US"/>
              <a:t>머지 소트는 반으로 나누고 정렬한 결과를 합칩니다</a:t>
            </a:r>
            <a:r>
              <a:rPr lang="en-US" altLang="ko-KR"/>
              <a:t>. </a:t>
            </a:r>
            <a:r>
              <a:rPr lang="ko-KR" altLang="en-US"/>
              <a:t>퀵 소트는 피벗을 기준으로 값을 나눕니다</a:t>
            </a:r>
            <a:r>
              <a:rPr lang="en-US" altLang="ko-KR"/>
              <a:t>. </a:t>
            </a:r>
            <a:r>
              <a:rPr lang="ko-KR" altLang="en-US"/>
              <a:t>두 정렬의 차이를 익힌 다음에는 최대 구간 합과 최근접 쌍</a:t>
            </a:r>
            <a:r>
              <a:rPr lang="en-US" altLang="ko-KR"/>
              <a:t>, </a:t>
            </a:r>
            <a:r>
              <a:rPr lang="ko-KR" altLang="en-US"/>
              <a:t>쿼드 트리 같은 응용을 보겠습니다</a:t>
            </a:r>
            <a:r>
              <a:rPr lang="en-US" altLang="ko-KR"/>
              <a:t>. </a:t>
            </a:r>
            <a:r>
              <a:rPr lang="ko-KR" altLang="en-US"/>
              <a:t>마스터 정리로 시간 복잡도를 정리하고</a:t>
            </a:r>
            <a:r>
              <a:rPr lang="en-US" altLang="ko-KR"/>
              <a:t>, </a:t>
            </a:r>
            <a:r>
              <a:rPr lang="ko-KR" altLang="en-US"/>
              <a:t>카라츠바와 스트라센의 아이디어도 살펴봅니다</a:t>
            </a:r>
            <a:r>
              <a:rPr lang="en-US" altLang="ko-KR"/>
              <a:t>. </a:t>
            </a:r>
            <a:r>
              <a:rPr lang="ko-KR" altLang="en-US"/>
              <a:t>마지막에는 색종이 만들기와 빠른 거듭제곱 예제를 풀어보겠습니다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예제는 합병 정렬입니다. 배열을 반으로 나누는 방법은 아주 단순해요. 대신 정렬된 두 배열을 하나로 합치는 과정에서 실제 정렬이 일어납니다. 재귀 호출이 돌아왔을 때 두 조각은 이미 정렬되어 있다고 생각해보세요. 그러면 우리가 직접 해결해야 할 일은 그 두 조각을 순서대로 합치는 것뿐입니다.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정렬은 입력을 절반씩 나누고 정렬하면서 합칩니다. 일반적인 배열 구현은 최선과 평균, 최악 모두 세타 엔 로그 엔 시간이 듭니다. 또 값이 같은 원소의 기존 순서를 유지하도록 구현할 수 있어요. 이것을 안정 정렬이라고 합니다. 시간뿐 아니라 추가 배열을 쓰는 공간 비용도 있으니, 뒤에서 두 비용을 함께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카드가 여덟 장이면 네 장씩, 두 장씩, 마지막에는 한 장씩 나눕니다. 한 장짜리 배열은 비교할 상대가 없으니 이미 정렬되어 있죠. 여기서 재귀 호출을 멈추면 됩니다. 여덟에서 하나까지는 세 번 반으로 줄어듭니다. 일반적으로 이 깊이가 로그 투 엔입니다. 인덱스만 나누는 것은 상수 시간이지만, 파이썬 슬라이싱으로 조각을 만들면 복사 비용이 생긴다는 점은 구분하세요.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정렬된 두 배열에서는 각 배열의 맨 앞 원소가 그 배열에서 가장 작습니다. 따라서 두 맨 앞 값 중 작은 것을 결과에 넣으면 전체에서도 가장 작은 값을 선택한 셈이죠. 꺼낸 쪽의 위치만 한 칸 옮겨 같은 일을 반복합니다. 한쪽이 먼저 끝나면 다른 쪽의 나머지는 이미 정렬되어 있으니 그대로 붙이면 됩니다. 이것이 병합의 전부입니다.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그림은 위에서 아래로 읽을 때와 아래에서 위로 읽을 때 역할이 다릅니다. 내려갈 때는 반으로 나누고, 올라올 때는 두 정렬된 조각을 합쳐요. 같은 높이에 있는 병합 작업들을 모두 더하면 원소 엔 개를 처리합니다. 이런 높이가 로그 엔 개 있으므로 전체 시간은 엔 로그 엔입니다. 트리의 깊이만 보고 로그 엔이라고 답하면 각 층의 작업량을 놓치게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의사코드는 배열을 복사하지 않고 왼쪽과 오른쪽 인덱스로 구간을 표시합니다. 레프트가 라이트보다 작을 때만 가운데를 정수 인덱스로 계산하고 두 구간을 재귀 호출해요. 왼쪽 구간은 미드까지, 오른쪽은 미드 더하기 일부터입니다. 겹치거나 빠지는 원소가 없어야 합니다. 마지막 머지 호출 시점에는 두 구간이 각각 정렬되어 있다는 것이 핵심입니다.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버전은 길이가 영이나 일이면 입력을 그대로 반환합니다. 그다음 정수 나눗셈으로 미드를 구하고 슬라이싱으로 왼쪽과 오른쪽 조각을 만들어요. 두 재귀 호출의 결과를 레프트 그룹과 라이트 그룹에 저장합니다. 이 변수에는 단순히 나눈 조각이 아니라 정렬이 끝난 조각이 들어 있습니다. 마지막에는 두 결과를 머지 함수에 넘깁니다. 원본 리스트를 직접 정렬하는 구현과는 구분해주세요.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아이와 제이는 각 그룹에서 아직 꺼내지 않은 첫 원소의 위치입니다. 두 그룹에 원소가 남아 있는 동안 작은 값을 결과에 넣고 해당 인덱스만 증가시켜요. 같은 값일 때 왼쪽을 먼저 선택하도록 작거나 같다는 조건을 사용했습니다. 이것이 안정성을 지키는 부분입니다. 반복이 끝나면 남은 구간을 익스텐드로 붙입니다. 예제의 일곱, 셋, 다섯으로 시작한 배열은 일부터 여덟까지 정렬됩니다.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안정 정렬에서 안정이라는 말은 실행이 잘 끝난다는 뜻이 아닙니다. 정렬 기준이 같은 데이터의 상대적 순서를 유지한다는 뜻이에요. 두 학생이 모두 구십 점이고 김철수가 먼저 있었다면 점수로 정렬한 뒤에도 그 순서를 유지합니다. 합병할 때 같은 값이면 왼쪽 원소를 먼저 꺼내면 됩니다. 일반적인 제자리 퀵 정렬은 이 성질을 보장하지 않지만, 정렬 이름만으로 모든 구현을 단정하지는 마세요.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점화식에서 투 티 엔 나누기 이는 절반 크기 문제를 두 번 푼다는 뜻입니다. 뒤의 엔 비용은 두 결과를 병합하는 데 듭니다. 같은 층의 모든 구간 길이를 더하면 엔이고, 층 수는 로그 엔이므로 엔 로그 엔입니다. 추가 저장 공간은 배열 병합을 위해 오 엔, 재귀 호출 스택은 오 로그 엔이 필요합니다. 전체 보조 공간은 큰 항을 따라 오 엔으로 정리합니다.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머지 소트에 이어서 퀵 소트를 보겠습니다. 퀵은 빠르다는 뜻이죠. 배열에서 기준값 하나를 고르는데, 이 값을 피벗이라고 부릅니다. 피벗보다 작거나 같은 값은 왼쪽으로, 큰 값은 오른쪽으로 옮깁니다. 그러면 피벗은 정렬된 배열에서 자기 자리를 찾습니다. 남은 왼쪽과 오른쪽 구간도 똑같이 정렬하면 됩니다. 오늘은 마지막 원소를 피벗으로 고르는 한 가지 방식으로 통일해서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82595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배열에서 마지막 값인 5를 피벗으로 선택하겠습니다. 분할이 끝나면 4, 2, 3은 5의 왼쪽에 있고, 7은 오른쪽에 있습니다. 여기서 중요한 점이 있습니다. 왼쪽의 4, 2, 3이 아직 오름차순은 아니죠. 분할은 양쪽을 완전히 정렬하는 작업이 아닙니다. 피벗을 기준으로 값들을 구분하는 작업입니다. 피벗 5의 위치만 확정됐으니, 이제 왼쪽 구간을 따로 정렬합니다.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366472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코드를 보기 전에 변수의 뜻부터 정리하겠습니다. lo와 hi는 지금 정렬할 구간의 시작과 끝입니다. 두 끝을 모두 포함합니다. 피벗은 a[hi]입니다. i는 피벗 이하인 값을 모은 구간의 끝을 나타냅니다. 처음에는 그런 값이 하나도 없으니까 lo보다 하나 작은 위치에서 시작합니다. j는 배열을 하나씩 읽으면서 피벗과 비교합니다. 마지막 원소는 피벗 자체이므로 j는 hi 바로 앞까지만 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865321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직접 한 번 따라가 보겠습니다. i는 마이너스 1에서 시작합니다. j가 0일 때 값 4는 5 이하이니까 i를 0으로 늘리고 교환합니다. 이번에는 자기 자신과 바꾸는 셈이죠. 2도 같은 방식으로 처리합니다. 7은 피벗보다 크니까 그냥 지나갑니다. 다음 값 3은 5 이하입니다. i를 2로 늘린 다음, 그 자리에 있던 7과 3을 바꿉니다. 이제 앞쪽에는 4, 2, 3이 모여 있고, 뒤쪽에는 7이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57194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작은 값들을 모은 구간은 i에서 끝납니다. 따라서 피벗의 자리는 i 바로 다음입니다. 그 자리의 7과 마지막의 5를 교환하면 피벗 인덱스는 3이 됩니다. 다음 재귀 호출에서는 피벗을 제외합니다. 왼쪽은 lo부터 p 마이너스 1까지, 오른쪽은 p 플러스 1부터 hi까지입니다. 왼쪽의 4, 2, 3에서는 3을 피벗으로 골라 2, 3, 4로 나눕니다. 이후 한 원소 구간은 바로 끝나므로 전체 결과가 2, 3, 4, 5, 7이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67919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따라간 과정을 그대로 코드로 옮긴 것입니다. range의 끝인 hi는 포함하지 않으므로 피벗 앞까지만 확인합니다. 현재 값이 피벗 이하이면 i를 먼저 하나 늘립니다. 그리고 a[i]와 a[j]를 교환해서 그 값을 앞쪽에 모읍니다. 반복문이 끝나면 피벗을 i 플러스 1 위치로 옮기고 그 인덱스를 반환합니다. 반환하는 것은 피벗의 값이 아니라 위치입니다. 이 함수는 배열 자체를 바꿉니다.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7660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함수는 바로 앞 슬라이드의 partition과 함께 실행합니다. 시작 인덱스가 끝 인덱스 이상이면 원소가 하나이거나 빈 구간이니까 종료합니다. 그 밖에는 분할하고, 피벗을 뺀 양쪽에 재귀 호출을 합니다. 실행할 때 마지막 인덱스는 len(a) 마이너스 1입니다. quick_sort는 새 배열을 반환하지 않고 전달받은 배열을 직접 바꿉니다. 따라서 함수의 반환값을 출력하는 대신, 호출 뒤에 a를 출력합니다.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483598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C에서도 알고리즘은 같습니다. 다만 두 값을 교환하는 swap 함수를 먼저 만들었습니다. 포인터로 실제 배열 원소의 주소를 전달하므로 원래 배열이 바뀝니다. 교환할 때 임시 변수 t에 첫 번째 값을 보관해야 두 값 중 하나를 잃어버리지 않습니다. partition은 Python과 똑같이 마지막 값을 피벗으로 고르고, 작은 값을 앞에 모은 뒤 피벗을 그다음 자리에 넣습니다.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719875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코드는 앞 슬라이드의 두 함수를 이 주석 위치에 넣어서 하나의 파일로 실행합니다. quick_sort의 종료 조건과 재귀 범위는 Python과 같습니다. main에서는 배열의 원소 개수를 계산하고, 0부터 n 마이너스 1까지 정렬합니다. 마지막 반복문이 2, 3, 4, 5, 7을 차례로 출력합니다. 배열 원소 개수를 구하는 sizeof 방식은 여기처럼 실제 배열이 선언된 곳에서 사용해야 합니다. 함수의 배열 매개변수에 똑같이 적용하면 안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63012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번 분할할 때는 구간을 한 번 훑으므로 원소 개수에 비례하는 시간이 듭니다. 양쪽이 균형 있게 나뉘면 단계 수가 로그 n이라 전체는 n 로그 n입니다. 하지만 마지막 값을 피벗으로 고르면 이미 정렬된 배열에서는 매번 한쪽만 남습니다. 비교 횟수가 n 마이너스 1, n 마이너스 2처럼 줄어드니까 전체는 n 제곱입니다. 오늘의 이하 비교 방식에서는 모든 값이 같을 때도 같은 문제가 생깁니다. 무작위 피벗을 쓰면 그런 나쁜 분할을 계속 만날 위험을 줄일 수 있지만, 최악의 시간 자체가 없어지는 것은 아닙니다.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732315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정렬 모두 분할 정복이지만 어디서 일을 하는지가 다릅니다. 머지 소트는 위치를 기준으로 정확히 반씩 나누고, 정렬된 두 구간을 합치는 단계에서 비교합니다. 퀵 소트는 처음부터 피벗의 값을 기준으로 분할합니다. 피벗은 자리를 찾고 양쪽을 정렬하면 전체가 완성됩니다. 머지는 최악에도 n 로그 n이지만, 퀵은 피벗에 따라 n 제곱이 될 수 있습니다. 같은 값의 상대 순서를 유지하는 안정성도 다릅니다. 앞의 머지 코드는 같은 값에서 왼쪽을 먼저 골라 안정적이고, 지금 퀵 코드는 안정성을 보장하지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566485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마지막으로 네 가지를 확인하고 넘어가겠습니다. 첫 번째는 1, 2, 4, 3입니다. 피벗 2의 인덱스는 1이고 양쪽 내부 정렬까지 끝난 것은 아닙니다. 두 번째는 lo부터 p 마이너스 1, 그리고 p 플러스 1부터 hi입니다. 세 번째는 구간에 원소가 하나 이하라 더 정렬할 필요가 없기 때문입니다. 네 번째는 한쪽으로 치우친 분할입니다. 마지막 값이 계속 가장 큰 값이므로 피벗 왼쪽에만 나머지 원소가 남습니다. 답만 외우기보다는 i와 j가 어떻게 움직였는지 직접 따라가 보세요.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53393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값이 삼, 마이너스 오, 십이, 마이너스 이, 칠, 마이너스 구로 주어졌습니다. 전체 합은 육이지만 십이부터 칠까지의 연속 구간을 선택하면 십칠이 됩니다. 중간의 마이너스 이를 포함해도 양옆의 이득이 더 크죠. 주가 예시에서는 각 값이 가격 자체가 아니라 기간별 변동분입니다. 해당 변동이 시작되기 전에 사서 구간 마지막 변동 이후에 판다고 해석하면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시작점과 끝점을 모두 바꿔가며 후보 구간을 만들면 경우의 수는 엔 제곱에 비례합니다. 각 구간 합을 처음부터 다시 더하면 엔 세제곱까지 걸릴 수 있어요. 누적합을 미리 만들거나 끝점을 늘리면서 합을 갱신해야 엔 제곱에 계산할 수 있습니다. 입력이 십만 개면 후보가 수십억 개이므로 부담스럽습니다. 이제 이 후보들을 하나씩 나열하지 않고 답을 구해보겠습니다.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가운데를 기준으로 최적 구간의 위치를 분류해보세요. 왼쪽에만 있거나, 오른쪽에만 있거나, 경계를 넘어 양쪽에 걸쳐 있습니다. 이 세 경우가 모든 가능성을 포함합니다. 왼쪽과 오른쪽 문제는 원래 문제와 같은 형태이므로 재귀 호출하면 됩니다. 남은 것은 경계를 걸친 최대 합을 계산하는 일입니다. 마지막에 세 값의 최댓값을 선택하면 어느 위치에 답이 있어도 놓치지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 구간은 왼쪽의 마지막 원소 미드와 오른쪽의 첫 원소 미드 더하기 일을 모두 포함해야 합니다. 그래서 미드에서 왼쪽으로 합을 늘려가며 가장 큰 값을 찾고, 미드 더하기 일에서 오른쪽으로 같은 작업을 합니다. 각각 왼쪽의 최대 접미 구간과 오른쪽의 최대 접두 구간이에요. 둘을 연결하면 끊김 없이 경계를 걸친 구간이 되고, 두 합을 더한 값이 이 경우의 최댓값입니다.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함수의 종료 조건은 로우와 하이가 같은 경우입니다. 원소 하나를 반드시 선택하는 문제이므로 그 원소 값을 반환합니다. 나머지는 중간을 계산하고 왼쪽, 오른쪽, 경계를 걸친 경우를 각각 구해요. 마지막 맥스가 세 후보를 비교합니다. 입력 배열은 비어 있지 않다고 가정합니다. 빈 배열을 허용하려면 무엇을 반환할지 먼저 정의하고 별도의 처리를 추가해야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합의 최댓값을 음의 무한대로 시작하는 이유를 보겠습니다. 전부 음수인 배열에서 영으로 시작하면 아무 원소도 고르지 않은 값을 답으로 내놓게 됩니다. 하지만 이 문제는 적어도 한 원소를 선택해야 해요. 현재 합은 영에서 시작해 원소를 더하고, 최댓값은 음의 무한대에서 갱신합니다. 오른쪽도 동일하게 처리한 뒤 두 최댓값을 더합니다. 양쪽 반복을 합쳐 구간 길이만큼만 읽습니다.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파이썬의 레인지는 끝 값을 포함하지 않습니다. 그래서 미드에서 로우까지 내려가려면 끝을 로우 마이너스 일로 써야 해요. 오른쪽은 하이를 포함하려고 하이 더하기 일을 사용했습니다. 커런트 섬은 현재까지 이어 붙인 합이고, 레프트 섬과 라이트 섬은 그 과정에서 만난 최댓값입니다. 두 변수를 혼동하면 마지막 구간의 합만 반환하게 됩니다. 반복 방향과 최댓값 갱신을 함께 확인하세요.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코드에서도 두 재귀 호출과 경계를 걸친 합을 구하는 호출이 구분됩니다. 예제 배열에서는 십이, 마이너스 이, 칠을 합한 십칠이 정답입니다. 함수는 합만 반환하므로 구간의 시작과 끝도 필요하면 인덱스를 함께 저장해야 해요. 전부 음수인 입력에서도 가장 덜 작은 음수를 반환하는지 확인하면 종료 조건과 초기값이 올바른지 점검할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인덱스로 가운데를 정하는 비용은 상수 시간입니다. 두 절반을 재귀적으로 풀고, 경계를 걸친 합을 계산할 때 구간을 한 번 훑습니다. 따라서 합병 정렬과 같은 점화식이 나옵니다. 전체 시간은 엔 로그 엔이에요. 이 문제에는 카데인 알고리즘이라는 선형 시간 풀이도 있습니다. 지금은 가장 빠른 풀이를 외우기보다 세 경우로 나누어 빠짐없이 결합하는 사고를 익히는 데 집중하겠습니다.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표를 볼 때 최종 시간만 외우지 말고 재귀 호출 수와 결합 비용을 먼저 읽어보세요. 같은 크기로 나누더라도 호출을 한 번 하느냐 두 번 하느냐에 따라 결과가 달라집니다. 최근접 쌍의 엔 로그 엔 결과는 와이 정렬을 유지하는 구현에 해당합니다. 다음 두 알고리즘은 덧셈을 조금 늘리는 대신 비싼 곱셈 재귀 호출을 줄입니다. 점화식의 에이를 줄였을 때 지수가 어떻게 달라지는지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카라츠바는 큰 정수의 곱셈을 빠르게 하는 방법입니다. 두 수를 앞부분과 뒷부분으로 나누면 보통 네 번의 작은 곱셈이 필요합니다. 그런데 전개식을 조금 바꾸면 세 번만 곱하고도 같은 결과를 얻을 수 있어요. 이번에는 입력 크기 엔이 정수의 값이 아니라 자릿수라는 점을 기억해주세요.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천이백삼십사는 십이 곱하기 백 더하기 삼십사로 나눌 수 있습니다. 같은 방법으로 두 수를 나누고 곱을 전개하면 앞끼리, 뒤끼리, 서로 교차하는 두 곱이 나옵니다. 절반 크기 곱셈을 네 번 하므로 점화식은 사 티 엔 나누기 이 더하기 오 엔입니다. 이대로는 엔 제곱 시간이어서 일반적인 자릿수 곱셈과 차수가 같습니다. 나누는 것만으로는 개선되지 않는 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앞부분의 곱을 에이, 뒷부분의 곱을 비라고 하겠습니다. 두 수의 앞뒤를 각각 더한 뒤 곱하면 에이와 비, 그리고 필요한 두 교차항의 합이 한꺼번에 나옵니다. 여기서 이미 구한 에이와 비를 빼면 교차항만 남아요. 그래서 앞끼리 한 번, 뒤끼리 한 번, 합끼리 한 번, 총 세 번 곱하면 됩니다. 절약한 곱셈 대신 덧셈과 뺄셈이 늘어나는 구조입니다.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의사코드에서는 먼저 자릿수가 작으면 직접 곱합니다. 그렇지 않으면 앞과 뒤를 나누고 재귀 호출을 세 번 수행해요. 제트 원 로에서 제트 투와 제트 영을 빼 중간 계수를 만들고, 마지막에 십의 거듭제곱을 곱해 자리 위치를 맞춥니다. 분할 자릿수는 정수로 정해야 합니다. 실제 구현에서는 아주 작은 수까지 재귀 호출하기보다 적당한 크기에서 기본 곱셈으로 전환하며, 전환 기준은 환경에 따라 달라집니다.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파이썬에서 십의 엠 승으로 나눈 몫은 앞부분, 나머지는 뒷부분입니다. 에이와 비, 섬 프로드가 세 재귀 호출의 결과예요. 미드는 섬 프로드에서 에이와 비를 뺀 값이고, 마지막 식이 자릿수를 맞춰 결과를 합칩니다. 예제의 두 큰 정수를 곱한 값은 일반 곱셈과 같아야 합니다. 이 코드는 원리를 보여주는 비음수 정수용 예제입니다. 파이썬 내장 곱셈보다 항상 빠르다고 해석하지는 마세요.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카라츠바의 에이는 삼이고 비는 이입니다. 기준값은 엔의 로그 투 삼 승으로, 지수가 약 일 점 오팔오입니다. 자릿수 덧셈 비용인 엔보다 기준값이 다항식 차이로 크므로 첫 번째 경우를 적용합니다. 화면의 자릿수 비교는 성장률의 차이를 보여주는 계산입니다. 상수와 구현 비용을 생략했으므로 실제 실행 시간이 그 배수로 빨라진다는 측정 결과는 아닙니다. 큰 입력에서 지수 차이가 커진다는 점을 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스트라센은 같은 발상을 행렬 곱셈에 적용합니다. 행렬을 네 블록으로 나누면 표준 방식은 여덟 번의 작은 행렬 곱셈을 합니다. 스트라센은 이를 일곱 번으로 줄여요. 여기서는 엔이 행렬 한 변의 길이이고, 행렬 덧셈 비용이 엔 제곱이라는 점이 앞의 정수 곱셈과 다릅니다.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결과의 각 블록은 두 블록 곱의 합입니다. 예를 들어 씨 일일은 에이 일일 곱하기 비 일일에 에이 일이 곱하기 비 이일을 더합니다. 결과 블록이 네 개이고 각각 두 번 곱하므로 재귀 곱셈은 여덟 번입니다. 덧셈에는 엔 제곱 시간이 듭니다. 마스터 정리의 기준값이 엔 세제곱이므로 기존의 세 겹 반복문과 같은 차수입니다. 단순히 블록으로 나누는 것만으로는 빨라지지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화면에는 일곱 개의 중간 곱과 결과를 조립하는 식이 있습니다. 지금은 일곱 식을 통째로 외우기보다 각각을 전개했을 때 불필요한 항이 서로 지워진다는 원리를 보겠습니다. 예를 들어 씨 일이에 엠 삼과 엠 오를 더하면 중간의 반대 부호 항이 사라지고 필요한 두 곱만 남습니다. 행렬 곱은 순서를 바꿀 수 없으므로 식의 좌우 순서를 그대로 지켜야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재귀 호출이 일곱 번이므로 기준값의 지수는 로그 투 칠, 약 이 점 팔영칠입니다. 덧셈 비용 엔 제곱보다 크기 때문에 전체는 엔의 이 점 팔영칠 승 차수입니다. 카라츠바와 마찬가지로 비싼 재귀 곱셈을 덧셈으로 대체했습니다. 다만 작은 행렬에서는 추가 덧셈과 메모리 비용 때문에 느릴 수 있고, 실수 계산에서는 오차도 고려해야 합니다. 차수 개선과 실제 성능 판단을 구분하세요.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장의 공통 구조를 다시 보겠습니다. 하위 문제들을 풀고 나서 결합이 모든 경우를 포함해야 합니다. 최대 구간 합과 최근접 쌍은 경계를 걸친 경우가 핵심이었고, 쿼드 트리는 영역 표현을 합쳤습니다. 마스터 정리는 조건에 맞는 점화식을 정리하는 도구입니다. 카라츠바와 스트라센은 재귀 호출 수를 줄여 지수를 낮췄습니다. 코드와 복잡도를 연결할 때는 복사와 정렬처럼 숨어 있는 비용도 꼭 포함하세요.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738823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4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직사각형 40">
            <a:extLst>
              <a:ext uri="{FF2B5EF4-FFF2-40B4-BE49-F238E27FC236}">
                <a16:creationId xmlns:a16="http://schemas.microsoft.com/office/drawing/2014/main" id="{BDBCEF49-BD0F-496D-9A85-37995F2EE8A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2" name="직사각형 1">
            <a:extLst>
              <a:ext uri="{FF2B5EF4-FFF2-40B4-BE49-F238E27FC236}">
                <a16:creationId xmlns:a16="http://schemas.microsoft.com/office/drawing/2014/main" id="{E2A341B3-1A72-4C93-B2E1-14A2F19A4D3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직사각형 2">
            <a:extLst>
              <a:ext uri="{FF2B5EF4-FFF2-40B4-BE49-F238E27FC236}">
                <a16:creationId xmlns:a16="http://schemas.microsoft.com/office/drawing/2014/main" id="{BCBAFF07-5EBF-43F8-A2E0-2831B58BB4F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이번 장에서 배울 내용</a:t>
            </a:r>
          </a:p>
        </p:txBody>
      </p:sp>
      <p:sp>
        <p:nvSpPr>
          <p:cNvPr id="4" name="직사각형 3">
            <a:extLst>
              <a:ext uri="{FF2B5EF4-FFF2-40B4-BE49-F238E27FC236}">
                <a16:creationId xmlns:a16="http://schemas.microsoft.com/office/drawing/2014/main" id="{7B46D186-B386-45D0-8BF2-8C8B8822ED4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9DE3F90A-F584-4C18-AB98-532574AE2E35}"/>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14656CA3-EA7B-486E-9825-0AE3BA3D81E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B5CF2F2C-F158-406B-A424-1FF551437F3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a:t>
            </a:r>
            <a:endParaRPr sz="1050" b="1" i="0">
              <a:solidFill>
                <a:srgbClr val="171717"/>
              </a:solidFill>
              <a:latin typeface="Consolas"/>
              <a:ea typeface="Consolas"/>
              <a:cs typeface="Consolas"/>
            </a:endParaRPr>
          </a:p>
        </p:txBody>
      </p:sp>
      <p:sp>
        <p:nvSpPr>
          <p:cNvPr id="42" name="TextBox 41">
            <a:extLst>
              <a:ext uri="{FF2B5EF4-FFF2-40B4-BE49-F238E27FC236}">
                <a16:creationId xmlns:a16="http://schemas.microsoft.com/office/drawing/2014/main" id="{86690E00-D86F-766A-8277-BE4C235F9C67}"/>
              </a:ext>
            </a:extLst>
          </p:cNvPr>
          <p:cNvSpPr txBox="1"/>
          <p:nvPr/>
        </p:nvSpPr>
        <p:spPr>
          <a:xfrm>
            <a:off x="609600" y="1714500"/>
            <a:ext cx="5207000" cy="369332"/>
          </a:xfrm>
          <a:prstGeom prst="rect">
            <a:avLst/>
          </a:prstGeom>
          <a:noFill/>
        </p:spPr>
        <p:txBody>
          <a:bodyPr vert="horz" rtlCol="0">
            <a:spAutoFit/>
          </a:bodyPr>
          <a:lstStyle/>
          <a:p>
            <a:r>
              <a:rPr lang="en-US" altLang="ko-KR">
                <a:latin typeface="Malgun Gothic" panose="020B0503020000020004" pitchFamily="50" charset="-127"/>
              </a:rPr>
              <a:t>4.1   </a:t>
            </a:r>
            <a:r>
              <a:rPr lang="ko-KR" altLang="en-US">
                <a:latin typeface="Malgun Gothic" panose="020B0503020000020004" pitchFamily="50" charset="-127"/>
              </a:rPr>
              <a:t>분할 정복의 기본</a:t>
            </a:r>
          </a:p>
        </p:txBody>
      </p:sp>
      <p:sp>
        <p:nvSpPr>
          <p:cNvPr id="43" name="TextBox 42">
            <a:extLst>
              <a:ext uri="{FF2B5EF4-FFF2-40B4-BE49-F238E27FC236}">
                <a16:creationId xmlns:a16="http://schemas.microsoft.com/office/drawing/2014/main" id="{8D76C907-144C-845D-9938-8A40651A0818}"/>
              </a:ext>
            </a:extLst>
          </p:cNvPr>
          <p:cNvSpPr txBox="1"/>
          <p:nvPr/>
        </p:nvSpPr>
        <p:spPr>
          <a:xfrm>
            <a:off x="609600" y="2565400"/>
            <a:ext cx="5207000" cy="369332"/>
          </a:xfrm>
          <a:prstGeom prst="rect">
            <a:avLst/>
          </a:prstGeom>
          <a:noFill/>
        </p:spPr>
        <p:txBody>
          <a:bodyPr vert="horz" rtlCol="0">
            <a:spAutoFit/>
          </a:bodyPr>
          <a:lstStyle/>
          <a:p>
            <a:r>
              <a:rPr lang="en-US" altLang="ko-KR">
                <a:latin typeface="Malgun Gothic" panose="020B0503020000020004" pitchFamily="50" charset="-127"/>
              </a:rPr>
              <a:t>4.2   </a:t>
            </a:r>
            <a:r>
              <a:rPr lang="ko-KR" altLang="en-US">
                <a:latin typeface="Malgun Gothic" panose="020B0503020000020004" pitchFamily="50" charset="-127"/>
              </a:rPr>
              <a:t>합병 정렬 </a:t>
            </a:r>
            <a:r>
              <a:rPr lang="en-US" altLang="ko-KR">
                <a:latin typeface="Malgun Gothic" panose="020B0503020000020004" pitchFamily="50" charset="-127"/>
              </a:rPr>
              <a:t>(Merge Sort)</a:t>
            </a:r>
            <a:endParaRPr lang="ko-KR" altLang="en-US">
              <a:latin typeface="Malgun Gothic" panose="020B0503020000020004" pitchFamily="50" charset="-127"/>
            </a:endParaRPr>
          </a:p>
        </p:txBody>
      </p:sp>
      <p:sp>
        <p:nvSpPr>
          <p:cNvPr id="44" name="TextBox 43">
            <a:extLst>
              <a:ext uri="{FF2B5EF4-FFF2-40B4-BE49-F238E27FC236}">
                <a16:creationId xmlns:a16="http://schemas.microsoft.com/office/drawing/2014/main" id="{044EFE4A-4828-C2CE-B5DD-8C37DA08ADEB}"/>
              </a:ext>
            </a:extLst>
          </p:cNvPr>
          <p:cNvSpPr txBox="1"/>
          <p:nvPr/>
        </p:nvSpPr>
        <p:spPr>
          <a:xfrm>
            <a:off x="609600" y="3416300"/>
            <a:ext cx="5207000" cy="369332"/>
          </a:xfrm>
          <a:prstGeom prst="rect">
            <a:avLst/>
          </a:prstGeom>
          <a:noFill/>
        </p:spPr>
        <p:txBody>
          <a:bodyPr vert="horz" rtlCol="0">
            <a:spAutoFit/>
          </a:bodyPr>
          <a:lstStyle/>
          <a:p>
            <a:r>
              <a:rPr lang="en-US" altLang="ko-KR">
                <a:latin typeface="Malgun Gothic" panose="020B0503020000020004" pitchFamily="50" charset="-127"/>
              </a:rPr>
              <a:t>4.3   </a:t>
            </a:r>
            <a:r>
              <a:rPr lang="ko-KR" altLang="en-US">
                <a:latin typeface="Malgun Gothic" panose="020B0503020000020004" pitchFamily="50" charset="-127"/>
              </a:rPr>
              <a:t>퀵 정렬 </a:t>
            </a:r>
            <a:r>
              <a:rPr lang="en-US" altLang="ko-KR">
                <a:latin typeface="Malgun Gothic" panose="020B0503020000020004" pitchFamily="50" charset="-127"/>
              </a:rPr>
              <a:t>(Quick Sort)</a:t>
            </a:r>
            <a:endParaRPr lang="ko-KR" altLang="en-US">
              <a:latin typeface="Malgun Gothic" panose="020B0503020000020004" pitchFamily="50" charset="-127"/>
            </a:endParaRPr>
          </a:p>
        </p:txBody>
      </p:sp>
      <p:sp>
        <p:nvSpPr>
          <p:cNvPr id="45" name="TextBox 44">
            <a:extLst>
              <a:ext uri="{FF2B5EF4-FFF2-40B4-BE49-F238E27FC236}">
                <a16:creationId xmlns:a16="http://schemas.microsoft.com/office/drawing/2014/main" id="{BE4370E7-F519-B19F-0D61-B1E23AB3CE40}"/>
              </a:ext>
            </a:extLst>
          </p:cNvPr>
          <p:cNvSpPr txBox="1"/>
          <p:nvPr/>
        </p:nvSpPr>
        <p:spPr>
          <a:xfrm>
            <a:off x="609600" y="4267200"/>
            <a:ext cx="5207000" cy="369332"/>
          </a:xfrm>
          <a:prstGeom prst="rect">
            <a:avLst/>
          </a:prstGeom>
          <a:noFill/>
        </p:spPr>
        <p:txBody>
          <a:bodyPr vert="horz" rtlCol="0">
            <a:spAutoFit/>
          </a:bodyPr>
          <a:lstStyle/>
          <a:p>
            <a:r>
              <a:rPr lang="en-US" altLang="ko-KR">
                <a:latin typeface="Malgun Gothic" panose="020B0503020000020004" pitchFamily="50" charset="-127"/>
              </a:rPr>
              <a:t>4.4   </a:t>
            </a:r>
            <a:r>
              <a:rPr lang="ko-KR" altLang="en-US">
                <a:latin typeface="Malgun Gothic" panose="020B0503020000020004" pitchFamily="50" charset="-127"/>
              </a:rPr>
              <a:t>최대 구간 합</a:t>
            </a:r>
          </a:p>
        </p:txBody>
      </p:sp>
      <p:sp>
        <p:nvSpPr>
          <p:cNvPr id="46" name="TextBox 45">
            <a:extLst>
              <a:ext uri="{FF2B5EF4-FFF2-40B4-BE49-F238E27FC236}">
                <a16:creationId xmlns:a16="http://schemas.microsoft.com/office/drawing/2014/main" id="{A68C3D7E-0A8A-2A81-0CD6-B00FF61928C2}"/>
              </a:ext>
            </a:extLst>
          </p:cNvPr>
          <p:cNvSpPr txBox="1"/>
          <p:nvPr/>
        </p:nvSpPr>
        <p:spPr>
          <a:xfrm>
            <a:off x="609600" y="5118100"/>
            <a:ext cx="5207000" cy="369332"/>
          </a:xfrm>
          <a:prstGeom prst="rect">
            <a:avLst/>
          </a:prstGeom>
          <a:noFill/>
        </p:spPr>
        <p:txBody>
          <a:bodyPr vert="horz" rtlCol="0">
            <a:spAutoFit/>
          </a:bodyPr>
          <a:lstStyle/>
          <a:p>
            <a:r>
              <a:rPr lang="en-US" altLang="ko-KR">
                <a:latin typeface="Malgun Gothic" panose="020B0503020000020004" pitchFamily="50" charset="-127"/>
              </a:rPr>
              <a:t>4.5   </a:t>
            </a:r>
            <a:r>
              <a:rPr lang="ko-KR" altLang="en-US">
                <a:latin typeface="Malgun Gothic" panose="020B0503020000020004" pitchFamily="50" charset="-127"/>
              </a:rPr>
              <a:t>최근접 쌍</a:t>
            </a:r>
          </a:p>
        </p:txBody>
      </p:sp>
      <p:sp>
        <p:nvSpPr>
          <p:cNvPr id="47" name="TextBox 46">
            <a:extLst>
              <a:ext uri="{FF2B5EF4-FFF2-40B4-BE49-F238E27FC236}">
                <a16:creationId xmlns:a16="http://schemas.microsoft.com/office/drawing/2014/main" id="{996BB1C0-F25E-2786-E638-06E78D951611}"/>
              </a:ext>
            </a:extLst>
          </p:cNvPr>
          <p:cNvSpPr txBox="1"/>
          <p:nvPr/>
        </p:nvSpPr>
        <p:spPr>
          <a:xfrm>
            <a:off x="6248400" y="1714500"/>
            <a:ext cx="5207000" cy="369332"/>
          </a:xfrm>
          <a:prstGeom prst="rect">
            <a:avLst/>
          </a:prstGeom>
          <a:noFill/>
        </p:spPr>
        <p:txBody>
          <a:bodyPr vert="horz" rtlCol="0">
            <a:spAutoFit/>
          </a:bodyPr>
          <a:lstStyle/>
          <a:p>
            <a:r>
              <a:rPr lang="en-US" altLang="ko-KR">
                <a:latin typeface="Malgun Gothic" panose="020B0503020000020004" pitchFamily="50" charset="-127"/>
              </a:rPr>
              <a:t>4.6   </a:t>
            </a:r>
            <a:r>
              <a:rPr lang="ko-KR" altLang="en-US">
                <a:latin typeface="Malgun Gothic" panose="020B0503020000020004" pitchFamily="50" charset="-127"/>
              </a:rPr>
              <a:t>쿼드 트리</a:t>
            </a:r>
          </a:p>
        </p:txBody>
      </p:sp>
      <p:sp>
        <p:nvSpPr>
          <p:cNvPr id="48" name="TextBox 47">
            <a:extLst>
              <a:ext uri="{FF2B5EF4-FFF2-40B4-BE49-F238E27FC236}">
                <a16:creationId xmlns:a16="http://schemas.microsoft.com/office/drawing/2014/main" id="{DEEB98D6-A10F-2E95-9830-013A8B4E8DED}"/>
              </a:ext>
            </a:extLst>
          </p:cNvPr>
          <p:cNvSpPr txBox="1"/>
          <p:nvPr/>
        </p:nvSpPr>
        <p:spPr>
          <a:xfrm>
            <a:off x="6248400" y="2565400"/>
            <a:ext cx="5207000" cy="369332"/>
          </a:xfrm>
          <a:prstGeom prst="rect">
            <a:avLst/>
          </a:prstGeom>
          <a:noFill/>
        </p:spPr>
        <p:txBody>
          <a:bodyPr vert="horz" rtlCol="0">
            <a:spAutoFit/>
          </a:bodyPr>
          <a:lstStyle/>
          <a:p>
            <a:r>
              <a:rPr lang="en-US" altLang="ko-KR">
                <a:latin typeface="Malgun Gothic" panose="020B0503020000020004" pitchFamily="50" charset="-127"/>
              </a:rPr>
              <a:t>4.7   </a:t>
            </a:r>
            <a:r>
              <a:rPr lang="ko-KR" altLang="en-US">
                <a:latin typeface="Malgun Gothic" panose="020B0503020000020004" pitchFamily="50" charset="-127"/>
              </a:rPr>
              <a:t>마스터 정리</a:t>
            </a:r>
          </a:p>
        </p:txBody>
      </p:sp>
      <p:sp>
        <p:nvSpPr>
          <p:cNvPr id="49" name="TextBox 48">
            <a:extLst>
              <a:ext uri="{FF2B5EF4-FFF2-40B4-BE49-F238E27FC236}">
                <a16:creationId xmlns:a16="http://schemas.microsoft.com/office/drawing/2014/main" id="{8F4A288D-50AD-C1D3-2AF3-91AD50C95D8F}"/>
              </a:ext>
            </a:extLst>
          </p:cNvPr>
          <p:cNvSpPr txBox="1"/>
          <p:nvPr/>
        </p:nvSpPr>
        <p:spPr>
          <a:xfrm>
            <a:off x="6248400" y="3416300"/>
            <a:ext cx="5207000" cy="369332"/>
          </a:xfrm>
          <a:prstGeom prst="rect">
            <a:avLst/>
          </a:prstGeom>
          <a:noFill/>
        </p:spPr>
        <p:txBody>
          <a:bodyPr vert="horz" rtlCol="0">
            <a:spAutoFit/>
          </a:bodyPr>
          <a:lstStyle/>
          <a:p>
            <a:r>
              <a:rPr lang="en-US" altLang="ko-KR">
                <a:latin typeface="Malgun Gothic" panose="020B0503020000020004" pitchFamily="50" charset="-127"/>
              </a:rPr>
              <a:t>4.8   </a:t>
            </a:r>
            <a:r>
              <a:rPr lang="ko-KR" altLang="en-US">
                <a:latin typeface="Malgun Gothic" panose="020B0503020000020004" pitchFamily="50" charset="-127"/>
              </a:rPr>
              <a:t>카라츠바 알고리즘</a:t>
            </a:r>
          </a:p>
        </p:txBody>
      </p:sp>
      <p:sp>
        <p:nvSpPr>
          <p:cNvPr id="50" name="TextBox 49">
            <a:extLst>
              <a:ext uri="{FF2B5EF4-FFF2-40B4-BE49-F238E27FC236}">
                <a16:creationId xmlns:a16="http://schemas.microsoft.com/office/drawing/2014/main" id="{4DB78F2C-1E56-3087-5966-316E0C05D2D1}"/>
              </a:ext>
            </a:extLst>
          </p:cNvPr>
          <p:cNvSpPr txBox="1"/>
          <p:nvPr/>
        </p:nvSpPr>
        <p:spPr>
          <a:xfrm>
            <a:off x="6248400" y="4267200"/>
            <a:ext cx="5207000" cy="369332"/>
          </a:xfrm>
          <a:prstGeom prst="rect">
            <a:avLst/>
          </a:prstGeom>
          <a:noFill/>
        </p:spPr>
        <p:txBody>
          <a:bodyPr vert="horz" rtlCol="0">
            <a:spAutoFit/>
          </a:bodyPr>
          <a:lstStyle/>
          <a:p>
            <a:r>
              <a:rPr lang="en-US" altLang="ko-KR">
                <a:latin typeface="Malgun Gothic" panose="020B0503020000020004" pitchFamily="50" charset="-127"/>
              </a:rPr>
              <a:t>4.9   </a:t>
            </a:r>
            <a:r>
              <a:rPr lang="ko-KR" altLang="en-US">
                <a:latin typeface="Malgun Gothic" panose="020B0503020000020004" pitchFamily="50" charset="-127"/>
              </a:rPr>
              <a:t>스트라센 알고리즘</a:t>
            </a:r>
          </a:p>
        </p:txBody>
      </p:sp>
      <p:sp>
        <p:nvSpPr>
          <p:cNvPr id="51" name="TextBox 50">
            <a:extLst>
              <a:ext uri="{FF2B5EF4-FFF2-40B4-BE49-F238E27FC236}">
                <a16:creationId xmlns:a16="http://schemas.microsoft.com/office/drawing/2014/main" id="{A1F418B5-1302-921C-E1D9-1D38247C053E}"/>
              </a:ext>
            </a:extLst>
          </p:cNvPr>
          <p:cNvSpPr txBox="1"/>
          <p:nvPr/>
        </p:nvSpPr>
        <p:spPr>
          <a:xfrm>
            <a:off x="6248400" y="5118100"/>
            <a:ext cx="5207000" cy="369332"/>
          </a:xfrm>
          <a:prstGeom prst="rect">
            <a:avLst/>
          </a:prstGeom>
          <a:noFill/>
        </p:spPr>
        <p:txBody>
          <a:bodyPr vert="horz" rtlCol="0">
            <a:spAutoFit/>
          </a:bodyPr>
          <a:lstStyle/>
          <a:p>
            <a:r>
              <a:rPr lang="en-US" altLang="ko-KR">
                <a:latin typeface="Malgun Gothic" panose="020B0503020000020004" pitchFamily="50" charset="-127"/>
              </a:rPr>
              <a:t>4.10   </a:t>
            </a:r>
            <a:r>
              <a:rPr lang="ko-KR" altLang="en-US">
                <a:latin typeface="Malgun Gothic" panose="020B0503020000020004" pitchFamily="50" charset="-127"/>
              </a:rPr>
              <a:t>코딩 테스트 예제</a:t>
            </a:r>
          </a:p>
        </p:txBody>
      </p:sp>
    </p:spTree>
    <p:extLst>
      <p:ext uri="{BB962C8B-B14F-4D97-AF65-F5344CB8AC3E}">
        <p14:creationId xmlns:p14="http://schemas.microsoft.com/office/powerpoint/2010/main" val="67800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DE11E90-6BFD-4643-8E1A-BBCCCFA9EB3B}"/>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BB30F736-BCD7-49DF-801A-99898D57F139}"/>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4.2</a:t>
            </a:r>
          </a:p>
        </p:txBody>
      </p:sp>
      <p:sp>
        <p:nvSpPr>
          <p:cNvPr id="3" name="직사각형 2">
            <a:extLst>
              <a:ext uri="{FF2B5EF4-FFF2-40B4-BE49-F238E27FC236}">
                <a16:creationId xmlns:a16="http://schemas.microsoft.com/office/drawing/2014/main" id="{12029C43-AE5C-4EED-8E87-A653F14A5B00}"/>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ACD25040-164A-4098-B977-144097072331}"/>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합병 정렬</a:t>
            </a:r>
          </a:p>
        </p:txBody>
      </p:sp>
      <p:sp>
        <p:nvSpPr>
          <p:cNvPr id="5" name="직사각형 4">
            <a:extLst>
              <a:ext uri="{FF2B5EF4-FFF2-40B4-BE49-F238E27FC236}">
                <a16:creationId xmlns:a16="http://schemas.microsoft.com/office/drawing/2014/main" id="{F9D8E04D-5D26-4883-8A44-A1B85C8E9217}"/>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1945년 폰 노이만이 제안한, 분할 정복의 모범 답안</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나누는 과정은 단순하지만 합치는 과정에서 마법처럼 정렬이 완성된다</a:t>
            </a:r>
          </a:p>
        </p:txBody>
      </p:sp>
      <p:sp>
        <p:nvSpPr>
          <p:cNvPr id="6" name="직사각형 5">
            <a:extLst>
              <a:ext uri="{FF2B5EF4-FFF2-40B4-BE49-F238E27FC236}">
                <a16:creationId xmlns:a16="http://schemas.microsoft.com/office/drawing/2014/main" id="{DBFB5825-157A-4F18-AE83-976D34AE91AD}"/>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A4DEDF0D-AA12-4E43-9ADA-C4FD3D460C4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ECBD6F34-D3EB-4CA4-A5D9-A057571468D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6473535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5127362A-D1EA-4EE3-B7BE-C06414CD1A38}"/>
              </a:ext>
            </a:extLst>
          </p:cNvPr>
          <p:cNvSpPr>
            <a:spLocks noGrp="1"/>
          </p:cNvSpPr>
          <p:nvPr/>
        </p:nvSpPr>
        <p:spPr>
          <a:xfrm>
            <a:off x="658368" y="1755648"/>
            <a:ext cx="502920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합병 정렬은 1945년 폰 노이만(John von Neumann)이 아이디어를 제안한 유서 깊은 알고리즘으로, 분할 정복의 모범 답안과도 같은 기법이다.</a:t>
            </a:r>
            <a:endParaRPr sz="1350"/>
          </a:p>
        </p:txBody>
      </p:sp>
      <p:sp>
        <p:nvSpPr>
          <p:cNvPr id="10" name="Text 6">
            <a:extLst>
              <a:ext uri="{FF2B5EF4-FFF2-40B4-BE49-F238E27FC236}">
                <a16:creationId xmlns:a16="http://schemas.microsoft.com/office/drawing/2014/main" id="{500622B4-7031-40FD-88CD-3EB900E45A5D}"/>
              </a:ext>
            </a:extLst>
          </p:cNvPr>
          <p:cNvSpPr>
            <a:spLocks noGrp="1"/>
          </p:cNvSpPr>
          <p:nvPr/>
        </p:nvSpPr>
        <p:spPr>
          <a:xfrm>
            <a:off x="1517904" y="3090672"/>
            <a:ext cx="3913632" cy="8138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나누는 과정은 너무나 단순하지만, 합치는 과정에서 마법처럼 정렬이 완성된다.</a:t>
            </a:r>
            <a:endParaRPr sz="1300"/>
          </a:p>
        </p:txBody>
      </p:sp>
      <p:sp>
        <p:nvSpPr>
          <p:cNvPr id="11" name="Shape 7">
            <a:extLst>
              <a:ext uri="{FF2B5EF4-FFF2-40B4-BE49-F238E27FC236}">
                <a16:creationId xmlns:a16="http://schemas.microsoft.com/office/drawing/2014/main" id="{024AD5ED-7851-4ADF-95ED-35C289045F0A}"/>
              </a:ext>
            </a:extLst>
          </p:cNvPr>
          <p:cNvSpPr>
            <a:spLocks noGrp="1"/>
          </p:cNvSpPr>
          <p:nvPr/>
        </p:nvSpPr>
        <p:spPr>
          <a:xfrm>
            <a:off x="658368" y="4279392"/>
            <a:ext cx="1554480" cy="1133856"/>
          </a:xfrm>
          <a:prstGeom prst="roundRect">
            <a:avLst>
              <a:gd name="adj" fmla="val 8065"/>
            </a:avLst>
          </a:prstGeom>
          <a:noFill/>
          <a:ln w="9525">
            <a:solidFill>
              <a:srgbClr val="898989"/>
            </a:solidFill>
          </a:ln>
          <a:effectLst>
            <a:outerShdw blurRad="127000" dist="25400" dir="5400000" algn="bl" rotWithShape="0">
              <a:srgbClr val="9A98C8">
                <a:alpha val="22000"/>
              </a:srgbClr>
            </a:outerShdw>
          </a:effectLst>
        </p:spPr>
      </p:sp>
      <p:sp>
        <p:nvSpPr>
          <p:cNvPr id="12" name="Text 8">
            <a:extLst>
              <a:ext uri="{FF2B5EF4-FFF2-40B4-BE49-F238E27FC236}">
                <a16:creationId xmlns:a16="http://schemas.microsoft.com/office/drawing/2014/main" id="{FA1974FD-4B9B-4CFF-A9D4-B8C9B986045C}"/>
              </a:ext>
            </a:extLst>
          </p:cNvPr>
          <p:cNvSpPr>
            <a:spLocks noGrp="1"/>
          </p:cNvSpPr>
          <p:nvPr/>
        </p:nvSpPr>
        <p:spPr>
          <a:xfrm>
            <a:off x="704088" y="4443984"/>
            <a:ext cx="1463040" cy="438912"/>
          </a:xfrm>
          <a:prstGeom prst="rect">
            <a:avLst/>
          </a:prstGeom>
          <a:noFill/>
          <a:ln w="0">
            <a:noFill/>
          </a:ln>
        </p:spPr>
        <p:txBody>
          <a:bodyPr wrap="square" lIns="0" tIns="0" rIns="0" bIns="0" anchor="ctr">
            <a:noAutofit/>
          </a:bodyPr>
          <a:lstStyle/>
          <a:p>
            <a:pPr marL="0" indent="0" algn="ctr">
              <a:buNone/>
              <a:defRPr sz="1900" i="0">
                <a:solidFill>
                  <a:srgbClr val="171717"/>
                </a:solidFill>
                <a:latin typeface="Malgun Gothic"/>
                <a:ea typeface="Malgun Gothic"/>
                <a:cs typeface="Malgun Gothic"/>
              </a:defRPr>
            </a:pPr>
            <a:r>
              <a:rPr sz="1900" b="1" i="0">
                <a:solidFill>
                  <a:srgbClr val="171717"/>
                </a:solidFill>
                <a:latin typeface="Malgun Gothic"/>
                <a:ea typeface="Malgun Gothic"/>
                <a:cs typeface="Malgun Gothic"/>
              </a:rPr>
              <a:t>1945</a:t>
            </a:r>
            <a:endParaRPr sz="1900"/>
          </a:p>
        </p:txBody>
      </p:sp>
      <p:sp>
        <p:nvSpPr>
          <p:cNvPr id="13" name="Text 9">
            <a:extLst>
              <a:ext uri="{FF2B5EF4-FFF2-40B4-BE49-F238E27FC236}">
                <a16:creationId xmlns:a16="http://schemas.microsoft.com/office/drawing/2014/main" id="{36B445C8-13EC-4CAA-B8B7-55F3CEA573F9}"/>
              </a:ext>
            </a:extLst>
          </p:cNvPr>
          <p:cNvSpPr>
            <a:spLocks noGrp="1"/>
          </p:cNvSpPr>
          <p:nvPr/>
        </p:nvSpPr>
        <p:spPr>
          <a:xfrm>
            <a:off x="704088" y="4882896"/>
            <a:ext cx="1463040" cy="365760"/>
          </a:xfrm>
          <a:prstGeom prst="rect">
            <a:avLst/>
          </a:prstGeom>
          <a:noFill/>
          <a:ln w="0">
            <a:noFill/>
          </a:ln>
        </p:spPr>
        <p:txBody>
          <a:bodyPr wrap="square" lIns="0" tIns="0" rIns="0" bIns="0" anchor="ctr">
            <a:noAutofit/>
          </a:bodyPr>
          <a:lstStyle/>
          <a:p>
            <a:pPr marL="0" indent="0" algn="ctr">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폰 노이만 제안</a:t>
            </a:r>
            <a:endParaRPr sz="1050"/>
          </a:p>
        </p:txBody>
      </p:sp>
      <p:sp>
        <p:nvSpPr>
          <p:cNvPr id="14" name="Shape 10">
            <a:extLst>
              <a:ext uri="{FF2B5EF4-FFF2-40B4-BE49-F238E27FC236}">
                <a16:creationId xmlns:a16="http://schemas.microsoft.com/office/drawing/2014/main" id="{315A9B65-E02E-4CE2-BE9C-6E6359E46C67}"/>
              </a:ext>
            </a:extLst>
          </p:cNvPr>
          <p:cNvSpPr>
            <a:spLocks noGrp="1"/>
          </p:cNvSpPr>
          <p:nvPr/>
        </p:nvSpPr>
        <p:spPr>
          <a:xfrm>
            <a:off x="2395728" y="4279392"/>
            <a:ext cx="1554480" cy="1133856"/>
          </a:xfrm>
          <a:prstGeom prst="roundRect">
            <a:avLst>
              <a:gd name="adj" fmla="val 8065"/>
            </a:avLst>
          </a:prstGeom>
          <a:noFill/>
          <a:ln w="9525">
            <a:solidFill>
              <a:srgbClr val="898989"/>
            </a:solidFill>
          </a:ln>
          <a:effectLst>
            <a:outerShdw blurRad="127000" dist="25400" dir="5400000" algn="bl" rotWithShape="0">
              <a:srgbClr val="9A98C8">
                <a:alpha val="22000"/>
              </a:srgbClr>
            </a:outerShdw>
          </a:effectLst>
        </p:spPr>
      </p:sp>
      <p:sp>
        <p:nvSpPr>
          <p:cNvPr id="15" name="Text 11">
            <a:extLst>
              <a:ext uri="{FF2B5EF4-FFF2-40B4-BE49-F238E27FC236}">
                <a16:creationId xmlns:a16="http://schemas.microsoft.com/office/drawing/2014/main" id="{16D8967E-4C24-47B3-9226-803CA2C7BCA2}"/>
              </a:ext>
            </a:extLst>
          </p:cNvPr>
          <p:cNvSpPr>
            <a:spLocks noGrp="1"/>
          </p:cNvSpPr>
          <p:nvPr/>
        </p:nvSpPr>
        <p:spPr>
          <a:xfrm>
            <a:off x="2441448" y="4443984"/>
            <a:ext cx="1463040" cy="438912"/>
          </a:xfrm>
          <a:prstGeom prst="rect">
            <a:avLst/>
          </a:prstGeom>
          <a:noFill/>
          <a:ln w="0">
            <a:noFill/>
          </a:ln>
        </p:spPr>
        <p:txBody>
          <a:bodyPr wrap="square" lIns="0" tIns="0" rIns="0" bIns="0" anchor="ctr">
            <a:noAutofit/>
          </a:bodyPr>
          <a:lstStyle/>
          <a:p>
            <a:pPr marL="0" indent="0" algn="ctr">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O(n log n)</a:t>
            </a:r>
            <a:endParaRPr sz="1300"/>
          </a:p>
        </p:txBody>
      </p:sp>
      <p:sp>
        <p:nvSpPr>
          <p:cNvPr id="16" name="Text 12">
            <a:extLst>
              <a:ext uri="{FF2B5EF4-FFF2-40B4-BE49-F238E27FC236}">
                <a16:creationId xmlns:a16="http://schemas.microsoft.com/office/drawing/2014/main" id="{C7F0A858-13FE-4D18-B422-83DB7F4EC914}"/>
              </a:ext>
            </a:extLst>
          </p:cNvPr>
          <p:cNvSpPr>
            <a:spLocks noGrp="1"/>
          </p:cNvSpPr>
          <p:nvPr/>
        </p:nvSpPr>
        <p:spPr>
          <a:xfrm>
            <a:off x="2441448" y="4882896"/>
            <a:ext cx="1463040" cy="365760"/>
          </a:xfrm>
          <a:prstGeom prst="rect">
            <a:avLst/>
          </a:prstGeom>
          <a:noFill/>
          <a:ln w="0">
            <a:noFill/>
          </a:ln>
        </p:spPr>
        <p:txBody>
          <a:bodyPr wrap="square" lIns="0" tIns="0" rIns="0" bIns="0" anchor="ctr">
            <a:noAutofit/>
          </a:bodyPr>
          <a:lstStyle/>
          <a:p>
            <a:pPr marL="0" indent="0" algn="ctr">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모든 경우 동일</a:t>
            </a:r>
            <a:endParaRPr sz="1050"/>
          </a:p>
        </p:txBody>
      </p:sp>
      <p:sp>
        <p:nvSpPr>
          <p:cNvPr id="17" name="Shape 13">
            <a:extLst>
              <a:ext uri="{FF2B5EF4-FFF2-40B4-BE49-F238E27FC236}">
                <a16:creationId xmlns:a16="http://schemas.microsoft.com/office/drawing/2014/main" id="{0FD55AE2-1BD1-4E99-9601-580A5A0A8FD6}"/>
              </a:ext>
            </a:extLst>
          </p:cNvPr>
          <p:cNvSpPr>
            <a:spLocks noGrp="1"/>
          </p:cNvSpPr>
          <p:nvPr/>
        </p:nvSpPr>
        <p:spPr>
          <a:xfrm>
            <a:off x="4133088" y="4279392"/>
            <a:ext cx="1554480" cy="1133856"/>
          </a:xfrm>
          <a:prstGeom prst="roundRect">
            <a:avLst>
              <a:gd name="adj" fmla="val 8065"/>
            </a:avLst>
          </a:prstGeom>
          <a:noFill/>
          <a:ln w="9525">
            <a:solidFill>
              <a:srgbClr val="898989"/>
            </a:solidFill>
          </a:ln>
          <a:effectLst>
            <a:outerShdw blurRad="127000" dist="25400" dir="5400000" algn="bl" rotWithShape="0">
              <a:srgbClr val="9A98C8">
                <a:alpha val="22000"/>
              </a:srgbClr>
            </a:outerShdw>
          </a:effectLst>
        </p:spPr>
      </p:sp>
      <p:sp>
        <p:nvSpPr>
          <p:cNvPr id="18" name="Text 14">
            <a:extLst>
              <a:ext uri="{FF2B5EF4-FFF2-40B4-BE49-F238E27FC236}">
                <a16:creationId xmlns:a16="http://schemas.microsoft.com/office/drawing/2014/main" id="{135E2809-F2EE-468B-8DCC-5FB479F1E73B}"/>
              </a:ext>
            </a:extLst>
          </p:cNvPr>
          <p:cNvSpPr>
            <a:spLocks noGrp="1"/>
          </p:cNvSpPr>
          <p:nvPr/>
        </p:nvSpPr>
        <p:spPr>
          <a:xfrm>
            <a:off x="4178808" y="4443984"/>
            <a:ext cx="1463040" cy="438912"/>
          </a:xfrm>
          <a:prstGeom prst="rect">
            <a:avLst/>
          </a:prstGeom>
          <a:noFill/>
          <a:ln w="0">
            <a:noFill/>
          </a:ln>
        </p:spPr>
        <p:txBody>
          <a:bodyPr wrap="square" lIns="0" tIns="0" rIns="0" bIns="0" anchor="ctr">
            <a:noAutofit/>
          </a:bodyPr>
          <a:lstStyle/>
          <a:p>
            <a:pPr marL="0" indent="0" algn="ctr">
              <a:buNone/>
              <a:defRPr sz="1900" i="0">
                <a:solidFill>
                  <a:srgbClr val="171717"/>
                </a:solidFill>
                <a:latin typeface="Malgun Gothic"/>
                <a:ea typeface="Malgun Gothic"/>
                <a:cs typeface="Malgun Gothic"/>
              </a:defRPr>
            </a:pPr>
            <a:r>
              <a:rPr sz="1900" b="1" i="0">
                <a:solidFill>
                  <a:srgbClr val="171717"/>
                </a:solidFill>
                <a:latin typeface="Malgun Gothic"/>
                <a:ea typeface="Malgun Gothic"/>
                <a:cs typeface="Malgun Gothic"/>
              </a:rPr>
              <a:t>안정</a:t>
            </a:r>
            <a:endParaRPr sz="1900"/>
          </a:p>
        </p:txBody>
      </p:sp>
      <p:sp>
        <p:nvSpPr>
          <p:cNvPr id="19" name="Text 15">
            <a:extLst>
              <a:ext uri="{FF2B5EF4-FFF2-40B4-BE49-F238E27FC236}">
                <a16:creationId xmlns:a16="http://schemas.microsoft.com/office/drawing/2014/main" id="{B3CA754D-E5FC-40F1-907C-29343B09C54A}"/>
              </a:ext>
            </a:extLst>
          </p:cNvPr>
          <p:cNvSpPr>
            <a:spLocks noGrp="1"/>
          </p:cNvSpPr>
          <p:nvPr/>
        </p:nvSpPr>
        <p:spPr>
          <a:xfrm>
            <a:off x="4178808" y="4882896"/>
            <a:ext cx="1463040" cy="365760"/>
          </a:xfrm>
          <a:prstGeom prst="rect">
            <a:avLst/>
          </a:prstGeom>
          <a:noFill/>
          <a:ln w="0">
            <a:noFill/>
          </a:ln>
        </p:spPr>
        <p:txBody>
          <a:bodyPr wrap="square" lIns="0" tIns="0" rIns="0" bIns="0" anchor="ctr">
            <a:noAutofit/>
          </a:bodyPr>
          <a:lstStyle/>
          <a:p>
            <a:pPr marL="0" indent="0" algn="ctr">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stable sort</a:t>
            </a:r>
            <a:endParaRPr sz="1050"/>
          </a:p>
        </p:txBody>
      </p:sp>
      <p:sp>
        <p:nvSpPr>
          <p:cNvPr id="26" name="직사각형 25">
            <a:extLst>
              <a:ext uri="{FF2B5EF4-FFF2-40B4-BE49-F238E27FC236}">
                <a16:creationId xmlns:a16="http://schemas.microsoft.com/office/drawing/2014/main" id="{E0140D7A-62AD-4647-9D3A-8BFE66889183}"/>
              </a:ext>
            </a:extLst>
          </p:cNvPr>
          <p:cNvSpPr>
            <a:spLocks noGrp="1"/>
          </p:cNvSpPr>
          <p:nvPr/>
        </p:nvSpPr>
        <p:spPr>
          <a:xfrm>
            <a:off x="6053328" y="1755648"/>
            <a:ext cx="5477256"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0DE5BA18-9DF2-43D5-87D0-5883F65BD70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4.2  합병 정렬</a:t>
            </a:r>
          </a:p>
        </p:txBody>
      </p:sp>
      <p:sp>
        <p:nvSpPr>
          <p:cNvPr id="28" name="직사각형 27">
            <a:extLst>
              <a:ext uri="{FF2B5EF4-FFF2-40B4-BE49-F238E27FC236}">
                <a16:creationId xmlns:a16="http://schemas.microsoft.com/office/drawing/2014/main" id="{F7991EED-0CEB-4135-ACB2-44B34BFF8B9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9" name="직사각형 28">
            <a:extLst>
              <a:ext uri="{FF2B5EF4-FFF2-40B4-BE49-F238E27FC236}">
                <a16:creationId xmlns:a16="http://schemas.microsoft.com/office/drawing/2014/main" id="{C9CC79C8-A98B-4F5B-930D-78EC6BC429B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합병 정렬 (Merge Sort)</a:t>
            </a:r>
          </a:p>
        </p:txBody>
      </p:sp>
      <p:sp>
        <p:nvSpPr>
          <p:cNvPr id="30" name="직사각형 29">
            <a:extLst>
              <a:ext uri="{FF2B5EF4-FFF2-40B4-BE49-F238E27FC236}">
                <a16:creationId xmlns:a16="http://schemas.microsoft.com/office/drawing/2014/main" id="{DEA9769D-D09D-408D-AAF7-84EAE4876FF1}"/>
              </a:ext>
            </a:extLst>
          </p:cNvPr>
          <p:cNvSpPr>
            <a:spLocks noGrp="1"/>
          </p:cNvSpPr>
          <p:nvPr/>
        </p:nvSpPr>
        <p:spPr>
          <a:xfrm>
            <a:off x="609600" y="1381125"/>
            <a:ext cx="10972800" cy="19050"/>
          </a:xfrm>
          <a:prstGeom prst="rect">
            <a:avLst/>
          </a:prstGeom>
          <a:solidFill>
            <a:srgbClr val="171717"/>
          </a:solidFill>
          <a:ln w="0">
            <a:noFill/>
          </a:ln>
        </p:spPr>
      </p:sp>
      <p:sp>
        <p:nvSpPr>
          <p:cNvPr id="31" name="직사각형 30">
            <a:extLst>
              <a:ext uri="{FF2B5EF4-FFF2-40B4-BE49-F238E27FC236}">
                <a16:creationId xmlns:a16="http://schemas.microsoft.com/office/drawing/2014/main" id="{20120E9A-F133-4085-BE15-9D56DAC88904}"/>
              </a:ext>
            </a:extLst>
          </p:cNvPr>
          <p:cNvSpPr>
            <a:spLocks noGrp="1"/>
          </p:cNvSpPr>
          <p:nvPr/>
        </p:nvSpPr>
        <p:spPr>
          <a:xfrm>
            <a:off x="609600" y="6438900"/>
            <a:ext cx="10972800"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E786C74B-D449-4321-ACDC-A67F9E64151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3" name="직사각형 32">
            <a:extLst>
              <a:ext uri="{FF2B5EF4-FFF2-40B4-BE49-F238E27FC236}">
                <a16:creationId xmlns:a16="http://schemas.microsoft.com/office/drawing/2014/main" id="{B5699810-2FB4-4C86-852D-C509E3ABAD6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08</a:t>
            </a:r>
            <a:endParaRPr sz="1050" b="1" i="0">
              <a:solidFill>
                <a:srgbClr val="171717"/>
              </a:solidFill>
              <a:latin typeface="Consolas"/>
              <a:ea typeface="Consolas"/>
              <a:cs typeface="Consolas"/>
            </a:endParaRPr>
          </a:p>
        </p:txBody>
      </p:sp>
      <p:pic>
        <p:nvPicPr>
          <p:cNvPr id="54" name="그림 53"/>
          <p:cNvPicPr>
            <a:picLocks noChangeAspect="1"/>
          </p:cNvPicPr>
          <p:nvPr/>
        </p:nvPicPr>
        <p:blipFill>
          <a:blip r:embed="rId3"/>
          <a:stretch/>
        </p:blipFill>
        <p:spPr>
          <a:xfrm>
            <a:off x="6199632" y="2179448"/>
            <a:ext cx="5184648" cy="2810000"/>
          </a:xfrm>
          <a:prstGeom prst="rect">
            <a:avLst/>
          </a:prstGeom>
        </p:spPr>
      </p:pic>
    </p:spTree>
    <p:extLst>
      <p:ext uri="{BB962C8B-B14F-4D97-AF65-F5344CB8AC3E}">
        <p14:creationId xmlns:p14="http://schemas.microsoft.com/office/powerpoint/2010/main" val="19254865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1CFD77-B605-490A-9A5B-2ABEB89D564F}"/>
              </a:ext>
            </a:extLst>
          </p:cNvPr>
          <p:cNvSpPr>
            <a:spLocks noGrp="1"/>
          </p:cNvSpPr>
          <p:nvPr/>
        </p:nvSpPr>
        <p:spPr>
          <a:xfrm>
            <a:off x="658368" y="1682496"/>
            <a:ext cx="10872216"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숫자 카드 8장이 섞여 있다. 합병 정렬은 먼저 카드를 반으로 나눈다. 그리고 다시 반으로, 또 반으로 — 카드가 한 장씩 남을 때까지 계속 나눈다. 여기까지는 아무런 비교도, 계산도 필요 없다.</a:t>
            </a:r>
            <a:endParaRPr sz="1300"/>
          </a:p>
        </p:txBody>
      </p:sp>
      <p:sp>
        <p:nvSpPr>
          <p:cNvPr id="12" name="Text 7">
            <a:extLst>
              <a:ext uri="{FF2B5EF4-FFF2-40B4-BE49-F238E27FC236}">
                <a16:creationId xmlns:a16="http://schemas.microsoft.com/office/drawing/2014/main" id="{D786DAF1-D73D-48FC-869F-0354E90627B0}"/>
              </a:ext>
            </a:extLst>
          </p:cNvPr>
          <p:cNvSpPr>
            <a:spLocks noGrp="1"/>
          </p:cNvSpPr>
          <p:nvPr/>
        </p:nvSpPr>
        <p:spPr>
          <a:xfrm>
            <a:off x="1517904" y="5669280"/>
            <a:ext cx="9756648" cy="365760"/>
          </a:xfrm>
          <a:prstGeom prst="rect">
            <a:avLst/>
          </a:prstGeom>
          <a:noFill/>
          <a:ln w="0">
            <a:noFill/>
          </a:ln>
        </p:spPr>
        <p:txBody>
          <a:bodyPr wrap="square" lIns="0" tIns="0" rIns="0" bIns="0" anchor="ctr">
            <a:noAutofit/>
          </a:bodyPr>
          <a:lstStyle/>
          <a:p>
            <a:pPr marL="0" indent="0" algn="l">
              <a:lnSpc>
                <a:spcPct val="134000"/>
              </a:lnSpc>
              <a:buNone/>
              <a:defRPr sz="1250" i="0">
                <a:solidFill>
                  <a:srgbClr val="606060"/>
                </a:solidFill>
                <a:latin typeface="Malgun Gothic"/>
                <a:ea typeface="Malgun Gothic"/>
                <a:cs typeface="Malgun Gothic"/>
              </a:defRPr>
            </a:pPr>
            <a:r>
              <a:rPr sz="1250" i="0">
                <a:solidFill>
                  <a:srgbClr val="606060"/>
                </a:solidFill>
                <a:latin typeface="Malgun Gothic"/>
                <a:ea typeface="Malgun Gothic"/>
                <a:cs typeface="Malgun Gothic"/>
              </a:rPr>
              <a:t>길이 n인 배열은 log₂n 번만 반으로 나누면 길이 1이 된다. 길이 1인 배열은 이미 정렬되어 있다 — 이것이 기저 사례다.</a:t>
            </a:r>
            <a:endParaRPr sz="1250"/>
          </a:p>
        </p:txBody>
      </p:sp>
      <p:sp>
        <p:nvSpPr>
          <p:cNvPr id="16" name="직사각형 15">
            <a:extLst>
              <a:ext uri="{FF2B5EF4-FFF2-40B4-BE49-F238E27FC236}">
                <a16:creationId xmlns:a16="http://schemas.microsoft.com/office/drawing/2014/main" id="{13F88DC3-A2A3-4DEE-B652-4DF19521C880}"/>
              </a:ext>
            </a:extLst>
          </p:cNvPr>
          <p:cNvSpPr>
            <a:spLocks noGrp="1"/>
          </p:cNvSpPr>
          <p:nvPr/>
        </p:nvSpPr>
        <p:spPr>
          <a:xfrm>
            <a:off x="658368" y="5504688"/>
            <a:ext cx="10872216" cy="9525"/>
          </a:xfrm>
          <a:prstGeom prst="rect">
            <a:avLst/>
          </a:prstGeom>
          <a:solidFill>
            <a:srgbClr val="D4D4D4"/>
          </a:solidFill>
          <a:ln w="0">
            <a:noFill/>
          </a:ln>
        </p:spPr>
      </p:sp>
      <p:sp>
        <p:nvSpPr>
          <p:cNvPr id="17" name="직사각형 16">
            <a:extLst>
              <a:ext uri="{FF2B5EF4-FFF2-40B4-BE49-F238E27FC236}">
                <a16:creationId xmlns:a16="http://schemas.microsoft.com/office/drawing/2014/main" id="{C04CF43F-D18D-4ADD-ABAD-8985BA9E64C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4.2  합병 정렬</a:t>
            </a:r>
          </a:p>
        </p:txBody>
      </p:sp>
      <p:sp>
        <p:nvSpPr>
          <p:cNvPr id="18" name="직사각형 17">
            <a:extLst>
              <a:ext uri="{FF2B5EF4-FFF2-40B4-BE49-F238E27FC236}">
                <a16:creationId xmlns:a16="http://schemas.microsoft.com/office/drawing/2014/main" id="{0A54621E-32B5-4221-9B44-7A948822A1B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60E4904C-4171-484B-A648-A9E7AF044B7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나누는 건 쉽다 (divide)</a:t>
            </a:r>
          </a:p>
        </p:txBody>
      </p:sp>
      <p:sp>
        <p:nvSpPr>
          <p:cNvPr id="20" name="직사각형 19">
            <a:extLst>
              <a:ext uri="{FF2B5EF4-FFF2-40B4-BE49-F238E27FC236}">
                <a16:creationId xmlns:a16="http://schemas.microsoft.com/office/drawing/2014/main" id="{FD678984-4A25-4B9A-97E9-00871AF10ABB}"/>
              </a:ext>
            </a:extLst>
          </p:cNvPr>
          <p:cNvSpPr>
            <a:spLocks noGrp="1"/>
          </p:cNvSpPr>
          <p:nvPr/>
        </p:nvSpPr>
        <p:spPr>
          <a:xfrm>
            <a:off x="609600" y="1381125"/>
            <a:ext cx="10972800" cy="19050"/>
          </a:xfrm>
          <a:prstGeom prst="rect">
            <a:avLst/>
          </a:prstGeom>
          <a:solidFill>
            <a:srgbClr val="171717"/>
          </a:solidFill>
          <a:ln w="0">
            <a:noFill/>
          </a:ln>
        </p:spPr>
      </p:sp>
      <p:sp>
        <p:nvSpPr>
          <p:cNvPr id="21" name="직사각형 20">
            <a:extLst>
              <a:ext uri="{FF2B5EF4-FFF2-40B4-BE49-F238E27FC236}">
                <a16:creationId xmlns:a16="http://schemas.microsoft.com/office/drawing/2014/main" id="{F0BE08A4-ACB4-40FB-AA5D-FC875CFC4A0A}"/>
              </a:ext>
            </a:extLst>
          </p:cNvPr>
          <p:cNvSpPr>
            <a:spLocks noGrp="1"/>
          </p:cNvSpPr>
          <p:nvPr/>
        </p:nvSpPr>
        <p:spPr>
          <a:xfrm>
            <a:off x="609600" y="6438900"/>
            <a:ext cx="10972800"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42EC3F33-437C-4F49-85C0-B7A45149E0F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BDCBB66A-A22A-4AD7-B52C-AFF105F12FA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1993011" y="2435685"/>
            <a:ext cx="8202930" cy="2809590"/>
          </a:xfrm>
          <a:prstGeom prst="rect">
            <a:avLst/>
          </a:prstGeom>
        </p:spPr>
      </p:pic>
    </p:spTree>
    <p:extLst>
      <p:ext uri="{BB962C8B-B14F-4D97-AF65-F5344CB8AC3E}">
        <p14:creationId xmlns:p14="http://schemas.microsoft.com/office/powerpoint/2010/main" val="1914803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E781A17-D87F-4047-80D5-D9FCFFE7CDFB}"/>
              </a:ext>
            </a:extLst>
          </p:cNvPr>
          <p:cNvSpPr>
            <a:spLocks noGrp="1"/>
          </p:cNvSpPr>
          <p:nvPr/>
        </p:nvSpPr>
        <p:spPr>
          <a:xfrm>
            <a:off x="658368" y="1682496"/>
            <a:ext cx="10872216"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진짜 작업은 이제부터다. 흩어진 조각들을 다시 하나로 합쳐야 한다. 그런데 그냥 합치는 것이 아니라 "순서대로 정리하면서" 합친다. 이것을 합병(merge)이라고 한다.</a:t>
            </a:r>
            <a:endParaRPr sz="1300"/>
          </a:p>
        </p:txBody>
      </p:sp>
      <p:sp>
        <p:nvSpPr>
          <p:cNvPr id="12" name="Text 7">
            <a:extLst>
              <a:ext uri="{FF2B5EF4-FFF2-40B4-BE49-F238E27FC236}">
                <a16:creationId xmlns:a16="http://schemas.microsoft.com/office/drawing/2014/main" id="{F8EF248A-CA13-4DF7-8218-CA7D4B2DB03E}"/>
              </a:ext>
            </a:extLst>
          </p:cNvPr>
          <p:cNvSpPr>
            <a:spLocks noGrp="1"/>
          </p:cNvSpPr>
          <p:nvPr/>
        </p:nvSpPr>
        <p:spPr>
          <a:xfrm>
            <a:off x="1517904" y="5669280"/>
            <a:ext cx="9756648" cy="365760"/>
          </a:xfrm>
          <a:prstGeom prst="rect">
            <a:avLst/>
          </a:prstGeom>
          <a:noFill/>
          <a:ln w="0">
            <a:noFill/>
          </a:ln>
        </p:spPr>
        <p:txBody>
          <a:bodyPr wrap="square" lIns="0" tIns="0" rIns="0" bIns="0" anchor="ctr">
            <a:noAutofit/>
          </a:bodyPr>
          <a:lstStyle/>
          <a:p>
            <a:pPr marL="0" indent="0" algn="l">
              <a:lnSpc>
                <a:spcPct val="134000"/>
              </a:lnSpc>
              <a:buNone/>
              <a:defRPr sz="1250" i="0">
                <a:solidFill>
                  <a:srgbClr val="606060"/>
                </a:solidFill>
                <a:latin typeface="Malgun Gothic"/>
                <a:ea typeface="Malgun Gothic"/>
                <a:cs typeface="Malgun Gothic"/>
              </a:defRPr>
            </a:pPr>
            <a:r>
              <a:rPr sz="1250" i="0">
                <a:solidFill>
                  <a:srgbClr val="606060"/>
                </a:solidFill>
                <a:latin typeface="Malgun Gothic"/>
                <a:ea typeface="Malgun Gothic"/>
                <a:cs typeface="Malgun Gothic"/>
              </a:rPr>
              <a:t>두 개의 정렬된 배열을 합칠 때는, 양쪽 맨 앞 원소만 비교하면 된다. 더 작은 쪽을 꺼내 놓기를 반복하면 정렬된 하나의 배열이 만들어진다.</a:t>
            </a:r>
            <a:endParaRPr sz="1250"/>
          </a:p>
        </p:txBody>
      </p:sp>
      <p:sp>
        <p:nvSpPr>
          <p:cNvPr id="16" name="직사각형 15">
            <a:extLst>
              <a:ext uri="{FF2B5EF4-FFF2-40B4-BE49-F238E27FC236}">
                <a16:creationId xmlns:a16="http://schemas.microsoft.com/office/drawing/2014/main" id="{82B965A5-4685-4ABD-B439-2AC70EDFDF8F}"/>
              </a:ext>
            </a:extLst>
          </p:cNvPr>
          <p:cNvSpPr>
            <a:spLocks noGrp="1"/>
          </p:cNvSpPr>
          <p:nvPr/>
        </p:nvSpPr>
        <p:spPr>
          <a:xfrm>
            <a:off x="658368" y="5504688"/>
            <a:ext cx="10872216" cy="9525"/>
          </a:xfrm>
          <a:prstGeom prst="rect">
            <a:avLst/>
          </a:prstGeom>
          <a:solidFill>
            <a:srgbClr val="D4D4D4"/>
          </a:solidFill>
          <a:ln w="0">
            <a:noFill/>
          </a:ln>
        </p:spPr>
      </p:sp>
      <p:sp>
        <p:nvSpPr>
          <p:cNvPr id="17" name="직사각형 16">
            <a:extLst>
              <a:ext uri="{FF2B5EF4-FFF2-40B4-BE49-F238E27FC236}">
                <a16:creationId xmlns:a16="http://schemas.microsoft.com/office/drawing/2014/main" id="{074AEED4-53A4-4951-880D-554B10A443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4.2  합병 정렬</a:t>
            </a:r>
          </a:p>
        </p:txBody>
      </p:sp>
      <p:sp>
        <p:nvSpPr>
          <p:cNvPr id="18" name="직사각형 17">
            <a:extLst>
              <a:ext uri="{FF2B5EF4-FFF2-40B4-BE49-F238E27FC236}">
                <a16:creationId xmlns:a16="http://schemas.microsoft.com/office/drawing/2014/main" id="{41847CA1-3059-465D-A6E0-D0CB343FAA9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2CAE9E58-43A7-4EF9-9155-E8AB75B2B3D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'결합'의 마법 (combine)</a:t>
            </a:r>
          </a:p>
        </p:txBody>
      </p:sp>
      <p:sp>
        <p:nvSpPr>
          <p:cNvPr id="20" name="직사각형 19">
            <a:extLst>
              <a:ext uri="{FF2B5EF4-FFF2-40B4-BE49-F238E27FC236}">
                <a16:creationId xmlns:a16="http://schemas.microsoft.com/office/drawing/2014/main" id="{3A9C2D7E-D89D-497C-BC67-24EC7DA6593F}"/>
              </a:ext>
            </a:extLst>
          </p:cNvPr>
          <p:cNvSpPr>
            <a:spLocks noGrp="1"/>
          </p:cNvSpPr>
          <p:nvPr/>
        </p:nvSpPr>
        <p:spPr>
          <a:xfrm>
            <a:off x="609600" y="1381125"/>
            <a:ext cx="10972800" cy="19050"/>
          </a:xfrm>
          <a:prstGeom prst="rect">
            <a:avLst/>
          </a:prstGeom>
          <a:solidFill>
            <a:srgbClr val="171717"/>
          </a:solidFill>
          <a:ln w="0">
            <a:noFill/>
          </a:ln>
        </p:spPr>
      </p:sp>
      <p:sp>
        <p:nvSpPr>
          <p:cNvPr id="21" name="직사각형 20">
            <a:extLst>
              <a:ext uri="{FF2B5EF4-FFF2-40B4-BE49-F238E27FC236}">
                <a16:creationId xmlns:a16="http://schemas.microsoft.com/office/drawing/2014/main" id="{0276700D-27AC-49CA-B648-7B61DBF232D2}"/>
              </a:ext>
            </a:extLst>
          </p:cNvPr>
          <p:cNvSpPr>
            <a:spLocks noGrp="1"/>
          </p:cNvSpPr>
          <p:nvPr/>
        </p:nvSpPr>
        <p:spPr>
          <a:xfrm>
            <a:off x="609600" y="6438900"/>
            <a:ext cx="10972800"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3FA1F80E-C44F-4F0F-B5E5-1E19891CE31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2AAC68FF-8C83-464A-91BD-09786B2625B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2564225" y="2432646"/>
            <a:ext cx="7060502" cy="2815668"/>
          </a:xfrm>
          <a:prstGeom prst="rect">
            <a:avLst/>
          </a:prstGeom>
        </p:spPr>
      </p:pic>
    </p:spTree>
    <p:extLst>
      <p:ext uri="{BB962C8B-B14F-4D97-AF65-F5344CB8AC3E}">
        <p14:creationId xmlns:p14="http://schemas.microsoft.com/office/powerpoint/2010/main" val="20918824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400FA5EF-B369-4E24-B9B7-14E360121511}"/>
              </a:ext>
            </a:extLst>
          </p:cNvPr>
          <p:cNvSpPr>
            <a:spLocks noGrp="1"/>
          </p:cNvSpPr>
          <p:nvPr/>
        </p:nvSpPr>
        <p:spPr>
          <a:xfrm>
            <a:off x="7808976" y="1956816"/>
            <a:ext cx="3520440" cy="310896"/>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아래로 내려가며 분할</a:t>
            </a:r>
            <a:endParaRPr sz="1320"/>
          </a:p>
        </p:txBody>
      </p:sp>
      <p:sp>
        <p:nvSpPr>
          <p:cNvPr id="12" name="Text 7">
            <a:extLst>
              <a:ext uri="{FF2B5EF4-FFF2-40B4-BE49-F238E27FC236}">
                <a16:creationId xmlns:a16="http://schemas.microsoft.com/office/drawing/2014/main" id="{1A991E9A-0E63-417E-8E22-D6A0719C1E06}"/>
              </a:ext>
            </a:extLst>
          </p:cNvPr>
          <p:cNvSpPr>
            <a:spLocks noGrp="1"/>
          </p:cNvSpPr>
          <p:nvPr/>
        </p:nvSpPr>
        <p:spPr>
          <a:xfrm>
            <a:off x="7808976" y="2340864"/>
            <a:ext cx="3520440"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배열을 절반씩 쪼개 길이 1이 될 때까지 내려간다. 총 log₂n 단계.</a:t>
            </a:r>
            <a:endParaRPr sz="1140"/>
          </a:p>
        </p:txBody>
      </p:sp>
      <p:sp>
        <p:nvSpPr>
          <p:cNvPr id="16" name="Text 10">
            <a:extLst>
              <a:ext uri="{FF2B5EF4-FFF2-40B4-BE49-F238E27FC236}">
                <a16:creationId xmlns:a16="http://schemas.microsoft.com/office/drawing/2014/main" id="{5416697C-D211-436A-BCD7-9D659FDCCC5E}"/>
              </a:ext>
            </a:extLst>
          </p:cNvPr>
          <p:cNvSpPr>
            <a:spLocks noGrp="1"/>
          </p:cNvSpPr>
          <p:nvPr/>
        </p:nvSpPr>
        <p:spPr>
          <a:xfrm>
            <a:off x="7808976" y="3493008"/>
            <a:ext cx="3520440" cy="310896"/>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위로 올라오며 합병</a:t>
            </a:r>
            <a:endParaRPr sz="1320"/>
          </a:p>
        </p:txBody>
      </p:sp>
      <p:sp>
        <p:nvSpPr>
          <p:cNvPr id="17" name="Text 11">
            <a:extLst>
              <a:ext uri="{FF2B5EF4-FFF2-40B4-BE49-F238E27FC236}">
                <a16:creationId xmlns:a16="http://schemas.microsoft.com/office/drawing/2014/main" id="{F2F3133E-E9E0-4F96-8FAD-EAF6E4FF4D00}"/>
              </a:ext>
            </a:extLst>
          </p:cNvPr>
          <p:cNvSpPr>
            <a:spLocks noGrp="1"/>
          </p:cNvSpPr>
          <p:nvPr/>
        </p:nvSpPr>
        <p:spPr>
          <a:xfrm>
            <a:off x="7808976" y="3877056"/>
            <a:ext cx="3520440"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두 정렬된 조각을 비교하며 하나로 합친다. 각 단계마다 n개 원소를 훑는다.</a:t>
            </a:r>
            <a:endParaRPr sz="1140"/>
          </a:p>
        </p:txBody>
      </p:sp>
      <p:sp>
        <p:nvSpPr>
          <p:cNvPr id="21" name="Text 14">
            <a:extLst>
              <a:ext uri="{FF2B5EF4-FFF2-40B4-BE49-F238E27FC236}">
                <a16:creationId xmlns:a16="http://schemas.microsoft.com/office/drawing/2014/main" id="{DE8AF258-1C4A-4265-94AD-2EA161948132}"/>
              </a:ext>
            </a:extLst>
          </p:cNvPr>
          <p:cNvSpPr>
            <a:spLocks noGrp="1"/>
          </p:cNvSpPr>
          <p:nvPr/>
        </p:nvSpPr>
        <p:spPr>
          <a:xfrm>
            <a:off x="7808976" y="5029200"/>
            <a:ext cx="3520440" cy="310896"/>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결과: O(n log n)</a:t>
            </a:r>
            <a:endParaRPr sz="1320"/>
          </a:p>
        </p:txBody>
      </p:sp>
      <p:sp>
        <p:nvSpPr>
          <p:cNvPr id="22" name="Text 15">
            <a:extLst>
              <a:ext uri="{FF2B5EF4-FFF2-40B4-BE49-F238E27FC236}">
                <a16:creationId xmlns:a16="http://schemas.microsoft.com/office/drawing/2014/main" id="{BA447CDF-17CE-4415-83BD-B948650B17BF}"/>
              </a:ext>
            </a:extLst>
          </p:cNvPr>
          <p:cNvSpPr>
            <a:spLocks noGrp="1"/>
          </p:cNvSpPr>
          <p:nvPr/>
        </p:nvSpPr>
        <p:spPr>
          <a:xfrm>
            <a:off x="7808976" y="5413248"/>
            <a:ext cx="3520440"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log₂n 단계 × 각 단계 O(n) 비용 = O(n log n).</a:t>
            </a:r>
            <a:endParaRPr sz="1140"/>
          </a:p>
        </p:txBody>
      </p:sp>
      <p:sp>
        <p:nvSpPr>
          <p:cNvPr id="26" name="직사각형 25">
            <a:extLst>
              <a:ext uri="{FF2B5EF4-FFF2-40B4-BE49-F238E27FC236}">
                <a16:creationId xmlns:a16="http://schemas.microsoft.com/office/drawing/2014/main" id="{B58D2F76-9024-495F-A8A4-530FE6824946}"/>
              </a:ext>
            </a:extLst>
          </p:cNvPr>
          <p:cNvSpPr>
            <a:spLocks noGrp="1"/>
          </p:cNvSpPr>
          <p:nvPr/>
        </p:nvSpPr>
        <p:spPr>
          <a:xfrm>
            <a:off x="658368" y="1755648"/>
            <a:ext cx="6126480"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B6805A2B-EF43-4A21-852C-B28169B51544}"/>
              </a:ext>
            </a:extLst>
          </p:cNvPr>
          <p:cNvSpPr>
            <a:spLocks noGrp="1"/>
          </p:cNvSpPr>
          <p:nvPr/>
        </p:nvSpPr>
        <p:spPr>
          <a:xfrm>
            <a:off x="7004304" y="1755648"/>
            <a:ext cx="4526280"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EF1BB32A-0857-4F91-A1CB-7BA790C2DD2E}"/>
              </a:ext>
            </a:extLst>
          </p:cNvPr>
          <p:cNvSpPr>
            <a:spLocks noGrp="1"/>
          </p:cNvSpPr>
          <p:nvPr/>
        </p:nvSpPr>
        <p:spPr>
          <a:xfrm>
            <a:off x="7004304" y="3291840"/>
            <a:ext cx="4526280"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AB604040-CBA5-442C-9374-9159A7C78B56}"/>
              </a:ext>
            </a:extLst>
          </p:cNvPr>
          <p:cNvSpPr>
            <a:spLocks noGrp="1"/>
          </p:cNvSpPr>
          <p:nvPr/>
        </p:nvSpPr>
        <p:spPr>
          <a:xfrm>
            <a:off x="7004304" y="4828032"/>
            <a:ext cx="4526280" cy="9525"/>
          </a:xfrm>
          <a:prstGeom prst="rect">
            <a:avLst/>
          </a:prstGeom>
          <a:solidFill>
            <a:srgbClr val="D4D4D4"/>
          </a:solidFill>
          <a:ln w="0">
            <a:noFill/>
          </a:ln>
        </p:spPr>
      </p:sp>
      <p:sp>
        <p:nvSpPr>
          <p:cNvPr id="30" name="직사각형 29">
            <a:extLst>
              <a:ext uri="{FF2B5EF4-FFF2-40B4-BE49-F238E27FC236}">
                <a16:creationId xmlns:a16="http://schemas.microsoft.com/office/drawing/2014/main" id="{E72649E4-8493-40D5-9DE2-25097410666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4.2  합병 정렬</a:t>
            </a:r>
          </a:p>
        </p:txBody>
      </p:sp>
      <p:sp>
        <p:nvSpPr>
          <p:cNvPr id="31" name="직사각형 30">
            <a:extLst>
              <a:ext uri="{FF2B5EF4-FFF2-40B4-BE49-F238E27FC236}">
                <a16:creationId xmlns:a16="http://schemas.microsoft.com/office/drawing/2014/main" id="{13CAA0B4-7E74-4048-B5FA-E20E81B094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E74A4464-12A7-4C82-A1F1-DC62CE0FD49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합병 정렬의 전체 과정</a:t>
            </a:r>
          </a:p>
        </p:txBody>
      </p:sp>
      <p:sp>
        <p:nvSpPr>
          <p:cNvPr id="33" name="직사각형 32">
            <a:extLst>
              <a:ext uri="{FF2B5EF4-FFF2-40B4-BE49-F238E27FC236}">
                <a16:creationId xmlns:a16="http://schemas.microsoft.com/office/drawing/2014/main" id="{5FE5083B-488D-456E-8927-B086EED67700}"/>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43891CA3-A01F-4BCE-9A0E-9B9088A98729}"/>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62DCBCDF-4D6C-4A32-8A35-B41F93803D0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120641E9-6C9A-4D6A-A1EF-A2C297AA78A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806179" y="1906619"/>
            <a:ext cx="5830857" cy="4141946"/>
          </a:xfrm>
          <a:prstGeom prst="rect">
            <a:avLst/>
          </a:prstGeom>
        </p:spPr>
      </p:pic>
    </p:spTree>
    <p:extLst>
      <p:ext uri="{BB962C8B-B14F-4D97-AF65-F5344CB8AC3E}">
        <p14:creationId xmlns:p14="http://schemas.microsoft.com/office/powerpoint/2010/main" val="19040949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15B5C9A0-DF63-405E-905C-D3F4647016EF}"/>
              </a:ext>
            </a:extLst>
          </p:cNvPr>
          <p:cNvSpPr>
            <a:spLocks noGrp="1"/>
          </p:cNvSpPr>
          <p:nvPr/>
        </p:nvSpPr>
        <p:spPr>
          <a:xfrm>
            <a:off x="859536" y="1801368"/>
            <a:ext cx="58064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merge_sort.pseudo</a:t>
            </a:r>
            <a:endParaRPr sz="900"/>
          </a:p>
        </p:txBody>
      </p:sp>
      <p:sp>
        <p:nvSpPr>
          <p:cNvPr id="14" name="Shape 11">
            <a:extLst>
              <a:ext uri="{FF2B5EF4-FFF2-40B4-BE49-F238E27FC236}">
                <a16:creationId xmlns:a16="http://schemas.microsoft.com/office/drawing/2014/main" id="{F6F64B68-AEC1-4E63-A285-8DC6980413F3}"/>
              </a:ext>
            </a:extLst>
          </p:cNvPr>
          <p:cNvSpPr>
            <a:spLocks noGrp="1"/>
          </p:cNvSpPr>
          <p:nvPr/>
        </p:nvSpPr>
        <p:spPr>
          <a:xfrm>
            <a:off x="7086600" y="1837944"/>
            <a:ext cx="365760" cy="365760"/>
          </a:xfrm>
          <a:prstGeom prst="ellipse">
            <a:avLst/>
          </a:prstGeom>
          <a:solidFill>
            <a:srgbClr val="E9E9E9"/>
          </a:solidFill>
          <a:ln w="5715">
            <a:solidFill>
              <a:srgbClr val="D4D4D4"/>
            </a:solidFill>
          </a:ln>
        </p:spPr>
      </p:sp>
      <p:sp>
        <p:nvSpPr>
          <p:cNvPr id="15" name="Text 12">
            <a:extLst>
              <a:ext uri="{FF2B5EF4-FFF2-40B4-BE49-F238E27FC236}">
                <a16:creationId xmlns:a16="http://schemas.microsoft.com/office/drawing/2014/main" id="{7A051979-DAEB-4828-8613-3FD1756E9D8F}"/>
              </a:ext>
            </a:extLst>
          </p:cNvPr>
          <p:cNvSpPr>
            <a:spLocks noGrp="1"/>
          </p:cNvSpPr>
          <p:nvPr/>
        </p:nvSpPr>
        <p:spPr>
          <a:xfrm>
            <a:off x="7086600" y="1837944"/>
            <a:ext cx="365760" cy="365760"/>
          </a:xfrm>
          <a:prstGeom prst="rect">
            <a:avLst/>
          </a:prstGeom>
          <a:noFill/>
          <a:ln w="0">
            <a:noFill/>
          </a:ln>
        </p:spPr>
        <p:txBody>
          <a:bodyPr wrap="square" lIns="0" tIns="0" rIns="0" bIns="0" anchor="ctr">
            <a:noAutofit/>
          </a:bodyPr>
          <a:lstStyle/>
          <a:p>
            <a:pPr marL="0" indent="0" algn="ctr">
              <a:buNone/>
              <a:defRPr sz="960" i="0">
                <a:solidFill>
                  <a:srgbClr val="171717"/>
                </a:solidFill>
                <a:latin typeface="Malgun Gothic"/>
                <a:ea typeface="Malgun Gothic"/>
                <a:cs typeface="Malgun Gothic"/>
              </a:defRPr>
            </a:pPr>
            <a:r>
              <a:rPr sz="960" b="1" i="0">
                <a:solidFill>
                  <a:srgbClr val="171717"/>
                </a:solidFill>
                <a:latin typeface="Malgun Gothic"/>
                <a:ea typeface="Malgun Gothic"/>
                <a:cs typeface="Malgun Gothic"/>
              </a:rPr>
              <a:t>1</a:t>
            </a:r>
            <a:endParaRPr sz="960"/>
          </a:p>
        </p:txBody>
      </p:sp>
      <p:sp>
        <p:nvSpPr>
          <p:cNvPr id="16" name="Text 13">
            <a:extLst>
              <a:ext uri="{FF2B5EF4-FFF2-40B4-BE49-F238E27FC236}">
                <a16:creationId xmlns:a16="http://schemas.microsoft.com/office/drawing/2014/main" id="{76C207B2-24F3-4335-BBCD-8CCE3BADB225}"/>
              </a:ext>
            </a:extLst>
          </p:cNvPr>
          <p:cNvSpPr>
            <a:spLocks noGrp="1"/>
          </p:cNvSpPr>
          <p:nvPr/>
        </p:nvSpPr>
        <p:spPr>
          <a:xfrm>
            <a:off x="7589520" y="1783080"/>
            <a:ext cx="3931920" cy="47548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배열의 크기가 2 이상인지 확인</a:t>
            </a:r>
            <a:endParaRPr sz="1260"/>
          </a:p>
        </p:txBody>
      </p:sp>
      <p:sp>
        <p:nvSpPr>
          <p:cNvPr id="17" name="Shape 14">
            <a:extLst>
              <a:ext uri="{FF2B5EF4-FFF2-40B4-BE49-F238E27FC236}">
                <a16:creationId xmlns:a16="http://schemas.microsoft.com/office/drawing/2014/main" id="{EBA45C10-854E-452D-952C-62EBD8693BFE}"/>
              </a:ext>
            </a:extLst>
          </p:cNvPr>
          <p:cNvSpPr>
            <a:spLocks noGrp="1"/>
          </p:cNvSpPr>
          <p:nvPr/>
        </p:nvSpPr>
        <p:spPr>
          <a:xfrm>
            <a:off x="7086600" y="2404872"/>
            <a:ext cx="365760" cy="365760"/>
          </a:xfrm>
          <a:prstGeom prst="ellipse">
            <a:avLst/>
          </a:prstGeom>
          <a:solidFill>
            <a:srgbClr val="E9E9E9"/>
          </a:solidFill>
          <a:ln w="5715">
            <a:solidFill>
              <a:srgbClr val="D4D4D4"/>
            </a:solidFill>
          </a:ln>
        </p:spPr>
      </p:sp>
      <p:sp>
        <p:nvSpPr>
          <p:cNvPr id="18" name="Text 15">
            <a:extLst>
              <a:ext uri="{FF2B5EF4-FFF2-40B4-BE49-F238E27FC236}">
                <a16:creationId xmlns:a16="http://schemas.microsoft.com/office/drawing/2014/main" id="{DA9C7384-06C1-4F43-8FD3-BC0328D583E2}"/>
              </a:ext>
            </a:extLst>
          </p:cNvPr>
          <p:cNvSpPr>
            <a:spLocks noGrp="1"/>
          </p:cNvSpPr>
          <p:nvPr/>
        </p:nvSpPr>
        <p:spPr>
          <a:xfrm>
            <a:off x="7086600" y="2404872"/>
            <a:ext cx="365760" cy="365760"/>
          </a:xfrm>
          <a:prstGeom prst="rect">
            <a:avLst/>
          </a:prstGeom>
          <a:noFill/>
          <a:ln w="0">
            <a:noFill/>
          </a:ln>
        </p:spPr>
        <p:txBody>
          <a:bodyPr wrap="square" lIns="0" tIns="0" rIns="0" bIns="0" anchor="ctr">
            <a:noAutofit/>
          </a:bodyPr>
          <a:lstStyle/>
          <a:p>
            <a:pPr marL="0" indent="0" algn="ctr">
              <a:buNone/>
              <a:defRPr sz="960" i="0">
                <a:solidFill>
                  <a:srgbClr val="171717"/>
                </a:solidFill>
                <a:latin typeface="Malgun Gothic"/>
                <a:ea typeface="Malgun Gothic"/>
                <a:cs typeface="Malgun Gothic"/>
              </a:defRPr>
            </a:pPr>
            <a:r>
              <a:rPr sz="960" b="1" i="0">
                <a:solidFill>
                  <a:srgbClr val="171717"/>
                </a:solidFill>
                <a:latin typeface="Malgun Gothic"/>
                <a:ea typeface="Malgun Gothic"/>
                <a:cs typeface="Malgun Gothic"/>
              </a:rPr>
              <a:t>2</a:t>
            </a:r>
            <a:endParaRPr sz="960"/>
          </a:p>
        </p:txBody>
      </p:sp>
      <p:sp>
        <p:nvSpPr>
          <p:cNvPr id="19" name="Text 16">
            <a:extLst>
              <a:ext uri="{FF2B5EF4-FFF2-40B4-BE49-F238E27FC236}">
                <a16:creationId xmlns:a16="http://schemas.microsoft.com/office/drawing/2014/main" id="{FEB9C0DB-E5A1-4469-9D71-552674FB8E68}"/>
              </a:ext>
            </a:extLst>
          </p:cNvPr>
          <p:cNvSpPr>
            <a:spLocks noGrp="1"/>
          </p:cNvSpPr>
          <p:nvPr/>
        </p:nvSpPr>
        <p:spPr>
          <a:xfrm>
            <a:off x="7589520" y="2350008"/>
            <a:ext cx="3931920" cy="47548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중간 지점을 계산</a:t>
            </a:r>
            <a:endParaRPr sz="1260"/>
          </a:p>
        </p:txBody>
      </p:sp>
      <p:sp>
        <p:nvSpPr>
          <p:cNvPr id="20" name="Shape 17">
            <a:extLst>
              <a:ext uri="{FF2B5EF4-FFF2-40B4-BE49-F238E27FC236}">
                <a16:creationId xmlns:a16="http://schemas.microsoft.com/office/drawing/2014/main" id="{0508A71B-3D58-4115-AFD1-7A91474E71DD}"/>
              </a:ext>
            </a:extLst>
          </p:cNvPr>
          <p:cNvSpPr>
            <a:spLocks noGrp="1"/>
          </p:cNvSpPr>
          <p:nvPr/>
        </p:nvSpPr>
        <p:spPr>
          <a:xfrm>
            <a:off x="7086600" y="2971800"/>
            <a:ext cx="365760" cy="365760"/>
          </a:xfrm>
          <a:prstGeom prst="ellipse">
            <a:avLst/>
          </a:prstGeom>
          <a:solidFill>
            <a:srgbClr val="E9E9E9"/>
          </a:solidFill>
          <a:ln w="5715">
            <a:solidFill>
              <a:srgbClr val="D4D4D4"/>
            </a:solidFill>
          </a:ln>
        </p:spPr>
      </p:sp>
      <p:sp>
        <p:nvSpPr>
          <p:cNvPr id="21" name="Text 18">
            <a:extLst>
              <a:ext uri="{FF2B5EF4-FFF2-40B4-BE49-F238E27FC236}">
                <a16:creationId xmlns:a16="http://schemas.microsoft.com/office/drawing/2014/main" id="{B1F86DB1-921C-4CEB-B623-DCB4FF00004F}"/>
              </a:ext>
            </a:extLst>
          </p:cNvPr>
          <p:cNvSpPr>
            <a:spLocks noGrp="1"/>
          </p:cNvSpPr>
          <p:nvPr/>
        </p:nvSpPr>
        <p:spPr>
          <a:xfrm>
            <a:off x="7086600" y="2971800"/>
            <a:ext cx="365760" cy="365760"/>
          </a:xfrm>
          <a:prstGeom prst="rect">
            <a:avLst/>
          </a:prstGeom>
          <a:noFill/>
          <a:ln w="0">
            <a:noFill/>
          </a:ln>
        </p:spPr>
        <p:txBody>
          <a:bodyPr wrap="square" lIns="0" tIns="0" rIns="0" bIns="0" anchor="ctr">
            <a:noAutofit/>
          </a:bodyPr>
          <a:lstStyle/>
          <a:p>
            <a:pPr marL="0" indent="0" algn="ctr">
              <a:buNone/>
              <a:defRPr sz="960" i="0">
                <a:solidFill>
                  <a:srgbClr val="171717"/>
                </a:solidFill>
                <a:latin typeface="Malgun Gothic"/>
                <a:ea typeface="Malgun Gothic"/>
                <a:cs typeface="Malgun Gothic"/>
              </a:defRPr>
            </a:pPr>
            <a:r>
              <a:rPr sz="960" b="1" i="0">
                <a:solidFill>
                  <a:srgbClr val="171717"/>
                </a:solidFill>
                <a:latin typeface="Malgun Gothic"/>
                <a:ea typeface="Malgun Gothic"/>
                <a:cs typeface="Malgun Gothic"/>
              </a:rPr>
              <a:t>3</a:t>
            </a:r>
            <a:endParaRPr sz="960"/>
          </a:p>
        </p:txBody>
      </p:sp>
      <p:sp>
        <p:nvSpPr>
          <p:cNvPr id="22" name="Text 19">
            <a:extLst>
              <a:ext uri="{FF2B5EF4-FFF2-40B4-BE49-F238E27FC236}">
                <a16:creationId xmlns:a16="http://schemas.microsoft.com/office/drawing/2014/main" id="{C523BB2D-2D12-416C-B2C6-56DBEA32BED6}"/>
              </a:ext>
            </a:extLst>
          </p:cNvPr>
          <p:cNvSpPr>
            <a:spLocks noGrp="1"/>
          </p:cNvSpPr>
          <p:nvPr/>
        </p:nvSpPr>
        <p:spPr>
          <a:xfrm>
            <a:off x="7589520" y="2916936"/>
            <a:ext cx="3931920" cy="47548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왼쪽 부분을 재귀적으로 정렬</a:t>
            </a:r>
            <a:endParaRPr sz="1260"/>
          </a:p>
        </p:txBody>
      </p:sp>
      <p:sp>
        <p:nvSpPr>
          <p:cNvPr id="23" name="Shape 20">
            <a:extLst>
              <a:ext uri="{FF2B5EF4-FFF2-40B4-BE49-F238E27FC236}">
                <a16:creationId xmlns:a16="http://schemas.microsoft.com/office/drawing/2014/main" id="{575B06F5-C20E-40BB-99C3-28846489072E}"/>
              </a:ext>
            </a:extLst>
          </p:cNvPr>
          <p:cNvSpPr>
            <a:spLocks noGrp="1"/>
          </p:cNvSpPr>
          <p:nvPr/>
        </p:nvSpPr>
        <p:spPr>
          <a:xfrm>
            <a:off x="7086600" y="3538728"/>
            <a:ext cx="365760" cy="365760"/>
          </a:xfrm>
          <a:prstGeom prst="ellipse">
            <a:avLst/>
          </a:prstGeom>
          <a:solidFill>
            <a:srgbClr val="E9E9E9"/>
          </a:solidFill>
          <a:ln w="5715">
            <a:solidFill>
              <a:srgbClr val="D4D4D4"/>
            </a:solidFill>
          </a:ln>
        </p:spPr>
      </p:sp>
      <p:sp>
        <p:nvSpPr>
          <p:cNvPr id="24" name="Text 21">
            <a:extLst>
              <a:ext uri="{FF2B5EF4-FFF2-40B4-BE49-F238E27FC236}">
                <a16:creationId xmlns:a16="http://schemas.microsoft.com/office/drawing/2014/main" id="{0B68568E-2400-4FEF-83A9-02D8F52B52C3}"/>
              </a:ext>
            </a:extLst>
          </p:cNvPr>
          <p:cNvSpPr>
            <a:spLocks noGrp="1"/>
          </p:cNvSpPr>
          <p:nvPr/>
        </p:nvSpPr>
        <p:spPr>
          <a:xfrm>
            <a:off x="7086600" y="3538728"/>
            <a:ext cx="365760" cy="365760"/>
          </a:xfrm>
          <a:prstGeom prst="rect">
            <a:avLst/>
          </a:prstGeom>
          <a:noFill/>
          <a:ln w="0">
            <a:noFill/>
          </a:ln>
        </p:spPr>
        <p:txBody>
          <a:bodyPr wrap="square" lIns="0" tIns="0" rIns="0" bIns="0" anchor="ctr">
            <a:noAutofit/>
          </a:bodyPr>
          <a:lstStyle/>
          <a:p>
            <a:pPr marL="0" indent="0" algn="ctr">
              <a:buNone/>
              <a:defRPr sz="960" i="0">
                <a:solidFill>
                  <a:srgbClr val="171717"/>
                </a:solidFill>
                <a:latin typeface="Malgun Gothic"/>
                <a:ea typeface="Malgun Gothic"/>
                <a:cs typeface="Malgun Gothic"/>
              </a:defRPr>
            </a:pPr>
            <a:r>
              <a:rPr sz="960" b="1" i="0">
                <a:solidFill>
                  <a:srgbClr val="171717"/>
                </a:solidFill>
                <a:latin typeface="Malgun Gothic"/>
                <a:ea typeface="Malgun Gothic"/>
                <a:cs typeface="Malgun Gothic"/>
              </a:rPr>
              <a:t>4</a:t>
            </a:r>
            <a:endParaRPr sz="960"/>
          </a:p>
        </p:txBody>
      </p:sp>
      <p:sp>
        <p:nvSpPr>
          <p:cNvPr id="25" name="Text 22">
            <a:extLst>
              <a:ext uri="{FF2B5EF4-FFF2-40B4-BE49-F238E27FC236}">
                <a16:creationId xmlns:a16="http://schemas.microsoft.com/office/drawing/2014/main" id="{900E3BEE-6551-4713-A0B3-6C206B41B69B}"/>
              </a:ext>
            </a:extLst>
          </p:cNvPr>
          <p:cNvSpPr>
            <a:spLocks noGrp="1"/>
          </p:cNvSpPr>
          <p:nvPr/>
        </p:nvSpPr>
        <p:spPr>
          <a:xfrm>
            <a:off x="7589520" y="3483864"/>
            <a:ext cx="3931920" cy="47548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오른쪽 부분을 재귀적으로 정렬</a:t>
            </a:r>
            <a:endParaRPr sz="1260"/>
          </a:p>
        </p:txBody>
      </p:sp>
      <p:sp>
        <p:nvSpPr>
          <p:cNvPr id="26" name="Shape 23">
            <a:extLst>
              <a:ext uri="{FF2B5EF4-FFF2-40B4-BE49-F238E27FC236}">
                <a16:creationId xmlns:a16="http://schemas.microsoft.com/office/drawing/2014/main" id="{A3681DEE-8B7F-4D70-9E77-2BDDC121E5D6}"/>
              </a:ext>
            </a:extLst>
          </p:cNvPr>
          <p:cNvSpPr>
            <a:spLocks noGrp="1"/>
          </p:cNvSpPr>
          <p:nvPr/>
        </p:nvSpPr>
        <p:spPr>
          <a:xfrm>
            <a:off x="7086600" y="4105656"/>
            <a:ext cx="365760" cy="365760"/>
          </a:xfrm>
          <a:prstGeom prst="ellipse">
            <a:avLst/>
          </a:prstGeom>
          <a:solidFill>
            <a:srgbClr val="E9E9E9"/>
          </a:solidFill>
          <a:ln w="5715">
            <a:solidFill>
              <a:srgbClr val="D4D4D4"/>
            </a:solidFill>
          </a:ln>
        </p:spPr>
      </p:sp>
      <p:sp>
        <p:nvSpPr>
          <p:cNvPr id="27" name="Text 24">
            <a:extLst>
              <a:ext uri="{FF2B5EF4-FFF2-40B4-BE49-F238E27FC236}">
                <a16:creationId xmlns:a16="http://schemas.microsoft.com/office/drawing/2014/main" id="{866793BD-9CD6-4336-BC20-4BB8F030ABC7}"/>
              </a:ext>
            </a:extLst>
          </p:cNvPr>
          <p:cNvSpPr>
            <a:spLocks noGrp="1"/>
          </p:cNvSpPr>
          <p:nvPr/>
        </p:nvSpPr>
        <p:spPr>
          <a:xfrm>
            <a:off x="7086600" y="4105656"/>
            <a:ext cx="365760" cy="365760"/>
          </a:xfrm>
          <a:prstGeom prst="rect">
            <a:avLst/>
          </a:prstGeom>
          <a:noFill/>
          <a:ln w="0">
            <a:noFill/>
          </a:ln>
        </p:spPr>
        <p:txBody>
          <a:bodyPr wrap="square" lIns="0" tIns="0" rIns="0" bIns="0" anchor="ctr">
            <a:noAutofit/>
          </a:bodyPr>
          <a:lstStyle/>
          <a:p>
            <a:pPr marL="0" indent="0" algn="ctr">
              <a:buNone/>
              <a:defRPr sz="960" i="0">
                <a:solidFill>
                  <a:srgbClr val="171717"/>
                </a:solidFill>
                <a:latin typeface="Malgun Gothic"/>
                <a:ea typeface="Malgun Gothic"/>
                <a:cs typeface="Malgun Gothic"/>
              </a:defRPr>
            </a:pPr>
            <a:r>
              <a:rPr sz="960" b="1" i="0">
                <a:solidFill>
                  <a:srgbClr val="171717"/>
                </a:solidFill>
                <a:latin typeface="Malgun Gothic"/>
                <a:ea typeface="Malgun Gothic"/>
                <a:cs typeface="Malgun Gothic"/>
              </a:rPr>
              <a:t>5</a:t>
            </a:r>
            <a:endParaRPr sz="960"/>
          </a:p>
        </p:txBody>
      </p:sp>
      <p:sp>
        <p:nvSpPr>
          <p:cNvPr id="28" name="Text 25">
            <a:extLst>
              <a:ext uri="{FF2B5EF4-FFF2-40B4-BE49-F238E27FC236}">
                <a16:creationId xmlns:a16="http://schemas.microsoft.com/office/drawing/2014/main" id="{6BF13364-5F28-431A-A0C4-0C3231D3A085}"/>
              </a:ext>
            </a:extLst>
          </p:cNvPr>
          <p:cNvSpPr>
            <a:spLocks noGrp="1"/>
          </p:cNvSpPr>
          <p:nvPr/>
        </p:nvSpPr>
        <p:spPr>
          <a:xfrm>
            <a:off x="7589520" y="4050792"/>
            <a:ext cx="3931920" cy="47548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정렬된 두 부분을 병합</a:t>
            </a:r>
            <a:endParaRPr sz="1260"/>
          </a:p>
        </p:txBody>
      </p:sp>
      <p:sp>
        <p:nvSpPr>
          <p:cNvPr id="32" name="Text 28">
            <a:extLst>
              <a:ext uri="{FF2B5EF4-FFF2-40B4-BE49-F238E27FC236}">
                <a16:creationId xmlns:a16="http://schemas.microsoft.com/office/drawing/2014/main" id="{56EEC086-3FE1-4FC0-8D79-844DA89F37D6}"/>
              </a:ext>
            </a:extLst>
          </p:cNvPr>
          <p:cNvSpPr>
            <a:spLocks noGrp="1"/>
          </p:cNvSpPr>
          <p:nvPr/>
        </p:nvSpPr>
        <p:spPr>
          <a:xfrm>
            <a:off x="1517904" y="4901184"/>
            <a:ext cx="9756648" cy="292608"/>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핵심은 MERGE</a:t>
            </a:r>
            <a:endParaRPr sz="1350"/>
          </a:p>
        </p:txBody>
      </p:sp>
      <p:sp>
        <p:nvSpPr>
          <p:cNvPr id="33" name="Text 29">
            <a:extLst>
              <a:ext uri="{FF2B5EF4-FFF2-40B4-BE49-F238E27FC236}">
                <a16:creationId xmlns:a16="http://schemas.microsoft.com/office/drawing/2014/main" id="{DA396D67-23BC-4D3E-8433-3820BCC3FC6E}"/>
              </a:ext>
            </a:extLst>
          </p:cNvPr>
          <p:cNvSpPr>
            <a:spLocks noGrp="1"/>
          </p:cNvSpPr>
          <p:nvPr/>
        </p:nvSpPr>
        <p:spPr>
          <a:xfrm>
            <a:off x="1517904" y="5248656"/>
            <a:ext cx="9756648" cy="640080"/>
          </a:xfrm>
          <a:prstGeom prst="rect">
            <a:avLst/>
          </a:prstGeom>
          <a:noFill/>
          <a:ln w="0">
            <a:noFill/>
          </a:ln>
        </p:spPr>
        <p:txBody>
          <a:bodyPr wrap="square" lIns="0" tIns="0" rIns="0" bIns="0" anchor="t">
            <a:noAutofit/>
          </a:bodyPr>
          <a:lstStyle/>
          <a:p>
            <a:pPr marL="0" indent="0" algn="l">
              <a:lnSpc>
                <a:spcPct val="13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분할은 인덱스 계산만으로 끝난다. 실제 정렬 작업은 전부 MERGE에서 일어난다. left &lt; right 조건이 거짓이 되는 순간(원소 1개)이 재귀의 종료 조건이다.</a:t>
            </a:r>
            <a:endParaRPr sz="1250"/>
          </a:p>
        </p:txBody>
      </p:sp>
      <p:sp>
        <p:nvSpPr>
          <p:cNvPr id="34" name="직사각형 33">
            <a:extLst>
              <a:ext uri="{FF2B5EF4-FFF2-40B4-BE49-F238E27FC236}">
                <a16:creationId xmlns:a16="http://schemas.microsoft.com/office/drawing/2014/main" id="{7DF24110-9192-41EC-B03F-E22194058ABD}"/>
              </a:ext>
            </a:extLst>
          </p:cNvPr>
          <p:cNvSpPr>
            <a:spLocks noGrp="1"/>
          </p:cNvSpPr>
          <p:nvPr/>
        </p:nvSpPr>
        <p:spPr>
          <a:xfrm>
            <a:off x="698373" y="2090928"/>
            <a:ext cx="6147054" cy="235762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MERGE_SORT(A, left, right):</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left &lt; right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&lt;- floor((left + right)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MERGE_SORT(A, left,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MERGE_SORT(A, mid + 1, right)</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MERGE(A, left, mid, right)</a:t>
            </a:r>
          </a:p>
        </p:txBody>
      </p:sp>
      <p:sp>
        <p:nvSpPr>
          <p:cNvPr id="35" name="직사각형 34">
            <a:extLst>
              <a:ext uri="{FF2B5EF4-FFF2-40B4-BE49-F238E27FC236}">
                <a16:creationId xmlns:a16="http://schemas.microsoft.com/office/drawing/2014/main" id="{F264BCD8-F388-4733-AEFA-5C5EBD94452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4.2  합병 정렬</a:t>
            </a:r>
          </a:p>
        </p:txBody>
      </p:sp>
      <p:sp>
        <p:nvSpPr>
          <p:cNvPr id="36" name="직사각형 35">
            <a:extLst>
              <a:ext uri="{FF2B5EF4-FFF2-40B4-BE49-F238E27FC236}">
                <a16:creationId xmlns:a16="http://schemas.microsoft.com/office/drawing/2014/main" id="{B58289CE-8051-4538-854A-C78A2C2FEC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DF5B5EA3-03EE-4F04-B3B8-9A1E5E599EE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합병 정렬 알고리즘 (의사코드)</a:t>
            </a:r>
          </a:p>
        </p:txBody>
      </p:sp>
      <p:sp>
        <p:nvSpPr>
          <p:cNvPr id="38" name="직사각형 37">
            <a:extLst>
              <a:ext uri="{FF2B5EF4-FFF2-40B4-BE49-F238E27FC236}">
                <a16:creationId xmlns:a16="http://schemas.microsoft.com/office/drawing/2014/main" id="{FF679426-1DAF-43A5-B09D-AB8F711D386E}"/>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2005DE3E-609E-4B1A-88F0-9073F33B8865}"/>
              </a:ext>
            </a:extLst>
          </p:cNvPr>
          <p:cNvSpPr>
            <a:spLocks noGrp="1"/>
          </p:cNvSpPr>
          <p:nvPr/>
        </p:nvSpPr>
        <p:spPr>
          <a:xfrm>
            <a:off x="609600" y="6438900"/>
            <a:ext cx="10972800"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20073CEB-353D-40CA-A9AB-3F3AE93D5E2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7E327282-9848-4CC1-958B-62755691357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4998714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FE613F2C-4B88-41F7-87A6-60FA79E3D1F5}"/>
              </a:ext>
            </a:extLst>
          </p:cNvPr>
          <p:cNvSpPr>
            <a:spLocks noGrp="1"/>
          </p:cNvSpPr>
          <p:nvPr/>
        </p:nvSpPr>
        <p:spPr>
          <a:xfrm>
            <a:off x="859536" y="1801368"/>
            <a:ext cx="63093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merge_sort.py</a:t>
            </a:r>
            <a:endParaRPr sz="900"/>
          </a:p>
        </p:txBody>
      </p:sp>
      <p:sp>
        <p:nvSpPr>
          <p:cNvPr id="17" name="Text 13">
            <a:extLst>
              <a:ext uri="{FF2B5EF4-FFF2-40B4-BE49-F238E27FC236}">
                <a16:creationId xmlns:a16="http://schemas.microsoft.com/office/drawing/2014/main" id="{7D23C2BC-5B6B-4188-977F-CDFE4442C21C}"/>
              </a:ext>
            </a:extLst>
          </p:cNvPr>
          <p:cNvSpPr>
            <a:spLocks noGrp="1"/>
          </p:cNvSpPr>
          <p:nvPr/>
        </p:nvSpPr>
        <p:spPr>
          <a:xfrm>
            <a:off x="8174736" y="1874520"/>
            <a:ext cx="3200400" cy="256032"/>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a:t>
            </a:r>
            <a:endParaRPr sz="1200"/>
          </a:p>
        </p:txBody>
      </p:sp>
      <p:sp>
        <p:nvSpPr>
          <p:cNvPr id="18" name="Text 14">
            <a:extLst>
              <a:ext uri="{FF2B5EF4-FFF2-40B4-BE49-F238E27FC236}">
                <a16:creationId xmlns:a16="http://schemas.microsoft.com/office/drawing/2014/main" id="{251ABECF-501F-427A-A5E5-10429CC474DF}"/>
              </a:ext>
            </a:extLst>
          </p:cNvPr>
          <p:cNvSpPr>
            <a:spLocks noGrp="1"/>
          </p:cNvSpPr>
          <p:nvPr/>
        </p:nvSpPr>
        <p:spPr>
          <a:xfrm>
            <a:off x="8174736" y="2148840"/>
            <a:ext cx="3200400" cy="457200"/>
          </a:xfrm>
          <a:prstGeom prst="rect">
            <a:avLst/>
          </a:prstGeom>
          <a:noFill/>
          <a:ln w="0">
            <a:noFill/>
          </a:ln>
        </p:spPr>
        <p:txBody>
          <a:bodyPr wrap="square" lIns="0" tIns="0" rIns="0" bIns="0" anchor="t">
            <a:noAutofit/>
          </a:bodyPr>
          <a:lstStyle/>
          <a:p>
            <a:pPr marL="0" indent="0" algn="l">
              <a:lnSpc>
                <a:spcPct val="116000"/>
              </a:lnSpc>
              <a:buNone/>
              <a:defRPr sz="1030" i="0">
                <a:solidFill>
                  <a:srgbClr val="171717"/>
                </a:solidFill>
                <a:latin typeface="Malgun Gothic"/>
                <a:ea typeface="Malgun Gothic"/>
                <a:cs typeface="Malgun Gothic"/>
              </a:defRPr>
            </a:pPr>
            <a:r>
              <a:rPr sz="1030" i="0">
                <a:solidFill>
                  <a:srgbClr val="171717"/>
                </a:solidFill>
                <a:latin typeface="Malgun Gothic"/>
                <a:ea typeface="Malgun Gothic"/>
                <a:cs typeface="Malgun Gothic"/>
              </a:rPr>
              <a:t>원소가 0개 또는 1개면 이미 정렬된 상태이므로 그대로 반환한다.</a:t>
            </a:r>
            <a:endParaRPr sz="1030"/>
          </a:p>
        </p:txBody>
      </p:sp>
      <p:sp>
        <p:nvSpPr>
          <p:cNvPr id="22" name="Text 17">
            <a:extLst>
              <a:ext uri="{FF2B5EF4-FFF2-40B4-BE49-F238E27FC236}">
                <a16:creationId xmlns:a16="http://schemas.microsoft.com/office/drawing/2014/main" id="{11E5BE39-6539-49DA-9411-9B07DB6E565F}"/>
              </a:ext>
            </a:extLst>
          </p:cNvPr>
          <p:cNvSpPr>
            <a:spLocks noGrp="1"/>
          </p:cNvSpPr>
          <p:nvPr/>
        </p:nvSpPr>
        <p:spPr>
          <a:xfrm>
            <a:off x="8174736" y="2926080"/>
            <a:ext cx="3200400" cy="256032"/>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슬라이싱 분할</a:t>
            </a:r>
            <a:endParaRPr sz="1200"/>
          </a:p>
        </p:txBody>
      </p:sp>
      <p:sp>
        <p:nvSpPr>
          <p:cNvPr id="23" name="Text 18">
            <a:extLst>
              <a:ext uri="{FF2B5EF4-FFF2-40B4-BE49-F238E27FC236}">
                <a16:creationId xmlns:a16="http://schemas.microsoft.com/office/drawing/2014/main" id="{495E408D-B330-4FE6-9543-FE6707282F03}"/>
              </a:ext>
            </a:extLst>
          </p:cNvPr>
          <p:cNvSpPr>
            <a:spLocks noGrp="1"/>
          </p:cNvSpPr>
          <p:nvPr/>
        </p:nvSpPr>
        <p:spPr>
          <a:xfrm>
            <a:off x="8174736" y="3200400"/>
            <a:ext cx="3200400" cy="457200"/>
          </a:xfrm>
          <a:prstGeom prst="rect">
            <a:avLst/>
          </a:prstGeom>
          <a:noFill/>
          <a:ln w="0">
            <a:noFill/>
          </a:ln>
        </p:spPr>
        <p:txBody>
          <a:bodyPr wrap="square" lIns="0" tIns="0" rIns="0" bIns="0" anchor="t">
            <a:noAutofit/>
          </a:bodyPr>
          <a:lstStyle/>
          <a:p>
            <a:pPr marL="0" indent="0" algn="l">
              <a:lnSpc>
                <a:spcPct val="116000"/>
              </a:lnSpc>
              <a:buNone/>
              <a:defRPr sz="1030" i="0">
                <a:solidFill>
                  <a:srgbClr val="171717"/>
                </a:solidFill>
                <a:latin typeface="Malgun Gothic"/>
                <a:ea typeface="Malgun Gothic"/>
                <a:cs typeface="Malgun Gothic"/>
              </a:defRPr>
            </a:pPr>
            <a:r>
              <a:rPr sz="1030" i="0">
                <a:solidFill>
                  <a:srgbClr val="171717"/>
                </a:solidFill>
                <a:latin typeface="Malgun Gothic"/>
                <a:ea typeface="Malgun Gothic"/>
                <a:cs typeface="Malgun Gothic"/>
              </a:rPr>
              <a:t>arr[:mid]와 arr[mid:]로 두 조각을 만든다. 파이썬에서는 새 리스트가 생성된다.</a:t>
            </a:r>
            <a:endParaRPr sz="1030"/>
          </a:p>
        </p:txBody>
      </p:sp>
      <p:sp>
        <p:nvSpPr>
          <p:cNvPr id="27" name="Text 21">
            <a:extLst>
              <a:ext uri="{FF2B5EF4-FFF2-40B4-BE49-F238E27FC236}">
                <a16:creationId xmlns:a16="http://schemas.microsoft.com/office/drawing/2014/main" id="{A678ADC9-B63C-4436-8F44-742A72A59B4C}"/>
              </a:ext>
            </a:extLst>
          </p:cNvPr>
          <p:cNvSpPr>
            <a:spLocks noGrp="1"/>
          </p:cNvSpPr>
          <p:nvPr/>
        </p:nvSpPr>
        <p:spPr>
          <a:xfrm>
            <a:off x="8174736" y="3977640"/>
            <a:ext cx="3200400" cy="256032"/>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재귀 후 병합</a:t>
            </a:r>
            <a:endParaRPr sz="1200"/>
          </a:p>
        </p:txBody>
      </p:sp>
      <p:sp>
        <p:nvSpPr>
          <p:cNvPr id="28" name="Text 22">
            <a:extLst>
              <a:ext uri="{FF2B5EF4-FFF2-40B4-BE49-F238E27FC236}">
                <a16:creationId xmlns:a16="http://schemas.microsoft.com/office/drawing/2014/main" id="{3483AAAD-5303-4B59-97E6-D7A727185CDE}"/>
              </a:ext>
            </a:extLst>
          </p:cNvPr>
          <p:cNvSpPr>
            <a:spLocks noGrp="1"/>
          </p:cNvSpPr>
          <p:nvPr/>
        </p:nvSpPr>
        <p:spPr>
          <a:xfrm>
            <a:off x="8174736" y="4251960"/>
            <a:ext cx="3200400" cy="457200"/>
          </a:xfrm>
          <a:prstGeom prst="rect">
            <a:avLst/>
          </a:prstGeom>
          <a:noFill/>
          <a:ln w="0">
            <a:noFill/>
          </a:ln>
        </p:spPr>
        <p:txBody>
          <a:bodyPr wrap="square" lIns="0" tIns="0" rIns="0" bIns="0" anchor="t">
            <a:noAutofit/>
          </a:bodyPr>
          <a:lstStyle/>
          <a:p>
            <a:pPr marL="0" indent="0" algn="l">
              <a:lnSpc>
                <a:spcPct val="116000"/>
              </a:lnSpc>
              <a:buNone/>
              <a:defRPr sz="1030" i="0">
                <a:solidFill>
                  <a:srgbClr val="171717"/>
                </a:solidFill>
                <a:latin typeface="Malgun Gothic"/>
                <a:ea typeface="Malgun Gothic"/>
                <a:cs typeface="Malgun Gothic"/>
              </a:defRPr>
            </a:pPr>
            <a:r>
              <a:rPr sz="1030" i="0">
                <a:solidFill>
                  <a:srgbClr val="171717"/>
                </a:solidFill>
                <a:latin typeface="Malgun Gothic"/>
                <a:ea typeface="Malgun Gothic"/>
                <a:cs typeface="Malgun Gothic"/>
              </a:rPr>
              <a:t>두 조각이 각각 정렬되어 돌아오면, merge()가 하나로 합친다.</a:t>
            </a:r>
            <a:endParaRPr sz="1030"/>
          </a:p>
        </p:txBody>
      </p:sp>
      <p:sp>
        <p:nvSpPr>
          <p:cNvPr id="32" name="Text 25">
            <a:extLst>
              <a:ext uri="{FF2B5EF4-FFF2-40B4-BE49-F238E27FC236}">
                <a16:creationId xmlns:a16="http://schemas.microsoft.com/office/drawing/2014/main" id="{01788726-483D-4D6A-BAA0-49451EC26511}"/>
              </a:ext>
            </a:extLst>
          </p:cNvPr>
          <p:cNvSpPr>
            <a:spLocks noGrp="1"/>
          </p:cNvSpPr>
          <p:nvPr/>
        </p:nvSpPr>
        <p:spPr>
          <a:xfrm>
            <a:off x="1517904" y="5138928"/>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왜 mid = len(arr) // 2 인가?</a:t>
            </a:r>
            <a:endParaRPr sz="1320"/>
          </a:p>
        </p:txBody>
      </p:sp>
      <p:sp>
        <p:nvSpPr>
          <p:cNvPr id="33" name="Text 26">
            <a:extLst>
              <a:ext uri="{FF2B5EF4-FFF2-40B4-BE49-F238E27FC236}">
                <a16:creationId xmlns:a16="http://schemas.microsoft.com/office/drawing/2014/main" id="{7412C25D-7B39-4886-A985-8EE0357DD8DB}"/>
              </a:ext>
            </a:extLst>
          </p:cNvPr>
          <p:cNvSpPr>
            <a:spLocks noGrp="1"/>
          </p:cNvSpPr>
          <p:nvPr/>
        </p:nvSpPr>
        <p:spPr>
          <a:xfrm>
            <a:off x="1517904" y="5486400"/>
            <a:ext cx="9756648" cy="493776"/>
          </a:xfrm>
          <a:prstGeom prst="rect">
            <a:avLst/>
          </a:prstGeom>
          <a:noFill/>
          <a:ln w="0">
            <a:noFill/>
          </a:ln>
        </p:spPr>
        <p:txBody>
          <a:bodyPr wrap="square" lIns="0" tIns="0" rIns="0" bIns="0" anchor="t">
            <a:noAutofit/>
          </a:bodyPr>
          <a:lstStyle/>
          <a:p>
            <a:pPr marL="0" indent="0" algn="l">
              <a:lnSpc>
                <a:spcPct val="132000"/>
              </a:lnSpc>
              <a:buNone/>
              <a:defRPr sz="1230" i="0">
                <a:solidFill>
                  <a:srgbClr val="171717"/>
                </a:solidFill>
                <a:latin typeface="Malgun Gothic"/>
                <a:ea typeface="Malgun Gothic"/>
                <a:cs typeface="Malgun Gothic"/>
              </a:defRPr>
            </a:pPr>
            <a:r>
              <a:rPr sz="1230" i="0">
                <a:solidFill>
                  <a:srgbClr val="171717"/>
                </a:solidFill>
                <a:latin typeface="Malgun Gothic"/>
                <a:ea typeface="Malgun Gothic"/>
                <a:cs typeface="Malgun Gothic"/>
              </a:rPr>
              <a:t>정수 나눗셈(//)을 써야 인덱스가 정수로 유지된다. / 를 쓰면 실수가 되어 슬라이싱에서 오류가 발생한다.</a:t>
            </a:r>
            <a:endParaRPr sz="1230"/>
          </a:p>
        </p:txBody>
      </p:sp>
      <p:sp>
        <p:nvSpPr>
          <p:cNvPr id="35" name="직사각형 34">
            <a:extLst>
              <a:ext uri="{FF2B5EF4-FFF2-40B4-BE49-F238E27FC236}">
                <a16:creationId xmlns:a16="http://schemas.microsoft.com/office/drawing/2014/main" id="{493E68C3-EE3A-4BAE-8FEF-A4D3F4EB272F}"/>
              </a:ext>
            </a:extLst>
          </p:cNvPr>
          <p:cNvSpPr>
            <a:spLocks noGrp="1"/>
          </p:cNvSpPr>
          <p:nvPr/>
        </p:nvSpPr>
        <p:spPr>
          <a:xfrm>
            <a:off x="7516368" y="1783080"/>
            <a:ext cx="4014216"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827CEB9F-EB16-4C09-8A66-2A14D80B25CC}"/>
              </a:ext>
            </a:extLst>
          </p:cNvPr>
          <p:cNvSpPr>
            <a:spLocks noGrp="1"/>
          </p:cNvSpPr>
          <p:nvPr/>
        </p:nvSpPr>
        <p:spPr>
          <a:xfrm>
            <a:off x="7516368" y="2834640"/>
            <a:ext cx="4014216"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3555E02E-96A2-4E36-86F9-2D9B0216C4CE}"/>
              </a:ext>
            </a:extLst>
          </p:cNvPr>
          <p:cNvSpPr>
            <a:spLocks noGrp="1"/>
          </p:cNvSpPr>
          <p:nvPr/>
        </p:nvSpPr>
        <p:spPr>
          <a:xfrm>
            <a:off x="698373" y="2090928"/>
            <a:ext cx="6649974" cy="2631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merge_sort(arr):</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len(arr) &lt;=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arr</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 len(arr)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left_group  = merge_sort(arr[:mid])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right_group = merge_sort(arr[mid:])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merge(left_group, right_group)</a:t>
            </a:r>
          </a:p>
        </p:txBody>
      </p:sp>
      <p:sp>
        <p:nvSpPr>
          <p:cNvPr id="38" name="직사각형 37">
            <a:extLst>
              <a:ext uri="{FF2B5EF4-FFF2-40B4-BE49-F238E27FC236}">
                <a16:creationId xmlns:a16="http://schemas.microsoft.com/office/drawing/2014/main" id="{67E7D732-B503-4210-B486-B5B1B65D105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4.2  합병 정렬</a:t>
            </a:r>
          </a:p>
        </p:txBody>
      </p:sp>
      <p:sp>
        <p:nvSpPr>
          <p:cNvPr id="39" name="직사각형 38">
            <a:extLst>
              <a:ext uri="{FF2B5EF4-FFF2-40B4-BE49-F238E27FC236}">
                <a16:creationId xmlns:a16="http://schemas.microsoft.com/office/drawing/2014/main" id="{B5ACE9F1-39E0-4EC6-B49A-B867AF42C32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0" name="직사각형 39">
            <a:extLst>
              <a:ext uri="{FF2B5EF4-FFF2-40B4-BE49-F238E27FC236}">
                <a16:creationId xmlns:a16="http://schemas.microsoft.com/office/drawing/2014/main" id="{C9E398FA-2A54-43C3-9454-1F2522ACAD5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합병 정렬 코드 — 분할부</a:t>
            </a:r>
          </a:p>
        </p:txBody>
      </p:sp>
      <p:sp>
        <p:nvSpPr>
          <p:cNvPr id="41" name="직사각형 40">
            <a:extLst>
              <a:ext uri="{FF2B5EF4-FFF2-40B4-BE49-F238E27FC236}">
                <a16:creationId xmlns:a16="http://schemas.microsoft.com/office/drawing/2014/main" id="{70EA1CD1-9CF1-4A62-9958-688DA3A295D5}"/>
              </a:ext>
            </a:extLst>
          </p:cNvPr>
          <p:cNvSpPr>
            <a:spLocks noGrp="1"/>
          </p:cNvSpPr>
          <p:nvPr/>
        </p:nvSpPr>
        <p:spPr>
          <a:xfrm>
            <a:off x="609600" y="1381125"/>
            <a:ext cx="10972800" cy="19050"/>
          </a:xfrm>
          <a:prstGeom prst="rect">
            <a:avLst/>
          </a:prstGeom>
          <a:solidFill>
            <a:srgbClr val="171717"/>
          </a:solidFill>
          <a:ln w="0">
            <a:noFill/>
          </a:ln>
        </p:spPr>
      </p:sp>
      <p:sp>
        <p:nvSpPr>
          <p:cNvPr id="42" name="직사각형 41">
            <a:extLst>
              <a:ext uri="{FF2B5EF4-FFF2-40B4-BE49-F238E27FC236}">
                <a16:creationId xmlns:a16="http://schemas.microsoft.com/office/drawing/2014/main" id="{7F99B0E7-037E-464B-99B0-1FC161B230B7}"/>
              </a:ext>
            </a:extLst>
          </p:cNvPr>
          <p:cNvSpPr>
            <a:spLocks noGrp="1"/>
          </p:cNvSpPr>
          <p:nvPr/>
        </p:nvSpPr>
        <p:spPr>
          <a:xfrm>
            <a:off x="609600" y="6438900"/>
            <a:ext cx="10972800"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71B0A792-A0CC-4C43-A28A-EA3ECB44E37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A4786574-E630-48D4-8F6E-59A28944160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116926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DC31001-3CCF-43B3-9D92-9F79CFFE1296}"/>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merge.py</a:t>
            </a:r>
            <a:endParaRPr sz="900"/>
          </a:p>
        </p:txBody>
      </p:sp>
      <p:sp>
        <p:nvSpPr>
          <p:cNvPr id="20" name="Text 17">
            <a:extLst>
              <a:ext uri="{FF2B5EF4-FFF2-40B4-BE49-F238E27FC236}">
                <a16:creationId xmlns:a16="http://schemas.microsoft.com/office/drawing/2014/main" id="{BF1C5D9A-6776-4945-B627-E88AD8F31CAB}"/>
              </a:ext>
            </a:extLst>
          </p:cNvPr>
          <p:cNvSpPr>
            <a:spLocks noGrp="1"/>
          </p:cNvSpPr>
          <p:nvPr/>
        </p:nvSpPr>
        <p:spPr>
          <a:xfrm>
            <a:off x="7946136" y="1801368"/>
            <a:ext cx="34198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test.py</a:t>
            </a:r>
            <a:endParaRPr sz="900"/>
          </a:p>
        </p:txBody>
      </p:sp>
      <p:sp>
        <p:nvSpPr>
          <p:cNvPr id="23" name="Text 20">
            <a:extLst>
              <a:ext uri="{FF2B5EF4-FFF2-40B4-BE49-F238E27FC236}">
                <a16:creationId xmlns:a16="http://schemas.microsoft.com/office/drawing/2014/main" id="{4177E9CA-5290-47A9-9E3B-9B6E20B1FB22}"/>
              </a:ext>
            </a:extLst>
          </p:cNvPr>
          <p:cNvSpPr>
            <a:spLocks noGrp="1"/>
          </p:cNvSpPr>
          <p:nvPr/>
        </p:nvSpPr>
        <p:spPr>
          <a:xfrm>
            <a:off x="7927848" y="3639312"/>
            <a:ext cx="3419856"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C46B7831-75CC-4E09-9393-0D2A2BF3C55F}"/>
              </a:ext>
            </a:extLst>
          </p:cNvPr>
          <p:cNvSpPr>
            <a:spLocks noGrp="1"/>
          </p:cNvSpPr>
          <p:nvPr/>
        </p:nvSpPr>
        <p:spPr>
          <a:xfrm>
            <a:off x="7927848" y="3968496"/>
            <a:ext cx="3419856" cy="822960"/>
          </a:xfrm>
          <a:prstGeom prst="rect">
            <a:avLst/>
          </a:prstGeom>
          <a:noFill/>
          <a:ln w="0">
            <a:noFill/>
          </a:ln>
        </p:spPr>
        <p:txBody>
          <a:bodyPr wrap="square" lIns="0" tIns="0" rIns="0" bIns="0" anchor="t">
            <a:noAutofit/>
          </a:bodyPr>
          <a:lstStyle/>
          <a:p>
            <a:pPr marL="0" indent="0" algn="l">
              <a:lnSpc>
                <a:spcPct val="135000"/>
              </a:lnSpc>
              <a:buNone/>
              <a:defRPr sz="1050" i="0">
                <a:solidFill>
                  <a:srgbClr val="606060"/>
                </a:solidFill>
                <a:latin typeface="Consolas"/>
                <a:ea typeface="Consolas"/>
                <a:cs typeface="Consolas"/>
              </a:defRPr>
            </a:pPr>
            <a:r>
              <a:rPr sz="1050" i="0">
                <a:solidFill>
                  <a:srgbClr val="606060"/>
                </a:solidFill>
                <a:latin typeface="Consolas"/>
                <a:ea typeface="Consolas"/>
                <a:cs typeface="Consolas"/>
              </a:rPr>
              <a:t>정렬 전: [7, 3, 5, 2, 8, 1, 4, 6]</a:t>
            </a:r>
            <a:endParaRPr sz="1050"/>
          </a:p>
          <a:p>
            <a:pPr marL="0" indent="0" algn="l">
              <a:lnSpc>
                <a:spcPct val="135000"/>
              </a:lnSpc>
              <a:buNone/>
              <a:defRPr sz="1050" i="0">
                <a:solidFill>
                  <a:srgbClr val="606060"/>
                </a:solidFill>
                <a:latin typeface="Consolas"/>
                <a:ea typeface="Consolas"/>
                <a:cs typeface="Consolas"/>
              </a:defRPr>
            </a:pPr>
            <a:r>
              <a:rPr sz="1050" i="0">
                <a:solidFill>
                  <a:srgbClr val="606060"/>
                </a:solidFill>
                <a:latin typeface="Consolas"/>
                <a:ea typeface="Consolas"/>
                <a:cs typeface="Consolas"/>
              </a:rPr>
              <a:t>정렬 후: [1, 2, 3, 4, 5, 6, 7, 8]</a:t>
            </a:r>
            <a:endParaRPr sz="1050"/>
          </a:p>
        </p:txBody>
      </p:sp>
      <p:sp>
        <p:nvSpPr>
          <p:cNvPr id="28" name="Text 24">
            <a:extLst>
              <a:ext uri="{FF2B5EF4-FFF2-40B4-BE49-F238E27FC236}">
                <a16:creationId xmlns:a16="http://schemas.microsoft.com/office/drawing/2014/main" id="{4B0F1312-32E9-43DF-8CA4-F7F0A0D48C5A}"/>
              </a:ext>
            </a:extLst>
          </p:cNvPr>
          <p:cNvSpPr>
            <a:spLocks noGrp="1"/>
          </p:cNvSpPr>
          <p:nvPr/>
        </p:nvSpPr>
        <p:spPr>
          <a:xfrm>
            <a:off x="8604504" y="5266944"/>
            <a:ext cx="2670048" cy="329184"/>
          </a:xfrm>
          <a:prstGeom prst="rect">
            <a:avLst/>
          </a:prstGeom>
          <a:noFill/>
          <a:ln w="0">
            <a:noFill/>
          </a:ln>
        </p:spPr>
        <p:txBody>
          <a:bodyPr wrap="square" lIns="0" tIns="0" rIns="0" bIns="0" anchor="ctr">
            <a:noAutofit/>
          </a:bodyPr>
          <a:lstStyle/>
          <a:p>
            <a:pPr marL="0" indent="0" algn="l">
              <a:lnSpc>
                <a:spcPct val="134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병합 한 번의 비용은 두 조각의 길이 합 — 즉 O(n)이다.</a:t>
            </a:r>
            <a:endParaRPr sz="1100"/>
          </a:p>
        </p:txBody>
      </p:sp>
      <p:sp>
        <p:nvSpPr>
          <p:cNvPr id="29" name="직사각형 28">
            <a:extLst>
              <a:ext uri="{FF2B5EF4-FFF2-40B4-BE49-F238E27FC236}">
                <a16:creationId xmlns:a16="http://schemas.microsoft.com/office/drawing/2014/main" id="{A6E3FE4B-028B-4298-9DB1-0261778186E2}"/>
              </a:ext>
            </a:extLst>
          </p:cNvPr>
          <p:cNvSpPr>
            <a:spLocks noGrp="1"/>
          </p:cNvSpPr>
          <p:nvPr/>
        </p:nvSpPr>
        <p:spPr>
          <a:xfrm>
            <a:off x="698373" y="2090928"/>
            <a:ext cx="6878574" cy="3637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def merge(left, right):</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result = []</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 = 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j = 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while i &lt; len(left) and j &lt; len(right):</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left[i] &lt;= right[j]:</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result.append(left[i])</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 += 1</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else:</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result.append(right[j])</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j += 1</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result.extend(left[i:])</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result.extend(right[j:])</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9461A8A2-7119-4BAA-BE95-45FC2813F281}"/>
              </a:ext>
            </a:extLst>
          </p:cNvPr>
          <p:cNvSpPr>
            <a:spLocks noGrp="1"/>
          </p:cNvSpPr>
          <p:nvPr/>
        </p:nvSpPr>
        <p:spPr>
          <a:xfrm>
            <a:off x="7784973" y="2090928"/>
            <a:ext cx="3760470" cy="1232916"/>
          </a:xfrm>
          <a:prstGeom prst="rect">
            <a:avLst/>
          </a:prstGeom>
          <a:solidFill>
            <a:srgbClr val="171717"/>
          </a:solidFill>
          <a:ln w="0">
            <a:noFill/>
          </a:ln>
        </p:spPr>
        <p:txBody>
          <a:bodyPr wrap="none" lIns="142875" tIns="76200" rIns="142875" bIns="76200" anchor="t">
            <a:noAutofit/>
          </a:bodyPr>
          <a:lstStyle/>
          <a:p>
            <a:pPr algn="l">
              <a:lnSpc>
                <a:spcPct val="103000"/>
              </a:lnSpc>
              <a:buNone/>
              <a:defRPr sz="1200" b="0" i="0">
                <a:solidFill>
                  <a:srgbClr val="FFFFFF"/>
                </a:solidFill>
                <a:latin typeface="Consolas"/>
                <a:ea typeface="Consolas"/>
                <a:cs typeface="Consolas"/>
              </a:defRPr>
            </a:pPr>
            <a:r>
              <a:rPr sz="1200" b="0" i="0">
                <a:solidFill>
                  <a:srgbClr val="FFFFFF"/>
                </a:solidFill>
                <a:latin typeface="Consolas"/>
                <a:ea typeface="Consolas"/>
                <a:cs typeface="Consolas"/>
              </a:rPr>
              <a:t>test_arr = [7, 3, 5, 2, 8, 1, 4, 6]</a:t>
            </a:r>
          </a:p>
          <a:p>
            <a:pPr algn="l">
              <a:lnSpc>
                <a:spcPct val="103000"/>
              </a:lnSpc>
              <a:buNone/>
              <a:defRPr sz="1200" b="0" i="0">
                <a:solidFill>
                  <a:srgbClr val="FFFFFF"/>
                </a:solidFill>
                <a:latin typeface="Consolas"/>
                <a:ea typeface="Consolas"/>
                <a:cs typeface="Consolas"/>
              </a:defRPr>
            </a:pPr>
            <a:r>
              <a:rPr sz="1200" b="0" i="0">
                <a:solidFill>
                  <a:srgbClr val="FFFFFF"/>
                </a:solidFill>
                <a:latin typeface="Consolas"/>
                <a:ea typeface="Consolas"/>
                <a:cs typeface="Consolas"/>
              </a:rPr>
              <a:t>print("정렬 전:", test_arr)</a:t>
            </a:r>
          </a:p>
          <a:p>
            <a:pPr algn="l">
              <a:lnSpc>
                <a:spcPct val="103000"/>
              </a:lnSpc>
              <a:buNone/>
              <a:defRPr sz="1200" b="0" i="0">
                <a:solidFill>
                  <a:srgbClr val="FFFFFF"/>
                </a:solidFill>
                <a:latin typeface="Consolas"/>
                <a:ea typeface="Consolas"/>
                <a:cs typeface="Consolas"/>
              </a:defRPr>
            </a:pPr>
            <a:r>
              <a:rPr sz="1200" b="0" i="0">
                <a:solidFill>
                  <a:srgbClr val="FFFFFF"/>
                </a:solidFill>
                <a:latin typeface="Consolas"/>
                <a:ea typeface="Consolas"/>
                <a:cs typeface="Consolas"/>
              </a:rPr>
              <a:t>sorted_arr = merge_sort(test_arr)</a:t>
            </a:r>
          </a:p>
          <a:p>
            <a:pPr algn="l">
              <a:lnSpc>
                <a:spcPct val="103000"/>
              </a:lnSpc>
              <a:buNone/>
              <a:defRPr sz="1200" b="0" i="0">
                <a:solidFill>
                  <a:srgbClr val="FFFFFF"/>
                </a:solidFill>
                <a:latin typeface="Consolas"/>
                <a:ea typeface="Consolas"/>
                <a:cs typeface="Consolas"/>
              </a:defRPr>
            </a:pPr>
            <a:r>
              <a:rPr sz="1200" b="0" i="0">
                <a:solidFill>
                  <a:srgbClr val="FFFFFF"/>
                </a:solidFill>
                <a:latin typeface="Consolas"/>
                <a:ea typeface="Consolas"/>
                <a:cs typeface="Consolas"/>
              </a:rPr>
              <a:t>print("정렬 후:", sorted_arr)</a:t>
            </a:r>
          </a:p>
        </p:txBody>
      </p:sp>
      <p:sp>
        <p:nvSpPr>
          <p:cNvPr id="31" name="직사각형 30">
            <a:extLst>
              <a:ext uri="{FF2B5EF4-FFF2-40B4-BE49-F238E27FC236}">
                <a16:creationId xmlns:a16="http://schemas.microsoft.com/office/drawing/2014/main" id="{8BE83558-DCD3-4E59-B096-4D4437133F5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4.2  합병 정렬</a:t>
            </a:r>
          </a:p>
        </p:txBody>
      </p:sp>
      <p:sp>
        <p:nvSpPr>
          <p:cNvPr id="32" name="직사각형 31">
            <a:extLst>
              <a:ext uri="{FF2B5EF4-FFF2-40B4-BE49-F238E27FC236}">
                <a16:creationId xmlns:a16="http://schemas.microsoft.com/office/drawing/2014/main" id="{1894F722-977B-4504-B3FD-01AA4F23D43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4973231B-A5F4-44A8-8154-5054D4B307F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합병 정렬 코드 — 병합부</a:t>
            </a:r>
          </a:p>
        </p:txBody>
      </p:sp>
      <p:sp>
        <p:nvSpPr>
          <p:cNvPr id="34" name="직사각형 33">
            <a:extLst>
              <a:ext uri="{FF2B5EF4-FFF2-40B4-BE49-F238E27FC236}">
                <a16:creationId xmlns:a16="http://schemas.microsoft.com/office/drawing/2014/main" id="{AB959AAB-003A-4277-A86D-181496A5E418}"/>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D0DA19D2-2525-4F1C-ADED-2FBD0EFE8AE4}"/>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9411C48-054A-4393-B8D6-067E0AD4AED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71490D14-80F3-413F-8B1B-3E3502931F6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104045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B48513A-B40E-4DD7-B9C0-15E1A340E77D}"/>
              </a:ext>
            </a:extLst>
          </p:cNvPr>
          <p:cNvSpPr>
            <a:spLocks noGrp="1"/>
          </p:cNvSpPr>
          <p:nvPr/>
        </p:nvSpPr>
        <p:spPr>
          <a:xfrm>
            <a:off x="658368" y="1737360"/>
            <a:ext cx="10872216" cy="65836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합병 정렬에는 퀵 정렬 같은 다른 빠른 정렬이 갖지 못한 장점이 있다. 바로 안정 정렬(stable sort)이라는 점이다. 안정 정렬이란 "값이 같은 원소가 있을 때, 정렬 전의 순서가 정렬 후에도 유지되는 것"을 의미한다.</a:t>
            </a:r>
            <a:endParaRPr sz="1320"/>
          </a:p>
        </p:txBody>
      </p:sp>
      <p:sp>
        <p:nvSpPr>
          <p:cNvPr id="8" name="Text 5">
            <a:extLst>
              <a:ext uri="{FF2B5EF4-FFF2-40B4-BE49-F238E27FC236}">
                <a16:creationId xmlns:a16="http://schemas.microsoft.com/office/drawing/2014/main" id="{6C247D01-8E25-4CDB-83C7-03CB37DE9892}"/>
              </a:ext>
            </a:extLst>
          </p:cNvPr>
          <p:cNvSpPr>
            <a:spLocks noGrp="1"/>
          </p:cNvSpPr>
          <p:nvPr/>
        </p:nvSpPr>
        <p:spPr>
          <a:xfrm>
            <a:off x="914400" y="2724912"/>
            <a:ext cx="4389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정렬 전 명단</a:t>
            </a:r>
            <a:endParaRPr sz="1250"/>
          </a:p>
        </p:txBody>
      </p:sp>
      <p:sp>
        <p:nvSpPr>
          <p:cNvPr id="10" name="Shape 7">
            <a:extLst>
              <a:ext uri="{FF2B5EF4-FFF2-40B4-BE49-F238E27FC236}">
                <a16:creationId xmlns:a16="http://schemas.microsoft.com/office/drawing/2014/main" id="{BAD74625-499F-4B83-8B9D-0286F0104F70}"/>
              </a:ext>
            </a:extLst>
          </p:cNvPr>
          <p:cNvSpPr>
            <a:spLocks noGrp="1"/>
          </p:cNvSpPr>
          <p:nvPr/>
        </p:nvSpPr>
        <p:spPr>
          <a:xfrm>
            <a:off x="1042416" y="3209544"/>
            <a:ext cx="713232" cy="329184"/>
          </a:xfrm>
          <a:prstGeom prst="roundRect">
            <a:avLst>
              <a:gd name="adj" fmla="val 22222"/>
            </a:avLst>
          </a:prstGeom>
          <a:solidFill>
            <a:srgbClr val="E9E9E9"/>
          </a:solidFill>
          <a:ln w="5715">
            <a:solidFill>
              <a:srgbClr val="D4D4D4"/>
            </a:solidFill>
          </a:ln>
        </p:spPr>
      </p:sp>
      <p:sp>
        <p:nvSpPr>
          <p:cNvPr id="11" name="Text 8">
            <a:extLst>
              <a:ext uri="{FF2B5EF4-FFF2-40B4-BE49-F238E27FC236}">
                <a16:creationId xmlns:a16="http://schemas.microsoft.com/office/drawing/2014/main" id="{9F387866-0B71-4FAB-8AE2-0809B235E6ED}"/>
              </a:ext>
            </a:extLst>
          </p:cNvPr>
          <p:cNvSpPr>
            <a:spLocks noGrp="1"/>
          </p:cNvSpPr>
          <p:nvPr/>
        </p:nvSpPr>
        <p:spPr>
          <a:xfrm>
            <a:off x="1042416" y="3209544"/>
            <a:ext cx="713232" cy="329184"/>
          </a:xfrm>
          <a:prstGeom prst="rect">
            <a:avLst/>
          </a:prstGeom>
          <a:noFill/>
          <a:ln w="0">
            <a:noFill/>
          </a:ln>
        </p:spPr>
        <p:txBody>
          <a:bodyPr wrap="square" lIns="0" tIns="0" rIns="0" bIns="0" anchor="ctr">
            <a:noAutofit/>
          </a:bodyPr>
          <a:lstStyle/>
          <a:p>
            <a:pPr marL="0" indent="0" algn="ctr">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90점</a:t>
            </a:r>
            <a:endParaRPr sz="1050"/>
          </a:p>
        </p:txBody>
      </p:sp>
      <p:sp>
        <p:nvSpPr>
          <p:cNvPr id="12" name="Text 9">
            <a:extLst>
              <a:ext uri="{FF2B5EF4-FFF2-40B4-BE49-F238E27FC236}">
                <a16:creationId xmlns:a16="http://schemas.microsoft.com/office/drawing/2014/main" id="{0F5F9B96-8BBF-422D-85D9-25C6937269C6}"/>
              </a:ext>
            </a:extLst>
          </p:cNvPr>
          <p:cNvSpPr>
            <a:spLocks noGrp="1"/>
          </p:cNvSpPr>
          <p:nvPr/>
        </p:nvSpPr>
        <p:spPr>
          <a:xfrm>
            <a:off x="1883664" y="3127248"/>
            <a:ext cx="3200400" cy="493776"/>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학생 A: 김철수</a:t>
            </a:r>
            <a:endParaRPr sz="1250"/>
          </a:p>
        </p:txBody>
      </p:sp>
      <p:sp>
        <p:nvSpPr>
          <p:cNvPr id="14" name="Shape 11">
            <a:extLst>
              <a:ext uri="{FF2B5EF4-FFF2-40B4-BE49-F238E27FC236}">
                <a16:creationId xmlns:a16="http://schemas.microsoft.com/office/drawing/2014/main" id="{3B6FBE64-A40E-450C-8577-FAA4E20B114D}"/>
              </a:ext>
            </a:extLst>
          </p:cNvPr>
          <p:cNvSpPr>
            <a:spLocks noGrp="1"/>
          </p:cNvSpPr>
          <p:nvPr/>
        </p:nvSpPr>
        <p:spPr>
          <a:xfrm>
            <a:off x="1042416" y="3813048"/>
            <a:ext cx="713232" cy="329184"/>
          </a:xfrm>
          <a:prstGeom prst="roundRect">
            <a:avLst>
              <a:gd name="adj" fmla="val 22222"/>
            </a:avLst>
          </a:prstGeom>
          <a:solidFill>
            <a:srgbClr val="E9E9E9"/>
          </a:solidFill>
          <a:ln w="5715">
            <a:solidFill>
              <a:srgbClr val="D4D4D4"/>
            </a:solidFill>
          </a:ln>
        </p:spPr>
      </p:sp>
      <p:sp>
        <p:nvSpPr>
          <p:cNvPr id="15" name="Text 12">
            <a:extLst>
              <a:ext uri="{FF2B5EF4-FFF2-40B4-BE49-F238E27FC236}">
                <a16:creationId xmlns:a16="http://schemas.microsoft.com/office/drawing/2014/main" id="{DDBE23B8-02AD-436F-BCC8-D394ACFDA30C}"/>
              </a:ext>
            </a:extLst>
          </p:cNvPr>
          <p:cNvSpPr>
            <a:spLocks noGrp="1"/>
          </p:cNvSpPr>
          <p:nvPr/>
        </p:nvSpPr>
        <p:spPr>
          <a:xfrm>
            <a:off x="1042416" y="3813048"/>
            <a:ext cx="713232" cy="329184"/>
          </a:xfrm>
          <a:prstGeom prst="rect">
            <a:avLst/>
          </a:prstGeom>
          <a:noFill/>
          <a:ln w="0">
            <a:noFill/>
          </a:ln>
        </p:spPr>
        <p:txBody>
          <a:bodyPr wrap="square" lIns="0" tIns="0" rIns="0" bIns="0" anchor="ctr">
            <a:noAutofit/>
          </a:bodyPr>
          <a:lstStyle/>
          <a:p>
            <a:pPr marL="0" indent="0" algn="ctr">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90점</a:t>
            </a:r>
            <a:endParaRPr sz="1050"/>
          </a:p>
        </p:txBody>
      </p:sp>
      <p:sp>
        <p:nvSpPr>
          <p:cNvPr id="16" name="Text 13">
            <a:extLst>
              <a:ext uri="{FF2B5EF4-FFF2-40B4-BE49-F238E27FC236}">
                <a16:creationId xmlns:a16="http://schemas.microsoft.com/office/drawing/2014/main" id="{5A6A1D57-A32C-49D0-9B90-5DCCC883C138}"/>
              </a:ext>
            </a:extLst>
          </p:cNvPr>
          <p:cNvSpPr>
            <a:spLocks noGrp="1"/>
          </p:cNvSpPr>
          <p:nvPr/>
        </p:nvSpPr>
        <p:spPr>
          <a:xfrm>
            <a:off x="1883664" y="3730752"/>
            <a:ext cx="3200400" cy="493776"/>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학생 B: 이영희</a:t>
            </a:r>
            <a:endParaRPr sz="1250"/>
          </a:p>
        </p:txBody>
      </p:sp>
      <p:sp>
        <p:nvSpPr>
          <p:cNvPr id="18" name="Text 15">
            <a:extLst>
              <a:ext uri="{FF2B5EF4-FFF2-40B4-BE49-F238E27FC236}">
                <a16:creationId xmlns:a16="http://schemas.microsoft.com/office/drawing/2014/main" id="{D70DEAB8-E8B1-4AA0-A002-2249D2CADD0B}"/>
              </a:ext>
            </a:extLst>
          </p:cNvPr>
          <p:cNvSpPr>
            <a:spLocks noGrp="1"/>
          </p:cNvSpPr>
          <p:nvPr/>
        </p:nvSpPr>
        <p:spPr>
          <a:xfrm>
            <a:off x="6894576" y="2724912"/>
            <a:ext cx="4389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정렬 후 명단</a:t>
            </a:r>
            <a:endParaRPr sz="1250"/>
          </a:p>
        </p:txBody>
      </p:sp>
      <p:sp>
        <p:nvSpPr>
          <p:cNvPr id="20" name="Shape 17">
            <a:extLst>
              <a:ext uri="{FF2B5EF4-FFF2-40B4-BE49-F238E27FC236}">
                <a16:creationId xmlns:a16="http://schemas.microsoft.com/office/drawing/2014/main" id="{C4BBC730-C996-4D22-8F82-7127E73C08A0}"/>
              </a:ext>
            </a:extLst>
          </p:cNvPr>
          <p:cNvSpPr>
            <a:spLocks noGrp="1"/>
          </p:cNvSpPr>
          <p:nvPr/>
        </p:nvSpPr>
        <p:spPr>
          <a:xfrm>
            <a:off x="7022592" y="3209544"/>
            <a:ext cx="713232" cy="329184"/>
          </a:xfrm>
          <a:prstGeom prst="roundRect">
            <a:avLst>
              <a:gd name="adj" fmla="val 22222"/>
            </a:avLst>
          </a:prstGeom>
          <a:solidFill>
            <a:srgbClr val="E9E9E9"/>
          </a:solidFill>
          <a:ln w="5715">
            <a:solidFill>
              <a:srgbClr val="D4D4D4"/>
            </a:solidFill>
          </a:ln>
        </p:spPr>
      </p:sp>
      <p:sp>
        <p:nvSpPr>
          <p:cNvPr id="21" name="Text 18">
            <a:extLst>
              <a:ext uri="{FF2B5EF4-FFF2-40B4-BE49-F238E27FC236}">
                <a16:creationId xmlns:a16="http://schemas.microsoft.com/office/drawing/2014/main" id="{041019C6-BFA1-4DC1-9377-7F132203FC0A}"/>
              </a:ext>
            </a:extLst>
          </p:cNvPr>
          <p:cNvSpPr>
            <a:spLocks noGrp="1"/>
          </p:cNvSpPr>
          <p:nvPr/>
        </p:nvSpPr>
        <p:spPr>
          <a:xfrm>
            <a:off x="7022592" y="3209544"/>
            <a:ext cx="713232" cy="329184"/>
          </a:xfrm>
          <a:prstGeom prst="rect">
            <a:avLst/>
          </a:prstGeom>
          <a:noFill/>
          <a:ln w="0">
            <a:noFill/>
          </a:ln>
        </p:spPr>
        <p:txBody>
          <a:bodyPr wrap="square" lIns="0" tIns="0" rIns="0" bIns="0" anchor="ctr">
            <a:noAutofit/>
          </a:bodyPr>
          <a:lstStyle/>
          <a:p>
            <a:pPr marL="0" indent="0" algn="ctr">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90점</a:t>
            </a:r>
            <a:endParaRPr sz="1050"/>
          </a:p>
        </p:txBody>
      </p:sp>
      <p:sp>
        <p:nvSpPr>
          <p:cNvPr id="22" name="Text 19">
            <a:extLst>
              <a:ext uri="{FF2B5EF4-FFF2-40B4-BE49-F238E27FC236}">
                <a16:creationId xmlns:a16="http://schemas.microsoft.com/office/drawing/2014/main" id="{BC0D7164-36F2-4E6E-A8E8-2F041B6525B4}"/>
              </a:ext>
            </a:extLst>
          </p:cNvPr>
          <p:cNvSpPr>
            <a:spLocks noGrp="1"/>
          </p:cNvSpPr>
          <p:nvPr/>
        </p:nvSpPr>
        <p:spPr>
          <a:xfrm>
            <a:off x="7863840" y="3127248"/>
            <a:ext cx="3200400" cy="493776"/>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학생 A: 김철수</a:t>
            </a:r>
            <a:endParaRPr sz="1250"/>
          </a:p>
        </p:txBody>
      </p:sp>
      <p:sp>
        <p:nvSpPr>
          <p:cNvPr id="24" name="Shape 21">
            <a:extLst>
              <a:ext uri="{FF2B5EF4-FFF2-40B4-BE49-F238E27FC236}">
                <a16:creationId xmlns:a16="http://schemas.microsoft.com/office/drawing/2014/main" id="{093CBD09-00A2-489B-9DBC-BDED3CA5335A}"/>
              </a:ext>
            </a:extLst>
          </p:cNvPr>
          <p:cNvSpPr>
            <a:spLocks noGrp="1"/>
          </p:cNvSpPr>
          <p:nvPr/>
        </p:nvSpPr>
        <p:spPr>
          <a:xfrm>
            <a:off x="7022592" y="3813048"/>
            <a:ext cx="713232" cy="329184"/>
          </a:xfrm>
          <a:prstGeom prst="roundRect">
            <a:avLst>
              <a:gd name="adj" fmla="val 22222"/>
            </a:avLst>
          </a:prstGeom>
          <a:solidFill>
            <a:srgbClr val="E9E9E9"/>
          </a:solidFill>
          <a:ln w="5715">
            <a:solidFill>
              <a:srgbClr val="D4D4D4"/>
            </a:solidFill>
          </a:ln>
        </p:spPr>
      </p:sp>
      <p:sp>
        <p:nvSpPr>
          <p:cNvPr id="25" name="Text 22">
            <a:extLst>
              <a:ext uri="{FF2B5EF4-FFF2-40B4-BE49-F238E27FC236}">
                <a16:creationId xmlns:a16="http://schemas.microsoft.com/office/drawing/2014/main" id="{AF91732B-90C2-487A-970E-C44228A2BD73}"/>
              </a:ext>
            </a:extLst>
          </p:cNvPr>
          <p:cNvSpPr>
            <a:spLocks noGrp="1"/>
          </p:cNvSpPr>
          <p:nvPr/>
        </p:nvSpPr>
        <p:spPr>
          <a:xfrm>
            <a:off x="7022592" y="3813048"/>
            <a:ext cx="713232" cy="329184"/>
          </a:xfrm>
          <a:prstGeom prst="rect">
            <a:avLst/>
          </a:prstGeom>
          <a:noFill/>
          <a:ln w="0">
            <a:noFill/>
          </a:ln>
        </p:spPr>
        <p:txBody>
          <a:bodyPr wrap="square" lIns="0" tIns="0" rIns="0" bIns="0" anchor="ctr">
            <a:noAutofit/>
          </a:bodyPr>
          <a:lstStyle/>
          <a:p>
            <a:pPr marL="0" indent="0" algn="ctr">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90점</a:t>
            </a:r>
            <a:endParaRPr sz="1050"/>
          </a:p>
        </p:txBody>
      </p:sp>
      <p:sp>
        <p:nvSpPr>
          <p:cNvPr id="26" name="Text 23">
            <a:extLst>
              <a:ext uri="{FF2B5EF4-FFF2-40B4-BE49-F238E27FC236}">
                <a16:creationId xmlns:a16="http://schemas.microsoft.com/office/drawing/2014/main" id="{45754B57-1090-4098-B632-4E84E6BCF4AB}"/>
              </a:ext>
            </a:extLst>
          </p:cNvPr>
          <p:cNvSpPr>
            <a:spLocks noGrp="1"/>
          </p:cNvSpPr>
          <p:nvPr/>
        </p:nvSpPr>
        <p:spPr>
          <a:xfrm>
            <a:off x="7863840" y="3730752"/>
            <a:ext cx="3200400" cy="493776"/>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학생 B: 이영희</a:t>
            </a:r>
            <a:endParaRPr sz="1250"/>
          </a:p>
        </p:txBody>
      </p:sp>
      <p:sp>
        <p:nvSpPr>
          <p:cNvPr id="27" name="Shape 24">
            <a:extLst>
              <a:ext uri="{FF2B5EF4-FFF2-40B4-BE49-F238E27FC236}">
                <a16:creationId xmlns:a16="http://schemas.microsoft.com/office/drawing/2014/main" id="{5D39593D-1D18-433E-9489-6F6A5DB067EA}"/>
              </a:ext>
            </a:extLst>
          </p:cNvPr>
          <p:cNvSpPr>
            <a:spLocks noGrp="1"/>
          </p:cNvSpPr>
          <p:nvPr/>
        </p:nvSpPr>
        <p:spPr>
          <a:xfrm>
            <a:off x="5705856" y="3493008"/>
            <a:ext cx="658368" cy="365760"/>
          </a:xfrm>
          <a:prstGeom prst="rightArrow">
            <a:avLst/>
          </a:prstGeom>
          <a:solidFill>
            <a:srgbClr val="E9E9E9"/>
          </a:solidFill>
          <a:ln w="5715">
            <a:solidFill>
              <a:srgbClr val="D4D4D4"/>
            </a:solidFill>
          </a:ln>
        </p:spPr>
      </p:sp>
      <p:sp>
        <p:nvSpPr>
          <p:cNvPr id="31" name="Text 27">
            <a:extLst>
              <a:ext uri="{FF2B5EF4-FFF2-40B4-BE49-F238E27FC236}">
                <a16:creationId xmlns:a16="http://schemas.microsoft.com/office/drawing/2014/main" id="{A97DD93B-B3EB-480B-8D4E-F7041219D416}"/>
              </a:ext>
            </a:extLst>
          </p:cNvPr>
          <p:cNvSpPr>
            <a:spLocks noGrp="1"/>
          </p:cNvSpPr>
          <p:nvPr/>
        </p:nvSpPr>
        <p:spPr>
          <a:xfrm>
            <a:off x="1517904" y="5010912"/>
            <a:ext cx="9756648" cy="292608"/>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순서가 뒤바뀌지 않는다</a:t>
            </a:r>
            <a:endParaRPr sz="1350"/>
          </a:p>
        </p:txBody>
      </p:sp>
      <p:sp>
        <p:nvSpPr>
          <p:cNvPr id="32" name="Text 28">
            <a:extLst>
              <a:ext uri="{FF2B5EF4-FFF2-40B4-BE49-F238E27FC236}">
                <a16:creationId xmlns:a16="http://schemas.microsoft.com/office/drawing/2014/main" id="{5AF7A236-AE10-4A64-8E0B-EED3DA28C890}"/>
              </a:ext>
            </a:extLst>
          </p:cNvPr>
          <p:cNvSpPr>
            <a:spLocks noGrp="1"/>
          </p:cNvSpPr>
          <p:nvPr/>
        </p:nvSpPr>
        <p:spPr>
          <a:xfrm>
            <a:off x="1517904" y="5358384"/>
            <a:ext cx="9756648" cy="548640"/>
          </a:xfrm>
          <a:prstGeom prst="rect">
            <a:avLst/>
          </a:prstGeom>
          <a:noFill/>
          <a:ln w="0">
            <a:noFill/>
          </a:ln>
        </p:spPr>
        <p:txBody>
          <a:bodyPr wrap="square" lIns="0" tIns="0" rIns="0" bIns="0" anchor="t">
            <a:noAutofit/>
          </a:bodyPr>
          <a:lstStyle/>
          <a:p>
            <a:pPr marL="0" indent="0" algn="l">
              <a:lnSpc>
                <a:spcPct val="13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원래 명단에서 김철수가 이영희보다 앞에 있었다면, 합병 정렬 후에도 김철수는 여전히 앞에 위치한다. merge()에서 left[i] &lt;= right[j] 의 등호(=)가 이 성질을 보장한다.</a:t>
            </a:r>
            <a:endParaRPr sz="1250"/>
          </a:p>
        </p:txBody>
      </p:sp>
      <p:sp>
        <p:nvSpPr>
          <p:cNvPr id="34" name="직사각형 33">
            <a:extLst>
              <a:ext uri="{FF2B5EF4-FFF2-40B4-BE49-F238E27FC236}">
                <a16:creationId xmlns:a16="http://schemas.microsoft.com/office/drawing/2014/main" id="{C4B88740-D942-4EED-8571-88DA8699072C}"/>
              </a:ext>
            </a:extLst>
          </p:cNvPr>
          <p:cNvSpPr>
            <a:spLocks noGrp="1"/>
          </p:cNvSpPr>
          <p:nvPr/>
        </p:nvSpPr>
        <p:spPr>
          <a:xfrm>
            <a:off x="658368" y="2578608"/>
            <a:ext cx="489204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9F328483-BFA8-4D87-B527-9E2BABD3A6AD}"/>
              </a:ext>
            </a:extLst>
          </p:cNvPr>
          <p:cNvSpPr>
            <a:spLocks noGrp="1"/>
          </p:cNvSpPr>
          <p:nvPr/>
        </p:nvSpPr>
        <p:spPr>
          <a:xfrm>
            <a:off x="6638544" y="2578608"/>
            <a:ext cx="489204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75734C44-D7CA-40F1-9BE9-489A4260F137}"/>
              </a:ext>
            </a:extLst>
          </p:cNvPr>
          <p:cNvSpPr>
            <a:spLocks noGrp="1"/>
          </p:cNvSpPr>
          <p:nvPr/>
        </p:nvSpPr>
        <p:spPr>
          <a:xfrm>
            <a:off x="658368" y="4828032"/>
            <a:ext cx="10872216"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CDD58F08-AA22-4A1A-9419-39A70C28307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4.2  합병 정렬</a:t>
            </a:r>
          </a:p>
        </p:txBody>
      </p:sp>
      <p:sp>
        <p:nvSpPr>
          <p:cNvPr id="38" name="직사각형 37">
            <a:extLst>
              <a:ext uri="{FF2B5EF4-FFF2-40B4-BE49-F238E27FC236}">
                <a16:creationId xmlns:a16="http://schemas.microsoft.com/office/drawing/2014/main" id="{8C191436-DDCF-4D11-A3AA-3984C908E67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D1314CD2-BA4B-46F4-8E1C-A41FB0204B9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합병 정렬의 중요한 특성 — 안정 정렬</a:t>
            </a:r>
          </a:p>
        </p:txBody>
      </p:sp>
      <p:sp>
        <p:nvSpPr>
          <p:cNvPr id="40" name="직사각형 39">
            <a:extLst>
              <a:ext uri="{FF2B5EF4-FFF2-40B4-BE49-F238E27FC236}">
                <a16:creationId xmlns:a16="http://schemas.microsoft.com/office/drawing/2014/main" id="{F5B48A38-B4B2-4CFB-8AB8-34C178D388C3}"/>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264D7D9D-8ED9-4FCF-803F-310C261A7734}"/>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ED919384-A98B-4518-9F9D-5ECE63B788F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1AF88103-00A4-46F9-BC03-84568E15DA2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106884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AC708BED-C595-41CA-855A-3B9B1DD573B3}"/>
              </a:ext>
            </a:extLst>
          </p:cNvPr>
          <p:cNvSpPr>
            <a:spLocks noGrp="1"/>
          </p:cNvSpPr>
          <p:nvPr/>
        </p:nvSpPr>
        <p:spPr>
          <a:xfrm>
            <a:off x="7772400" y="1883664"/>
            <a:ext cx="3566160" cy="274320"/>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점화식</a:t>
            </a:r>
            <a:endParaRPr sz="1200"/>
          </a:p>
        </p:txBody>
      </p:sp>
      <p:sp>
        <p:nvSpPr>
          <p:cNvPr id="10" name="Text 6">
            <a:extLst>
              <a:ext uri="{FF2B5EF4-FFF2-40B4-BE49-F238E27FC236}">
                <a16:creationId xmlns:a16="http://schemas.microsoft.com/office/drawing/2014/main" id="{FBD188B9-703D-422C-999A-A8ACA60877E2}"/>
              </a:ext>
            </a:extLst>
          </p:cNvPr>
          <p:cNvSpPr>
            <a:spLocks noGrp="1"/>
          </p:cNvSpPr>
          <p:nvPr/>
        </p:nvSpPr>
        <p:spPr>
          <a:xfrm>
            <a:off x="7772400" y="2212848"/>
            <a:ext cx="3566160" cy="475488"/>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T(n) = 2T(n/2) + O(n)</a:t>
            </a:r>
            <a:endParaRPr sz="1700"/>
          </a:p>
        </p:txBody>
      </p:sp>
      <p:sp>
        <p:nvSpPr>
          <p:cNvPr id="11" name="Text 7">
            <a:extLst>
              <a:ext uri="{FF2B5EF4-FFF2-40B4-BE49-F238E27FC236}">
                <a16:creationId xmlns:a16="http://schemas.microsoft.com/office/drawing/2014/main" id="{E4CFBD7E-2028-4DDB-9EED-14012E5865EC}"/>
              </a:ext>
            </a:extLst>
          </p:cNvPr>
          <p:cNvSpPr>
            <a:spLocks noGrp="1"/>
          </p:cNvSpPr>
          <p:nvPr/>
        </p:nvSpPr>
        <p:spPr>
          <a:xfrm>
            <a:off x="7772400" y="2761488"/>
            <a:ext cx="3566160" cy="292608"/>
          </a:xfrm>
          <a:prstGeom prst="rect">
            <a:avLst/>
          </a:prstGeom>
          <a:noFill/>
          <a:ln w="0">
            <a:noFill/>
          </a:ln>
        </p:spPr>
        <p:txBody>
          <a:bodyPr wrap="square" lIns="0" tIns="0" rIns="0" bIns="0" anchor="ctr">
            <a:noAutofit/>
          </a:bodyPr>
          <a:lstStyle/>
          <a:p>
            <a:pPr marL="0" indent="0" algn="ctr">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분할 log₂n 단계 × 병합 O(n) 비용</a:t>
            </a:r>
            <a:endParaRPr sz="1100"/>
          </a:p>
        </p:txBody>
      </p:sp>
      <p:sp>
        <p:nvSpPr>
          <p:cNvPr id="12" name="Shape 8">
            <a:extLst>
              <a:ext uri="{FF2B5EF4-FFF2-40B4-BE49-F238E27FC236}">
                <a16:creationId xmlns:a16="http://schemas.microsoft.com/office/drawing/2014/main" id="{079508BB-BF9F-423D-ABD2-A772FA0D5056}"/>
              </a:ext>
            </a:extLst>
          </p:cNvPr>
          <p:cNvSpPr>
            <a:spLocks noGrp="1"/>
          </p:cNvSpPr>
          <p:nvPr/>
        </p:nvSpPr>
        <p:spPr>
          <a:xfrm>
            <a:off x="9363456" y="3127248"/>
            <a:ext cx="384048" cy="256032"/>
          </a:xfrm>
          <a:prstGeom prst="rightArrow">
            <a:avLst/>
          </a:prstGeom>
          <a:solidFill>
            <a:srgbClr val="E9E9E9"/>
          </a:solidFill>
          <a:ln w="5715">
            <a:solidFill>
              <a:srgbClr val="D4D4D4"/>
            </a:solidFill>
          </a:ln>
        </p:spPr>
      </p:sp>
      <p:sp>
        <p:nvSpPr>
          <p:cNvPr id="13" name="Text 9">
            <a:extLst>
              <a:ext uri="{FF2B5EF4-FFF2-40B4-BE49-F238E27FC236}">
                <a16:creationId xmlns:a16="http://schemas.microsoft.com/office/drawing/2014/main" id="{30497C84-0EF2-4D00-A3DF-CFF7D75A298C}"/>
              </a:ext>
            </a:extLst>
          </p:cNvPr>
          <p:cNvSpPr>
            <a:spLocks noGrp="1"/>
          </p:cNvSpPr>
          <p:nvPr/>
        </p:nvSpPr>
        <p:spPr>
          <a:xfrm>
            <a:off x="7772400" y="3493008"/>
            <a:ext cx="3566160" cy="548640"/>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O(n log n)</a:t>
            </a:r>
            <a:endParaRPr sz="2000"/>
          </a:p>
        </p:txBody>
      </p:sp>
      <p:graphicFrame>
        <p:nvGraphicFramePr>
          <p:cNvPr id="36" name="Table 0"/>
          <p:cNvGraphicFramePr/>
          <p:nvPr/>
        </p:nvGraphicFramePr>
        <p:xfrm>
          <a:off x="658368" y="4517136"/>
          <a:ext cx="10872216" cy="1609344"/>
        </p:xfrm>
        <a:graphic>
          <a:graphicData uri="http://schemas.openxmlformats.org/drawingml/2006/table">
            <a:tbl>
              <a:tblPr/>
              <a:tblGrid>
                <a:gridCol w="21945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665976">
                  <a:extLst>
                    <a:ext uri="{9D8B030D-6E8A-4147-A177-3AD203B41FA5}">
                      <a16:colId xmlns:a16="http://schemas.microsoft.com/office/drawing/2014/main" val="20002"/>
                    </a:ext>
                  </a:extLst>
                </a:gridCol>
              </a:tblGrid>
              <a:tr h="402336">
                <a:tc>
                  <a:txBody>
                    <a:bodyPr/>
                    <a:lstStyle/>
                    <a:p>
                      <a:pPr marL="0" indent="0" algn="ctr">
                        <a:buNone/>
                      </a:pPr>
                      <a:r>
                        <a:rPr sz="1200" b="1">
                          <a:solidFill>
                            <a:srgbClr val="FFFFFF"/>
                          </a:solidFill>
                          <a:latin typeface="Malgun Gothic"/>
                          <a:ea typeface="Malgun Gothic"/>
                          <a:cs typeface="Malgun Gothic"/>
                        </a:rPr>
                        <a:t>경우</a:t>
                      </a:r>
                      <a:endParaRPr sz="12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200" b="1">
                          <a:solidFill>
                            <a:srgbClr val="FFFFFF"/>
                          </a:solidFill>
                          <a:latin typeface="Malgun Gothic"/>
                          <a:ea typeface="Malgun Gothic"/>
                          <a:cs typeface="Malgun Gothic"/>
                        </a:rPr>
                        <a:t>시간 복잡도</a:t>
                      </a:r>
                      <a:endParaRPr sz="12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200" b="1">
                          <a:solidFill>
                            <a:srgbClr val="FFFFFF"/>
                          </a:solidFill>
                          <a:latin typeface="Malgun Gothic"/>
                          <a:ea typeface="Malgun Gothic"/>
                          <a:cs typeface="Malgun Gothic"/>
                        </a:rPr>
                        <a:t>설명</a:t>
                      </a:r>
                      <a:endParaRPr sz="12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402336">
                <a:tc>
                  <a:txBody>
                    <a:bodyPr/>
                    <a:lstStyle/>
                    <a:p>
                      <a:pPr marL="0" indent="0" algn="l">
                        <a:buNone/>
                      </a:pPr>
                      <a:r>
                        <a:rPr sz="1200" b="0">
                          <a:solidFill>
                            <a:srgbClr val="171717"/>
                          </a:solidFill>
                          <a:latin typeface="Malgun Gothic"/>
                          <a:ea typeface="Malgun Gothic"/>
                          <a:cs typeface="Malgun Gothic"/>
                        </a:rPr>
                        <a:t>최악의 경우</a:t>
                      </a:r>
                      <a:endParaRPr sz="12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200" b="0">
                          <a:solidFill>
                            <a:srgbClr val="171717"/>
                          </a:solidFill>
                          <a:latin typeface="Malgun Gothic"/>
                          <a:ea typeface="Malgun Gothic"/>
                          <a:cs typeface="Malgun Gothic"/>
                        </a:rPr>
                        <a:t>O(n log n)</a:t>
                      </a:r>
                      <a:endParaRPr sz="12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200" b="0">
                          <a:solidFill>
                            <a:srgbClr val="171717"/>
                          </a:solidFill>
                          <a:latin typeface="Malgun Gothic"/>
                          <a:ea typeface="Malgun Gothic"/>
                          <a:cs typeface="Malgun Gothic"/>
                        </a:rPr>
                        <a:t>모든 요소를 정렬하는 데 O(n log n) 시간이 필요</a:t>
                      </a:r>
                      <a:endParaRPr sz="12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sz="1200" b="0">
                          <a:solidFill>
                            <a:srgbClr val="171717"/>
                          </a:solidFill>
                          <a:latin typeface="Malgun Gothic"/>
                          <a:ea typeface="Malgun Gothic"/>
                          <a:cs typeface="Malgun Gothic"/>
                        </a:rPr>
                        <a:t>평균적인 경우</a:t>
                      </a:r>
                      <a:endParaRPr sz="12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200" b="0">
                          <a:solidFill>
                            <a:srgbClr val="171717"/>
                          </a:solidFill>
                          <a:latin typeface="Malgun Gothic"/>
                          <a:ea typeface="Malgun Gothic"/>
                          <a:cs typeface="Malgun Gothic"/>
                        </a:rPr>
                        <a:t>O(n log n)</a:t>
                      </a:r>
                      <a:endParaRPr sz="12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200" b="0">
                          <a:solidFill>
                            <a:srgbClr val="171717"/>
                          </a:solidFill>
                          <a:latin typeface="Malgun Gothic"/>
                          <a:ea typeface="Malgun Gothic"/>
                          <a:cs typeface="Malgun Gothic"/>
                        </a:rPr>
                        <a:t>입력에 관계없이 동일한 연산을 수행</a:t>
                      </a:r>
                      <a:endParaRPr sz="12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402336">
                <a:tc>
                  <a:txBody>
                    <a:bodyPr/>
                    <a:lstStyle/>
                    <a:p>
                      <a:pPr marL="0" indent="0" algn="l">
                        <a:buNone/>
                      </a:pPr>
                      <a:r>
                        <a:rPr sz="1200" b="0">
                          <a:solidFill>
                            <a:srgbClr val="171717"/>
                          </a:solidFill>
                          <a:latin typeface="Malgun Gothic"/>
                          <a:ea typeface="Malgun Gothic"/>
                          <a:cs typeface="Malgun Gothic"/>
                        </a:rPr>
                        <a:t>최선의 경우</a:t>
                      </a:r>
                      <a:endParaRPr sz="12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200" b="0">
                          <a:solidFill>
                            <a:srgbClr val="171717"/>
                          </a:solidFill>
                          <a:latin typeface="Malgun Gothic"/>
                          <a:ea typeface="Malgun Gothic"/>
                          <a:cs typeface="Malgun Gothic"/>
                        </a:rPr>
                        <a:t>O(n log n)</a:t>
                      </a:r>
                      <a:endParaRPr sz="12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200" b="0">
                          <a:solidFill>
                            <a:srgbClr val="171717"/>
                          </a:solidFill>
                          <a:latin typeface="Malgun Gothic"/>
                          <a:ea typeface="Malgun Gothic"/>
                          <a:cs typeface="Malgun Gothic"/>
                        </a:rPr>
                        <a:t>이미 정렬된 경우에도 동일한 단계를 수행</a:t>
                      </a:r>
                      <a:endParaRPr sz="12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9" name="직사각형 18">
            <a:extLst>
              <a:ext uri="{FF2B5EF4-FFF2-40B4-BE49-F238E27FC236}">
                <a16:creationId xmlns:a16="http://schemas.microsoft.com/office/drawing/2014/main" id="{BC90BB9E-089C-46CD-B222-136843D46DD6}"/>
              </a:ext>
            </a:extLst>
          </p:cNvPr>
          <p:cNvSpPr>
            <a:spLocks noGrp="1"/>
          </p:cNvSpPr>
          <p:nvPr/>
        </p:nvSpPr>
        <p:spPr>
          <a:xfrm>
            <a:off x="658368" y="1737360"/>
            <a:ext cx="6720840" cy="9525"/>
          </a:xfrm>
          <a:prstGeom prst="rect">
            <a:avLst/>
          </a:prstGeom>
          <a:solidFill>
            <a:srgbClr val="D4D4D4"/>
          </a:solidFill>
          <a:ln w="0">
            <a:noFill/>
          </a:ln>
        </p:spPr>
      </p:sp>
      <p:sp>
        <p:nvSpPr>
          <p:cNvPr id="20" name="직사각형 19">
            <a:extLst>
              <a:ext uri="{FF2B5EF4-FFF2-40B4-BE49-F238E27FC236}">
                <a16:creationId xmlns:a16="http://schemas.microsoft.com/office/drawing/2014/main" id="{628AB5D2-1062-4980-A901-5702861320B4}"/>
              </a:ext>
            </a:extLst>
          </p:cNvPr>
          <p:cNvSpPr>
            <a:spLocks noGrp="1"/>
          </p:cNvSpPr>
          <p:nvPr/>
        </p:nvSpPr>
        <p:spPr>
          <a:xfrm>
            <a:off x="7571232" y="1737360"/>
            <a:ext cx="3959352"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F100A974-69A8-44C8-B007-D88D8A92B9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4.2  합병 정렬</a:t>
            </a:r>
          </a:p>
        </p:txBody>
      </p:sp>
      <p:sp>
        <p:nvSpPr>
          <p:cNvPr id="22" name="직사각형 21">
            <a:extLst>
              <a:ext uri="{FF2B5EF4-FFF2-40B4-BE49-F238E27FC236}">
                <a16:creationId xmlns:a16="http://schemas.microsoft.com/office/drawing/2014/main" id="{20728747-5C56-45F7-9819-14F7E2E080B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3" name="직사각형 22">
            <a:extLst>
              <a:ext uri="{FF2B5EF4-FFF2-40B4-BE49-F238E27FC236}">
                <a16:creationId xmlns:a16="http://schemas.microsoft.com/office/drawing/2014/main" id="{ADC847B3-716E-4A68-B78F-07E6603B630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합병 정렬의 시간 복잡도</a:t>
            </a:r>
          </a:p>
        </p:txBody>
      </p:sp>
      <p:sp>
        <p:nvSpPr>
          <p:cNvPr id="24" name="직사각형 23">
            <a:extLst>
              <a:ext uri="{FF2B5EF4-FFF2-40B4-BE49-F238E27FC236}">
                <a16:creationId xmlns:a16="http://schemas.microsoft.com/office/drawing/2014/main" id="{CB0F30B1-8289-444F-AA07-4460C4EE9B01}"/>
              </a:ext>
            </a:extLst>
          </p:cNvPr>
          <p:cNvSpPr>
            <a:spLocks noGrp="1"/>
          </p:cNvSpPr>
          <p:nvPr/>
        </p:nvSpPr>
        <p:spPr>
          <a:xfrm>
            <a:off x="609600" y="1381125"/>
            <a:ext cx="10972800" cy="19050"/>
          </a:xfrm>
          <a:prstGeom prst="rect">
            <a:avLst/>
          </a:prstGeom>
          <a:solidFill>
            <a:srgbClr val="171717"/>
          </a:solidFill>
          <a:ln w="0">
            <a:noFill/>
          </a:ln>
        </p:spPr>
      </p:sp>
      <p:sp>
        <p:nvSpPr>
          <p:cNvPr id="25" name="직사각형 24">
            <a:extLst>
              <a:ext uri="{FF2B5EF4-FFF2-40B4-BE49-F238E27FC236}">
                <a16:creationId xmlns:a16="http://schemas.microsoft.com/office/drawing/2014/main" id="{9168E8EB-8DA2-41A4-8A2E-7F8608E138A5}"/>
              </a:ext>
            </a:extLst>
          </p:cNvPr>
          <p:cNvSpPr>
            <a:spLocks noGrp="1"/>
          </p:cNvSpPr>
          <p:nvPr/>
        </p:nvSpPr>
        <p:spPr>
          <a:xfrm>
            <a:off x="609600" y="6438900"/>
            <a:ext cx="10972800"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5521F852-4EF1-4EE5-BBDA-045825723C0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7" name="직사각형 26">
            <a:extLst>
              <a:ext uri="{FF2B5EF4-FFF2-40B4-BE49-F238E27FC236}">
                <a16:creationId xmlns:a16="http://schemas.microsoft.com/office/drawing/2014/main" id="{83472029-5D5A-43C4-AF2A-A93E274B89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a:t>
            </a:r>
            <a:endParaRPr sz="1050" b="1" i="0">
              <a:solidFill>
                <a:srgbClr val="171717"/>
              </a:solidFill>
              <a:latin typeface="Consolas"/>
              <a:ea typeface="Consolas"/>
              <a:cs typeface="Consolas"/>
            </a:endParaRPr>
          </a:p>
        </p:txBody>
      </p:sp>
      <p:pic>
        <p:nvPicPr>
          <p:cNvPr id="46" name="그림 45"/>
          <p:cNvPicPr>
            <a:picLocks noChangeAspect="1"/>
          </p:cNvPicPr>
          <p:nvPr/>
        </p:nvPicPr>
        <p:blipFill>
          <a:blip r:embed="rId3"/>
          <a:stretch/>
        </p:blipFill>
        <p:spPr>
          <a:xfrm>
            <a:off x="858714" y="1973294"/>
            <a:ext cx="6320148" cy="2042732"/>
          </a:xfrm>
          <a:prstGeom prst="rect">
            <a:avLst/>
          </a:prstGeom>
        </p:spPr>
      </p:pic>
    </p:spTree>
    <p:extLst>
      <p:ext uri="{BB962C8B-B14F-4D97-AF65-F5344CB8AC3E}">
        <p14:creationId xmlns:p14="http://schemas.microsoft.com/office/powerpoint/2010/main" val="8786386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F974F79A-3235-4A80-A660-9D9B5973CCB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D3D20B7-B386-4952-B238-4F4359C339C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AF24999-2AA5-44E9-90C5-FC57CE5BC45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퀵 정렬 (Quick Sort)</a:t>
            </a:r>
          </a:p>
        </p:txBody>
      </p:sp>
      <p:sp>
        <p:nvSpPr>
          <p:cNvPr id="4" name="직사각형 3">
            <a:extLst>
              <a:ext uri="{FF2B5EF4-FFF2-40B4-BE49-F238E27FC236}">
                <a16:creationId xmlns:a16="http://schemas.microsoft.com/office/drawing/2014/main" id="{B81E8F59-E1F4-43EB-B43A-1B1EB038C1B7}"/>
              </a:ext>
            </a:extLst>
          </p:cNvPr>
          <p:cNvSpPr>
            <a:spLocks noGrp="1"/>
          </p:cNvSpPr>
          <p:nvPr/>
        </p:nvSpPr>
        <p:spPr>
          <a:xfrm>
            <a:off x="609600" y="1657350"/>
            <a:ext cx="10972800" cy="4572000"/>
          </a:xfrm>
          <a:prstGeom prst="rect">
            <a:avLst/>
          </a:prstGeom>
          <a:noFill/>
          <a:ln w="0">
            <a:noFill/>
          </a:ln>
        </p:spPr>
        <p:txBody>
          <a:bodyPr/>
          <a:lstStyle>
            <a:defPPr>
              <a:defRPr sz="2250" b="0">
                <a:solidFill>
                  <a:srgbClr val="151515"/>
                </a:solidFill>
              </a:defRPr>
            </a:defPPr>
          </a:lstStyle>
          <a:p>
            <a:pPr>
              <a:defRPr sz="2250" b="0">
                <a:solidFill>
                  <a:srgbClr val="151515"/>
                </a:solidFill>
              </a:defRPr>
            </a:pPr>
            <a:r>
              <a:rPr sz="2250" b="0">
                <a:solidFill>
                  <a:srgbClr val="151515"/>
                </a:solidFill>
                <a:latin typeface="Malgun Gothic" panose="020B0503020000020004" pitchFamily="50" charset="-127"/>
              </a:rPr>
              <a:t>피벗을 기준으로 배열을 나누는 분할 정복 정렬</a:t>
            </a:r>
          </a:p>
          <a:p>
            <a:pPr>
              <a:defRPr sz="2250" b="0">
                <a:solidFill>
                  <a:srgbClr val="151515"/>
                </a:solidFill>
              </a:defRPr>
            </a:pPr>
            <a:r>
              <a:rPr sz="2250" b="0">
                <a:solidFill>
                  <a:srgbClr val="151515"/>
                </a:solidFill>
                <a:latin typeface="Malgun Gothic" panose="020B0503020000020004" pitchFamily="50" charset="-127"/>
              </a:rPr>
              <a:t>분할 후에는 피벗의 자리가 확정된다</a:t>
            </a:r>
          </a:p>
          <a:p>
            <a:pPr>
              <a:defRPr sz="2250" b="0">
                <a:solidFill>
                  <a:srgbClr val="151515"/>
                </a:solidFill>
              </a:defRPr>
            </a:pPr>
            <a:r>
              <a:rPr sz="2250" b="0">
                <a:solidFill>
                  <a:srgbClr val="151515"/>
                </a:solidFill>
                <a:latin typeface="Malgun Gothic" panose="020B0503020000020004" pitchFamily="50" charset="-127"/>
              </a:rPr>
              <a:t>왼쪽과 오른쪽 구간에 같은 과정을 반복한다</a:t>
            </a:r>
          </a:p>
        </p:txBody>
      </p:sp>
      <p:sp>
        <p:nvSpPr>
          <p:cNvPr id="5" name="직사각형 4">
            <a:extLst>
              <a:ext uri="{FF2B5EF4-FFF2-40B4-BE49-F238E27FC236}">
                <a16:creationId xmlns:a16="http://schemas.microsoft.com/office/drawing/2014/main" id="{F3DA8F49-C2D8-4B25-AB6F-B443D7CEBB9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4DC4AF7-67B2-4BEF-AC9E-75996F12E155}"/>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A86FF934-81CE-F4A4-4CFE-6BD879131114}"/>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790315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4F9F3B76-5252-4461-B695-884DF702866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0923B4A-1575-4980-9F79-6EEAA76C1B7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A844536-C9F0-4EAF-8BC0-52865A4787F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피벗과 분할 구간</a:t>
            </a:r>
          </a:p>
        </p:txBody>
      </p:sp>
      <p:sp>
        <p:nvSpPr>
          <p:cNvPr id="4" name="직사각형 3">
            <a:extLst>
              <a:ext uri="{FF2B5EF4-FFF2-40B4-BE49-F238E27FC236}">
                <a16:creationId xmlns:a16="http://schemas.microsoft.com/office/drawing/2014/main" id="{CF123EF0-8DCC-492F-8FBF-B2C880ECC298}"/>
              </a:ext>
            </a:extLst>
          </p:cNvPr>
          <p:cNvSpPr>
            <a:spLocks noGrp="1"/>
          </p:cNvSpPr>
          <p:nvPr/>
        </p:nvSpPr>
        <p:spPr>
          <a:xfrm>
            <a:off x="609600" y="1657350"/>
            <a:ext cx="10972800" cy="4572000"/>
          </a:xfrm>
          <a:prstGeom prst="rect">
            <a:avLst/>
          </a:prstGeom>
          <a:noFill/>
          <a:ln w="0">
            <a:noFill/>
          </a:ln>
        </p:spPr>
        <p:txBody>
          <a:bodyPr/>
          <a:lstStyle>
            <a:defPPr>
              <a:defRPr sz="2250" b="0">
                <a:solidFill>
                  <a:srgbClr val="151515"/>
                </a:solidFill>
              </a:defRPr>
            </a:defPPr>
          </a:lstStyle>
          <a:p>
            <a:pPr>
              <a:defRPr sz="2250" b="0">
                <a:solidFill>
                  <a:srgbClr val="151515"/>
                </a:solidFill>
              </a:defRPr>
            </a:pPr>
            <a:r>
              <a:rPr sz="2250" b="0">
                <a:solidFill>
                  <a:srgbClr val="151515"/>
                </a:solidFill>
                <a:latin typeface="Malgun Gothic" panose="020B0503020000020004" pitchFamily="50" charset="-127"/>
              </a:rPr>
              <a:t>예제 배열  [4, 2, 7, 3, 5]</a:t>
            </a:r>
          </a:p>
          <a:p>
            <a:pPr>
              <a:defRPr sz="2250" b="0">
                <a:solidFill>
                  <a:srgbClr val="151515"/>
                </a:solidFill>
              </a:defRPr>
            </a:pPr>
            <a:r>
              <a:rPr sz="2250" b="0">
                <a:solidFill>
                  <a:srgbClr val="151515"/>
                </a:solidFill>
                <a:latin typeface="Malgun Gothic" panose="020B0503020000020004" pitchFamily="50" charset="-127"/>
              </a:rPr>
              <a:t>피벗 = 마지막 원소 5</a:t>
            </a:r>
          </a:p>
          <a:p>
            <a:pPr>
              <a:defRPr sz="2250" b="0">
                <a:solidFill>
                  <a:srgbClr val="151515"/>
                </a:solidFill>
              </a:defRPr>
            </a:pPr>
            <a:r>
              <a:rPr sz="2250" b="0">
                <a:solidFill>
                  <a:srgbClr val="151515"/>
                </a:solidFill>
                <a:latin typeface="Malgun Gothic" panose="020B0503020000020004" pitchFamily="50" charset="-127"/>
              </a:rPr>
              <a:t>분할 결과  [4, 2, 3]   5   [7]</a:t>
            </a:r>
          </a:p>
          <a:p>
            <a:pPr>
              <a:defRPr sz="2250" b="0">
                <a:solidFill>
                  <a:srgbClr val="151515"/>
                </a:solidFill>
              </a:defRPr>
            </a:pPr>
            <a:r>
              <a:rPr sz="2250" b="0">
                <a:solidFill>
                  <a:srgbClr val="151515"/>
                </a:solidFill>
                <a:latin typeface="Malgun Gothic" panose="020B0503020000020004" pitchFamily="50" charset="-127"/>
              </a:rPr>
              <a:t>왼쪽의 모든 값 ≤ 5, 오른쪽의 모든 값 &gt; 5</a:t>
            </a:r>
          </a:p>
          <a:p>
            <a:pPr>
              <a:defRPr sz="2250" b="0">
                <a:solidFill>
                  <a:srgbClr val="151515"/>
                </a:solidFill>
              </a:defRPr>
            </a:pPr>
            <a:r>
              <a:rPr sz="2250" b="0">
                <a:solidFill>
                  <a:srgbClr val="151515"/>
                </a:solidFill>
                <a:latin typeface="Malgun Gothic" panose="020B0503020000020004" pitchFamily="50" charset="-127"/>
              </a:rPr>
              <a:t>각 구간 내부는 아직 정렬되지 않았다</a:t>
            </a:r>
          </a:p>
        </p:txBody>
      </p:sp>
      <p:sp>
        <p:nvSpPr>
          <p:cNvPr id="5" name="직사각형 4">
            <a:extLst>
              <a:ext uri="{FF2B5EF4-FFF2-40B4-BE49-F238E27FC236}">
                <a16:creationId xmlns:a16="http://schemas.microsoft.com/office/drawing/2014/main" id="{D4DCEFA1-7615-4A26-9C1A-446BD2C9377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E24EE7F2-8BCF-4F68-A6A6-1B593C46B93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6CAA51A0-2AA0-A80E-86FB-504211B7C795}"/>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03768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37D25C7-654F-4EBA-B417-50FF307CAF5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A71628C-8941-4153-9817-240B25D9668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4006F57-6F24-4DC4-BA47-01CB05EF7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분할에서 사용하는 인덱스</a:t>
            </a:r>
          </a:p>
        </p:txBody>
      </p:sp>
      <p:sp>
        <p:nvSpPr>
          <p:cNvPr id="4" name="직사각형 3">
            <a:extLst>
              <a:ext uri="{FF2B5EF4-FFF2-40B4-BE49-F238E27FC236}">
                <a16:creationId xmlns:a16="http://schemas.microsoft.com/office/drawing/2014/main" id="{3FF511A2-827C-451F-AEFC-8914E5BA19EF}"/>
              </a:ext>
            </a:extLst>
          </p:cNvPr>
          <p:cNvSpPr>
            <a:spLocks noGrp="1"/>
          </p:cNvSpPr>
          <p:nvPr/>
        </p:nvSpPr>
        <p:spPr>
          <a:xfrm>
            <a:off x="609600" y="1657350"/>
            <a:ext cx="10972800" cy="4572000"/>
          </a:xfrm>
          <a:prstGeom prst="rect">
            <a:avLst/>
          </a:prstGeom>
          <a:noFill/>
          <a:ln w="0">
            <a:noFill/>
          </a:ln>
        </p:spPr>
        <p:txBody>
          <a:bodyPr/>
          <a:lstStyle>
            <a:defPPr>
              <a:defRPr sz="2250" b="0">
                <a:solidFill>
                  <a:srgbClr val="151515"/>
                </a:solidFill>
              </a:defRPr>
            </a:defPPr>
          </a:lstStyle>
          <a:p>
            <a:pPr>
              <a:defRPr sz="2250" b="0">
                <a:solidFill>
                  <a:srgbClr val="151515"/>
                </a:solidFill>
              </a:defRPr>
            </a:pPr>
            <a:r>
              <a:rPr sz="2250" b="0">
                <a:solidFill>
                  <a:srgbClr val="151515"/>
                </a:solidFill>
                <a:latin typeface="Malgun Gothic" panose="020B0503020000020004" pitchFamily="50" charset="-127"/>
              </a:rPr>
              <a:t>lo, hi: 정렬할 구간의 양 끝 인덱스, 양 끝 포함</a:t>
            </a:r>
          </a:p>
          <a:p>
            <a:pPr>
              <a:defRPr sz="2250" b="0">
                <a:solidFill>
                  <a:srgbClr val="151515"/>
                </a:solidFill>
              </a:defRPr>
            </a:pPr>
            <a:r>
              <a:rPr sz="2250" b="0">
                <a:solidFill>
                  <a:srgbClr val="151515"/>
                </a:solidFill>
                <a:latin typeface="Malgun Gothic" panose="020B0503020000020004" pitchFamily="50" charset="-127"/>
              </a:rPr>
              <a:t>pivot = a[hi]</a:t>
            </a:r>
          </a:p>
          <a:p>
            <a:pPr>
              <a:defRPr sz="2250" b="0">
                <a:solidFill>
                  <a:srgbClr val="151515"/>
                </a:solidFill>
              </a:defRPr>
            </a:pPr>
            <a:r>
              <a:rPr sz="2250" b="0">
                <a:solidFill>
                  <a:srgbClr val="151515"/>
                </a:solidFill>
                <a:latin typeface="Malgun Gothic" panose="020B0503020000020004" pitchFamily="50" charset="-127"/>
              </a:rPr>
              <a:t>i: 피벗 이하의 값을 모아 놓은 구간의 마지막 인덱스</a:t>
            </a:r>
          </a:p>
          <a:p>
            <a:pPr>
              <a:defRPr sz="2250" b="0">
                <a:solidFill>
                  <a:srgbClr val="151515"/>
                </a:solidFill>
              </a:defRPr>
            </a:pPr>
            <a:r>
              <a:rPr sz="2250" b="0">
                <a:solidFill>
                  <a:srgbClr val="151515"/>
                </a:solidFill>
                <a:latin typeface="Malgun Gothic" panose="020B0503020000020004" pitchFamily="50" charset="-127"/>
              </a:rPr>
              <a:t>처음에는 i = lo − 1, 모아 놓은 값이 없다</a:t>
            </a:r>
          </a:p>
          <a:p>
            <a:pPr>
              <a:defRPr sz="2250" b="0">
                <a:solidFill>
                  <a:srgbClr val="151515"/>
                </a:solidFill>
              </a:defRPr>
            </a:pPr>
            <a:r>
              <a:rPr sz="2250" b="0">
                <a:solidFill>
                  <a:srgbClr val="151515"/>
                </a:solidFill>
                <a:latin typeface="Malgun Gothic" panose="020B0503020000020004" pitchFamily="50" charset="-127"/>
              </a:rPr>
              <a:t>j: lo부터 hi − 1까지 현재 값을 확인하는 인덱스</a:t>
            </a:r>
          </a:p>
        </p:txBody>
      </p:sp>
      <p:sp>
        <p:nvSpPr>
          <p:cNvPr id="5" name="직사각형 4">
            <a:extLst>
              <a:ext uri="{FF2B5EF4-FFF2-40B4-BE49-F238E27FC236}">
                <a16:creationId xmlns:a16="http://schemas.microsoft.com/office/drawing/2014/main" id="{1607F510-4AAE-44CB-BF75-B2502EB62F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3E6F2D1-FA15-4C3E-B8FB-ECA0A0D4CE8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5B6A7657-27FA-1231-91E6-CC8AE6EB999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4339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DBC5F18-78AC-4BD8-BD50-9D6CBDC931A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E14E23-C9E1-4BD9-854E-C587B30A3B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3A657D2-06F7-4D25-B764-0A227415F11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분할 과정 따라가기</a:t>
            </a:r>
          </a:p>
        </p:txBody>
      </p:sp>
      <p:sp>
        <p:nvSpPr>
          <p:cNvPr id="4" name="직사각형 3">
            <a:extLst>
              <a:ext uri="{FF2B5EF4-FFF2-40B4-BE49-F238E27FC236}">
                <a16:creationId xmlns:a16="http://schemas.microsoft.com/office/drawing/2014/main" id="{A90BAFDA-5601-4A90-B1D3-28A7882F37AC}"/>
              </a:ext>
            </a:extLst>
          </p:cNvPr>
          <p:cNvSpPr>
            <a:spLocks noGrp="1"/>
          </p:cNvSpPr>
          <p:nvPr/>
        </p:nvSpPr>
        <p:spPr>
          <a:xfrm>
            <a:off x="609600" y="1657350"/>
            <a:ext cx="10972800" cy="4572000"/>
          </a:xfrm>
          <a:prstGeom prst="rect">
            <a:avLst/>
          </a:prstGeom>
          <a:noFill/>
          <a:ln w="0">
            <a:noFill/>
          </a:ln>
        </p:spPr>
        <p:txBody>
          <a:bodyPr/>
          <a:lstStyle>
            <a:defPPr>
              <a:defRPr sz="2250" b="0">
                <a:solidFill>
                  <a:srgbClr val="151515"/>
                </a:solidFill>
              </a:defRPr>
            </a:defPPr>
          </a:lstStyle>
          <a:p>
            <a:pPr>
              <a:defRPr sz="2250" b="0">
                <a:solidFill>
                  <a:srgbClr val="151515"/>
                </a:solidFill>
              </a:defRPr>
            </a:pPr>
            <a:r>
              <a:rPr sz="2250" b="0">
                <a:solidFill>
                  <a:srgbClr val="151515"/>
                </a:solidFill>
                <a:latin typeface="Malgun Gothic" panose="020B0503020000020004" pitchFamily="50" charset="-127"/>
              </a:rPr>
              <a:t>초기: [4, 2, 7, 3, 5]    i = −1, pivot = 5</a:t>
            </a:r>
          </a:p>
          <a:p>
            <a:pPr>
              <a:defRPr sz="2250" b="0">
                <a:solidFill>
                  <a:srgbClr val="151515"/>
                </a:solidFill>
              </a:defRPr>
            </a:pPr>
            <a:r>
              <a:rPr sz="2250" b="0">
                <a:solidFill>
                  <a:srgbClr val="151515"/>
                </a:solidFill>
                <a:latin typeface="Malgun Gothic" panose="020B0503020000020004" pitchFamily="50" charset="-127"/>
              </a:rPr>
              <a:t>j = 0: 4 ≤ 5, i = 0, 자기 자신과 교환</a:t>
            </a:r>
          </a:p>
          <a:p>
            <a:pPr>
              <a:defRPr sz="2250" b="0">
                <a:solidFill>
                  <a:srgbClr val="151515"/>
                </a:solidFill>
              </a:defRPr>
            </a:pPr>
            <a:r>
              <a:rPr sz="2250" b="0">
                <a:solidFill>
                  <a:srgbClr val="151515"/>
                </a:solidFill>
                <a:latin typeface="Malgun Gothic" panose="020B0503020000020004" pitchFamily="50" charset="-127"/>
              </a:rPr>
              <a:t>j = 1: 2 ≤ 5, i = 1, 자기 자신과 교환</a:t>
            </a:r>
          </a:p>
          <a:p>
            <a:pPr>
              <a:defRPr sz="2250" b="0">
                <a:solidFill>
                  <a:srgbClr val="151515"/>
                </a:solidFill>
              </a:defRPr>
            </a:pPr>
            <a:r>
              <a:rPr sz="2250" b="0">
                <a:solidFill>
                  <a:srgbClr val="151515"/>
                </a:solidFill>
                <a:latin typeface="Malgun Gothic" panose="020B0503020000020004" pitchFamily="50" charset="-127"/>
              </a:rPr>
              <a:t>j = 2: 7 &gt; 5, 그대로 둔다</a:t>
            </a:r>
          </a:p>
          <a:p>
            <a:pPr>
              <a:defRPr sz="2250" b="0">
                <a:solidFill>
                  <a:srgbClr val="151515"/>
                </a:solidFill>
              </a:defRPr>
            </a:pPr>
            <a:r>
              <a:rPr sz="2250" b="0">
                <a:solidFill>
                  <a:srgbClr val="151515"/>
                </a:solidFill>
                <a:latin typeface="Malgun Gothic" panose="020B0503020000020004" pitchFamily="50" charset="-127"/>
              </a:rPr>
              <a:t>j = 3: 3 ≤ 5, i = 2, 7과 3을 교환</a:t>
            </a:r>
          </a:p>
          <a:p>
            <a:pPr>
              <a:defRPr sz="2250" b="0">
                <a:solidFill>
                  <a:srgbClr val="151515"/>
                </a:solidFill>
              </a:defRPr>
            </a:pPr>
            <a:r>
              <a:rPr sz="2250" b="0">
                <a:solidFill>
                  <a:srgbClr val="151515"/>
                </a:solidFill>
                <a:latin typeface="Malgun Gothic" panose="020B0503020000020004" pitchFamily="50" charset="-127"/>
              </a:rPr>
              <a:t>현재: [4, 2, 3, 7, 5]</a:t>
            </a:r>
          </a:p>
        </p:txBody>
      </p:sp>
      <p:sp>
        <p:nvSpPr>
          <p:cNvPr id="5" name="직사각형 4">
            <a:extLst>
              <a:ext uri="{FF2B5EF4-FFF2-40B4-BE49-F238E27FC236}">
                <a16:creationId xmlns:a16="http://schemas.microsoft.com/office/drawing/2014/main" id="{283FFC18-E02F-4F57-84CA-D2DCB91012C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78A2F72B-87F5-4392-A50D-56A9BE0B83D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801EFC5D-89F5-F5C2-EC5E-B05EBFB8D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57035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BB0E045-D7DD-4D7E-9476-4EB3E13AB9A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3C23519-DA71-4CCE-85BF-4BA71D0F7D0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E2196CA-9B76-4CC5-B7A9-04010375AB7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피벗의 위치 확정과 재귀</a:t>
            </a:r>
          </a:p>
        </p:txBody>
      </p:sp>
      <p:sp>
        <p:nvSpPr>
          <p:cNvPr id="4" name="직사각형 3">
            <a:extLst>
              <a:ext uri="{FF2B5EF4-FFF2-40B4-BE49-F238E27FC236}">
                <a16:creationId xmlns:a16="http://schemas.microsoft.com/office/drawing/2014/main" id="{254C8858-797A-4E22-BC8B-61C0A78B1EE3}"/>
              </a:ext>
            </a:extLst>
          </p:cNvPr>
          <p:cNvSpPr>
            <a:spLocks noGrp="1"/>
          </p:cNvSpPr>
          <p:nvPr/>
        </p:nvSpPr>
        <p:spPr>
          <a:xfrm>
            <a:off x="609600" y="1657350"/>
            <a:ext cx="10972800" cy="4572000"/>
          </a:xfrm>
          <a:prstGeom prst="rect">
            <a:avLst/>
          </a:prstGeom>
          <a:noFill/>
          <a:ln w="0">
            <a:noFill/>
          </a:ln>
        </p:spPr>
        <p:txBody>
          <a:bodyPr/>
          <a:lstStyle>
            <a:defPPr>
              <a:defRPr sz="2250" b="0">
                <a:solidFill>
                  <a:srgbClr val="151515"/>
                </a:solidFill>
              </a:defRPr>
            </a:defPPr>
          </a:lstStyle>
          <a:p>
            <a:pPr>
              <a:defRPr sz="2250" b="0">
                <a:solidFill>
                  <a:srgbClr val="151515"/>
                </a:solidFill>
              </a:defRPr>
            </a:pPr>
            <a:r>
              <a:rPr sz="2250" b="0">
                <a:solidFill>
                  <a:srgbClr val="151515"/>
                </a:solidFill>
                <a:latin typeface="Malgun Gothic" panose="020B0503020000020004" pitchFamily="50" charset="-127"/>
              </a:rPr>
              <a:t>마지막 교환: a[i + 1]과 a[hi]</a:t>
            </a:r>
          </a:p>
          <a:p>
            <a:pPr>
              <a:defRPr sz="2250" b="0">
                <a:solidFill>
                  <a:srgbClr val="151515"/>
                </a:solidFill>
              </a:defRPr>
            </a:pPr>
            <a:r>
              <a:rPr sz="2250" b="0">
                <a:solidFill>
                  <a:srgbClr val="151515"/>
                </a:solidFill>
                <a:latin typeface="Malgun Gothic" panose="020B0503020000020004" pitchFamily="50" charset="-127"/>
              </a:rPr>
              <a:t>[4, 2, 3, 7, 5]를 [4, 2, 3, 5, 7]로 바꾼다</a:t>
            </a:r>
          </a:p>
          <a:p>
            <a:pPr>
              <a:defRPr sz="2250" b="0">
                <a:solidFill>
                  <a:srgbClr val="151515"/>
                </a:solidFill>
              </a:defRPr>
            </a:pPr>
            <a:r>
              <a:rPr sz="2250" b="0">
                <a:solidFill>
                  <a:srgbClr val="151515"/>
                </a:solidFill>
                <a:latin typeface="Malgun Gothic" panose="020B0503020000020004" pitchFamily="50" charset="-127"/>
              </a:rPr>
              <a:t>피벗 인덱스 p = 3</a:t>
            </a:r>
          </a:p>
          <a:p>
            <a:pPr>
              <a:defRPr sz="2250" b="0">
                <a:solidFill>
                  <a:srgbClr val="151515"/>
                </a:solidFill>
              </a:defRPr>
            </a:pPr>
            <a:r>
              <a:rPr sz="2250" b="0">
                <a:solidFill>
                  <a:srgbClr val="151515"/>
                </a:solidFill>
                <a:latin typeface="Malgun Gothic" panose="020B0503020000020004" pitchFamily="50" charset="-127"/>
              </a:rPr>
              <a:t>다음 구간: [lo, p − 1]과 [p + 1, hi]</a:t>
            </a:r>
          </a:p>
          <a:p>
            <a:pPr>
              <a:defRPr sz="2250" b="0">
                <a:solidFill>
                  <a:srgbClr val="151515"/>
                </a:solidFill>
              </a:defRPr>
            </a:pPr>
            <a:r>
              <a:rPr sz="2250" b="0">
                <a:solidFill>
                  <a:srgbClr val="151515"/>
                </a:solidFill>
                <a:latin typeface="Malgun Gothic" panose="020B0503020000020004" pitchFamily="50" charset="-127"/>
              </a:rPr>
              <a:t>[4, 2, 3] 분할 결과: [2, 3, 4]</a:t>
            </a:r>
          </a:p>
          <a:p>
            <a:pPr>
              <a:defRPr sz="2250" b="0">
                <a:solidFill>
                  <a:srgbClr val="151515"/>
                </a:solidFill>
              </a:defRPr>
            </a:pPr>
            <a:r>
              <a:rPr sz="2250" b="0">
                <a:solidFill>
                  <a:srgbClr val="151515"/>
                </a:solidFill>
                <a:latin typeface="Malgun Gothic" panose="020B0503020000020004" pitchFamily="50" charset="-127"/>
              </a:rPr>
              <a:t>최종 결과: [2, 3, 4, 5, 7]</a:t>
            </a:r>
          </a:p>
        </p:txBody>
      </p:sp>
      <p:sp>
        <p:nvSpPr>
          <p:cNvPr id="5" name="직사각형 4">
            <a:extLst>
              <a:ext uri="{FF2B5EF4-FFF2-40B4-BE49-F238E27FC236}">
                <a16:creationId xmlns:a16="http://schemas.microsoft.com/office/drawing/2014/main" id="{E5BA5F68-9630-4463-9C52-0810E063A12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8D8CD60-4F07-4FF1-9EEC-8C08ABD9FED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EF6231EF-9874-E796-CB89-666CDB7FF68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19416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32A268D6-391E-4601-A32F-2C2CA24D477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66EEC9C-A156-48AD-B206-F55ED36D56D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3CDA339-D96E-43C3-92F4-0347D1E6111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partition 함수</a:t>
            </a:r>
          </a:p>
        </p:txBody>
      </p:sp>
      <p:sp>
        <p:nvSpPr>
          <p:cNvPr id="4" name="직사각형 3">
            <a:extLst>
              <a:ext uri="{FF2B5EF4-FFF2-40B4-BE49-F238E27FC236}">
                <a16:creationId xmlns:a16="http://schemas.microsoft.com/office/drawing/2014/main" id="{E74009F1-963B-41C8-9C22-14D39458DB4C}"/>
              </a:ext>
            </a:extLst>
          </p:cNvPr>
          <p:cNvSpPr>
            <a:spLocks noGrp="1"/>
          </p:cNvSpPr>
          <p:nvPr/>
        </p:nvSpPr>
        <p:spPr>
          <a:xfrm>
            <a:off x="609600" y="1657350"/>
            <a:ext cx="10972800" cy="457200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Consolas" panose="020B0609020204030204" pitchFamily="49" charset="0"/>
              </a:rPr>
              <a:t>def partition(a, lo, hi):</a:t>
            </a:r>
          </a:p>
          <a:p>
            <a:pPr>
              <a:defRPr sz="2025" b="0">
                <a:solidFill>
                  <a:srgbClr val="151515"/>
                </a:solidFill>
              </a:defRPr>
            </a:pPr>
            <a:r>
              <a:rPr sz="2025" b="0">
                <a:solidFill>
                  <a:srgbClr val="151515"/>
                </a:solidFill>
                <a:latin typeface="Consolas" panose="020B0609020204030204" pitchFamily="49" charset="0"/>
              </a:rPr>
              <a:t>    pivot = a[hi]</a:t>
            </a:r>
          </a:p>
          <a:p>
            <a:pPr>
              <a:defRPr sz="2025" b="0">
                <a:solidFill>
                  <a:srgbClr val="151515"/>
                </a:solidFill>
              </a:defRPr>
            </a:pPr>
            <a:r>
              <a:rPr sz="2025" b="0">
                <a:solidFill>
                  <a:srgbClr val="151515"/>
                </a:solidFill>
                <a:latin typeface="Consolas" panose="020B0609020204030204" pitchFamily="49" charset="0"/>
              </a:rPr>
              <a:t>    i = lo - 1</a:t>
            </a:r>
          </a:p>
          <a:p>
            <a:pPr>
              <a:defRPr sz="2025" b="0">
                <a:solidFill>
                  <a:srgbClr val="151515"/>
                </a:solidFill>
              </a:defRPr>
            </a:pPr>
            <a:r>
              <a:rPr sz="2025" b="0">
                <a:solidFill>
                  <a:srgbClr val="151515"/>
                </a:solidFill>
                <a:latin typeface="Consolas" panose="020B0609020204030204" pitchFamily="49" charset="0"/>
              </a:rPr>
              <a:t>    for j in range(lo, hi):</a:t>
            </a:r>
          </a:p>
          <a:p>
            <a:pPr>
              <a:defRPr sz="2025" b="0">
                <a:solidFill>
                  <a:srgbClr val="151515"/>
                </a:solidFill>
              </a:defRPr>
            </a:pPr>
            <a:r>
              <a:rPr sz="2025" b="0">
                <a:solidFill>
                  <a:srgbClr val="151515"/>
                </a:solidFill>
                <a:latin typeface="Consolas" panose="020B0609020204030204" pitchFamily="49" charset="0"/>
              </a:rPr>
              <a:t>        if a[j] &lt;= pivot:</a:t>
            </a:r>
          </a:p>
          <a:p>
            <a:pPr>
              <a:defRPr sz="2025" b="0">
                <a:solidFill>
                  <a:srgbClr val="151515"/>
                </a:solidFill>
              </a:defRPr>
            </a:pPr>
            <a:r>
              <a:rPr sz="2025" b="0">
                <a:solidFill>
                  <a:srgbClr val="151515"/>
                </a:solidFill>
                <a:latin typeface="Consolas" panose="020B0609020204030204" pitchFamily="49" charset="0"/>
              </a:rPr>
              <a:t>            i += 1</a:t>
            </a:r>
          </a:p>
          <a:p>
            <a:pPr>
              <a:defRPr sz="2025" b="0">
                <a:solidFill>
                  <a:srgbClr val="151515"/>
                </a:solidFill>
              </a:defRPr>
            </a:pPr>
            <a:r>
              <a:rPr sz="2025" b="0">
                <a:solidFill>
                  <a:srgbClr val="151515"/>
                </a:solidFill>
                <a:latin typeface="Consolas" panose="020B0609020204030204" pitchFamily="49" charset="0"/>
              </a:rPr>
              <a:t>            a[i], a[j] = a[j], a[i]</a:t>
            </a:r>
          </a:p>
          <a:p>
            <a:pPr>
              <a:defRPr sz="2025" b="0">
                <a:solidFill>
                  <a:srgbClr val="151515"/>
                </a:solidFill>
              </a:defRPr>
            </a:pPr>
            <a:r>
              <a:rPr sz="2025" b="0">
                <a:solidFill>
                  <a:srgbClr val="151515"/>
                </a:solidFill>
                <a:latin typeface="Consolas" panose="020B0609020204030204" pitchFamily="49" charset="0"/>
              </a:rPr>
              <a:t>    a[i + 1], a[hi] = a[hi], a[i + 1]</a:t>
            </a:r>
          </a:p>
          <a:p>
            <a:pPr>
              <a:defRPr sz="2025" b="0">
                <a:solidFill>
                  <a:srgbClr val="151515"/>
                </a:solidFill>
              </a:defRPr>
            </a:pPr>
            <a:r>
              <a:rPr sz="2025" b="0">
                <a:solidFill>
                  <a:srgbClr val="151515"/>
                </a:solidFill>
                <a:latin typeface="Consolas" panose="020B0609020204030204" pitchFamily="49" charset="0"/>
              </a:rPr>
              <a:t>    return i + 1</a:t>
            </a:r>
          </a:p>
        </p:txBody>
      </p:sp>
      <p:sp>
        <p:nvSpPr>
          <p:cNvPr id="5" name="직사각형 4">
            <a:extLst>
              <a:ext uri="{FF2B5EF4-FFF2-40B4-BE49-F238E27FC236}">
                <a16:creationId xmlns:a16="http://schemas.microsoft.com/office/drawing/2014/main" id="{BCE42404-5243-4D60-BB51-5045707851E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2C6264F5-D77B-4450-9CB9-251A6C3699E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22</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FF0FF118-41A6-92A7-1198-85E942FD6AE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21152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F827592-B35D-46EA-937A-B65BD4C1B73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10AEB59-D346-4394-B04A-2FB478D3B1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1550224-64B3-4BFD-ACB9-A90E956B611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호출과 실행</a:t>
            </a:r>
          </a:p>
        </p:txBody>
      </p:sp>
      <p:sp>
        <p:nvSpPr>
          <p:cNvPr id="4" name="직사각형 3">
            <a:extLst>
              <a:ext uri="{FF2B5EF4-FFF2-40B4-BE49-F238E27FC236}">
                <a16:creationId xmlns:a16="http://schemas.microsoft.com/office/drawing/2014/main" id="{AE9D0544-53C6-461C-B6F4-B84E00CB2472}"/>
              </a:ext>
            </a:extLst>
          </p:cNvPr>
          <p:cNvSpPr>
            <a:spLocks noGrp="1"/>
          </p:cNvSpPr>
          <p:nvPr/>
        </p:nvSpPr>
        <p:spPr>
          <a:xfrm>
            <a:off x="609600" y="1657350"/>
            <a:ext cx="10972800" cy="457200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Consolas" panose="020B0609020204030204" pitchFamily="49" charset="0"/>
              </a:rPr>
              <a:t>def quick_sort(a, lo, hi):</a:t>
            </a:r>
          </a:p>
          <a:p>
            <a:pPr>
              <a:defRPr sz="2025" b="0">
                <a:solidFill>
                  <a:srgbClr val="151515"/>
                </a:solidFill>
              </a:defRPr>
            </a:pPr>
            <a:r>
              <a:rPr sz="2025" b="0">
                <a:solidFill>
                  <a:srgbClr val="151515"/>
                </a:solidFill>
                <a:latin typeface="Consolas" panose="020B0609020204030204" pitchFamily="49" charset="0"/>
              </a:rPr>
              <a:t>    if lo &gt;= hi:</a:t>
            </a:r>
          </a:p>
          <a:p>
            <a:pPr>
              <a:defRPr sz="2025" b="0">
                <a:solidFill>
                  <a:srgbClr val="151515"/>
                </a:solidFill>
              </a:defRPr>
            </a:pPr>
            <a:r>
              <a:rPr sz="2025" b="0">
                <a:solidFill>
                  <a:srgbClr val="151515"/>
                </a:solidFill>
                <a:latin typeface="Consolas" panose="020B0609020204030204" pitchFamily="49" charset="0"/>
              </a:rPr>
              <a:t>        return</a:t>
            </a:r>
          </a:p>
          <a:p>
            <a:pPr>
              <a:defRPr sz="2025" b="0">
                <a:solidFill>
                  <a:srgbClr val="151515"/>
                </a:solidFill>
              </a:defRPr>
            </a:pPr>
            <a:r>
              <a:rPr sz="2025" b="0">
                <a:solidFill>
                  <a:srgbClr val="151515"/>
                </a:solidFill>
                <a:latin typeface="Consolas" panose="020B0609020204030204" pitchFamily="49" charset="0"/>
              </a:rPr>
              <a:t>    p = partition(a, lo, hi)</a:t>
            </a:r>
          </a:p>
          <a:p>
            <a:pPr>
              <a:defRPr sz="2025" b="0">
                <a:solidFill>
                  <a:srgbClr val="151515"/>
                </a:solidFill>
              </a:defRPr>
            </a:pPr>
            <a:r>
              <a:rPr sz="2025" b="0">
                <a:solidFill>
                  <a:srgbClr val="151515"/>
                </a:solidFill>
                <a:latin typeface="Consolas" panose="020B0609020204030204" pitchFamily="49" charset="0"/>
              </a:rPr>
              <a:t>    quick_sort(a, lo, p - 1)</a:t>
            </a:r>
          </a:p>
          <a:p>
            <a:pPr>
              <a:defRPr sz="2025" b="0">
                <a:solidFill>
                  <a:srgbClr val="151515"/>
                </a:solidFill>
              </a:defRPr>
            </a:pPr>
            <a:r>
              <a:rPr sz="2025" b="0">
                <a:solidFill>
                  <a:srgbClr val="151515"/>
                </a:solidFill>
                <a:latin typeface="Consolas" panose="020B0609020204030204" pitchFamily="49" charset="0"/>
              </a:rPr>
              <a:t>    quick_sort(a, p + 1, hi)</a:t>
            </a:r>
          </a:p>
          <a:p>
            <a:endParaRPr sz="2025" b="0">
              <a:solidFill>
                <a:srgbClr val="151515"/>
              </a:solidFill>
              <a:latin typeface="Consolas" panose="020B0609020204030204" pitchFamily="49" charset="0"/>
            </a:endParaRPr>
          </a:p>
          <a:p>
            <a:pPr>
              <a:defRPr sz="2025" b="0">
                <a:solidFill>
                  <a:srgbClr val="151515"/>
                </a:solidFill>
              </a:defRPr>
            </a:pPr>
            <a:r>
              <a:rPr sz="2025" b="0">
                <a:solidFill>
                  <a:srgbClr val="151515"/>
                </a:solidFill>
                <a:latin typeface="Consolas" panose="020B0609020204030204" pitchFamily="49" charset="0"/>
              </a:rPr>
              <a:t>a = [4, 2, 7, 3, 5]</a:t>
            </a:r>
          </a:p>
          <a:p>
            <a:pPr>
              <a:defRPr sz="2025" b="0">
                <a:solidFill>
                  <a:srgbClr val="151515"/>
                </a:solidFill>
              </a:defRPr>
            </a:pPr>
            <a:r>
              <a:rPr sz="2025" b="0">
                <a:solidFill>
                  <a:srgbClr val="151515"/>
                </a:solidFill>
                <a:latin typeface="Consolas" panose="020B0609020204030204" pitchFamily="49" charset="0"/>
              </a:rPr>
              <a:t>quick_sort(a, 0, len(a) - 1)</a:t>
            </a:r>
          </a:p>
          <a:p>
            <a:pPr>
              <a:defRPr sz="2025" b="0">
                <a:solidFill>
                  <a:srgbClr val="151515"/>
                </a:solidFill>
              </a:defRPr>
            </a:pPr>
            <a:r>
              <a:rPr sz="2025" b="0">
                <a:solidFill>
                  <a:srgbClr val="151515"/>
                </a:solidFill>
                <a:latin typeface="Consolas" panose="020B0609020204030204" pitchFamily="49" charset="0"/>
              </a:rPr>
              <a:t>print(a)  # [2, 3, 4, 5, 7]</a:t>
            </a:r>
          </a:p>
        </p:txBody>
      </p:sp>
      <p:sp>
        <p:nvSpPr>
          <p:cNvPr id="5" name="직사각형 4">
            <a:extLst>
              <a:ext uri="{FF2B5EF4-FFF2-40B4-BE49-F238E27FC236}">
                <a16:creationId xmlns:a16="http://schemas.microsoft.com/office/drawing/2014/main" id="{ED6A8DA0-3CA7-4AD5-B8B9-9B72442C620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7D64D34E-11A0-4FAE-839C-7D57EEEA774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23</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853CC69-0928-4224-5017-C64313AD4624}"/>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53108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052BDB41-7725-4A6B-9259-3B085F94292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87EC3394-2780-420B-B49B-ECB32B6D745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A9BE06E-70D1-4EAB-9E7C-87D0939AD7A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교환과 partition 함수</a:t>
            </a:r>
          </a:p>
        </p:txBody>
      </p:sp>
      <p:sp>
        <p:nvSpPr>
          <p:cNvPr id="4" name="직사각형 3">
            <a:extLst>
              <a:ext uri="{FF2B5EF4-FFF2-40B4-BE49-F238E27FC236}">
                <a16:creationId xmlns:a16="http://schemas.microsoft.com/office/drawing/2014/main" id="{E3D58094-89D7-4EB0-B71D-21DB80269B27}"/>
              </a:ext>
            </a:extLst>
          </p:cNvPr>
          <p:cNvSpPr>
            <a:spLocks noGrp="1"/>
          </p:cNvSpPr>
          <p:nvPr/>
        </p:nvSpPr>
        <p:spPr>
          <a:xfrm>
            <a:off x="609600" y="1657350"/>
            <a:ext cx="10972800" cy="457200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Consolas" panose="020B0609020204030204" pitchFamily="49" charset="0"/>
              </a:rPr>
              <a:t>void swap(int *x, int *y) {</a:t>
            </a:r>
          </a:p>
          <a:p>
            <a:pPr>
              <a:defRPr sz="2025" b="0">
                <a:solidFill>
                  <a:srgbClr val="151515"/>
                </a:solidFill>
              </a:defRPr>
            </a:pPr>
            <a:r>
              <a:rPr sz="2025" b="0">
                <a:solidFill>
                  <a:srgbClr val="151515"/>
                </a:solidFill>
                <a:latin typeface="Consolas" panose="020B0609020204030204" pitchFamily="49" charset="0"/>
              </a:rPr>
              <a:t>    int t = *x; *x = *y; *y = t;</a:t>
            </a:r>
          </a:p>
          <a:p>
            <a:pPr>
              <a:defRPr sz="2025" b="0">
                <a:solidFill>
                  <a:srgbClr val="151515"/>
                </a:solidFill>
              </a:defRPr>
            </a:pPr>
            <a:r>
              <a:rPr sz="2025" b="0">
                <a:solidFill>
                  <a:srgbClr val="151515"/>
                </a:solidFill>
                <a:latin typeface="Consolas" panose="020B0609020204030204" pitchFamily="49" charset="0"/>
              </a:rPr>
              <a:t>}</a:t>
            </a:r>
          </a:p>
          <a:p>
            <a:pPr>
              <a:defRPr sz="2025" b="0">
                <a:solidFill>
                  <a:srgbClr val="151515"/>
                </a:solidFill>
              </a:defRPr>
            </a:pPr>
            <a:r>
              <a:rPr sz="2025" b="0">
                <a:solidFill>
                  <a:srgbClr val="151515"/>
                </a:solidFill>
                <a:latin typeface="Consolas" panose="020B0609020204030204" pitchFamily="49" charset="0"/>
              </a:rPr>
              <a:t>int partition(int a[], int lo, int hi) {</a:t>
            </a:r>
          </a:p>
          <a:p>
            <a:pPr>
              <a:defRPr sz="2025" b="0">
                <a:solidFill>
                  <a:srgbClr val="151515"/>
                </a:solidFill>
              </a:defRPr>
            </a:pPr>
            <a:r>
              <a:rPr sz="2025" b="0">
                <a:solidFill>
                  <a:srgbClr val="151515"/>
                </a:solidFill>
                <a:latin typeface="Consolas" panose="020B0609020204030204" pitchFamily="49" charset="0"/>
              </a:rPr>
              <a:t>    int pivot = a[hi], i = lo - 1;</a:t>
            </a:r>
          </a:p>
          <a:p>
            <a:pPr>
              <a:defRPr sz="2025" b="0">
                <a:solidFill>
                  <a:srgbClr val="151515"/>
                </a:solidFill>
              </a:defRPr>
            </a:pPr>
            <a:r>
              <a:rPr sz="2025" b="0">
                <a:solidFill>
                  <a:srgbClr val="151515"/>
                </a:solidFill>
                <a:latin typeface="Consolas" panose="020B0609020204030204" pitchFamily="49" charset="0"/>
              </a:rPr>
              <a:t>    for (int j = lo; j &lt; hi; j++) {</a:t>
            </a:r>
          </a:p>
          <a:p>
            <a:pPr>
              <a:defRPr sz="2025" b="0">
                <a:solidFill>
                  <a:srgbClr val="151515"/>
                </a:solidFill>
              </a:defRPr>
            </a:pPr>
            <a:r>
              <a:rPr sz="2025" b="0">
                <a:solidFill>
                  <a:srgbClr val="151515"/>
                </a:solidFill>
                <a:latin typeface="Consolas" panose="020B0609020204030204" pitchFamily="49" charset="0"/>
              </a:rPr>
              <a:t>        if (a[j] &lt;= pivot) {</a:t>
            </a:r>
          </a:p>
          <a:p>
            <a:pPr>
              <a:defRPr sz="2025" b="0">
                <a:solidFill>
                  <a:srgbClr val="151515"/>
                </a:solidFill>
              </a:defRPr>
            </a:pPr>
            <a:r>
              <a:rPr sz="2025" b="0">
                <a:solidFill>
                  <a:srgbClr val="151515"/>
                </a:solidFill>
                <a:latin typeface="Consolas" panose="020B0609020204030204" pitchFamily="49" charset="0"/>
              </a:rPr>
              <a:t>            i++;</a:t>
            </a:r>
          </a:p>
          <a:p>
            <a:pPr>
              <a:defRPr sz="2025" b="0">
                <a:solidFill>
                  <a:srgbClr val="151515"/>
                </a:solidFill>
              </a:defRPr>
            </a:pPr>
            <a:r>
              <a:rPr sz="2025" b="0">
                <a:solidFill>
                  <a:srgbClr val="151515"/>
                </a:solidFill>
                <a:latin typeface="Consolas" panose="020B0609020204030204" pitchFamily="49" charset="0"/>
              </a:rPr>
              <a:t>            swap(&amp;a[i], &amp;a[j]);</a:t>
            </a:r>
          </a:p>
          <a:p>
            <a:pPr>
              <a:defRPr sz="2025" b="0">
                <a:solidFill>
                  <a:srgbClr val="151515"/>
                </a:solidFill>
              </a:defRPr>
            </a:pPr>
            <a:r>
              <a:rPr sz="2025" b="0">
                <a:solidFill>
                  <a:srgbClr val="151515"/>
                </a:solidFill>
                <a:latin typeface="Consolas" panose="020B0609020204030204" pitchFamily="49" charset="0"/>
              </a:rPr>
              <a:t>        }</a:t>
            </a:r>
          </a:p>
          <a:p>
            <a:pPr>
              <a:defRPr sz="2025" b="0">
                <a:solidFill>
                  <a:srgbClr val="151515"/>
                </a:solidFill>
              </a:defRPr>
            </a:pPr>
            <a:r>
              <a:rPr sz="2025" b="0">
                <a:solidFill>
                  <a:srgbClr val="151515"/>
                </a:solidFill>
                <a:latin typeface="Consolas" panose="020B0609020204030204" pitchFamily="49" charset="0"/>
              </a:rPr>
              <a:t>    }</a:t>
            </a:r>
          </a:p>
          <a:p>
            <a:pPr>
              <a:defRPr sz="2025" b="0">
                <a:solidFill>
                  <a:srgbClr val="151515"/>
                </a:solidFill>
              </a:defRPr>
            </a:pPr>
            <a:r>
              <a:rPr sz="2025" b="0">
                <a:solidFill>
                  <a:srgbClr val="151515"/>
                </a:solidFill>
                <a:latin typeface="Consolas" panose="020B0609020204030204" pitchFamily="49" charset="0"/>
              </a:rPr>
              <a:t>    swap(&amp;a[i + 1], &amp;a[hi]);</a:t>
            </a:r>
          </a:p>
          <a:p>
            <a:pPr>
              <a:defRPr sz="2025" b="0">
                <a:solidFill>
                  <a:srgbClr val="151515"/>
                </a:solidFill>
              </a:defRPr>
            </a:pPr>
            <a:r>
              <a:rPr sz="2025" b="0">
                <a:solidFill>
                  <a:srgbClr val="151515"/>
                </a:solidFill>
                <a:latin typeface="Consolas" panose="020B0609020204030204" pitchFamily="49" charset="0"/>
              </a:rPr>
              <a:t>    return i + 1;</a:t>
            </a:r>
          </a:p>
          <a:p>
            <a:pPr>
              <a:defRPr sz="2025" b="0">
                <a:solidFill>
                  <a:srgbClr val="151515"/>
                </a:solidFill>
              </a:defRPr>
            </a:pPr>
            <a:r>
              <a:rPr sz="202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B3F2970C-E5B7-4B36-B89B-31A94975428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7BBC3F1-C40B-4B44-958D-8BC7BE73156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24</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ED316B5-FF4C-4A5C-717D-4294783EB5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66094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D66254F-B5D7-4C90-972E-A76A4811E3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41629F3E-88A0-4CF6-9A0C-2CF80F4EB0B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9B81BDB-A458-48B1-BB8A-3D2361C2F4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35C10C24-B8DE-442E-862E-713A92EB6FC5}"/>
              </a:ext>
            </a:extLst>
          </p:cNvPr>
          <p:cNvSpPr>
            <a:spLocks noGrp="1"/>
          </p:cNvSpPr>
          <p:nvPr/>
        </p:nvSpPr>
        <p:spPr>
          <a:xfrm>
            <a:off x="609600" y="1657350"/>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#include &lt;stdio.h&gt;</a:t>
            </a:r>
          </a:p>
          <a:p>
            <a:pPr>
              <a:defRPr sz="1875" b="0">
                <a:solidFill>
                  <a:srgbClr val="151515"/>
                </a:solidFill>
              </a:defRPr>
            </a:pPr>
            <a:r>
              <a:rPr sz="1875" b="0">
                <a:solidFill>
                  <a:srgbClr val="151515"/>
                </a:solidFill>
                <a:latin typeface="Consolas" panose="020B0609020204030204" pitchFamily="49" charset="0"/>
              </a:rPr>
              <a:t>/* 앞 슬라이드의 swap과 partition을 이 위치에 넣는다 */</a:t>
            </a:r>
          </a:p>
          <a:p>
            <a:pPr>
              <a:defRPr sz="1875" b="0">
                <a:solidFill>
                  <a:srgbClr val="151515"/>
                </a:solidFill>
              </a:defRPr>
            </a:pPr>
            <a:r>
              <a:rPr sz="1875" b="0">
                <a:solidFill>
                  <a:srgbClr val="151515"/>
                </a:solidFill>
                <a:latin typeface="Consolas" panose="020B0609020204030204" pitchFamily="49" charset="0"/>
              </a:rPr>
              <a:t>void quick_sort(int a[], int lo, int hi) {</a:t>
            </a:r>
          </a:p>
          <a:p>
            <a:pPr>
              <a:defRPr sz="1875" b="0">
                <a:solidFill>
                  <a:srgbClr val="151515"/>
                </a:solidFill>
              </a:defRPr>
            </a:pPr>
            <a:r>
              <a:rPr sz="1875" b="0">
                <a:solidFill>
                  <a:srgbClr val="151515"/>
                </a:solidFill>
                <a:latin typeface="Consolas" panose="020B0609020204030204" pitchFamily="49" charset="0"/>
              </a:rPr>
              <a:t>    if (lo &gt;= hi) return;</a:t>
            </a:r>
          </a:p>
          <a:p>
            <a:pPr>
              <a:defRPr sz="1875" b="0">
                <a:solidFill>
                  <a:srgbClr val="151515"/>
                </a:solidFill>
              </a:defRPr>
            </a:pPr>
            <a:r>
              <a:rPr sz="1875" b="0">
                <a:solidFill>
                  <a:srgbClr val="151515"/>
                </a:solidFill>
                <a:latin typeface="Consolas" panose="020B0609020204030204" pitchFamily="49" charset="0"/>
              </a:rPr>
              <a:t>    int p = partition(a, lo, hi);</a:t>
            </a:r>
          </a:p>
          <a:p>
            <a:pPr>
              <a:defRPr sz="1875" b="0">
                <a:solidFill>
                  <a:srgbClr val="151515"/>
                </a:solidFill>
              </a:defRPr>
            </a:pPr>
            <a:r>
              <a:rPr sz="1875" b="0">
                <a:solidFill>
                  <a:srgbClr val="151515"/>
                </a:solidFill>
                <a:latin typeface="Consolas" panose="020B0609020204030204" pitchFamily="49" charset="0"/>
              </a:rPr>
              <a:t>    quick_sort(a, lo, p - 1);</a:t>
            </a:r>
          </a:p>
          <a:p>
            <a:pPr>
              <a:defRPr sz="1875" b="0">
                <a:solidFill>
                  <a:srgbClr val="151515"/>
                </a:solidFill>
              </a:defRPr>
            </a:pPr>
            <a:r>
              <a:rPr sz="1875" b="0">
                <a:solidFill>
                  <a:srgbClr val="151515"/>
                </a:solidFill>
                <a:latin typeface="Consolas" panose="020B0609020204030204" pitchFamily="49" charset="0"/>
              </a:rPr>
              <a:t>    quick_sort(a, p + 1, hi);</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main(void) {</a:t>
            </a:r>
          </a:p>
          <a:p>
            <a:pPr>
              <a:defRPr sz="1875" b="0">
                <a:solidFill>
                  <a:srgbClr val="151515"/>
                </a:solidFill>
              </a:defRPr>
            </a:pPr>
            <a:r>
              <a:rPr sz="1875" b="0">
                <a:solidFill>
                  <a:srgbClr val="151515"/>
                </a:solidFill>
                <a:latin typeface="Consolas" panose="020B0609020204030204" pitchFamily="49" charset="0"/>
              </a:rPr>
              <a:t>    int a[] = {4, 2, 7, 3, 5};</a:t>
            </a:r>
          </a:p>
          <a:p>
            <a:pPr>
              <a:defRPr sz="1875" b="0">
                <a:solidFill>
                  <a:srgbClr val="151515"/>
                </a:solidFill>
              </a:defRPr>
            </a:pPr>
            <a:r>
              <a:rPr sz="1875" b="0">
                <a:solidFill>
                  <a:srgbClr val="151515"/>
                </a:solidFill>
                <a:latin typeface="Consolas" panose="020B0609020204030204" pitchFamily="49" charset="0"/>
              </a:rPr>
              <a:t>    int n = sizeof(a) / sizeof(a[0]);</a:t>
            </a:r>
          </a:p>
          <a:p>
            <a:pPr>
              <a:defRPr sz="1875" b="0">
                <a:solidFill>
                  <a:srgbClr val="151515"/>
                </a:solidFill>
              </a:defRPr>
            </a:pPr>
            <a:r>
              <a:rPr sz="1875" b="0">
                <a:solidFill>
                  <a:srgbClr val="151515"/>
                </a:solidFill>
                <a:latin typeface="Consolas" panose="020B0609020204030204" pitchFamily="49" charset="0"/>
              </a:rPr>
              <a:t>    quick_sort(a, 0, n - 1);</a:t>
            </a:r>
          </a:p>
          <a:p>
            <a:pPr>
              <a:defRPr sz="1875" b="0">
                <a:solidFill>
                  <a:srgbClr val="151515"/>
                </a:solidFill>
              </a:defRPr>
            </a:pPr>
            <a:r>
              <a:rPr sz="1875" b="0">
                <a:solidFill>
                  <a:srgbClr val="151515"/>
                </a:solidFill>
                <a:latin typeface="Consolas" panose="020B0609020204030204" pitchFamily="49" charset="0"/>
              </a:rPr>
              <a:t>    for (int i = 0; i &lt; n; i++) printf("%d ", a[i]);</a:t>
            </a:r>
          </a:p>
          <a:p>
            <a:pPr>
              <a:defRPr sz="1875" b="0">
                <a:solidFill>
                  <a:srgbClr val="151515"/>
                </a:solidFill>
              </a:defRPr>
            </a:pPr>
            <a:r>
              <a:rPr sz="1875" b="0">
                <a:solidFill>
                  <a:srgbClr val="151515"/>
                </a:solidFill>
                <a:latin typeface="Consolas" panose="020B0609020204030204" pitchFamily="49" charset="0"/>
              </a:rPr>
              <a:t>    return 0;</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0B122522-B0AB-4B6C-8420-31A2D7D4A95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1C7BD7-5F9A-424D-A0D5-B6101C8F3EE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61982753-87D4-2123-2065-53E3B79DEB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72308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D1D1E0-C7C3-4878-A302-A73B1BC9A46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5F93D6D-DDA6-4409-A49A-22D4564524FE}"/>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16C005BC-E6B1-49D2-9E84-EB97F62DF56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평균과 최악의 시간 복잡도</a:t>
            </a:r>
          </a:p>
        </p:txBody>
      </p:sp>
      <p:sp>
        <p:nvSpPr>
          <p:cNvPr id="4" name="직사각형 3">
            <a:extLst>
              <a:ext uri="{FF2B5EF4-FFF2-40B4-BE49-F238E27FC236}">
                <a16:creationId xmlns:a16="http://schemas.microsoft.com/office/drawing/2014/main" id="{1498316A-36EF-4768-B28D-23A3A30E10F9}"/>
              </a:ext>
            </a:extLst>
          </p:cNvPr>
          <p:cNvSpPr>
            <a:spLocks noGrp="1"/>
          </p:cNvSpPr>
          <p:nvPr/>
        </p:nvSpPr>
        <p:spPr>
          <a:xfrm>
            <a:off x="609600" y="1657350"/>
            <a:ext cx="10972800" cy="4572000"/>
          </a:xfrm>
          <a:prstGeom prst="rect">
            <a:avLst/>
          </a:prstGeom>
          <a:noFill/>
          <a:ln w="0">
            <a:noFill/>
          </a:ln>
        </p:spPr>
        <p:txBody>
          <a:bodyPr/>
          <a:lstStyle>
            <a:defPPr>
              <a:defRPr sz="2250" b="0">
                <a:solidFill>
                  <a:srgbClr val="151515"/>
                </a:solidFill>
              </a:defRPr>
            </a:defPPr>
          </a:lstStyle>
          <a:p>
            <a:pPr>
              <a:defRPr sz="2250" b="0">
                <a:solidFill>
                  <a:srgbClr val="151515"/>
                </a:solidFill>
              </a:defRPr>
            </a:pPr>
            <a:r>
              <a:rPr sz="2250" b="0">
                <a:solidFill>
                  <a:srgbClr val="151515"/>
                </a:solidFill>
                <a:latin typeface="Malgun Gothic" panose="020B0503020000020004" pitchFamily="50" charset="-127"/>
              </a:rPr>
              <a:t>한 번의 분할: 구간 전체를 한 번 확인, Θ(n)</a:t>
            </a:r>
          </a:p>
          <a:p>
            <a:pPr>
              <a:defRPr sz="2250" b="0">
                <a:solidFill>
                  <a:srgbClr val="151515"/>
                </a:solidFill>
              </a:defRPr>
            </a:pPr>
            <a:r>
              <a:rPr sz="2250" b="0">
                <a:solidFill>
                  <a:srgbClr val="151515"/>
                </a:solidFill>
                <a:latin typeface="Malgun Gothic" panose="020B0503020000020004" pitchFamily="50" charset="-127"/>
              </a:rPr>
              <a:t>균형 있게 분할: 재귀 단계가 Θ(log n), 전체 Θ(n log n)</a:t>
            </a:r>
          </a:p>
          <a:p>
            <a:pPr>
              <a:defRPr sz="2250" b="0">
                <a:solidFill>
                  <a:srgbClr val="151515"/>
                </a:solidFill>
              </a:defRPr>
            </a:pPr>
            <a:r>
              <a:rPr sz="2250" b="0">
                <a:solidFill>
                  <a:srgbClr val="151515"/>
                </a:solidFill>
                <a:latin typeface="Malgun Gothic" panose="020B0503020000020004" pitchFamily="50" charset="-127"/>
              </a:rPr>
              <a:t>무작위 순열의 평균: Θ(n log n)</a:t>
            </a:r>
          </a:p>
          <a:p>
            <a:pPr>
              <a:defRPr sz="2250" b="0">
                <a:solidFill>
                  <a:srgbClr val="151515"/>
                </a:solidFill>
              </a:defRPr>
            </a:pPr>
            <a:r>
              <a:rPr sz="2250" b="0">
                <a:solidFill>
                  <a:srgbClr val="151515"/>
                </a:solidFill>
                <a:latin typeface="Malgun Gothic" panose="020B0503020000020004" pitchFamily="50" charset="-127"/>
              </a:rPr>
              <a:t>최악: 매번 0개와 n − 1개로 나누면 Θ(n²)</a:t>
            </a:r>
          </a:p>
          <a:p>
            <a:pPr>
              <a:defRPr sz="2250" b="0">
                <a:solidFill>
                  <a:srgbClr val="151515"/>
                </a:solidFill>
              </a:defRPr>
            </a:pPr>
            <a:r>
              <a:rPr sz="2250" b="0">
                <a:solidFill>
                  <a:srgbClr val="151515"/>
                </a:solidFill>
                <a:latin typeface="Malgun Gothic" panose="020B0503020000020004" pitchFamily="50" charset="-127"/>
              </a:rPr>
              <a:t>마지막 피벗 방식은 정렬된 배열·모두 같은 값에서 최악</a:t>
            </a:r>
          </a:p>
          <a:p>
            <a:pPr>
              <a:defRPr sz="2250" b="0">
                <a:solidFill>
                  <a:srgbClr val="151515"/>
                </a:solidFill>
              </a:defRPr>
            </a:pPr>
            <a:r>
              <a:rPr sz="2250" b="0">
                <a:solidFill>
                  <a:srgbClr val="151515"/>
                </a:solidFill>
                <a:latin typeface="Malgun Gothic" panose="020B0503020000020004" pitchFamily="50" charset="-127"/>
              </a:rPr>
              <a:t>무작위 피벗은 최악을 만날 위험을 줄인다</a:t>
            </a:r>
          </a:p>
        </p:txBody>
      </p:sp>
      <p:sp>
        <p:nvSpPr>
          <p:cNvPr id="5" name="직사각형 4">
            <a:extLst>
              <a:ext uri="{FF2B5EF4-FFF2-40B4-BE49-F238E27FC236}">
                <a16:creationId xmlns:a16="http://schemas.microsoft.com/office/drawing/2014/main" id="{1FA85E29-A304-470B-9221-0A137D96720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C41D575-9617-4782-B72F-E7E41F3B688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21525B-3456-CB51-9FD7-2A27457A3E5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346140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4822B5F-5AF4-4983-A028-52624F27CA1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626C4CA9-209B-4A7D-BB5C-80AEF1A2C97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E66748-BA86-42C3-8CF2-02FA16169C6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머지 소트와 퀵 소트 비교</a:t>
            </a:r>
          </a:p>
        </p:txBody>
      </p:sp>
      <p:sp>
        <p:nvSpPr>
          <p:cNvPr id="4" name="직사각형 3">
            <a:extLst>
              <a:ext uri="{FF2B5EF4-FFF2-40B4-BE49-F238E27FC236}">
                <a16:creationId xmlns:a16="http://schemas.microsoft.com/office/drawing/2014/main" id="{2CFAAAD4-F198-41B7-9561-52A249CE696D}"/>
              </a:ext>
            </a:extLst>
          </p:cNvPr>
          <p:cNvSpPr>
            <a:spLocks noGrp="1"/>
          </p:cNvSpPr>
          <p:nvPr/>
        </p:nvSpPr>
        <p:spPr>
          <a:xfrm>
            <a:off x="609600" y="1657350"/>
            <a:ext cx="10972800" cy="4572000"/>
          </a:xfrm>
          <a:prstGeom prst="rect">
            <a:avLst/>
          </a:prstGeom>
          <a:noFill/>
          <a:ln w="0">
            <a:noFill/>
          </a:ln>
        </p:spPr>
        <p:txBody>
          <a:bodyPr/>
          <a:lstStyle>
            <a:defPPr>
              <a:defRPr sz="2250" b="0">
                <a:solidFill>
                  <a:srgbClr val="151515"/>
                </a:solidFill>
              </a:defRPr>
            </a:defPPr>
          </a:lstStyle>
          <a:p>
            <a:pPr>
              <a:defRPr sz="2250" b="0">
                <a:solidFill>
                  <a:srgbClr val="151515"/>
                </a:solidFill>
              </a:defRPr>
            </a:pPr>
            <a:r>
              <a:rPr sz="2250" b="0">
                <a:solidFill>
                  <a:srgbClr val="151515"/>
                </a:solidFill>
                <a:latin typeface="Malgun Gothic" panose="020B0503020000020004" pitchFamily="50" charset="-127"/>
              </a:rPr>
              <a:t>머지 소트: 가운데 인덱스로 반씩 나누고 정렬 결과를 병합</a:t>
            </a:r>
          </a:p>
          <a:p>
            <a:pPr>
              <a:defRPr sz="2250" b="0">
                <a:solidFill>
                  <a:srgbClr val="151515"/>
                </a:solidFill>
              </a:defRPr>
            </a:pPr>
            <a:r>
              <a:rPr sz="2250" b="0">
                <a:solidFill>
                  <a:srgbClr val="151515"/>
                </a:solidFill>
                <a:latin typeface="Malgun Gothic" panose="020B0503020000020004" pitchFamily="50" charset="-127"/>
              </a:rPr>
              <a:t>퀵 소트: 피벗 값으로 나누고 양쪽 구간을 재귀 정렬</a:t>
            </a:r>
          </a:p>
          <a:p>
            <a:pPr>
              <a:defRPr sz="2250" b="0">
                <a:solidFill>
                  <a:srgbClr val="151515"/>
                </a:solidFill>
              </a:defRPr>
            </a:pPr>
            <a:r>
              <a:rPr sz="2250" b="0">
                <a:solidFill>
                  <a:srgbClr val="151515"/>
                </a:solidFill>
                <a:latin typeface="Malgun Gothic" panose="020B0503020000020004" pitchFamily="50" charset="-127"/>
              </a:rPr>
              <a:t>머지 소트: 최악에도 Θ(n log n)</a:t>
            </a:r>
          </a:p>
          <a:p>
            <a:pPr>
              <a:defRPr sz="2250" b="0">
                <a:solidFill>
                  <a:srgbClr val="151515"/>
                </a:solidFill>
              </a:defRPr>
            </a:pPr>
            <a:r>
              <a:rPr sz="2250" b="0">
                <a:solidFill>
                  <a:srgbClr val="151515"/>
                </a:solidFill>
                <a:latin typeface="Malgun Gothic" panose="020B0503020000020004" pitchFamily="50" charset="-127"/>
              </a:rPr>
              <a:t>퀵 소트: 평균 Θ(n log n), 최악 Θ(n²)</a:t>
            </a:r>
          </a:p>
          <a:p>
            <a:pPr>
              <a:defRPr sz="2250" b="0">
                <a:solidFill>
                  <a:srgbClr val="151515"/>
                </a:solidFill>
              </a:defRPr>
            </a:pPr>
            <a:r>
              <a:rPr sz="2250" b="0">
                <a:solidFill>
                  <a:srgbClr val="151515"/>
                </a:solidFill>
                <a:latin typeface="Malgun Gothic" panose="020B0503020000020004" pitchFamily="50" charset="-127"/>
              </a:rPr>
              <a:t>현재 머지 코드: 같은 값이면 왼쪽을 먼저 선택, 안정적</a:t>
            </a:r>
          </a:p>
          <a:p>
            <a:pPr>
              <a:defRPr sz="2250" b="0">
                <a:solidFill>
                  <a:srgbClr val="151515"/>
                </a:solidFill>
              </a:defRPr>
            </a:pPr>
            <a:r>
              <a:rPr sz="2250" b="0">
                <a:solidFill>
                  <a:srgbClr val="151515"/>
                </a:solidFill>
                <a:latin typeface="Malgun Gothic" panose="020B0503020000020004" pitchFamily="50" charset="-127"/>
              </a:rPr>
              <a:t>현재 퀵 코드: 멀리 떨어진 값도 교환, 안정성 보장 없음</a:t>
            </a:r>
          </a:p>
        </p:txBody>
      </p:sp>
      <p:sp>
        <p:nvSpPr>
          <p:cNvPr id="5" name="직사각형 4">
            <a:extLst>
              <a:ext uri="{FF2B5EF4-FFF2-40B4-BE49-F238E27FC236}">
                <a16:creationId xmlns:a16="http://schemas.microsoft.com/office/drawing/2014/main" id="{58D88DFC-9C04-4905-8816-935C76D605B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E8E3A445-5B07-4340-A7A9-4CA49FE32D71}"/>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E216458B-A148-D14E-AB59-B311D29D04D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65811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8E7F27A-43D0-484B-9925-F5B4DCA92E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A33575A0-C309-4242-B37F-54033A1510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A1F4E36-4B46-42E6-B623-8EEAA1B0A5D9}"/>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퀵 정렬 확인 문제</a:t>
            </a:r>
          </a:p>
        </p:txBody>
      </p:sp>
      <p:sp>
        <p:nvSpPr>
          <p:cNvPr id="4" name="직사각형 3">
            <a:extLst>
              <a:ext uri="{FF2B5EF4-FFF2-40B4-BE49-F238E27FC236}">
                <a16:creationId xmlns:a16="http://schemas.microsoft.com/office/drawing/2014/main" id="{BD0AE5B3-9369-49DA-AF6E-F9238D7C47CF}"/>
              </a:ext>
            </a:extLst>
          </p:cNvPr>
          <p:cNvSpPr>
            <a:spLocks noGrp="1"/>
          </p:cNvSpPr>
          <p:nvPr/>
        </p:nvSpPr>
        <p:spPr>
          <a:xfrm>
            <a:off x="609600" y="1657350"/>
            <a:ext cx="10972800" cy="4572000"/>
          </a:xfrm>
          <a:prstGeom prst="rect">
            <a:avLst/>
          </a:prstGeom>
          <a:noFill/>
          <a:ln w="0">
            <a:noFill/>
          </a:ln>
        </p:spPr>
        <p:txBody>
          <a:bodyPr/>
          <a:lstStyle>
            <a:defPPr>
              <a:defRPr sz="2250" b="0">
                <a:solidFill>
                  <a:srgbClr val="151515"/>
                </a:solidFill>
              </a:defRPr>
            </a:defPPr>
          </a:lstStyle>
          <a:p>
            <a:pPr>
              <a:defRPr sz="2250" b="0">
                <a:solidFill>
                  <a:srgbClr val="151515"/>
                </a:solidFill>
              </a:defRPr>
            </a:pPr>
            <a:r>
              <a:rPr sz="2250" b="0">
                <a:solidFill>
                  <a:srgbClr val="151515"/>
                </a:solidFill>
                <a:latin typeface="Malgun Gothic" panose="020B0503020000020004" pitchFamily="50" charset="-127"/>
              </a:rPr>
              <a:t>1. [3, 1, 4, 2]에서 마지막 값 2를 피벗으로 분할하면?</a:t>
            </a:r>
          </a:p>
          <a:p>
            <a:pPr>
              <a:defRPr sz="2250" b="0">
                <a:solidFill>
                  <a:srgbClr val="151515"/>
                </a:solidFill>
              </a:defRPr>
            </a:pPr>
            <a:r>
              <a:rPr sz="2250" b="0">
                <a:solidFill>
                  <a:srgbClr val="151515"/>
                </a:solidFill>
                <a:latin typeface="Malgun Gothic" panose="020B0503020000020004" pitchFamily="50" charset="-127"/>
              </a:rPr>
              <a:t>2. 피벗 위치가 p일 때 다음 두 재귀 구간은?</a:t>
            </a:r>
          </a:p>
          <a:p>
            <a:pPr>
              <a:defRPr sz="2250" b="0">
                <a:solidFill>
                  <a:srgbClr val="151515"/>
                </a:solidFill>
              </a:defRPr>
            </a:pPr>
            <a:r>
              <a:rPr sz="2250" b="0">
                <a:solidFill>
                  <a:srgbClr val="151515"/>
                </a:solidFill>
                <a:latin typeface="Malgun Gothic" panose="020B0503020000020004" pitchFamily="50" charset="-127"/>
              </a:rPr>
              <a:t>3. lo &gt;= hi이면 재귀를 끝내는 이유는?</a:t>
            </a:r>
          </a:p>
          <a:p>
            <a:pPr>
              <a:defRPr sz="2250" b="0">
                <a:solidFill>
                  <a:srgbClr val="151515"/>
                </a:solidFill>
              </a:defRPr>
            </a:pPr>
            <a:r>
              <a:rPr sz="2250" b="0">
                <a:solidFill>
                  <a:srgbClr val="151515"/>
                </a:solidFill>
                <a:latin typeface="Malgun Gothic" panose="020B0503020000020004" pitchFamily="50" charset="-127"/>
              </a:rPr>
              <a:t>4. 마지막 피벗 방식으로 [1, 2, 3, 4]를 정렬하면</a:t>
            </a:r>
          </a:p>
          <a:p>
            <a:pPr>
              <a:defRPr sz="2250" b="0">
                <a:solidFill>
                  <a:srgbClr val="151515"/>
                </a:solidFill>
              </a:defRPr>
            </a:pPr>
            <a:r>
              <a:rPr sz="2250" b="0">
                <a:solidFill>
                  <a:srgbClr val="151515"/>
                </a:solidFill>
                <a:latin typeface="Malgun Gothic" panose="020B0503020000020004" pitchFamily="50" charset="-127"/>
              </a:rPr>
              <a:t>   균형 분할일까, 한쪽으로 치우친 분할일까?</a:t>
            </a:r>
          </a:p>
        </p:txBody>
      </p:sp>
      <p:sp>
        <p:nvSpPr>
          <p:cNvPr id="5" name="직사각형 4">
            <a:extLst>
              <a:ext uri="{FF2B5EF4-FFF2-40B4-BE49-F238E27FC236}">
                <a16:creationId xmlns:a16="http://schemas.microsoft.com/office/drawing/2014/main" id="{AF3B8DB3-1B0D-4C81-B183-C3132EC5485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D167C664-92A9-417B-B431-714F8C6F656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97B4B985-CE4E-BBBC-E476-0A2BD7BD16A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624461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29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A57F658-8EBF-4BC5-808E-C2448983DE34}"/>
              </a:ext>
            </a:extLst>
          </p:cNvPr>
          <p:cNvSpPr>
            <a:spLocks noGrp="1"/>
          </p:cNvSpPr>
          <p:nvPr/>
        </p:nvSpPr>
        <p:spPr>
          <a:xfrm>
            <a:off x="658368" y="1737360"/>
            <a:ext cx="5120640" cy="7315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A 회사의 지난 며칠간의 주가 등락폭(변동분) 데이터가 주어졌다. 목표는 가장 큰 이익을 낼 수 있는 연속된 구간을 찾는 것이다.</a:t>
            </a:r>
            <a:endParaRPr sz="1300"/>
          </a:p>
        </p:txBody>
      </p:sp>
      <p:sp>
        <p:nvSpPr>
          <p:cNvPr id="7" name="Shape 4">
            <a:extLst>
              <a:ext uri="{FF2B5EF4-FFF2-40B4-BE49-F238E27FC236}">
                <a16:creationId xmlns:a16="http://schemas.microsoft.com/office/drawing/2014/main" id="{F936956F-BC27-4A93-B863-6A4ABADE4686}"/>
              </a:ext>
            </a:extLst>
          </p:cNvPr>
          <p:cNvSpPr>
            <a:spLocks noGrp="1"/>
          </p:cNvSpPr>
          <p:nvPr/>
        </p:nvSpPr>
        <p:spPr>
          <a:xfrm>
            <a:off x="658368" y="2560320"/>
            <a:ext cx="713232" cy="603504"/>
          </a:xfrm>
          <a:prstGeom prst="roundRect">
            <a:avLst>
              <a:gd name="adj" fmla="val 13636"/>
            </a:avLst>
          </a:prstGeom>
          <a:solidFill>
            <a:srgbClr val="E9E9E9"/>
          </a:solidFill>
          <a:ln w="5715">
            <a:solidFill>
              <a:srgbClr val="D4D4D4"/>
            </a:solidFill>
          </a:ln>
        </p:spPr>
      </p:sp>
      <p:sp>
        <p:nvSpPr>
          <p:cNvPr id="8" name="Text 5">
            <a:extLst>
              <a:ext uri="{FF2B5EF4-FFF2-40B4-BE49-F238E27FC236}">
                <a16:creationId xmlns:a16="http://schemas.microsoft.com/office/drawing/2014/main" id="{0B41A4E1-5360-41EE-9644-18D4FD833B12}"/>
              </a:ext>
            </a:extLst>
          </p:cNvPr>
          <p:cNvSpPr>
            <a:spLocks noGrp="1"/>
          </p:cNvSpPr>
          <p:nvPr/>
        </p:nvSpPr>
        <p:spPr>
          <a:xfrm>
            <a:off x="6583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3</a:t>
            </a:r>
            <a:endParaRPr sz="1400"/>
          </a:p>
        </p:txBody>
      </p:sp>
      <p:sp>
        <p:nvSpPr>
          <p:cNvPr id="9" name="Text 6">
            <a:extLst>
              <a:ext uri="{FF2B5EF4-FFF2-40B4-BE49-F238E27FC236}">
                <a16:creationId xmlns:a16="http://schemas.microsoft.com/office/drawing/2014/main" id="{056BFA46-876F-4A82-AC84-1930BE8C9E88}"/>
              </a:ext>
            </a:extLst>
          </p:cNvPr>
          <p:cNvSpPr>
            <a:spLocks noGrp="1"/>
          </p:cNvSpPr>
          <p:nvPr/>
        </p:nvSpPr>
        <p:spPr>
          <a:xfrm>
            <a:off x="6583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1일</a:t>
            </a:r>
            <a:endParaRPr sz="900"/>
          </a:p>
        </p:txBody>
      </p:sp>
      <p:sp>
        <p:nvSpPr>
          <p:cNvPr id="10" name="Shape 7">
            <a:extLst>
              <a:ext uri="{FF2B5EF4-FFF2-40B4-BE49-F238E27FC236}">
                <a16:creationId xmlns:a16="http://schemas.microsoft.com/office/drawing/2014/main" id="{EBFA9C01-102A-4D37-9FE6-2CFE9BE888B9}"/>
              </a:ext>
            </a:extLst>
          </p:cNvPr>
          <p:cNvSpPr>
            <a:spLocks noGrp="1"/>
          </p:cNvSpPr>
          <p:nvPr/>
        </p:nvSpPr>
        <p:spPr>
          <a:xfrm>
            <a:off x="1481328" y="2560320"/>
            <a:ext cx="713232" cy="603504"/>
          </a:xfrm>
          <a:prstGeom prst="roundRect">
            <a:avLst>
              <a:gd name="adj" fmla="val 13636"/>
            </a:avLst>
          </a:prstGeom>
          <a:solidFill>
            <a:srgbClr val="E9E9E9"/>
          </a:solidFill>
          <a:ln w="5715">
            <a:solidFill>
              <a:srgbClr val="D4D4D4"/>
            </a:solidFill>
          </a:ln>
        </p:spPr>
      </p:sp>
      <p:sp>
        <p:nvSpPr>
          <p:cNvPr id="11" name="Text 8">
            <a:extLst>
              <a:ext uri="{FF2B5EF4-FFF2-40B4-BE49-F238E27FC236}">
                <a16:creationId xmlns:a16="http://schemas.microsoft.com/office/drawing/2014/main" id="{38F623CE-A409-49CD-A277-D588207EB7F2}"/>
              </a:ext>
            </a:extLst>
          </p:cNvPr>
          <p:cNvSpPr>
            <a:spLocks noGrp="1"/>
          </p:cNvSpPr>
          <p:nvPr/>
        </p:nvSpPr>
        <p:spPr>
          <a:xfrm>
            <a:off x="148132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-5</a:t>
            </a:r>
            <a:endParaRPr sz="1400"/>
          </a:p>
        </p:txBody>
      </p:sp>
      <p:sp>
        <p:nvSpPr>
          <p:cNvPr id="12" name="Text 9">
            <a:extLst>
              <a:ext uri="{FF2B5EF4-FFF2-40B4-BE49-F238E27FC236}">
                <a16:creationId xmlns:a16="http://schemas.microsoft.com/office/drawing/2014/main" id="{EA1AF2DB-DF32-42ED-B813-711B545BB03C}"/>
              </a:ext>
            </a:extLst>
          </p:cNvPr>
          <p:cNvSpPr>
            <a:spLocks noGrp="1"/>
          </p:cNvSpPr>
          <p:nvPr/>
        </p:nvSpPr>
        <p:spPr>
          <a:xfrm>
            <a:off x="148132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2일</a:t>
            </a:r>
            <a:endParaRPr sz="900"/>
          </a:p>
        </p:txBody>
      </p:sp>
      <p:sp>
        <p:nvSpPr>
          <p:cNvPr id="13" name="Shape 10">
            <a:extLst>
              <a:ext uri="{FF2B5EF4-FFF2-40B4-BE49-F238E27FC236}">
                <a16:creationId xmlns:a16="http://schemas.microsoft.com/office/drawing/2014/main" id="{6682C7E6-339D-4807-AC87-2FCB01132C33}"/>
              </a:ext>
            </a:extLst>
          </p:cNvPr>
          <p:cNvSpPr>
            <a:spLocks noGrp="1"/>
          </p:cNvSpPr>
          <p:nvPr/>
        </p:nvSpPr>
        <p:spPr>
          <a:xfrm>
            <a:off x="2304288" y="2560320"/>
            <a:ext cx="713232" cy="603504"/>
          </a:xfrm>
          <a:prstGeom prst="roundRect">
            <a:avLst>
              <a:gd name="adj" fmla="val 13636"/>
            </a:avLst>
          </a:prstGeom>
          <a:solidFill>
            <a:srgbClr val="E9E9E9"/>
          </a:solidFill>
          <a:ln w="5715">
            <a:solidFill>
              <a:srgbClr val="D4D4D4"/>
            </a:solidFill>
          </a:ln>
        </p:spPr>
      </p:sp>
      <p:sp>
        <p:nvSpPr>
          <p:cNvPr id="14" name="Text 11">
            <a:extLst>
              <a:ext uri="{FF2B5EF4-FFF2-40B4-BE49-F238E27FC236}">
                <a16:creationId xmlns:a16="http://schemas.microsoft.com/office/drawing/2014/main" id="{9431576A-4488-43F2-81D4-C11D64817759}"/>
              </a:ext>
            </a:extLst>
          </p:cNvPr>
          <p:cNvSpPr>
            <a:spLocks noGrp="1"/>
          </p:cNvSpPr>
          <p:nvPr/>
        </p:nvSpPr>
        <p:spPr>
          <a:xfrm>
            <a:off x="230428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12</a:t>
            </a:r>
            <a:endParaRPr sz="1400"/>
          </a:p>
        </p:txBody>
      </p:sp>
      <p:sp>
        <p:nvSpPr>
          <p:cNvPr id="15" name="Text 12">
            <a:extLst>
              <a:ext uri="{FF2B5EF4-FFF2-40B4-BE49-F238E27FC236}">
                <a16:creationId xmlns:a16="http://schemas.microsoft.com/office/drawing/2014/main" id="{F65A70CF-8955-4E7C-8773-A5A95199A417}"/>
              </a:ext>
            </a:extLst>
          </p:cNvPr>
          <p:cNvSpPr>
            <a:spLocks noGrp="1"/>
          </p:cNvSpPr>
          <p:nvPr/>
        </p:nvSpPr>
        <p:spPr>
          <a:xfrm>
            <a:off x="230428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3일</a:t>
            </a:r>
            <a:endParaRPr sz="900"/>
          </a:p>
        </p:txBody>
      </p:sp>
      <p:sp>
        <p:nvSpPr>
          <p:cNvPr id="16" name="Shape 13">
            <a:extLst>
              <a:ext uri="{FF2B5EF4-FFF2-40B4-BE49-F238E27FC236}">
                <a16:creationId xmlns:a16="http://schemas.microsoft.com/office/drawing/2014/main" id="{93292094-A34D-4CB1-8B79-CC83A7575D6F}"/>
              </a:ext>
            </a:extLst>
          </p:cNvPr>
          <p:cNvSpPr>
            <a:spLocks noGrp="1"/>
          </p:cNvSpPr>
          <p:nvPr/>
        </p:nvSpPr>
        <p:spPr>
          <a:xfrm>
            <a:off x="3127248" y="2560320"/>
            <a:ext cx="713232" cy="603504"/>
          </a:xfrm>
          <a:prstGeom prst="roundRect">
            <a:avLst>
              <a:gd name="adj" fmla="val 13636"/>
            </a:avLst>
          </a:prstGeom>
          <a:solidFill>
            <a:srgbClr val="E9E9E9"/>
          </a:solidFill>
          <a:ln w="5715">
            <a:solidFill>
              <a:srgbClr val="D4D4D4"/>
            </a:solidFill>
          </a:ln>
        </p:spPr>
      </p:sp>
      <p:sp>
        <p:nvSpPr>
          <p:cNvPr id="17" name="Text 14">
            <a:extLst>
              <a:ext uri="{FF2B5EF4-FFF2-40B4-BE49-F238E27FC236}">
                <a16:creationId xmlns:a16="http://schemas.microsoft.com/office/drawing/2014/main" id="{D63394F1-2017-4AA5-8ADA-158272F19090}"/>
              </a:ext>
            </a:extLst>
          </p:cNvPr>
          <p:cNvSpPr>
            <a:spLocks noGrp="1"/>
          </p:cNvSpPr>
          <p:nvPr/>
        </p:nvSpPr>
        <p:spPr>
          <a:xfrm>
            <a:off x="312724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-2</a:t>
            </a:r>
            <a:endParaRPr sz="1400"/>
          </a:p>
        </p:txBody>
      </p:sp>
      <p:sp>
        <p:nvSpPr>
          <p:cNvPr id="18" name="Text 15">
            <a:extLst>
              <a:ext uri="{FF2B5EF4-FFF2-40B4-BE49-F238E27FC236}">
                <a16:creationId xmlns:a16="http://schemas.microsoft.com/office/drawing/2014/main" id="{9379583C-A066-42EA-A674-DE75011B4C10}"/>
              </a:ext>
            </a:extLst>
          </p:cNvPr>
          <p:cNvSpPr>
            <a:spLocks noGrp="1"/>
          </p:cNvSpPr>
          <p:nvPr/>
        </p:nvSpPr>
        <p:spPr>
          <a:xfrm>
            <a:off x="312724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4일</a:t>
            </a:r>
            <a:endParaRPr sz="900"/>
          </a:p>
        </p:txBody>
      </p:sp>
      <p:sp>
        <p:nvSpPr>
          <p:cNvPr id="19" name="Shape 16">
            <a:extLst>
              <a:ext uri="{FF2B5EF4-FFF2-40B4-BE49-F238E27FC236}">
                <a16:creationId xmlns:a16="http://schemas.microsoft.com/office/drawing/2014/main" id="{5FD19B53-42C3-4658-8416-6BC3B4A923BA}"/>
              </a:ext>
            </a:extLst>
          </p:cNvPr>
          <p:cNvSpPr>
            <a:spLocks noGrp="1"/>
          </p:cNvSpPr>
          <p:nvPr/>
        </p:nvSpPr>
        <p:spPr>
          <a:xfrm>
            <a:off x="3950208" y="2560320"/>
            <a:ext cx="713232" cy="603504"/>
          </a:xfrm>
          <a:prstGeom prst="roundRect">
            <a:avLst>
              <a:gd name="adj" fmla="val 13636"/>
            </a:avLst>
          </a:prstGeom>
          <a:solidFill>
            <a:srgbClr val="E9E9E9"/>
          </a:solidFill>
          <a:ln w="5715">
            <a:solidFill>
              <a:srgbClr val="D4D4D4"/>
            </a:solidFill>
          </a:ln>
        </p:spPr>
      </p:sp>
      <p:sp>
        <p:nvSpPr>
          <p:cNvPr id="20" name="Text 17">
            <a:extLst>
              <a:ext uri="{FF2B5EF4-FFF2-40B4-BE49-F238E27FC236}">
                <a16:creationId xmlns:a16="http://schemas.microsoft.com/office/drawing/2014/main" id="{6B90FDC7-F6C3-4E80-857F-96F6D4F1894B}"/>
              </a:ext>
            </a:extLst>
          </p:cNvPr>
          <p:cNvSpPr>
            <a:spLocks noGrp="1"/>
          </p:cNvSpPr>
          <p:nvPr/>
        </p:nvSpPr>
        <p:spPr>
          <a:xfrm>
            <a:off x="395020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7</a:t>
            </a:r>
            <a:endParaRPr sz="1400"/>
          </a:p>
        </p:txBody>
      </p:sp>
      <p:sp>
        <p:nvSpPr>
          <p:cNvPr id="21" name="Text 18">
            <a:extLst>
              <a:ext uri="{FF2B5EF4-FFF2-40B4-BE49-F238E27FC236}">
                <a16:creationId xmlns:a16="http://schemas.microsoft.com/office/drawing/2014/main" id="{DC1147E0-CE60-4BFD-9701-C22CBADC77B7}"/>
              </a:ext>
            </a:extLst>
          </p:cNvPr>
          <p:cNvSpPr>
            <a:spLocks noGrp="1"/>
          </p:cNvSpPr>
          <p:nvPr/>
        </p:nvSpPr>
        <p:spPr>
          <a:xfrm>
            <a:off x="395020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5일</a:t>
            </a:r>
            <a:endParaRPr sz="900"/>
          </a:p>
        </p:txBody>
      </p:sp>
      <p:sp>
        <p:nvSpPr>
          <p:cNvPr id="22" name="Shape 19">
            <a:extLst>
              <a:ext uri="{FF2B5EF4-FFF2-40B4-BE49-F238E27FC236}">
                <a16:creationId xmlns:a16="http://schemas.microsoft.com/office/drawing/2014/main" id="{E95AD2C2-9BE2-4737-B81D-4DF49BD699CB}"/>
              </a:ext>
            </a:extLst>
          </p:cNvPr>
          <p:cNvSpPr>
            <a:spLocks noGrp="1"/>
          </p:cNvSpPr>
          <p:nvPr/>
        </p:nvSpPr>
        <p:spPr>
          <a:xfrm>
            <a:off x="4773168" y="2560320"/>
            <a:ext cx="713232" cy="603504"/>
          </a:xfrm>
          <a:prstGeom prst="roundRect">
            <a:avLst>
              <a:gd name="adj" fmla="val 13636"/>
            </a:avLst>
          </a:prstGeom>
          <a:solidFill>
            <a:srgbClr val="E9E9E9"/>
          </a:solidFill>
          <a:ln w="5715">
            <a:solidFill>
              <a:srgbClr val="D4D4D4"/>
            </a:solidFill>
          </a:ln>
        </p:spPr>
      </p:sp>
      <p:sp>
        <p:nvSpPr>
          <p:cNvPr id="23" name="Text 20">
            <a:extLst>
              <a:ext uri="{FF2B5EF4-FFF2-40B4-BE49-F238E27FC236}">
                <a16:creationId xmlns:a16="http://schemas.microsoft.com/office/drawing/2014/main" id="{8A016E59-091E-43F1-964D-8B083AA58148}"/>
              </a:ext>
            </a:extLst>
          </p:cNvPr>
          <p:cNvSpPr>
            <a:spLocks noGrp="1"/>
          </p:cNvSpPr>
          <p:nvPr/>
        </p:nvSpPr>
        <p:spPr>
          <a:xfrm>
            <a:off x="47731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-9</a:t>
            </a:r>
            <a:endParaRPr sz="1400"/>
          </a:p>
        </p:txBody>
      </p:sp>
      <p:sp>
        <p:nvSpPr>
          <p:cNvPr id="24" name="Text 21">
            <a:extLst>
              <a:ext uri="{FF2B5EF4-FFF2-40B4-BE49-F238E27FC236}">
                <a16:creationId xmlns:a16="http://schemas.microsoft.com/office/drawing/2014/main" id="{652B97AD-7357-4947-AB65-584C546B815C}"/>
              </a:ext>
            </a:extLst>
          </p:cNvPr>
          <p:cNvSpPr>
            <a:spLocks noGrp="1"/>
          </p:cNvSpPr>
          <p:nvPr/>
        </p:nvSpPr>
        <p:spPr>
          <a:xfrm>
            <a:off x="47731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6일</a:t>
            </a:r>
            <a:endParaRPr sz="900"/>
          </a:p>
        </p:txBody>
      </p:sp>
      <p:sp>
        <p:nvSpPr>
          <p:cNvPr id="28" name="Text 24">
            <a:extLst>
              <a:ext uri="{FF2B5EF4-FFF2-40B4-BE49-F238E27FC236}">
                <a16:creationId xmlns:a16="http://schemas.microsoft.com/office/drawing/2014/main" id="{4AADAE5A-5CBB-4895-BF10-76488FF33A47}"/>
              </a:ext>
            </a:extLst>
          </p:cNvPr>
          <p:cNvSpPr>
            <a:spLocks noGrp="1"/>
          </p:cNvSpPr>
          <p:nvPr/>
        </p:nvSpPr>
        <p:spPr>
          <a:xfrm>
            <a:off x="1517904" y="3767328"/>
            <a:ext cx="4005072" cy="78638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처음부터 끝까지 들고 있었다면?  3 − 5 + 12 − 2 + 7 − 9 = 6</a:t>
            </a:r>
            <a:endParaRPr sz="1250"/>
          </a:p>
        </p:txBody>
      </p:sp>
      <p:sp>
        <p:nvSpPr>
          <p:cNvPr id="32" name="Text 27">
            <a:extLst>
              <a:ext uri="{FF2B5EF4-FFF2-40B4-BE49-F238E27FC236}">
                <a16:creationId xmlns:a16="http://schemas.microsoft.com/office/drawing/2014/main" id="{41B205AD-7075-4D55-A8B1-A106B28AC056}"/>
              </a:ext>
            </a:extLst>
          </p:cNvPr>
          <p:cNvSpPr>
            <a:spLocks noGrp="1"/>
          </p:cNvSpPr>
          <p:nvPr/>
        </p:nvSpPr>
        <p:spPr>
          <a:xfrm>
            <a:off x="1517904" y="5010912"/>
            <a:ext cx="4005072" cy="896112"/>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3~5일 차 변동분을 합하면?  12 + (−2) + 7 = 17  ← 최대!</a:t>
            </a:r>
            <a:endParaRPr sz="1250"/>
          </a:p>
        </p:txBody>
      </p:sp>
      <p:sp>
        <p:nvSpPr>
          <p:cNvPr id="40" name="직사각형 39">
            <a:extLst>
              <a:ext uri="{FF2B5EF4-FFF2-40B4-BE49-F238E27FC236}">
                <a16:creationId xmlns:a16="http://schemas.microsoft.com/office/drawing/2014/main" id="{9C7E1893-B5B2-43B0-9127-B924A4791C05}"/>
              </a:ext>
            </a:extLst>
          </p:cNvPr>
          <p:cNvSpPr>
            <a:spLocks noGrp="1"/>
          </p:cNvSpPr>
          <p:nvPr/>
        </p:nvSpPr>
        <p:spPr>
          <a:xfrm>
            <a:off x="658368" y="3602736"/>
            <a:ext cx="512064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9A592C4B-8250-4255-873E-D6019B0C3FC3}"/>
              </a:ext>
            </a:extLst>
          </p:cNvPr>
          <p:cNvSpPr>
            <a:spLocks noGrp="1"/>
          </p:cNvSpPr>
          <p:nvPr/>
        </p:nvSpPr>
        <p:spPr>
          <a:xfrm>
            <a:off x="658368" y="4846320"/>
            <a:ext cx="512064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990B98A-2966-474A-B915-8B4060C16145}"/>
              </a:ext>
            </a:extLst>
          </p:cNvPr>
          <p:cNvSpPr>
            <a:spLocks noGrp="1"/>
          </p:cNvSpPr>
          <p:nvPr/>
        </p:nvSpPr>
        <p:spPr>
          <a:xfrm>
            <a:off x="6126480" y="1737360"/>
            <a:ext cx="540410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90A1FAD5-5612-4975-9922-F1C6A7204BB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4B8FEC28-DC0D-4681-99E6-45AFB8C0104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5" name="직사각형 44">
            <a:extLst>
              <a:ext uri="{FF2B5EF4-FFF2-40B4-BE49-F238E27FC236}">
                <a16:creationId xmlns:a16="http://schemas.microsoft.com/office/drawing/2014/main" id="{9C897387-82DB-4CC6-A06F-A21BF80EB73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가장 큰 이익을 내는 구간은?</a:t>
            </a:r>
          </a:p>
        </p:txBody>
      </p:sp>
      <p:sp>
        <p:nvSpPr>
          <p:cNvPr id="46" name="직사각형 45">
            <a:extLst>
              <a:ext uri="{FF2B5EF4-FFF2-40B4-BE49-F238E27FC236}">
                <a16:creationId xmlns:a16="http://schemas.microsoft.com/office/drawing/2014/main" id="{F5207DAF-7452-468B-8FB4-7DF5B006B22C}"/>
              </a:ext>
            </a:extLst>
          </p:cNvPr>
          <p:cNvSpPr>
            <a:spLocks noGrp="1"/>
          </p:cNvSpPr>
          <p:nvPr/>
        </p:nvSpPr>
        <p:spPr>
          <a:xfrm>
            <a:off x="609600" y="1381125"/>
            <a:ext cx="10972800" cy="19050"/>
          </a:xfrm>
          <a:prstGeom prst="rect">
            <a:avLst/>
          </a:prstGeom>
          <a:solidFill>
            <a:srgbClr val="171717"/>
          </a:solidFill>
          <a:ln w="0">
            <a:noFill/>
          </a:ln>
        </p:spPr>
      </p:sp>
      <p:sp>
        <p:nvSpPr>
          <p:cNvPr id="47" name="직사각형 46">
            <a:extLst>
              <a:ext uri="{FF2B5EF4-FFF2-40B4-BE49-F238E27FC236}">
                <a16:creationId xmlns:a16="http://schemas.microsoft.com/office/drawing/2014/main" id="{1B3F1404-6958-44F0-8CE2-6F09476AAC32}"/>
              </a:ext>
            </a:extLst>
          </p:cNvPr>
          <p:cNvSpPr>
            <a:spLocks noGrp="1"/>
          </p:cNvSpPr>
          <p:nvPr/>
        </p:nvSpPr>
        <p:spPr>
          <a:xfrm>
            <a:off x="609600" y="6438900"/>
            <a:ext cx="10972800" cy="9525"/>
          </a:xfrm>
          <a:prstGeom prst="rect">
            <a:avLst/>
          </a:prstGeom>
          <a:solidFill>
            <a:srgbClr val="D4D4D4"/>
          </a:solidFill>
          <a:ln w="0">
            <a:noFill/>
          </a:ln>
        </p:spPr>
      </p:sp>
      <p:sp>
        <p:nvSpPr>
          <p:cNvPr id="48" name="직사각형 47">
            <a:extLst>
              <a:ext uri="{FF2B5EF4-FFF2-40B4-BE49-F238E27FC236}">
                <a16:creationId xmlns:a16="http://schemas.microsoft.com/office/drawing/2014/main" id="{CC57FA98-294E-44CC-8237-D2FE35A93F1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9" name="직사각형 48">
            <a:extLst>
              <a:ext uri="{FF2B5EF4-FFF2-40B4-BE49-F238E27FC236}">
                <a16:creationId xmlns:a16="http://schemas.microsoft.com/office/drawing/2014/main" id="{F8BB6713-380B-4870-97CC-8F0DC3F9E6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30</a:t>
            </a:r>
            <a:endParaRPr sz="1050" b="1" i="0">
              <a:solidFill>
                <a:srgbClr val="171717"/>
              </a:solidFill>
              <a:latin typeface="Consolas"/>
              <a:ea typeface="Consolas"/>
              <a:cs typeface="Consolas"/>
            </a:endParaRPr>
          </a:p>
        </p:txBody>
      </p:sp>
      <p:graphicFrame>
        <p:nvGraphicFramePr>
          <p:cNvPr id="85" name="Chart"/>
          <p:cNvGraphicFramePr/>
          <p:nvPr/>
        </p:nvGraphicFramePr>
        <p:xfrm>
          <a:off x="6105525" y="2352675"/>
          <a:ext cx="5381625"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1" name="직사각형 50">
            <a:extLst>
              <a:ext uri="{FF2B5EF4-FFF2-40B4-BE49-F238E27FC236}">
                <a16:creationId xmlns:a16="http://schemas.microsoft.com/office/drawing/2014/main" id="{84B33900-D492-4F83-AD41-4C6BAAFBA4DC}"/>
              </a:ext>
            </a:extLst>
          </p:cNvPr>
          <p:cNvSpPr>
            <a:spLocks noGrp="1"/>
          </p:cNvSpPr>
          <p:nvPr/>
        </p:nvSpPr>
        <p:spPr>
          <a:xfrm>
            <a:off x="6286500" y="1990725"/>
            <a:ext cx="5200650" cy="333375"/>
          </a:xfrm>
          <a:prstGeom prst="rect">
            <a:avLst/>
          </a:prstGeom>
          <a:noFill/>
          <a:ln w="0">
            <a:noFill/>
          </a:ln>
        </p:spPr>
        <p:txBody>
          <a:bodyPr>
            <a:noAutofit/>
          </a:bodyPr>
          <a:lstStyle/>
          <a:p>
            <a:pPr>
              <a:defRPr sz="1425">
                <a:solidFill>
                  <a:srgbClr val="606060"/>
                </a:solidFill>
                <a:latin typeface="Malgun Gothic"/>
                <a:ea typeface="Malgun Gothic"/>
                <a:cs typeface="Malgun Gothic"/>
              </a:defRPr>
            </a:pPr>
            <a:r>
              <a:rPr sz="1425">
                <a:solidFill>
                  <a:srgbClr val="606060"/>
                </a:solidFill>
                <a:latin typeface="Malgun Gothic"/>
                <a:ea typeface="Malgun Gothic"/>
                <a:cs typeface="Malgun Gothic"/>
              </a:rPr>
              <a:t>일별 손익 변화</a:t>
            </a:r>
          </a:p>
        </p:txBody>
      </p:sp>
      <p:sp>
        <p:nvSpPr>
          <p:cNvPr id="52" name="직사각형 51">
            <a:extLst>
              <a:ext uri="{FF2B5EF4-FFF2-40B4-BE49-F238E27FC236}">
                <a16:creationId xmlns:a16="http://schemas.microsoft.com/office/drawing/2014/main" id="{42D497F8-2FF3-43E6-9176-DED0F9365BF4}"/>
              </a:ext>
            </a:extLst>
          </p:cNvPr>
          <p:cNvSpPr>
            <a:spLocks noGrp="1"/>
          </p:cNvSpPr>
          <p:nvPr/>
        </p:nvSpPr>
        <p:spPr>
          <a:xfrm>
            <a:off x="6477000" y="5591175"/>
            <a:ext cx="4953000" cy="409575"/>
          </a:xfrm>
          <a:prstGeom prst="rect">
            <a:avLst/>
          </a:prstGeom>
          <a:noFill/>
          <a:ln w="0">
            <a:noFill/>
          </a:ln>
        </p:spPr>
        <p:txBody>
          <a:bodyPr>
            <a:noAutofit/>
          </a:bodyPr>
          <a:lstStyle/>
          <a:p>
            <a:pPr>
              <a:defRPr sz="1875" b="1">
                <a:solidFill>
                  <a:srgbClr val="171717"/>
                </a:solidFill>
                <a:latin typeface="Malgun Gothic"/>
                <a:ea typeface="Malgun Gothic"/>
                <a:cs typeface="Malgun Gothic"/>
              </a:defRPr>
            </a:pPr>
            <a:r>
              <a:rPr sz="1875" b="1">
                <a:solidFill>
                  <a:srgbClr val="171717"/>
                </a:solidFill>
                <a:latin typeface="Malgun Gothic"/>
                <a:ea typeface="Malgun Gothic"/>
                <a:cs typeface="Malgun Gothic"/>
              </a:rPr>
              <a:t>3~5일: 12 − 2 + 7 = 17</a:t>
            </a:r>
          </a:p>
        </p:txBody>
      </p:sp>
      <p:pic>
        <p:nvPicPr>
          <p:cNvPr id="88" name="그림 87"/>
          <p:cNvPicPr>
            <a:picLocks noChangeAspect="1"/>
          </p:cNvPicPr>
          <p:nvPr/>
        </p:nvPicPr>
        <p:blipFill>
          <a:blip r:embed="rId4"/>
          <a:stretch/>
        </p:blipFill>
        <p:spPr>
          <a:xfrm>
            <a:off x="685800" y="3990975"/>
            <a:ext cx="704850" cy="704850"/>
          </a:xfrm>
          <a:prstGeom prst="rect">
            <a:avLst/>
          </a:prstGeom>
        </p:spPr>
      </p:pic>
    </p:spTree>
    <p:extLst>
      <p:ext uri="{BB962C8B-B14F-4D97-AF65-F5344CB8AC3E}">
        <p14:creationId xmlns:p14="http://schemas.microsoft.com/office/powerpoint/2010/main" val="6693472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204DF36C-87C7-49FB-A6F1-064590EDD40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D3927C97-75BB-488B-AE25-10F616C94F7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5FAE6CEB-5E75-446F-9C3B-5C8C78F4A8A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직관적인 접근의 한계</a:t>
            </a:r>
          </a:p>
        </p:txBody>
      </p:sp>
      <p:sp>
        <p:nvSpPr>
          <p:cNvPr id="39" name="직사각형 38">
            <a:extLst>
              <a:ext uri="{FF2B5EF4-FFF2-40B4-BE49-F238E27FC236}">
                <a16:creationId xmlns:a16="http://schemas.microsoft.com/office/drawing/2014/main" id="{EA80965C-18C2-4DFE-B3E2-2D4B3BBE8AB2}"/>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564B9E9D-032C-48CE-9A03-4347748FC3BA}"/>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AA3AACB1-1B55-4D5D-BFB0-37DA1A3E4B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CC141146-44AA-4800-9C21-7D73181050E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31</a:t>
            </a:r>
            <a:endParaRPr sz="1050" b="1" i="0">
              <a:solidFill>
                <a:srgbClr val="171717"/>
              </a:solidFill>
              <a:latin typeface="Consolas"/>
              <a:ea typeface="Consolas"/>
              <a:cs typeface="Consolas"/>
            </a:endParaRPr>
          </a:p>
        </p:txBody>
      </p:sp>
      <p:sp>
        <p:nvSpPr>
          <p:cNvPr id="43" name="직사각형 42">
            <a:extLst>
              <a:ext uri="{FF2B5EF4-FFF2-40B4-BE49-F238E27FC236}">
                <a16:creationId xmlns:a16="http://schemas.microsoft.com/office/drawing/2014/main" id="{8F136F04-7463-4109-8319-0FF65A945AC0}"/>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완전 탐색은 가능한 모든 시작점과 끝점을 확인한다. 비어 있지 않은 연속 구간의 개수는 n(n + 1)/2이다.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 → 5,050개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 → 500,500개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100,000 → 5,000,050,000개</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시작점을 고정하고 끝점을 늘리며 합을 갱신하면 O(n²)에 모든 구간을 조사할 수 있다.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매 구간의 합을 처음부터 다시 계산하면 O(n³)까지 늘어난다.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구간 수 자체가 많으므로 더 빠른 방법이 필요하다.</a:t>
            </a:r>
          </a:p>
        </p:txBody>
      </p:sp>
      <p:pic>
        <p:nvPicPr>
          <p:cNvPr id="53" name="그림 52"/>
          <p:cNvPicPr>
            <a:picLocks noChangeAspect="1"/>
          </p:cNvPicPr>
          <p:nvPr/>
        </p:nvPicPr>
        <p:blipFill>
          <a:blip r:embed="rId3"/>
          <a:stretch/>
        </p:blipFill>
        <p:spPr>
          <a:xfrm>
            <a:off x="7315200" y="2164049"/>
            <a:ext cx="4171950" cy="3196651"/>
          </a:xfrm>
          <a:prstGeom prst="rect">
            <a:avLst/>
          </a:prstGeom>
        </p:spPr>
      </p:pic>
    </p:spTree>
    <p:extLst>
      <p:ext uri="{BB962C8B-B14F-4D97-AF65-F5344CB8AC3E}">
        <p14:creationId xmlns:p14="http://schemas.microsoft.com/office/powerpoint/2010/main" val="18218199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직사각형 28">
            <a:extLst>
              <a:ext uri="{FF2B5EF4-FFF2-40B4-BE49-F238E27FC236}">
                <a16:creationId xmlns:a16="http://schemas.microsoft.com/office/drawing/2014/main" id="{D1A13B5F-F5C2-4877-BAE2-1E5F7A651CF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85CEB7B2-18C5-421F-AFFB-A051ACA41E2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E8AF46F-E22F-4BEA-8A0B-4C37E8C45CA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셋 중 하나에는 반드시 있다!</a:t>
            </a:r>
          </a:p>
        </p:txBody>
      </p:sp>
      <p:sp>
        <p:nvSpPr>
          <p:cNvPr id="32" name="직사각형 31">
            <a:extLst>
              <a:ext uri="{FF2B5EF4-FFF2-40B4-BE49-F238E27FC236}">
                <a16:creationId xmlns:a16="http://schemas.microsoft.com/office/drawing/2014/main" id="{E2F20191-3D01-453D-B8EC-EF90ADA56F91}"/>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60FB652E-060E-4D37-B493-1F5CECF5CA2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42E214C-6CE3-4FB4-9010-58E232D795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5F12C696-5E82-4696-B0AE-FC6B6095BC9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32</a:t>
            </a:r>
            <a:endParaRPr sz="1050" b="1" i="0">
              <a:solidFill>
                <a:srgbClr val="171717"/>
              </a:solidFill>
              <a:latin typeface="Consolas"/>
              <a:ea typeface="Consolas"/>
              <a:cs typeface="Consolas"/>
            </a:endParaRPr>
          </a:p>
        </p:txBody>
      </p:sp>
      <p:sp>
        <p:nvSpPr>
          <p:cNvPr id="36" name="직사각형 35">
            <a:extLst>
              <a:ext uri="{FF2B5EF4-FFF2-40B4-BE49-F238E27FC236}">
                <a16:creationId xmlns:a16="http://schemas.microsoft.com/office/drawing/2014/main" id="{37AD1750-5AD1-43C1-9601-308608A515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배열을 절반으로 나누면 최대 구간은 다음 세 경우 중 하나에 속한다.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왼쪽에만 존재 → 왼쪽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오른쪽에만 존재 → 오른쪽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경계를 가로지름 → 왼쪽 최대 접미 합과 오른쪽 최대 접두 합을 더한다.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정답 = max(leftMax, rightMax, crossMax)</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세 경우를 모두 비교하므로 최대 구간을 놓치지 않는다.</a:t>
            </a:r>
          </a:p>
        </p:txBody>
      </p:sp>
      <p:pic>
        <p:nvPicPr>
          <p:cNvPr id="46" name="그림 45"/>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972811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4A188B-FDA0-4AAF-9AAB-0EBC2D14F4A1}"/>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걸친 구간을 처리하는 부분이 분할 정복 알고리즘에서 가장 까다롭다. 핵심은 "걸친 구간은 반드시 중앙(mid)을 포함해야 한다"는 것이다. 우리가 찾는 것은 왼쪽 동네와 오른쪽 동네를 연결하는 다리 같은 구간이다.</a:t>
            </a:r>
            <a:endParaRPr sz="1300"/>
          </a:p>
        </p:txBody>
      </p:sp>
      <p:sp>
        <p:nvSpPr>
          <p:cNvPr id="12" name="Text 7">
            <a:extLst>
              <a:ext uri="{FF2B5EF4-FFF2-40B4-BE49-F238E27FC236}">
                <a16:creationId xmlns:a16="http://schemas.microsoft.com/office/drawing/2014/main" id="{DB0341F7-5DA4-4343-B7AC-100A2D02AF27}"/>
              </a:ext>
            </a:extLst>
          </p:cNvPr>
          <p:cNvSpPr>
            <a:spLocks noGrp="1"/>
          </p:cNvSpPr>
          <p:nvPr/>
        </p:nvSpPr>
        <p:spPr>
          <a:xfrm>
            <a:off x="1517904" y="5669280"/>
            <a:ext cx="9756648" cy="384048"/>
          </a:xfrm>
          <a:prstGeom prst="rect">
            <a:avLst/>
          </a:prstGeom>
          <a:noFill/>
          <a:ln w="0">
            <a:noFill/>
          </a:ln>
        </p:spPr>
        <p:txBody>
          <a:bodyPr wrap="square" lIns="0" tIns="0" rIns="0" bIns="0" anchor="ctr">
            <a:noAutofit/>
          </a:bodyPr>
          <a:lstStyle/>
          <a:p>
            <a:pPr marL="0" indent="0" algn="l">
              <a:lnSpc>
                <a:spcPct val="134000"/>
              </a:lnSpc>
              <a:buNone/>
              <a:defRPr sz="1230" i="0">
                <a:solidFill>
                  <a:srgbClr val="606060"/>
                </a:solidFill>
                <a:latin typeface="Malgun Gothic"/>
                <a:ea typeface="Malgun Gothic"/>
                <a:cs typeface="Malgun Gothic"/>
              </a:defRPr>
            </a:pPr>
            <a:r>
              <a:rPr sz="1230" i="0">
                <a:solidFill>
                  <a:srgbClr val="606060"/>
                </a:solidFill>
                <a:latin typeface="Malgun Gothic"/>
                <a:ea typeface="Malgun Gothic"/>
                <a:cs typeface="Malgun Gothic"/>
              </a:rPr>
              <a:t>mid에서 왼쪽으로 훑으며 최대 합(leftSum), mid+1에서 오른쪽으로 훑으며 최대 합(rightSum). 둘을 더하면 걸친 구간의 최대 합이다.</a:t>
            </a:r>
            <a:endParaRPr sz="1230"/>
          </a:p>
        </p:txBody>
      </p:sp>
      <p:sp>
        <p:nvSpPr>
          <p:cNvPr id="16" name="직사각형 15">
            <a:extLst>
              <a:ext uri="{FF2B5EF4-FFF2-40B4-BE49-F238E27FC236}">
                <a16:creationId xmlns:a16="http://schemas.microsoft.com/office/drawing/2014/main" id="{ECF1DBC9-0F5A-4182-AEC2-EFDC315A2C70}"/>
              </a:ext>
            </a:extLst>
          </p:cNvPr>
          <p:cNvSpPr>
            <a:spLocks noGrp="1"/>
          </p:cNvSpPr>
          <p:nvPr/>
        </p:nvSpPr>
        <p:spPr>
          <a:xfrm>
            <a:off x="658368" y="5504688"/>
            <a:ext cx="10872216" cy="9525"/>
          </a:xfrm>
          <a:prstGeom prst="rect">
            <a:avLst/>
          </a:prstGeom>
          <a:solidFill>
            <a:srgbClr val="D4D4D4"/>
          </a:solidFill>
          <a:ln w="0">
            <a:noFill/>
          </a:ln>
        </p:spPr>
      </p:sp>
      <p:sp>
        <p:nvSpPr>
          <p:cNvPr id="17" name="직사각형 16">
            <a:extLst>
              <a:ext uri="{FF2B5EF4-FFF2-40B4-BE49-F238E27FC236}">
                <a16:creationId xmlns:a16="http://schemas.microsoft.com/office/drawing/2014/main" id="{9CEB29E3-A288-4924-B793-69E6667A712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18" name="직사각형 17">
            <a:extLst>
              <a:ext uri="{FF2B5EF4-FFF2-40B4-BE49-F238E27FC236}">
                <a16:creationId xmlns:a16="http://schemas.microsoft.com/office/drawing/2014/main" id="{03E7AA60-2205-461D-AB91-204A179D995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EB0BE622-9090-4D58-B149-928857A6E95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'걸친 구간' 처리하기</a:t>
            </a:r>
          </a:p>
        </p:txBody>
      </p:sp>
      <p:sp>
        <p:nvSpPr>
          <p:cNvPr id="20" name="직사각형 19">
            <a:extLst>
              <a:ext uri="{FF2B5EF4-FFF2-40B4-BE49-F238E27FC236}">
                <a16:creationId xmlns:a16="http://schemas.microsoft.com/office/drawing/2014/main" id="{FE1EF1BA-40D1-40DC-94E9-6A6725906CFE}"/>
              </a:ext>
            </a:extLst>
          </p:cNvPr>
          <p:cNvSpPr>
            <a:spLocks noGrp="1"/>
          </p:cNvSpPr>
          <p:nvPr/>
        </p:nvSpPr>
        <p:spPr>
          <a:xfrm>
            <a:off x="609600" y="1381125"/>
            <a:ext cx="10972800" cy="19050"/>
          </a:xfrm>
          <a:prstGeom prst="rect">
            <a:avLst/>
          </a:prstGeom>
          <a:solidFill>
            <a:srgbClr val="171717"/>
          </a:solidFill>
          <a:ln w="0">
            <a:noFill/>
          </a:ln>
        </p:spPr>
      </p:sp>
      <p:sp>
        <p:nvSpPr>
          <p:cNvPr id="21" name="직사각형 20">
            <a:extLst>
              <a:ext uri="{FF2B5EF4-FFF2-40B4-BE49-F238E27FC236}">
                <a16:creationId xmlns:a16="http://schemas.microsoft.com/office/drawing/2014/main" id="{9BC940B0-2249-4EBC-996E-1C0F01390448}"/>
              </a:ext>
            </a:extLst>
          </p:cNvPr>
          <p:cNvSpPr>
            <a:spLocks noGrp="1"/>
          </p:cNvSpPr>
          <p:nvPr/>
        </p:nvSpPr>
        <p:spPr>
          <a:xfrm>
            <a:off x="609600" y="6438900"/>
            <a:ext cx="10972800"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0ED2B516-8F96-47F8-885A-CB9BAA6A043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D7FB1687-2348-443B-8668-37D7940E928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33</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3601736" y="2523744"/>
            <a:ext cx="4985384" cy="2724912"/>
          </a:xfrm>
          <a:prstGeom prst="rect">
            <a:avLst/>
          </a:prstGeom>
        </p:spPr>
      </p:pic>
    </p:spTree>
    <p:extLst>
      <p:ext uri="{BB962C8B-B14F-4D97-AF65-F5344CB8AC3E}">
        <p14:creationId xmlns:p14="http://schemas.microsoft.com/office/powerpoint/2010/main" val="12001524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85F22F59-915D-406E-8AC7-FF2507F37316}"/>
              </a:ext>
            </a:extLst>
          </p:cNvPr>
          <p:cNvSpPr>
            <a:spLocks noGrp="1"/>
          </p:cNvSpPr>
          <p:nvPr/>
        </p:nvSpPr>
        <p:spPr>
          <a:xfrm>
            <a:off x="859536" y="1801368"/>
            <a:ext cx="64008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max_subarray.pseudo</a:t>
            </a:r>
            <a:endParaRPr sz="900"/>
          </a:p>
        </p:txBody>
      </p:sp>
      <p:sp>
        <p:nvSpPr>
          <p:cNvPr id="17" name="Text 13">
            <a:extLst>
              <a:ext uri="{FF2B5EF4-FFF2-40B4-BE49-F238E27FC236}">
                <a16:creationId xmlns:a16="http://schemas.microsoft.com/office/drawing/2014/main" id="{29A50C1D-9CD5-4EC1-B9A0-0606A160B98D}"/>
              </a:ext>
            </a:extLst>
          </p:cNvPr>
          <p:cNvSpPr>
            <a:spLocks noGrp="1"/>
          </p:cNvSpPr>
          <p:nvPr/>
        </p:nvSpPr>
        <p:spPr>
          <a:xfrm>
            <a:off x="8229600" y="183794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기저 사례</a:t>
            </a:r>
            <a:endParaRPr sz="1150"/>
          </a:p>
        </p:txBody>
      </p:sp>
      <p:sp>
        <p:nvSpPr>
          <p:cNvPr id="18" name="Text 14">
            <a:extLst>
              <a:ext uri="{FF2B5EF4-FFF2-40B4-BE49-F238E27FC236}">
                <a16:creationId xmlns:a16="http://schemas.microsoft.com/office/drawing/2014/main" id="{9F233074-B814-41E3-A593-8B315471DCC1}"/>
              </a:ext>
            </a:extLst>
          </p:cNvPr>
          <p:cNvSpPr>
            <a:spLocks noGrp="1"/>
          </p:cNvSpPr>
          <p:nvPr/>
        </p:nvSpPr>
        <p:spPr>
          <a:xfrm>
            <a:off x="8229600" y="207568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low == high 이면 원소가 하나뿐이므로 그 값이 곧 최대 구간 합이다.</a:t>
            </a:r>
            <a:endParaRPr sz="1010"/>
          </a:p>
        </p:txBody>
      </p:sp>
      <p:sp>
        <p:nvSpPr>
          <p:cNvPr id="22" name="Text 17">
            <a:extLst>
              <a:ext uri="{FF2B5EF4-FFF2-40B4-BE49-F238E27FC236}">
                <a16:creationId xmlns:a16="http://schemas.microsoft.com/office/drawing/2014/main" id="{5D61AB5C-774B-4903-8992-92358E2DEDCB}"/>
              </a:ext>
            </a:extLst>
          </p:cNvPr>
          <p:cNvSpPr>
            <a:spLocks noGrp="1"/>
          </p:cNvSpPr>
          <p:nvPr/>
        </p:nvSpPr>
        <p:spPr>
          <a:xfrm>
            <a:off x="8229600" y="270662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분할</a:t>
            </a:r>
            <a:endParaRPr sz="1150"/>
          </a:p>
        </p:txBody>
      </p:sp>
      <p:sp>
        <p:nvSpPr>
          <p:cNvPr id="23" name="Text 18">
            <a:extLst>
              <a:ext uri="{FF2B5EF4-FFF2-40B4-BE49-F238E27FC236}">
                <a16:creationId xmlns:a16="http://schemas.microsoft.com/office/drawing/2014/main" id="{3ABBAACD-FA23-4085-AA4E-947BE4086A10}"/>
              </a:ext>
            </a:extLst>
          </p:cNvPr>
          <p:cNvSpPr>
            <a:spLocks noGrp="1"/>
          </p:cNvSpPr>
          <p:nvPr/>
        </p:nvSpPr>
        <p:spPr>
          <a:xfrm>
            <a:off x="8229600" y="294436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mid를 기준으로 왼쪽·오른쪽 두 개의 절반 문제로 나눈다.</a:t>
            </a:r>
            <a:endParaRPr sz="1010"/>
          </a:p>
        </p:txBody>
      </p:sp>
      <p:sp>
        <p:nvSpPr>
          <p:cNvPr id="27" name="Text 21">
            <a:extLst>
              <a:ext uri="{FF2B5EF4-FFF2-40B4-BE49-F238E27FC236}">
                <a16:creationId xmlns:a16="http://schemas.microsoft.com/office/drawing/2014/main" id="{067CD356-B81E-4C92-A275-239FAE7640A6}"/>
              </a:ext>
            </a:extLst>
          </p:cNvPr>
          <p:cNvSpPr>
            <a:spLocks noGrp="1"/>
          </p:cNvSpPr>
          <p:nvPr/>
        </p:nvSpPr>
        <p:spPr>
          <a:xfrm>
            <a:off x="8229600" y="357530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정복</a:t>
            </a:r>
            <a:endParaRPr sz="1150"/>
          </a:p>
        </p:txBody>
      </p:sp>
      <p:sp>
        <p:nvSpPr>
          <p:cNvPr id="28" name="Text 22">
            <a:extLst>
              <a:ext uri="{FF2B5EF4-FFF2-40B4-BE49-F238E27FC236}">
                <a16:creationId xmlns:a16="http://schemas.microsoft.com/office/drawing/2014/main" id="{A5CF09E0-A2E5-4B50-B5B4-97DD980F7D41}"/>
              </a:ext>
            </a:extLst>
          </p:cNvPr>
          <p:cNvSpPr>
            <a:spLocks noGrp="1"/>
          </p:cNvSpPr>
          <p:nvPr/>
        </p:nvSpPr>
        <p:spPr>
          <a:xfrm>
            <a:off x="8229600" y="381304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두 절반을 재귀 호출로 해결한다. 문제 크기는 매번 절반이 된다.</a:t>
            </a:r>
            <a:endParaRPr sz="1010"/>
          </a:p>
        </p:txBody>
      </p:sp>
      <p:sp>
        <p:nvSpPr>
          <p:cNvPr id="32" name="Text 25">
            <a:extLst>
              <a:ext uri="{FF2B5EF4-FFF2-40B4-BE49-F238E27FC236}">
                <a16:creationId xmlns:a16="http://schemas.microsoft.com/office/drawing/2014/main" id="{0364A5C6-8108-4250-8EA4-1FCA11F362CC}"/>
              </a:ext>
            </a:extLst>
          </p:cNvPr>
          <p:cNvSpPr>
            <a:spLocks noGrp="1"/>
          </p:cNvSpPr>
          <p:nvPr/>
        </p:nvSpPr>
        <p:spPr>
          <a:xfrm>
            <a:off x="8229600" y="444398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결합</a:t>
            </a:r>
            <a:endParaRPr sz="1150"/>
          </a:p>
        </p:txBody>
      </p:sp>
      <p:sp>
        <p:nvSpPr>
          <p:cNvPr id="33" name="Text 26">
            <a:extLst>
              <a:ext uri="{FF2B5EF4-FFF2-40B4-BE49-F238E27FC236}">
                <a16:creationId xmlns:a16="http://schemas.microsoft.com/office/drawing/2014/main" id="{E2D6256D-BFBA-483A-8EC2-B45677CABB04}"/>
              </a:ext>
            </a:extLst>
          </p:cNvPr>
          <p:cNvSpPr>
            <a:spLocks noGrp="1"/>
          </p:cNvSpPr>
          <p:nvPr/>
        </p:nvSpPr>
        <p:spPr>
          <a:xfrm>
            <a:off x="8229600" y="468172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걸친 구간을 계산하고, 세 후보 중 최댓값을 돌려준다.</a:t>
            </a:r>
            <a:endParaRPr sz="1010"/>
          </a:p>
        </p:txBody>
      </p:sp>
      <p:sp>
        <p:nvSpPr>
          <p:cNvPr id="35" name="Text 28">
            <a:extLst>
              <a:ext uri="{FF2B5EF4-FFF2-40B4-BE49-F238E27FC236}">
                <a16:creationId xmlns:a16="http://schemas.microsoft.com/office/drawing/2014/main" id="{4061A13B-FED0-4C0F-85B8-6B5CA4D3F2D1}"/>
              </a:ext>
            </a:extLst>
          </p:cNvPr>
          <p:cNvSpPr>
            <a:spLocks noGrp="1"/>
          </p:cNvSpPr>
          <p:nvPr/>
        </p:nvSpPr>
        <p:spPr>
          <a:xfrm>
            <a:off x="795528" y="5321808"/>
            <a:ext cx="10597896" cy="749808"/>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2T(n/2) + O(n)</a:t>
            </a:r>
            <a:endParaRPr sz="1800"/>
          </a:p>
        </p:txBody>
      </p:sp>
      <p:sp>
        <p:nvSpPr>
          <p:cNvPr id="37" name="직사각형 36">
            <a:extLst>
              <a:ext uri="{FF2B5EF4-FFF2-40B4-BE49-F238E27FC236}">
                <a16:creationId xmlns:a16="http://schemas.microsoft.com/office/drawing/2014/main" id="{3DF83E61-1CC9-4DCF-B791-2CD7D9B0A769}"/>
              </a:ext>
            </a:extLst>
          </p:cNvPr>
          <p:cNvSpPr>
            <a:spLocks noGrp="1"/>
          </p:cNvSpPr>
          <p:nvPr/>
        </p:nvSpPr>
        <p:spPr>
          <a:xfrm>
            <a:off x="7607808" y="1783080"/>
            <a:ext cx="392277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E76E2CC6-E952-4E32-A162-63141D23714F}"/>
              </a:ext>
            </a:extLst>
          </p:cNvPr>
          <p:cNvSpPr>
            <a:spLocks noGrp="1"/>
          </p:cNvSpPr>
          <p:nvPr/>
        </p:nvSpPr>
        <p:spPr>
          <a:xfrm>
            <a:off x="698373" y="2090928"/>
            <a:ext cx="6741414" cy="29977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MaxSubarraySum(A,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 then    // 기저 사례: 원소가 하나</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&lt;- floor((low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leftMax  &lt;- MaxSubarraySum(A,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rightMax &lt;- MaxSubarraySum(A,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crossMax &lt;- 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max(leftMax, rightMax, crossMax)</a:t>
            </a:r>
          </a:p>
        </p:txBody>
      </p:sp>
      <p:sp>
        <p:nvSpPr>
          <p:cNvPr id="39" name="직사각형 38">
            <a:extLst>
              <a:ext uri="{FF2B5EF4-FFF2-40B4-BE49-F238E27FC236}">
                <a16:creationId xmlns:a16="http://schemas.microsoft.com/office/drawing/2014/main" id="{37F7417E-0EFD-4A76-AB09-B12DB6160A0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BEAD41D2-B6B8-48A4-8409-6D83D3B9A57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7956F4C1-ABF0-400E-B19C-430695F1C2B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(메인)</a:t>
            </a:r>
          </a:p>
        </p:txBody>
      </p:sp>
      <p:sp>
        <p:nvSpPr>
          <p:cNvPr id="42" name="직사각형 41">
            <a:extLst>
              <a:ext uri="{FF2B5EF4-FFF2-40B4-BE49-F238E27FC236}">
                <a16:creationId xmlns:a16="http://schemas.microsoft.com/office/drawing/2014/main" id="{835BD58C-2422-460D-BA54-C7E3CBA4895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187A862D-3FC8-4699-AF83-A207F2113F28}"/>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74657DB9-BE22-4B43-B2EB-F4A840CD913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6ACA8B73-6F64-4198-A4CD-A3B1ECF3430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968863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29F31B-7361-4766-B6D2-C40AACC29C2C}"/>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max_crossing.pseudo</a:t>
            </a:r>
            <a:endParaRPr sz="900"/>
          </a:p>
        </p:txBody>
      </p:sp>
      <p:sp>
        <p:nvSpPr>
          <p:cNvPr id="17" name="Text 13">
            <a:extLst>
              <a:ext uri="{FF2B5EF4-FFF2-40B4-BE49-F238E27FC236}">
                <a16:creationId xmlns:a16="http://schemas.microsoft.com/office/drawing/2014/main" id="{17C139C8-5113-4AB1-AD7F-8A9AE9735540}"/>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왜 −∞ 로 초기화하는가?</a:t>
            </a:r>
            <a:endParaRPr sz="1250"/>
          </a:p>
        </p:txBody>
      </p:sp>
      <p:sp>
        <p:nvSpPr>
          <p:cNvPr id="18" name="Text 14">
            <a:extLst>
              <a:ext uri="{FF2B5EF4-FFF2-40B4-BE49-F238E27FC236}">
                <a16:creationId xmlns:a16="http://schemas.microsoft.com/office/drawing/2014/main" id="{BDB50999-B29C-491A-AB41-4141C57E7BF7}"/>
              </a:ext>
            </a:extLst>
          </p:cNvPr>
          <p:cNvSpPr>
            <a:spLocks noGrp="1"/>
          </p:cNvSpPr>
          <p:nvPr/>
        </p:nvSpPr>
        <p:spPr>
          <a:xfrm>
            <a:off x="8604504" y="2313432"/>
            <a:ext cx="2670048" cy="786384"/>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모든 원소가 음수인 배열에서도 올바른 최댓값을 찾기 위해서다. 0으로 초기화하면 "아무것도 안 고르는 것"이 최선이 되어 버린다.</a:t>
            </a:r>
            <a:endParaRPr sz="1100"/>
          </a:p>
        </p:txBody>
      </p:sp>
      <p:sp>
        <p:nvSpPr>
          <p:cNvPr id="22" name="Text 17">
            <a:extLst>
              <a:ext uri="{FF2B5EF4-FFF2-40B4-BE49-F238E27FC236}">
                <a16:creationId xmlns:a16="http://schemas.microsoft.com/office/drawing/2014/main" id="{25835E87-C639-47B5-B251-E0C979B847F7}"/>
              </a:ext>
            </a:extLst>
          </p:cNvPr>
          <p:cNvSpPr>
            <a:spLocks noGrp="1"/>
          </p:cNvSpPr>
          <p:nvPr/>
        </p:nvSpPr>
        <p:spPr>
          <a:xfrm>
            <a:off x="8604504" y="3621024"/>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mid를 반드시 포함한다</a:t>
            </a:r>
            <a:endParaRPr sz="1250"/>
          </a:p>
        </p:txBody>
      </p:sp>
      <p:sp>
        <p:nvSpPr>
          <p:cNvPr id="23" name="Text 18">
            <a:extLst>
              <a:ext uri="{FF2B5EF4-FFF2-40B4-BE49-F238E27FC236}">
                <a16:creationId xmlns:a16="http://schemas.microsoft.com/office/drawing/2014/main" id="{8097490A-2F01-4CF1-ADC6-455A8C8810CB}"/>
              </a:ext>
            </a:extLst>
          </p:cNvPr>
          <p:cNvSpPr>
            <a:spLocks noGrp="1"/>
          </p:cNvSpPr>
          <p:nvPr/>
        </p:nvSpPr>
        <p:spPr>
          <a:xfrm>
            <a:off x="8604504" y="3968496"/>
            <a:ext cx="2670048"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스캔은 mid에서 출발하고 오른쪽 스캔은 mid+1에서 출발하므로, 두 구간은 항상 경계선을 가로지른다.</a:t>
            </a:r>
            <a:endParaRPr sz="1100"/>
          </a:p>
        </p:txBody>
      </p:sp>
      <p:sp>
        <p:nvSpPr>
          <p:cNvPr id="25" name="Text 20">
            <a:extLst>
              <a:ext uri="{FF2B5EF4-FFF2-40B4-BE49-F238E27FC236}">
                <a16:creationId xmlns:a16="http://schemas.microsoft.com/office/drawing/2014/main" id="{6B946887-0EC2-4E87-9228-E0ADE64B7FA7}"/>
              </a:ext>
            </a:extLst>
          </p:cNvPr>
          <p:cNvSpPr>
            <a:spLocks noGrp="1"/>
          </p:cNvSpPr>
          <p:nvPr/>
        </p:nvSpPr>
        <p:spPr>
          <a:xfrm>
            <a:off x="7882128" y="4956048"/>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비용: O(n)</a:t>
            </a:r>
            <a:endParaRPr sz="1600"/>
          </a:p>
        </p:txBody>
      </p:sp>
      <p:sp>
        <p:nvSpPr>
          <p:cNvPr id="27" name="직사각형 26">
            <a:extLst>
              <a:ext uri="{FF2B5EF4-FFF2-40B4-BE49-F238E27FC236}">
                <a16:creationId xmlns:a16="http://schemas.microsoft.com/office/drawing/2014/main" id="{D19743F3-D9B5-4C2F-9A9C-AEBAFFB1AD19}"/>
              </a:ext>
            </a:extLst>
          </p:cNvPr>
          <p:cNvSpPr>
            <a:spLocks noGrp="1"/>
          </p:cNvSpPr>
          <p:nvPr/>
        </p:nvSpPr>
        <p:spPr>
          <a:xfrm>
            <a:off x="7744968" y="1783080"/>
            <a:ext cx="3785616"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9E1D910-BE70-4308-87C5-99DE44A0822F}"/>
              </a:ext>
            </a:extLst>
          </p:cNvPr>
          <p:cNvSpPr>
            <a:spLocks noGrp="1"/>
          </p:cNvSpPr>
          <p:nvPr/>
        </p:nvSpPr>
        <p:spPr>
          <a:xfrm>
            <a:off x="698373" y="2090928"/>
            <a:ext cx="6878574" cy="3637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mid downto low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leftSum then leftSum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mid + 1 to high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A[j]</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rightSum then rightSum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leftSum + rightSum</a:t>
            </a:r>
          </a:p>
        </p:txBody>
      </p:sp>
      <p:sp>
        <p:nvSpPr>
          <p:cNvPr id="29" name="직사각형 28">
            <a:extLst>
              <a:ext uri="{FF2B5EF4-FFF2-40B4-BE49-F238E27FC236}">
                <a16:creationId xmlns:a16="http://schemas.microsoft.com/office/drawing/2014/main" id="{D360D68A-1A0D-4E08-9E29-92420A49786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AF0F6064-E940-4B0A-9910-C22211787C9F}"/>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9501E52F-7C00-4A99-A1AA-6FC8E01B8F5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(걸친 구간)</a:t>
            </a:r>
          </a:p>
        </p:txBody>
      </p:sp>
      <p:sp>
        <p:nvSpPr>
          <p:cNvPr id="32" name="직사각형 31">
            <a:extLst>
              <a:ext uri="{FF2B5EF4-FFF2-40B4-BE49-F238E27FC236}">
                <a16:creationId xmlns:a16="http://schemas.microsoft.com/office/drawing/2014/main" id="{C0AE94CE-C66A-4CA9-A2FC-A183D0E1DF55}"/>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4535C265-0841-4004-9FEA-3CE902BA432A}"/>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3BD4624-56DD-4EEB-8284-E10304A2E2A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0C01E632-F4BD-46C2-83D9-25A97745B35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8762443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EFABF8F-933F-4E3B-8560-FA92F2E4C541}"/>
              </a:ext>
            </a:extLst>
          </p:cNvPr>
          <p:cNvSpPr>
            <a:spLocks noGrp="1"/>
          </p:cNvSpPr>
          <p:nvPr/>
        </p:nvSpPr>
        <p:spPr>
          <a:xfrm>
            <a:off x="859536" y="1801368"/>
            <a:ext cx="71323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max_crossing_sum.py</a:t>
            </a:r>
            <a:endParaRPr sz="900"/>
          </a:p>
        </p:txBody>
      </p:sp>
      <p:sp>
        <p:nvSpPr>
          <p:cNvPr id="17" name="Text 13">
            <a:extLst>
              <a:ext uri="{FF2B5EF4-FFF2-40B4-BE49-F238E27FC236}">
                <a16:creationId xmlns:a16="http://schemas.microsoft.com/office/drawing/2014/main" id="{0235F74B-FD9D-40E3-8C61-338883D9AF87}"/>
              </a:ext>
            </a:extLst>
          </p:cNvPr>
          <p:cNvSpPr>
            <a:spLocks noGrp="1"/>
          </p:cNvSpPr>
          <p:nvPr/>
        </p:nvSpPr>
        <p:spPr>
          <a:xfrm>
            <a:off x="9198864" y="196596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range의 끝은 포함되지 않는다</a:t>
            </a:r>
            <a:endParaRPr sz="1200"/>
          </a:p>
        </p:txBody>
      </p:sp>
      <p:sp>
        <p:nvSpPr>
          <p:cNvPr id="18" name="Text 14">
            <a:extLst>
              <a:ext uri="{FF2B5EF4-FFF2-40B4-BE49-F238E27FC236}">
                <a16:creationId xmlns:a16="http://schemas.microsoft.com/office/drawing/2014/main" id="{7E95B23A-2D6A-4310-806C-D75BA0B7D19A}"/>
              </a:ext>
            </a:extLst>
          </p:cNvPr>
          <p:cNvSpPr>
            <a:spLocks noGrp="1"/>
          </p:cNvSpPr>
          <p:nvPr/>
        </p:nvSpPr>
        <p:spPr>
          <a:xfrm>
            <a:off x="9198864" y="2313432"/>
            <a:ext cx="2075688" cy="114300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mid부터 low까지 거꾸로 돌려면 range(mid, low − 1, −1)로 써야 low가 포함된다.</a:t>
            </a:r>
            <a:endParaRPr sz="1080"/>
          </a:p>
        </p:txBody>
      </p:sp>
      <p:sp>
        <p:nvSpPr>
          <p:cNvPr id="22" name="Text 17">
            <a:extLst>
              <a:ext uri="{FF2B5EF4-FFF2-40B4-BE49-F238E27FC236}">
                <a16:creationId xmlns:a16="http://schemas.microsoft.com/office/drawing/2014/main" id="{23BE23EE-53CF-4E0D-B86A-589F5ED79E88}"/>
              </a:ext>
            </a:extLst>
          </p:cNvPr>
          <p:cNvSpPr>
            <a:spLocks noGrp="1"/>
          </p:cNvSpPr>
          <p:nvPr/>
        </p:nvSpPr>
        <p:spPr>
          <a:xfrm>
            <a:off x="9198864" y="397764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한 번의 선형 스캔</a:t>
            </a:r>
            <a:endParaRPr sz="1200"/>
          </a:p>
        </p:txBody>
      </p:sp>
      <p:sp>
        <p:nvSpPr>
          <p:cNvPr id="23" name="Text 18">
            <a:extLst>
              <a:ext uri="{FF2B5EF4-FFF2-40B4-BE49-F238E27FC236}">
                <a16:creationId xmlns:a16="http://schemas.microsoft.com/office/drawing/2014/main" id="{7D58712E-7228-481F-A184-C316B48A16F6}"/>
              </a:ext>
            </a:extLst>
          </p:cNvPr>
          <p:cNvSpPr>
            <a:spLocks noGrp="1"/>
          </p:cNvSpPr>
          <p:nvPr/>
        </p:nvSpPr>
        <p:spPr>
          <a:xfrm>
            <a:off x="9198864" y="4325112"/>
            <a:ext cx="2075688" cy="1371600"/>
          </a:xfrm>
          <a:prstGeom prst="rect">
            <a:avLst/>
          </a:prstGeom>
          <a:noFill/>
          <a:ln w="0">
            <a:noFill/>
          </a:ln>
        </p:spPr>
        <p:txBody>
          <a:bodyPr wrap="square" lIns="0" tIns="0" rIns="0" bIns="0" anchor="t">
            <a:noAutofit/>
          </a:bodyPr>
          <a:lstStyle/>
          <a:p>
            <a:pPr marL="0" indent="0" algn="l">
              <a:lnSpc>
                <a:spcPct val="132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왼쪽 스캔과 오른쪽 스캔 모두 각 원소를 한 번씩만 훑는다. 따라서 이 함수의 비용은 구간 길이에 비례하는 O(n)이다.</a:t>
            </a:r>
            <a:endParaRPr sz="1080"/>
          </a:p>
        </p:txBody>
      </p:sp>
      <p:sp>
        <p:nvSpPr>
          <p:cNvPr id="25" name="직사각형 24">
            <a:extLst>
              <a:ext uri="{FF2B5EF4-FFF2-40B4-BE49-F238E27FC236}">
                <a16:creationId xmlns:a16="http://schemas.microsoft.com/office/drawing/2014/main" id="{B4E1626C-2F70-4422-A023-417036C51B06}"/>
              </a:ext>
            </a:extLst>
          </p:cNvPr>
          <p:cNvSpPr>
            <a:spLocks noGrp="1"/>
          </p:cNvSpPr>
          <p:nvPr/>
        </p:nvSpPr>
        <p:spPr>
          <a:xfrm>
            <a:off x="8339328" y="1783080"/>
            <a:ext cx="3191256"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48C2580C-AE2B-4786-8DAF-D84A53426332}"/>
              </a:ext>
            </a:extLst>
          </p:cNvPr>
          <p:cNvSpPr>
            <a:spLocks noGrp="1"/>
          </p:cNvSpPr>
          <p:nvPr/>
        </p:nvSpPr>
        <p:spPr>
          <a:xfrm>
            <a:off x="8339328" y="3794760"/>
            <a:ext cx="3191256"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C7128CB5-81F5-4198-89CD-26A431F10A4C}"/>
              </a:ext>
            </a:extLst>
          </p:cNvPr>
          <p:cNvSpPr>
            <a:spLocks noGrp="1"/>
          </p:cNvSpPr>
          <p:nvPr/>
        </p:nvSpPr>
        <p:spPr>
          <a:xfrm>
            <a:off x="698373" y="2090928"/>
            <a:ext cx="747293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def max_crossing_sum(arr, low, mid, high):</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low - 1,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left_sum: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+ 1, high + 1):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right_sum: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return left_sum + right_sum</a:t>
            </a:r>
          </a:p>
        </p:txBody>
      </p:sp>
      <p:sp>
        <p:nvSpPr>
          <p:cNvPr id="28" name="직사각형 27">
            <a:extLst>
              <a:ext uri="{FF2B5EF4-FFF2-40B4-BE49-F238E27FC236}">
                <a16:creationId xmlns:a16="http://schemas.microsoft.com/office/drawing/2014/main" id="{1003254D-DA76-4FF6-B669-5FE82F08DF5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6262A71E-4B9D-495A-A82F-2E1354FD007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DE463BFD-83CD-4F34-834C-27D5CED29AF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걸친 구간 (combine)</a:t>
            </a:r>
          </a:p>
        </p:txBody>
      </p:sp>
      <p:sp>
        <p:nvSpPr>
          <p:cNvPr id="31" name="직사각형 30">
            <a:extLst>
              <a:ext uri="{FF2B5EF4-FFF2-40B4-BE49-F238E27FC236}">
                <a16:creationId xmlns:a16="http://schemas.microsoft.com/office/drawing/2014/main" id="{B3E7D7F4-8034-434C-944F-58BF3F0AAC2A}"/>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3B3E9446-3DEF-4334-A48C-5541723514DB}"/>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DDFBFC64-6683-4A35-8733-5D8BADDF427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E809C184-224B-42BC-B5E0-EBED5438911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749773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16694097-DF91-43F6-85B0-2D9D15533034}"/>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max_subarray_sum.py</a:t>
            </a:r>
            <a:endParaRPr sz="900"/>
          </a:p>
        </p:txBody>
      </p:sp>
      <p:sp>
        <p:nvSpPr>
          <p:cNvPr id="20" name="Text 17">
            <a:extLst>
              <a:ext uri="{FF2B5EF4-FFF2-40B4-BE49-F238E27FC236}">
                <a16:creationId xmlns:a16="http://schemas.microsoft.com/office/drawing/2014/main" id="{015E184B-6612-4C13-86AB-283701B821E0}"/>
              </a:ext>
            </a:extLst>
          </p:cNvPr>
          <p:cNvSpPr>
            <a:spLocks noGrp="1"/>
          </p:cNvSpPr>
          <p:nvPr/>
        </p:nvSpPr>
        <p:spPr>
          <a:xfrm>
            <a:off x="859536" y="5029200"/>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C3EDFC22-4C07-4FF5-A424-B3534AB074D7}"/>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세 개의 후보</a:t>
            </a:r>
            <a:endParaRPr sz="1250"/>
          </a:p>
        </p:txBody>
      </p:sp>
      <p:sp>
        <p:nvSpPr>
          <p:cNvPr id="26" name="Text 22">
            <a:extLst>
              <a:ext uri="{FF2B5EF4-FFF2-40B4-BE49-F238E27FC236}">
                <a16:creationId xmlns:a16="http://schemas.microsoft.com/office/drawing/2014/main" id="{38633C52-421F-4EBB-9A57-B883A6EC1756}"/>
              </a:ext>
            </a:extLst>
          </p:cNvPr>
          <p:cNvSpPr>
            <a:spLocks noGrp="1"/>
          </p:cNvSpPr>
          <p:nvPr/>
        </p:nvSpPr>
        <p:spPr>
          <a:xfrm>
            <a:off x="8604504" y="2313432"/>
            <a:ext cx="2670048" cy="841248"/>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절반의 최대, 오른쪽 절반의 최대, 그리고 중앙을 걸친 최대. 파이썬 내장 max()로 셋 중 가장 큰 값을 고른다.</a:t>
            </a:r>
            <a:endParaRPr sz="1100"/>
          </a:p>
        </p:txBody>
      </p:sp>
      <p:sp>
        <p:nvSpPr>
          <p:cNvPr id="28" name="Text 24">
            <a:extLst>
              <a:ext uri="{FF2B5EF4-FFF2-40B4-BE49-F238E27FC236}">
                <a16:creationId xmlns:a16="http://schemas.microsoft.com/office/drawing/2014/main" id="{A5ACA81C-DB28-4CE9-A451-A7206D2910BC}"/>
              </a:ext>
            </a:extLst>
          </p:cNvPr>
          <p:cNvSpPr>
            <a:spLocks noGrp="1"/>
          </p:cNvSpPr>
          <p:nvPr/>
        </p:nvSpPr>
        <p:spPr>
          <a:xfrm>
            <a:off x="7927848" y="3611880"/>
            <a:ext cx="3419856"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28AA1030-8C4D-47E5-8A6F-5EEB7EB393D5}"/>
              </a:ext>
            </a:extLst>
          </p:cNvPr>
          <p:cNvSpPr>
            <a:spLocks noGrp="1"/>
          </p:cNvSpPr>
          <p:nvPr/>
        </p:nvSpPr>
        <p:spPr>
          <a:xfrm>
            <a:off x="7927848" y="3950208"/>
            <a:ext cx="3419856" cy="91440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주가 데이터: [3, -5, 12, -2, 7, -9, 5, 1]</a:t>
            </a:r>
            <a:endParaRPr sz="10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최대 구간 합(최대 이익): 17</a:t>
            </a:r>
            <a:endParaRPr sz="1000"/>
          </a:p>
        </p:txBody>
      </p:sp>
      <p:sp>
        <p:nvSpPr>
          <p:cNvPr id="31" name="Text 27">
            <a:extLst>
              <a:ext uri="{FF2B5EF4-FFF2-40B4-BE49-F238E27FC236}">
                <a16:creationId xmlns:a16="http://schemas.microsoft.com/office/drawing/2014/main" id="{3071CCC7-865C-4B13-A4F7-4B149C92ED91}"/>
              </a:ext>
            </a:extLst>
          </p:cNvPr>
          <p:cNvSpPr>
            <a:spLocks noGrp="1"/>
          </p:cNvSpPr>
          <p:nvPr/>
        </p:nvSpPr>
        <p:spPr>
          <a:xfrm>
            <a:off x="7882128" y="5175504"/>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T(n) = O(n log n)</a:t>
            </a:r>
            <a:endParaRPr sz="1600"/>
          </a:p>
        </p:txBody>
      </p:sp>
      <p:sp>
        <p:nvSpPr>
          <p:cNvPr id="33" name="직사각형 32">
            <a:extLst>
              <a:ext uri="{FF2B5EF4-FFF2-40B4-BE49-F238E27FC236}">
                <a16:creationId xmlns:a16="http://schemas.microsoft.com/office/drawing/2014/main" id="{D875A23D-6CD1-4EE5-8DF6-F04D4756A5C1}"/>
              </a:ext>
            </a:extLst>
          </p:cNvPr>
          <p:cNvSpPr>
            <a:spLocks noGrp="1"/>
          </p:cNvSpPr>
          <p:nvPr/>
        </p:nvSpPr>
        <p:spPr>
          <a:xfrm>
            <a:off x="7744968" y="1783080"/>
            <a:ext cx="378561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B71DFD00-1FF0-4DBE-8571-9104CC2F3622}"/>
              </a:ext>
            </a:extLst>
          </p:cNvPr>
          <p:cNvSpPr>
            <a:spLocks noGrp="1"/>
          </p:cNvSpPr>
          <p:nvPr/>
        </p:nvSpPr>
        <p:spPr>
          <a:xfrm>
            <a:off x="698373" y="2090928"/>
            <a:ext cx="6878574" cy="281482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max_subarray_sum(arr,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arr[low]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 (low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left_max  = max_subarray_sum(arr,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right_max = max_subarray_sum(arr,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cross_max = max_crossing_sum(arr,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max(left_max, right_max, cross_max)</a:t>
            </a:r>
          </a:p>
        </p:txBody>
      </p:sp>
      <p:sp>
        <p:nvSpPr>
          <p:cNvPr id="35" name="직사각형 34">
            <a:extLst>
              <a:ext uri="{FF2B5EF4-FFF2-40B4-BE49-F238E27FC236}">
                <a16:creationId xmlns:a16="http://schemas.microsoft.com/office/drawing/2014/main" id="{7847117D-7D52-414A-99DF-3D3734C46407}"/>
              </a:ext>
            </a:extLst>
          </p:cNvPr>
          <p:cNvSpPr>
            <a:spLocks noGrp="1"/>
          </p:cNvSpPr>
          <p:nvPr/>
        </p:nvSpPr>
        <p:spPr>
          <a:xfrm>
            <a:off x="698373" y="5318760"/>
            <a:ext cx="6878574" cy="867156"/>
          </a:xfrm>
          <a:prstGeom prst="rect">
            <a:avLst/>
          </a:prstGeom>
          <a:solidFill>
            <a:srgbClr val="171717"/>
          </a:solidFill>
          <a:ln w="0">
            <a:noFill/>
          </a:ln>
        </p:spPr>
        <p:txBody>
          <a:bodyPr wrap="none" lIns="142875" tIns="76200" rIns="142875" bIns="76200" anchor="t">
            <a:noAutofit/>
          </a:bodyPr>
          <a:lstStyle/>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stock_prices = [3, -5, 12, -2, 7, -9, 5,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n = len(stock_prices)</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max_profit = max_subarray_sum(stock_prices, 0, n - 1)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print(f"최대 구간 합(최대 이익): {max_profit}")</a:t>
            </a:r>
          </a:p>
        </p:txBody>
      </p:sp>
      <p:sp>
        <p:nvSpPr>
          <p:cNvPr id="36" name="직사각형 35">
            <a:extLst>
              <a:ext uri="{FF2B5EF4-FFF2-40B4-BE49-F238E27FC236}">
                <a16:creationId xmlns:a16="http://schemas.microsoft.com/office/drawing/2014/main" id="{9C2E04A8-302B-4AD6-89E7-6E99E25FE98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3DE34F45-5481-4274-8CAA-7D548311BAC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E489CF31-67C8-4385-B603-1F7B098CE66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메인</a:t>
            </a:r>
          </a:p>
        </p:txBody>
      </p:sp>
      <p:sp>
        <p:nvSpPr>
          <p:cNvPr id="39" name="직사각형 38">
            <a:extLst>
              <a:ext uri="{FF2B5EF4-FFF2-40B4-BE49-F238E27FC236}">
                <a16:creationId xmlns:a16="http://schemas.microsoft.com/office/drawing/2014/main" id="{FC76D691-AE44-4824-BA07-F008FA7B0FEE}"/>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EE63D6F8-70E9-4DC1-82CE-D7546FFC4E03}"/>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853F260F-BF81-49C9-85A7-A32BA91AC7E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01896AE6-B2AC-42E3-AE1B-7A31148832A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3044088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CBEA2B7-28E7-4007-AA37-998C50639B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3" name="직사각형 32">
            <a:extLst>
              <a:ext uri="{FF2B5EF4-FFF2-40B4-BE49-F238E27FC236}">
                <a16:creationId xmlns:a16="http://schemas.microsoft.com/office/drawing/2014/main" id="{1AD47630-52AD-4FB9-BB6F-D27E25CC4E9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276E967F-5653-47B9-A82B-E0919632ADC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시간 복잡도 분석</a:t>
            </a:r>
          </a:p>
        </p:txBody>
      </p:sp>
      <p:sp>
        <p:nvSpPr>
          <p:cNvPr id="35" name="직사각형 34">
            <a:extLst>
              <a:ext uri="{FF2B5EF4-FFF2-40B4-BE49-F238E27FC236}">
                <a16:creationId xmlns:a16="http://schemas.microsoft.com/office/drawing/2014/main" id="{0F36152E-462F-4644-9A85-62796292E255}"/>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02A676A7-6DAA-4E3C-91D5-88DA43DDBC40}"/>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DB955BD-4D75-4F19-B2E3-1E3BD7FF960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751EE579-87C5-4137-9493-86E2C213F27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38</a:t>
            </a:r>
            <a:endParaRPr sz="1050" b="1" i="0">
              <a:solidFill>
                <a:srgbClr val="171717"/>
              </a:solidFill>
              <a:latin typeface="Consolas"/>
              <a:ea typeface="Consolas"/>
              <a:cs typeface="Consolas"/>
            </a:endParaRPr>
          </a:p>
        </p:txBody>
      </p:sp>
      <p:sp>
        <p:nvSpPr>
          <p:cNvPr id="39" name="직사각형 38">
            <a:extLst>
              <a:ext uri="{FF2B5EF4-FFF2-40B4-BE49-F238E27FC236}">
                <a16:creationId xmlns:a16="http://schemas.microsoft.com/office/drawing/2014/main" id="{43FD8BA3-A1A1-4593-A7D7-EA4ABC9112C8}"/>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 중간 인덱스를 계산한다. O(1)</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정복 — 절반 크기의 두 문제를 푼다. 2T(n/2)</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 — 중앙에서 양쪽으로 훑어 경계를 가로지르는 최대 합을 구한다.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2T(n/2)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따라서 T(n) = O(n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합병 정렬과 같은 형태의 점화식이다.</a:t>
            </a:r>
          </a:p>
        </p:txBody>
      </p:sp>
      <p:pic>
        <p:nvPicPr>
          <p:cNvPr id="49" name="그림 48"/>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2242109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40</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41</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42</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43</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44</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47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48</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49</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52</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53</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54</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55</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56</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합병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합병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081E8C2-2B11-4F6C-B045-EEC943663534}"/>
              </a:ext>
            </a:extLst>
          </p:cNvPr>
          <p:cNvSpPr>
            <a:spLocks noGrp="1"/>
          </p:cNvSpPr>
          <p:nvPr/>
        </p:nvSpPr>
        <p:spPr>
          <a:xfrm>
            <a:off x="658368" y="1737360"/>
            <a:ext cx="10872216" cy="365760"/>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지금까지 만난 분할 정복 알고리즘들의 점화식을 마스터 정리로 정리하면 다음과 같다.</a:t>
            </a:r>
            <a:endParaRPr sz="1300"/>
          </a:p>
        </p:txBody>
      </p:sp>
      <p:graphicFrame>
        <p:nvGraphicFramePr>
          <p:cNvPr id="25" name="Table 0"/>
          <p:cNvGraphicFramePr/>
          <p:nvPr/>
        </p:nvGraphicFramePr>
        <p:xfrm>
          <a:off x="658368" y="2286000"/>
          <a:ext cx="10872216" cy="3072384"/>
        </p:xfrm>
        <a:graphic>
          <a:graphicData uri="http://schemas.openxmlformats.org/drawingml/2006/table">
            <a:tbl>
              <a:tblPr/>
              <a:tblGrid>
                <a:gridCol w="21488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2459736">
                  <a:extLst>
                    <a:ext uri="{9D8B030D-6E8A-4147-A177-3AD203B41FA5}">
                      <a16:colId xmlns:a16="http://schemas.microsoft.com/office/drawing/2014/main" val="20006"/>
                    </a:ext>
                  </a:extLst>
                </a:gridCol>
              </a:tblGrid>
              <a:tr h="438912">
                <a:tc>
                  <a:txBody>
                    <a:bodyPr/>
                    <a:lstStyle/>
                    <a:p>
                      <a:pPr marL="0" indent="0" algn="ctr">
                        <a:buNone/>
                      </a:pPr>
                      <a:r>
                        <a:rPr sz="1100" b="1">
                          <a:solidFill>
                            <a:srgbClr val="FFFFFF"/>
                          </a:solidFill>
                          <a:latin typeface="Malgun Gothic"/>
                          <a:ea typeface="Malgun Gothic"/>
                          <a:cs typeface="Malgun Gothic"/>
                        </a:rPr>
                        <a:t>알고리즘</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점화식</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a</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b</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f(n)</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경우</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시간 복잡도</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438912">
                <a:tc>
                  <a:txBody>
                    <a:bodyPr/>
                    <a:lstStyle/>
                    <a:p>
                      <a:pPr marL="0" indent="0" algn="l">
                        <a:buNone/>
                      </a:pPr>
                      <a:r>
                        <a:rPr sz="1100" b="0">
                          <a:solidFill>
                            <a:srgbClr val="171717"/>
                          </a:solidFill>
                          <a:latin typeface="Malgun Gothic"/>
                          <a:ea typeface="Malgun Gothic"/>
                          <a:cs typeface="Malgun Gothic"/>
                        </a:rPr>
                        <a:t>이진 탐색</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T(n/2) + 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sz="1100" b="0">
                          <a:solidFill>
                            <a:srgbClr val="171717"/>
                          </a:solidFill>
                          <a:latin typeface="Malgun Gothic"/>
                          <a:ea typeface="Malgun Gothic"/>
                          <a:cs typeface="Malgun Gothic"/>
                        </a:rPr>
                        <a:t>합병 정렬</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438912">
                <a:tc>
                  <a:txBody>
                    <a:bodyPr/>
                    <a:lstStyle/>
                    <a:p>
                      <a:pPr marL="0" indent="0" algn="l">
                        <a:buNone/>
                      </a:pPr>
                      <a:r>
                        <a:rPr sz="1100" b="0">
                          <a:solidFill>
                            <a:srgbClr val="171717"/>
                          </a:solidFill>
                          <a:latin typeface="Malgun Gothic"/>
                          <a:ea typeface="Malgun Gothic"/>
                          <a:cs typeface="Malgun Gothic"/>
                        </a:rPr>
                        <a:t>최대 구간 합</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sz="1100" b="0">
                          <a:solidFill>
                            <a:srgbClr val="171717"/>
                          </a:solidFill>
                          <a:latin typeface="Malgun Gothic"/>
                          <a:ea typeface="Malgun Gothic"/>
                          <a:cs typeface="Malgun Gothic"/>
                        </a:rPr>
                        <a:t>최근접 쌍</a:t>
                      </a:r>
                      <a:endParaRPr sz="1100">
                        <a:latin typeface="Malgun Gothic"/>
                        <a:ea typeface="Malgun Gothic"/>
                        <a:cs typeface="Malgun Gothic"/>
                      </a:endParaRPr>
                    </a:p>
                    <a:p>
                      <a:pPr marL="0" indent="0" algn="l">
                        <a:buNone/>
                      </a:pPr>
                      <a:r>
                        <a:rPr sz="1100" b="0">
                          <a:solidFill>
                            <a:srgbClr val="171717"/>
                          </a:solidFill>
                          <a:latin typeface="Malgun Gothic"/>
                          <a:ea typeface="Malgun Gothic"/>
                          <a:cs typeface="Malgun Gothic"/>
                        </a:rPr>
                        <a:t>(y 정렬 유지)</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438912">
                <a:tc>
                  <a:txBody>
                    <a:bodyPr/>
                    <a:lstStyle/>
                    <a:p>
                      <a:pPr marL="0" indent="0" algn="l">
                        <a:buNone/>
                      </a:pPr>
                      <a:r>
                        <a:rPr sz="1100" b="0">
                          <a:solidFill>
                            <a:srgbClr val="171717"/>
                          </a:solidFill>
                          <a:latin typeface="Malgun Gothic"/>
                          <a:ea typeface="Malgun Gothic"/>
                          <a:cs typeface="Malgun Gothic"/>
                        </a:rPr>
                        <a:t>카라츠바 (§4.7)</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3T(n/2)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3</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O(n^1.585)</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sz="1100" b="0">
                          <a:solidFill>
                            <a:srgbClr val="171717"/>
                          </a:solidFill>
                          <a:latin typeface="Malgun Gothic"/>
                          <a:ea typeface="Malgun Gothic"/>
                          <a:cs typeface="Malgun Gothic"/>
                        </a:rPr>
                        <a:t>스트라센 (§4.8)</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7T(n/2) + 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O(n^2.807)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1" name="Text 6">
            <a:extLst>
              <a:ext uri="{FF2B5EF4-FFF2-40B4-BE49-F238E27FC236}">
                <a16:creationId xmlns:a16="http://schemas.microsoft.com/office/drawing/2014/main" id="{E90CC6FF-41A0-4C0E-9A4F-AC08BFEA6767}"/>
              </a:ext>
            </a:extLst>
          </p:cNvPr>
          <p:cNvSpPr>
            <a:spLocks noGrp="1"/>
          </p:cNvSpPr>
          <p:nvPr/>
        </p:nvSpPr>
        <p:spPr>
          <a:xfrm>
            <a:off x="1517904" y="5669280"/>
            <a:ext cx="9756648" cy="32918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재귀 호출 횟수 a를 줄이는 것이 가장 강력한 최적화다 — 다음 두 절의 주제다.</a:t>
            </a:r>
            <a:endParaRPr sz="1250"/>
          </a:p>
        </p:txBody>
      </p:sp>
      <p:sp>
        <p:nvSpPr>
          <p:cNvPr id="15" name="직사각형 14">
            <a:extLst>
              <a:ext uri="{FF2B5EF4-FFF2-40B4-BE49-F238E27FC236}">
                <a16:creationId xmlns:a16="http://schemas.microsoft.com/office/drawing/2014/main" id="{0BB678FE-851C-482D-A427-FDA6EF0AC240}"/>
              </a:ext>
            </a:extLst>
          </p:cNvPr>
          <p:cNvSpPr>
            <a:spLocks noGrp="1"/>
          </p:cNvSpPr>
          <p:nvPr/>
        </p:nvSpPr>
        <p:spPr>
          <a:xfrm>
            <a:off x="658368" y="5504688"/>
            <a:ext cx="10872216" cy="9525"/>
          </a:xfrm>
          <a:prstGeom prst="rect">
            <a:avLst/>
          </a:prstGeom>
          <a:solidFill>
            <a:srgbClr val="D4D4D4"/>
          </a:solidFill>
          <a:ln w="0">
            <a:noFill/>
          </a:ln>
        </p:spPr>
      </p:sp>
      <p:sp>
        <p:nvSpPr>
          <p:cNvPr id="16" name="직사각형 15">
            <a:extLst>
              <a:ext uri="{FF2B5EF4-FFF2-40B4-BE49-F238E27FC236}">
                <a16:creationId xmlns:a16="http://schemas.microsoft.com/office/drawing/2014/main" id="{0A5E924D-BD23-4F02-9AE5-1923C594D5B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4263B057-D6BB-4351-BE1E-E3E9979E50B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E6E499A2-ACA6-44F4-AE14-6B96BD8A1A1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한눈에 보는 점화식 정리</a:t>
            </a:r>
          </a:p>
        </p:txBody>
      </p:sp>
      <p:sp>
        <p:nvSpPr>
          <p:cNvPr id="19" name="직사각형 18">
            <a:extLst>
              <a:ext uri="{FF2B5EF4-FFF2-40B4-BE49-F238E27FC236}">
                <a16:creationId xmlns:a16="http://schemas.microsoft.com/office/drawing/2014/main" id="{915DC30A-B664-41EF-91B0-AB7528CA9060}"/>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2974D0E8-97D4-47A1-B6AF-91CB8AD1CDF1}"/>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5059B5C8-A498-493F-8071-A0D7DD90DC5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1486F770-A88D-44FA-BCAB-B0B80ADEC99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81415990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4DE3CEB-A345-4278-8B7C-AE7489542CF1}"/>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3B5FCFCA-2FBC-47F6-B590-9D3095546899}"/>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77F1CB0-463E-4924-9411-42F53ABF0E89}"/>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F12BBDE-50C6-49D5-83D2-BAC0A6DBED76}"/>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카라츠바 알고리즘</a:t>
            </a:r>
          </a:p>
        </p:txBody>
      </p:sp>
      <p:sp>
        <p:nvSpPr>
          <p:cNvPr id="5" name="직사각형 4">
            <a:extLst>
              <a:ext uri="{FF2B5EF4-FFF2-40B4-BE49-F238E27FC236}">
                <a16:creationId xmlns:a16="http://schemas.microsoft.com/office/drawing/2014/main" id="{DB153735-D41E-4E42-A48C-4E2DA97FF4D0}"/>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Karatsuba Algorithm (1960)</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정수 곱셈의 재귀 호출을 4번에서 3번으로</a:t>
            </a:r>
          </a:p>
        </p:txBody>
      </p:sp>
      <p:sp>
        <p:nvSpPr>
          <p:cNvPr id="6" name="직사각형 5">
            <a:extLst>
              <a:ext uri="{FF2B5EF4-FFF2-40B4-BE49-F238E27FC236}">
                <a16:creationId xmlns:a16="http://schemas.microsoft.com/office/drawing/2014/main" id="{D8AF451A-CE5D-4458-975E-F9844C1AEB11}"/>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5F55E45-1083-407A-835F-5E959B6E501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D4205A3-3F64-4F21-99E6-79330F219FF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391824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직사각형 23">
            <a:extLst>
              <a:ext uri="{FF2B5EF4-FFF2-40B4-BE49-F238E27FC236}">
                <a16:creationId xmlns:a16="http://schemas.microsoft.com/office/drawing/2014/main" id="{1F12C157-FF91-4FAA-A063-B74B0D43469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25" name="직사각형 24">
            <a:extLst>
              <a:ext uri="{FF2B5EF4-FFF2-40B4-BE49-F238E27FC236}">
                <a16:creationId xmlns:a16="http://schemas.microsoft.com/office/drawing/2014/main" id="{8E183873-5AC6-4787-A7C6-CA6B72E163E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6" name="직사각형 25">
            <a:extLst>
              <a:ext uri="{FF2B5EF4-FFF2-40B4-BE49-F238E27FC236}">
                <a16:creationId xmlns:a16="http://schemas.microsoft.com/office/drawing/2014/main" id="{23A503D6-6D09-4E8A-9726-A140785C68E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문제의 분할 (divide)</a:t>
            </a:r>
          </a:p>
        </p:txBody>
      </p:sp>
      <p:sp>
        <p:nvSpPr>
          <p:cNvPr id="27" name="직사각형 26">
            <a:extLst>
              <a:ext uri="{FF2B5EF4-FFF2-40B4-BE49-F238E27FC236}">
                <a16:creationId xmlns:a16="http://schemas.microsoft.com/office/drawing/2014/main" id="{B108E93A-3390-46D2-9E1A-F903D638A850}"/>
              </a:ext>
            </a:extLst>
          </p:cNvPr>
          <p:cNvSpPr>
            <a:spLocks noGrp="1"/>
          </p:cNvSpPr>
          <p:nvPr/>
        </p:nvSpPr>
        <p:spPr>
          <a:xfrm>
            <a:off x="609600" y="1381125"/>
            <a:ext cx="10972800" cy="19050"/>
          </a:xfrm>
          <a:prstGeom prst="rect">
            <a:avLst/>
          </a:prstGeom>
          <a:solidFill>
            <a:srgbClr val="171717"/>
          </a:solidFill>
          <a:ln w="0">
            <a:noFill/>
          </a:ln>
        </p:spPr>
      </p:sp>
      <p:sp>
        <p:nvSpPr>
          <p:cNvPr id="28" name="직사각형 27">
            <a:extLst>
              <a:ext uri="{FF2B5EF4-FFF2-40B4-BE49-F238E27FC236}">
                <a16:creationId xmlns:a16="http://schemas.microsoft.com/office/drawing/2014/main" id="{530B5F4D-BD6B-44AE-BD1A-E7AD442A6E5E}"/>
              </a:ext>
            </a:extLst>
          </p:cNvPr>
          <p:cNvSpPr>
            <a:spLocks noGrp="1"/>
          </p:cNvSpPr>
          <p:nvPr/>
        </p:nvSpPr>
        <p:spPr>
          <a:xfrm>
            <a:off x="609600" y="6438900"/>
            <a:ext cx="10972800"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BB43423D-E24E-431D-B164-82D74F8E0DF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0" name="직사각형 29">
            <a:extLst>
              <a:ext uri="{FF2B5EF4-FFF2-40B4-BE49-F238E27FC236}">
                <a16:creationId xmlns:a16="http://schemas.microsoft.com/office/drawing/2014/main" id="{B6CD3DBE-C597-4C4A-9FD8-FF456D9BB53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61</a:t>
            </a:r>
            <a:endParaRPr sz="1050" b="1" i="0">
              <a:solidFill>
                <a:srgbClr val="171717"/>
              </a:solidFill>
              <a:latin typeface="Consolas"/>
              <a:ea typeface="Consolas"/>
              <a:cs typeface="Consolas"/>
            </a:endParaRPr>
          </a:p>
        </p:txBody>
      </p:sp>
      <p:sp>
        <p:nvSpPr>
          <p:cNvPr id="31" name="직사각형 30">
            <a:extLst>
              <a:ext uri="{FF2B5EF4-FFF2-40B4-BE49-F238E27FC236}">
                <a16:creationId xmlns:a16="http://schemas.microsoft.com/office/drawing/2014/main" id="{42231B48-D880-4743-BAD4-761859FEE5CA}"/>
              </a:ext>
            </a:extLst>
          </p:cNvPr>
          <p:cNvSpPr>
            <a:spLocks noGrp="1"/>
          </p:cNvSpPr>
          <p:nvPr/>
        </p:nvSpPr>
        <p:spPr>
          <a:xfrm>
            <a:off x="609601" y="1685925"/>
            <a:ext cx="5695950"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m은</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자릿수입니다</a:t>
            </a:r>
            <a:r>
              <a:rPr sz="1650" dirty="0">
                <a:solidFill>
                  <a:srgbClr val="171717"/>
                </a:solidFill>
                <a:latin typeface="Malgun Gothic"/>
                <a:ea typeface="Malgun Gothic"/>
                <a:cs typeface="Malgun Gothic"/>
              </a:rPr>
              <a:t>. 큰 </a:t>
            </a:r>
            <a:r>
              <a:rPr sz="1650" dirty="0" err="1">
                <a:solidFill>
                  <a:srgbClr val="171717"/>
                </a:solidFill>
                <a:latin typeface="Malgun Gothic"/>
                <a:ea typeface="Malgun Gothic"/>
                <a:cs typeface="Malgun Gothic"/>
              </a:rPr>
              <a:t>수를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앞부분과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나눕니다</a:t>
            </a:r>
            <a:r>
              <a:rPr sz="1650" dirty="0">
                <a:solidFill>
                  <a:srgbClr val="171717"/>
                </a:solidFill>
                <a:latin typeface="Malgun Gothic"/>
                <a:ea typeface="Malgun Gothic"/>
                <a:cs typeface="Malgun Gothic"/>
              </a:rPr>
              <a:t>.</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 = x₁ · 10^m + x₀</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Y = y₁ · 10^m + y₀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예: 1234 = 12 · 10² + 34</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X·Y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₁ · 10^(2m)</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₀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₁) · 10^m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절반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크기의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곱셈이</a:t>
            </a:r>
            <a:r>
              <a:rPr sz="1650" dirty="0">
                <a:solidFill>
                  <a:srgbClr val="171717"/>
                </a:solidFill>
                <a:latin typeface="Malgun Gothic"/>
                <a:ea typeface="Malgun Gothic"/>
                <a:cs typeface="Malgun Gothic"/>
              </a:rPr>
              <a:t> 네 번 </a:t>
            </a:r>
            <a:r>
              <a:rPr sz="1650" dirty="0" err="1">
                <a:solidFill>
                  <a:srgbClr val="171717"/>
                </a:solidFill>
                <a:latin typeface="Malgun Gothic"/>
                <a:ea typeface="Malgun Gothic"/>
                <a:cs typeface="Malgun Gothic"/>
              </a:rPr>
              <a:t>필요합니다</a:t>
            </a:r>
            <a:r>
              <a:rPr sz="1650" dirty="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T(n) = 4T(n/2) + O(n) = O(n²)</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다음에는</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횟수를</a:t>
            </a:r>
            <a:r>
              <a:rPr sz="1650" dirty="0">
                <a:solidFill>
                  <a:srgbClr val="171717"/>
                </a:solidFill>
                <a:latin typeface="Malgun Gothic"/>
                <a:ea typeface="Malgun Gothic"/>
                <a:cs typeface="Malgun Gothic"/>
              </a:rPr>
              <a:t> 세 </a:t>
            </a:r>
            <a:r>
              <a:rPr sz="1650" dirty="0" err="1">
                <a:solidFill>
                  <a:srgbClr val="171717"/>
                </a:solidFill>
                <a:latin typeface="Malgun Gothic"/>
                <a:ea typeface="Malgun Gothic"/>
                <a:cs typeface="Malgun Gothic"/>
              </a:rPr>
              <a:t>번으로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줄입니다</a:t>
            </a:r>
            <a:r>
              <a:rPr sz="1650" dirty="0">
                <a:solidFill>
                  <a:srgbClr val="171717"/>
                </a:solidFill>
                <a:latin typeface="Malgun Gothic"/>
                <a:ea typeface="Malgun Gothic"/>
                <a:cs typeface="Malgun Gothic"/>
              </a:rPr>
              <a:t>.</a:t>
            </a:r>
          </a:p>
        </p:txBody>
      </p:sp>
      <p:pic>
        <p:nvPicPr>
          <p:cNvPr id="41" name="그림 40"/>
          <p:cNvPicPr>
            <a:picLocks noChangeAspect="1"/>
          </p:cNvPicPr>
          <p:nvPr/>
        </p:nvPicPr>
        <p:blipFill>
          <a:blip r:embed="rId3"/>
          <a:stretch/>
        </p:blipFill>
        <p:spPr>
          <a:xfrm>
            <a:off x="7400925" y="2095500"/>
            <a:ext cx="4000500" cy="3333750"/>
          </a:xfrm>
          <a:prstGeom prst="rect">
            <a:avLst/>
          </a:prstGeom>
        </p:spPr>
      </p:pic>
    </p:spTree>
    <p:extLst>
      <p:ext uri="{BB962C8B-B14F-4D97-AF65-F5344CB8AC3E}">
        <p14:creationId xmlns:p14="http://schemas.microsoft.com/office/powerpoint/2010/main" val="1043127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E345729-01D7-4B1A-84B3-1A63540C593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50861AE8-A573-4CA4-B35D-D3903DD85D3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C6B059D1-2617-4623-B4EC-0AB6936C8D5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카라츠바의 마법 — 대수적 트릭 (conquer)</a:t>
            </a:r>
          </a:p>
        </p:txBody>
      </p:sp>
      <p:sp>
        <p:nvSpPr>
          <p:cNvPr id="40" name="직사각형 39">
            <a:extLst>
              <a:ext uri="{FF2B5EF4-FFF2-40B4-BE49-F238E27FC236}">
                <a16:creationId xmlns:a16="http://schemas.microsoft.com/office/drawing/2014/main" id="{EF731251-0616-4F0E-BF68-E15F9807FA4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9E208B67-396F-4B1A-B46E-D9EF68A8A7A7}"/>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00D4284E-B4C7-4D8B-B90D-0A78322CAAD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755798B5-8719-4DA1-9E73-6DDEB931A1E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62</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D7BAA56F-51E6-4FDF-9ADB-EF5043A81724}"/>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절반 크기의 곱셈을 세 번만 수행한다.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M₁ = x₁y₁</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M₂ = x₀y₀</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M₃ = (x₁ + x₀)(y₁ + y₀)</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교차항은 덧셈과 뺄셈으로 복원한다.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C = x₁y₀ + x₀y₁ = M₃ − M₁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X·Y = M₁·10^(2m) + C·10^m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네 번의 곱셈을 세 번으로 줄이는 것이 카라츠바의 핵심이다.</a:t>
            </a:r>
          </a:p>
        </p:txBody>
      </p:sp>
      <p:pic>
        <p:nvPicPr>
          <p:cNvPr id="54" name="그림 53"/>
          <p:cNvPicPr>
            <a:picLocks noChangeAspect="1"/>
          </p:cNvPicPr>
          <p:nvPr/>
        </p:nvPicPr>
        <p:blipFill>
          <a:blip r:embed="rId3"/>
          <a:stretch/>
        </p:blipFill>
        <p:spPr>
          <a:xfrm>
            <a:off x="7315200" y="2152610"/>
            <a:ext cx="4171950" cy="3219530"/>
          </a:xfrm>
          <a:prstGeom prst="rect">
            <a:avLst/>
          </a:prstGeom>
        </p:spPr>
      </p:pic>
    </p:spTree>
    <p:extLst>
      <p:ext uri="{BB962C8B-B14F-4D97-AF65-F5344CB8AC3E}">
        <p14:creationId xmlns:p14="http://schemas.microsoft.com/office/powerpoint/2010/main" val="9570329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7C202A0-3621-4316-91E3-228C612A29A4}"/>
              </a:ext>
            </a:extLst>
          </p:cNvPr>
          <p:cNvSpPr>
            <a:spLocks noGrp="1"/>
          </p:cNvSpPr>
          <p:nvPr/>
        </p:nvSpPr>
        <p:spPr>
          <a:xfrm>
            <a:off x="859536" y="1801368"/>
            <a:ext cx="67665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karatsuba.pseudo</a:t>
            </a:r>
            <a:endParaRPr sz="900"/>
          </a:p>
        </p:txBody>
      </p:sp>
      <p:sp>
        <p:nvSpPr>
          <p:cNvPr id="17" name="Text 13">
            <a:extLst>
              <a:ext uri="{FF2B5EF4-FFF2-40B4-BE49-F238E27FC236}">
                <a16:creationId xmlns:a16="http://schemas.microsoft.com/office/drawing/2014/main" id="{175E33B7-5A54-40F2-BAE3-9B7CDE6C4CA5}"/>
              </a:ext>
            </a:extLst>
          </p:cNvPr>
          <p:cNvSpPr>
            <a:spLocks noGrp="1"/>
          </p:cNvSpPr>
          <p:nvPr/>
        </p:nvSpPr>
        <p:spPr>
          <a:xfrm>
            <a:off x="8814816" y="1965960"/>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호출이 3번뿐</a:t>
            </a:r>
            <a:endParaRPr sz="1250"/>
          </a:p>
        </p:txBody>
      </p:sp>
      <p:sp>
        <p:nvSpPr>
          <p:cNvPr id="18" name="Text 14">
            <a:extLst>
              <a:ext uri="{FF2B5EF4-FFF2-40B4-BE49-F238E27FC236}">
                <a16:creationId xmlns:a16="http://schemas.microsoft.com/office/drawing/2014/main" id="{D00357F3-4639-41AB-B35D-B5F74746500C}"/>
              </a:ext>
            </a:extLst>
          </p:cNvPr>
          <p:cNvSpPr>
            <a:spLocks noGrp="1"/>
          </p:cNvSpPr>
          <p:nvPr/>
        </p:nvSpPr>
        <p:spPr>
          <a:xfrm>
            <a:off x="8814816" y="2313432"/>
            <a:ext cx="2459736" cy="96012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4번이 아니라 3번. 덧셈과 뺄셈이 몇 번 늘어나지만, 이들은 O(n)에 불과하다.</a:t>
            </a:r>
            <a:endParaRPr sz="1100"/>
          </a:p>
        </p:txBody>
      </p:sp>
      <p:sp>
        <p:nvSpPr>
          <p:cNvPr id="22" name="Text 17">
            <a:extLst>
              <a:ext uri="{FF2B5EF4-FFF2-40B4-BE49-F238E27FC236}">
                <a16:creationId xmlns:a16="http://schemas.microsoft.com/office/drawing/2014/main" id="{AEE7F7F4-BEF4-4695-B397-9673D18E1CAB}"/>
              </a:ext>
            </a:extLst>
          </p:cNvPr>
          <p:cNvSpPr>
            <a:spLocks noGrp="1"/>
          </p:cNvSpPr>
          <p:nvPr/>
        </p:nvSpPr>
        <p:spPr>
          <a:xfrm>
            <a:off x="8814816" y="3803904"/>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실무에서의 임계값</a:t>
            </a:r>
            <a:endParaRPr sz="1250"/>
          </a:p>
        </p:txBody>
      </p:sp>
      <p:sp>
        <p:nvSpPr>
          <p:cNvPr id="23" name="Text 18">
            <a:extLst>
              <a:ext uri="{FF2B5EF4-FFF2-40B4-BE49-F238E27FC236}">
                <a16:creationId xmlns:a16="http://schemas.microsoft.com/office/drawing/2014/main" id="{F0B5C79C-F2B4-48B6-AAA5-6805A8BBAC75}"/>
              </a:ext>
            </a:extLst>
          </p:cNvPr>
          <p:cNvSpPr>
            <a:spLocks noGrp="1"/>
          </p:cNvSpPr>
          <p:nvPr/>
        </p:nvSpPr>
        <p:spPr>
          <a:xfrm>
            <a:off x="8814816" y="4151376"/>
            <a:ext cx="2459736" cy="82296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작은 수에서는 재귀 비용이 더 클 수 있습니다. 기본 곱셈으로 전환할 크기는 구현과 환경에 따라 정합니다.</a:t>
            </a:r>
            <a:endParaRPr sz="1100"/>
          </a:p>
        </p:txBody>
      </p:sp>
      <p:sp>
        <p:nvSpPr>
          <p:cNvPr id="25" name="Text 20">
            <a:extLst>
              <a:ext uri="{FF2B5EF4-FFF2-40B4-BE49-F238E27FC236}">
                <a16:creationId xmlns:a16="http://schemas.microsoft.com/office/drawing/2014/main" id="{42A3B668-0EEA-4063-B015-8293EAEEDCA3}"/>
              </a:ext>
            </a:extLst>
          </p:cNvPr>
          <p:cNvSpPr>
            <a:spLocks noGrp="1"/>
          </p:cNvSpPr>
          <p:nvPr/>
        </p:nvSpPr>
        <p:spPr>
          <a:xfrm>
            <a:off x="8092440" y="5321808"/>
            <a:ext cx="3300984" cy="84124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T(n) = 3T(n/2) + O(n)</a:t>
            </a:r>
            <a:endParaRPr sz="1500"/>
          </a:p>
        </p:txBody>
      </p:sp>
      <p:sp>
        <p:nvSpPr>
          <p:cNvPr id="27" name="직사각형 26">
            <a:extLst>
              <a:ext uri="{FF2B5EF4-FFF2-40B4-BE49-F238E27FC236}">
                <a16:creationId xmlns:a16="http://schemas.microsoft.com/office/drawing/2014/main" id="{AF232752-A5AF-4C10-80B9-751D58A642F4}"/>
              </a:ext>
            </a:extLst>
          </p:cNvPr>
          <p:cNvSpPr>
            <a:spLocks noGrp="1"/>
          </p:cNvSpPr>
          <p:nvPr/>
        </p:nvSpPr>
        <p:spPr>
          <a:xfrm>
            <a:off x="7955280" y="1783080"/>
            <a:ext cx="357530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80FD16A-F05A-4E91-8DE5-EB91970854F3}"/>
              </a:ext>
            </a:extLst>
          </p:cNvPr>
          <p:cNvSpPr>
            <a:spLocks noGrp="1"/>
          </p:cNvSpPr>
          <p:nvPr/>
        </p:nvSpPr>
        <p:spPr>
          <a:xfrm>
            <a:off x="7955280" y="3621024"/>
            <a:ext cx="357530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FC15BB37-434A-4A17-9DD4-938D5E0E48D8}"/>
              </a:ext>
            </a:extLst>
          </p:cNvPr>
          <p:cNvSpPr>
            <a:spLocks noGrp="1"/>
          </p:cNvSpPr>
          <p:nvPr/>
        </p:nvSpPr>
        <p:spPr>
          <a:xfrm>
            <a:off x="698373" y="2090928"/>
            <a:ext cx="710717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KaratsubaMultiply(X,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n &lt;- max(length of X, length of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n &lt; 2 then</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X *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m &lt;- floor(n / 2)</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x_high, x_low &lt;- Split(X,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y_high, y_low &lt;- Split(Y,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z2 &lt;- KaratsubaMultiply(x_high, y_high)</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z0 &lt;- KaratsubaMultiply(x_low,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z1_raw &lt;- KaratsubaMultiply(x_high + x_low, y_high +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 &lt;- z1_raw - z2 - z0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z2 * 10^(2m) + z1 * 10^m + z0</a:t>
            </a:r>
          </a:p>
        </p:txBody>
      </p:sp>
      <p:sp>
        <p:nvSpPr>
          <p:cNvPr id="30" name="직사각형 29">
            <a:extLst>
              <a:ext uri="{FF2B5EF4-FFF2-40B4-BE49-F238E27FC236}">
                <a16:creationId xmlns:a16="http://schemas.microsoft.com/office/drawing/2014/main" id="{F415AAB9-9719-4D72-BB25-B35DFD872F66}"/>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FACA6C0E-972E-44E1-92CC-A3D60B878FB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A7EDA901-5F6E-487F-9AAB-69FDBC1E16C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 알고리즘 (의사코드)</a:t>
            </a:r>
          </a:p>
        </p:txBody>
      </p:sp>
      <p:sp>
        <p:nvSpPr>
          <p:cNvPr id="33" name="직사각형 32">
            <a:extLst>
              <a:ext uri="{FF2B5EF4-FFF2-40B4-BE49-F238E27FC236}">
                <a16:creationId xmlns:a16="http://schemas.microsoft.com/office/drawing/2014/main" id="{B01A9CC8-8E0A-4932-A47F-536AF82FA9FC}"/>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2684E238-F5A0-49EE-9446-3C81CCF6EBDB}"/>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4AA350FA-EFBF-4BF4-8713-BE64C06DAA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29A03787-4D37-4D31-A130-783ED283E69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4575403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EF807136-631E-4F92-BC8B-5859F0033FA6}"/>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karatsuba.py</a:t>
            </a:r>
            <a:endParaRPr sz="900"/>
          </a:p>
        </p:txBody>
      </p:sp>
      <p:sp>
        <p:nvSpPr>
          <p:cNvPr id="20" name="Text 17">
            <a:extLst>
              <a:ext uri="{FF2B5EF4-FFF2-40B4-BE49-F238E27FC236}">
                <a16:creationId xmlns:a16="http://schemas.microsoft.com/office/drawing/2014/main" id="{B7AA217C-F4AA-48FE-9385-5C6CFDBFEA7E}"/>
              </a:ext>
            </a:extLst>
          </p:cNvPr>
          <p:cNvSpPr>
            <a:spLocks noGrp="1"/>
          </p:cNvSpPr>
          <p:nvPr/>
        </p:nvSpPr>
        <p:spPr>
          <a:xfrm>
            <a:off x="859536" y="5230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7C352D26-8753-4C1E-93F2-251792D8C9BF}"/>
              </a:ext>
            </a:extLst>
          </p:cNvPr>
          <p:cNvSpPr>
            <a:spLocks noGrp="1"/>
          </p:cNvSpPr>
          <p:nvPr/>
        </p:nvSpPr>
        <p:spPr>
          <a:xfrm>
            <a:off x="8631936" y="1965960"/>
            <a:ext cx="264261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10 ** m 으로 자르기</a:t>
            </a:r>
            <a:endParaRPr sz="1250"/>
          </a:p>
        </p:txBody>
      </p:sp>
      <p:sp>
        <p:nvSpPr>
          <p:cNvPr id="26" name="Text 22">
            <a:extLst>
              <a:ext uri="{FF2B5EF4-FFF2-40B4-BE49-F238E27FC236}">
                <a16:creationId xmlns:a16="http://schemas.microsoft.com/office/drawing/2014/main" id="{026674BA-735D-4BCB-85B5-A9148CBCEFB0}"/>
              </a:ext>
            </a:extLst>
          </p:cNvPr>
          <p:cNvSpPr>
            <a:spLocks noGrp="1"/>
          </p:cNvSpPr>
          <p:nvPr/>
        </p:nvSpPr>
        <p:spPr>
          <a:xfrm>
            <a:off x="8631936" y="2313432"/>
            <a:ext cx="2642616"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몫(//)이 앞부분, 나머지(%)가 뒷부분이 된다.</a:t>
            </a:r>
            <a:endParaRPr sz="1100"/>
          </a:p>
        </p:txBody>
      </p:sp>
      <p:sp>
        <p:nvSpPr>
          <p:cNvPr id="28" name="Text 24">
            <a:extLst>
              <a:ext uri="{FF2B5EF4-FFF2-40B4-BE49-F238E27FC236}">
                <a16:creationId xmlns:a16="http://schemas.microsoft.com/office/drawing/2014/main" id="{ABF9B7B1-7789-45A5-9686-98859429FE2F}"/>
              </a:ext>
            </a:extLst>
          </p:cNvPr>
          <p:cNvSpPr>
            <a:spLocks noGrp="1"/>
          </p:cNvSpPr>
          <p:nvPr/>
        </p:nvSpPr>
        <p:spPr>
          <a:xfrm>
            <a:off x="7973568" y="3419856"/>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5246F52E-87E1-411E-9C8D-2B277DE85A76}"/>
              </a:ext>
            </a:extLst>
          </p:cNvPr>
          <p:cNvSpPr>
            <a:spLocks noGrp="1"/>
          </p:cNvSpPr>
          <p:nvPr/>
        </p:nvSpPr>
        <p:spPr>
          <a:xfrm>
            <a:off x="7973568" y="3749040"/>
            <a:ext cx="3383280" cy="82296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1219326311370217952</a:t>
            </a:r>
            <a:endParaRPr sz="1000"/>
          </a:p>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237463801111263526900</a:t>
            </a:r>
            <a:endParaRPr sz="1000"/>
          </a:p>
        </p:txBody>
      </p:sp>
      <p:sp>
        <p:nvSpPr>
          <p:cNvPr id="30" name="Text 26">
            <a:extLst>
              <a:ext uri="{FF2B5EF4-FFF2-40B4-BE49-F238E27FC236}">
                <a16:creationId xmlns:a16="http://schemas.microsoft.com/office/drawing/2014/main" id="{7A2A84CF-F716-46E7-9B87-BEA0126D8726}"/>
              </a:ext>
            </a:extLst>
          </p:cNvPr>
          <p:cNvSpPr>
            <a:spLocks noGrp="1"/>
          </p:cNvSpPr>
          <p:nvPr/>
        </p:nvSpPr>
        <p:spPr>
          <a:xfrm>
            <a:off x="7973568" y="4535424"/>
            <a:ext cx="3383280" cy="310896"/>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일반 곱셈 결과와 정확히 일치</a:t>
            </a:r>
            <a:endParaRPr sz="1000"/>
          </a:p>
        </p:txBody>
      </p:sp>
      <p:sp>
        <p:nvSpPr>
          <p:cNvPr id="34" name="Text 29">
            <a:extLst>
              <a:ext uri="{FF2B5EF4-FFF2-40B4-BE49-F238E27FC236}">
                <a16:creationId xmlns:a16="http://schemas.microsoft.com/office/drawing/2014/main" id="{19836D29-DACE-4FE0-B36A-BE74D2B37ABE}"/>
              </a:ext>
            </a:extLst>
          </p:cNvPr>
          <p:cNvSpPr>
            <a:spLocks noGrp="1"/>
          </p:cNvSpPr>
          <p:nvPr/>
        </p:nvSpPr>
        <p:spPr>
          <a:xfrm>
            <a:off x="8631936" y="5285232"/>
            <a:ext cx="26426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큰 정수 연산에 활용</a:t>
            </a:r>
            <a:endParaRPr sz="1200"/>
          </a:p>
        </p:txBody>
      </p:sp>
      <p:sp>
        <p:nvSpPr>
          <p:cNvPr id="35" name="Text 30">
            <a:extLst>
              <a:ext uri="{FF2B5EF4-FFF2-40B4-BE49-F238E27FC236}">
                <a16:creationId xmlns:a16="http://schemas.microsoft.com/office/drawing/2014/main" id="{0B3D3320-A706-405C-8302-FE4A85142311}"/>
              </a:ext>
            </a:extLst>
          </p:cNvPr>
          <p:cNvSpPr>
            <a:spLocks noGrp="1"/>
          </p:cNvSpPr>
          <p:nvPr/>
        </p:nvSpPr>
        <p:spPr>
          <a:xfrm>
            <a:off x="8631936" y="5632704"/>
            <a:ext cx="2642616" cy="329184"/>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큰 정수 곱셈의 계산량을 줄이는 기본 기법입니다.</a:t>
            </a:r>
            <a:endParaRPr sz="1080"/>
          </a:p>
        </p:txBody>
      </p:sp>
      <p:sp>
        <p:nvSpPr>
          <p:cNvPr id="37" name="직사각형 36">
            <a:extLst>
              <a:ext uri="{FF2B5EF4-FFF2-40B4-BE49-F238E27FC236}">
                <a16:creationId xmlns:a16="http://schemas.microsoft.com/office/drawing/2014/main" id="{4A091712-E3CD-4EC7-A3A2-CE5E5DFE47D7}"/>
              </a:ext>
            </a:extLst>
          </p:cNvPr>
          <p:cNvSpPr>
            <a:spLocks noGrp="1"/>
          </p:cNvSpPr>
          <p:nvPr/>
        </p:nvSpPr>
        <p:spPr>
          <a:xfrm>
            <a:off x="7772400" y="1783080"/>
            <a:ext cx="375818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C2BAED-AF3F-4DDE-B086-2E78A732C410}"/>
              </a:ext>
            </a:extLst>
          </p:cNvPr>
          <p:cNvSpPr>
            <a:spLocks noGrp="1"/>
          </p:cNvSpPr>
          <p:nvPr/>
        </p:nvSpPr>
        <p:spPr>
          <a:xfrm>
            <a:off x="7772400" y="3310128"/>
            <a:ext cx="375818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34067B67-E4CF-4C09-A1A7-A36D0F9DE141}"/>
              </a:ext>
            </a:extLst>
          </p:cNvPr>
          <p:cNvSpPr>
            <a:spLocks noGrp="1"/>
          </p:cNvSpPr>
          <p:nvPr/>
        </p:nvSpPr>
        <p:spPr>
          <a:xfrm>
            <a:off x="7772400" y="5102352"/>
            <a:ext cx="3758184"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4594E406-AF42-48DE-8BE7-03FEDAF5E5CE}"/>
              </a:ext>
            </a:extLst>
          </p:cNvPr>
          <p:cNvSpPr>
            <a:spLocks noGrp="1"/>
          </p:cNvSpPr>
          <p:nvPr/>
        </p:nvSpPr>
        <p:spPr>
          <a:xfrm>
            <a:off x="698373" y="2090928"/>
            <a:ext cx="6924294" cy="3006852"/>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karatsuba(x,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x &lt; 10 or y &lt; 10:</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x *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n = max(len(str(x)), len(str(y)))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 = n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x_high, x_low = x // (10 ** m), x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y_high, y_low = y // (10 ** m), y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a = karatsuba(x_high, y_high)</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b = karatsuba(x_low,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sum_prod = karatsuba(x_high + x_low, y_high +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sum_prod - a - b</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a * (10 ** (2 * m)) + mid * (10 ** m) + b</a:t>
            </a:r>
          </a:p>
        </p:txBody>
      </p:sp>
      <p:sp>
        <p:nvSpPr>
          <p:cNvPr id="41" name="직사각형 40">
            <a:extLst>
              <a:ext uri="{FF2B5EF4-FFF2-40B4-BE49-F238E27FC236}">
                <a16:creationId xmlns:a16="http://schemas.microsoft.com/office/drawing/2014/main" id="{62E37B02-8D15-4C10-8019-9EA5A23468B4}"/>
              </a:ext>
            </a:extLst>
          </p:cNvPr>
          <p:cNvSpPr>
            <a:spLocks noGrp="1"/>
          </p:cNvSpPr>
          <p:nvPr/>
        </p:nvSpPr>
        <p:spPr>
          <a:xfrm>
            <a:off x="698373" y="5519928"/>
            <a:ext cx="6924294" cy="611124"/>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num1 = 12345678901234567890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num2 = 98765432109876543210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print(karatsuba(num1, num2))</a:t>
            </a:r>
          </a:p>
        </p:txBody>
      </p:sp>
      <p:sp>
        <p:nvSpPr>
          <p:cNvPr id="42" name="직사각형 41">
            <a:extLst>
              <a:ext uri="{FF2B5EF4-FFF2-40B4-BE49-F238E27FC236}">
                <a16:creationId xmlns:a16="http://schemas.microsoft.com/office/drawing/2014/main" id="{04F8806A-8720-4DF9-91DA-49C22308C94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43" name="직사각형 42">
            <a:extLst>
              <a:ext uri="{FF2B5EF4-FFF2-40B4-BE49-F238E27FC236}">
                <a16:creationId xmlns:a16="http://schemas.microsoft.com/office/drawing/2014/main" id="{A0FA5302-700D-46CF-ACD1-BCDE8E3049D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4" name="직사각형 43">
            <a:extLst>
              <a:ext uri="{FF2B5EF4-FFF2-40B4-BE49-F238E27FC236}">
                <a16:creationId xmlns:a16="http://schemas.microsoft.com/office/drawing/2014/main" id="{B7563A37-6781-46E4-B1A0-E1334F067CE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a:t>
            </a:r>
          </a:p>
        </p:txBody>
      </p:sp>
      <p:sp>
        <p:nvSpPr>
          <p:cNvPr id="45" name="직사각형 44">
            <a:extLst>
              <a:ext uri="{FF2B5EF4-FFF2-40B4-BE49-F238E27FC236}">
                <a16:creationId xmlns:a16="http://schemas.microsoft.com/office/drawing/2014/main" id="{800E3EE2-A5F9-4740-BCD8-A0EDD513C8CB}"/>
              </a:ext>
            </a:extLst>
          </p:cNvPr>
          <p:cNvSpPr>
            <a:spLocks noGrp="1"/>
          </p:cNvSpPr>
          <p:nvPr/>
        </p:nvSpPr>
        <p:spPr>
          <a:xfrm>
            <a:off x="609600" y="1381125"/>
            <a:ext cx="10972800" cy="19050"/>
          </a:xfrm>
          <a:prstGeom prst="rect">
            <a:avLst/>
          </a:prstGeom>
          <a:solidFill>
            <a:srgbClr val="171717"/>
          </a:solidFill>
          <a:ln w="0">
            <a:noFill/>
          </a:ln>
        </p:spPr>
      </p:sp>
      <p:sp>
        <p:nvSpPr>
          <p:cNvPr id="46" name="직사각형 45">
            <a:extLst>
              <a:ext uri="{FF2B5EF4-FFF2-40B4-BE49-F238E27FC236}">
                <a16:creationId xmlns:a16="http://schemas.microsoft.com/office/drawing/2014/main" id="{657F82FC-7042-4776-8BF3-96B78C4919BE}"/>
              </a:ext>
            </a:extLst>
          </p:cNvPr>
          <p:cNvSpPr>
            <a:spLocks noGrp="1"/>
          </p:cNvSpPr>
          <p:nvPr/>
        </p:nvSpPr>
        <p:spPr>
          <a:xfrm>
            <a:off x="609600" y="6438900"/>
            <a:ext cx="10972800"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DE0C3B51-D325-43EB-B200-370C1C0F56E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8" name="직사각형 47">
            <a:extLst>
              <a:ext uri="{FF2B5EF4-FFF2-40B4-BE49-F238E27FC236}">
                <a16:creationId xmlns:a16="http://schemas.microsoft.com/office/drawing/2014/main" id="{8969A649-5913-43C9-B139-F5E8045F7E1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637716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직사각형 50">
            <a:extLst>
              <a:ext uri="{FF2B5EF4-FFF2-40B4-BE49-F238E27FC236}">
                <a16:creationId xmlns:a16="http://schemas.microsoft.com/office/drawing/2014/main" id="{08F126D5-F2CE-4ED6-9FB5-EB866C2F806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52" name="직사각형 51">
            <a:extLst>
              <a:ext uri="{FF2B5EF4-FFF2-40B4-BE49-F238E27FC236}">
                <a16:creationId xmlns:a16="http://schemas.microsoft.com/office/drawing/2014/main" id="{ED23003E-2A30-4DB7-A409-75314F5E72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53" name="직사각형 52">
            <a:extLst>
              <a:ext uri="{FF2B5EF4-FFF2-40B4-BE49-F238E27FC236}">
                <a16:creationId xmlns:a16="http://schemas.microsoft.com/office/drawing/2014/main" id="{9FE36D45-41C6-41CE-8974-447AD8DA733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 — 마스터 정리 적용</a:t>
            </a:r>
          </a:p>
        </p:txBody>
      </p:sp>
      <p:sp>
        <p:nvSpPr>
          <p:cNvPr id="54" name="직사각형 53">
            <a:extLst>
              <a:ext uri="{FF2B5EF4-FFF2-40B4-BE49-F238E27FC236}">
                <a16:creationId xmlns:a16="http://schemas.microsoft.com/office/drawing/2014/main" id="{218275E5-0150-4BCD-A396-6602E42E7BDB}"/>
              </a:ext>
            </a:extLst>
          </p:cNvPr>
          <p:cNvSpPr>
            <a:spLocks noGrp="1"/>
          </p:cNvSpPr>
          <p:nvPr/>
        </p:nvSpPr>
        <p:spPr>
          <a:xfrm>
            <a:off x="609600" y="1381125"/>
            <a:ext cx="10972800" cy="19050"/>
          </a:xfrm>
          <a:prstGeom prst="rect">
            <a:avLst/>
          </a:prstGeom>
          <a:solidFill>
            <a:srgbClr val="171717"/>
          </a:solidFill>
          <a:ln w="0">
            <a:noFill/>
          </a:ln>
        </p:spPr>
      </p:sp>
      <p:sp>
        <p:nvSpPr>
          <p:cNvPr id="55" name="직사각형 54">
            <a:extLst>
              <a:ext uri="{FF2B5EF4-FFF2-40B4-BE49-F238E27FC236}">
                <a16:creationId xmlns:a16="http://schemas.microsoft.com/office/drawing/2014/main" id="{BD787C72-6CA1-45B4-9AAC-C0376B6468F6}"/>
              </a:ext>
            </a:extLst>
          </p:cNvPr>
          <p:cNvSpPr>
            <a:spLocks noGrp="1"/>
          </p:cNvSpPr>
          <p:nvPr/>
        </p:nvSpPr>
        <p:spPr>
          <a:xfrm>
            <a:off x="609600" y="6438900"/>
            <a:ext cx="10972800" cy="9525"/>
          </a:xfrm>
          <a:prstGeom prst="rect">
            <a:avLst/>
          </a:prstGeom>
          <a:solidFill>
            <a:srgbClr val="D4D4D4"/>
          </a:solidFill>
          <a:ln w="0">
            <a:noFill/>
          </a:ln>
        </p:spPr>
      </p:sp>
      <p:sp>
        <p:nvSpPr>
          <p:cNvPr id="56" name="직사각형 55">
            <a:extLst>
              <a:ext uri="{FF2B5EF4-FFF2-40B4-BE49-F238E27FC236}">
                <a16:creationId xmlns:a16="http://schemas.microsoft.com/office/drawing/2014/main" id="{EDC41C42-C3AB-44EC-89EE-2A485C57524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7" name="직사각형 56">
            <a:extLst>
              <a:ext uri="{FF2B5EF4-FFF2-40B4-BE49-F238E27FC236}">
                <a16:creationId xmlns:a16="http://schemas.microsoft.com/office/drawing/2014/main" id="{328951A5-0509-4715-8892-D0302BD6E20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65</a:t>
            </a:r>
            <a:endParaRPr sz="1050" b="1" i="0">
              <a:solidFill>
                <a:srgbClr val="171717"/>
              </a:solidFill>
              <a:latin typeface="Consolas"/>
              <a:ea typeface="Consolas"/>
              <a:cs typeface="Consolas"/>
            </a:endParaRPr>
          </a:p>
        </p:txBody>
      </p:sp>
      <p:sp>
        <p:nvSpPr>
          <p:cNvPr id="58" name="직사각형 57">
            <a:extLst>
              <a:ext uri="{FF2B5EF4-FFF2-40B4-BE49-F238E27FC236}">
                <a16:creationId xmlns:a16="http://schemas.microsoft.com/office/drawing/2014/main" id="{5BC4BAAA-79DB-4606-A510-24B5331BE9CB}"/>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문제 크기는 절반: b = 2</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재귀 곱셈은 세 번: a = 3</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덧셈·뺄셈·자리 이동: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3T(n/2)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 Θ(n^(log₂ 3)) ≈ Θ(n^1.585)</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10,000일 때 성장률 비교</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기본 곱셈 n²: 1억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카라츠바 n^(log₂ 3): 약 219만</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비율은 약 46배이다. 상수항과 구현 비용을 생략한 성장률 비교이며 실측 속도는 아니다.</a:t>
            </a:r>
          </a:p>
        </p:txBody>
      </p:sp>
      <p:pic>
        <p:nvPicPr>
          <p:cNvPr id="68" name="그림 67"/>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50074536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20BABF1-C200-4403-9F79-BE0B897E2DD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5C0C7E6-ED49-46C0-B887-8BC29306FD00}"/>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4.9</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8619C23-5603-44F3-97BB-43FC1928DEB4}"/>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5321404-E74C-4778-ACF1-B5BC3920590E}"/>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스트라센 알고리즘</a:t>
            </a:r>
          </a:p>
        </p:txBody>
      </p:sp>
      <p:sp>
        <p:nvSpPr>
          <p:cNvPr id="5" name="직사각형 4">
            <a:extLst>
              <a:ext uri="{FF2B5EF4-FFF2-40B4-BE49-F238E27FC236}">
                <a16:creationId xmlns:a16="http://schemas.microsoft.com/office/drawing/2014/main" id="{98894DC1-18F5-41FE-A411-11F58198625B}"/>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Strassen Algorithm (1969)</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행렬 곱셈에서 곱셈 8번을 7번으로</a:t>
            </a:r>
          </a:p>
        </p:txBody>
      </p:sp>
      <p:sp>
        <p:nvSpPr>
          <p:cNvPr id="6" name="직사각형 5">
            <a:extLst>
              <a:ext uri="{FF2B5EF4-FFF2-40B4-BE49-F238E27FC236}">
                <a16:creationId xmlns:a16="http://schemas.microsoft.com/office/drawing/2014/main" id="{F21BB0B7-3A14-4131-8129-1B1E5714C38A}"/>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08C610D-73A6-42B4-9902-1D6939A72F2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8872A52F-040A-4307-98D0-468370864B3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66</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619318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2321B5AE-62C0-4C9B-B9EA-069343FD63AB}"/>
              </a:ext>
            </a:extLst>
          </p:cNvPr>
          <p:cNvSpPr>
            <a:spLocks noGrp="1"/>
          </p:cNvSpPr>
          <p:nvPr/>
        </p:nvSpPr>
        <p:spPr>
          <a:xfrm>
            <a:off x="658368" y="1737360"/>
            <a:ext cx="10872216"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두 개의 n × n 행렬을 곱하는 표준 알고리즘은 세 겹의 반복문으로 O(n³)이 걸린다. 카라츠바 알고리즘에서 숫자를 절반으로 쪼갰듯이, 행렬도 4등분하여 블록 행렬(block matrix) 형태로 생각해보자.</a:t>
            </a:r>
            <a:endParaRPr sz="1300"/>
          </a:p>
        </p:txBody>
      </p:sp>
      <p:sp>
        <p:nvSpPr>
          <p:cNvPr id="7" name="Shape 4">
            <a:extLst>
              <a:ext uri="{FF2B5EF4-FFF2-40B4-BE49-F238E27FC236}">
                <a16:creationId xmlns:a16="http://schemas.microsoft.com/office/drawing/2014/main" id="{9E4ADAC1-72AB-4E56-A1DD-D94A962A9351}"/>
              </a:ext>
            </a:extLst>
          </p:cNvPr>
          <p:cNvSpPr>
            <a:spLocks noGrp="1"/>
          </p:cNvSpPr>
          <p:nvPr/>
        </p:nvSpPr>
        <p:spPr>
          <a:xfrm>
            <a:off x="3150108" y="2468880"/>
            <a:ext cx="749808" cy="512064"/>
          </a:xfrm>
          <a:prstGeom prst="roundRect">
            <a:avLst>
              <a:gd name="adj" fmla="val 12500"/>
            </a:avLst>
          </a:prstGeom>
          <a:solidFill>
            <a:srgbClr val="E9E9E9"/>
          </a:solidFill>
          <a:ln w="5715">
            <a:solidFill>
              <a:srgbClr val="D4D4D4"/>
            </a:solidFill>
          </a:ln>
        </p:spPr>
      </p:sp>
      <p:sp>
        <p:nvSpPr>
          <p:cNvPr id="8" name="Text 5">
            <a:extLst>
              <a:ext uri="{FF2B5EF4-FFF2-40B4-BE49-F238E27FC236}">
                <a16:creationId xmlns:a16="http://schemas.microsoft.com/office/drawing/2014/main" id="{67E3C1C4-F302-4606-B4AF-B66CF0B55E68}"/>
              </a:ext>
            </a:extLst>
          </p:cNvPr>
          <p:cNvSpPr>
            <a:spLocks noGrp="1"/>
          </p:cNvSpPr>
          <p:nvPr/>
        </p:nvSpPr>
        <p:spPr>
          <a:xfrm>
            <a:off x="3150108"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a:t>
            </a:r>
            <a:endParaRPr sz="1400"/>
          </a:p>
        </p:txBody>
      </p:sp>
      <p:sp>
        <p:nvSpPr>
          <p:cNvPr id="9" name="Shape 6">
            <a:extLst>
              <a:ext uri="{FF2B5EF4-FFF2-40B4-BE49-F238E27FC236}">
                <a16:creationId xmlns:a16="http://schemas.microsoft.com/office/drawing/2014/main" id="{C6C2CEA3-5098-424E-B218-BD2623188F68}"/>
              </a:ext>
            </a:extLst>
          </p:cNvPr>
          <p:cNvSpPr>
            <a:spLocks noGrp="1"/>
          </p:cNvSpPr>
          <p:nvPr/>
        </p:nvSpPr>
        <p:spPr>
          <a:xfrm>
            <a:off x="3936492" y="2468880"/>
            <a:ext cx="749808" cy="512064"/>
          </a:xfrm>
          <a:prstGeom prst="roundRect">
            <a:avLst>
              <a:gd name="adj" fmla="val 12500"/>
            </a:avLst>
          </a:prstGeom>
          <a:solidFill>
            <a:srgbClr val="E9E9E9"/>
          </a:solidFill>
          <a:ln w="5715">
            <a:solidFill>
              <a:srgbClr val="D4D4D4"/>
            </a:solidFill>
          </a:ln>
        </p:spPr>
      </p:sp>
      <p:sp>
        <p:nvSpPr>
          <p:cNvPr id="10" name="Text 7">
            <a:extLst>
              <a:ext uri="{FF2B5EF4-FFF2-40B4-BE49-F238E27FC236}">
                <a16:creationId xmlns:a16="http://schemas.microsoft.com/office/drawing/2014/main" id="{5C668C04-5329-4967-92AB-723AA3E293F7}"/>
              </a:ext>
            </a:extLst>
          </p:cNvPr>
          <p:cNvSpPr>
            <a:spLocks noGrp="1"/>
          </p:cNvSpPr>
          <p:nvPr/>
        </p:nvSpPr>
        <p:spPr>
          <a:xfrm>
            <a:off x="393649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a:t>
            </a:r>
            <a:endParaRPr sz="1400"/>
          </a:p>
        </p:txBody>
      </p:sp>
      <p:sp>
        <p:nvSpPr>
          <p:cNvPr id="11" name="Shape 8">
            <a:extLst>
              <a:ext uri="{FF2B5EF4-FFF2-40B4-BE49-F238E27FC236}">
                <a16:creationId xmlns:a16="http://schemas.microsoft.com/office/drawing/2014/main" id="{3B23ED4B-7BDC-4E84-A4CA-6ED89430D9D3}"/>
              </a:ext>
            </a:extLst>
          </p:cNvPr>
          <p:cNvSpPr>
            <a:spLocks noGrp="1"/>
          </p:cNvSpPr>
          <p:nvPr/>
        </p:nvSpPr>
        <p:spPr>
          <a:xfrm>
            <a:off x="3150108" y="3017520"/>
            <a:ext cx="749808" cy="512064"/>
          </a:xfrm>
          <a:prstGeom prst="roundRect">
            <a:avLst>
              <a:gd name="adj" fmla="val 12500"/>
            </a:avLst>
          </a:prstGeom>
          <a:solidFill>
            <a:srgbClr val="E9E9E9"/>
          </a:solidFill>
          <a:ln w="5715">
            <a:solidFill>
              <a:srgbClr val="D4D4D4"/>
            </a:solidFill>
          </a:ln>
        </p:spPr>
      </p:sp>
      <p:sp>
        <p:nvSpPr>
          <p:cNvPr id="12" name="Text 9">
            <a:extLst>
              <a:ext uri="{FF2B5EF4-FFF2-40B4-BE49-F238E27FC236}">
                <a16:creationId xmlns:a16="http://schemas.microsoft.com/office/drawing/2014/main" id="{830ECB8A-0472-4517-8B8F-024FAAB0F579}"/>
              </a:ext>
            </a:extLst>
          </p:cNvPr>
          <p:cNvSpPr>
            <a:spLocks noGrp="1"/>
          </p:cNvSpPr>
          <p:nvPr/>
        </p:nvSpPr>
        <p:spPr>
          <a:xfrm>
            <a:off x="3150108"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a:t>
            </a:r>
            <a:endParaRPr sz="1400"/>
          </a:p>
        </p:txBody>
      </p:sp>
      <p:sp>
        <p:nvSpPr>
          <p:cNvPr id="13" name="Shape 10">
            <a:extLst>
              <a:ext uri="{FF2B5EF4-FFF2-40B4-BE49-F238E27FC236}">
                <a16:creationId xmlns:a16="http://schemas.microsoft.com/office/drawing/2014/main" id="{78216C34-73D5-4D71-8214-3E9982516737}"/>
              </a:ext>
            </a:extLst>
          </p:cNvPr>
          <p:cNvSpPr>
            <a:spLocks noGrp="1"/>
          </p:cNvSpPr>
          <p:nvPr/>
        </p:nvSpPr>
        <p:spPr>
          <a:xfrm>
            <a:off x="3936492" y="3017520"/>
            <a:ext cx="749808" cy="512064"/>
          </a:xfrm>
          <a:prstGeom prst="roundRect">
            <a:avLst>
              <a:gd name="adj" fmla="val 12500"/>
            </a:avLst>
          </a:prstGeom>
          <a:solidFill>
            <a:srgbClr val="E9E9E9"/>
          </a:solidFill>
          <a:ln w="5715">
            <a:solidFill>
              <a:srgbClr val="D4D4D4"/>
            </a:solidFill>
          </a:ln>
        </p:spPr>
      </p:sp>
      <p:sp>
        <p:nvSpPr>
          <p:cNvPr id="14" name="Text 11">
            <a:extLst>
              <a:ext uri="{FF2B5EF4-FFF2-40B4-BE49-F238E27FC236}">
                <a16:creationId xmlns:a16="http://schemas.microsoft.com/office/drawing/2014/main" id="{2F35A7A3-3DCD-4C9C-860D-E91194CECD70}"/>
              </a:ext>
            </a:extLst>
          </p:cNvPr>
          <p:cNvSpPr>
            <a:spLocks noGrp="1"/>
          </p:cNvSpPr>
          <p:nvPr/>
        </p:nvSpPr>
        <p:spPr>
          <a:xfrm>
            <a:off x="393649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a:t>
            </a:r>
            <a:endParaRPr sz="1400"/>
          </a:p>
        </p:txBody>
      </p:sp>
      <p:sp>
        <p:nvSpPr>
          <p:cNvPr id="15" name="Text 12">
            <a:extLst>
              <a:ext uri="{FF2B5EF4-FFF2-40B4-BE49-F238E27FC236}">
                <a16:creationId xmlns:a16="http://schemas.microsoft.com/office/drawing/2014/main" id="{0A1EAC72-C1BB-41B0-9D8B-26F6C7017FBC}"/>
              </a:ext>
            </a:extLst>
          </p:cNvPr>
          <p:cNvSpPr>
            <a:spLocks noGrp="1"/>
          </p:cNvSpPr>
          <p:nvPr/>
        </p:nvSpPr>
        <p:spPr>
          <a:xfrm>
            <a:off x="4686300"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16" name="Shape 13">
            <a:extLst>
              <a:ext uri="{FF2B5EF4-FFF2-40B4-BE49-F238E27FC236}">
                <a16:creationId xmlns:a16="http://schemas.microsoft.com/office/drawing/2014/main" id="{F6E59704-DDBB-47DB-940E-03ED0ED929D7}"/>
              </a:ext>
            </a:extLst>
          </p:cNvPr>
          <p:cNvSpPr>
            <a:spLocks noGrp="1"/>
          </p:cNvSpPr>
          <p:nvPr/>
        </p:nvSpPr>
        <p:spPr>
          <a:xfrm>
            <a:off x="5326380" y="2468880"/>
            <a:ext cx="749808" cy="512064"/>
          </a:xfrm>
          <a:prstGeom prst="roundRect">
            <a:avLst>
              <a:gd name="adj" fmla="val 12500"/>
            </a:avLst>
          </a:prstGeom>
          <a:solidFill>
            <a:srgbClr val="E9E9E9"/>
          </a:solidFill>
          <a:ln w="5715">
            <a:solidFill>
              <a:srgbClr val="D4D4D4"/>
            </a:solidFill>
          </a:ln>
        </p:spPr>
      </p:sp>
      <p:sp>
        <p:nvSpPr>
          <p:cNvPr id="17" name="Text 14">
            <a:extLst>
              <a:ext uri="{FF2B5EF4-FFF2-40B4-BE49-F238E27FC236}">
                <a16:creationId xmlns:a16="http://schemas.microsoft.com/office/drawing/2014/main" id="{9C16BDFE-F131-4841-A68F-FDA21677652A}"/>
              </a:ext>
            </a:extLst>
          </p:cNvPr>
          <p:cNvSpPr>
            <a:spLocks noGrp="1"/>
          </p:cNvSpPr>
          <p:nvPr/>
        </p:nvSpPr>
        <p:spPr>
          <a:xfrm>
            <a:off x="5326380"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A_11</a:t>
            </a:r>
            <a:endParaRPr sz="1400"/>
          </a:p>
        </p:txBody>
      </p:sp>
      <p:sp>
        <p:nvSpPr>
          <p:cNvPr id="18" name="Shape 15">
            <a:extLst>
              <a:ext uri="{FF2B5EF4-FFF2-40B4-BE49-F238E27FC236}">
                <a16:creationId xmlns:a16="http://schemas.microsoft.com/office/drawing/2014/main" id="{0F19265A-8CB9-4413-B65B-8A369D9E7782}"/>
              </a:ext>
            </a:extLst>
          </p:cNvPr>
          <p:cNvSpPr>
            <a:spLocks noGrp="1"/>
          </p:cNvSpPr>
          <p:nvPr/>
        </p:nvSpPr>
        <p:spPr>
          <a:xfrm>
            <a:off x="6112764" y="2468880"/>
            <a:ext cx="749808" cy="512064"/>
          </a:xfrm>
          <a:prstGeom prst="roundRect">
            <a:avLst>
              <a:gd name="adj" fmla="val 12500"/>
            </a:avLst>
          </a:prstGeom>
          <a:solidFill>
            <a:srgbClr val="E9E9E9"/>
          </a:solidFill>
          <a:ln w="5715">
            <a:solidFill>
              <a:srgbClr val="D4D4D4"/>
            </a:solidFill>
          </a:ln>
        </p:spPr>
      </p:sp>
      <p:sp>
        <p:nvSpPr>
          <p:cNvPr id="19" name="Text 16">
            <a:extLst>
              <a:ext uri="{FF2B5EF4-FFF2-40B4-BE49-F238E27FC236}">
                <a16:creationId xmlns:a16="http://schemas.microsoft.com/office/drawing/2014/main" id="{B6219512-B144-441E-BFB4-6F11CD0773A5}"/>
              </a:ext>
            </a:extLst>
          </p:cNvPr>
          <p:cNvSpPr>
            <a:spLocks noGrp="1"/>
          </p:cNvSpPr>
          <p:nvPr/>
        </p:nvSpPr>
        <p:spPr>
          <a:xfrm>
            <a:off x="6112764"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A_12</a:t>
            </a:r>
            <a:endParaRPr sz="1400"/>
          </a:p>
        </p:txBody>
      </p:sp>
      <p:sp>
        <p:nvSpPr>
          <p:cNvPr id="20" name="Shape 17">
            <a:extLst>
              <a:ext uri="{FF2B5EF4-FFF2-40B4-BE49-F238E27FC236}">
                <a16:creationId xmlns:a16="http://schemas.microsoft.com/office/drawing/2014/main" id="{65922CE3-779F-41E3-B0F9-C2CCEBCC9681}"/>
              </a:ext>
            </a:extLst>
          </p:cNvPr>
          <p:cNvSpPr>
            <a:spLocks noGrp="1"/>
          </p:cNvSpPr>
          <p:nvPr/>
        </p:nvSpPr>
        <p:spPr>
          <a:xfrm>
            <a:off x="5326380" y="3017520"/>
            <a:ext cx="749808" cy="512064"/>
          </a:xfrm>
          <a:prstGeom prst="roundRect">
            <a:avLst>
              <a:gd name="adj" fmla="val 12500"/>
            </a:avLst>
          </a:prstGeom>
          <a:solidFill>
            <a:srgbClr val="E9E9E9"/>
          </a:solidFill>
          <a:ln w="5715">
            <a:solidFill>
              <a:srgbClr val="D4D4D4"/>
            </a:solidFill>
          </a:ln>
        </p:spPr>
      </p:sp>
      <p:sp>
        <p:nvSpPr>
          <p:cNvPr id="21" name="Text 18">
            <a:extLst>
              <a:ext uri="{FF2B5EF4-FFF2-40B4-BE49-F238E27FC236}">
                <a16:creationId xmlns:a16="http://schemas.microsoft.com/office/drawing/2014/main" id="{CD440917-24BC-4F63-B1A6-3507D1D53598}"/>
              </a:ext>
            </a:extLst>
          </p:cNvPr>
          <p:cNvSpPr>
            <a:spLocks noGrp="1"/>
          </p:cNvSpPr>
          <p:nvPr/>
        </p:nvSpPr>
        <p:spPr>
          <a:xfrm>
            <a:off x="5326380"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A_21</a:t>
            </a:r>
            <a:endParaRPr sz="1400"/>
          </a:p>
        </p:txBody>
      </p:sp>
      <p:sp>
        <p:nvSpPr>
          <p:cNvPr id="22" name="Shape 19">
            <a:extLst>
              <a:ext uri="{FF2B5EF4-FFF2-40B4-BE49-F238E27FC236}">
                <a16:creationId xmlns:a16="http://schemas.microsoft.com/office/drawing/2014/main" id="{99F13EEF-59E2-443D-B758-8A0F9D9422CE}"/>
              </a:ext>
            </a:extLst>
          </p:cNvPr>
          <p:cNvSpPr>
            <a:spLocks noGrp="1"/>
          </p:cNvSpPr>
          <p:nvPr/>
        </p:nvSpPr>
        <p:spPr>
          <a:xfrm>
            <a:off x="6112764" y="3017520"/>
            <a:ext cx="749808" cy="512064"/>
          </a:xfrm>
          <a:prstGeom prst="roundRect">
            <a:avLst>
              <a:gd name="adj" fmla="val 12500"/>
            </a:avLst>
          </a:prstGeom>
          <a:solidFill>
            <a:srgbClr val="E9E9E9"/>
          </a:solidFill>
          <a:ln w="5715">
            <a:solidFill>
              <a:srgbClr val="D4D4D4"/>
            </a:solidFill>
          </a:ln>
        </p:spPr>
      </p:sp>
      <p:sp>
        <p:nvSpPr>
          <p:cNvPr id="23" name="Text 20">
            <a:extLst>
              <a:ext uri="{FF2B5EF4-FFF2-40B4-BE49-F238E27FC236}">
                <a16:creationId xmlns:a16="http://schemas.microsoft.com/office/drawing/2014/main" id="{12C36DC9-4CC0-42EB-9663-23F6B8257462}"/>
              </a:ext>
            </a:extLst>
          </p:cNvPr>
          <p:cNvSpPr>
            <a:spLocks noGrp="1"/>
          </p:cNvSpPr>
          <p:nvPr/>
        </p:nvSpPr>
        <p:spPr>
          <a:xfrm>
            <a:off x="6112764"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A_22</a:t>
            </a:r>
            <a:endParaRPr sz="1400"/>
          </a:p>
        </p:txBody>
      </p:sp>
      <p:sp>
        <p:nvSpPr>
          <p:cNvPr id="24" name="Text 21">
            <a:extLst>
              <a:ext uri="{FF2B5EF4-FFF2-40B4-BE49-F238E27FC236}">
                <a16:creationId xmlns:a16="http://schemas.microsoft.com/office/drawing/2014/main" id="{38C3E687-6D41-468F-99CD-AFB4A75FD302}"/>
              </a:ext>
            </a:extLst>
          </p:cNvPr>
          <p:cNvSpPr>
            <a:spLocks noGrp="1"/>
          </p:cNvSpPr>
          <p:nvPr/>
        </p:nvSpPr>
        <p:spPr>
          <a:xfrm>
            <a:off x="6862572"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25" name="Shape 22">
            <a:extLst>
              <a:ext uri="{FF2B5EF4-FFF2-40B4-BE49-F238E27FC236}">
                <a16:creationId xmlns:a16="http://schemas.microsoft.com/office/drawing/2014/main" id="{871862CF-2138-4226-A3B1-E0A6F4BDA3A6}"/>
              </a:ext>
            </a:extLst>
          </p:cNvPr>
          <p:cNvSpPr>
            <a:spLocks noGrp="1"/>
          </p:cNvSpPr>
          <p:nvPr/>
        </p:nvSpPr>
        <p:spPr>
          <a:xfrm>
            <a:off x="7502652" y="2468880"/>
            <a:ext cx="749808" cy="512064"/>
          </a:xfrm>
          <a:prstGeom prst="roundRect">
            <a:avLst>
              <a:gd name="adj" fmla="val 12500"/>
            </a:avLst>
          </a:prstGeom>
          <a:solidFill>
            <a:srgbClr val="E9E9E9"/>
          </a:solidFill>
          <a:ln w="5715">
            <a:solidFill>
              <a:srgbClr val="D4D4D4"/>
            </a:solidFill>
          </a:ln>
        </p:spPr>
      </p:sp>
      <p:sp>
        <p:nvSpPr>
          <p:cNvPr id="26" name="Text 23">
            <a:extLst>
              <a:ext uri="{FF2B5EF4-FFF2-40B4-BE49-F238E27FC236}">
                <a16:creationId xmlns:a16="http://schemas.microsoft.com/office/drawing/2014/main" id="{312069C4-D261-4553-938B-96516FE32375}"/>
              </a:ext>
            </a:extLst>
          </p:cNvPr>
          <p:cNvSpPr>
            <a:spLocks noGrp="1"/>
          </p:cNvSpPr>
          <p:nvPr/>
        </p:nvSpPr>
        <p:spPr>
          <a:xfrm>
            <a:off x="750265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B_11</a:t>
            </a:r>
            <a:endParaRPr sz="1400"/>
          </a:p>
        </p:txBody>
      </p:sp>
      <p:sp>
        <p:nvSpPr>
          <p:cNvPr id="27" name="Shape 24">
            <a:extLst>
              <a:ext uri="{FF2B5EF4-FFF2-40B4-BE49-F238E27FC236}">
                <a16:creationId xmlns:a16="http://schemas.microsoft.com/office/drawing/2014/main" id="{4F71C6FC-FB0B-4D5F-98E5-3DC88F7DCA0D}"/>
              </a:ext>
            </a:extLst>
          </p:cNvPr>
          <p:cNvSpPr>
            <a:spLocks noGrp="1"/>
          </p:cNvSpPr>
          <p:nvPr/>
        </p:nvSpPr>
        <p:spPr>
          <a:xfrm>
            <a:off x="8289036" y="2468880"/>
            <a:ext cx="749808" cy="512064"/>
          </a:xfrm>
          <a:prstGeom prst="roundRect">
            <a:avLst>
              <a:gd name="adj" fmla="val 12500"/>
            </a:avLst>
          </a:prstGeom>
          <a:solidFill>
            <a:srgbClr val="E9E9E9"/>
          </a:solidFill>
          <a:ln w="5715">
            <a:solidFill>
              <a:srgbClr val="D4D4D4"/>
            </a:solidFill>
          </a:ln>
        </p:spPr>
      </p:sp>
      <p:sp>
        <p:nvSpPr>
          <p:cNvPr id="28" name="Text 25">
            <a:extLst>
              <a:ext uri="{FF2B5EF4-FFF2-40B4-BE49-F238E27FC236}">
                <a16:creationId xmlns:a16="http://schemas.microsoft.com/office/drawing/2014/main" id="{FF0977C4-E8A1-43C0-BCAC-710BDE8C8C59}"/>
              </a:ext>
            </a:extLst>
          </p:cNvPr>
          <p:cNvSpPr>
            <a:spLocks noGrp="1"/>
          </p:cNvSpPr>
          <p:nvPr/>
        </p:nvSpPr>
        <p:spPr>
          <a:xfrm>
            <a:off x="8289036"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B_12</a:t>
            </a:r>
            <a:endParaRPr sz="1400"/>
          </a:p>
        </p:txBody>
      </p:sp>
      <p:sp>
        <p:nvSpPr>
          <p:cNvPr id="29" name="Shape 26">
            <a:extLst>
              <a:ext uri="{FF2B5EF4-FFF2-40B4-BE49-F238E27FC236}">
                <a16:creationId xmlns:a16="http://schemas.microsoft.com/office/drawing/2014/main" id="{EF0ED150-5E86-4345-A085-CA28916541FD}"/>
              </a:ext>
            </a:extLst>
          </p:cNvPr>
          <p:cNvSpPr>
            <a:spLocks noGrp="1"/>
          </p:cNvSpPr>
          <p:nvPr/>
        </p:nvSpPr>
        <p:spPr>
          <a:xfrm>
            <a:off x="7502652" y="3017520"/>
            <a:ext cx="749808" cy="512064"/>
          </a:xfrm>
          <a:prstGeom prst="roundRect">
            <a:avLst>
              <a:gd name="adj" fmla="val 12500"/>
            </a:avLst>
          </a:prstGeom>
          <a:solidFill>
            <a:srgbClr val="E9E9E9"/>
          </a:solidFill>
          <a:ln w="5715">
            <a:solidFill>
              <a:srgbClr val="D4D4D4"/>
            </a:solidFill>
          </a:ln>
        </p:spPr>
      </p:sp>
      <p:sp>
        <p:nvSpPr>
          <p:cNvPr id="30" name="Text 27">
            <a:extLst>
              <a:ext uri="{FF2B5EF4-FFF2-40B4-BE49-F238E27FC236}">
                <a16:creationId xmlns:a16="http://schemas.microsoft.com/office/drawing/2014/main" id="{10B0C6C9-48D2-4716-8FC2-F23C8351F131}"/>
              </a:ext>
            </a:extLst>
          </p:cNvPr>
          <p:cNvSpPr>
            <a:spLocks noGrp="1"/>
          </p:cNvSpPr>
          <p:nvPr/>
        </p:nvSpPr>
        <p:spPr>
          <a:xfrm>
            <a:off x="750265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B_21</a:t>
            </a:r>
            <a:endParaRPr sz="1400"/>
          </a:p>
        </p:txBody>
      </p:sp>
      <p:sp>
        <p:nvSpPr>
          <p:cNvPr id="31" name="Shape 28">
            <a:extLst>
              <a:ext uri="{FF2B5EF4-FFF2-40B4-BE49-F238E27FC236}">
                <a16:creationId xmlns:a16="http://schemas.microsoft.com/office/drawing/2014/main" id="{81D9BDCA-1E23-44CA-AB67-0944488438FB}"/>
              </a:ext>
            </a:extLst>
          </p:cNvPr>
          <p:cNvSpPr>
            <a:spLocks noGrp="1"/>
          </p:cNvSpPr>
          <p:nvPr/>
        </p:nvSpPr>
        <p:spPr>
          <a:xfrm>
            <a:off x="8289036" y="3017520"/>
            <a:ext cx="749808" cy="512064"/>
          </a:xfrm>
          <a:prstGeom prst="roundRect">
            <a:avLst>
              <a:gd name="adj" fmla="val 12500"/>
            </a:avLst>
          </a:prstGeom>
          <a:solidFill>
            <a:srgbClr val="E9E9E9"/>
          </a:solidFill>
          <a:ln w="5715">
            <a:solidFill>
              <a:srgbClr val="D4D4D4"/>
            </a:solidFill>
          </a:ln>
        </p:spPr>
      </p:sp>
      <p:sp>
        <p:nvSpPr>
          <p:cNvPr id="32" name="Text 29">
            <a:extLst>
              <a:ext uri="{FF2B5EF4-FFF2-40B4-BE49-F238E27FC236}">
                <a16:creationId xmlns:a16="http://schemas.microsoft.com/office/drawing/2014/main" id="{CB34D296-7854-405C-91D7-FD6FED0ADD48}"/>
              </a:ext>
            </a:extLst>
          </p:cNvPr>
          <p:cNvSpPr>
            <a:spLocks noGrp="1"/>
          </p:cNvSpPr>
          <p:nvPr/>
        </p:nvSpPr>
        <p:spPr>
          <a:xfrm>
            <a:off x="8289036"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B_22</a:t>
            </a:r>
            <a:endParaRPr sz="1400"/>
          </a:p>
        </p:txBody>
      </p:sp>
      <p:sp>
        <p:nvSpPr>
          <p:cNvPr id="34" name="Text 31">
            <a:extLst>
              <a:ext uri="{FF2B5EF4-FFF2-40B4-BE49-F238E27FC236}">
                <a16:creationId xmlns:a16="http://schemas.microsoft.com/office/drawing/2014/main" id="{8029A869-1D82-4429-99FC-1A8D960E5EB2}"/>
              </a:ext>
            </a:extLst>
          </p:cNvPr>
          <p:cNvSpPr>
            <a:spLocks noGrp="1"/>
          </p:cNvSpPr>
          <p:nvPr/>
        </p:nvSpPr>
        <p:spPr>
          <a:xfrm>
            <a:off x="932688" y="3931920"/>
            <a:ext cx="10323576"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각 결과 블록은 두 번의 블록 곱셈을 필요로 한다 — 모두 합쳐 8번</a:t>
            </a:r>
            <a:endParaRPr sz="1100"/>
          </a:p>
        </p:txBody>
      </p:sp>
      <p:sp>
        <p:nvSpPr>
          <p:cNvPr id="35" name="Text 32">
            <a:extLst>
              <a:ext uri="{FF2B5EF4-FFF2-40B4-BE49-F238E27FC236}">
                <a16:creationId xmlns:a16="http://schemas.microsoft.com/office/drawing/2014/main" id="{FC5B938C-00D8-4C86-94F6-5892EB0AA7BF}"/>
              </a:ext>
            </a:extLst>
          </p:cNvPr>
          <p:cNvSpPr>
            <a:spLocks noGrp="1"/>
          </p:cNvSpPr>
          <p:nvPr/>
        </p:nvSpPr>
        <p:spPr>
          <a:xfrm>
            <a:off x="93268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 = A_11B_11 + A_12B_21</a:t>
            </a:r>
            <a:endParaRPr sz="1400"/>
          </a:p>
        </p:txBody>
      </p:sp>
      <p:sp>
        <p:nvSpPr>
          <p:cNvPr id="36" name="Text 33">
            <a:extLst>
              <a:ext uri="{FF2B5EF4-FFF2-40B4-BE49-F238E27FC236}">
                <a16:creationId xmlns:a16="http://schemas.microsoft.com/office/drawing/2014/main" id="{0F7F7C71-14E2-4351-AB61-883BE446CAA2}"/>
              </a:ext>
            </a:extLst>
          </p:cNvPr>
          <p:cNvSpPr>
            <a:spLocks noGrp="1"/>
          </p:cNvSpPr>
          <p:nvPr/>
        </p:nvSpPr>
        <p:spPr>
          <a:xfrm>
            <a:off x="614476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 = A_11B_12 + A_12B_22</a:t>
            </a:r>
            <a:endParaRPr sz="1400"/>
          </a:p>
        </p:txBody>
      </p:sp>
      <p:sp>
        <p:nvSpPr>
          <p:cNvPr id="37" name="Text 34">
            <a:extLst>
              <a:ext uri="{FF2B5EF4-FFF2-40B4-BE49-F238E27FC236}">
                <a16:creationId xmlns:a16="http://schemas.microsoft.com/office/drawing/2014/main" id="{D1B4E335-DB2A-4303-82FE-528503FB48C0}"/>
              </a:ext>
            </a:extLst>
          </p:cNvPr>
          <p:cNvSpPr>
            <a:spLocks noGrp="1"/>
          </p:cNvSpPr>
          <p:nvPr/>
        </p:nvSpPr>
        <p:spPr>
          <a:xfrm>
            <a:off x="93268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 = A_21B_11 + A_22B_21</a:t>
            </a:r>
            <a:endParaRPr sz="1400"/>
          </a:p>
        </p:txBody>
      </p:sp>
      <p:sp>
        <p:nvSpPr>
          <p:cNvPr id="38" name="Text 35">
            <a:extLst>
              <a:ext uri="{FF2B5EF4-FFF2-40B4-BE49-F238E27FC236}">
                <a16:creationId xmlns:a16="http://schemas.microsoft.com/office/drawing/2014/main" id="{A20B58D8-5A59-401B-8E4D-BB2E0246672D}"/>
              </a:ext>
            </a:extLst>
          </p:cNvPr>
          <p:cNvSpPr>
            <a:spLocks noGrp="1"/>
          </p:cNvSpPr>
          <p:nvPr/>
        </p:nvSpPr>
        <p:spPr>
          <a:xfrm>
            <a:off x="614476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 = A_21B_12 + A_22B_22</a:t>
            </a:r>
            <a:endParaRPr sz="1400"/>
          </a:p>
        </p:txBody>
      </p:sp>
      <p:sp>
        <p:nvSpPr>
          <p:cNvPr id="42" name="Text 38">
            <a:extLst>
              <a:ext uri="{FF2B5EF4-FFF2-40B4-BE49-F238E27FC236}">
                <a16:creationId xmlns:a16="http://schemas.microsoft.com/office/drawing/2014/main" id="{BF207015-E5C9-47DD-8AAA-86EBE03224FB}"/>
              </a:ext>
            </a:extLst>
          </p:cNvPr>
          <p:cNvSpPr>
            <a:spLocks noGrp="1"/>
          </p:cNvSpPr>
          <p:nvPr/>
        </p:nvSpPr>
        <p:spPr>
          <a:xfrm>
            <a:off x="1517904" y="5468112"/>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아무런 개선이 없다 — T(n) = 8T(n/2) + O(n²) ⇒ Θ(n³)</a:t>
            </a:r>
            <a:endParaRPr sz="1320"/>
          </a:p>
        </p:txBody>
      </p:sp>
      <p:sp>
        <p:nvSpPr>
          <p:cNvPr id="43" name="Text 39">
            <a:extLst>
              <a:ext uri="{FF2B5EF4-FFF2-40B4-BE49-F238E27FC236}">
                <a16:creationId xmlns:a16="http://schemas.microsoft.com/office/drawing/2014/main" id="{0E610C2A-574F-49B9-A992-3DA068D54575}"/>
              </a:ext>
            </a:extLst>
          </p:cNvPr>
          <p:cNvSpPr>
            <a:spLocks noGrp="1"/>
          </p:cNvSpPr>
          <p:nvPr/>
        </p:nvSpPr>
        <p:spPr>
          <a:xfrm>
            <a:off x="1517904" y="5815584"/>
            <a:ext cx="9756648" cy="146304"/>
          </a:xfrm>
          <a:prstGeom prst="rect">
            <a:avLst/>
          </a:prstGeom>
          <a:noFill/>
          <a:ln w="0">
            <a:noFill/>
          </a:ln>
        </p:spPr>
        <p:txBody>
          <a:bodyPr wrap="square" lIns="0" tIns="0" rIns="0" bIns="0" anchor="t">
            <a:noAutofit/>
          </a:bodyPr>
          <a:lstStyle/>
          <a:p>
            <a:pPr marL="0" indent="0" algn="l">
              <a:lnSpc>
                <a:spcPct val="132000"/>
              </a:lnSpc>
              <a:buNone/>
              <a:defRPr sz="1180" i="0">
                <a:solidFill>
                  <a:srgbClr val="606060"/>
                </a:solidFill>
                <a:latin typeface="Malgun Gothic"/>
                <a:ea typeface="Malgun Gothic"/>
                <a:cs typeface="Malgun Gothic"/>
              </a:defRPr>
            </a:pPr>
            <a:r>
              <a:rPr sz="1180" i="0">
                <a:solidFill>
                  <a:srgbClr val="606060"/>
                </a:solidFill>
                <a:latin typeface="Malgun Gothic"/>
                <a:ea typeface="Malgun Gothic"/>
                <a:cs typeface="Malgun Gothic"/>
              </a:rPr>
              <a:t>블록 곱셈이 8번, 블록 덧셈이 O(n²). 마스터 정리 Case 1에 의해 n^log₂8 = n³ — 원래 알고리즘과 똑같다.</a:t>
            </a:r>
            <a:endParaRPr sz="1180"/>
          </a:p>
        </p:txBody>
      </p:sp>
      <p:sp>
        <p:nvSpPr>
          <p:cNvPr id="45" name="직사각형 44">
            <a:extLst>
              <a:ext uri="{FF2B5EF4-FFF2-40B4-BE49-F238E27FC236}">
                <a16:creationId xmlns:a16="http://schemas.microsoft.com/office/drawing/2014/main" id="{8E0BDC29-FCA8-4D09-AC64-F186564211BC}"/>
              </a:ext>
            </a:extLst>
          </p:cNvPr>
          <p:cNvSpPr>
            <a:spLocks noGrp="1"/>
          </p:cNvSpPr>
          <p:nvPr/>
        </p:nvSpPr>
        <p:spPr>
          <a:xfrm>
            <a:off x="658368" y="3840480"/>
            <a:ext cx="10872216"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52CCEA22-7769-441A-922C-BADEB9E21178}"/>
              </a:ext>
            </a:extLst>
          </p:cNvPr>
          <p:cNvSpPr>
            <a:spLocks noGrp="1"/>
          </p:cNvSpPr>
          <p:nvPr/>
        </p:nvSpPr>
        <p:spPr>
          <a:xfrm>
            <a:off x="658368" y="5285232"/>
            <a:ext cx="10872216"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AF26AB26-246E-4E50-A66B-FE152E4095F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65202F47-95B6-4AB7-9127-7430B7E8558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9" name="직사각형 48">
            <a:extLst>
              <a:ext uri="{FF2B5EF4-FFF2-40B4-BE49-F238E27FC236}">
                <a16:creationId xmlns:a16="http://schemas.microsoft.com/office/drawing/2014/main" id="{EDCD138B-ACC6-4738-A3AE-CC32C3045F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시도 — 블록 행렬</a:t>
            </a:r>
          </a:p>
        </p:txBody>
      </p:sp>
      <p:sp>
        <p:nvSpPr>
          <p:cNvPr id="50" name="직사각형 49">
            <a:extLst>
              <a:ext uri="{FF2B5EF4-FFF2-40B4-BE49-F238E27FC236}">
                <a16:creationId xmlns:a16="http://schemas.microsoft.com/office/drawing/2014/main" id="{3E38EB8A-196E-4527-8D50-399F97F58879}"/>
              </a:ext>
            </a:extLst>
          </p:cNvPr>
          <p:cNvSpPr>
            <a:spLocks noGrp="1"/>
          </p:cNvSpPr>
          <p:nvPr/>
        </p:nvSpPr>
        <p:spPr>
          <a:xfrm>
            <a:off x="609600" y="1381125"/>
            <a:ext cx="10972800" cy="19050"/>
          </a:xfrm>
          <a:prstGeom prst="rect">
            <a:avLst/>
          </a:prstGeom>
          <a:solidFill>
            <a:srgbClr val="171717"/>
          </a:solidFill>
          <a:ln w="0">
            <a:noFill/>
          </a:ln>
        </p:spPr>
      </p:sp>
      <p:sp>
        <p:nvSpPr>
          <p:cNvPr id="51" name="직사각형 50">
            <a:extLst>
              <a:ext uri="{FF2B5EF4-FFF2-40B4-BE49-F238E27FC236}">
                <a16:creationId xmlns:a16="http://schemas.microsoft.com/office/drawing/2014/main" id="{42556D03-98AC-4EA1-860A-E1C5885EEBF0}"/>
              </a:ext>
            </a:extLst>
          </p:cNvPr>
          <p:cNvSpPr>
            <a:spLocks noGrp="1"/>
          </p:cNvSpPr>
          <p:nvPr/>
        </p:nvSpPr>
        <p:spPr>
          <a:xfrm>
            <a:off x="609600" y="6438900"/>
            <a:ext cx="10972800" cy="9525"/>
          </a:xfrm>
          <a:prstGeom prst="rect">
            <a:avLst/>
          </a:prstGeom>
          <a:solidFill>
            <a:srgbClr val="D4D4D4"/>
          </a:solidFill>
          <a:ln w="0">
            <a:noFill/>
          </a:ln>
        </p:spPr>
      </p:sp>
      <p:sp>
        <p:nvSpPr>
          <p:cNvPr id="52" name="직사각형 51">
            <a:extLst>
              <a:ext uri="{FF2B5EF4-FFF2-40B4-BE49-F238E27FC236}">
                <a16:creationId xmlns:a16="http://schemas.microsoft.com/office/drawing/2014/main" id="{7055F8FE-1FA8-4492-9141-FD1857D84C9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3" name="직사각형 52">
            <a:extLst>
              <a:ext uri="{FF2B5EF4-FFF2-40B4-BE49-F238E27FC236}">
                <a16:creationId xmlns:a16="http://schemas.microsoft.com/office/drawing/2014/main" id="{FC087588-16AC-42D7-97E1-67562199A8E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07488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3BD8184-AB5B-4C56-B2E3-7D6F4599BF9A}"/>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1969년, 독일의 수학자 폴커 스트라센(Volker Strassen)은 이 견고해 보이는 벽을 허무는 방법을 찾아냈다. 카라츠바가 그랬던 것처럼, 행렬의 덧셈과 뺄셈을 조금 복잡하게 조합하면 곱셈 횟수를 8번에서 7번으로 줄일 수 있음을 발견했다.</a:t>
            </a:r>
            <a:endParaRPr sz="1300"/>
          </a:p>
        </p:txBody>
      </p:sp>
      <p:sp>
        <p:nvSpPr>
          <p:cNvPr id="8" name="Text 5">
            <a:extLst>
              <a:ext uri="{FF2B5EF4-FFF2-40B4-BE49-F238E27FC236}">
                <a16:creationId xmlns:a16="http://schemas.microsoft.com/office/drawing/2014/main" id="{C28FB8A7-BF3F-4099-AFE5-F86D023673E8}"/>
              </a:ext>
            </a:extLst>
          </p:cNvPr>
          <p:cNvSpPr>
            <a:spLocks noGrp="1"/>
          </p:cNvSpPr>
          <p:nvPr/>
        </p:nvSpPr>
        <p:spPr>
          <a:xfrm>
            <a:off x="914400" y="2523744"/>
            <a:ext cx="521208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7번의 블록 곱셈</a:t>
            </a:r>
            <a:endParaRPr sz="1300"/>
          </a:p>
        </p:txBody>
      </p:sp>
      <p:sp>
        <p:nvSpPr>
          <p:cNvPr id="9" name="Text 6">
            <a:extLst>
              <a:ext uri="{FF2B5EF4-FFF2-40B4-BE49-F238E27FC236}">
                <a16:creationId xmlns:a16="http://schemas.microsoft.com/office/drawing/2014/main" id="{5AE92130-AFB9-45FD-9AC2-2FEAD885F3E1}"/>
              </a:ext>
            </a:extLst>
          </p:cNvPr>
          <p:cNvSpPr>
            <a:spLocks noGrp="1"/>
          </p:cNvSpPr>
          <p:nvPr/>
        </p:nvSpPr>
        <p:spPr>
          <a:xfrm>
            <a:off x="914400" y="292608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M_1 = (A_11 + A_22)(B_11 + B_22)</a:t>
            </a:r>
            <a:endParaRPr sz="1300"/>
          </a:p>
        </p:txBody>
      </p:sp>
      <p:sp>
        <p:nvSpPr>
          <p:cNvPr id="10" name="Text 7">
            <a:extLst>
              <a:ext uri="{FF2B5EF4-FFF2-40B4-BE49-F238E27FC236}">
                <a16:creationId xmlns:a16="http://schemas.microsoft.com/office/drawing/2014/main" id="{244DFAE0-9A24-4BC6-BE2B-10F6B0657E76}"/>
              </a:ext>
            </a:extLst>
          </p:cNvPr>
          <p:cNvSpPr>
            <a:spLocks noGrp="1"/>
          </p:cNvSpPr>
          <p:nvPr/>
        </p:nvSpPr>
        <p:spPr>
          <a:xfrm>
            <a:off x="914400" y="335584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M_2 = (A_21 + A_22) B_11</a:t>
            </a:r>
            <a:endParaRPr sz="1300"/>
          </a:p>
        </p:txBody>
      </p:sp>
      <p:sp>
        <p:nvSpPr>
          <p:cNvPr id="11" name="Text 8">
            <a:extLst>
              <a:ext uri="{FF2B5EF4-FFF2-40B4-BE49-F238E27FC236}">
                <a16:creationId xmlns:a16="http://schemas.microsoft.com/office/drawing/2014/main" id="{F0066409-46A3-4C40-9F40-705B8CC27DDC}"/>
              </a:ext>
            </a:extLst>
          </p:cNvPr>
          <p:cNvSpPr>
            <a:spLocks noGrp="1"/>
          </p:cNvSpPr>
          <p:nvPr/>
        </p:nvSpPr>
        <p:spPr>
          <a:xfrm>
            <a:off x="914400" y="3785616"/>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M_3 = A_11(B_12 − B_22)</a:t>
            </a:r>
            <a:endParaRPr sz="1300"/>
          </a:p>
        </p:txBody>
      </p:sp>
      <p:sp>
        <p:nvSpPr>
          <p:cNvPr id="12" name="Text 9">
            <a:extLst>
              <a:ext uri="{FF2B5EF4-FFF2-40B4-BE49-F238E27FC236}">
                <a16:creationId xmlns:a16="http://schemas.microsoft.com/office/drawing/2014/main" id="{DFEE4518-6566-4CA2-83A5-38349BEC3A70}"/>
              </a:ext>
            </a:extLst>
          </p:cNvPr>
          <p:cNvSpPr>
            <a:spLocks noGrp="1"/>
          </p:cNvSpPr>
          <p:nvPr/>
        </p:nvSpPr>
        <p:spPr>
          <a:xfrm>
            <a:off x="914400" y="4215384"/>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M_4 = A_22(B_21 − B_11)</a:t>
            </a:r>
            <a:endParaRPr sz="1300"/>
          </a:p>
        </p:txBody>
      </p:sp>
      <p:sp>
        <p:nvSpPr>
          <p:cNvPr id="13" name="Text 10">
            <a:extLst>
              <a:ext uri="{FF2B5EF4-FFF2-40B4-BE49-F238E27FC236}">
                <a16:creationId xmlns:a16="http://schemas.microsoft.com/office/drawing/2014/main" id="{1389857C-81E2-4FED-8BCD-77D6A5393DE7}"/>
              </a:ext>
            </a:extLst>
          </p:cNvPr>
          <p:cNvSpPr>
            <a:spLocks noGrp="1"/>
          </p:cNvSpPr>
          <p:nvPr/>
        </p:nvSpPr>
        <p:spPr>
          <a:xfrm>
            <a:off x="914400" y="4645152"/>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M_5 = (A_11 + A_12) B_22</a:t>
            </a:r>
            <a:endParaRPr sz="1300"/>
          </a:p>
        </p:txBody>
      </p:sp>
      <p:sp>
        <p:nvSpPr>
          <p:cNvPr id="14" name="Text 11">
            <a:extLst>
              <a:ext uri="{FF2B5EF4-FFF2-40B4-BE49-F238E27FC236}">
                <a16:creationId xmlns:a16="http://schemas.microsoft.com/office/drawing/2014/main" id="{6EA29B58-1282-4B03-A3AD-D485FD3C70C3}"/>
              </a:ext>
            </a:extLst>
          </p:cNvPr>
          <p:cNvSpPr>
            <a:spLocks noGrp="1"/>
          </p:cNvSpPr>
          <p:nvPr/>
        </p:nvSpPr>
        <p:spPr>
          <a:xfrm>
            <a:off x="914400" y="507492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M_6 = (A_21 − A_11)(B_11 + B_12)</a:t>
            </a:r>
            <a:endParaRPr sz="1300"/>
          </a:p>
        </p:txBody>
      </p:sp>
      <p:sp>
        <p:nvSpPr>
          <p:cNvPr id="15" name="Text 12">
            <a:extLst>
              <a:ext uri="{FF2B5EF4-FFF2-40B4-BE49-F238E27FC236}">
                <a16:creationId xmlns:a16="http://schemas.microsoft.com/office/drawing/2014/main" id="{EF63D745-F7DC-4908-B299-623FFF284FE0}"/>
              </a:ext>
            </a:extLst>
          </p:cNvPr>
          <p:cNvSpPr>
            <a:spLocks noGrp="1"/>
          </p:cNvSpPr>
          <p:nvPr/>
        </p:nvSpPr>
        <p:spPr>
          <a:xfrm>
            <a:off x="914400" y="550468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M_7 = (A_12 − A_22)(B_21 + B_22)</a:t>
            </a:r>
            <a:endParaRPr sz="1300"/>
          </a:p>
        </p:txBody>
      </p:sp>
      <p:sp>
        <p:nvSpPr>
          <p:cNvPr id="17" name="Text 14">
            <a:extLst>
              <a:ext uri="{FF2B5EF4-FFF2-40B4-BE49-F238E27FC236}">
                <a16:creationId xmlns:a16="http://schemas.microsoft.com/office/drawing/2014/main" id="{9D1F4B01-7DAA-4A5E-9AE6-08447208E524}"/>
              </a:ext>
            </a:extLst>
          </p:cNvPr>
          <p:cNvSpPr>
            <a:spLocks noGrp="1"/>
          </p:cNvSpPr>
          <p:nvPr/>
        </p:nvSpPr>
        <p:spPr>
          <a:xfrm>
            <a:off x="7004304" y="2505456"/>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결과 블록 조립 (combine)</a:t>
            </a:r>
            <a:endParaRPr sz="1150"/>
          </a:p>
        </p:txBody>
      </p:sp>
      <p:sp>
        <p:nvSpPr>
          <p:cNvPr id="18" name="Text 15">
            <a:extLst>
              <a:ext uri="{FF2B5EF4-FFF2-40B4-BE49-F238E27FC236}">
                <a16:creationId xmlns:a16="http://schemas.microsoft.com/office/drawing/2014/main" id="{4D9569B1-A19A-4968-9718-F50E08F6004C}"/>
              </a:ext>
            </a:extLst>
          </p:cNvPr>
          <p:cNvSpPr>
            <a:spLocks noGrp="1"/>
          </p:cNvSpPr>
          <p:nvPr/>
        </p:nvSpPr>
        <p:spPr>
          <a:xfrm>
            <a:off x="6967728" y="2834640"/>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C_11 = M_1 + M_4 − M_5 + M_7</a:t>
            </a:r>
            <a:endParaRPr sz="1300"/>
          </a:p>
        </p:txBody>
      </p:sp>
      <p:sp>
        <p:nvSpPr>
          <p:cNvPr id="19" name="Text 16">
            <a:extLst>
              <a:ext uri="{FF2B5EF4-FFF2-40B4-BE49-F238E27FC236}">
                <a16:creationId xmlns:a16="http://schemas.microsoft.com/office/drawing/2014/main" id="{BE498E6B-D0C0-42F2-A2E1-30531BBEE192}"/>
              </a:ext>
            </a:extLst>
          </p:cNvPr>
          <p:cNvSpPr>
            <a:spLocks noGrp="1"/>
          </p:cNvSpPr>
          <p:nvPr/>
        </p:nvSpPr>
        <p:spPr>
          <a:xfrm>
            <a:off x="6967728" y="3255264"/>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C_12 = M_3 + M_5</a:t>
            </a:r>
            <a:endParaRPr sz="1300"/>
          </a:p>
        </p:txBody>
      </p:sp>
      <p:sp>
        <p:nvSpPr>
          <p:cNvPr id="20" name="Text 17">
            <a:extLst>
              <a:ext uri="{FF2B5EF4-FFF2-40B4-BE49-F238E27FC236}">
                <a16:creationId xmlns:a16="http://schemas.microsoft.com/office/drawing/2014/main" id="{723A5BF7-3C9B-4B4A-8DC8-FDEC09AA095C}"/>
              </a:ext>
            </a:extLst>
          </p:cNvPr>
          <p:cNvSpPr>
            <a:spLocks noGrp="1"/>
          </p:cNvSpPr>
          <p:nvPr/>
        </p:nvSpPr>
        <p:spPr>
          <a:xfrm>
            <a:off x="6967728" y="3675888"/>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C_21 = M_2 + M_4</a:t>
            </a:r>
            <a:endParaRPr sz="1300"/>
          </a:p>
        </p:txBody>
      </p:sp>
      <p:sp>
        <p:nvSpPr>
          <p:cNvPr id="21" name="Text 18">
            <a:extLst>
              <a:ext uri="{FF2B5EF4-FFF2-40B4-BE49-F238E27FC236}">
                <a16:creationId xmlns:a16="http://schemas.microsoft.com/office/drawing/2014/main" id="{8F7128FD-835A-4FB1-B017-27BE8CC79A0A}"/>
              </a:ext>
            </a:extLst>
          </p:cNvPr>
          <p:cNvSpPr>
            <a:spLocks noGrp="1"/>
          </p:cNvSpPr>
          <p:nvPr/>
        </p:nvSpPr>
        <p:spPr>
          <a:xfrm>
            <a:off x="6967728" y="4096512"/>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C_22 = M_1 − M_2 + M_3 + M_6</a:t>
            </a:r>
            <a:endParaRPr sz="1300"/>
          </a:p>
        </p:txBody>
      </p:sp>
      <p:sp>
        <p:nvSpPr>
          <p:cNvPr id="25" name="Text 21">
            <a:extLst>
              <a:ext uri="{FF2B5EF4-FFF2-40B4-BE49-F238E27FC236}">
                <a16:creationId xmlns:a16="http://schemas.microsoft.com/office/drawing/2014/main" id="{0C651907-4459-449A-B592-9FEA10DEAB9A}"/>
              </a:ext>
            </a:extLst>
          </p:cNvPr>
          <p:cNvSpPr>
            <a:spLocks noGrp="1"/>
          </p:cNvSpPr>
          <p:nvPr/>
        </p:nvSpPr>
        <p:spPr>
          <a:xfrm>
            <a:off x="7644384" y="4882896"/>
            <a:ext cx="3630168" cy="292608"/>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곱셈 1번을 덧셈 여러 번과 맞바꾼다</a:t>
            </a:r>
            <a:endParaRPr sz="1280"/>
          </a:p>
        </p:txBody>
      </p:sp>
      <p:sp>
        <p:nvSpPr>
          <p:cNvPr id="26" name="Text 22">
            <a:extLst>
              <a:ext uri="{FF2B5EF4-FFF2-40B4-BE49-F238E27FC236}">
                <a16:creationId xmlns:a16="http://schemas.microsoft.com/office/drawing/2014/main" id="{7F446843-53B6-42E5-8A32-88B5E89F0058}"/>
              </a:ext>
            </a:extLst>
          </p:cNvPr>
          <p:cNvSpPr>
            <a:spLocks noGrp="1"/>
          </p:cNvSpPr>
          <p:nvPr/>
        </p:nvSpPr>
        <p:spPr>
          <a:xfrm>
            <a:off x="7644384" y="5230368"/>
            <a:ext cx="3630168" cy="73152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덧셈·뺄셈은 O(n²)에 불과하지만, 곱셈은 재귀 호출이다. 재귀 호출 횟수 a를 줄이는 것이 압도적으로 이득이다.</a:t>
            </a:r>
            <a:endParaRPr sz="1150"/>
          </a:p>
        </p:txBody>
      </p:sp>
      <p:sp>
        <p:nvSpPr>
          <p:cNvPr id="28" name="직사각형 27">
            <a:extLst>
              <a:ext uri="{FF2B5EF4-FFF2-40B4-BE49-F238E27FC236}">
                <a16:creationId xmlns:a16="http://schemas.microsoft.com/office/drawing/2014/main" id="{BC567392-71F5-46B7-BDCA-9A1B2D55831B}"/>
              </a:ext>
            </a:extLst>
          </p:cNvPr>
          <p:cNvSpPr>
            <a:spLocks noGrp="1"/>
          </p:cNvSpPr>
          <p:nvPr/>
        </p:nvSpPr>
        <p:spPr>
          <a:xfrm>
            <a:off x="6784848" y="4700016"/>
            <a:ext cx="4745736"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46D11529-C837-4C23-9319-41B4B6F8CA2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CBAB3D3C-B9E9-4C76-AD62-9D6DA7937B5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1309B74-E143-46DE-8BEE-7BD02546EB2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스트라센의 발견 — "8번이 아니라 7번이면 된다"</a:t>
            </a:r>
          </a:p>
        </p:txBody>
      </p:sp>
      <p:sp>
        <p:nvSpPr>
          <p:cNvPr id="32" name="직사각형 31">
            <a:extLst>
              <a:ext uri="{FF2B5EF4-FFF2-40B4-BE49-F238E27FC236}">
                <a16:creationId xmlns:a16="http://schemas.microsoft.com/office/drawing/2014/main" id="{41A77CA2-95C3-4CBE-860F-844964FF920E}"/>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A1EBFDB4-87D9-474B-8DAB-FF58A4D8037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FFECBC2-3A23-4042-BC44-2A4766BFE2A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835D979A-BF0C-4026-A66F-72510E08C8F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389245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4ABCD033-0C60-49E9-A402-2AC83CB2EF2A}"/>
              </a:ext>
            </a:extLst>
          </p:cNvPr>
          <p:cNvSpPr>
            <a:spLocks noGrp="1"/>
          </p:cNvSpPr>
          <p:nvPr/>
        </p:nvSpPr>
        <p:spPr>
          <a:xfrm>
            <a:off x="932688" y="1783080"/>
            <a:ext cx="10323576" cy="1005840"/>
          </a:xfrm>
          <a:prstGeom prst="rect">
            <a:avLst/>
          </a:prstGeom>
          <a:noFill/>
          <a:ln w="0">
            <a:noFill/>
          </a:ln>
        </p:spPr>
        <p:txBody>
          <a:bodyPr wrap="square" lIns="0" tIns="0" rIns="0" bIns="0" anchor="ctr">
            <a:noAutofit/>
          </a:bodyPr>
          <a:lstStyle/>
          <a:p>
            <a:pPr marL="0" indent="0" algn="ctr">
              <a:buNone/>
              <a:defRPr sz="2300" i="0">
                <a:solidFill>
                  <a:srgbClr val="171717"/>
                </a:solidFill>
                <a:latin typeface="Malgun Gothic"/>
                <a:ea typeface="Malgun Gothic"/>
                <a:cs typeface="Malgun Gothic"/>
              </a:defRPr>
            </a:pPr>
            <a:r>
              <a:rPr sz="2300" b="1" i="0">
                <a:solidFill>
                  <a:srgbClr val="171717"/>
                </a:solidFill>
                <a:latin typeface="Malgun Gothic"/>
                <a:ea typeface="Malgun Gothic"/>
                <a:cs typeface="Malgun Gothic"/>
              </a:rPr>
              <a:t>T(n) = 7T(n/2) + O(n^(2))     ⇒     Θ(n^(log₂ 7)) ≈ Θ(n^(2.807))</a:t>
            </a:r>
            <a:endParaRPr sz="2300"/>
          </a:p>
        </p:txBody>
      </p:sp>
      <p:graphicFrame>
        <p:nvGraphicFramePr>
          <p:cNvPr id="25" name="Table 0"/>
          <p:cNvGraphicFramePr/>
          <p:nvPr/>
        </p:nvGraphicFramePr>
        <p:xfrm>
          <a:off x="658368" y="2926080"/>
          <a:ext cx="10872216" cy="2560320"/>
        </p:xfrm>
        <a:graphic>
          <a:graphicData uri="http://schemas.openxmlformats.org/drawingml/2006/table">
            <a:tbl>
              <a:tblPr/>
              <a:tblGrid>
                <a:gridCol w="2331720">
                  <a:extLst>
                    <a:ext uri="{9D8B030D-6E8A-4147-A177-3AD203B41FA5}">
                      <a16:colId xmlns:a16="http://schemas.microsoft.com/office/drawing/2014/main" val="20000"/>
                    </a:ext>
                  </a:extLst>
                </a:gridCol>
                <a:gridCol w="4270248">
                  <a:extLst>
                    <a:ext uri="{9D8B030D-6E8A-4147-A177-3AD203B41FA5}">
                      <a16:colId xmlns:a16="http://schemas.microsoft.com/office/drawing/2014/main" val="20001"/>
                    </a:ext>
                  </a:extLst>
                </a:gridCol>
                <a:gridCol w="4270248">
                  <a:extLst>
                    <a:ext uri="{9D8B030D-6E8A-4147-A177-3AD203B41FA5}">
                      <a16:colId xmlns:a16="http://schemas.microsoft.com/office/drawing/2014/main" val="20002"/>
                    </a:ext>
                  </a:extLst>
                </a:gridCol>
              </a:tblGrid>
              <a:tr h="365760">
                <a:tc>
                  <a:txBody>
                    <a:bodyPr/>
                    <a:lstStyle/>
                    <a:p>
                      <a:pPr marL="0" indent="0" algn="ctr">
                        <a:buNone/>
                      </a:pP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카라츠바 (§4.7)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스트라센 (§4.8)</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365760">
                <a:tc>
                  <a:txBody>
                    <a:bodyPr/>
                    <a:lstStyle/>
                    <a:p>
                      <a:pPr marL="0" indent="0" algn="l">
                        <a:buNone/>
                      </a:pPr>
                      <a:r>
                        <a:rPr sz="1150" b="0">
                          <a:solidFill>
                            <a:srgbClr val="171717"/>
                          </a:solidFill>
                          <a:latin typeface="Malgun Gothic"/>
                          <a:ea typeface="Malgun Gothic"/>
                          <a:cs typeface="Malgun Gothic"/>
                        </a:rPr>
                        <a:t>대상</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큰 정수의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n × n 행렬의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sz="1150" b="0">
                          <a:solidFill>
                            <a:srgbClr val="171717"/>
                          </a:solidFill>
                          <a:latin typeface="Malgun Gothic"/>
                          <a:ea typeface="Malgun Gothic"/>
                          <a:cs typeface="Malgun Gothic"/>
                        </a:rPr>
                        <a:t>소박한 분할</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곱셈 4번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블록 곱셈 8번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365760">
                <a:tc>
                  <a:txBody>
                    <a:bodyPr/>
                    <a:lstStyle/>
                    <a:p>
                      <a:pPr marL="0" indent="0" algn="l">
                        <a:buNone/>
                      </a:pPr>
                      <a:r>
                        <a:rPr sz="1150" b="0">
                          <a:solidFill>
                            <a:srgbClr val="171717"/>
                          </a:solidFill>
                          <a:latin typeface="Malgun Gothic"/>
                          <a:ea typeface="Malgun Gothic"/>
                          <a:cs typeface="Malgun Gothic"/>
                        </a:rPr>
                        <a:t>개선 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곱셈 3번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블록 곱셈 7번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sz="1150" b="0">
                          <a:solidFill>
                            <a:srgbClr val="171717"/>
                          </a:solidFill>
                          <a:latin typeface="Malgun Gothic"/>
                          <a:ea typeface="Malgun Gothic"/>
                          <a:cs typeface="Malgun Gothic"/>
                        </a:rPr>
                        <a:t>점화식</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3T(n/2) + O(n)</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7T(n/2) + 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365760">
                <a:tc>
                  <a:txBody>
                    <a:bodyPr/>
                    <a:lstStyle/>
                    <a:p>
                      <a:pPr marL="0" indent="0" algn="l">
                        <a:buNone/>
                      </a:pPr>
                      <a:r>
                        <a:rPr sz="1150" b="0">
                          <a:solidFill>
                            <a:srgbClr val="171717"/>
                          </a:solidFill>
                          <a:latin typeface="Malgun Gothic"/>
                          <a:ea typeface="Malgun Gothic"/>
                          <a:cs typeface="Malgun Gothic"/>
                        </a:rPr>
                        <a:t>시간 복잡도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O(n^1.585)</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O(n^2.807)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sz="1150" b="0">
                          <a:solidFill>
                            <a:srgbClr val="171717"/>
                          </a:solidFill>
                          <a:latin typeface="Malgun Gothic"/>
                          <a:ea typeface="Malgun Gothic"/>
                          <a:cs typeface="Malgun Gothic"/>
                        </a:rPr>
                        <a:t>기존 방법</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O(n³)</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2" name="Text 7">
            <a:extLst>
              <a:ext uri="{FF2B5EF4-FFF2-40B4-BE49-F238E27FC236}">
                <a16:creationId xmlns:a16="http://schemas.microsoft.com/office/drawing/2014/main" id="{0147ABC6-DCE9-4A46-8E9D-1BD9FE9989A3}"/>
              </a:ext>
            </a:extLst>
          </p:cNvPr>
          <p:cNvSpPr>
            <a:spLocks noGrp="1"/>
          </p:cNvSpPr>
          <p:nvPr/>
        </p:nvSpPr>
        <p:spPr>
          <a:xfrm>
            <a:off x="1517904" y="5760720"/>
            <a:ext cx="9756648" cy="23774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두 알고리즘의 공통 교훈 — 값싼 덧셈을 늘려서라도 비싼 재귀 호출 횟수 a 를 줄여라.</a:t>
            </a:r>
            <a:endParaRPr sz="1250"/>
          </a:p>
        </p:txBody>
      </p:sp>
      <p:sp>
        <p:nvSpPr>
          <p:cNvPr id="16" name="직사각형 15">
            <a:extLst>
              <a:ext uri="{FF2B5EF4-FFF2-40B4-BE49-F238E27FC236}">
                <a16:creationId xmlns:a16="http://schemas.microsoft.com/office/drawing/2014/main" id="{83F5AFD3-8D61-4C71-B1CC-F8C1D8C3026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2FDE12BE-45E4-4AF7-B107-A879090BAE4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3BD3FB1A-B540-4A85-A9C1-65725962D76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분석과 두 알고리즘의 공통점</a:t>
            </a:r>
          </a:p>
        </p:txBody>
      </p:sp>
      <p:sp>
        <p:nvSpPr>
          <p:cNvPr id="19" name="직사각형 18">
            <a:extLst>
              <a:ext uri="{FF2B5EF4-FFF2-40B4-BE49-F238E27FC236}">
                <a16:creationId xmlns:a16="http://schemas.microsoft.com/office/drawing/2014/main" id="{6C92FCDB-EA9F-4023-9FCB-D74EB4270497}"/>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8EF24FA7-E678-43E3-AE8F-36FC7EBC52AA}"/>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4BF69BA8-AE71-4A40-AC0A-C782BE85FDF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C8A83022-6FB0-45DD-AA6D-CBCE102DB71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4273601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4.10</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71</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합병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재귀 호출 횟수 a를 줄여라</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카라츠바(4→3)와 스트라센(8→7)은 값싼 덧셈으로 비싼 곱셈을 대체했다.</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76</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14151</Words>
  <Application>Microsoft Office PowerPoint</Application>
  <DocSecurity>0</DocSecurity>
  <PresentationFormat>와이드스크린</PresentationFormat>
  <Paragraphs>1384</Paragraphs>
  <Slides>76</Slides>
  <Notes>76</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76</vt:i4>
      </vt:variant>
    </vt:vector>
  </HeadingPairs>
  <TitlesOfParts>
    <vt:vector size="81"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2</cp:revision>
  <dcterms:created xsi:type="dcterms:W3CDTF">2026-09-19T13:48:20Z</dcterms:created>
  <dcterms:modified xsi:type="dcterms:W3CDTF">2026-10-11T08:20:31Z</dcterms:modified>
</cp:coreProperties>
</file>