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rts/chart1.xml" ContentType="application/vnd.openxmlformats-officedocument.drawingml.chart+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82"/>
  </p:notesMasterIdLst>
  <p:sldIdLst>
    <p:sldId id="256" r:id="rId2"/>
    <p:sldId id="257" r:id="rId3"/>
    <p:sldId id="258" r:id="rId4"/>
    <p:sldId id="259" r:id="rId5"/>
    <p:sldId id="260" r:id="rId6"/>
    <p:sldId id="261" r:id="rId7"/>
    <p:sldId id="320" r:id="rId8"/>
    <p:sldId id="321" r:id="rId9"/>
    <p:sldId id="322" r:id="rId10"/>
    <p:sldId id="323" r:id="rId11"/>
    <p:sldId id="324" r:id="rId12"/>
    <p:sldId id="325" r:id="rId13"/>
    <p:sldId id="262" r:id="rId14"/>
    <p:sldId id="263" r:id="rId15"/>
    <p:sldId id="264" r:id="rId16"/>
    <p:sldId id="265" r:id="rId17"/>
    <p:sldId id="266" r:id="rId18"/>
    <p:sldId id="267" r:id="rId19"/>
    <p:sldId id="268" r:id="rId20"/>
    <p:sldId id="269" r:id="rId21"/>
    <p:sldId id="270" r:id="rId22"/>
    <p:sldId id="271" r:id="rId23"/>
    <p:sldId id="326" r:id="rId24"/>
    <p:sldId id="327" r:id="rId25"/>
    <p:sldId id="328" r:id="rId26"/>
    <p:sldId id="329" r:id="rId27"/>
    <p:sldId id="330" r:id="rId28"/>
    <p:sldId id="331" r:id="rId29"/>
    <p:sldId id="332" r:id="rId30"/>
    <p:sldId id="333" r:id="rId31"/>
    <p:sldId id="334" r:id="rId32"/>
    <p:sldId id="335" r:id="rId33"/>
    <p:sldId id="272" r:id="rId34"/>
    <p:sldId id="273" r:id="rId35"/>
    <p:sldId id="274" r:id="rId36"/>
    <p:sldId id="275" r:id="rId37"/>
    <p:sldId id="276" r:id="rId38"/>
    <p:sldId id="277" r:id="rId39"/>
    <p:sldId id="278" r:id="rId40"/>
    <p:sldId id="279" r:id="rId41"/>
    <p:sldId id="280" r:id="rId42"/>
    <p:sldId id="281" r:id="rId43"/>
    <p:sldId id="282" r:id="rId44"/>
    <p:sldId id="283" r:id="rId45"/>
    <p:sldId id="284" r:id="rId46"/>
    <p:sldId id="285" r:id="rId47"/>
    <p:sldId id="286" r:id="rId48"/>
    <p:sldId id="287" r:id="rId49"/>
    <p:sldId id="288" r:id="rId50"/>
    <p:sldId id="289" r:id="rId51"/>
    <p:sldId id="290" r:id="rId52"/>
    <p:sldId id="291" r:id="rId53"/>
    <p:sldId id="292" r:id="rId54"/>
    <p:sldId id="293" r:id="rId55"/>
    <p:sldId id="294" r:id="rId56"/>
    <p:sldId id="295" r:id="rId57"/>
    <p:sldId id="296" r:id="rId58"/>
    <p:sldId id="297" r:id="rId59"/>
    <p:sldId id="298" r:id="rId60"/>
    <p:sldId id="299" r:id="rId61"/>
    <p:sldId id="300" r:id="rId62"/>
    <p:sldId id="301" r:id="rId63"/>
    <p:sldId id="302" r:id="rId64"/>
    <p:sldId id="303" r:id="rId65"/>
    <p:sldId id="304" r:id="rId66"/>
    <p:sldId id="305" r:id="rId67"/>
    <p:sldId id="306" r:id="rId68"/>
    <p:sldId id="307" r:id="rId69"/>
    <p:sldId id="308" r:id="rId70"/>
    <p:sldId id="309" r:id="rId71"/>
    <p:sldId id="310" r:id="rId72"/>
    <p:sldId id="311" r:id="rId73"/>
    <p:sldId id="312" r:id="rId74"/>
    <p:sldId id="313" r:id="rId75"/>
    <p:sldId id="314" r:id="rId76"/>
    <p:sldId id="315" r:id="rId77"/>
    <p:sldId id="316" r:id="rId78"/>
    <p:sldId id="317" r:id="rId79"/>
    <p:sldId id="318" r:id="rId80"/>
    <p:sldId id="319" r:id="rId81"/>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50" d="100"/>
          <a:sy n="150" d="100"/>
        </p:scale>
        <p:origin x="65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viewProps" Target="view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barChart>
        <c:barDir val="col"/>
        <c:grouping val="clustered"/>
        <c:varyColors val="0"/>
        <c:ser>
          <c:idx val="0"/>
          <c:order val="0"/>
          <c:tx>
            <c:v>일별 손익 변화</c:v>
          </c:tx>
          <c:spPr>
            <a:solidFill>
              <a:srgbClr val="7A9FA9"/>
            </a:solidFill>
          </c:spPr>
          <c:invertIfNegative val="0"/>
          <c:dPt>
            <c:idx val="2"/>
            <c:invertIfNegative val="0"/>
            <c:bubble3D val="0"/>
            <c:spPr>
              <a:solidFill>
                <a:srgbClr val="EA8D47"/>
              </a:solidFill>
            </c:spPr>
            <c:extLst>
              <c:ext xmlns:c16="http://schemas.microsoft.com/office/drawing/2014/chart" uri="{C3380CC4-5D6E-409C-BE32-E72D297353CC}">
                <c16:uniqueId val="{00000001-5D01-4430-8A6B-B253845AB292}"/>
              </c:ext>
            </c:extLst>
          </c:dPt>
          <c:dPt>
            <c:idx val="3"/>
            <c:invertIfNegative val="0"/>
            <c:bubble3D val="0"/>
            <c:spPr>
              <a:solidFill>
                <a:srgbClr val="EA8D47"/>
              </a:solidFill>
            </c:spPr>
            <c:extLst>
              <c:ext xmlns:c16="http://schemas.microsoft.com/office/drawing/2014/chart" uri="{C3380CC4-5D6E-409C-BE32-E72D297353CC}">
                <c16:uniqueId val="{00000003-5D01-4430-8A6B-B253845AB292}"/>
              </c:ext>
            </c:extLst>
          </c:dPt>
          <c:dPt>
            <c:idx val="4"/>
            <c:invertIfNegative val="0"/>
            <c:bubble3D val="0"/>
            <c:spPr>
              <a:solidFill>
                <a:srgbClr val="EA8D47"/>
              </a:solidFill>
            </c:spPr>
            <c:extLst>
              <c:ext xmlns:c16="http://schemas.microsoft.com/office/drawing/2014/chart" uri="{C3380CC4-5D6E-409C-BE32-E72D297353CC}">
                <c16:uniqueId val="{00000005-5D01-4430-8A6B-B253845AB292}"/>
              </c:ext>
            </c:extLst>
          </c:dPt>
          <c:dLbls>
            <c:dLbl>
              <c:idx val="0"/>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5D01-4430-8A6B-B253845AB292}"/>
                </c:ext>
              </c:extLst>
            </c:dLbl>
            <c:dLbl>
              <c:idx val="1"/>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5D01-4430-8A6B-B253845AB292}"/>
                </c:ext>
              </c:extLst>
            </c:dLbl>
            <c:dLbl>
              <c:idx val="2"/>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5D01-4430-8A6B-B253845AB292}"/>
                </c:ext>
              </c:extLst>
            </c:dLbl>
            <c:dLbl>
              <c:idx val="3"/>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5D01-4430-8A6B-B253845AB292}"/>
                </c:ext>
              </c:extLst>
            </c:dLbl>
            <c:dLbl>
              <c:idx val="4"/>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5D01-4430-8A6B-B253845AB292}"/>
                </c:ext>
              </c:extLst>
            </c:dLbl>
            <c:dLbl>
              <c:idx val="5"/>
              <c:spPr/>
              <c:txPr>
                <a:bodyPr anchorCtr="1"/>
                <a:lstStyle/>
                <a:p>
                  <a:pPr>
                    <a:defRPr sz="1350" b="1">
                      <a:solidFill>
                        <a:srgbClr val="FFFFFF"/>
                      </a:solidFill>
                      <a:latin typeface="Malgun Gothic"/>
                      <a:ea typeface="Malgun Gothic"/>
                      <a:cs typeface="Malgun Gothic"/>
                    </a:defRPr>
                  </a:pPr>
                  <a:endParaRPr lang="ko-KR"/>
                </a:p>
              </c:txPr>
              <c:dLblPos val="in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5D01-4430-8A6B-B253845AB292}"/>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Data'!$A$2:$A$7</c:f>
              <c:strCache>
                <c:ptCount val="6"/>
                <c:pt idx="0">
                  <c:v>1일</c:v>
                </c:pt>
                <c:pt idx="1">
                  <c:v>2일</c:v>
                </c:pt>
                <c:pt idx="2">
                  <c:v>3일</c:v>
                </c:pt>
                <c:pt idx="3">
                  <c:v>4일</c:v>
                </c:pt>
                <c:pt idx="4">
                  <c:v>5일</c:v>
                </c:pt>
                <c:pt idx="5">
                  <c:v>6일</c:v>
                </c:pt>
              </c:strCache>
            </c:strRef>
          </c:cat>
          <c:val>
            <c:numRef>
              <c:f>'Chart Data'!$B$2:$B$7</c:f>
              <c:numCache>
                <c:formatCode>General</c:formatCode>
                <c:ptCount val="6"/>
                <c:pt idx="0">
                  <c:v>3</c:v>
                </c:pt>
                <c:pt idx="1">
                  <c:v>-5</c:v>
                </c:pt>
                <c:pt idx="2">
                  <c:v>12</c:v>
                </c:pt>
                <c:pt idx="3">
                  <c:v>-2</c:v>
                </c:pt>
                <c:pt idx="4">
                  <c:v>7</c:v>
                </c:pt>
                <c:pt idx="5">
                  <c:v>-9</c:v>
                </c:pt>
              </c:numCache>
            </c:numRef>
          </c:val>
          <c:extLst>
            <c:ext xmlns:c16="http://schemas.microsoft.com/office/drawing/2014/chart" uri="{C3380CC4-5D6E-409C-BE32-E72D297353CC}">
              <c16:uniqueId val="{00000009-5D01-4430-8A6B-B253845AB292}"/>
            </c:ext>
          </c:extLst>
        </c:ser>
        <c:dLbls>
          <c:dLblPos val="outEnd"/>
          <c:showLegendKey val="0"/>
          <c:showVal val="1"/>
          <c:showCatName val="0"/>
          <c:showSerName val="0"/>
          <c:showPercent val="0"/>
          <c:showBubbleSize val="0"/>
        </c:dLbls>
        <c:gapWidth val="45"/>
        <c:axId val="48650112"/>
        <c:axId val="48672768"/>
      </c:barChart>
      <c:catAx>
        <c:axId val="48650112"/>
        <c:scaling>
          <c:orientation val="minMax"/>
        </c:scaling>
        <c:delete val="0"/>
        <c:axPos val="b"/>
        <c:numFmt formatCode="General" sourceLinked="1"/>
        <c:majorTickMark val="none"/>
        <c:minorTickMark val="none"/>
        <c:tickLblPos val="low"/>
        <c:spPr>
          <a:ln w="9525">
            <a:solidFill>
              <a:srgbClr val="D4D4D4"/>
            </a:solidFill>
            <a:prstDash val="solid"/>
          </a:ln>
        </c:spPr>
        <c:txPr>
          <a:bodyPr anchorCtr="1"/>
          <a:lstStyle/>
          <a:p>
            <a:pPr>
              <a:defRPr sz="1275">
                <a:solidFill>
                  <a:srgbClr val="171717"/>
                </a:solidFill>
                <a:latin typeface="Malgun Gothic"/>
                <a:ea typeface="Malgun Gothic"/>
                <a:cs typeface="Malgun Gothic"/>
              </a:defRPr>
            </a:pPr>
            <a:endParaRPr lang="ko-KR"/>
          </a:p>
        </c:txPr>
        <c:crossAx val="48672768"/>
        <c:crosses val="autoZero"/>
        <c:auto val="1"/>
        <c:lblAlgn val="ctr"/>
        <c:lblOffset val="100"/>
        <c:noMultiLvlLbl val="1"/>
      </c:catAx>
      <c:valAx>
        <c:axId val="48672768"/>
        <c:scaling>
          <c:orientation val="minMax"/>
          <c:max val="15"/>
          <c:min val="-10"/>
        </c:scaling>
        <c:delete val="0"/>
        <c:axPos val="l"/>
        <c:majorGridlines>
          <c:spPr>
            <a:ln w="9525">
              <a:solidFill>
                <a:srgbClr val="DDDDDD"/>
              </a:solidFill>
            </a:ln>
          </c:spPr>
        </c:majorGridlines>
        <c:numFmt formatCode="General" sourceLinked="1"/>
        <c:majorTickMark val="none"/>
        <c:minorTickMark val="none"/>
        <c:tickLblPos val="nextTo"/>
        <c:spPr>
          <a:ln w="9525">
            <a:solidFill>
              <a:srgbClr val="D4D4D4"/>
            </a:solidFill>
            <a:prstDash val="solid"/>
          </a:ln>
        </c:spPr>
        <c:txPr>
          <a:bodyPr anchorCtr="1"/>
          <a:lstStyle/>
          <a:p>
            <a:pPr>
              <a:defRPr sz="1275">
                <a:solidFill>
                  <a:srgbClr val="171717"/>
                </a:solidFill>
                <a:latin typeface="Malgun Gothic"/>
                <a:ea typeface="Malgun Gothic"/>
                <a:cs typeface="Malgun Gothic"/>
              </a:defRPr>
            </a:pPr>
            <a:endParaRPr lang="ko-KR"/>
          </a:p>
        </c:txPr>
        <c:crossAx val="48650112"/>
        <c:crosses val="autoZero"/>
        <c:crossBetween val="between"/>
        <c:majorUnit val="5"/>
      </c:valAx>
      <c:spPr>
        <a:solidFill>
          <a:srgbClr val="FFFFFF"/>
        </a:solidFill>
      </c:spPr>
    </c:plotArea>
    <c:plotVisOnly val="1"/>
    <c:dispBlanksAs val="zero"/>
    <c:showDLblsOverMax val="1"/>
  </c:chart>
  <c:spPr>
    <a:solidFill>
      <a:srgbClr val="FFFFFF"/>
    </a:solidFill>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분할 정복을 배우겠습니다. 3장에서는 더 작은 문제 하나를 남겨서 풀었다면, 이번에는 작은 문제 여러 개를 각각 풀고 결과를 합칩니다. 합병 정렬부터 시작해서 숫자, 평면의 점, 이미지, 행렬까지 같은 생각이 어떻게 이어지는지 보겠습니다. 코드를 볼 때는 어디서 나누고, 무엇을 재귀 호출하고, 돌아온 답을 어떻게 합치는지 찾아보세요.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이번 장에서는 분할 정복의 기본을 먼저 보고</a:t>
            </a:r>
            <a:r>
              <a:rPr lang="en-US" altLang="ko-KR"/>
              <a:t>, </a:t>
            </a:r>
            <a:r>
              <a:rPr lang="ko-KR" altLang="en-US"/>
              <a:t>머지 소트와 퀵 소트를 이어서 배웁니다</a:t>
            </a:r>
            <a:r>
              <a:rPr lang="en-US" altLang="ko-KR"/>
              <a:t>. </a:t>
            </a:r>
            <a:r>
              <a:rPr lang="ko-KR" altLang="en-US"/>
              <a:t>머지 소트는 반으로 나누고 정렬한 결과를 합칩니다</a:t>
            </a:r>
            <a:r>
              <a:rPr lang="en-US" altLang="ko-KR"/>
              <a:t>. </a:t>
            </a:r>
            <a:r>
              <a:rPr lang="ko-KR" altLang="en-US"/>
              <a:t>퀵 소트는 피벗을 기준으로 값을 나눕니다</a:t>
            </a:r>
            <a:r>
              <a:rPr lang="en-US" altLang="ko-KR"/>
              <a:t>. </a:t>
            </a:r>
            <a:r>
              <a:rPr lang="ko-KR" altLang="en-US"/>
              <a:t>두 정렬의 차이를 익힌 다음에는 최대 구간 합과 최근접 쌍</a:t>
            </a:r>
            <a:r>
              <a:rPr lang="en-US" altLang="ko-KR"/>
              <a:t>, </a:t>
            </a:r>
            <a:r>
              <a:rPr lang="ko-KR" altLang="en-US"/>
              <a:t>쿼드 트리 같은 응용을 보겠습니다</a:t>
            </a:r>
            <a:r>
              <a:rPr lang="en-US" altLang="ko-KR"/>
              <a:t>. </a:t>
            </a:r>
            <a:r>
              <a:rPr lang="ko-KR" altLang="en-US"/>
              <a:t>마스터 정리로 시간 복잡도를 정리하고</a:t>
            </a:r>
            <a:r>
              <a:rPr lang="en-US" altLang="ko-KR"/>
              <a:t>, </a:t>
            </a:r>
            <a:r>
              <a:rPr lang="ko-KR" altLang="en-US"/>
              <a:t>카라츠바와 스트라센의 아이디어도 살펴봅니다</a:t>
            </a:r>
            <a:r>
              <a:rPr lang="en-US" altLang="ko-KR"/>
              <a:t>. </a:t>
            </a:r>
            <a:r>
              <a:rPr lang="ko-KR" altLang="en-US"/>
              <a:t>마지막에는 색종이 만들기와 빠른 거듭제곱 예제를 풀어보겠습니다</a:t>
            </a:r>
            <a:r>
              <a:rPr lang="en-US" altLang="ko-KR"/>
              <a:t>.</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분할 정복이라는 이름을 코드의 동작으로 바꿔보겠습니다. 큰 입력을 작은 입력 여러 개로 나누고, 각 입력에서 얻은 답을 이용해 전체 답을 만드는 겁니다. 여기서 중요한 질문은 두 가지예요. 얼마나 작아지면 바로 답할 수 있는지, 그리고 작은 답들만 가지고 전체 답을 만들 수 있는지입니다. 이 두 가지가 정해져야 재귀 함수가 완성됩니다.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큰 문제를 작은 문제로 나누면 각각은 다루기 쉬워집니다. 하지만 잘게 나누기만 해서는 원래 문제의 답이 나오지 않겠죠. 작은 문제들을 해결한 다음, 그 결과를 올바르게 결합해야 합니다. 화면의 디바이드, 컨커, 컴바인은 각각 나누기, 해결하기, 합치기를 뜻해요. 이번 장에서는 특히 마지막 결합 단계가 빠짐없이 모든 경우를 처리하는지 확인하겠습니다.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천 페이지짜리 책을 요약한다고 해볼게요. 백 페이지씩 열 부분으로 나누고, 각 부분을 따로 요약한 뒤 순서에 맞춰 합치면 됩니다. 맡은 부분도 너무 길면 다시 나눌 수 있겠죠. 다만 장 사이의 연결 내용처럼 마지막에 정리해야 할 일이 남습니다. 알고리즘에서도 이 추가 작업이 결합 비용입니다. 여러 사람이 동시에 한다는 비유를 썼지만, 분할 정복 자체가 병렬 실행을 뜻하는 것은 아닙니다.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의사코드를 위에서부터 보겠습니다. 먼저 문제 크기가 충분히 작으면 직접 풀고 반환합니다. 이것이 종료 조건이에요. 그렇지 않으면 작은 문제 여러 개를 만들고 각각 같은 함수를 호출합니다. 모든 호출이 답을 돌려주면 컴바인으로 전체 답을 만듭니다. 재귀 호출마다 입력이 실제로 작아지는지, 그리고 결합에 필요한 정보가 반환값에 모두 들어 있는지 확인하면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머지 소트, 우리말로 병합 정렬입니다. 기존 자료의 합병 정렬과 같은 말입니다. 먼저 반으로 계속 나눕니다. 원소가 하나 남으면 더 정렬할 필요가 없죠. 그다음 두 정렬된 배열을 작은 값부터 합칩니다. 이 두 동작을 오늘 같은 배열로 끝까지 따라가 보겠습니다.</a:t>
            </a:r>
          </a:p>
          <a:p>
            <a:endParaRPr/>
          </a:p>
          <a:p>
            <a:r>
              <a:t>참고 영상: https://youtu.be/55T82T2dEyc</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274739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먼저 여덟 개를 네 개씩 나눕니다. 왼쪽은 8, 3, 6, 2이고 오른쪽은 7, 1, 5, 4입니다. 다시 두 개씩, 마지막으로 하나씩 나눕니다. 나눈다고 해서 작은 수가 왼쪽으로 가는 것은 아닙니다. 현재 순서를 그대로 두고 구간만 잘라낸다는 점을 봐 주세요.</a:t>
            </a:r>
          </a:p>
          <a:p>
            <a:endParaRPr/>
          </a:p>
          <a:p>
            <a:r>
              <a:t>참고 영상: https://youtu.be/55T82T2dEyc</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937606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나누기가 끝나면 반대 방향으로 올라옵니다. 8과 3을 합치면 3, 8이고, 6과 2를 합치면 2, 6입니다. 이 두 결과를 합치면 2, 3, 6, 8이 됩니다. 오른쪽도 같은 방법으로 1, 4, 5, 7이 됩니다. 이렇게 아래쪽의 정렬 결과가 위쪽 병합의 입력이 됩니다.</a:t>
            </a:r>
          </a:p>
          <a:p>
            <a:endParaRPr/>
          </a:p>
          <a:p>
            <a:r>
              <a:t>참고 영상: https://youtu.be/55T82T2dEyc</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551110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배열이 이미 정렬되어 있으므로 전체를 매번 찾을 필요가 없습니다. 각 배열에서 아직 쓰지 않은 맨 앞만 보면 됩니다. 왼쪽 포인터 i와 오른쪽 포인터 j를 처음에 0으로 놓습니다. 2와 1을 비교하면 1이 작습니다. 1을 결과에 넣고 오른쪽 j만 한 칸 움직입니다. 왼쪽의 2는 아직 사용하지 않았으니 i는 그대로입니다.</a:t>
            </a:r>
          </a:p>
          <a:p>
            <a:endParaRPr/>
          </a:p>
          <a:p>
            <a:r>
              <a:t>참고 영상: https://youtu.be/55T82T2dEyc</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0397325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번째에 1을 넣었습니다. 이제 오른쪽은 4를 보고, 왼쪽은 여전히 2를 봅니다. 2가 작으니 이번에는 왼쪽을 한 칸 움직입니다. 다음에는 3과 4 중에서 3을 넣습니다. 여기까지 결과는 1, 2, 3입니다. 오른쪽의 4는 아직 한 번도 사용하지 않았으므로 오른쪽 포인터는 계속 같은 위치입니다.</a:t>
            </a:r>
          </a:p>
          <a:p>
            <a:endParaRPr/>
          </a:p>
          <a:p>
            <a:r>
              <a:t>참고 영상: https://youtu.be/55T82T2dEyc</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676418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이어서 6과 4를 비교해서 4를, 6과 5를 비교해서 5를 넣습니다. 그다음 6과 7에서는 6을 넣고, 8과 7에서는 7을 넣습니다. 오른쪽은 다 사용했고 왼쪽에는 8만 남았습니다. 이때 없는 오른쪽 원소를 읽으면 오류가 나겠죠. 비교 반복문을 끝내고 남은 왼쪽을 그대로 붙입니다. 결과는 1부터 8까지입니다.</a:t>
            </a:r>
          </a:p>
          <a:p>
            <a:endParaRPr/>
          </a:p>
          <a:p>
            <a:r>
              <a:t>참고 영상: https://youtu.be/55T82T2dEyc</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9460900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함수의 두 입력은 이미 정렬되어 있다고 가정합니다. while에서 양쪽 모두 원소가 남았는지 먼저 확인합니다. 작은 값을 넣고 그쪽 인덱스만 늘립니다. 같은 값에서는 왼쪽을 먼저 넣으려고 이하 비교를 사용했습니다. 반복이 끝나면 한쪽만 남아 있고, extend가 그 나머지를 붙입니다. 빈 나머지를 붙여도 문제는 없어서 양쪽 모두 extend를 써도 됩니다.</a:t>
            </a:r>
          </a:p>
          <a:p>
            <a:endParaRPr/>
          </a:p>
          <a:p>
            <a:r>
              <a:t>참고 영상: https://youtu.be/55T82T2dEyc</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151285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코드가 이해하기 어려운 이유는 두 재귀 호출이 동시에 진행된다고 생각하기 쉽기 때문입니다. 실제로는 왼쪽 호출이 끝나고 돌아와야 그다음 줄의 오른쪽 호출을 시작합니다. 예를 들어 왼쪽 8, 3, 6, 2를 정렬해서 2, 3, 6, 8을 받은 뒤 오른쪽을 정렬합니다. 마지막 줄은 그 두 정렬 결과를 병합합니다. 이 Python 코드는 새 정렬 배열을 반환하므로 반환값을 사용해야 합니다. 앞 슬라이드의 merge와 함께 실행하세요.</a:t>
            </a:r>
          </a:p>
          <a:p>
            <a:endParaRPr/>
          </a:p>
          <a:p>
            <a:r>
              <a:t>참고 영상: https://youtu.be/55T82T2dEyc</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9428373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C에서는 왼쪽 배열과 오른쪽 배열을 새로 잘라내는 대신 원래 배열의 구간으로 표현합니다. lo부터 mid가 왼쪽, mid 플러스 1부터 hi가 오른쪽입니다. i와 j로 읽고 임시 배열의 k 위치에 씁니다. 남은 원소를 붙인 뒤 tmp의 병합 결과를 a의 같은 구간으로 복사합니다. 여기서는 양 끝 인덱스를 모두 포함합니다. 이 함수는 새 배열을 반환하는 Python과 달리 원래 배열을 바꿉니다.</a:t>
            </a:r>
          </a:p>
          <a:p>
            <a:endParaRPr/>
          </a:p>
          <a:p>
            <a:r>
              <a:t>참고 영상: https://youtu.be/55T82T2dEyc</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4984081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C의 재귀 범위도 직접 보겠습니다. lo부터 mid까지 정렬하고, mid 플러스 1부터 hi까지 정렬한 뒤에 병합합니다. 두 재귀 호출이 끝나기 전에는 merge를 하지 않습니다. tmp는 a의 원소 개수 이상으로 준비하고 모든 호출에서 함께 사용합니다. 아래 세 줄은 main 안에 넣는 실행 예입니다. 정렬이 끝나면 a 자체가 바뀌어 있습니다. 코드를 작성할 때는 재귀 종료 조건과 병합하는 위치를 꼭 확인하세요.</a:t>
            </a:r>
          </a:p>
          <a:p>
            <a:endParaRPr/>
          </a:p>
          <a:p>
            <a:r>
              <a:t>참고 영상: https://youtu.be/55T82T2dEyc</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0003465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복잡도를 보겠습니다. 여덟 개 배열이라면 두 개씩 합치는 단계, 네 개씩 합치는 단계, 여덟 개를 합치는 단계가 있습니다. 각 단계에서 처리하는 원소 수를 모두 더하면 여덟 개입니다. n개에서도 단계당 n개이고 단계 수는 로그 n이라 전체는 n 로그 n입니다. 또 같은 숫자가 여러 개일 때 왼쪽 값을 먼저 선택하면 원래 먼저 있던 원소를 앞에 유지합니다. 이것이 안정 정렬입니다. </a:t>
            </a:r>
          </a:p>
          <a:p>
            <a:endParaRPr/>
          </a:p>
          <a:p>
            <a:r>
              <a:t>참고 영상: https://youtu.be/55T82T2dEyc</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351128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직접 손으로 풀어보겠습니다. 첫 번째 값은 1이고 오른쪽 포인터만 움직입니다. 다음은 2, 3, 5입니다. 왼쪽을 다 사용하면 오른쪽에 남은 7을 붙입니다. 결과는 1, 2, 3, 5, 7입니다. 세 번째 질문의 답은 병합의 입력 두 구간이 먼저 정렬되어 있어야 하기 때문입니다. 단순히 재귀 함수니까라는 답보다는, 정렬된 두 결과를 받아서 합친다고 설명하면 됩니다.</a:t>
            </a:r>
          </a:p>
          <a:p>
            <a:endParaRPr/>
          </a:p>
          <a:p>
            <a:r>
              <a:t>참고 영상: https://youtu.be/55T82T2dEyc</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318153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퀵 정렬은 머지 정렬과 달리 값을 기준으로 나눕니다. 기준값을 피벗이라고 부릅니다. 오늘은 양쪽 포인터가 안쪽으로 이동하는 방식으로 통일하겠습니다. 설명 그림과 Python, C가 모두 같은 방식을 사용합니다. 영상에서는 임의의 피벗을 선택할 수 있지만, 우리의 코드는 추적이 가능하도록 현재 구간의 가운데 인덱스를 피벗으로 선택합니다.</a:t>
            </a:r>
          </a:p>
          <a:p>
            <a:endParaRPr/>
          </a:p>
          <a:p>
            <a:r>
              <a:t>참고 영상: https://youtu.be/slL5GQNHYx8</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3575910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시작은 8, 4, 6, 3, 7, 1입니다. 가운데 인덱스는 정수 나눗셈으로 2이고 피벗은 6입니다. 피벗을 마지막으로 옮겨두면 두 포인터가 피벗 자체를 다시 비교하지 않아도 됩니다. 마지막의 1과 바꾸고 L은 첫 번째, R은 피벗 바로 앞에서 시작합니다. 파란색은 L, 초록색은 R, 주황색은 피벗입니다.</a:t>
            </a:r>
          </a:p>
          <a:p>
            <a:endParaRPr/>
          </a:p>
          <a:p>
            <a:r>
              <a:t>참고 영상: https://youtu.be/slL5GQNHYx8</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88980966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왼쪽에는 피벗 이하인 값이 있어야 합니다. 그래서 L은 그런 값을 만나면 계속 지나갑니다. 큰 값을 만나면 잘못 놓인 값이므로 멈춥니다. 반대로 R은 큰 값이면 지나가고 피벗 이하이면 멈춥니다. 현재 L의 8은 멈추고, R은 7을 지나 3에서 멈춥니다. 교환하면 양쪽의 잘못 놓인 값을 동시에 바로잡을 수 있습니다.</a:t>
            </a:r>
          </a:p>
          <a:p>
            <a:endParaRPr/>
          </a:p>
          <a:p>
            <a:r>
              <a:t>참고 영상: https://youtu.be/slL5GQNHYx8</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826346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L과 R이 아직 교차하지 않았으니 8과 3을 바꿉니다. 배열은 3, 4, 1, 8, 7, 6이 됩니다. 3은 피벗보다 작으므로 왼쪽에 잘 놓였고 8은 오른쪽에 잘 놓였습니다. 하지만 3, 4, 1의 순서는 아직 오름차순이 아닙니다. 분할이 하는 일은 피벗을 기준으로 구분하는 것입니다.</a:t>
            </a:r>
          </a:p>
          <a:p>
            <a:endParaRPr/>
          </a:p>
          <a:p>
            <a:r>
              <a:t>참고 영상: https://youtu.be/slL5GQNHYx8</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615025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교환 뒤 탐색을 계속합니다. L은 3, 4, 1이 모두 피벗 이하라 지나가고 8에서 멈춥니다. R은 8이 크므로 한 칸 왼쪽으로 갑니다. 이제 L은 3이고 R은 2입니다. 서로 교차했죠. 이때 다시 두 값을 교환하면 이미 구분한 구간을 망칠 수 있으니 반복문을 끝냅니다. 검사할 때마다 L이 R을 넘었는지 먼저 확인해야 배열 범위를 벗어나지 않습니다.</a:t>
            </a:r>
          </a:p>
          <a:p>
            <a:endParaRPr/>
          </a:p>
          <a:p>
            <a:r>
              <a:t>참고 영상: https://youtu.be/slL5GQNHYx8</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3864015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큰 값 구간은 L에서 시작하므로 피벗이 들어갈 곳은 L입니다. 마지막의 6과 L 위치의 8을 바꾸면 3, 4, 1, 6, 7, 8이 됩니다. 피벗 왼쪽에는 6 이하인 값만 있고 오른쪽에는 6보다 큰 값만 있습니다. 피벗은 자신의 정렬 위치를 찾았습니다. 이 위치를 반환하고 다음 재귀 호출에서는 피벗을 제외합니다.</a:t>
            </a:r>
          </a:p>
          <a:p>
            <a:endParaRPr/>
          </a:p>
          <a:p>
            <a:r>
              <a:t>참고 영상: https://youtu.be/slL5GQNHYx8</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5142818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분할이 끝났어도 왼쪽의 3, 4, 1은 아직 정렬되지 않았습니다. 가운데 값 4를 피벗으로 같은 작업을 하면 3, 1, 4가 됩니다. 남은 3, 1을 정렬하면 1, 3, 4가 되죠. 오른쪽 7, 8도 같은 재귀 함수를 거치면 됩니다. 길이가 하나 이하인 구간은 더 비교할 필요가 없어서 종료합니다. 피벗 위치를 양쪽 호출에 다시 포함하지 않는 것이 중요합니다.</a:t>
            </a:r>
          </a:p>
          <a:p>
            <a:endParaRPr/>
          </a:p>
          <a:p>
            <a:r>
              <a:t>참고 영상: https://youtu.be/slL5GQNHYx8</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3981926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그림에서 진행한 순서를 그대로 구현했습니다. 가운데 값을 마지막으로 옮기고 L과 R을 잡습니다. 왼쪽은 이하, 오른쪽은 초과 조건으로 이동합니다. and는 앞 조건이 거짓이면 뒤의 배열 접근을 하지 않으므로 L이 범위를 넘었을 때도 안전합니다. 포인터가 교차하면 끝내고, 그렇지 않으면 서로 바꿉니다. 교환 후 다음 반복에서 두 값은 자기 쪽 조건을 만족하므로 포인터가 앞으로 나갑니다. 마지막으로 피벗을 L에 놓고 그 인덱스를 반환합니다.</a:t>
            </a:r>
          </a:p>
          <a:p>
            <a:endParaRPr/>
          </a:p>
          <a:p>
            <a:r>
              <a:t>참고 영상: https://youtu.be/slL5GQNHYx8</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9802240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 슬라이드의 partition과 함께 실행합니다. lo가 hi 이상이면 빈 구간이나 한 원소 구간이라 바로 끝납니다. 분할한 뒤 피벗 위치 p를 제외하고 양쪽을 재귀 호출합니다. 머지의 Python 코드는 새 배열을 반환했지만, 이 퀵 코드는 원래 배열 a를 바꿉니다. 그래서 quick_sort의 반환값 대신 a를 출력합니다. 그림과 같은 입력이 같은 결과를 내는지도 확인해 보세요.</a:t>
            </a:r>
          </a:p>
          <a:p>
            <a:endParaRPr/>
          </a:p>
          <a:p>
            <a:r>
              <a:t>참고 영상: https://youtu.be/slL5GQNHYx8</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360864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C도 같은 가운데 피벗과 두 포인터를 씁니다. m을 lo 플러스 hi의 차이 절반으로 계산해서 덧셈이 커질 위험을 줄였습니다. swap에는 배열 원소의 주소를 전달합니다. 두 while의 범위 검사 L 이하 R을 배열 접근보다 먼저 써야 합니다. C의 논리곱도 앞 조건이 거짓이면 뒤를 실행하지 않기 때문입니다. 마지막 피벗 교환과 반환 위치가 그림의 L과 정확히 같습니다.</a:t>
            </a:r>
          </a:p>
          <a:p>
            <a:endParaRPr/>
          </a:p>
          <a:p>
            <a:r>
              <a:t>참고 영상: https://youtu.be/slL5GQNHYx8</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018972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앞의 swap과 partition을 같은 파일에 먼저 넣습니다. 정렬할 구간의 양 끝을 포함한다는 규칙은 Python과 같습니다. 배열의 크기가 n이면 처음 호출은 0부터 n 마이너스 1입니다. 재귀 호출할 때 p를 제외하므로 구간이 줄어듭니다. 아래 예제는 main 안에 넣어서 실행합니다. 반환값을 받는 것이 아니라 원래 배열의 변화로 결과를 확인합니다.</a:t>
            </a:r>
          </a:p>
          <a:p>
            <a:endParaRPr/>
          </a:p>
          <a:p>
            <a:r>
              <a:t>참고 영상: https://youtu.be/slL5GQNHYx8</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3447635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영상 예제는 값들이 다르지만 학생 코드에서는 중복도 생각해야 합니다. 우리는 같은 값을 왼쪽에 보내기로 명확히 정했습니다. 예를 들어 세 개가 모두 2이면 L이 끝까지 이동해서 반복문이 종료됩니다. 무한 반복은 생기지 않지만 피벗이 끝에 놓이므로 매번 한쪽만 줄어들어서 느려집니다. 또 빈 배열이면 hi가 마이너스 1인데, 종료 조건을 먼저 확인하므로 partition을 부르지 않습니다.</a:t>
            </a:r>
          </a:p>
          <a:p>
            <a:endParaRPr/>
          </a:p>
          <a:p>
            <a:r>
              <a:t>참고 영상: https://youtu.be/slL5GQNHYx8</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222695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한 번의 분할에서는 양쪽 포인터가 구간을 지나가므로 n에 비례합니다. 피벗이 잘 나눠주면 각 단계의 전체 작업이 n이고 단계 수가 로그 n이라 n 로그 n입니다. 반대로 계속 가장 작은 값이나 가장 큰 값을 고르면 한쪽에 n 마이너스 1개가 남습니다. n, n 마이너스 1처럼 더하면 n 제곱이 됩니다. 가운데 위치의 값을 고른다는 것은 가운데 크기의 값을 고른다는 뜻이 아닙니다. 무작위 피벗은 서로 다른 값에서 나쁜 분할이 계속될 위험을 낮추지만, 중복이 많은 입력은 별도 처리가 필요합니다.</a:t>
            </a:r>
          </a:p>
          <a:p>
            <a:endParaRPr/>
          </a:p>
          <a:p>
            <a:r>
              <a:t>참고 영상: https://youtu.be/slL5GQNHYx8</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1674731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방식의 가장 큰 차이는 나누는 기준입니다. 머지는 배열의 위치로 반씩 나누고 합칠 때 정렬합니다. 퀵은 피벗의 값을 기준으로 나누면서 피벗 자리를 확정합니다. 첫 분할만 끝났다고 전체가 정렬된 것은 아닙니다. 아까 왼쪽 3, 4, 1이 남아 있었죠. 재귀로 양쪽을 정렬해야 끝납니다. 안정성은 같은 값을 가진 원소들의 원래 순서를 유지하는 성질입니다. 현재 머지는 같은 값에서 왼쪽을 먼저 골라 유지하고, 퀵은 멀리 떨어진 값도 교환해서 보장하지 않습니다.</a:t>
            </a:r>
          </a:p>
          <a:p>
            <a:endParaRPr/>
          </a:p>
          <a:p>
            <a:r>
              <a:t>참고 영상: https://youtu.be/slL5GQNHYx8</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99823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다음은 최대 구간 합입니다. 배열에서 연속된 구간 하나를 골라 합을 가장 크게 만드는 문제예요. 단순히 양수만 골라 더할 수는 없습니다. 중간 원소를 건너뛰면 연속 구간이 아니기 때문입니다. 왼쪽과 오른쪽으로 나눈 뒤, 양쪽에 걸친 구간을 별도로 계산하는 방법을 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값이 삼, 마이너스 오, 십이, 마이너스 이, 칠, 마이너스 구로 주어졌습니다. 전체 합은 육이지만 십이부터 칠까지의 연속 구간을 선택하면 십칠이 됩니다. 중간의 마이너스 이를 포함해도 양옆의 이득이 더 크죠. 주가 예시에서는 각 값이 가격 자체가 아니라 기간별 변동분입니다. 해당 변동이 시작되기 전에 사서 구간 마지막 변동 이후에 판다고 해석하면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시작점과 끝점을 모두 바꿔가며 후보 구간을 만들면 경우의 수는 엔 제곱에 비례합니다. 각 구간 합을 처음부터 다시 더하면 엔 세제곱까지 걸릴 수 있어요. 누적합을 미리 만들거나 끝점을 늘리면서 합을 갱신해야 엔 제곱에 계산할 수 있습니다. 입력이 십만 개면 후보가 수십억 개이므로 부담스럽습니다. 이제 이 후보들을 하나씩 나열하지 않고 답을 구해보겠습니다.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가운데를 기준으로 최적 구간의 위치를 분류해보세요. 왼쪽에만 있거나, 오른쪽에만 있거나, 경계를 넘어 양쪽에 걸쳐 있습니다. 이 세 경우가 모든 가능성을 포함합니다. 왼쪽과 오른쪽 문제는 원래 문제와 같은 형태이므로 재귀 호출하면 됩니다. 남은 것은 경계를 걸친 최대 합을 계산하는 일입니다. 마지막에 세 값의 최댓값을 선택하면 어느 위치에 답이 있어도 놓치지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경계를 걸친 구간은 왼쪽의 마지막 원소 미드와 오른쪽의 첫 원소 미드 더하기 일을 모두 포함해야 합니다. 그래서 미드에서 왼쪽으로 합을 늘려가며 가장 큰 값을 찾고, 미드 더하기 일에서 오른쪽으로 같은 작업을 합니다. 각각 왼쪽의 최대 접미 구간과 오른쪽의 최대 접두 구간이에요. 둘을 연결하면 끊김 없이 경계를 걸친 구간이 되고, 두 합을 더한 값이 이 경우의 최댓값입니다.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메인 함수의 종료 조건은 로우와 하이가 같은 경우입니다. 원소 하나를 반드시 선택하는 문제이므로 그 원소 값을 반환합니다. 나머지는 중간을 계산하고 왼쪽, 오른쪽, 경계를 걸친 경우를 각각 구해요. 마지막 맥스가 세 후보를 비교합니다. 입력 배열은 비어 있지 않다고 가정합니다. 빈 배열을 허용하려면 무엇을 반환할지 먼저 정의하고 별도의 처리를 추가해야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합의 최댓값을 음의 무한대로 시작하는 이유를 보겠습니다. 전부 음수인 배열에서 영으로 시작하면 아무 원소도 고르지 않은 값을 답으로 내놓게 됩니다. 하지만 이 문제는 적어도 한 원소를 선택해야 해요. 현재 합은 영에서 시작해 원소를 더하고, 최댓값은 음의 무한대에서 갱신합니다. 오른쪽도 동일하게 처리한 뒤 두 최댓값을 더합니다. 양쪽 반복을 합쳐 구간 길이만큼만 읽습니다.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파이썬의 레인지는 끝 값을 포함하지 않습니다. 그래서 미드에서 로우까지 내려가려면 끝을 로우 마이너스 일로 써야 해요. 오른쪽은 하이를 포함하려고 하이 더하기 일을 사용했습니다. 커런트 섬은 현재까지 이어 붙인 합이고, 레프트 섬과 라이트 섬은 그 과정에서 만난 최댓값입니다. 두 변수를 혼동하면 마지막 구간의 합만 반환하게 됩니다. 반복 방향과 최댓값 갱신을 함께 확인하세요.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메인 코드에서도 두 재귀 호출과 경계를 걸친 합을 구하는 호출이 구분됩니다. 예제 배열에서는 십이, 마이너스 이, 칠을 합한 십칠이 정답입니다. 함수는 합만 반환하므로 구간의 시작과 끝도 필요하면 인덱스를 함께 저장해야 해요. 전부 음수인 입력에서도 가장 덜 작은 음수를 반환하는지 확인하면 종료 조건과 초기값이 올바른지 점검할 수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인덱스로 가운데를 정하는 비용은 상수 시간입니다. 두 절반을 재귀적으로 풀고, 경계를 걸친 합을 계산할 때 구간을 한 번 훑습니다. 따라서 합병 정렬과 같은 점화식이 나옵니다. 전체 시간은 엔 로그 엔이에요. 이 문제에는 카데인 알고리즘이라는 선형 시간 풀이도 있습니다. 지금은 가장 빠른 풀이를 외우기보다 세 경우로 나누어 빠짐없이 결합하는 사고를 익히는 데 집중하겠습니다.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배열 대신 평면에 있는 점들을 다룹니다. 점 전체에서 가장 가까운 두 점의 거리를 찾는 문제예요. 각 절반 안에서 답을 구하는 것은 재귀 호출로 맡길 수 있습니다. 어려운 부분은 왼쪽 점 하나와 오른쪽 점 하나가 더 가까울 가능성을 처리하는 일입니다. 앞의 최대 구간 합과 같은 결합 문제가 다른 모습으로 등장합니다.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최근접 쌍은 전체 점 중에서 두 점을 고르는 문제입니다. 특정 위치에서 가장 가까운 시설 하나를 찾는 최근접 이웃 문제와는 입력과 목표가 조금 달라요. 여기서는 평면의 유클리드 거리를 사용하겠습니다. 실제 항공 충돌 예측에는 고도와 속도, 이동 방향도 필요하지만, 이 예제는 위치 사이의 거리 계산에 집중합니다. 두 점의 좌표 차이로 거리를 구하는 것부터 시작하겠습니다.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아이보다 큰 제이만 비교하므로 같은 점끼리 비교하지 않고, 같은 쌍을 두 번 세지도 않습니다. 쌍의 개수는 엔 곱하기 엔 마이너스 일 나누기 이입니다. 디스턴스 함수의 하이폿은 가로와 세로 차이로 직선거리를 계산합니다. 최솟값은 양의 무한대로 초기화해요. 점이 두 개보다 적으면 이 코드는 무한대를 반환합니다. 완전 탐색은 작은 입력에서 정답을 검증하는 기준으로도 유용합니다.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먼저 엑스 좌표로 정렬하고 점의 개수가 비슷하도록 양쪽을 나눕니다. 각 절반의 최소 거리 중 작은 값을 디라고 하겠습니다. 전체 정답이 디보다 작으려면 두 점이 서로 다른 절반에 있어야 합니다. 각 절반 안의 더 가까운 쌍은 이미 재귀 호출이 찾았기 때문이죠. 이제 경계를 넘어서는 쌍 중에서 디보다 가까운 것만 추가로 찾으면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경계에서 수평으로 디 이상 떨어진 점은 반대편 점과 디보다 가까워질 수 없습니다. 그래서 폭이 이 디인 띠 안으로 후보를 줄입니다. 다음에는 와이 좌표로 정렬해 위아래 거리도 디보다 작은 후보만 비교합니다. 엑스 방향과 와이 방향에서 각각 불가능한 쌍을 제거하는 셈이에요. 다만 띠에 점이 많을 수 있으므로, 이것만으로 선형 시간이라고 결론 내리면 안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각 절반 안에서는 이미 최소 거리가 디 이상이라는 사실을 이용합니다. 경계의 양쪽에 있는 디 곱하기 디 영역을 작은 정사각형으로 나누면, 같은 절반의 작은 칸 안에 두 점이 들어갈 수 없습니다. 그 칸의 대각선이 디보다 짧기 때문입니다. 이 배치 조건으로 현재 점 다음의 최대 일곱 점만 비교해도 충분하다는 상수 개수 제한이 나옵니다. 단순히 띠에 점이 적다고 가정한 결과가 아닙니다.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코드는 점이 세 개 이하면 완전 탐색을 사용합니다. 그보다 크면 엑스 순서의 리스트를 반으로 나누고 양쪽 최소 거리를 구해요. 띠를 만든 뒤 와이 좌표로 정렬하고 다음 일곱 점까지 비교합니다. 레인지의 끝은 제외되므로 아이 더하기 팔을 써야 일곱 개가 포함됩니다. 이 간단한 구현은 재귀 호출마다 띠를 다시 정렬합니다. 따라서 전체 시간은 오 엔 로그 제곱 엔입니다. 와이 정렬 순서를 선형 시간에 전달하면 오 엔 로그 엔으로 개선할 수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예제에서 이, 삼인 점과 삼, 사인 점의 거리는 루트 이입니다. 코드의 출력인 약 일 점 사일사가 그 값이에요. 시간 분석에서는 화면의 구현이 매 단계 스트립을 정렬한다는 점을 포함해야 합니다. 결합 비용은 최악에 엔 로그 엔이고, 전체는 엔 로그 제곱 엔입니다. 이론적인 엔 로그 엔 알고리즘은 처음에 와이 순서도 준비하고 재귀마다 그 순서를 유지해야 합니다. 비교 횟수가 상수라는 사실만으로 정렬 비용까지 사라지지는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공간을 네 부분으로 나누는 쿼드 트리입니다. 정사각형 영역에 같은 값만 있다면 하나의 값으로 표현하고, 값이 섞여 있으면 네 영역을 각각 표현합니다. 이번에는 네 부분의 답을 트리나 문자열로 묶어서 전체 영역을 나타내겠습니다. 최솟값을 찾는 문제는 아니지만, 작은 문제 여러 개를 풀고 결합한다는 구조는 같습니다.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영역의 데이터가 균일한지 먼저 확인합니다. 모두 같은 색이면 더 나누지 않고 리프 노드 하나로 표현해요. 섞여 있으면 좌상, 우상, 좌하, 우하로 나눠 같은 검사를 반복합니다. 한 변은 절반이 되고 넓이는 사분의 일이 됩니다. 이 둘을 구분하세요. 여기서는 한 변 길이가 이의 거듭제곱인 정사각형을 가정하므로 한 칸에 도달하면 반드시 종료합니다.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이미지에서 영은 흰색, 일은 검은색이라고 약속하겠습니다. 큰 영역이 전부 영이면 픽셀을 모두 기록하는 대신 영 한 글자로 표현합니다. 색이 섞인 영역은 괄호 안에 네 하위 영역의 표현을 정해진 순서로 적어요. 읽는 쪽도 같은 순서를 알아야 원래 위치를 복원할 수 있습니다. 균일한 부분이 많으면 표현이 짧아지지만, 무늬가 복잡하면 괄호 때문에 오히려 길어질 수도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의사코드의 첫 반복문은 기준 색과 다른 값이 있는지 검사합니다. 균일하면 값을 가진 리프를 반환하고, 그렇지 않으면 내부 노드를 만든 뒤 네 자식에 재귀 결과를 연결합니다. 이 코드에서 엑스는 행, 와이는 열로 사용하고 있어요. 우상은 열에 하프를 더하고 좌하는 행에 하프를 더합니다. 한 변이 매번 절반이 되므로 루트에서 한 칸까지 내려가는 깊이는 로그 투 사이즈입니다.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 코드는 노드 대신 문자열을 반환합니다. 다른 색을 만나면 안쪽 반복을 빠져나오고, 플래그를 확인해 바깥 반복도 멈춥니다. 균일하면 색 한 글자를, 아니면 괄호로 묶은 네 재귀 결과를 반환해요. 예제는 좌상 영, 우상 일, 좌하의 섞인 영역, 우하 영 순서입니다. 출력 문자열의 각 괄호는 한 번의 분할을 뜻합니다. 문자 수와 픽셀 수 비교는 표현 길이의 예시이며 실제 파일의 바이트 압축률과 같지는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객체 천 개의 모든 쌍을 검사하면 한 프레임에 거의 오십만 쌍을 비교하게 됩니다. 쿼드 트리로 공간을 나누면 멀리 떨어진 객체를 후보에서 제외할 수 있어요. 다만 같은 노드 안의 객체끼리만 무조건 비교하면 경계를 걸친 충돌을 놓칩니다. 객체의 크기를 고려해 겹치는 이웃 영역도 질의하거나, 여러 영역에 걸친 객체를 상위 노드에서 관리해야 합니다. 공간 분할은 실제 충돌 검사를 하기 전 후보를 줄이는 단계입니다.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엘오디는 거리에 따라 표현의 세밀함을 조절하는 방법입니다. 가까운 지형은 세밀하게, 먼 지형은 크게 묶어서 표현할 수 있어요. 쿼드 트리는 이런 계층적인 지형 구역을 관리하는 데 활용할 수 있습니다. 다만 모든 엘오디가 쿼드 트리를 사용하는 것은 아니고, 트리만 만든다고 텍스처 해상도가 자동으로 바뀌지도 않습니다. 화면에서 필요한 세밀함을 판단하고 알맞은 표현을 선택하는 로직이 함께 필요합니다.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 재귀 트리의 층 수와 각 층의 비용을 더해서 시간을 구했습니다. 이제 일정한 형태의 점화식에는 그 계산을 정리한 마스터 정리를 적용해보겠습니다. 편리한 도구지만 모든 점화식을 풀어주지는 않습니다. 식이 적용 형태에 맞는지, 각 경우의 조건을 만족하는지 먼저 확인해야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티 엔은 에이 곱하기 티 엔 나누기 비 더하기 에프 엔의 형태입니다. 에이는 재귀 호출 개수이고, 비는 문제 크기가 줄어드는 비율입니다. 에프 엔은 현재 호출에서 직접 하는 분할과 결합 작업이에요. 에이는 일 이상, 비는 일보다 큰 상수라고 가정합니다. 호출마다 크기가 제각각이거나 엔 마이너스 일로 줄어드는 식에는 이 기본 형태를 그대로 적용할 수 없습니다.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비교 기준은 엔의 로그 비 에이 승입니다. 에프 엔이 이 기준보다 다항식 차이로 작으면 첫 번째 경우, 같은 차수면 두 번째 경우입니다. 더 크면 세 번째 경우를 검토하는데, 이때는 아래 단계의 비용이 일정 비율 이하가 되는 정규성 조건도 필요합니다. 단순히 조금 크거나 작다는 이유만으로 선택하면 안 됩니다. 합병 정렬과 최대 구간 합은 둘 다 엔 차수의 결합 비용이므로 두 번째 경우에 해당합니다.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이진 탐색은 절반 중 한쪽만 호출하므로 에이는 일, 비는 이입니다. 인덱스 계산과 비교, 경계 갱신이 상수 시간이어서 에프 엔도 상수입니다. 기준값은 엔의 영 승, 즉 일입니다. 에프 엔과 같은 차수이므로 두 번째 경우를 적용해 로그 엔을 얻습니다. 이 분석은 인덱스로 범위를 좁히는 구현입니다. 매번 배열을 복사하는 슬라이싱 구현이라면 그 비용도 포함해야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합병 정렬에서는 에이가 이, 비가 이이므로 기준값은 엔입니다. 병합 비용 역시 엔에 비례하니 두 번째 경우입니다. 따라서 기준값 엔에 로그 엔이 한 번 곱해집니다. 같은 식을 재귀 트리로 풀었을 때의 결과와 일치하죠. 정리를 사용하더라도 에프 엔이 왜 선형인지 설명할 수 있어야 합니다. 두 정렬된 조각의 각 원소를 한 번씩 꺼내기 때문입니다.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표를 볼 때 최종 시간만 외우지 말고 재귀 호출 수와 결합 비용을 먼저 읽어보세요. 같은 크기로 나누더라도 호출을 한 번 하느냐 두 번 하느냐에 따라 결과가 달라집니다. 최근접 쌍의 엔 로그 엔 결과는 와이 정렬을 유지하는 구현에 해당합니다. 다음 두 알고리즘은 덧셈을 조금 늘리는 대신 비싼 곱셈 재귀 호출을 줄입니다. 점화식의 에이를 줄였을 때 지수가 어떻게 달라지는지 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카라츠바는 큰 정수의 곱셈을 빠르게 하는 방법입니다. 두 수를 앞부분과 뒷부분으로 나누면 보통 네 번의 작은 곱셈이 필요합니다. 그런데 전개식을 조금 바꾸면 세 번만 곱하고도 같은 결과를 얻을 수 있어요. 이번에는 입력 크기 엔이 정수의 값이 아니라 자릿수라는 점을 기억해주세요.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천이백삼십사는 십이 곱하기 백 더하기 삼십사로 나눌 수 있습니다. 같은 방법으로 두 수를 나누고 곱을 전개하면 앞끼리, 뒤끼리, 서로 교차하는 두 곱이 나옵니다. 절반 크기 곱셈을 네 번 하므로 점화식은 사 티 엔 나누기 이 더하기 오 엔입니다. 이대로는 엔 제곱 시간이어서 일반적인 자릿수 곱셈과 차수가 같습니다. 나누는 것만으로는 개선되지 않는 예입니다.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앞부분의 곱을 에이, 뒷부분의 곱을 비라고 하겠습니다. 두 수의 앞뒤를 각각 더한 뒤 곱하면 에이와 비, 그리고 필요한 두 교차항의 합이 한꺼번에 나옵니다. 여기서 이미 구한 에이와 비를 빼면 교차항만 남아요. 그래서 앞끼리 한 번, 뒤끼리 한 번, 합끼리 한 번, 총 세 번 곱하면 됩니다. 절약한 곱셈 대신 덧셈과 뺄셈이 늘어나는 구조입니다.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의사코드에서는 먼저 자릿수가 작으면 직접 곱합니다. 그렇지 않으면 앞과 뒤를 나누고 재귀 호출을 세 번 수행해요. 제트 원 로에서 제트 투와 제트 영을 빼 중간 계수를 만들고, 마지막에 십의 거듭제곱을 곱해 자리 위치를 맞춥니다. 분할 자릿수는 정수로 정해야 합니다. 실제 구현에서는 아주 작은 수까지 재귀 호출하기보다 적당한 크기에서 기본 곱셈으로 전환하며, 전환 기준은 환경에 따라 달라집니다.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파이썬에서 십의 엠 승으로 나눈 몫은 앞부분, 나머지는 뒷부분입니다. 에이와 비, 섬 프로드가 세 재귀 호출의 결과예요. 미드는 섬 프로드에서 에이와 비를 뺀 값이고, 마지막 식이 자릿수를 맞춰 결과를 합칩니다. 예제의 두 큰 정수를 곱한 값은 일반 곱셈과 같아야 합니다. 이 코드는 원리를 보여주는 비음수 정수용 예제입니다. 파이썬 내장 곱셈보다 항상 빠르다고 해석하지는 마세요.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카라츠바의 에이는 삼이고 비는 이입니다. 기준값은 엔의 로그 투 삼 승으로, 지수가 약 일 점 오팔오입니다. 자릿수 덧셈 비용인 엔보다 기준값이 다항식 차이로 크므로 첫 번째 경우를 적용합니다. 화면의 자릿수 비교는 성장률의 차이를 보여주는 계산입니다. 상수와 구현 비용을 생략했으므로 실제 실행 시간이 그 배수로 빨라진다는 측정 결과는 아닙니다. 큰 입력에서 지수 차이가 커진다는 점을 보세요.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스트라센은 같은 발상을 행렬 곱셈에 적용합니다. 행렬을 네 블록으로 나누면 표준 방식은 여덟 번의 작은 행렬 곱셈을 합니다. 스트라센은 이를 일곱 번으로 줄여요. 여기서는 엔이 행렬 한 변의 길이이고, 행렬 덧셈 비용이 엔 제곱이라는 점이 앞의 정수 곱셈과 다릅니다.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결과의 각 블록은 두 블록 곱의 합입니다. 예를 들어 씨 일일은 에이 일일 곱하기 비 일일에 에이 일이 곱하기 비 이일을 더합니다. 결과 블록이 네 개이고 각각 두 번 곱하므로 재귀 곱셈은 여덟 번입니다. 덧셈에는 엔 제곱 시간이 듭니다. 마스터 정리의 기준값이 엔 세제곱이므로 기존의 세 겹 반복문과 같은 차수입니다. 단순히 블록으로 나누는 것만으로는 빨라지지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화면에는 일곱 개의 중간 곱과 결과를 조립하는 식이 있습니다. 지금은 일곱 식을 통째로 외우기보다 각각을 전개했을 때 불필요한 항이 서로 지워진다는 원리를 보겠습니다. 예를 들어 씨 일이에 엠 삼과 엠 오를 더하면 중간의 반대 부호 항이 사라지고 필요한 두 곱만 남습니다. 행렬 곱은 순서를 바꿀 수 없으므로 식의 좌우 순서를 그대로 지켜야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재귀 호출이 일곱 번이므로 기준값의 지수는 로그 투 칠, 약 이 점 팔영칠입니다. 덧셈 비용 엔 제곱보다 크기 때문에 전체는 엔의 이 점 팔영칠 승 차수입니다. 카라츠바와 마찬가지로 비싼 재귀 곱셈을 덧셈으로 대체했습니다. 다만 작은 행렬에서는 추가 덧셈과 메모리 비용 때문에 느릴 수 있고, 실수 계산에서는 오차도 고려해야 합니다. 차수 개선과 실제 성능 판단을 구분하세요.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앞에서 본 구조를 두 문제에 적용하겠습니다. 색종이 만들기는 균일한 영역을 멈추고 나머지를 네 부분으로 나누는 문제입니다. 거듭제곱 나머지는 절반 지수의 답을 한 번 구해 재사용하는 문제예요. 먼저 종료 조건과 반환값을 말로 정리한 다음 코드를 읽어보겠습니다.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색종이는 모든 칸이 같은 색이 될 때까지 네 등분합니다. 같은 색이 확인되면 그 영역은 한 장으로 세고 더 자르지 않습니다. 칸 수를 세는 것이 아니라 최종 종이 조각 수를 세는 거예요. 입력의 영은 흰색, 일은 파란색입니다. 흑백 도식에서는 파란 영역을 짙은 회색으로 구분합니다. 한 변이 이의 거듭제곱이므로 한 칸에 도달하면 반드시 균일해집니다.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영역에서 다른 색을 발견하면 곧바로 네 재귀 호출을 하고 반환합니다. 이 리턴이 없으면 분할한 영역을 또 한 장으로 세어버립니다. 반복문을 끝까지 통과했다면 균일하다는 뜻이므로 해당 색의 카운트를 하나 올립니다. 실행 전에 페이퍼에 전체 입력 배열을 저장하고 두 카운트를 영으로 초기화해야 합니다. 예제 입력을 사용하면 흰색 아홉 장, 파란색 일곱 장이 나옵니다.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지수가 수십억이면 한 번씩 곱하는 반복문은 너무 오래 걸립니다. 지수를 절반으로 줄여 계산한 값을 제곱하고, 홀수일 때만 에이를 한 번 더 곱하겠습니다. 매번 씨로 나눈 나머지만 유지해도 최종 나머지는 같습니다. 약 서른한 번이라는 수는 축소 단계 수이고, 실제 곱셈은 한 단계에 한두 번입니다. 절반 결과를 한 번만 계산하므로 재귀 호출도 단계마다 하나입니다.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비가 영이면 일 모드 씨를 반환합니다. 씨가 일인 경우까지 일관되게 처리하기 위한 기본값입니다. 하프를 한 번 구하고 제곱한 뒤 나머지를 계산해요. 비가 홀수면 에이를 한 번 더 곱합니다. 예제 지수는 십일, 오, 이, 일, 영 순서로 줄고, 돌아오면서 나머지가 계산되어 최종 사가 됩니다. 씨는 양수라고 가정합니다. 큰 수 연산의 비트 비용을 별도로 세지 않는 모델에서 단계 수는 로그 비입니다.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장의 공통 구조를 다시 보겠습니다. 하위 문제들을 풀고 나서 결합이 모든 경우를 포함해야 합니다. 최대 구간 합과 최근접 쌍은 경계를 걸친 경우가 핵심이었고, 쿼드 트리는 영역 표현을 합쳤습니다. 마스터 정리는 조건에 맞는 점화식을 정리하는 도구입니다. 카라츠바와 스트라센은 재귀 호출 수를 줄여 지수를 낮췄습니다. 코드와 복잡도를 연결할 때는 복사와 정렬처럼 숨어 있는 비용도 꼭 포함하세요.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여기까지 분할 정복을 마치겠습니다. 스스로 확인할 질문은 이겁니다. 지금 코드를 나누기, 재귀 호출, 결합으로 구분할 수 있나요? 또 결합에서 빠뜨린 경우가 없는 이유를 설명할 수 있나요? 막히는 예제가 있다면 작은 입력 두세 개로 호출과 반환을 따라가보세요. 다음 장에서는 여러 후보를 끝까지 비교하지 않고 현재의 선택을 확정하는 그리디 알고리즘을 배우겠습니다.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0096590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4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68CFB8C8-6264-4320-87E9-5C33E726479D}"/>
              </a:ext>
            </a:extLst>
          </p:cNvPr>
          <p:cNvSpPr>
            <a:spLocks noGrp="1"/>
          </p:cNvSpPr>
          <p:nvPr/>
        </p:nvSpPr>
        <p:spPr>
          <a:xfrm>
            <a:off x="609600" y="514350"/>
            <a:ext cx="9525000" cy="304800"/>
          </a:xfrm>
          <a:prstGeom prst="rect">
            <a:avLst/>
          </a:prstGeom>
          <a:noFill/>
          <a:ln w="0">
            <a:noFill/>
          </a:ln>
        </p:spPr>
        <p:txBody>
          <a:bodyPr wrap="square" lIns="0" tIns="0" rIns="0" bIns="0" anchor="t">
            <a:noAutofit/>
          </a:bodyPr>
          <a:lstStyle/>
          <a:p>
            <a:pPr algn="l">
              <a:lnSpc>
                <a:spcPct val="104000"/>
              </a:lnSpc>
              <a:buNone/>
              <a:defRPr sz="1200" b="0" i="0">
                <a:solidFill>
                  <a:srgbClr val="BBBBBB"/>
                </a:solidFill>
                <a:latin typeface="Malgun Gothic"/>
                <a:ea typeface="Malgun Gothic"/>
                <a:cs typeface="Malgun Gothic"/>
              </a:defRPr>
            </a:pPr>
            <a:r>
              <a:rPr sz="1200" b="0" i="0">
                <a:solidFill>
                  <a:srgbClr val="BBBBBB"/>
                </a:solidFill>
                <a:latin typeface="Malgun Gothic"/>
                <a:ea typeface="Malgun Gothic"/>
                <a:cs typeface="Malgun Gothic"/>
              </a:rPr>
              <a:t>그림으로 쉽게 설명하는 파이썬 알고리즘</a:t>
            </a:r>
          </a:p>
        </p:txBody>
      </p:sp>
      <p:sp>
        <p:nvSpPr>
          <p:cNvPr id="2" name="직사각형 1">
            <a:extLst>
              <a:ext uri="{FF2B5EF4-FFF2-40B4-BE49-F238E27FC236}">
                <a16:creationId xmlns:a16="http://schemas.microsoft.com/office/drawing/2014/main" id="{9703A760-82F3-4A09-B876-F9C81DD31A97}"/>
              </a:ext>
            </a:extLst>
          </p:cNvPr>
          <p:cNvSpPr>
            <a:spLocks noGrp="1"/>
          </p:cNvSpPr>
          <p:nvPr/>
        </p:nvSpPr>
        <p:spPr>
          <a:xfrm>
            <a:off x="609600" y="1057275"/>
            <a:ext cx="10972800" cy="9525"/>
          </a:xfrm>
          <a:prstGeom prst="rect">
            <a:avLst/>
          </a:prstGeom>
          <a:solidFill>
            <a:srgbClr val="505050"/>
          </a:solidFill>
          <a:ln w="0">
            <a:noFill/>
          </a:ln>
        </p:spPr>
      </p:sp>
      <p:sp>
        <p:nvSpPr>
          <p:cNvPr id="3" name="직사각형 2">
            <a:extLst>
              <a:ext uri="{FF2B5EF4-FFF2-40B4-BE49-F238E27FC236}">
                <a16:creationId xmlns:a16="http://schemas.microsoft.com/office/drawing/2014/main" id="{333AD70F-2C67-40C7-9EC9-3001A0A7B28C}"/>
              </a:ext>
            </a:extLst>
          </p:cNvPr>
          <p:cNvSpPr>
            <a:spLocks noGrp="1"/>
          </p:cNvSpPr>
          <p:nvPr/>
        </p:nvSpPr>
        <p:spPr>
          <a:xfrm>
            <a:off x="609600" y="1943100"/>
            <a:ext cx="10001250" cy="819150"/>
          </a:xfrm>
          <a:prstGeom prst="rect">
            <a:avLst/>
          </a:prstGeom>
          <a:noFill/>
          <a:ln w="0">
            <a:noFill/>
          </a:ln>
        </p:spPr>
        <p:txBody>
          <a:bodyPr wrap="square" lIns="0" tIns="0" rIns="0" bIns="0" anchor="t">
            <a:noAutofit/>
          </a:bodyPr>
          <a:lstStyle/>
          <a:p>
            <a:pPr algn="l">
              <a:lnSpc>
                <a:spcPct val="104000"/>
              </a:lnSpc>
              <a:buNone/>
              <a:defRPr sz="5100" b="1" i="0">
                <a:solidFill>
                  <a:srgbClr val="FFFFFF"/>
                </a:solidFill>
                <a:latin typeface="Malgun Gothic"/>
                <a:ea typeface="Malgun Gothic"/>
                <a:cs typeface="Malgun Gothic"/>
              </a:defRPr>
            </a:pPr>
            <a:r>
              <a:rPr sz="5100" b="1" i="0">
                <a:solidFill>
                  <a:srgbClr val="FFFFFF"/>
                </a:solidFill>
                <a:latin typeface="Malgun Gothic"/>
                <a:ea typeface="Malgun Gothic"/>
                <a:cs typeface="Malgun Gothic"/>
              </a:rPr>
              <a:t>4장</a:t>
            </a:r>
          </a:p>
        </p:txBody>
      </p:sp>
      <p:sp>
        <p:nvSpPr>
          <p:cNvPr id="4" name="직사각형 3">
            <a:extLst>
              <a:ext uri="{FF2B5EF4-FFF2-40B4-BE49-F238E27FC236}">
                <a16:creationId xmlns:a16="http://schemas.microsoft.com/office/drawing/2014/main" id="{7EFC275A-CEF7-4D13-A3A4-47CFCE8A1D81}"/>
              </a:ext>
            </a:extLst>
          </p:cNvPr>
          <p:cNvSpPr>
            <a:spLocks noGrp="1"/>
          </p:cNvSpPr>
          <p:nvPr/>
        </p:nvSpPr>
        <p:spPr>
          <a:xfrm>
            <a:off x="609600" y="3105150"/>
            <a:ext cx="10972800" cy="952500"/>
          </a:xfrm>
          <a:prstGeom prst="rect">
            <a:avLst/>
          </a:prstGeom>
          <a:noFill/>
          <a:ln w="0">
            <a:noFill/>
          </a:ln>
        </p:spPr>
        <p:txBody>
          <a:bodyPr wrap="square" lIns="0" tIns="0" rIns="0" bIns="0" anchor="t">
            <a:noAutofit/>
          </a:bodyPr>
          <a:lstStyle/>
          <a:p>
            <a:pPr algn="l">
              <a:lnSpc>
                <a:spcPct val="104000"/>
              </a:lnSpc>
              <a:buNone/>
              <a:defRPr sz="5100" b="1" i="0">
                <a:solidFill>
                  <a:srgbClr val="FFFFFF"/>
                </a:solidFill>
                <a:latin typeface="Malgun Gothic"/>
                <a:ea typeface="Malgun Gothic"/>
                <a:cs typeface="Malgun Gothic"/>
              </a:defRPr>
            </a:pPr>
            <a:r>
              <a:rPr sz="5100" b="1" i="0">
                <a:solidFill>
                  <a:srgbClr val="FFFFFF"/>
                </a:solidFill>
                <a:latin typeface="Malgun Gothic"/>
                <a:ea typeface="Malgun Gothic"/>
                <a:cs typeface="Malgun Gothic"/>
              </a:rPr>
              <a:t>분할 정복 기법</a:t>
            </a:r>
          </a:p>
        </p:txBody>
      </p:sp>
      <p:sp>
        <p:nvSpPr>
          <p:cNvPr id="5" name="직사각형 4">
            <a:extLst>
              <a:ext uri="{FF2B5EF4-FFF2-40B4-BE49-F238E27FC236}">
                <a16:creationId xmlns:a16="http://schemas.microsoft.com/office/drawing/2014/main" id="{A82BC040-BCEC-4E7E-85FC-7771AA8A831D}"/>
              </a:ext>
            </a:extLst>
          </p:cNvPr>
          <p:cNvSpPr>
            <a:spLocks noGrp="1"/>
          </p:cNvSpPr>
          <p:nvPr/>
        </p:nvSpPr>
        <p:spPr>
          <a:xfrm>
            <a:off x="647700" y="4648200"/>
            <a:ext cx="10287000" cy="400050"/>
          </a:xfrm>
          <a:prstGeom prst="rect">
            <a:avLst/>
          </a:prstGeom>
          <a:noFill/>
          <a:ln w="0">
            <a:noFill/>
          </a:ln>
        </p:spPr>
        <p:txBody>
          <a:bodyPr wrap="square" lIns="0" tIns="0" rIns="0" bIns="0" anchor="t">
            <a:noAutofit/>
          </a:bodyPr>
          <a:lstStyle/>
          <a:p>
            <a:pPr algn="l">
              <a:lnSpc>
                <a:spcPct val="104000"/>
              </a:lnSpc>
              <a:buNone/>
              <a:defRPr sz="1875" b="0" i="0">
                <a:solidFill>
                  <a:srgbClr val="BBBBBB"/>
                </a:solidFill>
                <a:latin typeface="Consolas"/>
                <a:ea typeface="Consolas"/>
                <a:cs typeface="Consolas"/>
              </a:defRPr>
            </a:pPr>
            <a:r>
              <a:rPr sz="1875" b="0" i="0">
                <a:solidFill>
                  <a:srgbClr val="BBBBBB"/>
                </a:solidFill>
                <a:latin typeface="Consolas"/>
                <a:ea typeface="Consolas"/>
                <a:cs typeface="Consolas"/>
              </a:rPr>
              <a:t>DIVIDE AND CONQUER</a:t>
            </a:r>
          </a:p>
        </p:txBody>
      </p:sp>
      <p:sp>
        <p:nvSpPr>
          <p:cNvPr id="6" name="직사각형 5">
            <a:extLst>
              <a:ext uri="{FF2B5EF4-FFF2-40B4-BE49-F238E27FC236}">
                <a16:creationId xmlns:a16="http://schemas.microsoft.com/office/drawing/2014/main" id="{D5AD2507-CD92-4302-8FA6-829176CCD3F5}"/>
              </a:ext>
            </a:extLst>
          </p:cNvPr>
          <p:cNvSpPr>
            <a:spLocks noGrp="1"/>
          </p:cNvSpPr>
          <p:nvPr/>
        </p:nvSpPr>
        <p:spPr>
          <a:xfrm>
            <a:off x="647700" y="5295900"/>
            <a:ext cx="10477500" cy="628650"/>
          </a:xfrm>
          <a:prstGeom prst="rect">
            <a:avLst/>
          </a:prstGeom>
          <a:noFill/>
          <a:ln w="0">
            <a:noFill/>
          </a:ln>
        </p:spPr>
        <p:txBody>
          <a:bodyPr wrap="square" lIns="0" tIns="0" rIns="0" bIns="0" anchor="t">
            <a:noAutofit/>
          </a:bodyPr>
          <a:lstStyle/>
          <a:p>
            <a:pPr algn="l">
              <a:lnSpc>
                <a:spcPct val="104000"/>
              </a:lnSpc>
              <a:buNone/>
              <a:defRPr sz="1575" b="0" i="0">
                <a:solidFill>
                  <a:srgbClr val="BBBBBB"/>
                </a:solidFill>
                <a:latin typeface="Malgun Gothic"/>
                <a:ea typeface="Malgun Gothic"/>
                <a:cs typeface="Malgun Gothic"/>
              </a:defRPr>
            </a:pPr>
            <a:r>
              <a:rPr sz="1575" b="0" i="0">
                <a:solidFill>
                  <a:srgbClr val="BBBBBB"/>
                </a:solidFill>
                <a:latin typeface="Malgun Gothic"/>
                <a:ea typeface="Malgun Gothic"/>
                <a:cs typeface="Malgun Gothic"/>
              </a:rPr>
              <a:t>큰 문제를 잘게 쪼개어 정복하고, 다시 하나로 합친다</a:t>
            </a:r>
          </a:p>
        </p:txBody>
      </p:sp>
      <p:sp>
        <p:nvSpPr>
          <p:cNvPr id="7" name="직사각형 6">
            <a:extLst>
              <a:ext uri="{FF2B5EF4-FFF2-40B4-BE49-F238E27FC236}">
                <a16:creationId xmlns:a16="http://schemas.microsoft.com/office/drawing/2014/main" id="{E682CE22-A429-4BDB-9EFD-6289BE29CEDC}"/>
              </a:ext>
            </a:extLst>
          </p:cNvPr>
          <p:cNvSpPr>
            <a:spLocks noGrp="1"/>
          </p:cNvSpPr>
          <p:nvPr/>
        </p:nvSpPr>
        <p:spPr>
          <a:xfrm>
            <a:off x="609600" y="6438900"/>
            <a:ext cx="10972800" cy="9525"/>
          </a:xfrm>
          <a:prstGeom prst="rect">
            <a:avLst/>
          </a:prstGeom>
          <a:solidFill>
            <a:srgbClr val="505050"/>
          </a:solidFill>
          <a:ln w="0">
            <a:noFill/>
          </a:ln>
        </p:spPr>
      </p:sp>
      <p:sp>
        <p:nvSpPr>
          <p:cNvPr id="8" name="직사각형 7">
            <a:extLst>
              <a:ext uri="{FF2B5EF4-FFF2-40B4-BE49-F238E27FC236}">
                <a16:creationId xmlns:a16="http://schemas.microsoft.com/office/drawing/2014/main" id="{ECEC9CC7-95E7-43C7-9D75-E0AA3C2CEAA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9" name="직사각형 8">
            <a:extLst>
              <a:ext uri="{FF2B5EF4-FFF2-40B4-BE49-F238E27FC236}">
                <a16:creationId xmlns:a16="http://schemas.microsoft.com/office/drawing/2014/main" id="{476704E3-08B1-4EB8-A67B-01C5BF22E98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01</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8294859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1" name="직사각형 40">
            <a:extLst>
              <a:ext uri="{FF2B5EF4-FFF2-40B4-BE49-F238E27FC236}">
                <a16:creationId xmlns:a16="http://schemas.microsoft.com/office/drawing/2014/main" id="{BDBCEF49-BD0F-496D-9A85-37995F2EE8A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CHAPTER 04</a:t>
            </a:r>
          </a:p>
        </p:txBody>
      </p:sp>
      <p:sp>
        <p:nvSpPr>
          <p:cNvPr id="2" name="직사각형 1">
            <a:extLst>
              <a:ext uri="{FF2B5EF4-FFF2-40B4-BE49-F238E27FC236}">
                <a16:creationId xmlns:a16="http://schemas.microsoft.com/office/drawing/2014/main" id="{E2A341B3-1A72-4C93-B2E1-14A2F19A4D37}"/>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직사각형 2">
            <a:extLst>
              <a:ext uri="{FF2B5EF4-FFF2-40B4-BE49-F238E27FC236}">
                <a16:creationId xmlns:a16="http://schemas.microsoft.com/office/drawing/2014/main" id="{BCBAFF07-5EBF-43F8-A2E0-2831B58BB4FB}"/>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이번 장에서 배울 내용</a:t>
            </a:r>
          </a:p>
        </p:txBody>
      </p:sp>
      <p:sp>
        <p:nvSpPr>
          <p:cNvPr id="4" name="직사각형 3">
            <a:extLst>
              <a:ext uri="{FF2B5EF4-FFF2-40B4-BE49-F238E27FC236}">
                <a16:creationId xmlns:a16="http://schemas.microsoft.com/office/drawing/2014/main" id="{7B46D186-B386-45D0-8BF2-8C8B8822ED43}"/>
              </a:ext>
            </a:extLst>
          </p:cNvPr>
          <p:cNvSpPr>
            <a:spLocks noGrp="1"/>
          </p:cNvSpPr>
          <p:nvPr/>
        </p:nvSpPr>
        <p:spPr>
          <a:xfrm>
            <a:off x="609600" y="1381125"/>
            <a:ext cx="10972800" cy="19050"/>
          </a:xfrm>
          <a:prstGeom prst="rect">
            <a:avLst/>
          </a:prstGeom>
          <a:solidFill>
            <a:srgbClr val="171717"/>
          </a:solidFill>
          <a:ln w="0">
            <a:noFill/>
          </a:ln>
        </p:spPr>
      </p:sp>
      <p:sp>
        <p:nvSpPr>
          <p:cNvPr id="38" name="직사각형 37">
            <a:extLst>
              <a:ext uri="{FF2B5EF4-FFF2-40B4-BE49-F238E27FC236}">
                <a16:creationId xmlns:a16="http://schemas.microsoft.com/office/drawing/2014/main" id="{9DE3F90A-F584-4C18-AB98-532574AE2E35}"/>
              </a:ext>
            </a:extLst>
          </p:cNvPr>
          <p:cNvSpPr>
            <a:spLocks noGrp="1"/>
          </p:cNvSpPr>
          <p:nvPr/>
        </p:nvSpPr>
        <p:spPr>
          <a:xfrm>
            <a:off x="609600" y="6438900"/>
            <a:ext cx="10972800"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14656CA3-EA7B-486E-9825-0AE3BA3D81E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0" name="직사각형 39">
            <a:extLst>
              <a:ext uri="{FF2B5EF4-FFF2-40B4-BE49-F238E27FC236}">
                <a16:creationId xmlns:a16="http://schemas.microsoft.com/office/drawing/2014/main" id="{B5CF2F2C-F158-406B-A424-1FF551437F3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02</a:t>
            </a:r>
            <a:endParaRPr sz="1050" b="1" i="0">
              <a:solidFill>
                <a:srgbClr val="171717"/>
              </a:solidFill>
              <a:latin typeface="Consolas"/>
              <a:ea typeface="Consolas"/>
              <a:cs typeface="Consolas"/>
            </a:endParaRPr>
          </a:p>
        </p:txBody>
      </p:sp>
      <p:sp>
        <p:nvSpPr>
          <p:cNvPr id="42" name="TextBox 41">
            <a:extLst>
              <a:ext uri="{FF2B5EF4-FFF2-40B4-BE49-F238E27FC236}">
                <a16:creationId xmlns:a16="http://schemas.microsoft.com/office/drawing/2014/main" id="{86690E00-D86F-766A-8277-BE4C235F9C67}"/>
              </a:ext>
            </a:extLst>
          </p:cNvPr>
          <p:cNvSpPr txBox="1"/>
          <p:nvPr/>
        </p:nvSpPr>
        <p:spPr>
          <a:xfrm>
            <a:off x="609600" y="1714500"/>
            <a:ext cx="5207000" cy="369332"/>
          </a:xfrm>
          <a:prstGeom prst="rect">
            <a:avLst/>
          </a:prstGeom>
          <a:noFill/>
        </p:spPr>
        <p:txBody>
          <a:bodyPr vert="horz" rtlCol="0">
            <a:spAutoFit/>
          </a:bodyPr>
          <a:lstStyle/>
          <a:p>
            <a:r>
              <a:rPr lang="en-US" altLang="ko-KR">
                <a:latin typeface="Malgun Gothic" panose="020B0503020000020004" pitchFamily="50" charset="-127"/>
              </a:rPr>
              <a:t>4.1   </a:t>
            </a:r>
            <a:r>
              <a:rPr lang="ko-KR" altLang="en-US">
                <a:latin typeface="Malgun Gothic" panose="020B0503020000020004" pitchFamily="50" charset="-127"/>
              </a:rPr>
              <a:t>분할 정복의 기본</a:t>
            </a:r>
          </a:p>
        </p:txBody>
      </p:sp>
      <p:sp>
        <p:nvSpPr>
          <p:cNvPr id="43" name="TextBox 42">
            <a:extLst>
              <a:ext uri="{FF2B5EF4-FFF2-40B4-BE49-F238E27FC236}">
                <a16:creationId xmlns:a16="http://schemas.microsoft.com/office/drawing/2014/main" id="{8D76C907-144C-845D-9938-8A40651A0818}"/>
              </a:ext>
            </a:extLst>
          </p:cNvPr>
          <p:cNvSpPr txBox="1"/>
          <p:nvPr/>
        </p:nvSpPr>
        <p:spPr>
          <a:xfrm>
            <a:off x="609600" y="2565400"/>
            <a:ext cx="5207000" cy="369332"/>
          </a:xfrm>
          <a:prstGeom prst="rect">
            <a:avLst/>
          </a:prstGeom>
          <a:noFill/>
        </p:spPr>
        <p:txBody>
          <a:bodyPr vert="horz" rtlCol="0">
            <a:spAutoFit/>
          </a:bodyPr>
          <a:lstStyle/>
          <a:p>
            <a:r>
              <a:rPr lang="en-US" altLang="ko-KR">
                <a:latin typeface="Malgun Gothic" panose="020B0503020000020004" pitchFamily="50" charset="-127"/>
              </a:rPr>
              <a:t>4.2   </a:t>
            </a:r>
            <a:r>
              <a:rPr lang="ko-KR" altLang="en-US">
                <a:latin typeface="Malgun Gothic" panose="020B0503020000020004" pitchFamily="50" charset="-127"/>
              </a:rPr>
              <a:t>병합 정렬 </a:t>
            </a:r>
            <a:r>
              <a:rPr lang="en-US" altLang="ko-KR">
                <a:latin typeface="Malgun Gothic" panose="020B0503020000020004" pitchFamily="50" charset="-127"/>
              </a:rPr>
              <a:t>(Merge Sort)</a:t>
            </a:r>
            <a:endParaRPr lang="ko-KR" altLang="en-US">
              <a:latin typeface="Malgun Gothic" panose="020B0503020000020004" pitchFamily="50" charset="-127"/>
            </a:endParaRPr>
          </a:p>
        </p:txBody>
      </p:sp>
      <p:sp>
        <p:nvSpPr>
          <p:cNvPr id="44" name="TextBox 43">
            <a:extLst>
              <a:ext uri="{FF2B5EF4-FFF2-40B4-BE49-F238E27FC236}">
                <a16:creationId xmlns:a16="http://schemas.microsoft.com/office/drawing/2014/main" id="{044EFE4A-4828-C2CE-B5DD-8C37DA08ADEB}"/>
              </a:ext>
            </a:extLst>
          </p:cNvPr>
          <p:cNvSpPr txBox="1"/>
          <p:nvPr/>
        </p:nvSpPr>
        <p:spPr>
          <a:xfrm>
            <a:off x="609600" y="3416300"/>
            <a:ext cx="5207000" cy="369332"/>
          </a:xfrm>
          <a:prstGeom prst="rect">
            <a:avLst/>
          </a:prstGeom>
          <a:noFill/>
        </p:spPr>
        <p:txBody>
          <a:bodyPr vert="horz" rtlCol="0">
            <a:spAutoFit/>
          </a:bodyPr>
          <a:lstStyle/>
          <a:p>
            <a:r>
              <a:rPr lang="en-US" altLang="ko-KR">
                <a:latin typeface="Malgun Gothic" panose="020B0503020000020004" pitchFamily="50" charset="-127"/>
              </a:rPr>
              <a:t>4.3   </a:t>
            </a:r>
            <a:r>
              <a:rPr lang="ko-KR" altLang="en-US">
                <a:latin typeface="Malgun Gothic" panose="020B0503020000020004" pitchFamily="50" charset="-127"/>
              </a:rPr>
              <a:t>퀵 정렬 </a:t>
            </a:r>
            <a:r>
              <a:rPr lang="en-US" altLang="ko-KR">
                <a:latin typeface="Malgun Gothic" panose="020B0503020000020004" pitchFamily="50" charset="-127"/>
              </a:rPr>
              <a:t>(Quick Sort)</a:t>
            </a:r>
            <a:endParaRPr lang="ko-KR" altLang="en-US">
              <a:latin typeface="Malgun Gothic" panose="020B0503020000020004" pitchFamily="50" charset="-127"/>
            </a:endParaRPr>
          </a:p>
        </p:txBody>
      </p:sp>
      <p:sp>
        <p:nvSpPr>
          <p:cNvPr id="45" name="TextBox 44">
            <a:extLst>
              <a:ext uri="{FF2B5EF4-FFF2-40B4-BE49-F238E27FC236}">
                <a16:creationId xmlns:a16="http://schemas.microsoft.com/office/drawing/2014/main" id="{BE4370E7-F519-B19F-0D61-B1E23AB3CE40}"/>
              </a:ext>
            </a:extLst>
          </p:cNvPr>
          <p:cNvSpPr txBox="1"/>
          <p:nvPr/>
        </p:nvSpPr>
        <p:spPr>
          <a:xfrm>
            <a:off x="609600" y="4267200"/>
            <a:ext cx="5207000" cy="369332"/>
          </a:xfrm>
          <a:prstGeom prst="rect">
            <a:avLst/>
          </a:prstGeom>
          <a:noFill/>
        </p:spPr>
        <p:txBody>
          <a:bodyPr vert="horz" rtlCol="0">
            <a:spAutoFit/>
          </a:bodyPr>
          <a:lstStyle/>
          <a:p>
            <a:r>
              <a:rPr lang="en-US" altLang="ko-KR">
                <a:latin typeface="Malgun Gothic" panose="020B0503020000020004" pitchFamily="50" charset="-127"/>
              </a:rPr>
              <a:t>4.4   </a:t>
            </a:r>
            <a:r>
              <a:rPr lang="ko-KR" altLang="en-US">
                <a:latin typeface="Malgun Gothic" panose="020B0503020000020004" pitchFamily="50" charset="-127"/>
              </a:rPr>
              <a:t>최대 구간 합</a:t>
            </a:r>
          </a:p>
        </p:txBody>
      </p:sp>
      <p:sp>
        <p:nvSpPr>
          <p:cNvPr id="46" name="TextBox 45">
            <a:extLst>
              <a:ext uri="{FF2B5EF4-FFF2-40B4-BE49-F238E27FC236}">
                <a16:creationId xmlns:a16="http://schemas.microsoft.com/office/drawing/2014/main" id="{A68C3D7E-0A8A-2A81-0CD6-B00FF61928C2}"/>
              </a:ext>
            </a:extLst>
          </p:cNvPr>
          <p:cNvSpPr txBox="1"/>
          <p:nvPr/>
        </p:nvSpPr>
        <p:spPr>
          <a:xfrm>
            <a:off x="609600" y="5118100"/>
            <a:ext cx="5207000" cy="369332"/>
          </a:xfrm>
          <a:prstGeom prst="rect">
            <a:avLst/>
          </a:prstGeom>
          <a:noFill/>
        </p:spPr>
        <p:txBody>
          <a:bodyPr vert="horz" rtlCol="0">
            <a:spAutoFit/>
          </a:bodyPr>
          <a:lstStyle/>
          <a:p>
            <a:r>
              <a:rPr lang="en-US" altLang="ko-KR">
                <a:latin typeface="Malgun Gothic" panose="020B0503020000020004" pitchFamily="50" charset="-127"/>
              </a:rPr>
              <a:t>4.5   </a:t>
            </a:r>
            <a:r>
              <a:rPr lang="ko-KR" altLang="en-US">
                <a:latin typeface="Malgun Gothic" panose="020B0503020000020004" pitchFamily="50" charset="-127"/>
              </a:rPr>
              <a:t>최근접 쌍</a:t>
            </a:r>
          </a:p>
        </p:txBody>
      </p:sp>
      <p:sp>
        <p:nvSpPr>
          <p:cNvPr id="47" name="TextBox 46">
            <a:extLst>
              <a:ext uri="{FF2B5EF4-FFF2-40B4-BE49-F238E27FC236}">
                <a16:creationId xmlns:a16="http://schemas.microsoft.com/office/drawing/2014/main" id="{996BB1C0-F25E-2786-E638-06E78D951611}"/>
              </a:ext>
            </a:extLst>
          </p:cNvPr>
          <p:cNvSpPr txBox="1"/>
          <p:nvPr/>
        </p:nvSpPr>
        <p:spPr>
          <a:xfrm>
            <a:off x="6248400" y="1714500"/>
            <a:ext cx="5207000" cy="369332"/>
          </a:xfrm>
          <a:prstGeom prst="rect">
            <a:avLst/>
          </a:prstGeom>
          <a:noFill/>
        </p:spPr>
        <p:txBody>
          <a:bodyPr vert="horz" rtlCol="0">
            <a:spAutoFit/>
          </a:bodyPr>
          <a:lstStyle/>
          <a:p>
            <a:r>
              <a:rPr lang="en-US" altLang="ko-KR">
                <a:latin typeface="Malgun Gothic" panose="020B0503020000020004" pitchFamily="50" charset="-127"/>
              </a:rPr>
              <a:t>4.6   </a:t>
            </a:r>
            <a:r>
              <a:rPr lang="ko-KR" altLang="en-US">
                <a:latin typeface="Malgun Gothic" panose="020B0503020000020004" pitchFamily="50" charset="-127"/>
              </a:rPr>
              <a:t>쿼드 트리</a:t>
            </a:r>
          </a:p>
        </p:txBody>
      </p:sp>
      <p:sp>
        <p:nvSpPr>
          <p:cNvPr id="48" name="TextBox 47">
            <a:extLst>
              <a:ext uri="{FF2B5EF4-FFF2-40B4-BE49-F238E27FC236}">
                <a16:creationId xmlns:a16="http://schemas.microsoft.com/office/drawing/2014/main" id="{DEEB98D6-A10F-2E95-9830-013A8B4E8DED}"/>
              </a:ext>
            </a:extLst>
          </p:cNvPr>
          <p:cNvSpPr txBox="1"/>
          <p:nvPr/>
        </p:nvSpPr>
        <p:spPr>
          <a:xfrm>
            <a:off x="6248400" y="2565400"/>
            <a:ext cx="5207000" cy="369332"/>
          </a:xfrm>
          <a:prstGeom prst="rect">
            <a:avLst/>
          </a:prstGeom>
          <a:noFill/>
        </p:spPr>
        <p:txBody>
          <a:bodyPr vert="horz" rtlCol="0">
            <a:spAutoFit/>
          </a:bodyPr>
          <a:lstStyle/>
          <a:p>
            <a:r>
              <a:rPr lang="en-US" altLang="ko-KR">
                <a:latin typeface="Malgun Gothic" panose="020B0503020000020004" pitchFamily="50" charset="-127"/>
              </a:rPr>
              <a:t>4.7   </a:t>
            </a:r>
            <a:r>
              <a:rPr lang="ko-KR" altLang="en-US">
                <a:latin typeface="Malgun Gothic" panose="020B0503020000020004" pitchFamily="50" charset="-127"/>
              </a:rPr>
              <a:t>마스터 정리</a:t>
            </a:r>
          </a:p>
        </p:txBody>
      </p:sp>
      <p:sp>
        <p:nvSpPr>
          <p:cNvPr id="49" name="TextBox 48">
            <a:extLst>
              <a:ext uri="{FF2B5EF4-FFF2-40B4-BE49-F238E27FC236}">
                <a16:creationId xmlns:a16="http://schemas.microsoft.com/office/drawing/2014/main" id="{8F4A288D-50AD-C1D3-2AF3-91AD50C95D8F}"/>
              </a:ext>
            </a:extLst>
          </p:cNvPr>
          <p:cNvSpPr txBox="1"/>
          <p:nvPr/>
        </p:nvSpPr>
        <p:spPr>
          <a:xfrm>
            <a:off x="6248400" y="3416300"/>
            <a:ext cx="5207000" cy="369332"/>
          </a:xfrm>
          <a:prstGeom prst="rect">
            <a:avLst/>
          </a:prstGeom>
          <a:noFill/>
        </p:spPr>
        <p:txBody>
          <a:bodyPr vert="horz" rtlCol="0">
            <a:spAutoFit/>
          </a:bodyPr>
          <a:lstStyle/>
          <a:p>
            <a:r>
              <a:rPr lang="en-US" altLang="ko-KR">
                <a:latin typeface="Malgun Gothic" panose="020B0503020000020004" pitchFamily="50" charset="-127"/>
              </a:rPr>
              <a:t>4.8   </a:t>
            </a:r>
            <a:r>
              <a:rPr lang="ko-KR" altLang="en-US">
                <a:latin typeface="Malgun Gothic" panose="020B0503020000020004" pitchFamily="50" charset="-127"/>
              </a:rPr>
              <a:t>카라츠바 알고리즘</a:t>
            </a:r>
          </a:p>
        </p:txBody>
      </p:sp>
      <p:sp>
        <p:nvSpPr>
          <p:cNvPr id="50" name="TextBox 49">
            <a:extLst>
              <a:ext uri="{FF2B5EF4-FFF2-40B4-BE49-F238E27FC236}">
                <a16:creationId xmlns:a16="http://schemas.microsoft.com/office/drawing/2014/main" id="{4DB78F2C-1E56-3087-5966-316E0C05D2D1}"/>
              </a:ext>
            </a:extLst>
          </p:cNvPr>
          <p:cNvSpPr txBox="1"/>
          <p:nvPr/>
        </p:nvSpPr>
        <p:spPr>
          <a:xfrm>
            <a:off x="6248400" y="4267200"/>
            <a:ext cx="5207000" cy="369332"/>
          </a:xfrm>
          <a:prstGeom prst="rect">
            <a:avLst/>
          </a:prstGeom>
          <a:noFill/>
        </p:spPr>
        <p:txBody>
          <a:bodyPr vert="horz" rtlCol="0">
            <a:spAutoFit/>
          </a:bodyPr>
          <a:lstStyle/>
          <a:p>
            <a:r>
              <a:rPr lang="en-US" altLang="ko-KR">
                <a:latin typeface="Malgun Gothic" panose="020B0503020000020004" pitchFamily="50" charset="-127"/>
              </a:rPr>
              <a:t>4.9   </a:t>
            </a:r>
            <a:r>
              <a:rPr lang="ko-KR" altLang="en-US">
                <a:latin typeface="Malgun Gothic" panose="020B0503020000020004" pitchFamily="50" charset="-127"/>
              </a:rPr>
              <a:t>스트라센 알고리즘</a:t>
            </a:r>
          </a:p>
        </p:txBody>
      </p:sp>
      <p:sp>
        <p:nvSpPr>
          <p:cNvPr id="51" name="TextBox 50">
            <a:extLst>
              <a:ext uri="{FF2B5EF4-FFF2-40B4-BE49-F238E27FC236}">
                <a16:creationId xmlns:a16="http://schemas.microsoft.com/office/drawing/2014/main" id="{A1F418B5-1302-921C-E1D9-1D38247C053E}"/>
              </a:ext>
            </a:extLst>
          </p:cNvPr>
          <p:cNvSpPr txBox="1"/>
          <p:nvPr/>
        </p:nvSpPr>
        <p:spPr>
          <a:xfrm>
            <a:off x="6248400" y="5118100"/>
            <a:ext cx="5207000" cy="369332"/>
          </a:xfrm>
          <a:prstGeom prst="rect">
            <a:avLst/>
          </a:prstGeom>
          <a:noFill/>
        </p:spPr>
        <p:txBody>
          <a:bodyPr vert="horz" rtlCol="0">
            <a:spAutoFit/>
          </a:bodyPr>
          <a:lstStyle/>
          <a:p>
            <a:r>
              <a:rPr lang="en-US" altLang="ko-KR">
                <a:latin typeface="Malgun Gothic" panose="020B0503020000020004" pitchFamily="50" charset="-127"/>
              </a:rPr>
              <a:t>4.10   </a:t>
            </a:r>
            <a:r>
              <a:rPr lang="ko-KR" altLang="en-US">
                <a:latin typeface="Malgun Gothic" panose="020B0503020000020004" pitchFamily="50" charset="-127"/>
              </a:rPr>
              <a:t>코딩 테스트 예제</a:t>
            </a:r>
          </a:p>
        </p:txBody>
      </p:sp>
    </p:spTree>
    <p:extLst>
      <p:ext uri="{BB962C8B-B14F-4D97-AF65-F5344CB8AC3E}">
        <p14:creationId xmlns:p14="http://schemas.microsoft.com/office/powerpoint/2010/main" val="678003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7DF0E395-95B6-4586-AEB7-A0D92747FBDC}"/>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5563D437-84B4-40E1-BBA2-B355A534B9A4}"/>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sz="7050" b="1" i="0">
                <a:solidFill>
                  <a:srgbClr val="474747"/>
                </a:solidFill>
                <a:latin typeface="Consolas"/>
                <a:ea typeface="Consolas"/>
                <a:cs typeface="Consolas"/>
              </a:rPr>
              <a:t>4.1</a:t>
            </a:r>
          </a:p>
        </p:txBody>
      </p:sp>
      <p:sp>
        <p:nvSpPr>
          <p:cNvPr id="3" name="직사각형 2">
            <a:extLst>
              <a:ext uri="{FF2B5EF4-FFF2-40B4-BE49-F238E27FC236}">
                <a16:creationId xmlns:a16="http://schemas.microsoft.com/office/drawing/2014/main" id="{A95F8981-62CE-4919-ABA0-A33AFAAB80B5}"/>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C4CDA3C8-FB7B-411E-AC3C-C5BA5D309CE7}"/>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분할 정복이란?</a:t>
            </a:r>
          </a:p>
        </p:txBody>
      </p:sp>
      <p:sp>
        <p:nvSpPr>
          <p:cNvPr id="5" name="직사각형 4">
            <a:extLst>
              <a:ext uri="{FF2B5EF4-FFF2-40B4-BE49-F238E27FC236}">
                <a16:creationId xmlns:a16="http://schemas.microsoft.com/office/drawing/2014/main" id="{E5B1E419-F6FA-42D7-9A95-D3B2DA7EB90C}"/>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"나누어라, 그리고 정복하라"</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큰 문제를 작은 문제로 쪼개어 해결하는 알고리즘 설계 전략</a:t>
            </a:r>
          </a:p>
        </p:txBody>
      </p:sp>
      <p:sp>
        <p:nvSpPr>
          <p:cNvPr id="6" name="직사각형 5">
            <a:extLst>
              <a:ext uri="{FF2B5EF4-FFF2-40B4-BE49-F238E27FC236}">
                <a16:creationId xmlns:a16="http://schemas.microsoft.com/office/drawing/2014/main" id="{45A6DBB3-7C4C-4B2C-9425-FCEFBA898A58}"/>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5D458BE9-67E7-4BBD-9681-85119F9C246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9ABAA632-D5DC-493D-B15B-2FBA24766A76}"/>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03</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0987939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94EF7D87-ED1F-4144-818A-68EA49A8520C}"/>
              </a:ext>
            </a:extLst>
          </p:cNvPr>
          <p:cNvSpPr>
            <a:spLocks noGrp="1"/>
          </p:cNvSpPr>
          <p:nvPr/>
        </p:nvSpPr>
        <p:spPr>
          <a:xfrm>
            <a:off x="658368" y="1737360"/>
            <a:ext cx="4892040" cy="17373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큰 문제를 같은 유형의 작은 문제 여러 개로 나누어 각각 해결합니다. 작은 문제의 답을 결합해 원래 문제의 답을 만듭니다.</a:t>
            </a:r>
            <a:endParaRPr sz="1350"/>
          </a:p>
        </p:txBody>
      </p:sp>
      <p:sp>
        <p:nvSpPr>
          <p:cNvPr id="10" name="Text 6">
            <a:extLst>
              <a:ext uri="{FF2B5EF4-FFF2-40B4-BE49-F238E27FC236}">
                <a16:creationId xmlns:a16="http://schemas.microsoft.com/office/drawing/2014/main" id="{C4359194-5F87-42F4-9BAB-8454BAEE14C2}"/>
              </a:ext>
            </a:extLst>
          </p:cNvPr>
          <p:cNvSpPr>
            <a:spLocks noGrp="1"/>
          </p:cNvSpPr>
          <p:nvPr/>
        </p:nvSpPr>
        <p:spPr>
          <a:xfrm>
            <a:off x="1517904" y="3749040"/>
            <a:ext cx="3776472" cy="96926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분할, 정복, 결합의 구조를 재귀적으로 적용합니다.</a:t>
            </a:r>
            <a:endParaRPr sz="1320"/>
          </a:p>
        </p:txBody>
      </p:sp>
      <p:sp>
        <p:nvSpPr>
          <p:cNvPr id="12" name="Text 8">
            <a:extLst>
              <a:ext uri="{FF2B5EF4-FFF2-40B4-BE49-F238E27FC236}">
                <a16:creationId xmlns:a16="http://schemas.microsoft.com/office/drawing/2014/main" id="{D69B7336-3C64-42FB-8D11-B5078E72F6D9}"/>
              </a:ext>
            </a:extLst>
          </p:cNvPr>
          <p:cNvSpPr>
            <a:spLocks noGrp="1"/>
          </p:cNvSpPr>
          <p:nvPr/>
        </p:nvSpPr>
        <p:spPr>
          <a:xfrm>
            <a:off x="795528" y="5120640"/>
            <a:ext cx="4617720" cy="56692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Divide   →   Conquer   →   Combine</a:t>
            </a:r>
            <a:endParaRPr sz="1500"/>
          </a:p>
        </p:txBody>
      </p:sp>
      <p:sp>
        <p:nvSpPr>
          <p:cNvPr id="19" name="직사각형 18">
            <a:extLst>
              <a:ext uri="{FF2B5EF4-FFF2-40B4-BE49-F238E27FC236}">
                <a16:creationId xmlns:a16="http://schemas.microsoft.com/office/drawing/2014/main" id="{E093F9EE-C2BC-456E-BA27-AF52DEDBC42F}"/>
              </a:ext>
            </a:extLst>
          </p:cNvPr>
          <p:cNvSpPr>
            <a:spLocks noGrp="1"/>
          </p:cNvSpPr>
          <p:nvPr/>
        </p:nvSpPr>
        <p:spPr>
          <a:xfrm>
            <a:off x="6035040" y="1737360"/>
            <a:ext cx="5495544" cy="9525"/>
          </a:xfrm>
          <a:prstGeom prst="rect">
            <a:avLst/>
          </a:prstGeom>
          <a:solidFill>
            <a:srgbClr val="D4D4D4"/>
          </a:solidFill>
          <a:ln w="0">
            <a:noFill/>
          </a:ln>
        </p:spPr>
      </p:sp>
      <p:sp>
        <p:nvSpPr>
          <p:cNvPr id="20" name="직사각형 19">
            <a:extLst>
              <a:ext uri="{FF2B5EF4-FFF2-40B4-BE49-F238E27FC236}">
                <a16:creationId xmlns:a16="http://schemas.microsoft.com/office/drawing/2014/main" id="{D1A8E724-043C-4454-9C09-8D5E7BD75A8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21" name="직사각형 20">
            <a:extLst>
              <a:ext uri="{FF2B5EF4-FFF2-40B4-BE49-F238E27FC236}">
                <a16:creationId xmlns:a16="http://schemas.microsoft.com/office/drawing/2014/main" id="{A5EEA710-3F80-4AD9-ACE6-9F84D2288B1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2" name="직사각형 21">
            <a:extLst>
              <a:ext uri="{FF2B5EF4-FFF2-40B4-BE49-F238E27FC236}">
                <a16:creationId xmlns:a16="http://schemas.microsoft.com/office/drawing/2014/main" id="{8EC4DA45-5E6E-485F-835E-6A60666D6B77}"/>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나누어라, 그리고 정복하라</a:t>
            </a:r>
          </a:p>
        </p:txBody>
      </p:sp>
      <p:sp>
        <p:nvSpPr>
          <p:cNvPr id="23" name="직사각형 22">
            <a:extLst>
              <a:ext uri="{FF2B5EF4-FFF2-40B4-BE49-F238E27FC236}">
                <a16:creationId xmlns:a16="http://schemas.microsoft.com/office/drawing/2014/main" id="{25349CF6-87F7-4D4D-BC3B-671FE7BDBFCC}"/>
              </a:ext>
            </a:extLst>
          </p:cNvPr>
          <p:cNvSpPr>
            <a:spLocks noGrp="1"/>
          </p:cNvSpPr>
          <p:nvPr/>
        </p:nvSpPr>
        <p:spPr>
          <a:xfrm>
            <a:off x="609600" y="1381125"/>
            <a:ext cx="10972800" cy="19050"/>
          </a:xfrm>
          <a:prstGeom prst="rect">
            <a:avLst/>
          </a:prstGeom>
          <a:solidFill>
            <a:srgbClr val="171717"/>
          </a:solidFill>
          <a:ln w="0">
            <a:noFill/>
          </a:ln>
        </p:spPr>
      </p:sp>
      <p:sp>
        <p:nvSpPr>
          <p:cNvPr id="24" name="직사각형 23">
            <a:extLst>
              <a:ext uri="{FF2B5EF4-FFF2-40B4-BE49-F238E27FC236}">
                <a16:creationId xmlns:a16="http://schemas.microsoft.com/office/drawing/2014/main" id="{538829DD-7395-4E35-B1B6-84E36E5A42CC}"/>
              </a:ext>
            </a:extLst>
          </p:cNvPr>
          <p:cNvSpPr>
            <a:spLocks noGrp="1"/>
          </p:cNvSpPr>
          <p:nvPr/>
        </p:nvSpPr>
        <p:spPr>
          <a:xfrm>
            <a:off x="609600" y="6438900"/>
            <a:ext cx="10972800" cy="9525"/>
          </a:xfrm>
          <a:prstGeom prst="rect">
            <a:avLst/>
          </a:prstGeom>
          <a:solidFill>
            <a:srgbClr val="D4D4D4"/>
          </a:solidFill>
          <a:ln w="0">
            <a:noFill/>
          </a:ln>
        </p:spPr>
      </p:sp>
      <p:sp>
        <p:nvSpPr>
          <p:cNvPr id="25" name="직사각형 24">
            <a:extLst>
              <a:ext uri="{FF2B5EF4-FFF2-40B4-BE49-F238E27FC236}">
                <a16:creationId xmlns:a16="http://schemas.microsoft.com/office/drawing/2014/main" id="{51B072B2-B9CF-4BE7-BAB8-5629E1DB8EF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6" name="직사각형 25">
            <a:extLst>
              <a:ext uri="{FF2B5EF4-FFF2-40B4-BE49-F238E27FC236}">
                <a16:creationId xmlns:a16="http://schemas.microsoft.com/office/drawing/2014/main" id="{E67D33F0-B39F-4195-8514-10988E93A62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04</a:t>
            </a:r>
            <a:endParaRPr sz="1050" b="1" i="0">
              <a:solidFill>
                <a:srgbClr val="171717"/>
              </a:solidFill>
              <a:latin typeface="Consolas"/>
              <a:ea typeface="Consolas"/>
              <a:cs typeface="Consolas"/>
            </a:endParaRPr>
          </a:p>
        </p:txBody>
      </p:sp>
      <p:pic>
        <p:nvPicPr>
          <p:cNvPr id="39" name="그림 38"/>
          <p:cNvPicPr>
            <a:picLocks noChangeAspect="1"/>
          </p:cNvPicPr>
          <p:nvPr/>
        </p:nvPicPr>
        <p:blipFill>
          <a:blip r:embed="rId3"/>
          <a:stretch/>
        </p:blipFill>
        <p:spPr>
          <a:xfrm>
            <a:off x="5949950" y="2310098"/>
            <a:ext cx="5433557" cy="2929922"/>
          </a:xfrm>
          <a:prstGeom prst="rect">
            <a:avLst/>
          </a:prstGeom>
        </p:spPr>
      </p:pic>
    </p:spTree>
    <p:extLst>
      <p:ext uri="{BB962C8B-B14F-4D97-AF65-F5344CB8AC3E}">
        <p14:creationId xmlns:p14="http://schemas.microsoft.com/office/powerpoint/2010/main" val="799755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C3AF4292-DB5F-4394-B1B7-6C8E27FE8C64}"/>
              </a:ext>
            </a:extLst>
          </p:cNvPr>
          <p:cNvSpPr>
            <a:spLocks noGrp="1"/>
          </p:cNvSpPr>
          <p:nvPr/>
        </p:nvSpPr>
        <p:spPr>
          <a:xfrm>
            <a:off x="658368" y="1645920"/>
            <a:ext cx="10872216" cy="310896"/>
          </a:xfrm>
          <a:prstGeom prst="rect">
            <a:avLst/>
          </a:prstGeom>
          <a:noFill/>
          <a:ln w="0">
            <a:noFill/>
          </a:ln>
        </p:spPr>
        <p:txBody>
          <a:bodyPr wrap="square" lIns="0" tIns="0" rIns="0" bIns="0" anchor="t">
            <a:noAutofit/>
          </a:bodyPr>
          <a:lstStyle/>
          <a:p>
            <a:pPr marL="0" indent="0" algn="l">
              <a:lnSpc>
                <a:spcPct val="142000"/>
              </a:lnSpc>
              <a:buNone/>
              <a:defRPr sz="1300" i="0">
                <a:solidFill>
                  <a:srgbClr val="171717"/>
                </a:solidFill>
                <a:latin typeface="Malgun Gothic"/>
                <a:ea typeface="Malgun Gothic"/>
                <a:cs typeface="Malgun Gothic"/>
              </a:defRPr>
            </a:pPr>
            <a:r>
              <a:rPr sz="1300" i="0">
                <a:solidFill>
                  <a:srgbClr val="171717"/>
                </a:solidFill>
                <a:latin typeface="Malgun Gothic"/>
                <a:ea typeface="Malgun Gothic"/>
                <a:cs typeface="Malgun Gothic"/>
              </a:rPr>
              <a:t>1,000페이지짜리 책을 혼자 요약하려면 막막하다. 하지만 친구 10명이 있다면 이야기가 달라진다.</a:t>
            </a:r>
            <a:endParaRPr sz="1300"/>
          </a:p>
        </p:txBody>
      </p:sp>
      <p:sp>
        <p:nvSpPr>
          <p:cNvPr id="12" name="Text 7">
            <a:extLst>
              <a:ext uri="{FF2B5EF4-FFF2-40B4-BE49-F238E27FC236}">
                <a16:creationId xmlns:a16="http://schemas.microsoft.com/office/drawing/2014/main" id="{B12364D9-4834-4A68-B48E-65EA6A4089CC}"/>
              </a:ext>
            </a:extLst>
          </p:cNvPr>
          <p:cNvSpPr>
            <a:spLocks noGrp="1"/>
          </p:cNvSpPr>
          <p:nvPr/>
        </p:nvSpPr>
        <p:spPr>
          <a:xfrm>
            <a:off x="7132320" y="2157984"/>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나누기 (divide)</a:t>
            </a:r>
            <a:endParaRPr sz="1280"/>
          </a:p>
        </p:txBody>
      </p:sp>
      <p:sp>
        <p:nvSpPr>
          <p:cNvPr id="13" name="Text 8">
            <a:extLst>
              <a:ext uri="{FF2B5EF4-FFF2-40B4-BE49-F238E27FC236}">
                <a16:creationId xmlns:a16="http://schemas.microsoft.com/office/drawing/2014/main" id="{1561AB69-D387-4CF9-90C1-2327ACA0AF9A}"/>
              </a:ext>
            </a:extLst>
          </p:cNvPr>
          <p:cNvSpPr>
            <a:spLocks noGrp="1"/>
          </p:cNvSpPr>
          <p:nvPr/>
        </p:nvSpPr>
        <p:spPr>
          <a:xfrm>
            <a:off x="7132320" y="2432304"/>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책을 100페이지씩 10등분하여 친구 10명에게 한 부분씩 나눠준다.</a:t>
            </a:r>
            <a:endParaRPr sz="1060"/>
          </a:p>
        </p:txBody>
      </p:sp>
      <p:sp>
        <p:nvSpPr>
          <p:cNvPr id="17" name="Text 11">
            <a:extLst>
              <a:ext uri="{FF2B5EF4-FFF2-40B4-BE49-F238E27FC236}">
                <a16:creationId xmlns:a16="http://schemas.microsoft.com/office/drawing/2014/main" id="{F865DA8F-DEEC-4030-91F3-9A97CBAD0C2D}"/>
              </a:ext>
            </a:extLst>
          </p:cNvPr>
          <p:cNvSpPr>
            <a:spLocks noGrp="1"/>
          </p:cNvSpPr>
          <p:nvPr/>
        </p:nvSpPr>
        <p:spPr>
          <a:xfrm>
            <a:off x="7132320" y="3090672"/>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해결하기 (conquer)</a:t>
            </a:r>
            <a:endParaRPr sz="1280"/>
          </a:p>
        </p:txBody>
      </p:sp>
      <p:sp>
        <p:nvSpPr>
          <p:cNvPr id="18" name="Text 12">
            <a:extLst>
              <a:ext uri="{FF2B5EF4-FFF2-40B4-BE49-F238E27FC236}">
                <a16:creationId xmlns:a16="http://schemas.microsoft.com/office/drawing/2014/main" id="{1A66928C-6C79-46ED-AB53-EEA4A48273D0}"/>
              </a:ext>
            </a:extLst>
          </p:cNvPr>
          <p:cNvSpPr>
            <a:spLocks noGrp="1"/>
          </p:cNvSpPr>
          <p:nvPr/>
        </p:nvSpPr>
        <p:spPr>
          <a:xfrm>
            <a:off x="7132320" y="3364992"/>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각 친구는 맡은 100페이지만 읽고 요약한다. 1,000페이지는 불가능해도 100페이지는 금방이다.</a:t>
            </a:r>
            <a:endParaRPr sz="1060"/>
          </a:p>
        </p:txBody>
      </p:sp>
      <p:sp>
        <p:nvSpPr>
          <p:cNvPr id="22" name="Text 15">
            <a:extLst>
              <a:ext uri="{FF2B5EF4-FFF2-40B4-BE49-F238E27FC236}">
                <a16:creationId xmlns:a16="http://schemas.microsoft.com/office/drawing/2014/main" id="{4C2975E0-85EF-42FD-ADB4-05CF8E4AA7EA}"/>
              </a:ext>
            </a:extLst>
          </p:cNvPr>
          <p:cNvSpPr>
            <a:spLocks noGrp="1"/>
          </p:cNvSpPr>
          <p:nvPr/>
        </p:nvSpPr>
        <p:spPr>
          <a:xfrm>
            <a:off x="7132320" y="4023360"/>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합치기 (combine)</a:t>
            </a:r>
            <a:endParaRPr sz="1280"/>
          </a:p>
        </p:txBody>
      </p:sp>
      <p:sp>
        <p:nvSpPr>
          <p:cNvPr id="23" name="Text 16">
            <a:extLst>
              <a:ext uri="{FF2B5EF4-FFF2-40B4-BE49-F238E27FC236}">
                <a16:creationId xmlns:a16="http://schemas.microsoft.com/office/drawing/2014/main" id="{4CCE6C10-8B5F-4C66-B932-54EFD4D0F09D}"/>
              </a:ext>
            </a:extLst>
          </p:cNvPr>
          <p:cNvSpPr>
            <a:spLocks noGrp="1"/>
          </p:cNvSpPr>
          <p:nvPr/>
        </p:nvSpPr>
        <p:spPr>
          <a:xfrm>
            <a:off x="7132320" y="4297680"/>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10개의 요약본을 순서대로 모아 붙인다. 1,000페이지 책의 최종 요약본이 완성된다.</a:t>
            </a:r>
            <a:endParaRPr sz="1060"/>
          </a:p>
        </p:txBody>
      </p:sp>
      <p:sp>
        <p:nvSpPr>
          <p:cNvPr id="27" name="Text 19">
            <a:extLst>
              <a:ext uri="{FF2B5EF4-FFF2-40B4-BE49-F238E27FC236}">
                <a16:creationId xmlns:a16="http://schemas.microsoft.com/office/drawing/2014/main" id="{95587E42-4A9C-4410-BC38-031C1A23F6F0}"/>
              </a:ext>
            </a:extLst>
          </p:cNvPr>
          <p:cNvSpPr>
            <a:spLocks noGrp="1"/>
          </p:cNvSpPr>
          <p:nvPr/>
        </p:nvSpPr>
        <p:spPr>
          <a:xfrm>
            <a:off x="1517904" y="5157216"/>
            <a:ext cx="9756648" cy="585216"/>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큰 문제를 그대로 상대하면 어렵지만, 작게 쪼개면 각각은 쉽다 — 이것이 분할 정복의 핵심 통찰이다.</a:t>
            </a:r>
            <a:endParaRPr sz="1300"/>
          </a:p>
        </p:txBody>
      </p:sp>
      <p:sp>
        <p:nvSpPr>
          <p:cNvPr id="31" name="직사각형 30">
            <a:extLst>
              <a:ext uri="{FF2B5EF4-FFF2-40B4-BE49-F238E27FC236}">
                <a16:creationId xmlns:a16="http://schemas.microsoft.com/office/drawing/2014/main" id="{592C4D8E-FBD7-4341-995C-AC562171A02E}"/>
              </a:ext>
            </a:extLst>
          </p:cNvPr>
          <p:cNvSpPr>
            <a:spLocks noGrp="1"/>
          </p:cNvSpPr>
          <p:nvPr/>
        </p:nvSpPr>
        <p:spPr>
          <a:xfrm>
            <a:off x="658368" y="4992624"/>
            <a:ext cx="10872216" cy="9525"/>
          </a:xfrm>
          <a:prstGeom prst="rect">
            <a:avLst/>
          </a:prstGeom>
          <a:solidFill>
            <a:srgbClr val="D4D4D4"/>
          </a:solidFill>
          <a:ln w="0">
            <a:noFill/>
          </a:ln>
        </p:spPr>
      </p:sp>
      <p:sp>
        <p:nvSpPr>
          <p:cNvPr id="32" name="직사각형 31">
            <a:extLst>
              <a:ext uri="{FF2B5EF4-FFF2-40B4-BE49-F238E27FC236}">
                <a16:creationId xmlns:a16="http://schemas.microsoft.com/office/drawing/2014/main" id="{5FC44190-386B-48F0-A6C7-E615209117B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33" name="직사각형 32">
            <a:extLst>
              <a:ext uri="{FF2B5EF4-FFF2-40B4-BE49-F238E27FC236}">
                <a16:creationId xmlns:a16="http://schemas.microsoft.com/office/drawing/2014/main" id="{C9CBB51F-C88F-4B0D-8B1F-07860A4C9516}"/>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4" name="직사각형 33">
            <a:extLst>
              <a:ext uri="{FF2B5EF4-FFF2-40B4-BE49-F238E27FC236}">
                <a16:creationId xmlns:a16="http://schemas.microsoft.com/office/drawing/2014/main" id="{E8001C6E-F3DC-412D-9211-A570F64A76DB}"/>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직관적 이해 — 거대한 책 요약하기</a:t>
            </a:r>
          </a:p>
        </p:txBody>
      </p:sp>
      <p:sp>
        <p:nvSpPr>
          <p:cNvPr id="35" name="직사각형 34">
            <a:extLst>
              <a:ext uri="{FF2B5EF4-FFF2-40B4-BE49-F238E27FC236}">
                <a16:creationId xmlns:a16="http://schemas.microsoft.com/office/drawing/2014/main" id="{6B5E385D-A59F-4858-B129-FF3B72B675D9}"/>
              </a:ext>
            </a:extLst>
          </p:cNvPr>
          <p:cNvSpPr>
            <a:spLocks noGrp="1"/>
          </p:cNvSpPr>
          <p:nvPr/>
        </p:nvSpPr>
        <p:spPr>
          <a:xfrm>
            <a:off x="609600" y="1381125"/>
            <a:ext cx="10972800" cy="19050"/>
          </a:xfrm>
          <a:prstGeom prst="rect">
            <a:avLst/>
          </a:prstGeom>
          <a:solidFill>
            <a:srgbClr val="171717"/>
          </a:solidFill>
          <a:ln w="0">
            <a:noFill/>
          </a:ln>
        </p:spPr>
      </p:sp>
      <p:sp>
        <p:nvSpPr>
          <p:cNvPr id="36" name="직사각형 35">
            <a:extLst>
              <a:ext uri="{FF2B5EF4-FFF2-40B4-BE49-F238E27FC236}">
                <a16:creationId xmlns:a16="http://schemas.microsoft.com/office/drawing/2014/main" id="{F1B2F1D3-FC5F-4994-B547-D1A80ACE525F}"/>
              </a:ext>
            </a:extLst>
          </p:cNvPr>
          <p:cNvSpPr>
            <a:spLocks noGrp="1"/>
          </p:cNvSpPr>
          <p:nvPr/>
        </p:nvSpPr>
        <p:spPr>
          <a:xfrm>
            <a:off x="609600" y="6438900"/>
            <a:ext cx="10972800"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357C5800-728F-4609-93A7-21A941E68685}"/>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8" name="직사각형 37">
            <a:extLst>
              <a:ext uri="{FF2B5EF4-FFF2-40B4-BE49-F238E27FC236}">
                <a16:creationId xmlns:a16="http://schemas.microsoft.com/office/drawing/2014/main" id="{B722451F-25DA-42AE-A04C-86E33DEAB3D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05</a:t>
            </a:r>
            <a:endParaRPr sz="1050" b="1" i="0">
              <a:solidFill>
                <a:srgbClr val="171717"/>
              </a:solidFill>
              <a:latin typeface="Consolas"/>
              <a:ea typeface="Consolas"/>
              <a:cs typeface="Consolas"/>
            </a:endParaRPr>
          </a:p>
        </p:txBody>
      </p:sp>
      <p:pic>
        <p:nvPicPr>
          <p:cNvPr id="56" name="그림 55"/>
          <p:cNvPicPr>
            <a:picLocks noChangeAspect="1"/>
          </p:cNvPicPr>
          <p:nvPr/>
        </p:nvPicPr>
        <p:blipFill>
          <a:blip r:embed="rId3"/>
          <a:stretch/>
        </p:blipFill>
        <p:spPr>
          <a:xfrm>
            <a:off x="1146302" y="2189215"/>
            <a:ext cx="4616634" cy="2517670"/>
          </a:xfrm>
          <a:prstGeom prst="rect">
            <a:avLst/>
          </a:prstGeom>
        </p:spPr>
      </p:pic>
    </p:spTree>
    <p:extLst>
      <p:ext uri="{BB962C8B-B14F-4D97-AF65-F5344CB8AC3E}">
        <p14:creationId xmlns:p14="http://schemas.microsoft.com/office/powerpoint/2010/main" val="1109975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ext 5">
            <a:extLst>
              <a:ext uri="{FF2B5EF4-FFF2-40B4-BE49-F238E27FC236}">
                <a16:creationId xmlns:a16="http://schemas.microsoft.com/office/drawing/2014/main" id="{10EA1148-DC5E-4940-A7F9-B034ECEB8978}"/>
              </a:ext>
            </a:extLst>
          </p:cNvPr>
          <p:cNvSpPr>
            <a:spLocks noGrp="1"/>
          </p:cNvSpPr>
          <p:nvPr/>
        </p:nvSpPr>
        <p:spPr>
          <a:xfrm>
            <a:off x="84124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분할 (Divide)</a:t>
            </a:r>
            <a:endParaRPr sz="1500"/>
          </a:p>
        </p:txBody>
      </p:sp>
      <p:sp>
        <p:nvSpPr>
          <p:cNvPr id="10" name="Text 6">
            <a:extLst>
              <a:ext uri="{FF2B5EF4-FFF2-40B4-BE49-F238E27FC236}">
                <a16:creationId xmlns:a16="http://schemas.microsoft.com/office/drawing/2014/main" id="{A65BEB10-A4A9-4128-AE5C-F2F7C30A2561}"/>
              </a:ext>
            </a:extLst>
          </p:cNvPr>
          <p:cNvSpPr>
            <a:spLocks noGrp="1"/>
          </p:cNvSpPr>
          <p:nvPr/>
        </p:nvSpPr>
        <p:spPr>
          <a:xfrm>
            <a:off x="93268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문제를 같은 유형의 더 작은 하위 문제 여러 개로 나눈다.</a:t>
            </a:r>
            <a:endParaRPr sz="1180"/>
          </a:p>
        </p:txBody>
      </p:sp>
      <p:sp>
        <p:nvSpPr>
          <p:cNvPr id="11" name="Shape 7">
            <a:extLst>
              <a:ext uri="{FF2B5EF4-FFF2-40B4-BE49-F238E27FC236}">
                <a16:creationId xmlns:a16="http://schemas.microsoft.com/office/drawing/2014/main" id="{4F586B45-CABD-481B-AD29-6121C7C6BB74}"/>
              </a:ext>
            </a:extLst>
          </p:cNvPr>
          <p:cNvSpPr>
            <a:spLocks noGrp="1"/>
          </p:cNvSpPr>
          <p:nvPr/>
        </p:nvSpPr>
        <p:spPr>
          <a:xfrm>
            <a:off x="3995928" y="2670048"/>
            <a:ext cx="347472" cy="292608"/>
          </a:xfrm>
          <a:prstGeom prst="rightArrow">
            <a:avLst/>
          </a:prstGeom>
          <a:solidFill>
            <a:srgbClr val="E9E9E9"/>
          </a:solidFill>
          <a:ln w="5715">
            <a:solidFill>
              <a:srgbClr val="D4D4D4"/>
            </a:solidFill>
          </a:ln>
        </p:spPr>
      </p:sp>
      <p:sp>
        <p:nvSpPr>
          <p:cNvPr id="15" name="Text 10">
            <a:extLst>
              <a:ext uri="{FF2B5EF4-FFF2-40B4-BE49-F238E27FC236}">
                <a16:creationId xmlns:a16="http://schemas.microsoft.com/office/drawing/2014/main" id="{81239440-4F90-477B-9228-EF2288030E6B}"/>
              </a:ext>
            </a:extLst>
          </p:cNvPr>
          <p:cNvSpPr>
            <a:spLocks noGrp="1"/>
          </p:cNvSpPr>
          <p:nvPr/>
        </p:nvSpPr>
        <p:spPr>
          <a:xfrm>
            <a:off x="463600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정복 (Conquer)</a:t>
            </a:r>
            <a:endParaRPr sz="1500"/>
          </a:p>
        </p:txBody>
      </p:sp>
      <p:sp>
        <p:nvSpPr>
          <p:cNvPr id="16" name="Text 11">
            <a:extLst>
              <a:ext uri="{FF2B5EF4-FFF2-40B4-BE49-F238E27FC236}">
                <a16:creationId xmlns:a16="http://schemas.microsoft.com/office/drawing/2014/main" id="{A7DE3AB6-BC79-40AC-9AC3-0B0ADDFF9714}"/>
              </a:ext>
            </a:extLst>
          </p:cNvPr>
          <p:cNvSpPr>
            <a:spLocks noGrp="1"/>
          </p:cNvSpPr>
          <p:nvPr/>
        </p:nvSpPr>
        <p:spPr>
          <a:xfrm>
            <a:off x="472744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하위 문제를 재귀적으로 해결한다. 충분히 작아지면 직접 푼다.</a:t>
            </a:r>
            <a:endParaRPr sz="1180"/>
          </a:p>
        </p:txBody>
      </p:sp>
      <p:sp>
        <p:nvSpPr>
          <p:cNvPr id="17" name="Shape 12">
            <a:extLst>
              <a:ext uri="{FF2B5EF4-FFF2-40B4-BE49-F238E27FC236}">
                <a16:creationId xmlns:a16="http://schemas.microsoft.com/office/drawing/2014/main" id="{B11AC180-2129-4535-B4DE-35B709C89E04}"/>
              </a:ext>
            </a:extLst>
          </p:cNvPr>
          <p:cNvSpPr>
            <a:spLocks noGrp="1"/>
          </p:cNvSpPr>
          <p:nvPr/>
        </p:nvSpPr>
        <p:spPr>
          <a:xfrm>
            <a:off x="7790688" y="2670048"/>
            <a:ext cx="347472" cy="292608"/>
          </a:xfrm>
          <a:prstGeom prst="rightArrow">
            <a:avLst/>
          </a:prstGeom>
          <a:solidFill>
            <a:srgbClr val="E9E9E9"/>
          </a:solidFill>
          <a:ln w="5715">
            <a:solidFill>
              <a:srgbClr val="D4D4D4"/>
            </a:solidFill>
          </a:ln>
        </p:spPr>
      </p:sp>
      <p:sp>
        <p:nvSpPr>
          <p:cNvPr id="21" name="Text 15">
            <a:extLst>
              <a:ext uri="{FF2B5EF4-FFF2-40B4-BE49-F238E27FC236}">
                <a16:creationId xmlns:a16="http://schemas.microsoft.com/office/drawing/2014/main" id="{EB2B8D17-DF1B-402C-8FBE-A68FCB282A02}"/>
              </a:ext>
            </a:extLst>
          </p:cNvPr>
          <p:cNvSpPr>
            <a:spLocks noGrp="1"/>
          </p:cNvSpPr>
          <p:nvPr/>
        </p:nvSpPr>
        <p:spPr>
          <a:xfrm>
            <a:off x="843076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결합 (Combine)</a:t>
            </a:r>
            <a:endParaRPr sz="1500"/>
          </a:p>
        </p:txBody>
      </p:sp>
      <p:sp>
        <p:nvSpPr>
          <p:cNvPr id="22" name="Text 16">
            <a:extLst>
              <a:ext uri="{FF2B5EF4-FFF2-40B4-BE49-F238E27FC236}">
                <a16:creationId xmlns:a16="http://schemas.microsoft.com/office/drawing/2014/main" id="{011DF3C4-9E49-4842-8774-9B52D117046B}"/>
              </a:ext>
            </a:extLst>
          </p:cNvPr>
          <p:cNvSpPr>
            <a:spLocks noGrp="1"/>
          </p:cNvSpPr>
          <p:nvPr/>
        </p:nvSpPr>
        <p:spPr>
          <a:xfrm>
            <a:off x="852220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하위 문제의 해답을 조합해 원래 문제의 해답을 만든다.</a:t>
            </a:r>
            <a:endParaRPr sz="1180"/>
          </a:p>
        </p:txBody>
      </p:sp>
      <p:sp>
        <p:nvSpPr>
          <p:cNvPr id="26" name="Text 19">
            <a:extLst>
              <a:ext uri="{FF2B5EF4-FFF2-40B4-BE49-F238E27FC236}">
                <a16:creationId xmlns:a16="http://schemas.microsoft.com/office/drawing/2014/main" id="{1102D157-5C16-4C77-AF09-D141738E0316}"/>
              </a:ext>
            </a:extLst>
          </p:cNvPr>
          <p:cNvSpPr>
            <a:spLocks noGrp="1"/>
          </p:cNvSpPr>
          <p:nvPr/>
        </p:nvSpPr>
        <p:spPr>
          <a:xfrm>
            <a:off x="1517904" y="4297680"/>
            <a:ext cx="9756648" cy="292608"/>
          </a:xfrm>
          <a:prstGeom prst="rect">
            <a:avLst/>
          </a:prstGeom>
          <a:noFill/>
          <a:ln w="0">
            <a:noFill/>
          </a:ln>
        </p:spPr>
        <p:txBody>
          <a:bodyPr wrap="square" lIns="0" tIns="0" rIns="0" bIns="0" anchor="ctr">
            <a:noAutofit/>
          </a:bodyPr>
          <a:lstStyle/>
          <a:p>
            <a:pPr marL="0" indent="0" algn="l">
              <a:buNone/>
              <a:defRPr sz="1320" i="0">
                <a:solidFill>
                  <a:srgbClr val="171717"/>
                </a:solidFill>
                <a:latin typeface="Malgun Gothic"/>
                <a:ea typeface="Malgun Gothic"/>
                <a:cs typeface="Malgun Gothic"/>
              </a:defRPr>
            </a:pPr>
            <a:r>
              <a:rPr sz="1320" b="1" i="0">
                <a:solidFill>
                  <a:srgbClr val="171717"/>
                </a:solidFill>
                <a:latin typeface="Malgun Gothic"/>
                <a:ea typeface="Malgun Gothic"/>
                <a:cs typeface="Malgun Gothic"/>
              </a:rPr>
              <a:t>분할 정복은 한 번만 나누는 알고리즘이 아니다</a:t>
            </a:r>
            <a:endParaRPr sz="1320"/>
          </a:p>
        </p:txBody>
      </p:sp>
      <p:sp>
        <p:nvSpPr>
          <p:cNvPr id="27" name="Text 20">
            <a:extLst>
              <a:ext uri="{FF2B5EF4-FFF2-40B4-BE49-F238E27FC236}">
                <a16:creationId xmlns:a16="http://schemas.microsoft.com/office/drawing/2014/main" id="{69BF4270-E339-4FC5-87E4-885996890E3C}"/>
              </a:ext>
            </a:extLst>
          </p:cNvPr>
          <p:cNvSpPr>
            <a:spLocks noGrp="1"/>
          </p:cNvSpPr>
          <p:nvPr/>
        </p:nvSpPr>
        <p:spPr>
          <a:xfrm>
            <a:off x="1517904" y="4588002"/>
            <a:ext cx="9756648" cy="285750"/>
          </a:xfrm>
          <a:prstGeom prst="rect">
            <a:avLst/>
          </a:prstGeom>
          <a:noFill/>
          <a:ln w="0">
            <a:noFill/>
          </a:ln>
        </p:spPr>
        <p:txBody>
          <a:bodyPr wrap="square" lIns="0" tIns="0" rIns="0" bIns="0" anchor="t">
            <a:noAutofit/>
          </a:bodyPr>
          <a:lstStyle/>
          <a:p>
            <a:pPr marL="0" indent="0" algn="l">
              <a:lnSpc>
                <a:spcPct val="132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분할된 문제가 아직 커서 즉시 해결할 수 없다면 다시 분할한다. 아주 쉽게 풀릴 때까지 계속 분할한다.</a:t>
            </a:r>
            <a:endParaRPr sz="1200"/>
          </a:p>
        </p:txBody>
      </p:sp>
      <p:sp>
        <p:nvSpPr>
          <p:cNvPr id="34" name="Text 27">
            <a:extLst>
              <a:ext uri="{FF2B5EF4-FFF2-40B4-BE49-F238E27FC236}">
                <a16:creationId xmlns:a16="http://schemas.microsoft.com/office/drawing/2014/main" id="{DA019235-389F-4FDC-BC33-9F1BEE9AC770}"/>
              </a:ext>
            </a:extLst>
          </p:cNvPr>
          <p:cNvSpPr>
            <a:spLocks noGrp="1"/>
          </p:cNvSpPr>
          <p:nvPr/>
        </p:nvSpPr>
        <p:spPr>
          <a:xfrm>
            <a:off x="859536" y="4943475"/>
            <a:ext cx="10506456"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divide_and_conquer.pseudo</a:t>
            </a:r>
            <a:endParaRPr sz="900"/>
          </a:p>
        </p:txBody>
      </p:sp>
      <p:sp>
        <p:nvSpPr>
          <p:cNvPr id="37" name="직사각형 36">
            <a:extLst>
              <a:ext uri="{FF2B5EF4-FFF2-40B4-BE49-F238E27FC236}">
                <a16:creationId xmlns:a16="http://schemas.microsoft.com/office/drawing/2014/main" id="{138631F1-6903-41F6-97C1-6C1C3EC71F99}"/>
              </a:ext>
            </a:extLst>
          </p:cNvPr>
          <p:cNvSpPr>
            <a:spLocks noGrp="1"/>
          </p:cNvSpPr>
          <p:nvPr/>
        </p:nvSpPr>
        <p:spPr>
          <a:xfrm>
            <a:off x="658368" y="1783080"/>
            <a:ext cx="3218688"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04367143-378E-4D8A-AD60-AD500C9281E6}"/>
              </a:ext>
            </a:extLst>
          </p:cNvPr>
          <p:cNvSpPr>
            <a:spLocks noGrp="1"/>
          </p:cNvSpPr>
          <p:nvPr/>
        </p:nvSpPr>
        <p:spPr>
          <a:xfrm>
            <a:off x="4453128" y="1783080"/>
            <a:ext cx="3218688"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FC469F9A-761B-487E-8E72-F054E0567893}"/>
              </a:ext>
            </a:extLst>
          </p:cNvPr>
          <p:cNvSpPr>
            <a:spLocks noGrp="1"/>
          </p:cNvSpPr>
          <p:nvPr/>
        </p:nvSpPr>
        <p:spPr>
          <a:xfrm>
            <a:off x="8247888" y="1783080"/>
            <a:ext cx="3218688" cy="9525"/>
          </a:xfrm>
          <a:prstGeom prst="rect">
            <a:avLst/>
          </a:prstGeom>
          <a:solidFill>
            <a:srgbClr val="D4D4D4"/>
          </a:solidFill>
          <a:ln w="0">
            <a:noFill/>
          </a:ln>
        </p:spPr>
      </p:sp>
      <p:sp>
        <p:nvSpPr>
          <p:cNvPr id="40" name="직사각형 39">
            <a:extLst>
              <a:ext uri="{FF2B5EF4-FFF2-40B4-BE49-F238E27FC236}">
                <a16:creationId xmlns:a16="http://schemas.microsoft.com/office/drawing/2014/main" id="{EB874620-37A8-407B-8671-130F861C6A1B}"/>
              </a:ext>
            </a:extLst>
          </p:cNvPr>
          <p:cNvSpPr>
            <a:spLocks noGrp="1"/>
          </p:cNvSpPr>
          <p:nvPr/>
        </p:nvSpPr>
        <p:spPr>
          <a:xfrm>
            <a:off x="698373" y="5181600"/>
            <a:ext cx="10847070" cy="1143000"/>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DIVIDE_AND_CONQUER(P):</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P의 크기가 충분히 작으면 then return SolveDirectly(P)</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P1, P2, ..., Pk &lt;- Divide(P)                  // 분할</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Si &lt;- DIVIDE_AND_CONQUER(Pi)   for i = 1..k   // 정복</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Combine(S1, S2, ..., Sk)               // 결합</a:t>
            </a:r>
          </a:p>
        </p:txBody>
      </p:sp>
      <p:sp>
        <p:nvSpPr>
          <p:cNvPr id="41" name="직사각형 40">
            <a:extLst>
              <a:ext uri="{FF2B5EF4-FFF2-40B4-BE49-F238E27FC236}">
                <a16:creationId xmlns:a16="http://schemas.microsoft.com/office/drawing/2014/main" id="{262B3600-4658-42C3-BAC9-5A974C23CCF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42" name="직사각형 41">
            <a:extLst>
              <a:ext uri="{FF2B5EF4-FFF2-40B4-BE49-F238E27FC236}">
                <a16:creationId xmlns:a16="http://schemas.microsoft.com/office/drawing/2014/main" id="{DB8CB566-7E47-4821-B9D8-5D7CB660601E}"/>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3" name="직사각형 42">
            <a:extLst>
              <a:ext uri="{FF2B5EF4-FFF2-40B4-BE49-F238E27FC236}">
                <a16:creationId xmlns:a16="http://schemas.microsoft.com/office/drawing/2014/main" id="{56BA1123-3BA8-4676-8FA2-E6EB62E34AC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정복의 3단계</a:t>
            </a:r>
          </a:p>
        </p:txBody>
      </p:sp>
      <p:sp>
        <p:nvSpPr>
          <p:cNvPr id="44" name="직사각형 43">
            <a:extLst>
              <a:ext uri="{FF2B5EF4-FFF2-40B4-BE49-F238E27FC236}">
                <a16:creationId xmlns:a16="http://schemas.microsoft.com/office/drawing/2014/main" id="{FD4F1B93-7E8E-445C-80BF-D244801314AC}"/>
              </a:ext>
            </a:extLst>
          </p:cNvPr>
          <p:cNvSpPr>
            <a:spLocks noGrp="1"/>
          </p:cNvSpPr>
          <p:nvPr/>
        </p:nvSpPr>
        <p:spPr>
          <a:xfrm>
            <a:off x="609600" y="1381125"/>
            <a:ext cx="10972800" cy="19050"/>
          </a:xfrm>
          <a:prstGeom prst="rect">
            <a:avLst/>
          </a:prstGeom>
          <a:solidFill>
            <a:srgbClr val="171717"/>
          </a:solidFill>
          <a:ln w="0">
            <a:noFill/>
          </a:ln>
        </p:spPr>
      </p:sp>
      <p:sp>
        <p:nvSpPr>
          <p:cNvPr id="45" name="직사각형 44">
            <a:extLst>
              <a:ext uri="{FF2B5EF4-FFF2-40B4-BE49-F238E27FC236}">
                <a16:creationId xmlns:a16="http://schemas.microsoft.com/office/drawing/2014/main" id="{C14C9F1D-46D7-48CE-8FA5-4BCCD8A74B85}"/>
              </a:ext>
            </a:extLst>
          </p:cNvPr>
          <p:cNvSpPr>
            <a:spLocks noGrp="1"/>
          </p:cNvSpPr>
          <p:nvPr/>
        </p:nvSpPr>
        <p:spPr>
          <a:xfrm>
            <a:off x="609600" y="6438900"/>
            <a:ext cx="10972800" cy="9525"/>
          </a:xfrm>
          <a:prstGeom prst="rect">
            <a:avLst/>
          </a:prstGeom>
          <a:solidFill>
            <a:srgbClr val="D4D4D4"/>
          </a:solidFill>
          <a:ln w="0">
            <a:noFill/>
          </a:ln>
        </p:spPr>
      </p:sp>
      <p:sp>
        <p:nvSpPr>
          <p:cNvPr id="46" name="직사각형 45">
            <a:extLst>
              <a:ext uri="{FF2B5EF4-FFF2-40B4-BE49-F238E27FC236}">
                <a16:creationId xmlns:a16="http://schemas.microsoft.com/office/drawing/2014/main" id="{4FDB7903-39C3-456F-A785-9EDE7F76541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7" name="직사각형 46">
            <a:extLst>
              <a:ext uri="{FF2B5EF4-FFF2-40B4-BE49-F238E27FC236}">
                <a16:creationId xmlns:a16="http://schemas.microsoft.com/office/drawing/2014/main" id="{677EF00B-4BE2-4DFA-B6FD-AB0138CAC36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2084124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083F793E-5C9E-4BE5-80F2-EAE215196948}"/>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40D18AEB-C356-4214-AD47-8AB690010D28}"/>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3172A4D7-1FF3-43BF-A2FB-12FBB9061405}"/>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정렬 (Merge Sort)</a:t>
            </a:r>
          </a:p>
        </p:txBody>
      </p:sp>
      <p:sp>
        <p:nvSpPr>
          <p:cNvPr id="4" name="직사각형 3">
            <a:extLst>
              <a:ext uri="{FF2B5EF4-FFF2-40B4-BE49-F238E27FC236}">
                <a16:creationId xmlns:a16="http://schemas.microsoft.com/office/drawing/2014/main" id="{5FDA442B-51D0-4108-83C4-8A5AEBCD7217}"/>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반으로 나누고, 정렬된 두 배열을 합친다</a:t>
            </a:r>
          </a:p>
          <a:p>
            <a:pPr>
              <a:defRPr sz="2025" b="0">
                <a:solidFill>
                  <a:srgbClr val="151515"/>
                </a:solidFill>
              </a:defRPr>
            </a:pPr>
            <a:r>
              <a:rPr sz="2025" b="0">
                <a:solidFill>
                  <a:srgbClr val="151515"/>
                </a:solidFill>
                <a:latin typeface="Malgun Gothic" panose="020B0503020000020004" pitchFamily="50" charset="-127"/>
              </a:rPr>
              <a:t>원소가 하나이면 이미 정렬된 상태다.</a:t>
            </a:r>
          </a:p>
        </p:txBody>
      </p:sp>
      <p:sp>
        <p:nvSpPr>
          <p:cNvPr id="5" name="직사각형 4">
            <a:extLst>
              <a:ext uri="{FF2B5EF4-FFF2-40B4-BE49-F238E27FC236}">
                <a16:creationId xmlns:a16="http://schemas.microsoft.com/office/drawing/2014/main" id="{4EA51A8A-0C4D-41BB-B08D-27F16AF5813D}"/>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정렬 전</a:t>
            </a:r>
          </a:p>
        </p:txBody>
      </p:sp>
      <p:graphicFrame>
        <p:nvGraphicFramePr>
          <p:cNvPr id="6" name="표 5">
            <a:extLst>
              <a:ext uri="{FF2B5EF4-FFF2-40B4-BE49-F238E27FC236}">
                <a16:creationId xmlns:a16="http://schemas.microsoft.com/office/drawing/2014/main" id="{58650B02-40BE-4EE6-8E75-BB7216CDA5A7}"/>
              </a:ext>
            </a:extLst>
          </p:cNvPr>
          <p:cNvGraphicFramePr/>
          <p:nvPr>
            <p:extLst>
              <p:ext uri="{D42A27DB-BD31-4B8C-83A1-F6EECF244321}">
                <p14:modId xmlns:p14="http://schemas.microsoft.com/office/powerpoint/2010/main" val="259357364"/>
              </p:ext>
            </p:extLst>
          </p:nvPr>
        </p:nvGraphicFramePr>
        <p:xfrm>
          <a:off x="609600" y="3619500"/>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B1F11BF-9F79-4D3B-B6CF-D2E1D108E2AC}"/>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정렬 후</a:t>
            </a:r>
          </a:p>
        </p:txBody>
      </p:sp>
      <p:graphicFrame>
        <p:nvGraphicFramePr>
          <p:cNvPr id="8" name="표 7">
            <a:extLst>
              <a:ext uri="{FF2B5EF4-FFF2-40B4-BE49-F238E27FC236}">
                <a16:creationId xmlns:a16="http://schemas.microsoft.com/office/drawing/2014/main" id="{DAFAB335-5ECC-42F9-8C9E-AADFA03633AF}"/>
              </a:ext>
            </a:extLst>
          </p:cNvPr>
          <p:cNvGraphicFramePr/>
          <p:nvPr>
            <p:extLst>
              <p:ext uri="{D42A27DB-BD31-4B8C-83A1-F6EECF244321}">
                <p14:modId xmlns:p14="http://schemas.microsoft.com/office/powerpoint/2010/main" val="400254752"/>
              </p:ext>
            </p:extLst>
          </p:nvPr>
        </p:nvGraphicFramePr>
        <p:xfrm>
          <a:off x="609600" y="4705350"/>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13FDAF28-7557-43DD-A15E-BE9A25268937}"/>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627C6855-207A-4746-A2E3-E16220AE62C1}"/>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07</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0687932E-FCF1-7190-670C-BE480ED73A4C}"/>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865666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직사각형 12">
            <a:extLst>
              <a:ext uri="{FF2B5EF4-FFF2-40B4-BE49-F238E27FC236}">
                <a16:creationId xmlns:a16="http://schemas.microsoft.com/office/drawing/2014/main" id="{8F60D7EB-FCE7-4595-A3CC-75F43A849581}"/>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2FB65DD-408B-4878-93F6-E790D896457B}"/>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D97A45EA-B06A-4627-85F4-FE476DA507F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나누는 동안 값의 순서는 그대로</a:t>
            </a:r>
          </a:p>
        </p:txBody>
      </p:sp>
      <p:sp>
        <p:nvSpPr>
          <p:cNvPr id="4" name="직사각형 3">
            <a:extLst>
              <a:ext uri="{FF2B5EF4-FFF2-40B4-BE49-F238E27FC236}">
                <a16:creationId xmlns:a16="http://schemas.microsoft.com/office/drawing/2014/main" id="{DA74089E-C03C-4102-839A-2A8DB4508A2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나누기는 인덱스 가운데에서 자르는 작업이다.</a:t>
            </a:r>
          </a:p>
          <a:p>
            <a:pPr>
              <a:defRPr sz="2025" b="0">
                <a:solidFill>
                  <a:srgbClr val="151515"/>
                </a:solidFill>
              </a:defRPr>
            </a:pPr>
            <a:r>
              <a:rPr sz="2025" b="0">
                <a:solidFill>
                  <a:srgbClr val="151515"/>
                </a:solidFill>
                <a:latin typeface="Malgun Gothic" panose="020B0503020000020004" pitchFamily="50" charset="-127"/>
              </a:rPr>
              <a:t>이 단계에서는 크기를 비교하거나 위치를 교환하지 않는다.</a:t>
            </a:r>
          </a:p>
        </p:txBody>
      </p:sp>
      <p:sp>
        <p:nvSpPr>
          <p:cNvPr id="5" name="직사각형 4">
            <a:extLst>
              <a:ext uri="{FF2B5EF4-FFF2-40B4-BE49-F238E27FC236}">
                <a16:creationId xmlns:a16="http://schemas.microsoft.com/office/drawing/2014/main" id="{9EFCD60F-3B29-4D99-B5BE-47A13541ACEC}"/>
              </a:ext>
            </a:extLst>
          </p:cNvPr>
          <p:cNvSpPr>
            <a:spLocks noGrp="1"/>
          </p:cNvSpPr>
          <p:nvPr/>
        </p:nvSpPr>
        <p:spPr>
          <a:xfrm>
            <a:off x="609600" y="31146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8개</a:t>
            </a:r>
          </a:p>
        </p:txBody>
      </p:sp>
      <p:graphicFrame>
        <p:nvGraphicFramePr>
          <p:cNvPr id="6" name="표 5">
            <a:extLst>
              <a:ext uri="{FF2B5EF4-FFF2-40B4-BE49-F238E27FC236}">
                <a16:creationId xmlns:a16="http://schemas.microsoft.com/office/drawing/2014/main" id="{6B76E9D0-00AB-44CB-AEC9-B756CBE3DABA}"/>
              </a:ext>
            </a:extLst>
          </p:cNvPr>
          <p:cNvGraphicFramePr/>
          <p:nvPr>
            <p:extLst>
              <p:ext uri="{D42A27DB-BD31-4B8C-83A1-F6EECF244321}">
                <p14:modId xmlns:p14="http://schemas.microsoft.com/office/powerpoint/2010/main" val="2145642371"/>
              </p:ext>
            </p:extLst>
          </p:nvPr>
        </p:nvGraphicFramePr>
        <p:xfrm>
          <a:off x="609600" y="3381375"/>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6C58F722-0CBA-4CF6-A250-BD29A4241DC5}"/>
              </a:ext>
            </a:extLst>
          </p:cNvPr>
          <p:cNvSpPr>
            <a:spLocks noGrp="1"/>
          </p:cNvSpPr>
          <p:nvPr/>
        </p:nvSpPr>
        <p:spPr>
          <a:xfrm>
            <a:off x="609600" y="401002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4개씩</a:t>
            </a:r>
          </a:p>
        </p:txBody>
      </p:sp>
      <p:graphicFrame>
        <p:nvGraphicFramePr>
          <p:cNvPr id="8" name="표 7">
            <a:extLst>
              <a:ext uri="{FF2B5EF4-FFF2-40B4-BE49-F238E27FC236}">
                <a16:creationId xmlns:a16="http://schemas.microsoft.com/office/drawing/2014/main" id="{24EB1F58-8EB0-40D6-A894-1C42C4EFE3D0}"/>
              </a:ext>
            </a:extLst>
          </p:cNvPr>
          <p:cNvGraphicFramePr/>
          <p:nvPr>
            <p:extLst>
              <p:ext uri="{D42A27DB-BD31-4B8C-83A1-F6EECF244321}">
                <p14:modId xmlns:p14="http://schemas.microsoft.com/office/powerpoint/2010/main" val="1661578135"/>
              </p:ext>
            </p:extLst>
          </p:nvPr>
        </p:nvGraphicFramePr>
        <p:xfrm>
          <a:off x="609600" y="4276725"/>
          <a:ext cx="10972800" cy="552450"/>
        </p:xfrm>
        <a:graphic>
          <a:graphicData uri="http://schemas.openxmlformats.org/drawingml/2006/table">
            <a:tbl>
              <a:tblPr/>
              <a:tblGrid>
                <a:gridCol w="54864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tblGrid>
              <a:tr h="552450">
                <a:tc>
                  <a:txBody>
                    <a:bodyPr/>
                    <a:lstStyle/>
                    <a:p>
                      <a:pPr algn="ctr"/>
                      <a:r>
                        <a:rPr sz="2025" b="1">
                          <a:solidFill>
                            <a:srgbClr val="151515"/>
                          </a:solidFill>
                          <a:latin typeface="Malgun Gothic" panose="020B0503020000020004" pitchFamily="50" charset="-127"/>
                        </a:rPr>
                        <a:t>8  3  6  2</a:t>
                      </a:r>
                    </a:p>
                  </a:txBody>
                  <a:tcPr>
                    <a:solidFill>
                      <a:srgbClr val="F6F6F6"/>
                    </a:solidFill>
                  </a:tcPr>
                </a:tc>
                <a:tc>
                  <a:txBody>
                    <a:bodyPr/>
                    <a:lstStyle/>
                    <a:p>
                      <a:pPr algn="ctr"/>
                      <a:r>
                        <a:rPr sz="2025" b="1">
                          <a:solidFill>
                            <a:srgbClr val="151515"/>
                          </a:solidFill>
                          <a:latin typeface="Malgun Gothic" panose="020B0503020000020004" pitchFamily="50" charset="-127"/>
                        </a:rPr>
                        <a:t>7  1  5  4</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87D08A97-27D3-4A99-992B-2C7B368BC0DF}"/>
              </a:ext>
            </a:extLst>
          </p:cNvPr>
          <p:cNvSpPr>
            <a:spLocks noGrp="1"/>
          </p:cNvSpPr>
          <p:nvPr/>
        </p:nvSpPr>
        <p:spPr>
          <a:xfrm>
            <a:off x="609600" y="49053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2개씩</a:t>
            </a:r>
          </a:p>
        </p:txBody>
      </p:sp>
      <p:graphicFrame>
        <p:nvGraphicFramePr>
          <p:cNvPr id="10" name="표 9">
            <a:extLst>
              <a:ext uri="{FF2B5EF4-FFF2-40B4-BE49-F238E27FC236}">
                <a16:creationId xmlns:a16="http://schemas.microsoft.com/office/drawing/2014/main" id="{E13EC3F3-0677-4319-9699-748910949339}"/>
              </a:ext>
            </a:extLst>
          </p:cNvPr>
          <p:cNvGraphicFramePr/>
          <p:nvPr>
            <p:extLst>
              <p:ext uri="{D42A27DB-BD31-4B8C-83A1-F6EECF244321}">
                <p14:modId xmlns:p14="http://schemas.microsoft.com/office/powerpoint/2010/main" val="2436722640"/>
              </p:ext>
            </p:extLst>
          </p:nvPr>
        </p:nvGraphicFramePr>
        <p:xfrm>
          <a:off x="609600" y="5172075"/>
          <a:ext cx="10972800" cy="552450"/>
        </p:xfrm>
        <a:graphic>
          <a:graphicData uri="http://schemas.openxmlformats.org/drawingml/2006/table">
            <a:tbl>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552450">
                <a:tc>
                  <a:txBody>
                    <a:bodyPr/>
                    <a:lstStyle/>
                    <a:p>
                      <a:pPr algn="ctr"/>
                      <a:r>
                        <a:rPr sz="2550" b="1">
                          <a:solidFill>
                            <a:srgbClr val="151515"/>
                          </a:solidFill>
                          <a:latin typeface="Malgun Gothic" panose="020B0503020000020004" pitchFamily="50" charset="-127"/>
                        </a:rPr>
                        <a:t>8  3</a:t>
                      </a:r>
                    </a:p>
                  </a:txBody>
                  <a:tcPr>
                    <a:solidFill>
                      <a:srgbClr val="F6F6F6"/>
                    </a:solidFill>
                  </a:tcPr>
                </a:tc>
                <a:tc>
                  <a:txBody>
                    <a:bodyPr/>
                    <a:lstStyle/>
                    <a:p>
                      <a:pPr algn="ctr"/>
                      <a:r>
                        <a:rPr sz="2550" b="1">
                          <a:solidFill>
                            <a:srgbClr val="151515"/>
                          </a:solidFill>
                          <a:latin typeface="Malgun Gothic" panose="020B0503020000020004" pitchFamily="50" charset="-127"/>
                        </a:rPr>
                        <a:t>6  2</a:t>
                      </a:r>
                    </a:p>
                  </a:txBody>
                  <a:tcPr>
                    <a:solidFill>
                      <a:srgbClr val="F6F6F6"/>
                    </a:solidFill>
                  </a:tcPr>
                </a:tc>
                <a:tc>
                  <a:txBody>
                    <a:bodyPr/>
                    <a:lstStyle/>
                    <a:p>
                      <a:pPr algn="ctr"/>
                      <a:r>
                        <a:rPr sz="2550" b="1">
                          <a:solidFill>
                            <a:srgbClr val="151515"/>
                          </a:solidFill>
                          <a:latin typeface="Malgun Gothic" panose="020B0503020000020004" pitchFamily="50" charset="-127"/>
                        </a:rPr>
                        <a:t>7  1</a:t>
                      </a:r>
                    </a:p>
                  </a:txBody>
                  <a:tcPr>
                    <a:solidFill>
                      <a:srgbClr val="F6F6F6"/>
                    </a:solidFill>
                  </a:tcPr>
                </a:tc>
                <a:tc>
                  <a:txBody>
                    <a:bodyPr/>
                    <a:lstStyle/>
                    <a:p>
                      <a:pPr algn="ctr"/>
                      <a:r>
                        <a:rPr sz="2550" b="1">
                          <a:solidFill>
                            <a:srgbClr val="151515"/>
                          </a:solidFill>
                          <a:latin typeface="Malgun Gothic" panose="020B0503020000020004" pitchFamily="50" charset="-127"/>
                        </a:rPr>
                        <a:t>5  4</a:t>
                      </a:r>
                    </a:p>
                  </a:txBody>
                  <a:tcPr>
                    <a:solidFill>
                      <a:srgbClr val="F6F6F6"/>
                    </a:solidFill>
                  </a:tcPr>
                </a:tc>
                <a:extLst>
                  <a:ext uri="{0D108BD9-81ED-4DB2-BD59-A6C34878D82A}">
                    <a16:rowId xmlns:a16="http://schemas.microsoft.com/office/drawing/2014/main" val="10000"/>
                  </a:ext>
                </a:extLst>
              </a:tr>
            </a:tbl>
          </a:graphicData>
        </a:graphic>
      </p:graphicFrame>
      <p:sp>
        <p:nvSpPr>
          <p:cNvPr id="11" name="직사각형 10">
            <a:extLst>
              <a:ext uri="{FF2B5EF4-FFF2-40B4-BE49-F238E27FC236}">
                <a16:creationId xmlns:a16="http://schemas.microsoft.com/office/drawing/2014/main" id="{343178D5-B1E8-43BD-A79D-6BDC5932A4D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2" name="직사각형 11">
            <a:extLst>
              <a:ext uri="{FF2B5EF4-FFF2-40B4-BE49-F238E27FC236}">
                <a16:creationId xmlns:a16="http://schemas.microsoft.com/office/drawing/2014/main" id="{AD9AAB46-D192-4679-AF21-1558B389DFAC}"/>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08</a:t>
            </a:r>
            <a:endParaRPr sz="1050" b="0">
              <a:solidFill>
                <a:srgbClr val="151515"/>
              </a:solidFill>
              <a:latin typeface="Consolas" panose="020B0609020204030204" pitchFamily="49" charset="0"/>
            </a:endParaRPr>
          </a:p>
        </p:txBody>
      </p:sp>
      <p:cxnSp>
        <p:nvCxnSpPr>
          <p:cNvPr id="14" name="직선 연결선 13">
            <a:extLst>
              <a:ext uri="{FF2B5EF4-FFF2-40B4-BE49-F238E27FC236}">
                <a16:creationId xmlns:a16="http://schemas.microsoft.com/office/drawing/2014/main" id="{51967A94-4CA1-A9F0-FF05-465B8DE0E8D7}"/>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023978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직사각형 12">
            <a:extLst>
              <a:ext uri="{FF2B5EF4-FFF2-40B4-BE49-F238E27FC236}">
                <a16:creationId xmlns:a16="http://schemas.microsoft.com/office/drawing/2014/main" id="{6ADC4731-3463-44FB-A491-5C2927E8402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02BB61B-8EE0-47B8-945E-201E68433C4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5BCC22E7-3156-48CA-B113-91C1527F2A37}"/>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합칠 때 작은 값부터 정렬된다</a:t>
            </a:r>
          </a:p>
        </p:txBody>
      </p:sp>
      <p:sp>
        <p:nvSpPr>
          <p:cNvPr id="4" name="직사각형 3">
            <a:extLst>
              <a:ext uri="{FF2B5EF4-FFF2-40B4-BE49-F238E27FC236}">
                <a16:creationId xmlns:a16="http://schemas.microsoft.com/office/drawing/2014/main" id="{2399C9AF-B456-498E-8688-D2116C4527C0}"/>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한 원소 배열끼리 합치고, 그 결과를 다시 합친다.</a:t>
            </a:r>
          </a:p>
          <a:p>
            <a:pPr>
              <a:defRPr sz="2025" b="0">
                <a:solidFill>
                  <a:srgbClr val="151515"/>
                </a:solidFill>
              </a:defRPr>
            </a:pPr>
            <a:r>
              <a:rPr sz="2025" b="0">
                <a:solidFill>
                  <a:srgbClr val="151515"/>
                </a:solidFill>
                <a:latin typeface="Malgun Gothic" panose="020B0503020000020004" pitchFamily="50" charset="-127"/>
              </a:rPr>
              <a:t>병합에 들어오는 두 배열은 각각 정렬되어 있어야 한다.</a:t>
            </a:r>
          </a:p>
        </p:txBody>
      </p:sp>
      <p:sp>
        <p:nvSpPr>
          <p:cNvPr id="5" name="직사각형 4">
            <a:extLst>
              <a:ext uri="{FF2B5EF4-FFF2-40B4-BE49-F238E27FC236}">
                <a16:creationId xmlns:a16="http://schemas.microsoft.com/office/drawing/2014/main" id="{3B9A9E66-5A25-4BFB-8AF2-34A33F60D4C1}"/>
              </a:ext>
            </a:extLst>
          </p:cNvPr>
          <p:cNvSpPr>
            <a:spLocks noGrp="1"/>
          </p:cNvSpPr>
          <p:nvPr/>
        </p:nvSpPr>
        <p:spPr>
          <a:xfrm>
            <a:off x="609600" y="31146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원소씩</a:t>
            </a:r>
          </a:p>
        </p:txBody>
      </p:sp>
      <p:graphicFrame>
        <p:nvGraphicFramePr>
          <p:cNvPr id="6" name="표 5">
            <a:extLst>
              <a:ext uri="{FF2B5EF4-FFF2-40B4-BE49-F238E27FC236}">
                <a16:creationId xmlns:a16="http://schemas.microsoft.com/office/drawing/2014/main" id="{F33A87AE-74AE-4179-A355-5DF3302119CF}"/>
              </a:ext>
            </a:extLst>
          </p:cNvPr>
          <p:cNvGraphicFramePr/>
          <p:nvPr>
            <p:extLst>
              <p:ext uri="{D42A27DB-BD31-4B8C-83A1-F6EECF244321}">
                <p14:modId xmlns:p14="http://schemas.microsoft.com/office/powerpoint/2010/main" val="2422646637"/>
              </p:ext>
            </p:extLst>
          </p:nvPr>
        </p:nvGraphicFramePr>
        <p:xfrm>
          <a:off x="609600" y="3381375"/>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988E30CA-40F0-4674-A7AC-D7BE57E1E95B}"/>
              </a:ext>
            </a:extLst>
          </p:cNvPr>
          <p:cNvSpPr>
            <a:spLocks noGrp="1"/>
          </p:cNvSpPr>
          <p:nvPr/>
        </p:nvSpPr>
        <p:spPr>
          <a:xfrm>
            <a:off x="609600" y="401002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두 개 병합</a:t>
            </a:r>
          </a:p>
        </p:txBody>
      </p:sp>
      <p:graphicFrame>
        <p:nvGraphicFramePr>
          <p:cNvPr id="8" name="표 7">
            <a:extLst>
              <a:ext uri="{FF2B5EF4-FFF2-40B4-BE49-F238E27FC236}">
                <a16:creationId xmlns:a16="http://schemas.microsoft.com/office/drawing/2014/main" id="{B5AFACD5-4450-424E-AE1A-D1021B69518B}"/>
              </a:ext>
            </a:extLst>
          </p:cNvPr>
          <p:cNvGraphicFramePr/>
          <p:nvPr>
            <p:extLst>
              <p:ext uri="{D42A27DB-BD31-4B8C-83A1-F6EECF244321}">
                <p14:modId xmlns:p14="http://schemas.microsoft.com/office/powerpoint/2010/main" val="2782398863"/>
              </p:ext>
            </p:extLst>
          </p:nvPr>
        </p:nvGraphicFramePr>
        <p:xfrm>
          <a:off x="609600" y="4276725"/>
          <a:ext cx="10972800" cy="552450"/>
        </p:xfrm>
        <a:graphic>
          <a:graphicData uri="http://schemas.openxmlformats.org/drawingml/2006/table">
            <a:tbl>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552450">
                <a:tc>
                  <a:txBody>
                    <a:bodyPr/>
                    <a:lstStyle/>
                    <a:p>
                      <a:pPr algn="ctr"/>
                      <a:r>
                        <a:rPr sz="2550" b="1">
                          <a:solidFill>
                            <a:srgbClr val="151515"/>
                          </a:solidFill>
                          <a:latin typeface="Malgun Gothic" panose="020B0503020000020004" pitchFamily="50" charset="-127"/>
                        </a:rPr>
                        <a:t>3  8</a:t>
                      </a:r>
                    </a:p>
                  </a:txBody>
                  <a:tcPr>
                    <a:solidFill>
                      <a:srgbClr val="F6F6F6"/>
                    </a:solidFill>
                  </a:tcPr>
                </a:tc>
                <a:tc>
                  <a:txBody>
                    <a:bodyPr/>
                    <a:lstStyle/>
                    <a:p>
                      <a:pPr algn="ctr"/>
                      <a:r>
                        <a:rPr sz="2550" b="1">
                          <a:solidFill>
                            <a:srgbClr val="151515"/>
                          </a:solidFill>
                          <a:latin typeface="Malgun Gothic" panose="020B0503020000020004" pitchFamily="50" charset="-127"/>
                        </a:rPr>
                        <a:t>2  6</a:t>
                      </a:r>
                    </a:p>
                  </a:txBody>
                  <a:tcPr>
                    <a:solidFill>
                      <a:srgbClr val="F6F6F6"/>
                    </a:solidFill>
                  </a:tcPr>
                </a:tc>
                <a:tc>
                  <a:txBody>
                    <a:bodyPr/>
                    <a:lstStyle/>
                    <a:p>
                      <a:pPr algn="ctr"/>
                      <a:r>
                        <a:rPr sz="2550" b="1">
                          <a:solidFill>
                            <a:srgbClr val="151515"/>
                          </a:solidFill>
                          <a:latin typeface="Malgun Gothic" panose="020B0503020000020004" pitchFamily="50" charset="-127"/>
                        </a:rPr>
                        <a:t>1  7</a:t>
                      </a:r>
                    </a:p>
                  </a:txBody>
                  <a:tcPr>
                    <a:solidFill>
                      <a:srgbClr val="F6F6F6"/>
                    </a:solidFill>
                  </a:tcPr>
                </a:tc>
                <a:tc>
                  <a:txBody>
                    <a:bodyPr/>
                    <a:lstStyle/>
                    <a:p>
                      <a:pPr algn="ctr"/>
                      <a:r>
                        <a:rPr sz="2550" b="1">
                          <a:solidFill>
                            <a:srgbClr val="151515"/>
                          </a:solidFill>
                          <a:latin typeface="Malgun Gothic" panose="020B0503020000020004" pitchFamily="50" charset="-127"/>
                        </a:rPr>
                        <a:t>4  5</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0D5B9DDD-9BAF-4499-9715-F10D230AC6F1}"/>
              </a:ext>
            </a:extLst>
          </p:cNvPr>
          <p:cNvSpPr>
            <a:spLocks noGrp="1"/>
          </p:cNvSpPr>
          <p:nvPr/>
        </p:nvSpPr>
        <p:spPr>
          <a:xfrm>
            <a:off x="609600" y="49053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네 개 병합</a:t>
            </a:r>
          </a:p>
        </p:txBody>
      </p:sp>
      <p:graphicFrame>
        <p:nvGraphicFramePr>
          <p:cNvPr id="10" name="표 9">
            <a:extLst>
              <a:ext uri="{FF2B5EF4-FFF2-40B4-BE49-F238E27FC236}">
                <a16:creationId xmlns:a16="http://schemas.microsoft.com/office/drawing/2014/main" id="{F9B8FD62-A01B-410C-97CD-3BE6229AFF1D}"/>
              </a:ext>
            </a:extLst>
          </p:cNvPr>
          <p:cNvGraphicFramePr/>
          <p:nvPr>
            <p:extLst>
              <p:ext uri="{D42A27DB-BD31-4B8C-83A1-F6EECF244321}">
                <p14:modId xmlns:p14="http://schemas.microsoft.com/office/powerpoint/2010/main" val="817588628"/>
              </p:ext>
            </p:extLst>
          </p:nvPr>
        </p:nvGraphicFramePr>
        <p:xfrm>
          <a:off x="609600" y="5172075"/>
          <a:ext cx="10972800" cy="552450"/>
        </p:xfrm>
        <a:graphic>
          <a:graphicData uri="http://schemas.openxmlformats.org/drawingml/2006/table">
            <a:tbl>
              <a:tblPr/>
              <a:tblGrid>
                <a:gridCol w="54864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tblGrid>
              <a:tr h="552450">
                <a:tc>
                  <a:txBody>
                    <a:bodyPr/>
                    <a:lstStyle/>
                    <a:p>
                      <a:pPr algn="ctr"/>
                      <a:r>
                        <a:rPr sz="2025" b="1">
                          <a:solidFill>
                            <a:srgbClr val="151515"/>
                          </a:solidFill>
                          <a:latin typeface="Malgun Gothic" panose="020B0503020000020004" pitchFamily="50" charset="-127"/>
                        </a:rPr>
                        <a:t>2  3  6  8</a:t>
                      </a:r>
                    </a:p>
                  </a:txBody>
                  <a:tcPr>
                    <a:solidFill>
                      <a:srgbClr val="F6F6F6"/>
                    </a:solidFill>
                  </a:tcPr>
                </a:tc>
                <a:tc>
                  <a:txBody>
                    <a:bodyPr/>
                    <a:lstStyle/>
                    <a:p>
                      <a:pPr algn="ctr"/>
                      <a:r>
                        <a:rPr sz="2025" b="1">
                          <a:solidFill>
                            <a:srgbClr val="151515"/>
                          </a:solidFill>
                          <a:latin typeface="Malgun Gothic" panose="020B0503020000020004" pitchFamily="50" charset="-127"/>
                        </a:rPr>
                        <a:t>1  4  5  7</a:t>
                      </a:r>
                    </a:p>
                  </a:txBody>
                  <a:tcPr>
                    <a:solidFill>
                      <a:srgbClr val="F6F6F6"/>
                    </a:solidFill>
                  </a:tcPr>
                </a:tc>
                <a:extLst>
                  <a:ext uri="{0D108BD9-81ED-4DB2-BD59-A6C34878D82A}">
                    <a16:rowId xmlns:a16="http://schemas.microsoft.com/office/drawing/2014/main" val="10000"/>
                  </a:ext>
                </a:extLst>
              </a:tr>
            </a:tbl>
          </a:graphicData>
        </a:graphic>
      </p:graphicFrame>
      <p:sp>
        <p:nvSpPr>
          <p:cNvPr id="11" name="직사각형 10">
            <a:extLst>
              <a:ext uri="{FF2B5EF4-FFF2-40B4-BE49-F238E27FC236}">
                <a16:creationId xmlns:a16="http://schemas.microsoft.com/office/drawing/2014/main" id="{74D6C6F0-592A-41D1-A3AC-951793179970}"/>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2" name="직사각형 11">
            <a:extLst>
              <a:ext uri="{FF2B5EF4-FFF2-40B4-BE49-F238E27FC236}">
                <a16:creationId xmlns:a16="http://schemas.microsoft.com/office/drawing/2014/main" id="{FE76DA25-0727-46D4-930B-0B6734BB709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09</a:t>
            </a:r>
            <a:endParaRPr sz="1050" b="0">
              <a:solidFill>
                <a:srgbClr val="151515"/>
              </a:solidFill>
              <a:latin typeface="Consolas" panose="020B0609020204030204" pitchFamily="49" charset="0"/>
            </a:endParaRPr>
          </a:p>
        </p:txBody>
      </p:sp>
      <p:cxnSp>
        <p:nvCxnSpPr>
          <p:cNvPr id="14" name="직선 연결선 13">
            <a:extLst>
              <a:ext uri="{FF2B5EF4-FFF2-40B4-BE49-F238E27FC236}">
                <a16:creationId xmlns:a16="http://schemas.microsoft.com/office/drawing/2014/main" id="{7632760C-2947-B09F-50BC-9790F03A36F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787845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직사각형 13">
            <a:extLst>
              <a:ext uri="{FF2B5EF4-FFF2-40B4-BE49-F238E27FC236}">
                <a16:creationId xmlns:a16="http://schemas.microsoft.com/office/drawing/2014/main" id="{5B8B10A6-E01D-423D-9406-AD89F0A4714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E957A80B-484D-4D7F-AB11-9FBB496B850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6EAA3782-049C-4638-96EA-4C9A11D5F650}"/>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병합의 두 포인터</a:t>
            </a:r>
          </a:p>
        </p:txBody>
      </p:sp>
      <p:sp>
        <p:nvSpPr>
          <p:cNvPr id="4" name="직사각형 3">
            <a:extLst>
              <a:ext uri="{FF2B5EF4-FFF2-40B4-BE49-F238E27FC236}">
                <a16:creationId xmlns:a16="http://schemas.microsoft.com/office/drawing/2014/main" id="{3CBE59F2-11BD-4669-8180-5B37E2D0C740}"/>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i는 왼쪽 배열에서 아직 사용하지 않은 첫 값</a:t>
            </a:r>
          </a:p>
          <a:p>
            <a:pPr>
              <a:defRPr sz="2025" b="0">
                <a:solidFill>
                  <a:srgbClr val="151515"/>
                </a:solidFill>
              </a:defRPr>
            </a:pPr>
            <a:r>
              <a:rPr sz="2025" b="0">
                <a:solidFill>
                  <a:srgbClr val="151515"/>
                </a:solidFill>
                <a:latin typeface="Malgun Gothic" panose="020B0503020000020004" pitchFamily="50" charset="-127"/>
              </a:rPr>
              <a:t>j는 오른쪽 배열에서 아직 사용하지 않은 첫 값</a:t>
            </a:r>
          </a:p>
          <a:p>
            <a:pPr>
              <a:defRPr sz="2025" b="0">
                <a:solidFill>
                  <a:srgbClr val="151515"/>
                </a:solidFill>
              </a:defRPr>
            </a:pPr>
            <a:r>
              <a:rPr sz="2025" b="0">
                <a:solidFill>
                  <a:srgbClr val="151515"/>
                </a:solidFill>
                <a:latin typeface="Malgun Gothic" panose="020B0503020000020004" pitchFamily="50" charset="-127"/>
              </a:rPr>
              <a:t>두 값 중 작은 값을 결과에 넣고, 그쪽 포인터만 이동한다.</a:t>
            </a:r>
          </a:p>
        </p:txBody>
      </p:sp>
      <p:sp>
        <p:nvSpPr>
          <p:cNvPr id="5" name="직사각형 4">
            <a:extLst>
              <a:ext uri="{FF2B5EF4-FFF2-40B4-BE49-F238E27FC236}">
                <a16:creationId xmlns:a16="http://schemas.microsoft.com/office/drawing/2014/main" id="{88336F36-12DE-42B6-93A8-F2DF30012A05}"/>
              </a:ext>
            </a:extLst>
          </p:cNvPr>
          <p:cNvSpPr>
            <a:spLocks noGrp="1"/>
          </p:cNvSpPr>
          <p:nvPr/>
        </p:nvSpPr>
        <p:spPr>
          <a:xfrm>
            <a:off x="609600" y="31146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a:t>
            </a:r>
          </a:p>
        </p:txBody>
      </p:sp>
      <p:graphicFrame>
        <p:nvGraphicFramePr>
          <p:cNvPr id="6" name="표 5">
            <a:extLst>
              <a:ext uri="{FF2B5EF4-FFF2-40B4-BE49-F238E27FC236}">
                <a16:creationId xmlns:a16="http://schemas.microsoft.com/office/drawing/2014/main" id="{0614C3AF-5325-47FE-8577-3D466630C849}"/>
              </a:ext>
            </a:extLst>
          </p:cNvPr>
          <p:cNvGraphicFramePr/>
          <p:nvPr>
            <p:extLst>
              <p:ext uri="{D42A27DB-BD31-4B8C-83A1-F6EECF244321}">
                <p14:modId xmlns:p14="http://schemas.microsoft.com/office/powerpoint/2010/main" val="876363364"/>
              </p:ext>
            </p:extLst>
          </p:nvPr>
        </p:nvGraphicFramePr>
        <p:xfrm>
          <a:off x="609600" y="3381375"/>
          <a:ext cx="10972800" cy="552450"/>
        </p:xfrm>
        <a:graphic>
          <a:graphicData uri="http://schemas.openxmlformats.org/drawingml/2006/table">
            <a:tbl>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552450">
                <a:tc>
                  <a:txBody>
                    <a:bodyPr/>
                    <a:lstStyle/>
                    <a:p>
                      <a:pPr algn="ctr"/>
                      <a:r>
                        <a:rPr sz="2550" b="1">
                          <a:solidFill>
                            <a:srgbClr val="151515"/>
                          </a:solidFill>
                          <a:latin typeface="Malgun Gothic" panose="020B0503020000020004" pitchFamily="50" charset="-127"/>
                        </a:rPr>
                        <a:t>2</a:t>
                      </a:r>
                    </a:p>
                  </a:txBody>
                  <a:tcPr>
                    <a:solidFill>
                      <a:srgbClr val="DCECFB"/>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818F3A46-1A72-43A5-A629-779D4990FA7E}"/>
              </a:ext>
            </a:extLst>
          </p:cNvPr>
          <p:cNvSpPr>
            <a:spLocks noGrp="1"/>
          </p:cNvSpPr>
          <p:nvPr/>
        </p:nvSpPr>
        <p:spPr>
          <a:xfrm>
            <a:off x="609600" y="401002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a:t>
            </a:r>
          </a:p>
        </p:txBody>
      </p:sp>
      <p:graphicFrame>
        <p:nvGraphicFramePr>
          <p:cNvPr id="8" name="표 7">
            <a:extLst>
              <a:ext uri="{FF2B5EF4-FFF2-40B4-BE49-F238E27FC236}">
                <a16:creationId xmlns:a16="http://schemas.microsoft.com/office/drawing/2014/main" id="{F2BDE058-20B9-4BCD-8941-0428A5D48071}"/>
              </a:ext>
            </a:extLst>
          </p:cNvPr>
          <p:cNvGraphicFramePr/>
          <p:nvPr>
            <p:extLst>
              <p:ext uri="{D42A27DB-BD31-4B8C-83A1-F6EECF244321}">
                <p14:modId xmlns:p14="http://schemas.microsoft.com/office/powerpoint/2010/main" val="524698516"/>
              </p:ext>
            </p:extLst>
          </p:nvPr>
        </p:nvGraphicFramePr>
        <p:xfrm>
          <a:off x="609600" y="4276725"/>
          <a:ext cx="10972800" cy="552450"/>
        </p:xfrm>
        <a:graphic>
          <a:graphicData uri="http://schemas.openxmlformats.org/drawingml/2006/table">
            <a:tbl>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552450">
                <a:tc>
                  <a:txBody>
                    <a:bodyPr/>
                    <a:lstStyle/>
                    <a:p>
                      <a:pPr algn="ctr"/>
                      <a:r>
                        <a:rPr sz="2550" b="1">
                          <a:solidFill>
                            <a:srgbClr val="151515"/>
                          </a:solidFill>
                          <a:latin typeface="Malgun Gothic" panose="020B0503020000020004" pitchFamily="50" charset="-127"/>
                        </a:rPr>
                        <a:t>1</a:t>
                      </a:r>
                    </a:p>
                  </a:txBody>
                  <a:tcPr>
                    <a:solidFill>
                      <a:srgbClr val="DDEFE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4E75B80E-950C-4DD7-84D6-A7BB51A8FC69}"/>
              </a:ext>
            </a:extLst>
          </p:cNvPr>
          <p:cNvSpPr>
            <a:spLocks noGrp="1"/>
          </p:cNvSpPr>
          <p:nvPr/>
        </p:nvSpPr>
        <p:spPr>
          <a:xfrm>
            <a:off x="609600" y="49053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첫 결과</a:t>
            </a:r>
          </a:p>
        </p:txBody>
      </p:sp>
      <p:graphicFrame>
        <p:nvGraphicFramePr>
          <p:cNvPr id="10" name="표 9">
            <a:extLst>
              <a:ext uri="{FF2B5EF4-FFF2-40B4-BE49-F238E27FC236}">
                <a16:creationId xmlns:a16="http://schemas.microsoft.com/office/drawing/2014/main" id="{1D567CC3-D065-441B-8FFE-6F5446892E1B}"/>
              </a:ext>
            </a:extLst>
          </p:cNvPr>
          <p:cNvGraphicFramePr/>
          <p:nvPr>
            <p:extLst>
              <p:ext uri="{D42A27DB-BD31-4B8C-83A1-F6EECF244321}">
                <p14:modId xmlns:p14="http://schemas.microsoft.com/office/powerpoint/2010/main" val="2334882672"/>
              </p:ext>
            </p:extLst>
          </p:nvPr>
        </p:nvGraphicFramePr>
        <p:xfrm>
          <a:off x="609600" y="5172075"/>
          <a:ext cx="10972800" cy="552450"/>
        </p:xfrm>
        <a:graphic>
          <a:graphicData uri="http://schemas.openxmlformats.org/drawingml/2006/table">
            <a:tbl>
              <a:tblPr/>
              <a:tblGrid>
                <a:gridCol w="10972800">
                  <a:extLst>
                    <a:ext uri="{9D8B030D-6E8A-4147-A177-3AD203B41FA5}">
                      <a16:colId xmlns:a16="http://schemas.microsoft.com/office/drawing/2014/main" val="20000"/>
                    </a:ext>
                  </a:extLst>
                </a:gridCol>
              </a:tblGrid>
              <a:tr h="552450">
                <a:tc>
                  <a:txBody>
                    <a:bodyPr/>
                    <a:lstStyle/>
                    <a:p>
                      <a:pPr algn="ctr"/>
                      <a:r>
                        <a:rPr sz="2025" b="1">
                          <a:solidFill>
                            <a:srgbClr val="151515"/>
                          </a:solidFill>
                          <a:latin typeface="Malgun Gothic" panose="020B0503020000020004" pitchFamily="50" charset="-127"/>
                        </a:rPr>
                        <a:t>1</a:t>
                      </a:r>
                    </a:p>
                  </a:txBody>
                  <a:tcPr>
                    <a:solidFill>
                      <a:srgbClr val="F6F6F6"/>
                    </a:solidFill>
                  </a:tcPr>
                </a:tc>
                <a:extLst>
                  <a:ext uri="{0D108BD9-81ED-4DB2-BD59-A6C34878D82A}">
                    <a16:rowId xmlns:a16="http://schemas.microsoft.com/office/drawing/2014/main" val="10000"/>
                  </a:ext>
                </a:extLst>
              </a:tr>
            </a:tbl>
          </a:graphicData>
        </a:graphic>
      </p:graphicFrame>
      <p:sp>
        <p:nvSpPr>
          <p:cNvPr id="11" name="직사각형 10">
            <a:extLst>
              <a:ext uri="{FF2B5EF4-FFF2-40B4-BE49-F238E27FC236}">
                <a16:creationId xmlns:a16="http://schemas.microsoft.com/office/drawing/2014/main" id="{F04023FD-480B-4C01-8D53-5C102D6D0246}"/>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i: 왼쪽의 다음 값    초록 j: 오른쪽의 다음 값</a:t>
            </a:r>
          </a:p>
        </p:txBody>
      </p:sp>
      <p:sp>
        <p:nvSpPr>
          <p:cNvPr id="12" name="직사각형 11">
            <a:extLst>
              <a:ext uri="{FF2B5EF4-FFF2-40B4-BE49-F238E27FC236}">
                <a16:creationId xmlns:a16="http://schemas.microsoft.com/office/drawing/2014/main" id="{8C35EBDE-AEF1-407E-9CBF-8AAFFBF20093}"/>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3" name="직사각형 12">
            <a:extLst>
              <a:ext uri="{FF2B5EF4-FFF2-40B4-BE49-F238E27FC236}">
                <a16:creationId xmlns:a16="http://schemas.microsoft.com/office/drawing/2014/main" id="{39BB9B09-611D-4813-987E-58DF6FDA8C7B}"/>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10</a:t>
            </a:r>
            <a:endParaRPr sz="1050" b="0">
              <a:solidFill>
                <a:srgbClr val="151515"/>
              </a:solidFill>
              <a:latin typeface="Consolas" panose="020B0609020204030204" pitchFamily="49" charset="0"/>
            </a:endParaRPr>
          </a:p>
        </p:txBody>
      </p:sp>
      <p:cxnSp>
        <p:nvCxnSpPr>
          <p:cNvPr id="15" name="직선 연결선 14">
            <a:extLst>
              <a:ext uri="{FF2B5EF4-FFF2-40B4-BE49-F238E27FC236}">
                <a16:creationId xmlns:a16="http://schemas.microsoft.com/office/drawing/2014/main" id="{45ADF67F-BC01-A207-5277-8EB62728E708}"/>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98434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직사각형 13">
            <a:extLst>
              <a:ext uri="{FF2B5EF4-FFF2-40B4-BE49-F238E27FC236}">
                <a16:creationId xmlns:a16="http://schemas.microsoft.com/office/drawing/2014/main" id="{5129FC4F-0483-4177-BDBC-B7F5F34ABEC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E1B5D886-A91A-40B8-A747-87CE2B06B811}"/>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18D7A308-69AA-4B9A-8251-EA06285185A3}"/>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첫 세 번의 비교</a:t>
            </a:r>
          </a:p>
        </p:txBody>
      </p:sp>
      <p:sp>
        <p:nvSpPr>
          <p:cNvPr id="4" name="직사각형 3">
            <a:extLst>
              <a:ext uri="{FF2B5EF4-FFF2-40B4-BE49-F238E27FC236}">
                <a16:creationId xmlns:a16="http://schemas.microsoft.com/office/drawing/2014/main" id="{23993A33-55C7-4B7D-B46D-D6AEB763C0E6}"/>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1번째: 2와 1 비교, 1 선택, 오른쪽만 이동</a:t>
            </a:r>
          </a:p>
          <a:p>
            <a:pPr>
              <a:defRPr sz="2025" b="0">
                <a:solidFill>
                  <a:srgbClr val="151515"/>
                </a:solidFill>
              </a:defRPr>
            </a:pPr>
            <a:r>
              <a:rPr sz="2025" b="0">
                <a:solidFill>
                  <a:srgbClr val="151515"/>
                </a:solidFill>
                <a:latin typeface="Malgun Gothic" panose="020B0503020000020004" pitchFamily="50" charset="-127"/>
              </a:rPr>
              <a:t>2번째: 2와 4 비교, 2 선택, 왼쪽만 이동</a:t>
            </a:r>
          </a:p>
          <a:p>
            <a:pPr>
              <a:defRPr sz="2025" b="0">
                <a:solidFill>
                  <a:srgbClr val="151515"/>
                </a:solidFill>
              </a:defRPr>
            </a:pPr>
            <a:r>
              <a:rPr sz="2025" b="0">
                <a:solidFill>
                  <a:srgbClr val="151515"/>
                </a:solidFill>
                <a:latin typeface="Malgun Gothic" panose="020B0503020000020004" pitchFamily="50" charset="-127"/>
              </a:rPr>
              <a:t>3번째: 3과 4 비교, 3 선택, 왼쪽만 이동</a:t>
            </a:r>
          </a:p>
        </p:txBody>
      </p:sp>
      <p:sp>
        <p:nvSpPr>
          <p:cNvPr id="5" name="직사각형 4">
            <a:extLst>
              <a:ext uri="{FF2B5EF4-FFF2-40B4-BE49-F238E27FC236}">
                <a16:creationId xmlns:a16="http://schemas.microsoft.com/office/drawing/2014/main" id="{CFE5A260-793D-4E94-9E6F-EFFA92AE3C1D}"/>
              </a:ext>
            </a:extLst>
          </p:cNvPr>
          <p:cNvSpPr>
            <a:spLocks noGrp="1"/>
          </p:cNvSpPr>
          <p:nvPr/>
        </p:nvSpPr>
        <p:spPr>
          <a:xfrm>
            <a:off x="609600" y="31146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다음 비교값은 6</a:t>
            </a:r>
          </a:p>
        </p:txBody>
      </p:sp>
      <p:graphicFrame>
        <p:nvGraphicFramePr>
          <p:cNvPr id="6" name="표 5">
            <a:extLst>
              <a:ext uri="{FF2B5EF4-FFF2-40B4-BE49-F238E27FC236}">
                <a16:creationId xmlns:a16="http://schemas.microsoft.com/office/drawing/2014/main" id="{9E118205-5802-4C6A-B311-3F365BC006A8}"/>
              </a:ext>
            </a:extLst>
          </p:cNvPr>
          <p:cNvGraphicFramePr/>
          <p:nvPr>
            <p:extLst>
              <p:ext uri="{D42A27DB-BD31-4B8C-83A1-F6EECF244321}">
                <p14:modId xmlns:p14="http://schemas.microsoft.com/office/powerpoint/2010/main" val="2239464659"/>
              </p:ext>
            </p:extLst>
          </p:nvPr>
        </p:nvGraphicFramePr>
        <p:xfrm>
          <a:off x="609600" y="3381375"/>
          <a:ext cx="10972800" cy="552450"/>
        </p:xfrm>
        <a:graphic>
          <a:graphicData uri="http://schemas.openxmlformats.org/drawingml/2006/table">
            <a:tbl>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552450">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DCECFB"/>
                    </a:solidFill>
                  </a:tcPr>
                </a:tc>
                <a:tc>
                  <a:txBody>
                    <a:bodyPr/>
                    <a:lstStyle/>
                    <a:p>
                      <a:pPr algn="ctr"/>
                      <a:r>
                        <a:rPr sz="25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94B1BF41-448E-41B7-BD9C-83D6AFA2EDD9}"/>
              </a:ext>
            </a:extLst>
          </p:cNvPr>
          <p:cNvSpPr>
            <a:spLocks noGrp="1"/>
          </p:cNvSpPr>
          <p:nvPr/>
        </p:nvSpPr>
        <p:spPr>
          <a:xfrm>
            <a:off x="609600" y="401002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다음 비교값은 4</a:t>
            </a:r>
          </a:p>
        </p:txBody>
      </p:sp>
      <p:graphicFrame>
        <p:nvGraphicFramePr>
          <p:cNvPr id="8" name="표 7">
            <a:extLst>
              <a:ext uri="{FF2B5EF4-FFF2-40B4-BE49-F238E27FC236}">
                <a16:creationId xmlns:a16="http://schemas.microsoft.com/office/drawing/2014/main" id="{DAB9F16F-C68C-4A6B-A4E6-8B4783829306}"/>
              </a:ext>
            </a:extLst>
          </p:cNvPr>
          <p:cNvGraphicFramePr/>
          <p:nvPr>
            <p:extLst>
              <p:ext uri="{D42A27DB-BD31-4B8C-83A1-F6EECF244321}">
                <p14:modId xmlns:p14="http://schemas.microsoft.com/office/powerpoint/2010/main" val="3613703186"/>
              </p:ext>
            </p:extLst>
          </p:nvPr>
        </p:nvGraphicFramePr>
        <p:xfrm>
          <a:off x="609600" y="4276725"/>
          <a:ext cx="10972800" cy="552450"/>
        </p:xfrm>
        <a:graphic>
          <a:graphicData uri="http://schemas.openxmlformats.org/drawingml/2006/table">
            <a:tbl>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552450">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DDEFE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CC08164E-A180-41F8-880D-D53D39CC519B}"/>
              </a:ext>
            </a:extLst>
          </p:cNvPr>
          <p:cNvSpPr>
            <a:spLocks noGrp="1"/>
          </p:cNvSpPr>
          <p:nvPr/>
        </p:nvSpPr>
        <p:spPr>
          <a:xfrm>
            <a:off x="609600" y="49053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현재 결과</a:t>
            </a:r>
          </a:p>
        </p:txBody>
      </p:sp>
      <p:graphicFrame>
        <p:nvGraphicFramePr>
          <p:cNvPr id="10" name="표 9">
            <a:extLst>
              <a:ext uri="{FF2B5EF4-FFF2-40B4-BE49-F238E27FC236}">
                <a16:creationId xmlns:a16="http://schemas.microsoft.com/office/drawing/2014/main" id="{5EF7C814-B2D3-4224-98C9-370AB64C3795}"/>
              </a:ext>
            </a:extLst>
          </p:cNvPr>
          <p:cNvGraphicFramePr/>
          <p:nvPr>
            <p:extLst>
              <p:ext uri="{D42A27DB-BD31-4B8C-83A1-F6EECF244321}">
                <p14:modId xmlns:p14="http://schemas.microsoft.com/office/powerpoint/2010/main" val="2535762300"/>
              </p:ext>
            </p:extLst>
          </p:nvPr>
        </p:nvGraphicFramePr>
        <p:xfrm>
          <a:off x="609600" y="5172075"/>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1</a:t>
                      </a:r>
                    </a:p>
                  </a:txBody>
                  <a:tcPr>
                    <a:solidFill>
                      <a:srgbClr val="F6F6F6"/>
                    </a:solidFill>
                  </a:tcPr>
                </a:tc>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3</a:t>
                      </a:r>
                    </a:p>
                  </a:txBody>
                  <a:tcPr>
                    <a:solidFill>
                      <a:srgbClr val="F6F6F6"/>
                    </a:solidFill>
                  </a:tcPr>
                </a:tc>
                <a:extLst>
                  <a:ext uri="{0D108BD9-81ED-4DB2-BD59-A6C34878D82A}">
                    <a16:rowId xmlns:a16="http://schemas.microsoft.com/office/drawing/2014/main" val="10000"/>
                  </a:ext>
                </a:extLst>
              </a:tr>
            </a:tbl>
          </a:graphicData>
        </a:graphic>
      </p:graphicFrame>
      <p:sp>
        <p:nvSpPr>
          <p:cNvPr id="11" name="직사각형 10">
            <a:extLst>
              <a:ext uri="{FF2B5EF4-FFF2-40B4-BE49-F238E27FC236}">
                <a16:creationId xmlns:a16="http://schemas.microsoft.com/office/drawing/2014/main" id="{F8B6C903-B57F-4066-95EB-8E498ECB7466}"/>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i: 왼쪽의 다음 값    초록 j: 오른쪽의 다음 값</a:t>
            </a:r>
          </a:p>
        </p:txBody>
      </p:sp>
      <p:sp>
        <p:nvSpPr>
          <p:cNvPr id="12" name="직사각형 11">
            <a:extLst>
              <a:ext uri="{FF2B5EF4-FFF2-40B4-BE49-F238E27FC236}">
                <a16:creationId xmlns:a16="http://schemas.microsoft.com/office/drawing/2014/main" id="{7D12F1A7-FD02-47C5-98CA-E95BECFA5FAD}"/>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3" name="직사각형 12">
            <a:extLst>
              <a:ext uri="{FF2B5EF4-FFF2-40B4-BE49-F238E27FC236}">
                <a16:creationId xmlns:a16="http://schemas.microsoft.com/office/drawing/2014/main" id="{78755CB1-D07D-4107-BA4F-2A5E3B1821BA}"/>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11</a:t>
            </a:r>
            <a:endParaRPr sz="1050" b="0">
              <a:solidFill>
                <a:srgbClr val="151515"/>
              </a:solidFill>
              <a:latin typeface="Consolas" panose="020B0609020204030204" pitchFamily="49" charset="0"/>
            </a:endParaRPr>
          </a:p>
        </p:txBody>
      </p:sp>
      <p:cxnSp>
        <p:nvCxnSpPr>
          <p:cNvPr id="15" name="직선 연결선 14">
            <a:extLst>
              <a:ext uri="{FF2B5EF4-FFF2-40B4-BE49-F238E27FC236}">
                <a16:creationId xmlns:a16="http://schemas.microsoft.com/office/drawing/2014/main" id="{A22A3AF8-AE1D-78BA-4DFE-DC5F2E40B9B0}"/>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1335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직사각형 13">
            <a:extLst>
              <a:ext uri="{FF2B5EF4-FFF2-40B4-BE49-F238E27FC236}">
                <a16:creationId xmlns:a16="http://schemas.microsoft.com/office/drawing/2014/main" id="{182498E3-BBA3-433C-AA8E-3C029D62D00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64893B48-241E-4BC6-8AB2-369BD25E805C}"/>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5027F66-9BE1-4C32-A8B0-D728CD74C609}"/>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한쪽이 끝나면 나머지를 붙인다</a:t>
            </a:r>
          </a:p>
        </p:txBody>
      </p:sp>
      <p:sp>
        <p:nvSpPr>
          <p:cNvPr id="4" name="직사각형 3">
            <a:extLst>
              <a:ext uri="{FF2B5EF4-FFF2-40B4-BE49-F238E27FC236}">
                <a16:creationId xmlns:a16="http://schemas.microsoft.com/office/drawing/2014/main" id="{45C073E7-4CF8-4A74-A3F6-7702C930130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4, 5, 6, 7을 차례로 선택하면 오른쪽 배열이 끝난다.</a:t>
            </a:r>
          </a:p>
          <a:p>
            <a:pPr>
              <a:defRPr sz="2025" b="0">
                <a:solidFill>
                  <a:srgbClr val="151515"/>
                </a:solidFill>
              </a:defRPr>
            </a:pPr>
            <a:r>
              <a:rPr sz="2025" b="0">
                <a:solidFill>
                  <a:srgbClr val="151515"/>
                </a:solidFill>
                <a:latin typeface="Malgun Gothic" panose="020B0503020000020004" pitchFamily="50" charset="-127"/>
              </a:rPr>
              <a:t>왼쪽에 남은 8은 이미 정렬된 나머지이므로 그대로 붙인다.</a:t>
            </a:r>
          </a:p>
        </p:txBody>
      </p:sp>
      <p:sp>
        <p:nvSpPr>
          <p:cNvPr id="5" name="직사각형 4">
            <a:extLst>
              <a:ext uri="{FF2B5EF4-FFF2-40B4-BE49-F238E27FC236}">
                <a16:creationId xmlns:a16="http://schemas.microsoft.com/office/drawing/2014/main" id="{D3960953-C49E-41D6-86AE-B8CA751DA384}"/>
              </a:ext>
            </a:extLst>
          </p:cNvPr>
          <p:cNvSpPr>
            <a:spLocks noGrp="1"/>
          </p:cNvSpPr>
          <p:nvPr/>
        </p:nvSpPr>
        <p:spPr>
          <a:xfrm>
            <a:off x="609600" y="31146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마지막으로 남은 왼쪽</a:t>
            </a:r>
          </a:p>
        </p:txBody>
      </p:sp>
      <p:graphicFrame>
        <p:nvGraphicFramePr>
          <p:cNvPr id="6" name="표 5">
            <a:extLst>
              <a:ext uri="{FF2B5EF4-FFF2-40B4-BE49-F238E27FC236}">
                <a16:creationId xmlns:a16="http://schemas.microsoft.com/office/drawing/2014/main" id="{D460666E-005B-443D-96C9-4415A128815A}"/>
              </a:ext>
            </a:extLst>
          </p:cNvPr>
          <p:cNvGraphicFramePr/>
          <p:nvPr>
            <p:extLst>
              <p:ext uri="{D42A27DB-BD31-4B8C-83A1-F6EECF244321}">
                <p14:modId xmlns:p14="http://schemas.microsoft.com/office/powerpoint/2010/main" val="4137285753"/>
              </p:ext>
            </p:extLst>
          </p:nvPr>
        </p:nvGraphicFramePr>
        <p:xfrm>
          <a:off x="609600" y="3381375"/>
          <a:ext cx="10972800" cy="552450"/>
        </p:xfrm>
        <a:graphic>
          <a:graphicData uri="http://schemas.openxmlformats.org/drawingml/2006/table">
            <a:tbl>
              <a:tblPr/>
              <a:tblGrid>
                <a:gridCol w="10972800">
                  <a:extLst>
                    <a:ext uri="{9D8B030D-6E8A-4147-A177-3AD203B41FA5}">
                      <a16:colId xmlns:a16="http://schemas.microsoft.com/office/drawing/2014/main" val="20000"/>
                    </a:ext>
                  </a:extLst>
                </a:gridCol>
              </a:tblGrid>
              <a:tr h="552450">
                <a:tc>
                  <a:txBody>
                    <a:bodyPr/>
                    <a:lstStyle/>
                    <a:p>
                      <a:pPr algn="ctr"/>
                      <a:r>
                        <a:rPr sz="2025" b="1">
                          <a:solidFill>
                            <a:srgbClr val="151515"/>
                          </a:solidFill>
                          <a:latin typeface="Malgun Gothic" panose="020B0503020000020004" pitchFamily="50" charset="-127"/>
                        </a:rPr>
                        <a:t>8</a:t>
                      </a:r>
                    </a:p>
                  </a:txBody>
                  <a:tcPr>
                    <a:solidFill>
                      <a:srgbClr val="DCECF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5C5DEAB3-764D-4F6C-BE1F-DD7FD85866D4}"/>
              </a:ext>
            </a:extLst>
          </p:cNvPr>
          <p:cNvSpPr>
            <a:spLocks noGrp="1"/>
          </p:cNvSpPr>
          <p:nvPr/>
        </p:nvSpPr>
        <p:spPr>
          <a:xfrm>
            <a:off x="609600" y="401002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비교 후 결과</a:t>
            </a:r>
          </a:p>
        </p:txBody>
      </p:sp>
      <p:graphicFrame>
        <p:nvGraphicFramePr>
          <p:cNvPr id="8" name="표 7">
            <a:extLst>
              <a:ext uri="{FF2B5EF4-FFF2-40B4-BE49-F238E27FC236}">
                <a16:creationId xmlns:a16="http://schemas.microsoft.com/office/drawing/2014/main" id="{4280629F-0A82-4DD9-A05E-8C2F34769A37}"/>
              </a:ext>
            </a:extLst>
          </p:cNvPr>
          <p:cNvGraphicFramePr/>
          <p:nvPr>
            <p:extLst>
              <p:ext uri="{D42A27DB-BD31-4B8C-83A1-F6EECF244321}">
                <p14:modId xmlns:p14="http://schemas.microsoft.com/office/powerpoint/2010/main" val="3479242176"/>
              </p:ext>
            </p:extLst>
          </p:nvPr>
        </p:nvGraphicFramePr>
        <p:xfrm>
          <a:off x="609600" y="4276725"/>
          <a:ext cx="10972800" cy="552450"/>
        </p:xfrm>
        <a:graphic>
          <a:graphicData uri="http://schemas.openxmlformats.org/drawingml/2006/table">
            <a:tbl>
              <a:tblPr/>
              <a:tblGrid>
                <a:gridCol w="1567543">
                  <a:extLst>
                    <a:ext uri="{9D8B030D-6E8A-4147-A177-3AD203B41FA5}">
                      <a16:colId xmlns:a16="http://schemas.microsoft.com/office/drawing/2014/main" val="20000"/>
                    </a:ext>
                  </a:extLst>
                </a:gridCol>
                <a:gridCol w="1567543">
                  <a:extLst>
                    <a:ext uri="{9D8B030D-6E8A-4147-A177-3AD203B41FA5}">
                      <a16:colId xmlns:a16="http://schemas.microsoft.com/office/drawing/2014/main" val="20001"/>
                    </a:ext>
                  </a:extLst>
                </a:gridCol>
                <a:gridCol w="1567543">
                  <a:extLst>
                    <a:ext uri="{9D8B030D-6E8A-4147-A177-3AD203B41FA5}">
                      <a16:colId xmlns:a16="http://schemas.microsoft.com/office/drawing/2014/main" val="20002"/>
                    </a:ext>
                  </a:extLst>
                </a:gridCol>
                <a:gridCol w="1567543">
                  <a:extLst>
                    <a:ext uri="{9D8B030D-6E8A-4147-A177-3AD203B41FA5}">
                      <a16:colId xmlns:a16="http://schemas.microsoft.com/office/drawing/2014/main" val="20003"/>
                    </a:ext>
                  </a:extLst>
                </a:gridCol>
                <a:gridCol w="1567543">
                  <a:extLst>
                    <a:ext uri="{9D8B030D-6E8A-4147-A177-3AD203B41FA5}">
                      <a16:colId xmlns:a16="http://schemas.microsoft.com/office/drawing/2014/main" val="20004"/>
                    </a:ext>
                  </a:extLst>
                </a:gridCol>
                <a:gridCol w="1567543">
                  <a:extLst>
                    <a:ext uri="{9D8B030D-6E8A-4147-A177-3AD203B41FA5}">
                      <a16:colId xmlns:a16="http://schemas.microsoft.com/office/drawing/2014/main" val="20005"/>
                    </a:ext>
                  </a:extLst>
                </a:gridCol>
                <a:gridCol w="1567543">
                  <a:extLst>
                    <a:ext uri="{9D8B030D-6E8A-4147-A177-3AD203B41FA5}">
                      <a16:colId xmlns:a16="http://schemas.microsoft.com/office/drawing/2014/main" val="20006"/>
                    </a:ext>
                  </a:extLst>
                </a:gridCol>
              </a:tblGrid>
              <a:tr h="552450">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8E775479-0B9A-4EEC-A575-9C816C649084}"/>
              </a:ext>
            </a:extLst>
          </p:cNvPr>
          <p:cNvSpPr>
            <a:spLocks noGrp="1"/>
          </p:cNvSpPr>
          <p:nvPr/>
        </p:nvSpPr>
        <p:spPr>
          <a:xfrm>
            <a:off x="609600" y="49053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완성</a:t>
            </a:r>
          </a:p>
        </p:txBody>
      </p:sp>
      <p:graphicFrame>
        <p:nvGraphicFramePr>
          <p:cNvPr id="10" name="표 9">
            <a:extLst>
              <a:ext uri="{FF2B5EF4-FFF2-40B4-BE49-F238E27FC236}">
                <a16:creationId xmlns:a16="http://schemas.microsoft.com/office/drawing/2014/main" id="{04A7F738-D58E-4513-A5E6-B84B7393B6B5}"/>
              </a:ext>
            </a:extLst>
          </p:cNvPr>
          <p:cNvGraphicFramePr/>
          <p:nvPr>
            <p:extLst>
              <p:ext uri="{D42A27DB-BD31-4B8C-83A1-F6EECF244321}">
                <p14:modId xmlns:p14="http://schemas.microsoft.com/office/powerpoint/2010/main" val="1810568563"/>
              </p:ext>
            </p:extLst>
          </p:nvPr>
        </p:nvGraphicFramePr>
        <p:xfrm>
          <a:off x="609600" y="5172075"/>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11" name="직사각형 10">
            <a:extLst>
              <a:ext uri="{FF2B5EF4-FFF2-40B4-BE49-F238E27FC236}">
                <a16:creationId xmlns:a16="http://schemas.microsoft.com/office/drawing/2014/main" id="{83A904D9-774D-4914-81C4-CD94D7F78D86}"/>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i: 왼쪽의 다음 값    초록 j: 오른쪽의 다음 값</a:t>
            </a:r>
          </a:p>
        </p:txBody>
      </p:sp>
      <p:sp>
        <p:nvSpPr>
          <p:cNvPr id="12" name="직사각형 11">
            <a:extLst>
              <a:ext uri="{FF2B5EF4-FFF2-40B4-BE49-F238E27FC236}">
                <a16:creationId xmlns:a16="http://schemas.microsoft.com/office/drawing/2014/main" id="{E3F25E51-3031-481E-829E-ADEF92EB5F2C}"/>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3" name="직사각형 12">
            <a:extLst>
              <a:ext uri="{FF2B5EF4-FFF2-40B4-BE49-F238E27FC236}">
                <a16:creationId xmlns:a16="http://schemas.microsoft.com/office/drawing/2014/main" id="{F4B08944-5118-4F25-A956-6E0C9858312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12</a:t>
            </a:r>
            <a:endParaRPr sz="1050" b="0">
              <a:solidFill>
                <a:srgbClr val="151515"/>
              </a:solidFill>
              <a:latin typeface="Consolas" panose="020B0609020204030204" pitchFamily="49" charset="0"/>
            </a:endParaRPr>
          </a:p>
        </p:txBody>
      </p:sp>
      <p:cxnSp>
        <p:nvCxnSpPr>
          <p:cNvPr id="15" name="직선 연결선 14">
            <a:extLst>
              <a:ext uri="{FF2B5EF4-FFF2-40B4-BE49-F238E27FC236}">
                <a16:creationId xmlns:a16="http://schemas.microsoft.com/office/drawing/2014/main" id="{20293C15-C5C3-A6A2-88C4-B24234644C4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51779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DA75BC46-134D-4347-85D5-889684DE59FA}"/>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F8DB84F1-E721-41AF-8804-901E6DC92F4A}"/>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3C3D9A59-4EC2-4F30-97DA-824A2AFD50D5}"/>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병합 함수</a:t>
            </a:r>
          </a:p>
        </p:txBody>
      </p:sp>
      <p:sp>
        <p:nvSpPr>
          <p:cNvPr id="4" name="직사각형 3">
            <a:extLst>
              <a:ext uri="{FF2B5EF4-FFF2-40B4-BE49-F238E27FC236}">
                <a16:creationId xmlns:a16="http://schemas.microsoft.com/office/drawing/2014/main" id="{75467E53-68A0-4FF2-AAA9-7BA951B7C71A}"/>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def merge(left, right):</a:t>
            </a:r>
          </a:p>
          <a:p>
            <a:pPr>
              <a:defRPr sz="2100" b="0">
                <a:solidFill>
                  <a:srgbClr val="151515"/>
                </a:solidFill>
              </a:defRPr>
            </a:pPr>
            <a:r>
              <a:rPr sz="2100" b="0">
                <a:solidFill>
                  <a:srgbClr val="151515"/>
                </a:solidFill>
                <a:latin typeface="Consolas" panose="020B0609020204030204" pitchFamily="49" charset="0"/>
              </a:rPr>
              <a:t>    out = []</a:t>
            </a:r>
          </a:p>
          <a:p>
            <a:pPr>
              <a:defRPr sz="2100" b="0">
                <a:solidFill>
                  <a:srgbClr val="151515"/>
                </a:solidFill>
              </a:defRPr>
            </a:pPr>
            <a:r>
              <a:rPr sz="2100" b="0">
                <a:solidFill>
                  <a:srgbClr val="151515"/>
                </a:solidFill>
                <a:latin typeface="Consolas" panose="020B0609020204030204" pitchFamily="49" charset="0"/>
              </a:rPr>
              <a:t>    i = j = 0</a:t>
            </a:r>
          </a:p>
          <a:p>
            <a:pPr>
              <a:defRPr sz="2100" b="0">
                <a:solidFill>
                  <a:srgbClr val="151515"/>
                </a:solidFill>
              </a:defRPr>
            </a:pPr>
            <a:r>
              <a:rPr sz="2100" b="0">
                <a:solidFill>
                  <a:srgbClr val="151515"/>
                </a:solidFill>
                <a:latin typeface="Consolas" panose="020B0609020204030204" pitchFamily="49" charset="0"/>
              </a:rPr>
              <a:t>    while i &lt; len(left) and j &lt; len(right):</a:t>
            </a:r>
          </a:p>
          <a:p>
            <a:pPr>
              <a:defRPr sz="2100" b="0">
                <a:solidFill>
                  <a:srgbClr val="151515"/>
                </a:solidFill>
              </a:defRPr>
            </a:pPr>
            <a:r>
              <a:rPr sz="2100" b="0">
                <a:solidFill>
                  <a:srgbClr val="151515"/>
                </a:solidFill>
                <a:latin typeface="Consolas" panose="020B0609020204030204" pitchFamily="49" charset="0"/>
              </a:rPr>
              <a:t>        if left[i] &lt;= right[j]:</a:t>
            </a:r>
          </a:p>
          <a:p>
            <a:pPr>
              <a:defRPr sz="2100" b="0">
                <a:solidFill>
                  <a:srgbClr val="151515"/>
                </a:solidFill>
              </a:defRPr>
            </a:pPr>
            <a:r>
              <a:rPr sz="2100" b="0">
                <a:solidFill>
                  <a:srgbClr val="151515"/>
                </a:solidFill>
                <a:latin typeface="Consolas" panose="020B0609020204030204" pitchFamily="49" charset="0"/>
              </a:rPr>
              <a:t>            out.append(left[i])</a:t>
            </a:r>
          </a:p>
          <a:p>
            <a:pPr>
              <a:defRPr sz="2100" b="0">
                <a:solidFill>
                  <a:srgbClr val="151515"/>
                </a:solidFill>
              </a:defRPr>
            </a:pPr>
            <a:r>
              <a:rPr sz="2100" b="0">
                <a:solidFill>
                  <a:srgbClr val="151515"/>
                </a:solidFill>
                <a:latin typeface="Consolas" panose="020B0609020204030204" pitchFamily="49" charset="0"/>
              </a:rPr>
              <a:t>            i += 1</a:t>
            </a:r>
          </a:p>
          <a:p>
            <a:pPr>
              <a:defRPr sz="2100" b="0">
                <a:solidFill>
                  <a:srgbClr val="151515"/>
                </a:solidFill>
              </a:defRPr>
            </a:pPr>
            <a:r>
              <a:rPr sz="2100" b="0">
                <a:solidFill>
                  <a:srgbClr val="151515"/>
                </a:solidFill>
                <a:latin typeface="Consolas" panose="020B0609020204030204" pitchFamily="49" charset="0"/>
              </a:rPr>
              <a:t>        else:</a:t>
            </a:r>
          </a:p>
          <a:p>
            <a:pPr>
              <a:defRPr sz="2100" b="0">
                <a:solidFill>
                  <a:srgbClr val="151515"/>
                </a:solidFill>
              </a:defRPr>
            </a:pPr>
            <a:r>
              <a:rPr sz="2100" b="0">
                <a:solidFill>
                  <a:srgbClr val="151515"/>
                </a:solidFill>
                <a:latin typeface="Consolas" panose="020B0609020204030204" pitchFamily="49" charset="0"/>
              </a:rPr>
              <a:t>            out.append(right[j])</a:t>
            </a:r>
          </a:p>
          <a:p>
            <a:pPr>
              <a:defRPr sz="2100" b="0">
                <a:solidFill>
                  <a:srgbClr val="151515"/>
                </a:solidFill>
              </a:defRPr>
            </a:pPr>
            <a:r>
              <a:rPr sz="2100" b="0">
                <a:solidFill>
                  <a:srgbClr val="151515"/>
                </a:solidFill>
                <a:latin typeface="Consolas" panose="020B0609020204030204" pitchFamily="49" charset="0"/>
              </a:rPr>
              <a:t>            j += 1</a:t>
            </a:r>
          </a:p>
          <a:p>
            <a:pPr>
              <a:defRPr sz="2100" b="0">
                <a:solidFill>
                  <a:srgbClr val="151515"/>
                </a:solidFill>
              </a:defRPr>
            </a:pPr>
            <a:r>
              <a:rPr sz="2100" b="0">
                <a:solidFill>
                  <a:srgbClr val="151515"/>
                </a:solidFill>
                <a:latin typeface="Consolas" panose="020B0609020204030204" pitchFamily="49" charset="0"/>
              </a:rPr>
              <a:t>    out.extend(left[i:])</a:t>
            </a:r>
          </a:p>
          <a:p>
            <a:pPr>
              <a:defRPr sz="2100" b="0">
                <a:solidFill>
                  <a:srgbClr val="151515"/>
                </a:solidFill>
              </a:defRPr>
            </a:pPr>
            <a:r>
              <a:rPr sz="2100" b="0">
                <a:solidFill>
                  <a:srgbClr val="151515"/>
                </a:solidFill>
                <a:latin typeface="Consolas" panose="020B0609020204030204" pitchFamily="49" charset="0"/>
              </a:rPr>
              <a:t>    out.extend(right[j:])</a:t>
            </a:r>
          </a:p>
          <a:p>
            <a:pPr>
              <a:defRPr sz="2100" b="0">
                <a:solidFill>
                  <a:srgbClr val="151515"/>
                </a:solidFill>
              </a:defRPr>
            </a:pPr>
            <a:r>
              <a:rPr sz="2100" b="0">
                <a:solidFill>
                  <a:srgbClr val="151515"/>
                </a:solidFill>
                <a:latin typeface="Consolas" panose="020B0609020204030204" pitchFamily="49" charset="0"/>
              </a:rPr>
              <a:t>    return out</a:t>
            </a:r>
          </a:p>
        </p:txBody>
      </p:sp>
      <p:sp>
        <p:nvSpPr>
          <p:cNvPr id="5" name="직사각형 4">
            <a:extLst>
              <a:ext uri="{FF2B5EF4-FFF2-40B4-BE49-F238E27FC236}">
                <a16:creationId xmlns:a16="http://schemas.microsoft.com/office/drawing/2014/main" id="{2E2406F2-9801-4A46-AE71-9C642F63CE75}"/>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BF00E41D-CE9D-458B-B05E-6E8E7576647B}"/>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13</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B8281B20-3AA3-A629-55A2-BC5EADDEAFF4}"/>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13244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A0BABDBF-A161-43FF-A1FE-552EF13EA6FF}"/>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C80DE076-62F5-4306-8957-EBCA18CE283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59D07527-DE5C-4FD2-A9F6-552634E72CE9}"/>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재귀 호출 순서</a:t>
            </a:r>
          </a:p>
        </p:txBody>
      </p:sp>
      <p:sp>
        <p:nvSpPr>
          <p:cNvPr id="4" name="직사각형 3">
            <a:extLst>
              <a:ext uri="{FF2B5EF4-FFF2-40B4-BE49-F238E27FC236}">
                <a16:creationId xmlns:a16="http://schemas.microsoft.com/office/drawing/2014/main" id="{566706FA-A93E-4438-B122-AFD409E3A0BF}"/>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def merge_sort(a):</a:t>
            </a:r>
          </a:p>
          <a:p>
            <a:pPr>
              <a:defRPr sz="2100" b="0">
                <a:solidFill>
                  <a:srgbClr val="151515"/>
                </a:solidFill>
              </a:defRPr>
            </a:pPr>
            <a:r>
              <a:rPr sz="2100" b="0">
                <a:solidFill>
                  <a:srgbClr val="151515"/>
                </a:solidFill>
                <a:latin typeface="Consolas" panose="020B0609020204030204" pitchFamily="49" charset="0"/>
              </a:rPr>
              <a:t>    if len(a) &lt;= 1:</a:t>
            </a:r>
          </a:p>
          <a:p>
            <a:pPr>
              <a:defRPr sz="2100" b="0">
                <a:solidFill>
                  <a:srgbClr val="151515"/>
                </a:solidFill>
              </a:defRPr>
            </a:pPr>
            <a:r>
              <a:rPr sz="2100" b="0">
                <a:solidFill>
                  <a:srgbClr val="151515"/>
                </a:solidFill>
                <a:latin typeface="Consolas" panose="020B0609020204030204" pitchFamily="49" charset="0"/>
              </a:rPr>
              <a:t>        return a[:]</a:t>
            </a:r>
          </a:p>
          <a:p>
            <a:pPr>
              <a:defRPr sz="2100" b="0">
                <a:solidFill>
                  <a:srgbClr val="151515"/>
                </a:solidFill>
              </a:defRPr>
            </a:pPr>
            <a:r>
              <a:rPr sz="2100" b="0">
                <a:solidFill>
                  <a:srgbClr val="151515"/>
                </a:solidFill>
                <a:latin typeface="Consolas" panose="020B0609020204030204" pitchFamily="49" charset="0"/>
              </a:rPr>
              <a:t>    mid = len(a) // 2</a:t>
            </a:r>
          </a:p>
          <a:p>
            <a:pPr>
              <a:defRPr sz="2100" b="0">
                <a:solidFill>
                  <a:srgbClr val="151515"/>
                </a:solidFill>
              </a:defRPr>
            </a:pPr>
            <a:r>
              <a:rPr sz="2100" b="0">
                <a:solidFill>
                  <a:srgbClr val="151515"/>
                </a:solidFill>
                <a:latin typeface="Consolas" panose="020B0609020204030204" pitchFamily="49" charset="0"/>
              </a:rPr>
              <a:t>    left = merge_sort(a[:mid])</a:t>
            </a:r>
          </a:p>
          <a:p>
            <a:pPr>
              <a:defRPr sz="2100" b="0">
                <a:solidFill>
                  <a:srgbClr val="151515"/>
                </a:solidFill>
              </a:defRPr>
            </a:pPr>
            <a:r>
              <a:rPr sz="2100" b="0">
                <a:solidFill>
                  <a:srgbClr val="151515"/>
                </a:solidFill>
                <a:latin typeface="Consolas" panose="020B0609020204030204" pitchFamily="49" charset="0"/>
              </a:rPr>
              <a:t>    right = merge_sort(a[mid:])</a:t>
            </a:r>
          </a:p>
          <a:p>
            <a:pPr>
              <a:defRPr sz="2100" b="0">
                <a:solidFill>
                  <a:srgbClr val="151515"/>
                </a:solidFill>
              </a:defRPr>
            </a:pPr>
            <a:r>
              <a:rPr sz="2100" b="0">
                <a:solidFill>
                  <a:srgbClr val="151515"/>
                </a:solidFill>
                <a:latin typeface="Consolas" panose="020B0609020204030204" pitchFamily="49" charset="0"/>
              </a:rPr>
              <a:t>    return merge(left, right)</a:t>
            </a:r>
          </a:p>
          <a:p>
            <a:endParaRPr sz="2100" b="0">
              <a:solidFill>
                <a:srgbClr val="151515"/>
              </a:solidFill>
              <a:latin typeface="Consolas" panose="020B0609020204030204" pitchFamily="49" charset="0"/>
            </a:endParaRPr>
          </a:p>
          <a:p>
            <a:pPr>
              <a:defRPr sz="2100" b="0">
                <a:solidFill>
                  <a:srgbClr val="151515"/>
                </a:solidFill>
              </a:defRPr>
            </a:pPr>
            <a:r>
              <a:rPr sz="2100" b="0">
                <a:solidFill>
                  <a:srgbClr val="151515"/>
                </a:solidFill>
                <a:latin typeface="Consolas" panose="020B0609020204030204" pitchFamily="49" charset="0"/>
              </a:rPr>
              <a:t>a = [8, 3, 6, 2, 7, 1, 5, 4]</a:t>
            </a:r>
          </a:p>
          <a:p>
            <a:pPr>
              <a:defRPr sz="2100" b="0">
                <a:solidFill>
                  <a:srgbClr val="151515"/>
                </a:solidFill>
              </a:defRPr>
            </a:pPr>
            <a:r>
              <a:rPr sz="2100" b="0">
                <a:solidFill>
                  <a:srgbClr val="151515"/>
                </a:solidFill>
                <a:latin typeface="Consolas" panose="020B0609020204030204" pitchFamily="49" charset="0"/>
              </a:rPr>
              <a:t>print(merge_sort(a))</a:t>
            </a:r>
          </a:p>
        </p:txBody>
      </p:sp>
      <p:sp>
        <p:nvSpPr>
          <p:cNvPr id="5" name="직사각형 4">
            <a:extLst>
              <a:ext uri="{FF2B5EF4-FFF2-40B4-BE49-F238E27FC236}">
                <a16:creationId xmlns:a16="http://schemas.microsoft.com/office/drawing/2014/main" id="{AD228782-FE72-411C-9F2B-FEB2789D4170}"/>
              </a:ext>
            </a:extLst>
          </p:cNvPr>
          <p:cNvSpPr>
            <a:spLocks noGrp="1"/>
          </p:cNvSpPr>
          <p:nvPr/>
        </p:nvSpPr>
        <p:spPr>
          <a:xfrm>
            <a:off x="609600" y="5810250"/>
            <a:ext cx="10972800" cy="38100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실행 순서: 왼쪽 정렬이 끝난 뒤 오른쪽 정렬, 마지막에 병합</a:t>
            </a:r>
          </a:p>
        </p:txBody>
      </p:sp>
      <p:sp>
        <p:nvSpPr>
          <p:cNvPr id="6" name="직사각형 5">
            <a:extLst>
              <a:ext uri="{FF2B5EF4-FFF2-40B4-BE49-F238E27FC236}">
                <a16:creationId xmlns:a16="http://schemas.microsoft.com/office/drawing/2014/main" id="{653FFF81-F1BD-45AE-A2A6-60F6383F59D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7" name="직사각형 6">
            <a:extLst>
              <a:ext uri="{FF2B5EF4-FFF2-40B4-BE49-F238E27FC236}">
                <a16:creationId xmlns:a16="http://schemas.microsoft.com/office/drawing/2014/main" id="{791BCFB5-D49D-48B0-9953-BF71F1B2682A}"/>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14</a:t>
            </a:r>
            <a:endParaRPr sz="1050" b="0">
              <a:solidFill>
                <a:srgbClr val="151515"/>
              </a:solidFill>
              <a:latin typeface="Consolas" panose="020B0609020204030204" pitchFamily="49" charset="0"/>
            </a:endParaRPr>
          </a:p>
        </p:txBody>
      </p:sp>
      <p:cxnSp>
        <p:nvCxnSpPr>
          <p:cNvPr id="9" name="직선 연결선 8">
            <a:extLst>
              <a:ext uri="{FF2B5EF4-FFF2-40B4-BE49-F238E27FC236}">
                <a16:creationId xmlns:a16="http://schemas.microsoft.com/office/drawing/2014/main" id="{9A8F2389-9E8C-7A8C-26B2-9D85DAFA56D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21709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7A8A533E-9C4C-48FB-B30C-0CC567954180}"/>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1C3899D0-9082-4930-B332-F649B40FB4D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E70EA67-569A-4E31-9DBB-18B35DD11BB7}"/>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정렬된 두 구간의 병합</a:t>
            </a:r>
          </a:p>
        </p:txBody>
      </p:sp>
      <p:sp>
        <p:nvSpPr>
          <p:cNvPr id="4" name="직사각형 3">
            <a:extLst>
              <a:ext uri="{FF2B5EF4-FFF2-40B4-BE49-F238E27FC236}">
                <a16:creationId xmlns:a16="http://schemas.microsoft.com/office/drawing/2014/main" id="{D0E99A27-972E-4450-8EA8-D3402EA2CA11}"/>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void merge(int a[], int tmp[], int lo, int mid, int hi) {</a:t>
            </a:r>
          </a:p>
          <a:p>
            <a:pPr>
              <a:defRPr sz="2100" b="0">
                <a:solidFill>
                  <a:srgbClr val="151515"/>
                </a:solidFill>
              </a:defRPr>
            </a:pPr>
            <a:r>
              <a:rPr sz="2100" b="0">
                <a:solidFill>
                  <a:srgbClr val="151515"/>
                </a:solidFill>
                <a:latin typeface="Consolas" panose="020B0609020204030204" pitchFamily="49" charset="0"/>
              </a:rPr>
              <a:t>    int i = lo, j = mid + 1, k = lo;</a:t>
            </a:r>
          </a:p>
          <a:p>
            <a:pPr>
              <a:defRPr sz="2100" b="0">
                <a:solidFill>
                  <a:srgbClr val="151515"/>
                </a:solidFill>
              </a:defRPr>
            </a:pPr>
            <a:r>
              <a:rPr sz="2100" b="0">
                <a:solidFill>
                  <a:srgbClr val="151515"/>
                </a:solidFill>
                <a:latin typeface="Consolas" panose="020B0609020204030204" pitchFamily="49" charset="0"/>
              </a:rPr>
              <a:t>    while (i &lt;= mid &amp;&amp; j &lt;= hi) {</a:t>
            </a:r>
          </a:p>
          <a:p>
            <a:pPr>
              <a:defRPr sz="2100" b="0">
                <a:solidFill>
                  <a:srgbClr val="151515"/>
                </a:solidFill>
              </a:defRPr>
            </a:pPr>
            <a:r>
              <a:rPr sz="2100" b="0">
                <a:solidFill>
                  <a:srgbClr val="151515"/>
                </a:solidFill>
                <a:latin typeface="Consolas" panose="020B0609020204030204" pitchFamily="49" charset="0"/>
              </a:rPr>
              <a:t>        if (a[i] &lt;= a[j]) tmp[k++] = a[i++];</a:t>
            </a:r>
          </a:p>
          <a:p>
            <a:pPr>
              <a:defRPr sz="2100" b="0">
                <a:solidFill>
                  <a:srgbClr val="151515"/>
                </a:solidFill>
              </a:defRPr>
            </a:pPr>
            <a:r>
              <a:rPr sz="2100" b="0">
                <a:solidFill>
                  <a:srgbClr val="151515"/>
                </a:solidFill>
                <a:latin typeface="Consolas" panose="020B0609020204030204" pitchFamily="49" charset="0"/>
              </a:rPr>
              <a:t>        else tmp[k++] = a[j++];</a:t>
            </a:r>
          </a:p>
          <a:p>
            <a:pPr>
              <a:defRPr sz="2100" b="0">
                <a:solidFill>
                  <a:srgbClr val="151515"/>
                </a:solidFill>
              </a:defRPr>
            </a:pPr>
            <a:r>
              <a:rPr sz="2100" b="0">
                <a:solidFill>
                  <a:srgbClr val="151515"/>
                </a:solidFill>
                <a:latin typeface="Consolas" panose="020B0609020204030204" pitchFamily="49" charset="0"/>
              </a:rPr>
              <a:t>    }</a:t>
            </a:r>
          </a:p>
          <a:p>
            <a:pPr>
              <a:defRPr sz="2100" b="0">
                <a:solidFill>
                  <a:srgbClr val="151515"/>
                </a:solidFill>
              </a:defRPr>
            </a:pPr>
            <a:r>
              <a:rPr sz="2100" b="0">
                <a:solidFill>
                  <a:srgbClr val="151515"/>
                </a:solidFill>
                <a:latin typeface="Consolas" panose="020B0609020204030204" pitchFamily="49" charset="0"/>
              </a:rPr>
              <a:t>    while (i &lt;= mid) tmp[k++] = a[i++];</a:t>
            </a:r>
          </a:p>
          <a:p>
            <a:pPr>
              <a:defRPr sz="2100" b="0">
                <a:solidFill>
                  <a:srgbClr val="151515"/>
                </a:solidFill>
              </a:defRPr>
            </a:pPr>
            <a:r>
              <a:rPr sz="2100" b="0">
                <a:solidFill>
                  <a:srgbClr val="151515"/>
                </a:solidFill>
                <a:latin typeface="Consolas" panose="020B0609020204030204" pitchFamily="49" charset="0"/>
              </a:rPr>
              <a:t>    while (j &lt;= hi) tmp[k++] = a[j++];</a:t>
            </a:r>
          </a:p>
          <a:p>
            <a:pPr>
              <a:defRPr sz="2100" b="0">
                <a:solidFill>
                  <a:srgbClr val="151515"/>
                </a:solidFill>
              </a:defRPr>
            </a:pPr>
            <a:r>
              <a:rPr sz="2100" b="0">
                <a:solidFill>
                  <a:srgbClr val="151515"/>
                </a:solidFill>
                <a:latin typeface="Consolas" panose="020B0609020204030204" pitchFamily="49" charset="0"/>
              </a:rPr>
              <a:t>    for (int t = lo; t &lt;= hi; t++) a[t] = tmp[t];</a:t>
            </a:r>
          </a:p>
          <a:p>
            <a:pPr>
              <a:defRPr sz="2100" b="0">
                <a:solidFill>
                  <a:srgbClr val="151515"/>
                </a:solidFill>
              </a:defRPr>
            </a:pPr>
            <a:r>
              <a:rPr sz="2100" b="0">
                <a:solidFill>
                  <a:srgbClr val="151515"/>
                </a:solidFill>
                <a:latin typeface="Consolas" panose="020B0609020204030204" pitchFamily="49" charset="0"/>
              </a:rPr>
              <a:t>}</a:t>
            </a:r>
          </a:p>
        </p:txBody>
      </p:sp>
      <p:sp>
        <p:nvSpPr>
          <p:cNvPr id="5" name="직사각형 4">
            <a:extLst>
              <a:ext uri="{FF2B5EF4-FFF2-40B4-BE49-F238E27FC236}">
                <a16:creationId xmlns:a16="http://schemas.microsoft.com/office/drawing/2014/main" id="{8EFA490C-1A2C-44B1-96A7-CDE6BFC6134F}"/>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EBC271B0-1F41-43CC-A6B3-6B62E4ACFA7D}"/>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15</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BEFAA843-B8E8-0519-C816-CF800B14E5C0}"/>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681545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BF545A06-7900-462E-9CC0-A8C42A655F35}"/>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9BCF2925-DC5E-4759-9A85-0C49F63775E5}"/>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65416D56-5D98-44AC-AD90-6FB110F0945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재귀 호출과 실행</a:t>
            </a:r>
          </a:p>
        </p:txBody>
      </p:sp>
      <p:sp>
        <p:nvSpPr>
          <p:cNvPr id="4" name="직사각형 3">
            <a:extLst>
              <a:ext uri="{FF2B5EF4-FFF2-40B4-BE49-F238E27FC236}">
                <a16:creationId xmlns:a16="http://schemas.microsoft.com/office/drawing/2014/main" id="{D0BFED70-F0C1-42E1-8A2B-F6296593C30C}"/>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 앞 슬라이드의 merge 함수를 함께 넣는다. */</a:t>
            </a:r>
          </a:p>
          <a:p>
            <a:pPr>
              <a:defRPr sz="2100" b="0">
                <a:solidFill>
                  <a:srgbClr val="151515"/>
                </a:solidFill>
              </a:defRPr>
            </a:pPr>
            <a:r>
              <a:rPr sz="2100" b="0">
                <a:solidFill>
                  <a:srgbClr val="151515"/>
                </a:solidFill>
                <a:latin typeface="Consolas" panose="020B0609020204030204" pitchFamily="49" charset="0"/>
              </a:rPr>
              <a:t>void merge_sort(int a[], int tmp[], int lo, int hi) {</a:t>
            </a:r>
          </a:p>
          <a:p>
            <a:pPr>
              <a:defRPr sz="2100" b="0">
                <a:solidFill>
                  <a:srgbClr val="151515"/>
                </a:solidFill>
              </a:defRPr>
            </a:pPr>
            <a:r>
              <a:rPr sz="2100" b="0">
                <a:solidFill>
                  <a:srgbClr val="151515"/>
                </a:solidFill>
                <a:latin typeface="Consolas" panose="020B0609020204030204" pitchFamily="49" charset="0"/>
              </a:rPr>
              <a:t>    if (lo &gt;= hi) return;</a:t>
            </a:r>
          </a:p>
          <a:p>
            <a:pPr>
              <a:defRPr sz="2100" b="0">
                <a:solidFill>
                  <a:srgbClr val="151515"/>
                </a:solidFill>
              </a:defRPr>
            </a:pPr>
            <a:r>
              <a:rPr sz="2100" b="0">
                <a:solidFill>
                  <a:srgbClr val="151515"/>
                </a:solidFill>
                <a:latin typeface="Consolas" panose="020B0609020204030204" pitchFamily="49" charset="0"/>
              </a:rPr>
              <a:t>    int mid = lo + (hi - lo) / 2;</a:t>
            </a:r>
          </a:p>
          <a:p>
            <a:pPr>
              <a:defRPr sz="2100" b="0">
                <a:solidFill>
                  <a:srgbClr val="151515"/>
                </a:solidFill>
              </a:defRPr>
            </a:pPr>
            <a:r>
              <a:rPr sz="2100" b="0">
                <a:solidFill>
                  <a:srgbClr val="151515"/>
                </a:solidFill>
                <a:latin typeface="Consolas" panose="020B0609020204030204" pitchFamily="49" charset="0"/>
              </a:rPr>
              <a:t>    merge_sort(a, tmp, lo, mid);</a:t>
            </a:r>
          </a:p>
          <a:p>
            <a:pPr>
              <a:defRPr sz="2100" b="0">
                <a:solidFill>
                  <a:srgbClr val="151515"/>
                </a:solidFill>
              </a:defRPr>
            </a:pPr>
            <a:r>
              <a:rPr sz="2100" b="0">
                <a:solidFill>
                  <a:srgbClr val="151515"/>
                </a:solidFill>
                <a:latin typeface="Consolas" panose="020B0609020204030204" pitchFamily="49" charset="0"/>
              </a:rPr>
              <a:t>    merge_sort(a, tmp, mid + 1, hi);</a:t>
            </a:r>
          </a:p>
          <a:p>
            <a:pPr>
              <a:defRPr sz="2100" b="0">
                <a:solidFill>
                  <a:srgbClr val="151515"/>
                </a:solidFill>
              </a:defRPr>
            </a:pPr>
            <a:r>
              <a:rPr sz="2100" b="0">
                <a:solidFill>
                  <a:srgbClr val="151515"/>
                </a:solidFill>
                <a:latin typeface="Consolas" panose="020B0609020204030204" pitchFamily="49" charset="0"/>
              </a:rPr>
              <a:t>    merge(a, tmp, lo, mid, hi);</a:t>
            </a:r>
          </a:p>
          <a:p>
            <a:pPr>
              <a:defRPr sz="2100" b="0">
                <a:solidFill>
                  <a:srgbClr val="151515"/>
                </a:solidFill>
              </a:defRPr>
            </a:pPr>
            <a:r>
              <a:rPr sz="2100" b="0">
                <a:solidFill>
                  <a:srgbClr val="151515"/>
                </a:solidFill>
                <a:latin typeface="Consolas" panose="020B0609020204030204" pitchFamily="49" charset="0"/>
              </a:rPr>
              <a:t>}</a:t>
            </a:r>
          </a:p>
          <a:p>
            <a:pPr>
              <a:defRPr sz="2100" b="0">
                <a:solidFill>
                  <a:srgbClr val="151515"/>
                </a:solidFill>
              </a:defRPr>
            </a:pPr>
            <a:r>
              <a:rPr sz="2100" b="0">
                <a:solidFill>
                  <a:srgbClr val="151515"/>
                </a:solidFill>
                <a:latin typeface="Consolas" panose="020B0609020204030204" pitchFamily="49" charset="0"/>
              </a:rPr>
              <a:t>/* 실행 예: main 안에서 */</a:t>
            </a:r>
          </a:p>
          <a:p>
            <a:pPr>
              <a:defRPr sz="2100" b="0">
                <a:solidFill>
                  <a:srgbClr val="151515"/>
                </a:solidFill>
              </a:defRPr>
            </a:pPr>
            <a:r>
              <a:rPr sz="2100" b="0">
                <a:solidFill>
                  <a:srgbClr val="151515"/>
                </a:solidFill>
                <a:latin typeface="Consolas" panose="020B0609020204030204" pitchFamily="49" charset="0"/>
              </a:rPr>
              <a:t>int a[] = {8, 3, 6, 2, 7, 1, 5, 4};</a:t>
            </a:r>
          </a:p>
          <a:p>
            <a:pPr>
              <a:defRPr sz="2100" b="0">
                <a:solidFill>
                  <a:srgbClr val="151515"/>
                </a:solidFill>
              </a:defRPr>
            </a:pPr>
            <a:r>
              <a:rPr sz="2100" b="0">
                <a:solidFill>
                  <a:srgbClr val="151515"/>
                </a:solidFill>
                <a:latin typeface="Consolas" panose="020B0609020204030204" pitchFamily="49" charset="0"/>
              </a:rPr>
              <a:t>int tmp[8];</a:t>
            </a:r>
          </a:p>
          <a:p>
            <a:pPr>
              <a:defRPr sz="2100" b="0">
                <a:solidFill>
                  <a:srgbClr val="151515"/>
                </a:solidFill>
              </a:defRPr>
            </a:pPr>
            <a:r>
              <a:rPr sz="2100" b="0">
                <a:solidFill>
                  <a:srgbClr val="151515"/>
                </a:solidFill>
                <a:latin typeface="Consolas" panose="020B0609020204030204" pitchFamily="49" charset="0"/>
              </a:rPr>
              <a:t>merge_sort(a, tmp, 0, 7);</a:t>
            </a:r>
          </a:p>
          <a:p>
            <a:pPr>
              <a:defRPr sz="2100" b="0">
                <a:solidFill>
                  <a:srgbClr val="151515"/>
                </a:solidFill>
              </a:defRPr>
            </a:pPr>
            <a:r>
              <a:rPr sz="2100" b="0">
                <a:solidFill>
                  <a:srgbClr val="151515"/>
                </a:solidFill>
                <a:latin typeface="Consolas" panose="020B0609020204030204" pitchFamily="49" charset="0"/>
              </a:rPr>
              <a:t>/* a는 {1, 2, 3, 4, 5, 6, 7, 8}이 된다. */</a:t>
            </a:r>
          </a:p>
        </p:txBody>
      </p:sp>
      <p:sp>
        <p:nvSpPr>
          <p:cNvPr id="5" name="직사각형 4">
            <a:extLst>
              <a:ext uri="{FF2B5EF4-FFF2-40B4-BE49-F238E27FC236}">
                <a16:creationId xmlns:a16="http://schemas.microsoft.com/office/drawing/2014/main" id="{FF25030C-2669-4D21-839A-752F543E7AF5}"/>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6F866735-1F7B-4920-9E3D-47749A252834}"/>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16</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31FC3DE1-FB9F-A1B6-E62E-639419C70C02}"/>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980244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401E7EF0-24DA-4F3F-A712-51887B1645C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060FE702-EACF-4F60-A4A8-793AC637CDE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572C8F1-1C4D-4FF5-BC39-A4DAA7A87D0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왜 Θ(n log n)인가?</a:t>
            </a:r>
          </a:p>
        </p:txBody>
      </p:sp>
      <p:sp>
        <p:nvSpPr>
          <p:cNvPr id="4" name="직사각형 3">
            <a:extLst>
              <a:ext uri="{FF2B5EF4-FFF2-40B4-BE49-F238E27FC236}">
                <a16:creationId xmlns:a16="http://schemas.microsoft.com/office/drawing/2014/main" id="{7863DC43-422E-484C-8905-AA6CA8F08CCC}"/>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한 단계의 병합에서 모든 원소를 합쳐 n개 처리한다.</a:t>
            </a:r>
          </a:p>
          <a:p>
            <a:pPr>
              <a:defRPr sz="2025" b="0">
                <a:solidFill>
                  <a:srgbClr val="151515"/>
                </a:solidFill>
              </a:defRPr>
            </a:pPr>
            <a:r>
              <a:rPr sz="2025" b="0">
                <a:solidFill>
                  <a:srgbClr val="151515"/>
                </a:solidFill>
                <a:latin typeface="Malgun Gothic" panose="020B0503020000020004" pitchFamily="50" charset="-127"/>
              </a:rPr>
              <a:t>절반으로 나누므로 단계 수는 Θ(log n)이다.</a:t>
            </a:r>
          </a:p>
          <a:p>
            <a:pPr>
              <a:defRPr sz="2025" b="0">
                <a:solidFill>
                  <a:srgbClr val="151515"/>
                </a:solidFill>
              </a:defRPr>
            </a:pPr>
            <a:r>
              <a:rPr sz="2025" b="0">
                <a:solidFill>
                  <a:srgbClr val="151515"/>
                </a:solidFill>
                <a:latin typeface="Malgun Gothic" panose="020B0503020000020004" pitchFamily="50" charset="-127"/>
              </a:rPr>
              <a:t>최선·평균·최악 모두 Θ(n log n)</a:t>
            </a:r>
          </a:p>
          <a:p>
            <a:pPr>
              <a:defRPr sz="2025" b="0">
                <a:solidFill>
                  <a:srgbClr val="151515"/>
                </a:solidFill>
              </a:defRPr>
            </a:pPr>
            <a:r>
              <a:rPr sz="2025" b="0">
                <a:solidFill>
                  <a:srgbClr val="151515"/>
                </a:solidFill>
                <a:latin typeface="Malgun Gothic" panose="020B0503020000020004" pitchFamily="50" charset="-127"/>
              </a:rPr>
              <a:t>같은 값이면 왼쪽을 먼저 선택하면 안정 정렬이다.</a:t>
            </a:r>
          </a:p>
        </p:txBody>
      </p:sp>
      <p:sp>
        <p:nvSpPr>
          <p:cNvPr id="5" name="직사각형 4">
            <a:extLst>
              <a:ext uri="{FF2B5EF4-FFF2-40B4-BE49-F238E27FC236}">
                <a16:creationId xmlns:a16="http://schemas.microsoft.com/office/drawing/2014/main" id="{0F8AF138-1ED3-4D74-9DA8-4DBF41F940BE}"/>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단계별 처리량</a:t>
            </a:r>
          </a:p>
        </p:txBody>
      </p:sp>
      <p:graphicFrame>
        <p:nvGraphicFramePr>
          <p:cNvPr id="6" name="표 5">
            <a:extLst>
              <a:ext uri="{FF2B5EF4-FFF2-40B4-BE49-F238E27FC236}">
                <a16:creationId xmlns:a16="http://schemas.microsoft.com/office/drawing/2014/main" id="{E9E25784-0AE8-4322-A080-C11A748F7EC3}"/>
              </a:ext>
            </a:extLst>
          </p:cNvPr>
          <p:cNvGraphicFramePr/>
          <p:nvPr>
            <p:extLst>
              <p:ext uri="{D42A27DB-BD31-4B8C-83A1-F6EECF244321}">
                <p14:modId xmlns:p14="http://schemas.microsoft.com/office/powerpoint/2010/main" val="1495717862"/>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2개 × 4쌍 = 8개</a:t>
                      </a:r>
                    </a:p>
                  </a:txBody>
                  <a:tcPr>
                    <a:solidFill>
                      <a:srgbClr val="F6F6F6"/>
                    </a:solidFill>
                  </a:tcPr>
                </a:tc>
                <a:tc>
                  <a:txBody>
                    <a:bodyPr/>
                    <a:lstStyle/>
                    <a:p>
                      <a:pPr algn="ctr"/>
                      <a:r>
                        <a:rPr sz="2025" b="1">
                          <a:solidFill>
                            <a:srgbClr val="151515"/>
                          </a:solidFill>
                          <a:latin typeface="Malgun Gothic" panose="020B0503020000020004" pitchFamily="50" charset="-127"/>
                        </a:rPr>
                        <a:t>4개 × 2쌍 = 8개</a:t>
                      </a:r>
                    </a:p>
                  </a:txBody>
                  <a:tcPr>
                    <a:solidFill>
                      <a:srgbClr val="F6F6F6"/>
                    </a:solidFill>
                  </a:tcPr>
                </a:tc>
                <a:tc>
                  <a:txBody>
                    <a:bodyPr/>
                    <a:lstStyle/>
                    <a:p>
                      <a:pPr algn="ctr"/>
                      <a:r>
                        <a:rPr sz="2025" b="1">
                          <a:solidFill>
                            <a:srgbClr val="151515"/>
                          </a:solidFill>
                          <a:latin typeface="Malgun Gothic" panose="020B0503020000020004" pitchFamily="50" charset="-127"/>
                        </a:rPr>
                        <a:t>8개 × 1쌍 = 8개</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2537E776-9058-4588-B5B6-2B008C6D2B35}"/>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8" name="직사각형 7">
            <a:extLst>
              <a:ext uri="{FF2B5EF4-FFF2-40B4-BE49-F238E27FC236}">
                <a16:creationId xmlns:a16="http://schemas.microsoft.com/office/drawing/2014/main" id="{9D15A4E4-D302-4DA8-900C-986D82E5286E}"/>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17</a:t>
            </a:r>
            <a:endParaRPr sz="1050" b="0">
              <a:solidFill>
                <a:srgbClr val="151515"/>
              </a:solidFill>
              <a:latin typeface="Consolas" panose="020B0609020204030204" pitchFamily="49" charset="0"/>
            </a:endParaRPr>
          </a:p>
        </p:txBody>
      </p:sp>
      <p:cxnSp>
        <p:nvCxnSpPr>
          <p:cNvPr id="10" name="직선 연결선 9">
            <a:extLst>
              <a:ext uri="{FF2B5EF4-FFF2-40B4-BE49-F238E27FC236}">
                <a16:creationId xmlns:a16="http://schemas.microsoft.com/office/drawing/2014/main" id="{F087B0BA-17E4-E978-13FE-199365DCA16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518713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B5D136DF-D806-4C4D-B911-01DEDE38B3C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BF2C2AF7-C67D-4F2C-B0F3-0D229601626D}"/>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C1A01D8C-A259-460C-A06A-37CD7D0BBC90}"/>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정렬 확인</a:t>
            </a:r>
          </a:p>
        </p:txBody>
      </p:sp>
      <p:sp>
        <p:nvSpPr>
          <p:cNvPr id="4" name="직사각형 3">
            <a:extLst>
              <a:ext uri="{FF2B5EF4-FFF2-40B4-BE49-F238E27FC236}">
                <a16:creationId xmlns:a16="http://schemas.microsoft.com/office/drawing/2014/main" id="{E5A80EDA-DCFC-4463-91B2-24F3D101319C}"/>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5], 오른쪽 [1, 3, 7]을 병합하자.</a:t>
            </a:r>
          </a:p>
          <a:p>
            <a:pPr>
              <a:defRPr sz="2025" b="0">
                <a:solidFill>
                  <a:srgbClr val="151515"/>
                </a:solidFill>
              </a:defRPr>
            </a:pPr>
            <a:r>
              <a:rPr sz="2025" b="0">
                <a:solidFill>
                  <a:srgbClr val="151515"/>
                </a:solidFill>
                <a:latin typeface="Malgun Gothic" panose="020B0503020000020004" pitchFamily="50" charset="-127"/>
              </a:rPr>
              <a:t>① 첫 번째로 선택하는 값과 움직이는 포인터는?</a:t>
            </a:r>
          </a:p>
          <a:p>
            <a:pPr>
              <a:defRPr sz="2025" b="0">
                <a:solidFill>
                  <a:srgbClr val="151515"/>
                </a:solidFill>
              </a:defRPr>
            </a:pPr>
            <a:r>
              <a:rPr sz="2025" b="0">
                <a:solidFill>
                  <a:srgbClr val="151515"/>
                </a:solidFill>
                <a:latin typeface="Malgun Gothic" panose="020B0503020000020004" pitchFamily="50" charset="-127"/>
              </a:rPr>
              <a:t>② 왼쪽이 먼저 끝났을 때 어떤 값을 붙이는가?</a:t>
            </a:r>
          </a:p>
          <a:p>
            <a:pPr>
              <a:defRPr sz="2025" b="0">
                <a:solidFill>
                  <a:srgbClr val="151515"/>
                </a:solidFill>
              </a:defRPr>
            </a:pPr>
            <a:r>
              <a:rPr sz="2025" b="0">
                <a:solidFill>
                  <a:srgbClr val="151515"/>
                </a:solidFill>
                <a:latin typeface="Malgun Gothic" panose="020B0503020000020004" pitchFamily="50" charset="-127"/>
              </a:rPr>
              <a:t>③ 재귀 코드에서 merge를 두 재귀 호출 뒤에 쓰는 이유는?</a:t>
            </a:r>
          </a:p>
        </p:txBody>
      </p:sp>
      <p:sp>
        <p:nvSpPr>
          <p:cNvPr id="5" name="직사각형 4">
            <a:extLst>
              <a:ext uri="{FF2B5EF4-FFF2-40B4-BE49-F238E27FC236}">
                <a16:creationId xmlns:a16="http://schemas.microsoft.com/office/drawing/2014/main" id="{C9AE0262-EFA8-422F-84A8-5599D2BA4322}"/>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a:t>
            </a:r>
          </a:p>
        </p:txBody>
      </p:sp>
      <p:graphicFrame>
        <p:nvGraphicFramePr>
          <p:cNvPr id="6" name="표 5">
            <a:extLst>
              <a:ext uri="{FF2B5EF4-FFF2-40B4-BE49-F238E27FC236}">
                <a16:creationId xmlns:a16="http://schemas.microsoft.com/office/drawing/2014/main" id="{E58439D9-B611-40C3-8A4F-0CC3645E114C}"/>
              </a:ext>
            </a:extLst>
          </p:cNvPr>
          <p:cNvGraphicFramePr/>
          <p:nvPr>
            <p:extLst>
              <p:ext uri="{D42A27DB-BD31-4B8C-83A1-F6EECF244321}">
                <p14:modId xmlns:p14="http://schemas.microsoft.com/office/powerpoint/2010/main" val="4074032646"/>
              </p:ext>
            </p:extLst>
          </p:nvPr>
        </p:nvGraphicFramePr>
        <p:xfrm>
          <a:off x="609600" y="3619500"/>
          <a:ext cx="10972800" cy="552450"/>
        </p:xfrm>
        <a:graphic>
          <a:graphicData uri="http://schemas.openxmlformats.org/drawingml/2006/table">
            <a:tbl>
              <a:tblPr/>
              <a:tblGrid>
                <a:gridCol w="54864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tblGrid>
              <a:tr h="552450">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5</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0575EED3-2DC2-4F01-BFE0-117C2223AB3D}"/>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a:t>
            </a:r>
          </a:p>
        </p:txBody>
      </p:sp>
      <p:graphicFrame>
        <p:nvGraphicFramePr>
          <p:cNvPr id="8" name="표 7">
            <a:extLst>
              <a:ext uri="{FF2B5EF4-FFF2-40B4-BE49-F238E27FC236}">
                <a16:creationId xmlns:a16="http://schemas.microsoft.com/office/drawing/2014/main" id="{359E178C-F650-47AB-9C84-EA45DB336A7D}"/>
              </a:ext>
            </a:extLst>
          </p:cNvPr>
          <p:cNvGraphicFramePr/>
          <p:nvPr>
            <p:extLst>
              <p:ext uri="{D42A27DB-BD31-4B8C-83A1-F6EECF244321}">
                <p14:modId xmlns:p14="http://schemas.microsoft.com/office/powerpoint/2010/main" val="3588263584"/>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1</a:t>
                      </a:r>
                    </a:p>
                  </a:txBody>
                  <a:tcPr>
                    <a:solidFill>
                      <a:srgbClr val="F6F6F6"/>
                    </a:solidFill>
                  </a:tcPr>
                </a:tc>
                <a:tc>
                  <a:txBody>
                    <a:bodyPr/>
                    <a:lstStyle/>
                    <a:p>
                      <a:pPr algn="ctr"/>
                      <a:r>
                        <a:rPr sz="2025" b="1">
                          <a:solidFill>
                            <a:srgbClr val="151515"/>
                          </a:solidFill>
                          <a:latin typeface="Malgun Gothic" panose="020B0503020000020004" pitchFamily="50" charset="-127"/>
                        </a:rPr>
                        <a:t>3</a:t>
                      </a:r>
                    </a:p>
                  </a:txBody>
                  <a:tcPr>
                    <a:solidFill>
                      <a:srgbClr val="F6F6F6"/>
                    </a:solidFill>
                  </a:tcPr>
                </a:tc>
                <a:tc>
                  <a:txBody>
                    <a:bodyPr/>
                    <a:lstStyle/>
                    <a:p>
                      <a:pPr algn="ctr"/>
                      <a:r>
                        <a:rPr sz="2025"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958EF715-97BC-407C-B9A2-08110195EDEC}"/>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34B28F29-8F1F-447A-9207-1E5DA22C0C42}"/>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18</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01A3F592-B2B2-FEE9-14FA-9AB0501631A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462168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52BD8E6E-C44E-4953-B458-11EA791D2D1F}"/>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509EF047-5F4E-4B7A-AB74-E000AEC3BC45}"/>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58B139E-0F10-4375-A5AF-3621C7A45574}"/>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퀵 정렬 (Quick Sort)</a:t>
            </a:r>
          </a:p>
        </p:txBody>
      </p:sp>
      <p:sp>
        <p:nvSpPr>
          <p:cNvPr id="4" name="직사각형 3">
            <a:extLst>
              <a:ext uri="{FF2B5EF4-FFF2-40B4-BE49-F238E27FC236}">
                <a16:creationId xmlns:a16="http://schemas.microsoft.com/office/drawing/2014/main" id="{7A148EE1-AB4F-40ED-8DB6-DF0A4B71A9DC}"/>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피벗을 기준으로 작은 값과 큰 값을 나눈다.</a:t>
            </a:r>
          </a:p>
          <a:p>
            <a:pPr>
              <a:defRPr sz="2025" b="0">
                <a:solidFill>
                  <a:srgbClr val="151515"/>
                </a:solidFill>
              </a:defRPr>
            </a:pPr>
            <a:r>
              <a:rPr sz="2025" b="0">
                <a:solidFill>
                  <a:srgbClr val="151515"/>
                </a:solidFill>
                <a:latin typeface="Malgun Gothic" panose="020B0503020000020004" pitchFamily="50" charset="-127"/>
              </a:rPr>
              <a:t>피벗의 위치를 확정한 뒤 양쪽 구간을 재귀 정렬한다.</a:t>
            </a:r>
          </a:p>
        </p:txBody>
      </p:sp>
      <p:sp>
        <p:nvSpPr>
          <p:cNvPr id="5" name="직사각형 4">
            <a:extLst>
              <a:ext uri="{FF2B5EF4-FFF2-40B4-BE49-F238E27FC236}">
                <a16:creationId xmlns:a16="http://schemas.microsoft.com/office/drawing/2014/main" id="{25CAA522-F416-44C0-8E07-54E77B31041F}"/>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예제</a:t>
            </a:r>
          </a:p>
        </p:txBody>
      </p:sp>
      <p:graphicFrame>
        <p:nvGraphicFramePr>
          <p:cNvPr id="6" name="표 5">
            <a:extLst>
              <a:ext uri="{FF2B5EF4-FFF2-40B4-BE49-F238E27FC236}">
                <a16:creationId xmlns:a16="http://schemas.microsoft.com/office/drawing/2014/main" id="{AB98675B-D8A6-429D-8D52-5B70CA324017}"/>
              </a:ext>
            </a:extLst>
          </p:cNvPr>
          <p:cNvGraphicFramePr/>
          <p:nvPr>
            <p:extLst>
              <p:ext uri="{D42A27DB-BD31-4B8C-83A1-F6EECF244321}">
                <p14:modId xmlns:p14="http://schemas.microsoft.com/office/powerpoint/2010/main" val="321447942"/>
              </p:ext>
            </p:extLst>
          </p:nvPr>
        </p:nvGraphicFramePr>
        <p:xfrm>
          <a:off x="609600" y="3619500"/>
          <a:ext cx="10972800" cy="552450"/>
        </p:xfrm>
        <a:graphic>
          <a:graphicData uri="http://schemas.openxmlformats.org/drawingml/2006/table">
            <a:tbl>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10005C23-6420-4C70-B2AE-AC8A838B5245}"/>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이번 피벗</a:t>
            </a:r>
          </a:p>
        </p:txBody>
      </p:sp>
      <p:graphicFrame>
        <p:nvGraphicFramePr>
          <p:cNvPr id="8" name="표 7">
            <a:extLst>
              <a:ext uri="{FF2B5EF4-FFF2-40B4-BE49-F238E27FC236}">
                <a16:creationId xmlns:a16="http://schemas.microsoft.com/office/drawing/2014/main" id="{5F3F3DCC-901D-4274-8CD2-3BA3A1240BF9}"/>
              </a:ext>
            </a:extLst>
          </p:cNvPr>
          <p:cNvGraphicFramePr/>
          <p:nvPr>
            <p:extLst>
              <p:ext uri="{D42A27DB-BD31-4B8C-83A1-F6EECF244321}">
                <p14:modId xmlns:p14="http://schemas.microsoft.com/office/powerpoint/2010/main" val="2425748900"/>
              </p:ext>
            </p:extLst>
          </p:nvPr>
        </p:nvGraphicFramePr>
        <p:xfrm>
          <a:off x="609600" y="4705350"/>
          <a:ext cx="10972800" cy="552450"/>
        </p:xfrm>
        <a:graphic>
          <a:graphicData uri="http://schemas.openxmlformats.org/drawingml/2006/table">
            <a:tbl>
              <a:tblPr/>
              <a:tblGrid>
                <a:gridCol w="10972800">
                  <a:extLst>
                    <a:ext uri="{9D8B030D-6E8A-4147-A177-3AD203B41FA5}">
                      <a16:colId xmlns:a16="http://schemas.microsoft.com/office/drawing/2014/main" val="20000"/>
                    </a:ext>
                  </a:extLst>
                </a:gridCol>
              </a:tblGrid>
              <a:tr h="552450">
                <a:tc>
                  <a:txBody>
                    <a:bodyPr/>
                    <a:lstStyle/>
                    <a:p>
                      <a:pPr algn="ctr"/>
                      <a:r>
                        <a:rPr sz="2025"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F24F7210-7910-4471-8305-5F5EFCD39EB3}"/>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L: 왼쪽 포인터    초록 R: 오른쪽 포인터    주황: 피벗</a:t>
            </a:r>
          </a:p>
        </p:txBody>
      </p:sp>
      <p:sp>
        <p:nvSpPr>
          <p:cNvPr id="10" name="직사각형 9">
            <a:extLst>
              <a:ext uri="{FF2B5EF4-FFF2-40B4-BE49-F238E27FC236}">
                <a16:creationId xmlns:a16="http://schemas.microsoft.com/office/drawing/2014/main" id="{B96F577C-DF45-4E9D-B54B-5440B332C017}"/>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1" name="직사각형 10">
            <a:extLst>
              <a:ext uri="{FF2B5EF4-FFF2-40B4-BE49-F238E27FC236}">
                <a16:creationId xmlns:a16="http://schemas.microsoft.com/office/drawing/2014/main" id="{4C7CC4CE-A7C0-4F64-BA93-592055F25F5D}"/>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19</a:t>
            </a:r>
            <a:endParaRPr sz="1050" b="0">
              <a:solidFill>
                <a:srgbClr val="151515"/>
              </a:solidFill>
              <a:latin typeface="Consolas" panose="020B0609020204030204" pitchFamily="49" charset="0"/>
            </a:endParaRPr>
          </a:p>
        </p:txBody>
      </p:sp>
      <p:cxnSp>
        <p:nvCxnSpPr>
          <p:cNvPr id="13" name="직선 연결선 12">
            <a:extLst>
              <a:ext uri="{FF2B5EF4-FFF2-40B4-BE49-F238E27FC236}">
                <a16:creationId xmlns:a16="http://schemas.microsoft.com/office/drawing/2014/main" id="{976F56A8-331A-8C00-292B-752A47193F2B}"/>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848280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67AF7F20-86C0-42F9-ABF5-A68D14468288}"/>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074DDCD8-6545-4006-A51D-B3D3D0EA8D4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F97E8A9-6388-4623-A04E-192F86F6BBD2}"/>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피벗을 끝으로 옮겨 둔다</a:t>
            </a:r>
          </a:p>
        </p:txBody>
      </p:sp>
      <p:sp>
        <p:nvSpPr>
          <p:cNvPr id="4" name="직사각형 3">
            <a:extLst>
              <a:ext uri="{FF2B5EF4-FFF2-40B4-BE49-F238E27FC236}">
                <a16:creationId xmlns:a16="http://schemas.microsoft.com/office/drawing/2014/main" id="{E6AA68DD-0307-4E45-97A1-5AD34F86983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lo = 0, hi = 5, 가운데 인덱스는 2</a:t>
            </a:r>
          </a:p>
          <a:p>
            <a:pPr>
              <a:defRPr sz="2025" b="0">
                <a:solidFill>
                  <a:srgbClr val="151515"/>
                </a:solidFill>
              </a:defRPr>
            </a:pPr>
            <a:r>
              <a:rPr sz="2025" b="0">
                <a:solidFill>
                  <a:srgbClr val="151515"/>
                </a:solidFill>
                <a:latin typeface="Malgun Gothic" panose="020B0503020000020004" pitchFamily="50" charset="-127"/>
              </a:rPr>
              <a:t>피벗 a[2] = 6을 a[5] = 1과 교환한다.</a:t>
            </a:r>
          </a:p>
          <a:p>
            <a:pPr>
              <a:defRPr sz="2025" b="0">
                <a:solidFill>
                  <a:srgbClr val="151515"/>
                </a:solidFill>
              </a:defRPr>
            </a:pPr>
            <a:r>
              <a:rPr sz="2025" b="0">
                <a:solidFill>
                  <a:srgbClr val="151515"/>
                </a:solidFill>
                <a:latin typeface="Malgun Gothic" panose="020B0503020000020004" pitchFamily="50" charset="-127"/>
              </a:rPr>
              <a:t>L = lo, R = hi − 1: 피벗을 제외한 구간을 살핀다.</a:t>
            </a:r>
          </a:p>
        </p:txBody>
      </p:sp>
      <p:sp>
        <p:nvSpPr>
          <p:cNvPr id="5" name="직사각형 4">
            <a:extLst>
              <a:ext uri="{FF2B5EF4-FFF2-40B4-BE49-F238E27FC236}">
                <a16:creationId xmlns:a16="http://schemas.microsoft.com/office/drawing/2014/main" id="{A58DCE03-3085-4B5C-BEBC-4C950E51E82A}"/>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피벗 선택</a:t>
            </a:r>
          </a:p>
        </p:txBody>
      </p:sp>
      <p:graphicFrame>
        <p:nvGraphicFramePr>
          <p:cNvPr id="6" name="표 5">
            <a:extLst>
              <a:ext uri="{FF2B5EF4-FFF2-40B4-BE49-F238E27FC236}">
                <a16:creationId xmlns:a16="http://schemas.microsoft.com/office/drawing/2014/main" id="{764D8D47-C88B-46B7-91E1-D981FEAC06D0}"/>
              </a:ext>
            </a:extLst>
          </p:cNvPr>
          <p:cNvGraphicFramePr/>
          <p:nvPr>
            <p:extLst>
              <p:ext uri="{D42A27DB-BD31-4B8C-83A1-F6EECF244321}">
                <p14:modId xmlns:p14="http://schemas.microsoft.com/office/powerpoint/2010/main" val="1271838442"/>
              </p:ext>
            </p:extLst>
          </p:nvPr>
        </p:nvGraphicFramePr>
        <p:xfrm>
          <a:off x="609600" y="3619500"/>
          <a:ext cx="10972800" cy="552450"/>
        </p:xfrm>
        <a:graphic>
          <a:graphicData uri="http://schemas.openxmlformats.org/drawingml/2006/table">
            <a:tbl>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DE5BB"/>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6F39D43C-E7A5-4A1C-B6A3-2603F66F92BF}"/>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끝으로 이동</a:t>
            </a:r>
          </a:p>
        </p:txBody>
      </p:sp>
      <p:graphicFrame>
        <p:nvGraphicFramePr>
          <p:cNvPr id="8" name="표 7">
            <a:extLst>
              <a:ext uri="{FF2B5EF4-FFF2-40B4-BE49-F238E27FC236}">
                <a16:creationId xmlns:a16="http://schemas.microsoft.com/office/drawing/2014/main" id="{3A455B6C-30EF-4881-B863-EAD8C6E37A7E}"/>
              </a:ext>
            </a:extLst>
          </p:cNvPr>
          <p:cNvGraphicFramePr/>
          <p:nvPr>
            <p:extLst>
              <p:ext uri="{D42A27DB-BD31-4B8C-83A1-F6EECF244321}">
                <p14:modId xmlns:p14="http://schemas.microsoft.com/office/powerpoint/2010/main" val="2453654533"/>
              </p:ext>
            </p:extLst>
          </p:nvPr>
        </p:nvGraphicFramePr>
        <p:xfrm>
          <a:off x="609600" y="4705350"/>
          <a:ext cx="10972800" cy="552450"/>
        </p:xfrm>
        <a:graphic>
          <a:graphicData uri="http://schemas.openxmlformats.org/drawingml/2006/table">
            <a:tbl>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DCECFB"/>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DDEFE6"/>
                    </a:solidFill>
                  </a:tcPr>
                </a:tc>
                <a:tc>
                  <a:txBody>
                    <a:bodyPr/>
                    <a:lstStyle/>
                    <a:p>
                      <a:pPr algn="ctr"/>
                      <a:r>
                        <a:rPr sz="25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9CAD349E-12C7-4746-9859-6457999147FB}"/>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L: 왼쪽 포인터    초록 R: 오른쪽 포인터    주황: 피벗</a:t>
            </a:r>
          </a:p>
        </p:txBody>
      </p:sp>
      <p:sp>
        <p:nvSpPr>
          <p:cNvPr id="10" name="직사각형 9">
            <a:extLst>
              <a:ext uri="{FF2B5EF4-FFF2-40B4-BE49-F238E27FC236}">
                <a16:creationId xmlns:a16="http://schemas.microsoft.com/office/drawing/2014/main" id="{395D8EF5-6ADE-4D4E-AA15-6D0F3DBFF863}"/>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1" name="직사각형 10">
            <a:extLst>
              <a:ext uri="{FF2B5EF4-FFF2-40B4-BE49-F238E27FC236}">
                <a16:creationId xmlns:a16="http://schemas.microsoft.com/office/drawing/2014/main" id="{EC3688C7-0A80-4FDF-BDD2-F6A04D6D955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20</a:t>
            </a:r>
            <a:endParaRPr sz="1050" b="0">
              <a:solidFill>
                <a:srgbClr val="151515"/>
              </a:solidFill>
              <a:latin typeface="Consolas" panose="020B0609020204030204" pitchFamily="49" charset="0"/>
            </a:endParaRPr>
          </a:p>
        </p:txBody>
      </p:sp>
      <p:cxnSp>
        <p:nvCxnSpPr>
          <p:cNvPr id="13" name="직선 연결선 12">
            <a:extLst>
              <a:ext uri="{FF2B5EF4-FFF2-40B4-BE49-F238E27FC236}">
                <a16:creationId xmlns:a16="http://schemas.microsoft.com/office/drawing/2014/main" id="{C31E6808-33F5-8926-DEBB-79A82FAE00D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03624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26A3AEBC-537A-41CB-835B-4955FC35B9DA}"/>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9387190B-066B-40BE-B86B-37FA53C17D63}"/>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3B9A920C-B651-4285-A791-64A941266FB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두 포인터가 멈추는 조건</a:t>
            </a:r>
          </a:p>
        </p:txBody>
      </p:sp>
      <p:sp>
        <p:nvSpPr>
          <p:cNvPr id="4" name="직사각형 3">
            <a:extLst>
              <a:ext uri="{FF2B5EF4-FFF2-40B4-BE49-F238E27FC236}">
                <a16:creationId xmlns:a16="http://schemas.microsoft.com/office/drawing/2014/main" id="{65B7F128-6E4D-44B2-B150-129EBED207B5}"/>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L: 피벗 이하인 동안 오른쪽으로 이동</a:t>
            </a:r>
          </a:p>
          <a:p>
            <a:pPr>
              <a:defRPr sz="2025" b="0">
                <a:solidFill>
                  <a:srgbClr val="151515"/>
                </a:solidFill>
              </a:defRPr>
            </a:pPr>
            <a:r>
              <a:rPr sz="2025" b="0">
                <a:solidFill>
                  <a:srgbClr val="151515"/>
                </a:solidFill>
                <a:latin typeface="Malgun Gothic" panose="020B0503020000020004" pitchFamily="50" charset="-127"/>
              </a:rPr>
              <a:t>R: 피벗보다 큰 동안 왼쪽으로 이동</a:t>
            </a:r>
          </a:p>
          <a:p>
            <a:pPr>
              <a:defRPr sz="2025" b="0">
                <a:solidFill>
                  <a:srgbClr val="151515"/>
                </a:solidFill>
              </a:defRPr>
            </a:pPr>
            <a:r>
              <a:rPr sz="2025" b="0">
                <a:solidFill>
                  <a:srgbClr val="151515"/>
                </a:solidFill>
                <a:latin typeface="Malgun Gothic" panose="020B0503020000020004" pitchFamily="50" charset="-127"/>
              </a:rPr>
              <a:t>L의 8은 큰 값이라 정지, R의 7은 크므로 통과</a:t>
            </a:r>
          </a:p>
          <a:p>
            <a:pPr>
              <a:defRPr sz="2025" b="0">
                <a:solidFill>
                  <a:srgbClr val="151515"/>
                </a:solidFill>
              </a:defRPr>
            </a:pPr>
            <a:r>
              <a:rPr sz="2025" b="0">
                <a:solidFill>
                  <a:srgbClr val="151515"/>
                </a:solidFill>
                <a:latin typeface="Malgun Gothic" panose="020B0503020000020004" pitchFamily="50" charset="-127"/>
              </a:rPr>
              <a:t>R의 3은 작은 값이라 정지</a:t>
            </a:r>
          </a:p>
        </p:txBody>
      </p:sp>
      <p:sp>
        <p:nvSpPr>
          <p:cNvPr id="5" name="직사각형 4">
            <a:extLst>
              <a:ext uri="{FF2B5EF4-FFF2-40B4-BE49-F238E27FC236}">
                <a16:creationId xmlns:a16="http://schemas.microsoft.com/office/drawing/2014/main" id="{DAF22DA2-4CE6-4AFB-855C-62439F05D8A2}"/>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R 이동 전</a:t>
            </a:r>
          </a:p>
        </p:txBody>
      </p:sp>
      <p:graphicFrame>
        <p:nvGraphicFramePr>
          <p:cNvPr id="6" name="표 5">
            <a:extLst>
              <a:ext uri="{FF2B5EF4-FFF2-40B4-BE49-F238E27FC236}">
                <a16:creationId xmlns:a16="http://schemas.microsoft.com/office/drawing/2014/main" id="{0D7BADB3-8DE3-4812-8D7E-EF5920787D61}"/>
              </a:ext>
            </a:extLst>
          </p:cNvPr>
          <p:cNvGraphicFramePr/>
          <p:nvPr>
            <p:extLst>
              <p:ext uri="{D42A27DB-BD31-4B8C-83A1-F6EECF244321}">
                <p14:modId xmlns:p14="http://schemas.microsoft.com/office/powerpoint/2010/main" val="1965540359"/>
              </p:ext>
            </p:extLst>
          </p:nvPr>
        </p:nvGraphicFramePr>
        <p:xfrm>
          <a:off x="609600" y="3619500"/>
          <a:ext cx="10972800" cy="552450"/>
        </p:xfrm>
        <a:graphic>
          <a:graphicData uri="http://schemas.openxmlformats.org/drawingml/2006/table">
            <a:tbl>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DCECFB"/>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DDEFE6"/>
                    </a:solidFill>
                  </a:tcPr>
                </a:tc>
                <a:tc>
                  <a:txBody>
                    <a:bodyPr/>
                    <a:lstStyle/>
                    <a:p>
                      <a:pPr algn="ctr"/>
                      <a:r>
                        <a:rPr sz="25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E7056800-346F-46AC-9CFD-0118BAF4F7F0}"/>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둘 다 멈춘 상태</a:t>
            </a:r>
          </a:p>
        </p:txBody>
      </p:sp>
      <p:graphicFrame>
        <p:nvGraphicFramePr>
          <p:cNvPr id="8" name="표 7">
            <a:extLst>
              <a:ext uri="{FF2B5EF4-FFF2-40B4-BE49-F238E27FC236}">
                <a16:creationId xmlns:a16="http://schemas.microsoft.com/office/drawing/2014/main" id="{042398E6-F5EA-45B4-9198-4815C5A741A5}"/>
              </a:ext>
            </a:extLst>
          </p:cNvPr>
          <p:cNvGraphicFramePr/>
          <p:nvPr>
            <p:extLst>
              <p:ext uri="{D42A27DB-BD31-4B8C-83A1-F6EECF244321}">
                <p14:modId xmlns:p14="http://schemas.microsoft.com/office/powerpoint/2010/main" val="969305454"/>
              </p:ext>
            </p:extLst>
          </p:nvPr>
        </p:nvGraphicFramePr>
        <p:xfrm>
          <a:off x="609600" y="4705350"/>
          <a:ext cx="10972800" cy="552450"/>
        </p:xfrm>
        <a:graphic>
          <a:graphicData uri="http://schemas.openxmlformats.org/drawingml/2006/table">
            <a:tbl>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DCECFB"/>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DDEFE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9436A91B-D6E7-4B37-8F3F-F3F0FEE7EB74}"/>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L: 왼쪽 포인터    초록 R: 오른쪽 포인터    주황: 피벗</a:t>
            </a:r>
          </a:p>
        </p:txBody>
      </p:sp>
      <p:sp>
        <p:nvSpPr>
          <p:cNvPr id="10" name="직사각형 9">
            <a:extLst>
              <a:ext uri="{FF2B5EF4-FFF2-40B4-BE49-F238E27FC236}">
                <a16:creationId xmlns:a16="http://schemas.microsoft.com/office/drawing/2014/main" id="{E70BF8B7-F02D-43A7-BC21-8D54E948590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1" name="직사각형 10">
            <a:extLst>
              <a:ext uri="{FF2B5EF4-FFF2-40B4-BE49-F238E27FC236}">
                <a16:creationId xmlns:a16="http://schemas.microsoft.com/office/drawing/2014/main" id="{3FDDC68A-075A-4C4A-A3A6-DFE1A10F38AF}"/>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21</a:t>
            </a:r>
            <a:endParaRPr sz="1050" b="0">
              <a:solidFill>
                <a:srgbClr val="151515"/>
              </a:solidFill>
              <a:latin typeface="Consolas" panose="020B0609020204030204" pitchFamily="49" charset="0"/>
            </a:endParaRPr>
          </a:p>
        </p:txBody>
      </p:sp>
      <p:cxnSp>
        <p:nvCxnSpPr>
          <p:cNvPr id="13" name="직선 연결선 12">
            <a:extLst>
              <a:ext uri="{FF2B5EF4-FFF2-40B4-BE49-F238E27FC236}">
                <a16:creationId xmlns:a16="http://schemas.microsoft.com/office/drawing/2014/main" id="{0DA45A2A-EC6C-2283-D3EF-44DED36D093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1344919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2A2CFD8D-E137-4665-8B7A-C129FDBBDC1B}"/>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DDFD5E9B-A060-4B1E-943C-57CC52E1169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3AB63DF4-2F90-4B9D-9C7D-43F256882F4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잘못 놓인 8과 3을 교환</a:t>
            </a:r>
          </a:p>
        </p:txBody>
      </p:sp>
      <p:sp>
        <p:nvSpPr>
          <p:cNvPr id="4" name="직사각형 3">
            <a:extLst>
              <a:ext uri="{FF2B5EF4-FFF2-40B4-BE49-F238E27FC236}">
                <a16:creationId xmlns:a16="http://schemas.microsoft.com/office/drawing/2014/main" id="{210266D3-47AA-4FDA-8506-B8EC10A07810}"/>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8은 오른쪽으로, 3은 왼쪽으로 보내야 한다.</a:t>
            </a:r>
          </a:p>
          <a:p>
            <a:pPr>
              <a:defRPr sz="2025" b="0">
                <a:solidFill>
                  <a:srgbClr val="151515"/>
                </a:solidFill>
              </a:defRPr>
            </a:pPr>
            <a:r>
              <a:rPr sz="2025" b="0">
                <a:solidFill>
                  <a:srgbClr val="151515"/>
                </a:solidFill>
                <a:latin typeface="Malgun Gothic" panose="020B0503020000020004" pitchFamily="50" charset="-127"/>
              </a:rPr>
              <a:t>두 값을 교환한 뒤 포인터 탐색을 이어 간다.</a:t>
            </a:r>
          </a:p>
          <a:p>
            <a:pPr>
              <a:defRPr sz="2025" b="0">
                <a:solidFill>
                  <a:srgbClr val="151515"/>
                </a:solidFill>
              </a:defRPr>
            </a:pPr>
            <a:r>
              <a:rPr sz="2025" b="0">
                <a:solidFill>
                  <a:srgbClr val="151515"/>
                </a:solidFill>
                <a:latin typeface="Malgun Gothic" panose="020B0503020000020004" pitchFamily="50" charset="-127"/>
              </a:rPr>
              <a:t>아직 왼쪽 구간 전체가 정렬된 것은 아니다.</a:t>
            </a:r>
          </a:p>
        </p:txBody>
      </p:sp>
      <p:sp>
        <p:nvSpPr>
          <p:cNvPr id="5" name="직사각형 4">
            <a:extLst>
              <a:ext uri="{FF2B5EF4-FFF2-40B4-BE49-F238E27FC236}">
                <a16:creationId xmlns:a16="http://schemas.microsoft.com/office/drawing/2014/main" id="{AE788B04-9FD7-4B7C-AD2F-330449DA8F90}"/>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교환 전</a:t>
            </a:r>
          </a:p>
        </p:txBody>
      </p:sp>
      <p:graphicFrame>
        <p:nvGraphicFramePr>
          <p:cNvPr id="6" name="표 5">
            <a:extLst>
              <a:ext uri="{FF2B5EF4-FFF2-40B4-BE49-F238E27FC236}">
                <a16:creationId xmlns:a16="http://schemas.microsoft.com/office/drawing/2014/main" id="{213C4C24-FCB9-4069-93BD-BE99A107BEA3}"/>
              </a:ext>
            </a:extLst>
          </p:cNvPr>
          <p:cNvGraphicFramePr/>
          <p:nvPr>
            <p:extLst>
              <p:ext uri="{D42A27DB-BD31-4B8C-83A1-F6EECF244321}">
                <p14:modId xmlns:p14="http://schemas.microsoft.com/office/powerpoint/2010/main" val="525148533"/>
              </p:ext>
            </p:extLst>
          </p:nvPr>
        </p:nvGraphicFramePr>
        <p:xfrm>
          <a:off x="609600" y="3619500"/>
          <a:ext cx="10972800" cy="552450"/>
        </p:xfrm>
        <a:graphic>
          <a:graphicData uri="http://schemas.openxmlformats.org/drawingml/2006/table">
            <a:tbl>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DCECFB"/>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DDEFE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0EDDBD4B-38A3-470A-8474-008634002B29}"/>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교환 후</a:t>
            </a:r>
          </a:p>
        </p:txBody>
      </p:sp>
      <p:graphicFrame>
        <p:nvGraphicFramePr>
          <p:cNvPr id="8" name="표 7">
            <a:extLst>
              <a:ext uri="{FF2B5EF4-FFF2-40B4-BE49-F238E27FC236}">
                <a16:creationId xmlns:a16="http://schemas.microsoft.com/office/drawing/2014/main" id="{B508A4EC-9B17-466D-8791-30A125ABD0F8}"/>
              </a:ext>
            </a:extLst>
          </p:cNvPr>
          <p:cNvGraphicFramePr/>
          <p:nvPr>
            <p:extLst>
              <p:ext uri="{D42A27DB-BD31-4B8C-83A1-F6EECF244321}">
                <p14:modId xmlns:p14="http://schemas.microsoft.com/office/powerpoint/2010/main" val="414225440"/>
              </p:ext>
            </p:extLst>
          </p:nvPr>
        </p:nvGraphicFramePr>
        <p:xfrm>
          <a:off x="609600" y="4705350"/>
          <a:ext cx="10972800" cy="552450"/>
        </p:xfrm>
        <a:graphic>
          <a:graphicData uri="http://schemas.openxmlformats.org/drawingml/2006/table">
            <a:tbl>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552450">
                <a:tc>
                  <a:txBody>
                    <a:bodyPr/>
                    <a:lstStyle/>
                    <a:p>
                      <a:pPr algn="ctr"/>
                      <a:r>
                        <a:rPr sz="2550" b="1">
                          <a:solidFill>
                            <a:srgbClr val="151515"/>
                          </a:solidFill>
                          <a:latin typeface="Malgun Gothic" panose="020B0503020000020004" pitchFamily="50" charset="-127"/>
                        </a:rPr>
                        <a:t>3</a:t>
                      </a:r>
                    </a:p>
                  </a:txBody>
                  <a:tcPr>
                    <a:solidFill>
                      <a:srgbClr val="DCECFB"/>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8</a:t>
                      </a:r>
                    </a:p>
                  </a:txBody>
                  <a:tcPr>
                    <a:solidFill>
                      <a:srgbClr val="DDEFE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3FFE3F4A-5A5D-4780-8DE6-BBD978060439}"/>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L: 왼쪽 포인터    초록 R: 오른쪽 포인터    주황: 피벗</a:t>
            </a:r>
          </a:p>
        </p:txBody>
      </p:sp>
      <p:sp>
        <p:nvSpPr>
          <p:cNvPr id="10" name="직사각형 9">
            <a:extLst>
              <a:ext uri="{FF2B5EF4-FFF2-40B4-BE49-F238E27FC236}">
                <a16:creationId xmlns:a16="http://schemas.microsoft.com/office/drawing/2014/main" id="{3D1D2A5A-C4A9-4482-BCFB-78537FF8CA2B}"/>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1" name="직사각형 10">
            <a:extLst>
              <a:ext uri="{FF2B5EF4-FFF2-40B4-BE49-F238E27FC236}">
                <a16:creationId xmlns:a16="http://schemas.microsoft.com/office/drawing/2014/main" id="{B221FACC-B7D8-4E90-A767-3BCDDDB1386F}"/>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22</a:t>
            </a:r>
            <a:endParaRPr sz="1050" b="0">
              <a:solidFill>
                <a:srgbClr val="151515"/>
              </a:solidFill>
              <a:latin typeface="Consolas" panose="020B0609020204030204" pitchFamily="49" charset="0"/>
            </a:endParaRPr>
          </a:p>
        </p:txBody>
      </p:sp>
      <p:cxnSp>
        <p:nvCxnSpPr>
          <p:cNvPr id="13" name="직선 연결선 12">
            <a:extLst>
              <a:ext uri="{FF2B5EF4-FFF2-40B4-BE49-F238E27FC236}">
                <a16:creationId xmlns:a16="http://schemas.microsoft.com/office/drawing/2014/main" id="{9244DCCB-8FCC-8911-C011-A727C15DE79F}"/>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458326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6FAA8CA8-7CC6-4CE6-A6E7-79158F0A1B9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92D55DB5-33E7-4139-8987-6A84D196F7E8}"/>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11911B1B-C79B-45C8-9353-8D3B655D8435}"/>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포인터가 교차하면 탐색 종료</a:t>
            </a:r>
          </a:p>
        </p:txBody>
      </p:sp>
      <p:sp>
        <p:nvSpPr>
          <p:cNvPr id="4" name="직사각형 3">
            <a:extLst>
              <a:ext uri="{FF2B5EF4-FFF2-40B4-BE49-F238E27FC236}">
                <a16:creationId xmlns:a16="http://schemas.microsoft.com/office/drawing/2014/main" id="{86212BDB-A1D5-43E6-9E22-6492D8B66CEC}"/>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L은 3, 4, 1을 통과하고 인덱스 3에서 멈춘다.</a:t>
            </a:r>
          </a:p>
          <a:p>
            <a:pPr>
              <a:defRPr sz="2025" b="0">
                <a:solidFill>
                  <a:srgbClr val="151515"/>
                </a:solidFill>
              </a:defRPr>
            </a:pPr>
            <a:r>
              <a:rPr sz="2025" b="0">
                <a:solidFill>
                  <a:srgbClr val="151515"/>
                </a:solidFill>
                <a:latin typeface="Malgun Gothic" panose="020B0503020000020004" pitchFamily="50" charset="-127"/>
              </a:rPr>
              <a:t>R은 8을 통과하고 인덱스 2에 도달한다.</a:t>
            </a:r>
          </a:p>
          <a:p>
            <a:pPr>
              <a:defRPr sz="2025" b="0">
                <a:solidFill>
                  <a:srgbClr val="151515"/>
                </a:solidFill>
              </a:defRPr>
            </a:pPr>
            <a:r>
              <a:rPr sz="2025" b="0">
                <a:solidFill>
                  <a:srgbClr val="151515"/>
                </a:solidFill>
                <a:latin typeface="Malgun Gothic" panose="020B0503020000020004" pitchFamily="50" charset="-127"/>
              </a:rPr>
              <a:t>L = 3 &gt; R = 2: 더 교환할 쌍이 없다.</a:t>
            </a:r>
          </a:p>
        </p:txBody>
      </p:sp>
      <p:sp>
        <p:nvSpPr>
          <p:cNvPr id="5" name="직사각형 4">
            <a:extLst>
              <a:ext uri="{FF2B5EF4-FFF2-40B4-BE49-F238E27FC236}">
                <a16:creationId xmlns:a16="http://schemas.microsoft.com/office/drawing/2014/main" id="{C0C0DB51-B4B7-4F9A-A245-D93DC030D4C5}"/>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탐색 종료</a:t>
            </a:r>
          </a:p>
        </p:txBody>
      </p:sp>
      <p:graphicFrame>
        <p:nvGraphicFramePr>
          <p:cNvPr id="6" name="표 5">
            <a:extLst>
              <a:ext uri="{FF2B5EF4-FFF2-40B4-BE49-F238E27FC236}">
                <a16:creationId xmlns:a16="http://schemas.microsoft.com/office/drawing/2014/main" id="{FE54740D-DB64-46E6-B75C-4063D62CF352}"/>
              </a:ext>
            </a:extLst>
          </p:cNvPr>
          <p:cNvGraphicFramePr/>
          <p:nvPr>
            <p:extLst>
              <p:ext uri="{D42A27DB-BD31-4B8C-83A1-F6EECF244321}">
                <p14:modId xmlns:p14="http://schemas.microsoft.com/office/powerpoint/2010/main" val="1777873468"/>
              </p:ext>
            </p:extLst>
          </p:nvPr>
        </p:nvGraphicFramePr>
        <p:xfrm>
          <a:off x="609600" y="3619500"/>
          <a:ext cx="10972800" cy="552450"/>
        </p:xfrm>
        <a:graphic>
          <a:graphicData uri="http://schemas.openxmlformats.org/drawingml/2006/table">
            <a:tbl>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552450">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DDEFE6"/>
                    </a:solidFill>
                  </a:tcPr>
                </a:tc>
                <a:tc>
                  <a:txBody>
                    <a:bodyPr/>
                    <a:lstStyle/>
                    <a:p>
                      <a:pPr algn="ctr"/>
                      <a:r>
                        <a:rPr sz="2550" b="1">
                          <a:solidFill>
                            <a:srgbClr val="151515"/>
                          </a:solidFill>
                          <a:latin typeface="Malgun Gothic" panose="020B0503020000020004" pitchFamily="50" charset="-127"/>
                        </a:rPr>
                        <a:t>8</a:t>
                      </a:r>
                    </a:p>
                  </a:txBody>
                  <a:tcPr>
                    <a:solidFill>
                      <a:srgbClr val="DCECFB"/>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B6B64CD-020D-4155-B93B-B9A8F64FF46E}"/>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구간의 의미</a:t>
            </a:r>
          </a:p>
        </p:txBody>
      </p:sp>
      <p:graphicFrame>
        <p:nvGraphicFramePr>
          <p:cNvPr id="8" name="표 7">
            <a:extLst>
              <a:ext uri="{FF2B5EF4-FFF2-40B4-BE49-F238E27FC236}">
                <a16:creationId xmlns:a16="http://schemas.microsoft.com/office/drawing/2014/main" id="{E0967177-4249-423B-AB1D-1B8BD2A38464}"/>
              </a:ext>
            </a:extLst>
          </p:cNvPr>
          <p:cNvGraphicFramePr/>
          <p:nvPr>
            <p:extLst>
              <p:ext uri="{D42A27DB-BD31-4B8C-83A1-F6EECF244321}">
                <p14:modId xmlns:p14="http://schemas.microsoft.com/office/powerpoint/2010/main" val="1668465705"/>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피벗 이하: 3  4  1</a:t>
                      </a:r>
                    </a:p>
                  </a:txBody>
                  <a:tcPr>
                    <a:solidFill>
                      <a:srgbClr val="F6F6F6"/>
                    </a:solidFill>
                  </a:tcPr>
                </a:tc>
                <a:tc>
                  <a:txBody>
                    <a:bodyPr/>
                    <a:lstStyle/>
                    <a:p>
                      <a:pPr algn="ctr"/>
                      <a:r>
                        <a:rPr sz="2025" b="1">
                          <a:solidFill>
                            <a:srgbClr val="151515"/>
                          </a:solidFill>
                          <a:latin typeface="Malgun Gothic" panose="020B0503020000020004" pitchFamily="50" charset="-127"/>
                        </a:rPr>
                        <a:t>피벗 초과: 8  7</a:t>
                      </a:r>
                    </a:p>
                  </a:txBody>
                  <a:tcPr>
                    <a:solidFill>
                      <a:srgbClr val="F6F6F6"/>
                    </a:solidFill>
                  </a:tcPr>
                </a:tc>
                <a:tc>
                  <a:txBody>
                    <a:bodyPr/>
                    <a:lstStyle/>
                    <a:p>
                      <a:pPr algn="ctr"/>
                      <a:r>
                        <a:rPr sz="2025" b="1">
                          <a:solidFill>
                            <a:srgbClr val="151515"/>
                          </a:solidFill>
                          <a:latin typeface="Malgun Gothic" panose="020B0503020000020004" pitchFamily="50" charset="-127"/>
                        </a:rPr>
                        <a:t>피벗: 6</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E4E735EC-9D08-4EF9-9192-E586D5320478}"/>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L: 왼쪽 포인터    초록 R: 오른쪽 포인터    주황: 피벗</a:t>
            </a:r>
          </a:p>
        </p:txBody>
      </p:sp>
      <p:sp>
        <p:nvSpPr>
          <p:cNvPr id="10" name="직사각형 9">
            <a:extLst>
              <a:ext uri="{FF2B5EF4-FFF2-40B4-BE49-F238E27FC236}">
                <a16:creationId xmlns:a16="http://schemas.microsoft.com/office/drawing/2014/main" id="{5BE4A634-0D17-42B3-8427-765CB348DE0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1" name="직사각형 10">
            <a:extLst>
              <a:ext uri="{FF2B5EF4-FFF2-40B4-BE49-F238E27FC236}">
                <a16:creationId xmlns:a16="http://schemas.microsoft.com/office/drawing/2014/main" id="{325D6CA4-09D6-42D5-83B0-A96173D3AA2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23</a:t>
            </a:r>
            <a:endParaRPr sz="1050" b="0">
              <a:solidFill>
                <a:srgbClr val="151515"/>
              </a:solidFill>
              <a:latin typeface="Consolas" panose="020B0609020204030204" pitchFamily="49" charset="0"/>
            </a:endParaRPr>
          </a:p>
        </p:txBody>
      </p:sp>
      <p:cxnSp>
        <p:nvCxnSpPr>
          <p:cNvPr id="13" name="직선 연결선 12">
            <a:extLst>
              <a:ext uri="{FF2B5EF4-FFF2-40B4-BE49-F238E27FC236}">
                <a16:creationId xmlns:a16="http://schemas.microsoft.com/office/drawing/2014/main" id="{69EC6CE4-73BB-7C16-743F-2AD9F82F553E}"/>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74231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D75FF5DB-2A3C-4692-B56F-07687699C06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751546ED-B875-4BD5-8F51-B72A90B08D4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C672EE0-5325-439A-99D7-7738F5F7CF42}"/>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피벗과 L 위치를 교환</a:t>
            </a:r>
          </a:p>
        </p:txBody>
      </p:sp>
      <p:sp>
        <p:nvSpPr>
          <p:cNvPr id="4" name="직사각형 3">
            <a:extLst>
              <a:ext uri="{FF2B5EF4-FFF2-40B4-BE49-F238E27FC236}">
                <a16:creationId xmlns:a16="http://schemas.microsoft.com/office/drawing/2014/main" id="{B5D39A7E-A1DB-4D6F-8D0C-96648B81B3A3}"/>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L은 큰 값 구간의 첫 위치를 가리킨다.</a:t>
            </a:r>
          </a:p>
          <a:p>
            <a:pPr>
              <a:defRPr sz="2025" b="0">
                <a:solidFill>
                  <a:srgbClr val="151515"/>
                </a:solidFill>
              </a:defRPr>
            </a:pPr>
            <a:r>
              <a:rPr sz="2025" b="0">
                <a:solidFill>
                  <a:srgbClr val="151515"/>
                </a:solidFill>
                <a:latin typeface="Malgun Gothic" panose="020B0503020000020004" pitchFamily="50" charset="-127"/>
              </a:rPr>
              <a:t>a[L] = 8과 마지막 피벗 6을 교환한다.</a:t>
            </a:r>
          </a:p>
          <a:p>
            <a:pPr>
              <a:defRPr sz="2025" b="0">
                <a:solidFill>
                  <a:srgbClr val="151515"/>
                </a:solidFill>
              </a:defRPr>
            </a:pPr>
            <a:r>
              <a:rPr sz="2025" b="0">
                <a:solidFill>
                  <a:srgbClr val="151515"/>
                </a:solidFill>
                <a:latin typeface="Malgun Gothic" panose="020B0503020000020004" pitchFamily="50" charset="-127"/>
              </a:rPr>
              <a:t>피벗 인덱스 p = 3이 확정된다.</a:t>
            </a:r>
          </a:p>
        </p:txBody>
      </p:sp>
      <p:sp>
        <p:nvSpPr>
          <p:cNvPr id="5" name="직사각형 4">
            <a:extLst>
              <a:ext uri="{FF2B5EF4-FFF2-40B4-BE49-F238E27FC236}">
                <a16:creationId xmlns:a16="http://schemas.microsoft.com/office/drawing/2014/main" id="{753202B4-798B-4E20-A4D4-A7E58AF362EC}"/>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교환 전</a:t>
            </a:r>
          </a:p>
        </p:txBody>
      </p:sp>
      <p:graphicFrame>
        <p:nvGraphicFramePr>
          <p:cNvPr id="6" name="표 5">
            <a:extLst>
              <a:ext uri="{FF2B5EF4-FFF2-40B4-BE49-F238E27FC236}">
                <a16:creationId xmlns:a16="http://schemas.microsoft.com/office/drawing/2014/main" id="{546E1570-44C4-451C-BB4D-DC15C751A5CA}"/>
              </a:ext>
            </a:extLst>
          </p:cNvPr>
          <p:cNvGraphicFramePr/>
          <p:nvPr>
            <p:extLst>
              <p:ext uri="{D42A27DB-BD31-4B8C-83A1-F6EECF244321}">
                <p14:modId xmlns:p14="http://schemas.microsoft.com/office/powerpoint/2010/main" val="1991967603"/>
              </p:ext>
            </p:extLst>
          </p:nvPr>
        </p:nvGraphicFramePr>
        <p:xfrm>
          <a:off x="609600" y="3619500"/>
          <a:ext cx="10972800" cy="552450"/>
        </p:xfrm>
        <a:graphic>
          <a:graphicData uri="http://schemas.openxmlformats.org/drawingml/2006/table">
            <a:tbl>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552450">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8</a:t>
                      </a:r>
                    </a:p>
                  </a:txBody>
                  <a:tcPr>
                    <a:solidFill>
                      <a:srgbClr val="DCECFB"/>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0C77C4CA-A6E4-4E72-AEAB-C4C27713F2F3}"/>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분할 완료</a:t>
            </a:r>
          </a:p>
        </p:txBody>
      </p:sp>
      <p:graphicFrame>
        <p:nvGraphicFramePr>
          <p:cNvPr id="8" name="표 7">
            <a:extLst>
              <a:ext uri="{FF2B5EF4-FFF2-40B4-BE49-F238E27FC236}">
                <a16:creationId xmlns:a16="http://schemas.microsoft.com/office/drawing/2014/main" id="{0271D0C2-F204-4CBD-81E0-D6F67EF47CB9}"/>
              </a:ext>
            </a:extLst>
          </p:cNvPr>
          <p:cNvGraphicFramePr/>
          <p:nvPr>
            <p:extLst>
              <p:ext uri="{D42A27DB-BD31-4B8C-83A1-F6EECF244321}">
                <p14:modId xmlns:p14="http://schemas.microsoft.com/office/powerpoint/2010/main" val="2286494272"/>
              </p:ext>
            </p:extLst>
          </p:nvPr>
        </p:nvGraphicFramePr>
        <p:xfrm>
          <a:off x="609600" y="4705350"/>
          <a:ext cx="10972800" cy="552450"/>
        </p:xfrm>
        <a:graphic>
          <a:graphicData uri="http://schemas.openxmlformats.org/drawingml/2006/table">
            <a:tbl>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552450">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DE5BB"/>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9BDFD790-25F2-4C7A-8792-BFCEED3D7166}"/>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L: 왼쪽 포인터    초록 R: 오른쪽 포인터    주황: 피벗</a:t>
            </a:r>
          </a:p>
        </p:txBody>
      </p:sp>
      <p:sp>
        <p:nvSpPr>
          <p:cNvPr id="10" name="직사각형 9">
            <a:extLst>
              <a:ext uri="{FF2B5EF4-FFF2-40B4-BE49-F238E27FC236}">
                <a16:creationId xmlns:a16="http://schemas.microsoft.com/office/drawing/2014/main" id="{03ED6134-0B33-47A6-88D4-7A7541AE91DB}"/>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1" name="직사각형 10">
            <a:extLst>
              <a:ext uri="{FF2B5EF4-FFF2-40B4-BE49-F238E27FC236}">
                <a16:creationId xmlns:a16="http://schemas.microsoft.com/office/drawing/2014/main" id="{59D1993E-869C-4083-A803-3A3A5A46E13B}"/>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24</a:t>
            </a:r>
            <a:endParaRPr sz="1050" b="0">
              <a:solidFill>
                <a:srgbClr val="151515"/>
              </a:solidFill>
              <a:latin typeface="Consolas" panose="020B0609020204030204" pitchFamily="49" charset="0"/>
            </a:endParaRPr>
          </a:p>
        </p:txBody>
      </p:sp>
      <p:cxnSp>
        <p:nvCxnSpPr>
          <p:cNvPr id="13" name="직선 연결선 12">
            <a:extLst>
              <a:ext uri="{FF2B5EF4-FFF2-40B4-BE49-F238E27FC236}">
                <a16:creationId xmlns:a16="http://schemas.microsoft.com/office/drawing/2014/main" id="{E4856938-C361-C2AC-5AB1-02D09816995F}"/>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043054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직사각형 13">
            <a:extLst>
              <a:ext uri="{FF2B5EF4-FFF2-40B4-BE49-F238E27FC236}">
                <a16:creationId xmlns:a16="http://schemas.microsoft.com/office/drawing/2014/main" id="{5535CFF7-15DC-4787-B36B-52CDAE8DE0A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ED6BD0A-0A5E-4FE3-B3AA-E7D4C0BEAC8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37C53508-E56B-4B5E-A1E8-92C59E412D48}"/>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양쪽 구간도 같은 방식으로 정렬</a:t>
            </a:r>
          </a:p>
        </p:txBody>
      </p:sp>
      <p:sp>
        <p:nvSpPr>
          <p:cNvPr id="4" name="직사각형 3">
            <a:extLst>
              <a:ext uri="{FF2B5EF4-FFF2-40B4-BE49-F238E27FC236}">
                <a16:creationId xmlns:a16="http://schemas.microsoft.com/office/drawing/2014/main" id="{727DC8E9-E149-493B-B0AD-E878409F1AB0}"/>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다음 호출: [lo, p − 1]과 [p + 1, hi]</a:t>
            </a:r>
          </a:p>
          <a:p>
            <a:pPr>
              <a:defRPr sz="2025" b="0">
                <a:solidFill>
                  <a:srgbClr val="151515"/>
                </a:solidFill>
              </a:defRPr>
            </a:pPr>
            <a:r>
              <a:rPr sz="2025" b="0">
                <a:solidFill>
                  <a:srgbClr val="151515"/>
                </a:solidFill>
                <a:latin typeface="Malgun Gothic" panose="020B0503020000020004" pitchFamily="50" charset="-127"/>
              </a:rPr>
              <a:t>왼쪽 [3, 4, 1]은 아직 정렬해야 한다.</a:t>
            </a:r>
          </a:p>
          <a:p>
            <a:pPr>
              <a:defRPr sz="2025" b="0">
                <a:solidFill>
                  <a:srgbClr val="151515"/>
                </a:solidFill>
              </a:defRPr>
            </a:pPr>
            <a:r>
              <a:rPr sz="2025" b="0">
                <a:solidFill>
                  <a:srgbClr val="151515"/>
                </a:solidFill>
                <a:latin typeface="Malgun Gothic" panose="020B0503020000020004" pitchFamily="50" charset="-127"/>
              </a:rPr>
              <a:t>구간에 원소가 하나 이하이면 종료한다.</a:t>
            </a:r>
          </a:p>
        </p:txBody>
      </p:sp>
      <p:sp>
        <p:nvSpPr>
          <p:cNvPr id="5" name="직사각형 4">
            <a:extLst>
              <a:ext uri="{FF2B5EF4-FFF2-40B4-BE49-F238E27FC236}">
                <a16:creationId xmlns:a16="http://schemas.microsoft.com/office/drawing/2014/main" id="{6DCE021F-E6A6-4FF1-BDD6-4E9C5186DD86}"/>
              </a:ext>
            </a:extLst>
          </p:cNvPr>
          <p:cNvSpPr>
            <a:spLocks noGrp="1"/>
          </p:cNvSpPr>
          <p:nvPr/>
        </p:nvSpPr>
        <p:spPr>
          <a:xfrm>
            <a:off x="609600" y="31146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분할 직후</a:t>
            </a:r>
          </a:p>
        </p:txBody>
      </p:sp>
      <p:graphicFrame>
        <p:nvGraphicFramePr>
          <p:cNvPr id="6" name="표 5">
            <a:extLst>
              <a:ext uri="{FF2B5EF4-FFF2-40B4-BE49-F238E27FC236}">
                <a16:creationId xmlns:a16="http://schemas.microsoft.com/office/drawing/2014/main" id="{0CCF3DDC-BA31-484D-96F8-584C6FCBAED5}"/>
              </a:ext>
            </a:extLst>
          </p:cNvPr>
          <p:cNvGraphicFramePr/>
          <p:nvPr>
            <p:extLst>
              <p:ext uri="{D42A27DB-BD31-4B8C-83A1-F6EECF244321}">
                <p14:modId xmlns:p14="http://schemas.microsoft.com/office/powerpoint/2010/main" val="577698313"/>
              </p:ext>
            </p:extLst>
          </p:nvPr>
        </p:nvGraphicFramePr>
        <p:xfrm>
          <a:off x="609600" y="3381375"/>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3  4  1</a:t>
                      </a:r>
                    </a:p>
                  </a:txBody>
                  <a:tcPr>
                    <a:solidFill>
                      <a:srgbClr val="F6F6F6"/>
                    </a:solidFill>
                  </a:tcPr>
                </a:tc>
                <a:tc>
                  <a:txBody>
                    <a:bodyPr/>
                    <a:lstStyle/>
                    <a:p>
                      <a:pPr algn="ctr"/>
                      <a:r>
                        <a:rPr sz="2025" b="1">
                          <a:solidFill>
                            <a:srgbClr val="151515"/>
                          </a:solidFill>
                          <a:latin typeface="Malgun Gothic" panose="020B0503020000020004" pitchFamily="50" charset="-127"/>
                        </a:rPr>
                        <a:t>6</a:t>
                      </a:r>
                    </a:p>
                  </a:txBody>
                  <a:tcPr>
                    <a:solidFill>
                      <a:srgbClr val="FDE5BB"/>
                    </a:solidFill>
                  </a:tcPr>
                </a:tc>
                <a:tc>
                  <a:txBody>
                    <a:bodyPr/>
                    <a:lstStyle/>
                    <a:p>
                      <a:pPr algn="ctr"/>
                      <a:r>
                        <a:rPr sz="2025" b="1">
                          <a:solidFill>
                            <a:srgbClr val="151515"/>
                          </a:solidFill>
                          <a:latin typeface="Malgun Gothic" panose="020B0503020000020004" pitchFamily="50" charset="-127"/>
                        </a:rPr>
                        <a:t>7  8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24BF2084-B857-4D0E-BF08-F04A9B82D5E6}"/>
              </a:ext>
            </a:extLst>
          </p:cNvPr>
          <p:cNvSpPr>
            <a:spLocks noGrp="1"/>
          </p:cNvSpPr>
          <p:nvPr/>
        </p:nvSpPr>
        <p:spPr>
          <a:xfrm>
            <a:off x="609600" y="401002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왼쪽도 정렬</a:t>
            </a:r>
          </a:p>
        </p:txBody>
      </p:sp>
      <p:graphicFrame>
        <p:nvGraphicFramePr>
          <p:cNvPr id="8" name="표 7">
            <a:extLst>
              <a:ext uri="{FF2B5EF4-FFF2-40B4-BE49-F238E27FC236}">
                <a16:creationId xmlns:a16="http://schemas.microsoft.com/office/drawing/2014/main" id="{F86B78D1-E8F1-44F3-BD41-99F260FF8618}"/>
              </a:ext>
            </a:extLst>
          </p:cNvPr>
          <p:cNvGraphicFramePr/>
          <p:nvPr>
            <p:extLst>
              <p:ext uri="{D42A27DB-BD31-4B8C-83A1-F6EECF244321}">
                <p14:modId xmlns:p14="http://schemas.microsoft.com/office/powerpoint/2010/main" val="838628477"/>
              </p:ext>
            </p:extLst>
          </p:nvPr>
        </p:nvGraphicFramePr>
        <p:xfrm>
          <a:off x="609600" y="4276725"/>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1  3  4</a:t>
                      </a:r>
                    </a:p>
                  </a:txBody>
                  <a:tcPr>
                    <a:solidFill>
                      <a:srgbClr val="F6F6F6"/>
                    </a:solidFill>
                  </a:tcPr>
                </a:tc>
                <a:tc>
                  <a:txBody>
                    <a:bodyPr/>
                    <a:lstStyle/>
                    <a:p>
                      <a:pPr algn="ctr"/>
                      <a:r>
                        <a:rPr sz="2025" b="1">
                          <a:solidFill>
                            <a:srgbClr val="151515"/>
                          </a:solidFill>
                          <a:latin typeface="Malgun Gothic" panose="020B0503020000020004" pitchFamily="50" charset="-127"/>
                        </a:rPr>
                        <a:t>6</a:t>
                      </a:r>
                    </a:p>
                  </a:txBody>
                  <a:tcPr>
                    <a:solidFill>
                      <a:srgbClr val="FDE5BB"/>
                    </a:solidFill>
                  </a:tcPr>
                </a:tc>
                <a:tc>
                  <a:txBody>
                    <a:bodyPr/>
                    <a:lstStyle/>
                    <a:p>
                      <a:pPr algn="ctr"/>
                      <a:r>
                        <a:rPr sz="2025" b="1">
                          <a:solidFill>
                            <a:srgbClr val="151515"/>
                          </a:solidFill>
                          <a:latin typeface="Malgun Gothic" panose="020B0503020000020004" pitchFamily="50" charset="-127"/>
                        </a:rPr>
                        <a:t>7  8</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5EEDC211-93E9-46C3-955B-740919FE6579}"/>
              </a:ext>
            </a:extLst>
          </p:cNvPr>
          <p:cNvSpPr>
            <a:spLocks noGrp="1"/>
          </p:cNvSpPr>
          <p:nvPr/>
        </p:nvSpPr>
        <p:spPr>
          <a:xfrm>
            <a:off x="609600" y="49053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완성</a:t>
            </a:r>
          </a:p>
        </p:txBody>
      </p:sp>
      <p:graphicFrame>
        <p:nvGraphicFramePr>
          <p:cNvPr id="10" name="표 9">
            <a:extLst>
              <a:ext uri="{FF2B5EF4-FFF2-40B4-BE49-F238E27FC236}">
                <a16:creationId xmlns:a16="http://schemas.microsoft.com/office/drawing/2014/main" id="{95140328-B7C9-4985-B4F1-1BAE707A8D7D}"/>
              </a:ext>
            </a:extLst>
          </p:cNvPr>
          <p:cNvGraphicFramePr/>
          <p:nvPr>
            <p:extLst>
              <p:ext uri="{D42A27DB-BD31-4B8C-83A1-F6EECF244321}">
                <p14:modId xmlns:p14="http://schemas.microsoft.com/office/powerpoint/2010/main" val="260474579"/>
              </p:ext>
            </p:extLst>
          </p:nvPr>
        </p:nvGraphicFramePr>
        <p:xfrm>
          <a:off x="609600" y="5172075"/>
          <a:ext cx="10972800" cy="552450"/>
        </p:xfrm>
        <a:graphic>
          <a:graphicData uri="http://schemas.openxmlformats.org/drawingml/2006/table">
            <a:tbl>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552450">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11" name="직사각형 10">
            <a:extLst>
              <a:ext uri="{FF2B5EF4-FFF2-40B4-BE49-F238E27FC236}">
                <a16:creationId xmlns:a16="http://schemas.microsoft.com/office/drawing/2014/main" id="{3AD81096-AB47-4A96-B596-89E461ECD858}"/>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L: 왼쪽 포인터    초록 R: 오른쪽 포인터    주황: 피벗</a:t>
            </a:r>
          </a:p>
        </p:txBody>
      </p:sp>
      <p:sp>
        <p:nvSpPr>
          <p:cNvPr id="12" name="직사각형 11">
            <a:extLst>
              <a:ext uri="{FF2B5EF4-FFF2-40B4-BE49-F238E27FC236}">
                <a16:creationId xmlns:a16="http://schemas.microsoft.com/office/drawing/2014/main" id="{E1FCE493-5187-450D-893A-3B726A96756D}"/>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3" name="직사각형 12">
            <a:extLst>
              <a:ext uri="{FF2B5EF4-FFF2-40B4-BE49-F238E27FC236}">
                <a16:creationId xmlns:a16="http://schemas.microsoft.com/office/drawing/2014/main" id="{56D84FE2-C0DA-4D8C-9950-B05CB79C2521}"/>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25</a:t>
            </a:r>
            <a:endParaRPr sz="1050" b="0">
              <a:solidFill>
                <a:srgbClr val="151515"/>
              </a:solidFill>
              <a:latin typeface="Consolas" panose="020B0609020204030204" pitchFamily="49" charset="0"/>
            </a:endParaRPr>
          </a:p>
        </p:txBody>
      </p:sp>
      <p:cxnSp>
        <p:nvCxnSpPr>
          <p:cNvPr id="15" name="직선 연결선 14">
            <a:extLst>
              <a:ext uri="{FF2B5EF4-FFF2-40B4-BE49-F238E27FC236}">
                <a16:creationId xmlns:a16="http://schemas.microsoft.com/office/drawing/2014/main" id="{B46712AC-26EF-6FE3-80F5-F4742D58EB57}"/>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758367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2830ACDA-A84F-4011-96F1-7BC7E3222FB9}"/>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270B644A-CCB3-42B9-A751-2A6858EF7087}"/>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1DF448B0-E8EE-4C89-9F56-6954D1DFA047}"/>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그림과 같은 partition</a:t>
            </a:r>
          </a:p>
        </p:txBody>
      </p:sp>
      <p:sp>
        <p:nvSpPr>
          <p:cNvPr id="4" name="직사각형 3">
            <a:extLst>
              <a:ext uri="{FF2B5EF4-FFF2-40B4-BE49-F238E27FC236}">
                <a16:creationId xmlns:a16="http://schemas.microsoft.com/office/drawing/2014/main" id="{E659F3A6-40F0-4422-81CB-6A65BF9A1E32}"/>
              </a:ext>
            </a:extLst>
          </p:cNvPr>
          <p:cNvSpPr>
            <a:spLocks noGrp="1"/>
          </p:cNvSpPr>
          <p:nvPr/>
        </p:nvSpPr>
        <p:spPr>
          <a:xfrm>
            <a:off x="609600" y="1571625"/>
            <a:ext cx="10972800" cy="4572000"/>
          </a:xfrm>
          <a:prstGeom prst="rect">
            <a:avLst/>
          </a:prstGeom>
          <a:noFill/>
          <a:ln w="0">
            <a:noFill/>
          </a:ln>
        </p:spPr>
        <p:txBody>
          <a:bodyPr/>
          <a:lstStyle>
            <a:defPPr>
              <a:defRPr sz="1875" b="0">
                <a:solidFill>
                  <a:srgbClr val="151515"/>
                </a:solidFill>
              </a:defRPr>
            </a:defPPr>
          </a:lstStyle>
          <a:p>
            <a:pPr>
              <a:defRPr sz="1875" b="0">
                <a:solidFill>
                  <a:srgbClr val="151515"/>
                </a:solidFill>
              </a:defRPr>
            </a:pPr>
            <a:r>
              <a:rPr sz="1875" b="0">
                <a:solidFill>
                  <a:srgbClr val="151515"/>
                </a:solidFill>
                <a:latin typeface="Consolas" panose="020B0609020204030204" pitchFamily="49" charset="0"/>
              </a:rPr>
              <a:t>def partition(a, lo, hi):</a:t>
            </a:r>
          </a:p>
          <a:p>
            <a:pPr>
              <a:defRPr sz="1875" b="0">
                <a:solidFill>
                  <a:srgbClr val="151515"/>
                </a:solidFill>
              </a:defRPr>
            </a:pPr>
            <a:r>
              <a:rPr sz="1875" b="0">
                <a:solidFill>
                  <a:srgbClr val="151515"/>
                </a:solidFill>
                <a:latin typeface="Consolas" panose="020B0609020204030204" pitchFamily="49" charset="0"/>
              </a:rPr>
              <a:t>    pivot_idx = (lo + hi) // 2</a:t>
            </a:r>
          </a:p>
          <a:p>
            <a:pPr>
              <a:defRPr sz="1875" b="0">
                <a:solidFill>
                  <a:srgbClr val="151515"/>
                </a:solidFill>
              </a:defRPr>
            </a:pPr>
            <a:r>
              <a:rPr sz="1875" b="0">
                <a:solidFill>
                  <a:srgbClr val="151515"/>
                </a:solidFill>
                <a:latin typeface="Consolas" panose="020B0609020204030204" pitchFamily="49" charset="0"/>
              </a:rPr>
              <a:t>    a[pivot_idx], a[hi] = a[hi], a[pivot_idx]</a:t>
            </a:r>
          </a:p>
          <a:p>
            <a:pPr>
              <a:defRPr sz="1875" b="0">
                <a:solidFill>
                  <a:srgbClr val="151515"/>
                </a:solidFill>
              </a:defRPr>
            </a:pPr>
            <a:r>
              <a:rPr sz="1875" b="0">
                <a:solidFill>
                  <a:srgbClr val="151515"/>
                </a:solidFill>
                <a:latin typeface="Consolas" panose="020B0609020204030204" pitchFamily="49" charset="0"/>
              </a:rPr>
              <a:t>    pivot = a[hi]</a:t>
            </a:r>
          </a:p>
          <a:p>
            <a:pPr>
              <a:defRPr sz="1875" b="0">
                <a:solidFill>
                  <a:srgbClr val="151515"/>
                </a:solidFill>
              </a:defRPr>
            </a:pPr>
            <a:r>
              <a:rPr sz="1875" b="0">
                <a:solidFill>
                  <a:srgbClr val="151515"/>
                </a:solidFill>
                <a:latin typeface="Consolas" panose="020B0609020204030204" pitchFamily="49" charset="0"/>
              </a:rPr>
              <a:t>    L, R = lo, hi - 1</a:t>
            </a:r>
          </a:p>
          <a:p>
            <a:pPr>
              <a:defRPr sz="1875" b="0">
                <a:solidFill>
                  <a:srgbClr val="151515"/>
                </a:solidFill>
              </a:defRPr>
            </a:pPr>
            <a:r>
              <a:rPr sz="1875" b="0">
                <a:solidFill>
                  <a:srgbClr val="151515"/>
                </a:solidFill>
                <a:latin typeface="Consolas" panose="020B0609020204030204" pitchFamily="49" charset="0"/>
              </a:rPr>
              <a:t>    while True:</a:t>
            </a:r>
          </a:p>
          <a:p>
            <a:pPr>
              <a:defRPr sz="1875" b="0">
                <a:solidFill>
                  <a:srgbClr val="151515"/>
                </a:solidFill>
              </a:defRPr>
            </a:pPr>
            <a:r>
              <a:rPr sz="1875" b="0">
                <a:solidFill>
                  <a:srgbClr val="151515"/>
                </a:solidFill>
                <a:latin typeface="Consolas" panose="020B0609020204030204" pitchFamily="49" charset="0"/>
              </a:rPr>
              <a:t>        while L &lt;= R and a[L] &lt;= pivot:</a:t>
            </a:r>
          </a:p>
          <a:p>
            <a:pPr>
              <a:defRPr sz="1875" b="0">
                <a:solidFill>
                  <a:srgbClr val="151515"/>
                </a:solidFill>
              </a:defRPr>
            </a:pPr>
            <a:r>
              <a:rPr sz="1875" b="0">
                <a:solidFill>
                  <a:srgbClr val="151515"/>
                </a:solidFill>
                <a:latin typeface="Consolas" panose="020B0609020204030204" pitchFamily="49" charset="0"/>
              </a:rPr>
              <a:t>            L += 1</a:t>
            </a:r>
          </a:p>
          <a:p>
            <a:pPr>
              <a:defRPr sz="1875" b="0">
                <a:solidFill>
                  <a:srgbClr val="151515"/>
                </a:solidFill>
              </a:defRPr>
            </a:pPr>
            <a:r>
              <a:rPr sz="1875" b="0">
                <a:solidFill>
                  <a:srgbClr val="151515"/>
                </a:solidFill>
                <a:latin typeface="Consolas" panose="020B0609020204030204" pitchFamily="49" charset="0"/>
              </a:rPr>
              <a:t>        while L &lt;= R and a[R] &gt; pivot:</a:t>
            </a:r>
          </a:p>
          <a:p>
            <a:pPr>
              <a:defRPr sz="1875" b="0">
                <a:solidFill>
                  <a:srgbClr val="151515"/>
                </a:solidFill>
              </a:defRPr>
            </a:pPr>
            <a:r>
              <a:rPr sz="1875" b="0">
                <a:solidFill>
                  <a:srgbClr val="151515"/>
                </a:solidFill>
                <a:latin typeface="Consolas" panose="020B0609020204030204" pitchFamily="49" charset="0"/>
              </a:rPr>
              <a:t>            R -= 1</a:t>
            </a:r>
          </a:p>
          <a:p>
            <a:pPr>
              <a:defRPr sz="1875" b="0">
                <a:solidFill>
                  <a:srgbClr val="151515"/>
                </a:solidFill>
              </a:defRPr>
            </a:pPr>
            <a:r>
              <a:rPr sz="1875" b="0">
                <a:solidFill>
                  <a:srgbClr val="151515"/>
                </a:solidFill>
                <a:latin typeface="Consolas" panose="020B0609020204030204" pitchFamily="49" charset="0"/>
              </a:rPr>
              <a:t>        if L &gt; R:</a:t>
            </a:r>
          </a:p>
          <a:p>
            <a:pPr>
              <a:defRPr sz="1875" b="0">
                <a:solidFill>
                  <a:srgbClr val="151515"/>
                </a:solidFill>
              </a:defRPr>
            </a:pPr>
            <a:r>
              <a:rPr sz="1875" b="0">
                <a:solidFill>
                  <a:srgbClr val="151515"/>
                </a:solidFill>
                <a:latin typeface="Consolas" panose="020B0609020204030204" pitchFamily="49" charset="0"/>
              </a:rPr>
              <a:t>            break</a:t>
            </a:r>
          </a:p>
          <a:p>
            <a:pPr>
              <a:defRPr sz="1875" b="0">
                <a:solidFill>
                  <a:srgbClr val="151515"/>
                </a:solidFill>
              </a:defRPr>
            </a:pPr>
            <a:r>
              <a:rPr sz="1875" b="0">
                <a:solidFill>
                  <a:srgbClr val="151515"/>
                </a:solidFill>
                <a:latin typeface="Consolas" panose="020B0609020204030204" pitchFamily="49" charset="0"/>
              </a:rPr>
              <a:t>        a[L], a[R] = a[R], a[L]</a:t>
            </a:r>
          </a:p>
          <a:p>
            <a:pPr>
              <a:defRPr sz="1875" b="0">
                <a:solidFill>
                  <a:srgbClr val="151515"/>
                </a:solidFill>
              </a:defRPr>
            </a:pPr>
            <a:r>
              <a:rPr sz="1875" b="0">
                <a:solidFill>
                  <a:srgbClr val="151515"/>
                </a:solidFill>
                <a:latin typeface="Consolas" panose="020B0609020204030204" pitchFamily="49" charset="0"/>
              </a:rPr>
              <a:t>    a[L], a[hi] = a[hi], a[L]</a:t>
            </a:r>
          </a:p>
          <a:p>
            <a:pPr>
              <a:defRPr sz="1875" b="0">
                <a:solidFill>
                  <a:srgbClr val="151515"/>
                </a:solidFill>
              </a:defRPr>
            </a:pPr>
            <a:r>
              <a:rPr sz="1875" b="0">
                <a:solidFill>
                  <a:srgbClr val="151515"/>
                </a:solidFill>
                <a:latin typeface="Consolas" panose="020B0609020204030204" pitchFamily="49" charset="0"/>
              </a:rPr>
              <a:t>    return L</a:t>
            </a:r>
          </a:p>
        </p:txBody>
      </p:sp>
      <p:sp>
        <p:nvSpPr>
          <p:cNvPr id="5" name="직사각형 4">
            <a:extLst>
              <a:ext uri="{FF2B5EF4-FFF2-40B4-BE49-F238E27FC236}">
                <a16:creationId xmlns:a16="http://schemas.microsoft.com/office/drawing/2014/main" id="{CB3DD153-5C79-4460-968A-718BB584735C}"/>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FA7A8DCA-5BB0-4AB0-ACB8-E0E19A5ED46D}"/>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26</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E3BCCD57-1624-8679-B33D-E89510E6B9F2}"/>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1662481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2C514E76-C53D-4EED-93E0-56E3C498F91D}"/>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E639C041-D673-4EE3-A016-2733A70187B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D3C6F180-1584-4FF8-AE1D-2E460495386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피벗을 제외한 재귀 호출</a:t>
            </a:r>
          </a:p>
        </p:txBody>
      </p:sp>
      <p:sp>
        <p:nvSpPr>
          <p:cNvPr id="4" name="직사각형 3">
            <a:extLst>
              <a:ext uri="{FF2B5EF4-FFF2-40B4-BE49-F238E27FC236}">
                <a16:creationId xmlns:a16="http://schemas.microsoft.com/office/drawing/2014/main" id="{CAF8BFE0-BF98-4964-8723-260F1BFCC162}"/>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def quick_sort(a, lo, hi):</a:t>
            </a:r>
          </a:p>
          <a:p>
            <a:pPr>
              <a:defRPr sz="2100" b="0">
                <a:solidFill>
                  <a:srgbClr val="151515"/>
                </a:solidFill>
              </a:defRPr>
            </a:pPr>
            <a:r>
              <a:rPr sz="2100" b="0">
                <a:solidFill>
                  <a:srgbClr val="151515"/>
                </a:solidFill>
                <a:latin typeface="Consolas" panose="020B0609020204030204" pitchFamily="49" charset="0"/>
              </a:rPr>
              <a:t>    if lo &gt;= hi:</a:t>
            </a:r>
          </a:p>
          <a:p>
            <a:pPr>
              <a:defRPr sz="2100" b="0">
                <a:solidFill>
                  <a:srgbClr val="151515"/>
                </a:solidFill>
              </a:defRPr>
            </a:pPr>
            <a:r>
              <a:rPr sz="2100" b="0">
                <a:solidFill>
                  <a:srgbClr val="151515"/>
                </a:solidFill>
                <a:latin typeface="Consolas" panose="020B0609020204030204" pitchFamily="49" charset="0"/>
              </a:rPr>
              <a:t>        return</a:t>
            </a:r>
          </a:p>
          <a:p>
            <a:pPr>
              <a:defRPr sz="2100" b="0">
                <a:solidFill>
                  <a:srgbClr val="151515"/>
                </a:solidFill>
              </a:defRPr>
            </a:pPr>
            <a:r>
              <a:rPr sz="2100" b="0">
                <a:solidFill>
                  <a:srgbClr val="151515"/>
                </a:solidFill>
                <a:latin typeface="Consolas" panose="020B0609020204030204" pitchFamily="49" charset="0"/>
              </a:rPr>
              <a:t>    p = partition(a, lo, hi)</a:t>
            </a:r>
          </a:p>
          <a:p>
            <a:pPr>
              <a:defRPr sz="2100" b="0">
                <a:solidFill>
                  <a:srgbClr val="151515"/>
                </a:solidFill>
              </a:defRPr>
            </a:pPr>
            <a:r>
              <a:rPr sz="2100" b="0">
                <a:solidFill>
                  <a:srgbClr val="151515"/>
                </a:solidFill>
                <a:latin typeface="Consolas" panose="020B0609020204030204" pitchFamily="49" charset="0"/>
              </a:rPr>
              <a:t>    quick_sort(a, lo, p - 1)</a:t>
            </a:r>
          </a:p>
          <a:p>
            <a:pPr>
              <a:defRPr sz="2100" b="0">
                <a:solidFill>
                  <a:srgbClr val="151515"/>
                </a:solidFill>
              </a:defRPr>
            </a:pPr>
            <a:r>
              <a:rPr sz="2100" b="0">
                <a:solidFill>
                  <a:srgbClr val="151515"/>
                </a:solidFill>
                <a:latin typeface="Consolas" panose="020B0609020204030204" pitchFamily="49" charset="0"/>
              </a:rPr>
              <a:t>    quick_sort(a, p + 1, hi)</a:t>
            </a:r>
          </a:p>
          <a:p>
            <a:endParaRPr sz="2100" b="0">
              <a:solidFill>
                <a:srgbClr val="151515"/>
              </a:solidFill>
              <a:latin typeface="Consolas" panose="020B0609020204030204" pitchFamily="49" charset="0"/>
            </a:endParaRPr>
          </a:p>
          <a:p>
            <a:pPr>
              <a:defRPr sz="2100" b="0">
                <a:solidFill>
                  <a:srgbClr val="151515"/>
                </a:solidFill>
              </a:defRPr>
            </a:pPr>
            <a:r>
              <a:rPr sz="2100" b="0">
                <a:solidFill>
                  <a:srgbClr val="151515"/>
                </a:solidFill>
                <a:latin typeface="Consolas" panose="020B0609020204030204" pitchFamily="49" charset="0"/>
              </a:rPr>
              <a:t>a = [8, 4, 6, 3, 7, 1]</a:t>
            </a:r>
          </a:p>
          <a:p>
            <a:pPr>
              <a:defRPr sz="2100" b="0">
                <a:solidFill>
                  <a:srgbClr val="151515"/>
                </a:solidFill>
              </a:defRPr>
            </a:pPr>
            <a:r>
              <a:rPr sz="2100" b="0">
                <a:solidFill>
                  <a:srgbClr val="151515"/>
                </a:solidFill>
                <a:latin typeface="Consolas" panose="020B0609020204030204" pitchFamily="49" charset="0"/>
              </a:rPr>
              <a:t>quick_sort(a, 0, len(a) - 1)</a:t>
            </a:r>
          </a:p>
          <a:p>
            <a:pPr>
              <a:defRPr sz="2100" b="0">
                <a:solidFill>
                  <a:srgbClr val="151515"/>
                </a:solidFill>
              </a:defRPr>
            </a:pPr>
            <a:r>
              <a:rPr sz="2100" b="0">
                <a:solidFill>
                  <a:srgbClr val="151515"/>
                </a:solidFill>
                <a:latin typeface="Consolas" panose="020B0609020204030204" pitchFamily="49" charset="0"/>
              </a:rPr>
              <a:t>print(a)  # [1, 3, 4, 6, 7, 8]</a:t>
            </a:r>
          </a:p>
        </p:txBody>
      </p:sp>
      <p:sp>
        <p:nvSpPr>
          <p:cNvPr id="5" name="직사각형 4">
            <a:extLst>
              <a:ext uri="{FF2B5EF4-FFF2-40B4-BE49-F238E27FC236}">
                <a16:creationId xmlns:a16="http://schemas.microsoft.com/office/drawing/2014/main" id="{B6E00013-588A-4479-A4C9-FA74DACDED5C}"/>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6DE184F0-2935-45C3-8AA8-B7E38942B942}"/>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27</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021F0E99-6E3E-930F-DD8F-58E2A5C9F5E7}"/>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780989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4E072F05-8010-446A-B06E-D9C283089A10}"/>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FEF38216-3A99-44AD-93E7-CD3E1364A85C}"/>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DD92C8FE-B902-4F54-A531-69858965A687}"/>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양쪽 포인터 partition</a:t>
            </a:r>
          </a:p>
        </p:txBody>
      </p:sp>
      <p:sp>
        <p:nvSpPr>
          <p:cNvPr id="4" name="직사각형 3">
            <a:extLst>
              <a:ext uri="{FF2B5EF4-FFF2-40B4-BE49-F238E27FC236}">
                <a16:creationId xmlns:a16="http://schemas.microsoft.com/office/drawing/2014/main" id="{E6C09C42-C7A1-4406-915F-6A5CECA49941}"/>
              </a:ext>
            </a:extLst>
          </p:cNvPr>
          <p:cNvSpPr>
            <a:spLocks noGrp="1"/>
          </p:cNvSpPr>
          <p:nvPr/>
        </p:nvSpPr>
        <p:spPr>
          <a:xfrm>
            <a:off x="609600" y="1571625"/>
            <a:ext cx="10972800" cy="4572000"/>
          </a:xfrm>
          <a:prstGeom prst="rect">
            <a:avLst/>
          </a:prstGeom>
          <a:noFill/>
          <a:ln w="0">
            <a:noFill/>
          </a:ln>
        </p:spPr>
        <p:txBody>
          <a:bodyPr/>
          <a:lstStyle>
            <a:defPPr>
              <a:defRPr sz="1875" b="0">
                <a:solidFill>
                  <a:srgbClr val="151515"/>
                </a:solidFill>
              </a:defRPr>
            </a:defPPr>
          </a:lstStyle>
          <a:p>
            <a:pPr>
              <a:defRPr sz="1875" b="0">
                <a:solidFill>
                  <a:srgbClr val="151515"/>
                </a:solidFill>
              </a:defRPr>
            </a:pPr>
            <a:r>
              <a:rPr sz="1875" b="0">
                <a:solidFill>
                  <a:srgbClr val="151515"/>
                </a:solidFill>
                <a:latin typeface="Consolas" panose="020B0609020204030204" pitchFamily="49" charset="0"/>
              </a:rPr>
              <a:t>void swap(int *x, int *y) {</a:t>
            </a:r>
          </a:p>
          <a:p>
            <a:pPr>
              <a:defRPr sz="1875" b="0">
                <a:solidFill>
                  <a:srgbClr val="151515"/>
                </a:solidFill>
              </a:defRPr>
            </a:pPr>
            <a:r>
              <a:rPr sz="1875" b="0">
                <a:solidFill>
                  <a:srgbClr val="151515"/>
                </a:solidFill>
                <a:latin typeface="Consolas" panose="020B0609020204030204" pitchFamily="49" charset="0"/>
              </a:rPr>
              <a:t>    int t = *x; *x = *y; *y = t;</a:t>
            </a:r>
          </a:p>
          <a:p>
            <a:pPr>
              <a:defRPr sz="1875" b="0">
                <a:solidFill>
                  <a:srgbClr val="151515"/>
                </a:solidFill>
              </a:defRPr>
            </a:pPr>
            <a:r>
              <a:rPr sz="1875" b="0">
                <a:solidFill>
                  <a:srgbClr val="151515"/>
                </a:solidFill>
                <a:latin typeface="Consolas" panose="020B0609020204030204" pitchFamily="49" charset="0"/>
              </a:rPr>
              <a:t>}</a:t>
            </a:r>
          </a:p>
          <a:p>
            <a:pPr>
              <a:defRPr sz="1875" b="0">
                <a:solidFill>
                  <a:srgbClr val="151515"/>
                </a:solidFill>
              </a:defRPr>
            </a:pPr>
            <a:r>
              <a:rPr sz="1875" b="0">
                <a:solidFill>
                  <a:srgbClr val="151515"/>
                </a:solidFill>
                <a:latin typeface="Consolas" panose="020B0609020204030204" pitchFamily="49" charset="0"/>
              </a:rPr>
              <a:t>int partition(int a[], int lo, int hi) {</a:t>
            </a:r>
          </a:p>
          <a:p>
            <a:pPr>
              <a:defRPr sz="1875" b="0">
                <a:solidFill>
                  <a:srgbClr val="151515"/>
                </a:solidFill>
              </a:defRPr>
            </a:pPr>
            <a:r>
              <a:rPr sz="1875" b="0">
                <a:solidFill>
                  <a:srgbClr val="151515"/>
                </a:solidFill>
                <a:latin typeface="Consolas" panose="020B0609020204030204" pitchFamily="49" charset="0"/>
              </a:rPr>
              <a:t>    int m = lo + (hi - lo) / 2;</a:t>
            </a:r>
          </a:p>
          <a:p>
            <a:pPr>
              <a:defRPr sz="1875" b="0">
                <a:solidFill>
                  <a:srgbClr val="151515"/>
                </a:solidFill>
              </a:defRPr>
            </a:pPr>
            <a:r>
              <a:rPr sz="1875" b="0">
                <a:solidFill>
                  <a:srgbClr val="151515"/>
                </a:solidFill>
                <a:latin typeface="Consolas" panose="020B0609020204030204" pitchFamily="49" charset="0"/>
              </a:rPr>
              <a:t>    swap(&amp;a[m], &amp;a[hi]);</a:t>
            </a:r>
          </a:p>
          <a:p>
            <a:pPr>
              <a:defRPr sz="1875" b="0">
                <a:solidFill>
                  <a:srgbClr val="151515"/>
                </a:solidFill>
              </a:defRPr>
            </a:pPr>
            <a:r>
              <a:rPr sz="1875" b="0">
                <a:solidFill>
                  <a:srgbClr val="151515"/>
                </a:solidFill>
                <a:latin typeface="Consolas" panose="020B0609020204030204" pitchFamily="49" charset="0"/>
              </a:rPr>
              <a:t>    int pivot = a[hi], L = lo, R = hi - 1;</a:t>
            </a:r>
          </a:p>
          <a:p>
            <a:pPr>
              <a:defRPr sz="1875" b="0">
                <a:solidFill>
                  <a:srgbClr val="151515"/>
                </a:solidFill>
              </a:defRPr>
            </a:pPr>
            <a:r>
              <a:rPr sz="1875" b="0">
                <a:solidFill>
                  <a:srgbClr val="151515"/>
                </a:solidFill>
                <a:latin typeface="Consolas" panose="020B0609020204030204" pitchFamily="49" charset="0"/>
              </a:rPr>
              <a:t>    while (1) {</a:t>
            </a:r>
          </a:p>
          <a:p>
            <a:pPr>
              <a:defRPr sz="1875" b="0">
                <a:solidFill>
                  <a:srgbClr val="151515"/>
                </a:solidFill>
              </a:defRPr>
            </a:pPr>
            <a:r>
              <a:rPr sz="1875" b="0">
                <a:solidFill>
                  <a:srgbClr val="151515"/>
                </a:solidFill>
                <a:latin typeface="Consolas" panose="020B0609020204030204" pitchFamily="49" charset="0"/>
              </a:rPr>
              <a:t>        while (L &lt;= R &amp;&amp; a[L] &lt;= pivot) L++;</a:t>
            </a:r>
          </a:p>
          <a:p>
            <a:pPr>
              <a:defRPr sz="1875" b="0">
                <a:solidFill>
                  <a:srgbClr val="151515"/>
                </a:solidFill>
              </a:defRPr>
            </a:pPr>
            <a:r>
              <a:rPr sz="1875" b="0">
                <a:solidFill>
                  <a:srgbClr val="151515"/>
                </a:solidFill>
                <a:latin typeface="Consolas" panose="020B0609020204030204" pitchFamily="49" charset="0"/>
              </a:rPr>
              <a:t>        while (L &lt;= R &amp;&amp; a[R] &gt; pivot) R--;</a:t>
            </a:r>
          </a:p>
          <a:p>
            <a:pPr>
              <a:defRPr sz="1875" b="0">
                <a:solidFill>
                  <a:srgbClr val="151515"/>
                </a:solidFill>
              </a:defRPr>
            </a:pPr>
            <a:r>
              <a:rPr sz="1875" b="0">
                <a:solidFill>
                  <a:srgbClr val="151515"/>
                </a:solidFill>
                <a:latin typeface="Consolas" panose="020B0609020204030204" pitchFamily="49" charset="0"/>
              </a:rPr>
              <a:t>        if (L &gt; R) break;</a:t>
            </a:r>
          </a:p>
          <a:p>
            <a:pPr>
              <a:defRPr sz="1875" b="0">
                <a:solidFill>
                  <a:srgbClr val="151515"/>
                </a:solidFill>
              </a:defRPr>
            </a:pPr>
            <a:r>
              <a:rPr sz="1875" b="0">
                <a:solidFill>
                  <a:srgbClr val="151515"/>
                </a:solidFill>
                <a:latin typeface="Consolas" panose="020B0609020204030204" pitchFamily="49" charset="0"/>
              </a:rPr>
              <a:t>        swap(&amp;a[L], &amp;a[R]);</a:t>
            </a:r>
          </a:p>
          <a:p>
            <a:pPr>
              <a:defRPr sz="1875" b="0">
                <a:solidFill>
                  <a:srgbClr val="151515"/>
                </a:solidFill>
              </a:defRPr>
            </a:pPr>
            <a:r>
              <a:rPr sz="1875" b="0">
                <a:solidFill>
                  <a:srgbClr val="151515"/>
                </a:solidFill>
                <a:latin typeface="Consolas" panose="020B0609020204030204" pitchFamily="49" charset="0"/>
              </a:rPr>
              <a:t>    }</a:t>
            </a:r>
          </a:p>
          <a:p>
            <a:pPr>
              <a:defRPr sz="1875" b="0">
                <a:solidFill>
                  <a:srgbClr val="151515"/>
                </a:solidFill>
              </a:defRPr>
            </a:pPr>
            <a:r>
              <a:rPr sz="1875" b="0">
                <a:solidFill>
                  <a:srgbClr val="151515"/>
                </a:solidFill>
                <a:latin typeface="Consolas" panose="020B0609020204030204" pitchFamily="49" charset="0"/>
              </a:rPr>
              <a:t>    swap(&amp;a[L], &amp;a[hi]);</a:t>
            </a:r>
          </a:p>
          <a:p>
            <a:pPr>
              <a:defRPr sz="1875" b="0">
                <a:solidFill>
                  <a:srgbClr val="151515"/>
                </a:solidFill>
              </a:defRPr>
            </a:pPr>
            <a:r>
              <a:rPr sz="1875" b="0">
                <a:solidFill>
                  <a:srgbClr val="151515"/>
                </a:solidFill>
                <a:latin typeface="Consolas" panose="020B0609020204030204" pitchFamily="49" charset="0"/>
              </a:rPr>
              <a:t>    return L;</a:t>
            </a:r>
          </a:p>
          <a:p>
            <a:pPr>
              <a:defRPr sz="1875" b="0">
                <a:solidFill>
                  <a:srgbClr val="151515"/>
                </a:solidFill>
              </a:defRPr>
            </a:pPr>
            <a:r>
              <a:rPr sz="1875" b="0">
                <a:solidFill>
                  <a:srgbClr val="151515"/>
                </a:solidFill>
                <a:latin typeface="Consolas" panose="020B0609020204030204" pitchFamily="49" charset="0"/>
              </a:rPr>
              <a:t>}</a:t>
            </a:r>
          </a:p>
        </p:txBody>
      </p:sp>
      <p:sp>
        <p:nvSpPr>
          <p:cNvPr id="5" name="직사각형 4">
            <a:extLst>
              <a:ext uri="{FF2B5EF4-FFF2-40B4-BE49-F238E27FC236}">
                <a16:creationId xmlns:a16="http://schemas.microsoft.com/office/drawing/2014/main" id="{74EAD5E0-A938-423C-A497-0F612574C65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C485EA4F-EC48-45B6-8CC7-9AA58C9F768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28</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0CE4A4F2-3187-CFCA-438A-1A8B74E2A46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0466421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FBA9F2F8-6BA9-496E-B136-21CD5C56128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8B20DDF7-07E3-40AC-A957-8B990573829C}"/>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0AE74CC-4151-4294-A509-0C42567EA422}"/>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재귀 호출과 실행</a:t>
            </a:r>
          </a:p>
        </p:txBody>
      </p:sp>
      <p:sp>
        <p:nvSpPr>
          <p:cNvPr id="4" name="직사각형 3">
            <a:extLst>
              <a:ext uri="{FF2B5EF4-FFF2-40B4-BE49-F238E27FC236}">
                <a16:creationId xmlns:a16="http://schemas.microsoft.com/office/drawing/2014/main" id="{CF37A9D2-FED8-4443-939B-AC9ADF886BD0}"/>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 swap과 partition을 이 함수 앞에 함께 넣는다. */</a:t>
            </a:r>
          </a:p>
          <a:p>
            <a:pPr>
              <a:defRPr sz="2100" b="0">
                <a:solidFill>
                  <a:srgbClr val="151515"/>
                </a:solidFill>
              </a:defRPr>
            </a:pPr>
            <a:r>
              <a:rPr sz="2100" b="0">
                <a:solidFill>
                  <a:srgbClr val="151515"/>
                </a:solidFill>
                <a:latin typeface="Consolas" panose="020B0609020204030204" pitchFamily="49" charset="0"/>
              </a:rPr>
              <a:t>void quick_sort(int a[], int lo, int hi) {</a:t>
            </a:r>
          </a:p>
          <a:p>
            <a:pPr>
              <a:defRPr sz="2100" b="0">
                <a:solidFill>
                  <a:srgbClr val="151515"/>
                </a:solidFill>
              </a:defRPr>
            </a:pPr>
            <a:r>
              <a:rPr sz="2100" b="0">
                <a:solidFill>
                  <a:srgbClr val="151515"/>
                </a:solidFill>
                <a:latin typeface="Consolas" panose="020B0609020204030204" pitchFamily="49" charset="0"/>
              </a:rPr>
              <a:t>    if (lo &gt;= hi) return;</a:t>
            </a:r>
          </a:p>
          <a:p>
            <a:pPr>
              <a:defRPr sz="2100" b="0">
                <a:solidFill>
                  <a:srgbClr val="151515"/>
                </a:solidFill>
              </a:defRPr>
            </a:pPr>
            <a:r>
              <a:rPr sz="2100" b="0">
                <a:solidFill>
                  <a:srgbClr val="151515"/>
                </a:solidFill>
                <a:latin typeface="Consolas" panose="020B0609020204030204" pitchFamily="49" charset="0"/>
              </a:rPr>
              <a:t>    int p = partition(a, lo, hi);</a:t>
            </a:r>
          </a:p>
          <a:p>
            <a:pPr>
              <a:defRPr sz="2100" b="0">
                <a:solidFill>
                  <a:srgbClr val="151515"/>
                </a:solidFill>
              </a:defRPr>
            </a:pPr>
            <a:r>
              <a:rPr sz="2100" b="0">
                <a:solidFill>
                  <a:srgbClr val="151515"/>
                </a:solidFill>
                <a:latin typeface="Consolas" panose="020B0609020204030204" pitchFamily="49" charset="0"/>
              </a:rPr>
              <a:t>    quick_sort(a, lo, p - 1);</a:t>
            </a:r>
          </a:p>
          <a:p>
            <a:pPr>
              <a:defRPr sz="2100" b="0">
                <a:solidFill>
                  <a:srgbClr val="151515"/>
                </a:solidFill>
              </a:defRPr>
            </a:pPr>
            <a:r>
              <a:rPr sz="2100" b="0">
                <a:solidFill>
                  <a:srgbClr val="151515"/>
                </a:solidFill>
                <a:latin typeface="Consolas" panose="020B0609020204030204" pitchFamily="49" charset="0"/>
              </a:rPr>
              <a:t>    quick_sort(a, p + 1, hi);</a:t>
            </a:r>
          </a:p>
          <a:p>
            <a:pPr>
              <a:defRPr sz="2100" b="0">
                <a:solidFill>
                  <a:srgbClr val="151515"/>
                </a:solidFill>
              </a:defRPr>
            </a:pPr>
            <a:r>
              <a:rPr sz="2100" b="0">
                <a:solidFill>
                  <a:srgbClr val="151515"/>
                </a:solidFill>
                <a:latin typeface="Consolas" panose="020B0609020204030204" pitchFamily="49" charset="0"/>
              </a:rPr>
              <a:t>}</a:t>
            </a:r>
          </a:p>
          <a:p>
            <a:pPr>
              <a:defRPr sz="2100" b="0">
                <a:solidFill>
                  <a:srgbClr val="151515"/>
                </a:solidFill>
              </a:defRPr>
            </a:pPr>
            <a:r>
              <a:rPr sz="2100" b="0">
                <a:solidFill>
                  <a:srgbClr val="151515"/>
                </a:solidFill>
                <a:latin typeface="Consolas" panose="020B0609020204030204" pitchFamily="49" charset="0"/>
              </a:rPr>
              <a:t>/* 실행 예: main 안에서 */</a:t>
            </a:r>
          </a:p>
          <a:p>
            <a:pPr>
              <a:defRPr sz="2100" b="0">
                <a:solidFill>
                  <a:srgbClr val="151515"/>
                </a:solidFill>
              </a:defRPr>
            </a:pPr>
            <a:r>
              <a:rPr sz="2100" b="0">
                <a:solidFill>
                  <a:srgbClr val="151515"/>
                </a:solidFill>
                <a:latin typeface="Consolas" panose="020B0609020204030204" pitchFamily="49" charset="0"/>
              </a:rPr>
              <a:t>int a[] = {8, 4, 6, 3, 7, 1};</a:t>
            </a:r>
          </a:p>
          <a:p>
            <a:pPr>
              <a:defRPr sz="2100" b="0">
                <a:solidFill>
                  <a:srgbClr val="151515"/>
                </a:solidFill>
              </a:defRPr>
            </a:pPr>
            <a:r>
              <a:rPr sz="2100" b="0">
                <a:solidFill>
                  <a:srgbClr val="151515"/>
                </a:solidFill>
                <a:latin typeface="Consolas" panose="020B0609020204030204" pitchFamily="49" charset="0"/>
              </a:rPr>
              <a:t>quick_sort(a, 0, 5);</a:t>
            </a:r>
          </a:p>
          <a:p>
            <a:pPr>
              <a:defRPr sz="2100" b="0">
                <a:solidFill>
                  <a:srgbClr val="151515"/>
                </a:solidFill>
              </a:defRPr>
            </a:pPr>
            <a:r>
              <a:rPr sz="2100" b="0">
                <a:solidFill>
                  <a:srgbClr val="151515"/>
                </a:solidFill>
                <a:latin typeface="Consolas" panose="020B0609020204030204" pitchFamily="49" charset="0"/>
              </a:rPr>
              <a:t>/* a는 {1, 3, 4, 6, 7, 8}이 된다. */</a:t>
            </a:r>
          </a:p>
        </p:txBody>
      </p:sp>
      <p:sp>
        <p:nvSpPr>
          <p:cNvPr id="5" name="직사각형 4">
            <a:extLst>
              <a:ext uri="{FF2B5EF4-FFF2-40B4-BE49-F238E27FC236}">
                <a16:creationId xmlns:a16="http://schemas.microsoft.com/office/drawing/2014/main" id="{B5AA7B9A-BD43-4DB1-9E32-6767E941C8A9}"/>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6B818F86-4737-46EB-9AD5-C7ED637C5EEC}"/>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29</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52B8C86A-2925-97E5-D326-1F6729B60C82}"/>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9642046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477E203F-3AF2-40EE-9C94-D8152434026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C2BC6191-7C8A-44F4-9C4E-F3EE706F6E7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3A95BB80-60EE-46E2-A687-18B981D285CC}"/>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같은 값과 빈 구간도 처리한다</a:t>
            </a:r>
          </a:p>
        </p:txBody>
      </p:sp>
      <p:sp>
        <p:nvSpPr>
          <p:cNvPr id="4" name="직사각형 3">
            <a:extLst>
              <a:ext uri="{FF2B5EF4-FFF2-40B4-BE49-F238E27FC236}">
                <a16:creationId xmlns:a16="http://schemas.microsoft.com/office/drawing/2014/main" id="{43FF1389-B7E9-4A9A-A97E-2C7D847F11E1}"/>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이 구현은 피벗 이하를 왼쪽, 초과를 오른쪽에 둔다.</a:t>
            </a:r>
          </a:p>
          <a:p>
            <a:pPr>
              <a:defRPr sz="2025" b="0">
                <a:solidFill>
                  <a:srgbClr val="151515"/>
                </a:solidFill>
              </a:defRPr>
            </a:pPr>
            <a:r>
              <a:rPr sz="2025" b="0">
                <a:solidFill>
                  <a:srgbClr val="151515"/>
                </a:solidFill>
                <a:latin typeface="Malgun Gothic" panose="020B0503020000020004" pitchFamily="50" charset="-127"/>
              </a:rPr>
              <a:t>같은 값이 있어도 L이 계속 이동하여 무한 반복을 피한다.</a:t>
            </a:r>
          </a:p>
          <a:p>
            <a:pPr>
              <a:defRPr sz="2025" b="0">
                <a:solidFill>
                  <a:srgbClr val="151515"/>
                </a:solidFill>
              </a:defRPr>
            </a:pPr>
            <a:r>
              <a:rPr sz="2025" b="0">
                <a:solidFill>
                  <a:srgbClr val="151515"/>
                </a:solidFill>
                <a:latin typeface="Malgun Gothic" panose="020B0503020000020004" pitchFamily="50" charset="-127"/>
              </a:rPr>
              <a:t>모두 같은 값에서는 한쪽으로 치우쳐 최악 Θ(n²)가 된다.</a:t>
            </a:r>
          </a:p>
          <a:p>
            <a:pPr>
              <a:defRPr sz="2025" b="0">
                <a:solidFill>
                  <a:srgbClr val="151515"/>
                </a:solidFill>
              </a:defRPr>
            </a:pPr>
            <a:r>
              <a:rPr sz="2025" b="0">
                <a:solidFill>
                  <a:srgbClr val="151515"/>
                </a:solidFill>
                <a:latin typeface="Malgun Gothic" panose="020B0503020000020004" pitchFamily="50" charset="-127"/>
              </a:rPr>
              <a:t>빈 배열의 첫 호출은 quick_sort(a, 0, −1), 즉시 종료</a:t>
            </a:r>
          </a:p>
        </p:txBody>
      </p:sp>
      <p:sp>
        <p:nvSpPr>
          <p:cNvPr id="5" name="직사각형 4">
            <a:extLst>
              <a:ext uri="{FF2B5EF4-FFF2-40B4-BE49-F238E27FC236}">
                <a16:creationId xmlns:a16="http://schemas.microsoft.com/office/drawing/2014/main" id="{E533740E-531F-4CDA-8263-40C78FE42313}"/>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모두 같은 값</a:t>
            </a:r>
          </a:p>
        </p:txBody>
      </p:sp>
      <p:graphicFrame>
        <p:nvGraphicFramePr>
          <p:cNvPr id="6" name="표 5">
            <a:extLst>
              <a:ext uri="{FF2B5EF4-FFF2-40B4-BE49-F238E27FC236}">
                <a16:creationId xmlns:a16="http://schemas.microsoft.com/office/drawing/2014/main" id="{1F004712-CCF7-4997-AF1D-ADD255E6754C}"/>
              </a:ext>
            </a:extLst>
          </p:cNvPr>
          <p:cNvGraphicFramePr/>
          <p:nvPr>
            <p:extLst>
              <p:ext uri="{D42A27DB-BD31-4B8C-83A1-F6EECF244321}">
                <p14:modId xmlns:p14="http://schemas.microsoft.com/office/powerpoint/2010/main" val="2406257998"/>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2</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C3AAEAC8-1FA9-43ED-ACD1-794F7EDE121B}"/>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분할 크기</a:t>
            </a:r>
          </a:p>
        </p:txBody>
      </p:sp>
      <p:graphicFrame>
        <p:nvGraphicFramePr>
          <p:cNvPr id="8" name="표 7">
            <a:extLst>
              <a:ext uri="{FF2B5EF4-FFF2-40B4-BE49-F238E27FC236}">
                <a16:creationId xmlns:a16="http://schemas.microsoft.com/office/drawing/2014/main" id="{71008587-50D7-45BB-AFAF-D2F4BCF69ADF}"/>
              </a:ext>
            </a:extLst>
          </p:cNvPr>
          <p:cNvGraphicFramePr/>
          <p:nvPr>
            <p:extLst>
              <p:ext uri="{D42A27DB-BD31-4B8C-83A1-F6EECF244321}">
                <p14:modId xmlns:p14="http://schemas.microsoft.com/office/powerpoint/2010/main" val="1396754331"/>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왼쪽 2개</a:t>
                      </a:r>
                    </a:p>
                  </a:txBody>
                  <a:tcPr>
                    <a:solidFill>
                      <a:srgbClr val="F6F6F6"/>
                    </a:solidFill>
                  </a:tcPr>
                </a:tc>
                <a:tc>
                  <a:txBody>
                    <a:bodyPr/>
                    <a:lstStyle/>
                    <a:p>
                      <a:pPr algn="ctr"/>
                      <a:r>
                        <a:rPr sz="2025" b="1">
                          <a:solidFill>
                            <a:srgbClr val="151515"/>
                          </a:solidFill>
                          <a:latin typeface="Malgun Gothic" panose="020B0503020000020004" pitchFamily="50" charset="-127"/>
                        </a:rPr>
                        <a:t>피벗 1개</a:t>
                      </a:r>
                    </a:p>
                  </a:txBody>
                  <a:tcPr>
                    <a:solidFill>
                      <a:srgbClr val="F6F6F6"/>
                    </a:solidFill>
                  </a:tcPr>
                </a:tc>
                <a:tc>
                  <a:txBody>
                    <a:bodyPr/>
                    <a:lstStyle/>
                    <a:p>
                      <a:pPr algn="ctr"/>
                      <a:r>
                        <a:rPr sz="2025" b="1">
                          <a:solidFill>
                            <a:srgbClr val="151515"/>
                          </a:solidFill>
                          <a:latin typeface="Malgun Gothic" panose="020B0503020000020004" pitchFamily="50" charset="-127"/>
                        </a:rPr>
                        <a:t>오른쪽 0개</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7A1E263D-46A8-4411-B7FA-2A9492D8C9EB}"/>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L: 왼쪽 포인터    초록 R: 오른쪽 포인터    주황: 피벗</a:t>
            </a:r>
          </a:p>
        </p:txBody>
      </p:sp>
      <p:sp>
        <p:nvSpPr>
          <p:cNvPr id="10" name="직사각형 9">
            <a:extLst>
              <a:ext uri="{FF2B5EF4-FFF2-40B4-BE49-F238E27FC236}">
                <a16:creationId xmlns:a16="http://schemas.microsoft.com/office/drawing/2014/main" id="{1F5BA130-52C1-449A-977F-0B6DEF75CA0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1" name="직사각형 10">
            <a:extLst>
              <a:ext uri="{FF2B5EF4-FFF2-40B4-BE49-F238E27FC236}">
                <a16:creationId xmlns:a16="http://schemas.microsoft.com/office/drawing/2014/main" id="{6D78869F-3C7D-474C-B8C6-3C50E29DD05C}"/>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30</a:t>
            </a:r>
            <a:endParaRPr sz="1050" b="0">
              <a:solidFill>
                <a:srgbClr val="151515"/>
              </a:solidFill>
              <a:latin typeface="Consolas" panose="020B0609020204030204" pitchFamily="49" charset="0"/>
            </a:endParaRPr>
          </a:p>
        </p:txBody>
      </p:sp>
      <p:cxnSp>
        <p:nvCxnSpPr>
          <p:cNvPr id="13" name="직선 연결선 12">
            <a:extLst>
              <a:ext uri="{FF2B5EF4-FFF2-40B4-BE49-F238E27FC236}">
                <a16:creationId xmlns:a16="http://schemas.microsoft.com/office/drawing/2014/main" id="{C015F537-90DC-3323-3310-DA37EFC3874E}"/>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6079324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53E7218D-24FA-4679-8CF5-A81F0AE71839}"/>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DEB56D87-A939-45A7-B2BC-FAFF8A681A85}"/>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585042A-8E55-4077-9678-ECDB3015AA8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피벗에 따라 달라지는 시간</a:t>
            </a:r>
          </a:p>
        </p:txBody>
      </p:sp>
      <p:sp>
        <p:nvSpPr>
          <p:cNvPr id="4" name="직사각형 3">
            <a:extLst>
              <a:ext uri="{FF2B5EF4-FFF2-40B4-BE49-F238E27FC236}">
                <a16:creationId xmlns:a16="http://schemas.microsoft.com/office/drawing/2014/main" id="{895F3537-E34C-480D-A633-30FA785B1397}"/>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분할 한 번은 Θ(n)</a:t>
            </a:r>
          </a:p>
          <a:p>
            <a:pPr>
              <a:defRPr sz="2025" b="0">
                <a:solidFill>
                  <a:srgbClr val="151515"/>
                </a:solidFill>
              </a:defRPr>
            </a:pPr>
            <a:r>
              <a:rPr sz="2025" b="0">
                <a:solidFill>
                  <a:srgbClr val="151515"/>
                </a:solidFill>
                <a:latin typeface="Malgun Gothic" panose="020B0503020000020004" pitchFamily="50" charset="-127"/>
              </a:rPr>
              <a:t>균형 분할은 Θ(log n) 단계, 전체 Θ(n log n)</a:t>
            </a:r>
          </a:p>
          <a:p>
            <a:pPr>
              <a:defRPr sz="2025" b="0">
                <a:solidFill>
                  <a:srgbClr val="151515"/>
                </a:solidFill>
              </a:defRPr>
            </a:pPr>
            <a:r>
              <a:rPr sz="2025" b="0">
                <a:solidFill>
                  <a:srgbClr val="151515"/>
                </a:solidFill>
                <a:latin typeface="Malgun Gothic" panose="020B0503020000020004" pitchFamily="50" charset="-127"/>
              </a:rPr>
              <a:t>한쪽에 n − 1개씩 남으면 최악 Θ(n²)</a:t>
            </a:r>
          </a:p>
          <a:p>
            <a:pPr>
              <a:defRPr sz="2025" b="0">
                <a:solidFill>
                  <a:srgbClr val="151515"/>
                </a:solidFill>
              </a:defRPr>
            </a:pPr>
            <a:r>
              <a:rPr sz="2025" b="0">
                <a:solidFill>
                  <a:srgbClr val="151515"/>
                </a:solidFill>
                <a:latin typeface="Malgun Gothic" panose="020B0503020000020004" pitchFamily="50" charset="-127"/>
              </a:rPr>
              <a:t>서로 다른 값의 무작위 순열에서 평균 Θ(n log n)</a:t>
            </a:r>
          </a:p>
          <a:p>
            <a:pPr>
              <a:defRPr sz="2025" b="0">
                <a:solidFill>
                  <a:srgbClr val="151515"/>
                </a:solidFill>
              </a:defRPr>
            </a:pPr>
            <a:r>
              <a:rPr sz="2025" b="0">
                <a:solidFill>
                  <a:srgbClr val="151515"/>
                </a:solidFill>
                <a:latin typeface="Malgun Gothic" panose="020B0503020000020004" pitchFamily="50" charset="-127"/>
              </a:rPr>
              <a:t>가운데 인덱스의 값이 중앙값이라는 보장은 없다.</a:t>
            </a:r>
          </a:p>
        </p:txBody>
      </p:sp>
      <p:sp>
        <p:nvSpPr>
          <p:cNvPr id="5" name="직사각형 4">
            <a:extLst>
              <a:ext uri="{FF2B5EF4-FFF2-40B4-BE49-F238E27FC236}">
                <a16:creationId xmlns:a16="http://schemas.microsoft.com/office/drawing/2014/main" id="{22D6E5BF-5408-4BAA-93CA-68AFEC8BDDE0}"/>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균형 분할</a:t>
            </a:r>
          </a:p>
        </p:txBody>
      </p:sp>
      <p:graphicFrame>
        <p:nvGraphicFramePr>
          <p:cNvPr id="6" name="표 5">
            <a:extLst>
              <a:ext uri="{FF2B5EF4-FFF2-40B4-BE49-F238E27FC236}">
                <a16:creationId xmlns:a16="http://schemas.microsoft.com/office/drawing/2014/main" id="{B020D2B2-002A-4501-8B67-AD9C21C3F370}"/>
              </a:ext>
            </a:extLst>
          </p:cNvPr>
          <p:cNvGraphicFramePr/>
          <p:nvPr>
            <p:extLst>
              <p:ext uri="{D42A27DB-BD31-4B8C-83A1-F6EECF244321}">
                <p14:modId xmlns:p14="http://schemas.microsoft.com/office/powerpoint/2010/main" val="2263211456"/>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절반</a:t>
                      </a:r>
                    </a:p>
                  </a:txBody>
                  <a:tcPr>
                    <a:solidFill>
                      <a:srgbClr val="F6F6F6"/>
                    </a:solidFill>
                  </a:tcPr>
                </a:tc>
                <a:tc>
                  <a:txBody>
                    <a:bodyPr/>
                    <a:lstStyle/>
                    <a:p>
                      <a:pPr algn="ctr"/>
                      <a:r>
                        <a:rPr sz="2025" b="1">
                          <a:solidFill>
                            <a:srgbClr val="151515"/>
                          </a:solidFill>
                          <a:latin typeface="Malgun Gothic" panose="020B0503020000020004" pitchFamily="50" charset="-127"/>
                        </a:rPr>
                        <a:t>피벗</a:t>
                      </a:r>
                    </a:p>
                  </a:txBody>
                  <a:tcPr>
                    <a:solidFill>
                      <a:srgbClr val="F6F6F6"/>
                    </a:solidFill>
                  </a:tcPr>
                </a:tc>
                <a:tc>
                  <a:txBody>
                    <a:bodyPr/>
                    <a:lstStyle/>
                    <a:p>
                      <a:pPr algn="ctr"/>
                      <a:r>
                        <a:rPr sz="2025" b="1">
                          <a:solidFill>
                            <a:srgbClr val="151515"/>
                          </a:solidFill>
                          <a:latin typeface="Malgun Gothic" panose="020B0503020000020004" pitchFamily="50" charset="-127"/>
                        </a:rPr>
                        <a:t>절반</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552D7BAE-AF75-41D1-BDFE-04814210D238}"/>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치우친 분할</a:t>
            </a:r>
          </a:p>
        </p:txBody>
      </p:sp>
      <p:graphicFrame>
        <p:nvGraphicFramePr>
          <p:cNvPr id="8" name="표 7">
            <a:extLst>
              <a:ext uri="{FF2B5EF4-FFF2-40B4-BE49-F238E27FC236}">
                <a16:creationId xmlns:a16="http://schemas.microsoft.com/office/drawing/2014/main" id="{A1AE94C9-A0C2-4A1E-A3BF-5D6B7951EBD1}"/>
              </a:ext>
            </a:extLst>
          </p:cNvPr>
          <p:cNvGraphicFramePr/>
          <p:nvPr>
            <p:extLst>
              <p:ext uri="{D42A27DB-BD31-4B8C-83A1-F6EECF244321}">
                <p14:modId xmlns:p14="http://schemas.microsoft.com/office/powerpoint/2010/main" val="3912278295"/>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n − 1개</a:t>
                      </a:r>
                    </a:p>
                  </a:txBody>
                  <a:tcPr>
                    <a:solidFill>
                      <a:srgbClr val="F6F6F6"/>
                    </a:solidFill>
                  </a:tcPr>
                </a:tc>
                <a:tc>
                  <a:txBody>
                    <a:bodyPr/>
                    <a:lstStyle/>
                    <a:p>
                      <a:pPr algn="ctr"/>
                      <a:r>
                        <a:rPr sz="2025" b="1">
                          <a:solidFill>
                            <a:srgbClr val="151515"/>
                          </a:solidFill>
                          <a:latin typeface="Malgun Gothic" panose="020B0503020000020004" pitchFamily="50" charset="-127"/>
                        </a:rPr>
                        <a:t>피벗</a:t>
                      </a:r>
                    </a:p>
                  </a:txBody>
                  <a:tcPr>
                    <a:solidFill>
                      <a:srgbClr val="F6F6F6"/>
                    </a:solidFill>
                  </a:tcPr>
                </a:tc>
                <a:tc>
                  <a:txBody>
                    <a:bodyPr/>
                    <a:lstStyle/>
                    <a:p>
                      <a:pPr algn="ctr"/>
                      <a:r>
                        <a:rPr sz="2025" b="1">
                          <a:solidFill>
                            <a:srgbClr val="151515"/>
                          </a:solidFill>
                          <a:latin typeface="Malgun Gothic" panose="020B0503020000020004" pitchFamily="50" charset="-127"/>
                        </a:rPr>
                        <a:t>0개</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F7ACC59B-69D4-4D10-915C-8DD8E032E904}"/>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555F9DE4-F251-4169-A334-F54289EC28B1}"/>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31</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1EFDF5AC-8B90-B8AE-4413-A9282CEDEBF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867216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F9088EEA-17BB-4057-8A83-9D671101FDC0}"/>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44648CAE-F107-40BC-8594-DC466C6F4D20}"/>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6C77C958-4B86-44C2-B0BF-B154DEF47EE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두 정렬의 차이 확인</a:t>
            </a:r>
          </a:p>
        </p:txBody>
      </p:sp>
      <p:sp>
        <p:nvSpPr>
          <p:cNvPr id="4" name="직사각형 3">
            <a:extLst>
              <a:ext uri="{FF2B5EF4-FFF2-40B4-BE49-F238E27FC236}">
                <a16:creationId xmlns:a16="http://schemas.microsoft.com/office/drawing/2014/main" id="{42C3C537-4AAA-419C-A7A9-6E5B46CD8A8D}"/>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병합 정렬: 위치로 반씩 나누고, 정렬된 결과를 병합</a:t>
            </a:r>
          </a:p>
          <a:p>
            <a:pPr>
              <a:defRPr sz="2025" b="0">
                <a:solidFill>
                  <a:srgbClr val="151515"/>
                </a:solidFill>
              </a:defRPr>
            </a:pPr>
            <a:r>
              <a:rPr sz="2025" b="0">
                <a:solidFill>
                  <a:srgbClr val="151515"/>
                </a:solidFill>
                <a:latin typeface="Malgun Gothic" panose="020B0503020000020004" pitchFamily="50" charset="-127"/>
              </a:rPr>
              <a:t>퀵 정렬: 피벗 값으로 분할하고, 양쪽을 재귀 정렬</a:t>
            </a:r>
          </a:p>
          <a:p>
            <a:pPr>
              <a:defRPr sz="2025" b="0">
                <a:solidFill>
                  <a:srgbClr val="151515"/>
                </a:solidFill>
              </a:defRPr>
            </a:pPr>
            <a:r>
              <a:rPr sz="2025" b="0">
                <a:solidFill>
                  <a:srgbClr val="151515"/>
                </a:solidFill>
                <a:latin typeface="Malgun Gothic" panose="020B0503020000020004" pitchFamily="50" charset="-127"/>
              </a:rPr>
              <a:t>병합은 최악에도 Θ(n log n), 퀵은 최악 Θ(n²)</a:t>
            </a:r>
          </a:p>
          <a:p>
            <a:pPr>
              <a:defRPr sz="2025" b="0">
                <a:solidFill>
                  <a:srgbClr val="151515"/>
                </a:solidFill>
              </a:defRPr>
            </a:pPr>
            <a:r>
              <a:rPr sz="2025" b="0">
                <a:solidFill>
                  <a:srgbClr val="151515"/>
                </a:solidFill>
                <a:latin typeface="Malgun Gothic" panose="020B0503020000020004" pitchFamily="50" charset="-127"/>
              </a:rPr>
              <a:t>현재 병합 코드는 안정적, 퀵 코드는 안정성 보장 없음</a:t>
            </a:r>
          </a:p>
          <a:p>
            <a:pPr>
              <a:defRPr sz="2025" b="0">
                <a:solidFill>
                  <a:srgbClr val="151515"/>
                </a:solidFill>
              </a:defRPr>
            </a:pPr>
            <a:r>
              <a:rPr sz="2025" b="0">
                <a:solidFill>
                  <a:srgbClr val="151515"/>
                </a:solidFill>
                <a:latin typeface="Malgun Gothic" panose="020B0503020000020004" pitchFamily="50" charset="-127"/>
              </a:rPr>
              <a:t>확인: 퀵의 첫 분할만 끝나면 전체가 정렬되어 있을까?</a:t>
            </a:r>
          </a:p>
        </p:txBody>
      </p:sp>
      <p:sp>
        <p:nvSpPr>
          <p:cNvPr id="5" name="직사각형 4">
            <a:extLst>
              <a:ext uri="{FF2B5EF4-FFF2-40B4-BE49-F238E27FC236}">
                <a16:creationId xmlns:a16="http://schemas.microsoft.com/office/drawing/2014/main" id="{2F045310-051B-41DA-8865-62946B19803B}"/>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9530F2B2-037F-4EC1-B2F8-48800BF0589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32</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6FB34A9F-D77D-EB28-E5F3-81EF17B0D8B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1648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B4B333A0-0B97-4DAA-B075-11CE151863A8}"/>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4102FB0C-9897-41E7-BFD2-728505F4970C}"/>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4.4</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9A8EA246-6431-4DF5-8C33-8951A8DCA823}"/>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BCAD3911-25DB-4BCD-A4CF-A5021AB647F2}"/>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최대 구간 합</a:t>
            </a:r>
          </a:p>
        </p:txBody>
      </p:sp>
      <p:sp>
        <p:nvSpPr>
          <p:cNvPr id="5" name="직사각형 4">
            <a:extLst>
              <a:ext uri="{FF2B5EF4-FFF2-40B4-BE49-F238E27FC236}">
                <a16:creationId xmlns:a16="http://schemas.microsoft.com/office/drawing/2014/main" id="{AF97E0E8-7C7C-482B-AF24-A41BFAE2B2D6}"/>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Maximum Subarray Sum</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주가 등락폭 데이터에서 가장 큰 이익을 내는 연속 구간을 찾아라</a:t>
            </a:r>
          </a:p>
        </p:txBody>
      </p:sp>
      <p:sp>
        <p:nvSpPr>
          <p:cNvPr id="6" name="직사각형 5">
            <a:extLst>
              <a:ext uri="{FF2B5EF4-FFF2-40B4-BE49-F238E27FC236}">
                <a16:creationId xmlns:a16="http://schemas.microsoft.com/office/drawing/2014/main" id="{E3DF3B3C-1969-4654-ADDE-9C0910D18AB2}"/>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3D0A4CA8-663C-47C0-A4D5-AFAA8985BE0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AB56E24A-BCD7-4ED5-864C-4B7AD3464B5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33</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45678592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1A57F658-8EBF-4BC5-808E-C2448983DE34}"/>
              </a:ext>
            </a:extLst>
          </p:cNvPr>
          <p:cNvSpPr>
            <a:spLocks noGrp="1"/>
          </p:cNvSpPr>
          <p:nvPr/>
        </p:nvSpPr>
        <p:spPr>
          <a:xfrm>
            <a:off x="658368" y="1737360"/>
            <a:ext cx="5120640" cy="73152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A 회사의 지난 며칠간의 주가 등락폭(변동분) 데이터가 주어졌다. 목표는 가장 큰 이익을 낼 수 있는 연속된 구간을 찾는 것이다.</a:t>
            </a:r>
            <a:endParaRPr sz="1300"/>
          </a:p>
        </p:txBody>
      </p:sp>
      <p:sp>
        <p:nvSpPr>
          <p:cNvPr id="7" name="Shape 4">
            <a:extLst>
              <a:ext uri="{FF2B5EF4-FFF2-40B4-BE49-F238E27FC236}">
                <a16:creationId xmlns:a16="http://schemas.microsoft.com/office/drawing/2014/main" id="{F936956F-BC27-4A93-B863-6A4ABADE4686}"/>
              </a:ext>
            </a:extLst>
          </p:cNvPr>
          <p:cNvSpPr>
            <a:spLocks noGrp="1"/>
          </p:cNvSpPr>
          <p:nvPr/>
        </p:nvSpPr>
        <p:spPr>
          <a:xfrm>
            <a:off x="658368" y="2560320"/>
            <a:ext cx="713232" cy="603504"/>
          </a:xfrm>
          <a:prstGeom prst="roundRect">
            <a:avLst>
              <a:gd name="adj" fmla="val 13636"/>
            </a:avLst>
          </a:prstGeom>
          <a:solidFill>
            <a:srgbClr val="E9E9E9"/>
          </a:solidFill>
          <a:ln w="5715">
            <a:solidFill>
              <a:srgbClr val="D4D4D4"/>
            </a:solidFill>
          </a:ln>
        </p:spPr>
      </p:sp>
      <p:sp>
        <p:nvSpPr>
          <p:cNvPr id="8" name="Text 5">
            <a:extLst>
              <a:ext uri="{FF2B5EF4-FFF2-40B4-BE49-F238E27FC236}">
                <a16:creationId xmlns:a16="http://schemas.microsoft.com/office/drawing/2014/main" id="{0B41A4E1-5360-41EE-9644-18D4FD833B12}"/>
              </a:ext>
            </a:extLst>
          </p:cNvPr>
          <p:cNvSpPr>
            <a:spLocks noGrp="1"/>
          </p:cNvSpPr>
          <p:nvPr/>
        </p:nvSpPr>
        <p:spPr>
          <a:xfrm>
            <a:off x="65836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3</a:t>
            </a:r>
            <a:endParaRPr sz="1400"/>
          </a:p>
        </p:txBody>
      </p:sp>
      <p:sp>
        <p:nvSpPr>
          <p:cNvPr id="9" name="Text 6">
            <a:extLst>
              <a:ext uri="{FF2B5EF4-FFF2-40B4-BE49-F238E27FC236}">
                <a16:creationId xmlns:a16="http://schemas.microsoft.com/office/drawing/2014/main" id="{056BFA46-876F-4A82-AC84-1930BE8C9E88}"/>
              </a:ext>
            </a:extLst>
          </p:cNvPr>
          <p:cNvSpPr>
            <a:spLocks noGrp="1"/>
          </p:cNvSpPr>
          <p:nvPr/>
        </p:nvSpPr>
        <p:spPr>
          <a:xfrm>
            <a:off x="65836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1일</a:t>
            </a:r>
            <a:endParaRPr sz="900"/>
          </a:p>
        </p:txBody>
      </p:sp>
      <p:sp>
        <p:nvSpPr>
          <p:cNvPr id="10" name="Shape 7">
            <a:extLst>
              <a:ext uri="{FF2B5EF4-FFF2-40B4-BE49-F238E27FC236}">
                <a16:creationId xmlns:a16="http://schemas.microsoft.com/office/drawing/2014/main" id="{EBFA9C01-102A-4D37-9FE6-2CFE9BE888B9}"/>
              </a:ext>
            </a:extLst>
          </p:cNvPr>
          <p:cNvSpPr>
            <a:spLocks noGrp="1"/>
          </p:cNvSpPr>
          <p:nvPr/>
        </p:nvSpPr>
        <p:spPr>
          <a:xfrm>
            <a:off x="1481328" y="2560320"/>
            <a:ext cx="713232" cy="603504"/>
          </a:xfrm>
          <a:prstGeom prst="roundRect">
            <a:avLst>
              <a:gd name="adj" fmla="val 13636"/>
            </a:avLst>
          </a:prstGeom>
          <a:solidFill>
            <a:srgbClr val="E9E9E9"/>
          </a:solidFill>
          <a:ln w="5715">
            <a:solidFill>
              <a:srgbClr val="D4D4D4"/>
            </a:solidFill>
          </a:ln>
        </p:spPr>
      </p:sp>
      <p:sp>
        <p:nvSpPr>
          <p:cNvPr id="11" name="Text 8">
            <a:extLst>
              <a:ext uri="{FF2B5EF4-FFF2-40B4-BE49-F238E27FC236}">
                <a16:creationId xmlns:a16="http://schemas.microsoft.com/office/drawing/2014/main" id="{38F623CE-A409-49CD-A277-D588207EB7F2}"/>
              </a:ext>
            </a:extLst>
          </p:cNvPr>
          <p:cNvSpPr>
            <a:spLocks noGrp="1"/>
          </p:cNvSpPr>
          <p:nvPr/>
        </p:nvSpPr>
        <p:spPr>
          <a:xfrm>
            <a:off x="148132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-5</a:t>
            </a:r>
            <a:endParaRPr sz="1400"/>
          </a:p>
        </p:txBody>
      </p:sp>
      <p:sp>
        <p:nvSpPr>
          <p:cNvPr id="12" name="Text 9">
            <a:extLst>
              <a:ext uri="{FF2B5EF4-FFF2-40B4-BE49-F238E27FC236}">
                <a16:creationId xmlns:a16="http://schemas.microsoft.com/office/drawing/2014/main" id="{EA1AF2DB-DF32-42ED-B813-711B545BB03C}"/>
              </a:ext>
            </a:extLst>
          </p:cNvPr>
          <p:cNvSpPr>
            <a:spLocks noGrp="1"/>
          </p:cNvSpPr>
          <p:nvPr/>
        </p:nvSpPr>
        <p:spPr>
          <a:xfrm>
            <a:off x="148132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2일</a:t>
            </a:r>
            <a:endParaRPr sz="900"/>
          </a:p>
        </p:txBody>
      </p:sp>
      <p:sp>
        <p:nvSpPr>
          <p:cNvPr id="13" name="Shape 10">
            <a:extLst>
              <a:ext uri="{FF2B5EF4-FFF2-40B4-BE49-F238E27FC236}">
                <a16:creationId xmlns:a16="http://schemas.microsoft.com/office/drawing/2014/main" id="{6682C7E6-339D-4807-AC87-2FCB01132C33}"/>
              </a:ext>
            </a:extLst>
          </p:cNvPr>
          <p:cNvSpPr>
            <a:spLocks noGrp="1"/>
          </p:cNvSpPr>
          <p:nvPr/>
        </p:nvSpPr>
        <p:spPr>
          <a:xfrm>
            <a:off x="2304288" y="2560320"/>
            <a:ext cx="713232" cy="603504"/>
          </a:xfrm>
          <a:prstGeom prst="roundRect">
            <a:avLst>
              <a:gd name="adj" fmla="val 13636"/>
            </a:avLst>
          </a:prstGeom>
          <a:solidFill>
            <a:srgbClr val="E9E9E9"/>
          </a:solidFill>
          <a:ln w="5715">
            <a:solidFill>
              <a:srgbClr val="D4D4D4"/>
            </a:solidFill>
          </a:ln>
        </p:spPr>
      </p:sp>
      <p:sp>
        <p:nvSpPr>
          <p:cNvPr id="14" name="Text 11">
            <a:extLst>
              <a:ext uri="{FF2B5EF4-FFF2-40B4-BE49-F238E27FC236}">
                <a16:creationId xmlns:a16="http://schemas.microsoft.com/office/drawing/2014/main" id="{9431576A-4488-43F2-81D4-C11D64817759}"/>
              </a:ext>
            </a:extLst>
          </p:cNvPr>
          <p:cNvSpPr>
            <a:spLocks noGrp="1"/>
          </p:cNvSpPr>
          <p:nvPr/>
        </p:nvSpPr>
        <p:spPr>
          <a:xfrm>
            <a:off x="230428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12</a:t>
            </a:r>
            <a:endParaRPr sz="1400"/>
          </a:p>
        </p:txBody>
      </p:sp>
      <p:sp>
        <p:nvSpPr>
          <p:cNvPr id="15" name="Text 12">
            <a:extLst>
              <a:ext uri="{FF2B5EF4-FFF2-40B4-BE49-F238E27FC236}">
                <a16:creationId xmlns:a16="http://schemas.microsoft.com/office/drawing/2014/main" id="{F65A70CF-8955-4E7C-8773-A5A95199A417}"/>
              </a:ext>
            </a:extLst>
          </p:cNvPr>
          <p:cNvSpPr>
            <a:spLocks noGrp="1"/>
          </p:cNvSpPr>
          <p:nvPr/>
        </p:nvSpPr>
        <p:spPr>
          <a:xfrm>
            <a:off x="230428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3일</a:t>
            </a:r>
            <a:endParaRPr sz="900"/>
          </a:p>
        </p:txBody>
      </p:sp>
      <p:sp>
        <p:nvSpPr>
          <p:cNvPr id="16" name="Shape 13">
            <a:extLst>
              <a:ext uri="{FF2B5EF4-FFF2-40B4-BE49-F238E27FC236}">
                <a16:creationId xmlns:a16="http://schemas.microsoft.com/office/drawing/2014/main" id="{93292094-A34D-4CB1-8B79-CC83A7575D6F}"/>
              </a:ext>
            </a:extLst>
          </p:cNvPr>
          <p:cNvSpPr>
            <a:spLocks noGrp="1"/>
          </p:cNvSpPr>
          <p:nvPr/>
        </p:nvSpPr>
        <p:spPr>
          <a:xfrm>
            <a:off x="3127248" y="2560320"/>
            <a:ext cx="713232" cy="603504"/>
          </a:xfrm>
          <a:prstGeom prst="roundRect">
            <a:avLst>
              <a:gd name="adj" fmla="val 13636"/>
            </a:avLst>
          </a:prstGeom>
          <a:solidFill>
            <a:srgbClr val="E9E9E9"/>
          </a:solidFill>
          <a:ln w="5715">
            <a:solidFill>
              <a:srgbClr val="D4D4D4"/>
            </a:solidFill>
          </a:ln>
        </p:spPr>
      </p:sp>
      <p:sp>
        <p:nvSpPr>
          <p:cNvPr id="17" name="Text 14">
            <a:extLst>
              <a:ext uri="{FF2B5EF4-FFF2-40B4-BE49-F238E27FC236}">
                <a16:creationId xmlns:a16="http://schemas.microsoft.com/office/drawing/2014/main" id="{D63394F1-2017-4AA5-8ADA-158272F19090}"/>
              </a:ext>
            </a:extLst>
          </p:cNvPr>
          <p:cNvSpPr>
            <a:spLocks noGrp="1"/>
          </p:cNvSpPr>
          <p:nvPr/>
        </p:nvSpPr>
        <p:spPr>
          <a:xfrm>
            <a:off x="312724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-2</a:t>
            </a:r>
            <a:endParaRPr sz="1400"/>
          </a:p>
        </p:txBody>
      </p:sp>
      <p:sp>
        <p:nvSpPr>
          <p:cNvPr id="18" name="Text 15">
            <a:extLst>
              <a:ext uri="{FF2B5EF4-FFF2-40B4-BE49-F238E27FC236}">
                <a16:creationId xmlns:a16="http://schemas.microsoft.com/office/drawing/2014/main" id="{9379583C-A066-42EA-A674-DE75011B4C10}"/>
              </a:ext>
            </a:extLst>
          </p:cNvPr>
          <p:cNvSpPr>
            <a:spLocks noGrp="1"/>
          </p:cNvSpPr>
          <p:nvPr/>
        </p:nvSpPr>
        <p:spPr>
          <a:xfrm>
            <a:off x="312724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4일</a:t>
            </a:r>
            <a:endParaRPr sz="900"/>
          </a:p>
        </p:txBody>
      </p:sp>
      <p:sp>
        <p:nvSpPr>
          <p:cNvPr id="19" name="Shape 16">
            <a:extLst>
              <a:ext uri="{FF2B5EF4-FFF2-40B4-BE49-F238E27FC236}">
                <a16:creationId xmlns:a16="http://schemas.microsoft.com/office/drawing/2014/main" id="{5FD19B53-42C3-4658-8416-6BC3B4A923BA}"/>
              </a:ext>
            </a:extLst>
          </p:cNvPr>
          <p:cNvSpPr>
            <a:spLocks noGrp="1"/>
          </p:cNvSpPr>
          <p:nvPr/>
        </p:nvSpPr>
        <p:spPr>
          <a:xfrm>
            <a:off x="3950208" y="2560320"/>
            <a:ext cx="713232" cy="603504"/>
          </a:xfrm>
          <a:prstGeom prst="roundRect">
            <a:avLst>
              <a:gd name="adj" fmla="val 13636"/>
            </a:avLst>
          </a:prstGeom>
          <a:solidFill>
            <a:srgbClr val="E9E9E9"/>
          </a:solidFill>
          <a:ln w="5715">
            <a:solidFill>
              <a:srgbClr val="D4D4D4"/>
            </a:solidFill>
          </a:ln>
        </p:spPr>
      </p:sp>
      <p:sp>
        <p:nvSpPr>
          <p:cNvPr id="20" name="Text 17">
            <a:extLst>
              <a:ext uri="{FF2B5EF4-FFF2-40B4-BE49-F238E27FC236}">
                <a16:creationId xmlns:a16="http://schemas.microsoft.com/office/drawing/2014/main" id="{6B90FDC7-F6C3-4E80-857F-96F6D4F1894B}"/>
              </a:ext>
            </a:extLst>
          </p:cNvPr>
          <p:cNvSpPr>
            <a:spLocks noGrp="1"/>
          </p:cNvSpPr>
          <p:nvPr/>
        </p:nvSpPr>
        <p:spPr>
          <a:xfrm>
            <a:off x="395020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7</a:t>
            </a:r>
            <a:endParaRPr sz="1400"/>
          </a:p>
        </p:txBody>
      </p:sp>
      <p:sp>
        <p:nvSpPr>
          <p:cNvPr id="21" name="Text 18">
            <a:extLst>
              <a:ext uri="{FF2B5EF4-FFF2-40B4-BE49-F238E27FC236}">
                <a16:creationId xmlns:a16="http://schemas.microsoft.com/office/drawing/2014/main" id="{DC1147E0-CE60-4BFD-9701-C22CBADC77B7}"/>
              </a:ext>
            </a:extLst>
          </p:cNvPr>
          <p:cNvSpPr>
            <a:spLocks noGrp="1"/>
          </p:cNvSpPr>
          <p:nvPr/>
        </p:nvSpPr>
        <p:spPr>
          <a:xfrm>
            <a:off x="395020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5일</a:t>
            </a:r>
            <a:endParaRPr sz="900"/>
          </a:p>
        </p:txBody>
      </p:sp>
      <p:sp>
        <p:nvSpPr>
          <p:cNvPr id="22" name="Shape 19">
            <a:extLst>
              <a:ext uri="{FF2B5EF4-FFF2-40B4-BE49-F238E27FC236}">
                <a16:creationId xmlns:a16="http://schemas.microsoft.com/office/drawing/2014/main" id="{E95AD2C2-9BE2-4737-B81D-4DF49BD699CB}"/>
              </a:ext>
            </a:extLst>
          </p:cNvPr>
          <p:cNvSpPr>
            <a:spLocks noGrp="1"/>
          </p:cNvSpPr>
          <p:nvPr/>
        </p:nvSpPr>
        <p:spPr>
          <a:xfrm>
            <a:off x="4773168" y="2560320"/>
            <a:ext cx="713232" cy="603504"/>
          </a:xfrm>
          <a:prstGeom prst="roundRect">
            <a:avLst>
              <a:gd name="adj" fmla="val 13636"/>
            </a:avLst>
          </a:prstGeom>
          <a:solidFill>
            <a:srgbClr val="E9E9E9"/>
          </a:solidFill>
          <a:ln w="5715">
            <a:solidFill>
              <a:srgbClr val="D4D4D4"/>
            </a:solidFill>
          </a:ln>
        </p:spPr>
      </p:sp>
      <p:sp>
        <p:nvSpPr>
          <p:cNvPr id="23" name="Text 20">
            <a:extLst>
              <a:ext uri="{FF2B5EF4-FFF2-40B4-BE49-F238E27FC236}">
                <a16:creationId xmlns:a16="http://schemas.microsoft.com/office/drawing/2014/main" id="{8A016E59-091E-43F1-964D-8B083AA58148}"/>
              </a:ext>
            </a:extLst>
          </p:cNvPr>
          <p:cNvSpPr>
            <a:spLocks noGrp="1"/>
          </p:cNvSpPr>
          <p:nvPr/>
        </p:nvSpPr>
        <p:spPr>
          <a:xfrm>
            <a:off x="477316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-9</a:t>
            </a:r>
            <a:endParaRPr sz="1400"/>
          </a:p>
        </p:txBody>
      </p:sp>
      <p:sp>
        <p:nvSpPr>
          <p:cNvPr id="24" name="Text 21">
            <a:extLst>
              <a:ext uri="{FF2B5EF4-FFF2-40B4-BE49-F238E27FC236}">
                <a16:creationId xmlns:a16="http://schemas.microsoft.com/office/drawing/2014/main" id="{652B97AD-7357-4947-AB65-584C546B815C}"/>
              </a:ext>
            </a:extLst>
          </p:cNvPr>
          <p:cNvSpPr>
            <a:spLocks noGrp="1"/>
          </p:cNvSpPr>
          <p:nvPr/>
        </p:nvSpPr>
        <p:spPr>
          <a:xfrm>
            <a:off x="477316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6일</a:t>
            </a:r>
            <a:endParaRPr sz="900"/>
          </a:p>
        </p:txBody>
      </p:sp>
      <p:sp>
        <p:nvSpPr>
          <p:cNvPr id="28" name="Text 24">
            <a:extLst>
              <a:ext uri="{FF2B5EF4-FFF2-40B4-BE49-F238E27FC236}">
                <a16:creationId xmlns:a16="http://schemas.microsoft.com/office/drawing/2014/main" id="{4AADAE5A-5CBB-4895-BF10-76488FF33A47}"/>
              </a:ext>
            </a:extLst>
          </p:cNvPr>
          <p:cNvSpPr>
            <a:spLocks noGrp="1"/>
          </p:cNvSpPr>
          <p:nvPr/>
        </p:nvSpPr>
        <p:spPr>
          <a:xfrm>
            <a:off x="1517904" y="3767328"/>
            <a:ext cx="4005072" cy="78638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처음부터 끝까지 들고 있었다면?  3 − 5 + 12 − 2 + 7 − 9 = 6</a:t>
            </a:r>
            <a:endParaRPr sz="1250"/>
          </a:p>
        </p:txBody>
      </p:sp>
      <p:sp>
        <p:nvSpPr>
          <p:cNvPr id="32" name="Text 27">
            <a:extLst>
              <a:ext uri="{FF2B5EF4-FFF2-40B4-BE49-F238E27FC236}">
                <a16:creationId xmlns:a16="http://schemas.microsoft.com/office/drawing/2014/main" id="{41B205AD-7075-4D55-A8B1-A106B28AC056}"/>
              </a:ext>
            </a:extLst>
          </p:cNvPr>
          <p:cNvSpPr>
            <a:spLocks noGrp="1"/>
          </p:cNvSpPr>
          <p:nvPr/>
        </p:nvSpPr>
        <p:spPr>
          <a:xfrm>
            <a:off x="1517904" y="5010912"/>
            <a:ext cx="4005072" cy="896112"/>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3~5일 차 변동분을 합하면?  12 + (−2) + 7 = 17  ← 최대!</a:t>
            </a:r>
            <a:endParaRPr sz="1250"/>
          </a:p>
        </p:txBody>
      </p:sp>
      <p:sp>
        <p:nvSpPr>
          <p:cNvPr id="40" name="직사각형 39">
            <a:extLst>
              <a:ext uri="{FF2B5EF4-FFF2-40B4-BE49-F238E27FC236}">
                <a16:creationId xmlns:a16="http://schemas.microsoft.com/office/drawing/2014/main" id="{9C7E1893-B5B2-43B0-9127-B924A4791C05}"/>
              </a:ext>
            </a:extLst>
          </p:cNvPr>
          <p:cNvSpPr>
            <a:spLocks noGrp="1"/>
          </p:cNvSpPr>
          <p:nvPr/>
        </p:nvSpPr>
        <p:spPr>
          <a:xfrm>
            <a:off x="658368" y="3602736"/>
            <a:ext cx="512064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9A592C4B-8250-4255-873E-D6019B0C3FC3}"/>
              </a:ext>
            </a:extLst>
          </p:cNvPr>
          <p:cNvSpPr>
            <a:spLocks noGrp="1"/>
          </p:cNvSpPr>
          <p:nvPr/>
        </p:nvSpPr>
        <p:spPr>
          <a:xfrm>
            <a:off x="658368" y="4846320"/>
            <a:ext cx="5120640" cy="9525"/>
          </a:xfrm>
          <a:prstGeom prst="rect">
            <a:avLst/>
          </a:prstGeom>
          <a:solidFill>
            <a:srgbClr val="D4D4D4"/>
          </a:solidFill>
          <a:ln w="0">
            <a:noFill/>
          </a:ln>
        </p:spPr>
      </p:sp>
      <p:sp>
        <p:nvSpPr>
          <p:cNvPr id="42" name="직사각형 41">
            <a:extLst>
              <a:ext uri="{FF2B5EF4-FFF2-40B4-BE49-F238E27FC236}">
                <a16:creationId xmlns:a16="http://schemas.microsoft.com/office/drawing/2014/main" id="{3990B98A-2966-474A-B915-8B4060C16145}"/>
              </a:ext>
            </a:extLst>
          </p:cNvPr>
          <p:cNvSpPr>
            <a:spLocks noGrp="1"/>
          </p:cNvSpPr>
          <p:nvPr/>
        </p:nvSpPr>
        <p:spPr>
          <a:xfrm>
            <a:off x="6126480" y="1737360"/>
            <a:ext cx="5404104" cy="9525"/>
          </a:xfrm>
          <a:prstGeom prst="rect">
            <a:avLst/>
          </a:prstGeom>
          <a:solidFill>
            <a:srgbClr val="D4D4D4"/>
          </a:solidFill>
          <a:ln w="0">
            <a:noFill/>
          </a:ln>
        </p:spPr>
      </p:sp>
      <p:sp>
        <p:nvSpPr>
          <p:cNvPr id="43" name="직사각형 42">
            <a:extLst>
              <a:ext uri="{FF2B5EF4-FFF2-40B4-BE49-F238E27FC236}">
                <a16:creationId xmlns:a16="http://schemas.microsoft.com/office/drawing/2014/main" id="{90A1FAD5-5612-4975-9922-F1C6A7204BBE}"/>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44" name="직사각형 43">
            <a:extLst>
              <a:ext uri="{FF2B5EF4-FFF2-40B4-BE49-F238E27FC236}">
                <a16:creationId xmlns:a16="http://schemas.microsoft.com/office/drawing/2014/main" id="{4B8FEC28-DC0D-4681-99E6-45AFB8C0104D}"/>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5" name="직사각형 44">
            <a:extLst>
              <a:ext uri="{FF2B5EF4-FFF2-40B4-BE49-F238E27FC236}">
                <a16:creationId xmlns:a16="http://schemas.microsoft.com/office/drawing/2014/main" id="{9C897387-82DB-4CC6-A06F-A21BF80EB73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 가장 큰 이익을 내는 구간은?</a:t>
            </a:r>
          </a:p>
        </p:txBody>
      </p:sp>
      <p:sp>
        <p:nvSpPr>
          <p:cNvPr id="46" name="직사각형 45">
            <a:extLst>
              <a:ext uri="{FF2B5EF4-FFF2-40B4-BE49-F238E27FC236}">
                <a16:creationId xmlns:a16="http://schemas.microsoft.com/office/drawing/2014/main" id="{F5207DAF-7452-468B-8FB4-7DF5B006B22C}"/>
              </a:ext>
            </a:extLst>
          </p:cNvPr>
          <p:cNvSpPr>
            <a:spLocks noGrp="1"/>
          </p:cNvSpPr>
          <p:nvPr/>
        </p:nvSpPr>
        <p:spPr>
          <a:xfrm>
            <a:off x="609600" y="1381125"/>
            <a:ext cx="10972800" cy="19050"/>
          </a:xfrm>
          <a:prstGeom prst="rect">
            <a:avLst/>
          </a:prstGeom>
          <a:solidFill>
            <a:srgbClr val="171717"/>
          </a:solidFill>
          <a:ln w="0">
            <a:noFill/>
          </a:ln>
        </p:spPr>
      </p:sp>
      <p:sp>
        <p:nvSpPr>
          <p:cNvPr id="47" name="직사각형 46">
            <a:extLst>
              <a:ext uri="{FF2B5EF4-FFF2-40B4-BE49-F238E27FC236}">
                <a16:creationId xmlns:a16="http://schemas.microsoft.com/office/drawing/2014/main" id="{1B3F1404-6958-44F0-8CE2-6F09476AAC32}"/>
              </a:ext>
            </a:extLst>
          </p:cNvPr>
          <p:cNvSpPr>
            <a:spLocks noGrp="1"/>
          </p:cNvSpPr>
          <p:nvPr/>
        </p:nvSpPr>
        <p:spPr>
          <a:xfrm>
            <a:off x="609600" y="6438900"/>
            <a:ext cx="10972800" cy="9525"/>
          </a:xfrm>
          <a:prstGeom prst="rect">
            <a:avLst/>
          </a:prstGeom>
          <a:solidFill>
            <a:srgbClr val="D4D4D4"/>
          </a:solidFill>
          <a:ln w="0">
            <a:noFill/>
          </a:ln>
        </p:spPr>
      </p:sp>
      <p:sp>
        <p:nvSpPr>
          <p:cNvPr id="48" name="직사각형 47">
            <a:extLst>
              <a:ext uri="{FF2B5EF4-FFF2-40B4-BE49-F238E27FC236}">
                <a16:creationId xmlns:a16="http://schemas.microsoft.com/office/drawing/2014/main" id="{CC57FA98-294E-44CC-8237-D2FE35A93F1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9" name="직사각형 48">
            <a:extLst>
              <a:ext uri="{FF2B5EF4-FFF2-40B4-BE49-F238E27FC236}">
                <a16:creationId xmlns:a16="http://schemas.microsoft.com/office/drawing/2014/main" id="{F8BB6713-380B-4870-97CC-8F0DC3F9E65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34</a:t>
            </a:r>
            <a:endParaRPr sz="1050" b="1" i="0">
              <a:solidFill>
                <a:srgbClr val="171717"/>
              </a:solidFill>
              <a:latin typeface="Consolas"/>
              <a:ea typeface="Consolas"/>
              <a:cs typeface="Consolas"/>
            </a:endParaRPr>
          </a:p>
        </p:txBody>
      </p:sp>
      <p:graphicFrame>
        <p:nvGraphicFramePr>
          <p:cNvPr id="85" name="Chart"/>
          <p:cNvGraphicFramePr/>
          <p:nvPr/>
        </p:nvGraphicFramePr>
        <p:xfrm>
          <a:off x="6105525" y="2352675"/>
          <a:ext cx="5381625" cy="3171825"/>
        </p:xfrm>
        <a:graphic>
          <a:graphicData uri="http://schemas.openxmlformats.org/drawingml/2006/chart">
            <c:chart xmlns:c="http://schemas.openxmlformats.org/drawingml/2006/chart" xmlns:r="http://schemas.openxmlformats.org/officeDocument/2006/relationships" r:id="rId3"/>
          </a:graphicData>
        </a:graphic>
      </p:graphicFrame>
      <p:sp>
        <p:nvSpPr>
          <p:cNvPr id="51" name="직사각형 50">
            <a:extLst>
              <a:ext uri="{FF2B5EF4-FFF2-40B4-BE49-F238E27FC236}">
                <a16:creationId xmlns:a16="http://schemas.microsoft.com/office/drawing/2014/main" id="{84B33900-D492-4F83-AD41-4C6BAAFBA4DC}"/>
              </a:ext>
            </a:extLst>
          </p:cNvPr>
          <p:cNvSpPr>
            <a:spLocks noGrp="1"/>
          </p:cNvSpPr>
          <p:nvPr/>
        </p:nvSpPr>
        <p:spPr>
          <a:xfrm>
            <a:off x="6286500" y="1990725"/>
            <a:ext cx="5200650" cy="333375"/>
          </a:xfrm>
          <a:prstGeom prst="rect">
            <a:avLst/>
          </a:prstGeom>
          <a:noFill/>
          <a:ln w="0">
            <a:noFill/>
          </a:ln>
        </p:spPr>
        <p:txBody>
          <a:bodyPr>
            <a:noAutofit/>
          </a:bodyPr>
          <a:lstStyle/>
          <a:p>
            <a:pPr>
              <a:defRPr sz="1425">
                <a:solidFill>
                  <a:srgbClr val="606060"/>
                </a:solidFill>
                <a:latin typeface="Malgun Gothic"/>
                <a:ea typeface="Malgun Gothic"/>
                <a:cs typeface="Malgun Gothic"/>
              </a:defRPr>
            </a:pPr>
            <a:r>
              <a:rPr sz="1425">
                <a:solidFill>
                  <a:srgbClr val="606060"/>
                </a:solidFill>
                <a:latin typeface="Malgun Gothic"/>
                <a:ea typeface="Malgun Gothic"/>
                <a:cs typeface="Malgun Gothic"/>
              </a:rPr>
              <a:t>일별 손익 변화</a:t>
            </a:r>
          </a:p>
        </p:txBody>
      </p:sp>
      <p:sp>
        <p:nvSpPr>
          <p:cNvPr id="52" name="직사각형 51">
            <a:extLst>
              <a:ext uri="{FF2B5EF4-FFF2-40B4-BE49-F238E27FC236}">
                <a16:creationId xmlns:a16="http://schemas.microsoft.com/office/drawing/2014/main" id="{42D497F8-2FF3-43E6-9176-DED0F9365BF4}"/>
              </a:ext>
            </a:extLst>
          </p:cNvPr>
          <p:cNvSpPr>
            <a:spLocks noGrp="1"/>
          </p:cNvSpPr>
          <p:nvPr/>
        </p:nvSpPr>
        <p:spPr>
          <a:xfrm>
            <a:off x="6477000" y="5591175"/>
            <a:ext cx="4953000" cy="409575"/>
          </a:xfrm>
          <a:prstGeom prst="rect">
            <a:avLst/>
          </a:prstGeom>
          <a:noFill/>
          <a:ln w="0">
            <a:noFill/>
          </a:ln>
        </p:spPr>
        <p:txBody>
          <a:bodyPr>
            <a:noAutofit/>
          </a:bodyPr>
          <a:lstStyle/>
          <a:p>
            <a:pPr>
              <a:defRPr sz="1875" b="1">
                <a:solidFill>
                  <a:srgbClr val="171717"/>
                </a:solidFill>
                <a:latin typeface="Malgun Gothic"/>
                <a:ea typeface="Malgun Gothic"/>
                <a:cs typeface="Malgun Gothic"/>
              </a:defRPr>
            </a:pPr>
            <a:r>
              <a:rPr sz="1875" b="1">
                <a:solidFill>
                  <a:srgbClr val="171717"/>
                </a:solidFill>
                <a:latin typeface="Malgun Gothic"/>
                <a:ea typeface="Malgun Gothic"/>
                <a:cs typeface="Malgun Gothic"/>
              </a:rPr>
              <a:t>3~5일: 12 − 2 + 7 = 17</a:t>
            </a:r>
          </a:p>
        </p:txBody>
      </p:sp>
      <p:pic>
        <p:nvPicPr>
          <p:cNvPr id="88" name="그림 87"/>
          <p:cNvPicPr>
            <a:picLocks noChangeAspect="1"/>
          </p:cNvPicPr>
          <p:nvPr/>
        </p:nvPicPr>
        <p:blipFill>
          <a:blip r:embed="rId4"/>
          <a:stretch/>
        </p:blipFill>
        <p:spPr>
          <a:xfrm>
            <a:off x="685800" y="3990975"/>
            <a:ext cx="704850" cy="704850"/>
          </a:xfrm>
          <a:prstGeom prst="rect">
            <a:avLst/>
          </a:prstGeom>
        </p:spPr>
      </p:pic>
    </p:spTree>
    <p:extLst>
      <p:ext uri="{BB962C8B-B14F-4D97-AF65-F5344CB8AC3E}">
        <p14:creationId xmlns:p14="http://schemas.microsoft.com/office/powerpoint/2010/main" val="66934721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6" name="직사각형 35">
            <a:extLst>
              <a:ext uri="{FF2B5EF4-FFF2-40B4-BE49-F238E27FC236}">
                <a16:creationId xmlns:a16="http://schemas.microsoft.com/office/drawing/2014/main" id="{204DF36C-87C7-49FB-A6F1-064590EDD40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D3927C97-75BB-488B-AE25-10F616C94F7E}"/>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5FAE6CEB-5E75-446F-9C3B-5C8C78F4A8A7}"/>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직관적인 접근의 한계</a:t>
            </a:r>
          </a:p>
        </p:txBody>
      </p:sp>
      <p:sp>
        <p:nvSpPr>
          <p:cNvPr id="39" name="직사각형 38">
            <a:extLst>
              <a:ext uri="{FF2B5EF4-FFF2-40B4-BE49-F238E27FC236}">
                <a16:creationId xmlns:a16="http://schemas.microsoft.com/office/drawing/2014/main" id="{EA80965C-18C2-4DFE-B3E2-2D4B3BBE8AB2}"/>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564B9E9D-032C-48CE-9A03-4347748FC3BA}"/>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AA3AACB1-1B55-4D5D-BFB0-37DA1A3E4B6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CC141146-44AA-4800-9C21-7D73181050E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35</a:t>
            </a:r>
            <a:endParaRPr sz="1050" b="1" i="0">
              <a:solidFill>
                <a:srgbClr val="171717"/>
              </a:solidFill>
              <a:latin typeface="Consolas"/>
              <a:ea typeface="Consolas"/>
              <a:cs typeface="Consolas"/>
            </a:endParaRPr>
          </a:p>
        </p:txBody>
      </p:sp>
      <p:sp>
        <p:nvSpPr>
          <p:cNvPr id="43" name="직사각형 42">
            <a:extLst>
              <a:ext uri="{FF2B5EF4-FFF2-40B4-BE49-F238E27FC236}">
                <a16:creationId xmlns:a16="http://schemas.microsoft.com/office/drawing/2014/main" id="{8F136F04-7463-4109-8319-0FF65A945AC0}"/>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완전 탐색은 가능한 모든 시작점과 끝점을 확인한다. 비어 있지 않은 연속 구간의 개수는 n(n + 1)/2이다.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 → 5,050개</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1,000 → 500,500개</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100,000 → 5,000,050,000개</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시작점을 고정하고 끝점을 늘리며 합을 갱신하면 O(n²)에 모든 구간을 조사할 수 있다.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매 구간의 합을 처음부터 다시 계산하면 O(n³)까지 늘어난다.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구간 수 자체가 많으므로 더 빠른 방법이 필요하다.</a:t>
            </a:r>
          </a:p>
        </p:txBody>
      </p:sp>
      <p:pic>
        <p:nvPicPr>
          <p:cNvPr id="53" name="그림 52"/>
          <p:cNvPicPr>
            <a:picLocks noChangeAspect="1"/>
          </p:cNvPicPr>
          <p:nvPr/>
        </p:nvPicPr>
        <p:blipFill>
          <a:blip r:embed="rId3"/>
          <a:stretch/>
        </p:blipFill>
        <p:spPr>
          <a:xfrm>
            <a:off x="7315200" y="2164049"/>
            <a:ext cx="4171950" cy="3196651"/>
          </a:xfrm>
          <a:prstGeom prst="rect">
            <a:avLst/>
          </a:prstGeom>
        </p:spPr>
      </p:pic>
    </p:spTree>
    <p:extLst>
      <p:ext uri="{BB962C8B-B14F-4D97-AF65-F5344CB8AC3E}">
        <p14:creationId xmlns:p14="http://schemas.microsoft.com/office/powerpoint/2010/main" val="182181996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직사각형 28">
            <a:extLst>
              <a:ext uri="{FF2B5EF4-FFF2-40B4-BE49-F238E27FC236}">
                <a16:creationId xmlns:a16="http://schemas.microsoft.com/office/drawing/2014/main" id="{D1A13B5F-F5C2-4877-BAE2-1E5F7A651CF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0" name="직사각형 29">
            <a:extLst>
              <a:ext uri="{FF2B5EF4-FFF2-40B4-BE49-F238E27FC236}">
                <a16:creationId xmlns:a16="http://schemas.microsoft.com/office/drawing/2014/main" id="{85CEB7B2-18C5-421F-AFFB-A051ACA41E26}"/>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1" name="직사각형 30">
            <a:extLst>
              <a:ext uri="{FF2B5EF4-FFF2-40B4-BE49-F238E27FC236}">
                <a16:creationId xmlns:a16="http://schemas.microsoft.com/office/drawing/2014/main" id="{8E8AF46F-E22F-4BEA-8A0B-4C37E8C45CA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 전략 — 셋 중 하나에는 반드시 있다!</a:t>
            </a:r>
          </a:p>
        </p:txBody>
      </p:sp>
      <p:sp>
        <p:nvSpPr>
          <p:cNvPr id="32" name="직사각형 31">
            <a:extLst>
              <a:ext uri="{FF2B5EF4-FFF2-40B4-BE49-F238E27FC236}">
                <a16:creationId xmlns:a16="http://schemas.microsoft.com/office/drawing/2014/main" id="{E2F20191-3D01-453D-B8EC-EF90ADA56F91}"/>
              </a:ext>
            </a:extLst>
          </p:cNvPr>
          <p:cNvSpPr>
            <a:spLocks noGrp="1"/>
          </p:cNvSpPr>
          <p:nvPr/>
        </p:nvSpPr>
        <p:spPr>
          <a:xfrm>
            <a:off x="609600" y="1381125"/>
            <a:ext cx="10972800" cy="19050"/>
          </a:xfrm>
          <a:prstGeom prst="rect">
            <a:avLst/>
          </a:prstGeom>
          <a:solidFill>
            <a:srgbClr val="171717"/>
          </a:solidFill>
          <a:ln w="0">
            <a:noFill/>
          </a:ln>
        </p:spPr>
      </p:sp>
      <p:sp>
        <p:nvSpPr>
          <p:cNvPr id="33" name="직사각형 32">
            <a:extLst>
              <a:ext uri="{FF2B5EF4-FFF2-40B4-BE49-F238E27FC236}">
                <a16:creationId xmlns:a16="http://schemas.microsoft.com/office/drawing/2014/main" id="{60FB652E-060E-4D37-B493-1F5CECF5CA21}"/>
              </a:ext>
            </a:extLst>
          </p:cNvPr>
          <p:cNvSpPr>
            <a:spLocks noGrp="1"/>
          </p:cNvSpPr>
          <p:nvPr/>
        </p:nvSpPr>
        <p:spPr>
          <a:xfrm>
            <a:off x="609600" y="6438900"/>
            <a:ext cx="1097280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F42E214C-6CE3-4FB4-9010-58E232D7950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5" name="직사각형 34">
            <a:extLst>
              <a:ext uri="{FF2B5EF4-FFF2-40B4-BE49-F238E27FC236}">
                <a16:creationId xmlns:a16="http://schemas.microsoft.com/office/drawing/2014/main" id="{5F12C696-5E82-4696-B0AE-FC6B6095BC9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36</a:t>
            </a:r>
            <a:endParaRPr sz="1050" b="1" i="0">
              <a:solidFill>
                <a:srgbClr val="171717"/>
              </a:solidFill>
              <a:latin typeface="Consolas"/>
              <a:ea typeface="Consolas"/>
              <a:cs typeface="Consolas"/>
            </a:endParaRPr>
          </a:p>
        </p:txBody>
      </p:sp>
      <p:sp>
        <p:nvSpPr>
          <p:cNvPr id="36" name="직사각형 35">
            <a:extLst>
              <a:ext uri="{FF2B5EF4-FFF2-40B4-BE49-F238E27FC236}">
                <a16:creationId xmlns:a16="http://schemas.microsoft.com/office/drawing/2014/main" id="{37AD1750-5AD1-43C1-9601-308608A515F5}"/>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배열을 절반으로 나누면 최대 구간은 다음 세 경우 중 하나에 속한다.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① 왼쪽에만 존재 → 왼쪽 절반을 재귀적으로 해결</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② 오른쪽에만 존재 → 오른쪽 절반을 재귀적으로 해결</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 경계를 가로지름 → 왼쪽 최대 접미 합과 오른쪽 최대 접두 합을 더한다.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정답 = max(leftMax, rightMax, crossMax)</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세 경우를 모두 비교하므로 최대 구간을 놓치지 않는다.</a:t>
            </a:r>
          </a:p>
        </p:txBody>
      </p:sp>
      <p:pic>
        <p:nvPicPr>
          <p:cNvPr id="46" name="그림 45"/>
          <p:cNvPicPr>
            <a:picLocks noChangeAspect="1"/>
          </p:cNvPicPr>
          <p:nvPr/>
        </p:nvPicPr>
        <p:blipFill>
          <a:blip r:embed="rId3"/>
          <a:stretch/>
        </p:blipFill>
        <p:spPr>
          <a:xfrm>
            <a:off x="7315200" y="2157779"/>
            <a:ext cx="4171950" cy="3209192"/>
          </a:xfrm>
          <a:prstGeom prst="rect">
            <a:avLst/>
          </a:prstGeom>
        </p:spPr>
      </p:pic>
    </p:spTree>
    <p:extLst>
      <p:ext uri="{BB962C8B-B14F-4D97-AF65-F5344CB8AC3E}">
        <p14:creationId xmlns:p14="http://schemas.microsoft.com/office/powerpoint/2010/main" val="19728115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8F4A188B-FDA0-4AAF-9AAB-0EBC2D14F4A1}"/>
              </a:ext>
            </a:extLst>
          </p:cNvPr>
          <p:cNvSpPr>
            <a:spLocks noGrp="1"/>
          </p:cNvSpPr>
          <p:nvPr/>
        </p:nvSpPr>
        <p:spPr>
          <a:xfrm>
            <a:off x="658368" y="1700784"/>
            <a:ext cx="10872216" cy="566928"/>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걸친 구간을 처리하는 부분이 분할 정복 알고리즘에서 가장 까다롭다. 핵심은 "걸친 구간은 반드시 중앙(mid)을 포함해야 한다"는 것이다. 우리가 찾는 것은 왼쪽 동네와 오른쪽 동네를 연결하는 다리 같은 구간이다.</a:t>
            </a:r>
            <a:endParaRPr sz="1300"/>
          </a:p>
        </p:txBody>
      </p:sp>
      <p:sp>
        <p:nvSpPr>
          <p:cNvPr id="12" name="Text 7">
            <a:extLst>
              <a:ext uri="{FF2B5EF4-FFF2-40B4-BE49-F238E27FC236}">
                <a16:creationId xmlns:a16="http://schemas.microsoft.com/office/drawing/2014/main" id="{DB0341F7-5DA4-4343-B7AC-100A2D02AF27}"/>
              </a:ext>
            </a:extLst>
          </p:cNvPr>
          <p:cNvSpPr>
            <a:spLocks noGrp="1"/>
          </p:cNvSpPr>
          <p:nvPr/>
        </p:nvSpPr>
        <p:spPr>
          <a:xfrm>
            <a:off x="1517904" y="5669280"/>
            <a:ext cx="9756648" cy="384048"/>
          </a:xfrm>
          <a:prstGeom prst="rect">
            <a:avLst/>
          </a:prstGeom>
          <a:noFill/>
          <a:ln w="0">
            <a:noFill/>
          </a:ln>
        </p:spPr>
        <p:txBody>
          <a:bodyPr wrap="square" lIns="0" tIns="0" rIns="0" bIns="0" anchor="ctr">
            <a:noAutofit/>
          </a:bodyPr>
          <a:lstStyle/>
          <a:p>
            <a:pPr marL="0" indent="0" algn="l">
              <a:lnSpc>
                <a:spcPct val="134000"/>
              </a:lnSpc>
              <a:buNone/>
              <a:defRPr sz="1230" i="0">
                <a:solidFill>
                  <a:srgbClr val="606060"/>
                </a:solidFill>
                <a:latin typeface="Malgun Gothic"/>
                <a:ea typeface="Malgun Gothic"/>
                <a:cs typeface="Malgun Gothic"/>
              </a:defRPr>
            </a:pPr>
            <a:r>
              <a:rPr sz="1230" i="0">
                <a:solidFill>
                  <a:srgbClr val="606060"/>
                </a:solidFill>
                <a:latin typeface="Malgun Gothic"/>
                <a:ea typeface="Malgun Gothic"/>
                <a:cs typeface="Malgun Gothic"/>
              </a:rPr>
              <a:t>mid에서 왼쪽으로 훑으며 최대 합(leftSum), mid+1에서 오른쪽으로 훑으며 최대 합(rightSum). 둘을 더하면 걸친 구간의 최대 합이다.</a:t>
            </a:r>
            <a:endParaRPr sz="1230"/>
          </a:p>
        </p:txBody>
      </p:sp>
      <p:sp>
        <p:nvSpPr>
          <p:cNvPr id="16" name="직사각형 15">
            <a:extLst>
              <a:ext uri="{FF2B5EF4-FFF2-40B4-BE49-F238E27FC236}">
                <a16:creationId xmlns:a16="http://schemas.microsoft.com/office/drawing/2014/main" id="{ECF1DBC9-0F5A-4182-AEC2-EFDC315A2C70}"/>
              </a:ext>
            </a:extLst>
          </p:cNvPr>
          <p:cNvSpPr>
            <a:spLocks noGrp="1"/>
          </p:cNvSpPr>
          <p:nvPr/>
        </p:nvSpPr>
        <p:spPr>
          <a:xfrm>
            <a:off x="658368" y="5504688"/>
            <a:ext cx="10872216" cy="9525"/>
          </a:xfrm>
          <a:prstGeom prst="rect">
            <a:avLst/>
          </a:prstGeom>
          <a:solidFill>
            <a:srgbClr val="D4D4D4"/>
          </a:solidFill>
          <a:ln w="0">
            <a:noFill/>
          </a:ln>
        </p:spPr>
      </p:sp>
      <p:sp>
        <p:nvSpPr>
          <p:cNvPr id="17" name="직사각형 16">
            <a:extLst>
              <a:ext uri="{FF2B5EF4-FFF2-40B4-BE49-F238E27FC236}">
                <a16:creationId xmlns:a16="http://schemas.microsoft.com/office/drawing/2014/main" id="{9CEB29E3-A288-4924-B793-69E6667A712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18" name="직사각형 17">
            <a:extLst>
              <a:ext uri="{FF2B5EF4-FFF2-40B4-BE49-F238E27FC236}">
                <a16:creationId xmlns:a16="http://schemas.microsoft.com/office/drawing/2014/main" id="{03E7AA60-2205-461D-AB91-204A179D995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19" name="직사각형 18">
            <a:extLst>
              <a:ext uri="{FF2B5EF4-FFF2-40B4-BE49-F238E27FC236}">
                <a16:creationId xmlns:a16="http://schemas.microsoft.com/office/drawing/2014/main" id="{EB0BE622-9090-4D58-B149-928857A6E95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'걸친 구간' 처리하기</a:t>
            </a:r>
          </a:p>
        </p:txBody>
      </p:sp>
      <p:sp>
        <p:nvSpPr>
          <p:cNvPr id="20" name="직사각형 19">
            <a:extLst>
              <a:ext uri="{FF2B5EF4-FFF2-40B4-BE49-F238E27FC236}">
                <a16:creationId xmlns:a16="http://schemas.microsoft.com/office/drawing/2014/main" id="{FE1EF1BA-40D1-40DC-94E9-6A6725906CFE}"/>
              </a:ext>
            </a:extLst>
          </p:cNvPr>
          <p:cNvSpPr>
            <a:spLocks noGrp="1"/>
          </p:cNvSpPr>
          <p:nvPr/>
        </p:nvSpPr>
        <p:spPr>
          <a:xfrm>
            <a:off x="609600" y="1381125"/>
            <a:ext cx="10972800" cy="19050"/>
          </a:xfrm>
          <a:prstGeom prst="rect">
            <a:avLst/>
          </a:prstGeom>
          <a:solidFill>
            <a:srgbClr val="171717"/>
          </a:solidFill>
          <a:ln w="0">
            <a:noFill/>
          </a:ln>
        </p:spPr>
      </p:sp>
      <p:sp>
        <p:nvSpPr>
          <p:cNvPr id="21" name="직사각형 20">
            <a:extLst>
              <a:ext uri="{FF2B5EF4-FFF2-40B4-BE49-F238E27FC236}">
                <a16:creationId xmlns:a16="http://schemas.microsoft.com/office/drawing/2014/main" id="{9BC940B0-2249-4EBC-996E-1C0F01390448}"/>
              </a:ext>
            </a:extLst>
          </p:cNvPr>
          <p:cNvSpPr>
            <a:spLocks noGrp="1"/>
          </p:cNvSpPr>
          <p:nvPr/>
        </p:nvSpPr>
        <p:spPr>
          <a:xfrm>
            <a:off x="609600" y="6438900"/>
            <a:ext cx="10972800" cy="9525"/>
          </a:xfrm>
          <a:prstGeom prst="rect">
            <a:avLst/>
          </a:prstGeom>
          <a:solidFill>
            <a:srgbClr val="D4D4D4"/>
          </a:solidFill>
          <a:ln w="0">
            <a:noFill/>
          </a:ln>
        </p:spPr>
      </p:sp>
      <p:sp>
        <p:nvSpPr>
          <p:cNvPr id="22" name="직사각형 21">
            <a:extLst>
              <a:ext uri="{FF2B5EF4-FFF2-40B4-BE49-F238E27FC236}">
                <a16:creationId xmlns:a16="http://schemas.microsoft.com/office/drawing/2014/main" id="{0ED2B516-8F96-47F8-885A-CB9BAA6A043D}"/>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3" name="직사각형 22">
            <a:extLst>
              <a:ext uri="{FF2B5EF4-FFF2-40B4-BE49-F238E27FC236}">
                <a16:creationId xmlns:a16="http://schemas.microsoft.com/office/drawing/2014/main" id="{D7FB1687-2348-443B-8668-37D7940E928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37</a:t>
            </a:r>
            <a:endParaRPr sz="1050" b="1" i="0">
              <a:solidFill>
                <a:srgbClr val="171717"/>
              </a:solidFill>
              <a:latin typeface="Consolas"/>
              <a:ea typeface="Consolas"/>
              <a:cs typeface="Consolas"/>
            </a:endParaRPr>
          </a:p>
        </p:txBody>
      </p:sp>
      <p:pic>
        <p:nvPicPr>
          <p:cNvPr id="35" name="그림 34"/>
          <p:cNvPicPr>
            <a:picLocks noChangeAspect="1"/>
          </p:cNvPicPr>
          <p:nvPr/>
        </p:nvPicPr>
        <p:blipFill>
          <a:blip r:embed="rId3"/>
          <a:stretch/>
        </p:blipFill>
        <p:spPr>
          <a:xfrm>
            <a:off x="3601736" y="2523744"/>
            <a:ext cx="4985384" cy="2724912"/>
          </a:xfrm>
          <a:prstGeom prst="rect">
            <a:avLst/>
          </a:prstGeom>
        </p:spPr>
      </p:pic>
    </p:spTree>
    <p:extLst>
      <p:ext uri="{BB962C8B-B14F-4D97-AF65-F5344CB8AC3E}">
        <p14:creationId xmlns:p14="http://schemas.microsoft.com/office/powerpoint/2010/main" val="12001524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85F22F59-915D-406E-8AC7-FF2507F37316}"/>
              </a:ext>
            </a:extLst>
          </p:cNvPr>
          <p:cNvSpPr>
            <a:spLocks noGrp="1"/>
          </p:cNvSpPr>
          <p:nvPr/>
        </p:nvSpPr>
        <p:spPr>
          <a:xfrm>
            <a:off x="859536" y="1801368"/>
            <a:ext cx="640080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max_subarray.pseudo</a:t>
            </a:r>
            <a:endParaRPr sz="900"/>
          </a:p>
        </p:txBody>
      </p:sp>
      <p:sp>
        <p:nvSpPr>
          <p:cNvPr id="17" name="Text 13">
            <a:extLst>
              <a:ext uri="{FF2B5EF4-FFF2-40B4-BE49-F238E27FC236}">
                <a16:creationId xmlns:a16="http://schemas.microsoft.com/office/drawing/2014/main" id="{29A50C1D-9CD5-4EC1-B9A0-0606A160B98D}"/>
              </a:ext>
            </a:extLst>
          </p:cNvPr>
          <p:cNvSpPr>
            <a:spLocks noGrp="1"/>
          </p:cNvSpPr>
          <p:nvPr/>
        </p:nvSpPr>
        <p:spPr>
          <a:xfrm>
            <a:off x="8229600" y="183794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기저 사례</a:t>
            </a:r>
            <a:endParaRPr sz="1150"/>
          </a:p>
        </p:txBody>
      </p:sp>
      <p:sp>
        <p:nvSpPr>
          <p:cNvPr id="18" name="Text 14">
            <a:extLst>
              <a:ext uri="{FF2B5EF4-FFF2-40B4-BE49-F238E27FC236}">
                <a16:creationId xmlns:a16="http://schemas.microsoft.com/office/drawing/2014/main" id="{9F233074-B814-41E3-A593-8B315471DCC1}"/>
              </a:ext>
            </a:extLst>
          </p:cNvPr>
          <p:cNvSpPr>
            <a:spLocks noGrp="1"/>
          </p:cNvSpPr>
          <p:nvPr/>
        </p:nvSpPr>
        <p:spPr>
          <a:xfrm>
            <a:off x="8229600" y="207568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low == high 이면 원소가 하나뿐이므로 그 값이 곧 최대 구간 합이다.</a:t>
            </a:r>
            <a:endParaRPr sz="1010"/>
          </a:p>
        </p:txBody>
      </p:sp>
      <p:sp>
        <p:nvSpPr>
          <p:cNvPr id="22" name="Text 17">
            <a:extLst>
              <a:ext uri="{FF2B5EF4-FFF2-40B4-BE49-F238E27FC236}">
                <a16:creationId xmlns:a16="http://schemas.microsoft.com/office/drawing/2014/main" id="{5D61AB5C-774B-4903-8992-92358E2DEDCB}"/>
              </a:ext>
            </a:extLst>
          </p:cNvPr>
          <p:cNvSpPr>
            <a:spLocks noGrp="1"/>
          </p:cNvSpPr>
          <p:nvPr/>
        </p:nvSpPr>
        <p:spPr>
          <a:xfrm>
            <a:off x="8229600" y="270662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분할</a:t>
            </a:r>
            <a:endParaRPr sz="1150"/>
          </a:p>
        </p:txBody>
      </p:sp>
      <p:sp>
        <p:nvSpPr>
          <p:cNvPr id="23" name="Text 18">
            <a:extLst>
              <a:ext uri="{FF2B5EF4-FFF2-40B4-BE49-F238E27FC236}">
                <a16:creationId xmlns:a16="http://schemas.microsoft.com/office/drawing/2014/main" id="{3ABBAACD-FA23-4085-AA4E-947BE4086A10}"/>
              </a:ext>
            </a:extLst>
          </p:cNvPr>
          <p:cNvSpPr>
            <a:spLocks noGrp="1"/>
          </p:cNvSpPr>
          <p:nvPr/>
        </p:nvSpPr>
        <p:spPr>
          <a:xfrm>
            <a:off x="8229600" y="294436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mid를 기준으로 왼쪽·오른쪽 두 개의 절반 문제로 나눈다.</a:t>
            </a:r>
            <a:endParaRPr sz="1010"/>
          </a:p>
        </p:txBody>
      </p:sp>
      <p:sp>
        <p:nvSpPr>
          <p:cNvPr id="27" name="Text 21">
            <a:extLst>
              <a:ext uri="{FF2B5EF4-FFF2-40B4-BE49-F238E27FC236}">
                <a16:creationId xmlns:a16="http://schemas.microsoft.com/office/drawing/2014/main" id="{067CD356-B81E-4C92-A275-239FAE7640A6}"/>
              </a:ext>
            </a:extLst>
          </p:cNvPr>
          <p:cNvSpPr>
            <a:spLocks noGrp="1"/>
          </p:cNvSpPr>
          <p:nvPr/>
        </p:nvSpPr>
        <p:spPr>
          <a:xfrm>
            <a:off x="8229600" y="357530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정복</a:t>
            </a:r>
            <a:endParaRPr sz="1150"/>
          </a:p>
        </p:txBody>
      </p:sp>
      <p:sp>
        <p:nvSpPr>
          <p:cNvPr id="28" name="Text 22">
            <a:extLst>
              <a:ext uri="{FF2B5EF4-FFF2-40B4-BE49-F238E27FC236}">
                <a16:creationId xmlns:a16="http://schemas.microsoft.com/office/drawing/2014/main" id="{A5CF09E0-A2E5-4B50-B5B4-97DD980F7D41}"/>
              </a:ext>
            </a:extLst>
          </p:cNvPr>
          <p:cNvSpPr>
            <a:spLocks noGrp="1"/>
          </p:cNvSpPr>
          <p:nvPr/>
        </p:nvSpPr>
        <p:spPr>
          <a:xfrm>
            <a:off x="8229600" y="381304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두 절반을 재귀 호출로 해결한다. 문제 크기는 매번 절반이 된다.</a:t>
            </a:r>
            <a:endParaRPr sz="1010"/>
          </a:p>
        </p:txBody>
      </p:sp>
      <p:sp>
        <p:nvSpPr>
          <p:cNvPr id="32" name="Text 25">
            <a:extLst>
              <a:ext uri="{FF2B5EF4-FFF2-40B4-BE49-F238E27FC236}">
                <a16:creationId xmlns:a16="http://schemas.microsoft.com/office/drawing/2014/main" id="{0364A5C6-8108-4250-8EA4-1FCA11F362CC}"/>
              </a:ext>
            </a:extLst>
          </p:cNvPr>
          <p:cNvSpPr>
            <a:spLocks noGrp="1"/>
          </p:cNvSpPr>
          <p:nvPr/>
        </p:nvSpPr>
        <p:spPr>
          <a:xfrm>
            <a:off x="8229600" y="444398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결합</a:t>
            </a:r>
            <a:endParaRPr sz="1150"/>
          </a:p>
        </p:txBody>
      </p:sp>
      <p:sp>
        <p:nvSpPr>
          <p:cNvPr id="33" name="Text 26">
            <a:extLst>
              <a:ext uri="{FF2B5EF4-FFF2-40B4-BE49-F238E27FC236}">
                <a16:creationId xmlns:a16="http://schemas.microsoft.com/office/drawing/2014/main" id="{E2D6256D-BFBA-483A-8EC2-B45677CABB04}"/>
              </a:ext>
            </a:extLst>
          </p:cNvPr>
          <p:cNvSpPr>
            <a:spLocks noGrp="1"/>
          </p:cNvSpPr>
          <p:nvPr/>
        </p:nvSpPr>
        <p:spPr>
          <a:xfrm>
            <a:off x="8229600" y="468172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걸친 구간을 계산하고, 세 후보 중 최댓값을 돌려준다.</a:t>
            </a:r>
            <a:endParaRPr sz="1010"/>
          </a:p>
        </p:txBody>
      </p:sp>
      <p:sp>
        <p:nvSpPr>
          <p:cNvPr id="35" name="Text 28">
            <a:extLst>
              <a:ext uri="{FF2B5EF4-FFF2-40B4-BE49-F238E27FC236}">
                <a16:creationId xmlns:a16="http://schemas.microsoft.com/office/drawing/2014/main" id="{4061A13B-FED0-4C0F-85B8-6B5CA4D3F2D1}"/>
              </a:ext>
            </a:extLst>
          </p:cNvPr>
          <p:cNvSpPr>
            <a:spLocks noGrp="1"/>
          </p:cNvSpPr>
          <p:nvPr/>
        </p:nvSpPr>
        <p:spPr>
          <a:xfrm>
            <a:off x="795528" y="5321808"/>
            <a:ext cx="10597896" cy="749808"/>
          </a:xfrm>
          <a:prstGeom prst="rect">
            <a:avLst/>
          </a:prstGeom>
          <a:noFill/>
          <a:ln w="0">
            <a:noFill/>
          </a:ln>
        </p:spPr>
        <p:txBody>
          <a:bodyPr wrap="square" lIns="0" tIns="0" rIns="0" bIns="0" anchor="ctr">
            <a:noAutofit/>
          </a:bodyPr>
          <a:lstStyle/>
          <a:p>
            <a:pPr marL="0" indent="0" algn="ctr">
              <a:buNone/>
              <a:defRPr sz="1800"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T(n) = 2T(n/2) + O(n)</a:t>
            </a:r>
            <a:endParaRPr sz="1800"/>
          </a:p>
        </p:txBody>
      </p:sp>
      <p:sp>
        <p:nvSpPr>
          <p:cNvPr id="37" name="직사각형 36">
            <a:extLst>
              <a:ext uri="{FF2B5EF4-FFF2-40B4-BE49-F238E27FC236}">
                <a16:creationId xmlns:a16="http://schemas.microsoft.com/office/drawing/2014/main" id="{3DF83E61-1CC9-4DCF-B791-2CD7D9B0A769}"/>
              </a:ext>
            </a:extLst>
          </p:cNvPr>
          <p:cNvSpPr>
            <a:spLocks noGrp="1"/>
          </p:cNvSpPr>
          <p:nvPr/>
        </p:nvSpPr>
        <p:spPr>
          <a:xfrm>
            <a:off x="7607808" y="1783080"/>
            <a:ext cx="3922776"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E76E2CC6-E952-4E32-A162-63141D23714F}"/>
              </a:ext>
            </a:extLst>
          </p:cNvPr>
          <p:cNvSpPr>
            <a:spLocks noGrp="1"/>
          </p:cNvSpPr>
          <p:nvPr/>
        </p:nvSpPr>
        <p:spPr>
          <a:xfrm>
            <a:off x="698373" y="2090928"/>
            <a:ext cx="6741414" cy="29977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MaxSubarraySum(A, low,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low == high then    // 기저 사례: 원소가 하나</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A[low]</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mid &lt;- floor((low + high) / 2)</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leftMax  &lt;- MaxSubarraySum(A, low, mid)</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rightMax &lt;- MaxSubarraySum(A, mid + 1,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crossMax &lt;- MaxCrossingSum(A, low, mid,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max(leftMax, rightMax, crossMax)</a:t>
            </a:r>
          </a:p>
        </p:txBody>
      </p:sp>
      <p:sp>
        <p:nvSpPr>
          <p:cNvPr id="39" name="직사각형 38">
            <a:extLst>
              <a:ext uri="{FF2B5EF4-FFF2-40B4-BE49-F238E27FC236}">
                <a16:creationId xmlns:a16="http://schemas.microsoft.com/office/drawing/2014/main" id="{37F7417E-0EFD-4A76-AB09-B12DB6160A0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40" name="직사각형 39">
            <a:extLst>
              <a:ext uri="{FF2B5EF4-FFF2-40B4-BE49-F238E27FC236}">
                <a16:creationId xmlns:a16="http://schemas.microsoft.com/office/drawing/2014/main" id="{BEAD41D2-B6B8-48A4-8409-6D83D3B9A57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1" name="직사각형 40">
            <a:extLst>
              <a:ext uri="{FF2B5EF4-FFF2-40B4-BE49-F238E27FC236}">
                <a16:creationId xmlns:a16="http://schemas.microsoft.com/office/drawing/2014/main" id="{7956F4C1-ABF0-400E-B19C-430695F1C2B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최대 구간 합 알고리즘 (메인)</a:t>
            </a:r>
          </a:p>
        </p:txBody>
      </p:sp>
      <p:sp>
        <p:nvSpPr>
          <p:cNvPr id="42" name="직사각형 41">
            <a:extLst>
              <a:ext uri="{FF2B5EF4-FFF2-40B4-BE49-F238E27FC236}">
                <a16:creationId xmlns:a16="http://schemas.microsoft.com/office/drawing/2014/main" id="{835BD58C-2422-460D-BA54-C7E3CBA48950}"/>
              </a:ext>
            </a:extLst>
          </p:cNvPr>
          <p:cNvSpPr>
            <a:spLocks noGrp="1"/>
          </p:cNvSpPr>
          <p:nvPr/>
        </p:nvSpPr>
        <p:spPr>
          <a:xfrm>
            <a:off x="609600" y="1381125"/>
            <a:ext cx="10972800" cy="19050"/>
          </a:xfrm>
          <a:prstGeom prst="rect">
            <a:avLst/>
          </a:prstGeom>
          <a:solidFill>
            <a:srgbClr val="171717"/>
          </a:solidFill>
          <a:ln w="0">
            <a:noFill/>
          </a:ln>
        </p:spPr>
      </p:sp>
      <p:sp>
        <p:nvSpPr>
          <p:cNvPr id="43" name="직사각형 42">
            <a:extLst>
              <a:ext uri="{FF2B5EF4-FFF2-40B4-BE49-F238E27FC236}">
                <a16:creationId xmlns:a16="http://schemas.microsoft.com/office/drawing/2014/main" id="{187A862D-3FC8-4699-AF83-A207F2113F28}"/>
              </a:ext>
            </a:extLst>
          </p:cNvPr>
          <p:cNvSpPr>
            <a:spLocks noGrp="1"/>
          </p:cNvSpPr>
          <p:nvPr/>
        </p:nvSpPr>
        <p:spPr>
          <a:xfrm>
            <a:off x="609600" y="6438900"/>
            <a:ext cx="10972800" cy="9525"/>
          </a:xfrm>
          <a:prstGeom prst="rect">
            <a:avLst/>
          </a:prstGeom>
          <a:solidFill>
            <a:srgbClr val="D4D4D4"/>
          </a:solidFill>
          <a:ln w="0">
            <a:noFill/>
          </a:ln>
        </p:spPr>
      </p:sp>
      <p:sp>
        <p:nvSpPr>
          <p:cNvPr id="44" name="직사각형 43">
            <a:extLst>
              <a:ext uri="{FF2B5EF4-FFF2-40B4-BE49-F238E27FC236}">
                <a16:creationId xmlns:a16="http://schemas.microsoft.com/office/drawing/2014/main" id="{74657DB9-BE22-4B43-B2EB-F4A840CD913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5" name="직사각형 44">
            <a:extLst>
              <a:ext uri="{FF2B5EF4-FFF2-40B4-BE49-F238E27FC236}">
                <a16:creationId xmlns:a16="http://schemas.microsoft.com/office/drawing/2014/main" id="{6ACA8B73-6F64-4198-A4CD-A3B1ECF34306}"/>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38</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5968863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DE29F31B-7361-4766-B6D2-C40AACC29C2C}"/>
              </a:ext>
            </a:extLst>
          </p:cNvPr>
          <p:cNvSpPr>
            <a:spLocks noGrp="1"/>
          </p:cNvSpPr>
          <p:nvPr/>
        </p:nvSpPr>
        <p:spPr>
          <a:xfrm>
            <a:off x="859536" y="1801368"/>
            <a:ext cx="65379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max_crossing.pseudo</a:t>
            </a:r>
            <a:endParaRPr sz="900"/>
          </a:p>
        </p:txBody>
      </p:sp>
      <p:sp>
        <p:nvSpPr>
          <p:cNvPr id="17" name="Text 13">
            <a:extLst>
              <a:ext uri="{FF2B5EF4-FFF2-40B4-BE49-F238E27FC236}">
                <a16:creationId xmlns:a16="http://schemas.microsoft.com/office/drawing/2014/main" id="{17C139C8-5113-4AB1-AD7F-8A9AE9735540}"/>
              </a:ext>
            </a:extLst>
          </p:cNvPr>
          <p:cNvSpPr>
            <a:spLocks noGrp="1"/>
          </p:cNvSpPr>
          <p:nvPr/>
        </p:nvSpPr>
        <p:spPr>
          <a:xfrm>
            <a:off x="8604504" y="1965960"/>
            <a:ext cx="2670048"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왜 −∞ 로 초기화하는가?</a:t>
            </a:r>
            <a:endParaRPr sz="1250"/>
          </a:p>
        </p:txBody>
      </p:sp>
      <p:sp>
        <p:nvSpPr>
          <p:cNvPr id="18" name="Text 14">
            <a:extLst>
              <a:ext uri="{FF2B5EF4-FFF2-40B4-BE49-F238E27FC236}">
                <a16:creationId xmlns:a16="http://schemas.microsoft.com/office/drawing/2014/main" id="{BDB50999-B29C-491A-AB41-4141C57E7BF7}"/>
              </a:ext>
            </a:extLst>
          </p:cNvPr>
          <p:cNvSpPr>
            <a:spLocks noGrp="1"/>
          </p:cNvSpPr>
          <p:nvPr/>
        </p:nvSpPr>
        <p:spPr>
          <a:xfrm>
            <a:off x="8604504" y="2313432"/>
            <a:ext cx="2670048" cy="786384"/>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모든 원소가 음수인 배열에서도 올바른 최댓값을 찾기 위해서다. 0으로 초기화하면 "아무것도 안 고르는 것"이 최선이 되어 버린다.</a:t>
            </a:r>
            <a:endParaRPr sz="1100"/>
          </a:p>
        </p:txBody>
      </p:sp>
      <p:sp>
        <p:nvSpPr>
          <p:cNvPr id="22" name="Text 17">
            <a:extLst>
              <a:ext uri="{FF2B5EF4-FFF2-40B4-BE49-F238E27FC236}">
                <a16:creationId xmlns:a16="http://schemas.microsoft.com/office/drawing/2014/main" id="{25835E87-C639-47B5-B251-E0C979B847F7}"/>
              </a:ext>
            </a:extLst>
          </p:cNvPr>
          <p:cNvSpPr>
            <a:spLocks noGrp="1"/>
          </p:cNvSpPr>
          <p:nvPr/>
        </p:nvSpPr>
        <p:spPr>
          <a:xfrm>
            <a:off x="8604504" y="3621024"/>
            <a:ext cx="2670048"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mid를 반드시 포함한다</a:t>
            </a:r>
            <a:endParaRPr sz="1250"/>
          </a:p>
        </p:txBody>
      </p:sp>
      <p:sp>
        <p:nvSpPr>
          <p:cNvPr id="23" name="Text 18">
            <a:extLst>
              <a:ext uri="{FF2B5EF4-FFF2-40B4-BE49-F238E27FC236}">
                <a16:creationId xmlns:a16="http://schemas.microsoft.com/office/drawing/2014/main" id="{8097490A-2F01-4CF1-ADC6-455A8C8810CB}"/>
              </a:ext>
            </a:extLst>
          </p:cNvPr>
          <p:cNvSpPr>
            <a:spLocks noGrp="1"/>
          </p:cNvSpPr>
          <p:nvPr/>
        </p:nvSpPr>
        <p:spPr>
          <a:xfrm>
            <a:off x="8604504" y="3968496"/>
            <a:ext cx="2670048" cy="640080"/>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왼쪽 스캔은 mid에서 출발하고 오른쪽 스캔은 mid+1에서 출발하므로, 두 구간은 항상 경계선을 가로지른다.</a:t>
            </a:r>
            <a:endParaRPr sz="1100"/>
          </a:p>
        </p:txBody>
      </p:sp>
      <p:sp>
        <p:nvSpPr>
          <p:cNvPr id="25" name="Text 20">
            <a:extLst>
              <a:ext uri="{FF2B5EF4-FFF2-40B4-BE49-F238E27FC236}">
                <a16:creationId xmlns:a16="http://schemas.microsoft.com/office/drawing/2014/main" id="{6B946887-0EC2-4E87-9228-E0ADE64B7FA7}"/>
              </a:ext>
            </a:extLst>
          </p:cNvPr>
          <p:cNvSpPr>
            <a:spLocks noGrp="1"/>
          </p:cNvSpPr>
          <p:nvPr/>
        </p:nvSpPr>
        <p:spPr>
          <a:xfrm>
            <a:off x="7882128" y="4956048"/>
            <a:ext cx="3511296" cy="658368"/>
          </a:xfrm>
          <a:prstGeom prst="rect">
            <a:avLst/>
          </a:prstGeom>
          <a:noFill/>
          <a:ln w="0">
            <a:noFill/>
          </a:ln>
        </p:spPr>
        <p:txBody>
          <a:bodyPr wrap="square" lIns="0" tIns="0" rIns="0" bIns="0" anchor="ctr">
            <a:noAutofit/>
          </a:bodyPr>
          <a:lstStyle/>
          <a:p>
            <a:pPr marL="0" indent="0" algn="ctr">
              <a:buNone/>
              <a:defRPr sz="1600" i="0">
                <a:solidFill>
                  <a:srgbClr val="171717"/>
                </a:solidFill>
                <a:latin typeface="Malgun Gothic"/>
                <a:ea typeface="Malgun Gothic"/>
                <a:cs typeface="Malgun Gothic"/>
              </a:defRPr>
            </a:pPr>
            <a:r>
              <a:rPr sz="1600" b="1" i="0">
                <a:solidFill>
                  <a:srgbClr val="171717"/>
                </a:solidFill>
                <a:latin typeface="Malgun Gothic"/>
                <a:ea typeface="Malgun Gothic"/>
                <a:cs typeface="Malgun Gothic"/>
              </a:rPr>
              <a:t>비용: O(n)</a:t>
            </a:r>
            <a:endParaRPr sz="1600"/>
          </a:p>
        </p:txBody>
      </p:sp>
      <p:sp>
        <p:nvSpPr>
          <p:cNvPr id="27" name="직사각형 26">
            <a:extLst>
              <a:ext uri="{FF2B5EF4-FFF2-40B4-BE49-F238E27FC236}">
                <a16:creationId xmlns:a16="http://schemas.microsoft.com/office/drawing/2014/main" id="{D19743F3-D9B5-4C2F-9A9C-AEBAFFB1AD19}"/>
              </a:ext>
            </a:extLst>
          </p:cNvPr>
          <p:cNvSpPr>
            <a:spLocks noGrp="1"/>
          </p:cNvSpPr>
          <p:nvPr/>
        </p:nvSpPr>
        <p:spPr>
          <a:xfrm>
            <a:off x="7744968" y="1783080"/>
            <a:ext cx="3785616" cy="9525"/>
          </a:xfrm>
          <a:prstGeom prst="rect">
            <a:avLst/>
          </a:prstGeom>
          <a:solidFill>
            <a:srgbClr val="D4D4D4"/>
          </a:solidFill>
          <a:ln w="0">
            <a:noFill/>
          </a:ln>
        </p:spPr>
      </p:sp>
      <p:sp>
        <p:nvSpPr>
          <p:cNvPr id="28" name="직사각형 27">
            <a:extLst>
              <a:ext uri="{FF2B5EF4-FFF2-40B4-BE49-F238E27FC236}">
                <a16:creationId xmlns:a16="http://schemas.microsoft.com/office/drawing/2014/main" id="{49E1D910-BE70-4308-87C5-99DE44A0822F}"/>
              </a:ext>
            </a:extLst>
          </p:cNvPr>
          <p:cNvSpPr>
            <a:spLocks noGrp="1"/>
          </p:cNvSpPr>
          <p:nvPr/>
        </p:nvSpPr>
        <p:spPr>
          <a:xfrm>
            <a:off x="698373" y="2090928"/>
            <a:ext cx="6878574" cy="363778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MaxCrossingSum(A, low, mid,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leftSum &lt;- -INF</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&lt;- 0</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i &lt;- mid downto low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sum + A[i]</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sum &gt; leftSum then leftSum &lt;- sum</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rightSum &lt;- -INF</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&lt;- 0</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j &lt;- mid + 1 to high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sum + A[j]</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sum &gt; rightSum then rightSum &lt;- sum</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leftSum + rightSum</a:t>
            </a:r>
          </a:p>
        </p:txBody>
      </p:sp>
      <p:sp>
        <p:nvSpPr>
          <p:cNvPr id="29" name="직사각형 28">
            <a:extLst>
              <a:ext uri="{FF2B5EF4-FFF2-40B4-BE49-F238E27FC236}">
                <a16:creationId xmlns:a16="http://schemas.microsoft.com/office/drawing/2014/main" id="{D360D68A-1A0D-4E08-9E29-92420A49786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0" name="직사각형 29">
            <a:extLst>
              <a:ext uri="{FF2B5EF4-FFF2-40B4-BE49-F238E27FC236}">
                <a16:creationId xmlns:a16="http://schemas.microsoft.com/office/drawing/2014/main" id="{AF0F6064-E940-4B0A-9910-C22211787C9F}"/>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1" name="직사각형 30">
            <a:extLst>
              <a:ext uri="{FF2B5EF4-FFF2-40B4-BE49-F238E27FC236}">
                <a16:creationId xmlns:a16="http://schemas.microsoft.com/office/drawing/2014/main" id="{9501E52F-7C00-4A99-A1AA-6FC8E01B8F5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최대 구간 합 알고리즘 (걸친 구간)</a:t>
            </a:r>
          </a:p>
        </p:txBody>
      </p:sp>
      <p:sp>
        <p:nvSpPr>
          <p:cNvPr id="32" name="직사각형 31">
            <a:extLst>
              <a:ext uri="{FF2B5EF4-FFF2-40B4-BE49-F238E27FC236}">
                <a16:creationId xmlns:a16="http://schemas.microsoft.com/office/drawing/2014/main" id="{C0AE94CE-C66A-4CA9-A2FC-A183D0E1DF55}"/>
              </a:ext>
            </a:extLst>
          </p:cNvPr>
          <p:cNvSpPr>
            <a:spLocks noGrp="1"/>
          </p:cNvSpPr>
          <p:nvPr/>
        </p:nvSpPr>
        <p:spPr>
          <a:xfrm>
            <a:off x="609600" y="1381125"/>
            <a:ext cx="10972800" cy="19050"/>
          </a:xfrm>
          <a:prstGeom prst="rect">
            <a:avLst/>
          </a:prstGeom>
          <a:solidFill>
            <a:srgbClr val="171717"/>
          </a:solidFill>
          <a:ln w="0">
            <a:noFill/>
          </a:ln>
        </p:spPr>
      </p:sp>
      <p:sp>
        <p:nvSpPr>
          <p:cNvPr id="33" name="직사각형 32">
            <a:extLst>
              <a:ext uri="{FF2B5EF4-FFF2-40B4-BE49-F238E27FC236}">
                <a16:creationId xmlns:a16="http://schemas.microsoft.com/office/drawing/2014/main" id="{4535C265-0841-4004-9FEA-3CE902BA432A}"/>
              </a:ext>
            </a:extLst>
          </p:cNvPr>
          <p:cNvSpPr>
            <a:spLocks noGrp="1"/>
          </p:cNvSpPr>
          <p:nvPr/>
        </p:nvSpPr>
        <p:spPr>
          <a:xfrm>
            <a:off x="609600" y="6438900"/>
            <a:ext cx="1097280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33BD4624-56DD-4EEB-8284-E10304A2E2AB}"/>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5" name="직사각형 34">
            <a:extLst>
              <a:ext uri="{FF2B5EF4-FFF2-40B4-BE49-F238E27FC236}">
                <a16:creationId xmlns:a16="http://schemas.microsoft.com/office/drawing/2014/main" id="{0C01E632-F4BD-46C2-83D9-25A97745B35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39</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87624431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AEFABF8F-933F-4E3B-8560-FA92F2E4C541}"/>
              </a:ext>
            </a:extLst>
          </p:cNvPr>
          <p:cNvSpPr>
            <a:spLocks noGrp="1"/>
          </p:cNvSpPr>
          <p:nvPr/>
        </p:nvSpPr>
        <p:spPr>
          <a:xfrm>
            <a:off x="859536" y="1801368"/>
            <a:ext cx="713232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max_crossing_sum.py</a:t>
            </a:r>
            <a:endParaRPr sz="900"/>
          </a:p>
        </p:txBody>
      </p:sp>
      <p:sp>
        <p:nvSpPr>
          <p:cNvPr id="17" name="Text 13">
            <a:extLst>
              <a:ext uri="{FF2B5EF4-FFF2-40B4-BE49-F238E27FC236}">
                <a16:creationId xmlns:a16="http://schemas.microsoft.com/office/drawing/2014/main" id="{0235F74B-FD9D-40E3-8C61-338883D9AF87}"/>
              </a:ext>
            </a:extLst>
          </p:cNvPr>
          <p:cNvSpPr>
            <a:spLocks noGrp="1"/>
          </p:cNvSpPr>
          <p:nvPr/>
        </p:nvSpPr>
        <p:spPr>
          <a:xfrm>
            <a:off x="9198864" y="1965960"/>
            <a:ext cx="2075688"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range의 끝은 포함되지 않는다</a:t>
            </a:r>
            <a:endParaRPr sz="1200"/>
          </a:p>
        </p:txBody>
      </p:sp>
      <p:sp>
        <p:nvSpPr>
          <p:cNvPr id="18" name="Text 14">
            <a:extLst>
              <a:ext uri="{FF2B5EF4-FFF2-40B4-BE49-F238E27FC236}">
                <a16:creationId xmlns:a16="http://schemas.microsoft.com/office/drawing/2014/main" id="{7E95B23A-2D6A-4310-806C-D75BA0B7D19A}"/>
              </a:ext>
            </a:extLst>
          </p:cNvPr>
          <p:cNvSpPr>
            <a:spLocks noGrp="1"/>
          </p:cNvSpPr>
          <p:nvPr/>
        </p:nvSpPr>
        <p:spPr>
          <a:xfrm>
            <a:off x="9198864" y="2313432"/>
            <a:ext cx="2075688" cy="1143000"/>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mid부터 low까지 거꾸로 돌려면 range(mid, low − 1, −1)로 써야 low가 포함된다.</a:t>
            </a:r>
            <a:endParaRPr sz="1080"/>
          </a:p>
        </p:txBody>
      </p:sp>
      <p:sp>
        <p:nvSpPr>
          <p:cNvPr id="22" name="Text 17">
            <a:extLst>
              <a:ext uri="{FF2B5EF4-FFF2-40B4-BE49-F238E27FC236}">
                <a16:creationId xmlns:a16="http://schemas.microsoft.com/office/drawing/2014/main" id="{23BE23EE-53CF-4E0D-B86A-589F5ED79E88}"/>
              </a:ext>
            </a:extLst>
          </p:cNvPr>
          <p:cNvSpPr>
            <a:spLocks noGrp="1"/>
          </p:cNvSpPr>
          <p:nvPr/>
        </p:nvSpPr>
        <p:spPr>
          <a:xfrm>
            <a:off x="9198864" y="3977640"/>
            <a:ext cx="2075688"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한 번의 선형 스캔</a:t>
            </a:r>
            <a:endParaRPr sz="1200"/>
          </a:p>
        </p:txBody>
      </p:sp>
      <p:sp>
        <p:nvSpPr>
          <p:cNvPr id="23" name="Text 18">
            <a:extLst>
              <a:ext uri="{FF2B5EF4-FFF2-40B4-BE49-F238E27FC236}">
                <a16:creationId xmlns:a16="http://schemas.microsoft.com/office/drawing/2014/main" id="{7D58712E-7228-481F-A184-C316B48A16F6}"/>
              </a:ext>
            </a:extLst>
          </p:cNvPr>
          <p:cNvSpPr>
            <a:spLocks noGrp="1"/>
          </p:cNvSpPr>
          <p:nvPr/>
        </p:nvSpPr>
        <p:spPr>
          <a:xfrm>
            <a:off x="9198864" y="4325112"/>
            <a:ext cx="2075688" cy="1371600"/>
          </a:xfrm>
          <a:prstGeom prst="rect">
            <a:avLst/>
          </a:prstGeom>
          <a:noFill/>
          <a:ln w="0">
            <a:noFill/>
          </a:ln>
        </p:spPr>
        <p:txBody>
          <a:bodyPr wrap="square" lIns="0" tIns="0" rIns="0" bIns="0" anchor="t">
            <a:noAutofit/>
          </a:bodyPr>
          <a:lstStyle/>
          <a:p>
            <a:pPr marL="0" indent="0" algn="l">
              <a:lnSpc>
                <a:spcPct val="132000"/>
              </a:lnSpc>
              <a:buNone/>
              <a:defRPr sz="1080" i="0">
                <a:solidFill>
                  <a:srgbClr val="606060"/>
                </a:solidFill>
                <a:latin typeface="Malgun Gothic"/>
                <a:ea typeface="Malgun Gothic"/>
                <a:cs typeface="Malgun Gothic"/>
              </a:defRPr>
            </a:pPr>
            <a:r>
              <a:rPr sz="1080" i="0">
                <a:solidFill>
                  <a:srgbClr val="606060"/>
                </a:solidFill>
                <a:latin typeface="Malgun Gothic"/>
                <a:ea typeface="Malgun Gothic"/>
                <a:cs typeface="Malgun Gothic"/>
              </a:rPr>
              <a:t>왼쪽 스캔과 오른쪽 스캔 모두 각 원소를 한 번씩만 훑는다. 따라서 이 함수의 비용은 구간 길이에 비례하는 O(n)이다.</a:t>
            </a:r>
            <a:endParaRPr sz="1080"/>
          </a:p>
        </p:txBody>
      </p:sp>
      <p:sp>
        <p:nvSpPr>
          <p:cNvPr id="25" name="직사각형 24">
            <a:extLst>
              <a:ext uri="{FF2B5EF4-FFF2-40B4-BE49-F238E27FC236}">
                <a16:creationId xmlns:a16="http://schemas.microsoft.com/office/drawing/2014/main" id="{B4E1626C-2F70-4422-A023-417036C51B06}"/>
              </a:ext>
            </a:extLst>
          </p:cNvPr>
          <p:cNvSpPr>
            <a:spLocks noGrp="1"/>
          </p:cNvSpPr>
          <p:nvPr/>
        </p:nvSpPr>
        <p:spPr>
          <a:xfrm>
            <a:off x="8339328" y="1783080"/>
            <a:ext cx="3191256" cy="9525"/>
          </a:xfrm>
          <a:prstGeom prst="rect">
            <a:avLst/>
          </a:prstGeom>
          <a:solidFill>
            <a:srgbClr val="D4D4D4"/>
          </a:solidFill>
          <a:ln w="0">
            <a:noFill/>
          </a:ln>
        </p:spPr>
      </p:sp>
      <p:sp>
        <p:nvSpPr>
          <p:cNvPr id="26" name="직사각형 25">
            <a:extLst>
              <a:ext uri="{FF2B5EF4-FFF2-40B4-BE49-F238E27FC236}">
                <a16:creationId xmlns:a16="http://schemas.microsoft.com/office/drawing/2014/main" id="{48C2580C-AE2B-4786-8DAF-D84A53426332}"/>
              </a:ext>
            </a:extLst>
          </p:cNvPr>
          <p:cNvSpPr>
            <a:spLocks noGrp="1"/>
          </p:cNvSpPr>
          <p:nvPr/>
        </p:nvSpPr>
        <p:spPr>
          <a:xfrm>
            <a:off x="8339328" y="3794760"/>
            <a:ext cx="3191256" cy="9525"/>
          </a:xfrm>
          <a:prstGeom prst="rect">
            <a:avLst/>
          </a:prstGeom>
          <a:solidFill>
            <a:srgbClr val="D4D4D4"/>
          </a:solidFill>
          <a:ln w="0">
            <a:noFill/>
          </a:ln>
        </p:spPr>
      </p:sp>
      <p:sp>
        <p:nvSpPr>
          <p:cNvPr id="27" name="직사각형 26">
            <a:extLst>
              <a:ext uri="{FF2B5EF4-FFF2-40B4-BE49-F238E27FC236}">
                <a16:creationId xmlns:a16="http://schemas.microsoft.com/office/drawing/2014/main" id="{C7128CB5-81F5-4198-89CD-26A431F10A4C}"/>
              </a:ext>
            </a:extLst>
          </p:cNvPr>
          <p:cNvSpPr>
            <a:spLocks noGrp="1"/>
          </p:cNvSpPr>
          <p:nvPr/>
        </p:nvSpPr>
        <p:spPr>
          <a:xfrm>
            <a:off x="698373" y="2090928"/>
            <a:ext cx="7472934" cy="3774948"/>
          </a:xfrm>
          <a:prstGeom prst="rect">
            <a:avLst/>
          </a:prstGeom>
          <a:solidFill>
            <a:srgbClr val="171717"/>
          </a:solidFill>
          <a:ln w="0">
            <a:noFill/>
          </a:ln>
        </p:spPr>
        <p:txBody>
          <a:bodyPr wrap="none" lIns="142875" tIns="76200" rIns="142875" bIns="76200" anchor="t">
            <a:noAutofit/>
          </a:bodyPr>
          <a:lstStyle/>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def max_crossing_sum(arr, low, mid, high):</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left_sum = float('-inf')</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0</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for i in range(mid, low - 1, -1):</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arr[i]</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if current_sum &gt; left_sum: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left_sum = current_sum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right_sum = float('-inf')</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0</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for i in range(mid + 1, high + 1):</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arr[i]</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if current_sum &gt; right_sum: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right_sum = current_sum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return left_sum + right_sum</a:t>
            </a:r>
          </a:p>
        </p:txBody>
      </p:sp>
      <p:sp>
        <p:nvSpPr>
          <p:cNvPr id="28" name="직사각형 27">
            <a:extLst>
              <a:ext uri="{FF2B5EF4-FFF2-40B4-BE49-F238E27FC236}">
                <a16:creationId xmlns:a16="http://schemas.microsoft.com/office/drawing/2014/main" id="{1003254D-DA76-4FF6-B669-5FE82F08DF5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29" name="직사각형 28">
            <a:extLst>
              <a:ext uri="{FF2B5EF4-FFF2-40B4-BE49-F238E27FC236}">
                <a16:creationId xmlns:a16="http://schemas.microsoft.com/office/drawing/2014/main" id="{6262A71E-4B9D-495A-A82F-2E1354FD007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0" name="직사각형 29">
            <a:extLst>
              <a:ext uri="{FF2B5EF4-FFF2-40B4-BE49-F238E27FC236}">
                <a16:creationId xmlns:a16="http://schemas.microsoft.com/office/drawing/2014/main" id="{DE463BFD-83CD-4F34-834C-27D5CED29AF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걸친 구간 (combine)</a:t>
            </a:r>
          </a:p>
        </p:txBody>
      </p:sp>
      <p:sp>
        <p:nvSpPr>
          <p:cNvPr id="31" name="직사각형 30">
            <a:extLst>
              <a:ext uri="{FF2B5EF4-FFF2-40B4-BE49-F238E27FC236}">
                <a16:creationId xmlns:a16="http://schemas.microsoft.com/office/drawing/2014/main" id="{B3E7D7F4-8034-434C-944F-58BF3F0AAC2A}"/>
              </a:ext>
            </a:extLst>
          </p:cNvPr>
          <p:cNvSpPr>
            <a:spLocks noGrp="1"/>
          </p:cNvSpPr>
          <p:nvPr/>
        </p:nvSpPr>
        <p:spPr>
          <a:xfrm>
            <a:off x="609600" y="1381125"/>
            <a:ext cx="10972800" cy="19050"/>
          </a:xfrm>
          <a:prstGeom prst="rect">
            <a:avLst/>
          </a:prstGeom>
          <a:solidFill>
            <a:srgbClr val="171717"/>
          </a:solidFill>
          <a:ln w="0">
            <a:noFill/>
          </a:ln>
        </p:spPr>
      </p:sp>
      <p:sp>
        <p:nvSpPr>
          <p:cNvPr id="32" name="직사각형 31">
            <a:extLst>
              <a:ext uri="{FF2B5EF4-FFF2-40B4-BE49-F238E27FC236}">
                <a16:creationId xmlns:a16="http://schemas.microsoft.com/office/drawing/2014/main" id="{3B3E9446-3DEF-4334-A48C-5541723514DB}"/>
              </a:ext>
            </a:extLst>
          </p:cNvPr>
          <p:cNvSpPr>
            <a:spLocks noGrp="1"/>
          </p:cNvSpPr>
          <p:nvPr/>
        </p:nvSpPr>
        <p:spPr>
          <a:xfrm>
            <a:off x="609600" y="6438900"/>
            <a:ext cx="10972800"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DDFBFC64-6683-4A35-8733-5D8BADDF427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4" name="직사각형 33">
            <a:extLst>
              <a:ext uri="{FF2B5EF4-FFF2-40B4-BE49-F238E27FC236}">
                <a16:creationId xmlns:a16="http://schemas.microsoft.com/office/drawing/2014/main" id="{E809C184-224B-42BC-B5E0-EBED5438911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40</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0749773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16694097-DF91-43F6-85B0-2D9D15533034}"/>
              </a:ext>
            </a:extLst>
          </p:cNvPr>
          <p:cNvSpPr>
            <a:spLocks noGrp="1"/>
          </p:cNvSpPr>
          <p:nvPr/>
        </p:nvSpPr>
        <p:spPr>
          <a:xfrm>
            <a:off x="859536" y="1801368"/>
            <a:ext cx="65379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max_subarray_sum.py</a:t>
            </a:r>
            <a:endParaRPr sz="900"/>
          </a:p>
        </p:txBody>
      </p:sp>
      <p:sp>
        <p:nvSpPr>
          <p:cNvPr id="20" name="Text 17">
            <a:extLst>
              <a:ext uri="{FF2B5EF4-FFF2-40B4-BE49-F238E27FC236}">
                <a16:creationId xmlns:a16="http://schemas.microsoft.com/office/drawing/2014/main" id="{015E184B-6612-4C13-86AB-283701B821E0}"/>
              </a:ext>
            </a:extLst>
          </p:cNvPr>
          <p:cNvSpPr>
            <a:spLocks noGrp="1"/>
          </p:cNvSpPr>
          <p:nvPr/>
        </p:nvSpPr>
        <p:spPr>
          <a:xfrm>
            <a:off x="859536" y="5029200"/>
            <a:ext cx="65379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5" name="Text 21">
            <a:extLst>
              <a:ext uri="{FF2B5EF4-FFF2-40B4-BE49-F238E27FC236}">
                <a16:creationId xmlns:a16="http://schemas.microsoft.com/office/drawing/2014/main" id="{C3EDFC22-4C07-4FF5-A424-B3534AB074D7}"/>
              </a:ext>
            </a:extLst>
          </p:cNvPr>
          <p:cNvSpPr>
            <a:spLocks noGrp="1"/>
          </p:cNvSpPr>
          <p:nvPr/>
        </p:nvSpPr>
        <p:spPr>
          <a:xfrm>
            <a:off x="8604504" y="1965960"/>
            <a:ext cx="2670048"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세 개의 후보</a:t>
            </a:r>
            <a:endParaRPr sz="1250"/>
          </a:p>
        </p:txBody>
      </p:sp>
      <p:sp>
        <p:nvSpPr>
          <p:cNvPr id="26" name="Text 22">
            <a:extLst>
              <a:ext uri="{FF2B5EF4-FFF2-40B4-BE49-F238E27FC236}">
                <a16:creationId xmlns:a16="http://schemas.microsoft.com/office/drawing/2014/main" id="{38633C52-421F-4EBB-9A57-B883A6EC1756}"/>
              </a:ext>
            </a:extLst>
          </p:cNvPr>
          <p:cNvSpPr>
            <a:spLocks noGrp="1"/>
          </p:cNvSpPr>
          <p:nvPr/>
        </p:nvSpPr>
        <p:spPr>
          <a:xfrm>
            <a:off x="8604504" y="2313432"/>
            <a:ext cx="2670048" cy="841248"/>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왼쪽 절반의 최대, 오른쪽 절반의 최대, 그리고 중앙을 걸친 최대. 파이썬 내장 max()로 셋 중 가장 큰 값을 고른다.</a:t>
            </a:r>
            <a:endParaRPr sz="1100"/>
          </a:p>
        </p:txBody>
      </p:sp>
      <p:sp>
        <p:nvSpPr>
          <p:cNvPr id="28" name="Text 24">
            <a:extLst>
              <a:ext uri="{FF2B5EF4-FFF2-40B4-BE49-F238E27FC236}">
                <a16:creationId xmlns:a16="http://schemas.microsoft.com/office/drawing/2014/main" id="{A5ACA81C-DB28-4CE9-A451-A7206D2910BC}"/>
              </a:ext>
            </a:extLst>
          </p:cNvPr>
          <p:cNvSpPr>
            <a:spLocks noGrp="1"/>
          </p:cNvSpPr>
          <p:nvPr/>
        </p:nvSpPr>
        <p:spPr>
          <a:xfrm>
            <a:off x="7927848" y="3611880"/>
            <a:ext cx="3419856"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9" name="Text 25">
            <a:extLst>
              <a:ext uri="{FF2B5EF4-FFF2-40B4-BE49-F238E27FC236}">
                <a16:creationId xmlns:a16="http://schemas.microsoft.com/office/drawing/2014/main" id="{28AA1030-8C4D-47E5-8A6F-5EEB7EB393D5}"/>
              </a:ext>
            </a:extLst>
          </p:cNvPr>
          <p:cNvSpPr>
            <a:spLocks noGrp="1"/>
          </p:cNvSpPr>
          <p:nvPr/>
        </p:nvSpPr>
        <p:spPr>
          <a:xfrm>
            <a:off x="7927848" y="3950208"/>
            <a:ext cx="3419856" cy="91440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주가 데이터: [3, -5, 12, -2, 7, -9, 5, 1]</a:t>
            </a:r>
            <a:endParaRPr sz="1000"/>
          </a:p>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최대 구간 합(최대 이익): 17</a:t>
            </a:r>
            <a:endParaRPr sz="1000"/>
          </a:p>
        </p:txBody>
      </p:sp>
      <p:sp>
        <p:nvSpPr>
          <p:cNvPr id="31" name="Text 27">
            <a:extLst>
              <a:ext uri="{FF2B5EF4-FFF2-40B4-BE49-F238E27FC236}">
                <a16:creationId xmlns:a16="http://schemas.microsoft.com/office/drawing/2014/main" id="{3071CCC7-865C-4B13-A4F7-4B149C92ED91}"/>
              </a:ext>
            </a:extLst>
          </p:cNvPr>
          <p:cNvSpPr>
            <a:spLocks noGrp="1"/>
          </p:cNvSpPr>
          <p:nvPr/>
        </p:nvSpPr>
        <p:spPr>
          <a:xfrm>
            <a:off x="7882128" y="5175504"/>
            <a:ext cx="3511296" cy="658368"/>
          </a:xfrm>
          <a:prstGeom prst="rect">
            <a:avLst/>
          </a:prstGeom>
          <a:noFill/>
          <a:ln w="0">
            <a:noFill/>
          </a:ln>
        </p:spPr>
        <p:txBody>
          <a:bodyPr wrap="square" lIns="0" tIns="0" rIns="0" bIns="0" anchor="ctr">
            <a:noAutofit/>
          </a:bodyPr>
          <a:lstStyle/>
          <a:p>
            <a:pPr marL="0" indent="0" algn="ctr">
              <a:buNone/>
              <a:defRPr sz="1600" i="0">
                <a:solidFill>
                  <a:srgbClr val="171717"/>
                </a:solidFill>
                <a:latin typeface="Malgun Gothic"/>
                <a:ea typeface="Malgun Gothic"/>
                <a:cs typeface="Malgun Gothic"/>
              </a:defRPr>
            </a:pPr>
            <a:r>
              <a:rPr sz="1600" b="1" i="0">
                <a:solidFill>
                  <a:srgbClr val="171717"/>
                </a:solidFill>
                <a:latin typeface="Malgun Gothic"/>
                <a:ea typeface="Malgun Gothic"/>
                <a:cs typeface="Malgun Gothic"/>
              </a:rPr>
              <a:t>T(n) = O(n log n)</a:t>
            </a:r>
            <a:endParaRPr sz="1600"/>
          </a:p>
        </p:txBody>
      </p:sp>
      <p:sp>
        <p:nvSpPr>
          <p:cNvPr id="33" name="직사각형 32">
            <a:extLst>
              <a:ext uri="{FF2B5EF4-FFF2-40B4-BE49-F238E27FC236}">
                <a16:creationId xmlns:a16="http://schemas.microsoft.com/office/drawing/2014/main" id="{D875A23D-6CD1-4EE5-8DF6-F04D4756A5C1}"/>
              </a:ext>
            </a:extLst>
          </p:cNvPr>
          <p:cNvSpPr>
            <a:spLocks noGrp="1"/>
          </p:cNvSpPr>
          <p:nvPr/>
        </p:nvSpPr>
        <p:spPr>
          <a:xfrm>
            <a:off x="7744968" y="1783080"/>
            <a:ext cx="3785616"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B71DFD00-1FF0-4DBE-8571-9104CC2F3622}"/>
              </a:ext>
            </a:extLst>
          </p:cNvPr>
          <p:cNvSpPr>
            <a:spLocks noGrp="1"/>
          </p:cNvSpPr>
          <p:nvPr/>
        </p:nvSpPr>
        <p:spPr>
          <a:xfrm>
            <a:off x="698373" y="2090928"/>
            <a:ext cx="6878574" cy="281482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max_subarray_sum(arr, low,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low ==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arr[low]</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mid = (low + high) // 2</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left_max  = max_subarray_sum(arr, low, mid)</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right_max = max_subarray_sum(arr, mid + 1,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cross_max = max_crossing_sum(arr, low, mid,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max(left_max, right_max, cross_max)</a:t>
            </a:r>
          </a:p>
        </p:txBody>
      </p:sp>
      <p:sp>
        <p:nvSpPr>
          <p:cNvPr id="35" name="직사각형 34">
            <a:extLst>
              <a:ext uri="{FF2B5EF4-FFF2-40B4-BE49-F238E27FC236}">
                <a16:creationId xmlns:a16="http://schemas.microsoft.com/office/drawing/2014/main" id="{7847117D-7D52-414A-99DF-3D3734C46407}"/>
              </a:ext>
            </a:extLst>
          </p:cNvPr>
          <p:cNvSpPr>
            <a:spLocks noGrp="1"/>
          </p:cNvSpPr>
          <p:nvPr/>
        </p:nvSpPr>
        <p:spPr>
          <a:xfrm>
            <a:off x="698373" y="5318760"/>
            <a:ext cx="6878574" cy="867156"/>
          </a:xfrm>
          <a:prstGeom prst="rect">
            <a:avLst/>
          </a:prstGeom>
          <a:solidFill>
            <a:srgbClr val="171717"/>
          </a:solidFill>
          <a:ln w="0">
            <a:noFill/>
          </a:ln>
        </p:spPr>
        <p:txBody>
          <a:bodyPr wrap="none" lIns="142875" tIns="76200" rIns="142875" bIns="76200" anchor="t">
            <a:noAutofit/>
          </a:bodyPr>
          <a:lstStyle/>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stock_prices = [3, -5, 12, -2, 7, -9, 5, 1]</a:t>
            </a:r>
          </a:p>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n = len(stock_prices)</a:t>
            </a:r>
          </a:p>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max_profit = max_subarray_sum(stock_prices, 0, n - 1)</a:t>
            </a:r>
          </a:p>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print(f"최대 구간 합(최대 이익): {max_profit}")</a:t>
            </a:r>
          </a:p>
        </p:txBody>
      </p:sp>
      <p:sp>
        <p:nvSpPr>
          <p:cNvPr id="36" name="직사각형 35">
            <a:extLst>
              <a:ext uri="{FF2B5EF4-FFF2-40B4-BE49-F238E27FC236}">
                <a16:creationId xmlns:a16="http://schemas.microsoft.com/office/drawing/2014/main" id="{9C2E04A8-302B-4AD6-89E7-6E99E25FE985}"/>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3DE34F45-5481-4274-8CAA-7D548311BAC0}"/>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E489CF31-67C8-4385-B603-1F7B098CE66D}"/>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분할 정복 메인</a:t>
            </a:r>
          </a:p>
        </p:txBody>
      </p:sp>
      <p:sp>
        <p:nvSpPr>
          <p:cNvPr id="39" name="직사각형 38">
            <a:extLst>
              <a:ext uri="{FF2B5EF4-FFF2-40B4-BE49-F238E27FC236}">
                <a16:creationId xmlns:a16="http://schemas.microsoft.com/office/drawing/2014/main" id="{FC76D691-AE44-4824-BA07-F008FA7B0FEE}"/>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EE63D6F8-70E9-4DC1-82CE-D7546FFC4E03}"/>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853F260F-BF81-49C9-85A7-A32BA91AC7E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01896AE6-B2AC-42E3-AE1B-7A31148832A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41</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30440883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CBEA2B7-28E7-4007-AA37-998C50639BF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3" name="직사각형 32">
            <a:extLst>
              <a:ext uri="{FF2B5EF4-FFF2-40B4-BE49-F238E27FC236}">
                <a16:creationId xmlns:a16="http://schemas.microsoft.com/office/drawing/2014/main" id="{1AD47630-52AD-4FB9-BB6F-D27E25CC4E9D}"/>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4" name="직사각형 33">
            <a:extLst>
              <a:ext uri="{FF2B5EF4-FFF2-40B4-BE49-F238E27FC236}">
                <a16:creationId xmlns:a16="http://schemas.microsoft.com/office/drawing/2014/main" id="{276E967F-5653-47B9-A82B-E0919632ADC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시간 복잡도 분석</a:t>
            </a:r>
          </a:p>
        </p:txBody>
      </p:sp>
      <p:sp>
        <p:nvSpPr>
          <p:cNvPr id="35" name="직사각형 34">
            <a:extLst>
              <a:ext uri="{FF2B5EF4-FFF2-40B4-BE49-F238E27FC236}">
                <a16:creationId xmlns:a16="http://schemas.microsoft.com/office/drawing/2014/main" id="{0F36152E-462F-4644-9A85-62796292E255}"/>
              </a:ext>
            </a:extLst>
          </p:cNvPr>
          <p:cNvSpPr>
            <a:spLocks noGrp="1"/>
          </p:cNvSpPr>
          <p:nvPr/>
        </p:nvSpPr>
        <p:spPr>
          <a:xfrm>
            <a:off x="609600" y="1381125"/>
            <a:ext cx="10972800" cy="19050"/>
          </a:xfrm>
          <a:prstGeom prst="rect">
            <a:avLst/>
          </a:prstGeom>
          <a:solidFill>
            <a:srgbClr val="171717"/>
          </a:solidFill>
          <a:ln w="0">
            <a:noFill/>
          </a:ln>
        </p:spPr>
      </p:sp>
      <p:sp>
        <p:nvSpPr>
          <p:cNvPr id="36" name="직사각형 35">
            <a:extLst>
              <a:ext uri="{FF2B5EF4-FFF2-40B4-BE49-F238E27FC236}">
                <a16:creationId xmlns:a16="http://schemas.microsoft.com/office/drawing/2014/main" id="{02A676A7-6DAA-4E3C-91D5-88DA43DDBC40}"/>
              </a:ext>
            </a:extLst>
          </p:cNvPr>
          <p:cNvSpPr>
            <a:spLocks noGrp="1"/>
          </p:cNvSpPr>
          <p:nvPr/>
        </p:nvSpPr>
        <p:spPr>
          <a:xfrm>
            <a:off x="609600" y="6438900"/>
            <a:ext cx="10972800"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FDB955BD-4D75-4F19-B2E3-1E3BD7FF9603}"/>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8" name="직사각형 37">
            <a:extLst>
              <a:ext uri="{FF2B5EF4-FFF2-40B4-BE49-F238E27FC236}">
                <a16:creationId xmlns:a16="http://schemas.microsoft.com/office/drawing/2014/main" id="{751EE579-87C5-4137-9493-86E2C213F278}"/>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42</a:t>
            </a:r>
            <a:endParaRPr sz="1050" b="1" i="0">
              <a:solidFill>
                <a:srgbClr val="171717"/>
              </a:solidFill>
              <a:latin typeface="Consolas"/>
              <a:ea typeface="Consolas"/>
              <a:cs typeface="Consolas"/>
            </a:endParaRPr>
          </a:p>
        </p:txBody>
      </p:sp>
      <p:sp>
        <p:nvSpPr>
          <p:cNvPr id="39" name="직사각형 38">
            <a:extLst>
              <a:ext uri="{FF2B5EF4-FFF2-40B4-BE49-F238E27FC236}">
                <a16:creationId xmlns:a16="http://schemas.microsoft.com/office/drawing/2014/main" id="{43FD8BA3-A1A1-4593-A7D7-EA4ABC9112C8}"/>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분할 — 중간 인덱스를 계산한다. O(1)</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정복 — 절반 크기의 두 문제를 푼다. 2T(n/2)</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결합 — 중앙에서 양쪽으로 훑어 경계를 가로지르는 최대 합을 구한다. O(n)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T(n) = 2T(n/2) + O(n)</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따라서 T(n) = O(n log 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lang="ko-KR" altLang="en-US" sz="1650">
                <a:solidFill>
                  <a:srgbClr val="171717"/>
                </a:solidFill>
                <a:latin typeface="Malgun Gothic"/>
                <a:ea typeface="Malgun Gothic"/>
                <a:cs typeface="Malgun Gothic"/>
              </a:rPr>
              <a:t>병합</a:t>
            </a:r>
            <a:r>
              <a:rPr sz="1650">
                <a:solidFill>
                  <a:srgbClr val="171717"/>
                </a:solidFill>
                <a:latin typeface="Malgun Gothic"/>
                <a:ea typeface="Malgun Gothic"/>
                <a:cs typeface="Malgun Gothic"/>
              </a:rPr>
              <a:t> 정렬과 같은 형태의 점화식이다.</a:t>
            </a:r>
          </a:p>
        </p:txBody>
      </p:sp>
      <p:pic>
        <p:nvPicPr>
          <p:cNvPr id="49" name="그림 48"/>
          <p:cNvPicPr>
            <a:picLocks noChangeAspect="1"/>
          </p:cNvPicPr>
          <p:nvPr/>
        </p:nvPicPr>
        <p:blipFill>
          <a:blip r:embed="rId3"/>
          <a:stretch/>
        </p:blipFill>
        <p:spPr>
          <a:xfrm>
            <a:off x="7315200" y="2157779"/>
            <a:ext cx="4171950" cy="3209192"/>
          </a:xfrm>
          <a:prstGeom prst="rect">
            <a:avLst/>
          </a:prstGeom>
        </p:spPr>
      </p:pic>
    </p:spTree>
    <p:extLst>
      <p:ext uri="{BB962C8B-B14F-4D97-AF65-F5344CB8AC3E}">
        <p14:creationId xmlns:p14="http://schemas.microsoft.com/office/powerpoint/2010/main" val="122421094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1340B226-1A33-4724-A00E-9C6B164CA58A}"/>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49A9E1D7-CFCF-4EAC-8CE3-D6F7CC057E96}"/>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4.5</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59F7C8F0-8078-438F-8D98-EB8F31AB2918}"/>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4B5E087F-4DD7-4443-9721-81B32107772A}"/>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최근접 쌍 문제</a:t>
            </a:r>
          </a:p>
        </p:txBody>
      </p:sp>
      <p:sp>
        <p:nvSpPr>
          <p:cNvPr id="5" name="직사각형 4">
            <a:extLst>
              <a:ext uri="{FF2B5EF4-FFF2-40B4-BE49-F238E27FC236}">
                <a16:creationId xmlns:a16="http://schemas.microsoft.com/office/drawing/2014/main" id="{CCCE8936-6C0C-41BE-8107-478915507961}"/>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Closest Pair of Points</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평면 위 n개의 점 중 가장 가까운 두 점을 찾아라</a:t>
            </a:r>
          </a:p>
        </p:txBody>
      </p:sp>
      <p:sp>
        <p:nvSpPr>
          <p:cNvPr id="6" name="직사각형 5">
            <a:extLst>
              <a:ext uri="{FF2B5EF4-FFF2-40B4-BE49-F238E27FC236}">
                <a16:creationId xmlns:a16="http://schemas.microsoft.com/office/drawing/2014/main" id="{44E85B9A-9930-4D54-981C-F152AD553E32}"/>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A5DF2758-23E7-4174-B4D8-0B86C50D8FB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12EB60D2-0B36-428A-8297-AF845C6BE96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43</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202635186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E75E2193-3858-4D54-A250-BCB2D4AAB826}"/>
              </a:ext>
            </a:extLst>
          </p:cNvPr>
          <p:cNvSpPr>
            <a:spLocks noGrp="1"/>
          </p:cNvSpPr>
          <p:nvPr/>
        </p:nvSpPr>
        <p:spPr>
          <a:xfrm>
            <a:off x="658368" y="1737360"/>
            <a:ext cx="5349240" cy="137160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2차원 평면의 n개 점 중 유클리드 거리가 가장 작은 두 점을 찾습니다. 전체 점에서 두 점을 고르는 문제로, 특정 지점의 최근접 이웃을 찾는 문제와 구분합니다.</a:t>
            </a:r>
            <a:endParaRPr sz="1350"/>
          </a:p>
        </p:txBody>
      </p:sp>
      <p:sp>
        <p:nvSpPr>
          <p:cNvPr id="14" name="Text 8">
            <a:extLst>
              <a:ext uri="{FF2B5EF4-FFF2-40B4-BE49-F238E27FC236}">
                <a16:creationId xmlns:a16="http://schemas.microsoft.com/office/drawing/2014/main" id="{57B36C2F-B1D9-4101-AED4-4E0353ED5518}"/>
              </a:ext>
            </a:extLst>
          </p:cNvPr>
          <p:cNvSpPr>
            <a:spLocks noGrp="1"/>
          </p:cNvSpPr>
          <p:nvPr/>
        </p:nvSpPr>
        <p:spPr>
          <a:xfrm>
            <a:off x="7168896" y="5010912"/>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항공 관제 — 1초가 생명</a:t>
            </a:r>
            <a:endParaRPr sz="1300"/>
          </a:p>
        </p:txBody>
      </p:sp>
      <p:sp>
        <p:nvSpPr>
          <p:cNvPr id="15" name="Text 9">
            <a:extLst>
              <a:ext uri="{FF2B5EF4-FFF2-40B4-BE49-F238E27FC236}">
                <a16:creationId xmlns:a16="http://schemas.microsoft.com/office/drawing/2014/main" id="{9A4339BF-8948-40B9-A527-16C49777C4C2}"/>
              </a:ext>
            </a:extLst>
          </p:cNvPr>
          <p:cNvSpPr>
            <a:spLocks noGrp="1"/>
          </p:cNvSpPr>
          <p:nvPr/>
        </p:nvSpPr>
        <p:spPr>
          <a:xfrm>
            <a:off x="7168896" y="5358384"/>
            <a:ext cx="4105656" cy="475488"/>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레이더에 수백 대의 항공기가 잡힌다. 가장 가까운 두 대를 실시간으로 찾아내야 충돌을 막을 수 있다.</a:t>
            </a:r>
            <a:endParaRPr sz="1180"/>
          </a:p>
        </p:txBody>
      </p:sp>
      <p:sp>
        <p:nvSpPr>
          <p:cNvPr id="20" name="직사각형 19">
            <a:extLst>
              <a:ext uri="{FF2B5EF4-FFF2-40B4-BE49-F238E27FC236}">
                <a16:creationId xmlns:a16="http://schemas.microsoft.com/office/drawing/2014/main" id="{2038112F-374A-4597-A88B-D946558B4CD4}"/>
              </a:ext>
            </a:extLst>
          </p:cNvPr>
          <p:cNvSpPr>
            <a:spLocks noGrp="1"/>
          </p:cNvSpPr>
          <p:nvPr/>
        </p:nvSpPr>
        <p:spPr>
          <a:xfrm>
            <a:off x="6309360" y="1737360"/>
            <a:ext cx="5221224" cy="9525"/>
          </a:xfrm>
          <a:prstGeom prst="rect">
            <a:avLst/>
          </a:prstGeom>
          <a:solidFill>
            <a:srgbClr val="D4D4D4"/>
          </a:solidFill>
          <a:ln w="0">
            <a:noFill/>
          </a:ln>
        </p:spPr>
      </p:sp>
      <p:sp>
        <p:nvSpPr>
          <p:cNvPr id="21" name="직사각형 20">
            <a:extLst>
              <a:ext uri="{FF2B5EF4-FFF2-40B4-BE49-F238E27FC236}">
                <a16:creationId xmlns:a16="http://schemas.microsoft.com/office/drawing/2014/main" id="{FC044E0F-21A1-4C40-B1E4-1C416FE40EA8}"/>
              </a:ext>
            </a:extLst>
          </p:cNvPr>
          <p:cNvSpPr>
            <a:spLocks noGrp="1"/>
          </p:cNvSpPr>
          <p:nvPr/>
        </p:nvSpPr>
        <p:spPr>
          <a:xfrm>
            <a:off x="6309360" y="4828032"/>
            <a:ext cx="5221224" cy="9525"/>
          </a:xfrm>
          <a:prstGeom prst="rect">
            <a:avLst/>
          </a:prstGeom>
          <a:solidFill>
            <a:srgbClr val="D4D4D4"/>
          </a:solidFill>
          <a:ln w="0">
            <a:noFill/>
          </a:ln>
        </p:spPr>
      </p:sp>
      <p:sp>
        <p:nvSpPr>
          <p:cNvPr id="22" name="직사각형 21">
            <a:extLst>
              <a:ext uri="{FF2B5EF4-FFF2-40B4-BE49-F238E27FC236}">
                <a16:creationId xmlns:a16="http://schemas.microsoft.com/office/drawing/2014/main" id="{17E3D95C-A4FA-4ED7-889C-AE1C792F2EC7}"/>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23" name="직사각형 22">
            <a:extLst>
              <a:ext uri="{FF2B5EF4-FFF2-40B4-BE49-F238E27FC236}">
                <a16:creationId xmlns:a16="http://schemas.microsoft.com/office/drawing/2014/main" id="{DCC5AF9A-DFC9-4AEE-B913-359074274FA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4" name="직사각형 23">
            <a:extLst>
              <a:ext uri="{FF2B5EF4-FFF2-40B4-BE49-F238E27FC236}">
                <a16:creationId xmlns:a16="http://schemas.microsoft.com/office/drawing/2014/main" id="{9A0B2036-0E93-4B1B-A9A7-DD17CB9F00CE}"/>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 평면 위 가장 가까운 두 점</a:t>
            </a:r>
          </a:p>
        </p:txBody>
      </p:sp>
      <p:sp>
        <p:nvSpPr>
          <p:cNvPr id="25" name="직사각형 24">
            <a:extLst>
              <a:ext uri="{FF2B5EF4-FFF2-40B4-BE49-F238E27FC236}">
                <a16:creationId xmlns:a16="http://schemas.microsoft.com/office/drawing/2014/main" id="{9890EC24-9FE3-4B78-86FE-0BDA7A13DCEC}"/>
              </a:ext>
            </a:extLst>
          </p:cNvPr>
          <p:cNvSpPr>
            <a:spLocks noGrp="1"/>
          </p:cNvSpPr>
          <p:nvPr/>
        </p:nvSpPr>
        <p:spPr>
          <a:xfrm>
            <a:off x="609600" y="1381125"/>
            <a:ext cx="10972800" cy="19050"/>
          </a:xfrm>
          <a:prstGeom prst="rect">
            <a:avLst/>
          </a:prstGeom>
          <a:solidFill>
            <a:srgbClr val="171717"/>
          </a:solidFill>
          <a:ln w="0">
            <a:noFill/>
          </a:ln>
        </p:spPr>
      </p:sp>
      <p:sp>
        <p:nvSpPr>
          <p:cNvPr id="26" name="직사각형 25">
            <a:extLst>
              <a:ext uri="{FF2B5EF4-FFF2-40B4-BE49-F238E27FC236}">
                <a16:creationId xmlns:a16="http://schemas.microsoft.com/office/drawing/2014/main" id="{90194842-6CDB-4AA9-A543-241C549F6DCC}"/>
              </a:ext>
            </a:extLst>
          </p:cNvPr>
          <p:cNvSpPr>
            <a:spLocks noGrp="1"/>
          </p:cNvSpPr>
          <p:nvPr/>
        </p:nvSpPr>
        <p:spPr>
          <a:xfrm>
            <a:off x="609600" y="6438900"/>
            <a:ext cx="10972800" cy="9525"/>
          </a:xfrm>
          <a:prstGeom prst="rect">
            <a:avLst/>
          </a:prstGeom>
          <a:solidFill>
            <a:srgbClr val="D4D4D4"/>
          </a:solidFill>
          <a:ln w="0">
            <a:noFill/>
          </a:ln>
        </p:spPr>
      </p:sp>
      <p:sp>
        <p:nvSpPr>
          <p:cNvPr id="27" name="직사각형 26">
            <a:extLst>
              <a:ext uri="{FF2B5EF4-FFF2-40B4-BE49-F238E27FC236}">
                <a16:creationId xmlns:a16="http://schemas.microsoft.com/office/drawing/2014/main" id="{84001A77-941A-480C-9C1C-5A87A363812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8" name="직사각형 27">
            <a:extLst>
              <a:ext uri="{FF2B5EF4-FFF2-40B4-BE49-F238E27FC236}">
                <a16:creationId xmlns:a16="http://schemas.microsoft.com/office/drawing/2014/main" id="{79CFFA61-7F3B-48EB-8F6A-D799986DE94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44</a:t>
            </a:r>
            <a:endParaRPr sz="1050" b="1" i="0">
              <a:solidFill>
                <a:srgbClr val="171717"/>
              </a:solidFill>
              <a:latin typeface="Consolas"/>
              <a:ea typeface="Consolas"/>
              <a:cs typeface="Consolas"/>
            </a:endParaRPr>
          </a:p>
        </p:txBody>
      </p:sp>
      <p:pic>
        <p:nvPicPr>
          <p:cNvPr id="45" name="그림 44"/>
          <p:cNvPicPr>
            <a:picLocks noChangeAspect="1"/>
          </p:cNvPicPr>
          <p:nvPr/>
        </p:nvPicPr>
        <p:blipFill>
          <a:blip r:embed="rId3"/>
          <a:stretch/>
        </p:blipFill>
        <p:spPr>
          <a:xfrm>
            <a:off x="1276933" y="3346704"/>
            <a:ext cx="4112111" cy="2542032"/>
          </a:xfrm>
          <a:prstGeom prst="rect">
            <a:avLst/>
          </a:prstGeom>
        </p:spPr>
      </p:pic>
      <p:pic>
        <p:nvPicPr>
          <p:cNvPr id="46" name="그림 45"/>
          <p:cNvPicPr>
            <a:picLocks noChangeAspect="1"/>
          </p:cNvPicPr>
          <p:nvPr/>
        </p:nvPicPr>
        <p:blipFill>
          <a:blip r:embed="rId4"/>
          <a:stretch/>
        </p:blipFill>
        <p:spPr>
          <a:xfrm>
            <a:off x="6529716" y="1883664"/>
            <a:ext cx="4780416" cy="2633472"/>
          </a:xfrm>
          <a:prstGeom prst="rect">
            <a:avLst/>
          </a:prstGeom>
        </p:spPr>
      </p:pic>
    </p:spTree>
    <p:extLst>
      <p:ext uri="{BB962C8B-B14F-4D97-AF65-F5344CB8AC3E}">
        <p14:creationId xmlns:p14="http://schemas.microsoft.com/office/powerpoint/2010/main" val="155239471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8F342E55-18D9-459C-8D08-4EB4AD9D292A}"/>
              </a:ext>
            </a:extLst>
          </p:cNvPr>
          <p:cNvSpPr>
            <a:spLocks noGrp="1"/>
          </p:cNvSpPr>
          <p:nvPr/>
        </p:nvSpPr>
        <p:spPr>
          <a:xfrm>
            <a:off x="658368" y="1737360"/>
            <a:ext cx="5669280" cy="8229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가장 단순한 방법은 모든 점의 쌍에 대해 거리를 계산하고 최솟값을 고르는 것이다. 첫 번째 점은 나머지 (n−1)개와, 두 번째 점은 (n−2)개와 비교해야 한다.</a:t>
            </a:r>
            <a:endParaRPr sz="1300"/>
          </a:p>
        </p:txBody>
      </p:sp>
      <p:sp>
        <p:nvSpPr>
          <p:cNvPr id="8" name="Text 5">
            <a:extLst>
              <a:ext uri="{FF2B5EF4-FFF2-40B4-BE49-F238E27FC236}">
                <a16:creationId xmlns:a16="http://schemas.microsoft.com/office/drawing/2014/main" id="{A0B2C881-68A4-4A37-BA8B-F8C444631B86}"/>
              </a:ext>
            </a:extLst>
          </p:cNvPr>
          <p:cNvSpPr>
            <a:spLocks noGrp="1"/>
          </p:cNvSpPr>
          <p:nvPr/>
        </p:nvSpPr>
        <p:spPr>
          <a:xfrm>
            <a:off x="795528" y="2670048"/>
            <a:ext cx="5394960" cy="777240"/>
          </a:xfrm>
          <a:prstGeom prst="rect">
            <a:avLst/>
          </a:prstGeom>
          <a:noFill/>
          <a:ln w="0">
            <a:noFill/>
          </a:ln>
        </p:spPr>
        <p:txBody>
          <a:bodyPr wrap="square" lIns="0" tIns="0" rIns="0" bIns="0" anchor="ctr">
            <a:noAutofit/>
          </a:bodyPr>
          <a:lstStyle/>
          <a:p>
            <a:pPr marL="0" indent="0" algn="ctr">
              <a:buNone/>
              <a:defRPr sz="1700" i="0">
                <a:solidFill>
                  <a:srgbClr val="171717"/>
                </a:solidFill>
                <a:latin typeface="Malgun Gothic"/>
                <a:ea typeface="Malgun Gothic"/>
                <a:cs typeface="Malgun Gothic"/>
              </a:defRPr>
            </a:pPr>
            <a:r>
              <a:rPr sz="1700" b="1" i="0">
                <a:solidFill>
                  <a:srgbClr val="171717"/>
                </a:solidFill>
                <a:latin typeface="Malgun Gothic"/>
                <a:ea typeface="Malgun Gothic"/>
                <a:cs typeface="Malgun Gothic"/>
              </a:rPr>
              <a:t>(n − 1) + (n − 2) + ⋯ + 1  =  n(n − 1) / 2  =  O(n^(2))</a:t>
            </a:r>
            <a:endParaRPr sz="1700"/>
          </a:p>
        </p:txBody>
      </p:sp>
      <p:sp>
        <p:nvSpPr>
          <p:cNvPr id="15" name="Text 12">
            <a:extLst>
              <a:ext uri="{FF2B5EF4-FFF2-40B4-BE49-F238E27FC236}">
                <a16:creationId xmlns:a16="http://schemas.microsoft.com/office/drawing/2014/main" id="{CE7141BB-B377-4153-8201-AD778E5D31CA}"/>
              </a:ext>
            </a:extLst>
          </p:cNvPr>
          <p:cNvSpPr>
            <a:spLocks noGrp="1"/>
          </p:cNvSpPr>
          <p:nvPr/>
        </p:nvSpPr>
        <p:spPr>
          <a:xfrm>
            <a:off x="859536" y="3584448"/>
            <a:ext cx="530352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brute_force.py</a:t>
            </a:r>
            <a:endParaRPr sz="900"/>
          </a:p>
        </p:txBody>
      </p:sp>
      <p:sp>
        <p:nvSpPr>
          <p:cNvPr id="20" name="Text 16">
            <a:extLst>
              <a:ext uri="{FF2B5EF4-FFF2-40B4-BE49-F238E27FC236}">
                <a16:creationId xmlns:a16="http://schemas.microsoft.com/office/drawing/2014/main" id="{2C675E29-A693-45DE-A17B-DC1534FA8B7D}"/>
              </a:ext>
            </a:extLst>
          </p:cNvPr>
          <p:cNvSpPr>
            <a:spLocks noGrp="1"/>
          </p:cNvSpPr>
          <p:nvPr/>
        </p:nvSpPr>
        <p:spPr>
          <a:xfrm>
            <a:off x="6903720" y="4882896"/>
            <a:ext cx="4389120" cy="310896"/>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점이 10만 개라면?</a:t>
            </a:r>
            <a:endParaRPr sz="1300"/>
          </a:p>
        </p:txBody>
      </p:sp>
      <p:sp>
        <p:nvSpPr>
          <p:cNvPr id="21" name="Text 17">
            <a:extLst>
              <a:ext uri="{FF2B5EF4-FFF2-40B4-BE49-F238E27FC236}">
                <a16:creationId xmlns:a16="http://schemas.microsoft.com/office/drawing/2014/main" id="{B1CB2C5E-9FEA-4D56-B5E6-ADB83D516A94}"/>
              </a:ext>
            </a:extLst>
          </p:cNvPr>
          <p:cNvSpPr>
            <a:spLocks noGrp="1"/>
          </p:cNvSpPr>
          <p:nvPr/>
        </p:nvSpPr>
        <p:spPr>
          <a:xfrm>
            <a:off x="6903720" y="5230368"/>
            <a:ext cx="4389120" cy="731520"/>
          </a:xfrm>
          <a:prstGeom prst="rect">
            <a:avLst/>
          </a:prstGeom>
          <a:noFill/>
          <a:ln w="0">
            <a:noFill/>
          </a:ln>
        </p:spPr>
        <p:txBody>
          <a:bodyPr wrap="square" lIns="0" tIns="0" rIns="0" bIns="0" anchor="t">
            <a:noAutofit/>
          </a:bodyPr>
          <a:lstStyle/>
          <a:p>
            <a:pPr marL="0" indent="0" algn="l">
              <a:lnSpc>
                <a:spcPct val="130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약 50억 번의 거리 계산이 필요하다.</a:t>
            </a:r>
            <a:endParaRPr sz="1150"/>
          </a:p>
          <a:p>
            <a:pPr marL="0" indent="0" algn="l">
              <a:lnSpc>
                <a:spcPct val="130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매 프레임마다 이 계산을 반복할 수는 없다.</a:t>
            </a:r>
            <a:endParaRPr sz="1150"/>
          </a:p>
        </p:txBody>
      </p:sp>
      <p:sp>
        <p:nvSpPr>
          <p:cNvPr id="25" name="직사각형 24">
            <a:extLst>
              <a:ext uri="{FF2B5EF4-FFF2-40B4-BE49-F238E27FC236}">
                <a16:creationId xmlns:a16="http://schemas.microsoft.com/office/drawing/2014/main" id="{B9EF238D-B362-4A32-BB57-3846BFACCEDA}"/>
              </a:ext>
            </a:extLst>
          </p:cNvPr>
          <p:cNvSpPr>
            <a:spLocks noGrp="1"/>
          </p:cNvSpPr>
          <p:nvPr/>
        </p:nvSpPr>
        <p:spPr>
          <a:xfrm>
            <a:off x="6656832" y="1737360"/>
            <a:ext cx="4873752" cy="9525"/>
          </a:xfrm>
          <a:prstGeom prst="rect">
            <a:avLst/>
          </a:prstGeom>
          <a:solidFill>
            <a:srgbClr val="D4D4D4"/>
          </a:solidFill>
          <a:ln w="0">
            <a:noFill/>
          </a:ln>
        </p:spPr>
      </p:sp>
      <p:sp>
        <p:nvSpPr>
          <p:cNvPr id="26" name="직사각형 25">
            <a:extLst>
              <a:ext uri="{FF2B5EF4-FFF2-40B4-BE49-F238E27FC236}">
                <a16:creationId xmlns:a16="http://schemas.microsoft.com/office/drawing/2014/main" id="{0C591F87-7794-4C93-B138-EC866ECA71AE}"/>
              </a:ext>
            </a:extLst>
          </p:cNvPr>
          <p:cNvSpPr>
            <a:spLocks noGrp="1"/>
          </p:cNvSpPr>
          <p:nvPr/>
        </p:nvSpPr>
        <p:spPr>
          <a:xfrm>
            <a:off x="6656832" y="4736592"/>
            <a:ext cx="4873752" cy="9525"/>
          </a:xfrm>
          <a:prstGeom prst="rect">
            <a:avLst/>
          </a:prstGeom>
          <a:solidFill>
            <a:srgbClr val="D4D4D4"/>
          </a:solidFill>
          <a:ln w="0">
            <a:noFill/>
          </a:ln>
        </p:spPr>
      </p:sp>
      <p:sp>
        <p:nvSpPr>
          <p:cNvPr id="27" name="직사각형 26">
            <a:extLst>
              <a:ext uri="{FF2B5EF4-FFF2-40B4-BE49-F238E27FC236}">
                <a16:creationId xmlns:a16="http://schemas.microsoft.com/office/drawing/2014/main" id="{59D51733-EDE3-4B25-8553-12AE10D25C9D}"/>
              </a:ext>
            </a:extLst>
          </p:cNvPr>
          <p:cNvSpPr>
            <a:spLocks noGrp="1"/>
          </p:cNvSpPr>
          <p:nvPr/>
        </p:nvSpPr>
        <p:spPr>
          <a:xfrm>
            <a:off x="698373" y="3874008"/>
            <a:ext cx="5644134" cy="2275332"/>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import math</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class Point: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def __init__(self, x, y):</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self.x = x</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self.y = y</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def distance(p1, p2):</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return math.hypot(p1.x - p2.x, p1.y - p2.y)</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def ClosestPairBruteForce(P):</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min_dist = float('inf')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for i in range(len(P)):</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for j in range(i + 1, len(P)):</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min_dist = min(min_dist, distance(P[i], P[j]))</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return min_dist</a:t>
            </a:r>
          </a:p>
        </p:txBody>
      </p:sp>
      <p:sp>
        <p:nvSpPr>
          <p:cNvPr id="28" name="직사각형 27">
            <a:extLst>
              <a:ext uri="{FF2B5EF4-FFF2-40B4-BE49-F238E27FC236}">
                <a16:creationId xmlns:a16="http://schemas.microsoft.com/office/drawing/2014/main" id="{2DEC7328-D568-4CB3-A05F-BEAD99BB7A83}"/>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29" name="직사각형 28">
            <a:extLst>
              <a:ext uri="{FF2B5EF4-FFF2-40B4-BE49-F238E27FC236}">
                <a16:creationId xmlns:a16="http://schemas.microsoft.com/office/drawing/2014/main" id="{B86A9CB1-2311-4AF9-8564-5E21AD73D99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0" name="직사각형 29">
            <a:extLst>
              <a:ext uri="{FF2B5EF4-FFF2-40B4-BE49-F238E27FC236}">
                <a16:creationId xmlns:a16="http://schemas.microsoft.com/office/drawing/2014/main" id="{144363CD-D125-45CC-9DF2-0984A875982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무식한 접근 — 모든 쌍을 다 재본다</a:t>
            </a:r>
          </a:p>
        </p:txBody>
      </p:sp>
      <p:sp>
        <p:nvSpPr>
          <p:cNvPr id="31" name="직사각형 30">
            <a:extLst>
              <a:ext uri="{FF2B5EF4-FFF2-40B4-BE49-F238E27FC236}">
                <a16:creationId xmlns:a16="http://schemas.microsoft.com/office/drawing/2014/main" id="{4713188B-5814-49E1-8C31-78E94F61742E}"/>
              </a:ext>
            </a:extLst>
          </p:cNvPr>
          <p:cNvSpPr>
            <a:spLocks noGrp="1"/>
          </p:cNvSpPr>
          <p:nvPr/>
        </p:nvSpPr>
        <p:spPr>
          <a:xfrm>
            <a:off x="609600" y="1381125"/>
            <a:ext cx="10972800" cy="19050"/>
          </a:xfrm>
          <a:prstGeom prst="rect">
            <a:avLst/>
          </a:prstGeom>
          <a:solidFill>
            <a:srgbClr val="171717"/>
          </a:solidFill>
          <a:ln w="0">
            <a:noFill/>
          </a:ln>
        </p:spPr>
      </p:sp>
      <p:sp>
        <p:nvSpPr>
          <p:cNvPr id="32" name="직사각형 31">
            <a:extLst>
              <a:ext uri="{FF2B5EF4-FFF2-40B4-BE49-F238E27FC236}">
                <a16:creationId xmlns:a16="http://schemas.microsoft.com/office/drawing/2014/main" id="{7710358D-7C3A-4B5D-B496-9A0B6D7D3E7D}"/>
              </a:ext>
            </a:extLst>
          </p:cNvPr>
          <p:cNvSpPr>
            <a:spLocks noGrp="1"/>
          </p:cNvSpPr>
          <p:nvPr/>
        </p:nvSpPr>
        <p:spPr>
          <a:xfrm>
            <a:off x="609600" y="6438900"/>
            <a:ext cx="10972800"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212F90D1-CEC3-4AB7-96C1-9573FEED2A1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4" name="직사각형 33">
            <a:extLst>
              <a:ext uri="{FF2B5EF4-FFF2-40B4-BE49-F238E27FC236}">
                <a16:creationId xmlns:a16="http://schemas.microsoft.com/office/drawing/2014/main" id="{0F30AE25-293E-4DBD-9810-4594DCDFBD9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45</a:t>
            </a:r>
            <a:endParaRPr sz="1050" b="1" i="0">
              <a:solidFill>
                <a:srgbClr val="171717"/>
              </a:solidFill>
              <a:latin typeface="Consolas"/>
              <a:ea typeface="Consolas"/>
              <a:cs typeface="Consolas"/>
            </a:endParaRPr>
          </a:p>
        </p:txBody>
      </p:sp>
      <p:pic>
        <p:nvPicPr>
          <p:cNvPr id="51" name="그림 50"/>
          <p:cNvPicPr>
            <a:picLocks noChangeAspect="1"/>
          </p:cNvPicPr>
          <p:nvPr/>
        </p:nvPicPr>
        <p:blipFill>
          <a:blip r:embed="rId3"/>
          <a:stretch/>
        </p:blipFill>
        <p:spPr>
          <a:xfrm>
            <a:off x="7037653" y="1883664"/>
            <a:ext cx="4112111" cy="2542032"/>
          </a:xfrm>
          <a:prstGeom prst="rect">
            <a:avLst/>
          </a:prstGeom>
        </p:spPr>
      </p:pic>
    </p:spTree>
    <p:extLst>
      <p:ext uri="{BB962C8B-B14F-4D97-AF65-F5344CB8AC3E}">
        <p14:creationId xmlns:p14="http://schemas.microsoft.com/office/powerpoint/2010/main" val="78323074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95EAF9C1-ED4B-4FF9-B2C4-675C95223F95}"/>
              </a:ext>
            </a:extLst>
          </p:cNvPr>
          <p:cNvSpPr>
            <a:spLocks noGrp="1"/>
          </p:cNvSpPr>
          <p:nvPr/>
        </p:nvSpPr>
        <p:spPr>
          <a:xfrm>
            <a:off x="658368" y="1700784"/>
            <a:ext cx="5806440" cy="54864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x좌표를 기준으로 점들을 정렬한 뒤, 정확히 절반이 되는 지점에 수직선을 긋는다. 그러면 최근접 쌍은 다음 세 경우 중 하나에 속한다.</a:t>
            </a:r>
            <a:endParaRPr sz="1300"/>
          </a:p>
        </p:txBody>
      </p:sp>
      <p:sp>
        <p:nvSpPr>
          <p:cNvPr id="8" name="Shape 5">
            <a:extLst>
              <a:ext uri="{FF2B5EF4-FFF2-40B4-BE49-F238E27FC236}">
                <a16:creationId xmlns:a16="http://schemas.microsoft.com/office/drawing/2014/main" id="{1DBD0AB8-5737-4101-AA2A-DF04AEE5C9F1}"/>
              </a:ext>
            </a:extLst>
          </p:cNvPr>
          <p:cNvSpPr>
            <a:spLocks noGrp="1"/>
          </p:cNvSpPr>
          <p:nvPr/>
        </p:nvSpPr>
        <p:spPr>
          <a:xfrm>
            <a:off x="896112" y="2670048"/>
            <a:ext cx="548640" cy="548640"/>
          </a:xfrm>
          <a:prstGeom prst="ellipse">
            <a:avLst/>
          </a:prstGeom>
          <a:solidFill>
            <a:srgbClr val="E9E9E9"/>
          </a:solidFill>
          <a:ln w="5715">
            <a:solidFill>
              <a:srgbClr val="D4D4D4"/>
            </a:solidFill>
          </a:ln>
        </p:spPr>
      </p:sp>
      <p:sp>
        <p:nvSpPr>
          <p:cNvPr id="9" name="Text 6">
            <a:extLst>
              <a:ext uri="{FF2B5EF4-FFF2-40B4-BE49-F238E27FC236}">
                <a16:creationId xmlns:a16="http://schemas.microsoft.com/office/drawing/2014/main" id="{D01D1192-B3E1-429B-9AB0-367FB8EFDA40}"/>
              </a:ext>
            </a:extLst>
          </p:cNvPr>
          <p:cNvSpPr>
            <a:spLocks noGrp="1"/>
          </p:cNvSpPr>
          <p:nvPr/>
        </p:nvSpPr>
        <p:spPr>
          <a:xfrm>
            <a:off x="896112" y="2670048"/>
            <a:ext cx="548640" cy="548640"/>
          </a:xfrm>
          <a:prstGeom prst="rect">
            <a:avLst/>
          </a:prstGeom>
          <a:noFill/>
          <a:ln w="0">
            <a:noFill/>
          </a:ln>
        </p:spPr>
        <p:txBody>
          <a:bodyPr wrap="square" lIns="0" tIns="0" rIns="0" bIns="0" anchor="ctr">
            <a:noAutofit/>
          </a:bodyPr>
          <a:lstStyle/>
          <a:p>
            <a:pPr marL="0" indent="0" algn="ctr">
              <a:buNone/>
              <a:defRPr sz="1440" i="0">
                <a:solidFill>
                  <a:srgbClr val="171717"/>
                </a:solidFill>
                <a:latin typeface="Malgun Gothic"/>
                <a:ea typeface="Malgun Gothic"/>
                <a:cs typeface="Malgun Gothic"/>
              </a:defRPr>
            </a:pPr>
            <a:r>
              <a:rPr sz="1440" b="1" i="0">
                <a:solidFill>
                  <a:srgbClr val="171717"/>
                </a:solidFill>
                <a:latin typeface="Malgun Gothic"/>
                <a:ea typeface="Malgun Gothic"/>
                <a:cs typeface="Malgun Gothic"/>
              </a:rPr>
              <a:t>1</a:t>
            </a:r>
            <a:endParaRPr sz="1440"/>
          </a:p>
        </p:txBody>
      </p:sp>
      <p:sp>
        <p:nvSpPr>
          <p:cNvPr id="10" name="Text 7">
            <a:extLst>
              <a:ext uri="{FF2B5EF4-FFF2-40B4-BE49-F238E27FC236}">
                <a16:creationId xmlns:a16="http://schemas.microsoft.com/office/drawing/2014/main" id="{83B792C0-53BB-4818-8754-158D53E0035D}"/>
              </a:ext>
            </a:extLst>
          </p:cNvPr>
          <p:cNvSpPr>
            <a:spLocks noGrp="1"/>
          </p:cNvSpPr>
          <p:nvPr/>
        </p:nvSpPr>
        <p:spPr>
          <a:xfrm>
            <a:off x="1591056" y="2560320"/>
            <a:ext cx="46634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두 점 모두 왼쪽에</a:t>
            </a:r>
            <a:endParaRPr sz="1400"/>
          </a:p>
        </p:txBody>
      </p:sp>
      <p:sp>
        <p:nvSpPr>
          <p:cNvPr id="11" name="Text 8">
            <a:extLst>
              <a:ext uri="{FF2B5EF4-FFF2-40B4-BE49-F238E27FC236}">
                <a16:creationId xmlns:a16="http://schemas.microsoft.com/office/drawing/2014/main" id="{03B63997-B0E7-4324-A92B-ED6FF880AC34}"/>
              </a:ext>
            </a:extLst>
          </p:cNvPr>
          <p:cNvSpPr>
            <a:spLocks noGrp="1"/>
          </p:cNvSpPr>
          <p:nvPr/>
        </p:nvSpPr>
        <p:spPr>
          <a:xfrm>
            <a:off x="1591056" y="2944368"/>
            <a:ext cx="4663440" cy="457200"/>
          </a:xfrm>
          <a:prstGeom prst="rect">
            <a:avLst/>
          </a:prstGeom>
          <a:noFill/>
          <a:ln w="0">
            <a:noFill/>
          </a:ln>
        </p:spPr>
        <p:txBody>
          <a:bodyPr wrap="square" lIns="0" tIns="0" rIns="0" bIns="0" anchor="t">
            <a:noAutofit/>
          </a:bodyPr>
          <a:lstStyle/>
          <a:p>
            <a:pPr marL="0" indent="0" algn="l">
              <a:lnSpc>
                <a:spcPct val="124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재귀 호출로 왼쪽 절반의 최소 거리 dL을 구한다.</a:t>
            </a:r>
            <a:endParaRPr sz="1180"/>
          </a:p>
        </p:txBody>
      </p:sp>
      <p:sp>
        <p:nvSpPr>
          <p:cNvPr id="13" name="Shape 10">
            <a:extLst>
              <a:ext uri="{FF2B5EF4-FFF2-40B4-BE49-F238E27FC236}">
                <a16:creationId xmlns:a16="http://schemas.microsoft.com/office/drawing/2014/main" id="{471E8FCC-46FC-48AF-9782-A3C3701023B4}"/>
              </a:ext>
            </a:extLst>
          </p:cNvPr>
          <p:cNvSpPr>
            <a:spLocks noGrp="1"/>
          </p:cNvSpPr>
          <p:nvPr/>
        </p:nvSpPr>
        <p:spPr>
          <a:xfrm>
            <a:off x="896112" y="3950208"/>
            <a:ext cx="548640" cy="548640"/>
          </a:xfrm>
          <a:prstGeom prst="ellipse">
            <a:avLst/>
          </a:prstGeom>
          <a:solidFill>
            <a:srgbClr val="E9E9E9"/>
          </a:solidFill>
          <a:ln w="5715">
            <a:solidFill>
              <a:srgbClr val="D4D4D4"/>
            </a:solidFill>
          </a:ln>
        </p:spPr>
      </p:sp>
      <p:sp>
        <p:nvSpPr>
          <p:cNvPr id="14" name="Text 11">
            <a:extLst>
              <a:ext uri="{FF2B5EF4-FFF2-40B4-BE49-F238E27FC236}">
                <a16:creationId xmlns:a16="http://schemas.microsoft.com/office/drawing/2014/main" id="{44B87799-2260-447A-9090-AFA508F31A1F}"/>
              </a:ext>
            </a:extLst>
          </p:cNvPr>
          <p:cNvSpPr>
            <a:spLocks noGrp="1"/>
          </p:cNvSpPr>
          <p:nvPr/>
        </p:nvSpPr>
        <p:spPr>
          <a:xfrm>
            <a:off x="896112" y="3950208"/>
            <a:ext cx="548640" cy="548640"/>
          </a:xfrm>
          <a:prstGeom prst="rect">
            <a:avLst/>
          </a:prstGeom>
          <a:noFill/>
          <a:ln w="0">
            <a:noFill/>
          </a:ln>
        </p:spPr>
        <p:txBody>
          <a:bodyPr wrap="square" lIns="0" tIns="0" rIns="0" bIns="0" anchor="ctr">
            <a:noAutofit/>
          </a:bodyPr>
          <a:lstStyle/>
          <a:p>
            <a:pPr marL="0" indent="0" algn="ctr">
              <a:buNone/>
              <a:defRPr sz="1440" i="0">
                <a:solidFill>
                  <a:srgbClr val="171717"/>
                </a:solidFill>
                <a:latin typeface="Malgun Gothic"/>
                <a:ea typeface="Malgun Gothic"/>
                <a:cs typeface="Malgun Gothic"/>
              </a:defRPr>
            </a:pPr>
            <a:r>
              <a:rPr sz="1440" b="1" i="0">
                <a:solidFill>
                  <a:srgbClr val="171717"/>
                </a:solidFill>
                <a:latin typeface="Malgun Gothic"/>
                <a:ea typeface="Malgun Gothic"/>
                <a:cs typeface="Malgun Gothic"/>
              </a:rPr>
              <a:t>2</a:t>
            </a:r>
            <a:endParaRPr sz="1440"/>
          </a:p>
        </p:txBody>
      </p:sp>
      <p:sp>
        <p:nvSpPr>
          <p:cNvPr id="15" name="Text 12">
            <a:extLst>
              <a:ext uri="{FF2B5EF4-FFF2-40B4-BE49-F238E27FC236}">
                <a16:creationId xmlns:a16="http://schemas.microsoft.com/office/drawing/2014/main" id="{992E9705-528F-4F56-BC49-25B3F88E065C}"/>
              </a:ext>
            </a:extLst>
          </p:cNvPr>
          <p:cNvSpPr>
            <a:spLocks noGrp="1"/>
          </p:cNvSpPr>
          <p:nvPr/>
        </p:nvSpPr>
        <p:spPr>
          <a:xfrm>
            <a:off x="1591056" y="3840480"/>
            <a:ext cx="46634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두 점 모두 오른쪽에</a:t>
            </a:r>
            <a:endParaRPr sz="1400"/>
          </a:p>
        </p:txBody>
      </p:sp>
      <p:sp>
        <p:nvSpPr>
          <p:cNvPr id="16" name="Text 13">
            <a:extLst>
              <a:ext uri="{FF2B5EF4-FFF2-40B4-BE49-F238E27FC236}">
                <a16:creationId xmlns:a16="http://schemas.microsoft.com/office/drawing/2014/main" id="{BDF8E887-1628-4822-90B6-9FBB2B936B29}"/>
              </a:ext>
            </a:extLst>
          </p:cNvPr>
          <p:cNvSpPr>
            <a:spLocks noGrp="1"/>
          </p:cNvSpPr>
          <p:nvPr/>
        </p:nvSpPr>
        <p:spPr>
          <a:xfrm>
            <a:off x="1591056" y="4224528"/>
            <a:ext cx="4663440" cy="457200"/>
          </a:xfrm>
          <a:prstGeom prst="rect">
            <a:avLst/>
          </a:prstGeom>
          <a:noFill/>
          <a:ln w="0">
            <a:noFill/>
          </a:ln>
        </p:spPr>
        <p:txBody>
          <a:bodyPr wrap="square" lIns="0" tIns="0" rIns="0" bIns="0" anchor="t">
            <a:noAutofit/>
          </a:bodyPr>
          <a:lstStyle/>
          <a:p>
            <a:pPr marL="0" indent="0" algn="l">
              <a:lnSpc>
                <a:spcPct val="124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재귀 호출로 오른쪽 절반의 최소 거리 dR을 구한다.</a:t>
            </a:r>
            <a:endParaRPr sz="1180"/>
          </a:p>
        </p:txBody>
      </p:sp>
      <p:sp>
        <p:nvSpPr>
          <p:cNvPr id="18" name="Shape 15">
            <a:extLst>
              <a:ext uri="{FF2B5EF4-FFF2-40B4-BE49-F238E27FC236}">
                <a16:creationId xmlns:a16="http://schemas.microsoft.com/office/drawing/2014/main" id="{06255C04-B4E3-42D5-849B-3E49ABAF4AC4}"/>
              </a:ext>
            </a:extLst>
          </p:cNvPr>
          <p:cNvSpPr>
            <a:spLocks noGrp="1"/>
          </p:cNvSpPr>
          <p:nvPr/>
        </p:nvSpPr>
        <p:spPr>
          <a:xfrm>
            <a:off x="896112" y="5230368"/>
            <a:ext cx="548640" cy="548640"/>
          </a:xfrm>
          <a:prstGeom prst="ellipse">
            <a:avLst/>
          </a:prstGeom>
          <a:solidFill>
            <a:srgbClr val="E9E9E9"/>
          </a:solidFill>
          <a:ln w="5715">
            <a:solidFill>
              <a:srgbClr val="D4D4D4"/>
            </a:solidFill>
          </a:ln>
        </p:spPr>
      </p:sp>
      <p:sp>
        <p:nvSpPr>
          <p:cNvPr id="19" name="Text 16">
            <a:extLst>
              <a:ext uri="{FF2B5EF4-FFF2-40B4-BE49-F238E27FC236}">
                <a16:creationId xmlns:a16="http://schemas.microsoft.com/office/drawing/2014/main" id="{C4BD215E-9AD2-45B5-A09A-3707D8F74551}"/>
              </a:ext>
            </a:extLst>
          </p:cNvPr>
          <p:cNvSpPr>
            <a:spLocks noGrp="1"/>
          </p:cNvSpPr>
          <p:nvPr/>
        </p:nvSpPr>
        <p:spPr>
          <a:xfrm>
            <a:off x="896112" y="5230368"/>
            <a:ext cx="548640" cy="548640"/>
          </a:xfrm>
          <a:prstGeom prst="rect">
            <a:avLst/>
          </a:prstGeom>
          <a:noFill/>
          <a:ln w="0">
            <a:noFill/>
          </a:ln>
        </p:spPr>
        <p:txBody>
          <a:bodyPr wrap="square" lIns="0" tIns="0" rIns="0" bIns="0" anchor="ctr">
            <a:noAutofit/>
          </a:bodyPr>
          <a:lstStyle/>
          <a:p>
            <a:pPr marL="0" indent="0" algn="ctr">
              <a:buNone/>
              <a:defRPr sz="1440" i="0">
                <a:solidFill>
                  <a:srgbClr val="171717"/>
                </a:solidFill>
                <a:latin typeface="Malgun Gothic"/>
                <a:ea typeface="Malgun Gothic"/>
                <a:cs typeface="Malgun Gothic"/>
              </a:defRPr>
            </a:pPr>
            <a:r>
              <a:rPr sz="1440" b="1" i="0">
                <a:solidFill>
                  <a:srgbClr val="171717"/>
                </a:solidFill>
                <a:latin typeface="Malgun Gothic"/>
                <a:ea typeface="Malgun Gothic"/>
                <a:cs typeface="Malgun Gothic"/>
              </a:rPr>
              <a:t>3</a:t>
            </a:r>
            <a:endParaRPr sz="1440"/>
          </a:p>
        </p:txBody>
      </p:sp>
      <p:sp>
        <p:nvSpPr>
          <p:cNvPr id="20" name="Text 17">
            <a:extLst>
              <a:ext uri="{FF2B5EF4-FFF2-40B4-BE49-F238E27FC236}">
                <a16:creationId xmlns:a16="http://schemas.microsoft.com/office/drawing/2014/main" id="{15BACAD4-1437-447C-8495-32AF893A18E9}"/>
              </a:ext>
            </a:extLst>
          </p:cNvPr>
          <p:cNvSpPr>
            <a:spLocks noGrp="1"/>
          </p:cNvSpPr>
          <p:nvPr/>
        </p:nvSpPr>
        <p:spPr>
          <a:xfrm>
            <a:off x="1591056" y="5120640"/>
            <a:ext cx="46634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경계선을 사이에 두고</a:t>
            </a:r>
            <a:endParaRPr sz="1400"/>
          </a:p>
        </p:txBody>
      </p:sp>
      <p:sp>
        <p:nvSpPr>
          <p:cNvPr id="21" name="Text 18">
            <a:extLst>
              <a:ext uri="{FF2B5EF4-FFF2-40B4-BE49-F238E27FC236}">
                <a16:creationId xmlns:a16="http://schemas.microsoft.com/office/drawing/2014/main" id="{9941F180-B854-4BDF-AE4F-EF6B5DF540F7}"/>
              </a:ext>
            </a:extLst>
          </p:cNvPr>
          <p:cNvSpPr>
            <a:spLocks noGrp="1"/>
          </p:cNvSpPr>
          <p:nvPr/>
        </p:nvSpPr>
        <p:spPr>
          <a:xfrm>
            <a:off x="1591056" y="5504688"/>
            <a:ext cx="4663440" cy="457200"/>
          </a:xfrm>
          <a:prstGeom prst="rect">
            <a:avLst/>
          </a:prstGeom>
          <a:noFill/>
          <a:ln w="0">
            <a:noFill/>
          </a:ln>
        </p:spPr>
        <p:txBody>
          <a:bodyPr wrap="square" lIns="0" tIns="0" rIns="0" bIns="0" anchor="t">
            <a:noAutofit/>
          </a:bodyPr>
          <a:lstStyle/>
          <a:p>
            <a:pPr marL="0" indent="0" algn="l">
              <a:lnSpc>
                <a:spcPct val="124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한 점은 왼쪽, 다른 점은 오른쪽. 별도로 처리해야 한다.</a:t>
            </a:r>
            <a:endParaRPr sz="1180"/>
          </a:p>
        </p:txBody>
      </p:sp>
      <p:sp>
        <p:nvSpPr>
          <p:cNvPr id="27" name="Text 22">
            <a:extLst>
              <a:ext uri="{FF2B5EF4-FFF2-40B4-BE49-F238E27FC236}">
                <a16:creationId xmlns:a16="http://schemas.microsoft.com/office/drawing/2014/main" id="{E6D0DFF0-3FF4-4D3C-A3D6-5CAECC843589}"/>
              </a:ext>
            </a:extLst>
          </p:cNvPr>
          <p:cNvSpPr>
            <a:spLocks noGrp="1"/>
          </p:cNvSpPr>
          <p:nvPr/>
        </p:nvSpPr>
        <p:spPr>
          <a:xfrm>
            <a:off x="7644384" y="5303520"/>
            <a:ext cx="3630168" cy="69494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d = min(dL, dR)을 먼저 구한 뒤, 경계선 근처만 추가로 살펴본다.</a:t>
            </a:r>
            <a:endParaRPr sz="1250"/>
          </a:p>
        </p:txBody>
      </p:sp>
      <p:sp>
        <p:nvSpPr>
          <p:cNvPr id="31" name="직사각형 30">
            <a:extLst>
              <a:ext uri="{FF2B5EF4-FFF2-40B4-BE49-F238E27FC236}">
                <a16:creationId xmlns:a16="http://schemas.microsoft.com/office/drawing/2014/main" id="{C3E212D6-B01D-4BA4-91C5-47273F2ECB6A}"/>
              </a:ext>
            </a:extLst>
          </p:cNvPr>
          <p:cNvSpPr>
            <a:spLocks noGrp="1"/>
          </p:cNvSpPr>
          <p:nvPr/>
        </p:nvSpPr>
        <p:spPr>
          <a:xfrm>
            <a:off x="658368" y="3657600"/>
            <a:ext cx="5806440" cy="9525"/>
          </a:xfrm>
          <a:prstGeom prst="rect">
            <a:avLst/>
          </a:prstGeom>
          <a:solidFill>
            <a:srgbClr val="D4D4D4"/>
          </a:solidFill>
          <a:ln w="0">
            <a:noFill/>
          </a:ln>
        </p:spPr>
      </p:sp>
      <p:sp>
        <p:nvSpPr>
          <p:cNvPr id="32" name="직사각형 31">
            <a:extLst>
              <a:ext uri="{FF2B5EF4-FFF2-40B4-BE49-F238E27FC236}">
                <a16:creationId xmlns:a16="http://schemas.microsoft.com/office/drawing/2014/main" id="{0E0BB38A-FC2C-47BA-804E-15F3917151A0}"/>
              </a:ext>
            </a:extLst>
          </p:cNvPr>
          <p:cNvSpPr>
            <a:spLocks noGrp="1"/>
          </p:cNvSpPr>
          <p:nvPr/>
        </p:nvSpPr>
        <p:spPr>
          <a:xfrm>
            <a:off x="658368" y="4937760"/>
            <a:ext cx="5806440"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C71A8A85-3814-476C-80F6-E0633D2784DF}"/>
              </a:ext>
            </a:extLst>
          </p:cNvPr>
          <p:cNvSpPr>
            <a:spLocks noGrp="1"/>
          </p:cNvSpPr>
          <p:nvPr/>
        </p:nvSpPr>
        <p:spPr>
          <a:xfrm>
            <a:off x="6784848" y="1737360"/>
            <a:ext cx="4745736"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3A8A0B1D-7DFB-428B-8702-3895EF381BAE}"/>
              </a:ext>
            </a:extLst>
          </p:cNvPr>
          <p:cNvSpPr>
            <a:spLocks noGrp="1"/>
          </p:cNvSpPr>
          <p:nvPr/>
        </p:nvSpPr>
        <p:spPr>
          <a:xfrm>
            <a:off x="6784848" y="5138928"/>
            <a:ext cx="4745736"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DFD046D1-1DD2-44E3-BBA8-F9204FBE4101}"/>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6" name="직사각형 35">
            <a:extLst>
              <a:ext uri="{FF2B5EF4-FFF2-40B4-BE49-F238E27FC236}">
                <a16:creationId xmlns:a16="http://schemas.microsoft.com/office/drawing/2014/main" id="{89C1F771-1021-4543-9440-F5482580794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7" name="직사각형 36">
            <a:extLst>
              <a:ext uri="{FF2B5EF4-FFF2-40B4-BE49-F238E27FC236}">
                <a16:creationId xmlns:a16="http://schemas.microsoft.com/office/drawing/2014/main" id="{1DE09A84-0EB6-4A04-9E47-DDCD0FCA3AF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 전략 — 평면을 반으로 가른다</a:t>
            </a:r>
          </a:p>
        </p:txBody>
      </p:sp>
      <p:sp>
        <p:nvSpPr>
          <p:cNvPr id="38" name="직사각형 37">
            <a:extLst>
              <a:ext uri="{FF2B5EF4-FFF2-40B4-BE49-F238E27FC236}">
                <a16:creationId xmlns:a16="http://schemas.microsoft.com/office/drawing/2014/main" id="{8DBBA728-D3DB-4895-B18A-778B092EAFD7}"/>
              </a:ext>
            </a:extLst>
          </p:cNvPr>
          <p:cNvSpPr>
            <a:spLocks noGrp="1"/>
          </p:cNvSpPr>
          <p:nvPr/>
        </p:nvSpPr>
        <p:spPr>
          <a:xfrm>
            <a:off x="609600" y="1381125"/>
            <a:ext cx="10972800" cy="19050"/>
          </a:xfrm>
          <a:prstGeom prst="rect">
            <a:avLst/>
          </a:prstGeom>
          <a:solidFill>
            <a:srgbClr val="171717"/>
          </a:solidFill>
          <a:ln w="0">
            <a:noFill/>
          </a:ln>
        </p:spPr>
      </p:sp>
      <p:sp>
        <p:nvSpPr>
          <p:cNvPr id="39" name="직사각형 38">
            <a:extLst>
              <a:ext uri="{FF2B5EF4-FFF2-40B4-BE49-F238E27FC236}">
                <a16:creationId xmlns:a16="http://schemas.microsoft.com/office/drawing/2014/main" id="{BD0C3B82-B2CA-4C7B-95F1-F596F949F56E}"/>
              </a:ext>
            </a:extLst>
          </p:cNvPr>
          <p:cNvSpPr>
            <a:spLocks noGrp="1"/>
          </p:cNvSpPr>
          <p:nvPr/>
        </p:nvSpPr>
        <p:spPr>
          <a:xfrm>
            <a:off x="8105775" y="2695575"/>
            <a:ext cx="409575" cy="238125"/>
          </a:xfrm>
          <a:prstGeom prst="rect">
            <a:avLst/>
          </a:prstGeom>
          <a:solidFill>
            <a:srgbClr val="ECECEC"/>
          </a:solidFill>
          <a:ln w="0">
            <a:noFill/>
          </a:ln>
        </p:spPr>
        <p:txBody>
          <a:bodyPr wrap="square" lIns="0" tIns="0" rIns="0" bIns="0" anchor="t">
            <a:noAutofit/>
          </a:bodyPr>
          <a:lstStyle/>
          <a:p>
            <a:pPr algn="l">
              <a:lnSpc>
                <a:spcPct val="104000"/>
              </a:lnSpc>
              <a:buNone/>
              <a:defRPr sz="1275" b="0" i="0">
                <a:solidFill>
                  <a:srgbClr val="171717"/>
                </a:solidFill>
                <a:latin typeface="Consolas"/>
                <a:ea typeface="Consolas"/>
                <a:cs typeface="Consolas"/>
              </a:defRPr>
            </a:pPr>
            <a:r>
              <a:rPr sz="1275" b="0" i="0">
                <a:solidFill>
                  <a:srgbClr val="171717"/>
                </a:solidFill>
                <a:latin typeface="Consolas"/>
                <a:ea typeface="Consolas"/>
                <a:cs typeface="Consolas"/>
              </a:rPr>
              <a:t>dL</a:t>
            </a:r>
          </a:p>
        </p:txBody>
      </p:sp>
      <p:sp>
        <p:nvSpPr>
          <p:cNvPr id="40" name="직사각형 39">
            <a:extLst>
              <a:ext uri="{FF2B5EF4-FFF2-40B4-BE49-F238E27FC236}">
                <a16:creationId xmlns:a16="http://schemas.microsoft.com/office/drawing/2014/main" id="{046B6480-C895-4034-A771-B7339EA3BCFC}"/>
              </a:ext>
            </a:extLst>
          </p:cNvPr>
          <p:cNvSpPr>
            <a:spLocks noGrp="1"/>
          </p:cNvSpPr>
          <p:nvPr/>
        </p:nvSpPr>
        <p:spPr>
          <a:xfrm>
            <a:off x="10420350" y="2867025"/>
            <a:ext cx="371475" cy="247650"/>
          </a:xfrm>
          <a:prstGeom prst="rect">
            <a:avLst/>
          </a:prstGeom>
          <a:solidFill>
            <a:srgbClr val="ECECEC"/>
          </a:solidFill>
          <a:ln w="0">
            <a:noFill/>
          </a:ln>
        </p:spPr>
        <p:txBody>
          <a:bodyPr wrap="square" lIns="0" tIns="0" rIns="0" bIns="0" anchor="t">
            <a:noAutofit/>
          </a:bodyPr>
          <a:lstStyle/>
          <a:p>
            <a:pPr algn="l">
              <a:lnSpc>
                <a:spcPct val="104000"/>
              </a:lnSpc>
              <a:buNone/>
              <a:defRPr sz="1275" b="0" i="0">
                <a:solidFill>
                  <a:srgbClr val="171717"/>
                </a:solidFill>
                <a:latin typeface="Consolas"/>
                <a:ea typeface="Consolas"/>
                <a:cs typeface="Consolas"/>
              </a:defRPr>
            </a:pPr>
            <a:r>
              <a:rPr sz="1275" b="0" i="0">
                <a:solidFill>
                  <a:srgbClr val="171717"/>
                </a:solidFill>
                <a:latin typeface="Consolas"/>
                <a:ea typeface="Consolas"/>
                <a:cs typeface="Consolas"/>
              </a:rPr>
              <a:t>dR</a:t>
            </a:r>
          </a:p>
        </p:txBody>
      </p:sp>
      <p:sp>
        <p:nvSpPr>
          <p:cNvPr id="41" name="직사각형 40">
            <a:extLst>
              <a:ext uri="{FF2B5EF4-FFF2-40B4-BE49-F238E27FC236}">
                <a16:creationId xmlns:a16="http://schemas.microsoft.com/office/drawing/2014/main" id="{34F3B5AD-B7B9-4FD9-94A8-4F6F9A92D059}"/>
              </a:ext>
            </a:extLst>
          </p:cNvPr>
          <p:cNvSpPr>
            <a:spLocks noGrp="1"/>
          </p:cNvSpPr>
          <p:nvPr/>
        </p:nvSpPr>
        <p:spPr>
          <a:xfrm>
            <a:off x="8143875" y="4543425"/>
            <a:ext cx="2143125" cy="400050"/>
          </a:xfrm>
          <a:prstGeom prst="rect">
            <a:avLst/>
          </a:prstGeom>
          <a:solidFill>
            <a:srgbClr val="FFFFFF"/>
          </a:solidFill>
          <a:ln w="0">
            <a:noFill/>
          </a:ln>
        </p:spPr>
        <p:txBody>
          <a:bodyPr wrap="square" lIns="0" tIns="0" rIns="0" bIns="0" anchor="t">
            <a:noAutofit/>
          </a:bodyPr>
          <a:lstStyle/>
          <a:p>
            <a:pPr algn="ctr">
              <a:lnSpc>
                <a:spcPct val="104000"/>
              </a:lnSpc>
              <a:buNone/>
              <a:defRPr sz="1350" b="0" i="0">
                <a:solidFill>
                  <a:srgbClr val="171717"/>
                </a:solidFill>
                <a:latin typeface="Malgun Gothic"/>
                <a:ea typeface="Malgun Gothic"/>
                <a:cs typeface="Malgun Gothic"/>
              </a:defRPr>
            </a:pPr>
            <a:r>
              <a:rPr sz="1350" b="0" i="0">
                <a:solidFill>
                  <a:srgbClr val="171717"/>
                </a:solidFill>
                <a:latin typeface="Malgun Gothic"/>
                <a:ea typeface="Malgun Gothic"/>
                <a:cs typeface="Malgun Gothic"/>
              </a:rPr>
              <a:t>분할 경계</a:t>
            </a:r>
          </a:p>
        </p:txBody>
      </p:sp>
      <p:sp>
        <p:nvSpPr>
          <p:cNvPr id="42" name="직사각형 41">
            <a:extLst>
              <a:ext uri="{FF2B5EF4-FFF2-40B4-BE49-F238E27FC236}">
                <a16:creationId xmlns:a16="http://schemas.microsoft.com/office/drawing/2014/main" id="{D3C50EDC-CC42-4008-9127-D4993415405D}"/>
              </a:ext>
            </a:extLst>
          </p:cNvPr>
          <p:cNvSpPr>
            <a:spLocks noGrp="1"/>
          </p:cNvSpPr>
          <p:nvPr/>
        </p:nvSpPr>
        <p:spPr>
          <a:xfrm>
            <a:off x="609600" y="6438900"/>
            <a:ext cx="10972800" cy="9525"/>
          </a:xfrm>
          <a:prstGeom prst="rect">
            <a:avLst/>
          </a:prstGeom>
          <a:solidFill>
            <a:srgbClr val="D4D4D4"/>
          </a:solidFill>
          <a:ln w="0">
            <a:noFill/>
          </a:ln>
        </p:spPr>
      </p:sp>
      <p:sp>
        <p:nvSpPr>
          <p:cNvPr id="43" name="직사각형 42">
            <a:extLst>
              <a:ext uri="{FF2B5EF4-FFF2-40B4-BE49-F238E27FC236}">
                <a16:creationId xmlns:a16="http://schemas.microsoft.com/office/drawing/2014/main" id="{3A6F46A7-D242-4825-B18A-2153D264990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4" name="직사각형 43">
            <a:extLst>
              <a:ext uri="{FF2B5EF4-FFF2-40B4-BE49-F238E27FC236}">
                <a16:creationId xmlns:a16="http://schemas.microsoft.com/office/drawing/2014/main" id="{6C6BC4EC-7840-407E-A066-5E3EF8564EB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46</a:t>
            </a:r>
            <a:endParaRPr sz="1050" b="1" i="0">
              <a:solidFill>
                <a:srgbClr val="171717"/>
              </a:solidFill>
              <a:latin typeface="Consolas"/>
              <a:ea typeface="Consolas"/>
              <a:cs typeface="Consolas"/>
            </a:endParaRPr>
          </a:p>
        </p:txBody>
      </p:sp>
      <p:pic>
        <p:nvPicPr>
          <p:cNvPr id="74" name="그림 73"/>
          <p:cNvPicPr>
            <a:picLocks noChangeAspect="1"/>
          </p:cNvPicPr>
          <p:nvPr/>
        </p:nvPicPr>
        <p:blipFill>
          <a:blip r:embed="rId3"/>
          <a:stretch/>
        </p:blipFill>
        <p:spPr>
          <a:xfrm>
            <a:off x="7191878" y="1883664"/>
            <a:ext cx="3931676" cy="2953512"/>
          </a:xfrm>
          <a:prstGeom prst="rect">
            <a:avLst/>
          </a:prstGeom>
        </p:spPr>
      </p:pic>
    </p:spTree>
    <p:extLst>
      <p:ext uri="{BB962C8B-B14F-4D97-AF65-F5344CB8AC3E}">
        <p14:creationId xmlns:p14="http://schemas.microsoft.com/office/powerpoint/2010/main" val="185289605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CA5A9640-0629-49E3-8FA5-3E097F108CFD}"/>
              </a:ext>
            </a:extLst>
          </p:cNvPr>
          <p:cNvSpPr>
            <a:spLocks noGrp="1"/>
          </p:cNvSpPr>
          <p:nvPr/>
        </p:nvSpPr>
        <p:spPr>
          <a:xfrm>
            <a:off x="658368" y="1700784"/>
            <a:ext cx="5349240" cy="100584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경계선을 걸친 쌍을 모두 검사하면 다시 O(n²)이다. 하지만 이미 d = min(dL, dR)을 알고 있다. d보다 가까운 쌍만 찾으면 되므로, 경계선에서 좌우로 d 이내에 있는 점들만 후보가 된다.</a:t>
            </a:r>
            <a:endParaRPr sz="1300"/>
          </a:p>
        </p:txBody>
      </p:sp>
      <p:sp>
        <p:nvSpPr>
          <p:cNvPr id="12" name="Text 7">
            <a:extLst>
              <a:ext uri="{FF2B5EF4-FFF2-40B4-BE49-F238E27FC236}">
                <a16:creationId xmlns:a16="http://schemas.microsoft.com/office/drawing/2014/main" id="{2408899E-54D5-4B22-A686-8FCA580EE765}"/>
              </a:ext>
            </a:extLst>
          </p:cNvPr>
          <p:cNvSpPr>
            <a:spLocks noGrp="1"/>
          </p:cNvSpPr>
          <p:nvPr/>
        </p:nvSpPr>
        <p:spPr>
          <a:xfrm>
            <a:off x="7168896" y="1920240"/>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후보를 띠 안으로 좁힌다</a:t>
            </a:r>
            <a:endParaRPr sz="1300"/>
          </a:p>
        </p:txBody>
      </p:sp>
      <p:sp>
        <p:nvSpPr>
          <p:cNvPr id="13" name="Text 8">
            <a:extLst>
              <a:ext uri="{FF2B5EF4-FFF2-40B4-BE49-F238E27FC236}">
                <a16:creationId xmlns:a16="http://schemas.microsoft.com/office/drawing/2014/main" id="{FFFBEB69-10E2-452E-9714-FFE2C3C1AC86}"/>
              </a:ext>
            </a:extLst>
          </p:cNvPr>
          <p:cNvSpPr>
            <a:spLocks noGrp="1"/>
          </p:cNvSpPr>
          <p:nvPr/>
        </p:nvSpPr>
        <p:spPr>
          <a:xfrm>
            <a:off x="7168896" y="2267712"/>
            <a:ext cx="4105656" cy="731520"/>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경계선에서 수평 거리가 d 이상 떨어진 점은, 어떤 짝을 만나도 거리가 d를 넘는다. 검사할 필요조차 없다.</a:t>
            </a:r>
            <a:endParaRPr sz="1180"/>
          </a:p>
        </p:txBody>
      </p:sp>
      <p:sp>
        <p:nvSpPr>
          <p:cNvPr id="17" name="Text 11">
            <a:extLst>
              <a:ext uri="{FF2B5EF4-FFF2-40B4-BE49-F238E27FC236}">
                <a16:creationId xmlns:a16="http://schemas.microsoft.com/office/drawing/2014/main" id="{1F10434C-E6C2-4B7C-A3EC-4EB8B18A8BAC}"/>
              </a:ext>
            </a:extLst>
          </p:cNvPr>
          <p:cNvSpPr>
            <a:spLocks noGrp="1"/>
          </p:cNvSpPr>
          <p:nvPr/>
        </p:nvSpPr>
        <p:spPr>
          <a:xfrm>
            <a:off x="7168896" y="3529584"/>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띠 안의 점을 y좌표로 정렬</a:t>
            </a:r>
            <a:endParaRPr sz="1300"/>
          </a:p>
        </p:txBody>
      </p:sp>
      <p:sp>
        <p:nvSpPr>
          <p:cNvPr id="18" name="Text 12">
            <a:extLst>
              <a:ext uri="{FF2B5EF4-FFF2-40B4-BE49-F238E27FC236}">
                <a16:creationId xmlns:a16="http://schemas.microsoft.com/office/drawing/2014/main" id="{20CCD344-8E7B-40D6-856E-D6D34338D986}"/>
              </a:ext>
            </a:extLst>
          </p:cNvPr>
          <p:cNvSpPr>
            <a:spLocks noGrp="1"/>
          </p:cNvSpPr>
          <p:nvPr/>
        </p:nvSpPr>
        <p:spPr>
          <a:xfrm>
            <a:off x="7168896" y="3877056"/>
            <a:ext cx="4105656" cy="731520"/>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띠 안의 점들을 y좌표 순으로 세우면, 자기보다 y가 d 이상 큰 점은 더 볼 필요가 없다.</a:t>
            </a:r>
            <a:endParaRPr sz="1180"/>
          </a:p>
        </p:txBody>
      </p:sp>
      <p:sp>
        <p:nvSpPr>
          <p:cNvPr id="22" name="Text 15">
            <a:extLst>
              <a:ext uri="{FF2B5EF4-FFF2-40B4-BE49-F238E27FC236}">
                <a16:creationId xmlns:a16="http://schemas.microsoft.com/office/drawing/2014/main" id="{1B307446-4FF0-445C-951D-1504E1FC0CAE}"/>
              </a:ext>
            </a:extLst>
          </p:cNvPr>
          <p:cNvSpPr>
            <a:spLocks noGrp="1"/>
          </p:cNvSpPr>
          <p:nvPr/>
        </p:nvSpPr>
        <p:spPr>
          <a:xfrm>
            <a:off x="7168896" y="5138928"/>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그래도 걱정된다</a:t>
            </a:r>
            <a:endParaRPr sz="1300"/>
          </a:p>
        </p:txBody>
      </p:sp>
      <p:sp>
        <p:nvSpPr>
          <p:cNvPr id="23" name="Text 16">
            <a:extLst>
              <a:ext uri="{FF2B5EF4-FFF2-40B4-BE49-F238E27FC236}">
                <a16:creationId xmlns:a16="http://schemas.microsoft.com/office/drawing/2014/main" id="{BC09162A-418A-44EC-A821-739926B8C398}"/>
              </a:ext>
            </a:extLst>
          </p:cNvPr>
          <p:cNvSpPr>
            <a:spLocks noGrp="1"/>
          </p:cNvSpPr>
          <p:nvPr/>
        </p:nvSpPr>
        <p:spPr>
          <a:xfrm>
            <a:off x="7168896" y="5486400"/>
            <a:ext cx="4105656" cy="475488"/>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띠 안에 점이 아주 많이 몰려 있으면? 여전히 O(n²)이 아닐까?</a:t>
            </a:r>
            <a:endParaRPr sz="1180"/>
          </a:p>
        </p:txBody>
      </p:sp>
      <p:sp>
        <p:nvSpPr>
          <p:cNvPr id="27" name="직사각형 26">
            <a:extLst>
              <a:ext uri="{FF2B5EF4-FFF2-40B4-BE49-F238E27FC236}">
                <a16:creationId xmlns:a16="http://schemas.microsoft.com/office/drawing/2014/main" id="{290F0002-63F3-4891-80CA-A74A0451F67F}"/>
              </a:ext>
            </a:extLst>
          </p:cNvPr>
          <p:cNvSpPr>
            <a:spLocks noGrp="1"/>
          </p:cNvSpPr>
          <p:nvPr/>
        </p:nvSpPr>
        <p:spPr>
          <a:xfrm>
            <a:off x="6309360" y="1737360"/>
            <a:ext cx="5221224" cy="9525"/>
          </a:xfrm>
          <a:prstGeom prst="rect">
            <a:avLst/>
          </a:prstGeom>
          <a:solidFill>
            <a:srgbClr val="D4D4D4"/>
          </a:solidFill>
          <a:ln w="0">
            <a:noFill/>
          </a:ln>
        </p:spPr>
      </p:sp>
      <p:sp>
        <p:nvSpPr>
          <p:cNvPr id="28" name="직사각형 27">
            <a:extLst>
              <a:ext uri="{FF2B5EF4-FFF2-40B4-BE49-F238E27FC236}">
                <a16:creationId xmlns:a16="http://schemas.microsoft.com/office/drawing/2014/main" id="{41F8108D-28F1-450A-A405-FD93F9004519}"/>
              </a:ext>
            </a:extLst>
          </p:cNvPr>
          <p:cNvSpPr>
            <a:spLocks noGrp="1"/>
          </p:cNvSpPr>
          <p:nvPr/>
        </p:nvSpPr>
        <p:spPr>
          <a:xfrm>
            <a:off x="6309360" y="3346704"/>
            <a:ext cx="5221224" cy="9525"/>
          </a:xfrm>
          <a:prstGeom prst="rect">
            <a:avLst/>
          </a:prstGeom>
          <a:solidFill>
            <a:srgbClr val="D4D4D4"/>
          </a:solidFill>
          <a:ln w="0">
            <a:noFill/>
          </a:ln>
        </p:spPr>
      </p:sp>
      <p:sp>
        <p:nvSpPr>
          <p:cNvPr id="29" name="직사각형 28">
            <a:extLst>
              <a:ext uri="{FF2B5EF4-FFF2-40B4-BE49-F238E27FC236}">
                <a16:creationId xmlns:a16="http://schemas.microsoft.com/office/drawing/2014/main" id="{2A9FF610-4C35-4356-808A-CCF2C225C39E}"/>
              </a:ext>
            </a:extLst>
          </p:cNvPr>
          <p:cNvSpPr>
            <a:spLocks noGrp="1"/>
          </p:cNvSpPr>
          <p:nvPr/>
        </p:nvSpPr>
        <p:spPr>
          <a:xfrm>
            <a:off x="6309360" y="4956048"/>
            <a:ext cx="5221224" cy="9525"/>
          </a:xfrm>
          <a:prstGeom prst="rect">
            <a:avLst/>
          </a:prstGeom>
          <a:solidFill>
            <a:srgbClr val="D4D4D4"/>
          </a:solidFill>
          <a:ln w="0">
            <a:noFill/>
          </a:ln>
        </p:spPr>
      </p:sp>
      <p:sp>
        <p:nvSpPr>
          <p:cNvPr id="30" name="직사각형 29">
            <a:extLst>
              <a:ext uri="{FF2B5EF4-FFF2-40B4-BE49-F238E27FC236}">
                <a16:creationId xmlns:a16="http://schemas.microsoft.com/office/drawing/2014/main" id="{A8446501-1AD4-4328-918A-34F42BE16A28}"/>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1" name="직사각형 30">
            <a:extLst>
              <a:ext uri="{FF2B5EF4-FFF2-40B4-BE49-F238E27FC236}">
                <a16:creationId xmlns:a16="http://schemas.microsoft.com/office/drawing/2014/main" id="{E921A36D-AF8E-4713-8145-A4ED842920D0}"/>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2" name="직사각형 31">
            <a:extLst>
              <a:ext uri="{FF2B5EF4-FFF2-40B4-BE49-F238E27FC236}">
                <a16:creationId xmlns:a16="http://schemas.microsoft.com/office/drawing/2014/main" id="{9602F972-358D-4FE2-B2F2-324564DF3CC3}"/>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경계선의 함정 — '띠(strip)'만 살펴보면 된다</a:t>
            </a:r>
          </a:p>
        </p:txBody>
      </p:sp>
      <p:sp>
        <p:nvSpPr>
          <p:cNvPr id="33" name="직사각형 32">
            <a:extLst>
              <a:ext uri="{FF2B5EF4-FFF2-40B4-BE49-F238E27FC236}">
                <a16:creationId xmlns:a16="http://schemas.microsoft.com/office/drawing/2014/main" id="{E05E8AE4-CB95-412E-87E0-0275FC59D114}"/>
              </a:ext>
            </a:extLst>
          </p:cNvPr>
          <p:cNvSpPr>
            <a:spLocks noGrp="1"/>
          </p:cNvSpPr>
          <p:nvPr/>
        </p:nvSpPr>
        <p:spPr>
          <a:xfrm>
            <a:off x="609600" y="1381125"/>
            <a:ext cx="10972800" cy="19050"/>
          </a:xfrm>
          <a:prstGeom prst="rect">
            <a:avLst/>
          </a:prstGeom>
          <a:solidFill>
            <a:srgbClr val="171717"/>
          </a:solidFill>
          <a:ln w="0">
            <a:noFill/>
          </a:ln>
        </p:spPr>
      </p:sp>
      <p:sp>
        <p:nvSpPr>
          <p:cNvPr id="34" name="직사각형 33">
            <a:extLst>
              <a:ext uri="{FF2B5EF4-FFF2-40B4-BE49-F238E27FC236}">
                <a16:creationId xmlns:a16="http://schemas.microsoft.com/office/drawing/2014/main" id="{80001BF1-9535-4623-A727-E2FA2B8D7603}"/>
              </a:ext>
            </a:extLst>
          </p:cNvPr>
          <p:cNvSpPr>
            <a:spLocks noGrp="1"/>
          </p:cNvSpPr>
          <p:nvPr/>
        </p:nvSpPr>
        <p:spPr>
          <a:xfrm>
            <a:off x="609600" y="6438900"/>
            <a:ext cx="10972800"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D4684F07-6B1D-493B-A6FD-04763410DF9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6" name="직사각형 35">
            <a:extLst>
              <a:ext uri="{FF2B5EF4-FFF2-40B4-BE49-F238E27FC236}">
                <a16:creationId xmlns:a16="http://schemas.microsoft.com/office/drawing/2014/main" id="{3CFAAF84-88BA-4ECD-B958-5BC163BB1DA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47</a:t>
            </a:r>
            <a:endParaRPr sz="1050" b="1" i="0">
              <a:solidFill>
                <a:srgbClr val="171717"/>
              </a:solidFill>
              <a:latin typeface="Consolas"/>
              <a:ea typeface="Consolas"/>
              <a:cs typeface="Consolas"/>
            </a:endParaRPr>
          </a:p>
        </p:txBody>
      </p:sp>
      <p:pic>
        <p:nvPicPr>
          <p:cNvPr id="55" name="그림 54"/>
          <p:cNvPicPr>
            <a:picLocks noChangeAspect="1"/>
          </p:cNvPicPr>
          <p:nvPr/>
        </p:nvPicPr>
        <p:blipFill>
          <a:blip r:embed="rId3"/>
          <a:stretch/>
        </p:blipFill>
        <p:spPr>
          <a:xfrm>
            <a:off x="1305211" y="2981128"/>
            <a:ext cx="4055554" cy="2815983"/>
          </a:xfrm>
          <a:prstGeom prst="rect">
            <a:avLst/>
          </a:prstGeom>
        </p:spPr>
      </p:pic>
    </p:spTree>
    <p:extLst>
      <p:ext uri="{BB962C8B-B14F-4D97-AF65-F5344CB8AC3E}">
        <p14:creationId xmlns:p14="http://schemas.microsoft.com/office/powerpoint/2010/main" val="19222747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ext 6">
            <a:extLst>
              <a:ext uri="{FF2B5EF4-FFF2-40B4-BE49-F238E27FC236}">
                <a16:creationId xmlns:a16="http://schemas.microsoft.com/office/drawing/2014/main" id="{24A0477A-0FA9-4568-9C11-0F33756ACFCF}"/>
              </a:ext>
            </a:extLst>
          </p:cNvPr>
          <p:cNvSpPr>
            <a:spLocks noGrp="1"/>
          </p:cNvSpPr>
          <p:nvPr/>
        </p:nvSpPr>
        <p:spPr>
          <a:xfrm>
            <a:off x="7022592" y="1865376"/>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2d × d 직사각형</a:t>
            </a:r>
            <a:endParaRPr sz="1230"/>
          </a:p>
        </p:txBody>
      </p:sp>
      <p:sp>
        <p:nvSpPr>
          <p:cNvPr id="12" name="Text 7">
            <a:extLst>
              <a:ext uri="{FF2B5EF4-FFF2-40B4-BE49-F238E27FC236}">
                <a16:creationId xmlns:a16="http://schemas.microsoft.com/office/drawing/2014/main" id="{F096CCBA-53A8-4722-BF7F-149A3B56EBB3}"/>
              </a:ext>
            </a:extLst>
          </p:cNvPr>
          <p:cNvSpPr>
            <a:spLocks noGrp="1"/>
          </p:cNvSpPr>
          <p:nvPr/>
        </p:nvSpPr>
        <p:spPr>
          <a:xfrm>
            <a:off x="7022592" y="2139696"/>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171717"/>
                </a:solidFill>
                <a:latin typeface="Malgun Gothic"/>
                <a:ea typeface="Malgun Gothic"/>
                <a:cs typeface="Malgun Gothic"/>
              </a:defRPr>
            </a:pPr>
            <a:r>
              <a:rPr sz="1040" i="0">
                <a:solidFill>
                  <a:srgbClr val="171717"/>
                </a:solidFill>
                <a:latin typeface="Malgun Gothic"/>
                <a:ea typeface="Malgun Gothic"/>
                <a:cs typeface="Malgun Gothic"/>
              </a:rPr>
              <a:t>띠 안의 한 점 p에서 y 방향으로 d 이내의 영역은 가로 2d, 세로 d인 직사각형이다.</a:t>
            </a:r>
            <a:endParaRPr sz="1040"/>
          </a:p>
        </p:txBody>
      </p:sp>
      <p:sp>
        <p:nvSpPr>
          <p:cNvPr id="16" name="Text 10">
            <a:extLst>
              <a:ext uri="{FF2B5EF4-FFF2-40B4-BE49-F238E27FC236}">
                <a16:creationId xmlns:a16="http://schemas.microsoft.com/office/drawing/2014/main" id="{DDFBEC51-A28B-4BFD-9AE6-2430754ADAEC}"/>
              </a:ext>
            </a:extLst>
          </p:cNvPr>
          <p:cNvSpPr>
            <a:spLocks noGrp="1"/>
          </p:cNvSpPr>
          <p:nvPr/>
        </p:nvSpPr>
        <p:spPr>
          <a:xfrm>
            <a:off x="7022592" y="2980944"/>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8개의 정사각형 칸</a:t>
            </a:r>
            <a:endParaRPr sz="1230"/>
          </a:p>
        </p:txBody>
      </p:sp>
      <p:sp>
        <p:nvSpPr>
          <p:cNvPr id="17" name="Text 11">
            <a:extLst>
              <a:ext uri="{FF2B5EF4-FFF2-40B4-BE49-F238E27FC236}">
                <a16:creationId xmlns:a16="http://schemas.microsoft.com/office/drawing/2014/main" id="{0EFEC4A4-0EC8-42C4-B580-B5D2FEAC9B08}"/>
              </a:ext>
            </a:extLst>
          </p:cNvPr>
          <p:cNvSpPr>
            <a:spLocks noGrp="1"/>
          </p:cNvSpPr>
          <p:nvPr/>
        </p:nvSpPr>
        <p:spPr>
          <a:xfrm>
            <a:off x="7022592" y="3255264"/>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171717"/>
                </a:solidFill>
                <a:latin typeface="Malgun Gothic"/>
                <a:ea typeface="Malgun Gothic"/>
                <a:cs typeface="Malgun Gothic"/>
              </a:defRPr>
            </a:pPr>
            <a:r>
              <a:rPr sz="1040" i="0">
                <a:solidFill>
                  <a:srgbClr val="171717"/>
                </a:solidFill>
                <a:latin typeface="Malgun Gothic"/>
                <a:ea typeface="Malgun Gothic"/>
                <a:cs typeface="Malgun Gothic"/>
              </a:rPr>
              <a:t>이 직사각형을 (d/2) × (d/2) 크기의 칸 8개로 나눈다.</a:t>
            </a:r>
            <a:endParaRPr sz="1040"/>
          </a:p>
        </p:txBody>
      </p:sp>
      <p:sp>
        <p:nvSpPr>
          <p:cNvPr id="21" name="Text 14">
            <a:extLst>
              <a:ext uri="{FF2B5EF4-FFF2-40B4-BE49-F238E27FC236}">
                <a16:creationId xmlns:a16="http://schemas.microsoft.com/office/drawing/2014/main" id="{29A8C4E8-A88B-4BBF-8BF0-816E38D511BF}"/>
              </a:ext>
            </a:extLst>
          </p:cNvPr>
          <p:cNvSpPr>
            <a:spLocks noGrp="1"/>
          </p:cNvSpPr>
          <p:nvPr/>
        </p:nvSpPr>
        <p:spPr>
          <a:xfrm>
            <a:off x="7022592" y="4096512"/>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한 칸에 점은 최대 1개</a:t>
            </a:r>
            <a:endParaRPr sz="1230"/>
          </a:p>
        </p:txBody>
      </p:sp>
      <p:sp>
        <p:nvSpPr>
          <p:cNvPr id="22" name="Text 15">
            <a:extLst>
              <a:ext uri="{FF2B5EF4-FFF2-40B4-BE49-F238E27FC236}">
                <a16:creationId xmlns:a16="http://schemas.microsoft.com/office/drawing/2014/main" id="{346A2C45-F574-4F8A-B4AC-E5C20F463683}"/>
              </a:ext>
            </a:extLst>
          </p:cNvPr>
          <p:cNvSpPr>
            <a:spLocks noGrp="1"/>
          </p:cNvSpPr>
          <p:nvPr/>
        </p:nvSpPr>
        <p:spPr>
          <a:xfrm>
            <a:off x="7022592" y="4370832"/>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606060"/>
                </a:solidFill>
                <a:latin typeface="Malgun Gothic"/>
                <a:ea typeface="Malgun Gothic"/>
                <a:cs typeface="Malgun Gothic"/>
              </a:defRPr>
            </a:pPr>
            <a:r>
              <a:rPr sz="1040" i="0">
                <a:solidFill>
                  <a:srgbClr val="606060"/>
                </a:solidFill>
                <a:latin typeface="Malgun Gothic"/>
                <a:ea typeface="Malgun Gothic"/>
                <a:cs typeface="Malgun Gothic"/>
              </a:rPr>
              <a:t>한 칸의 대각선 길이는 약 0.707d &lt; d. 같은 칸에 두 점이 있으면 이미 d보다 가까운 쌍이 존재해 모순이다.</a:t>
            </a:r>
            <a:endParaRPr sz="1040"/>
          </a:p>
        </p:txBody>
      </p:sp>
      <p:sp>
        <p:nvSpPr>
          <p:cNvPr id="26" name="Text 18">
            <a:extLst>
              <a:ext uri="{FF2B5EF4-FFF2-40B4-BE49-F238E27FC236}">
                <a16:creationId xmlns:a16="http://schemas.microsoft.com/office/drawing/2014/main" id="{AE8574A6-95EE-43C8-8A1F-6F7532E10540}"/>
              </a:ext>
            </a:extLst>
          </p:cNvPr>
          <p:cNvSpPr>
            <a:spLocks noGrp="1"/>
          </p:cNvSpPr>
          <p:nvPr/>
        </p:nvSpPr>
        <p:spPr>
          <a:xfrm>
            <a:off x="7022592" y="5212080"/>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따라서 최대 7번 비교</a:t>
            </a:r>
            <a:endParaRPr sz="1230"/>
          </a:p>
        </p:txBody>
      </p:sp>
      <p:sp>
        <p:nvSpPr>
          <p:cNvPr id="27" name="Text 19">
            <a:extLst>
              <a:ext uri="{FF2B5EF4-FFF2-40B4-BE49-F238E27FC236}">
                <a16:creationId xmlns:a16="http://schemas.microsoft.com/office/drawing/2014/main" id="{B2404289-3305-4D8D-903A-9BDE9CFDFB50}"/>
              </a:ext>
            </a:extLst>
          </p:cNvPr>
          <p:cNvSpPr>
            <a:spLocks noGrp="1"/>
          </p:cNvSpPr>
          <p:nvPr/>
        </p:nvSpPr>
        <p:spPr>
          <a:xfrm>
            <a:off x="7022592" y="5486400"/>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171717"/>
                </a:solidFill>
                <a:latin typeface="Malgun Gothic"/>
                <a:ea typeface="Malgun Gothic"/>
                <a:cs typeface="Malgun Gothic"/>
              </a:defRPr>
            </a:pPr>
            <a:r>
              <a:rPr sz="1040" i="0">
                <a:solidFill>
                  <a:srgbClr val="171717"/>
                </a:solidFill>
                <a:latin typeface="Malgun Gothic"/>
                <a:ea typeface="Malgun Gothic"/>
                <a:cs typeface="Malgun Gothic"/>
              </a:rPr>
              <a:t>직사각형 안의 점은 자기 자신 포함 최대 8개. 즉 한 점당 최대 7번만 비교하면 충분하다.</a:t>
            </a:r>
            <a:endParaRPr sz="1040"/>
          </a:p>
        </p:txBody>
      </p:sp>
      <p:sp>
        <p:nvSpPr>
          <p:cNvPr id="29" name="Text 21">
            <a:extLst>
              <a:ext uri="{FF2B5EF4-FFF2-40B4-BE49-F238E27FC236}">
                <a16:creationId xmlns:a16="http://schemas.microsoft.com/office/drawing/2014/main" id="{3390A5BC-3D4D-454C-8E52-E0C704467131}"/>
              </a:ext>
            </a:extLst>
          </p:cNvPr>
          <p:cNvSpPr>
            <a:spLocks noGrp="1"/>
          </p:cNvSpPr>
          <p:nvPr/>
        </p:nvSpPr>
        <p:spPr>
          <a:xfrm>
            <a:off x="795528" y="5230368"/>
            <a:ext cx="4983480" cy="822960"/>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띠 안 점 검사 비용  =  O(n) × 7  =  O(n)</a:t>
            </a:r>
            <a:endParaRPr sz="1500"/>
          </a:p>
        </p:txBody>
      </p:sp>
      <p:sp>
        <p:nvSpPr>
          <p:cNvPr id="33" name="직사각형 32">
            <a:extLst>
              <a:ext uri="{FF2B5EF4-FFF2-40B4-BE49-F238E27FC236}">
                <a16:creationId xmlns:a16="http://schemas.microsoft.com/office/drawing/2014/main" id="{8985949E-9272-4328-9B9F-6D36B0FD7D9B}"/>
              </a:ext>
            </a:extLst>
          </p:cNvPr>
          <p:cNvSpPr>
            <a:spLocks noGrp="1"/>
          </p:cNvSpPr>
          <p:nvPr/>
        </p:nvSpPr>
        <p:spPr>
          <a:xfrm>
            <a:off x="658368" y="1755648"/>
            <a:ext cx="525780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9CFC2C56-16DB-48C7-A555-FBF8F1AA8C9F}"/>
              </a:ext>
            </a:extLst>
          </p:cNvPr>
          <p:cNvSpPr>
            <a:spLocks noGrp="1"/>
          </p:cNvSpPr>
          <p:nvPr/>
        </p:nvSpPr>
        <p:spPr>
          <a:xfrm>
            <a:off x="6291072" y="1755648"/>
            <a:ext cx="5239512"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D152C886-8878-4E39-8999-B0C6461D46EA}"/>
              </a:ext>
            </a:extLst>
          </p:cNvPr>
          <p:cNvSpPr>
            <a:spLocks noGrp="1"/>
          </p:cNvSpPr>
          <p:nvPr/>
        </p:nvSpPr>
        <p:spPr>
          <a:xfrm>
            <a:off x="6291072" y="2871216"/>
            <a:ext cx="5239512"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500EFC08-37D5-4D9E-A0A7-55DE37633A27}"/>
              </a:ext>
            </a:extLst>
          </p:cNvPr>
          <p:cNvSpPr>
            <a:spLocks noGrp="1"/>
          </p:cNvSpPr>
          <p:nvPr/>
        </p:nvSpPr>
        <p:spPr>
          <a:xfrm>
            <a:off x="6291072" y="3986784"/>
            <a:ext cx="5239512"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6309D394-51AC-4BD0-B186-66924D03C7F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D9E25D54-BEF9-40E4-AED3-949F885E9A2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9" name="직사각형 38">
            <a:extLst>
              <a:ext uri="{FF2B5EF4-FFF2-40B4-BE49-F238E27FC236}">
                <a16:creationId xmlns:a16="http://schemas.microsoft.com/office/drawing/2014/main" id="{9B7E2C38-FC4D-4EB5-B8A4-EAADEFD372A3}"/>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증명 — 한 점당 최대 7개만 비교하면 된다</a:t>
            </a:r>
          </a:p>
        </p:txBody>
      </p:sp>
      <p:sp>
        <p:nvSpPr>
          <p:cNvPr id="40" name="직사각형 39">
            <a:extLst>
              <a:ext uri="{FF2B5EF4-FFF2-40B4-BE49-F238E27FC236}">
                <a16:creationId xmlns:a16="http://schemas.microsoft.com/office/drawing/2014/main" id="{A1DCAA42-EFD3-4C23-8203-07B96BD32932}"/>
              </a:ext>
            </a:extLst>
          </p:cNvPr>
          <p:cNvSpPr>
            <a:spLocks noGrp="1"/>
          </p:cNvSpPr>
          <p:nvPr/>
        </p:nvSpPr>
        <p:spPr>
          <a:xfrm>
            <a:off x="609600" y="1381125"/>
            <a:ext cx="10972800" cy="19050"/>
          </a:xfrm>
          <a:prstGeom prst="rect">
            <a:avLst/>
          </a:prstGeom>
          <a:solidFill>
            <a:srgbClr val="171717"/>
          </a:solidFill>
          <a:ln w="0">
            <a:noFill/>
          </a:ln>
        </p:spPr>
      </p:sp>
      <p:sp>
        <p:nvSpPr>
          <p:cNvPr id="41" name="직사각형 40">
            <a:extLst>
              <a:ext uri="{FF2B5EF4-FFF2-40B4-BE49-F238E27FC236}">
                <a16:creationId xmlns:a16="http://schemas.microsoft.com/office/drawing/2014/main" id="{419BFDCA-37E3-4780-B274-8422C8DDC2DF}"/>
              </a:ext>
            </a:extLst>
          </p:cNvPr>
          <p:cNvSpPr>
            <a:spLocks noGrp="1"/>
          </p:cNvSpPr>
          <p:nvPr/>
        </p:nvSpPr>
        <p:spPr>
          <a:xfrm>
            <a:off x="609600" y="6438900"/>
            <a:ext cx="10972800" cy="9525"/>
          </a:xfrm>
          <a:prstGeom prst="rect">
            <a:avLst/>
          </a:prstGeom>
          <a:solidFill>
            <a:srgbClr val="D4D4D4"/>
          </a:solidFill>
          <a:ln w="0">
            <a:noFill/>
          </a:ln>
        </p:spPr>
      </p:sp>
      <p:sp>
        <p:nvSpPr>
          <p:cNvPr id="42" name="직사각형 41">
            <a:extLst>
              <a:ext uri="{FF2B5EF4-FFF2-40B4-BE49-F238E27FC236}">
                <a16:creationId xmlns:a16="http://schemas.microsoft.com/office/drawing/2014/main" id="{3E96F268-9FDC-4A90-8F8F-757FC985767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3" name="직사각형 42">
            <a:extLst>
              <a:ext uri="{FF2B5EF4-FFF2-40B4-BE49-F238E27FC236}">
                <a16:creationId xmlns:a16="http://schemas.microsoft.com/office/drawing/2014/main" id="{A65AD374-505C-4AB1-B98B-38C6843FCA2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48</a:t>
            </a:r>
            <a:endParaRPr sz="1050" b="1" i="0">
              <a:solidFill>
                <a:srgbClr val="171717"/>
              </a:solidFill>
              <a:latin typeface="Consolas"/>
              <a:ea typeface="Consolas"/>
              <a:cs typeface="Consolas"/>
            </a:endParaRPr>
          </a:p>
        </p:txBody>
      </p:sp>
      <p:sp>
        <p:nvSpPr>
          <p:cNvPr id="44" name="직사각형 43">
            <a:extLst>
              <a:ext uri="{FF2B5EF4-FFF2-40B4-BE49-F238E27FC236}">
                <a16:creationId xmlns:a16="http://schemas.microsoft.com/office/drawing/2014/main" id="{3FA9654D-756A-46F3-8A89-A5CAF5587282}"/>
              </a:ext>
            </a:extLst>
          </p:cNvPr>
          <p:cNvSpPr>
            <a:spLocks noGrp="1"/>
          </p:cNvSpPr>
          <p:nvPr/>
        </p:nvSpPr>
        <p:spPr>
          <a:xfrm>
            <a:off x="1311636" y="2374514"/>
            <a:ext cx="942938" cy="942938"/>
          </a:xfrm>
          <a:prstGeom prst="rect">
            <a:avLst/>
          </a:prstGeom>
          <a:solidFill>
            <a:srgbClr val="DAEBED"/>
          </a:solidFill>
          <a:ln w="9525">
            <a:solidFill>
              <a:srgbClr val="788C91"/>
            </a:solidFill>
          </a:ln>
        </p:spPr>
      </p:sp>
      <p:sp>
        <p:nvSpPr>
          <p:cNvPr id="45" name="직사각형 44">
            <a:extLst>
              <a:ext uri="{FF2B5EF4-FFF2-40B4-BE49-F238E27FC236}">
                <a16:creationId xmlns:a16="http://schemas.microsoft.com/office/drawing/2014/main" id="{8658BEE9-5E0C-4F06-A79C-620D442D5E24}"/>
              </a:ext>
            </a:extLst>
          </p:cNvPr>
          <p:cNvSpPr>
            <a:spLocks noGrp="1"/>
          </p:cNvSpPr>
          <p:nvPr/>
        </p:nvSpPr>
        <p:spPr>
          <a:xfrm>
            <a:off x="1311636"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46" name="직사각형 45">
            <a:extLst>
              <a:ext uri="{FF2B5EF4-FFF2-40B4-BE49-F238E27FC236}">
                <a16:creationId xmlns:a16="http://schemas.microsoft.com/office/drawing/2014/main" id="{2375F81D-90BB-4CFB-AA82-A2B1CDD71E69}"/>
              </a:ext>
            </a:extLst>
          </p:cNvPr>
          <p:cNvSpPr>
            <a:spLocks noGrp="1"/>
          </p:cNvSpPr>
          <p:nvPr/>
        </p:nvSpPr>
        <p:spPr>
          <a:xfrm>
            <a:off x="2254574" y="2374514"/>
            <a:ext cx="942938" cy="942938"/>
          </a:xfrm>
          <a:prstGeom prst="rect">
            <a:avLst/>
          </a:prstGeom>
          <a:solidFill>
            <a:srgbClr val="DAEBED"/>
          </a:solidFill>
          <a:ln w="9525">
            <a:solidFill>
              <a:srgbClr val="788C91"/>
            </a:solidFill>
          </a:ln>
        </p:spPr>
      </p:sp>
      <p:sp>
        <p:nvSpPr>
          <p:cNvPr id="47" name="직사각형 46">
            <a:extLst>
              <a:ext uri="{FF2B5EF4-FFF2-40B4-BE49-F238E27FC236}">
                <a16:creationId xmlns:a16="http://schemas.microsoft.com/office/drawing/2014/main" id="{A8C3BD84-EE96-4ED6-8401-EC3686DA20EC}"/>
              </a:ext>
            </a:extLst>
          </p:cNvPr>
          <p:cNvSpPr>
            <a:spLocks noGrp="1"/>
          </p:cNvSpPr>
          <p:nvPr/>
        </p:nvSpPr>
        <p:spPr>
          <a:xfrm>
            <a:off x="2254574"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48" name="직사각형 47">
            <a:extLst>
              <a:ext uri="{FF2B5EF4-FFF2-40B4-BE49-F238E27FC236}">
                <a16:creationId xmlns:a16="http://schemas.microsoft.com/office/drawing/2014/main" id="{A5EC93A6-6E79-4067-AE9D-694852FF6483}"/>
              </a:ext>
            </a:extLst>
          </p:cNvPr>
          <p:cNvSpPr>
            <a:spLocks noGrp="1"/>
          </p:cNvSpPr>
          <p:nvPr/>
        </p:nvSpPr>
        <p:spPr>
          <a:xfrm>
            <a:off x="3197512" y="2374514"/>
            <a:ext cx="942938" cy="942938"/>
          </a:xfrm>
          <a:prstGeom prst="rect">
            <a:avLst/>
          </a:prstGeom>
          <a:solidFill>
            <a:srgbClr val="F4E3C7"/>
          </a:solidFill>
          <a:ln w="9525">
            <a:solidFill>
              <a:srgbClr val="788C91"/>
            </a:solidFill>
          </a:ln>
        </p:spPr>
      </p:sp>
      <p:sp>
        <p:nvSpPr>
          <p:cNvPr id="49" name="직사각형 48">
            <a:extLst>
              <a:ext uri="{FF2B5EF4-FFF2-40B4-BE49-F238E27FC236}">
                <a16:creationId xmlns:a16="http://schemas.microsoft.com/office/drawing/2014/main" id="{9CE85521-AB87-423D-8D84-7D5934D4ECA2}"/>
              </a:ext>
            </a:extLst>
          </p:cNvPr>
          <p:cNvSpPr>
            <a:spLocks noGrp="1"/>
          </p:cNvSpPr>
          <p:nvPr/>
        </p:nvSpPr>
        <p:spPr>
          <a:xfrm>
            <a:off x="3197512"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0" name="직사각형 49">
            <a:extLst>
              <a:ext uri="{FF2B5EF4-FFF2-40B4-BE49-F238E27FC236}">
                <a16:creationId xmlns:a16="http://schemas.microsoft.com/office/drawing/2014/main" id="{5B4EA3DE-1741-41D8-87F0-97CC064229B7}"/>
              </a:ext>
            </a:extLst>
          </p:cNvPr>
          <p:cNvSpPr>
            <a:spLocks noGrp="1"/>
          </p:cNvSpPr>
          <p:nvPr/>
        </p:nvSpPr>
        <p:spPr>
          <a:xfrm>
            <a:off x="4140450" y="2374514"/>
            <a:ext cx="942938" cy="942938"/>
          </a:xfrm>
          <a:prstGeom prst="rect">
            <a:avLst/>
          </a:prstGeom>
          <a:solidFill>
            <a:srgbClr val="F4E3C7"/>
          </a:solidFill>
          <a:ln w="9525">
            <a:solidFill>
              <a:srgbClr val="788C91"/>
            </a:solidFill>
          </a:ln>
        </p:spPr>
      </p:sp>
      <p:sp>
        <p:nvSpPr>
          <p:cNvPr id="51" name="직사각형 50">
            <a:extLst>
              <a:ext uri="{FF2B5EF4-FFF2-40B4-BE49-F238E27FC236}">
                <a16:creationId xmlns:a16="http://schemas.microsoft.com/office/drawing/2014/main" id="{2BDDCD56-5371-4786-86D8-6D9ED324A5FB}"/>
              </a:ext>
            </a:extLst>
          </p:cNvPr>
          <p:cNvSpPr>
            <a:spLocks noGrp="1"/>
          </p:cNvSpPr>
          <p:nvPr/>
        </p:nvSpPr>
        <p:spPr>
          <a:xfrm>
            <a:off x="4140450"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2" name="직사각형 51">
            <a:extLst>
              <a:ext uri="{FF2B5EF4-FFF2-40B4-BE49-F238E27FC236}">
                <a16:creationId xmlns:a16="http://schemas.microsoft.com/office/drawing/2014/main" id="{09229D92-974C-4C12-911E-7FE014067CAE}"/>
              </a:ext>
            </a:extLst>
          </p:cNvPr>
          <p:cNvSpPr>
            <a:spLocks noGrp="1"/>
          </p:cNvSpPr>
          <p:nvPr/>
        </p:nvSpPr>
        <p:spPr>
          <a:xfrm>
            <a:off x="1311636" y="3317452"/>
            <a:ext cx="942938" cy="942938"/>
          </a:xfrm>
          <a:prstGeom prst="rect">
            <a:avLst/>
          </a:prstGeom>
          <a:solidFill>
            <a:srgbClr val="DAEBED"/>
          </a:solidFill>
          <a:ln w="9525">
            <a:solidFill>
              <a:srgbClr val="788C91"/>
            </a:solidFill>
          </a:ln>
        </p:spPr>
      </p:sp>
      <p:sp>
        <p:nvSpPr>
          <p:cNvPr id="53" name="직사각형 52">
            <a:extLst>
              <a:ext uri="{FF2B5EF4-FFF2-40B4-BE49-F238E27FC236}">
                <a16:creationId xmlns:a16="http://schemas.microsoft.com/office/drawing/2014/main" id="{77ECF831-D85A-44F1-BC3A-A38176575503}"/>
              </a:ext>
            </a:extLst>
          </p:cNvPr>
          <p:cNvSpPr>
            <a:spLocks noGrp="1"/>
          </p:cNvSpPr>
          <p:nvPr/>
        </p:nvSpPr>
        <p:spPr>
          <a:xfrm>
            <a:off x="1311636"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4" name="직사각형 53">
            <a:extLst>
              <a:ext uri="{FF2B5EF4-FFF2-40B4-BE49-F238E27FC236}">
                <a16:creationId xmlns:a16="http://schemas.microsoft.com/office/drawing/2014/main" id="{EBF169EE-2E7B-4985-A7A4-55E1046C5DDB}"/>
              </a:ext>
            </a:extLst>
          </p:cNvPr>
          <p:cNvSpPr>
            <a:spLocks noGrp="1"/>
          </p:cNvSpPr>
          <p:nvPr/>
        </p:nvSpPr>
        <p:spPr>
          <a:xfrm>
            <a:off x="2254574" y="3317452"/>
            <a:ext cx="942938" cy="942938"/>
          </a:xfrm>
          <a:prstGeom prst="rect">
            <a:avLst/>
          </a:prstGeom>
          <a:solidFill>
            <a:srgbClr val="DAEBED"/>
          </a:solidFill>
          <a:ln w="9525">
            <a:solidFill>
              <a:srgbClr val="788C91"/>
            </a:solidFill>
          </a:ln>
        </p:spPr>
      </p:sp>
      <p:sp>
        <p:nvSpPr>
          <p:cNvPr id="55" name="직사각형 54">
            <a:extLst>
              <a:ext uri="{FF2B5EF4-FFF2-40B4-BE49-F238E27FC236}">
                <a16:creationId xmlns:a16="http://schemas.microsoft.com/office/drawing/2014/main" id="{49348012-E55E-45AC-A157-DC285A211EDC}"/>
              </a:ext>
            </a:extLst>
          </p:cNvPr>
          <p:cNvSpPr>
            <a:spLocks noGrp="1"/>
          </p:cNvSpPr>
          <p:nvPr/>
        </p:nvSpPr>
        <p:spPr>
          <a:xfrm>
            <a:off x="2254574"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6" name="직사각형 55">
            <a:extLst>
              <a:ext uri="{FF2B5EF4-FFF2-40B4-BE49-F238E27FC236}">
                <a16:creationId xmlns:a16="http://schemas.microsoft.com/office/drawing/2014/main" id="{BB540793-BECE-4914-9959-7A5F84F8BBF5}"/>
              </a:ext>
            </a:extLst>
          </p:cNvPr>
          <p:cNvSpPr>
            <a:spLocks noGrp="1"/>
          </p:cNvSpPr>
          <p:nvPr/>
        </p:nvSpPr>
        <p:spPr>
          <a:xfrm>
            <a:off x="3197512" y="3317452"/>
            <a:ext cx="942938" cy="942938"/>
          </a:xfrm>
          <a:prstGeom prst="rect">
            <a:avLst/>
          </a:prstGeom>
          <a:solidFill>
            <a:srgbClr val="F4E3C7"/>
          </a:solidFill>
          <a:ln w="9525">
            <a:solidFill>
              <a:srgbClr val="788C91"/>
            </a:solidFill>
          </a:ln>
        </p:spPr>
      </p:sp>
      <p:sp>
        <p:nvSpPr>
          <p:cNvPr id="57" name="직사각형 56">
            <a:extLst>
              <a:ext uri="{FF2B5EF4-FFF2-40B4-BE49-F238E27FC236}">
                <a16:creationId xmlns:a16="http://schemas.microsoft.com/office/drawing/2014/main" id="{C89C385D-0B23-4210-9112-87D2612C18DA}"/>
              </a:ext>
            </a:extLst>
          </p:cNvPr>
          <p:cNvSpPr>
            <a:spLocks noGrp="1"/>
          </p:cNvSpPr>
          <p:nvPr/>
        </p:nvSpPr>
        <p:spPr>
          <a:xfrm>
            <a:off x="3197512"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8" name="직사각형 57">
            <a:extLst>
              <a:ext uri="{FF2B5EF4-FFF2-40B4-BE49-F238E27FC236}">
                <a16:creationId xmlns:a16="http://schemas.microsoft.com/office/drawing/2014/main" id="{1AA20AA4-047F-4ED9-91D7-DA81660E1218}"/>
              </a:ext>
            </a:extLst>
          </p:cNvPr>
          <p:cNvSpPr>
            <a:spLocks noGrp="1"/>
          </p:cNvSpPr>
          <p:nvPr/>
        </p:nvSpPr>
        <p:spPr>
          <a:xfrm>
            <a:off x="4140450" y="3317452"/>
            <a:ext cx="942938" cy="942938"/>
          </a:xfrm>
          <a:prstGeom prst="rect">
            <a:avLst/>
          </a:prstGeom>
          <a:solidFill>
            <a:srgbClr val="F4E3C7"/>
          </a:solidFill>
          <a:ln w="9525">
            <a:solidFill>
              <a:srgbClr val="788C91"/>
            </a:solidFill>
          </a:ln>
        </p:spPr>
      </p:sp>
      <p:sp>
        <p:nvSpPr>
          <p:cNvPr id="59" name="직사각형 58">
            <a:extLst>
              <a:ext uri="{FF2B5EF4-FFF2-40B4-BE49-F238E27FC236}">
                <a16:creationId xmlns:a16="http://schemas.microsoft.com/office/drawing/2014/main" id="{3668828E-602B-4FA4-AD33-4BB79108DCFF}"/>
              </a:ext>
            </a:extLst>
          </p:cNvPr>
          <p:cNvSpPr>
            <a:spLocks noGrp="1"/>
          </p:cNvSpPr>
          <p:nvPr/>
        </p:nvSpPr>
        <p:spPr>
          <a:xfrm>
            <a:off x="4140450"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60" name="직사각형 59">
            <a:extLst>
              <a:ext uri="{FF2B5EF4-FFF2-40B4-BE49-F238E27FC236}">
                <a16:creationId xmlns:a16="http://schemas.microsoft.com/office/drawing/2014/main" id="{016FAC75-0074-4861-950C-18C30F441AAD}"/>
              </a:ext>
            </a:extLst>
          </p:cNvPr>
          <p:cNvSpPr>
            <a:spLocks noGrp="1"/>
          </p:cNvSpPr>
          <p:nvPr/>
        </p:nvSpPr>
        <p:spPr>
          <a:xfrm>
            <a:off x="1940262" y="1901952"/>
            <a:ext cx="2694108" cy="354421"/>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가로 2d</a:t>
            </a:r>
          </a:p>
        </p:txBody>
      </p:sp>
      <p:sp>
        <p:nvSpPr>
          <p:cNvPr id="61" name="직사각형 60">
            <a:extLst>
              <a:ext uri="{FF2B5EF4-FFF2-40B4-BE49-F238E27FC236}">
                <a16:creationId xmlns:a16="http://schemas.microsoft.com/office/drawing/2014/main" id="{233E5139-1E3F-41D2-8F04-AABED2486899}"/>
              </a:ext>
            </a:extLst>
          </p:cNvPr>
          <p:cNvSpPr>
            <a:spLocks noGrp="1"/>
          </p:cNvSpPr>
          <p:nvPr/>
        </p:nvSpPr>
        <p:spPr>
          <a:xfrm>
            <a:off x="1266735" y="4378530"/>
            <a:ext cx="4041162" cy="354421"/>
          </a:xfrm>
          <a:prstGeom prst="rect">
            <a:avLst/>
          </a:prstGeom>
          <a:noFill/>
          <a:ln w="9525">
            <a:noFill/>
          </a:ln>
        </p:spPr>
        <p:txBody>
          <a:bodyPr wrap="none" lIns="0" tIns="0" rIns="0" bIns="0" anchor="ctr">
            <a:noAutofit/>
          </a:bodyPr>
          <a:lstStyle/>
          <a:p>
            <a:pPr algn="ctr">
              <a:defRPr sz="1425">
                <a:solidFill>
                  <a:srgbClr val="171717"/>
                </a:solidFill>
                <a:latin typeface="Malgun Gothic"/>
                <a:ea typeface="Malgun Gothic"/>
                <a:cs typeface="Malgun Gothic"/>
              </a:defRPr>
            </a:pPr>
            <a:r>
              <a:rPr sz="1425">
                <a:solidFill>
                  <a:srgbClr val="171717"/>
                </a:solidFill>
                <a:latin typeface="Malgun Gothic"/>
                <a:ea typeface="Malgun Gothic"/>
                <a:cs typeface="Malgun Gothic"/>
              </a:rPr>
              <a:t>각 칸 d/2 × d/2</a:t>
            </a:r>
          </a:p>
        </p:txBody>
      </p:sp>
      <p:sp>
        <p:nvSpPr>
          <p:cNvPr id="62" name="직사각형 61">
            <a:extLst>
              <a:ext uri="{FF2B5EF4-FFF2-40B4-BE49-F238E27FC236}">
                <a16:creationId xmlns:a16="http://schemas.microsoft.com/office/drawing/2014/main" id="{A7189019-37F1-41E4-8FD5-5F3D8AEF6CF5}"/>
              </a:ext>
            </a:extLst>
          </p:cNvPr>
          <p:cNvSpPr>
            <a:spLocks noGrp="1"/>
          </p:cNvSpPr>
          <p:nvPr/>
        </p:nvSpPr>
        <p:spPr>
          <a:xfrm>
            <a:off x="1042226" y="4851092"/>
            <a:ext cx="4490180" cy="354421"/>
          </a:xfrm>
          <a:prstGeom prst="rect">
            <a:avLst/>
          </a:prstGeom>
          <a:noFill/>
          <a:ln w="9525">
            <a:noFill/>
          </a:ln>
        </p:spPr>
        <p:txBody>
          <a:bodyPr wrap="none" lIns="0" tIns="0" rIns="0" bIns="0" anchor="ctr">
            <a:noAutofit/>
          </a:bodyPr>
          <a:lstStyle/>
          <a:p>
            <a:pPr algn="ctr">
              <a:defRPr sz="1425">
                <a:solidFill>
                  <a:srgbClr val="171717"/>
                </a:solidFill>
                <a:latin typeface="Malgun Gothic"/>
                <a:ea typeface="Malgun Gothic"/>
                <a:cs typeface="Malgun Gothic"/>
              </a:defRPr>
            </a:pPr>
            <a:r>
              <a:rPr sz="1425">
                <a:solidFill>
                  <a:srgbClr val="171717"/>
                </a:solidFill>
                <a:latin typeface="Malgun Gothic"/>
                <a:ea typeface="Malgun Gothic"/>
                <a:cs typeface="Malgun Gothic"/>
              </a:rPr>
              <a:t>8칸: 현재 점을 제외하면 최대 7개</a:t>
            </a:r>
          </a:p>
        </p:txBody>
      </p:sp>
    </p:spTree>
    <p:extLst>
      <p:ext uri="{BB962C8B-B14F-4D97-AF65-F5344CB8AC3E}">
        <p14:creationId xmlns:p14="http://schemas.microsoft.com/office/powerpoint/2010/main" val="28294346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3C8B6019-CB92-4661-AD2C-68EF5CE09634}"/>
              </a:ext>
            </a:extLst>
          </p:cNvPr>
          <p:cNvSpPr>
            <a:spLocks noGrp="1"/>
          </p:cNvSpPr>
          <p:nvPr/>
        </p:nvSpPr>
        <p:spPr>
          <a:xfrm>
            <a:off x="859536" y="1801368"/>
            <a:ext cx="68122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closest_pair.py</a:t>
            </a:r>
            <a:endParaRPr sz="900"/>
          </a:p>
        </p:txBody>
      </p:sp>
      <p:sp>
        <p:nvSpPr>
          <p:cNvPr id="17" name="Text 13">
            <a:extLst>
              <a:ext uri="{FF2B5EF4-FFF2-40B4-BE49-F238E27FC236}">
                <a16:creationId xmlns:a16="http://schemas.microsoft.com/office/drawing/2014/main" id="{57EB34D0-FE81-4A64-9FCA-D2B537F6F9FE}"/>
              </a:ext>
            </a:extLst>
          </p:cNvPr>
          <p:cNvSpPr>
            <a:spLocks noGrp="1"/>
          </p:cNvSpPr>
          <p:nvPr/>
        </p:nvSpPr>
        <p:spPr>
          <a:xfrm>
            <a:off x="8860536" y="1965960"/>
            <a:ext cx="24140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기저 사례: 점 3개 이하</a:t>
            </a:r>
            <a:endParaRPr sz="1200"/>
          </a:p>
        </p:txBody>
      </p:sp>
      <p:sp>
        <p:nvSpPr>
          <p:cNvPr id="18" name="Text 14">
            <a:extLst>
              <a:ext uri="{FF2B5EF4-FFF2-40B4-BE49-F238E27FC236}">
                <a16:creationId xmlns:a16="http://schemas.microsoft.com/office/drawing/2014/main" id="{8020A5F8-4780-4601-872A-9763E5401038}"/>
              </a:ext>
            </a:extLst>
          </p:cNvPr>
          <p:cNvSpPr>
            <a:spLocks noGrp="1"/>
          </p:cNvSpPr>
          <p:nvPr/>
        </p:nvSpPr>
        <p:spPr>
          <a:xfrm>
            <a:off x="8860536" y="2313432"/>
            <a:ext cx="2414016" cy="868680"/>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점이 3개 이하면 나누는 비용이 오히려 크다. 그냥 완전 탐색으로 푼다.</a:t>
            </a:r>
            <a:endParaRPr sz="1080"/>
          </a:p>
        </p:txBody>
      </p:sp>
      <p:sp>
        <p:nvSpPr>
          <p:cNvPr id="22" name="Text 17">
            <a:extLst>
              <a:ext uri="{FF2B5EF4-FFF2-40B4-BE49-F238E27FC236}">
                <a16:creationId xmlns:a16="http://schemas.microsoft.com/office/drawing/2014/main" id="{1D1E514B-F7A3-4BE5-BA11-A520E2DE3234}"/>
              </a:ext>
            </a:extLst>
          </p:cNvPr>
          <p:cNvSpPr>
            <a:spLocks noGrp="1"/>
          </p:cNvSpPr>
          <p:nvPr/>
        </p:nvSpPr>
        <p:spPr>
          <a:xfrm>
            <a:off x="8860536" y="3712464"/>
            <a:ext cx="24140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strip 추출</a:t>
            </a:r>
            <a:endParaRPr sz="1200"/>
          </a:p>
        </p:txBody>
      </p:sp>
      <p:sp>
        <p:nvSpPr>
          <p:cNvPr id="23" name="Text 18">
            <a:extLst>
              <a:ext uri="{FF2B5EF4-FFF2-40B4-BE49-F238E27FC236}">
                <a16:creationId xmlns:a16="http://schemas.microsoft.com/office/drawing/2014/main" id="{E30E643D-2CAB-4C64-89E0-B75A49A05F28}"/>
              </a:ext>
            </a:extLst>
          </p:cNvPr>
          <p:cNvSpPr>
            <a:spLocks noGrp="1"/>
          </p:cNvSpPr>
          <p:nvPr/>
        </p:nvSpPr>
        <p:spPr>
          <a:xfrm>
            <a:off x="8860536" y="4059936"/>
            <a:ext cx="2414016" cy="548640"/>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리스트 컴프리헨션 한 줄로 후보를 골라낸다.</a:t>
            </a:r>
            <a:endParaRPr sz="1080"/>
          </a:p>
        </p:txBody>
      </p:sp>
      <p:sp>
        <p:nvSpPr>
          <p:cNvPr id="27" name="Text 21">
            <a:extLst>
              <a:ext uri="{FF2B5EF4-FFF2-40B4-BE49-F238E27FC236}">
                <a16:creationId xmlns:a16="http://schemas.microsoft.com/office/drawing/2014/main" id="{93E2B891-C85D-4E61-B5A5-8CBA5879DD22}"/>
              </a:ext>
            </a:extLst>
          </p:cNvPr>
          <p:cNvSpPr>
            <a:spLocks noGrp="1"/>
          </p:cNvSpPr>
          <p:nvPr/>
        </p:nvSpPr>
        <p:spPr>
          <a:xfrm>
            <a:off x="8860536" y="5138928"/>
            <a:ext cx="24140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min(i + 8, len)</a:t>
            </a:r>
            <a:endParaRPr sz="1200"/>
          </a:p>
        </p:txBody>
      </p:sp>
      <p:sp>
        <p:nvSpPr>
          <p:cNvPr id="28" name="Text 22">
            <a:extLst>
              <a:ext uri="{FF2B5EF4-FFF2-40B4-BE49-F238E27FC236}">
                <a16:creationId xmlns:a16="http://schemas.microsoft.com/office/drawing/2014/main" id="{A37E20E6-B703-4509-94D0-24C4D6DD6A26}"/>
              </a:ext>
            </a:extLst>
          </p:cNvPr>
          <p:cNvSpPr>
            <a:spLocks noGrp="1"/>
          </p:cNvSpPr>
          <p:nvPr/>
        </p:nvSpPr>
        <p:spPr>
          <a:xfrm>
            <a:off x="8860536" y="5486400"/>
            <a:ext cx="2414016" cy="475488"/>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증명 덕분에 안쪽 반복은 상수 횟수로 끝난다.</a:t>
            </a:r>
            <a:endParaRPr sz="1080"/>
          </a:p>
        </p:txBody>
      </p:sp>
      <p:sp>
        <p:nvSpPr>
          <p:cNvPr id="30" name="직사각형 29">
            <a:extLst>
              <a:ext uri="{FF2B5EF4-FFF2-40B4-BE49-F238E27FC236}">
                <a16:creationId xmlns:a16="http://schemas.microsoft.com/office/drawing/2014/main" id="{139FC754-C4B4-408F-91D0-AACD31E44A56}"/>
              </a:ext>
            </a:extLst>
          </p:cNvPr>
          <p:cNvSpPr>
            <a:spLocks noGrp="1"/>
          </p:cNvSpPr>
          <p:nvPr/>
        </p:nvSpPr>
        <p:spPr>
          <a:xfrm>
            <a:off x="8001000" y="1783080"/>
            <a:ext cx="3529584" cy="9525"/>
          </a:xfrm>
          <a:prstGeom prst="rect">
            <a:avLst/>
          </a:prstGeom>
          <a:solidFill>
            <a:srgbClr val="D4D4D4"/>
          </a:solidFill>
          <a:ln w="0">
            <a:noFill/>
          </a:ln>
        </p:spPr>
      </p:sp>
      <p:sp>
        <p:nvSpPr>
          <p:cNvPr id="31" name="직사각형 30">
            <a:extLst>
              <a:ext uri="{FF2B5EF4-FFF2-40B4-BE49-F238E27FC236}">
                <a16:creationId xmlns:a16="http://schemas.microsoft.com/office/drawing/2014/main" id="{C1AEBA7F-4F2F-49E0-B51C-B0791B244599}"/>
              </a:ext>
            </a:extLst>
          </p:cNvPr>
          <p:cNvSpPr>
            <a:spLocks noGrp="1"/>
          </p:cNvSpPr>
          <p:nvPr/>
        </p:nvSpPr>
        <p:spPr>
          <a:xfrm>
            <a:off x="8001000" y="3529584"/>
            <a:ext cx="3529584" cy="9525"/>
          </a:xfrm>
          <a:prstGeom prst="rect">
            <a:avLst/>
          </a:prstGeom>
          <a:solidFill>
            <a:srgbClr val="D4D4D4"/>
          </a:solidFill>
          <a:ln w="0">
            <a:noFill/>
          </a:ln>
        </p:spPr>
      </p:sp>
      <p:sp>
        <p:nvSpPr>
          <p:cNvPr id="32" name="직사각형 31">
            <a:extLst>
              <a:ext uri="{FF2B5EF4-FFF2-40B4-BE49-F238E27FC236}">
                <a16:creationId xmlns:a16="http://schemas.microsoft.com/office/drawing/2014/main" id="{0D30068D-904E-4AA0-BDFD-461A51EDDAA7}"/>
              </a:ext>
            </a:extLst>
          </p:cNvPr>
          <p:cNvSpPr>
            <a:spLocks noGrp="1"/>
          </p:cNvSpPr>
          <p:nvPr/>
        </p:nvSpPr>
        <p:spPr>
          <a:xfrm>
            <a:off x="8001000" y="4956048"/>
            <a:ext cx="3529584"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61F3B303-56B4-4ED9-85AD-271459510375}"/>
              </a:ext>
            </a:extLst>
          </p:cNvPr>
          <p:cNvSpPr>
            <a:spLocks noGrp="1"/>
          </p:cNvSpPr>
          <p:nvPr/>
        </p:nvSpPr>
        <p:spPr>
          <a:xfrm>
            <a:off x="698373" y="2090928"/>
            <a:ext cx="7152894" cy="4049268"/>
          </a:xfrm>
          <a:prstGeom prst="rect">
            <a:avLst/>
          </a:prstGeom>
          <a:solidFill>
            <a:srgbClr val="171717"/>
          </a:solidFill>
          <a:ln w="0">
            <a:noFill/>
          </a:ln>
        </p:spPr>
        <p:txBody>
          <a:bodyPr wrap="none" lIns="142875" tIns="76200" rIns="142875" bIns="76200" anchor="t">
            <a:noAutofit/>
          </a:bodyPr>
          <a:lstStyle/>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def ClosestPair(P):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if len(P) &lt;= 3:</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ClosestPairBruteForce(P)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mid = len(P) // 2</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Q = P[:mid]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 = P[mid:]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d_left  = ClosestPair(Q)</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d_right = ClosestPair(R)</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 = min(d_left, d_right)</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mid_x = P[mid].x</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strip = [p for p in P if abs(p.x - mid_x) &lt; 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strip.sort(key=lambda p: p.y)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for i in range(len(strip)):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for j in range(i + 1, min(i + 8, len(strip))):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if distance(strip[i], strip[j]) &lt; 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 = distance(strip[i], strip[j])</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d</a:t>
            </a:r>
          </a:p>
        </p:txBody>
      </p:sp>
      <p:sp>
        <p:nvSpPr>
          <p:cNvPr id="34" name="직사각형 33">
            <a:extLst>
              <a:ext uri="{FF2B5EF4-FFF2-40B4-BE49-F238E27FC236}">
                <a16:creationId xmlns:a16="http://schemas.microsoft.com/office/drawing/2014/main" id="{055F0052-780F-4F9E-88ED-0FD36DBABC8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5" name="직사각형 34">
            <a:extLst>
              <a:ext uri="{FF2B5EF4-FFF2-40B4-BE49-F238E27FC236}">
                <a16:creationId xmlns:a16="http://schemas.microsoft.com/office/drawing/2014/main" id="{46586C7C-32D2-4D64-B99B-AB1E5EBCBB57}"/>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6" name="직사각형 35">
            <a:extLst>
              <a:ext uri="{FF2B5EF4-FFF2-40B4-BE49-F238E27FC236}">
                <a16:creationId xmlns:a16="http://schemas.microsoft.com/office/drawing/2014/main" id="{B3C752BA-69C4-4D2C-A267-CA05846F20E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분할 정복 본체</a:t>
            </a:r>
          </a:p>
        </p:txBody>
      </p:sp>
      <p:sp>
        <p:nvSpPr>
          <p:cNvPr id="37" name="직사각형 36">
            <a:extLst>
              <a:ext uri="{FF2B5EF4-FFF2-40B4-BE49-F238E27FC236}">
                <a16:creationId xmlns:a16="http://schemas.microsoft.com/office/drawing/2014/main" id="{3206930D-544D-4780-BCF0-5491AEC33D63}"/>
              </a:ext>
            </a:extLst>
          </p:cNvPr>
          <p:cNvSpPr>
            <a:spLocks noGrp="1"/>
          </p:cNvSpPr>
          <p:nvPr/>
        </p:nvSpPr>
        <p:spPr>
          <a:xfrm>
            <a:off x="609600" y="1381125"/>
            <a:ext cx="10972800" cy="19050"/>
          </a:xfrm>
          <a:prstGeom prst="rect">
            <a:avLst/>
          </a:prstGeom>
          <a:solidFill>
            <a:srgbClr val="171717"/>
          </a:solidFill>
          <a:ln w="0">
            <a:noFill/>
          </a:ln>
        </p:spPr>
      </p:sp>
      <p:sp>
        <p:nvSpPr>
          <p:cNvPr id="38" name="직사각형 37">
            <a:extLst>
              <a:ext uri="{FF2B5EF4-FFF2-40B4-BE49-F238E27FC236}">
                <a16:creationId xmlns:a16="http://schemas.microsoft.com/office/drawing/2014/main" id="{A359A2C1-20A5-44B0-AE4C-FB974A0B2D1F}"/>
              </a:ext>
            </a:extLst>
          </p:cNvPr>
          <p:cNvSpPr>
            <a:spLocks noGrp="1"/>
          </p:cNvSpPr>
          <p:nvPr/>
        </p:nvSpPr>
        <p:spPr>
          <a:xfrm>
            <a:off x="609600" y="6438900"/>
            <a:ext cx="10972800"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AE8667E0-42DC-44EB-A631-E933DC08375B}"/>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0" name="직사각형 39">
            <a:extLst>
              <a:ext uri="{FF2B5EF4-FFF2-40B4-BE49-F238E27FC236}">
                <a16:creationId xmlns:a16="http://schemas.microsoft.com/office/drawing/2014/main" id="{52FDFE35-2551-4E3D-8001-B52AD2E80DD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49</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73287689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A5D01C4E-0069-4FC4-B554-FF06B65DBDB9}"/>
              </a:ext>
            </a:extLst>
          </p:cNvPr>
          <p:cNvSpPr>
            <a:spLocks noGrp="1"/>
          </p:cNvSpPr>
          <p:nvPr/>
        </p:nvSpPr>
        <p:spPr>
          <a:xfrm>
            <a:off x="859536" y="1801368"/>
            <a:ext cx="594360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15" name="Text 12">
            <a:extLst>
              <a:ext uri="{FF2B5EF4-FFF2-40B4-BE49-F238E27FC236}">
                <a16:creationId xmlns:a16="http://schemas.microsoft.com/office/drawing/2014/main" id="{B838829E-4C73-4DC4-8688-BAAF3BFFFC94}"/>
              </a:ext>
            </a:extLst>
          </p:cNvPr>
          <p:cNvSpPr>
            <a:spLocks noGrp="1"/>
          </p:cNvSpPr>
          <p:nvPr/>
        </p:nvSpPr>
        <p:spPr>
          <a:xfrm>
            <a:off x="877824" y="4224528"/>
            <a:ext cx="274320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16" name="Text 13">
            <a:extLst>
              <a:ext uri="{FF2B5EF4-FFF2-40B4-BE49-F238E27FC236}">
                <a16:creationId xmlns:a16="http://schemas.microsoft.com/office/drawing/2014/main" id="{2CEA1EF1-479B-4EAB-89BA-3F602C26858A}"/>
              </a:ext>
            </a:extLst>
          </p:cNvPr>
          <p:cNvSpPr>
            <a:spLocks noGrp="1"/>
          </p:cNvSpPr>
          <p:nvPr/>
        </p:nvSpPr>
        <p:spPr>
          <a:xfrm>
            <a:off x="877824" y="4535424"/>
            <a:ext cx="5852160" cy="548640"/>
          </a:xfrm>
          <a:prstGeom prst="rect">
            <a:avLst/>
          </a:prstGeom>
          <a:noFill/>
          <a:ln w="0">
            <a:noFill/>
          </a:ln>
        </p:spPr>
        <p:txBody>
          <a:bodyPr wrap="square" lIns="0" tIns="0" rIns="0" bIns="0" anchor="t">
            <a:noAutofit/>
          </a:bodyPr>
          <a:lstStyle/>
          <a:p>
            <a:pPr marL="0" indent="0" algn="l">
              <a:buNone/>
              <a:defRPr sz="1500" i="0">
                <a:solidFill>
                  <a:srgbClr val="171717"/>
                </a:solidFill>
                <a:latin typeface="Consolas"/>
                <a:ea typeface="Consolas"/>
                <a:cs typeface="Consolas"/>
              </a:defRPr>
            </a:pPr>
            <a:r>
              <a:rPr sz="1500" i="0">
                <a:solidFill>
                  <a:srgbClr val="171717"/>
                </a:solidFill>
                <a:latin typeface="Consolas"/>
                <a:ea typeface="Consolas"/>
                <a:cs typeface="Consolas"/>
              </a:rPr>
              <a:t>가장 가까운 두 점 사이의 거리: 1.4142135623730951</a:t>
            </a:r>
            <a:endParaRPr sz="1000"/>
          </a:p>
        </p:txBody>
      </p:sp>
      <p:sp>
        <p:nvSpPr>
          <p:cNvPr id="20" name="Text 16">
            <a:extLst>
              <a:ext uri="{FF2B5EF4-FFF2-40B4-BE49-F238E27FC236}">
                <a16:creationId xmlns:a16="http://schemas.microsoft.com/office/drawing/2014/main" id="{949FD166-88F6-4569-9E5C-A6C7304F7E64}"/>
              </a:ext>
            </a:extLst>
          </p:cNvPr>
          <p:cNvSpPr>
            <a:spLocks noGrp="1"/>
          </p:cNvSpPr>
          <p:nvPr/>
        </p:nvSpPr>
        <p:spPr>
          <a:xfrm>
            <a:off x="1517904" y="5632704"/>
            <a:ext cx="5193792" cy="365760"/>
          </a:xfrm>
          <a:prstGeom prst="rect">
            <a:avLst/>
          </a:prstGeom>
          <a:noFill/>
          <a:ln w="0">
            <a:noFill/>
          </a:ln>
        </p:spPr>
        <p:txBody>
          <a:bodyPr wrap="square" lIns="0" tIns="0" rIns="0" bIns="0" anchor="ctr">
            <a:noAutofit/>
          </a:bodyPr>
          <a:lstStyle/>
          <a:p>
            <a:pPr marL="0" indent="0" algn="l">
              <a:lnSpc>
                <a:spcPct val="134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(2, 3)과 (3, 4) 사이의 거리 √2 ≈ 1.414 가 정답이다.</a:t>
            </a:r>
            <a:endParaRPr sz="1200"/>
          </a:p>
        </p:txBody>
      </p:sp>
      <p:sp>
        <p:nvSpPr>
          <p:cNvPr id="24" name="Text 19">
            <a:extLst>
              <a:ext uri="{FF2B5EF4-FFF2-40B4-BE49-F238E27FC236}">
                <a16:creationId xmlns:a16="http://schemas.microsoft.com/office/drawing/2014/main" id="{36AC1859-EB43-46A7-94FF-15CA060BB80D}"/>
              </a:ext>
            </a:extLst>
          </p:cNvPr>
          <p:cNvSpPr>
            <a:spLocks noGrp="1"/>
          </p:cNvSpPr>
          <p:nvPr/>
        </p:nvSpPr>
        <p:spPr>
          <a:xfrm>
            <a:off x="7461504" y="1783080"/>
            <a:ext cx="685800" cy="694944"/>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분할</a:t>
            </a:r>
            <a:endParaRPr sz="1250"/>
          </a:p>
        </p:txBody>
      </p:sp>
      <p:sp>
        <p:nvSpPr>
          <p:cNvPr id="25" name="Text 20">
            <a:extLst>
              <a:ext uri="{FF2B5EF4-FFF2-40B4-BE49-F238E27FC236}">
                <a16:creationId xmlns:a16="http://schemas.microsoft.com/office/drawing/2014/main" id="{88A12D14-A190-4203-B7B8-33C5C9BBC010}"/>
              </a:ext>
            </a:extLst>
          </p:cNvPr>
          <p:cNvSpPr>
            <a:spLocks noGrp="1"/>
          </p:cNvSpPr>
          <p:nvPr/>
        </p:nvSpPr>
        <p:spPr>
          <a:xfrm>
            <a:off x="8138160" y="1783080"/>
            <a:ext cx="2148840" cy="694944"/>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x좌표 기준으로 절반</a:t>
            </a:r>
            <a:endParaRPr sz="1050"/>
          </a:p>
        </p:txBody>
      </p:sp>
      <p:sp>
        <p:nvSpPr>
          <p:cNvPr id="26" name="Text 21">
            <a:extLst>
              <a:ext uri="{FF2B5EF4-FFF2-40B4-BE49-F238E27FC236}">
                <a16:creationId xmlns:a16="http://schemas.microsoft.com/office/drawing/2014/main" id="{012A0570-3568-497A-93C4-09CB7FF7BDC5}"/>
              </a:ext>
            </a:extLst>
          </p:cNvPr>
          <p:cNvSpPr>
            <a:spLocks noGrp="1"/>
          </p:cNvSpPr>
          <p:nvPr/>
        </p:nvSpPr>
        <p:spPr>
          <a:xfrm>
            <a:off x="10287000" y="1783080"/>
            <a:ext cx="1097280" cy="694944"/>
          </a:xfrm>
          <a:prstGeom prst="rect">
            <a:avLst/>
          </a:prstGeom>
          <a:noFill/>
          <a:ln w="0">
            <a:noFill/>
          </a:ln>
        </p:spPr>
        <p:txBody>
          <a:bodyPr wrap="square" lIns="0" tIns="0" rIns="0" bIns="0" anchor="ctr">
            <a:noAutofit/>
          </a:bodyPr>
          <a:lstStyle/>
          <a:p>
            <a:pPr marL="0" indent="0" algn="r">
              <a:buNone/>
              <a:defRPr sz="1100" i="0">
                <a:solidFill>
                  <a:srgbClr val="171717"/>
                </a:solidFill>
                <a:latin typeface="Consolas"/>
                <a:ea typeface="Consolas"/>
                <a:cs typeface="Consolas"/>
              </a:defRPr>
            </a:pPr>
            <a:r>
              <a:rPr sz="1100" b="1" i="0">
                <a:solidFill>
                  <a:srgbClr val="171717"/>
                </a:solidFill>
                <a:latin typeface="Consolas"/>
                <a:ea typeface="Consolas"/>
                <a:cs typeface="Consolas"/>
              </a:rPr>
              <a:t>O(n)</a:t>
            </a:r>
            <a:endParaRPr sz="1100"/>
          </a:p>
        </p:txBody>
      </p:sp>
      <p:sp>
        <p:nvSpPr>
          <p:cNvPr id="30" name="Text 24">
            <a:extLst>
              <a:ext uri="{FF2B5EF4-FFF2-40B4-BE49-F238E27FC236}">
                <a16:creationId xmlns:a16="http://schemas.microsoft.com/office/drawing/2014/main" id="{E60C767F-5944-40EC-98ED-DFC621F7FE3A}"/>
              </a:ext>
            </a:extLst>
          </p:cNvPr>
          <p:cNvSpPr>
            <a:spLocks noGrp="1"/>
          </p:cNvSpPr>
          <p:nvPr/>
        </p:nvSpPr>
        <p:spPr>
          <a:xfrm>
            <a:off x="7461504" y="2606040"/>
            <a:ext cx="685800" cy="694944"/>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정복</a:t>
            </a:r>
            <a:endParaRPr sz="1250"/>
          </a:p>
        </p:txBody>
      </p:sp>
      <p:sp>
        <p:nvSpPr>
          <p:cNvPr id="31" name="Text 25">
            <a:extLst>
              <a:ext uri="{FF2B5EF4-FFF2-40B4-BE49-F238E27FC236}">
                <a16:creationId xmlns:a16="http://schemas.microsoft.com/office/drawing/2014/main" id="{D85BED6D-86CD-4B5D-92DF-3CF28DD0E3AA}"/>
              </a:ext>
            </a:extLst>
          </p:cNvPr>
          <p:cNvSpPr>
            <a:spLocks noGrp="1"/>
          </p:cNvSpPr>
          <p:nvPr/>
        </p:nvSpPr>
        <p:spPr>
          <a:xfrm>
            <a:off x="8138160" y="2606040"/>
            <a:ext cx="2148840" cy="694944"/>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두 개의 절반 문제 재귀</a:t>
            </a:r>
            <a:endParaRPr sz="1050"/>
          </a:p>
        </p:txBody>
      </p:sp>
      <p:sp>
        <p:nvSpPr>
          <p:cNvPr id="32" name="Text 26">
            <a:extLst>
              <a:ext uri="{FF2B5EF4-FFF2-40B4-BE49-F238E27FC236}">
                <a16:creationId xmlns:a16="http://schemas.microsoft.com/office/drawing/2014/main" id="{DE953FB0-6826-4166-AE84-8B802701B472}"/>
              </a:ext>
            </a:extLst>
          </p:cNvPr>
          <p:cNvSpPr>
            <a:spLocks noGrp="1"/>
          </p:cNvSpPr>
          <p:nvPr/>
        </p:nvSpPr>
        <p:spPr>
          <a:xfrm>
            <a:off x="10287000" y="2606040"/>
            <a:ext cx="1097280" cy="694944"/>
          </a:xfrm>
          <a:prstGeom prst="rect">
            <a:avLst/>
          </a:prstGeom>
          <a:noFill/>
          <a:ln w="0">
            <a:noFill/>
          </a:ln>
        </p:spPr>
        <p:txBody>
          <a:bodyPr wrap="square" lIns="0" tIns="0" rIns="0" bIns="0" anchor="ctr">
            <a:noAutofit/>
          </a:bodyPr>
          <a:lstStyle/>
          <a:p>
            <a:pPr marL="0" indent="0" algn="r">
              <a:buNone/>
              <a:defRPr sz="1100" i="0">
                <a:solidFill>
                  <a:srgbClr val="171717"/>
                </a:solidFill>
                <a:latin typeface="Consolas"/>
                <a:ea typeface="Consolas"/>
                <a:cs typeface="Consolas"/>
              </a:defRPr>
            </a:pPr>
            <a:r>
              <a:rPr sz="1100" b="1" i="0">
                <a:solidFill>
                  <a:srgbClr val="171717"/>
                </a:solidFill>
                <a:latin typeface="Consolas"/>
                <a:ea typeface="Consolas"/>
                <a:cs typeface="Consolas"/>
              </a:rPr>
              <a:t>2T(n/2)</a:t>
            </a:r>
            <a:endParaRPr sz="1100"/>
          </a:p>
        </p:txBody>
      </p:sp>
      <p:sp>
        <p:nvSpPr>
          <p:cNvPr id="36" name="Text 29">
            <a:extLst>
              <a:ext uri="{FF2B5EF4-FFF2-40B4-BE49-F238E27FC236}">
                <a16:creationId xmlns:a16="http://schemas.microsoft.com/office/drawing/2014/main" id="{212F6845-AC12-4E10-905B-F83D424DC855}"/>
              </a:ext>
            </a:extLst>
          </p:cNvPr>
          <p:cNvSpPr>
            <a:spLocks noGrp="1"/>
          </p:cNvSpPr>
          <p:nvPr/>
        </p:nvSpPr>
        <p:spPr>
          <a:xfrm>
            <a:off x="7461504" y="3429000"/>
            <a:ext cx="685800" cy="694944"/>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결합</a:t>
            </a:r>
            <a:endParaRPr sz="1250"/>
          </a:p>
        </p:txBody>
      </p:sp>
      <p:sp>
        <p:nvSpPr>
          <p:cNvPr id="37" name="Text 30">
            <a:extLst>
              <a:ext uri="{FF2B5EF4-FFF2-40B4-BE49-F238E27FC236}">
                <a16:creationId xmlns:a16="http://schemas.microsoft.com/office/drawing/2014/main" id="{8778BAC9-612C-47EA-A940-ED7067294C37}"/>
              </a:ext>
            </a:extLst>
          </p:cNvPr>
          <p:cNvSpPr>
            <a:spLocks noGrp="1"/>
          </p:cNvSpPr>
          <p:nvPr/>
        </p:nvSpPr>
        <p:spPr>
          <a:xfrm>
            <a:off x="8138160" y="3429000"/>
            <a:ext cx="2148840" cy="694944"/>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strip 정렬 + 상수 회 비교</a:t>
            </a:r>
            <a:endParaRPr sz="1050"/>
          </a:p>
        </p:txBody>
      </p:sp>
      <p:sp>
        <p:nvSpPr>
          <p:cNvPr id="38" name="Text 31">
            <a:extLst>
              <a:ext uri="{FF2B5EF4-FFF2-40B4-BE49-F238E27FC236}">
                <a16:creationId xmlns:a16="http://schemas.microsoft.com/office/drawing/2014/main" id="{7448E372-B42D-4128-A388-4553948B9095}"/>
              </a:ext>
            </a:extLst>
          </p:cNvPr>
          <p:cNvSpPr>
            <a:spLocks noGrp="1"/>
          </p:cNvSpPr>
          <p:nvPr/>
        </p:nvSpPr>
        <p:spPr>
          <a:xfrm>
            <a:off x="10287000" y="3429000"/>
            <a:ext cx="1097280" cy="694944"/>
          </a:xfrm>
          <a:prstGeom prst="rect">
            <a:avLst/>
          </a:prstGeom>
          <a:noFill/>
          <a:ln w="0">
            <a:noFill/>
          </a:ln>
        </p:spPr>
        <p:txBody>
          <a:bodyPr wrap="square" lIns="0" tIns="0" rIns="0" bIns="0" anchor="ctr">
            <a:noAutofit/>
          </a:bodyPr>
          <a:lstStyle/>
          <a:p>
            <a:pPr marL="0" indent="0" algn="r">
              <a:buNone/>
              <a:defRPr sz="1100" i="0">
                <a:solidFill>
                  <a:srgbClr val="171717"/>
                </a:solidFill>
                <a:latin typeface="Consolas"/>
                <a:ea typeface="Consolas"/>
                <a:cs typeface="Consolas"/>
              </a:defRPr>
            </a:pPr>
            <a:r>
              <a:rPr sz="1100" b="1" i="0">
                <a:solidFill>
                  <a:srgbClr val="171717"/>
                </a:solidFill>
                <a:latin typeface="Consolas"/>
                <a:ea typeface="Consolas"/>
                <a:cs typeface="Consolas"/>
              </a:rPr>
              <a:t>O(n log n)</a:t>
            </a:r>
            <a:endParaRPr sz="1100"/>
          </a:p>
        </p:txBody>
      </p:sp>
      <p:sp>
        <p:nvSpPr>
          <p:cNvPr id="40" name="Text 33">
            <a:extLst>
              <a:ext uri="{FF2B5EF4-FFF2-40B4-BE49-F238E27FC236}">
                <a16:creationId xmlns:a16="http://schemas.microsoft.com/office/drawing/2014/main" id="{D3ADBF62-25CD-4BC4-95FD-55CD50EC66A6}"/>
              </a:ext>
            </a:extLst>
          </p:cNvPr>
          <p:cNvSpPr>
            <a:spLocks noGrp="1"/>
          </p:cNvSpPr>
          <p:nvPr/>
        </p:nvSpPr>
        <p:spPr>
          <a:xfrm>
            <a:off x="6967728" y="4526280"/>
            <a:ext cx="4379976" cy="548640"/>
          </a:xfrm>
          <a:prstGeom prst="rect">
            <a:avLst/>
          </a:prstGeom>
          <a:noFill/>
          <a:ln w="0">
            <a:noFill/>
          </a:ln>
        </p:spPr>
        <p:txBody>
          <a:bodyPr wrap="square" lIns="0" tIns="0" rIns="0" bIns="0" anchor="ctr">
            <a:noAutofit/>
          </a:bodyPr>
          <a:lstStyle/>
          <a:p>
            <a:pPr marL="0" indent="0" algn="ctr">
              <a:buNone/>
              <a:defRPr sz="1700" i="0">
                <a:solidFill>
                  <a:srgbClr val="171717"/>
                </a:solidFill>
                <a:latin typeface="Malgun Gothic"/>
                <a:ea typeface="Malgun Gothic"/>
                <a:cs typeface="Malgun Gothic"/>
              </a:defRPr>
            </a:pPr>
            <a:r>
              <a:rPr sz="1700" b="1" i="0">
                <a:solidFill>
                  <a:srgbClr val="171717"/>
                </a:solidFill>
                <a:latin typeface="Malgun Gothic"/>
                <a:ea typeface="Malgun Gothic"/>
                <a:cs typeface="Malgun Gothic"/>
              </a:rPr>
              <a:t>현재 코드: T(n) = 2T(n/2) + O(n log n)</a:t>
            </a:r>
            <a:endParaRPr sz="1700"/>
          </a:p>
        </p:txBody>
      </p:sp>
      <p:sp>
        <p:nvSpPr>
          <p:cNvPr id="41" name="Shape 34">
            <a:extLst>
              <a:ext uri="{FF2B5EF4-FFF2-40B4-BE49-F238E27FC236}">
                <a16:creationId xmlns:a16="http://schemas.microsoft.com/office/drawing/2014/main" id="{2FE052DD-D734-43C8-852E-2DA3D5BE8B8B}"/>
              </a:ext>
            </a:extLst>
          </p:cNvPr>
          <p:cNvSpPr>
            <a:spLocks noGrp="1"/>
          </p:cNvSpPr>
          <p:nvPr/>
        </p:nvSpPr>
        <p:spPr>
          <a:xfrm>
            <a:off x="8979408" y="5175504"/>
            <a:ext cx="365760" cy="237744"/>
          </a:xfrm>
          <a:prstGeom prst="rightArrow">
            <a:avLst/>
          </a:prstGeom>
          <a:solidFill>
            <a:srgbClr val="E9E9E9"/>
          </a:solidFill>
          <a:ln w="5715">
            <a:solidFill>
              <a:srgbClr val="D4D4D4"/>
            </a:solidFill>
          </a:ln>
        </p:spPr>
      </p:sp>
      <p:sp>
        <p:nvSpPr>
          <p:cNvPr id="42" name="Text 35">
            <a:extLst>
              <a:ext uri="{FF2B5EF4-FFF2-40B4-BE49-F238E27FC236}">
                <a16:creationId xmlns:a16="http://schemas.microsoft.com/office/drawing/2014/main" id="{FA4B5BC4-DEFB-4145-A6F6-B072A811C4BE}"/>
              </a:ext>
            </a:extLst>
          </p:cNvPr>
          <p:cNvSpPr>
            <a:spLocks noGrp="1"/>
          </p:cNvSpPr>
          <p:nvPr/>
        </p:nvSpPr>
        <p:spPr>
          <a:xfrm>
            <a:off x="6967728" y="5468112"/>
            <a:ext cx="4379976" cy="566928"/>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sz="2400" b="1" i="0">
                <a:solidFill>
                  <a:srgbClr val="171717"/>
                </a:solidFill>
                <a:latin typeface="Malgun Gothic"/>
                <a:ea typeface="Malgun Gothic"/>
                <a:cs typeface="Malgun Gothic"/>
              </a:rPr>
              <a:t>O(n log² n)</a:t>
            </a:r>
            <a:endParaRPr sz="2400"/>
          </a:p>
        </p:txBody>
      </p:sp>
      <p:sp>
        <p:nvSpPr>
          <p:cNvPr id="44" name="직사각형 43">
            <a:extLst>
              <a:ext uri="{FF2B5EF4-FFF2-40B4-BE49-F238E27FC236}">
                <a16:creationId xmlns:a16="http://schemas.microsoft.com/office/drawing/2014/main" id="{8B684191-950E-4EF5-938B-057242115D21}"/>
              </a:ext>
            </a:extLst>
          </p:cNvPr>
          <p:cNvSpPr>
            <a:spLocks noGrp="1"/>
          </p:cNvSpPr>
          <p:nvPr/>
        </p:nvSpPr>
        <p:spPr>
          <a:xfrm>
            <a:off x="658368" y="5468112"/>
            <a:ext cx="6309360" cy="9525"/>
          </a:xfrm>
          <a:prstGeom prst="rect">
            <a:avLst/>
          </a:prstGeom>
          <a:solidFill>
            <a:srgbClr val="D4D4D4"/>
          </a:solidFill>
          <a:ln w="0">
            <a:noFill/>
          </a:ln>
        </p:spPr>
      </p:sp>
      <p:sp>
        <p:nvSpPr>
          <p:cNvPr id="45" name="직사각형 44">
            <a:extLst>
              <a:ext uri="{FF2B5EF4-FFF2-40B4-BE49-F238E27FC236}">
                <a16:creationId xmlns:a16="http://schemas.microsoft.com/office/drawing/2014/main" id="{BB1D226F-F259-4BAA-AEF1-37A348B70093}"/>
              </a:ext>
            </a:extLst>
          </p:cNvPr>
          <p:cNvSpPr>
            <a:spLocks noGrp="1"/>
          </p:cNvSpPr>
          <p:nvPr/>
        </p:nvSpPr>
        <p:spPr>
          <a:xfrm>
            <a:off x="698373" y="2090928"/>
            <a:ext cx="6284214" cy="1808988"/>
          </a:xfrm>
          <a:prstGeom prst="rect">
            <a:avLst/>
          </a:prstGeom>
          <a:solidFill>
            <a:srgbClr val="171717"/>
          </a:solidFill>
          <a:ln w="0">
            <a:noFill/>
          </a:ln>
        </p:spPr>
        <p:txBody>
          <a:bodyPr wrap="none" lIns="142875" tIns="76200" rIns="142875" bIns="76200" anchor="t">
            <a:noAutofit/>
          </a:bodyPr>
          <a:lstStyle/>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points = [</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    Point(2, 3), Point(3, 4), Point(5, 1),</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    Point(12, 10), Point(12, 30), Point(40, 50)</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a:t>
            </a:r>
          </a:p>
          <a:p>
            <a:pPr algn="l">
              <a:lnSpc>
                <a:spcPct val="103000"/>
              </a:lnSpc>
              <a:buNone/>
              <a:defRPr sz="1275" b="0" i="0">
                <a:solidFill>
                  <a:srgbClr val="FFFFFF"/>
                </a:solidFill>
                <a:latin typeface="Consolas"/>
                <a:ea typeface="Consolas"/>
                <a:cs typeface="Consolas"/>
              </a:defRPr>
            </a:pPr>
            <a:r>
              <a:rPr sz="1275" b="0" i="0" dirty="0" err="1">
                <a:solidFill>
                  <a:srgbClr val="FFFFFF"/>
                </a:solidFill>
                <a:latin typeface="Consolas"/>
                <a:ea typeface="Consolas"/>
                <a:cs typeface="Consolas"/>
              </a:rPr>
              <a:t>points_sorted_by_x</a:t>
            </a:r>
            <a:r>
              <a:rPr sz="1275" b="0" i="0" dirty="0">
                <a:solidFill>
                  <a:srgbClr val="FFFFFF"/>
                </a:solidFill>
                <a:latin typeface="Consolas"/>
                <a:ea typeface="Consolas"/>
                <a:cs typeface="Consolas"/>
              </a:rPr>
              <a:t> = sorted(points, key=lambda p: </a:t>
            </a:r>
            <a:r>
              <a:rPr sz="1275" b="0" i="0" dirty="0" err="1">
                <a:solidFill>
                  <a:srgbClr val="FFFFFF"/>
                </a:solidFill>
                <a:latin typeface="Consolas"/>
                <a:ea typeface="Consolas"/>
                <a:cs typeface="Consolas"/>
              </a:rPr>
              <a:t>p.x</a:t>
            </a:r>
            <a:r>
              <a:rPr sz="1275" b="0" i="0" dirty="0">
                <a:solidFill>
                  <a:srgbClr val="FFFFFF"/>
                </a:solidFill>
                <a:latin typeface="Consolas"/>
                <a:ea typeface="Consolas"/>
                <a:cs typeface="Consolas"/>
              </a:rPr>
              <a:t>)</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result = </a:t>
            </a:r>
            <a:r>
              <a:rPr sz="1275" b="0" i="0" dirty="0" err="1">
                <a:solidFill>
                  <a:srgbClr val="FFFFFF"/>
                </a:solidFill>
                <a:latin typeface="Consolas"/>
                <a:ea typeface="Consolas"/>
                <a:cs typeface="Consolas"/>
              </a:rPr>
              <a:t>ClosestPair</a:t>
            </a:r>
            <a:r>
              <a:rPr sz="1275" b="0" i="0" dirty="0">
                <a:solidFill>
                  <a:srgbClr val="FFFFFF"/>
                </a:solidFill>
                <a:latin typeface="Consolas"/>
                <a:ea typeface="Consolas"/>
                <a:cs typeface="Consolas"/>
              </a:rPr>
              <a:t>(</a:t>
            </a:r>
            <a:r>
              <a:rPr sz="1275" b="0" i="0" dirty="0" err="1">
                <a:solidFill>
                  <a:srgbClr val="FFFFFF"/>
                </a:solidFill>
                <a:latin typeface="Consolas"/>
                <a:ea typeface="Consolas"/>
                <a:cs typeface="Consolas"/>
              </a:rPr>
              <a:t>points_sorted_by_x</a:t>
            </a:r>
            <a:r>
              <a:rPr sz="1275" b="0" i="0" dirty="0">
                <a:solidFill>
                  <a:srgbClr val="FFFFFF"/>
                </a:solidFill>
                <a:latin typeface="Consolas"/>
                <a:ea typeface="Consolas"/>
                <a:cs typeface="Consolas"/>
              </a:rPr>
              <a:t>)</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print("</a:t>
            </a:r>
            <a:r>
              <a:rPr sz="1275" b="0" i="0" dirty="0" err="1">
                <a:solidFill>
                  <a:srgbClr val="FFFFFF"/>
                </a:solidFill>
                <a:latin typeface="Consolas"/>
                <a:ea typeface="Consolas"/>
                <a:cs typeface="Consolas"/>
              </a:rPr>
              <a:t>가장</a:t>
            </a:r>
            <a:r>
              <a:rPr sz="1275" b="0" i="0" dirty="0">
                <a:solidFill>
                  <a:srgbClr val="FFFFFF"/>
                </a:solidFill>
                <a:latin typeface="Consolas"/>
                <a:ea typeface="Consolas"/>
                <a:cs typeface="Consolas"/>
              </a:rPr>
              <a:t> </a:t>
            </a:r>
            <a:r>
              <a:rPr sz="1275" b="0" i="0" dirty="0" err="1">
                <a:solidFill>
                  <a:srgbClr val="FFFFFF"/>
                </a:solidFill>
                <a:latin typeface="Consolas"/>
                <a:ea typeface="Consolas"/>
                <a:cs typeface="Consolas"/>
              </a:rPr>
              <a:t>가까운</a:t>
            </a:r>
            <a:r>
              <a:rPr sz="1275" b="0" i="0" dirty="0">
                <a:solidFill>
                  <a:srgbClr val="FFFFFF"/>
                </a:solidFill>
                <a:latin typeface="Consolas"/>
                <a:ea typeface="Consolas"/>
                <a:cs typeface="Consolas"/>
              </a:rPr>
              <a:t> 두 점 </a:t>
            </a:r>
            <a:r>
              <a:rPr sz="1275" b="0" i="0" dirty="0" err="1">
                <a:solidFill>
                  <a:srgbClr val="FFFFFF"/>
                </a:solidFill>
                <a:latin typeface="Consolas"/>
                <a:ea typeface="Consolas"/>
                <a:cs typeface="Consolas"/>
              </a:rPr>
              <a:t>사이의</a:t>
            </a:r>
            <a:r>
              <a:rPr sz="1275" b="0" i="0" dirty="0">
                <a:solidFill>
                  <a:srgbClr val="FFFFFF"/>
                </a:solidFill>
                <a:latin typeface="Consolas"/>
                <a:ea typeface="Consolas"/>
                <a:cs typeface="Consolas"/>
              </a:rPr>
              <a:t> </a:t>
            </a:r>
            <a:r>
              <a:rPr sz="1275" b="0" i="0" dirty="0" err="1">
                <a:solidFill>
                  <a:srgbClr val="FFFFFF"/>
                </a:solidFill>
                <a:latin typeface="Consolas"/>
                <a:ea typeface="Consolas"/>
                <a:cs typeface="Consolas"/>
              </a:rPr>
              <a:t>거리</a:t>
            </a:r>
            <a:r>
              <a:rPr sz="1275" b="0" i="0" dirty="0">
                <a:solidFill>
                  <a:srgbClr val="FFFFFF"/>
                </a:solidFill>
                <a:latin typeface="Consolas"/>
                <a:ea typeface="Consolas"/>
                <a:cs typeface="Consolas"/>
              </a:rPr>
              <a:t>:", result)</a:t>
            </a:r>
          </a:p>
        </p:txBody>
      </p:sp>
      <p:sp>
        <p:nvSpPr>
          <p:cNvPr id="46" name="직사각형 45">
            <a:extLst>
              <a:ext uri="{FF2B5EF4-FFF2-40B4-BE49-F238E27FC236}">
                <a16:creationId xmlns:a16="http://schemas.microsoft.com/office/drawing/2014/main" id="{CA235A2B-A28E-4F59-8999-D9353718ECE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47" name="직사각형 46">
            <a:extLst>
              <a:ext uri="{FF2B5EF4-FFF2-40B4-BE49-F238E27FC236}">
                <a16:creationId xmlns:a16="http://schemas.microsoft.com/office/drawing/2014/main" id="{5E8532CD-B3A5-4E9C-B416-945AA30DDBD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8" name="직사각형 47">
            <a:extLst>
              <a:ext uri="{FF2B5EF4-FFF2-40B4-BE49-F238E27FC236}">
                <a16:creationId xmlns:a16="http://schemas.microsoft.com/office/drawing/2014/main" id="{3C9AE5B7-C77A-464E-A5BA-6471A4CAB93D}"/>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실행 결과와 시간 복잡도</a:t>
            </a:r>
          </a:p>
        </p:txBody>
      </p:sp>
      <p:sp>
        <p:nvSpPr>
          <p:cNvPr id="49" name="직사각형 48">
            <a:extLst>
              <a:ext uri="{FF2B5EF4-FFF2-40B4-BE49-F238E27FC236}">
                <a16:creationId xmlns:a16="http://schemas.microsoft.com/office/drawing/2014/main" id="{E1744152-EB9C-47B1-AD0A-30DB8F7E6A87}"/>
              </a:ext>
            </a:extLst>
          </p:cNvPr>
          <p:cNvSpPr>
            <a:spLocks noGrp="1"/>
          </p:cNvSpPr>
          <p:nvPr/>
        </p:nvSpPr>
        <p:spPr>
          <a:xfrm>
            <a:off x="609600" y="1381125"/>
            <a:ext cx="10972800" cy="19050"/>
          </a:xfrm>
          <a:prstGeom prst="rect">
            <a:avLst/>
          </a:prstGeom>
          <a:solidFill>
            <a:srgbClr val="171717"/>
          </a:solidFill>
          <a:ln w="0">
            <a:noFill/>
          </a:ln>
        </p:spPr>
      </p:sp>
      <p:sp>
        <p:nvSpPr>
          <p:cNvPr id="50" name="직사각형 49">
            <a:extLst>
              <a:ext uri="{FF2B5EF4-FFF2-40B4-BE49-F238E27FC236}">
                <a16:creationId xmlns:a16="http://schemas.microsoft.com/office/drawing/2014/main" id="{477387B5-D207-41D0-90DB-A8AB26BC8B14}"/>
              </a:ext>
            </a:extLst>
          </p:cNvPr>
          <p:cNvSpPr>
            <a:spLocks noGrp="1"/>
          </p:cNvSpPr>
          <p:nvPr/>
        </p:nvSpPr>
        <p:spPr>
          <a:xfrm>
            <a:off x="609600" y="6438900"/>
            <a:ext cx="10972800" cy="9525"/>
          </a:xfrm>
          <a:prstGeom prst="rect">
            <a:avLst/>
          </a:prstGeom>
          <a:solidFill>
            <a:srgbClr val="D4D4D4"/>
          </a:solidFill>
          <a:ln w="0">
            <a:noFill/>
          </a:ln>
        </p:spPr>
      </p:sp>
      <p:sp>
        <p:nvSpPr>
          <p:cNvPr id="51" name="직사각형 50">
            <a:extLst>
              <a:ext uri="{FF2B5EF4-FFF2-40B4-BE49-F238E27FC236}">
                <a16:creationId xmlns:a16="http://schemas.microsoft.com/office/drawing/2014/main" id="{E15DAA9F-E947-42ED-8DA7-C4D245CBD56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2" name="직사각형 51">
            <a:extLst>
              <a:ext uri="{FF2B5EF4-FFF2-40B4-BE49-F238E27FC236}">
                <a16:creationId xmlns:a16="http://schemas.microsoft.com/office/drawing/2014/main" id="{8773774B-4417-42D7-A645-50F2415C914C}"/>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50</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91652764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6FBE9DEE-9F54-4FA8-8594-D511B1AD8F14}"/>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5B89C13B-2173-48A6-9783-E0AA87447162}"/>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4.6</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C4474270-730B-49BA-82EB-79B013B8FD4D}"/>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F1EEF6D6-2950-4852-84C1-592174BC58C4}"/>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쿼드 트리</a:t>
            </a:r>
          </a:p>
        </p:txBody>
      </p:sp>
      <p:sp>
        <p:nvSpPr>
          <p:cNvPr id="5" name="직사각형 4">
            <a:extLst>
              <a:ext uri="{FF2B5EF4-FFF2-40B4-BE49-F238E27FC236}">
                <a16:creationId xmlns:a16="http://schemas.microsoft.com/office/drawing/2014/main" id="{8448192B-6CA0-4A71-8960-FB5DA8636EE4}"/>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Quadtree</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2차원 공간을 재귀적으로 4등분하는 자료 구조</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이미지 압축부터 게임 충돌 감지까지</a:t>
            </a:r>
          </a:p>
        </p:txBody>
      </p:sp>
      <p:sp>
        <p:nvSpPr>
          <p:cNvPr id="6" name="직사각형 5">
            <a:extLst>
              <a:ext uri="{FF2B5EF4-FFF2-40B4-BE49-F238E27FC236}">
                <a16:creationId xmlns:a16="http://schemas.microsoft.com/office/drawing/2014/main" id="{9AB1434A-720C-4C8B-9CFC-4D28DF04A3EE}"/>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2E8C1D35-5E1E-4B61-832A-85C0BB3F6993}"/>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3F2DD91B-6964-4367-9009-A629E14891D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51</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26685264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3278D3ED-814F-496F-9247-07517D38524D}"/>
              </a:ext>
            </a:extLst>
          </p:cNvPr>
          <p:cNvSpPr>
            <a:spLocks noGrp="1"/>
          </p:cNvSpPr>
          <p:nvPr/>
        </p:nvSpPr>
        <p:spPr>
          <a:xfrm>
            <a:off x="658368" y="1737360"/>
            <a:ext cx="5349240" cy="109728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dirty="0" err="1">
                <a:solidFill>
                  <a:srgbClr val="606060"/>
                </a:solidFill>
                <a:latin typeface="Malgun Gothic"/>
                <a:ea typeface="Malgun Gothic"/>
                <a:cs typeface="Malgun Gothic"/>
              </a:rPr>
              <a:t>쿼드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트리</a:t>
            </a:r>
            <a:r>
              <a:rPr sz="1500" i="0" dirty="0">
                <a:solidFill>
                  <a:srgbClr val="606060"/>
                </a:solidFill>
                <a:latin typeface="Malgun Gothic"/>
                <a:ea typeface="Malgun Gothic"/>
                <a:cs typeface="Malgun Gothic"/>
              </a:rPr>
              <a:t>(quadtree)는 2차원 </a:t>
            </a:r>
            <a:r>
              <a:rPr sz="1500" i="0" dirty="0" err="1">
                <a:solidFill>
                  <a:srgbClr val="606060"/>
                </a:solidFill>
                <a:latin typeface="Malgun Gothic"/>
                <a:ea typeface="Malgun Gothic"/>
                <a:cs typeface="Malgun Gothic"/>
              </a:rPr>
              <a:t>공간을</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재귀적으로</a:t>
            </a:r>
            <a:r>
              <a:rPr sz="1500" i="0" dirty="0">
                <a:solidFill>
                  <a:srgbClr val="606060"/>
                </a:solidFill>
                <a:latin typeface="Malgun Gothic"/>
                <a:ea typeface="Malgun Gothic"/>
                <a:cs typeface="Malgun Gothic"/>
              </a:rPr>
              <a:t> 4개의 </a:t>
            </a:r>
            <a:r>
              <a:rPr sz="1500" i="0" dirty="0" err="1">
                <a:solidFill>
                  <a:srgbClr val="606060"/>
                </a:solidFill>
                <a:latin typeface="Malgun Gothic"/>
                <a:ea typeface="Malgun Gothic"/>
                <a:cs typeface="Malgun Gothic"/>
              </a:rPr>
              <a:t>구역</a:t>
            </a:r>
            <a:r>
              <a:rPr sz="1500" i="0" dirty="0">
                <a:solidFill>
                  <a:srgbClr val="606060"/>
                </a:solidFill>
                <a:latin typeface="Malgun Gothic"/>
                <a:ea typeface="Malgun Gothic"/>
                <a:cs typeface="Malgun Gothic"/>
              </a:rPr>
              <a:t>(</a:t>
            </a:r>
            <a:r>
              <a:rPr sz="1500" i="0" dirty="0" err="1">
                <a:solidFill>
                  <a:srgbClr val="606060"/>
                </a:solidFill>
                <a:latin typeface="Malgun Gothic"/>
                <a:ea typeface="Malgun Gothic"/>
                <a:cs typeface="Malgun Gothic"/>
              </a:rPr>
              <a:t>사분면</a:t>
            </a:r>
            <a:r>
              <a:rPr sz="1500" i="0" dirty="0">
                <a:solidFill>
                  <a:srgbClr val="606060"/>
                </a:solidFill>
                <a:latin typeface="Malgun Gothic"/>
                <a:ea typeface="Malgun Gothic"/>
                <a:cs typeface="Malgun Gothic"/>
              </a:rPr>
              <a:t>)</a:t>
            </a:r>
            <a:r>
              <a:rPr sz="1500" i="0" dirty="0" err="1">
                <a:solidFill>
                  <a:srgbClr val="606060"/>
                </a:solidFill>
                <a:latin typeface="Malgun Gothic"/>
                <a:ea typeface="Malgun Gothic"/>
                <a:cs typeface="Malgun Gothic"/>
              </a:rPr>
              <a:t>으로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분할하여</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데이터를</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효율적으로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표현하는</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자료</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구조다</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이진</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탐색이</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탐색</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범위를</a:t>
            </a:r>
            <a:r>
              <a:rPr sz="1500" i="0" dirty="0">
                <a:solidFill>
                  <a:srgbClr val="606060"/>
                </a:solidFill>
                <a:latin typeface="Malgun Gothic"/>
                <a:ea typeface="Malgun Gothic"/>
                <a:cs typeface="Malgun Gothic"/>
              </a:rPr>
              <a:t> 1/2씩 </a:t>
            </a:r>
            <a:r>
              <a:rPr sz="1500" i="0" dirty="0" err="1">
                <a:solidFill>
                  <a:srgbClr val="606060"/>
                </a:solidFill>
                <a:latin typeface="Malgun Gothic"/>
                <a:ea typeface="Malgun Gothic"/>
                <a:cs typeface="Malgun Gothic"/>
              </a:rPr>
              <a:t>줄여나갔다면</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쿼드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트리는</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평면을</a:t>
            </a:r>
            <a:r>
              <a:rPr sz="1500" i="0" dirty="0">
                <a:solidFill>
                  <a:srgbClr val="606060"/>
                </a:solidFill>
                <a:latin typeface="Malgun Gothic"/>
                <a:ea typeface="Malgun Gothic"/>
                <a:cs typeface="Malgun Gothic"/>
              </a:rPr>
              <a:t> 1/4씩 </a:t>
            </a:r>
            <a:r>
              <a:rPr sz="1500" i="0" dirty="0" err="1">
                <a:solidFill>
                  <a:srgbClr val="606060"/>
                </a:solidFill>
                <a:latin typeface="Malgun Gothic"/>
                <a:ea typeface="Malgun Gothic"/>
                <a:cs typeface="Malgun Gothic"/>
              </a:rPr>
              <a:t>줄여나간다</a:t>
            </a:r>
            <a:r>
              <a:rPr sz="1500" i="0" dirty="0">
                <a:solidFill>
                  <a:srgbClr val="606060"/>
                </a:solidFill>
                <a:latin typeface="Malgun Gothic"/>
                <a:ea typeface="Malgun Gothic"/>
                <a:cs typeface="Malgun Gothic"/>
              </a:rPr>
              <a:t>.</a:t>
            </a:r>
            <a:endParaRPr sz="1350" dirty="0"/>
          </a:p>
        </p:txBody>
      </p:sp>
      <p:sp>
        <p:nvSpPr>
          <p:cNvPr id="10" name="Text 6">
            <a:extLst>
              <a:ext uri="{FF2B5EF4-FFF2-40B4-BE49-F238E27FC236}">
                <a16:creationId xmlns:a16="http://schemas.microsoft.com/office/drawing/2014/main" id="{E1F880BB-25BC-4EE7-B094-072002C7415B}"/>
              </a:ext>
            </a:extLst>
          </p:cNvPr>
          <p:cNvSpPr>
            <a:spLocks noGrp="1"/>
          </p:cNvSpPr>
          <p:nvPr/>
        </p:nvSpPr>
        <p:spPr>
          <a:xfrm>
            <a:off x="1408176" y="3090672"/>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dirty="0">
                <a:solidFill>
                  <a:srgbClr val="171717"/>
                </a:solidFill>
                <a:latin typeface="Malgun Gothic"/>
                <a:ea typeface="Malgun Gothic"/>
                <a:cs typeface="Malgun Gothic"/>
              </a:rPr>
              <a:t>① </a:t>
            </a:r>
            <a:r>
              <a:rPr sz="1230" b="1" i="0" dirty="0" err="1">
                <a:solidFill>
                  <a:srgbClr val="171717"/>
                </a:solidFill>
                <a:latin typeface="Malgun Gothic"/>
                <a:ea typeface="Malgun Gothic"/>
                <a:cs typeface="Malgun Gothic"/>
              </a:rPr>
              <a:t>확인</a:t>
            </a:r>
            <a:endParaRPr sz="1230" dirty="0"/>
          </a:p>
        </p:txBody>
      </p:sp>
      <p:sp>
        <p:nvSpPr>
          <p:cNvPr id="11" name="Text 7">
            <a:extLst>
              <a:ext uri="{FF2B5EF4-FFF2-40B4-BE49-F238E27FC236}">
                <a16:creationId xmlns:a16="http://schemas.microsoft.com/office/drawing/2014/main" id="{99AC9BB5-AA8E-4672-B333-FD64156F3B36}"/>
              </a:ext>
            </a:extLst>
          </p:cNvPr>
          <p:cNvSpPr>
            <a:spLocks noGrp="1"/>
          </p:cNvSpPr>
          <p:nvPr/>
        </p:nvSpPr>
        <p:spPr>
          <a:xfrm>
            <a:off x="1408176" y="3364992"/>
            <a:ext cx="4343400" cy="475488"/>
          </a:xfrm>
          <a:prstGeom prst="rect">
            <a:avLst/>
          </a:prstGeom>
          <a:noFill/>
          <a:ln w="0">
            <a:noFill/>
          </a:ln>
        </p:spPr>
        <p:txBody>
          <a:bodyPr wrap="square" lIns="0" tIns="0" rIns="0" bIns="0" anchor="t">
            <a:noAutofit/>
          </a:bodyPr>
          <a:lstStyle/>
          <a:p>
            <a:pPr marL="0" indent="0" algn="l">
              <a:lnSpc>
                <a:spcPct val="116000"/>
              </a:lnSpc>
              <a:buNone/>
              <a:defRPr sz="1500" i="0">
                <a:solidFill>
                  <a:srgbClr val="171717"/>
                </a:solidFill>
                <a:latin typeface="Malgun Gothic"/>
                <a:ea typeface="Malgun Gothic"/>
                <a:cs typeface="Malgun Gothic"/>
              </a:defRPr>
            </a:pPr>
            <a:r>
              <a:rPr sz="1500" i="0" dirty="0" err="1">
                <a:solidFill>
                  <a:srgbClr val="171717"/>
                </a:solidFill>
                <a:latin typeface="Malgun Gothic"/>
                <a:ea typeface="Malgun Gothic"/>
                <a:cs typeface="Malgun Gothic"/>
              </a:rPr>
              <a:t>전체</a:t>
            </a:r>
            <a:r>
              <a:rPr sz="1500" i="0" dirty="0">
                <a:solidFill>
                  <a:srgbClr val="171717"/>
                </a:solidFill>
                <a:latin typeface="Malgun Gothic"/>
                <a:ea typeface="Malgun Gothic"/>
                <a:cs typeface="Malgun Gothic"/>
              </a:rPr>
              <a:t> </a:t>
            </a:r>
            <a:r>
              <a:rPr sz="1500" i="0" dirty="0" err="1">
                <a:solidFill>
                  <a:srgbClr val="171717"/>
                </a:solidFill>
                <a:latin typeface="Malgun Gothic"/>
                <a:ea typeface="Malgun Gothic"/>
                <a:cs typeface="Malgun Gothic"/>
              </a:rPr>
              <a:t>영역을</a:t>
            </a:r>
            <a:r>
              <a:rPr sz="1500" i="0" dirty="0">
                <a:solidFill>
                  <a:srgbClr val="171717"/>
                </a:solidFill>
                <a:latin typeface="Malgun Gothic"/>
                <a:ea typeface="Malgun Gothic"/>
                <a:cs typeface="Malgun Gothic"/>
              </a:rPr>
              <a:t> </a:t>
            </a:r>
            <a:r>
              <a:rPr sz="1500" i="0" dirty="0" err="1">
                <a:solidFill>
                  <a:srgbClr val="171717"/>
                </a:solidFill>
                <a:latin typeface="Malgun Gothic"/>
                <a:ea typeface="Malgun Gothic"/>
                <a:cs typeface="Malgun Gothic"/>
              </a:rPr>
              <a:t>확인한다</a:t>
            </a:r>
            <a:r>
              <a:rPr sz="1500" i="0" dirty="0">
                <a:solidFill>
                  <a:srgbClr val="171717"/>
                </a:solidFill>
                <a:latin typeface="Malgun Gothic"/>
                <a:ea typeface="Malgun Gothic"/>
                <a:cs typeface="Malgun Gothic"/>
              </a:rPr>
              <a:t>.</a:t>
            </a:r>
            <a:endParaRPr sz="1050" dirty="0"/>
          </a:p>
        </p:txBody>
      </p:sp>
      <p:sp>
        <p:nvSpPr>
          <p:cNvPr id="15" name="Text 10">
            <a:extLst>
              <a:ext uri="{FF2B5EF4-FFF2-40B4-BE49-F238E27FC236}">
                <a16:creationId xmlns:a16="http://schemas.microsoft.com/office/drawing/2014/main" id="{8C925C39-1E34-4FCF-8B77-FD54D43442D7}"/>
              </a:ext>
            </a:extLst>
          </p:cNvPr>
          <p:cNvSpPr>
            <a:spLocks noGrp="1"/>
          </p:cNvSpPr>
          <p:nvPr/>
        </p:nvSpPr>
        <p:spPr>
          <a:xfrm>
            <a:off x="1408176" y="4151376"/>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② 기저 사례</a:t>
            </a:r>
            <a:endParaRPr sz="1230"/>
          </a:p>
        </p:txBody>
      </p:sp>
      <p:sp>
        <p:nvSpPr>
          <p:cNvPr id="16" name="Text 11">
            <a:extLst>
              <a:ext uri="{FF2B5EF4-FFF2-40B4-BE49-F238E27FC236}">
                <a16:creationId xmlns:a16="http://schemas.microsoft.com/office/drawing/2014/main" id="{4EB730DD-96F0-446E-A483-BC0B4DC00C6F}"/>
              </a:ext>
            </a:extLst>
          </p:cNvPr>
          <p:cNvSpPr>
            <a:spLocks noGrp="1"/>
          </p:cNvSpPr>
          <p:nvPr/>
        </p:nvSpPr>
        <p:spPr>
          <a:xfrm>
            <a:off x="1408176" y="4425696"/>
            <a:ext cx="4343400" cy="475488"/>
          </a:xfrm>
          <a:prstGeom prst="rect">
            <a:avLst/>
          </a:prstGeom>
          <a:noFill/>
          <a:ln w="0">
            <a:noFill/>
          </a:ln>
        </p:spPr>
        <p:txBody>
          <a:bodyPr wrap="square" lIns="0" tIns="0" rIns="0" bIns="0" anchor="t">
            <a:noAutofit/>
          </a:bodyPr>
          <a:lstStyle/>
          <a:p>
            <a:pPr marL="0" indent="0" algn="l">
              <a:lnSpc>
                <a:spcPct val="116000"/>
              </a:lnSpc>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데이터가 '단일 속성'(모두 같은 색이거나 텅 비어 있음)이면 더 이상 나누지 않고 하나의 노드로 표현한다.</a:t>
            </a:r>
            <a:endParaRPr sz="1050"/>
          </a:p>
        </p:txBody>
      </p:sp>
      <p:sp>
        <p:nvSpPr>
          <p:cNvPr id="20" name="Text 14">
            <a:extLst>
              <a:ext uri="{FF2B5EF4-FFF2-40B4-BE49-F238E27FC236}">
                <a16:creationId xmlns:a16="http://schemas.microsoft.com/office/drawing/2014/main" id="{1B4B1340-7758-4233-933F-99E0D6DFC74C}"/>
              </a:ext>
            </a:extLst>
          </p:cNvPr>
          <p:cNvSpPr>
            <a:spLocks noGrp="1"/>
          </p:cNvSpPr>
          <p:nvPr/>
        </p:nvSpPr>
        <p:spPr>
          <a:xfrm>
            <a:off x="1408176" y="5212080"/>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③ 재귀 단계</a:t>
            </a:r>
            <a:endParaRPr sz="1230"/>
          </a:p>
        </p:txBody>
      </p:sp>
      <p:sp>
        <p:nvSpPr>
          <p:cNvPr id="21" name="Text 15">
            <a:extLst>
              <a:ext uri="{FF2B5EF4-FFF2-40B4-BE49-F238E27FC236}">
                <a16:creationId xmlns:a16="http://schemas.microsoft.com/office/drawing/2014/main" id="{19DAF170-B04E-4CE6-B24E-F7CA414F0DD0}"/>
              </a:ext>
            </a:extLst>
          </p:cNvPr>
          <p:cNvSpPr>
            <a:spLocks noGrp="1"/>
          </p:cNvSpPr>
          <p:nvPr/>
        </p:nvSpPr>
        <p:spPr>
          <a:xfrm>
            <a:off x="1408176" y="5486400"/>
            <a:ext cx="4343400" cy="475488"/>
          </a:xfrm>
          <a:prstGeom prst="rect">
            <a:avLst/>
          </a:prstGeom>
          <a:noFill/>
          <a:ln w="0">
            <a:noFill/>
          </a:ln>
        </p:spPr>
        <p:txBody>
          <a:bodyPr wrap="square" lIns="0" tIns="0" rIns="0" bIns="0" anchor="t">
            <a:noAutofit/>
          </a:bodyPr>
          <a:lstStyle/>
          <a:p>
            <a:pPr marL="0" indent="0" algn="l">
              <a:lnSpc>
                <a:spcPct val="116000"/>
              </a:lnSpc>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'섞여 있다면' 영역을 정확히 4등분(좌상, 우상, 좌하, 우하)하여 각 부분에 대해 ①을 다시 수행한다.</a:t>
            </a:r>
            <a:endParaRPr sz="1050"/>
          </a:p>
        </p:txBody>
      </p:sp>
      <p:sp>
        <p:nvSpPr>
          <p:cNvPr id="27" name="Text 19">
            <a:extLst>
              <a:ext uri="{FF2B5EF4-FFF2-40B4-BE49-F238E27FC236}">
                <a16:creationId xmlns:a16="http://schemas.microsoft.com/office/drawing/2014/main" id="{12FF2029-82C9-4A22-BC03-C11C3F1182B4}"/>
              </a:ext>
            </a:extLst>
          </p:cNvPr>
          <p:cNvSpPr>
            <a:spLocks noGrp="1"/>
          </p:cNvSpPr>
          <p:nvPr/>
        </p:nvSpPr>
        <p:spPr>
          <a:xfrm>
            <a:off x="7168896" y="5175504"/>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이론에 그치지 않는다</a:t>
            </a:r>
            <a:endParaRPr sz="1300"/>
          </a:p>
        </p:txBody>
      </p:sp>
      <p:sp>
        <p:nvSpPr>
          <p:cNvPr id="28" name="Text 20">
            <a:extLst>
              <a:ext uri="{FF2B5EF4-FFF2-40B4-BE49-F238E27FC236}">
                <a16:creationId xmlns:a16="http://schemas.microsoft.com/office/drawing/2014/main" id="{F9A81EFF-136C-460A-BAF7-4F206A3E75E2}"/>
              </a:ext>
            </a:extLst>
          </p:cNvPr>
          <p:cNvSpPr>
            <a:spLocks noGrp="1"/>
          </p:cNvSpPr>
          <p:nvPr/>
        </p:nvSpPr>
        <p:spPr>
          <a:xfrm>
            <a:off x="7168896" y="5522976"/>
            <a:ext cx="4105656" cy="438912"/>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게임의 물리 엔진(충돌 처리), 포토샵 같은 이미지 소프트웨어(압축)의 핵심 원리다.</a:t>
            </a:r>
            <a:endParaRPr sz="1180"/>
          </a:p>
        </p:txBody>
      </p:sp>
      <p:sp>
        <p:nvSpPr>
          <p:cNvPr id="35" name="직사각형 34">
            <a:extLst>
              <a:ext uri="{FF2B5EF4-FFF2-40B4-BE49-F238E27FC236}">
                <a16:creationId xmlns:a16="http://schemas.microsoft.com/office/drawing/2014/main" id="{9DB02C9E-697C-47E1-97AB-3918AC823122}"/>
              </a:ext>
            </a:extLst>
          </p:cNvPr>
          <p:cNvSpPr>
            <a:spLocks noGrp="1"/>
          </p:cNvSpPr>
          <p:nvPr/>
        </p:nvSpPr>
        <p:spPr>
          <a:xfrm>
            <a:off x="658368" y="3058097"/>
            <a:ext cx="534924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1758E8A8-5472-40CA-AF44-9BFBD98C9F8D}"/>
              </a:ext>
            </a:extLst>
          </p:cNvPr>
          <p:cNvSpPr>
            <a:spLocks noGrp="1"/>
          </p:cNvSpPr>
          <p:nvPr/>
        </p:nvSpPr>
        <p:spPr>
          <a:xfrm>
            <a:off x="658368" y="4041648"/>
            <a:ext cx="5349240"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8A42D2F2-8191-42DD-B8DD-F252A84845A9}"/>
              </a:ext>
            </a:extLst>
          </p:cNvPr>
          <p:cNvSpPr>
            <a:spLocks noGrp="1"/>
          </p:cNvSpPr>
          <p:nvPr/>
        </p:nvSpPr>
        <p:spPr>
          <a:xfrm>
            <a:off x="6309360" y="1737360"/>
            <a:ext cx="5221224"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4ABF2BFB-2D36-4821-86FD-15925C2D487B}"/>
              </a:ext>
            </a:extLst>
          </p:cNvPr>
          <p:cNvSpPr>
            <a:spLocks noGrp="1"/>
          </p:cNvSpPr>
          <p:nvPr/>
        </p:nvSpPr>
        <p:spPr>
          <a:xfrm>
            <a:off x="6309360" y="4992624"/>
            <a:ext cx="5221224"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A7371DEC-7289-41F7-B4FD-B43B13E01D4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40" name="직사각형 39">
            <a:extLst>
              <a:ext uri="{FF2B5EF4-FFF2-40B4-BE49-F238E27FC236}">
                <a16:creationId xmlns:a16="http://schemas.microsoft.com/office/drawing/2014/main" id="{E02914D2-980A-4028-A839-21F475555373}"/>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1" name="직사각형 40">
            <a:extLst>
              <a:ext uri="{FF2B5EF4-FFF2-40B4-BE49-F238E27FC236}">
                <a16:creationId xmlns:a16="http://schemas.microsoft.com/office/drawing/2014/main" id="{31D63744-54DA-4D0B-BABF-BBA38B501AFE}"/>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쿼드 트리의 기본 아이디어</a:t>
            </a:r>
          </a:p>
        </p:txBody>
      </p:sp>
      <p:sp>
        <p:nvSpPr>
          <p:cNvPr id="42" name="직사각형 41">
            <a:extLst>
              <a:ext uri="{FF2B5EF4-FFF2-40B4-BE49-F238E27FC236}">
                <a16:creationId xmlns:a16="http://schemas.microsoft.com/office/drawing/2014/main" id="{25B0FF89-9011-45B4-847B-69E3DE7CA160}"/>
              </a:ext>
            </a:extLst>
          </p:cNvPr>
          <p:cNvSpPr>
            <a:spLocks noGrp="1"/>
          </p:cNvSpPr>
          <p:nvPr/>
        </p:nvSpPr>
        <p:spPr>
          <a:xfrm>
            <a:off x="609600" y="1381125"/>
            <a:ext cx="10972800" cy="19050"/>
          </a:xfrm>
          <a:prstGeom prst="rect">
            <a:avLst/>
          </a:prstGeom>
          <a:solidFill>
            <a:srgbClr val="171717"/>
          </a:solidFill>
          <a:ln w="0">
            <a:noFill/>
          </a:ln>
        </p:spPr>
      </p:sp>
      <p:sp>
        <p:nvSpPr>
          <p:cNvPr id="43" name="직사각형 42">
            <a:extLst>
              <a:ext uri="{FF2B5EF4-FFF2-40B4-BE49-F238E27FC236}">
                <a16:creationId xmlns:a16="http://schemas.microsoft.com/office/drawing/2014/main" id="{713FB4BB-FD2F-4ADE-AA73-DC2B28FD3863}"/>
              </a:ext>
            </a:extLst>
          </p:cNvPr>
          <p:cNvSpPr>
            <a:spLocks noGrp="1"/>
          </p:cNvSpPr>
          <p:nvPr/>
        </p:nvSpPr>
        <p:spPr>
          <a:xfrm>
            <a:off x="609600" y="6438900"/>
            <a:ext cx="10972800" cy="9525"/>
          </a:xfrm>
          <a:prstGeom prst="rect">
            <a:avLst/>
          </a:prstGeom>
          <a:solidFill>
            <a:srgbClr val="D4D4D4"/>
          </a:solidFill>
          <a:ln w="0">
            <a:noFill/>
          </a:ln>
        </p:spPr>
      </p:sp>
      <p:sp>
        <p:nvSpPr>
          <p:cNvPr id="44" name="직사각형 43">
            <a:extLst>
              <a:ext uri="{FF2B5EF4-FFF2-40B4-BE49-F238E27FC236}">
                <a16:creationId xmlns:a16="http://schemas.microsoft.com/office/drawing/2014/main" id="{85C2678D-AD13-4B40-B67E-FC1D7952893B}"/>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5" name="직사각형 44">
            <a:extLst>
              <a:ext uri="{FF2B5EF4-FFF2-40B4-BE49-F238E27FC236}">
                <a16:creationId xmlns:a16="http://schemas.microsoft.com/office/drawing/2014/main" id="{44E24809-C726-4C21-A8DE-1C8EF25DBF0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52</a:t>
            </a:r>
            <a:endParaRPr sz="1050" b="1" i="0">
              <a:solidFill>
                <a:srgbClr val="171717"/>
              </a:solidFill>
              <a:latin typeface="Consolas"/>
              <a:ea typeface="Consolas"/>
              <a:cs typeface="Consolas"/>
            </a:endParaRPr>
          </a:p>
        </p:txBody>
      </p:sp>
      <p:pic>
        <p:nvPicPr>
          <p:cNvPr id="67" name="그림 66"/>
          <p:cNvPicPr>
            <a:picLocks noChangeAspect="1"/>
          </p:cNvPicPr>
          <p:nvPr/>
        </p:nvPicPr>
        <p:blipFill>
          <a:blip r:embed="rId3"/>
          <a:stretch/>
        </p:blipFill>
        <p:spPr>
          <a:xfrm>
            <a:off x="6456213" y="1952054"/>
            <a:ext cx="4927517" cy="2679573"/>
          </a:xfrm>
          <a:prstGeom prst="rect">
            <a:avLst/>
          </a:prstGeom>
        </p:spPr>
      </p:pic>
    </p:spTree>
    <p:extLst>
      <p:ext uri="{BB962C8B-B14F-4D97-AF65-F5344CB8AC3E}">
        <p14:creationId xmlns:p14="http://schemas.microsoft.com/office/powerpoint/2010/main" val="113331173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 name="직사각형 32">
            <a:extLst>
              <a:ext uri="{FF2B5EF4-FFF2-40B4-BE49-F238E27FC236}">
                <a16:creationId xmlns:a16="http://schemas.microsoft.com/office/drawing/2014/main" id="{58E8325C-6E38-477D-A07D-C146E8CD644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4" name="직사각형 33">
            <a:extLst>
              <a:ext uri="{FF2B5EF4-FFF2-40B4-BE49-F238E27FC236}">
                <a16:creationId xmlns:a16="http://schemas.microsoft.com/office/drawing/2014/main" id="{F2F74806-7213-481C-B9E6-864584BF5A43}"/>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5" name="직사각형 34">
            <a:extLst>
              <a:ext uri="{FF2B5EF4-FFF2-40B4-BE49-F238E27FC236}">
                <a16:creationId xmlns:a16="http://schemas.microsoft.com/office/drawing/2014/main" id="{6C46A6EB-86A6-4496-A75B-60CFD1D692E9}"/>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응용 ① 흑백 이미지 압축</a:t>
            </a:r>
          </a:p>
        </p:txBody>
      </p:sp>
      <p:sp>
        <p:nvSpPr>
          <p:cNvPr id="36" name="직사각형 35">
            <a:extLst>
              <a:ext uri="{FF2B5EF4-FFF2-40B4-BE49-F238E27FC236}">
                <a16:creationId xmlns:a16="http://schemas.microsoft.com/office/drawing/2014/main" id="{2E5E0546-53A0-4359-99A3-F3CBF112B6FE}"/>
              </a:ext>
            </a:extLst>
          </p:cNvPr>
          <p:cNvSpPr>
            <a:spLocks noGrp="1"/>
          </p:cNvSpPr>
          <p:nvPr/>
        </p:nvSpPr>
        <p:spPr>
          <a:xfrm>
            <a:off x="609600" y="1381125"/>
            <a:ext cx="10972800" cy="19050"/>
          </a:xfrm>
          <a:prstGeom prst="rect">
            <a:avLst/>
          </a:prstGeom>
          <a:solidFill>
            <a:srgbClr val="171717"/>
          </a:solidFill>
          <a:ln w="0">
            <a:noFill/>
          </a:ln>
        </p:spPr>
      </p:sp>
      <p:sp>
        <p:nvSpPr>
          <p:cNvPr id="37" name="직사각형 36">
            <a:extLst>
              <a:ext uri="{FF2B5EF4-FFF2-40B4-BE49-F238E27FC236}">
                <a16:creationId xmlns:a16="http://schemas.microsoft.com/office/drawing/2014/main" id="{7E5021D4-37B1-4B11-A770-BEEB67D6EB85}"/>
              </a:ext>
            </a:extLst>
          </p:cNvPr>
          <p:cNvSpPr>
            <a:spLocks noGrp="1"/>
          </p:cNvSpPr>
          <p:nvPr/>
        </p:nvSpPr>
        <p:spPr>
          <a:xfrm>
            <a:off x="609600" y="6438900"/>
            <a:ext cx="10972800"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7A405FD4-8EC2-47BB-A42F-C738B3DFDB8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9" name="직사각형 38">
            <a:extLst>
              <a:ext uri="{FF2B5EF4-FFF2-40B4-BE49-F238E27FC236}">
                <a16:creationId xmlns:a16="http://schemas.microsoft.com/office/drawing/2014/main" id="{69C8C14C-7243-4F78-A44E-FA5FBA94AD6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53</a:t>
            </a:r>
            <a:endParaRPr sz="1050" b="1" i="0">
              <a:solidFill>
                <a:srgbClr val="171717"/>
              </a:solidFill>
              <a:latin typeface="Consolas"/>
              <a:ea typeface="Consolas"/>
              <a:cs typeface="Consolas"/>
            </a:endParaRPr>
          </a:p>
        </p:txBody>
      </p:sp>
      <p:sp>
        <p:nvSpPr>
          <p:cNvPr id="40" name="직사각형 39">
            <a:extLst>
              <a:ext uri="{FF2B5EF4-FFF2-40B4-BE49-F238E27FC236}">
                <a16:creationId xmlns:a16="http://schemas.microsoft.com/office/drawing/2014/main" id="{CF111E8F-C0E0-455D-8FA7-FD05FACB96D6}"/>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0과 1로 이루어진 영상에서 균일한 영역은 픽셀마다 저장할 필요가 없다.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① 검사: 현재 정사각형이 모두 같은 값인지 확인한다.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② 기저 사례: 모두 0이면 0, 모두 1이면 1을 기록하고 끝낸다.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 분할: 값이 섞여 있으면 네 영역으로 나눈다.</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좌상 → 우상 → 좌하 → 우하 순서로 재귀 호출하고 결과를 괄호로 묶는다.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균일한 영역이 클수록 짧게 표현된다. 색이 복잡하게 섞이면 압축 효과는 줄어든다.</a:t>
            </a:r>
          </a:p>
        </p:txBody>
      </p:sp>
      <p:pic>
        <p:nvPicPr>
          <p:cNvPr id="50" name="그림 49"/>
          <p:cNvPicPr>
            <a:picLocks noChangeAspect="1"/>
          </p:cNvPicPr>
          <p:nvPr/>
        </p:nvPicPr>
        <p:blipFill>
          <a:blip r:embed="rId3"/>
          <a:stretch/>
        </p:blipFill>
        <p:spPr>
          <a:xfrm>
            <a:off x="7315200" y="2371725"/>
            <a:ext cx="4171950" cy="2781300"/>
          </a:xfrm>
          <a:prstGeom prst="rect">
            <a:avLst/>
          </a:prstGeom>
        </p:spPr>
      </p:pic>
    </p:spTree>
    <p:extLst>
      <p:ext uri="{BB962C8B-B14F-4D97-AF65-F5344CB8AC3E}">
        <p14:creationId xmlns:p14="http://schemas.microsoft.com/office/powerpoint/2010/main" val="57808457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B5841F2F-EABC-47B2-B8D7-F2F6EE79BF96}"/>
              </a:ext>
            </a:extLst>
          </p:cNvPr>
          <p:cNvSpPr>
            <a:spLocks noGrp="1"/>
          </p:cNvSpPr>
          <p:nvPr/>
        </p:nvSpPr>
        <p:spPr>
          <a:xfrm>
            <a:off x="859536" y="1801368"/>
            <a:ext cx="557784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quadtree_1.pseudo</a:t>
            </a:r>
            <a:endParaRPr sz="900"/>
          </a:p>
        </p:txBody>
      </p:sp>
      <p:sp>
        <p:nvSpPr>
          <p:cNvPr id="20" name="Text 17">
            <a:extLst>
              <a:ext uri="{FF2B5EF4-FFF2-40B4-BE49-F238E27FC236}">
                <a16:creationId xmlns:a16="http://schemas.microsoft.com/office/drawing/2014/main" id="{34D874E8-EB0F-4250-B3DF-FF13B1239D6F}"/>
              </a:ext>
            </a:extLst>
          </p:cNvPr>
          <p:cNvSpPr>
            <a:spLocks noGrp="1"/>
          </p:cNvSpPr>
          <p:nvPr/>
        </p:nvSpPr>
        <p:spPr>
          <a:xfrm>
            <a:off x="6986016" y="1801368"/>
            <a:ext cx="4379976"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quadtree_2.pseudo</a:t>
            </a:r>
            <a:endParaRPr sz="900"/>
          </a:p>
        </p:txBody>
      </p:sp>
      <p:sp>
        <p:nvSpPr>
          <p:cNvPr id="25" name="Text 21">
            <a:extLst>
              <a:ext uri="{FF2B5EF4-FFF2-40B4-BE49-F238E27FC236}">
                <a16:creationId xmlns:a16="http://schemas.microsoft.com/office/drawing/2014/main" id="{BFED4DEE-41AF-4578-86F6-F37AB985AD60}"/>
              </a:ext>
            </a:extLst>
          </p:cNvPr>
          <p:cNvSpPr>
            <a:spLocks noGrp="1"/>
          </p:cNvSpPr>
          <p:nvPr/>
        </p:nvSpPr>
        <p:spPr>
          <a:xfrm>
            <a:off x="7644384" y="4974336"/>
            <a:ext cx="3630168"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노드 하나가 곧 한 영역</a:t>
            </a:r>
            <a:endParaRPr sz="1300"/>
          </a:p>
        </p:txBody>
      </p:sp>
      <p:sp>
        <p:nvSpPr>
          <p:cNvPr id="26" name="Text 22">
            <a:extLst>
              <a:ext uri="{FF2B5EF4-FFF2-40B4-BE49-F238E27FC236}">
                <a16:creationId xmlns:a16="http://schemas.microsoft.com/office/drawing/2014/main" id="{CE26A097-B5E2-444B-BC82-9926040271D6}"/>
              </a:ext>
            </a:extLst>
          </p:cNvPr>
          <p:cNvSpPr>
            <a:spLocks noGrp="1"/>
          </p:cNvSpPr>
          <p:nvPr/>
        </p:nvSpPr>
        <p:spPr>
          <a:xfrm>
            <a:off x="7644384" y="5321808"/>
            <a:ext cx="3630168" cy="640080"/>
          </a:xfrm>
          <a:prstGeom prst="rect">
            <a:avLst/>
          </a:prstGeom>
          <a:noFill/>
          <a:ln w="0">
            <a:noFill/>
          </a:ln>
        </p:spPr>
        <p:txBody>
          <a:bodyPr wrap="square" lIns="0" tIns="0" rIns="0" bIns="0" anchor="t">
            <a:noAutofit/>
          </a:bodyPr>
          <a:lstStyle/>
          <a:p>
            <a:pPr marL="0" indent="0" algn="l">
              <a:lnSpc>
                <a:spcPct val="132000"/>
              </a:lnSpc>
              <a:buNone/>
              <a:defRPr sz="1150" i="0">
                <a:solidFill>
                  <a:srgbClr val="606060"/>
                </a:solidFill>
                <a:latin typeface="Malgun Gothic"/>
                <a:ea typeface="Malgun Gothic"/>
                <a:cs typeface="Malgun Gothic"/>
              </a:defRPr>
            </a:pPr>
            <a:r>
              <a:rPr sz="1150" i="0">
                <a:solidFill>
                  <a:srgbClr val="606060"/>
                </a:solidFill>
                <a:latin typeface="Malgun Gothic"/>
                <a:ea typeface="Malgun Gothic"/>
                <a:cs typeface="Malgun Gothic"/>
              </a:rPr>
              <a:t>리프 노드는 균일한 영역을, 내부 노드는 4개의 자식으로 쪼개진 영역을 뜻한다. 트리의 깊이는 최대 log₂(size)이다.</a:t>
            </a:r>
            <a:endParaRPr sz="1150"/>
          </a:p>
        </p:txBody>
      </p:sp>
      <p:sp>
        <p:nvSpPr>
          <p:cNvPr id="28" name="Text 24">
            <a:extLst>
              <a:ext uri="{FF2B5EF4-FFF2-40B4-BE49-F238E27FC236}">
                <a16:creationId xmlns:a16="http://schemas.microsoft.com/office/drawing/2014/main" id="{EB902031-D8AA-46C9-86CF-DD3DD5F1F79B}"/>
              </a:ext>
            </a:extLst>
          </p:cNvPr>
          <p:cNvSpPr>
            <a:spLocks noGrp="1"/>
          </p:cNvSpPr>
          <p:nvPr/>
        </p:nvSpPr>
        <p:spPr>
          <a:xfrm>
            <a:off x="795528" y="5504688"/>
            <a:ext cx="5669280" cy="65836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트리 깊이 ≤ log_2(size)</a:t>
            </a:r>
            <a:endParaRPr sz="1500"/>
          </a:p>
        </p:txBody>
      </p:sp>
      <p:sp>
        <p:nvSpPr>
          <p:cNvPr id="29" name="직사각형 28">
            <a:extLst>
              <a:ext uri="{FF2B5EF4-FFF2-40B4-BE49-F238E27FC236}">
                <a16:creationId xmlns:a16="http://schemas.microsoft.com/office/drawing/2014/main" id="{5F8E9383-047C-4F40-B061-A63248C58E8A}"/>
              </a:ext>
            </a:extLst>
          </p:cNvPr>
          <p:cNvSpPr>
            <a:spLocks noGrp="1"/>
          </p:cNvSpPr>
          <p:nvPr/>
        </p:nvSpPr>
        <p:spPr>
          <a:xfrm>
            <a:off x="698373" y="2090928"/>
            <a:ext cx="5918454" cy="32263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ConstructQuadTree(I, x, y, size):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initialValue &lt;- I[x][y]</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isUniform &lt;- true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i &lt;- x to x + size - 1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j &lt;- y to y + size - 1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I[i][j] != initialValue then</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isUniform &lt;- false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isUniform then</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CreateLeafNode(initialValue)</a:t>
            </a:r>
          </a:p>
        </p:txBody>
      </p:sp>
      <p:sp>
        <p:nvSpPr>
          <p:cNvPr id="30" name="직사각형 29">
            <a:extLst>
              <a:ext uri="{FF2B5EF4-FFF2-40B4-BE49-F238E27FC236}">
                <a16:creationId xmlns:a16="http://schemas.microsoft.com/office/drawing/2014/main" id="{CC51BA68-1B01-4D6A-A250-062C719FCC22}"/>
              </a:ext>
            </a:extLst>
          </p:cNvPr>
          <p:cNvSpPr>
            <a:spLocks noGrp="1"/>
          </p:cNvSpPr>
          <p:nvPr/>
        </p:nvSpPr>
        <p:spPr>
          <a:xfrm>
            <a:off x="6824853" y="2090928"/>
            <a:ext cx="4720590" cy="249478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else</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half &lt;- size / 2</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 &lt;- CreateInternalNode()</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root.topLeft     &lt;- ConstructQuadTree(I, x,      y,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root.topRight    &lt;- ConstructQuadTree(I, x,      y+half,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root.bottomLeft  &lt;- ConstructQuadTree(I, x+half, y,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root.bottomRight &lt;- ConstructQuadTree(I, x+half, y+half,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return root</a:t>
            </a:r>
          </a:p>
        </p:txBody>
      </p:sp>
      <p:sp>
        <p:nvSpPr>
          <p:cNvPr id="31" name="직사각형 30">
            <a:extLst>
              <a:ext uri="{FF2B5EF4-FFF2-40B4-BE49-F238E27FC236}">
                <a16:creationId xmlns:a16="http://schemas.microsoft.com/office/drawing/2014/main" id="{F0D0770F-4289-429E-8157-946DDBF5CBAF}"/>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7BD96486-F1AF-415A-A9A5-4970CEE66FD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850A6AD8-C911-47F1-AA19-CCEFA3FD69C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쿼드 트리 알고리즘 (의사코드)</a:t>
            </a:r>
          </a:p>
        </p:txBody>
      </p:sp>
      <p:sp>
        <p:nvSpPr>
          <p:cNvPr id="34" name="직사각형 33">
            <a:extLst>
              <a:ext uri="{FF2B5EF4-FFF2-40B4-BE49-F238E27FC236}">
                <a16:creationId xmlns:a16="http://schemas.microsoft.com/office/drawing/2014/main" id="{F0A31444-CC58-4F71-A8CD-CBEF29867501}"/>
              </a:ext>
            </a:extLst>
          </p:cNvPr>
          <p:cNvSpPr>
            <a:spLocks noGrp="1"/>
          </p:cNvSpPr>
          <p:nvPr/>
        </p:nvSpPr>
        <p:spPr>
          <a:xfrm>
            <a:off x="609600" y="1381125"/>
            <a:ext cx="10972800" cy="19050"/>
          </a:xfrm>
          <a:prstGeom prst="rect">
            <a:avLst/>
          </a:prstGeom>
          <a:solidFill>
            <a:srgbClr val="171717"/>
          </a:solidFill>
          <a:ln w="0">
            <a:noFill/>
          </a:ln>
        </p:spPr>
      </p:sp>
      <p:sp>
        <p:nvSpPr>
          <p:cNvPr id="35" name="직사각형 34">
            <a:extLst>
              <a:ext uri="{FF2B5EF4-FFF2-40B4-BE49-F238E27FC236}">
                <a16:creationId xmlns:a16="http://schemas.microsoft.com/office/drawing/2014/main" id="{8347AC41-65C2-4178-92F3-D6A7559AA1A9}"/>
              </a:ext>
            </a:extLst>
          </p:cNvPr>
          <p:cNvSpPr>
            <a:spLocks noGrp="1"/>
          </p:cNvSpPr>
          <p:nvPr/>
        </p:nvSpPr>
        <p:spPr>
          <a:xfrm>
            <a:off x="609600" y="6438900"/>
            <a:ext cx="1097280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A8EB3BE3-74AD-4D87-AA3A-2045716AA84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56B4F681-A46A-4788-BF6B-A2EEF6220FB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54</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69080679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20623769-AFF1-4ECC-BE8D-8425FC56B4EA}"/>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quadtree_compress.py</a:t>
            </a:r>
            <a:endParaRPr sz="900"/>
          </a:p>
        </p:txBody>
      </p:sp>
      <p:sp>
        <p:nvSpPr>
          <p:cNvPr id="20" name="Text 17">
            <a:extLst>
              <a:ext uri="{FF2B5EF4-FFF2-40B4-BE49-F238E27FC236}">
                <a16:creationId xmlns:a16="http://schemas.microsoft.com/office/drawing/2014/main" id="{E12FB2F2-9BBF-4CA6-A53D-CDBDDF534EDE}"/>
              </a:ext>
            </a:extLst>
          </p:cNvPr>
          <p:cNvSpPr>
            <a:spLocks noGrp="1"/>
          </p:cNvSpPr>
          <p:nvPr/>
        </p:nvSpPr>
        <p:spPr>
          <a:xfrm>
            <a:off x="7973568" y="1801368"/>
            <a:ext cx="3392424"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example.py</a:t>
            </a:r>
            <a:endParaRPr sz="900"/>
          </a:p>
        </p:txBody>
      </p:sp>
      <p:sp>
        <p:nvSpPr>
          <p:cNvPr id="23" name="Text 20">
            <a:extLst>
              <a:ext uri="{FF2B5EF4-FFF2-40B4-BE49-F238E27FC236}">
                <a16:creationId xmlns:a16="http://schemas.microsoft.com/office/drawing/2014/main" id="{87EB15C0-14D8-4A55-9C48-C050C44A6247}"/>
              </a:ext>
            </a:extLst>
          </p:cNvPr>
          <p:cNvSpPr>
            <a:spLocks noGrp="1"/>
          </p:cNvSpPr>
          <p:nvPr/>
        </p:nvSpPr>
        <p:spPr>
          <a:xfrm>
            <a:off x="7973568" y="4370832"/>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4" name="Text 21">
            <a:extLst>
              <a:ext uri="{FF2B5EF4-FFF2-40B4-BE49-F238E27FC236}">
                <a16:creationId xmlns:a16="http://schemas.microsoft.com/office/drawing/2014/main" id="{86A49465-5231-4F26-99B7-91BF5A18FDB7}"/>
              </a:ext>
            </a:extLst>
          </p:cNvPr>
          <p:cNvSpPr>
            <a:spLocks noGrp="1"/>
          </p:cNvSpPr>
          <p:nvPr/>
        </p:nvSpPr>
        <p:spPr>
          <a:xfrm>
            <a:off x="7973568" y="4681728"/>
            <a:ext cx="329184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Consolas"/>
                <a:ea typeface="Consolas"/>
                <a:cs typeface="Consolas"/>
              </a:defRPr>
            </a:pPr>
            <a:r>
              <a:rPr sz="1500" b="1" i="0">
                <a:solidFill>
                  <a:srgbClr val="171717"/>
                </a:solidFill>
                <a:latin typeface="Consolas"/>
                <a:ea typeface="Consolas"/>
                <a:cs typeface="Consolas"/>
              </a:rPr>
              <a:t>(01((0001)000)0)</a:t>
            </a:r>
            <a:endParaRPr sz="1300"/>
          </a:p>
        </p:txBody>
      </p:sp>
      <p:sp>
        <p:nvSpPr>
          <p:cNvPr id="28" name="Text 24">
            <a:extLst>
              <a:ext uri="{FF2B5EF4-FFF2-40B4-BE49-F238E27FC236}">
                <a16:creationId xmlns:a16="http://schemas.microsoft.com/office/drawing/2014/main" id="{F5A92BD8-5FE1-4EE8-B00C-10E119AC4E90}"/>
              </a:ext>
            </a:extLst>
          </p:cNvPr>
          <p:cNvSpPr>
            <a:spLocks noGrp="1"/>
          </p:cNvSpPr>
          <p:nvPr/>
        </p:nvSpPr>
        <p:spPr>
          <a:xfrm>
            <a:off x="8631936" y="5742432"/>
            <a:ext cx="2642616" cy="256032"/>
          </a:xfrm>
          <a:prstGeom prst="rect">
            <a:avLst/>
          </a:prstGeom>
          <a:noFill/>
          <a:ln w="0">
            <a:noFill/>
          </a:ln>
        </p:spPr>
        <p:txBody>
          <a:bodyPr wrap="square" lIns="0" tIns="0" rIns="0" bIns="0" anchor="ctr">
            <a:noAutofit/>
          </a:bodyPr>
          <a:lstStyle/>
          <a:p>
            <a:pPr marL="0" indent="0" algn="l">
              <a:lnSpc>
                <a:spcPct val="134000"/>
              </a:lnSpc>
              <a:buNone/>
              <a:defRPr sz="1150" i="0">
                <a:solidFill>
                  <a:srgbClr val="171717"/>
                </a:solidFill>
                <a:latin typeface="Malgun Gothic"/>
                <a:ea typeface="Malgun Gothic"/>
                <a:cs typeface="Malgun Gothic"/>
              </a:defRPr>
            </a:pPr>
            <a:r>
              <a:rPr sz="1150" i="0">
                <a:solidFill>
                  <a:srgbClr val="171717"/>
                </a:solidFill>
                <a:latin typeface="Malgun Gothic"/>
                <a:ea typeface="Malgun Gothic"/>
                <a:cs typeface="Malgun Gothic"/>
              </a:rPr>
              <a:t>픽셀 64개 → 문자 16개</a:t>
            </a:r>
            <a:endParaRPr sz="1150"/>
          </a:p>
        </p:txBody>
      </p:sp>
      <p:sp>
        <p:nvSpPr>
          <p:cNvPr id="29" name="직사각형 28">
            <a:extLst>
              <a:ext uri="{FF2B5EF4-FFF2-40B4-BE49-F238E27FC236}">
                <a16:creationId xmlns:a16="http://schemas.microsoft.com/office/drawing/2014/main" id="{F1D116A6-AFAE-42B7-82C7-68F417AFE147}"/>
              </a:ext>
            </a:extLst>
          </p:cNvPr>
          <p:cNvSpPr>
            <a:spLocks noGrp="1"/>
          </p:cNvSpPr>
          <p:nvPr/>
        </p:nvSpPr>
        <p:spPr>
          <a:xfrm>
            <a:off x="698373" y="2090928"/>
            <a:ext cx="6924294" cy="4049268"/>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def quadtree_compress(x, y, n,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color = image[x][y]</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is_uniform = True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i in range(x, x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j in range(y, y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image[i][j] != color:</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is_uniform = False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break</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not is_uniform:</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break</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is_uniform:</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str(color)</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half = n // 2</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y,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y + half,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 half, y,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 half, y + half,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result</a:t>
            </a:r>
          </a:p>
        </p:txBody>
      </p:sp>
      <p:sp>
        <p:nvSpPr>
          <p:cNvPr id="30" name="직사각형 29">
            <a:extLst>
              <a:ext uri="{FF2B5EF4-FFF2-40B4-BE49-F238E27FC236}">
                <a16:creationId xmlns:a16="http://schemas.microsoft.com/office/drawing/2014/main" id="{D79B70FF-A271-4FAD-86B9-E8E2998979B4}"/>
              </a:ext>
            </a:extLst>
          </p:cNvPr>
          <p:cNvSpPr>
            <a:spLocks noGrp="1"/>
          </p:cNvSpPr>
          <p:nvPr/>
        </p:nvSpPr>
        <p:spPr>
          <a:xfrm>
            <a:off x="7812405" y="2090928"/>
            <a:ext cx="3733038" cy="199186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example_image = [</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[0,1,0,0,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print(quadtree_compress(0, 0, 8, example_image))</a:t>
            </a:r>
          </a:p>
        </p:txBody>
      </p:sp>
      <p:sp>
        <p:nvSpPr>
          <p:cNvPr id="31" name="직사각형 30">
            <a:extLst>
              <a:ext uri="{FF2B5EF4-FFF2-40B4-BE49-F238E27FC236}">
                <a16:creationId xmlns:a16="http://schemas.microsoft.com/office/drawing/2014/main" id="{D40F167A-B46E-489B-B665-7CE024E1164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F6654E88-74BD-47ED-BADD-8F67CC697D7D}"/>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A84283E4-F37A-4AC7-A430-4D6F1EC664F5}"/>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8×8 이미지 압축</a:t>
            </a:r>
          </a:p>
        </p:txBody>
      </p:sp>
      <p:sp>
        <p:nvSpPr>
          <p:cNvPr id="34" name="직사각형 33">
            <a:extLst>
              <a:ext uri="{FF2B5EF4-FFF2-40B4-BE49-F238E27FC236}">
                <a16:creationId xmlns:a16="http://schemas.microsoft.com/office/drawing/2014/main" id="{264B4C78-9A0F-4A2F-93C7-0FEE3F0D3858}"/>
              </a:ext>
            </a:extLst>
          </p:cNvPr>
          <p:cNvSpPr>
            <a:spLocks noGrp="1"/>
          </p:cNvSpPr>
          <p:nvPr/>
        </p:nvSpPr>
        <p:spPr>
          <a:xfrm>
            <a:off x="609600" y="1381125"/>
            <a:ext cx="10972800" cy="19050"/>
          </a:xfrm>
          <a:prstGeom prst="rect">
            <a:avLst/>
          </a:prstGeom>
          <a:solidFill>
            <a:srgbClr val="171717"/>
          </a:solidFill>
          <a:ln w="0">
            <a:noFill/>
          </a:ln>
        </p:spPr>
      </p:sp>
      <p:sp>
        <p:nvSpPr>
          <p:cNvPr id="35" name="직사각형 34">
            <a:extLst>
              <a:ext uri="{FF2B5EF4-FFF2-40B4-BE49-F238E27FC236}">
                <a16:creationId xmlns:a16="http://schemas.microsoft.com/office/drawing/2014/main" id="{996D6603-8CE5-49CD-9378-EF6F968CBD33}"/>
              </a:ext>
            </a:extLst>
          </p:cNvPr>
          <p:cNvSpPr>
            <a:spLocks noGrp="1"/>
          </p:cNvSpPr>
          <p:nvPr/>
        </p:nvSpPr>
        <p:spPr>
          <a:xfrm>
            <a:off x="609600" y="6438900"/>
            <a:ext cx="1097280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5F047E81-F6A5-4DA1-89E1-A9DD6ADEB7A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281E05CF-94AF-48EA-8B62-D951F63E0AD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55</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5154447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720A591C-A72D-406F-AEA1-AC942972D55C}"/>
              </a:ext>
            </a:extLst>
          </p:cNvPr>
          <p:cNvSpPr>
            <a:spLocks noGrp="1"/>
          </p:cNvSpPr>
          <p:nvPr/>
        </p:nvSpPr>
        <p:spPr>
          <a:xfrm>
            <a:off x="658368" y="1700784"/>
            <a:ext cx="10872216" cy="566928"/>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화면 속에는 수십 명의 캐릭터, 수백 발의 총알, 수천 개의 지형지물이 움직인다. 게임 엔진은 이 객체들이 서로 부딪혔는지 판별하는 충돌 감지(collision detection)를 매 프레임(약 0.016초)마다 수행해야 한다.</a:t>
            </a:r>
            <a:endParaRPr sz="1300"/>
          </a:p>
        </p:txBody>
      </p:sp>
      <p:sp>
        <p:nvSpPr>
          <p:cNvPr id="8" name="Text 5">
            <a:extLst>
              <a:ext uri="{FF2B5EF4-FFF2-40B4-BE49-F238E27FC236}">
                <a16:creationId xmlns:a16="http://schemas.microsoft.com/office/drawing/2014/main" id="{85D7D033-F61D-42B4-B1EE-DA3D0266B2BB}"/>
              </a:ext>
            </a:extLst>
          </p:cNvPr>
          <p:cNvSpPr>
            <a:spLocks noGrp="1"/>
          </p:cNvSpPr>
          <p:nvPr/>
        </p:nvSpPr>
        <p:spPr>
          <a:xfrm>
            <a:off x="896112" y="2523744"/>
            <a:ext cx="4663440" cy="310896"/>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무식한 접근 — 브루트 포스</a:t>
            </a:r>
            <a:endParaRPr sz="1300"/>
          </a:p>
        </p:txBody>
      </p:sp>
      <p:sp>
        <p:nvSpPr>
          <p:cNvPr id="9" name="Text 6">
            <a:extLst>
              <a:ext uri="{FF2B5EF4-FFF2-40B4-BE49-F238E27FC236}">
                <a16:creationId xmlns:a16="http://schemas.microsoft.com/office/drawing/2014/main" id="{0D3F9F87-FACE-4073-A078-2D2CC33043FE}"/>
              </a:ext>
            </a:extLst>
          </p:cNvPr>
          <p:cNvSpPr>
            <a:spLocks noGrp="1"/>
          </p:cNvSpPr>
          <p:nvPr/>
        </p:nvSpPr>
        <p:spPr>
          <a:xfrm>
            <a:off x="896112" y="2889504"/>
            <a:ext cx="4645152" cy="457200"/>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(n−1) + (n−2) + ⋯ + 1 ≈ n^(2)/2</a:t>
            </a:r>
            <a:endParaRPr sz="1500"/>
          </a:p>
        </p:txBody>
      </p:sp>
      <p:sp>
        <p:nvSpPr>
          <p:cNvPr id="10" name="Text 7">
            <a:extLst>
              <a:ext uri="{FF2B5EF4-FFF2-40B4-BE49-F238E27FC236}">
                <a16:creationId xmlns:a16="http://schemas.microsoft.com/office/drawing/2014/main" id="{9BE0B9FD-AF39-442B-81F9-976C74C290CB}"/>
              </a:ext>
            </a:extLst>
          </p:cNvPr>
          <p:cNvSpPr>
            <a:spLocks noGrp="1"/>
          </p:cNvSpPr>
          <p:nvPr/>
        </p:nvSpPr>
        <p:spPr>
          <a:xfrm>
            <a:off x="896112" y="3364992"/>
            <a:ext cx="4645152" cy="274320"/>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객체 1,000개 → 매 프레임 약 50만 번 검사</a:t>
            </a:r>
            <a:endParaRPr sz="1050"/>
          </a:p>
        </p:txBody>
      </p:sp>
      <p:sp>
        <p:nvSpPr>
          <p:cNvPr id="12" name="Shape 9">
            <a:extLst>
              <a:ext uri="{FF2B5EF4-FFF2-40B4-BE49-F238E27FC236}">
                <a16:creationId xmlns:a16="http://schemas.microsoft.com/office/drawing/2014/main" id="{D760B471-6FE8-4D19-9621-C79A7AFF080B}"/>
              </a:ext>
            </a:extLst>
          </p:cNvPr>
          <p:cNvSpPr>
            <a:spLocks noGrp="1"/>
          </p:cNvSpPr>
          <p:nvPr/>
        </p:nvSpPr>
        <p:spPr>
          <a:xfrm>
            <a:off x="841248" y="4032504"/>
            <a:ext cx="402336" cy="402336"/>
          </a:xfrm>
          <a:prstGeom prst="ellipse">
            <a:avLst/>
          </a:prstGeom>
          <a:solidFill>
            <a:srgbClr val="E9E9E9"/>
          </a:solidFill>
          <a:ln w="5715">
            <a:solidFill>
              <a:srgbClr val="D4D4D4"/>
            </a:solidFill>
          </a:ln>
        </p:spPr>
      </p:sp>
      <p:sp>
        <p:nvSpPr>
          <p:cNvPr id="13" name="Text 10">
            <a:extLst>
              <a:ext uri="{FF2B5EF4-FFF2-40B4-BE49-F238E27FC236}">
                <a16:creationId xmlns:a16="http://schemas.microsoft.com/office/drawing/2014/main" id="{EC1607B2-D304-4367-B1F5-43B93FF931F6}"/>
              </a:ext>
            </a:extLst>
          </p:cNvPr>
          <p:cNvSpPr>
            <a:spLocks noGrp="1"/>
          </p:cNvSpPr>
          <p:nvPr/>
        </p:nvSpPr>
        <p:spPr>
          <a:xfrm>
            <a:off x="841248" y="4032504"/>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sz="1056" b="1" i="0">
                <a:solidFill>
                  <a:srgbClr val="171717"/>
                </a:solidFill>
                <a:latin typeface="Malgun Gothic"/>
                <a:ea typeface="Malgun Gothic"/>
                <a:cs typeface="Malgun Gothic"/>
              </a:rPr>
              <a:t>1</a:t>
            </a:r>
            <a:endParaRPr sz="1056"/>
          </a:p>
        </p:txBody>
      </p:sp>
      <p:sp>
        <p:nvSpPr>
          <p:cNvPr id="14" name="Text 11">
            <a:extLst>
              <a:ext uri="{FF2B5EF4-FFF2-40B4-BE49-F238E27FC236}">
                <a16:creationId xmlns:a16="http://schemas.microsoft.com/office/drawing/2014/main" id="{77AF1101-F70F-4BF3-88F8-B6EF6A7F31D4}"/>
              </a:ext>
            </a:extLst>
          </p:cNvPr>
          <p:cNvSpPr>
            <a:spLocks noGrp="1"/>
          </p:cNvSpPr>
          <p:nvPr/>
        </p:nvSpPr>
        <p:spPr>
          <a:xfrm>
            <a:off x="1353312" y="3913632"/>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공간 분할</a:t>
            </a:r>
            <a:endParaRPr sz="1150"/>
          </a:p>
        </p:txBody>
      </p:sp>
      <p:sp>
        <p:nvSpPr>
          <p:cNvPr id="15" name="Text 12">
            <a:extLst>
              <a:ext uri="{FF2B5EF4-FFF2-40B4-BE49-F238E27FC236}">
                <a16:creationId xmlns:a16="http://schemas.microsoft.com/office/drawing/2014/main" id="{3F73F8F9-8432-4690-9C15-F607E3C28DD2}"/>
              </a:ext>
            </a:extLst>
          </p:cNvPr>
          <p:cNvSpPr>
            <a:spLocks noGrp="1"/>
          </p:cNvSpPr>
          <p:nvPr/>
        </p:nvSpPr>
        <p:spPr>
          <a:xfrm>
            <a:off x="2578608" y="3986784"/>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sz="920" i="0">
                <a:solidFill>
                  <a:srgbClr val="171717"/>
                </a:solidFill>
                <a:latin typeface="Malgun Gothic"/>
                <a:ea typeface="Malgun Gothic"/>
                <a:cs typeface="Malgun Gothic"/>
              </a:rPr>
              <a:t>전체 맵을 4개의 사분면으로 나눈다. 한 구역에 오브젝트가 너무 많으면 그 구역을 다시 4개로 쪼갠다.</a:t>
            </a:r>
            <a:endParaRPr sz="920"/>
          </a:p>
        </p:txBody>
      </p:sp>
      <p:sp>
        <p:nvSpPr>
          <p:cNvPr id="17" name="Shape 14">
            <a:extLst>
              <a:ext uri="{FF2B5EF4-FFF2-40B4-BE49-F238E27FC236}">
                <a16:creationId xmlns:a16="http://schemas.microsoft.com/office/drawing/2014/main" id="{847C496F-08CA-4287-B518-371195D6B659}"/>
              </a:ext>
            </a:extLst>
          </p:cNvPr>
          <p:cNvSpPr>
            <a:spLocks noGrp="1"/>
          </p:cNvSpPr>
          <p:nvPr/>
        </p:nvSpPr>
        <p:spPr>
          <a:xfrm>
            <a:off x="841248" y="4782312"/>
            <a:ext cx="402336" cy="402336"/>
          </a:xfrm>
          <a:prstGeom prst="ellipse">
            <a:avLst/>
          </a:prstGeom>
          <a:solidFill>
            <a:srgbClr val="E9E9E9"/>
          </a:solidFill>
          <a:ln w="5715">
            <a:solidFill>
              <a:srgbClr val="D4D4D4"/>
            </a:solidFill>
          </a:ln>
        </p:spPr>
      </p:sp>
      <p:sp>
        <p:nvSpPr>
          <p:cNvPr id="18" name="Text 15">
            <a:extLst>
              <a:ext uri="{FF2B5EF4-FFF2-40B4-BE49-F238E27FC236}">
                <a16:creationId xmlns:a16="http://schemas.microsoft.com/office/drawing/2014/main" id="{EA492735-2198-45AD-9322-5ADE42DE920A}"/>
              </a:ext>
            </a:extLst>
          </p:cNvPr>
          <p:cNvSpPr>
            <a:spLocks noGrp="1"/>
          </p:cNvSpPr>
          <p:nvPr/>
        </p:nvSpPr>
        <p:spPr>
          <a:xfrm>
            <a:off x="841248" y="4782312"/>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sz="1056" b="1" i="0">
                <a:solidFill>
                  <a:srgbClr val="171717"/>
                </a:solidFill>
                <a:latin typeface="Malgun Gothic"/>
                <a:ea typeface="Malgun Gothic"/>
                <a:cs typeface="Malgun Gothic"/>
              </a:rPr>
              <a:t>2</a:t>
            </a:r>
            <a:endParaRPr sz="1056"/>
          </a:p>
        </p:txBody>
      </p:sp>
      <p:sp>
        <p:nvSpPr>
          <p:cNvPr id="19" name="Text 16">
            <a:extLst>
              <a:ext uri="{FF2B5EF4-FFF2-40B4-BE49-F238E27FC236}">
                <a16:creationId xmlns:a16="http://schemas.microsoft.com/office/drawing/2014/main" id="{710A2736-E5E0-4699-A7FA-E42983896FDC}"/>
              </a:ext>
            </a:extLst>
          </p:cNvPr>
          <p:cNvSpPr>
            <a:spLocks noGrp="1"/>
          </p:cNvSpPr>
          <p:nvPr/>
        </p:nvSpPr>
        <p:spPr>
          <a:xfrm>
            <a:off x="1353312" y="4663440"/>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객체 등록</a:t>
            </a:r>
            <a:endParaRPr sz="1150"/>
          </a:p>
        </p:txBody>
      </p:sp>
      <p:sp>
        <p:nvSpPr>
          <p:cNvPr id="20" name="Text 17">
            <a:extLst>
              <a:ext uri="{FF2B5EF4-FFF2-40B4-BE49-F238E27FC236}">
                <a16:creationId xmlns:a16="http://schemas.microsoft.com/office/drawing/2014/main" id="{DA0F17A2-9BA5-489E-98AA-BD08D99BAC80}"/>
              </a:ext>
            </a:extLst>
          </p:cNvPr>
          <p:cNvSpPr>
            <a:spLocks noGrp="1"/>
          </p:cNvSpPr>
          <p:nvPr/>
        </p:nvSpPr>
        <p:spPr>
          <a:xfrm>
            <a:off x="2578608" y="4736592"/>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sz="920" i="0">
                <a:solidFill>
                  <a:srgbClr val="171717"/>
                </a:solidFill>
                <a:latin typeface="Malgun Gothic"/>
                <a:ea typeface="Malgun Gothic"/>
                <a:cs typeface="Malgun Gothic"/>
              </a:rPr>
              <a:t>모든 오브젝트는 자신의 위치에 따라 트리의 특정 노드(구역)에 등록된다.</a:t>
            </a:r>
            <a:endParaRPr sz="920"/>
          </a:p>
        </p:txBody>
      </p:sp>
      <p:sp>
        <p:nvSpPr>
          <p:cNvPr id="22" name="Shape 19">
            <a:extLst>
              <a:ext uri="{FF2B5EF4-FFF2-40B4-BE49-F238E27FC236}">
                <a16:creationId xmlns:a16="http://schemas.microsoft.com/office/drawing/2014/main" id="{CBA974B7-0698-4D90-A9D7-AE3CF6F5F7E3}"/>
              </a:ext>
            </a:extLst>
          </p:cNvPr>
          <p:cNvSpPr>
            <a:spLocks noGrp="1"/>
          </p:cNvSpPr>
          <p:nvPr/>
        </p:nvSpPr>
        <p:spPr>
          <a:xfrm>
            <a:off x="841248" y="5532120"/>
            <a:ext cx="402336" cy="402336"/>
          </a:xfrm>
          <a:prstGeom prst="ellipse">
            <a:avLst/>
          </a:prstGeom>
          <a:solidFill>
            <a:srgbClr val="E9E9E9"/>
          </a:solidFill>
          <a:ln w="5715">
            <a:solidFill>
              <a:srgbClr val="D4D4D4"/>
            </a:solidFill>
          </a:ln>
        </p:spPr>
      </p:sp>
      <p:sp>
        <p:nvSpPr>
          <p:cNvPr id="23" name="Text 20">
            <a:extLst>
              <a:ext uri="{FF2B5EF4-FFF2-40B4-BE49-F238E27FC236}">
                <a16:creationId xmlns:a16="http://schemas.microsoft.com/office/drawing/2014/main" id="{0F5AF4DC-8CA4-484F-9710-DD1DEF0A4B59}"/>
              </a:ext>
            </a:extLst>
          </p:cNvPr>
          <p:cNvSpPr>
            <a:spLocks noGrp="1"/>
          </p:cNvSpPr>
          <p:nvPr/>
        </p:nvSpPr>
        <p:spPr>
          <a:xfrm>
            <a:off x="841248" y="5532120"/>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sz="1056" b="1" i="0">
                <a:solidFill>
                  <a:srgbClr val="171717"/>
                </a:solidFill>
                <a:latin typeface="Malgun Gothic"/>
                <a:ea typeface="Malgun Gothic"/>
                <a:cs typeface="Malgun Gothic"/>
              </a:rPr>
              <a:t>3</a:t>
            </a:r>
            <a:endParaRPr sz="1056"/>
          </a:p>
        </p:txBody>
      </p:sp>
      <p:sp>
        <p:nvSpPr>
          <p:cNvPr id="24" name="Text 21">
            <a:extLst>
              <a:ext uri="{FF2B5EF4-FFF2-40B4-BE49-F238E27FC236}">
                <a16:creationId xmlns:a16="http://schemas.microsoft.com/office/drawing/2014/main" id="{25F8D1B7-90AB-4640-9FE6-102DF1809BD6}"/>
              </a:ext>
            </a:extLst>
          </p:cNvPr>
          <p:cNvSpPr>
            <a:spLocks noGrp="1"/>
          </p:cNvSpPr>
          <p:nvPr/>
        </p:nvSpPr>
        <p:spPr>
          <a:xfrm>
            <a:off x="1353312" y="5413248"/>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지역적 검사</a:t>
            </a:r>
            <a:endParaRPr sz="1150"/>
          </a:p>
        </p:txBody>
      </p:sp>
      <p:sp>
        <p:nvSpPr>
          <p:cNvPr id="25" name="Text 22">
            <a:extLst>
              <a:ext uri="{FF2B5EF4-FFF2-40B4-BE49-F238E27FC236}">
                <a16:creationId xmlns:a16="http://schemas.microsoft.com/office/drawing/2014/main" id="{6D1925F2-5344-4F40-B19F-33629070BDB6}"/>
              </a:ext>
            </a:extLst>
          </p:cNvPr>
          <p:cNvSpPr>
            <a:spLocks noGrp="1"/>
          </p:cNvSpPr>
          <p:nvPr/>
        </p:nvSpPr>
        <p:spPr>
          <a:xfrm>
            <a:off x="2578608" y="5486400"/>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sz="920" i="0">
                <a:solidFill>
                  <a:srgbClr val="171717"/>
                </a:solidFill>
                <a:latin typeface="Malgun Gothic"/>
                <a:ea typeface="Malgun Gothic"/>
                <a:cs typeface="Malgun Gothic"/>
              </a:rPr>
              <a:t>현재 객체와 겹칠 수 있는 영역만 조회한다. 경계를 걸친 객체와 이웃 영역도 포함해 충돌 후보를 빠짐없이 검사한다.</a:t>
            </a:r>
            <a:endParaRPr sz="920"/>
          </a:p>
        </p:txBody>
      </p:sp>
      <p:sp>
        <p:nvSpPr>
          <p:cNvPr id="31" name="Text 26">
            <a:extLst>
              <a:ext uri="{FF2B5EF4-FFF2-40B4-BE49-F238E27FC236}">
                <a16:creationId xmlns:a16="http://schemas.microsoft.com/office/drawing/2014/main" id="{620BAAA6-E017-4E69-A575-113B32CCBD09}"/>
              </a:ext>
            </a:extLst>
          </p:cNvPr>
          <p:cNvSpPr>
            <a:spLocks noGrp="1"/>
          </p:cNvSpPr>
          <p:nvPr/>
        </p:nvSpPr>
        <p:spPr>
          <a:xfrm>
            <a:off x="6912864" y="5687568"/>
            <a:ext cx="4361688" cy="310896"/>
          </a:xfrm>
          <a:prstGeom prst="rect">
            <a:avLst/>
          </a:prstGeom>
          <a:noFill/>
          <a:ln w="0">
            <a:noFill/>
          </a:ln>
        </p:spPr>
        <p:txBody>
          <a:bodyPr wrap="square" lIns="0" tIns="0" rIns="0" bIns="0" anchor="ctr">
            <a:noAutofit/>
          </a:bodyPr>
          <a:lstStyle/>
          <a:p>
            <a:pPr marL="0" indent="0" algn="l">
              <a:lnSpc>
                <a:spcPct val="134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"서로 멀리 떨어져 있는 물체끼리는 충돌 검사를 할 필요가 없다"</a:t>
            </a:r>
            <a:endParaRPr sz="1200"/>
          </a:p>
        </p:txBody>
      </p:sp>
      <p:sp>
        <p:nvSpPr>
          <p:cNvPr id="35" name="직사각형 34">
            <a:extLst>
              <a:ext uri="{FF2B5EF4-FFF2-40B4-BE49-F238E27FC236}">
                <a16:creationId xmlns:a16="http://schemas.microsoft.com/office/drawing/2014/main" id="{56323F10-5569-4732-9E5F-75545F6BDB41}"/>
              </a:ext>
            </a:extLst>
          </p:cNvPr>
          <p:cNvSpPr>
            <a:spLocks noGrp="1"/>
          </p:cNvSpPr>
          <p:nvPr/>
        </p:nvSpPr>
        <p:spPr>
          <a:xfrm>
            <a:off x="6053328" y="5522976"/>
            <a:ext cx="5477256"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95086070-7BEF-4DD8-91D6-69E73E25F5B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B6DD94FB-34CB-4C04-8F56-281439674CB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3EC742F0-631A-43A2-9810-F2808D7DB84A}"/>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응용 ② 게임 개발과 충돌 감지</a:t>
            </a:r>
          </a:p>
        </p:txBody>
      </p:sp>
      <p:sp>
        <p:nvSpPr>
          <p:cNvPr id="39" name="직사각형 38">
            <a:extLst>
              <a:ext uri="{FF2B5EF4-FFF2-40B4-BE49-F238E27FC236}">
                <a16:creationId xmlns:a16="http://schemas.microsoft.com/office/drawing/2014/main" id="{3F827282-3C3B-4F90-AA91-E0E1A7ED99EB}"/>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A45FFB46-5FDB-432B-BE10-533549CEBAB0}"/>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61104DC2-9B27-4DCA-8616-625B8F1A6B7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57DEEC1F-7458-49E7-BAC0-B44DB6B20AC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56</a:t>
            </a:r>
            <a:endParaRPr sz="1050" b="1" i="0">
              <a:solidFill>
                <a:srgbClr val="171717"/>
              </a:solidFill>
              <a:latin typeface="Consolas"/>
              <a:ea typeface="Consolas"/>
              <a:cs typeface="Consolas"/>
            </a:endParaRPr>
          </a:p>
        </p:txBody>
      </p:sp>
      <p:pic>
        <p:nvPicPr>
          <p:cNvPr id="69" name="그림 68"/>
          <p:cNvPicPr>
            <a:picLocks noChangeAspect="1"/>
          </p:cNvPicPr>
          <p:nvPr/>
        </p:nvPicPr>
        <p:blipFill>
          <a:blip r:embed="rId3"/>
          <a:stretch/>
        </p:blipFill>
        <p:spPr>
          <a:xfrm>
            <a:off x="6226798" y="2523744"/>
            <a:ext cx="5130412" cy="2743200"/>
          </a:xfrm>
          <a:prstGeom prst="rect">
            <a:avLst/>
          </a:prstGeom>
        </p:spPr>
      </p:pic>
    </p:spTree>
    <p:extLst>
      <p:ext uri="{BB962C8B-B14F-4D97-AF65-F5344CB8AC3E}">
        <p14:creationId xmlns:p14="http://schemas.microsoft.com/office/powerpoint/2010/main" val="935715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07EEDB6A-3B68-4E47-9684-BD56A0928052}"/>
              </a:ext>
            </a:extLst>
          </p:cNvPr>
          <p:cNvSpPr>
            <a:spLocks noGrp="1"/>
          </p:cNvSpPr>
          <p:nvPr/>
        </p:nvSpPr>
        <p:spPr>
          <a:xfrm>
            <a:off x="658368" y="1737360"/>
            <a:ext cx="5989320" cy="12801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쿼드 트리는 지형의 LOD(Level of Detail)를 관리하는 데 활용할 수 있다. 가까운 영역은 작은 격자로, 먼 영역은 큰 격자로 표현한다. 화면에 필요한 세밀함을 판단하는 로직과 함께 사용한다.</a:t>
            </a:r>
            <a:endParaRPr sz="1300"/>
          </a:p>
        </p:txBody>
      </p:sp>
      <p:sp>
        <p:nvSpPr>
          <p:cNvPr id="10" name="Text 6">
            <a:extLst>
              <a:ext uri="{FF2B5EF4-FFF2-40B4-BE49-F238E27FC236}">
                <a16:creationId xmlns:a16="http://schemas.microsoft.com/office/drawing/2014/main" id="{BA6B28AF-C59A-4CFD-9D33-118E122C07C0}"/>
              </a:ext>
            </a:extLst>
          </p:cNvPr>
          <p:cNvSpPr>
            <a:spLocks noGrp="1"/>
          </p:cNvSpPr>
          <p:nvPr/>
        </p:nvSpPr>
        <p:spPr>
          <a:xfrm>
            <a:off x="1481328" y="3200400"/>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가까운 영역</a:t>
            </a:r>
            <a:endParaRPr sz="1300"/>
          </a:p>
        </p:txBody>
      </p:sp>
      <p:sp>
        <p:nvSpPr>
          <p:cNvPr id="11" name="Text 7">
            <a:extLst>
              <a:ext uri="{FF2B5EF4-FFF2-40B4-BE49-F238E27FC236}">
                <a16:creationId xmlns:a16="http://schemas.microsoft.com/office/drawing/2014/main" id="{DFF291C2-4C7F-45F1-8238-9AAA5C0AF6F3}"/>
              </a:ext>
            </a:extLst>
          </p:cNvPr>
          <p:cNvSpPr>
            <a:spLocks noGrp="1"/>
          </p:cNvSpPr>
          <p:nvPr/>
        </p:nvSpPr>
        <p:spPr>
          <a:xfrm>
            <a:off x="3081528" y="3200400"/>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깊게 분할 → 고해상도 렌더링</a:t>
            </a:r>
            <a:endParaRPr sz="1150"/>
          </a:p>
        </p:txBody>
      </p:sp>
      <p:sp>
        <p:nvSpPr>
          <p:cNvPr id="15" name="Text 10">
            <a:extLst>
              <a:ext uri="{FF2B5EF4-FFF2-40B4-BE49-F238E27FC236}">
                <a16:creationId xmlns:a16="http://schemas.microsoft.com/office/drawing/2014/main" id="{B9F71293-C922-4CEF-9A2B-92F5334B2617}"/>
              </a:ext>
            </a:extLst>
          </p:cNvPr>
          <p:cNvSpPr>
            <a:spLocks noGrp="1"/>
          </p:cNvSpPr>
          <p:nvPr/>
        </p:nvSpPr>
        <p:spPr>
          <a:xfrm>
            <a:off x="1481328" y="4169664"/>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먼 영역</a:t>
            </a:r>
            <a:endParaRPr sz="1300"/>
          </a:p>
        </p:txBody>
      </p:sp>
      <p:sp>
        <p:nvSpPr>
          <p:cNvPr id="16" name="Text 11">
            <a:extLst>
              <a:ext uri="{FF2B5EF4-FFF2-40B4-BE49-F238E27FC236}">
                <a16:creationId xmlns:a16="http://schemas.microsoft.com/office/drawing/2014/main" id="{3CD1604E-3D3B-45C0-8ABE-BB1F76B71CD4}"/>
              </a:ext>
            </a:extLst>
          </p:cNvPr>
          <p:cNvSpPr>
            <a:spLocks noGrp="1"/>
          </p:cNvSpPr>
          <p:nvPr/>
        </p:nvSpPr>
        <p:spPr>
          <a:xfrm>
            <a:off x="3081528" y="4169664"/>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얕게 분할 → 저해상도 렌더링</a:t>
            </a:r>
            <a:endParaRPr sz="1150"/>
          </a:p>
        </p:txBody>
      </p:sp>
      <p:sp>
        <p:nvSpPr>
          <p:cNvPr id="20" name="Text 14">
            <a:extLst>
              <a:ext uri="{FF2B5EF4-FFF2-40B4-BE49-F238E27FC236}">
                <a16:creationId xmlns:a16="http://schemas.microsoft.com/office/drawing/2014/main" id="{C12E0315-7040-4C81-8AC4-FA5E2212C372}"/>
              </a:ext>
            </a:extLst>
          </p:cNvPr>
          <p:cNvSpPr>
            <a:spLocks noGrp="1"/>
          </p:cNvSpPr>
          <p:nvPr/>
        </p:nvSpPr>
        <p:spPr>
          <a:xfrm>
            <a:off x="1481328" y="5138928"/>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결과</a:t>
            </a:r>
            <a:endParaRPr sz="1300"/>
          </a:p>
        </p:txBody>
      </p:sp>
      <p:sp>
        <p:nvSpPr>
          <p:cNvPr id="21" name="Text 15">
            <a:extLst>
              <a:ext uri="{FF2B5EF4-FFF2-40B4-BE49-F238E27FC236}">
                <a16:creationId xmlns:a16="http://schemas.microsoft.com/office/drawing/2014/main" id="{21C8E5E8-40FA-4D22-8789-67921EB36335}"/>
              </a:ext>
            </a:extLst>
          </p:cNvPr>
          <p:cNvSpPr>
            <a:spLocks noGrp="1"/>
          </p:cNvSpPr>
          <p:nvPr/>
        </p:nvSpPr>
        <p:spPr>
          <a:xfrm>
            <a:off x="3081528" y="5138928"/>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같은 프레임 예산으로 훨씬 넓은 세계를 그린다</a:t>
            </a:r>
            <a:endParaRPr sz="1150"/>
          </a:p>
        </p:txBody>
      </p:sp>
      <p:sp>
        <p:nvSpPr>
          <p:cNvPr id="30" name="직사각형 29">
            <a:extLst>
              <a:ext uri="{FF2B5EF4-FFF2-40B4-BE49-F238E27FC236}">
                <a16:creationId xmlns:a16="http://schemas.microsoft.com/office/drawing/2014/main" id="{D6362A7A-209B-418B-8A32-EA7241CA7620}"/>
              </a:ext>
            </a:extLst>
          </p:cNvPr>
          <p:cNvSpPr>
            <a:spLocks noGrp="1"/>
          </p:cNvSpPr>
          <p:nvPr/>
        </p:nvSpPr>
        <p:spPr>
          <a:xfrm>
            <a:off x="6967728" y="1737360"/>
            <a:ext cx="4562856" cy="9525"/>
          </a:xfrm>
          <a:prstGeom prst="rect">
            <a:avLst/>
          </a:prstGeom>
          <a:solidFill>
            <a:srgbClr val="D4D4D4"/>
          </a:solidFill>
          <a:ln w="0">
            <a:noFill/>
          </a:ln>
        </p:spPr>
      </p:sp>
      <p:sp>
        <p:nvSpPr>
          <p:cNvPr id="31" name="직사각형 30">
            <a:extLst>
              <a:ext uri="{FF2B5EF4-FFF2-40B4-BE49-F238E27FC236}">
                <a16:creationId xmlns:a16="http://schemas.microsoft.com/office/drawing/2014/main" id="{FB43F76D-3484-43EA-8ED2-743B6A410DE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F2A27A89-E2EB-42AA-A4E2-BA967BE7631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FFBF9231-7F88-4B73-8322-B8B486140ED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성능의 혁신과 LOD (Level of Detail)</a:t>
            </a:r>
          </a:p>
        </p:txBody>
      </p:sp>
      <p:sp>
        <p:nvSpPr>
          <p:cNvPr id="34" name="직사각형 33">
            <a:extLst>
              <a:ext uri="{FF2B5EF4-FFF2-40B4-BE49-F238E27FC236}">
                <a16:creationId xmlns:a16="http://schemas.microsoft.com/office/drawing/2014/main" id="{D4C08F10-0F5C-4509-B837-E38EB2C8195B}"/>
              </a:ext>
            </a:extLst>
          </p:cNvPr>
          <p:cNvSpPr>
            <a:spLocks noGrp="1"/>
          </p:cNvSpPr>
          <p:nvPr/>
        </p:nvSpPr>
        <p:spPr>
          <a:xfrm>
            <a:off x="609600" y="1381125"/>
            <a:ext cx="10972800" cy="19050"/>
          </a:xfrm>
          <a:prstGeom prst="rect">
            <a:avLst/>
          </a:prstGeom>
          <a:solidFill>
            <a:srgbClr val="171717"/>
          </a:solidFill>
          <a:ln w="0">
            <a:noFill/>
          </a:ln>
        </p:spPr>
      </p:sp>
      <p:sp>
        <p:nvSpPr>
          <p:cNvPr id="35" name="직사각형 34">
            <a:extLst>
              <a:ext uri="{FF2B5EF4-FFF2-40B4-BE49-F238E27FC236}">
                <a16:creationId xmlns:a16="http://schemas.microsoft.com/office/drawing/2014/main" id="{C613D61C-6F4A-4FB0-AE35-82204E8C7A13}"/>
              </a:ext>
            </a:extLst>
          </p:cNvPr>
          <p:cNvSpPr>
            <a:spLocks noGrp="1"/>
          </p:cNvSpPr>
          <p:nvPr/>
        </p:nvSpPr>
        <p:spPr>
          <a:xfrm>
            <a:off x="609600" y="6438900"/>
            <a:ext cx="1097280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D69771A5-3324-412F-BCEB-818A569BAC8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13DB6B42-50EC-4E94-8251-E2E279F1033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57</a:t>
            </a:r>
            <a:endParaRPr sz="1050" b="1" i="0">
              <a:solidFill>
                <a:srgbClr val="171717"/>
              </a:solidFill>
              <a:latin typeface="Consolas"/>
              <a:ea typeface="Consolas"/>
              <a:cs typeface="Consolas"/>
            </a:endParaRPr>
          </a:p>
        </p:txBody>
      </p:sp>
      <p:sp>
        <p:nvSpPr>
          <p:cNvPr id="38" name="직사각형 37">
            <a:extLst>
              <a:ext uri="{FF2B5EF4-FFF2-40B4-BE49-F238E27FC236}">
                <a16:creationId xmlns:a16="http://schemas.microsoft.com/office/drawing/2014/main" id="{1B354B20-A507-4E31-9174-57CF670401EA}"/>
              </a:ext>
            </a:extLst>
          </p:cNvPr>
          <p:cNvSpPr>
            <a:spLocks noGrp="1"/>
          </p:cNvSpPr>
          <p:nvPr/>
        </p:nvSpPr>
        <p:spPr>
          <a:xfrm>
            <a:off x="7571242" y="2090318"/>
            <a:ext cx="3355924" cy="3513125"/>
          </a:xfrm>
          <a:prstGeom prst="rect">
            <a:avLst/>
          </a:prstGeom>
          <a:solidFill>
            <a:srgbClr val="FFFFFF"/>
          </a:solidFill>
          <a:ln w="9525">
            <a:solidFill>
              <a:srgbClr val="292929"/>
            </a:solidFill>
          </a:ln>
        </p:spPr>
      </p:sp>
      <p:sp>
        <p:nvSpPr>
          <p:cNvPr id="39" name="직사각형 38">
            <a:extLst>
              <a:ext uri="{FF2B5EF4-FFF2-40B4-BE49-F238E27FC236}">
                <a16:creationId xmlns:a16="http://schemas.microsoft.com/office/drawing/2014/main" id="{86CCCC00-F7E8-4F5B-A749-9077711E2D85}"/>
              </a:ext>
            </a:extLst>
          </p:cNvPr>
          <p:cNvSpPr>
            <a:spLocks noGrp="1"/>
          </p:cNvSpPr>
          <p:nvPr/>
        </p:nvSpPr>
        <p:spPr>
          <a:xfrm>
            <a:off x="9249204" y="2090318"/>
            <a:ext cx="8390" cy="3513125"/>
          </a:xfrm>
          <a:prstGeom prst="rect">
            <a:avLst/>
          </a:prstGeom>
          <a:solidFill>
            <a:srgbClr val="8CA3A7"/>
          </a:solidFill>
          <a:ln w="9525">
            <a:noFill/>
          </a:ln>
        </p:spPr>
      </p:sp>
      <p:sp>
        <p:nvSpPr>
          <p:cNvPr id="40" name="직사각형 39">
            <a:extLst>
              <a:ext uri="{FF2B5EF4-FFF2-40B4-BE49-F238E27FC236}">
                <a16:creationId xmlns:a16="http://schemas.microsoft.com/office/drawing/2014/main" id="{65DDD13C-81BA-4FFC-9066-D14440CC9A97}"/>
              </a:ext>
            </a:extLst>
          </p:cNvPr>
          <p:cNvSpPr>
            <a:spLocks noGrp="1"/>
          </p:cNvSpPr>
          <p:nvPr/>
        </p:nvSpPr>
        <p:spPr>
          <a:xfrm>
            <a:off x="7571242" y="3846881"/>
            <a:ext cx="3355924" cy="8266"/>
          </a:xfrm>
          <a:prstGeom prst="rect">
            <a:avLst/>
          </a:prstGeom>
          <a:solidFill>
            <a:srgbClr val="8CA3A7"/>
          </a:solidFill>
          <a:ln w="9525">
            <a:noFill/>
          </a:ln>
        </p:spPr>
      </p:sp>
      <p:sp>
        <p:nvSpPr>
          <p:cNvPr id="41" name="직사각형 40">
            <a:extLst>
              <a:ext uri="{FF2B5EF4-FFF2-40B4-BE49-F238E27FC236}">
                <a16:creationId xmlns:a16="http://schemas.microsoft.com/office/drawing/2014/main" id="{72C55E27-DA18-4131-B23A-81C979F458D7}"/>
              </a:ext>
            </a:extLst>
          </p:cNvPr>
          <p:cNvSpPr>
            <a:spLocks noGrp="1"/>
          </p:cNvSpPr>
          <p:nvPr/>
        </p:nvSpPr>
        <p:spPr>
          <a:xfrm>
            <a:off x="10088185" y="2090318"/>
            <a:ext cx="8390" cy="1756562"/>
          </a:xfrm>
          <a:prstGeom prst="rect">
            <a:avLst/>
          </a:prstGeom>
          <a:solidFill>
            <a:srgbClr val="8CA3A7"/>
          </a:solidFill>
          <a:ln w="9525">
            <a:noFill/>
          </a:ln>
        </p:spPr>
      </p:sp>
      <p:sp>
        <p:nvSpPr>
          <p:cNvPr id="42" name="직사각형 41">
            <a:extLst>
              <a:ext uri="{FF2B5EF4-FFF2-40B4-BE49-F238E27FC236}">
                <a16:creationId xmlns:a16="http://schemas.microsoft.com/office/drawing/2014/main" id="{14CCB2A2-35A1-4079-9A3E-BF3101459A01}"/>
              </a:ext>
            </a:extLst>
          </p:cNvPr>
          <p:cNvSpPr>
            <a:spLocks noGrp="1"/>
          </p:cNvSpPr>
          <p:nvPr/>
        </p:nvSpPr>
        <p:spPr>
          <a:xfrm>
            <a:off x="9249204" y="2968600"/>
            <a:ext cx="1677962" cy="8266"/>
          </a:xfrm>
          <a:prstGeom prst="rect">
            <a:avLst/>
          </a:prstGeom>
          <a:solidFill>
            <a:srgbClr val="8CA3A7"/>
          </a:solidFill>
          <a:ln w="9525">
            <a:noFill/>
          </a:ln>
        </p:spPr>
      </p:sp>
      <p:sp>
        <p:nvSpPr>
          <p:cNvPr id="43" name="직사각형 42">
            <a:extLst>
              <a:ext uri="{FF2B5EF4-FFF2-40B4-BE49-F238E27FC236}">
                <a16:creationId xmlns:a16="http://schemas.microsoft.com/office/drawing/2014/main" id="{8980CB90-3613-4C1B-931B-58DC1974519F}"/>
              </a:ext>
            </a:extLst>
          </p:cNvPr>
          <p:cNvSpPr>
            <a:spLocks noGrp="1"/>
          </p:cNvSpPr>
          <p:nvPr/>
        </p:nvSpPr>
        <p:spPr>
          <a:xfrm>
            <a:off x="10507675" y="2090318"/>
            <a:ext cx="8390" cy="878281"/>
          </a:xfrm>
          <a:prstGeom prst="rect">
            <a:avLst/>
          </a:prstGeom>
          <a:solidFill>
            <a:srgbClr val="8CA3A7"/>
          </a:solidFill>
          <a:ln w="9525">
            <a:noFill/>
          </a:ln>
        </p:spPr>
      </p:sp>
      <p:sp>
        <p:nvSpPr>
          <p:cNvPr id="44" name="직사각형 43">
            <a:extLst>
              <a:ext uri="{FF2B5EF4-FFF2-40B4-BE49-F238E27FC236}">
                <a16:creationId xmlns:a16="http://schemas.microsoft.com/office/drawing/2014/main" id="{28BF91B3-3961-4BBE-A344-7A4CE012C056}"/>
              </a:ext>
            </a:extLst>
          </p:cNvPr>
          <p:cNvSpPr>
            <a:spLocks noGrp="1"/>
          </p:cNvSpPr>
          <p:nvPr/>
        </p:nvSpPr>
        <p:spPr>
          <a:xfrm>
            <a:off x="10088185" y="2529459"/>
            <a:ext cx="838981" cy="8266"/>
          </a:xfrm>
          <a:prstGeom prst="rect">
            <a:avLst/>
          </a:prstGeom>
          <a:solidFill>
            <a:srgbClr val="8CA3A7"/>
          </a:solidFill>
          <a:ln w="9525">
            <a:noFill/>
          </a:ln>
        </p:spPr>
      </p:sp>
      <p:sp>
        <p:nvSpPr>
          <p:cNvPr id="45" name="직사각형 44">
            <a:extLst>
              <a:ext uri="{FF2B5EF4-FFF2-40B4-BE49-F238E27FC236}">
                <a16:creationId xmlns:a16="http://schemas.microsoft.com/office/drawing/2014/main" id="{3C28D8D9-CA77-4A90-969F-608EDE06B89E}"/>
              </a:ext>
            </a:extLst>
          </p:cNvPr>
          <p:cNvSpPr>
            <a:spLocks noGrp="1"/>
          </p:cNvSpPr>
          <p:nvPr/>
        </p:nvSpPr>
        <p:spPr>
          <a:xfrm>
            <a:off x="10507675" y="2968600"/>
            <a:ext cx="8390" cy="878281"/>
          </a:xfrm>
          <a:prstGeom prst="rect">
            <a:avLst/>
          </a:prstGeom>
          <a:solidFill>
            <a:srgbClr val="8CA3A7"/>
          </a:solidFill>
          <a:ln w="9525">
            <a:noFill/>
          </a:ln>
        </p:spPr>
      </p:sp>
      <p:sp>
        <p:nvSpPr>
          <p:cNvPr id="46" name="직사각형 45">
            <a:extLst>
              <a:ext uri="{FF2B5EF4-FFF2-40B4-BE49-F238E27FC236}">
                <a16:creationId xmlns:a16="http://schemas.microsoft.com/office/drawing/2014/main" id="{AE163D69-F7DD-4449-85FE-49CFCBC3303B}"/>
              </a:ext>
            </a:extLst>
          </p:cNvPr>
          <p:cNvSpPr>
            <a:spLocks noGrp="1"/>
          </p:cNvSpPr>
          <p:nvPr/>
        </p:nvSpPr>
        <p:spPr>
          <a:xfrm>
            <a:off x="10088185" y="3407740"/>
            <a:ext cx="838981" cy="8266"/>
          </a:xfrm>
          <a:prstGeom prst="rect">
            <a:avLst/>
          </a:prstGeom>
          <a:solidFill>
            <a:srgbClr val="8CA3A7"/>
          </a:solidFill>
          <a:ln w="9525">
            <a:noFill/>
          </a:ln>
        </p:spPr>
      </p:sp>
      <p:sp>
        <p:nvSpPr>
          <p:cNvPr id="47" name="타원 46">
            <a:extLst>
              <a:ext uri="{FF2B5EF4-FFF2-40B4-BE49-F238E27FC236}">
                <a16:creationId xmlns:a16="http://schemas.microsoft.com/office/drawing/2014/main" id="{63AA16D8-D12D-4D9E-BDFF-B5C6366B79C4}"/>
              </a:ext>
            </a:extLst>
          </p:cNvPr>
          <p:cNvSpPr>
            <a:spLocks noGrp="1"/>
          </p:cNvSpPr>
          <p:nvPr/>
        </p:nvSpPr>
        <p:spPr>
          <a:xfrm>
            <a:off x="10172083" y="2214311"/>
            <a:ext cx="57150" cy="57150"/>
          </a:xfrm>
          <a:prstGeom prst="ellipse">
            <a:avLst/>
          </a:prstGeom>
          <a:solidFill>
            <a:srgbClr val="DB7251"/>
          </a:solidFill>
          <a:ln w="0">
            <a:noFill/>
          </a:ln>
        </p:spPr>
      </p:sp>
      <p:sp>
        <p:nvSpPr>
          <p:cNvPr id="48" name="타원 47">
            <a:extLst>
              <a:ext uri="{FF2B5EF4-FFF2-40B4-BE49-F238E27FC236}">
                <a16:creationId xmlns:a16="http://schemas.microsoft.com/office/drawing/2014/main" id="{0400F52F-70D5-4CB3-9227-D88BAAC5B589}"/>
              </a:ext>
            </a:extLst>
          </p:cNvPr>
          <p:cNvSpPr>
            <a:spLocks noGrp="1"/>
          </p:cNvSpPr>
          <p:nvPr/>
        </p:nvSpPr>
        <p:spPr>
          <a:xfrm>
            <a:off x="10214032" y="2668951"/>
            <a:ext cx="57150" cy="57150"/>
          </a:xfrm>
          <a:prstGeom prst="ellipse">
            <a:avLst/>
          </a:prstGeom>
          <a:solidFill>
            <a:srgbClr val="DB7251"/>
          </a:solidFill>
          <a:ln w="0">
            <a:noFill/>
          </a:ln>
        </p:spPr>
      </p:sp>
      <p:sp>
        <p:nvSpPr>
          <p:cNvPr id="49" name="타원 48">
            <a:extLst>
              <a:ext uri="{FF2B5EF4-FFF2-40B4-BE49-F238E27FC236}">
                <a16:creationId xmlns:a16="http://schemas.microsoft.com/office/drawing/2014/main" id="{17E22991-C45B-4AD8-AE97-6073E97CBF8B}"/>
              </a:ext>
            </a:extLst>
          </p:cNvPr>
          <p:cNvSpPr>
            <a:spLocks noGrp="1"/>
          </p:cNvSpPr>
          <p:nvPr/>
        </p:nvSpPr>
        <p:spPr>
          <a:xfrm>
            <a:off x="10255981" y="3123590"/>
            <a:ext cx="57150" cy="57150"/>
          </a:xfrm>
          <a:prstGeom prst="ellipse">
            <a:avLst/>
          </a:prstGeom>
          <a:solidFill>
            <a:srgbClr val="DB7251"/>
          </a:solidFill>
          <a:ln w="0">
            <a:noFill/>
          </a:ln>
        </p:spPr>
      </p:sp>
      <p:sp>
        <p:nvSpPr>
          <p:cNvPr id="50" name="타원 49">
            <a:extLst>
              <a:ext uri="{FF2B5EF4-FFF2-40B4-BE49-F238E27FC236}">
                <a16:creationId xmlns:a16="http://schemas.microsoft.com/office/drawing/2014/main" id="{7C4AF8B1-0082-410A-8F47-0F69E0C9DF21}"/>
              </a:ext>
            </a:extLst>
          </p:cNvPr>
          <p:cNvSpPr>
            <a:spLocks noGrp="1"/>
          </p:cNvSpPr>
          <p:nvPr/>
        </p:nvSpPr>
        <p:spPr>
          <a:xfrm>
            <a:off x="10297930" y="2255642"/>
            <a:ext cx="57150" cy="57150"/>
          </a:xfrm>
          <a:prstGeom prst="ellipse">
            <a:avLst/>
          </a:prstGeom>
          <a:solidFill>
            <a:srgbClr val="DB7251"/>
          </a:solidFill>
          <a:ln w="0">
            <a:noFill/>
          </a:ln>
        </p:spPr>
      </p:sp>
      <p:sp>
        <p:nvSpPr>
          <p:cNvPr id="51" name="타원 50">
            <a:extLst>
              <a:ext uri="{FF2B5EF4-FFF2-40B4-BE49-F238E27FC236}">
                <a16:creationId xmlns:a16="http://schemas.microsoft.com/office/drawing/2014/main" id="{E57BAF88-2816-4E09-9380-A8442DF404A0}"/>
              </a:ext>
            </a:extLst>
          </p:cNvPr>
          <p:cNvSpPr>
            <a:spLocks noGrp="1"/>
          </p:cNvSpPr>
          <p:nvPr/>
        </p:nvSpPr>
        <p:spPr>
          <a:xfrm>
            <a:off x="10339879" y="2710282"/>
            <a:ext cx="57150" cy="57150"/>
          </a:xfrm>
          <a:prstGeom prst="ellipse">
            <a:avLst/>
          </a:prstGeom>
          <a:solidFill>
            <a:srgbClr val="DB7251"/>
          </a:solidFill>
          <a:ln w="0">
            <a:noFill/>
          </a:ln>
        </p:spPr>
      </p:sp>
      <p:sp>
        <p:nvSpPr>
          <p:cNvPr id="52" name="타원 51">
            <a:extLst>
              <a:ext uri="{FF2B5EF4-FFF2-40B4-BE49-F238E27FC236}">
                <a16:creationId xmlns:a16="http://schemas.microsoft.com/office/drawing/2014/main" id="{A434B6A0-0BFD-46A3-B3D9-CED1B9DE6539}"/>
              </a:ext>
            </a:extLst>
          </p:cNvPr>
          <p:cNvSpPr>
            <a:spLocks noGrp="1"/>
          </p:cNvSpPr>
          <p:nvPr/>
        </p:nvSpPr>
        <p:spPr>
          <a:xfrm>
            <a:off x="10381828" y="3164921"/>
            <a:ext cx="57150" cy="57150"/>
          </a:xfrm>
          <a:prstGeom prst="ellipse">
            <a:avLst/>
          </a:prstGeom>
          <a:solidFill>
            <a:srgbClr val="DB7251"/>
          </a:solidFill>
          <a:ln w="0">
            <a:noFill/>
          </a:ln>
        </p:spPr>
      </p:sp>
      <p:sp>
        <p:nvSpPr>
          <p:cNvPr id="53" name="타원 52">
            <a:extLst>
              <a:ext uri="{FF2B5EF4-FFF2-40B4-BE49-F238E27FC236}">
                <a16:creationId xmlns:a16="http://schemas.microsoft.com/office/drawing/2014/main" id="{FD406071-9025-42D4-80A4-12E671E77F86}"/>
              </a:ext>
            </a:extLst>
          </p:cNvPr>
          <p:cNvSpPr>
            <a:spLocks noGrp="1"/>
          </p:cNvSpPr>
          <p:nvPr/>
        </p:nvSpPr>
        <p:spPr>
          <a:xfrm>
            <a:off x="10423777" y="2296973"/>
            <a:ext cx="57150" cy="57150"/>
          </a:xfrm>
          <a:prstGeom prst="ellipse">
            <a:avLst/>
          </a:prstGeom>
          <a:solidFill>
            <a:srgbClr val="DB7251"/>
          </a:solidFill>
          <a:ln w="0">
            <a:noFill/>
          </a:ln>
        </p:spPr>
      </p:sp>
      <p:sp>
        <p:nvSpPr>
          <p:cNvPr id="54" name="타원 53">
            <a:extLst>
              <a:ext uri="{FF2B5EF4-FFF2-40B4-BE49-F238E27FC236}">
                <a16:creationId xmlns:a16="http://schemas.microsoft.com/office/drawing/2014/main" id="{34ABCA0D-A0AB-4D35-AF24-FA4AB11E2C4B}"/>
              </a:ext>
            </a:extLst>
          </p:cNvPr>
          <p:cNvSpPr>
            <a:spLocks noGrp="1"/>
          </p:cNvSpPr>
          <p:nvPr/>
        </p:nvSpPr>
        <p:spPr>
          <a:xfrm>
            <a:off x="10465726" y="2751612"/>
            <a:ext cx="57150" cy="57150"/>
          </a:xfrm>
          <a:prstGeom prst="ellipse">
            <a:avLst/>
          </a:prstGeom>
          <a:solidFill>
            <a:srgbClr val="DB7251"/>
          </a:solidFill>
          <a:ln w="0">
            <a:noFill/>
          </a:ln>
        </p:spPr>
      </p:sp>
      <p:sp>
        <p:nvSpPr>
          <p:cNvPr id="55" name="타원 54">
            <a:extLst>
              <a:ext uri="{FF2B5EF4-FFF2-40B4-BE49-F238E27FC236}">
                <a16:creationId xmlns:a16="http://schemas.microsoft.com/office/drawing/2014/main" id="{0EF540B9-CEE4-4756-BCC6-63DD80914216}"/>
              </a:ext>
            </a:extLst>
          </p:cNvPr>
          <p:cNvSpPr>
            <a:spLocks noGrp="1"/>
          </p:cNvSpPr>
          <p:nvPr/>
        </p:nvSpPr>
        <p:spPr>
          <a:xfrm>
            <a:off x="10507675" y="3206252"/>
            <a:ext cx="57150" cy="57150"/>
          </a:xfrm>
          <a:prstGeom prst="ellipse">
            <a:avLst/>
          </a:prstGeom>
          <a:solidFill>
            <a:srgbClr val="DB7251"/>
          </a:solidFill>
          <a:ln w="0">
            <a:noFill/>
          </a:ln>
        </p:spPr>
      </p:sp>
      <p:sp>
        <p:nvSpPr>
          <p:cNvPr id="56" name="타원 55">
            <a:extLst>
              <a:ext uri="{FF2B5EF4-FFF2-40B4-BE49-F238E27FC236}">
                <a16:creationId xmlns:a16="http://schemas.microsoft.com/office/drawing/2014/main" id="{8E8D768A-05BB-4C3A-B957-E6A0913198CE}"/>
              </a:ext>
            </a:extLst>
          </p:cNvPr>
          <p:cNvSpPr>
            <a:spLocks noGrp="1"/>
          </p:cNvSpPr>
          <p:nvPr/>
        </p:nvSpPr>
        <p:spPr>
          <a:xfrm>
            <a:off x="10549624" y="2338304"/>
            <a:ext cx="57150" cy="57150"/>
          </a:xfrm>
          <a:prstGeom prst="ellipse">
            <a:avLst/>
          </a:prstGeom>
          <a:solidFill>
            <a:srgbClr val="DB7251"/>
          </a:solidFill>
          <a:ln w="0">
            <a:noFill/>
          </a:ln>
        </p:spPr>
      </p:sp>
      <p:sp>
        <p:nvSpPr>
          <p:cNvPr id="57" name="타원 56">
            <a:extLst>
              <a:ext uri="{FF2B5EF4-FFF2-40B4-BE49-F238E27FC236}">
                <a16:creationId xmlns:a16="http://schemas.microsoft.com/office/drawing/2014/main" id="{AFC15EBD-667A-41C9-B64F-02E914985BFC}"/>
              </a:ext>
            </a:extLst>
          </p:cNvPr>
          <p:cNvSpPr>
            <a:spLocks noGrp="1"/>
          </p:cNvSpPr>
          <p:nvPr/>
        </p:nvSpPr>
        <p:spPr>
          <a:xfrm>
            <a:off x="10591573" y="2792943"/>
            <a:ext cx="57150" cy="57150"/>
          </a:xfrm>
          <a:prstGeom prst="ellipse">
            <a:avLst/>
          </a:prstGeom>
          <a:solidFill>
            <a:srgbClr val="DB7251"/>
          </a:solidFill>
          <a:ln w="0">
            <a:noFill/>
          </a:ln>
        </p:spPr>
      </p:sp>
      <p:sp>
        <p:nvSpPr>
          <p:cNvPr id="58" name="타원 57">
            <a:extLst>
              <a:ext uri="{FF2B5EF4-FFF2-40B4-BE49-F238E27FC236}">
                <a16:creationId xmlns:a16="http://schemas.microsoft.com/office/drawing/2014/main" id="{150FF919-5200-4511-A70F-9D6BE1C2D9D8}"/>
              </a:ext>
            </a:extLst>
          </p:cNvPr>
          <p:cNvSpPr>
            <a:spLocks noGrp="1"/>
          </p:cNvSpPr>
          <p:nvPr/>
        </p:nvSpPr>
        <p:spPr>
          <a:xfrm>
            <a:off x="10633522" y="3247583"/>
            <a:ext cx="57150" cy="57150"/>
          </a:xfrm>
          <a:prstGeom prst="ellipse">
            <a:avLst/>
          </a:prstGeom>
          <a:solidFill>
            <a:srgbClr val="DB7251"/>
          </a:solidFill>
          <a:ln w="0">
            <a:noFill/>
          </a:ln>
        </p:spPr>
      </p:sp>
      <p:sp>
        <p:nvSpPr>
          <p:cNvPr id="59" name="타원 58">
            <a:extLst>
              <a:ext uri="{FF2B5EF4-FFF2-40B4-BE49-F238E27FC236}">
                <a16:creationId xmlns:a16="http://schemas.microsoft.com/office/drawing/2014/main" id="{09672ED8-0921-4DDC-B390-F9D4856A1625}"/>
              </a:ext>
            </a:extLst>
          </p:cNvPr>
          <p:cNvSpPr>
            <a:spLocks noGrp="1"/>
          </p:cNvSpPr>
          <p:nvPr/>
        </p:nvSpPr>
        <p:spPr>
          <a:xfrm>
            <a:off x="10675471" y="2379635"/>
            <a:ext cx="57150" cy="57150"/>
          </a:xfrm>
          <a:prstGeom prst="ellipse">
            <a:avLst/>
          </a:prstGeom>
          <a:solidFill>
            <a:srgbClr val="DB7251"/>
          </a:solidFill>
          <a:ln w="0">
            <a:noFill/>
          </a:ln>
        </p:spPr>
      </p:sp>
      <p:sp>
        <p:nvSpPr>
          <p:cNvPr id="60" name="타원 59">
            <a:extLst>
              <a:ext uri="{FF2B5EF4-FFF2-40B4-BE49-F238E27FC236}">
                <a16:creationId xmlns:a16="http://schemas.microsoft.com/office/drawing/2014/main" id="{021DCF24-0188-478C-8B50-843057F4159D}"/>
              </a:ext>
            </a:extLst>
          </p:cNvPr>
          <p:cNvSpPr>
            <a:spLocks noGrp="1"/>
          </p:cNvSpPr>
          <p:nvPr/>
        </p:nvSpPr>
        <p:spPr>
          <a:xfrm>
            <a:off x="10717420" y="2834274"/>
            <a:ext cx="57150" cy="57150"/>
          </a:xfrm>
          <a:prstGeom prst="ellipse">
            <a:avLst/>
          </a:prstGeom>
          <a:solidFill>
            <a:srgbClr val="DB7251"/>
          </a:solidFill>
          <a:ln w="0">
            <a:noFill/>
          </a:ln>
        </p:spPr>
      </p:sp>
      <p:sp>
        <p:nvSpPr>
          <p:cNvPr id="61" name="타원 60">
            <a:extLst>
              <a:ext uri="{FF2B5EF4-FFF2-40B4-BE49-F238E27FC236}">
                <a16:creationId xmlns:a16="http://schemas.microsoft.com/office/drawing/2014/main" id="{03FE5B5A-86D6-4883-ACE0-4EF39E5C52FC}"/>
              </a:ext>
            </a:extLst>
          </p:cNvPr>
          <p:cNvSpPr>
            <a:spLocks noGrp="1"/>
          </p:cNvSpPr>
          <p:nvPr/>
        </p:nvSpPr>
        <p:spPr>
          <a:xfrm>
            <a:off x="10759370" y="3288914"/>
            <a:ext cx="57150" cy="57150"/>
          </a:xfrm>
          <a:prstGeom prst="ellipse">
            <a:avLst/>
          </a:prstGeom>
          <a:solidFill>
            <a:srgbClr val="DB7251"/>
          </a:solidFill>
          <a:ln w="0">
            <a:noFill/>
          </a:ln>
        </p:spPr>
      </p:sp>
      <p:sp>
        <p:nvSpPr>
          <p:cNvPr id="62" name="타원 61">
            <a:extLst>
              <a:ext uri="{FF2B5EF4-FFF2-40B4-BE49-F238E27FC236}">
                <a16:creationId xmlns:a16="http://schemas.microsoft.com/office/drawing/2014/main" id="{C99149A2-8867-4BFB-BDC6-C1B00EF939C7}"/>
              </a:ext>
            </a:extLst>
          </p:cNvPr>
          <p:cNvSpPr>
            <a:spLocks noGrp="1"/>
          </p:cNvSpPr>
          <p:nvPr/>
        </p:nvSpPr>
        <p:spPr>
          <a:xfrm>
            <a:off x="10801319" y="2420965"/>
            <a:ext cx="57150" cy="57150"/>
          </a:xfrm>
          <a:prstGeom prst="ellipse">
            <a:avLst/>
          </a:prstGeom>
          <a:solidFill>
            <a:srgbClr val="DB7251"/>
          </a:solidFill>
          <a:ln w="0">
            <a:noFill/>
          </a:ln>
        </p:spPr>
      </p:sp>
      <p:sp>
        <p:nvSpPr>
          <p:cNvPr id="63" name="타원 62">
            <a:extLst>
              <a:ext uri="{FF2B5EF4-FFF2-40B4-BE49-F238E27FC236}">
                <a16:creationId xmlns:a16="http://schemas.microsoft.com/office/drawing/2014/main" id="{A8C595B8-370F-4EA1-BD9B-F3BD30FB2831}"/>
              </a:ext>
            </a:extLst>
          </p:cNvPr>
          <p:cNvSpPr>
            <a:spLocks noGrp="1"/>
          </p:cNvSpPr>
          <p:nvPr/>
        </p:nvSpPr>
        <p:spPr>
          <a:xfrm>
            <a:off x="10172083" y="2875605"/>
            <a:ext cx="57150" cy="57150"/>
          </a:xfrm>
          <a:prstGeom prst="ellipse">
            <a:avLst/>
          </a:prstGeom>
          <a:solidFill>
            <a:srgbClr val="DB7251"/>
          </a:solidFill>
          <a:ln w="0">
            <a:noFill/>
          </a:ln>
        </p:spPr>
      </p:sp>
      <p:sp>
        <p:nvSpPr>
          <p:cNvPr id="64" name="타원 63">
            <a:extLst>
              <a:ext uri="{FF2B5EF4-FFF2-40B4-BE49-F238E27FC236}">
                <a16:creationId xmlns:a16="http://schemas.microsoft.com/office/drawing/2014/main" id="{E5DB6C87-DF53-4E98-8345-6EB8D87BB4B3}"/>
              </a:ext>
            </a:extLst>
          </p:cNvPr>
          <p:cNvSpPr>
            <a:spLocks noGrp="1"/>
          </p:cNvSpPr>
          <p:nvPr/>
        </p:nvSpPr>
        <p:spPr>
          <a:xfrm>
            <a:off x="10214032" y="3330245"/>
            <a:ext cx="57150" cy="57150"/>
          </a:xfrm>
          <a:prstGeom prst="ellipse">
            <a:avLst/>
          </a:prstGeom>
          <a:solidFill>
            <a:srgbClr val="DB7251"/>
          </a:solidFill>
          <a:ln w="0">
            <a:noFill/>
          </a:ln>
        </p:spPr>
      </p:sp>
      <p:sp>
        <p:nvSpPr>
          <p:cNvPr id="65" name="타원 64">
            <a:extLst>
              <a:ext uri="{FF2B5EF4-FFF2-40B4-BE49-F238E27FC236}">
                <a16:creationId xmlns:a16="http://schemas.microsoft.com/office/drawing/2014/main" id="{94D0791B-5F09-4593-BC59-37BF2E90EC42}"/>
              </a:ext>
            </a:extLst>
          </p:cNvPr>
          <p:cNvSpPr>
            <a:spLocks noGrp="1"/>
          </p:cNvSpPr>
          <p:nvPr/>
        </p:nvSpPr>
        <p:spPr>
          <a:xfrm>
            <a:off x="10255981" y="2462296"/>
            <a:ext cx="57150" cy="57150"/>
          </a:xfrm>
          <a:prstGeom prst="ellipse">
            <a:avLst/>
          </a:prstGeom>
          <a:solidFill>
            <a:srgbClr val="DB7251"/>
          </a:solidFill>
          <a:ln w="0">
            <a:noFill/>
          </a:ln>
        </p:spPr>
      </p:sp>
      <p:sp>
        <p:nvSpPr>
          <p:cNvPr id="66" name="타원 65">
            <a:extLst>
              <a:ext uri="{FF2B5EF4-FFF2-40B4-BE49-F238E27FC236}">
                <a16:creationId xmlns:a16="http://schemas.microsoft.com/office/drawing/2014/main" id="{31533D9B-6AC0-447B-8C3C-58BDA44E6F22}"/>
              </a:ext>
            </a:extLst>
          </p:cNvPr>
          <p:cNvSpPr>
            <a:spLocks noGrp="1"/>
          </p:cNvSpPr>
          <p:nvPr/>
        </p:nvSpPr>
        <p:spPr>
          <a:xfrm>
            <a:off x="10297930" y="2916936"/>
            <a:ext cx="57150" cy="57150"/>
          </a:xfrm>
          <a:prstGeom prst="ellipse">
            <a:avLst/>
          </a:prstGeom>
          <a:solidFill>
            <a:srgbClr val="DB7251"/>
          </a:solidFill>
          <a:ln w="0">
            <a:noFill/>
          </a:ln>
        </p:spPr>
      </p:sp>
      <p:sp>
        <p:nvSpPr>
          <p:cNvPr id="67" name="타원 66">
            <a:extLst>
              <a:ext uri="{FF2B5EF4-FFF2-40B4-BE49-F238E27FC236}">
                <a16:creationId xmlns:a16="http://schemas.microsoft.com/office/drawing/2014/main" id="{F93C9822-1A12-4FDF-A78E-F42FC012512B}"/>
              </a:ext>
            </a:extLst>
          </p:cNvPr>
          <p:cNvSpPr>
            <a:spLocks noGrp="1"/>
          </p:cNvSpPr>
          <p:nvPr/>
        </p:nvSpPr>
        <p:spPr>
          <a:xfrm>
            <a:off x="10339879" y="3371576"/>
            <a:ext cx="57150" cy="57150"/>
          </a:xfrm>
          <a:prstGeom prst="ellipse">
            <a:avLst/>
          </a:prstGeom>
          <a:solidFill>
            <a:srgbClr val="DB7251"/>
          </a:solidFill>
          <a:ln w="0">
            <a:noFill/>
          </a:ln>
        </p:spPr>
      </p:sp>
      <p:sp>
        <p:nvSpPr>
          <p:cNvPr id="68" name="타원 67">
            <a:extLst>
              <a:ext uri="{FF2B5EF4-FFF2-40B4-BE49-F238E27FC236}">
                <a16:creationId xmlns:a16="http://schemas.microsoft.com/office/drawing/2014/main" id="{91066825-2198-40E8-B658-1C8CB7D9A519}"/>
              </a:ext>
            </a:extLst>
          </p:cNvPr>
          <p:cNvSpPr>
            <a:spLocks noGrp="1"/>
          </p:cNvSpPr>
          <p:nvPr/>
        </p:nvSpPr>
        <p:spPr>
          <a:xfrm>
            <a:off x="10381828" y="2503627"/>
            <a:ext cx="57150" cy="57150"/>
          </a:xfrm>
          <a:prstGeom prst="ellipse">
            <a:avLst/>
          </a:prstGeom>
          <a:solidFill>
            <a:srgbClr val="DB7251"/>
          </a:solidFill>
          <a:ln w="0">
            <a:noFill/>
          </a:ln>
        </p:spPr>
      </p:sp>
      <p:sp>
        <p:nvSpPr>
          <p:cNvPr id="69" name="타원 68">
            <a:extLst>
              <a:ext uri="{FF2B5EF4-FFF2-40B4-BE49-F238E27FC236}">
                <a16:creationId xmlns:a16="http://schemas.microsoft.com/office/drawing/2014/main" id="{79B96D2D-7C21-41DB-9940-737B9240805C}"/>
              </a:ext>
            </a:extLst>
          </p:cNvPr>
          <p:cNvSpPr>
            <a:spLocks noGrp="1"/>
          </p:cNvSpPr>
          <p:nvPr/>
        </p:nvSpPr>
        <p:spPr>
          <a:xfrm>
            <a:off x="10423777" y="2958267"/>
            <a:ext cx="57150" cy="57150"/>
          </a:xfrm>
          <a:prstGeom prst="ellipse">
            <a:avLst/>
          </a:prstGeom>
          <a:solidFill>
            <a:srgbClr val="DB7251"/>
          </a:solidFill>
          <a:ln w="0">
            <a:noFill/>
          </a:ln>
        </p:spPr>
      </p:sp>
      <p:sp>
        <p:nvSpPr>
          <p:cNvPr id="70" name="타원 69">
            <a:extLst>
              <a:ext uri="{FF2B5EF4-FFF2-40B4-BE49-F238E27FC236}">
                <a16:creationId xmlns:a16="http://schemas.microsoft.com/office/drawing/2014/main" id="{EEF15932-1B2D-4C5A-BDC0-71D3130D4419}"/>
              </a:ext>
            </a:extLst>
          </p:cNvPr>
          <p:cNvSpPr>
            <a:spLocks noGrp="1"/>
          </p:cNvSpPr>
          <p:nvPr/>
        </p:nvSpPr>
        <p:spPr>
          <a:xfrm>
            <a:off x="10465726" y="3412907"/>
            <a:ext cx="57150" cy="57150"/>
          </a:xfrm>
          <a:prstGeom prst="ellipse">
            <a:avLst/>
          </a:prstGeom>
          <a:solidFill>
            <a:srgbClr val="DB7251"/>
          </a:solidFill>
          <a:ln w="0">
            <a:noFill/>
          </a:ln>
        </p:spPr>
      </p:sp>
      <p:sp>
        <p:nvSpPr>
          <p:cNvPr id="71" name="타원 70">
            <a:extLst>
              <a:ext uri="{FF2B5EF4-FFF2-40B4-BE49-F238E27FC236}">
                <a16:creationId xmlns:a16="http://schemas.microsoft.com/office/drawing/2014/main" id="{6613065C-B713-41F9-824E-47C4027877B7}"/>
              </a:ext>
            </a:extLst>
          </p:cNvPr>
          <p:cNvSpPr>
            <a:spLocks noGrp="1"/>
          </p:cNvSpPr>
          <p:nvPr/>
        </p:nvSpPr>
        <p:spPr>
          <a:xfrm>
            <a:off x="10507675" y="2544958"/>
            <a:ext cx="57150" cy="57150"/>
          </a:xfrm>
          <a:prstGeom prst="ellipse">
            <a:avLst/>
          </a:prstGeom>
          <a:solidFill>
            <a:srgbClr val="DB7251"/>
          </a:solidFill>
          <a:ln w="0">
            <a:noFill/>
          </a:ln>
        </p:spPr>
      </p:sp>
      <p:sp>
        <p:nvSpPr>
          <p:cNvPr id="72" name="타원 71">
            <a:extLst>
              <a:ext uri="{FF2B5EF4-FFF2-40B4-BE49-F238E27FC236}">
                <a16:creationId xmlns:a16="http://schemas.microsoft.com/office/drawing/2014/main" id="{12CE1A16-83D2-44A6-8880-AD82BE6581EE}"/>
              </a:ext>
            </a:extLst>
          </p:cNvPr>
          <p:cNvSpPr>
            <a:spLocks noGrp="1"/>
          </p:cNvSpPr>
          <p:nvPr/>
        </p:nvSpPr>
        <p:spPr>
          <a:xfrm>
            <a:off x="7697089" y="3371576"/>
            <a:ext cx="57150" cy="57150"/>
          </a:xfrm>
          <a:prstGeom prst="ellipse">
            <a:avLst/>
          </a:prstGeom>
          <a:solidFill>
            <a:srgbClr val="DB7251"/>
          </a:solidFill>
          <a:ln w="0">
            <a:noFill/>
          </a:ln>
        </p:spPr>
      </p:sp>
      <p:sp>
        <p:nvSpPr>
          <p:cNvPr id="73" name="타원 72">
            <a:extLst>
              <a:ext uri="{FF2B5EF4-FFF2-40B4-BE49-F238E27FC236}">
                <a16:creationId xmlns:a16="http://schemas.microsoft.com/office/drawing/2014/main" id="{86159F37-E267-4306-BDF7-8DFEF01473C2}"/>
              </a:ext>
            </a:extLst>
          </p:cNvPr>
          <p:cNvSpPr>
            <a:spLocks noGrp="1"/>
          </p:cNvSpPr>
          <p:nvPr/>
        </p:nvSpPr>
        <p:spPr>
          <a:xfrm>
            <a:off x="8242426" y="4322186"/>
            <a:ext cx="57150" cy="57150"/>
          </a:xfrm>
          <a:prstGeom prst="ellipse">
            <a:avLst/>
          </a:prstGeom>
          <a:solidFill>
            <a:srgbClr val="DB7251"/>
          </a:solidFill>
          <a:ln w="0">
            <a:noFill/>
          </a:ln>
        </p:spPr>
      </p:sp>
      <p:sp>
        <p:nvSpPr>
          <p:cNvPr id="74" name="타원 73">
            <a:extLst>
              <a:ext uri="{FF2B5EF4-FFF2-40B4-BE49-F238E27FC236}">
                <a16:creationId xmlns:a16="http://schemas.microsoft.com/office/drawing/2014/main" id="{39A32E85-474C-4EB8-8E14-A8D94F8F3C55}"/>
              </a:ext>
            </a:extLst>
          </p:cNvPr>
          <p:cNvSpPr>
            <a:spLocks noGrp="1"/>
          </p:cNvSpPr>
          <p:nvPr/>
        </p:nvSpPr>
        <p:spPr>
          <a:xfrm>
            <a:off x="8787764" y="2420965"/>
            <a:ext cx="57150" cy="57150"/>
          </a:xfrm>
          <a:prstGeom prst="ellipse">
            <a:avLst/>
          </a:prstGeom>
          <a:solidFill>
            <a:srgbClr val="DB7251"/>
          </a:solidFill>
          <a:ln w="0">
            <a:noFill/>
          </a:ln>
        </p:spPr>
      </p:sp>
      <p:sp>
        <p:nvSpPr>
          <p:cNvPr id="75" name="타원 74">
            <a:extLst>
              <a:ext uri="{FF2B5EF4-FFF2-40B4-BE49-F238E27FC236}">
                <a16:creationId xmlns:a16="http://schemas.microsoft.com/office/drawing/2014/main" id="{0176F718-3CA5-4A9F-B966-215C5AD02EED}"/>
              </a:ext>
            </a:extLst>
          </p:cNvPr>
          <p:cNvSpPr>
            <a:spLocks noGrp="1"/>
          </p:cNvSpPr>
          <p:nvPr/>
        </p:nvSpPr>
        <p:spPr>
          <a:xfrm>
            <a:off x="9333102" y="3371576"/>
            <a:ext cx="57150" cy="57150"/>
          </a:xfrm>
          <a:prstGeom prst="ellipse">
            <a:avLst/>
          </a:prstGeom>
          <a:solidFill>
            <a:srgbClr val="DB7251"/>
          </a:solidFill>
          <a:ln w="0">
            <a:noFill/>
          </a:ln>
        </p:spPr>
      </p:sp>
      <p:sp>
        <p:nvSpPr>
          <p:cNvPr id="76" name="타원 75">
            <a:extLst>
              <a:ext uri="{FF2B5EF4-FFF2-40B4-BE49-F238E27FC236}">
                <a16:creationId xmlns:a16="http://schemas.microsoft.com/office/drawing/2014/main" id="{A1B7B59B-010E-411E-9B5A-C6EBD1AF9AC2}"/>
              </a:ext>
            </a:extLst>
          </p:cNvPr>
          <p:cNvSpPr>
            <a:spLocks noGrp="1"/>
          </p:cNvSpPr>
          <p:nvPr/>
        </p:nvSpPr>
        <p:spPr>
          <a:xfrm>
            <a:off x="9878439" y="4322186"/>
            <a:ext cx="57150" cy="57150"/>
          </a:xfrm>
          <a:prstGeom prst="ellipse">
            <a:avLst/>
          </a:prstGeom>
          <a:solidFill>
            <a:srgbClr val="DB7251"/>
          </a:solidFill>
          <a:ln w="0">
            <a:noFill/>
          </a:ln>
        </p:spPr>
      </p:sp>
      <p:sp>
        <p:nvSpPr>
          <p:cNvPr id="77" name="타원 76">
            <a:extLst>
              <a:ext uri="{FF2B5EF4-FFF2-40B4-BE49-F238E27FC236}">
                <a16:creationId xmlns:a16="http://schemas.microsoft.com/office/drawing/2014/main" id="{D68C3184-4A6F-480E-B45C-CA0EE08C9A41}"/>
              </a:ext>
            </a:extLst>
          </p:cNvPr>
          <p:cNvSpPr>
            <a:spLocks noGrp="1"/>
          </p:cNvSpPr>
          <p:nvPr/>
        </p:nvSpPr>
        <p:spPr>
          <a:xfrm>
            <a:off x="7697089" y="2420965"/>
            <a:ext cx="57150" cy="57150"/>
          </a:xfrm>
          <a:prstGeom prst="ellipse">
            <a:avLst/>
          </a:prstGeom>
          <a:solidFill>
            <a:srgbClr val="DB7251"/>
          </a:solidFill>
          <a:ln w="0">
            <a:noFill/>
          </a:ln>
        </p:spPr>
      </p:sp>
      <p:sp>
        <p:nvSpPr>
          <p:cNvPr id="78" name="타원 77">
            <a:extLst>
              <a:ext uri="{FF2B5EF4-FFF2-40B4-BE49-F238E27FC236}">
                <a16:creationId xmlns:a16="http://schemas.microsoft.com/office/drawing/2014/main" id="{8BAC3AF1-755B-4968-9FAF-9792F5130651}"/>
              </a:ext>
            </a:extLst>
          </p:cNvPr>
          <p:cNvSpPr>
            <a:spLocks noGrp="1"/>
          </p:cNvSpPr>
          <p:nvPr/>
        </p:nvSpPr>
        <p:spPr>
          <a:xfrm>
            <a:off x="8242426" y="3371576"/>
            <a:ext cx="57150" cy="57150"/>
          </a:xfrm>
          <a:prstGeom prst="ellipse">
            <a:avLst/>
          </a:prstGeom>
          <a:solidFill>
            <a:srgbClr val="DB7251"/>
          </a:solidFill>
          <a:ln w="0">
            <a:noFill/>
          </a:ln>
        </p:spPr>
      </p:sp>
      <p:sp>
        <p:nvSpPr>
          <p:cNvPr id="79" name="타원 78">
            <a:extLst>
              <a:ext uri="{FF2B5EF4-FFF2-40B4-BE49-F238E27FC236}">
                <a16:creationId xmlns:a16="http://schemas.microsoft.com/office/drawing/2014/main" id="{BEB2EFB2-2F15-4F51-A670-574877416F4E}"/>
              </a:ext>
            </a:extLst>
          </p:cNvPr>
          <p:cNvSpPr>
            <a:spLocks noGrp="1"/>
          </p:cNvSpPr>
          <p:nvPr/>
        </p:nvSpPr>
        <p:spPr>
          <a:xfrm>
            <a:off x="8787764" y="4322186"/>
            <a:ext cx="57150" cy="57150"/>
          </a:xfrm>
          <a:prstGeom prst="ellipse">
            <a:avLst/>
          </a:prstGeom>
          <a:solidFill>
            <a:srgbClr val="DB7251"/>
          </a:solidFill>
          <a:ln w="0">
            <a:noFill/>
          </a:ln>
        </p:spPr>
      </p:sp>
      <p:sp>
        <p:nvSpPr>
          <p:cNvPr id="80" name="타원 79">
            <a:extLst>
              <a:ext uri="{FF2B5EF4-FFF2-40B4-BE49-F238E27FC236}">
                <a16:creationId xmlns:a16="http://schemas.microsoft.com/office/drawing/2014/main" id="{D629387C-F609-415E-AF40-DD51E3BEC86D}"/>
              </a:ext>
            </a:extLst>
          </p:cNvPr>
          <p:cNvSpPr>
            <a:spLocks noGrp="1"/>
          </p:cNvSpPr>
          <p:nvPr/>
        </p:nvSpPr>
        <p:spPr>
          <a:xfrm>
            <a:off x="9333102" y="2420965"/>
            <a:ext cx="57150" cy="57150"/>
          </a:xfrm>
          <a:prstGeom prst="ellipse">
            <a:avLst/>
          </a:prstGeom>
          <a:solidFill>
            <a:srgbClr val="DB7251"/>
          </a:solidFill>
          <a:ln w="0">
            <a:noFill/>
          </a:ln>
        </p:spPr>
      </p:sp>
      <p:sp>
        <p:nvSpPr>
          <p:cNvPr id="81" name="타원 80">
            <a:extLst>
              <a:ext uri="{FF2B5EF4-FFF2-40B4-BE49-F238E27FC236}">
                <a16:creationId xmlns:a16="http://schemas.microsoft.com/office/drawing/2014/main" id="{42C7C5F7-5565-4CCC-9D5C-056B58D7FC3F}"/>
              </a:ext>
            </a:extLst>
          </p:cNvPr>
          <p:cNvSpPr>
            <a:spLocks noGrp="1"/>
          </p:cNvSpPr>
          <p:nvPr/>
        </p:nvSpPr>
        <p:spPr>
          <a:xfrm>
            <a:off x="9878439" y="3371576"/>
            <a:ext cx="57150" cy="57150"/>
          </a:xfrm>
          <a:prstGeom prst="ellipse">
            <a:avLst/>
          </a:prstGeom>
          <a:solidFill>
            <a:srgbClr val="DB7251"/>
          </a:solidFill>
          <a:ln w="0">
            <a:noFill/>
          </a:ln>
        </p:spPr>
      </p:sp>
      <p:sp>
        <p:nvSpPr>
          <p:cNvPr id="82" name="타원 81">
            <a:extLst>
              <a:ext uri="{FF2B5EF4-FFF2-40B4-BE49-F238E27FC236}">
                <a16:creationId xmlns:a16="http://schemas.microsoft.com/office/drawing/2014/main" id="{FD4D437C-D4C3-4BE8-B2B6-9F9CCEE81B2B}"/>
              </a:ext>
            </a:extLst>
          </p:cNvPr>
          <p:cNvSpPr>
            <a:spLocks noGrp="1"/>
          </p:cNvSpPr>
          <p:nvPr/>
        </p:nvSpPr>
        <p:spPr>
          <a:xfrm>
            <a:off x="7697089" y="4322186"/>
            <a:ext cx="57150" cy="57150"/>
          </a:xfrm>
          <a:prstGeom prst="ellipse">
            <a:avLst/>
          </a:prstGeom>
          <a:solidFill>
            <a:srgbClr val="DB7251"/>
          </a:solidFill>
          <a:ln w="0">
            <a:noFill/>
          </a:ln>
        </p:spPr>
      </p:sp>
      <p:sp>
        <p:nvSpPr>
          <p:cNvPr id="83" name="직사각형 82">
            <a:extLst>
              <a:ext uri="{FF2B5EF4-FFF2-40B4-BE49-F238E27FC236}">
                <a16:creationId xmlns:a16="http://schemas.microsoft.com/office/drawing/2014/main" id="{17354789-AEB6-4536-943E-578DCED63D5C}"/>
              </a:ext>
            </a:extLst>
          </p:cNvPr>
          <p:cNvSpPr>
            <a:spLocks noGrp="1"/>
          </p:cNvSpPr>
          <p:nvPr/>
        </p:nvSpPr>
        <p:spPr>
          <a:xfrm>
            <a:off x="7361496" y="5644774"/>
            <a:ext cx="3775415" cy="371978"/>
          </a:xfrm>
          <a:prstGeom prst="rect">
            <a:avLst/>
          </a:prstGeom>
          <a:noFill/>
          <a:ln w="9525">
            <a:noFill/>
          </a:ln>
        </p:spPr>
        <p:txBody>
          <a:bodyPr wrap="none" lIns="0" tIns="0" rIns="0" bIns="0" anchor="ctr">
            <a:noAutofit/>
          </a:bodyPr>
          <a:lstStyle/>
          <a:p>
            <a:pPr algn="ctr">
              <a:defRPr sz="1200">
                <a:solidFill>
                  <a:srgbClr val="171717"/>
                </a:solidFill>
                <a:latin typeface="Malgun Gothic"/>
                <a:ea typeface="Malgun Gothic"/>
                <a:cs typeface="Malgun Gothic"/>
              </a:defRPr>
            </a:pPr>
            <a:r>
              <a:rPr sz="1200">
                <a:solidFill>
                  <a:srgbClr val="171717"/>
                </a:solidFill>
                <a:latin typeface="Malgun Gothic"/>
                <a:ea typeface="Malgun Gothic"/>
                <a:cs typeface="Malgun Gothic"/>
              </a:rPr>
              <a:t>점이 밀집된 영역을 더 세밀하게 분할</a:t>
            </a:r>
          </a:p>
        </p:txBody>
      </p:sp>
    </p:spTree>
    <p:extLst>
      <p:ext uri="{BB962C8B-B14F-4D97-AF65-F5344CB8AC3E}">
        <p14:creationId xmlns:p14="http://schemas.microsoft.com/office/powerpoint/2010/main" val="7288069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D533A23C-B032-4D6A-B1DE-A02A24A54C99}"/>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1505595A-B7CD-4BFD-958E-75F8CED70B3C}"/>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4.7</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710D7DD8-FD5A-469E-B144-DFDE809BEC31}"/>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E12BDA4B-5CF5-45CF-8761-849202D9BCC3}"/>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마스터 정리</a:t>
            </a:r>
          </a:p>
        </p:txBody>
      </p:sp>
      <p:sp>
        <p:nvSpPr>
          <p:cNvPr id="5" name="직사각형 4">
            <a:extLst>
              <a:ext uri="{FF2B5EF4-FFF2-40B4-BE49-F238E27FC236}">
                <a16:creationId xmlns:a16="http://schemas.microsoft.com/office/drawing/2014/main" id="{5575A376-11D0-4DAE-9A78-BF3E692D4E7A}"/>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Master Theorem</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분할 정복 점화식을 재귀 트리 없이 즉시 푸는 강력한 도구</a:t>
            </a:r>
          </a:p>
        </p:txBody>
      </p:sp>
      <p:sp>
        <p:nvSpPr>
          <p:cNvPr id="6" name="직사각형 5">
            <a:extLst>
              <a:ext uri="{FF2B5EF4-FFF2-40B4-BE49-F238E27FC236}">
                <a16:creationId xmlns:a16="http://schemas.microsoft.com/office/drawing/2014/main" id="{DF3614B6-7B40-4FC4-B792-9004A31CD72E}"/>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17D8EDA0-C00A-46CC-9116-BEAE0DB6230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97A13846-EF8A-4D5A-82EB-2B5C50935F6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58</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31798112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직사각형 30">
            <a:extLst>
              <a:ext uri="{FF2B5EF4-FFF2-40B4-BE49-F238E27FC236}">
                <a16:creationId xmlns:a16="http://schemas.microsoft.com/office/drawing/2014/main" id="{681262E9-38CF-411C-806E-48E2988F2C38}"/>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3FDC3193-7D74-4FD8-B589-6F61399A79B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AD4917E1-0C2D-463B-B6F2-43ED9833C435}"/>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일정한 형태의 점화식을 푸는 정리</a:t>
            </a:r>
          </a:p>
        </p:txBody>
      </p:sp>
      <p:sp>
        <p:nvSpPr>
          <p:cNvPr id="34" name="직사각형 33">
            <a:extLst>
              <a:ext uri="{FF2B5EF4-FFF2-40B4-BE49-F238E27FC236}">
                <a16:creationId xmlns:a16="http://schemas.microsoft.com/office/drawing/2014/main" id="{BEDEFE8A-CFDA-4BF8-8589-1E3C836A4B3D}"/>
              </a:ext>
            </a:extLst>
          </p:cNvPr>
          <p:cNvSpPr>
            <a:spLocks noGrp="1"/>
          </p:cNvSpPr>
          <p:nvPr/>
        </p:nvSpPr>
        <p:spPr>
          <a:xfrm>
            <a:off x="609600" y="1381125"/>
            <a:ext cx="10972800" cy="19050"/>
          </a:xfrm>
          <a:prstGeom prst="rect">
            <a:avLst/>
          </a:prstGeom>
          <a:solidFill>
            <a:srgbClr val="171717"/>
          </a:solidFill>
          <a:ln w="0">
            <a:noFill/>
          </a:ln>
        </p:spPr>
      </p:sp>
      <p:sp>
        <p:nvSpPr>
          <p:cNvPr id="35" name="직사각형 34">
            <a:extLst>
              <a:ext uri="{FF2B5EF4-FFF2-40B4-BE49-F238E27FC236}">
                <a16:creationId xmlns:a16="http://schemas.microsoft.com/office/drawing/2014/main" id="{7CB7003D-ED7B-4ADE-8D44-CC5381B7243A}"/>
              </a:ext>
            </a:extLst>
          </p:cNvPr>
          <p:cNvSpPr>
            <a:spLocks noGrp="1"/>
          </p:cNvSpPr>
          <p:nvPr/>
        </p:nvSpPr>
        <p:spPr>
          <a:xfrm>
            <a:off x="609600" y="6438900"/>
            <a:ext cx="1097280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34BE508E-058C-4AB8-B57C-F955BA1D8EE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FB24C107-F67B-4D8A-9EA8-2BD8E84B980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59</a:t>
            </a:r>
            <a:endParaRPr sz="1050" b="1" i="0">
              <a:solidFill>
                <a:srgbClr val="171717"/>
              </a:solidFill>
              <a:latin typeface="Consolas"/>
              <a:ea typeface="Consolas"/>
              <a:cs typeface="Consolas"/>
            </a:endParaRPr>
          </a:p>
        </p:txBody>
      </p:sp>
      <p:sp>
        <p:nvSpPr>
          <p:cNvPr id="38" name="직사각형 37">
            <a:extLst>
              <a:ext uri="{FF2B5EF4-FFF2-40B4-BE49-F238E27FC236}">
                <a16:creationId xmlns:a16="http://schemas.microsoft.com/office/drawing/2014/main" id="{6635F8A2-3E3F-428B-9DFB-CFEDE47B5311}"/>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마스터 정리는 다음 형태의 점화식을 분석한다.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T(n) = a · T(n/b) + f(n)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a: 재귀 호출의 개수</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독립적으로 풀어야 하는 하위 문제의 수이다.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n/b: 각 하위 문제의 크기</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한 단계마다 원래 크기의 1/b로 줄어든다.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f(n): 재귀 호출 밖에서 드는 비용</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분할, 결합 등 현재 단계의 추가 작업이다.</a:t>
            </a:r>
          </a:p>
        </p:txBody>
      </p:sp>
      <p:pic>
        <p:nvPicPr>
          <p:cNvPr id="48" name="그림 47"/>
          <p:cNvPicPr>
            <a:picLocks noChangeAspect="1"/>
          </p:cNvPicPr>
          <p:nvPr/>
        </p:nvPicPr>
        <p:blipFill>
          <a:blip r:embed="rId3"/>
          <a:stretch/>
        </p:blipFill>
        <p:spPr>
          <a:xfrm>
            <a:off x="7818486" y="2095500"/>
            <a:ext cx="3165379" cy="3333750"/>
          </a:xfrm>
          <a:prstGeom prst="rect">
            <a:avLst/>
          </a:prstGeom>
        </p:spPr>
      </p:pic>
    </p:spTree>
    <p:extLst>
      <p:ext uri="{BB962C8B-B14F-4D97-AF65-F5344CB8AC3E}">
        <p14:creationId xmlns:p14="http://schemas.microsoft.com/office/powerpoint/2010/main" val="75724968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7" name="직사각형 36">
            <a:extLst>
              <a:ext uri="{FF2B5EF4-FFF2-40B4-BE49-F238E27FC236}">
                <a16:creationId xmlns:a16="http://schemas.microsoft.com/office/drawing/2014/main" id="{AD485C2E-9F76-43CF-815D-65CD27107A61}"/>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EA2C8945-474B-478A-BC15-67A0A493A18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9" name="직사각형 38">
            <a:extLst>
              <a:ext uri="{FF2B5EF4-FFF2-40B4-BE49-F238E27FC236}">
                <a16:creationId xmlns:a16="http://schemas.microsoft.com/office/drawing/2014/main" id="{9052E878-E658-41CB-BD62-16D5FA39420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마스터 정리의 세 가지 경우</a:t>
            </a:r>
          </a:p>
        </p:txBody>
      </p:sp>
      <p:sp>
        <p:nvSpPr>
          <p:cNvPr id="40" name="직사각형 39">
            <a:extLst>
              <a:ext uri="{FF2B5EF4-FFF2-40B4-BE49-F238E27FC236}">
                <a16:creationId xmlns:a16="http://schemas.microsoft.com/office/drawing/2014/main" id="{FBF37416-572A-4600-9EC0-60ABEE3C7EA1}"/>
              </a:ext>
            </a:extLst>
          </p:cNvPr>
          <p:cNvSpPr>
            <a:spLocks noGrp="1"/>
          </p:cNvSpPr>
          <p:nvPr/>
        </p:nvSpPr>
        <p:spPr>
          <a:xfrm>
            <a:off x="609600" y="1381125"/>
            <a:ext cx="10972800" cy="19050"/>
          </a:xfrm>
          <a:prstGeom prst="rect">
            <a:avLst/>
          </a:prstGeom>
          <a:solidFill>
            <a:srgbClr val="171717"/>
          </a:solidFill>
          <a:ln w="0">
            <a:noFill/>
          </a:ln>
        </p:spPr>
      </p:sp>
      <p:sp>
        <p:nvSpPr>
          <p:cNvPr id="41" name="직사각형 40">
            <a:extLst>
              <a:ext uri="{FF2B5EF4-FFF2-40B4-BE49-F238E27FC236}">
                <a16:creationId xmlns:a16="http://schemas.microsoft.com/office/drawing/2014/main" id="{592568B4-76CF-4698-BED8-DA35962209B6}"/>
              </a:ext>
            </a:extLst>
          </p:cNvPr>
          <p:cNvSpPr>
            <a:spLocks noGrp="1"/>
          </p:cNvSpPr>
          <p:nvPr/>
        </p:nvSpPr>
        <p:spPr>
          <a:xfrm>
            <a:off x="609600" y="6438900"/>
            <a:ext cx="10972800" cy="9525"/>
          </a:xfrm>
          <a:prstGeom prst="rect">
            <a:avLst/>
          </a:prstGeom>
          <a:solidFill>
            <a:srgbClr val="D4D4D4"/>
          </a:solidFill>
          <a:ln w="0">
            <a:noFill/>
          </a:ln>
        </p:spPr>
      </p:sp>
      <p:sp>
        <p:nvSpPr>
          <p:cNvPr id="42" name="직사각형 41">
            <a:extLst>
              <a:ext uri="{FF2B5EF4-FFF2-40B4-BE49-F238E27FC236}">
                <a16:creationId xmlns:a16="http://schemas.microsoft.com/office/drawing/2014/main" id="{20AA8BD6-F3CB-4955-B662-20D104FDBF1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3" name="직사각형 42">
            <a:extLst>
              <a:ext uri="{FF2B5EF4-FFF2-40B4-BE49-F238E27FC236}">
                <a16:creationId xmlns:a16="http://schemas.microsoft.com/office/drawing/2014/main" id="{E761103F-7E52-4CCA-BC7E-845691FE7F2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60</a:t>
            </a:r>
            <a:endParaRPr sz="1050" b="1" i="0">
              <a:solidFill>
                <a:srgbClr val="171717"/>
              </a:solidFill>
              <a:latin typeface="Consolas"/>
              <a:ea typeface="Consolas"/>
              <a:cs typeface="Consolas"/>
            </a:endParaRPr>
          </a:p>
        </p:txBody>
      </p:sp>
      <p:sp>
        <p:nvSpPr>
          <p:cNvPr id="44" name="직사각형 43">
            <a:extLst>
              <a:ext uri="{FF2B5EF4-FFF2-40B4-BE49-F238E27FC236}">
                <a16:creationId xmlns:a16="http://schemas.microsoft.com/office/drawing/2014/main" id="{1C7135AA-3891-4765-BEE5-867A772383F5}"/>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기준 지수 p = log_b a, ε &gt; 0으로 두고 비교한다.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① f(n) = O(n^(p−ε))</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하위 문제의 비용이 지배 → T(n) = Θ(n^p)</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② f(n) = Θ(n^p)</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각 층의 비용이 비슷 → T(n) = Θ(n^p log 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 f(n) = Ω(n^(p+ε))</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현재 단계의 비용이 지배 → T(n) = Θ(f(n))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③은 a·f(n/b) ≤ c·f(n), c &lt; 1인 정규성 조건도 필요하다. 조건에 맞지 않으면 다른 분석을 사용한다.</a:t>
            </a:r>
          </a:p>
        </p:txBody>
      </p:sp>
      <p:pic>
        <p:nvPicPr>
          <p:cNvPr id="54" name="그림 53"/>
          <p:cNvPicPr>
            <a:picLocks noChangeAspect="1"/>
          </p:cNvPicPr>
          <p:nvPr/>
        </p:nvPicPr>
        <p:blipFill>
          <a:blip r:embed="rId3"/>
          <a:stretch/>
        </p:blipFill>
        <p:spPr>
          <a:xfrm>
            <a:off x="7315200" y="2156656"/>
            <a:ext cx="4171950" cy="3211438"/>
          </a:xfrm>
          <a:prstGeom prst="rect">
            <a:avLst/>
          </a:prstGeom>
        </p:spPr>
      </p:pic>
    </p:spTree>
    <p:extLst>
      <p:ext uri="{BB962C8B-B14F-4D97-AF65-F5344CB8AC3E}">
        <p14:creationId xmlns:p14="http://schemas.microsoft.com/office/powerpoint/2010/main" val="64256500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6319D92D-CFE4-4F70-AE80-F60860739D83}"/>
              </a:ext>
            </a:extLst>
          </p:cNvPr>
          <p:cNvSpPr>
            <a:spLocks noGrp="1"/>
          </p:cNvSpPr>
          <p:nvPr/>
        </p:nvSpPr>
        <p:spPr>
          <a:xfrm>
            <a:off x="658368" y="1737360"/>
            <a:ext cx="5806440" cy="54864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이진 탐색은 한 번 호출할 때마다 문제의 크기가 절반이 되고, 절반 지점(mid)을 계산하는 나눗셈 1번이 필요하다.</a:t>
            </a:r>
            <a:endParaRPr sz="1300"/>
          </a:p>
        </p:txBody>
      </p:sp>
      <p:sp>
        <p:nvSpPr>
          <p:cNvPr id="8" name="Text 5">
            <a:extLst>
              <a:ext uri="{FF2B5EF4-FFF2-40B4-BE49-F238E27FC236}">
                <a16:creationId xmlns:a16="http://schemas.microsoft.com/office/drawing/2014/main" id="{27E7DDED-750B-4339-BCDC-E3D806D876AC}"/>
              </a:ext>
            </a:extLst>
          </p:cNvPr>
          <p:cNvSpPr>
            <a:spLocks noGrp="1"/>
          </p:cNvSpPr>
          <p:nvPr/>
        </p:nvSpPr>
        <p:spPr>
          <a:xfrm>
            <a:off x="658368" y="2395728"/>
            <a:ext cx="5806440" cy="960120"/>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sz="2400" b="1" i="0">
                <a:solidFill>
                  <a:srgbClr val="171717"/>
                </a:solidFill>
                <a:latin typeface="Malgun Gothic"/>
                <a:ea typeface="Malgun Gothic"/>
                <a:cs typeface="Malgun Gothic"/>
              </a:rPr>
              <a:t>T(n) = T(n/2) + O(1)</a:t>
            </a:r>
            <a:endParaRPr sz="2400"/>
          </a:p>
        </p:txBody>
      </p:sp>
      <p:sp>
        <p:nvSpPr>
          <p:cNvPr id="10" name="Text 7">
            <a:extLst>
              <a:ext uri="{FF2B5EF4-FFF2-40B4-BE49-F238E27FC236}">
                <a16:creationId xmlns:a16="http://schemas.microsoft.com/office/drawing/2014/main" id="{C95CC413-A99D-42E6-8036-B966C7C2FE50}"/>
              </a:ext>
            </a:extLst>
          </p:cNvPr>
          <p:cNvSpPr>
            <a:spLocks noGrp="1"/>
          </p:cNvSpPr>
          <p:nvPr/>
        </p:nvSpPr>
        <p:spPr>
          <a:xfrm>
            <a:off x="896112" y="356616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a = 1</a:t>
            </a:r>
            <a:endParaRPr sz="1300"/>
          </a:p>
        </p:txBody>
      </p:sp>
      <p:sp>
        <p:nvSpPr>
          <p:cNvPr id="11" name="Text 8">
            <a:extLst>
              <a:ext uri="{FF2B5EF4-FFF2-40B4-BE49-F238E27FC236}">
                <a16:creationId xmlns:a16="http://schemas.microsoft.com/office/drawing/2014/main" id="{DE4E0E6A-693C-4C64-99F9-CD32E942C4A4}"/>
              </a:ext>
            </a:extLst>
          </p:cNvPr>
          <p:cNvSpPr>
            <a:spLocks noGrp="1"/>
          </p:cNvSpPr>
          <p:nvPr/>
        </p:nvSpPr>
        <p:spPr>
          <a:xfrm>
            <a:off x="2898648" y="356616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재귀 호출 1회</a:t>
            </a:r>
            <a:endParaRPr sz="1200"/>
          </a:p>
        </p:txBody>
      </p:sp>
      <p:sp>
        <p:nvSpPr>
          <p:cNvPr id="13" name="Text 10">
            <a:extLst>
              <a:ext uri="{FF2B5EF4-FFF2-40B4-BE49-F238E27FC236}">
                <a16:creationId xmlns:a16="http://schemas.microsoft.com/office/drawing/2014/main" id="{F0DEB768-1FE8-4421-9B75-BF3ACAB81D2F}"/>
              </a:ext>
            </a:extLst>
          </p:cNvPr>
          <p:cNvSpPr>
            <a:spLocks noGrp="1"/>
          </p:cNvSpPr>
          <p:nvPr/>
        </p:nvSpPr>
        <p:spPr>
          <a:xfrm>
            <a:off x="896112" y="434340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b = 2</a:t>
            </a:r>
            <a:endParaRPr sz="1300"/>
          </a:p>
        </p:txBody>
      </p:sp>
      <p:sp>
        <p:nvSpPr>
          <p:cNvPr id="14" name="Text 11">
            <a:extLst>
              <a:ext uri="{FF2B5EF4-FFF2-40B4-BE49-F238E27FC236}">
                <a16:creationId xmlns:a16="http://schemas.microsoft.com/office/drawing/2014/main" id="{1C74704C-DC3C-41BF-ADCD-44159FA17E82}"/>
              </a:ext>
            </a:extLst>
          </p:cNvPr>
          <p:cNvSpPr>
            <a:spLocks noGrp="1"/>
          </p:cNvSpPr>
          <p:nvPr/>
        </p:nvSpPr>
        <p:spPr>
          <a:xfrm>
            <a:off x="2898648" y="434340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문제 크기를 절반으로</a:t>
            </a:r>
            <a:endParaRPr sz="1200"/>
          </a:p>
        </p:txBody>
      </p:sp>
      <p:sp>
        <p:nvSpPr>
          <p:cNvPr id="16" name="Text 13">
            <a:extLst>
              <a:ext uri="{FF2B5EF4-FFF2-40B4-BE49-F238E27FC236}">
                <a16:creationId xmlns:a16="http://schemas.microsoft.com/office/drawing/2014/main" id="{DEE133EE-E093-4A9E-8930-232A640EA57F}"/>
              </a:ext>
            </a:extLst>
          </p:cNvPr>
          <p:cNvSpPr>
            <a:spLocks noGrp="1"/>
          </p:cNvSpPr>
          <p:nvPr/>
        </p:nvSpPr>
        <p:spPr>
          <a:xfrm>
            <a:off x="896112" y="512064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f(n) = O(1)</a:t>
            </a:r>
            <a:endParaRPr sz="1300"/>
          </a:p>
        </p:txBody>
      </p:sp>
      <p:sp>
        <p:nvSpPr>
          <p:cNvPr id="17" name="Text 14">
            <a:extLst>
              <a:ext uri="{FF2B5EF4-FFF2-40B4-BE49-F238E27FC236}">
                <a16:creationId xmlns:a16="http://schemas.microsoft.com/office/drawing/2014/main" id="{411C869E-033D-487C-945E-497EACB9CC3E}"/>
              </a:ext>
            </a:extLst>
          </p:cNvPr>
          <p:cNvSpPr>
            <a:spLocks noGrp="1"/>
          </p:cNvSpPr>
          <p:nvPr/>
        </p:nvSpPr>
        <p:spPr>
          <a:xfrm>
            <a:off x="2898648" y="512064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mid 계산 시간</a:t>
            </a:r>
            <a:endParaRPr sz="1200"/>
          </a:p>
        </p:txBody>
      </p:sp>
      <p:sp>
        <p:nvSpPr>
          <p:cNvPr id="19" name="Text 16">
            <a:extLst>
              <a:ext uri="{FF2B5EF4-FFF2-40B4-BE49-F238E27FC236}">
                <a16:creationId xmlns:a16="http://schemas.microsoft.com/office/drawing/2014/main" id="{FA035D55-3139-4CAD-823A-38B2D7B98D17}"/>
              </a:ext>
            </a:extLst>
          </p:cNvPr>
          <p:cNvSpPr>
            <a:spLocks noGrp="1"/>
          </p:cNvSpPr>
          <p:nvPr/>
        </p:nvSpPr>
        <p:spPr>
          <a:xfrm>
            <a:off x="7040880" y="1956816"/>
            <a:ext cx="42062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마스터 정리 적용</a:t>
            </a:r>
            <a:endParaRPr sz="1400"/>
          </a:p>
        </p:txBody>
      </p:sp>
      <p:sp>
        <p:nvSpPr>
          <p:cNvPr id="21" name="Text 18">
            <a:extLst>
              <a:ext uri="{FF2B5EF4-FFF2-40B4-BE49-F238E27FC236}">
                <a16:creationId xmlns:a16="http://schemas.microsoft.com/office/drawing/2014/main" id="{7823D1F0-7C5C-41C9-8D33-E357719BEC85}"/>
              </a:ext>
            </a:extLst>
          </p:cNvPr>
          <p:cNvSpPr>
            <a:spLocks noGrp="1"/>
          </p:cNvSpPr>
          <p:nvPr/>
        </p:nvSpPr>
        <p:spPr>
          <a:xfrm>
            <a:off x="7205472" y="2487168"/>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기준값 계산</a:t>
            </a:r>
            <a:endParaRPr sz="1050"/>
          </a:p>
        </p:txBody>
      </p:sp>
      <p:sp>
        <p:nvSpPr>
          <p:cNvPr id="22" name="Text 19">
            <a:extLst>
              <a:ext uri="{FF2B5EF4-FFF2-40B4-BE49-F238E27FC236}">
                <a16:creationId xmlns:a16="http://schemas.microsoft.com/office/drawing/2014/main" id="{19944C48-1478-40A4-9440-1079F3EB0BA8}"/>
              </a:ext>
            </a:extLst>
          </p:cNvPr>
          <p:cNvSpPr>
            <a:spLocks noGrp="1"/>
          </p:cNvSpPr>
          <p:nvPr/>
        </p:nvSpPr>
        <p:spPr>
          <a:xfrm>
            <a:off x="7205472" y="2743200"/>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n^(log₂ 1) = n^(0) = 1</a:t>
            </a:r>
            <a:endParaRPr sz="1350"/>
          </a:p>
        </p:txBody>
      </p:sp>
      <p:sp>
        <p:nvSpPr>
          <p:cNvPr id="24" name="Text 21">
            <a:extLst>
              <a:ext uri="{FF2B5EF4-FFF2-40B4-BE49-F238E27FC236}">
                <a16:creationId xmlns:a16="http://schemas.microsoft.com/office/drawing/2014/main" id="{710B1E9A-6F41-47C7-A4FA-236B1220174F}"/>
              </a:ext>
            </a:extLst>
          </p:cNvPr>
          <p:cNvSpPr>
            <a:spLocks noGrp="1"/>
          </p:cNvSpPr>
          <p:nvPr/>
        </p:nvSpPr>
        <p:spPr>
          <a:xfrm>
            <a:off x="7205472" y="3383280"/>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f(n)과 비교</a:t>
            </a:r>
            <a:endParaRPr sz="1050"/>
          </a:p>
        </p:txBody>
      </p:sp>
      <p:sp>
        <p:nvSpPr>
          <p:cNvPr id="25" name="Text 22">
            <a:extLst>
              <a:ext uri="{FF2B5EF4-FFF2-40B4-BE49-F238E27FC236}">
                <a16:creationId xmlns:a16="http://schemas.microsoft.com/office/drawing/2014/main" id="{DD15E52C-E0AF-49FF-AFAA-7A842AE9B0D0}"/>
              </a:ext>
            </a:extLst>
          </p:cNvPr>
          <p:cNvSpPr>
            <a:spLocks noGrp="1"/>
          </p:cNvSpPr>
          <p:nvPr/>
        </p:nvSpPr>
        <p:spPr>
          <a:xfrm>
            <a:off x="7205472" y="3639312"/>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f(n) = Θ(1) = Θ(n^(0))</a:t>
            </a:r>
            <a:endParaRPr sz="1350"/>
          </a:p>
        </p:txBody>
      </p:sp>
      <p:sp>
        <p:nvSpPr>
          <p:cNvPr id="27" name="Text 24">
            <a:extLst>
              <a:ext uri="{FF2B5EF4-FFF2-40B4-BE49-F238E27FC236}">
                <a16:creationId xmlns:a16="http://schemas.microsoft.com/office/drawing/2014/main" id="{31014A95-99A3-4A29-9AA5-96EF392F2A27}"/>
              </a:ext>
            </a:extLst>
          </p:cNvPr>
          <p:cNvSpPr>
            <a:spLocks noGrp="1"/>
          </p:cNvSpPr>
          <p:nvPr/>
        </p:nvSpPr>
        <p:spPr>
          <a:xfrm>
            <a:off x="7205472" y="4279392"/>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판정</a:t>
            </a:r>
            <a:endParaRPr sz="1050"/>
          </a:p>
        </p:txBody>
      </p:sp>
      <p:sp>
        <p:nvSpPr>
          <p:cNvPr id="28" name="Text 25">
            <a:extLst>
              <a:ext uri="{FF2B5EF4-FFF2-40B4-BE49-F238E27FC236}">
                <a16:creationId xmlns:a16="http://schemas.microsoft.com/office/drawing/2014/main" id="{AB5E445D-A31F-47A8-979A-F0D382B5944C}"/>
              </a:ext>
            </a:extLst>
          </p:cNvPr>
          <p:cNvSpPr>
            <a:spLocks noGrp="1"/>
          </p:cNvSpPr>
          <p:nvPr/>
        </p:nvSpPr>
        <p:spPr>
          <a:xfrm>
            <a:off x="7205472" y="4535424"/>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Case 2 (둘이 같은 정도)</a:t>
            </a:r>
            <a:endParaRPr sz="1350"/>
          </a:p>
        </p:txBody>
      </p:sp>
      <p:sp>
        <p:nvSpPr>
          <p:cNvPr id="30" name="Text 27">
            <a:extLst>
              <a:ext uri="{FF2B5EF4-FFF2-40B4-BE49-F238E27FC236}">
                <a16:creationId xmlns:a16="http://schemas.microsoft.com/office/drawing/2014/main" id="{90E3CC72-EFC4-4AD1-B368-973FABC23412}"/>
              </a:ext>
            </a:extLst>
          </p:cNvPr>
          <p:cNvSpPr>
            <a:spLocks noGrp="1"/>
          </p:cNvSpPr>
          <p:nvPr/>
        </p:nvSpPr>
        <p:spPr>
          <a:xfrm>
            <a:off x="7040880" y="5193792"/>
            <a:ext cx="4233672" cy="749808"/>
          </a:xfrm>
          <a:prstGeom prst="rect">
            <a:avLst/>
          </a:prstGeom>
          <a:noFill/>
          <a:ln w="0">
            <a:noFill/>
          </a:ln>
        </p:spPr>
        <p:txBody>
          <a:bodyPr wrap="square" lIns="0" tIns="0" rIns="0" bIns="0" anchor="ctr">
            <a:noAutofit/>
          </a:bodyPr>
          <a:lstStyle/>
          <a:p>
            <a:pPr marL="0" indent="0" algn="ctr">
              <a:buNone/>
              <a:defRPr sz="2000" i="0">
                <a:solidFill>
                  <a:srgbClr val="171717"/>
                </a:solidFill>
                <a:latin typeface="Malgun Gothic"/>
                <a:ea typeface="Malgun Gothic"/>
                <a:cs typeface="Malgun Gothic"/>
              </a:defRPr>
            </a:pPr>
            <a:r>
              <a:rPr sz="2000" b="1" i="0">
                <a:solidFill>
                  <a:srgbClr val="171717"/>
                </a:solidFill>
                <a:latin typeface="Malgun Gothic"/>
                <a:ea typeface="Malgun Gothic"/>
                <a:cs typeface="Malgun Gothic"/>
              </a:rPr>
              <a:t>T(n) = Θ(log n)</a:t>
            </a:r>
            <a:endParaRPr sz="2000"/>
          </a:p>
        </p:txBody>
      </p:sp>
      <p:sp>
        <p:nvSpPr>
          <p:cNvPr id="32" name="직사각형 31">
            <a:extLst>
              <a:ext uri="{FF2B5EF4-FFF2-40B4-BE49-F238E27FC236}">
                <a16:creationId xmlns:a16="http://schemas.microsoft.com/office/drawing/2014/main" id="{3B3EFE02-FF9F-4D06-8CDA-878456BF4D10}"/>
              </a:ext>
            </a:extLst>
          </p:cNvPr>
          <p:cNvSpPr>
            <a:spLocks noGrp="1"/>
          </p:cNvSpPr>
          <p:nvPr/>
        </p:nvSpPr>
        <p:spPr>
          <a:xfrm>
            <a:off x="6784848" y="1737360"/>
            <a:ext cx="4745736"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A95C91CA-6F5D-481E-93CB-0F6791FD526E}"/>
              </a:ext>
            </a:extLst>
          </p:cNvPr>
          <p:cNvSpPr>
            <a:spLocks noGrp="1"/>
          </p:cNvSpPr>
          <p:nvPr/>
        </p:nvSpPr>
        <p:spPr>
          <a:xfrm>
            <a:off x="7040880" y="2432304"/>
            <a:ext cx="4233672"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D009A4B4-E387-452E-9396-C5B2EADA9E2E}"/>
              </a:ext>
            </a:extLst>
          </p:cNvPr>
          <p:cNvSpPr>
            <a:spLocks noGrp="1"/>
          </p:cNvSpPr>
          <p:nvPr/>
        </p:nvSpPr>
        <p:spPr>
          <a:xfrm>
            <a:off x="7040880" y="3328416"/>
            <a:ext cx="4233672"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B99BD2CD-3849-4B30-94D1-0AA969329539}"/>
              </a:ext>
            </a:extLst>
          </p:cNvPr>
          <p:cNvSpPr>
            <a:spLocks noGrp="1"/>
          </p:cNvSpPr>
          <p:nvPr/>
        </p:nvSpPr>
        <p:spPr>
          <a:xfrm>
            <a:off x="7040880" y="4224528"/>
            <a:ext cx="4233672"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362B33EE-8821-40C7-A768-1470E7BF277A}"/>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A42742D5-F674-4971-B62F-B38F6CE88FC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63BFFF5E-159B-4934-B1CF-55A5C40D108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적용 ① 이진 탐색</a:t>
            </a:r>
          </a:p>
        </p:txBody>
      </p:sp>
      <p:sp>
        <p:nvSpPr>
          <p:cNvPr id="39" name="직사각형 38">
            <a:extLst>
              <a:ext uri="{FF2B5EF4-FFF2-40B4-BE49-F238E27FC236}">
                <a16:creationId xmlns:a16="http://schemas.microsoft.com/office/drawing/2014/main" id="{3D03AE7A-FA5A-466D-A8D5-01586AA1C024}"/>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D59ABB60-8F47-4D25-BE82-114693D09F15}"/>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3CB42D57-C243-4A2B-8E98-6FF2F9D093E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E05891EF-8CA3-4A5E-90ED-62F5860E082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61</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023195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E492C0E0-29AE-43BF-B5B9-E6F94AC487F6}"/>
              </a:ext>
            </a:extLst>
          </p:cNvPr>
          <p:cNvSpPr>
            <a:spLocks noGrp="1"/>
          </p:cNvSpPr>
          <p:nvPr/>
        </p:nvSpPr>
        <p:spPr>
          <a:xfrm>
            <a:off x="658368" y="1737360"/>
            <a:ext cx="5806440" cy="54864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lang="ko-KR" altLang="en-US" sz="1300" i="0">
                <a:solidFill>
                  <a:srgbClr val="606060"/>
                </a:solidFill>
                <a:latin typeface="Malgun Gothic"/>
                <a:ea typeface="Malgun Gothic"/>
                <a:cs typeface="Malgun Gothic"/>
              </a:rPr>
              <a:t>병합</a:t>
            </a:r>
            <a:r>
              <a:rPr sz="1300" i="0">
                <a:solidFill>
                  <a:srgbClr val="606060"/>
                </a:solidFill>
                <a:latin typeface="Malgun Gothic"/>
                <a:ea typeface="Malgun Gothic"/>
                <a:cs typeface="Malgun Gothic"/>
              </a:rPr>
              <a:t> 정렬은 문제를 2개의 부분 문제로 나누고, 각 부분 문제의 크기는 원본의 1/2이다. 나누고 합치는 데 걸리는 비용은 입력 크기 n에 비례한다.</a:t>
            </a:r>
            <a:endParaRPr sz="1300"/>
          </a:p>
        </p:txBody>
      </p:sp>
      <p:sp>
        <p:nvSpPr>
          <p:cNvPr id="8" name="Text 5">
            <a:extLst>
              <a:ext uri="{FF2B5EF4-FFF2-40B4-BE49-F238E27FC236}">
                <a16:creationId xmlns:a16="http://schemas.microsoft.com/office/drawing/2014/main" id="{C88A57AD-7561-4D34-AD06-D261F67EA28A}"/>
              </a:ext>
            </a:extLst>
          </p:cNvPr>
          <p:cNvSpPr>
            <a:spLocks noGrp="1"/>
          </p:cNvSpPr>
          <p:nvPr/>
        </p:nvSpPr>
        <p:spPr>
          <a:xfrm>
            <a:off x="658368" y="2395728"/>
            <a:ext cx="5806440" cy="960120"/>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sz="2400" b="1" i="0">
                <a:solidFill>
                  <a:srgbClr val="171717"/>
                </a:solidFill>
                <a:latin typeface="Malgun Gothic"/>
                <a:ea typeface="Malgun Gothic"/>
                <a:cs typeface="Malgun Gothic"/>
              </a:rPr>
              <a:t>T(n) = 2T(n/2) + cn</a:t>
            </a:r>
            <a:endParaRPr sz="2400"/>
          </a:p>
        </p:txBody>
      </p:sp>
      <p:sp>
        <p:nvSpPr>
          <p:cNvPr id="10" name="Text 7">
            <a:extLst>
              <a:ext uri="{FF2B5EF4-FFF2-40B4-BE49-F238E27FC236}">
                <a16:creationId xmlns:a16="http://schemas.microsoft.com/office/drawing/2014/main" id="{B0E610AC-7329-44ED-9724-A39AE0F877DA}"/>
              </a:ext>
            </a:extLst>
          </p:cNvPr>
          <p:cNvSpPr>
            <a:spLocks noGrp="1"/>
          </p:cNvSpPr>
          <p:nvPr/>
        </p:nvSpPr>
        <p:spPr>
          <a:xfrm>
            <a:off x="896112" y="356616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a = 2</a:t>
            </a:r>
            <a:endParaRPr sz="1300"/>
          </a:p>
        </p:txBody>
      </p:sp>
      <p:sp>
        <p:nvSpPr>
          <p:cNvPr id="11" name="Text 8">
            <a:extLst>
              <a:ext uri="{FF2B5EF4-FFF2-40B4-BE49-F238E27FC236}">
                <a16:creationId xmlns:a16="http://schemas.microsoft.com/office/drawing/2014/main" id="{FA410922-E560-44EB-9B7B-3921E54E144C}"/>
              </a:ext>
            </a:extLst>
          </p:cNvPr>
          <p:cNvSpPr>
            <a:spLocks noGrp="1"/>
          </p:cNvSpPr>
          <p:nvPr/>
        </p:nvSpPr>
        <p:spPr>
          <a:xfrm>
            <a:off x="2898648" y="356616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2개의 부분 문제로 나눈다</a:t>
            </a:r>
            <a:endParaRPr sz="1150"/>
          </a:p>
        </p:txBody>
      </p:sp>
      <p:sp>
        <p:nvSpPr>
          <p:cNvPr id="13" name="Text 10">
            <a:extLst>
              <a:ext uri="{FF2B5EF4-FFF2-40B4-BE49-F238E27FC236}">
                <a16:creationId xmlns:a16="http://schemas.microsoft.com/office/drawing/2014/main" id="{37B8580A-A92C-4C45-AEC0-3CF183FB4A13}"/>
              </a:ext>
            </a:extLst>
          </p:cNvPr>
          <p:cNvSpPr>
            <a:spLocks noGrp="1"/>
          </p:cNvSpPr>
          <p:nvPr/>
        </p:nvSpPr>
        <p:spPr>
          <a:xfrm>
            <a:off x="896112" y="434340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b = 2</a:t>
            </a:r>
            <a:endParaRPr sz="1300"/>
          </a:p>
        </p:txBody>
      </p:sp>
      <p:sp>
        <p:nvSpPr>
          <p:cNvPr id="14" name="Text 11">
            <a:extLst>
              <a:ext uri="{FF2B5EF4-FFF2-40B4-BE49-F238E27FC236}">
                <a16:creationId xmlns:a16="http://schemas.microsoft.com/office/drawing/2014/main" id="{51D7DC5A-30DA-486D-95FC-0F1B34D20001}"/>
              </a:ext>
            </a:extLst>
          </p:cNvPr>
          <p:cNvSpPr>
            <a:spLocks noGrp="1"/>
          </p:cNvSpPr>
          <p:nvPr/>
        </p:nvSpPr>
        <p:spPr>
          <a:xfrm>
            <a:off x="2898648" y="434340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각 부분 문제 크기는 1/2</a:t>
            </a:r>
            <a:endParaRPr sz="1150"/>
          </a:p>
        </p:txBody>
      </p:sp>
      <p:sp>
        <p:nvSpPr>
          <p:cNvPr id="16" name="Text 13">
            <a:extLst>
              <a:ext uri="{FF2B5EF4-FFF2-40B4-BE49-F238E27FC236}">
                <a16:creationId xmlns:a16="http://schemas.microsoft.com/office/drawing/2014/main" id="{6C27668A-5883-40A5-B963-51B77CF9D58E}"/>
              </a:ext>
            </a:extLst>
          </p:cNvPr>
          <p:cNvSpPr>
            <a:spLocks noGrp="1"/>
          </p:cNvSpPr>
          <p:nvPr/>
        </p:nvSpPr>
        <p:spPr>
          <a:xfrm>
            <a:off x="896112" y="512064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f(n) = cn</a:t>
            </a:r>
            <a:endParaRPr sz="1300"/>
          </a:p>
        </p:txBody>
      </p:sp>
      <p:sp>
        <p:nvSpPr>
          <p:cNvPr id="17" name="Text 14">
            <a:extLst>
              <a:ext uri="{FF2B5EF4-FFF2-40B4-BE49-F238E27FC236}">
                <a16:creationId xmlns:a16="http://schemas.microsoft.com/office/drawing/2014/main" id="{3182250D-02D0-4FDE-851B-AEC568219408}"/>
              </a:ext>
            </a:extLst>
          </p:cNvPr>
          <p:cNvSpPr>
            <a:spLocks noGrp="1"/>
          </p:cNvSpPr>
          <p:nvPr/>
        </p:nvSpPr>
        <p:spPr>
          <a:xfrm>
            <a:off x="2898648" y="512064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병합 비용은 n에 비례 (c는 상수)</a:t>
            </a:r>
            <a:endParaRPr sz="1150"/>
          </a:p>
        </p:txBody>
      </p:sp>
      <p:sp>
        <p:nvSpPr>
          <p:cNvPr id="19" name="Text 16">
            <a:extLst>
              <a:ext uri="{FF2B5EF4-FFF2-40B4-BE49-F238E27FC236}">
                <a16:creationId xmlns:a16="http://schemas.microsoft.com/office/drawing/2014/main" id="{A2115A6C-3AB4-4EDD-8133-4D53484BF600}"/>
              </a:ext>
            </a:extLst>
          </p:cNvPr>
          <p:cNvSpPr>
            <a:spLocks noGrp="1"/>
          </p:cNvSpPr>
          <p:nvPr/>
        </p:nvSpPr>
        <p:spPr>
          <a:xfrm>
            <a:off x="7040880" y="1956816"/>
            <a:ext cx="42062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마스터 정리 적용</a:t>
            </a:r>
            <a:endParaRPr sz="1400"/>
          </a:p>
        </p:txBody>
      </p:sp>
      <p:sp>
        <p:nvSpPr>
          <p:cNvPr id="21" name="Text 18">
            <a:extLst>
              <a:ext uri="{FF2B5EF4-FFF2-40B4-BE49-F238E27FC236}">
                <a16:creationId xmlns:a16="http://schemas.microsoft.com/office/drawing/2014/main" id="{0A884545-0E21-41A6-ACC8-5AD9387E6BD4}"/>
              </a:ext>
            </a:extLst>
          </p:cNvPr>
          <p:cNvSpPr>
            <a:spLocks noGrp="1"/>
          </p:cNvSpPr>
          <p:nvPr/>
        </p:nvSpPr>
        <p:spPr>
          <a:xfrm>
            <a:off x="7205472" y="2487168"/>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기준값 계산</a:t>
            </a:r>
            <a:endParaRPr sz="1050"/>
          </a:p>
        </p:txBody>
      </p:sp>
      <p:sp>
        <p:nvSpPr>
          <p:cNvPr id="22" name="Text 19">
            <a:extLst>
              <a:ext uri="{FF2B5EF4-FFF2-40B4-BE49-F238E27FC236}">
                <a16:creationId xmlns:a16="http://schemas.microsoft.com/office/drawing/2014/main" id="{6D70E121-1330-4B49-B757-3A79E0A04841}"/>
              </a:ext>
            </a:extLst>
          </p:cNvPr>
          <p:cNvSpPr>
            <a:spLocks noGrp="1"/>
          </p:cNvSpPr>
          <p:nvPr/>
        </p:nvSpPr>
        <p:spPr>
          <a:xfrm>
            <a:off x="7205472" y="2743200"/>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n^(log₂ 2) = n^(1) = n</a:t>
            </a:r>
            <a:endParaRPr sz="1350"/>
          </a:p>
        </p:txBody>
      </p:sp>
      <p:sp>
        <p:nvSpPr>
          <p:cNvPr id="24" name="Text 21">
            <a:extLst>
              <a:ext uri="{FF2B5EF4-FFF2-40B4-BE49-F238E27FC236}">
                <a16:creationId xmlns:a16="http://schemas.microsoft.com/office/drawing/2014/main" id="{D1770FFA-AD1C-4523-A00B-F3D4F0D41367}"/>
              </a:ext>
            </a:extLst>
          </p:cNvPr>
          <p:cNvSpPr>
            <a:spLocks noGrp="1"/>
          </p:cNvSpPr>
          <p:nvPr/>
        </p:nvSpPr>
        <p:spPr>
          <a:xfrm>
            <a:off x="7205472" y="3383280"/>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f(n)과 비교</a:t>
            </a:r>
            <a:endParaRPr sz="1050"/>
          </a:p>
        </p:txBody>
      </p:sp>
      <p:sp>
        <p:nvSpPr>
          <p:cNvPr id="25" name="Text 22">
            <a:extLst>
              <a:ext uri="{FF2B5EF4-FFF2-40B4-BE49-F238E27FC236}">
                <a16:creationId xmlns:a16="http://schemas.microsoft.com/office/drawing/2014/main" id="{6B6A7460-52CC-4572-8B9A-33ABA222FA27}"/>
              </a:ext>
            </a:extLst>
          </p:cNvPr>
          <p:cNvSpPr>
            <a:spLocks noGrp="1"/>
          </p:cNvSpPr>
          <p:nvPr/>
        </p:nvSpPr>
        <p:spPr>
          <a:xfrm>
            <a:off x="7205472" y="3639312"/>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f(n) = Θ(n)</a:t>
            </a:r>
            <a:endParaRPr sz="1350"/>
          </a:p>
        </p:txBody>
      </p:sp>
      <p:sp>
        <p:nvSpPr>
          <p:cNvPr id="27" name="Text 24">
            <a:extLst>
              <a:ext uri="{FF2B5EF4-FFF2-40B4-BE49-F238E27FC236}">
                <a16:creationId xmlns:a16="http://schemas.microsoft.com/office/drawing/2014/main" id="{7819DF14-B88A-43A6-BFB0-2631210E4E1A}"/>
              </a:ext>
            </a:extLst>
          </p:cNvPr>
          <p:cNvSpPr>
            <a:spLocks noGrp="1"/>
          </p:cNvSpPr>
          <p:nvPr/>
        </p:nvSpPr>
        <p:spPr>
          <a:xfrm>
            <a:off x="7205472" y="4279392"/>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판정</a:t>
            </a:r>
            <a:endParaRPr sz="1050"/>
          </a:p>
        </p:txBody>
      </p:sp>
      <p:sp>
        <p:nvSpPr>
          <p:cNvPr id="28" name="Text 25">
            <a:extLst>
              <a:ext uri="{FF2B5EF4-FFF2-40B4-BE49-F238E27FC236}">
                <a16:creationId xmlns:a16="http://schemas.microsoft.com/office/drawing/2014/main" id="{1A94F342-742B-41B8-BF74-B5A23432F4A3}"/>
              </a:ext>
            </a:extLst>
          </p:cNvPr>
          <p:cNvSpPr>
            <a:spLocks noGrp="1"/>
          </p:cNvSpPr>
          <p:nvPr/>
        </p:nvSpPr>
        <p:spPr>
          <a:xfrm>
            <a:off x="7205472" y="4535424"/>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Case 2 (둘이 같은 정도)</a:t>
            </a:r>
            <a:endParaRPr sz="1350"/>
          </a:p>
        </p:txBody>
      </p:sp>
      <p:sp>
        <p:nvSpPr>
          <p:cNvPr id="30" name="Text 27">
            <a:extLst>
              <a:ext uri="{FF2B5EF4-FFF2-40B4-BE49-F238E27FC236}">
                <a16:creationId xmlns:a16="http://schemas.microsoft.com/office/drawing/2014/main" id="{F53443B5-2947-431B-B2F0-865BFCF14CB3}"/>
              </a:ext>
            </a:extLst>
          </p:cNvPr>
          <p:cNvSpPr>
            <a:spLocks noGrp="1"/>
          </p:cNvSpPr>
          <p:nvPr/>
        </p:nvSpPr>
        <p:spPr>
          <a:xfrm>
            <a:off x="7040880" y="5193792"/>
            <a:ext cx="4233672" cy="749808"/>
          </a:xfrm>
          <a:prstGeom prst="rect">
            <a:avLst/>
          </a:prstGeom>
          <a:noFill/>
          <a:ln w="0">
            <a:noFill/>
          </a:ln>
        </p:spPr>
        <p:txBody>
          <a:bodyPr wrap="square" lIns="0" tIns="0" rIns="0" bIns="0" anchor="ctr">
            <a:noAutofit/>
          </a:bodyPr>
          <a:lstStyle/>
          <a:p>
            <a:pPr marL="0" indent="0" algn="ctr">
              <a:buNone/>
              <a:defRPr sz="2000" i="0">
                <a:solidFill>
                  <a:srgbClr val="171717"/>
                </a:solidFill>
                <a:latin typeface="Malgun Gothic"/>
                <a:ea typeface="Malgun Gothic"/>
                <a:cs typeface="Malgun Gothic"/>
              </a:defRPr>
            </a:pPr>
            <a:r>
              <a:rPr sz="2000" b="1" i="0">
                <a:solidFill>
                  <a:srgbClr val="171717"/>
                </a:solidFill>
                <a:latin typeface="Malgun Gothic"/>
                <a:ea typeface="Malgun Gothic"/>
                <a:cs typeface="Malgun Gothic"/>
              </a:rPr>
              <a:t>T(n) = Θ(n log n)</a:t>
            </a:r>
            <a:endParaRPr sz="2000"/>
          </a:p>
        </p:txBody>
      </p:sp>
      <p:sp>
        <p:nvSpPr>
          <p:cNvPr id="32" name="직사각형 31">
            <a:extLst>
              <a:ext uri="{FF2B5EF4-FFF2-40B4-BE49-F238E27FC236}">
                <a16:creationId xmlns:a16="http://schemas.microsoft.com/office/drawing/2014/main" id="{13ABD547-A7ED-4CFD-AB27-237968349B46}"/>
              </a:ext>
            </a:extLst>
          </p:cNvPr>
          <p:cNvSpPr>
            <a:spLocks noGrp="1"/>
          </p:cNvSpPr>
          <p:nvPr/>
        </p:nvSpPr>
        <p:spPr>
          <a:xfrm>
            <a:off x="6784848" y="1737360"/>
            <a:ext cx="4745736"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293C1BA4-4271-4C3A-BC41-F6866FDAC33B}"/>
              </a:ext>
            </a:extLst>
          </p:cNvPr>
          <p:cNvSpPr>
            <a:spLocks noGrp="1"/>
          </p:cNvSpPr>
          <p:nvPr/>
        </p:nvSpPr>
        <p:spPr>
          <a:xfrm>
            <a:off x="7040880" y="2432304"/>
            <a:ext cx="4233672"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5044968D-4ACF-4A54-8778-A3E8C62B07E2}"/>
              </a:ext>
            </a:extLst>
          </p:cNvPr>
          <p:cNvSpPr>
            <a:spLocks noGrp="1"/>
          </p:cNvSpPr>
          <p:nvPr/>
        </p:nvSpPr>
        <p:spPr>
          <a:xfrm>
            <a:off x="7040880" y="3328416"/>
            <a:ext cx="4233672"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2D39F16D-A5EC-4823-B5E8-6BE89DF12193}"/>
              </a:ext>
            </a:extLst>
          </p:cNvPr>
          <p:cNvSpPr>
            <a:spLocks noGrp="1"/>
          </p:cNvSpPr>
          <p:nvPr/>
        </p:nvSpPr>
        <p:spPr>
          <a:xfrm>
            <a:off x="7040880" y="4224528"/>
            <a:ext cx="4233672"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0AB203E9-FE78-4562-BB1C-3807F1EC3D9C}"/>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75299B5C-03E6-4227-B098-1E42BF184159}"/>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7EA2C3E6-2779-4A14-A96C-6870A095EDE6}"/>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적용 ② </a:t>
            </a:r>
            <a:r>
              <a:rPr lang="ko-KR" altLang="en-US" sz="3000" b="1" i="0">
                <a:solidFill>
                  <a:srgbClr val="171717"/>
                </a:solidFill>
                <a:latin typeface="Malgun Gothic"/>
                <a:ea typeface="Malgun Gothic"/>
                <a:cs typeface="Malgun Gothic"/>
              </a:rPr>
              <a:t>병합</a:t>
            </a:r>
            <a:r>
              <a:rPr sz="3000" b="1" i="0">
                <a:solidFill>
                  <a:srgbClr val="171717"/>
                </a:solidFill>
                <a:latin typeface="Malgun Gothic"/>
                <a:ea typeface="Malgun Gothic"/>
                <a:cs typeface="Malgun Gothic"/>
              </a:rPr>
              <a:t> 정렬</a:t>
            </a:r>
          </a:p>
        </p:txBody>
      </p:sp>
      <p:sp>
        <p:nvSpPr>
          <p:cNvPr id="39" name="직사각형 38">
            <a:extLst>
              <a:ext uri="{FF2B5EF4-FFF2-40B4-BE49-F238E27FC236}">
                <a16:creationId xmlns:a16="http://schemas.microsoft.com/office/drawing/2014/main" id="{A8E8BC29-34FD-41E6-96EF-A6DB99B098E3}"/>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395DFCDA-452D-435F-986A-2824FB41F57D}"/>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6A5898FE-CB10-4C45-8CBA-AE8E5DEEB9E2}"/>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6282DA7C-FA16-449C-981F-B4B7BB47005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62</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09965509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6081E8C2-2B11-4F6C-B045-EEC943663534}"/>
              </a:ext>
            </a:extLst>
          </p:cNvPr>
          <p:cNvSpPr>
            <a:spLocks noGrp="1"/>
          </p:cNvSpPr>
          <p:nvPr/>
        </p:nvSpPr>
        <p:spPr>
          <a:xfrm>
            <a:off x="658368" y="1737360"/>
            <a:ext cx="10872216" cy="365760"/>
          </a:xfrm>
          <a:prstGeom prst="rect">
            <a:avLst/>
          </a:prstGeom>
          <a:noFill/>
          <a:ln w="0">
            <a:noFill/>
          </a:ln>
        </p:spPr>
        <p:txBody>
          <a:bodyPr wrap="square" lIns="0" tIns="0" rIns="0" bIns="0" anchor="t">
            <a:noAutofit/>
          </a:bodyPr>
          <a:lstStyle/>
          <a:p>
            <a:pPr marL="0" indent="0" algn="l">
              <a:lnSpc>
                <a:spcPct val="142000"/>
              </a:lnSpc>
              <a:buNone/>
              <a:defRPr sz="1300" i="0">
                <a:solidFill>
                  <a:srgbClr val="171717"/>
                </a:solidFill>
                <a:latin typeface="Malgun Gothic"/>
                <a:ea typeface="Malgun Gothic"/>
                <a:cs typeface="Malgun Gothic"/>
              </a:defRPr>
            </a:pPr>
            <a:r>
              <a:rPr sz="1300" i="0">
                <a:solidFill>
                  <a:srgbClr val="171717"/>
                </a:solidFill>
                <a:latin typeface="Malgun Gothic"/>
                <a:ea typeface="Malgun Gothic"/>
                <a:cs typeface="Malgun Gothic"/>
              </a:rPr>
              <a:t>지금까지 만난 분할 정복 알고리즘들의 점화식을 마스터 정리로 정리하면 다음과 같다.</a:t>
            </a:r>
            <a:endParaRPr sz="1300"/>
          </a:p>
        </p:txBody>
      </p:sp>
      <p:graphicFrame>
        <p:nvGraphicFramePr>
          <p:cNvPr id="25" name="Table 0"/>
          <p:cNvGraphicFramePr/>
          <p:nvPr/>
        </p:nvGraphicFramePr>
        <p:xfrm>
          <a:off x="658368" y="2286000"/>
          <a:ext cx="10872216" cy="3072384"/>
        </p:xfrm>
        <a:graphic>
          <a:graphicData uri="http://schemas.openxmlformats.org/drawingml/2006/table">
            <a:tbl>
              <a:tblPr/>
              <a:tblGrid>
                <a:gridCol w="2148840">
                  <a:extLst>
                    <a:ext uri="{9D8B030D-6E8A-4147-A177-3AD203B41FA5}">
                      <a16:colId xmlns:a16="http://schemas.microsoft.com/office/drawing/2014/main" val="20000"/>
                    </a:ext>
                  </a:extLst>
                </a:gridCol>
                <a:gridCol w="2788920">
                  <a:extLst>
                    <a:ext uri="{9D8B030D-6E8A-4147-A177-3AD203B41FA5}">
                      <a16:colId xmlns:a16="http://schemas.microsoft.com/office/drawing/2014/main" val="20001"/>
                    </a:ext>
                  </a:extLst>
                </a:gridCol>
                <a:gridCol w="594360">
                  <a:extLst>
                    <a:ext uri="{9D8B030D-6E8A-4147-A177-3AD203B41FA5}">
                      <a16:colId xmlns:a16="http://schemas.microsoft.com/office/drawing/2014/main" val="20002"/>
                    </a:ext>
                  </a:extLst>
                </a:gridCol>
                <a:gridCol w="59436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2459736">
                  <a:extLst>
                    <a:ext uri="{9D8B030D-6E8A-4147-A177-3AD203B41FA5}">
                      <a16:colId xmlns:a16="http://schemas.microsoft.com/office/drawing/2014/main" val="20006"/>
                    </a:ext>
                  </a:extLst>
                </a:gridCol>
              </a:tblGrid>
              <a:tr h="438912">
                <a:tc>
                  <a:txBody>
                    <a:bodyPr/>
                    <a:lstStyle/>
                    <a:p>
                      <a:pPr marL="0" indent="0" algn="ctr">
                        <a:buNone/>
                      </a:pPr>
                      <a:r>
                        <a:rPr sz="1100" b="1">
                          <a:solidFill>
                            <a:srgbClr val="FFFFFF"/>
                          </a:solidFill>
                          <a:latin typeface="Malgun Gothic"/>
                          <a:ea typeface="Malgun Gothic"/>
                          <a:cs typeface="Malgun Gothic"/>
                        </a:rPr>
                        <a:t>알고리즘</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점화식</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a</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b</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f(n)</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경우</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시간 복잡도</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extLst>
                  <a:ext uri="{0D108BD9-81ED-4DB2-BD59-A6C34878D82A}">
                    <a16:rowId xmlns:a16="http://schemas.microsoft.com/office/drawing/2014/main" val="10000"/>
                  </a:ext>
                </a:extLst>
              </a:tr>
              <a:tr h="438912">
                <a:tc>
                  <a:txBody>
                    <a:bodyPr/>
                    <a:lstStyle/>
                    <a:p>
                      <a:pPr marL="0" indent="0" algn="l">
                        <a:buNone/>
                      </a:pPr>
                      <a:r>
                        <a:rPr sz="1100" b="0">
                          <a:solidFill>
                            <a:srgbClr val="171717"/>
                          </a:solidFill>
                          <a:latin typeface="Malgun Gothic"/>
                          <a:ea typeface="Malgun Gothic"/>
                          <a:cs typeface="Malgun Gothic"/>
                        </a:rPr>
                        <a:t>이진 탐색</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l">
                        <a:buNone/>
                      </a:pPr>
                      <a:r>
                        <a:rPr sz="1100" b="0">
                          <a:solidFill>
                            <a:srgbClr val="171717"/>
                          </a:solidFill>
                          <a:latin typeface="Malgun Gothic"/>
                          <a:ea typeface="Malgun Gothic"/>
                          <a:cs typeface="Malgun Gothic"/>
                        </a:rPr>
                        <a:t>T(n) = T(n/2) + O(1)</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1</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O(1)</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Case 2</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O(log 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sz="1100" b="0">
                          <a:solidFill>
                            <a:srgbClr val="171717"/>
                          </a:solidFill>
                          <a:latin typeface="Malgun Gothic"/>
                          <a:ea typeface="Malgun Gothic"/>
                          <a:cs typeface="Malgun Gothic"/>
                        </a:rPr>
                        <a:t>합병 정렬</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l">
                        <a:buNone/>
                      </a:pPr>
                      <a:r>
                        <a:rPr sz="1100" b="0">
                          <a:solidFill>
                            <a:srgbClr val="171717"/>
                          </a:solidFill>
                          <a:latin typeface="Malgun Gothic"/>
                          <a:ea typeface="Malgun Gothic"/>
                          <a:cs typeface="Malgun Gothic"/>
                        </a:rPr>
                        <a:t>T(n) = 2T(n/2) + 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Case 2</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 log 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2"/>
                  </a:ext>
                </a:extLst>
              </a:tr>
              <a:tr h="438912">
                <a:tc>
                  <a:txBody>
                    <a:bodyPr/>
                    <a:lstStyle/>
                    <a:p>
                      <a:pPr marL="0" indent="0" algn="l">
                        <a:buNone/>
                      </a:pPr>
                      <a:r>
                        <a:rPr sz="1100" b="0">
                          <a:solidFill>
                            <a:srgbClr val="171717"/>
                          </a:solidFill>
                          <a:latin typeface="Malgun Gothic"/>
                          <a:ea typeface="Malgun Gothic"/>
                          <a:cs typeface="Malgun Gothic"/>
                        </a:rPr>
                        <a:t>최대 구간 합</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l">
                        <a:buNone/>
                      </a:pPr>
                      <a:r>
                        <a:rPr sz="1100" b="0">
                          <a:solidFill>
                            <a:srgbClr val="171717"/>
                          </a:solidFill>
                          <a:latin typeface="Malgun Gothic"/>
                          <a:ea typeface="Malgun Gothic"/>
                          <a:cs typeface="Malgun Gothic"/>
                        </a:rPr>
                        <a:t>T(n) = 2T(n/2) + 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Case 2</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O(n log 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sz="1100" b="0">
                          <a:solidFill>
                            <a:srgbClr val="171717"/>
                          </a:solidFill>
                          <a:latin typeface="Malgun Gothic"/>
                          <a:ea typeface="Malgun Gothic"/>
                          <a:cs typeface="Malgun Gothic"/>
                        </a:rPr>
                        <a:t>최근접 쌍</a:t>
                      </a:r>
                      <a:endParaRPr sz="1100">
                        <a:latin typeface="Malgun Gothic"/>
                        <a:ea typeface="Malgun Gothic"/>
                        <a:cs typeface="Malgun Gothic"/>
                      </a:endParaRPr>
                    </a:p>
                    <a:p>
                      <a:pPr marL="0" indent="0" algn="l">
                        <a:buNone/>
                      </a:pPr>
                      <a:r>
                        <a:rPr sz="1100" b="0">
                          <a:solidFill>
                            <a:srgbClr val="171717"/>
                          </a:solidFill>
                          <a:latin typeface="Malgun Gothic"/>
                          <a:ea typeface="Malgun Gothic"/>
                          <a:cs typeface="Malgun Gothic"/>
                        </a:rPr>
                        <a:t>(y 정렬 유지)</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l">
                        <a:buNone/>
                      </a:pPr>
                      <a:r>
                        <a:rPr sz="1100" b="0">
                          <a:solidFill>
                            <a:srgbClr val="171717"/>
                          </a:solidFill>
                          <a:latin typeface="Malgun Gothic"/>
                          <a:ea typeface="Malgun Gothic"/>
                          <a:cs typeface="Malgun Gothic"/>
                        </a:rPr>
                        <a:t>T(n) = 2T(n/2) + 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Case 2</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 log 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4"/>
                  </a:ext>
                </a:extLst>
              </a:tr>
              <a:tr h="438912">
                <a:tc>
                  <a:txBody>
                    <a:bodyPr/>
                    <a:lstStyle/>
                    <a:p>
                      <a:pPr marL="0" indent="0" algn="l">
                        <a:buNone/>
                      </a:pPr>
                      <a:r>
                        <a:rPr sz="1100" b="0">
                          <a:solidFill>
                            <a:srgbClr val="171717"/>
                          </a:solidFill>
                          <a:latin typeface="Malgun Gothic"/>
                          <a:ea typeface="Malgun Gothic"/>
                          <a:cs typeface="Malgun Gothic"/>
                        </a:rPr>
                        <a:t>카라츠바 (§4.7)</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l">
                        <a:buNone/>
                      </a:pPr>
                      <a:r>
                        <a:rPr sz="1100" b="0">
                          <a:solidFill>
                            <a:srgbClr val="171717"/>
                          </a:solidFill>
                          <a:latin typeface="Malgun Gothic"/>
                          <a:ea typeface="Malgun Gothic"/>
                          <a:cs typeface="Malgun Gothic"/>
                        </a:rPr>
                        <a:t>T(n) = 3T(n/2) + 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3</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Case 1</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O(n^1.585)</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5"/>
                  </a:ext>
                </a:extLst>
              </a:tr>
              <a:tr h="438912">
                <a:tc>
                  <a:txBody>
                    <a:bodyPr/>
                    <a:lstStyle/>
                    <a:p>
                      <a:pPr marL="0" indent="0" algn="l">
                        <a:buNone/>
                      </a:pPr>
                      <a:r>
                        <a:rPr sz="1100" b="0">
                          <a:solidFill>
                            <a:srgbClr val="171717"/>
                          </a:solidFill>
                          <a:latin typeface="Malgun Gothic"/>
                          <a:ea typeface="Malgun Gothic"/>
                          <a:cs typeface="Malgun Gothic"/>
                        </a:rPr>
                        <a:t>스트라센 (§4.8)</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l">
                        <a:buNone/>
                      </a:pPr>
                      <a:r>
                        <a:rPr sz="1100" b="0">
                          <a:solidFill>
                            <a:srgbClr val="171717"/>
                          </a:solidFill>
                          <a:latin typeface="Malgun Gothic"/>
                          <a:ea typeface="Malgun Gothic"/>
                          <a:cs typeface="Malgun Gothic"/>
                        </a:rPr>
                        <a:t>T(n) = 7T(n/2) + O(n²)</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7</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O(n²)</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Case 1</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O(n^2.807)</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6"/>
                  </a:ext>
                </a:extLst>
              </a:tr>
            </a:tbl>
          </a:graphicData>
        </a:graphic>
      </p:graphicFrame>
      <p:sp>
        <p:nvSpPr>
          <p:cNvPr id="11" name="Text 6">
            <a:extLst>
              <a:ext uri="{FF2B5EF4-FFF2-40B4-BE49-F238E27FC236}">
                <a16:creationId xmlns:a16="http://schemas.microsoft.com/office/drawing/2014/main" id="{E90CC6FF-41A0-4C0E-9A4F-AC08BFEA6767}"/>
              </a:ext>
            </a:extLst>
          </p:cNvPr>
          <p:cNvSpPr>
            <a:spLocks noGrp="1"/>
          </p:cNvSpPr>
          <p:nvPr/>
        </p:nvSpPr>
        <p:spPr>
          <a:xfrm>
            <a:off x="1517904" y="5669280"/>
            <a:ext cx="9756648" cy="329184"/>
          </a:xfrm>
          <a:prstGeom prst="rect">
            <a:avLst/>
          </a:prstGeom>
          <a:noFill/>
          <a:ln w="0">
            <a:noFill/>
          </a:ln>
        </p:spPr>
        <p:txBody>
          <a:bodyPr wrap="square" lIns="0" tIns="0" rIns="0" bIns="0" anchor="ctr">
            <a:noAutofit/>
          </a:bodyPr>
          <a:lstStyle/>
          <a:p>
            <a:pPr marL="0" indent="0" algn="l">
              <a:lnSpc>
                <a:spcPct val="134000"/>
              </a:lnSpc>
              <a:buNone/>
              <a:defRPr sz="1250" i="0">
                <a:solidFill>
                  <a:srgbClr val="171717"/>
                </a:solidFill>
                <a:latin typeface="Malgun Gothic"/>
                <a:ea typeface="Malgun Gothic"/>
                <a:cs typeface="Malgun Gothic"/>
              </a:defRPr>
            </a:pPr>
            <a:r>
              <a:rPr sz="1250" i="0">
                <a:solidFill>
                  <a:srgbClr val="171717"/>
                </a:solidFill>
                <a:latin typeface="Malgun Gothic"/>
                <a:ea typeface="Malgun Gothic"/>
                <a:cs typeface="Malgun Gothic"/>
              </a:rPr>
              <a:t>재귀 호출 횟수 a를 줄이는 것이 가장 강력한 최적화다 — 다음 두 절의 주제다.</a:t>
            </a:r>
            <a:endParaRPr sz="1250"/>
          </a:p>
        </p:txBody>
      </p:sp>
      <p:sp>
        <p:nvSpPr>
          <p:cNvPr id="15" name="직사각형 14">
            <a:extLst>
              <a:ext uri="{FF2B5EF4-FFF2-40B4-BE49-F238E27FC236}">
                <a16:creationId xmlns:a16="http://schemas.microsoft.com/office/drawing/2014/main" id="{0BB678FE-851C-482D-A427-FDA6EF0AC240}"/>
              </a:ext>
            </a:extLst>
          </p:cNvPr>
          <p:cNvSpPr>
            <a:spLocks noGrp="1"/>
          </p:cNvSpPr>
          <p:nvPr/>
        </p:nvSpPr>
        <p:spPr>
          <a:xfrm>
            <a:off x="658368" y="5504688"/>
            <a:ext cx="10872216" cy="9525"/>
          </a:xfrm>
          <a:prstGeom prst="rect">
            <a:avLst/>
          </a:prstGeom>
          <a:solidFill>
            <a:srgbClr val="D4D4D4"/>
          </a:solidFill>
          <a:ln w="0">
            <a:noFill/>
          </a:ln>
        </p:spPr>
      </p:sp>
      <p:sp>
        <p:nvSpPr>
          <p:cNvPr id="16" name="직사각형 15">
            <a:extLst>
              <a:ext uri="{FF2B5EF4-FFF2-40B4-BE49-F238E27FC236}">
                <a16:creationId xmlns:a16="http://schemas.microsoft.com/office/drawing/2014/main" id="{0A5E924D-BD23-4F02-9AE5-1923C594D5B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17" name="직사각형 16">
            <a:extLst>
              <a:ext uri="{FF2B5EF4-FFF2-40B4-BE49-F238E27FC236}">
                <a16:creationId xmlns:a16="http://schemas.microsoft.com/office/drawing/2014/main" id="{4263B057-D6BB-4351-BE1E-E3E9979E50B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18" name="직사각형 17">
            <a:extLst>
              <a:ext uri="{FF2B5EF4-FFF2-40B4-BE49-F238E27FC236}">
                <a16:creationId xmlns:a16="http://schemas.microsoft.com/office/drawing/2014/main" id="{E6E499A2-ACA6-44F4-AE14-6B96BD8A1A1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한눈에 보는 점화식 정리</a:t>
            </a:r>
          </a:p>
        </p:txBody>
      </p:sp>
      <p:sp>
        <p:nvSpPr>
          <p:cNvPr id="19" name="직사각형 18">
            <a:extLst>
              <a:ext uri="{FF2B5EF4-FFF2-40B4-BE49-F238E27FC236}">
                <a16:creationId xmlns:a16="http://schemas.microsoft.com/office/drawing/2014/main" id="{915DC30A-B664-41EF-91B0-AB7528CA9060}"/>
              </a:ext>
            </a:extLst>
          </p:cNvPr>
          <p:cNvSpPr>
            <a:spLocks noGrp="1"/>
          </p:cNvSpPr>
          <p:nvPr/>
        </p:nvSpPr>
        <p:spPr>
          <a:xfrm>
            <a:off x="609600" y="1381125"/>
            <a:ext cx="10972800" cy="19050"/>
          </a:xfrm>
          <a:prstGeom prst="rect">
            <a:avLst/>
          </a:prstGeom>
          <a:solidFill>
            <a:srgbClr val="171717"/>
          </a:solidFill>
          <a:ln w="0">
            <a:noFill/>
          </a:ln>
        </p:spPr>
      </p:sp>
      <p:sp>
        <p:nvSpPr>
          <p:cNvPr id="20" name="직사각형 19">
            <a:extLst>
              <a:ext uri="{FF2B5EF4-FFF2-40B4-BE49-F238E27FC236}">
                <a16:creationId xmlns:a16="http://schemas.microsoft.com/office/drawing/2014/main" id="{2974D0E8-97D4-47A1-B6AF-91CB8AD1CDF1}"/>
              </a:ext>
            </a:extLst>
          </p:cNvPr>
          <p:cNvSpPr>
            <a:spLocks noGrp="1"/>
          </p:cNvSpPr>
          <p:nvPr/>
        </p:nvSpPr>
        <p:spPr>
          <a:xfrm>
            <a:off x="609600" y="6438900"/>
            <a:ext cx="10972800" cy="9525"/>
          </a:xfrm>
          <a:prstGeom prst="rect">
            <a:avLst/>
          </a:prstGeom>
          <a:solidFill>
            <a:srgbClr val="D4D4D4"/>
          </a:solidFill>
          <a:ln w="0">
            <a:noFill/>
          </a:ln>
        </p:spPr>
      </p:sp>
      <p:sp>
        <p:nvSpPr>
          <p:cNvPr id="21" name="직사각형 20">
            <a:extLst>
              <a:ext uri="{FF2B5EF4-FFF2-40B4-BE49-F238E27FC236}">
                <a16:creationId xmlns:a16="http://schemas.microsoft.com/office/drawing/2014/main" id="{5059B5C8-A498-493F-8071-A0D7DD90DC5D}"/>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2" name="직사각형 21">
            <a:extLst>
              <a:ext uri="{FF2B5EF4-FFF2-40B4-BE49-F238E27FC236}">
                <a16:creationId xmlns:a16="http://schemas.microsoft.com/office/drawing/2014/main" id="{1486F770-A88D-44FA-BCAB-B0B80ADEC99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63</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8141599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D4DE3CEB-A345-4278-8B7C-AE7489542CF1}"/>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3B5FCFCA-2FBC-47F6-B590-9D3095546899}"/>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4.8</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477F1CB0-463E-4924-9411-42F53ABF0E89}"/>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BF12BBDE-50C6-49D5-83D2-BAC0A6DBED76}"/>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카라츠바 알고리즘</a:t>
            </a:r>
          </a:p>
        </p:txBody>
      </p:sp>
      <p:sp>
        <p:nvSpPr>
          <p:cNvPr id="5" name="직사각형 4">
            <a:extLst>
              <a:ext uri="{FF2B5EF4-FFF2-40B4-BE49-F238E27FC236}">
                <a16:creationId xmlns:a16="http://schemas.microsoft.com/office/drawing/2014/main" id="{DB153735-D41E-4E42-A48C-4E2DA97FF4D0}"/>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Karatsuba Algorithm (1960)</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큰 정수 곱셈의 재귀 호출을 4번에서 3번으로</a:t>
            </a:r>
          </a:p>
        </p:txBody>
      </p:sp>
      <p:sp>
        <p:nvSpPr>
          <p:cNvPr id="6" name="직사각형 5">
            <a:extLst>
              <a:ext uri="{FF2B5EF4-FFF2-40B4-BE49-F238E27FC236}">
                <a16:creationId xmlns:a16="http://schemas.microsoft.com/office/drawing/2014/main" id="{D8AF451A-CE5D-4458-975E-F9844C1AEB11}"/>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25F55E45-1083-407A-835F-5E959B6E501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FD4205A3-3F64-4F21-99E6-79330F219FF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64</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83918240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4" name="직사각형 23">
            <a:extLst>
              <a:ext uri="{FF2B5EF4-FFF2-40B4-BE49-F238E27FC236}">
                <a16:creationId xmlns:a16="http://schemas.microsoft.com/office/drawing/2014/main" id="{1F12C157-FF91-4FAA-A063-B74B0D43469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25" name="직사각형 24">
            <a:extLst>
              <a:ext uri="{FF2B5EF4-FFF2-40B4-BE49-F238E27FC236}">
                <a16:creationId xmlns:a16="http://schemas.microsoft.com/office/drawing/2014/main" id="{8E183873-5AC6-4787-A7C6-CA6B72E163E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6" name="직사각형 25">
            <a:extLst>
              <a:ext uri="{FF2B5EF4-FFF2-40B4-BE49-F238E27FC236}">
                <a16:creationId xmlns:a16="http://schemas.microsoft.com/office/drawing/2014/main" id="{23A503D6-6D09-4E8A-9726-A140785C68E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문제의 분할 (divide)</a:t>
            </a:r>
          </a:p>
        </p:txBody>
      </p:sp>
      <p:sp>
        <p:nvSpPr>
          <p:cNvPr id="27" name="직사각형 26">
            <a:extLst>
              <a:ext uri="{FF2B5EF4-FFF2-40B4-BE49-F238E27FC236}">
                <a16:creationId xmlns:a16="http://schemas.microsoft.com/office/drawing/2014/main" id="{B108E93A-3390-46D2-9E1A-F903D638A850}"/>
              </a:ext>
            </a:extLst>
          </p:cNvPr>
          <p:cNvSpPr>
            <a:spLocks noGrp="1"/>
          </p:cNvSpPr>
          <p:nvPr/>
        </p:nvSpPr>
        <p:spPr>
          <a:xfrm>
            <a:off x="609600" y="1381125"/>
            <a:ext cx="10972800" cy="19050"/>
          </a:xfrm>
          <a:prstGeom prst="rect">
            <a:avLst/>
          </a:prstGeom>
          <a:solidFill>
            <a:srgbClr val="171717"/>
          </a:solidFill>
          <a:ln w="0">
            <a:noFill/>
          </a:ln>
        </p:spPr>
      </p:sp>
      <p:sp>
        <p:nvSpPr>
          <p:cNvPr id="28" name="직사각형 27">
            <a:extLst>
              <a:ext uri="{FF2B5EF4-FFF2-40B4-BE49-F238E27FC236}">
                <a16:creationId xmlns:a16="http://schemas.microsoft.com/office/drawing/2014/main" id="{530B5F4D-BD6B-44AE-BD1A-E7AD442A6E5E}"/>
              </a:ext>
            </a:extLst>
          </p:cNvPr>
          <p:cNvSpPr>
            <a:spLocks noGrp="1"/>
          </p:cNvSpPr>
          <p:nvPr/>
        </p:nvSpPr>
        <p:spPr>
          <a:xfrm>
            <a:off x="609600" y="6438900"/>
            <a:ext cx="10972800" cy="9525"/>
          </a:xfrm>
          <a:prstGeom prst="rect">
            <a:avLst/>
          </a:prstGeom>
          <a:solidFill>
            <a:srgbClr val="D4D4D4"/>
          </a:solidFill>
          <a:ln w="0">
            <a:noFill/>
          </a:ln>
        </p:spPr>
      </p:sp>
      <p:sp>
        <p:nvSpPr>
          <p:cNvPr id="29" name="직사각형 28">
            <a:extLst>
              <a:ext uri="{FF2B5EF4-FFF2-40B4-BE49-F238E27FC236}">
                <a16:creationId xmlns:a16="http://schemas.microsoft.com/office/drawing/2014/main" id="{BB43423D-E24E-431D-B164-82D74F8E0DF3}"/>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0" name="직사각형 29">
            <a:extLst>
              <a:ext uri="{FF2B5EF4-FFF2-40B4-BE49-F238E27FC236}">
                <a16:creationId xmlns:a16="http://schemas.microsoft.com/office/drawing/2014/main" id="{B6CD3DBE-C597-4C4A-9FD8-FF456D9BB53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65</a:t>
            </a:r>
            <a:endParaRPr sz="1050" b="1" i="0">
              <a:solidFill>
                <a:srgbClr val="171717"/>
              </a:solidFill>
              <a:latin typeface="Consolas"/>
              <a:ea typeface="Consolas"/>
              <a:cs typeface="Consolas"/>
            </a:endParaRPr>
          </a:p>
        </p:txBody>
      </p:sp>
      <p:sp>
        <p:nvSpPr>
          <p:cNvPr id="31" name="직사각형 30">
            <a:extLst>
              <a:ext uri="{FF2B5EF4-FFF2-40B4-BE49-F238E27FC236}">
                <a16:creationId xmlns:a16="http://schemas.microsoft.com/office/drawing/2014/main" id="{42231B48-D880-4743-BAD4-761859FEE5CA}"/>
              </a:ext>
            </a:extLst>
          </p:cNvPr>
          <p:cNvSpPr>
            <a:spLocks noGrp="1"/>
          </p:cNvSpPr>
          <p:nvPr/>
        </p:nvSpPr>
        <p:spPr>
          <a:xfrm>
            <a:off x="609601" y="1685925"/>
            <a:ext cx="5695950"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dirty="0" err="1">
                <a:solidFill>
                  <a:srgbClr val="171717"/>
                </a:solidFill>
                <a:latin typeface="Malgun Gothic"/>
                <a:ea typeface="Malgun Gothic"/>
                <a:cs typeface="Malgun Gothic"/>
              </a:rPr>
              <a:t>m은</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뒷부분의</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자릿수입니다</a:t>
            </a:r>
            <a:r>
              <a:rPr sz="1650" dirty="0">
                <a:solidFill>
                  <a:srgbClr val="171717"/>
                </a:solidFill>
                <a:latin typeface="Malgun Gothic"/>
                <a:ea typeface="Malgun Gothic"/>
                <a:cs typeface="Malgun Gothic"/>
              </a:rPr>
              <a:t>. 큰 </a:t>
            </a:r>
            <a:r>
              <a:rPr sz="1650" dirty="0" err="1">
                <a:solidFill>
                  <a:srgbClr val="171717"/>
                </a:solidFill>
                <a:latin typeface="Malgun Gothic"/>
                <a:ea typeface="Malgun Gothic"/>
                <a:cs typeface="Malgun Gothic"/>
              </a:rPr>
              <a:t>수를</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앞부분과</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뒷부분으로</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나눕니다</a:t>
            </a:r>
            <a:r>
              <a:rPr sz="1650" dirty="0">
                <a:solidFill>
                  <a:srgbClr val="171717"/>
                </a:solidFill>
                <a:latin typeface="Malgun Gothic"/>
                <a:ea typeface="Malgun Gothic"/>
                <a:cs typeface="Malgun Gothic"/>
              </a:rPr>
              <a:t>.</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X = x₁ · 10^m + x₀</a:t>
            </a: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Y = y₁ · 10^m + y₀</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예: 1234 = 12 · 10² + 34</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X·Y = </a:t>
            </a:r>
            <a:r>
              <a:rPr sz="1650" dirty="0" err="1">
                <a:solidFill>
                  <a:srgbClr val="171717"/>
                </a:solidFill>
                <a:latin typeface="Malgun Gothic"/>
                <a:ea typeface="Malgun Gothic"/>
                <a:cs typeface="Malgun Gothic"/>
              </a:rPr>
              <a:t>x₁y</a:t>
            </a:r>
            <a:r>
              <a:rPr sz="1650" dirty="0">
                <a:solidFill>
                  <a:srgbClr val="171717"/>
                </a:solidFill>
                <a:latin typeface="Malgun Gothic"/>
                <a:ea typeface="Malgun Gothic"/>
                <a:cs typeface="Malgun Gothic"/>
              </a:rPr>
              <a:t>₁ · 10^(2m)</a:t>
            </a: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       + (</a:t>
            </a:r>
            <a:r>
              <a:rPr sz="1650" dirty="0" err="1">
                <a:solidFill>
                  <a:srgbClr val="171717"/>
                </a:solidFill>
                <a:latin typeface="Malgun Gothic"/>
                <a:ea typeface="Malgun Gothic"/>
                <a:cs typeface="Malgun Gothic"/>
              </a:rPr>
              <a:t>x₁y</a:t>
            </a:r>
            <a:r>
              <a:rPr sz="1650" dirty="0">
                <a:solidFill>
                  <a:srgbClr val="171717"/>
                </a:solidFill>
                <a:latin typeface="Malgun Gothic"/>
                <a:ea typeface="Malgun Gothic"/>
                <a:cs typeface="Malgun Gothic"/>
              </a:rPr>
              <a:t>₀ + </a:t>
            </a:r>
            <a:r>
              <a:rPr sz="1650" dirty="0" err="1">
                <a:solidFill>
                  <a:srgbClr val="171717"/>
                </a:solidFill>
                <a:latin typeface="Malgun Gothic"/>
                <a:ea typeface="Malgun Gothic"/>
                <a:cs typeface="Malgun Gothic"/>
              </a:rPr>
              <a:t>x₀y</a:t>
            </a:r>
            <a:r>
              <a:rPr sz="1650" dirty="0">
                <a:solidFill>
                  <a:srgbClr val="171717"/>
                </a:solidFill>
                <a:latin typeface="Malgun Gothic"/>
                <a:ea typeface="Malgun Gothic"/>
                <a:cs typeface="Malgun Gothic"/>
              </a:rPr>
              <a:t>₁) · 10^m + </a:t>
            </a:r>
            <a:r>
              <a:rPr sz="1650" dirty="0" err="1">
                <a:solidFill>
                  <a:srgbClr val="171717"/>
                </a:solidFill>
                <a:latin typeface="Malgun Gothic"/>
                <a:ea typeface="Malgun Gothic"/>
                <a:cs typeface="Malgun Gothic"/>
              </a:rPr>
              <a:t>x₀y</a:t>
            </a:r>
            <a:r>
              <a:rPr sz="1650" dirty="0">
                <a:solidFill>
                  <a:srgbClr val="171717"/>
                </a:solidFill>
                <a:latin typeface="Malgun Gothic"/>
                <a:ea typeface="Malgun Gothic"/>
                <a:cs typeface="Malgun Gothic"/>
              </a:rPr>
              <a:t>₀</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err="1">
                <a:solidFill>
                  <a:srgbClr val="171717"/>
                </a:solidFill>
                <a:latin typeface="Malgun Gothic"/>
                <a:ea typeface="Malgun Gothic"/>
                <a:cs typeface="Malgun Gothic"/>
              </a:rPr>
              <a:t>절반</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크기의</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곱셈이</a:t>
            </a:r>
            <a:r>
              <a:rPr sz="1650" dirty="0">
                <a:solidFill>
                  <a:srgbClr val="171717"/>
                </a:solidFill>
                <a:latin typeface="Malgun Gothic"/>
                <a:ea typeface="Malgun Gothic"/>
                <a:cs typeface="Malgun Gothic"/>
              </a:rPr>
              <a:t> 네 번 </a:t>
            </a:r>
            <a:r>
              <a:rPr sz="1650" dirty="0" err="1">
                <a:solidFill>
                  <a:srgbClr val="171717"/>
                </a:solidFill>
                <a:latin typeface="Malgun Gothic"/>
                <a:ea typeface="Malgun Gothic"/>
                <a:cs typeface="Malgun Gothic"/>
              </a:rPr>
              <a:t>필요합니다</a:t>
            </a:r>
            <a:r>
              <a:rPr sz="1650" dirty="0">
                <a:solidFill>
                  <a:srgbClr val="171717"/>
                </a:solidFill>
                <a:latin typeface="Malgun Gothic"/>
                <a:ea typeface="Malgun Gothic"/>
                <a:cs typeface="Malgun Gothic"/>
              </a:rPr>
              <a:t>.</a:t>
            </a: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T(n) = 4T(n/2) + O(n) = O(n²)</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err="1">
                <a:solidFill>
                  <a:srgbClr val="171717"/>
                </a:solidFill>
                <a:latin typeface="Malgun Gothic"/>
                <a:ea typeface="Malgun Gothic"/>
                <a:cs typeface="Malgun Gothic"/>
              </a:rPr>
              <a:t>다음에는</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곱셈</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횟수를</a:t>
            </a:r>
            <a:r>
              <a:rPr sz="1650" dirty="0">
                <a:solidFill>
                  <a:srgbClr val="171717"/>
                </a:solidFill>
                <a:latin typeface="Malgun Gothic"/>
                <a:ea typeface="Malgun Gothic"/>
                <a:cs typeface="Malgun Gothic"/>
              </a:rPr>
              <a:t> 세 </a:t>
            </a:r>
            <a:r>
              <a:rPr sz="1650" dirty="0" err="1">
                <a:solidFill>
                  <a:srgbClr val="171717"/>
                </a:solidFill>
                <a:latin typeface="Malgun Gothic"/>
                <a:ea typeface="Malgun Gothic"/>
                <a:cs typeface="Malgun Gothic"/>
              </a:rPr>
              <a:t>번으로</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줄입니다</a:t>
            </a:r>
            <a:r>
              <a:rPr sz="1650" dirty="0">
                <a:solidFill>
                  <a:srgbClr val="171717"/>
                </a:solidFill>
                <a:latin typeface="Malgun Gothic"/>
                <a:ea typeface="Malgun Gothic"/>
                <a:cs typeface="Malgun Gothic"/>
              </a:rPr>
              <a:t>.</a:t>
            </a:r>
          </a:p>
        </p:txBody>
      </p:sp>
      <p:pic>
        <p:nvPicPr>
          <p:cNvPr id="41" name="그림 40"/>
          <p:cNvPicPr>
            <a:picLocks noChangeAspect="1"/>
          </p:cNvPicPr>
          <p:nvPr/>
        </p:nvPicPr>
        <p:blipFill>
          <a:blip r:embed="rId3"/>
          <a:stretch/>
        </p:blipFill>
        <p:spPr>
          <a:xfrm>
            <a:off x="7400925" y="2095500"/>
            <a:ext cx="4000500" cy="3333750"/>
          </a:xfrm>
          <a:prstGeom prst="rect">
            <a:avLst/>
          </a:prstGeom>
        </p:spPr>
      </p:pic>
    </p:spTree>
    <p:extLst>
      <p:ext uri="{BB962C8B-B14F-4D97-AF65-F5344CB8AC3E}">
        <p14:creationId xmlns:p14="http://schemas.microsoft.com/office/powerpoint/2010/main" val="10431275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7" name="직사각형 36">
            <a:extLst>
              <a:ext uri="{FF2B5EF4-FFF2-40B4-BE49-F238E27FC236}">
                <a16:creationId xmlns:a16="http://schemas.microsoft.com/office/drawing/2014/main" id="{AE345729-01D7-4B1A-84B3-1A63540C593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50861AE8-A573-4CA4-B35D-D3903DD85D3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9" name="직사각형 38">
            <a:extLst>
              <a:ext uri="{FF2B5EF4-FFF2-40B4-BE49-F238E27FC236}">
                <a16:creationId xmlns:a16="http://schemas.microsoft.com/office/drawing/2014/main" id="{C6B059D1-2617-4623-B4EC-0AB6936C8D5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카라츠바의 마법 — 대수적 트릭 (conquer)</a:t>
            </a:r>
          </a:p>
        </p:txBody>
      </p:sp>
      <p:sp>
        <p:nvSpPr>
          <p:cNvPr id="40" name="직사각형 39">
            <a:extLst>
              <a:ext uri="{FF2B5EF4-FFF2-40B4-BE49-F238E27FC236}">
                <a16:creationId xmlns:a16="http://schemas.microsoft.com/office/drawing/2014/main" id="{EF731251-0616-4F0E-BF68-E15F9807FA42}"/>
              </a:ext>
            </a:extLst>
          </p:cNvPr>
          <p:cNvSpPr>
            <a:spLocks noGrp="1"/>
          </p:cNvSpPr>
          <p:nvPr/>
        </p:nvSpPr>
        <p:spPr>
          <a:xfrm>
            <a:off x="609600" y="1381125"/>
            <a:ext cx="10972800" cy="19050"/>
          </a:xfrm>
          <a:prstGeom prst="rect">
            <a:avLst/>
          </a:prstGeom>
          <a:solidFill>
            <a:srgbClr val="171717"/>
          </a:solidFill>
          <a:ln w="0">
            <a:noFill/>
          </a:ln>
        </p:spPr>
      </p:sp>
      <p:sp>
        <p:nvSpPr>
          <p:cNvPr id="41" name="직사각형 40">
            <a:extLst>
              <a:ext uri="{FF2B5EF4-FFF2-40B4-BE49-F238E27FC236}">
                <a16:creationId xmlns:a16="http://schemas.microsoft.com/office/drawing/2014/main" id="{9E208B67-396F-4B1A-B46E-D9EF68A8A7A7}"/>
              </a:ext>
            </a:extLst>
          </p:cNvPr>
          <p:cNvSpPr>
            <a:spLocks noGrp="1"/>
          </p:cNvSpPr>
          <p:nvPr/>
        </p:nvSpPr>
        <p:spPr>
          <a:xfrm>
            <a:off x="609600" y="6438900"/>
            <a:ext cx="10972800" cy="9525"/>
          </a:xfrm>
          <a:prstGeom prst="rect">
            <a:avLst/>
          </a:prstGeom>
          <a:solidFill>
            <a:srgbClr val="D4D4D4"/>
          </a:solidFill>
          <a:ln w="0">
            <a:noFill/>
          </a:ln>
        </p:spPr>
      </p:sp>
      <p:sp>
        <p:nvSpPr>
          <p:cNvPr id="42" name="직사각형 41">
            <a:extLst>
              <a:ext uri="{FF2B5EF4-FFF2-40B4-BE49-F238E27FC236}">
                <a16:creationId xmlns:a16="http://schemas.microsoft.com/office/drawing/2014/main" id="{00D4284E-B4C7-4D8B-B90D-0A78322CAAD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3" name="직사각형 42">
            <a:extLst>
              <a:ext uri="{FF2B5EF4-FFF2-40B4-BE49-F238E27FC236}">
                <a16:creationId xmlns:a16="http://schemas.microsoft.com/office/drawing/2014/main" id="{755798B5-8719-4DA1-9E73-6DDEB931A1E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66</a:t>
            </a:r>
            <a:endParaRPr sz="1050" b="1" i="0">
              <a:solidFill>
                <a:srgbClr val="171717"/>
              </a:solidFill>
              <a:latin typeface="Consolas"/>
              <a:ea typeface="Consolas"/>
              <a:cs typeface="Consolas"/>
            </a:endParaRPr>
          </a:p>
        </p:txBody>
      </p:sp>
      <p:sp>
        <p:nvSpPr>
          <p:cNvPr id="44" name="직사각형 43">
            <a:extLst>
              <a:ext uri="{FF2B5EF4-FFF2-40B4-BE49-F238E27FC236}">
                <a16:creationId xmlns:a16="http://schemas.microsoft.com/office/drawing/2014/main" id="{D7BAA56F-51E6-4FDF-9ADB-EF5043A81724}"/>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절반 크기의 곱셈을 세 번만 수행한다.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M₁ = x₁y₁</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M₂ = x₀y₀</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M₃ = (x₁ + x₀)(y₁ + y₀)</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교차항은 덧셈과 뺄셈으로 복원한다.</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C = x₁y₀ + x₀y₁ = M₃ − M₁ − M₂</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결합</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X·Y = M₁·10^(2m) + C·10^m + M₂</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네 번의 곱셈을 세 번으로 줄이는 것이 카라츠바의 핵심이다.</a:t>
            </a:r>
          </a:p>
        </p:txBody>
      </p:sp>
      <p:pic>
        <p:nvPicPr>
          <p:cNvPr id="54" name="그림 53"/>
          <p:cNvPicPr>
            <a:picLocks noChangeAspect="1"/>
          </p:cNvPicPr>
          <p:nvPr/>
        </p:nvPicPr>
        <p:blipFill>
          <a:blip r:embed="rId3"/>
          <a:stretch/>
        </p:blipFill>
        <p:spPr>
          <a:xfrm>
            <a:off x="7315200" y="2152610"/>
            <a:ext cx="4171950" cy="3219530"/>
          </a:xfrm>
          <a:prstGeom prst="rect">
            <a:avLst/>
          </a:prstGeom>
        </p:spPr>
      </p:pic>
    </p:spTree>
    <p:extLst>
      <p:ext uri="{BB962C8B-B14F-4D97-AF65-F5344CB8AC3E}">
        <p14:creationId xmlns:p14="http://schemas.microsoft.com/office/powerpoint/2010/main" val="95703298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27C202A0-3621-4316-91E3-228C612A29A4}"/>
              </a:ext>
            </a:extLst>
          </p:cNvPr>
          <p:cNvSpPr>
            <a:spLocks noGrp="1"/>
          </p:cNvSpPr>
          <p:nvPr/>
        </p:nvSpPr>
        <p:spPr>
          <a:xfrm>
            <a:off x="859536" y="1801368"/>
            <a:ext cx="67665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karatsuba.pseudo</a:t>
            </a:r>
            <a:endParaRPr sz="900"/>
          </a:p>
        </p:txBody>
      </p:sp>
      <p:sp>
        <p:nvSpPr>
          <p:cNvPr id="17" name="Text 13">
            <a:extLst>
              <a:ext uri="{FF2B5EF4-FFF2-40B4-BE49-F238E27FC236}">
                <a16:creationId xmlns:a16="http://schemas.microsoft.com/office/drawing/2014/main" id="{175E33B7-5A54-40F2-BAE3-9B7CDE6C4CA5}"/>
              </a:ext>
            </a:extLst>
          </p:cNvPr>
          <p:cNvSpPr>
            <a:spLocks noGrp="1"/>
          </p:cNvSpPr>
          <p:nvPr/>
        </p:nvSpPr>
        <p:spPr>
          <a:xfrm>
            <a:off x="8814816" y="1965960"/>
            <a:ext cx="2459736"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재귀 호출이 3번뿐</a:t>
            </a:r>
            <a:endParaRPr sz="1250"/>
          </a:p>
        </p:txBody>
      </p:sp>
      <p:sp>
        <p:nvSpPr>
          <p:cNvPr id="18" name="Text 14">
            <a:extLst>
              <a:ext uri="{FF2B5EF4-FFF2-40B4-BE49-F238E27FC236}">
                <a16:creationId xmlns:a16="http://schemas.microsoft.com/office/drawing/2014/main" id="{D00357F3-4639-41AB-B35D-B5F74746500C}"/>
              </a:ext>
            </a:extLst>
          </p:cNvPr>
          <p:cNvSpPr>
            <a:spLocks noGrp="1"/>
          </p:cNvSpPr>
          <p:nvPr/>
        </p:nvSpPr>
        <p:spPr>
          <a:xfrm>
            <a:off x="8814816" y="2313432"/>
            <a:ext cx="2459736" cy="960120"/>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4번이 아니라 3번. 덧셈과 뺄셈이 몇 번 늘어나지만, 이들은 O(n)에 불과하다.</a:t>
            </a:r>
            <a:endParaRPr sz="1100"/>
          </a:p>
        </p:txBody>
      </p:sp>
      <p:sp>
        <p:nvSpPr>
          <p:cNvPr id="22" name="Text 17">
            <a:extLst>
              <a:ext uri="{FF2B5EF4-FFF2-40B4-BE49-F238E27FC236}">
                <a16:creationId xmlns:a16="http://schemas.microsoft.com/office/drawing/2014/main" id="{AEE7F7F4-BEF4-4695-B397-9673D18E1CAB}"/>
              </a:ext>
            </a:extLst>
          </p:cNvPr>
          <p:cNvSpPr>
            <a:spLocks noGrp="1"/>
          </p:cNvSpPr>
          <p:nvPr/>
        </p:nvSpPr>
        <p:spPr>
          <a:xfrm>
            <a:off x="8814816" y="3803904"/>
            <a:ext cx="2459736"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실무에서의 임계값</a:t>
            </a:r>
            <a:endParaRPr sz="1250"/>
          </a:p>
        </p:txBody>
      </p:sp>
      <p:sp>
        <p:nvSpPr>
          <p:cNvPr id="23" name="Text 18">
            <a:extLst>
              <a:ext uri="{FF2B5EF4-FFF2-40B4-BE49-F238E27FC236}">
                <a16:creationId xmlns:a16="http://schemas.microsoft.com/office/drawing/2014/main" id="{F0B5C79C-F2B4-48B6-AAA5-6805A8BBAC75}"/>
              </a:ext>
            </a:extLst>
          </p:cNvPr>
          <p:cNvSpPr>
            <a:spLocks noGrp="1"/>
          </p:cNvSpPr>
          <p:nvPr/>
        </p:nvSpPr>
        <p:spPr>
          <a:xfrm>
            <a:off x="8814816" y="4151376"/>
            <a:ext cx="2459736" cy="822960"/>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작은 수에서는 재귀 비용이 더 클 수 있습니다. 기본 곱셈으로 전환할 크기는 구현과 환경에 따라 정합니다.</a:t>
            </a:r>
            <a:endParaRPr sz="1100"/>
          </a:p>
        </p:txBody>
      </p:sp>
      <p:sp>
        <p:nvSpPr>
          <p:cNvPr id="25" name="Text 20">
            <a:extLst>
              <a:ext uri="{FF2B5EF4-FFF2-40B4-BE49-F238E27FC236}">
                <a16:creationId xmlns:a16="http://schemas.microsoft.com/office/drawing/2014/main" id="{42A3B668-0EEA-4063-B015-8293EAEEDCA3}"/>
              </a:ext>
            </a:extLst>
          </p:cNvPr>
          <p:cNvSpPr>
            <a:spLocks noGrp="1"/>
          </p:cNvSpPr>
          <p:nvPr/>
        </p:nvSpPr>
        <p:spPr>
          <a:xfrm>
            <a:off x="8092440" y="5321808"/>
            <a:ext cx="3300984" cy="84124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T(n) = 3T(n/2) + O(n)</a:t>
            </a:r>
            <a:endParaRPr sz="1500"/>
          </a:p>
        </p:txBody>
      </p:sp>
      <p:sp>
        <p:nvSpPr>
          <p:cNvPr id="27" name="직사각형 26">
            <a:extLst>
              <a:ext uri="{FF2B5EF4-FFF2-40B4-BE49-F238E27FC236}">
                <a16:creationId xmlns:a16="http://schemas.microsoft.com/office/drawing/2014/main" id="{AF232752-A5AF-4C10-80B9-751D58A642F4}"/>
              </a:ext>
            </a:extLst>
          </p:cNvPr>
          <p:cNvSpPr>
            <a:spLocks noGrp="1"/>
          </p:cNvSpPr>
          <p:nvPr/>
        </p:nvSpPr>
        <p:spPr>
          <a:xfrm>
            <a:off x="7955280" y="1783080"/>
            <a:ext cx="3575304" cy="9525"/>
          </a:xfrm>
          <a:prstGeom prst="rect">
            <a:avLst/>
          </a:prstGeom>
          <a:solidFill>
            <a:srgbClr val="D4D4D4"/>
          </a:solidFill>
          <a:ln w="0">
            <a:noFill/>
          </a:ln>
        </p:spPr>
      </p:sp>
      <p:sp>
        <p:nvSpPr>
          <p:cNvPr id="28" name="직사각형 27">
            <a:extLst>
              <a:ext uri="{FF2B5EF4-FFF2-40B4-BE49-F238E27FC236}">
                <a16:creationId xmlns:a16="http://schemas.microsoft.com/office/drawing/2014/main" id="{480FD16A-F05A-4E91-8DE5-EB91970854F3}"/>
              </a:ext>
            </a:extLst>
          </p:cNvPr>
          <p:cNvSpPr>
            <a:spLocks noGrp="1"/>
          </p:cNvSpPr>
          <p:nvPr/>
        </p:nvSpPr>
        <p:spPr>
          <a:xfrm>
            <a:off x="7955280" y="3621024"/>
            <a:ext cx="3575304" cy="9525"/>
          </a:xfrm>
          <a:prstGeom prst="rect">
            <a:avLst/>
          </a:prstGeom>
          <a:solidFill>
            <a:srgbClr val="D4D4D4"/>
          </a:solidFill>
          <a:ln w="0">
            <a:noFill/>
          </a:ln>
        </p:spPr>
      </p:sp>
      <p:sp>
        <p:nvSpPr>
          <p:cNvPr id="29" name="직사각형 28">
            <a:extLst>
              <a:ext uri="{FF2B5EF4-FFF2-40B4-BE49-F238E27FC236}">
                <a16:creationId xmlns:a16="http://schemas.microsoft.com/office/drawing/2014/main" id="{FC15BB37-434A-4A17-9DD4-938D5E0E48D8}"/>
              </a:ext>
            </a:extLst>
          </p:cNvPr>
          <p:cNvSpPr>
            <a:spLocks noGrp="1"/>
          </p:cNvSpPr>
          <p:nvPr/>
        </p:nvSpPr>
        <p:spPr>
          <a:xfrm>
            <a:off x="698373" y="2090928"/>
            <a:ext cx="7107174" cy="3774948"/>
          </a:xfrm>
          <a:prstGeom prst="rect">
            <a:avLst/>
          </a:prstGeom>
          <a:solidFill>
            <a:srgbClr val="171717"/>
          </a:solidFill>
          <a:ln w="0">
            <a:noFill/>
          </a:ln>
        </p:spPr>
        <p:txBody>
          <a:bodyPr wrap="none" lIns="142875" tIns="76200" rIns="142875" bIns="76200" anchor="t">
            <a:noAutofit/>
          </a:bodyPr>
          <a:lstStyle/>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KaratsubaMultiply(X, Y):</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n &lt;- max(length of X, length of Y)</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if n &lt; 2 then</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return X * Y</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m &lt;- floor(n / 2)</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x_high, x_low &lt;- Split(X, m)</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y_high, y_low &lt;- Split(Y, m)</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z2 &lt;- KaratsubaMultiply(x_high, y_high)</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z0 &lt;- KaratsubaMultiply(x_low,  y_low)</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z1_raw &lt;- KaratsubaMultiply(x_high + x_low, y_high + y_low)</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z1 &lt;- z1_raw - z2 - z0</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return z2 * 10^(2m) + z1 * 10^m + z0</a:t>
            </a:r>
          </a:p>
        </p:txBody>
      </p:sp>
      <p:sp>
        <p:nvSpPr>
          <p:cNvPr id="30" name="직사각형 29">
            <a:extLst>
              <a:ext uri="{FF2B5EF4-FFF2-40B4-BE49-F238E27FC236}">
                <a16:creationId xmlns:a16="http://schemas.microsoft.com/office/drawing/2014/main" id="{F415AAB9-9719-4D72-BB25-B35DFD872F66}"/>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31" name="직사각형 30">
            <a:extLst>
              <a:ext uri="{FF2B5EF4-FFF2-40B4-BE49-F238E27FC236}">
                <a16:creationId xmlns:a16="http://schemas.microsoft.com/office/drawing/2014/main" id="{FACA6C0E-972E-44E1-92CC-A3D60B878FB7}"/>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2" name="직사각형 31">
            <a:extLst>
              <a:ext uri="{FF2B5EF4-FFF2-40B4-BE49-F238E27FC236}">
                <a16:creationId xmlns:a16="http://schemas.microsoft.com/office/drawing/2014/main" id="{A7EDA901-5F6E-487F-9AAB-69FDBC1E16CB}"/>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카라츠바 알고리즘 (의사코드)</a:t>
            </a:r>
          </a:p>
        </p:txBody>
      </p:sp>
      <p:sp>
        <p:nvSpPr>
          <p:cNvPr id="33" name="직사각형 32">
            <a:extLst>
              <a:ext uri="{FF2B5EF4-FFF2-40B4-BE49-F238E27FC236}">
                <a16:creationId xmlns:a16="http://schemas.microsoft.com/office/drawing/2014/main" id="{B01A9CC8-8E0A-4932-A47F-536AF82FA9FC}"/>
              </a:ext>
            </a:extLst>
          </p:cNvPr>
          <p:cNvSpPr>
            <a:spLocks noGrp="1"/>
          </p:cNvSpPr>
          <p:nvPr/>
        </p:nvSpPr>
        <p:spPr>
          <a:xfrm>
            <a:off x="609600" y="1381125"/>
            <a:ext cx="10972800" cy="19050"/>
          </a:xfrm>
          <a:prstGeom prst="rect">
            <a:avLst/>
          </a:prstGeom>
          <a:solidFill>
            <a:srgbClr val="171717"/>
          </a:solidFill>
          <a:ln w="0">
            <a:noFill/>
          </a:ln>
        </p:spPr>
      </p:sp>
      <p:sp>
        <p:nvSpPr>
          <p:cNvPr id="34" name="직사각형 33">
            <a:extLst>
              <a:ext uri="{FF2B5EF4-FFF2-40B4-BE49-F238E27FC236}">
                <a16:creationId xmlns:a16="http://schemas.microsoft.com/office/drawing/2014/main" id="{2684E238-F5A0-49EE-9446-3C81CCF6EBDB}"/>
              </a:ext>
            </a:extLst>
          </p:cNvPr>
          <p:cNvSpPr>
            <a:spLocks noGrp="1"/>
          </p:cNvSpPr>
          <p:nvPr/>
        </p:nvSpPr>
        <p:spPr>
          <a:xfrm>
            <a:off x="609600" y="6438900"/>
            <a:ext cx="10972800"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4AA350FA-EFBF-4BF4-8713-BE64C06DAAB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6" name="직사각형 35">
            <a:extLst>
              <a:ext uri="{FF2B5EF4-FFF2-40B4-BE49-F238E27FC236}">
                <a16:creationId xmlns:a16="http://schemas.microsoft.com/office/drawing/2014/main" id="{29A03787-4D37-4D31-A130-783ED283E69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67</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45754030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EF807136-631E-4F92-BC8B-5859F0033FA6}"/>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karatsuba.py</a:t>
            </a:r>
            <a:endParaRPr sz="900"/>
          </a:p>
        </p:txBody>
      </p:sp>
      <p:sp>
        <p:nvSpPr>
          <p:cNvPr id="20" name="Text 17">
            <a:extLst>
              <a:ext uri="{FF2B5EF4-FFF2-40B4-BE49-F238E27FC236}">
                <a16:creationId xmlns:a16="http://schemas.microsoft.com/office/drawing/2014/main" id="{B7AA217C-F4AA-48FE-9385-5C6CFDBFEA7E}"/>
              </a:ext>
            </a:extLst>
          </p:cNvPr>
          <p:cNvSpPr>
            <a:spLocks noGrp="1"/>
          </p:cNvSpPr>
          <p:nvPr/>
        </p:nvSpPr>
        <p:spPr>
          <a:xfrm>
            <a:off x="859536" y="5230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5" name="Text 21">
            <a:extLst>
              <a:ext uri="{FF2B5EF4-FFF2-40B4-BE49-F238E27FC236}">
                <a16:creationId xmlns:a16="http://schemas.microsoft.com/office/drawing/2014/main" id="{7C352D26-8753-4C1E-93F2-251792D8C9BF}"/>
              </a:ext>
            </a:extLst>
          </p:cNvPr>
          <p:cNvSpPr>
            <a:spLocks noGrp="1"/>
          </p:cNvSpPr>
          <p:nvPr/>
        </p:nvSpPr>
        <p:spPr>
          <a:xfrm>
            <a:off x="8631936" y="1965960"/>
            <a:ext cx="2642616"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10 ** m 으로 자르기</a:t>
            </a:r>
            <a:endParaRPr sz="1250"/>
          </a:p>
        </p:txBody>
      </p:sp>
      <p:sp>
        <p:nvSpPr>
          <p:cNvPr id="26" name="Text 22">
            <a:extLst>
              <a:ext uri="{FF2B5EF4-FFF2-40B4-BE49-F238E27FC236}">
                <a16:creationId xmlns:a16="http://schemas.microsoft.com/office/drawing/2014/main" id="{026674BA-735D-4BCB-85B5-A9148CBCEFB0}"/>
              </a:ext>
            </a:extLst>
          </p:cNvPr>
          <p:cNvSpPr>
            <a:spLocks noGrp="1"/>
          </p:cNvSpPr>
          <p:nvPr/>
        </p:nvSpPr>
        <p:spPr>
          <a:xfrm>
            <a:off x="8631936" y="2313432"/>
            <a:ext cx="2642616" cy="640080"/>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몫(//)이 앞부분, 나머지(%)가 뒷부분이 된다.</a:t>
            </a:r>
            <a:endParaRPr sz="1100"/>
          </a:p>
        </p:txBody>
      </p:sp>
      <p:sp>
        <p:nvSpPr>
          <p:cNvPr id="28" name="Text 24">
            <a:extLst>
              <a:ext uri="{FF2B5EF4-FFF2-40B4-BE49-F238E27FC236}">
                <a16:creationId xmlns:a16="http://schemas.microsoft.com/office/drawing/2014/main" id="{ABF9B7B1-7789-45A5-9686-98859429FE2F}"/>
              </a:ext>
            </a:extLst>
          </p:cNvPr>
          <p:cNvSpPr>
            <a:spLocks noGrp="1"/>
          </p:cNvSpPr>
          <p:nvPr/>
        </p:nvSpPr>
        <p:spPr>
          <a:xfrm>
            <a:off x="7973568" y="3419856"/>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9" name="Text 25">
            <a:extLst>
              <a:ext uri="{FF2B5EF4-FFF2-40B4-BE49-F238E27FC236}">
                <a16:creationId xmlns:a16="http://schemas.microsoft.com/office/drawing/2014/main" id="{5246F52E-87E1-411E-9C8D-2B277DE85A76}"/>
              </a:ext>
            </a:extLst>
          </p:cNvPr>
          <p:cNvSpPr>
            <a:spLocks noGrp="1"/>
          </p:cNvSpPr>
          <p:nvPr/>
        </p:nvSpPr>
        <p:spPr>
          <a:xfrm>
            <a:off x="7973568" y="3749040"/>
            <a:ext cx="3383280" cy="822960"/>
          </a:xfrm>
          <a:prstGeom prst="rect">
            <a:avLst/>
          </a:prstGeom>
          <a:noFill/>
          <a:ln w="0">
            <a:noFill/>
          </a:ln>
        </p:spPr>
        <p:txBody>
          <a:bodyPr wrap="square" lIns="0" tIns="0" rIns="0" bIns="0" anchor="t">
            <a:noAutofit/>
          </a:bodyPr>
          <a:lstStyle/>
          <a:p>
            <a:pPr marL="0" indent="0" algn="l">
              <a:lnSpc>
                <a:spcPct val="130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1219326311370217952</a:t>
            </a:r>
            <a:endParaRPr sz="1000"/>
          </a:p>
          <a:p>
            <a:pPr marL="0" indent="0" algn="l">
              <a:lnSpc>
                <a:spcPct val="130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237463801111263526900</a:t>
            </a:r>
            <a:endParaRPr sz="1000"/>
          </a:p>
        </p:txBody>
      </p:sp>
      <p:sp>
        <p:nvSpPr>
          <p:cNvPr id="30" name="Text 26">
            <a:extLst>
              <a:ext uri="{FF2B5EF4-FFF2-40B4-BE49-F238E27FC236}">
                <a16:creationId xmlns:a16="http://schemas.microsoft.com/office/drawing/2014/main" id="{7A2A84CF-F716-46E7-9B87-BEA0126D8726}"/>
              </a:ext>
            </a:extLst>
          </p:cNvPr>
          <p:cNvSpPr>
            <a:spLocks noGrp="1"/>
          </p:cNvSpPr>
          <p:nvPr/>
        </p:nvSpPr>
        <p:spPr>
          <a:xfrm>
            <a:off x="7973568" y="4535424"/>
            <a:ext cx="3383280" cy="310896"/>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sz="1000" i="0">
                <a:solidFill>
                  <a:srgbClr val="171717"/>
                </a:solidFill>
                <a:latin typeface="Malgun Gothic"/>
                <a:ea typeface="Malgun Gothic"/>
                <a:cs typeface="Malgun Gothic"/>
              </a:rPr>
              <a:t>일반 곱셈 결과와 정확히 일치</a:t>
            </a:r>
            <a:endParaRPr sz="1000"/>
          </a:p>
        </p:txBody>
      </p:sp>
      <p:sp>
        <p:nvSpPr>
          <p:cNvPr id="34" name="Text 29">
            <a:extLst>
              <a:ext uri="{FF2B5EF4-FFF2-40B4-BE49-F238E27FC236}">
                <a16:creationId xmlns:a16="http://schemas.microsoft.com/office/drawing/2014/main" id="{19836D29-DACE-4FE0-B36A-BE74D2B37ABE}"/>
              </a:ext>
            </a:extLst>
          </p:cNvPr>
          <p:cNvSpPr>
            <a:spLocks noGrp="1"/>
          </p:cNvSpPr>
          <p:nvPr/>
        </p:nvSpPr>
        <p:spPr>
          <a:xfrm>
            <a:off x="8631936" y="5285232"/>
            <a:ext cx="26426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큰 정수 연산에 활용</a:t>
            </a:r>
            <a:endParaRPr sz="1200"/>
          </a:p>
        </p:txBody>
      </p:sp>
      <p:sp>
        <p:nvSpPr>
          <p:cNvPr id="35" name="Text 30">
            <a:extLst>
              <a:ext uri="{FF2B5EF4-FFF2-40B4-BE49-F238E27FC236}">
                <a16:creationId xmlns:a16="http://schemas.microsoft.com/office/drawing/2014/main" id="{0B3D3320-A706-405C-8302-FE4A85142311}"/>
              </a:ext>
            </a:extLst>
          </p:cNvPr>
          <p:cNvSpPr>
            <a:spLocks noGrp="1"/>
          </p:cNvSpPr>
          <p:nvPr/>
        </p:nvSpPr>
        <p:spPr>
          <a:xfrm>
            <a:off x="8631936" y="5632704"/>
            <a:ext cx="2642616" cy="329184"/>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큰 정수 곱셈의 계산량을 줄이는 기본 기법입니다.</a:t>
            </a:r>
            <a:endParaRPr sz="1080"/>
          </a:p>
        </p:txBody>
      </p:sp>
      <p:sp>
        <p:nvSpPr>
          <p:cNvPr id="37" name="직사각형 36">
            <a:extLst>
              <a:ext uri="{FF2B5EF4-FFF2-40B4-BE49-F238E27FC236}">
                <a16:creationId xmlns:a16="http://schemas.microsoft.com/office/drawing/2014/main" id="{4A091712-E3CD-4EC7-A3A2-CE5E5DFE47D7}"/>
              </a:ext>
            </a:extLst>
          </p:cNvPr>
          <p:cNvSpPr>
            <a:spLocks noGrp="1"/>
          </p:cNvSpPr>
          <p:nvPr/>
        </p:nvSpPr>
        <p:spPr>
          <a:xfrm>
            <a:off x="7772400" y="1783080"/>
            <a:ext cx="3758184"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FDC2BAED-AF3F-4DDE-B086-2E78A732C410}"/>
              </a:ext>
            </a:extLst>
          </p:cNvPr>
          <p:cNvSpPr>
            <a:spLocks noGrp="1"/>
          </p:cNvSpPr>
          <p:nvPr/>
        </p:nvSpPr>
        <p:spPr>
          <a:xfrm>
            <a:off x="7772400" y="3310128"/>
            <a:ext cx="3758184"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34067B67-E4CF-4C09-A1A7-A36D0F9DE141}"/>
              </a:ext>
            </a:extLst>
          </p:cNvPr>
          <p:cNvSpPr>
            <a:spLocks noGrp="1"/>
          </p:cNvSpPr>
          <p:nvPr/>
        </p:nvSpPr>
        <p:spPr>
          <a:xfrm>
            <a:off x="7772400" y="5102352"/>
            <a:ext cx="3758184" cy="9525"/>
          </a:xfrm>
          <a:prstGeom prst="rect">
            <a:avLst/>
          </a:prstGeom>
          <a:solidFill>
            <a:srgbClr val="D4D4D4"/>
          </a:solidFill>
          <a:ln w="0">
            <a:noFill/>
          </a:ln>
        </p:spPr>
      </p:sp>
      <p:sp>
        <p:nvSpPr>
          <p:cNvPr id="40" name="직사각형 39">
            <a:extLst>
              <a:ext uri="{FF2B5EF4-FFF2-40B4-BE49-F238E27FC236}">
                <a16:creationId xmlns:a16="http://schemas.microsoft.com/office/drawing/2014/main" id="{4594E406-AF42-48DE-8BE7-03FEDAF5E5CE}"/>
              </a:ext>
            </a:extLst>
          </p:cNvPr>
          <p:cNvSpPr>
            <a:spLocks noGrp="1"/>
          </p:cNvSpPr>
          <p:nvPr/>
        </p:nvSpPr>
        <p:spPr>
          <a:xfrm>
            <a:off x="698373" y="2090928"/>
            <a:ext cx="6924294" cy="3006852"/>
          </a:xfrm>
          <a:prstGeom prst="rect">
            <a:avLst/>
          </a:prstGeom>
          <a:solidFill>
            <a:srgbClr val="171717"/>
          </a:solidFill>
          <a:ln w="0">
            <a:noFill/>
          </a:ln>
        </p:spPr>
        <p:txBody>
          <a:bodyPr wrap="none" lIns="142875" tIns="76200" rIns="142875" bIns="76200" anchor="t">
            <a:noAutofit/>
          </a:bodyPr>
          <a:lstStyle/>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def karatsuba(x, 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if x &lt; 10 or y &lt; 10:</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x * 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n = max(len(str(x)), len(str(y)))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 = n // 2</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x_high, x_low = x // (10 ** m), x % (10 ** m)</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y_high, y_low = y // (10 ** m), y % (10 ** m)</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a = karatsuba(x_high, y_high)</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b = karatsuba(x_low, y_low)</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sum_prod = karatsuba(x_high + x_low, y_high + y_low)</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mid = sum_prod - a - b</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a * (10 ** (2 * m)) + mid * (10 ** m) + b</a:t>
            </a:r>
          </a:p>
        </p:txBody>
      </p:sp>
      <p:sp>
        <p:nvSpPr>
          <p:cNvPr id="41" name="직사각형 40">
            <a:extLst>
              <a:ext uri="{FF2B5EF4-FFF2-40B4-BE49-F238E27FC236}">
                <a16:creationId xmlns:a16="http://schemas.microsoft.com/office/drawing/2014/main" id="{62E37B02-8D15-4C10-8019-9EA5A23468B4}"/>
              </a:ext>
            </a:extLst>
          </p:cNvPr>
          <p:cNvSpPr>
            <a:spLocks noGrp="1"/>
          </p:cNvSpPr>
          <p:nvPr/>
        </p:nvSpPr>
        <p:spPr>
          <a:xfrm>
            <a:off x="698373" y="5519928"/>
            <a:ext cx="6924294" cy="611124"/>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num1 = 12345678901234567890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num2 = 98765432109876543210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print(karatsuba(num1, num2))</a:t>
            </a:r>
          </a:p>
        </p:txBody>
      </p:sp>
      <p:sp>
        <p:nvSpPr>
          <p:cNvPr id="42" name="직사각형 41">
            <a:extLst>
              <a:ext uri="{FF2B5EF4-FFF2-40B4-BE49-F238E27FC236}">
                <a16:creationId xmlns:a16="http://schemas.microsoft.com/office/drawing/2014/main" id="{04F8806A-8720-4DF9-91DA-49C22308C94A}"/>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43" name="직사각형 42">
            <a:extLst>
              <a:ext uri="{FF2B5EF4-FFF2-40B4-BE49-F238E27FC236}">
                <a16:creationId xmlns:a16="http://schemas.microsoft.com/office/drawing/2014/main" id="{A0FA5302-700D-46CF-ACD1-BCDE8E3049D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4" name="직사각형 43">
            <a:extLst>
              <a:ext uri="{FF2B5EF4-FFF2-40B4-BE49-F238E27FC236}">
                <a16:creationId xmlns:a16="http://schemas.microsoft.com/office/drawing/2014/main" id="{B7563A37-6781-46E4-B1A0-E1334F067CE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a:t>
            </a:r>
          </a:p>
        </p:txBody>
      </p:sp>
      <p:sp>
        <p:nvSpPr>
          <p:cNvPr id="45" name="직사각형 44">
            <a:extLst>
              <a:ext uri="{FF2B5EF4-FFF2-40B4-BE49-F238E27FC236}">
                <a16:creationId xmlns:a16="http://schemas.microsoft.com/office/drawing/2014/main" id="{800E3EE2-A5F9-4740-BCD8-A0EDD513C8CB}"/>
              </a:ext>
            </a:extLst>
          </p:cNvPr>
          <p:cNvSpPr>
            <a:spLocks noGrp="1"/>
          </p:cNvSpPr>
          <p:nvPr/>
        </p:nvSpPr>
        <p:spPr>
          <a:xfrm>
            <a:off x="609600" y="1381125"/>
            <a:ext cx="10972800" cy="19050"/>
          </a:xfrm>
          <a:prstGeom prst="rect">
            <a:avLst/>
          </a:prstGeom>
          <a:solidFill>
            <a:srgbClr val="171717"/>
          </a:solidFill>
          <a:ln w="0">
            <a:noFill/>
          </a:ln>
        </p:spPr>
      </p:sp>
      <p:sp>
        <p:nvSpPr>
          <p:cNvPr id="46" name="직사각형 45">
            <a:extLst>
              <a:ext uri="{FF2B5EF4-FFF2-40B4-BE49-F238E27FC236}">
                <a16:creationId xmlns:a16="http://schemas.microsoft.com/office/drawing/2014/main" id="{657F82FC-7042-4776-8BF3-96B78C4919BE}"/>
              </a:ext>
            </a:extLst>
          </p:cNvPr>
          <p:cNvSpPr>
            <a:spLocks noGrp="1"/>
          </p:cNvSpPr>
          <p:nvPr/>
        </p:nvSpPr>
        <p:spPr>
          <a:xfrm>
            <a:off x="609600" y="6438900"/>
            <a:ext cx="10972800" cy="9525"/>
          </a:xfrm>
          <a:prstGeom prst="rect">
            <a:avLst/>
          </a:prstGeom>
          <a:solidFill>
            <a:srgbClr val="D4D4D4"/>
          </a:solidFill>
          <a:ln w="0">
            <a:noFill/>
          </a:ln>
        </p:spPr>
      </p:sp>
      <p:sp>
        <p:nvSpPr>
          <p:cNvPr id="47" name="직사각형 46">
            <a:extLst>
              <a:ext uri="{FF2B5EF4-FFF2-40B4-BE49-F238E27FC236}">
                <a16:creationId xmlns:a16="http://schemas.microsoft.com/office/drawing/2014/main" id="{DE0C3B51-D325-43EB-B200-370C1C0F56E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8" name="직사각형 47">
            <a:extLst>
              <a:ext uri="{FF2B5EF4-FFF2-40B4-BE49-F238E27FC236}">
                <a16:creationId xmlns:a16="http://schemas.microsoft.com/office/drawing/2014/main" id="{8969A649-5913-43C9-B139-F5E8045F7E1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68</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6377160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1" name="직사각형 50">
            <a:extLst>
              <a:ext uri="{FF2B5EF4-FFF2-40B4-BE49-F238E27FC236}">
                <a16:creationId xmlns:a16="http://schemas.microsoft.com/office/drawing/2014/main" id="{08F126D5-F2CE-4ED6-9FB5-EB866C2F806C}"/>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52" name="직사각형 51">
            <a:extLst>
              <a:ext uri="{FF2B5EF4-FFF2-40B4-BE49-F238E27FC236}">
                <a16:creationId xmlns:a16="http://schemas.microsoft.com/office/drawing/2014/main" id="{ED23003E-2A30-4DB7-A409-75314F5E724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53" name="직사각형 52">
            <a:extLst>
              <a:ext uri="{FF2B5EF4-FFF2-40B4-BE49-F238E27FC236}">
                <a16:creationId xmlns:a16="http://schemas.microsoft.com/office/drawing/2014/main" id="{9FE36D45-41C6-41CE-8974-447AD8DA7339}"/>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복잡도 분석 — 마스터 정리 적용</a:t>
            </a:r>
          </a:p>
        </p:txBody>
      </p:sp>
      <p:sp>
        <p:nvSpPr>
          <p:cNvPr id="54" name="직사각형 53">
            <a:extLst>
              <a:ext uri="{FF2B5EF4-FFF2-40B4-BE49-F238E27FC236}">
                <a16:creationId xmlns:a16="http://schemas.microsoft.com/office/drawing/2014/main" id="{218275E5-0150-4BCD-A396-6602E42E7BDB}"/>
              </a:ext>
            </a:extLst>
          </p:cNvPr>
          <p:cNvSpPr>
            <a:spLocks noGrp="1"/>
          </p:cNvSpPr>
          <p:nvPr/>
        </p:nvSpPr>
        <p:spPr>
          <a:xfrm>
            <a:off x="609600" y="1381125"/>
            <a:ext cx="10972800" cy="19050"/>
          </a:xfrm>
          <a:prstGeom prst="rect">
            <a:avLst/>
          </a:prstGeom>
          <a:solidFill>
            <a:srgbClr val="171717"/>
          </a:solidFill>
          <a:ln w="0">
            <a:noFill/>
          </a:ln>
        </p:spPr>
      </p:sp>
      <p:sp>
        <p:nvSpPr>
          <p:cNvPr id="55" name="직사각형 54">
            <a:extLst>
              <a:ext uri="{FF2B5EF4-FFF2-40B4-BE49-F238E27FC236}">
                <a16:creationId xmlns:a16="http://schemas.microsoft.com/office/drawing/2014/main" id="{BD787C72-6CA1-45B4-9AAC-C0376B6468F6}"/>
              </a:ext>
            </a:extLst>
          </p:cNvPr>
          <p:cNvSpPr>
            <a:spLocks noGrp="1"/>
          </p:cNvSpPr>
          <p:nvPr/>
        </p:nvSpPr>
        <p:spPr>
          <a:xfrm>
            <a:off x="609600" y="6438900"/>
            <a:ext cx="10972800" cy="9525"/>
          </a:xfrm>
          <a:prstGeom prst="rect">
            <a:avLst/>
          </a:prstGeom>
          <a:solidFill>
            <a:srgbClr val="D4D4D4"/>
          </a:solidFill>
          <a:ln w="0">
            <a:noFill/>
          </a:ln>
        </p:spPr>
      </p:sp>
      <p:sp>
        <p:nvSpPr>
          <p:cNvPr id="56" name="직사각형 55">
            <a:extLst>
              <a:ext uri="{FF2B5EF4-FFF2-40B4-BE49-F238E27FC236}">
                <a16:creationId xmlns:a16="http://schemas.microsoft.com/office/drawing/2014/main" id="{EDC41C42-C3AB-44EC-89EE-2A485C57524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7" name="직사각형 56">
            <a:extLst>
              <a:ext uri="{FF2B5EF4-FFF2-40B4-BE49-F238E27FC236}">
                <a16:creationId xmlns:a16="http://schemas.microsoft.com/office/drawing/2014/main" id="{328951A5-0509-4715-8892-D0302BD6E20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69</a:t>
            </a:r>
            <a:endParaRPr sz="1050" b="1" i="0">
              <a:solidFill>
                <a:srgbClr val="171717"/>
              </a:solidFill>
              <a:latin typeface="Consolas"/>
              <a:ea typeface="Consolas"/>
              <a:cs typeface="Consolas"/>
            </a:endParaRPr>
          </a:p>
        </p:txBody>
      </p:sp>
      <p:sp>
        <p:nvSpPr>
          <p:cNvPr id="58" name="직사각형 57">
            <a:extLst>
              <a:ext uri="{FF2B5EF4-FFF2-40B4-BE49-F238E27FC236}">
                <a16:creationId xmlns:a16="http://schemas.microsoft.com/office/drawing/2014/main" id="{5BC4BAAA-79DB-4606-A510-24B5331BE9CB}"/>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문제 크기는 절반: b = 2</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재귀 곱셈은 세 번: a = 3</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덧셈·뺄셈·자리 이동: O(n)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T(n) = 3T(n/2) + O(n)</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 Θ(n^(log₂ 3)) ≈ Θ(n^1.585)</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10,000일 때 성장률 비교</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기본 곱셈 n²: 1억</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카라츠바 n^(log₂ 3): 약 219만</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비율은 약 46배이다. 상수항과 구현 비용을 생략한 성장률 비교이며 실측 속도는 아니다.</a:t>
            </a:r>
          </a:p>
        </p:txBody>
      </p:sp>
      <p:pic>
        <p:nvPicPr>
          <p:cNvPr id="68" name="그림 67"/>
          <p:cNvPicPr>
            <a:picLocks noChangeAspect="1"/>
          </p:cNvPicPr>
          <p:nvPr/>
        </p:nvPicPr>
        <p:blipFill>
          <a:blip r:embed="rId3"/>
          <a:stretch/>
        </p:blipFill>
        <p:spPr>
          <a:xfrm>
            <a:off x="7315200" y="2157779"/>
            <a:ext cx="4171950" cy="3209192"/>
          </a:xfrm>
          <a:prstGeom prst="rect">
            <a:avLst/>
          </a:prstGeom>
        </p:spPr>
      </p:pic>
    </p:spTree>
    <p:extLst>
      <p:ext uri="{BB962C8B-B14F-4D97-AF65-F5344CB8AC3E}">
        <p14:creationId xmlns:p14="http://schemas.microsoft.com/office/powerpoint/2010/main" val="50074536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120BABF1-C200-4403-9F79-BE0B897E2DDA}"/>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F5C0C7E6-ED49-46C0-B887-8BC29306FD00}"/>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4.9</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48619C23-5603-44F3-97BB-43FC1928DEB4}"/>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65321404-E74C-4778-ACF1-B5BC3920590E}"/>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스트라센 알고리즘</a:t>
            </a:r>
          </a:p>
        </p:txBody>
      </p:sp>
      <p:sp>
        <p:nvSpPr>
          <p:cNvPr id="5" name="직사각형 4">
            <a:extLst>
              <a:ext uri="{FF2B5EF4-FFF2-40B4-BE49-F238E27FC236}">
                <a16:creationId xmlns:a16="http://schemas.microsoft.com/office/drawing/2014/main" id="{98894DC1-18F5-41FE-A411-11F58198625B}"/>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Strassen Algorithm (1969)</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행렬 곱셈에서 곱셈 8번을 7번으로</a:t>
            </a:r>
          </a:p>
        </p:txBody>
      </p:sp>
      <p:sp>
        <p:nvSpPr>
          <p:cNvPr id="6" name="직사각형 5">
            <a:extLst>
              <a:ext uri="{FF2B5EF4-FFF2-40B4-BE49-F238E27FC236}">
                <a16:creationId xmlns:a16="http://schemas.microsoft.com/office/drawing/2014/main" id="{F21BB0B7-3A14-4131-8129-1B1E5714C38A}"/>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408C610D-73A6-42B4-9902-1D6939A72F2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8872A52F-040A-4307-98D0-468370864B3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70</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20619318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2321B5AE-62C0-4C9B-B9EA-069343FD63AB}"/>
              </a:ext>
            </a:extLst>
          </p:cNvPr>
          <p:cNvSpPr>
            <a:spLocks noGrp="1"/>
          </p:cNvSpPr>
          <p:nvPr/>
        </p:nvSpPr>
        <p:spPr>
          <a:xfrm>
            <a:off x="658368" y="1737360"/>
            <a:ext cx="10872216" cy="54864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두 개의 n × n 행렬을 곱하는 표준 알고리즘은 세 겹의 반복문으로 O(n³)이 걸린다. 카라츠바 알고리즘에서 숫자를 절반으로 쪼갰듯이, 행렬도 4등분하여 블록 행렬(block matrix) 형태로 생각해보자.</a:t>
            </a:r>
            <a:endParaRPr sz="1300"/>
          </a:p>
        </p:txBody>
      </p:sp>
      <p:sp>
        <p:nvSpPr>
          <p:cNvPr id="7" name="Shape 4">
            <a:extLst>
              <a:ext uri="{FF2B5EF4-FFF2-40B4-BE49-F238E27FC236}">
                <a16:creationId xmlns:a16="http://schemas.microsoft.com/office/drawing/2014/main" id="{9E4ADAC1-72AB-4E56-A1DD-D94A962A9351}"/>
              </a:ext>
            </a:extLst>
          </p:cNvPr>
          <p:cNvSpPr>
            <a:spLocks noGrp="1"/>
          </p:cNvSpPr>
          <p:nvPr/>
        </p:nvSpPr>
        <p:spPr>
          <a:xfrm>
            <a:off x="3150108" y="2468880"/>
            <a:ext cx="749808" cy="512064"/>
          </a:xfrm>
          <a:prstGeom prst="roundRect">
            <a:avLst>
              <a:gd name="adj" fmla="val 12500"/>
            </a:avLst>
          </a:prstGeom>
          <a:solidFill>
            <a:srgbClr val="E9E9E9"/>
          </a:solidFill>
          <a:ln w="5715">
            <a:solidFill>
              <a:srgbClr val="D4D4D4"/>
            </a:solidFill>
          </a:ln>
        </p:spPr>
      </p:sp>
      <p:sp>
        <p:nvSpPr>
          <p:cNvPr id="8" name="Text 5">
            <a:extLst>
              <a:ext uri="{FF2B5EF4-FFF2-40B4-BE49-F238E27FC236}">
                <a16:creationId xmlns:a16="http://schemas.microsoft.com/office/drawing/2014/main" id="{67E3C1C4-F302-4606-B4AF-B66CF0B55E68}"/>
              </a:ext>
            </a:extLst>
          </p:cNvPr>
          <p:cNvSpPr>
            <a:spLocks noGrp="1"/>
          </p:cNvSpPr>
          <p:nvPr/>
        </p:nvSpPr>
        <p:spPr>
          <a:xfrm>
            <a:off x="3150108"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C_11</a:t>
            </a:r>
            <a:endParaRPr sz="1400"/>
          </a:p>
        </p:txBody>
      </p:sp>
      <p:sp>
        <p:nvSpPr>
          <p:cNvPr id="9" name="Shape 6">
            <a:extLst>
              <a:ext uri="{FF2B5EF4-FFF2-40B4-BE49-F238E27FC236}">
                <a16:creationId xmlns:a16="http://schemas.microsoft.com/office/drawing/2014/main" id="{C6C2CEA3-5098-424E-B218-BD2623188F68}"/>
              </a:ext>
            </a:extLst>
          </p:cNvPr>
          <p:cNvSpPr>
            <a:spLocks noGrp="1"/>
          </p:cNvSpPr>
          <p:nvPr/>
        </p:nvSpPr>
        <p:spPr>
          <a:xfrm>
            <a:off x="3936492" y="2468880"/>
            <a:ext cx="749808" cy="512064"/>
          </a:xfrm>
          <a:prstGeom prst="roundRect">
            <a:avLst>
              <a:gd name="adj" fmla="val 12500"/>
            </a:avLst>
          </a:prstGeom>
          <a:solidFill>
            <a:srgbClr val="E9E9E9"/>
          </a:solidFill>
          <a:ln w="5715">
            <a:solidFill>
              <a:srgbClr val="D4D4D4"/>
            </a:solidFill>
          </a:ln>
        </p:spPr>
      </p:sp>
      <p:sp>
        <p:nvSpPr>
          <p:cNvPr id="10" name="Text 7">
            <a:extLst>
              <a:ext uri="{FF2B5EF4-FFF2-40B4-BE49-F238E27FC236}">
                <a16:creationId xmlns:a16="http://schemas.microsoft.com/office/drawing/2014/main" id="{5C668C04-5329-4967-92AB-723AA3E293F7}"/>
              </a:ext>
            </a:extLst>
          </p:cNvPr>
          <p:cNvSpPr>
            <a:spLocks noGrp="1"/>
          </p:cNvSpPr>
          <p:nvPr/>
        </p:nvSpPr>
        <p:spPr>
          <a:xfrm>
            <a:off x="3936492"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C_12</a:t>
            </a:r>
            <a:endParaRPr sz="1400"/>
          </a:p>
        </p:txBody>
      </p:sp>
      <p:sp>
        <p:nvSpPr>
          <p:cNvPr id="11" name="Shape 8">
            <a:extLst>
              <a:ext uri="{FF2B5EF4-FFF2-40B4-BE49-F238E27FC236}">
                <a16:creationId xmlns:a16="http://schemas.microsoft.com/office/drawing/2014/main" id="{3B23ED4B-7BDC-4E84-A4CA-6ED89430D9D3}"/>
              </a:ext>
            </a:extLst>
          </p:cNvPr>
          <p:cNvSpPr>
            <a:spLocks noGrp="1"/>
          </p:cNvSpPr>
          <p:nvPr/>
        </p:nvSpPr>
        <p:spPr>
          <a:xfrm>
            <a:off x="3150108" y="3017520"/>
            <a:ext cx="749808" cy="512064"/>
          </a:xfrm>
          <a:prstGeom prst="roundRect">
            <a:avLst>
              <a:gd name="adj" fmla="val 12500"/>
            </a:avLst>
          </a:prstGeom>
          <a:solidFill>
            <a:srgbClr val="E9E9E9"/>
          </a:solidFill>
          <a:ln w="5715">
            <a:solidFill>
              <a:srgbClr val="D4D4D4"/>
            </a:solidFill>
          </a:ln>
        </p:spPr>
      </p:sp>
      <p:sp>
        <p:nvSpPr>
          <p:cNvPr id="12" name="Text 9">
            <a:extLst>
              <a:ext uri="{FF2B5EF4-FFF2-40B4-BE49-F238E27FC236}">
                <a16:creationId xmlns:a16="http://schemas.microsoft.com/office/drawing/2014/main" id="{830ECB8A-0472-4517-8B8F-024FAAB0F579}"/>
              </a:ext>
            </a:extLst>
          </p:cNvPr>
          <p:cNvSpPr>
            <a:spLocks noGrp="1"/>
          </p:cNvSpPr>
          <p:nvPr/>
        </p:nvSpPr>
        <p:spPr>
          <a:xfrm>
            <a:off x="3150108"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C_21</a:t>
            </a:r>
            <a:endParaRPr sz="1400"/>
          </a:p>
        </p:txBody>
      </p:sp>
      <p:sp>
        <p:nvSpPr>
          <p:cNvPr id="13" name="Shape 10">
            <a:extLst>
              <a:ext uri="{FF2B5EF4-FFF2-40B4-BE49-F238E27FC236}">
                <a16:creationId xmlns:a16="http://schemas.microsoft.com/office/drawing/2014/main" id="{78216C34-73D5-4D71-8214-3E9982516737}"/>
              </a:ext>
            </a:extLst>
          </p:cNvPr>
          <p:cNvSpPr>
            <a:spLocks noGrp="1"/>
          </p:cNvSpPr>
          <p:nvPr/>
        </p:nvSpPr>
        <p:spPr>
          <a:xfrm>
            <a:off x="3936492" y="3017520"/>
            <a:ext cx="749808" cy="512064"/>
          </a:xfrm>
          <a:prstGeom prst="roundRect">
            <a:avLst>
              <a:gd name="adj" fmla="val 12500"/>
            </a:avLst>
          </a:prstGeom>
          <a:solidFill>
            <a:srgbClr val="E9E9E9"/>
          </a:solidFill>
          <a:ln w="5715">
            <a:solidFill>
              <a:srgbClr val="D4D4D4"/>
            </a:solidFill>
          </a:ln>
        </p:spPr>
      </p:sp>
      <p:sp>
        <p:nvSpPr>
          <p:cNvPr id="14" name="Text 11">
            <a:extLst>
              <a:ext uri="{FF2B5EF4-FFF2-40B4-BE49-F238E27FC236}">
                <a16:creationId xmlns:a16="http://schemas.microsoft.com/office/drawing/2014/main" id="{2F35A7A3-3DCD-4C9C-860D-E91194CECD70}"/>
              </a:ext>
            </a:extLst>
          </p:cNvPr>
          <p:cNvSpPr>
            <a:spLocks noGrp="1"/>
          </p:cNvSpPr>
          <p:nvPr/>
        </p:nvSpPr>
        <p:spPr>
          <a:xfrm>
            <a:off x="3936492"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C_22</a:t>
            </a:r>
            <a:endParaRPr sz="1400"/>
          </a:p>
        </p:txBody>
      </p:sp>
      <p:sp>
        <p:nvSpPr>
          <p:cNvPr id="15" name="Text 12">
            <a:extLst>
              <a:ext uri="{FF2B5EF4-FFF2-40B4-BE49-F238E27FC236}">
                <a16:creationId xmlns:a16="http://schemas.microsoft.com/office/drawing/2014/main" id="{0A1EAC72-C1BB-41B0-9D8B-26F6C7017FBC}"/>
              </a:ext>
            </a:extLst>
          </p:cNvPr>
          <p:cNvSpPr>
            <a:spLocks noGrp="1"/>
          </p:cNvSpPr>
          <p:nvPr/>
        </p:nvSpPr>
        <p:spPr>
          <a:xfrm>
            <a:off x="4686300" y="2468880"/>
            <a:ext cx="640080" cy="1060704"/>
          </a:xfrm>
          <a:prstGeom prst="rect">
            <a:avLst/>
          </a:prstGeom>
          <a:noFill/>
          <a:ln w="0">
            <a:noFill/>
          </a:ln>
        </p:spPr>
        <p:txBody>
          <a:bodyPr wrap="square" lIns="0" tIns="0" rIns="0" bIns="0" anchor="ctr">
            <a:noAutofit/>
          </a:bodyPr>
          <a:lstStyle/>
          <a:p>
            <a:pPr marL="0" indent="0" algn="ctr">
              <a:buNone/>
              <a:defRPr sz="2200" i="0">
                <a:solidFill>
                  <a:srgbClr val="171717"/>
                </a:solidFill>
                <a:latin typeface="Malgun Gothic"/>
                <a:ea typeface="Malgun Gothic"/>
                <a:cs typeface="Malgun Gothic"/>
              </a:defRPr>
            </a:pPr>
            <a:r>
              <a:rPr sz="2200" b="1" i="0">
                <a:solidFill>
                  <a:srgbClr val="171717"/>
                </a:solidFill>
                <a:latin typeface="Malgun Gothic"/>
                <a:ea typeface="Malgun Gothic"/>
                <a:cs typeface="Malgun Gothic"/>
              </a:rPr>
              <a:t>=</a:t>
            </a:r>
            <a:endParaRPr sz="2200"/>
          </a:p>
        </p:txBody>
      </p:sp>
      <p:sp>
        <p:nvSpPr>
          <p:cNvPr id="16" name="Shape 13">
            <a:extLst>
              <a:ext uri="{FF2B5EF4-FFF2-40B4-BE49-F238E27FC236}">
                <a16:creationId xmlns:a16="http://schemas.microsoft.com/office/drawing/2014/main" id="{F6E59704-DDBB-47DB-940E-03ED0ED929D7}"/>
              </a:ext>
            </a:extLst>
          </p:cNvPr>
          <p:cNvSpPr>
            <a:spLocks noGrp="1"/>
          </p:cNvSpPr>
          <p:nvPr/>
        </p:nvSpPr>
        <p:spPr>
          <a:xfrm>
            <a:off x="5326380" y="2468880"/>
            <a:ext cx="749808" cy="512064"/>
          </a:xfrm>
          <a:prstGeom prst="roundRect">
            <a:avLst>
              <a:gd name="adj" fmla="val 12500"/>
            </a:avLst>
          </a:prstGeom>
          <a:solidFill>
            <a:srgbClr val="E9E9E9"/>
          </a:solidFill>
          <a:ln w="5715">
            <a:solidFill>
              <a:srgbClr val="D4D4D4"/>
            </a:solidFill>
          </a:ln>
        </p:spPr>
      </p:sp>
      <p:sp>
        <p:nvSpPr>
          <p:cNvPr id="17" name="Text 14">
            <a:extLst>
              <a:ext uri="{FF2B5EF4-FFF2-40B4-BE49-F238E27FC236}">
                <a16:creationId xmlns:a16="http://schemas.microsoft.com/office/drawing/2014/main" id="{9C16BDFE-F131-4841-A68F-FDA21677652A}"/>
              </a:ext>
            </a:extLst>
          </p:cNvPr>
          <p:cNvSpPr>
            <a:spLocks noGrp="1"/>
          </p:cNvSpPr>
          <p:nvPr/>
        </p:nvSpPr>
        <p:spPr>
          <a:xfrm>
            <a:off x="5326380"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A_11</a:t>
            </a:r>
            <a:endParaRPr sz="1400"/>
          </a:p>
        </p:txBody>
      </p:sp>
      <p:sp>
        <p:nvSpPr>
          <p:cNvPr id="18" name="Shape 15">
            <a:extLst>
              <a:ext uri="{FF2B5EF4-FFF2-40B4-BE49-F238E27FC236}">
                <a16:creationId xmlns:a16="http://schemas.microsoft.com/office/drawing/2014/main" id="{0F19265A-8CB9-4413-B65B-8A369D9E7782}"/>
              </a:ext>
            </a:extLst>
          </p:cNvPr>
          <p:cNvSpPr>
            <a:spLocks noGrp="1"/>
          </p:cNvSpPr>
          <p:nvPr/>
        </p:nvSpPr>
        <p:spPr>
          <a:xfrm>
            <a:off x="6112764" y="2468880"/>
            <a:ext cx="749808" cy="512064"/>
          </a:xfrm>
          <a:prstGeom prst="roundRect">
            <a:avLst>
              <a:gd name="adj" fmla="val 12500"/>
            </a:avLst>
          </a:prstGeom>
          <a:solidFill>
            <a:srgbClr val="E9E9E9"/>
          </a:solidFill>
          <a:ln w="5715">
            <a:solidFill>
              <a:srgbClr val="D4D4D4"/>
            </a:solidFill>
          </a:ln>
        </p:spPr>
      </p:sp>
      <p:sp>
        <p:nvSpPr>
          <p:cNvPr id="19" name="Text 16">
            <a:extLst>
              <a:ext uri="{FF2B5EF4-FFF2-40B4-BE49-F238E27FC236}">
                <a16:creationId xmlns:a16="http://schemas.microsoft.com/office/drawing/2014/main" id="{B6219512-B144-441E-BFB4-6F11CD0773A5}"/>
              </a:ext>
            </a:extLst>
          </p:cNvPr>
          <p:cNvSpPr>
            <a:spLocks noGrp="1"/>
          </p:cNvSpPr>
          <p:nvPr/>
        </p:nvSpPr>
        <p:spPr>
          <a:xfrm>
            <a:off x="6112764"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A_12</a:t>
            </a:r>
            <a:endParaRPr sz="1400"/>
          </a:p>
        </p:txBody>
      </p:sp>
      <p:sp>
        <p:nvSpPr>
          <p:cNvPr id="20" name="Shape 17">
            <a:extLst>
              <a:ext uri="{FF2B5EF4-FFF2-40B4-BE49-F238E27FC236}">
                <a16:creationId xmlns:a16="http://schemas.microsoft.com/office/drawing/2014/main" id="{65922CE3-779F-41E3-B0F9-C2CCEBCC9681}"/>
              </a:ext>
            </a:extLst>
          </p:cNvPr>
          <p:cNvSpPr>
            <a:spLocks noGrp="1"/>
          </p:cNvSpPr>
          <p:nvPr/>
        </p:nvSpPr>
        <p:spPr>
          <a:xfrm>
            <a:off x="5326380" y="3017520"/>
            <a:ext cx="749808" cy="512064"/>
          </a:xfrm>
          <a:prstGeom prst="roundRect">
            <a:avLst>
              <a:gd name="adj" fmla="val 12500"/>
            </a:avLst>
          </a:prstGeom>
          <a:solidFill>
            <a:srgbClr val="E9E9E9"/>
          </a:solidFill>
          <a:ln w="5715">
            <a:solidFill>
              <a:srgbClr val="D4D4D4"/>
            </a:solidFill>
          </a:ln>
        </p:spPr>
      </p:sp>
      <p:sp>
        <p:nvSpPr>
          <p:cNvPr id="21" name="Text 18">
            <a:extLst>
              <a:ext uri="{FF2B5EF4-FFF2-40B4-BE49-F238E27FC236}">
                <a16:creationId xmlns:a16="http://schemas.microsoft.com/office/drawing/2014/main" id="{CD440917-24BC-4F63-B1A6-3507D1D53598}"/>
              </a:ext>
            </a:extLst>
          </p:cNvPr>
          <p:cNvSpPr>
            <a:spLocks noGrp="1"/>
          </p:cNvSpPr>
          <p:nvPr/>
        </p:nvSpPr>
        <p:spPr>
          <a:xfrm>
            <a:off x="5326380"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A_21</a:t>
            </a:r>
            <a:endParaRPr sz="1400"/>
          </a:p>
        </p:txBody>
      </p:sp>
      <p:sp>
        <p:nvSpPr>
          <p:cNvPr id="22" name="Shape 19">
            <a:extLst>
              <a:ext uri="{FF2B5EF4-FFF2-40B4-BE49-F238E27FC236}">
                <a16:creationId xmlns:a16="http://schemas.microsoft.com/office/drawing/2014/main" id="{99F13EEF-59E2-443D-B758-8A0F9D9422CE}"/>
              </a:ext>
            </a:extLst>
          </p:cNvPr>
          <p:cNvSpPr>
            <a:spLocks noGrp="1"/>
          </p:cNvSpPr>
          <p:nvPr/>
        </p:nvSpPr>
        <p:spPr>
          <a:xfrm>
            <a:off x="6112764" y="3017520"/>
            <a:ext cx="749808" cy="512064"/>
          </a:xfrm>
          <a:prstGeom prst="roundRect">
            <a:avLst>
              <a:gd name="adj" fmla="val 12500"/>
            </a:avLst>
          </a:prstGeom>
          <a:solidFill>
            <a:srgbClr val="E9E9E9"/>
          </a:solidFill>
          <a:ln w="5715">
            <a:solidFill>
              <a:srgbClr val="D4D4D4"/>
            </a:solidFill>
          </a:ln>
        </p:spPr>
      </p:sp>
      <p:sp>
        <p:nvSpPr>
          <p:cNvPr id="23" name="Text 20">
            <a:extLst>
              <a:ext uri="{FF2B5EF4-FFF2-40B4-BE49-F238E27FC236}">
                <a16:creationId xmlns:a16="http://schemas.microsoft.com/office/drawing/2014/main" id="{12C36DC9-4CC0-42EB-9663-23F6B8257462}"/>
              </a:ext>
            </a:extLst>
          </p:cNvPr>
          <p:cNvSpPr>
            <a:spLocks noGrp="1"/>
          </p:cNvSpPr>
          <p:nvPr/>
        </p:nvSpPr>
        <p:spPr>
          <a:xfrm>
            <a:off x="6112764"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A_22</a:t>
            </a:r>
            <a:endParaRPr sz="1400"/>
          </a:p>
        </p:txBody>
      </p:sp>
      <p:sp>
        <p:nvSpPr>
          <p:cNvPr id="24" name="Text 21">
            <a:extLst>
              <a:ext uri="{FF2B5EF4-FFF2-40B4-BE49-F238E27FC236}">
                <a16:creationId xmlns:a16="http://schemas.microsoft.com/office/drawing/2014/main" id="{38C3E687-6D41-468F-99CD-AFB4A75FD302}"/>
              </a:ext>
            </a:extLst>
          </p:cNvPr>
          <p:cNvSpPr>
            <a:spLocks noGrp="1"/>
          </p:cNvSpPr>
          <p:nvPr/>
        </p:nvSpPr>
        <p:spPr>
          <a:xfrm>
            <a:off x="6862572" y="2468880"/>
            <a:ext cx="640080" cy="1060704"/>
          </a:xfrm>
          <a:prstGeom prst="rect">
            <a:avLst/>
          </a:prstGeom>
          <a:noFill/>
          <a:ln w="0">
            <a:noFill/>
          </a:ln>
        </p:spPr>
        <p:txBody>
          <a:bodyPr wrap="square" lIns="0" tIns="0" rIns="0" bIns="0" anchor="ctr">
            <a:noAutofit/>
          </a:bodyPr>
          <a:lstStyle/>
          <a:p>
            <a:pPr marL="0" indent="0" algn="ctr">
              <a:buNone/>
              <a:defRPr sz="2200" i="0">
                <a:solidFill>
                  <a:srgbClr val="171717"/>
                </a:solidFill>
                <a:latin typeface="Malgun Gothic"/>
                <a:ea typeface="Malgun Gothic"/>
                <a:cs typeface="Malgun Gothic"/>
              </a:defRPr>
            </a:pPr>
            <a:r>
              <a:rPr sz="2200" b="1" i="0">
                <a:solidFill>
                  <a:srgbClr val="171717"/>
                </a:solidFill>
                <a:latin typeface="Malgun Gothic"/>
                <a:ea typeface="Malgun Gothic"/>
                <a:cs typeface="Malgun Gothic"/>
              </a:rPr>
              <a:t>×</a:t>
            </a:r>
            <a:endParaRPr sz="2200"/>
          </a:p>
        </p:txBody>
      </p:sp>
      <p:sp>
        <p:nvSpPr>
          <p:cNvPr id="25" name="Shape 22">
            <a:extLst>
              <a:ext uri="{FF2B5EF4-FFF2-40B4-BE49-F238E27FC236}">
                <a16:creationId xmlns:a16="http://schemas.microsoft.com/office/drawing/2014/main" id="{871862CF-2138-4226-A3B1-E0A6F4BDA3A6}"/>
              </a:ext>
            </a:extLst>
          </p:cNvPr>
          <p:cNvSpPr>
            <a:spLocks noGrp="1"/>
          </p:cNvSpPr>
          <p:nvPr/>
        </p:nvSpPr>
        <p:spPr>
          <a:xfrm>
            <a:off x="7502652" y="2468880"/>
            <a:ext cx="749808" cy="512064"/>
          </a:xfrm>
          <a:prstGeom prst="roundRect">
            <a:avLst>
              <a:gd name="adj" fmla="val 12500"/>
            </a:avLst>
          </a:prstGeom>
          <a:solidFill>
            <a:srgbClr val="E9E9E9"/>
          </a:solidFill>
          <a:ln w="5715">
            <a:solidFill>
              <a:srgbClr val="D4D4D4"/>
            </a:solidFill>
          </a:ln>
        </p:spPr>
      </p:sp>
      <p:sp>
        <p:nvSpPr>
          <p:cNvPr id="26" name="Text 23">
            <a:extLst>
              <a:ext uri="{FF2B5EF4-FFF2-40B4-BE49-F238E27FC236}">
                <a16:creationId xmlns:a16="http://schemas.microsoft.com/office/drawing/2014/main" id="{312069C4-D261-4553-938B-96516FE32375}"/>
              </a:ext>
            </a:extLst>
          </p:cNvPr>
          <p:cNvSpPr>
            <a:spLocks noGrp="1"/>
          </p:cNvSpPr>
          <p:nvPr/>
        </p:nvSpPr>
        <p:spPr>
          <a:xfrm>
            <a:off x="7502652"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B_11</a:t>
            </a:r>
            <a:endParaRPr sz="1400"/>
          </a:p>
        </p:txBody>
      </p:sp>
      <p:sp>
        <p:nvSpPr>
          <p:cNvPr id="27" name="Shape 24">
            <a:extLst>
              <a:ext uri="{FF2B5EF4-FFF2-40B4-BE49-F238E27FC236}">
                <a16:creationId xmlns:a16="http://schemas.microsoft.com/office/drawing/2014/main" id="{4F71C6FC-FB0B-4D5F-98E5-3DC88F7DCA0D}"/>
              </a:ext>
            </a:extLst>
          </p:cNvPr>
          <p:cNvSpPr>
            <a:spLocks noGrp="1"/>
          </p:cNvSpPr>
          <p:nvPr/>
        </p:nvSpPr>
        <p:spPr>
          <a:xfrm>
            <a:off x="8289036" y="2468880"/>
            <a:ext cx="749808" cy="512064"/>
          </a:xfrm>
          <a:prstGeom prst="roundRect">
            <a:avLst>
              <a:gd name="adj" fmla="val 12500"/>
            </a:avLst>
          </a:prstGeom>
          <a:solidFill>
            <a:srgbClr val="E9E9E9"/>
          </a:solidFill>
          <a:ln w="5715">
            <a:solidFill>
              <a:srgbClr val="D4D4D4"/>
            </a:solidFill>
          </a:ln>
        </p:spPr>
      </p:sp>
      <p:sp>
        <p:nvSpPr>
          <p:cNvPr id="28" name="Text 25">
            <a:extLst>
              <a:ext uri="{FF2B5EF4-FFF2-40B4-BE49-F238E27FC236}">
                <a16:creationId xmlns:a16="http://schemas.microsoft.com/office/drawing/2014/main" id="{FF0977C4-E8A1-43C0-BCAC-710BDE8C8C59}"/>
              </a:ext>
            </a:extLst>
          </p:cNvPr>
          <p:cNvSpPr>
            <a:spLocks noGrp="1"/>
          </p:cNvSpPr>
          <p:nvPr/>
        </p:nvSpPr>
        <p:spPr>
          <a:xfrm>
            <a:off x="8289036"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B_12</a:t>
            </a:r>
            <a:endParaRPr sz="1400"/>
          </a:p>
        </p:txBody>
      </p:sp>
      <p:sp>
        <p:nvSpPr>
          <p:cNvPr id="29" name="Shape 26">
            <a:extLst>
              <a:ext uri="{FF2B5EF4-FFF2-40B4-BE49-F238E27FC236}">
                <a16:creationId xmlns:a16="http://schemas.microsoft.com/office/drawing/2014/main" id="{EF0ED150-5E86-4345-A085-CA28916541FD}"/>
              </a:ext>
            </a:extLst>
          </p:cNvPr>
          <p:cNvSpPr>
            <a:spLocks noGrp="1"/>
          </p:cNvSpPr>
          <p:nvPr/>
        </p:nvSpPr>
        <p:spPr>
          <a:xfrm>
            <a:off x="7502652" y="3017520"/>
            <a:ext cx="749808" cy="512064"/>
          </a:xfrm>
          <a:prstGeom prst="roundRect">
            <a:avLst>
              <a:gd name="adj" fmla="val 12500"/>
            </a:avLst>
          </a:prstGeom>
          <a:solidFill>
            <a:srgbClr val="E9E9E9"/>
          </a:solidFill>
          <a:ln w="5715">
            <a:solidFill>
              <a:srgbClr val="D4D4D4"/>
            </a:solidFill>
          </a:ln>
        </p:spPr>
      </p:sp>
      <p:sp>
        <p:nvSpPr>
          <p:cNvPr id="30" name="Text 27">
            <a:extLst>
              <a:ext uri="{FF2B5EF4-FFF2-40B4-BE49-F238E27FC236}">
                <a16:creationId xmlns:a16="http://schemas.microsoft.com/office/drawing/2014/main" id="{10B0C6C9-48D2-4716-8FC2-F23C8351F131}"/>
              </a:ext>
            </a:extLst>
          </p:cNvPr>
          <p:cNvSpPr>
            <a:spLocks noGrp="1"/>
          </p:cNvSpPr>
          <p:nvPr/>
        </p:nvSpPr>
        <p:spPr>
          <a:xfrm>
            <a:off x="7502652"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B_21</a:t>
            </a:r>
            <a:endParaRPr sz="1400"/>
          </a:p>
        </p:txBody>
      </p:sp>
      <p:sp>
        <p:nvSpPr>
          <p:cNvPr id="31" name="Shape 28">
            <a:extLst>
              <a:ext uri="{FF2B5EF4-FFF2-40B4-BE49-F238E27FC236}">
                <a16:creationId xmlns:a16="http://schemas.microsoft.com/office/drawing/2014/main" id="{81D9BDCA-1E23-44CA-AB67-0944488438FB}"/>
              </a:ext>
            </a:extLst>
          </p:cNvPr>
          <p:cNvSpPr>
            <a:spLocks noGrp="1"/>
          </p:cNvSpPr>
          <p:nvPr/>
        </p:nvSpPr>
        <p:spPr>
          <a:xfrm>
            <a:off x="8289036" y="3017520"/>
            <a:ext cx="749808" cy="512064"/>
          </a:xfrm>
          <a:prstGeom prst="roundRect">
            <a:avLst>
              <a:gd name="adj" fmla="val 12500"/>
            </a:avLst>
          </a:prstGeom>
          <a:solidFill>
            <a:srgbClr val="E9E9E9"/>
          </a:solidFill>
          <a:ln w="5715">
            <a:solidFill>
              <a:srgbClr val="D4D4D4"/>
            </a:solidFill>
          </a:ln>
        </p:spPr>
      </p:sp>
      <p:sp>
        <p:nvSpPr>
          <p:cNvPr id="32" name="Text 29">
            <a:extLst>
              <a:ext uri="{FF2B5EF4-FFF2-40B4-BE49-F238E27FC236}">
                <a16:creationId xmlns:a16="http://schemas.microsoft.com/office/drawing/2014/main" id="{CB34D296-7854-405C-91D7-FD6FED0ADD48}"/>
              </a:ext>
            </a:extLst>
          </p:cNvPr>
          <p:cNvSpPr>
            <a:spLocks noGrp="1"/>
          </p:cNvSpPr>
          <p:nvPr/>
        </p:nvSpPr>
        <p:spPr>
          <a:xfrm>
            <a:off x="8289036"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B_22</a:t>
            </a:r>
            <a:endParaRPr sz="1400"/>
          </a:p>
        </p:txBody>
      </p:sp>
      <p:sp>
        <p:nvSpPr>
          <p:cNvPr id="34" name="Text 31">
            <a:extLst>
              <a:ext uri="{FF2B5EF4-FFF2-40B4-BE49-F238E27FC236}">
                <a16:creationId xmlns:a16="http://schemas.microsoft.com/office/drawing/2014/main" id="{8029A869-1D82-4429-99FC-1A8D960E5EB2}"/>
              </a:ext>
            </a:extLst>
          </p:cNvPr>
          <p:cNvSpPr>
            <a:spLocks noGrp="1"/>
          </p:cNvSpPr>
          <p:nvPr/>
        </p:nvSpPr>
        <p:spPr>
          <a:xfrm>
            <a:off x="932688" y="3931920"/>
            <a:ext cx="10323576"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sz="1100" b="1" i="0">
                <a:solidFill>
                  <a:srgbClr val="171717"/>
                </a:solidFill>
                <a:latin typeface="Malgun Gothic"/>
                <a:ea typeface="Malgun Gothic"/>
                <a:cs typeface="Malgun Gothic"/>
              </a:rPr>
              <a:t>각 결과 블록은 두 번의 블록 곱셈을 필요로 한다 — 모두 합쳐 8번</a:t>
            </a:r>
            <a:endParaRPr sz="1100"/>
          </a:p>
        </p:txBody>
      </p:sp>
      <p:sp>
        <p:nvSpPr>
          <p:cNvPr id="35" name="Text 32">
            <a:extLst>
              <a:ext uri="{FF2B5EF4-FFF2-40B4-BE49-F238E27FC236}">
                <a16:creationId xmlns:a16="http://schemas.microsoft.com/office/drawing/2014/main" id="{FC5B938C-00D8-4C86-94F6-5892EB0AA7BF}"/>
              </a:ext>
            </a:extLst>
          </p:cNvPr>
          <p:cNvSpPr>
            <a:spLocks noGrp="1"/>
          </p:cNvSpPr>
          <p:nvPr/>
        </p:nvSpPr>
        <p:spPr>
          <a:xfrm>
            <a:off x="932688" y="4261104"/>
            <a:ext cx="5029200" cy="365760"/>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C_11 = A_11B_11 + A_12B_21</a:t>
            </a:r>
            <a:endParaRPr sz="1400"/>
          </a:p>
        </p:txBody>
      </p:sp>
      <p:sp>
        <p:nvSpPr>
          <p:cNvPr id="36" name="Text 33">
            <a:extLst>
              <a:ext uri="{FF2B5EF4-FFF2-40B4-BE49-F238E27FC236}">
                <a16:creationId xmlns:a16="http://schemas.microsoft.com/office/drawing/2014/main" id="{0F7F7C71-14E2-4351-AB61-883BE446CAA2}"/>
              </a:ext>
            </a:extLst>
          </p:cNvPr>
          <p:cNvSpPr>
            <a:spLocks noGrp="1"/>
          </p:cNvSpPr>
          <p:nvPr/>
        </p:nvSpPr>
        <p:spPr>
          <a:xfrm>
            <a:off x="6144768" y="4261104"/>
            <a:ext cx="5029200" cy="365760"/>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C_12 = A_11B_12 + A_12B_22</a:t>
            </a:r>
            <a:endParaRPr sz="1400"/>
          </a:p>
        </p:txBody>
      </p:sp>
      <p:sp>
        <p:nvSpPr>
          <p:cNvPr id="37" name="Text 34">
            <a:extLst>
              <a:ext uri="{FF2B5EF4-FFF2-40B4-BE49-F238E27FC236}">
                <a16:creationId xmlns:a16="http://schemas.microsoft.com/office/drawing/2014/main" id="{D1B4E335-DB2A-4303-82FE-528503FB48C0}"/>
              </a:ext>
            </a:extLst>
          </p:cNvPr>
          <p:cNvSpPr>
            <a:spLocks noGrp="1"/>
          </p:cNvSpPr>
          <p:nvPr/>
        </p:nvSpPr>
        <p:spPr>
          <a:xfrm>
            <a:off x="932688" y="4663440"/>
            <a:ext cx="5029200" cy="365760"/>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C_21 = A_21B_11 + A_22B_21</a:t>
            </a:r>
            <a:endParaRPr sz="1400"/>
          </a:p>
        </p:txBody>
      </p:sp>
      <p:sp>
        <p:nvSpPr>
          <p:cNvPr id="38" name="Text 35">
            <a:extLst>
              <a:ext uri="{FF2B5EF4-FFF2-40B4-BE49-F238E27FC236}">
                <a16:creationId xmlns:a16="http://schemas.microsoft.com/office/drawing/2014/main" id="{A20B58D8-5A59-401B-8E4D-BB2E0246672D}"/>
              </a:ext>
            </a:extLst>
          </p:cNvPr>
          <p:cNvSpPr>
            <a:spLocks noGrp="1"/>
          </p:cNvSpPr>
          <p:nvPr/>
        </p:nvSpPr>
        <p:spPr>
          <a:xfrm>
            <a:off x="6144768" y="4663440"/>
            <a:ext cx="5029200" cy="365760"/>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C_22 = A_21B_12 + A_22B_22</a:t>
            </a:r>
            <a:endParaRPr sz="1400"/>
          </a:p>
        </p:txBody>
      </p:sp>
      <p:sp>
        <p:nvSpPr>
          <p:cNvPr id="42" name="Text 38">
            <a:extLst>
              <a:ext uri="{FF2B5EF4-FFF2-40B4-BE49-F238E27FC236}">
                <a16:creationId xmlns:a16="http://schemas.microsoft.com/office/drawing/2014/main" id="{BF207015-E5C9-47DD-8AAA-86EBE03224FB}"/>
              </a:ext>
            </a:extLst>
          </p:cNvPr>
          <p:cNvSpPr>
            <a:spLocks noGrp="1"/>
          </p:cNvSpPr>
          <p:nvPr/>
        </p:nvSpPr>
        <p:spPr>
          <a:xfrm>
            <a:off x="1517904" y="5468112"/>
            <a:ext cx="9756648" cy="292608"/>
          </a:xfrm>
          <a:prstGeom prst="rect">
            <a:avLst/>
          </a:prstGeom>
          <a:noFill/>
          <a:ln w="0">
            <a:noFill/>
          </a:ln>
        </p:spPr>
        <p:txBody>
          <a:bodyPr wrap="square" lIns="0" tIns="0" rIns="0" bIns="0" anchor="ctr">
            <a:noAutofit/>
          </a:bodyPr>
          <a:lstStyle/>
          <a:p>
            <a:pPr marL="0" indent="0" algn="l">
              <a:buNone/>
              <a:defRPr sz="1320" i="0">
                <a:solidFill>
                  <a:srgbClr val="171717"/>
                </a:solidFill>
                <a:latin typeface="Malgun Gothic"/>
                <a:ea typeface="Malgun Gothic"/>
                <a:cs typeface="Malgun Gothic"/>
              </a:defRPr>
            </a:pPr>
            <a:r>
              <a:rPr sz="1320" b="1" i="0">
                <a:solidFill>
                  <a:srgbClr val="171717"/>
                </a:solidFill>
                <a:latin typeface="Malgun Gothic"/>
                <a:ea typeface="Malgun Gothic"/>
                <a:cs typeface="Malgun Gothic"/>
              </a:rPr>
              <a:t>아무런 개선이 없다 — T(n) = 8T(n/2) + O(n²) ⇒ Θ(n³)</a:t>
            </a:r>
            <a:endParaRPr sz="1320"/>
          </a:p>
        </p:txBody>
      </p:sp>
      <p:sp>
        <p:nvSpPr>
          <p:cNvPr id="43" name="Text 39">
            <a:extLst>
              <a:ext uri="{FF2B5EF4-FFF2-40B4-BE49-F238E27FC236}">
                <a16:creationId xmlns:a16="http://schemas.microsoft.com/office/drawing/2014/main" id="{0E610C2A-574F-49B9-A992-3DA068D54575}"/>
              </a:ext>
            </a:extLst>
          </p:cNvPr>
          <p:cNvSpPr>
            <a:spLocks noGrp="1"/>
          </p:cNvSpPr>
          <p:nvPr/>
        </p:nvSpPr>
        <p:spPr>
          <a:xfrm>
            <a:off x="1517904" y="5815584"/>
            <a:ext cx="9756648" cy="146304"/>
          </a:xfrm>
          <a:prstGeom prst="rect">
            <a:avLst/>
          </a:prstGeom>
          <a:noFill/>
          <a:ln w="0">
            <a:noFill/>
          </a:ln>
        </p:spPr>
        <p:txBody>
          <a:bodyPr wrap="square" lIns="0" tIns="0" rIns="0" bIns="0" anchor="t">
            <a:noAutofit/>
          </a:bodyPr>
          <a:lstStyle/>
          <a:p>
            <a:pPr marL="0" indent="0" algn="l">
              <a:lnSpc>
                <a:spcPct val="132000"/>
              </a:lnSpc>
              <a:buNone/>
              <a:defRPr sz="1180" i="0">
                <a:solidFill>
                  <a:srgbClr val="606060"/>
                </a:solidFill>
                <a:latin typeface="Malgun Gothic"/>
                <a:ea typeface="Malgun Gothic"/>
                <a:cs typeface="Malgun Gothic"/>
              </a:defRPr>
            </a:pPr>
            <a:r>
              <a:rPr sz="1180" i="0">
                <a:solidFill>
                  <a:srgbClr val="606060"/>
                </a:solidFill>
                <a:latin typeface="Malgun Gothic"/>
                <a:ea typeface="Malgun Gothic"/>
                <a:cs typeface="Malgun Gothic"/>
              </a:rPr>
              <a:t>블록 곱셈이 8번, 블록 덧셈이 O(n²). 마스터 정리 Case 1에 의해 n^log₂8 = n³ — 원래 알고리즘과 똑같다.</a:t>
            </a:r>
            <a:endParaRPr sz="1180"/>
          </a:p>
        </p:txBody>
      </p:sp>
      <p:sp>
        <p:nvSpPr>
          <p:cNvPr id="45" name="직사각형 44">
            <a:extLst>
              <a:ext uri="{FF2B5EF4-FFF2-40B4-BE49-F238E27FC236}">
                <a16:creationId xmlns:a16="http://schemas.microsoft.com/office/drawing/2014/main" id="{8E0BDC29-FCA8-4D09-AC64-F186564211BC}"/>
              </a:ext>
            </a:extLst>
          </p:cNvPr>
          <p:cNvSpPr>
            <a:spLocks noGrp="1"/>
          </p:cNvSpPr>
          <p:nvPr/>
        </p:nvSpPr>
        <p:spPr>
          <a:xfrm>
            <a:off x="658368" y="3840480"/>
            <a:ext cx="10872216" cy="9525"/>
          </a:xfrm>
          <a:prstGeom prst="rect">
            <a:avLst/>
          </a:prstGeom>
          <a:solidFill>
            <a:srgbClr val="D4D4D4"/>
          </a:solidFill>
          <a:ln w="0">
            <a:noFill/>
          </a:ln>
        </p:spPr>
      </p:sp>
      <p:sp>
        <p:nvSpPr>
          <p:cNvPr id="46" name="직사각형 45">
            <a:extLst>
              <a:ext uri="{FF2B5EF4-FFF2-40B4-BE49-F238E27FC236}">
                <a16:creationId xmlns:a16="http://schemas.microsoft.com/office/drawing/2014/main" id="{52CCEA22-7769-441A-922C-BADEB9E21178}"/>
              </a:ext>
            </a:extLst>
          </p:cNvPr>
          <p:cNvSpPr>
            <a:spLocks noGrp="1"/>
          </p:cNvSpPr>
          <p:nvPr/>
        </p:nvSpPr>
        <p:spPr>
          <a:xfrm>
            <a:off x="658368" y="5285232"/>
            <a:ext cx="10872216" cy="9525"/>
          </a:xfrm>
          <a:prstGeom prst="rect">
            <a:avLst/>
          </a:prstGeom>
          <a:solidFill>
            <a:srgbClr val="D4D4D4"/>
          </a:solidFill>
          <a:ln w="0">
            <a:noFill/>
          </a:ln>
        </p:spPr>
      </p:sp>
      <p:sp>
        <p:nvSpPr>
          <p:cNvPr id="47" name="직사각형 46">
            <a:extLst>
              <a:ext uri="{FF2B5EF4-FFF2-40B4-BE49-F238E27FC236}">
                <a16:creationId xmlns:a16="http://schemas.microsoft.com/office/drawing/2014/main" id="{AF26AB26-246E-4E50-A66B-FE152E4095FA}"/>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4.9  </a:t>
            </a:r>
            <a:r>
              <a:rPr lang="ko-KR" altLang="en-US" sz="1050" b="1" i="0">
                <a:solidFill>
                  <a:srgbClr val="606060"/>
                </a:solidFill>
                <a:latin typeface="Malgun Gothic"/>
                <a:ea typeface="Malgun Gothic"/>
                <a:cs typeface="Malgun Gothic"/>
              </a:rPr>
              <a:t>스트라센 알고리즘</a:t>
            </a:r>
            <a:endParaRPr sz="1050" b="1" i="0">
              <a:solidFill>
                <a:srgbClr val="606060"/>
              </a:solidFill>
              <a:latin typeface="Malgun Gothic"/>
              <a:ea typeface="Malgun Gothic"/>
              <a:cs typeface="Malgun Gothic"/>
            </a:endParaRPr>
          </a:p>
        </p:txBody>
      </p:sp>
      <p:sp>
        <p:nvSpPr>
          <p:cNvPr id="48" name="직사각형 47">
            <a:extLst>
              <a:ext uri="{FF2B5EF4-FFF2-40B4-BE49-F238E27FC236}">
                <a16:creationId xmlns:a16="http://schemas.microsoft.com/office/drawing/2014/main" id="{65202F47-95B6-4AB7-9127-7430B7E8558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9" name="직사각형 48">
            <a:extLst>
              <a:ext uri="{FF2B5EF4-FFF2-40B4-BE49-F238E27FC236}">
                <a16:creationId xmlns:a16="http://schemas.microsoft.com/office/drawing/2014/main" id="{EDCD138B-ACC6-4738-A3AE-CC32C3045FF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정복의 시도 — 블록 행렬</a:t>
            </a:r>
          </a:p>
        </p:txBody>
      </p:sp>
      <p:sp>
        <p:nvSpPr>
          <p:cNvPr id="50" name="직사각형 49">
            <a:extLst>
              <a:ext uri="{FF2B5EF4-FFF2-40B4-BE49-F238E27FC236}">
                <a16:creationId xmlns:a16="http://schemas.microsoft.com/office/drawing/2014/main" id="{3E38EB8A-196E-4527-8D50-399F97F58879}"/>
              </a:ext>
            </a:extLst>
          </p:cNvPr>
          <p:cNvSpPr>
            <a:spLocks noGrp="1"/>
          </p:cNvSpPr>
          <p:nvPr/>
        </p:nvSpPr>
        <p:spPr>
          <a:xfrm>
            <a:off x="609600" y="1381125"/>
            <a:ext cx="10972800" cy="19050"/>
          </a:xfrm>
          <a:prstGeom prst="rect">
            <a:avLst/>
          </a:prstGeom>
          <a:solidFill>
            <a:srgbClr val="171717"/>
          </a:solidFill>
          <a:ln w="0">
            <a:noFill/>
          </a:ln>
        </p:spPr>
      </p:sp>
      <p:sp>
        <p:nvSpPr>
          <p:cNvPr id="51" name="직사각형 50">
            <a:extLst>
              <a:ext uri="{FF2B5EF4-FFF2-40B4-BE49-F238E27FC236}">
                <a16:creationId xmlns:a16="http://schemas.microsoft.com/office/drawing/2014/main" id="{42556D03-98AC-4EA1-860A-E1C5885EEBF0}"/>
              </a:ext>
            </a:extLst>
          </p:cNvPr>
          <p:cNvSpPr>
            <a:spLocks noGrp="1"/>
          </p:cNvSpPr>
          <p:nvPr/>
        </p:nvSpPr>
        <p:spPr>
          <a:xfrm>
            <a:off x="609600" y="6438900"/>
            <a:ext cx="10972800" cy="9525"/>
          </a:xfrm>
          <a:prstGeom prst="rect">
            <a:avLst/>
          </a:prstGeom>
          <a:solidFill>
            <a:srgbClr val="D4D4D4"/>
          </a:solidFill>
          <a:ln w="0">
            <a:noFill/>
          </a:ln>
        </p:spPr>
      </p:sp>
      <p:sp>
        <p:nvSpPr>
          <p:cNvPr id="52" name="직사각형 51">
            <a:extLst>
              <a:ext uri="{FF2B5EF4-FFF2-40B4-BE49-F238E27FC236}">
                <a16:creationId xmlns:a16="http://schemas.microsoft.com/office/drawing/2014/main" id="{7055F8FE-1FA8-4492-9141-FD1857D84C95}"/>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3" name="직사각형 52">
            <a:extLst>
              <a:ext uri="{FF2B5EF4-FFF2-40B4-BE49-F238E27FC236}">
                <a16:creationId xmlns:a16="http://schemas.microsoft.com/office/drawing/2014/main" id="{FC087588-16AC-42D7-97E1-67562199A8E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71</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51074882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83BD8184-AB5B-4C56-B2E3-7D6F4599BF9A}"/>
              </a:ext>
            </a:extLst>
          </p:cNvPr>
          <p:cNvSpPr>
            <a:spLocks noGrp="1"/>
          </p:cNvSpPr>
          <p:nvPr/>
        </p:nvSpPr>
        <p:spPr>
          <a:xfrm>
            <a:off x="658368" y="1700784"/>
            <a:ext cx="10872216" cy="566928"/>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1969년, 독일의 수학자 폴커 스트라센(Volker Strassen)은 이 견고해 보이는 벽을 허무는 방법을 찾아냈다. 카라츠바가 그랬던 것처럼, 행렬의 덧셈과 뺄셈을 조금 복잡하게 조합하면 곱셈 횟수를 8번에서 7번으로 줄일 수 있음을 발견했다.</a:t>
            </a:r>
            <a:endParaRPr sz="1300"/>
          </a:p>
        </p:txBody>
      </p:sp>
      <p:sp>
        <p:nvSpPr>
          <p:cNvPr id="8" name="Text 5">
            <a:extLst>
              <a:ext uri="{FF2B5EF4-FFF2-40B4-BE49-F238E27FC236}">
                <a16:creationId xmlns:a16="http://schemas.microsoft.com/office/drawing/2014/main" id="{C28FB8A7-BF3F-4099-AFE5-F86D023673E8}"/>
              </a:ext>
            </a:extLst>
          </p:cNvPr>
          <p:cNvSpPr>
            <a:spLocks noGrp="1"/>
          </p:cNvSpPr>
          <p:nvPr/>
        </p:nvSpPr>
        <p:spPr>
          <a:xfrm>
            <a:off x="914400" y="2523744"/>
            <a:ext cx="5212080" cy="310896"/>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7번의 블록 곱셈</a:t>
            </a:r>
            <a:endParaRPr sz="1300"/>
          </a:p>
        </p:txBody>
      </p:sp>
      <p:sp>
        <p:nvSpPr>
          <p:cNvPr id="9" name="Text 6">
            <a:extLst>
              <a:ext uri="{FF2B5EF4-FFF2-40B4-BE49-F238E27FC236}">
                <a16:creationId xmlns:a16="http://schemas.microsoft.com/office/drawing/2014/main" id="{5AE92130-AFB9-45FD-9AC2-2FEAD885F3E1}"/>
              </a:ext>
            </a:extLst>
          </p:cNvPr>
          <p:cNvSpPr>
            <a:spLocks noGrp="1"/>
          </p:cNvSpPr>
          <p:nvPr/>
        </p:nvSpPr>
        <p:spPr>
          <a:xfrm>
            <a:off x="914400" y="2926080"/>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M_1 = (A_11 + A_22)(B_11 + B_22)</a:t>
            </a:r>
            <a:endParaRPr sz="1300"/>
          </a:p>
        </p:txBody>
      </p:sp>
      <p:sp>
        <p:nvSpPr>
          <p:cNvPr id="10" name="Text 7">
            <a:extLst>
              <a:ext uri="{FF2B5EF4-FFF2-40B4-BE49-F238E27FC236}">
                <a16:creationId xmlns:a16="http://schemas.microsoft.com/office/drawing/2014/main" id="{244DFAE0-9A24-4BC6-BE2B-10F6B0657E76}"/>
              </a:ext>
            </a:extLst>
          </p:cNvPr>
          <p:cNvSpPr>
            <a:spLocks noGrp="1"/>
          </p:cNvSpPr>
          <p:nvPr/>
        </p:nvSpPr>
        <p:spPr>
          <a:xfrm>
            <a:off x="914400" y="3355848"/>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M_2 = (A_21 + A_22) B_11</a:t>
            </a:r>
            <a:endParaRPr sz="1300"/>
          </a:p>
        </p:txBody>
      </p:sp>
      <p:sp>
        <p:nvSpPr>
          <p:cNvPr id="11" name="Text 8">
            <a:extLst>
              <a:ext uri="{FF2B5EF4-FFF2-40B4-BE49-F238E27FC236}">
                <a16:creationId xmlns:a16="http://schemas.microsoft.com/office/drawing/2014/main" id="{F0066409-46A3-4C40-9F40-705B8CC27DDC}"/>
              </a:ext>
            </a:extLst>
          </p:cNvPr>
          <p:cNvSpPr>
            <a:spLocks noGrp="1"/>
          </p:cNvSpPr>
          <p:nvPr/>
        </p:nvSpPr>
        <p:spPr>
          <a:xfrm>
            <a:off x="914400" y="3785616"/>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M_3 = A_11(B_12 − B_22)</a:t>
            </a:r>
            <a:endParaRPr sz="1300"/>
          </a:p>
        </p:txBody>
      </p:sp>
      <p:sp>
        <p:nvSpPr>
          <p:cNvPr id="12" name="Text 9">
            <a:extLst>
              <a:ext uri="{FF2B5EF4-FFF2-40B4-BE49-F238E27FC236}">
                <a16:creationId xmlns:a16="http://schemas.microsoft.com/office/drawing/2014/main" id="{DFEE4518-6566-4CA2-83A5-38349BEC3A70}"/>
              </a:ext>
            </a:extLst>
          </p:cNvPr>
          <p:cNvSpPr>
            <a:spLocks noGrp="1"/>
          </p:cNvSpPr>
          <p:nvPr/>
        </p:nvSpPr>
        <p:spPr>
          <a:xfrm>
            <a:off x="914400" y="4215384"/>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M_4 = A_22(B_21 − B_11)</a:t>
            </a:r>
            <a:endParaRPr sz="1300"/>
          </a:p>
        </p:txBody>
      </p:sp>
      <p:sp>
        <p:nvSpPr>
          <p:cNvPr id="13" name="Text 10">
            <a:extLst>
              <a:ext uri="{FF2B5EF4-FFF2-40B4-BE49-F238E27FC236}">
                <a16:creationId xmlns:a16="http://schemas.microsoft.com/office/drawing/2014/main" id="{1389857C-81E2-4FED-8BCD-77D6A5393DE7}"/>
              </a:ext>
            </a:extLst>
          </p:cNvPr>
          <p:cNvSpPr>
            <a:spLocks noGrp="1"/>
          </p:cNvSpPr>
          <p:nvPr/>
        </p:nvSpPr>
        <p:spPr>
          <a:xfrm>
            <a:off x="914400" y="4645152"/>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M_5 = (A_11 + A_12) B_22</a:t>
            </a:r>
            <a:endParaRPr sz="1300"/>
          </a:p>
        </p:txBody>
      </p:sp>
      <p:sp>
        <p:nvSpPr>
          <p:cNvPr id="14" name="Text 11">
            <a:extLst>
              <a:ext uri="{FF2B5EF4-FFF2-40B4-BE49-F238E27FC236}">
                <a16:creationId xmlns:a16="http://schemas.microsoft.com/office/drawing/2014/main" id="{6EA29B58-1282-4B03-A3AD-D485FD3C70C3}"/>
              </a:ext>
            </a:extLst>
          </p:cNvPr>
          <p:cNvSpPr>
            <a:spLocks noGrp="1"/>
          </p:cNvSpPr>
          <p:nvPr/>
        </p:nvSpPr>
        <p:spPr>
          <a:xfrm>
            <a:off x="914400" y="5074920"/>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M_6 = (A_21 − A_11)(B_11 + B_12)</a:t>
            </a:r>
            <a:endParaRPr sz="1300"/>
          </a:p>
        </p:txBody>
      </p:sp>
      <p:sp>
        <p:nvSpPr>
          <p:cNvPr id="15" name="Text 12">
            <a:extLst>
              <a:ext uri="{FF2B5EF4-FFF2-40B4-BE49-F238E27FC236}">
                <a16:creationId xmlns:a16="http://schemas.microsoft.com/office/drawing/2014/main" id="{EF63D745-F7DC-4908-B299-623FFF284FE0}"/>
              </a:ext>
            </a:extLst>
          </p:cNvPr>
          <p:cNvSpPr>
            <a:spLocks noGrp="1"/>
          </p:cNvSpPr>
          <p:nvPr/>
        </p:nvSpPr>
        <p:spPr>
          <a:xfrm>
            <a:off x="914400" y="5504688"/>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M_7 = (A_12 − A_22)(B_21 + B_22)</a:t>
            </a:r>
            <a:endParaRPr sz="1300"/>
          </a:p>
        </p:txBody>
      </p:sp>
      <p:sp>
        <p:nvSpPr>
          <p:cNvPr id="17" name="Text 14">
            <a:extLst>
              <a:ext uri="{FF2B5EF4-FFF2-40B4-BE49-F238E27FC236}">
                <a16:creationId xmlns:a16="http://schemas.microsoft.com/office/drawing/2014/main" id="{9D1F4B01-7DAA-4A5E-9AE6-08447208E524}"/>
              </a:ext>
            </a:extLst>
          </p:cNvPr>
          <p:cNvSpPr>
            <a:spLocks noGrp="1"/>
          </p:cNvSpPr>
          <p:nvPr/>
        </p:nvSpPr>
        <p:spPr>
          <a:xfrm>
            <a:off x="7004304" y="2505456"/>
            <a:ext cx="4297680" cy="292608"/>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결과 블록 조립 (combine)</a:t>
            </a:r>
            <a:endParaRPr sz="1150"/>
          </a:p>
        </p:txBody>
      </p:sp>
      <p:sp>
        <p:nvSpPr>
          <p:cNvPr id="18" name="Text 15">
            <a:extLst>
              <a:ext uri="{FF2B5EF4-FFF2-40B4-BE49-F238E27FC236}">
                <a16:creationId xmlns:a16="http://schemas.microsoft.com/office/drawing/2014/main" id="{4D9569B1-A19A-4968-9718-F50E08F6004C}"/>
              </a:ext>
            </a:extLst>
          </p:cNvPr>
          <p:cNvSpPr>
            <a:spLocks noGrp="1"/>
          </p:cNvSpPr>
          <p:nvPr/>
        </p:nvSpPr>
        <p:spPr>
          <a:xfrm>
            <a:off x="6967728" y="2834640"/>
            <a:ext cx="4379976"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C_11 = M_1 + M_4 − M_5 + M_7</a:t>
            </a:r>
            <a:endParaRPr sz="1300"/>
          </a:p>
        </p:txBody>
      </p:sp>
      <p:sp>
        <p:nvSpPr>
          <p:cNvPr id="19" name="Text 16">
            <a:extLst>
              <a:ext uri="{FF2B5EF4-FFF2-40B4-BE49-F238E27FC236}">
                <a16:creationId xmlns:a16="http://schemas.microsoft.com/office/drawing/2014/main" id="{BE498E6B-D0C0-42F2-A2E1-30531BBEE192}"/>
              </a:ext>
            </a:extLst>
          </p:cNvPr>
          <p:cNvSpPr>
            <a:spLocks noGrp="1"/>
          </p:cNvSpPr>
          <p:nvPr/>
        </p:nvSpPr>
        <p:spPr>
          <a:xfrm>
            <a:off x="6967728" y="3255264"/>
            <a:ext cx="4379976"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C_12 = M_3 + M_5</a:t>
            </a:r>
            <a:endParaRPr sz="1300"/>
          </a:p>
        </p:txBody>
      </p:sp>
      <p:sp>
        <p:nvSpPr>
          <p:cNvPr id="20" name="Text 17">
            <a:extLst>
              <a:ext uri="{FF2B5EF4-FFF2-40B4-BE49-F238E27FC236}">
                <a16:creationId xmlns:a16="http://schemas.microsoft.com/office/drawing/2014/main" id="{723A5BF7-3C9B-4B4A-8DC8-FDEC09AA095C}"/>
              </a:ext>
            </a:extLst>
          </p:cNvPr>
          <p:cNvSpPr>
            <a:spLocks noGrp="1"/>
          </p:cNvSpPr>
          <p:nvPr/>
        </p:nvSpPr>
        <p:spPr>
          <a:xfrm>
            <a:off x="6967728" y="3675888"/>
            <a:ext cx="4379976"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C_21 = M_2 + M_4</a:t>
            </a:r>
            <a:endParaRPr sz="1300"/>
          </a:p>
        </p:txBody>
      </p:sp>
      <p:sp>
        <p:nvSpPr>
          <p:cNvPr id="21" name="Text 18">
            <a:extLst>
              <a:ext uri="{FF2B5EF4-FFF2-40B4-BE49-F238E27FC236}">
                <a16:creationId xmlns:a16="http://schemas.microsoft.com/office/drawing/2014/main" id="{8F7128FD-835A-4FB1-B017-27BE8CC79A0A}"/>
              </a:ext>
            </a:extLst>
          </p:cNvPr>
          <p:cNvSpPr>
            <a:spLocks noGrp="1"/>
          </p:cNvSpPr>
          <p:nvPr/>
        </p:nvSpPr>
        <p:spPr>
          <a:xfrm>
            <a:off x="6967728" y="4096512"/>
            <a:ext cx="4379976"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C_22 = M_1 − M_2 + M_3 + M_6</a:t>
            </a:r>
            <a:endParaRPr sz="1300"/>
          </a:p>
        </p:txBody>
      </p:sp>
      <p:sp>
        <p:nvSpPr>
          <p:cNvPr id="25" name="Text 21">
            <a:extLst>
              <a:ext uri="{FF2B5EF4-FFF2-40B4-BE49-F238E27FC236}">
                <a16:creationId xmlns:a16="http://schemas.microsoft.com/office/drawing/2014/main" id="{0C651907-4459-449A-B592-9FEA10DEAB9A}"/>
              </a:ext>
            </a:extLst>
          </p:cNvPr>
          <p:cNvSpPr>
            <a:spLocks noGrp="1"/>
          </p:cNvSpPr>
          <p:nvPr/>
        </p:nvSpPr>
        <p:spPr>
          <a:xfrm>
            <a:off x="7644384" y="4882896"/>
            <a:ext cx="3630168" cy="292608"/>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곱셈 1번을 덧셈 여러 번과 맞바꾼다</a:t>
            </a:r>
            <a:endParaRPr sz="1280"/>
          </a:p>
        </p:txBody>
      </p:sp>
      <p:sp>
        <p:nvSpPr>
          <p:cNvPr id="26" name="Text 22">
            <a:extLst>
              <a:ext uri="{FF2B5EF4-FFF2-40B4-BE49-F238E27FC236}">
                <a16:creationId xmlns:a16="http://schemas.microsoft.com/office/drawing/2014/main" id="{7F446843-53B6-42E5-8A32-88B5E89F0058}"/>
              </a:ext>
            </a:extLst>
          </p:cNvPr>
          <p:cNvSpPr>
            <a:spLocks noGrp="1"/>
          </p:cNvSpPr>
          <p:nvPr/>
        </p:nvSpPr>
        <p:spPr>
          <a:xfrm>
            <a:off x="7644384" y="5230368"/>
            <a:ext cx="3630168" cy="731520"/>
          </a:xfrm>
          <a:prstGeom prst="rect">
            <a:avLst/>
          </a:prstGeom>
          <a:noFill/>
          <a:ln w="0">
            <a:noFill/>
          </a:ln>
        </p:spPr>
        <p:txBody>
          <a:bodyPr wrap="square" lIns="0" tIns="0" rIns="0" bIns="0" anchor="t">
            <a:noAutofit/>
          </a:bodyPr>
          <a:lstStyle/>
          <a:p>
            <a:pPr marL="0" indent="0" algn="l">
              <a:lnSpc>
                <a:spcPct val="132000"/>
              </a:lnSpc>
              <a:buNone/>
              <a:defRPr sz="1150" i="0">
                <a:solidFill>
                  <a:srgbClr val="606060"/>
                </a:solidFill>
                <a:latin typeface="Malgun Gothic"/>
                <a:ea typeface="Malgun Gothic"/>
                <a:cs typeface="Malgun Gothic"/>
              </a:defRPr>
            </a:pPr>
            <a:r>
              <a:rPr sz="1150" i="0">
                <a:solidFill>
                  <a:srgbClr val="606060"/>
                </a:solidFill>
                <a:latin typeface="Malgun Gothic"/>
                <a:ea typeface="Malgun Gothic"/>
                <a:cs typeface="Malgun Gothic"/>
              </a:rPr>
              <a:t>덧셈·뺄셈은 O(n²)에 불과하지만, 곱셈은 재귀 호출이다. 재귀 호출 횟수 a를 줄이는 것이 압도적으로 이득이다.</a:t>
            </a:r>
            <a:endParaRPr sz="1150"/>
          </a:p>
        </p:txBody>
      </p:sp>
      <p:sp>
        <p:nvSpPr>
          <p:cNvPr id="28" name="직사각형 27">
            <a:extLst>
              <a:ext uri="{FF2B5EF4-FFF2-40B4-BE49-F238E27FC236}">
                <a16:creationId xmlns:a16="http://schemas.microsoft.com/office/drawing/2014/main" id="{BC567392-71F5-46B7-BDCA-9A1B2D55831B}"/>
              </a:ext>
            </a:extLst>
          </p:cNvPr>
          <p:cNvSpPr>
            <a:spLocks noGrp="1"/>
          </p:cNvSpPr>
          <p:nvPr/>
        </p:nvSpPr>
        <p:spPr>
          <a:xfrm>
            <a:off x="6784848" y="4700016"/>
            <a:ext cx="4745736" cy="9525"/>
          </a:xfrm>
          <a:prstGeom prst="rect">
            <a:avLst/>
          </a:prstGeom>
          <a:solidFill>
            <a:srgbClr val="D4D4D4"/>
          </a:solidFill>
          <a:ln w="0">
            <a:noFill/>
          </a:ln>
        </p:spPr>
      </p:sp>
      <p:sp>
        <p:nvSpPr>
          <p:cNvPr id="29" name="직사각형 28">
            <a:extLst>
              <a:ext uri="{FF2B5EF4-FFF2-40B4-BE49-F238E27FC236}">
                <a16:creationId xmlns:a16="http://schemas.microsoft.com/office/drawing/2014/main" id="{46D11529-C837-4C23-9319-41B4B6F8CA2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4.9  </a:t>
            </a:r>
            <a:r>
              <a:rPr lang="ko-KR" altLang="en-US" sz="1050" b="1" i="0">
                <a:solidFill>
                  <a:srgbClr val="606060"/>
                </a:solidFill>
                <a:latin typeface="Malgun Gothic"/>
                <a:ea typeface="Malgun Gothic"/>
                <a:cs typeface="Malgun Gothic"/>
              </a:rPr>
              <a:t>스트라센 알고리즘</a:t>
            </a:r>
            <a:endParaRPr sz="1050" b="1" i="0">
              <a:solidFill>
                <a:srgbClr val="606060"/>
              </a:solidFill>
              <a:latin typeface="Malgun Gothic"/>
              <a:ea typeface="Malgun Gothic"/>
              <a:cs typeface="Malgun Gothic"/>
            </a:endParaRPr>
          </a:p>
        </p:txBody>
      </p:sp>
      <p:sp>
        <p:nvSpPr>
          <p:cNvPr id="30" name="직사각형 29">
            <a:extLst>
              <a:ext uri="{FF2B5EF4-FFF2-40B4-BE49-F238E27FC236}">
                <a16:creationId xmlns:a16="http://schemas.microsoft.com/office/drawing/2014/main" id="{CBAB3D3C-B9E9-4C76-AD62-9D6DA7937B5E}"/>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1" name="직사각형 30">
            <a:extLst>
              <a:ext uri="{FF2B5EF4-FFF2-40B4-BE49-F238E27FC236}">
                <a16:creationId xmlns:a16="http://schemas.microsoft.com/office/drawing/2014/main" id="{81309B74-E143-46DE-8BEE-7BD02546EB2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스트라센의 발견 — "8번이 아니라 7번이면 된다"</a:t>
            </a:r>
          </a:p>
        </p:txBody>
      </p:sp>
      <p:sp>
        <p:nvSpPr>
          <p:cNvPr id="32" name="직사각형 31">
            <a:extLst>
              <a:ext uri="{FF2B5EF4-FFF2-40B4-BE49-F238E27FC236}">
                <a16:creationId xmlns:a16="http://schemas.microsoft.com/office/drawing/2014/main" id="{41A77CA2-95C3-4CBE-860F-844964FF920E}"/>
              </a:ext>
            </a:extLst>
          </p:cNvPr>
          <p:cNvSpPr>
            <a:spLocks noGrp="1"/>
          </p:cNvSpPr>
          <p:nvPr/>
        </p:nvSpPr>
        <p:spPr>
          <a:xfrm>
            <a:off x="609600" y="1381125"/>
            <a:ext cx="10972800" cy="19050"/>
          </a:xfrm>
          <a:prstGeom prst="rect">
            <a:avLst/>
          </a:prstGeom>
          <a:solidFill>
            <a:srgbClr val="171717"/>
          </a:solidFill>
          <a:ln w="0">
            <a:noFill/>
          </a:ln>
        </p:spPr>
      </p:sp>
      <p:sp>
        <p:nvSpPr>
          <p:cNvPr id="33" name="직사각형 32">
            <a:extLst>
              <a:ext uri="{FF2B5EF4-FFF2-40B4-BE49-F238E27FC236}">
                <a16:creationId xmlns:a16="http://schemas.microsoft.com/office/drawing/2014/main" id="{A1EBFDB4-87D9-474B-8DAB-FF58A4D80371}"/>
              </a:ext>
            </a:extLst>
          </p:cNvPr>
          <p:cNvSpPr>
            <a:spLocks noGrp="1"/>
          </p:cNvSpPr>
          <p:nvPr/>
        </p:nvSpPr>
        <p:spPr>
          <a:xfrm>
            <a:off x="609600" y="6438900"/>
            <a:ext cx="1097280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FFFECBC2-3A23-4042-BC44-2A4766BFE2A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5" name="직사각형 34">
            <a:extLst>
              <a:ext uri="{FF2B5EF4-FFF2-40B4-BE49-F238E27FC236}">
                <a16:creationId xmlns:a16="http://schemas.microsoft.com/office/drawing/2014/main" id="{835D979A-BF0C-4026-A66F-72510E08C8F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72</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03892450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ext 4">
            <a:extLst>
              <a:ext uri="{FF2B5EF4-FFF2-40B4-BE49-F238E27FC236}">
                <a16:creationId xmlns:a16="http://schemas.microsoft.com/office/drawing/2014/main" id="{4ABCD033-0C60-49E9-A402-2AC83CB2EF2A}"/>
              </a:ext>
            </a:extLst>
          </p:cNvPr>
          <p:cNvSpPr>
            <a:spLocks noGrp="1"/>
          </p:cNvSpPr>
          <p:nvPr/>
        </p:nvSpPr>
        <p:spPr>
          <a:xfrm>
            <a:off x="932688" y="1783080"/>
            <a:ext cx="10323576" cy="1005840"/>
          </a:xfrm>
          <a:prstGeom prst="rect">
            <a:avLst/>
          </a:prstGeom>
          <a:noFill/>
          <a:ln w="0">
            <a:noFill/>
          </a:ln>
        </p:spPr>
        <p:txBody>
          <a:bodyPr wrap="square" lIns="0" tIns="0" rIns="0" bIns="0" anchor="ctr">
            <a:noAutofit/>
          </a:bodyPr>
          <a:lstStyle/>
          <a:p>
            <a:pPr marL="0" indent="0" algn="ctr">
              <a:buNone/>
              <a:defRPr sz="2300" i="0">
                <a:solidFill>
                  <a:srgbClr val="171717"/>
                </a:solidFill>
                <a:latin typeface="Malgun Gothic"/>
                <a:ea typeface="Malgun Gothic"/>
                <a:cs typeface="Malgun Gothic"/>
              </a:defRPr>
            </a:pPr>
            <a:r>
              <a:rPr sz="2300" b="1" i="0">
                <a:solidFill>
                  <a:srgbClr val="171717"/>
                </a:solidFill>
                <a:latin typeface="Malgun Gothic"/>
                <a:ea typeface="Malgun Gothic"/>
                <a:cs typeface="Malgun Gothic"/>
              </a:rPr>
              <a:t>T(n) = 7T(n/2) + O(n^(2))     ⇒     Θ(n^(log₂ 7)) ≈ Θ(n^(2.807))</a:t>
            </a:r>
            <a:endParaRPr sz="2300"/>
          </a:p>
        </p:txBody>
      </p:sp>
      <p:graphicFrame>
        <p:nvGraphicFramePr>
          <p:cNvPr id="25" name="Table 0"/>
          <p:cNvGraphicFramePr/>
          <p:nvPr/>
        </p:nvGraphicFramePr>
        <p:xfrm>
          <a:off x="658368" y="2926080"/>
          <a:ext cx="10872216" cy="2560320"/>
        </p:xfrm>
        <a:graphic>
          <a:graphicData uri="http://schemas.openxmlformats.org/drawingml/2006/table">
            <a:tbl>
              <a:tblPr/>
              <a:tblGrid>
                <a:gridCol w="2331720">
                  <a:extLst>
                    <a:ext uri="{9D8B030D-6E8A-4147-A177-3AD203B41FA5}">
                      <a16:colId xmlns:a16="http://schemas.microsoft.com/office/drawing/2014/main" val="20000"/>
                    </a:ext>
                  </a:extLst>
                </a:gridCol>
                <a:gridCol w="4270248">
                  <a:extLst>
                    <a:ext uri="{9D8B030D-6E8A-4147-A177-3AD203B41FA5}">
                      <a16:colId xmlns:a16="http://schemas.microsoft.com/office/drawing/2014/main" val="20001"/>
                    </a:ext>
                  </a:extLst>
                </a:gridCol>
                <a:gridCol w="4270248">
                  <a:extLst>
                    <a:ext uri="{9D8B030D-6E8A-4147-A177-3AD203B41FA5}">
                      <a16:colId xmlns:a16="http://schemas.microsoft.com/office/drawing/2014/main" val="20002"/>
                    </a:ext>
                  </a:extLst>
                </a:gridCol>
              </a:tblGrid>
              <a:tr h="365760">
                <a:tc>
                  <a:txBody>
                    <a:bodyPr/>
                    <a:lstStyle/>
                    <a:p>
                      <a:pPr marL="0" indent="0" algn="ctr">
                        <a:buNone/>
                      </a:pP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50" b="1">
                          <a:solidFill>
                            <a:srgbClr val="FFFFFF"/>
                          </a:solidFill>
                          <a:latin typeface="Malgun Gothic"/>
                          <a:ea typeface="Malgun Gothic"/>
                          <a:cs typeface="Malgun Gothic"/>
                        </a:rPr>
                        <a:t>카라츠바 (§4.7)</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50" b="1">
                          <a:solidFill>
                            <a:srgbClr val="FFFFFF"/>
                          </a:solidFill>
                          <a:latin typeface="Malgun Gothic"/>
                          <a:ea typeface="Malgun Gothic"/>
                          <a:cs typeface="Malgun Gothic"/>
                        </a:rPr>
                        <a:t>스트라센 (§4.8)</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extLst>
                  <a:ext uri="{0D108BD9-81ED-4DB2-BD59-A6C34878D82A}">
                    <a16:rowId xmlns:a16="http://schemas.microsoft.com/office/drawing/2014/main" val="10000"/>
                  </a:ext>
                </a:extLst>
              </a:tr>
              <a:tr h="365760">
                <a:tc>
                  <a:txBody>
                    <a:bodyPr/>
                    <a:lstStyle/>
                    <a:p>
                      <a:pPr marL="0" indent="0" algn="l">
                        <a:buNone/>
                      </a:pPr>
                      <a:r>
                        <a:rPr sz="1150" b="0">
                          <a:solidFill>
                            <a:srgbClr val="171717"/>
                          </a:solidFill>
                          <a:latin typeface="Malgun Gothic"/>
                          <a:ea typeface="Malgun Gothic"/>
                          <a:cs typeface="Malgun Gothic"/>
                        </a:rPr>
                        <a:t>대상</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큰 정수의 곱셈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n × n 행렬의 곱셈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sz="1150" b="0">
                          <a:solidFill>
                            <a:srgbClr val="171717"/>
                          </a:solidFill>
                          <a:latin typeface="Malgun Gothic"/>
                          <a:ea typeface="Malgun Gothic"/>
                          <a:cs typeface="Malgun Gothic"/>
                        </a:rPr>
                        <a:t>소박한 분할</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곱셈 4번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블록 곱셈 8번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2"/>
                  </a:ext>
                </a:extLst>
              </a:tr>
              <a:tr h="365760">
                <a:tc>
                  <a:txBody>
                    <a:bodyPr/>
                    <a:lstStyle/>
                    <a:p>
                      <a:pPr marL="0" indent="0" algn="l">
                        <a:buNone/>
                      </a:pPr>
                      <a:r>
                        <a:rPr sz="1150" b="0">
                          <a:solidFill>
                            <a:srgbClr val="171717"/>
                          </a:solidFill>
                          <a:latin typeface="Malgun Gothic"/>
                          <a:ea typeface="Malgun Gothic"/>
                          <a:cs typeface="Malgun Gothic"/>
                        </a:rPr>
                        <a:t>개선 후</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곱셈 3번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블록 곱셈 7번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sz="1150" b="0">
                          <a:solidFill>
                            <a:srgbClr val="171717"/>
                          </a:solidFill>
                          <a:latin typeface="Malgun Gothic"/>
                          <a:ea typeface="Malgun Gothic"/>
                          <a:cs typeface="Malgun Gothic"/>
                        </a:rPr>
                        <a:t>점화식</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T(n) = 3T(n/2) + O(n)</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T(n) = 7T(n/2) + O(n²)</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4"/>
                  </a:ext>
                </a:extLst>
              </a:tr>
              <a:tr h="365760">
                <a:tc>
                  <a:txBody>
                    <a:bodyPr/>
                    <a:lstStyle/>
                    <a:p>
                      <a:pPr marL="0" indent="0" algn="l">
                        <a:buNone/>
                      </a:pPr>
                      <a:r>
                        <a:rPr sz="1150" b="0">
                          <a:solidFill>
                            <a:srgbClr val="171717"/>
                          </a:solidFill>
                          <a:latin typeface="Malgun Gothic"/>
                          <a:ea typeface="Malgun Gothic"/>
                          <a:cs typeface="Malgun Gothic"/>
                        </a:rPr>
                        <a:t>시간 복잡도</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O(n^1.585)</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O(n^2.807)</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sz="1150" b="0">
                          <a:solidFill>
                            <a:srgbClr val="171717"/>
                          </a:solidFill>
                          <a:latin typeface="Malgun Gothic"/>
                          <a:ea typeface="Malgun Gothic"/>
                          <a:cs typeface="Malgun Gothic"/>
                        </a:rPr>
                        <a:t>기존 방법</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O(n²)</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O(n³)</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6"/>
                  </a:ext>
                </a:extLst>
              </a:tr>
            </a:tbl>
          </a:graphicData>
        </a:graphic>
      </p:graphicFrame>
      <p:sp>
        <p:nvSpPr>
          <p:cNvPr id="12" name="Text 7">
            <a:extLst>
              <a:ext uri="{FF2B5EF4-FFF2-40B4-BE49-F238E27FC236}">
                <a16:creationId xmlns:a16="http://schemas.microsoft.com/office/drawing/2014/main" id="{0147ABC6-DCE9-4A46-8E9D-1BD9FE9989A3}"/>
              </a:ext>
            </a:extLst>
          </p:cNvPr>
          <p:cNvSpPr>
            <a:spLocks noGrp="1"/>
          </p:cNvSpPr>
          <p:nvPr/>
        </p:nvSpPr>
        <p:spPr>
          <a:xfrm>
            <a:off x="1517904" y="5760720"/>
            <a:ext cx="9756648" cy="237744"/>
          </a:xfrm>
          <a:prstGeom prst="rect">
            <a:avLst/>
          </a:prstGeom>
          <a:noFill/>
          <a:ln w="0">
            <a:noFill/>
          </a:ln>
        </p:spPr>
        <p:txBody>
          <a:bodyPr wrap="square" lIns="0" tIns="0" rIns="0" bIns="0" anchor="ctr">
            <a:noAutofit/>
          </a:bodyPr>
          <a:lstStyle/>
          <a:p>
            <a:pPr marL="0" indent="0" algn="l">
              <a:lnSpc>
                <a:spcPct val="134000"/>
              </a:lnSpc>
              <a:buNone/>
              <a:defRPr sz="1250" i="0">
                <a:solidFill>
                  <a:srgbClr val="171717"/>
                </a:solidFill>
                <a:latin typeface="Malgun Gothic"/>
                <a:ea typeface="Malgun Gothic"/>
                <a:cs typeface="Malgun Gothic"/>
              </a:defRPr>
            </a:pPr>
            <a:r>
              <a:rPr sz="1250" i="0">
                <a:solidFill>
                  <a:srgbClr val="171717"/>
                </a:solidFill>
                <a:latin typeface="Malgun Gothic"/>
                <a:ea typeface="Malgun Gothic"/>
                <a:cs typeface="Malgun Gothic"/>
              </a:rPr>
              <a:t>두 알고리즘의 공통 교훈 — 값싼 덧셈을 늘려서라도 비싼 재귀 호출 횟수 a 를 줄여라.</a:t>
            </a:r>
            <a:endParaRPr sz="1250"/>
          </a:p>
        </p:txBody>
      </p:sp>
      <p:sp>
        <p:nvSpPr>
          <p:cNvPr id="16" name="직사각형 15">
            <a:extLst>
              <a:ext uri="{FF2B5EF4-FFF2-40B4-BE49-F238E27FC236}">
                <a16:creationId xmlns:a16="http://schemas.microsoft.com/office/drawing/2014/main" id="{83F5AFD3-8D61-4C71-B1CC-F8C1D8C30263}"/>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4.9  </a:t>
            </a:r>
            <a:r>
              <a:rPr lang="ko-KR" altLang="en-US" sz="1050" b="1" i="0">
                <a:solidFill>
                  <a:srgbClr val="606060"/>
                </a:solidFill>
                <a:latin typeface="Malgun Gothic"/>
                <a:ea typeface="Malgun Gothic"/>
                <a:cs typeface="Malgun Gothic"/>
              </a:rPr>
              <a:t>스트라센 알고리즘</a:t>
            </a:r>
            <a:endParaRPr sz="1050" b="1" i="0">
              <a:solidFill>
                <a:srgbClr val="606060"/>
              </a:solidFill>
              <a:latin typeface="Malgun Gothic"/>
              <a:ea typeface="Malgun Gothic"/>
              <a:cs typeface="Malgun Gothic"/>
            </a:endParaRPr>
          </a:p>
        </p:txBody>
      </p:sp>
      <p:sp>
        <p:nvSpPr>
          <p:cNvPr id="17" name="직사각형 16">
            <a:extLst>
              <a:ext uri="{FF2B5EF4-FFF2-40B4-BE49-F238E27FC236}">
                <a16:creationId xmlns:a16="http://schemas.microsoft.com/office/drawing/2014/main" id="{2FDE12BE-45E4-4AF7-B107-A879090BAE4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18" name="직사각형 17">
            <a:extLst>
              <a:ext uri="{FF2B5EF4-FFF2-40B4-BE49-F238E27FC236}">
                <a16:creationId xmlns:a16="http://schemas.microsoft.com/office/drawing/2014/main" id="{3BD3FB1A-B540-4A85-A9C1-65725962D76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복잡도 분석과 두 알고리즘의 공통점</a:t>
            </a:r>
          </a:p>
        </p:txBody>
      </p:sp>
      <p:sp>
        <p:nvSpPr>
          <p:cNvPr id="19" name="직사각형 18">
            <a:extLst>
              <a:ext uri="{FF2B5EF4-FFF2-40B4-BE49-F238E27FC236}">
                <a16:creationId xmlns:a16="http://schemas.microsoft.com/office/drawing/2014/main" id="{6C92FCDB-EA9F-4023-9FCB-D74EB4270497}"/>
              </a:ext>
            </a:extLst>
          </p:cNvPr>
          <p:cNvSpPr>
            <a:spLocks noGrp="1"/>
          </p:cNvSpPr>
          <p:nvPr/>
        </p:nvSpPr>
        <p:spPr>
          <a:xfrm>
            <a:off x="609600" y="1381125"/>
            <a:ext cx="10972800" cy="19050"/>
          </a:xfrm>
          <a:prstGeom prst="rect">
            <a:avLst/>
          </a:prstGeom>
          <a:solidFill>
            <a:srgbClr val="171717"/>
          </a:solidFill>
          <a:ln w="0">
            <a:noFill/>
          </a:ln>
        </p:spPr>
      </p:sp>
      <p:sp>
        <p:nvSpPr>
          <p:cNvPr id="20" name="직사각형 19">
            <a:extLst>
              <a:ext uri="{FF2B5EF4-FFF2-40B4-BE49-F238E27FC236}">
                <a16:creationId xmlns:a16="http://schemas.microsoft.com/office/drawing/2014/main" id="{8EF24FA7-E678-43E3-AE8F-36FC7EBC52AA}"/>
              </a:ext>
            </a:extLst>
          </p:cNvPr>
          <p:cNvSpPr>
            <a:spLocks noGrp="1"/>
          </p:cNvSpPr>
          <p:nvPr/>
        </p:nvSpPr>
        <p:spPr>
          <a:xfrm>
            <a:off x="609600" y="6438900"/>
            <a:ext cx="10972800" cy="9525"/>
          </a:xfrm>
          <a:prstGeom prst="rect">
            <a:avLst/>
          </a:prstGeom>
          <a:solidFill>
            <a:srgbClr val="D4D4D4"/>
          </a:solidFill>
          <a:ln w="0">
            <a:noFill/>
          </a:ln>
        </p:spPr>
      </p:sp>
      <p:sp>
        <p:nvSpPr>
          <p:cNvPr id="21" name="직사각형 20">
            <a:extLst>
              <a:ext uri="{FF2B5EF4-FFF2-40B4-BE49-F238E27FC236}">
                <a16:creationId xmlns:a16="http://schemas.microsoft.com/office/drawing/2014/main" id="{4BF69BA8-AE71-4A40-AC0A-C782BE85FDF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2" name="직사각형 21">
            <a:extLst>
              <a:ext uri="{FF2B5EF4-FFF2-40B4-BE49-F238E27FC236}">
                <a16:creationId xmlns:a16="http://schemas.microsoft.com/office/drawing/2014/main" id="{C8A83022-6FB0-45DD-AA6D-CBCE102DB71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73</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5427360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788CD65A-DF4A-4AAB-A5E4-CB8BDC7A430E}"/>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F79A82C6-3C6F-432B-99C2-530CAD4A837B}"/>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4.10</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2DD8BB76-A83E-4C48-8873-6ED66C7C637C}"/>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6629079B-B801-4ABF-9D72-E0D770FB9E47}"/>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코딩 테스트</a:t>
            </a:r>
          </a:p>
        </p:txBody>
      </p:sp>
      <p:sp>
        <p:nvSpPr>
          <p:cNvPr id="5" name="직사각형 4">
            <a:extLst>
              <a:ext uri="{FF2B5EF4-FFF2-40B4-BE49-F238E27FC236}">
                <a16:creationId xmlns:a16="http://schemas.microsoft.com/office/drawing/2014/main" id="{4F871099-7E77-4D6C-BB8A-D956CAAADF86}"/>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분할 정복으로 실전 문제 두 개를 직접 풀어본다</a:t>
            </a:r>
          </a:p>
        </p:txBody>
      </p:sp>
      <p:sp>
        <p:nvSpPr>
          <p:cNvPr id="6" name="직사각형 5">
            <a:extLst>
              <a:ext uri="{FF2B5EF4-FFF2-40B4-BE49-F238E27FC236}">
                <a16:creationId xmlns:a16="http://schemas.microsoft.com/office/drawing/2014/main" id="{02A0C297-54EF-4965-876A-C84AF72AF033}"/>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4DA06DEB-1583-49DE-A096-8468370ACC0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F8B19694-E19D-4ACB-B185-10D11A32FBA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74</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51206388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4BC53D05-8799-4496-9C3A-BC10A836A956}"/>
              </a:ext>
            </a:extLst>
          </p:cNvPr>
          <p:cNvSpPr>
            <a:spLocks noGrp="1"/>
          </p:cNvSpPr>
          <p:nvPr/>
        </p:nvSpPr>
        <p:spPr>
          <a:xfrm>
            <a:off x="658368" y="1737360"/>
            <a:ext cx="5806440" cy="118872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여러 개의 정사각형 칸(N × N)으로 이루어진 종이가 있다. 각 칸은 하얀색 아니면 파란색이다. 전체 종이가 모두 같은 색이 아니면, 가로와 세로의 중앙을 잘라 똑같은 크기의 네 개의 N/2 × N/2 색종이로 나눈다. 이 과정을 잘라진 종이가 모두 같은 색이 되거나 한 칸이 될 때까지 반복한다.</a:t>
            </a:r>
            <a:endParaRPr sz="1300"/>
          </a:p>
        </p:txBody>
      </p:sp>
      <p:sp>
        <p:nvSpPr>
          <p:cNvPr id="10" name="Text 6">
            <a:extLst>
              <a:ext uri="{FF2B5EF4-FFF2-40B4-BE49-F238E27FC236}">
                <a16:creationId xmlns:a16="http://schemas.microsoft.com/office/drawing/2014/main" id="{862D33C0-0559-4FD1-A64F-D0DE315AFF31}"/>
              </a:ext>
            </a:extLst>
          </p:cNvPr>
          <p:cNvSpPr>
            <a:spLocks noGrp="1"/>
          </p:cNvSpPr>
          <p:nvPr/>
        </p:nvSpPr>
        <p:spPr>
          <a:xfrm>
            <a:off x="1517904" y="3273552"/>
            <a:ext cx="4690872" cy="640080"/>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최종적으로 하얀색 색종이와 파란색 색종이가 각각 몇 장인지 구하라.</a:t>
            </a:r>
            <a:endParaRPr sz="1300"/>
          </a:p>
        </p:txBody>
      </p:sp>
      <p:sp>
        <p:nvSpPr>
          <p:cNvPr id="14" name="Text 9">
            <a:extLst>
              <a:ext uri="{FF2B5EF4-FFF2-40B4-BE49-F238E27FC236}">
                <a16:creationId xmlns:a16="http://schemas.microsoft.com/office/drawing/2014/main" id="{CC272449-AED9-4943-9E40-210F215A2E5C}"/>
              </a:ext>
            </a:extLst>
          </p:cNvPr>
          <p:cNvSpPr>
            <a:spLocks noGrp="1"/>
          </p:cNvSpPr>
          <p:nvPr/>
        </p:nvSpPr>
        <p:spPr>
          <a:xfrm>
            <a:off x="1335024" y="4261104"/>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쿼드 트리와 완전히 동일한 구조</a:t>
            </a:r>
            <a:endParaRPr sz="1150"/>
          </a:p>
        </p:txBody>
      </p:sp>
      <p:sp>
        <p:nvSpPr>
          <p:cNvPr id="18" name="Text 12">
            <a:extLst>
              <a:ext uri="{FF2B5EF4-FFF2-40B4-BE49-F238E27FC236}">
                <a16:creationId xmlns:a16="http://schemas.microsoft.com/office/drawing/2014/main" id="{DFC677BC-EE9D-4831-903E-6CE53895734F}"/>
              </a:ext>
            </a:extLst>
          </p:cNvPr>
          <p:cNvSpPr>
            <a:spLocks noGrp="1"/>
          </p:cNvSpPr>
          <p:nvPr/>
        </p:nvSpPr>
        <p:spPr>
          <a:xfrm>
            <a:off x="1335024" y="4919472"/>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검사(check) → 균일하면 카운트, 아니면 4등분</a:t>
            </a:r>
            <a:endParaRPr sz="1150"/>
          </a:p>
        </p:txBody>
      </p:sp>
      <p:sp>
        <p:nvSpPr>
          <p:cNvPr id="22" name="Text 15">
            <a:extLst>
              <a:ext uri="{FF2B5EF4-FFF2-40B4-BE49-F238E27FC236}">
                <a16:creationId xmlns:a16="http://schemas.microsoft.com/office/drawing/2014/main" id="{239D80EB-AA01-4412-B221-378C780BDD44}"/>
              </a:ext>
            </a:extLst>
          </p:cNvPr>
          <p:cNvSpPr>
            <a:spLocks noGrp="1"/>
          </p:cNvSpPr>
          <p:nvPr/>
        </p:nvSpPr>
        <p:spPr>
          <a:xfrm>
            <a:off x="1335024" y="5577840"/>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한 칸(n = 1)은 언제나 균일하므로 재귀는 반드시 끝난다</a:t>
            </a:r>
            <a:endParaRPr sz="1150"/>
          </a:p>
        </p:txBody>
      </p:sp>
      <p:sp>
        <p:nvSpPr>
          <p:cNvPr id="26" name="Text 18">
            <a:extLst>
              <a:ext uri="{FF2B5EF4-FFF2-40B4-BE49-F238E27FC236}">
                <a16:creationId xmlns:a16="http://schemas.microsoft.com/office/drawing/2014/main" id="{AB5371F3-DCF9-44BD-ACC8-C448BEAC3EA0}"/>
              </a:ext>
            </a:extLst>
          </p:cNvPr>
          <p:cNvSpPr>
            <a:spLocks noGrp="1"/>
          </p:cNvSpPr>
          <p:nvPr/>
        </p:nvSpPr>
        <p:spPr>
          <a:xfrm>
            <a:off x="7022592" y="4828032"/>
            <a:ext cx="4206240"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sz="1100" b="1" i="0">
                <a:solidFill>
                  <a:srgbClr val="171717"/>
                </a:solidFill>
                <a:latin typeface="Malgun Gothic"/>
                <a:ea typeface="Malgun Gothic"/>
                <a:cs typeface="Malgun Gothic"/>
              </a:rPr>
              <a:t>입력 (N = 8)</a:t>
            </a:r>
            <a:endParaRPr sz="1100"/>
          </a:p>
        </p:txBody>
      </p:sp>
      <p:sp>
        <p:nvSpPr>
          <p:cNvPr id="27" name="Text 19">
            <a:extLst>
              <a:ext uri="{FF2B5EF4-FFF2-40B4-BE49-F238E27FC236}">
                <a16:creationId xmlns:a16="http://schemas.microsoft.com/office/drawing/2014/main" id="{1A0C341B-D0D2-424E-8610-00A82BB7DAFB}"/>
              </a:ext>
            </a:extLst>
          </p:cNvPr>
          <p:cNvSpPr>
            <a:spLocks noGrp="1"/>
          </p:cNvSpPr>
          <p:nvPr/>
        </p:nvSpPr>
        <p:spPr>
          <a:xfrm>
            <a:off x="7022592" y="5138928"/>
            <a:ext cx="4297680" cy="329184"/>
          </a:xfrm>
          <a:prstGeom prst="rect">
            <a:avLst/>
          </a:prstGeom>
          <a:noFill/>
          <a:ln w="0">
            <a:noFill/>
          </a:ln>
        </p:spPr>
        <p:txBody>
          <a:bodyPr wrap="square" lIns="0" tIns="0" rIns="0" bIns="0" anchor="ctr">
            <a:noAutofit/>
          </a:bodyPr>
          <a:lstStyle/>
          <a:p>
            <a:pPr marL="0" indent="0" algn="l">
              <a:buNone/>
              <a:defRPr sz="1000" i="0">
                <a:solidFill>
                  <a:srgbClr val="171717"/>
                </a:solidFill>
                <a:latin typeface="Consolas"/>
                <a:ea typeface="Consolas"/>
                <a:cs typeface="Consolas"/>
              </a:defRPr>
            </a:pPr>
            <a:r>
              <a:rPr sz="1000" i="0">
                <a:solidFill>
                  <a:srgbClr val="171717"/>
                </a:solidFill>
                <a:latin typeface="Consolas"/>
                <a:ea typeface="Consolas"/>
                <a:cs typeface="Consolas"/>
              </a:rPr>
              <a:t>1 1 0 0 0 0 1 1   ⋯   0 0 1 1 1 1 1 1</a:t>
            </a:r>
            <a:endParaRPr sz="1000"/>
          </a:p>
        </p:txBody>
      </p:sp>
      <p:sp>
        <p:nvSpPr>
          <p:cNvPr id="28" name="Text 20">
            <a:extLst>
              <a:ext uri="{FF2B5EF4-FFF2-40B4-BE49-F238E27FC236}">
                <a16:creationId xmlns:a16="http://schemas.microsoft.com/office/drawing/2014/main" id="{D106A7CB-7FC5-4F7A-921C-4C660801B115}"/>
              </a:ext>
            </a:extLst>
          </p:cNvPr>
          <p:cNvSpPr>
            <a:spLocks noGrp="1"/>
          </p:cNvSpPr>
          <p:nvPr/>
        </p:nvSpPr>
        <p:spPr>
          <a:xfrm>
            <a:off x="7022592" y="5486400"/>
            <a:ext cx="4206240"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sz="1100" b="1" i="0">
                <a:solidFill>
                  <a:srgbClr val="171717"/>
                </a:solidFill>
                <a:latin typeface="Malgun Gothic"/>
                <a:ea typeface="Malgun Gothic"/>
                <a:cs typeface="Malgun Gothic"/>
              </a:rPr>
              <a:t>출력</a:t>
            </a:r>
            <a:endParaRPr sz="1100"/>
          </a:p>
        </p:txBody>
      </p:sp>
      <p:sp>
        <p:nvSpPr>
          <p:cNvPr id="29" name="Text 21">
            <a:extLst>
              <a:ext uri="{FF2B5EF4-FFF2-40B4-BE49-F238E27FC236}">
                <a16:creationId xmlns:a16="http://schemas.microsoft.com/office/drawing/2014/main" id="{594A9FFD-39D3-4575-A055-B349A7EC4565}"/>
              </a:ext>
            </a:extLst>
          </p:cNvPr>
          <p:cNvSpPr>
            <a:spLocks noGrp="1"/>
          </p:cNvSpPr>
          <p:nvPr/>
        </p:nvSpPr>
        <p:spPr>
          <a:xfrm>
            <a:off x="7022592" y="5760720"/>
            <a:ext cx="4297680" cy="292608"/>
          </a:xfrm>
          <a:prstGeom prst="rect">
            <a:avLst/>
          </a:prstGeom>
          <a:noFill/>
          <a:ln w="0">
            <a:noFill/>
          </a:ln>
        </p:spPr>
        <p:txBody>
          <a:bodyPr wrap="square" lIns="0" tIns="0" rIns="0" bIns="0" anchor="ctr">
            <a:noAutofit/>
          </a:bodyPr>
          <a:lstStyle/>
          <a:p>
            <a:pPr marL="0" indent="0" algn="l">
              <a:buNone/>
              <a:defRPr sz="1150" i="0">
                <a:solidFill>
                  <a:srgbClr val="171717"/>
                </a:solidFill>
                <a:latin typeface="Consolas"/>
                <a:ea typeface="Consolas"/>
                <a:cs typeface="Consolas"/>
              </a:defRPr>
            </a:pPr>
            <a:r>
              <a:rPr sz="1150" b="1" i="0">
                <a:solidFill>
                  <a:srgbClr val="171717"/>
                </a:solidFill>
                <a:latin typeface="Consolas"/>
                <a:ea typeface="Consolas"/>
                <a:cs typeface="Consolas"/>
              </a:rPr>
              <a:t>하얀색 9장, 파란색 7장</a:t>
            </a:r>
            <a:endParaRPr sz="1150"/>
          </a:p>
        </p:txBody>
      </p:sp>
      <p:sp>
        <p:nvSpPr>
          <p:cNvPr id="37" name="직사각형 36">
            <a:extLst>
              <a:ext uri="{FF2B5EF4-FFF2-40B4-BE49-F238E27FC236}">
                <a16:creationId xmlns:a16="http://schemas.microsoft.com/office/drawing/2014/main" id="{2D613D60-5ECB-4835-8031-78900D8E2240}"/>
              </a:ext>
            </a:extLst>
          </p:cNvPr>
          <p:cNvSpPr>
            <a:spLocks noGrp="1"/>
          </p:cNvSpPr>
          <p:nvPr/>
        </p:nvSpPr>
        <p:spPr>
          <a:xfrm>
            <a:off x="6784848" y="2103120"/>
            <a:ext cx="4745736"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90A1025A-6073-4C04-9B3A-5DDC1EA2CD30}"/>
              </a:ext>
            </a:extLst>
          </p:cNvPr>
          <p:cNvSpPr>
            <a:spLocks noGrp="1"/>
          </p:cNvSpPr>
          <p:nvPr/>
        </p:nvSpPr>
        <p:spPr>
          <a:xfrm>
            <a:off x="6784848" y="4700016"/>
            <a:ext cx="4745736"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CF8EF59B-891A-40F9-9943-BB98794C7737}"/>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4.1  색종이 만들기</a:t>
            </a:r>
          </a:p>
        </p:txBody>
      </p:sp>
      <p:sp>
        <p:nvSpPr>
          <p:cNvPr id="40" name="직사각형 39">
            <a:extLst>
              <a:ext uri="{FF2B5EF4-FFF2-40B4-BE49-F238E27FC236}">
                <a16:creationId xmlns:a16="http://schemas.microsoft.com/office/drawing/2014/main" id="{FF2C780F-8F7C-42C4-BA1B-2F7D9AD9A2C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1" name="직사각형 40">
            <a:extLst>
              <a:ext uri="{FF2B5EF4-FFF2-40B4-BE49-F238E27FC236}">
                <a16:creationId xmlns:a16="http://schemas.microsoft.com/office/drawing/2014/main" id="{886C9B2C-B1F2-4AAC-BF98-9636F18CD5EA}"/>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색종이 만들기</a:t>
            </a:r>
          </a:p>
        </p:txBody>
      </p:sp>
      <p:sp>
        <p:nvSpPr>
          <p:cNvPr id="42" name="직사각형 41">
            <a:extLst>
              <a:ext uri="{FF2B5EF4-FFF2-40B4-BE49-F238E27FC236}">
                <a16:creationId xmlns:a16="http://schemas.microsoft.com/office/drawing/2014/main" id="{719F8943-D2E9-4FAD-A9DB-6490C8F66FF5}"/>
              </a:ext>
            </a:extLst>
          </p:cNvPr>
          <p:cNvSpPr>
            <a:spLocks noGrp="1"/>
          </p:cNvSpPr>
          <p:nvPr/>
        </p:nvSpPr>
        <p:spPr>
          <a:xfrm>
            <a:off x="609600" y="1381125"/>
            <a:ext cx="10972800" cy="19050"/>
          </a:xfrm>
          <a:prstGeom prst="rect">
            <a:avLst/>
          </a:prstGeom>
          <a:solidFill>
            <a:srgbClr val="171717"/>
          </a:solidFill>
          <a:ln w="0">
            <a:noFill/>
          </a:ln>
        </p:spPr>
      </p:sp>
      <p:sp>
        <p:nvSpPr>
          <p:cNvPr id="43" name="직사각형 42">
            <a:extLst>
              <a:ext uri="{FF2B5EF4-FFF2-40B4-BE49-F238E27FC236}">
                <a16:creationId xmlns:a16="http://schemas.microsoft.com/office/drawing/2014/main" id="{F8F1092E-2877-45FC-85DD-F19EC27FD9CB}"/>
              </a:ext>
            </a:extLst>
          </p:cNvPr>
          <p:cNvSpPr>
            <a:spLocks noGrp="1"/>
          </p:cNvSpPr>
          <p:nvPr/>
        </p:nvSpPr>
        <p:spPr>
          <a:xfrm>
            <a:off x="609600" y="6438900"/>
            <a:ext cx="10972800" cy="9525"/>
          </a:xfrm>
          <a:prstGeom prst="rect">
            <a:avLst/>
          </a:prstGeom>
          <a:solidFill>
            <a:srgbClr val="D4D4D4"/>
          </a:solidFill>
          <a:ln w="0">
            <a:noFill/>
          </a:ln>
        </p:spPr>
      </p:sp>
      <p:sp>
        <p:nvSpPr>
          <p:cNvPr id="44" name="직사각형 43">
            <a:extLst>
              <a:ext uri="{FF2B5EF4-FFF2-40B4-BE49-F238E27FC236}">
                <a16:creationId xmlns:a16="http://schemas.microsoft.com/office/drawing/2014/main" id="{C8D485E2-6579-4A7E-9783-4F6C9E69693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5" name="직사각형 44">
            <a:extLst>
              <a:ext uri="{FF2B5EF4-FFF2-40B4-BE49-F238E27FC236}">
                <a16:creationId xmlns:a16="http://schemas.microsoft.com/office/drawing/2014/main" id="{18473A0B-EDEB-4B8E-B4F3-59CF30B3F73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75</a:t>
            </a:r>
            <a:endParaRPr sz="1050" b="1" i="0">
              <a:solidFill>
                <a:srgbClr val="171717"/>
              </a:solidFill>
              <a:latin typeface="Consolas"/>
              <a:ea typeface="Consolas"/>
              <a:cs typeface="Consolas"/>
            </a:endParaRPr>
          </a:p>
        </p:txBody>
      </p:sp>
      <p:pic>
        <p:nvPicPr>
          <p:cNvPr id="65" name="그림 64"/>
          <p:cNvPicPr>
            <a:picLocks noChangeAspect="1"/>
          </p:cNvPicPr>
          <p:nvPr/>
        </p:nvPicPr>
        <p:blipFill>
          <a:blip r:embed="rId3"/>
          <a:stretch/>
        </p:blipFill>
        <p:spPr>
          <a:xfrm>
            <a:off x="6931152" y="2302304"/>
            <a:ext cx="4453128" cy="1979168"/>
          </a:xfrm>
          <a:prstGeom prst="rect">
            <a:avLst/>
          </a:prstGeom>
        </p:spPr>
      </p:pic>
    </p:spTree>
    <p:extLst>
      <p:ext uri="{BB962C8B-B14F-4D97-AF65-F5344CB8AC3E}">
        <p14:creationId xmlns:p14="http://schemas.microsoft.com/office/powerpoint/2010/main" val="12278553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3375CBEE-107A-4755-9FE7-99DE00F4B06B}"/>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solve.py</a:t>
            </a:r>
            <a:endParaRPr sz="900"/>
          </a:p>
        </p:txBody>
      </p:sp>
      <p:sp>
        <p:nvSpPr>
          <p:cNvPr id="20" name="Text 17">
            <a:extLst>
              <a:ext uri="{FF2B5EF4-FFF2-40B4-BE49-F238E27FC236}">
                <a16:creationId xmlns:a16="http://schemas.microsoft.com/office/drawing/2014/main" id="{FE091026-A92B-4EA8-B272-15BD826D8123}"/>
              </a:ext>
            </a:extLst>
          </p:cNvPr>
          <p:cNvSpPr>
            <a:spLocks noGrp="1"/>
          </p:cNvSpPr>
          <p:nvPr/>
        </p:nvSpPr>
        <p:spPr>
          <a:xfrm>
            <a:off x="7973568" y="1801368"/>
            <a:ext cx="3392424"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3" name="Text 20">
            <a:extLst>
              <a:ext uri="{FF2B5EF4-FFF2-40B4-BE49-F238E27FC236}">
                <a16:creationId xmlns:a16="http://schemas.microsoft.com/office/drawing/2014/main" id="{7EBD480A-846E-4FA5-891F-555AD61203B7}"/>
              </a:ext>
            </a:extLst>
          </p:cNvPr>
          <p:cNvSpPr>
            <a:spLocks noGrp="1"/>
          </p:cNvSpPr>
          <p:nvPr/>
        </p:nvSpPr>
        <p:spPr>
          <a:xfrm>
            <a:off x="7973568" y="3291840"/>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4" name="Text 21">
            <a:extLst>
              <a:ext uri="{FF2B5EF4-FFF2-40B4-BE49-F238E27FC236}">
                <a16:creationId xmlns:a16="http://schemas.microsoft.com/office/drawing/2014/main" id="{76007FAC-AEE8-44C1-9F38-E82A5BA0F64F}"/>
              </a:ext>
            </a:extLst>
          </p:cNvPr>
          <p:cNvSpPr>
            <a:spLocks noGrp="1"/>
          </p:cNvSpPr>
          <p:nvPr/>
        </p:nvSpPr>
        <p:spPr>
          <a:xfrm>
            <a:off x="7973568" y="3602736"/>
            <a:ext cx="3291840" cy="73152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하얀색 색종이: 9</a:t>
            </a:r>
            <a:endParaRPr sz="1100"/>
          </a:p>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파란색 색종이: 7</a:t>
            </a:r>
            <a:endParaRPr sz="1100"/>
          </a:p>
        </p:txBody>
      </p:sp>
      <p:sp>
        <p:nvSpPr>
          <p:cNvPr id="28" name="Text 24">
            <a:extLst>
              <a:ext uri="{FF2B5EF4-FFF2-40B4-BE49-F238E27FC236}">
                <a16:creationId xmlns:a16="http://schemas.microsoft.com/office/drawing/2014/main" id="{BE5D9630-6631-4BD6-AB59-BBB32B8AA250}"/>
              </a:ext>
            </a:extLst>
          </p:cNvPr>
          <p:cNvSpPr>
            <a:spLocks noGrp="1"/>
          </p:cNvSpPr>
          <p:nvPr/>
        </p:nvSpPr>
        <p:spPr>
          <a:xfrm>
            <a:off x="8631936" y="4809744"/>
            <a:ext cx="2642616" cy="292608"/>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return 위치가 핵심</a:t>
            </a:r>
            <a:endParaRPr sz="1230"/>
          </a:p>
        </p:txBody>
      </p:sp>
      <p:sp>
        <p:nvSpPr>
          <p:cNvPr id="29" name="Text 25">
            <a:extLst>
              <a:ext uri="{FF2B5EF4-FFF2-40B4-BE49-F238E27FC236}">
                <a16:creationId xmlns:a16="http://schemas.microsoft.com/office/drawing/2014/main" id="{863034E8-704E-459C-B5B6-C8BA78F15B4F}"/>
              </a:ext>
            </a:extLst>
          </p:cNvPr>
          <p:cNvSpPr>
            <a:spLocks noGrp="1"/>
          </p:cNvSpPr>
          <p:nvPr/>
        </p:nvSpPr>
        <p:spPr>
          <a:xfrm>
            <a:off x="8631936" y="5157216"/>
            <a:ext cx="2642616" cy="804672"/>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다른 색을 만나는 즉시 4등분 후 return 해야 한다. 그러지 않으면 아래의 카운트 코드까지 실행되어 잘못된 답이 나온다.</a:t>
            </a:r>
            <a:endParaRPr sz="1100"/>
          </a:p>
        </p:txBody>
      </p:sp>
      <p:sp>
        <p:nvSpPr>
          <p:cNvPr id="31" name="직사각형 30">
            <a:extLst>
              <a:ext uri="{FF2B5EF4-FFF2-40B4-BE49-F238E27FC236}">
                <a16:creationId xmlns:a16="http://schemas.microsoft.com/office/drawing/2014/main" id="{97F7650E-E7EE-4233-B44D-2312F7098711}"/>
              </a:ext>
            </a:extLst>
          </p:cNvPr>
          <p:cNvSpPr>
            <a:spLocks noGrp="1"/>
          </p:cNvSpPr>
          <p:nvPr/>
        </p:nvSpPr>
        <p:spPr>
          <a:xfrm>
            <a:off x="7772400" y="4626864"/>
            <a:ext cx="3758184" cy="9525"/>
          </a:xfrm>
          <a:prstGeom prst="rect">
            <a:avLst/>
          </a:prstGeom>
          <a:solidFill>
            <a:srgbClr val="D4D4D4"/>
          </a:solidFill>
          <a:ln w="0">
            <a:noFill/>
          </a:ln>
        </p:spPr>
      </p:sp>
      <p:sp>
        <p:nvSpPr>
          <p:cNvPr id="32" name="직사각형 31">
            <a:extLst>
              <a:ext uri="{FF2B5EF4-FFF2-40B4-BE49-F238E27FC236}">
                <a16:creationId xmlns:a16="http://schemas.microsoft.com/office/drawing/2014/main" id="{F65B2AC3-7EDC-41E5-B96D-F5EBAC4E58F8}"/>
              </a:ext>
            </a:extLst>
          </p:cNvPr>
          <p:cNvSpPr>
            <a:spLocks noGrp="1"/>
          </p:cNvSpPr>
          <p:nvPr/>
        </p:nvSpPr>
        <p:spPr>
          <a:xfrm>
            <a:off x="698373" y="2090928"/>
            <a:ext cx="6924294" cy="3610356"/>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import sys</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sys.setrecursionlimit(10 ** 6)</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def solve(x, y,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global white_cnt, blue_cnt</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color = paper[x][y]</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i in range(x, x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j in range(y, y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paper[i][j] != color:</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nn = n // 2</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y,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y + nn,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 nn, y,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 nn, y + nn,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color == 0:</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white_cnt += 1</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else: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blue_cnt += 1</a:t>
            </a:r>
          </a:p>
        </p:txBody>
      </p:sp>
      <p:sp>
        <p:nvSpPr>
          <p:cNvPr id="33" name="직사각형 32">
            <a:extLst>
              <a:ext uri="{FF2B5EF4-FFF2-40B4-BE49-F238E27FC236}">
                <a16:creationId xmlns:a16="http://schemas.microsoft.com/office/drawing/2014/main" id="{3277E2E9-4067-40DB-8E0D-8B3D677C028B}"/>
              </a:ext>
            </a:extLst>
          </p:cNvPr>
          <p:cNvSpPr>
            <a:spLocks noGrp="1"/>
          </p:cNvSpPr>
          <p:nvPr/>
        </p:nvSpPr>
        <p:spPr>
          <a:xfrm>
            <a:off x="7812405" y="2090928"/>
            <a:ext cx="3733038" cy="98602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N = 8</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white_cnt = blue_cnt = 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solve(0, 0, N)</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print(f"하얀색 색종이: {white_cnt}")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print(f"파란색 색종이: {blue_cnt}")</a:t>
            </a:r>
          </a:p>
        </p:txBody>
      </p:sp>
      <p:sp>
        <p:nvSpPr>
          <p:cNvPr id="34" name="직사각형 33">
            <a:extLst>
              <a:ext uri="{FF2B5EF4-FFF2-40B4-BE49-F238E27FC236}">
                <a16:creationId xmlns:a16="http://schemas.microsoft.com/office/drawing/2014/main" id="{AA3449B5-30A7-470A-B35E-3B82B3A7456F}"/>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4.1  색종이 만들기</a:t>
            </a:r>
          </a:p>
        </p:txBody>
      </p:sp>
      <p:sp>
        <p:nvSpPr>
          <p:cNvPr id="35" name="직사각형 34">
            <a:extLst>
              <a:ext uri="{FF2B5EF4-FFF2-40B4-BE49-F238E27FC236}">
                <a16:creationId xmlns:a16="http://schemas.microsoft.com/office/drawing/2014/main" id="{57AB31AA-81E5-471B-B32A-BACCB962E9B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6" name="직사각형 35">
            <a:extLst>
              <a:ext uri="{FF2B5EF4-FFF2-40B4-BE49-F238E27FC236}">
                <a16:creationId xmlns:a16="http://schemas.microsoft.com/office/drawing/2014/main" id="{C40514B6-7D1D-4EB8-BBB9-3BDD8E2A4C7F}"/>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풀이 — 재귀적으로 4등분하며 세기</a:t>
            </a:r>
          </a:p>
        </p:txBody>
      </p:sp>
      <p:sp>
        <p:nvSpPr>
          <p:cNvPr id="37" name="직사각형 36">
            <a:extLst>
              <a:ext uri="{FF2B5EF4-FFF2-40B4-BE49-F238E27FC236}">
                <a16:creationId xmlns:a16="http://schemas.microsoft.com/office/drawing/2014/main" id="{961CE582-779E-40DF-B835-B21B9FA7899B}"/>
              </a:ext>
            </a:extLst>
          </p:cNvPr>
          <p:cNvSpPr>
            <a:spLocks noGrp="1"/>
          </p:cNvSpPr>
          <p:nvPr/>
        </p:nvSpPr>
        <p:spPr>
          <a:xfrm>
            <a:off x="609600" y="1381125"/>
            <a:ext cx="10972800" cy="19050"/>
          </a:xfrm>
          <a:prstGeom prst="rect">
            <a:avLst/>
          </a:prstGeom>
          <a:solidFill>
            <a:srgbClr val="171717"/>
          </a:solidFill>
          <a:ln w="0">
            <a:noFill/>
          </a:ln>
        </p:spPr>
      </p:sp>
      <p:sp>
        <p:nvSpPr>
          <p:cNvPr id="38" name="직사각형 37">
            <a:extLst>
              <a:ext uri="{FF2B5EF4-FFF2-40B4-BE49-F238E27FC236}">
                <a16:creationId xmlns:a16="http://schemas.microsoft.com/office/drawing/2014/main" id="{431B4CB5-B314-4AC4-8A01-E460507FAD0D}"/>
              </a:ext>
            </a:extLst>
          </p:cNvPr>
          <p:cNvSpPr>
            <a:spLocks noGrp="1"/>
          </p:cNvSpPr>
          <p:nvPr/>
        </p:nvSpPr>
        <p:spPr>
          <a:xfrm>
            <a:off x="609600" y="6438900"/>
            <a:ext cx="10972800"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B13B6529-B9E1-48D7-B44B-77C7A9649D6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0" name="직사각형 39">
            <a:extLst>
              <a:ext uri="{FF2B5EF4-FFF2-40B4-BE49-F238E27FC236}">
                <a16:creationId xmlns:a16="http://schemas.microsoft.com/office/drawing/2014/main" id="{A515F5AB-7EEF-42BF-8EA7-66D4747E729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90528328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16760666-3CE5-4DE0-B573-3F32B6BDCC4D}"/>
              </a:ext>
            </a:extLst>
          </p:cNvPr>
          <p:cNvSpPr>
            <a:spLocks noGrp="1"/>
          </p:cNvSpPr>
          <p:nvPr/>
        </p:nvSpPr>
        <p:spPr>
          <a:xfrm>
            <a:off x="658368" y="1737360"/>
            <a:ext cx="10872216" cy="603504"/>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세 개의 자연수 A, B, C가 주어진다. A를 B번 곱한 수, 즉 A^B를 C로 나눈 나머지를 구하라. 문제는 A와 B가 최대 2,147,483,647(약 21억)에 달하는 매우 큰 수라는 점이다. 단순한 반복으로는 21억 번의 곱셈이 필요하다.</a:t>
            </a:r>
            <a:endParaRPr sz="1350"/>
          </a:p>
        </p:txBody>
      </p:sp>
      <p:sp>
        <p:nvSpPr>
          <p:cNvPr id="10" name="Text 6">
            <a:extLst>
              <a:ext uri="{FF2B5EF4-FFF2-40B4-BE49-F238E27FC236}">
                <a16:creationId xmlns:a16="http://schemas.microsoft.com/office/drawing/2014/main" id="{956CEF1E-9FB0-48D8-B3E8-5E97C59847C2}"/>
              </a:ext>
            </a:extLst>
          </p:cNvPr>
          <p:cNvSpPr>
            <a:spLocks noGrp="1"/>
          </p:cNvSpPr>
          <p:nvPr/>
        </p:nvSpPr>
        <p:spPr>
          <a:xfrm>
            <a:off x="1444752" y="2596896"/>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지수를 절반으로</a:t>
            </a:r>
            <a:endParaRPr sz="1250"/>
          </a:p>
        </p:txBody>
      </p:sp>
      <p:sp>
        <p:nvSpPr>
          <p:cNvPr id="11" name="Text 7">
            <a:extLst>
              <a:ext uri="{FF2B5EF4-FFF2-40B4-BE49-F238E27FC236}">
                <a16:creationId xmlns:a16="http://schemas.microsoft.com/office/drawing/2014/main" id="{AE6AD0C0-737C-49A6-88BD-3EF37815B151}"/>
              </a:ext>
            </a:extLst>
          </p:cNvPr>
          <p:cNvSpPr>
            <a:spLocks noGrp="1"/>
          </p:cNvSpPr>
          <p:nvPr/>
        </p:nvSpPr>
        <p:spPr>
          <a:xfrm>
            <a:off x="1444752" y="2889504"/>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A^B = A^(B/2) × A^(B/2). 절반만 계산하면 나머지 절반은 공짜다.</a:t>
            </a:r>
            <a:endParaRPr sz="1080"/>
          </a:p>
        </p:txBody>
      </p:sp>
      <p:sp>
        <p:nvSpPr>
          <p:cNvPr id="15" name="Text 10">
            <a:extLst>
              <a:ext uri="{FF2B5EF4-FFF2-40B4-BE49-F238E27FC236}">
                <a16:creationId xmlns:a16="http://schemas.microsoft.com/office/drawing/2014/main" id="{3E9BE8A2-FC40-428D-AD0A-34FA0B0C3694}"/>
              </a:ext>
            </a:extLst>
          </p:cNvPr>
          <p:cNvSpPr>
            <a:spLocks noGrp="1"/>
          </p:cNvSpPr>
          <p:nvPr/>
        </p:nvSpPr>
        <p:spPr>
          <a:xfrm>
            <a:off x="1444752" y="3529584"/>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B가 홀수라면</a:t>
            </a:r>
            <a:endParaRPr sz="1250"/>
          </a:p>
        </p:txBody>
      </p:sp>
      <p:sp>
        <p:nvSpPr>
          <p:cNvPr id="16" name="Text 11">
            <a:extLst>
              <a:ext uri="{FF2B5EF4-FFF2-40B4-BE49-F238E27FC236}">
                <a16:creationId xmlns:a16="http://schemas.microsoft.com/office/drawing/2014/main" id="{C7D95B75-61F7-4F14-AD52-F3B930897AEA}"/>
              </a:ext>
            </a:extLst>
          </p:cNvPr>
          <p:cNvSpPr>
            <a:spLocks noGrp="1"/>
          </p:cNvSpPr>
          <p:nvPr/>
        </p:nvSpPr>
        <p:spPr>
          <a:xfrm>
            <a:off x="1444752" y="3822192"/>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A^B = A^(B/2) × A^(B/2) × A. 남는 A 하나를 곱해준다.</a:t>
            </a:r>
            <a:endParaRPr sz="1080"/>
          </a:p>
        </p:txBody>
      </p:sp>
      <p:sp>
        <p:nvSpPr>
          <p:cNvPr id="20" name="Text 14">
            <a:extLst>
              <a:ext uri="{FF2B5EF4-FFF2-40B4-BE49-F238E27FC236}">
                <a16:creationId xmlns:a16="http://schemas.microsoft.com/office/drawing/2014/main" id="{23F69DFB-B47D-40F4-9F73-D169F3E91056}"/>
              </a:ext>
            </a:extLst>
          </p:cNvPr>
          <p:cNvSpPr>
            <a:spLocks noGrp="1"/>
          </p:cNvSpPr>
          <p:nvPr/>
        </p:nvSpPr>
        <p:spPr>
          <a:xfrm>
            <a:off x="1444752" y="4462272"/>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모듈러 성질 활용</a:t>
            </a:r>
            <a:endParaRPr sz="1250"/>
          </a:p>
        </p:txBody>
      </p:sp>
      <p:sp>
        <p:nvSpPr>
          <p:cNvPr id="21" name="Text 15">
            <a:extLst>
              <a:ext uri="{FF2B5EF4-FFF2-40B4-BE49-F238E27FC236}">
                <a16:creationId xmlns:a16="http://schemas.microsoft.com/office/drawing/2014/main" id="{ACEF1C4A-5C57-4F50-9092-6C326161F67C}"/>
              </a:ext>
            </a:extLst>
          </p:cNvPr>
          <p:cNvSpPr>
            <a:spLocks noGrp="1"/>
          </p:cNvSpPr>
          <p:nvPr/>
        </p:nvSpPr>
        <p:spPr>
          <a:xfrm>
            <a:off x="1444752" y="4754880"/>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606060"/>
                </a:solidFill>
                <a:latin typeface="Malgun Gothic"/>
                <a:ea typeface="Malgun Gothic"/>
                <a:cs typeface="Malgun Gothic"/>
              </a:defRPr>
            </a:pPr>
            <a:r>
              <a:rPr sz="1080" i="0">
                <a:solidFill>
                  <a:srgbClr val="606060"/>
                </a:solidFill>
                <a:latin typeface="Malgun Gothic"/>
                <a:ea typeface="Malgun Gothic"/>
                <a:cs typeface="Malgun Gothic"/>
              </a:rPr>
              <a:t>(a × b) mod c = ((a mod c) × (b mod c)) mod c. 매 단계 나머지를 취해 수가 커지지 않게 한다.</a:t>
            </a:r>
            <a:endParaRPr sz="1080"/>
          </a:p>
        </p:txBody>
      </p:sp>
      <p:sp>
        <p:nvSpPr>
          <p:cNvPr id="23" name="Text 17">
            <a:extLst>
              <a:ext uri="{FF2B5EF4-FFF2-40B4-BE49-F238E27FC236}">
                <a16:creationId xmlns:a16="http://schemas.microsoft.com/office/drawing/2014/main" id="{475540B6-FCF3-4004-AAF4-574A57AAD57D}"/>
              </a:ext>
            </a:extLst>
          </p:cNvPr>
          <p:cNvSpPr>
            <a:spLocks noGrp="1"/>
          </p:cNvSpPr>
          <p:nvPr/>
        </p:nvSpPr>
        <p:spPr>
          <a:xfrm>
            <a:off x="795528" y="5431536"/>
            <a:ext cx="6675120" cy="731520"/>
          </a:xfrm>
          <a:prstGeom prst="rect">
            <a:avLst/>
          </a:prstGeom>
          <a:noFill/>
          <a:ln w="0">
            <a:noFill/>
          </a:ln>
        </p:spPr>
        <p:txBody>
          <a:bodyPr wrap="square" lIns="0" tIns="0" rIns="0" bIns="0" anchor="ctr">
            <a:noAutofit/>
          </a:bodyPr>
          <a:lstStyle/>
          <a:p>
            <a:pPr marL="0" indent="0" algn="ctr">
              <a:buNone/>
              <a:defRPr sz="1800"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T(n) = T(n/2) + O(1)   ⇒   Θ(log B)</a:t>
            </a:r>
            <a:endParaRPr sz="1800"/>
          </a:p>
        </p:txBody>
      </p:sp>
      <p:sp>
        <p:nvSpPr>
          <p:cNvPr id="25" name="Text 19">
            <a:extLst>
              <a:ext uri="{FF2B5EF4-FFF2-40B4-BE49-F238E27FC236}">
                <a16:creationId xmlns:a16="http://schemas.microsoft.com/office/drawing/2014/main" id="{CF8941B8-2FAB-4B3F-9E64-5B5D128561D5}"/>
              </a:ext>
            </a:extLst>
          </p:cNvPr>
          <p:cNvSpPr>
            <a:spLocks noGrp="1"/>
          </p:cNvSpPr>
          <p:nvPr/>
        </p:nvSpPr>
        <p:spPr>
          <a:xfrm>
            <a:off x="8119872" y="2651760"/>
            <a:ext cx="3200400"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예제</a:t>
            </a:r>
            <a:endParaRPr sz="1200"/>
          </a:p>
        </p:txBody>
      </p:sp>
      <p:sp>
        <p:nvSpPr>
          <p:cNvPr id="26" name="Text 20">
            <a:extLst>
              <a:ext uri="{FF2B5EF4-FFF2-40B4-BE49-F238E27FC236}">
                <a16:creationId xmlns:a16="http://schemas.microsoft.com/office/drawing/2014/main" id="{0FA1BB43-786D-4DCC-9D96-9AACFD6697AF}"/>
              </a:ext>
            </a:extLst>
          </p:cNvPr>
          <p:cNvSpPr>
            <a:spLocks noGrp="1"/>
          </p:cNvSpPr>
          <p:nvPr/>
        </p:nvSpPr>
        <p:spPr>
          <a:xfrm>
            <a:off x="8119872" y="3017520"/>
            <a:ext cx="3200400" cy="256032"/>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sz="1000" i="0">
                <a:solidFill>
                  <a:srgbClr val="171717"/>
                </a:solidFill>
                <a:latin typeface="Malgun Gothic"/>
                <a:ea typeface="Malgun Gothic"/>
                <a:cs typeface="Malgun Gothic"/>
              </a:rPr>
              <a:t>입력</a:t>
            </a:r>
            <a:endParaRPr sz="1000"/>
          </a:p>
        </p:txBody>
      </p:sp>
      <p:sp>
        <p:nvSpPr>
          <p:cNvPr id="27" name="Text 21">
            <a:extLst>
              <a:ext uri="{FF2B5EF4-FFF2-40B4-BE49-F238E27FC236}">
                <a16:creationId xmlns:a16="http://schemas.microsoft.com/office/drawing/2014/main" id="{680D22C1-A8B9-4156-9BA9-FB85C2633AAC}"/>
              </a:ext>
            </a:extLst>
          </p:cNvPr>
          <p:cNvSpPr>
            <a:spLocks noGrp="1"/>
          </p:cNvSpPr>
          <p:nvPr/>
        </p:nvSpPr>
        <p:spPr>
          <a:xfrm>
            <a:off x="8119872" y="3291840"/>
            <a:ext cx="320040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10 11 12</a:t>
            </a:r>
            <a:endParaRPr sz="1400"/>
          </a:p>
        </p:txBody>
      </p:sp>
      <p:sp>
        <p:nvSpPr>
          <p:cNvPr id="28" name="Text 22">
            <a:extLst>
              <a:ext uri="{FF2B5EF4-FFF2-40B4-BE49-F238E27FC236}">
                <a16:creationId xmlns:a16="http://schemas.microsoft.com/office/drawing/2014/main" id="{F66B81EB-E39A-4E16-8633-D72122C7C8C8}"/>
              </a:ext>
            </a:extLst>
          </p:cNvPr>
          <p:cNvSpPr>
            <a:spLocks noGrp="1"/>
          </p:cNvSpPr>
          <p:nvPr/>
        </p:nvSpPr>
        <p:spPr>
          <a:xfrm>
            <a:off x="8119872" y="3749040"/>
            <a:ext cx="3200400" cy="256032"/>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sz="1000" i="0">
                <a:solidFill>
                  <a:srgbClr val="171717"/>
                </a:solidFill>
                <a:latin typeface="Malgun Gothic"/>
                <a:ea typeface="Malgun Gothic"/>
                <a:cs typeface="Malgun Gothic"/>
              </a:rPr>
              <a:t>출력</a:t>
            </a:r>
            <a:endParaRPr sz="1000"/>
          </a:p>
        </p:txBody>
      </p:sp>
      <p:sp>
        <p:nvSpPr>
          <p:cNvPr id="29" name="Text 23">
            <a:extLst>
              <a:ext uri="{FF2B5EF4-FFF2-40B4-BE49-F238E27FC236}">
                <a16:creationId xmlns:a16="http://schemas.microsoft.com/office/drawing/2014/main" id="{87B5AA98-7632-4992-93A5-CA464856C701}"/>
              </a:ext>
            </a:extLst>
          </p:cNvPr>
          <p:cNvSpPr>
            <a:spLocks noGrp="1"/>
          </p:cNvSpPr>
          <p:nvPr/>
        </p:nvSpPr>
        <p:spPr>
          <a:xfrm>
            <a:off x="8119872" y="4023360"/>
            <a:ext cx="3200400" cy="384048"/>
          </a:xfrm>
          <a:prstGeom prst="rect">
            <a:avLst/>
          </a:prstGeom>
          <a:noFill/>
          <a:ln w="0">
            <a:noFill/>
          </a:ln>
        </p:spPr>
        <p:txBody>
          <a:bodyPr wrap="square" lIns="0" tIns="0" rIns="0" bIns="0" anchor="ctr">
            <a:noAutofit/>
          </a:bodyPr>
          <a:lstStyle/>
          <a:p>
            <a:pPr marL="0" indent="0" algn="l">
              <a:buNone/>
              <a:defRPr sz="1800" i="0">
                <a:solidFill>
                  <a:srgbClr val="171717"/>
                </a:solidFill>
                <a:latin typeface="Consolas"/>
                <a:ea typeface="Consolas"/>
                <a:cs typeface="Consolas"/>
              </a:defRPr>
            </a:pPr>
            <a:r>
              <a:rPr sz="1800" b="1" i="0">
                <a:solidFill>
                  <a:srgbClr val="171717"/>
                </a:solidFill>
                <a:latin typeface="Consolas"/>
                <a:ea typeface="Consolas"/>
                <a:cs typeface="Consolas"/>
              </a:rPr>
              <a:t>4</a:t>
            </a:r>
            <a:endParaRPr sz="1800"/>
          </a:p>
        </p:txBody>
      </p:sp>
      <p:sp>
        <p:nvSpPr>
          <p:cNvPr id="30" name="Text 24">
            <a:extLst>
              <a:ext uri="{FF2B5EF4-FFF2-40B4-BE49-F238E27FC236}">
                <a16:creationId xmlns:a16="http://schemas.microsoft.com/office/drawing/2014/main" id="{9808324F-8C3B-4C8B-B098-C7D813C4EB34}"/>
              </a:ext>
            </a:extLst>
          </p:cNvPr>
          <p:cNvSpPr>
            <a:spLocks noGrp="1"/>
          </p:cNvSpPr>
          <p:nvPr/>
        </p:nvSpPr>
        <p:spPr>
          <a:xfrm>
            <a:off x="8119872" y="4663440"/>
            <a:ext cx="3200400" cy="118872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21억 번의 곱셈이</a:t>
            </a:r>
            <a:endParaRPr sz="1150"/>
          </a:p>
          <a:p>
            <a:pPr marL="0" indent="0" algn="l">
              <a:lnSpc>
                <a:spcPct val="135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약 31단계로 줄어든다.</a:t>
            </a:r>
            <a:endParaRPr sz="1150"/>
          </a:p>
          <a:p>
            <a:pPr marL="0" indent="0" algn="l">
              <a:lnSpc>
                <a:spcPct val="135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(log₂ 2,147,483,647 ≈ 31)</a:t>
            </a:r>
            <a:endParaRPr sz="1150"/>
          </a:p>
        </p:txBody>
      </p:sp>
      <p:sp>
        <p:nvSpPr>
          <p:cNvPr id="32" name="직사각형 31">
            <a:extLst>
              <a:ext uri="{FF2B5EF4-FFF2-40B4-BE49-F238E27FC236}">
                <a16:creationId xmlns:a16="http://schemas.microsoft.com/office/drawing/2014/main" id="{71F082B8-545C-4B57-90EC-555073F5BFF0}"/>
              </a:ext>
            </a:extLst>
          </p:cNvPr>
          <p:cNvSpPr>
            <a:spLocks noGrp="1"/>
          </p:cNvSpPr>
          <p:nvPr/>
        </p:nvSpPr>
        <p:spPr>
          <a:xfrm>
            <a:off x="658368" y="2487168"/>
            <a:ext cx="6949440"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ED5F8021-29E6-495C-8D0E-1B69F8AFDE09}"/>
              </a:ext>
            </a:extLst>
          </p:cNvPr>
          <p:cNvSpPr>
            <a:spLocks noGrp="1"/>
          </p:cNvSpPr>
          <p:nvPr/>
        </p:nvSpPr>
        <p:spPr>
          <a:xfrm>
            <a:off x="658368" y="4352544"/>
            <a:ext cx="694944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F9B5C347-176C-4A09-9EE7-2BE612078A3C}"/>
              </a:ext>
            </a:extLst>
          </p:cNvPr>
          <p:cNvSpPr>
            <a:spLocks noGrp="1"/>
          </p:cNvSpPr>
          <p:nvPr/>
        </p:nvSpPr>
        <p:spPr>
          <a:xfrm>
            <a:off x="7882128" y="2487168"/>
            <a:ext cx="3648456"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99004801-2DFB-4F32-AAB4-ACB3D5694FE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4.2  거듭제곱 나머지</a:t>
            </a:r>
          </a:p>
        </p:txBody>
      </p:sp>
      <p:sp>
        <p:nvSpPr>
          <p:cNvPr id="36" name="직사각형 35">
            <a:extLst>
              <a:ext uri="{FF2B5EF4-FFF2-40B4-BE49-F238E27FC236}">
                <a16:creationId xmlns:a16="http://schemas.microsoft.com/office/drawing/2014/main" id="{3A596FBE-888E-404B-81AF-571DD438654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7" name="직사각형 36">
            <a:extLst>
              <a:ext uri="{FF2B5EF4-FFF2-40B4-BE49-F238E27FC236}">
                <a16:creationId xmlns:a16="http://schemas.microsoft.com/office/drawing/2014/main" id="{F5EE23AB-EB55-4AE8-8EFE-3B877434A75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곱셈 — A^B mod C 를 눈 깜짝할 사이에</a:t>
            </a:r>
          </a:p>
        </p:txBody>
      </p:sp>
      <p:sp>
        <p:nvSpPr>
          <p:cNvPr id="38" name="직사각형 37">
            <a:extLst>
              <a:ext uri="{FF2B5EF4-FFF2-40B4-BE49-F238E27FC236}">
                <a16:creationId xmlns:a16="http://schemas.microsoft.com/office/drawing/2014/main" id="{0F207149-FCE6-49B8-9E9D-5D0D0CB1D136}"/>
              </a:ext>
            </a:extLst>
          </p:cNvPr>
          <p:cNvSpPr>
            <a:spLocks noGrp="1"/>
          </p:cNvSpPr>
          <p:nvPr/>
        </p:nvSpPr>
        <p:spPr>
          <a:xfrm>
            <a:off x="609600" y="1381125"/>
            <a:ext cx="10972800" cy="19050"/>
          </a:xfrm>
          <a:prstGeom prst="rect">
            <a:avLst/>
          </a:prstGeom>
          <a:solidFill>
            <a:srgbClr val="171717"/>
          </a:solidFill>
          <a:ln w="0">
            <a:noFill/>
          </a:ln>
        </p:spPr>
      </p:sp>
      <p:sp>
        <p:nvSpPr>
          <p:cNvPr id="39" name="직사각형 38">
            <a:extLst>
              <a:ext uri="{FF2B5EF4-FFF2-40B4-BE49-F238E27FC236}">
                <a16:creationId xmlns:a16="http://schemas.microsoft.com/office/drawing/2014/main" id="{488B3AD0-4A72-4D9E-B1CD-2DAA968C3436}"/>
              </a:ext>
            </a:extLst>
          </p:cNvPr>
          <p:cNvSpPr>
            <a:spLocks noGrp="1"/>
          </p:cNvSpPr>
          <p:nvPr/>
        </p:nvSpPr>
        <p:spPr>
          <a:xfrm>
            <a:off x="609600" y="6438900"/>
            <a:ext cx="10972800" cy="9525"/>
          </a:xfrm>
          <a:prstGeom prst="rect">
            <a:avLst/>
          </a:prstGeom>
          <a:solidFill>
            <a:srgbClr val="D4D4D4"/>
          </a:solidFill>
          <a:ln w="0">
            <a:noFill/>
          </a:ln>
        </p:spPr>
      </p:sp>
      <p:sp>
        <p:nvSpPr>
          <p:cNvPr id="40" name="직사각형 39">
            <a:extLst>
              <a:ext uri="{FF2B5EF4-FFF2-40B4-BE49-F238E27FC236}">
                <a16:creationId xmlns:a16="http://schemas.microsoft.com/office/drawing/2014/main" id="{32753DC9-0CF1-40AB-A394-E52448FC0B9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1" name="직사각형 40">
            <a:extLst>
              <a:ext uri="{FF2B5EF4-FFF2-40B4-BE49-F238E27FC236}">
                <a16:creationId xmlns:a16="http://schemas.microsoft.com/office/drawing/2014/main" id="{A5B49D63-F9B9-4087-BF9D-70E12A4E6D4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77</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0960676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DE88A6DB-CDCB-47CC-892B-27FFA1BF8495}"/>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power.py</a:t>
            </a:r>
            <a:endParaRPr sz="900"/>
          </a:p>
        </p:txBody>
      </p:sp>
      <p:sp>
        <p:nvSpPr>
          <p:cNvPr id="20" name="Text 17">
            <a:extLst>
              <a:ext uri="{FF2B5EF4-FFF2-40B4-BE49-F238E27FC236}">
                <a16:creationId xmlns:a16="http://schemas.microsoft.com/office/drawing/2014/main" id="{F2DD3091-49BD-4E1C-8A40-DA8406CA4A77}"/>
              </a:ext>
            </a:extLst>
          </p:cNvPr>
          <p:cNvSpPr>
            <a:spLocks noGrp="1"/>
          </p:cNvSpPr>
          <p:nvPr/>
        </p:nvSpPr>
        <p:spPr>
          <a:xfrm>
            <a:off x="859536" y="4791456"/>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3" name="Text 20">
            <a:extLst>
              <a:ext uri="{FF2B5EF4-FFF2-40B4-BE49-F238E27FC236}">
                <a16:creationId xmlns:a16="http://schemas.microsoft.com/office/drawing/2014/main" id="{7478058A-6C53-4088-B72B-50240BB870B1}"/>
              </a:ext>
            </a:extLst>
          </p:cNvPr>
          <p:cNvSpPr>
            <a:spLocks noGrp="1"/>
          </p:cNvSpPr>
          <p:nvPr/>
        </p:nvSpPr>
        <p:spPr>
          <a:xfrm>
            <a:off x="877824" y="5705856"/>
            <a:ext cx="6492240" cy="457200"/>
          </a:xfrm>
          <a:prstGeom prst="rect">
            <a:avLst/>
          </a:prstGeom>
          <a:noFill/>
          <a:ln w="0">
            <a:noFill/>
          </a:ln>
        </p:spPr>
        <p:txBody>
          <a:bodyPr wrap="square" lIns="0" tIns="0" rIns="0" bIns="0" anchor="ctr">
            <a:noAutofit/>
          </a:bodyPr>
          <a:lstStyle/>
          <a:p>
            <a:pPr marL="0" indent="0" algn="l">
              <a:buNone/>
              <a:defRPr sz="1500" i="0">
                <a:solidFill>
                  <a:srgbClr val="171717"/>
                </a:solidFill>
                <a:latin typeface="Consolas"/>
                <a:ea typeface="Consolas"/>
                <a:cs typeface="Consolas"/>
              </a:defRPr>
            </a:pPr>
            <a:r>
              <a:rPr sz="1500" b="1" i="0">
                <a:solidFill>
                  <a:srgbClr val="171717"/>
                </a:solidFill>
                <a:latin typeface="Consolas"/>
                <a:ea typeface="Consolas"/>
                <a:cs typeface="Consolas"/>
              </a:rPr>
              <a:t>OUTPUT   4</a:t>
            </a:r>
            <a:endParaRPr sz="1150"/>
          </a:p>
        </p:txBody>
      </p:sp>
      <p:sp>
        <p:nvSpPr>
          <p:cNvPr id="25" name="Text 22">
            <a:extLst>
              <a:ext uri="{FF2B5EF4-FFF2-40B4-BE49-F238E27FC236}">
                <a16:creationId xmlns:a16="http://schemas.microsoft.com/office/drawing/2014/main" id="{7954DF9B-F555-4468-AE70-4D5E0B990003}"/>
              </a:ext>
            </a:extLst>
          </p:cNvPr>
          <p:cNvSpPr>
            <a:spLocks noGrp="1"/>
          </p:cNvSpPr>
          <p:nvPr/>
        </p:nvSpPr>
        <p:spPr>
          <a:xfrm>
            <a:off x="7991856" y="1920240"/>
            <a:ext cx="329184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재귀 호출 추적</a:t>
            </a:r>
            <a:endParaRPr sz="1250"/>
          </a:p>
        </p:txBody>
      </p:sp>
      <p:sp>
        <p:nvSpPr>
          <p:cNvPr id="26" name="Text 23">
            <a:extLst>
              <a:ext uri="{FF2B5EF4-FFF2-40B4-BE49-F238E27FC236}">
                <a16:creationId xmlns:a16="http://schemas.microsoft.com/office/drawing/2014/main" id="{4E5319C6-0933-4782-92AE-12DD34D515F6}"/>
              </a:ext>
            </a:extLst>
          </p:cNvPr>
          <p:cNvSpPr>
            <a:spLocks noGrp="1"/>
          </p:cNvSpPr>
          <p:nvPr/>
        </p:nvSpPr>
        <p:spPr>
          <a:xfrm>
            <a:off x="7991856" y="2322576"/>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11, 12)</a:t>
            </a:r>
            <a:endParaRPr sz="950"/>
          </a:p>
        </p:txBody>
      </p:sp>
      <p:sp>
        <p:nvSpPr>
          <p:cNvPr id="27" name="Text 24">
            <a:extLst>
              <a:ext uri="{FF2B5EF4-FFF2-40B4-BE49-F238E27FC236}">
                <a16:creationId xmlns:a16="http://schemas.microsoft.com/office/drawing/2014/main" id="{7315BCC4-A3B6-4914-9B4D-E9A48E538650}"/>
              </a:ext>
            </a:extLst>
          </p:cNvPr>
          <p:cNvSpPr>
            <a:spLocks noGrp="1"/>
          </p:cNvSpPr>
          <p:nvPr/>
        </p:nvSpPr>
        <p:spPr>
          <a:xfrm>
            <a:off x="10058400" y="2322576"/>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11 (홀수)</a:t>
            </a:r>
            <a:endParaRPr sz="950"/>
          </a:p>
        </p:txBody>
      </p:sp>
      <p:sp>
        <p:nvSpPr>
          <p:cNvPr id="28" name="Text 25">
            <a:extLst>
              <a:ext uri="{FF2B5EF4-FFF2-40B4-BE49-F238E27FC236}">
                <a16:creationId xmlns:a16="http://schemas.microsoft.com/office/drawing/2014/main" id="{FAC71004-76AD-4371-896F-C286A16DAA5B}"/>
              </a:ext>
            </a:extLst>
          </p:cNvPr>
          <p:cNvSpPr>
            <a:spLocks noGrp="1"/>
          </p:cNvSpPr>
          <p:nvPr/>
        </p:nvSpPr>
        <p:spPr>
          <a:xfrm>
            <a:off x="8083296" y="2798064"/>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5, 12)</a:t>
            </a:r>
            <a:endParaRPr sz="950"/>
          </a:p>
        </p:txBody>
      </p:sp>
      <p:sp>
        <p:nvSpPr>
          <p:cNvPr id="29" name="Text 26">
            <a:extLst>
              <a:ext uri="{FF2B5EF4-FFF2-40B4-BE49-F238E27FC236}">
                <a16:creationId xmlns:a16="http://schemas.microsoft.com/office/drawing/2014/main" id="{17227B24-062A-468C-8790-D6EC69403FC8}"/>
              </a:ext>
            </a:extLst>
          </p:cNvPr>
          <p:cNvSpPr>
            <a:spLocks noGrp="1"/>
          </p:cNvSpPr>
          <p:nvPr/>
        </p:nvSpPr>
        <p:spPr>
          <a:xfrm>
            <a:off x="10058400" y="2798064"/>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5 (홀수)</a:t>
            </a:r>
            <a:endParaRPr sz="950"/>
          </a:p>
        </p:txBody>
      </p:sp>
      <p:sp>
        <p:nvSpPr>
          <p:cNvPr id="30" name="Text 27">
            <a:extLst>
              <a:ext uri="{FF2B5EF4-FFF2-40B4-BE49-F238E27FC236}">
                <a16:creationId xmlns:a16="http://schemas.microsoft.com/office/drawing/2014/main" id="{9BD993C7-52EF-4F1A-8CB3-DB7D2E8AEBEA}"/>
              </a:ext>
            </a:extLst>
          </p:cNvPr>
          <p:cNvSpPr>
            <a:spLocks noGrp="1"/>
          </p:cNvSpPr>
          <p:nvPr/>
        </p:nvSpPr>
        <p:spPr>
          <a:xfrm>
            <a:off x="8174736" y="3273552"/>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2, 12)</a:t>
            </a:r>
            <a:endParaRPr sz="950"/>
          </a:p>
        </p:txBody>
      </p:sp>
      <p:sp>
        <p:nvSpPr>
          <p:cNvPr id="31" name="Text 28">
            <a:extLst>
              <a:ext uri="{FF2B5EF4-FFF2-40B4-BE49-F238E27FC236}">
                <a16:creationId xmlns:a16="http://schemas.microsoft.com/office/drawing/2014/main" id="{AA56D71D-987B-49BA-973A-E270619F3E8A}"/>
              </a:ext>
            </a:extLst>
          </p:cNvPr>
          <p:cNvSpPr>
            <a:spLocks noGrp="1"/>
          </p:cNvSpPr>
          <p:nvPr/>
        </p:nvSpPr>
        <p:spPr>
          <a:xfrm>
            <a:off x="10058400" y="3273552"/>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2 (짝수)</a:t>
            </a:r>
            <a:endParaRPr sz="950"/>
          </a:p>
        </p:txBody>
      </p:sp>
      <p:sp>
        <p:nvSpPr>
          <p:cNvPr id="32" name="Text 29">
            <a:extLst>
              <a:ext uri="{FF2B5EF4-FFF2-40B4-BE49-F238E27FC236}">
                <a16:creationId xmlns:a16="http://schemas.microsoft.com/office/drawing/2014/main" id="{4D651DF1-5CDB-4C54-94BC-A0E83D781987}"/>
              </a:ext>
            </a:extLst>
          </p:cNvPr>
          <p:cNvSpPr>
            <a:spLocks noGrp="1"/>
          </p:cNvSpPr>
          <p:nvPr/>
        </p:nvSpPr>
        <p:spPr>
          <a:xfrm>
            <a:off x="8266176" y="3749040"/>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1, 12)</a:t>
            </a:r>
            <a:endParaRPr sz="950"/>
          </a:p>
        </p:txBody>
      </p:sp>
      <p:sp>
        <p:nvSpPr>
          <p:cNvPr id="33" name="Text 30">
            <a:extLst>
              <a:ext uri="{FF2B5EF4-FFF2-40B4-BE49-F238E27FC236}">
                <a16:creationId xmlns:a16="http://schemas.microsoft.com/office/drawing/2014/main" id="{46AF8CC7-31B6-47E4-B8C5-88AC3F0B7F5F}"/>
              </a:ext>
            </a:extLst>
          </p:cNvPr>
          <p:cNvSpPr>
            <a:spLocks noGrp="1"/>
          </p:cNvSpPr>
          <p:nvPr/>
        </p:nvSpPr>
        <p:spPr>
          <a:xfrm>
            <a:off x="10058400" y="3749040"/>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1 (홀수)</a:t>
            </a:r>
            <a:endParaRPr sz="950"/>
          </a:p>
        </p:txBody>
      </p:sp>
      <p:sp>
        <p:nvSpPr>
          <p:cNvPr id="34" name="Text 31">
            <a:extLst>
              <a:ext uri="{FF2B5EF4-FFF2-40B4-BE49-F238E27FC236}">
                <a16:creationId xmlns:a16="http://schemas.microsoft.com/office/drawing/2014/main" id="{106F1B88-E18E-4D2A-86C8-C9526158C901}"/>
              </a:ext>
            </a:extLst>
          </p:cNvPr>
          <p:cNvSpPr>
            <a:spLocks noGrp="1"/>
          </p:cNvSpPr>
          <p:nvPr/>
        </p:nvSpPr>
        <p:spPr>
          <a:xfrm>
            <a:off x="8357616" y="4224528"/>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0, 12)</a:t>
            </a:r>
            <a:endParaRPr sz="950"/>
          </a:p>
        </p:txBody>
      </p:sp>
      <p:sp>
        <p:nvSpPr>
          <p:cNvPr id="35" name="Text 32">
            <a:extLst>
              <a:ext uri="{FF2B5EF4-FFF2-40B4-BE49-F238E27FC236}">
                <a16:creationId xmlns:a16="http://schemas.microsoft.com/office/drawing/2014/main" id="{D8AEA508-C6C3-45ED-9DAE-0E761E4D8319}"/>
              </a:ext>
            </a:extLst>
          </p:cNvPr>
          <p:cNvSpPr>
            <a:spLocks noGrp="1"/>
          </p:cNvSpPr>
          <p:nvPr/>
        </p:nvSpPr>
        <p:spPr>
          <a:xfrm>
            <a:off x="10058400" y="4224528"/>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return 1 % c</a:t>
            </a:r>
            <a:endParaRPr sz="950"/>
          </a:p>
        </p:txBody>
      </p:sp>
      <p:sp>
        <p:nvSpPr>
          <p:cNvPr id="39" name="Text 35">
            <a:extLst>
              <a:ext uri="{FF2B5EF4-FFF2-40B4-BE49-F238E27FC236}">
                <a16:creationId xmlns:a16="http://schemas.microsoft.com/office/drawing/2014/main" id="{A0CAB43F-9DFD-416A-ADCF-4726D3D1C1CD}"/>
              </a:ext>
            </a:extLst>
          </p:cNvPr>
          <p:cNvSpPr>
            <a:spLocks noGrp="1"/>
          </p:cNvSpPr>
          <p:nvPr/>
        </p:nvSpPr>
        <p:spPr>
          <a:xfrm>
            <a:off x="8631936" y="5175504"/>
            <a:ext cx="2642616" cy="292608"/>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깊이는 log₂B</a:t>
            </a:r>
            <a:endParaRPr sz="1230"/>
          </a:p>
        </p:txBody>
      </p:sp>
      <p:sp>
        <p:nvSpPr>
          <p:cNvPr id="40" name="Text 36">
            <a:extLst>
              <a:ext uri="{FF2B5EF4-FFF2-40B4-BE49-F238E27FC236}">
                <a16:creationId xmlns:a16="http://schemas.microsoft.com/office/drawing/2014/main" id="{4130B265-A606-4BC1-B6AE-59812F685CBB}"/>
              </a:ext>
            </a:extLst>
          </p:cNvPr>
          <p:cNvSpPr>
            <a:spLocks noGrp="1"/>
          </p:cNvSpPr>
          <p:nvPr/>
        </p:nvSpPr>
        <p:spPr>
          <a:xfrm>
            <a:off x="8631936" y="5522976"/>
            <a:ext cx="2642616" cy="438912"/>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B = 21억이어도 재귀 깊이는 31에 불과하다.</a:t>
            </a:r>
            <a:endParaRPr sz="1100"/>
          </a:p>
        </p:txBody>
      </p:sp>
      <p:sp>
        <p:nvSpPr>
          <p:cNvPr id="42" name="직사각형 41">
            <a:extLst>
              <a:ext uri="{FF2B5EF4-FFF2-40B4-BE49-F238E27FC236}">
                <a16:creationId xmlns:a16="http://schemas.microsoft.com/office/drawing/2014/main" id="{6AFD1682-CFA7-4878-9E75-6D7799D66E61}"/>
              </a:ext>
            </a:extLst>
          </p:cNvPr>
          <p:cNvSpPr>
            <a:spLocks noGrp="1"/>
          </p:cNvSpPr>
          <p:nvPr/>
        </p:nvSpPr>
        <p:spPr>
          <a:xfrm>
            <a:off x="7772400" y="1783080"/>
            <a:ext cx="3758184" cy="9525"/>
          </a:xfrm>
          <a:prstGeom prst="rect">
            <a:avLst/>
          </a:prstGeom>
          <a:solidFill>
            <a:srgbClr val="D4D4D4"/>
          </a:solidFill>
          <a:ln w="0">
            <a:noFill/>
          </a:ln>
        </p:spPr>
      </p:sp>
      <p:sp>
        <p:nvSpPr>
          <p:cNvPr id="43" name="직사각형 42">
            <a:extLst>
              <a:ext uri="{FF2B5EF4-FFF2-40B4-BE49-F238E27FC236}">
                <a16:creationId xmlns:a16="http://schemas.microsoft.com/office/drawing/2014/main" id="{61DF7044-74C6-41B7-9147-14572C6B3BF4}"/>
              </a:ext>
            </a:extLst>
          </p:cNvPr>
          <p:cNvSpPr>
            <a:spLocks noGrp="1"/>
          </p:cNvSpPr>
          <p:nvPr/>
        </p:nvSpPr>
        <p:spPr>
          <a:xfrm>
            <a:off x="7772400" y="4992624"/>
            <a:ext cx="3758184" cy="9525"/>
          </a:xfrm>
          <a:prstGeom prst="rect">
            <a:avLst/>
          </a:prstGeom>
          <a:solidFill>
            <a:srgbClr val="D4D4D4"/>
          </a:solidFill>
          <a:ln w="0">
            <a:noFill/>
          </a:ln>
        </p:spPr>
      </p:sp>
      <p:sp>
        <p:nvSpPr>
          <p:cNvPr id="44" name="직사각형 43">
            <a:extLst>
              <a:ext uri="{FF2B5EF4-FFF2-40B4-BE49-F238E27FC236}">
                <a16:creationId xmlns:a16="http://schemas.microsoft.com/office/drawing/2014/main" id="{35ABB5AF-615A-4FF9-B9C8-5E400F50838C}"/>
              </a:ext>
            </a:extLst>
          </p:cNvPr>
          <p:cNvSpPr>
            <a:spLocks noGrp="1"/>
          </p:cNvSpPr>
          <p:nvPr/>
        </p:nvSpPr>
        <p:spPr>
          <a:xfrm>
            <a:off x="698373" y="2090928"/>
            <a:ext cx="6924294" cy="25405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power(a, b,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b == 0:</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1 %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half = power(a, b // 2,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 = (half * half) %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b % 2 == 1:</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 = (result * a) %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result</a:t>
            </a:r>
          </a:p>
        </p:txBody>
      </p:sp>
      <p:sp>
        <p:nvSpPr>
          <p:cNvPr id="45" name="직사각형 44">
            <a:extLst>
              <a:ext uri="{FF2B5EF4-FFF2-40B4-BE49-F238E27FC236}">
                <a16:creationId xmlns:a16="http://schemas.microsoft.com/office/drawing/2014/main" id="{BC22A021-F005-4B9B-BABA-246AC7118D13}"/>
              </a:ext>
            </a:extLst>
          </p:cNvPr>
          <p:cNvSpPr>
            <a:spLocks noGrp="1"/>
          </p:cNvSpPr>
          <p:nvPr/>
        </p:nvSpPr>
        <p:spPr>
          <a:xfrm>
            <a:off x="698373" y="5081016"/>
            <a:ext cx="6924294" cy="48310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A, B, C = map(int, "10 11 12".split())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print(power(A, B, C))</a:t>
            </a:r>
          </a:p>
        </p:txBody>
      </p:sp>
      <p:sp>
        <p:nvSpPr>
          <p:cNvPr id="46" name="직사각형 45">
            <a:extLst>
              <a:ext uri="{FF2B5EF4-FFF2-40B4-BE49-F238E27FC236}">
                <a16:creationId xmlns:a16="http://schemas.microsoft.com/office/drawing/2014/main" id="{260286FA-C163-4929-8115-549AD850CAF5}"/>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4.2  거듭제곱 나머지</a:t>
            </a:r>
          </a:p>
        </p:txBody>
      </p:sp>
      <p:sp>
        <p:nvSpPr>
          <p:cNvPr id="47" name="직사각형 46">
            <a:extLst>
              <a:ext uri="{FF2B5EF4-FFF2-40B4-BE49-F238E27FC236}">
                <a16:creationId xmlns:a16="http://schemas.microsoft.com/office/drawing/2014/main" id="{DFA8691D-F15C-4A82-959D-6EC92FB4860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8" name="직사각형 47">
            <a:extLst>
              <a:ext uri="{FF2B5EF4-FFF2-40B4-BE49-F238E27FC236}">
                <a16:creationId xmlns:a16="http://schemas.microsoft.com/office/drawing/2014/main" id="{1B64A30F-939B-4EB4-95E0-D8F134A62B3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풀이 — 분할 정복 거듭제곱 (fast power)</a:t>
            </a:r>
          </a:p>
        </p:txBody>
      </p:sp>
      <p:sp>
        <p:nvSpPr>
          <p:cNvPr id="49" name="직사각형 48">
            <a:extLst>
              <a:ext uri="{FF2B5EF4-FFF2-40B4-BE49-F238E27FC236}">
                <a16:creationId xmlns:a16="http://schemas.microsoft.com/office/drawing/2014/main" id="{6751B991-E737-4FD3-82DF-CD6F4C05AB2F}"/>
              </a:ext>
            </a:extLst>
          </p:cNvPr>
          <p:cNvSpPr>
            <a:spLocks noGrp="1"/>
          </p:cNvSpPr>
          <p:nvPr/>
        </p:nvSpPr>
        <p:spPr>
          <a:xfrm>
            <a:off x="609600" y="1381125"/>
            <a:ext cx="10972800" cy="19050"/>
          </a:xfrm>
          <a:prstGeom prst="rect">
            <a:avLst/>
          </a:prstGeom>
          <a:solidFill>
            <a:srgbClr val="171717"/>
          </a:solidFill>
          <a:ln w="0">
            <a:noFill/>
          </a:ln>
        </p:spPr>
      </p:sp>
      <p:sp>
        <p:nvSpPr>
          <p:cNvPr id="50" name="직사각형 49">
            <a:extLst>
              <a:ext uri="{FF2B5EF4-FFF2-40B4-BE49-F238E27FC236}">
                <a16:creationId xmlns:a16="http://schemas.microsoft.com/office/drawing/2014/main" id="{0FD286E3-72FA-4280-81FF-3B805E1245F1}"/>
              </a:ext>
            </a:extLst>
          </p:cNvPr>
          <p:cNvSpPr>
            <a:spLocks noGrp="1"/>
          </p:cNvSpPr>
          <p:nvPr/>
        </p:nvSpPr>
        <p:spPr>
          <a:xfrm>
            <a:off x="609600" y="6438900"/>
            <a:ext cx="10972800" cy="9525"/>
          </a:xfrm>
          <a:prstGeom prst="rect">
            <a:avLst/>
          </a:prstGeom>
          <a:solidFill>
            <a:srgbClr val="D4D4D4"/>
          </a:solidFill>
          <a:ln w="0">
            <a:noFill/>
          </a:ln>
        </p:spPr>
      </p:sp>
      <p:sp>
        <p:nvSpPr>
          <p:cNvPr id="51" name="직사각형 50">
            <a:extLst>
              <a:ext uri="{FF2B5EF4-FFF2-40B4-BE49-F238E27FC236}">
                <a16:creationId xmlns:a16="http://schemas.microsoft.com/office/drawing/2014/main" id="{2A15438D-59B2-4D41-AF37-8580C16919C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2" name="직사각형 51">
            <a:extLst>
              <a:ext uri="{FF2B5EF4-FFF2-40B4-BE49-F238E27FC236}">
                <a16:creationId xmlns:a16="http://schemas.microsoft.com/office/drawing/2014/main" id="{11BC3EB4-0559-403E-ADE4-B9DE76348A7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78</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1178097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ext 4">
            <a:extLst>
              <a:ext uri="{FF2B5EF4-FFF2-40B4-BE49-F238E27FC236}">
                <a16:creationId xmlns:a16="http://schemas.microsoft.com/office/drawing/2014/main" id="{FA246FCA-AD43-4F77-9C04-EC68DD4A6B5C}"/>
              </a:ext>
            </a:extLst>
          </p:cNvPr>
          <p:cNvSpPr>
            <a:spLocks noGrp="1"/>
          </p:cNvSpPr>
          <p:nvPr/>
        </p:nvSpPr>
        <p:spPr>
          <a:xfrm>
            <a:off x="1517904" y="1920240"/>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분할 정복의 3단계</a:t>
            </a:r>
            <a:endParaRPr sz="1400"/>
          </a:p>
        </p:txBody>
      </p:sp>
      <p:sp>
        <p:nvSpPr>
          <p:cNvPr id="8" name="Text 5">
            <a:extLst>
              <a:ext uri="{FF2B5EF4-FFF2-40B4-BE49-F238E27FC236}">
                <a16:creationId xmlns:a16="http://schemas.microsoft.com/office/drawing/2014/main" id="{06BFC15F-36A0-46A6-82E6-8B24CEB56257}"/>
              </a:ext>
            </a:extLst>
          </p:cNvPr>
          <p:cNvSpPr>
            <a:spLocks noGrp="1"/>
          </p:cNvSpPr>
          <p:nvPr/>
        </p:nvSpPr>
        <p:spPr>
          <a:xfrm>
            <a:off x="1517904" y="2304288"/>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606060"/>
                </a:solidFill>
                <a:latin typeface="Malgun Gothic"/>
                <a:ea typeface="Malgun Gothic"/>
                <a:cs typeface="Malgun Gothic"/>
              </a:defRPr>
            </a:pPr>
            <a:r>
              <a:rPr sz="1140" i="0">
                <a:solidFill>
                  <a:srgbClr val="606060"/>
                </a:solidFill>
                <a:latin typeface="Malgun Gothic"/>
                <a:ea typeface="Malgun Gothic"/>
                <a:cs typeface="Malgun Gothic"/>
              </a:rPr>
              <a:t>분할(divide) → 정복(conquer) → 결합(combine). 기저 사례에 도달할 때까지 재귀적으로 나눈다.</a:t>
            </a:r>
            <a:endParaRPr sz="1140"/>
          </a:p>
        </p:txBody>
      </p:sp>
      <p:sp>
        <p:nvSpPr>
          <p:cNvPr id="12" name="Text 8">
            <a:extLst>
              <a:ext uri="{FF2B5EF4-FFF2-40B4-BE49-F238E27FC236}">
                <a16:creationId xmlns:a16="http://schemas.microsoft.com/office/drawing/2014/main" id="{69E7190E-1090-4E5C-84AA-F8F1F2F77C3B}"/>
              </a:ext>
            </a:extLst>
          </p:cNvPr>
          <p:cNvSpPr>
            <a:spLocks noGrp="1"/>
          </p:cNvSpPr>
          <p:nvPr/>
        </p:nvSpPr>
        <p:spPr>
          <a:xfrm>
            <a:off x="7159752" y="1920240"/>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결합이 알고리즘의 핵심</a:t>
            </a:r>
            <a:endParaRPr sz="1400"/>
          </a:p>
        </p:txBody>
      </p:sp>
      <p:sp>
        <p:nvSpPr>
          <p:cNvPr id="13" name="Text 9">
            <a:extLst>
              <a:ext uri="{FF2B5EF4-FFF2-40B4-BE49-F238E27FC236}">
                <a16:creationId xmlns:a16="http://schemas.microsoft.com/office/drawing/2014/main" id="{BC4807D4-098F-40A3-A174-B21F9AB4F44D}"/>
              </a:ext>
            </a:extLst>
          </p:cNvPr>
          <p:cNvSpPr>
            <a:spLocks noGrp="1"/>
          </p:cNvSpPr>
          <p:nvPr/>
        </p:nvSpPr>
        <p:spPr>
          <a:xfrm>
            <a:off x="7159752" y="2304288"/>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171717"/>
                </a:solidFill>
                <a:latin typeface="Malgun Gothic"/>
                <a:ea typeface="Malgun Gothic"/>
                <a:cs typeface="Malgun Gothic"/>
              </a:defRPr>
            </a:pPr>
            <a:r>
              <a:rPr lang="ko-KR" altLang="en-US" sz="1140" i="0">
                <a:solidFill>
                  <a:srgbClr val="171717"/>
                </a:solidFill>
                <a:latin typeface="Malgun Gothic"/>
                <a:ea typeface="Malgun Gothic"/>
                <a:cs typeface="Malgun Gothic"/>
              </a:rPr>
              <a:t>병합</a:t>
            </a:r>
            <a:r>
              <a:rPr sz="1140" i="0">
                <a:solidFill>
                  <a:srgbClr val="171717"/>
                </a:solidFill>
                <a:latin typeface="Malgun Gothic"/>
                <a:ea typeface="Malgun Gothic"/>
                <a:cs typeface="Malgun Gothic"/>
              </a:rPr>
              <a:t> 정렬은 나누기가 쉽고 합치기가 어렵다. 반대로 퀵 정렬은 나누기가 어렵고 합치기가 쉽다.</a:t>
            </a:r>
            <a:endParaRPr sz="1140"/>
          </a:p>
        </p:txBody>
      </p:sp>
      <p:sp>
        <p:nvSpPr>
          <p:cNvPr id="17" name="Text 12">
            <a:extLst>
              <a:ext uri="{FF2B5EF4-FFF2-40B4-BE49-F238E27FC236}">
                <a16:creationId xmlns:a16="http://schemas.microsoft.com/office/drawing/2014/main" id="{4078C997-97CB-43C3-A7EC-71D9AD907C13}"/>
              </a:ext>
            </a:extLst>
          </p:cNvPr>
          <p:cNvSpPr>
            <a:spLocks noGrp="1"/>
          </p:cNvSpPr>
          <p:nvPr/>
        </p:nvSpPr>
        <p:spPr>
          <a:xfrm>
            <a:off x="1517904" y="3419856"/>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기하 문제에도 통한다</a:t>
            </a:r>
            <a:endParaRPr sz="1400"/>
          </a:p>
        </p:txBody>
      </p:sp>
      <p:sp>
        <p:nvSpPr>
          <p:cNvPr id="18" name="Text 13">
            <a:extLst>
              <a:ext uri="{FF2B5EF4-FFF2-40B4-BE49-F238E27FC236}">
                <a16:creationId xmlns:a16="http://schemas.microsoft.com/office/drawing/2014/main" id="{A0C957F3-F658-4C6C-AD7F-412A545F395C}"/>
              </a:ext>
            </a:extLst>
          </p:cNvPr>
          <p:cNvSpPr>
            <a:spLocks noGrp="1"/>
          </p:cNvSpPr>
          <p:nvPr/>
        </p:nvSpPr>
        <p:spPr>
          <a:xfrm>
            <a:off x="1517904" y="3803904"/>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171717"/>
                </a:solidFill>
                <a:latin typeface="Malgun Gothic"/>
                <a:ea typeface="Malgun Gothic"/>
                <a:cs typeface="Malgun Gothic"/>
              </a:defRPr>
            </a:pPr>
            <a:r>
              <a:rPr sz="1140" i="0">
                <a:solidFill>
                  <a:srgbClr val="171717"/>
                </a:solidFill>
                <a:latin typeface="Malgun Gothic"/>
                <a:ea typeface="Malgun Gothic"/>
                <a:cs typeface="Malgun Gothic"/>
              </a:rPr>
              <a:t>최대 구간 합과 최근접 쌍 모두 "경계를 걸친 경우"만 따로 처리하면 O(n log n)이 된다.</a:t>
            </a:r>
            <a:endParaRPr sz="1140"/>
          </a:p>
        </p:txBody>
      </p:sp>
      <p:sp>
        <p:nvSpPr>
          <p:cNvPr id="22" name="Text 16">
            <a:extLst>
              <a:ext uri="{FF2B5EF4-FFF2-40B4-BE49-F238E27FC236}">
                <a16:creationId xmlns:a16="http://schemas.microsoft.com/office/drawing/2014/main" id="{03EB678C-7614-48D6-ABAD-5E46E0875057}"/>
              </a:ext>
            </a:extLst>
          </p:cNvPr>
          <p:cNvSpPr>
            <a:spLocks noGrp="1"/>
          </p:cNvSpPr>
          <p:nvPr/>
        </p:nvSpPr>
        <p:spPr>
          <a:xfrm>
            <a:off x="7159752" y="3419856"/>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공간도 분할한다</a:t>
            </a:r>
            <a:endParaRPr sz="1400"/>
          </a:p>
        </p:txBody>
      </p:sp>
      <p:sp>
        <p:nvSpPr>
          <p:cNvPr id="23" name="Text 17">
            <a:extLst>
              <a:ext uri="{FF2B5EF4-FFF2-40B4-BE49-F238E27FC236}">
                <a16:creationId xmlns:a16="http://schemas.microsoft.com/office/drawing/2014/main" id="{21CF02E7-0AF2-4808-BF35-043E1A708621}"/>
              </a:ext>
            </a:extLst>
          </p:cNvPr>
          <p:cNvSpPr>
            <a:spLocks noGrp="1"/>
          </p:cNvSpPr>
          <p:nvPr/>
        </p:nvSpPr>
        <p:spPr>
          <a:xfrm>
            <a:off x="7159752" y="3803904"/>
            <a:ext cx="4133088" cy="603504"/>
          </a:xfrm>
          <a:prstGeom prst="rect">
            <a:avLst/>
          </a:prstGeom>
          <a:noFill/>
          <a:ln w="0">
            <a:noFill/>
          </a:ln>
        </p:spPr>
        <p:txBody>
          <a:bodyPr wrap="square" lIns="0" tIns="0" rIns="0" bIns="0" anchor="t">
            <a:noAutofit/>
          </a:bodyPr>
          <a:lstStyle/>
          <a:p>
            <a:pPr marL="0" indent="0" algn="l">
              <a:lnSpc>
                <a:spcPct val="12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쿼드 트리는 평면을 1/4씩 재귀 분할한다. 이미지 압축, 충돌 감지, LOD의 기반이다.</a:t>
            </a:r>
            <a:endParaRPr sz="1140"/>
          </a:p>
        </p:txBody>
      </p:sp>
      <p:sp>
        <p:nvSpPr>
          <p:cNvPr id="27" name="Text 20">
            <a:extLst>
              <a:ext uri="{FF2B5EF4-FFF2-40B4-BE49-F238E27FC236}">
                <a16:creationId xmlns:a16="http://schemas.microsoft.com/office/drawing/2014/main" id="{B7AD4D48-5683-4CF6-A506-FA3C62EC996F}"/>
              </a:ext>
            </a:extLst>
          </p:cNvPr>
          <p:cNvSpPr>
            <a:spLocks noGrp="1"/>
          </p:cNvSpPr>
          <p:nvPr/>
        </p:nvSpPr>
        <p:spPr>
          <a:xfrm>
            <a:off x="1517904" y="4919472"/>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마스터 정리</a:t>
            </a:r>
            <a:endParaRPr sz="1400"/>
          </a:p>
        </p:txBody>
      </p:sp>
      <p:sp>
        <p:nvSpPr>
          <p:cNvPr id="28" name="Text 21">
            <a:extLst>
              <a:ext uri="{FF2B5EF4-FFF2-40B4-BE49-F238E27FC236}">
                <a16:creationId xmlns:a16="http://schemas.microsoft.com/office/drawing/2014/main" id="{2E86D80F-F381-45AF-91BA-C93EC8E681B8}"/>
              </a:ext>
            </a:extLst>
          </p:cNvPr>
          <p:cNvSpPr>
            <a:spLocks noGrp="1"/>
          </p:cNvSpPr>
          <p:nvPr/>
        </p:nvSpPr>
        <p:spPr>
          <a:xfrm>
            <a:off x="1517904" y="5303520"/>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606060"/>
                </a:solidFill>
                <a:latin typeface="Malgun Gothic"/>
                <a:ea typeface="Malgun Gothic"/>
                <a:cs typeface="Malgun Gothic"/>
              </a:defRPr>
            </a:pPr>
            <a:r>
              <a:rPr sz="1140" i="0">
                <a:solidFill>
                  <a:srgbClr val="606060"/>
                </a:solidFill>
                <a:latin typeface="Malgun Gothic"/>
                <a:ea typeface="Malgun Gothic"/>
                <a:cs typeface="Malgun Gothic"/>
              </a:rPr>
              <a:t>T(n) = aT(n/b) + f(n) 형태와 각 경우의 적용 조건을 확인한 뒤 비용의 크기를 비교합니다.</a:t>
            </a:r>
            <a:endParaRPr sz="1140"/>
          </a:p>
        </p:txBody>
      </p:sp>
      <p:sp>
        <p:nvSpPr>
          <p:cNvPr id="32" name="Text 24">
            <a:extLst>
              <a:ext uri="{FF2B5EF4-FFF2-40B4-BE49-F238E27FC236}">
                <a16:creationId xmlns:a16="http://schemas.microsoft.com/office/drawing/2014/main" id="{4A54549F-7A18-4ED4-BE06-4553EFBE3B85}"/>
              </a:ext>
            </a:extLst>
          </p:cNvPr>
          <p:cNvSpPr>
            <a:spLocks noGrp="1"/>
          </p:cNvSpPr>
          <p:nvPr/>
        </p:nvSpPr>
        <p:spPr>
          <a:xfrm>
            <a:off x="7159752" y="4919472"/>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재귀 호출 횟수 a를 줄여라</a:t>
            </a:r>
            <a:endParaRPr sz="1400"/>
          </a:p>
        </p:txBody>
      </p:sp>
      <p:sp>
        <p:nvSpPr>
          <p:cNvPr id="33" name="Text 25">
            <a:extLst>
              <a:ext uri="{FF2B5EF4-FFF2-40B4-BE49-F238E27FC236}">
                <a16:creationId xmlns:a16="http://schemas.microsoft.com/office/drawing/2014/main" id="{5D22E642-FC59-4151-9959-F1590D94C0AB}"/>
              </a:ext>
            </a:extLst>
          </p:cNvPr>
          <p:cNvSpPr>
            <a:spLocks noGrp="1"/>
          </p:cNvSpPr>
          <p:nvPr/>
        </p:nvSpPr>
        <p:spPr>
          <a:xfrm>
            <a:off x="7159752" y="5303520"/>
            <a:ext cx="4133088" cy="603504"/>
          </a:xfrm>
          <a:prstGeom prst="rect">
            <a:avLst/>
          </a:prstGeom>
          <a:noFill/>
          <a:ln w="0">
            <a:noFill/>
          </a:ln>
        </p:spPr>
        <p:txBody>
          <a:bodyPr wrap="square" lIns="0" tIns="0" rIns="0" bIns="0" anchor="t">
            <a:noAutofit/>
          </a:bodyPr>
          <a:lstStyle/>
          <a:p>
            <a:pPr marL="0" indent="0" algn="l">
              <a:lnSpc>
                <a:spcPct val="12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카라츠바(4→3)와 스트라센(8→7)은 값싼 덧셈으로 비싼 곱셈을 대체했다.</a:t>
            </a:r>
            <a:endParaRPr sz="1140"/>
          </a:p>
        </p:txBody>
      </p:sp>
      <p:sp>
        <p:nvSpPr>
          <p:cNvPr id="35" name="직사각형 34">
            <a:extLst>
              <a:ext uri="{FF2B5EF4-FFF2-40B4-BE49-F238E27FC236}">
                <a16:creationId xmlns:a16="http://schemas.microsoft.com/office/drawing/2014/main" id="{A729DBD0-E552-4DE1-A130-749781E97E4C}"/>
              </a:ext>
            </a:extLst>
          </p:cNvPr>
          <p:cNvSpPr>
            <a:spLocks noGrp="1"/>
          </p:cNvSpPr>
          <p:nvPr/>
        </p:nvSpPr>
        <p:spPr>
          <a:xfrm>
            <a:off x="658368" y="1737360"/>
            <a:ext cx="5230368"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9262DF4E-1FFE-46F5-BB73-792129DFD47D}"/>
              </a:ext>
            </a:extLst>
          </p:cNvPr>
          <p:cNvSpPr>
            <a:spLocks noGrp="1"/>
          </p:cNvSpPr>
          <p:nvPr/>
        </p:nvSpPr>
        <p:spPr>
          <a:xfrm>
            <a:off x="6300216" y="1737360"/>
            <a:ext cx="5230368"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FB77D442-6963-48DF-83DB-F8E4165ED469}"/>
              </a:ext>
            </a:extLst>
          </p:cNvPr>
          <p:cNvSpPr>
            <a:spLocks noGrp="1"/>
          </p:cNvSpPr>
          <p:nvPr/>
        </p:nvSpPr>
        <p:spPr>
          <a:xfrm>
            <a:off x="658368" y="3236976"/>
            <a:ext cx="5230368"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FDB1327D-ACD0-4D57-A966-5E1CF3631188}"/>
              </a:ext>
            </a:extLst>
          </p:cNvPr>
          <p:cNvSpPr>
            <a:spLocks noGrp="1"/>
          </p:cNvSpPr>
          <p:nvPr/>
        </p:nvSpPr>
        <p:spPr>
          <a:xfrm>
            <a:off x="6300216" y="3236976"/>
            <a:ext cx="5230368"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9AA41038-FF5A-4C0C-AE21-CF9A51EEC414}"/>
              </a:ext>
            </a:extLst>
          </p:cNvPr>
          <p:cNvSpPr>
            <a:spLocks noGrp="1"/>
          </p:cNvSpPr>
          <p:nvPr/>
        </p:nvSpPr>
        <p:spPr>
          <a:xfrm>
            <a:off x="658368" y="4736592"/>
            <a:ext cx="5230368" cy="9525"/>
          </a:xfrm>
          <a:prstGeom prst="rect">
            <a:avLst/>
          </a:prstGeom>
          <a:solidFill>
            <a:srgbClr val="D4D4D4"/>
          </a:solidFill>
          <a:ln w="0">
            <a:noFill/>
          </a:ln>
        </p:spPr>
      </p:sp>
      <p:sp>
        <p:nvSpPr>
          <p:cNvPr id="40" name="직사각형 39">
            <a:extLst>
              <a:ext uri="{FF2B5EF4-FFF2-40B4-BE49-F238E27FC236}">
                <a16:creationId xmlns:a16="http://schemas.microsoft.com/office/drawing/2014/main" id="{154DE30D-48EA-4269-A2EC-67B07AFEC5A5}"/>
              </a:ext>
            </a:extLst>
          </p:cNvPr>
          <p:cNvSpPr>
            <a:spLocks noGrp="1"/>
          </p:cNvSpPr>
          <p:nvPr/>
        </p:nvSpPr>
        <p:spPr>
          <a:xfrm>
            <a:off x="6300216" y="4736592"/>
            <a:ext cx="5230368"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74382196-EF64-4200-8F5E-5B818F16746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CHAPTER 04</a:t>
            </a:r>
          </a:p>
        </p:txBody>
      </p:sp>
      <p:sp>
        <p:nvSpPr>
          <p:cNvPr id="42" name="직사각형 41">
            <a:extLst>
              <a:ext uri="{FF2B5EF4-FFF2-40B4-BE49-F238E27FC236}">
                <a16:creationId xmlns:a16="http://schemas.microsoft.com/office/drawing/2014/main" id="{D68F9C04-AAEA-414E-9275-00F601867AD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3" name="직사각형 42">
            <a:extLst>
              <a:ext uri="{FF2B5EF4-FFF2-40B4-BE49-F238E27FC236}">
                <a16:creationId xmlns:a16="http://schemas.microsoft.com/office/drawing/2014/main" id="{8866A912-4B99-4088-9AEF-346ABCCB2D8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4장 정리</a:t>
            </a:r>
          </a:p>
        </p:txBody>
      </p:sp>
      <p:sp>
        <p:nvSpPr>
          <p:cNvPr id="44" name="직사각형 43">
            <a:extLst>
              <a:ext uri="{FF2B5EF4-FFF2-40B4-BE49-F238E27FC236}">
                <a16:creationId xmlns:a16="http://schemas.microsoft.com/office/drawing/2014/main" id="{7630AA81-4AF0-4D96-A61B-FAD99A8F7193}"/>
              </a:ext>
            </a:extLst>
          </p:cNvPr>
          <p:cNvSpPr>
            <a:spLocks noGrp="1"/>
          </p:cNvSpPr>
          <p:nvPr/>
        </p:nvSpPr>
        <p:spPr>
          <a:xfrm>
            <a:off x="609600" y="1381125"/>
            <a:ext cx="10972800" cy="19050"/>
          </a:xfrm>
          <a:prstGeom prst="rect">
            <a:avLst/>
          </a:prstGeom>
          <a:solidFill>
            <a:srgbClr val="171717"/>
          </a:solidFill>
          <a:ln w="0">
            <a:noFill/>
          </a:ln>
        </p:spPr>
      </p:sp>
      <p:sp>
        <p:nvSpPr>
          <p:cNvPr id="45" name="직사각형 44">
            <a:extLst>
              <a:ext uri="{FF2B5EF4-FFF2-40B4-BE49-F238E27FC236}">
                <a16:creationId xmlns:a16="http://schemas.microsoft.com/office/drawing/2014/main" id="{F47F79B9-8D8A-4B2C-BA0C-3697213B3273}"/>
              </a:ext>
            </a:extLst>
          </p:cNvPr>
          <p:cNvSpPr>
            <a:spLocks noGrp="1"/>
          </p:cNvSpPr>
          <p:nvPr/>
        </p:nvSpPr>
        <p:spPr>
          <a:xfrm>
            <a:off x="609600" y="6438900"/>
            <a:ext cx="10972800" cy="9525"/>
          </a:xfrm>
          <a:prstGeom prst="rect">
            <a:avLst/>
          </a:prstGeom>
          <a:solidFill>
            <a:srgbClr val="D4D4D4"/>
          </a:solidFill>
          <a:ln w="0">
            <a:noFill/>
          </a:ln>
        </p:spPr>
      </p:sp>
      <p:sp>
        <p:nvSpPr>
          <p:cNvPr id="46" name="직사각형 45">
            <a:extLst>
              <a:ext uri="{FF2B5EF4-FFF2-40B4-BE49-F238E27FC236}">
                <a16:creationId xmlns:a16="http://schemas.microsoft.com/office/drawing/2014/main" id="{C1C1EC32-9265-4475-9180-9AB923C35EB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7" name="직사각형 46">
            <a:extLst>
              <a:ext uri="{FF2B5EF4-FFF2-40B4-BE49-F238E27FC236}">
                <a16:creationId xmlns:a16="http://schemas.microsoft.com/office/drawing/2014/main" id="{F1F04F6B-CEDA-4016-9C1F-338B77948ED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79</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55949139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A0228AD4-3C82-46AF-9F40-EAC7283A4D2E}"/>
              </a:ext>
            </a:extLst>
          </p:cNvPr>
          <p:cNvSpPr>
            <a:spLocks noGrp="1"/>
          </p:cNvSpPr>
          <p:nvPr/>
        </p:nvSpPr>
        <p:spPr>
          <a:xfrm>
            <a:off x="609600" y="533400"/>
            <a:ext cx="95250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C11CAE75-7DEF-4DDA-8DF0-B21128C273E1}"/>
              </a:ext>
            </a:extLst>
          </p:cNvPr>
          <p:cNvSpPr>
            <a:spLocks noGrp="1"/>
          </p:cNvSpPr>
          <p:nvPr/>
        </p:nvSpPr>
        <p:spPr>
          <a:xfrm>
            <a:off x="609600" y="1057275"/>
            <a:ext cx="10972800" cy="9525"/>
          </a:xfrm>
          <a:prstGeom prst="rect">
            <a:avLst/>
          </a:prstGeom>
          <a:solidFill>
            <a:srgbClr val="505050"/>
          </a:solidFill>
          <a:ln w="0">
            <a:noFill/>
          </a:ln>
        </p:spPr>
      </p:sp>
      <p:sp>
        <p:nvSpPr>
          <p:cNvPr id="3" name="직사각형 2">
            <a:extLst>
              <a:ext uri="{FF2B5EF4-FFF2-40B4-BE49-F238E27FC236}">
                <a16:creationId xmlns:a16="http://schemas.microsoft.com/office/drawing/2014/main" id="{6ECFF8A5-A6A1-4E15-91A6-2061E7FBCA93}"/>
              </a:ext>
            </a:extLst>
          </p:cNvPr>
          <p:cNvSpPr>
            <a:spLocks noGrp="1"/>
          </p:cNvSpPr>
          <p:nvPr/>
        </p:nvSpPr>
        <p:spPr>
          <a:xfrm>
            <a:off x="609600" y="2333625"/>
            <a:ext cx="10972800" cy="1381125"/>
          </a:xfrm>
          <a:prstGeom prst="rect">
            <a:avLst/>
          </a:prstGeom>
          <a:noFill/>
          <a:ln w="0">
            <a:noFill/>
          </a:ln>
        </p:spPr>
        <p:txBody>
          <a:bodyPr wrap="square" lIns="0" tIns="0" rIns="0" bIns="0" anchor="t">
            <a:noAutofit/>
          </a:bodyPr>
          <a:lstStyle/>
          <a:p>
            <a:pPr algn="l">
              <a:lnSpc>
                <a:spcPct val="104000"/>
              </a:lnSpc>
              <a:buNone/>
              <a:defRPr sz="7200" b="1" i="0">
                <a:solidFill>
                  <a:srgbClr val="FFFFFF"/>
                </a:solidFill>
                <a:latin typeface="Consolas"/>
                <a:ea typeface="Consolas"/>
                <a:cs typeface="Consolas"/>
              </a:defRPr>
            </a:pPr>
            <a:r>
              <a:rPr sz="7200" b="1" i="0">
                <a:solidFill>
                  <a:srgbClr val="FFFFFF"/>
                </a:solidFill>
                <a:latin typeface="Consolas"/>
                <a:ea typeface="Consolas"/>
                <a:cs typeface="Consolas"/>
              </a:rPr>
              <a:t>Q &amp; A</a:t>
            </a:r>
          </a:p>
        </p:txBody>
      </p:sp>
      <p:sp>
        <p:nvSpPr>
          <p:cNvPr id="4" name="직사각형 3">
            <a:extLst>
              <a:ext uri="{FF2B5EF4-FFF2-40B4-BE49-F238E27FC236}">
                <a16:creationId xmlns:a16="http://schemas.microsoft.com/office/drawing/2014/main" id="{45C36F84-9155-4C3A-A436-EE0FFEF3CA59}"/>
              </a:ext>
            </a:extLst>
          </p:cNvPr>
          <p:cNvSpPr>
            <a:spLocks noGrp="1"/>
          </p:cNvSpPr>
          <p:nvPr/>
        </p:nvSpPr>
        <p:spPr>
          <a:xfrm>
            <a:off x="647700" y="4762500"/>
            <a:ext cx="10477500" cy="1238250"/>
          </a:xfrm>
          <a:prstGeom prst="rect">
            <a:avLst/>
          </a:prstGeom>
          <a:noFill/>
          <a:ln w="0">
            <a:noFill/>
          </a:ln>
        </p:spPr>
        <p:txBody>
          <a:bodyPr wrap="square" lIns="0" tIns="0" rIns="0" bIns="0" anchor="t">
            <a:noAutofit/>
          </a:bodyPr>
          <a:lstStyle/>
          <a:p>
            <a:pPr algn="l">
              <a:lnSpc>
                <a:spcPct val="104000"/>
              </a:lnSpc>
              <a:buNone/>
              <a:defRPr sz="1950" b="0" i="0">
                <a:solidFill>
                  <a:srgbClr val="BBBBBB"/>
                </a:solidFill>
                <a:latin typeface="Malgun Gothic"/>
                <a:ea typeface="Malgun Gothic"/>
                <a:cs typeface="Malgun Gothic"/>
              </a:defRPr>
            </a:pPr>
            <a:r>
              <a:rPr sz="1950" b="0" i="0">
                <a:solidFill>
                  <a:srgbClr val="BBBBBB"/>
                </a:solidFill>
                <a:latin typeface="Malgun Gothic"/>
                <a:ea typeface="Malgun Gothic"/>
                <a:cs typeface="Malgun Gothic"/>
              </a:rPr>
              <a:t>질문을 나누어 봅시다.</a:t>
            </a:r>
          </a:p>
          <a:p>
            <a:pPr algn="l">
              <a:lnSpc>
                <a:spcPct val="104000"/>
              </a:lnSpc>
              <a:buNone/>
              <a:defRPr sz="1950" b="0" i="0">
                <a:solidFill>
                  <a:srgbClr val="BBBBBB"/>
                </a:solidFill>
                <a:latin typeface="Malgun Gothic"/>
                <a:ea typeface="Malgun Gothic"/>
                <a:cs typeface="Malgun Gothic"/>
              </a:defRPr>
            </a:pPr>
            <a:r>
              <a:rPr sz="1950" b="0" i="0">
                <a:solidFill>
                  <a:srgbClr val="BBBBBB"/>
                </a:solidFill>
                <a:latin typeface="Malgun Gothic"/>
                <a:ea typeface="Malgun Gothic"/>
                <a:cs typeface="Malgun Gothic"/>
              </a:rPr>
              <a:t>큰 질문도 작게 쪼개면 답할 수 있습니다.</a:t>
            </a:r>
          </a:p>
        </p:txBody>
      </p:sp>
      <p:sp>
        <p:nvSpPr>
          <p:cNvPr id="5" name="직사각형 4">
            <a:extLst>
              <a:ext uri="{FF2B5EF4-FFF2-40B4-BE49-F238E27FC236}">
                <a16:creationId xmlns:a16="http://schemas.microsoft.com/office/drawing/2014/main" id="{93CC7852-69AE-4D08-8CDB-B05CA27DB3EE}"/>
              </a:ext>
            </a:extLst>
          </p:cNvPr>
          <p:cNvSpPr>
            <a:spLocks noGrp="1"/>
          </p:cNvSpPr>
          <p:nvPr/>
        </p:nvSpPr>
        <p:spPr>
          <a:xfrm>
            <a:off x="609600" y="6438900"/>
            <a:ext cx="10972800" cy="9525"/>
          </a:xfrm>
          <a:prstGeom prst="rect">
            <a:avLst/>
          </a:prstGeom>
          <a:solidFill>
            <a:srgbClr val="505050"/>
          </a:solidFill>
          <a:ln w="0">
            <a:noFill/>
          </a:ln>
        </p:spPr>
      </p:sp>
      <p:sp>
        <p:nvSpPr>
          <p:cNvPr id="6" name="직사각형 5">
            <a:extLst>
              <a:ext uri="{FF2B5EF4-FFF2-40B4-BE49-F238E27FC236}">
                <a16:creationId xmlns:a16="http://schemas.microsoft.com/office/drawing/2014/main" id="{F162891D-A4EE-4FC7-A00D-CDAD047465F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7" name="직사각형 6">
            <a:extLst>
              <a:ext uri="{FF2B5EF4-FFF2-40B4-BE49-F238E27FC236}">
                <a16:creationId xmlns:a16="http://schemas.microsoft.com/office/drawing/2014/main" id="{38446562-825E-49C1-A7B7-4072508AE0C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80</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7700361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15243</Words>
  <Application>Microsoft Office PowerPoint</Application>
  <DocSecurity>0</DocSecurity>
  <PresentationFormat>와이드스크린</PresentationFormat>
  <Paragraphs>1670</Paragraphs>
  <Slides>80</Slides>
  <Notes>80</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80</vt:i4>
      </vt:variant>
    </vt:vector>
  </HeadingPairs>
  <TitlesOfParts>
    <vt:vector size="85" baseType="lpstr">
      <vt:lpstr>Malgun Gothic</vt:lpstr>
      <vt:lpstr>Arial</vt:lpstr>
      <vt:lpstr>Calibri</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상돈 박</cp:lastModifiedBy>
  <cp:revision>3</cp:revision>
  <dcterms:created xsi:type="dcterms:W3CDTF">2026-09-19T13:48:20Z</dcterms:created>
  <dcterms:modified xsi:type="dcterms:W3CDTF">2026-10-11T08:34:09Z</dcterms:modified>
</cp:coreProperties>
</file>