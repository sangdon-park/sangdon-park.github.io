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rts/chart1.xml" ContentType="application/vnd.openxmlformats-officedocument.drawingml.chart+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1"/>
  </p:notesMasterIdLst>
  <p:sldIdLst>
    <p:sldId id="256" r:id="rId2"/>
    <p:sldId id="257" r:id="rId3"/>
    <p:sldId id="258" r:id="rId4"/>
    <p:sldId id="259" r:id="rId5"/>
    <p:sldId id="260" r:id="rId6"/>
    <p:sldId id="261" r:id="rId7"/>
    <p:sldId id="320" r:id="rId8"/>
    <p:sldId id="321" r:id="rId9"/>
    <p:sldId id="322" r:id="rId10"/>
    <p:sldId id="323" r:id="rId11"/>
    <p:sldId id="324" r:id="rId12"/>
    <p:sldId id="325" r:id="rId13"/>
    <p:sldId id="262" r:id="rId14"/>
    <p:sldId id="263" r:id="rId15"/>
    <p:sldId id="264" r:id="rId16"/>
    <p:sldId id="265" r:id="rId17"/>
    <p:sldId id="266" r:id="rId18"/>
    <p:sldId id="267" r:id="rId19"/>
    <p:sldId id="268" r:id="rId20"/>
    <p:sldId id="269" r:id="rId21"/>
    <p:sldId id="270" r:id="rId22"/>
    <p:sldId id="271" r:id="rId23"/>
    <p:sldId id="326" r:id="rId24"/>
    <p:sldId id="327" r:id="rId25"/>
    <p:sldId id="328" r:id="rId26"/>
    <p:sldId id="329" r:id="rId27"/>
    <p:sldId id="330" r:id="rId28"/>
    <p:sldId id="331" r:id="rId29"/>
    <p:sldId id="332" r:id="rId30"/>
    <p:sldId id="333" r:id="rId31"/>
    <p:sldId id="334" r:id="rId32"/>
    <p:sldId id="335" r:id="rId33"/>
    <p:sldId id="336" r:id="rId34"/>
    <p:sldId id="337" r:id="rId35"/>
    <p:sldId id="338" r:id="rId36"/>
    <p:sldId id="339" r:id="rId37"/>
    <p:sldId id="340" r:id="rId38"/>
    <p:sldId id="341" r:id="rId39"/>
    <p:sldId id="342" r:id="rId40"/>
    <p:sldId id="343" r:id="rId41"/>
    <p:sldId id="344" r:id="rId42"/>
    <p:sldId id="272" r:id="rId43"/>
    <p:sldId id="273" r:id="rId44"/>
    <p:sldId id="274" r:id="rId45"/>
    <p:sldId id="275" r:id="rId46"/>
    <p:sldId id="276" r:id="rId47"/>
    <p:sldId id="277" r:id="rId48"/>
    <p:sldId id="278" r:id="rId49"/>
    <p:sldId id="279" r:id="rId50"/>
    <p:sldId id="280" r:id="rId51"/>
    <p:sldId id="281" r:id="rId52"/>
    <p:sldId id="282" r:id="rId53"/>
    <p:sldId id="283" r:id="rId54"/>
    <p:sldId id="284" r:id="rId55"/>
    <p:sldId id="285" r:id="rId56"/>
    <p:sldId id="286" r:id="rId57"/>
    <p:sldId id="287" r:id="rId58"/>
    <p:sldId id="288" r:id="rId59"/>
    <p:sldId id="289" r:id="rId60"/>
    <p:sldId id="290" r:id="rId61"/>
    <p:sldId id="291" r:id="rId62"/>
    <p:sldId id="292" r:id="rId63"/>
    <p:sldId id="293" r:id="rId64"/>
    <p:sldId id="294" r:id="rId65"/>
    <p:sldId id="295" r:id="rId66"/>
    <p:sldId id="296" r:id="rId67"/>
    <p:sldId id="297" r:id="rId68"/>
    <p:sldId id="298" r:id="rId69"/>
    <p:sldId id="299" r:id="rId70"/>
    <p:sldId id="300" r:id="rId71"/>
    <p:sldId id="301" r:id="rId72"/>
    <p:sldId id="302" r:id="rId73"/>
    <p:sldId id="303" r:id="rId74"/>
    <p:sldId id="304" r:id="rId75"/>
    <p:sldId id="305" r:id="rId76"/>
    <p:sldId id="306" r:id="rId77"/>
    <p:sldId id="307" r:id="rId78"/>
    <p:sldId id="308" r:id="rId79"/>
    <p:sldId id="309" r:id="rId80"/>
    <p:sldId id="310" r:id="rId81"/>
    <p:sldId id="311" r:id="rId82"/>
    <p:sldId id="312" r:id="rId83"/>
    <p:sldId id="313" r:id="rId84"/>
    <p:sldId id="314" r:id="rId85"/>
    <p:sldId id="315" r:id="rId86"/>
    <p:sldId id="316" r:id="rId87"/>
    <p:sldId id="317" r:id="rId88"/>
    <p:sldId id="318" r:id="rId89"/>
    <p:sldId id="319" r:id="rId9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ableStyles" Target="tableStyle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변화</c:v>
          </c:tx>
          <c:spPr>
            <a:solidFill>
              <a:srgbClr val="7A9FA9"/>
            </a:solidFill>
          </c:spPr>
          <c:invertIfNegative val="0"/>
          <c:dPt>
            <c:idx val="2"/>
            <c:invertIfNegative val="0"/>
            <c:bubble3D val="0"/>
            <c:spPr>
              <a:solidFill>
                <a:srgbClr val="EA8D47"/>
              </a:solidFill>
            </c:spPr>
            <c:extLst>
              <c:ext xmlns:c16="http://schemas.microsoft.com/office/drawing/2014/chart" uri="{C3380CC4-5D6E-409C-BE32-E72D297353CC}">
                <c16:uniqueId val="{00000001-5D01-4430-8A6B-B253845AB292}"/>
              </c:ext>
            </c:extLst>
          </c:dPt>
          <c:dPt>
            <c:idx val="3"/>
            <c:invertIfNegative val="0"/>
            <c:bubble3D val="0"/>
            <c:spPr>
              <a:solidFill>
                <a:srgbClr val="EA8D47"/>
              </a:solidFill>
            </c:spPr>
            <c:extLst>
              <c:ext xmlns:c16="http://schemas.microsoft.com/office/drawing/2014/chart" uri="{C3380CC4-5D6E-409C-BE32-E72D297353CC}">
                <c16:uniqueId val="{00000003-5D01-4430-8A6B-B253845AB292}"/>
              </c:ext>
            </c:extLst>
          </c:dPt>
          <c:dPt>
            <c:idx val="4"/>
            <c:invertIfNegative val="0"/>
            <c:bubble3D val="0"/>
            <c:spPr>
              <a:solidFill>
                <a:srgbClr val="EA8D47"/>
              </a:solidFill>
            </c:spPr>
            <c:extLst>
              <c:ext xmlns:c16="http://schemas.microsoft.com/office/drawing/2014/chart" uri="{C3380CC4-5D6E-409C-BE32-E72D297353CC}">
                <c16:uniqueId val="{00000005-5D01-4430-8A6B-B253845AB292}"/>
              </c:ext>
            </c:extLst>
          </c:dPt>
          <c:dLbls>
            <c:dLbl>
              <c:idx val="0"/>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5D01-4430-8A6B-B253845AB292}"/>
                </c:ext>
              </c:extLst>
            </c:dLbl>
            <c:dLbl>
              <c:idx val="1"/>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D01-4430-8A6B-B253845AB292}"/>
                </c:ext>
              </c:extLst>
            </c:dLbl>
            <c:dLbl>
              <c:idx val="2"/>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D01-4430-8A6B-B253845AB292}"/>
                </c:ext>
              </c:extLst>
            </c:dLbl>
            <c:dLbl>
              <c:idx val="3"/>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D01-4430-8A6B-B253845AB292}"/>
                </c:ext>
              </c:extLst>
            </c:dLbl>
            <c:dLbl>
              <c:idx val="4"/>
              <c:spPr/>
              <c:txPr>
                <a:bodyPr anchorCtr="1"/>
                <a:lstStyle/>
                <a:p>
                  <a:pPr>
                    <a:defRPr sz="1350" b="1">
                      <a:solidFill>
                        <a:srgbClr val="171717"/>
                      </a:solidFill>
                      <a:latin typeface="Malgun Gothic"/>
                      <a:ea typeface="Malgun Gothic"/>
                      <a:cs typeface="Malgun Gothic"/>
                    </a:defRPr>
                  </a:pPr>
                  <a:endParaRPr lang="ko-KR"/>
                </a:p>
              </c:txPr>
              <c:dLblPos val="out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D01-4430-8A6B-B253845AB292}"/>
                </c:ext>
              </c:extLst>
            </c:dLbl>
            <c:dLbl>
              <c:idx val="5"/>
              <c:spPr/>
              <c:txPr>
                <a:bodyPr anchorCtr="1"/>
                <a:lstStyle/>
                <a:p>
                  <a:pPr>
                    <a:defRPr sz="1350" b="1">
                      <a:solidFill>
                        <a:srgbClr val="FFFFFF"/>
                      </a:solidFill>
                      <a:latin typeface="Malgun Gothic"/>
                      <a:ea typeface="Malgun Gothic"/>
                      <a:cs typeface="Malgun Gothic"/>
                    </a:defRPr>
                  </a:pPr>
                  <a:endParaRPr lang="ko-KR"/>
                </a:p>
              </c:txPr>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5D01-4430-8A6B-B253845AB292}"/>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1일</c:v>
                </c:pt>
                <c:pt idx="1">
                  <c:v>2일</c:v>
                </c:pt>
                <c:pt idx="2">
                  <c:v>3일</c:v>
                </c:pt>
                <c:pt idx="3">
                  <c:v>4일</c:v>
                </c:pt>
                <c:pt idx="4">
                  <c:v>5일</c:v>
                </c:pt>
                <c:pt idx="5">
                  <c:v>6일</c:v>
                </c:pt>
              </c:strCache>
            </c:strRef>
          </c:cat>
          <c:val>
            <c:numRef>
              <c:f>'Chart Data'!$B$2:$B$7</c:f>
              <c:numCache>
                <c:formatCode>General</c:formatCode>
                <c:ptCount val="6"/>
                <c:pt idx="0">
                  <c:v>3</c:v>
                </c:pt>
                <c:pt idx="1">
                  <c:v>-5</c:v>
                </c:pt>
                <c:pt idx="2">
                  <c:v>12</c:v>
                </c:pt>
                <c:pt idx="3">
                  <c:v>-2</c:v>
                </c:pt>
                <c:pt idx="4">
                  <c:v>7</c:v>
                </c:pt>
                <c:pt idx="5">
                  <c:v>-9</c:v>
                </c:pt>
              </c:numCache>
            </c:numRef>
          </c:val>
          <c:extLst>
            <c:ext xmlns:c16="http://schemas.microsoft.com/office/drawing/2014/chart" uri="{C3380CC4-5D6E-409C-BE32-E72D297353CC}">
              <c16:uniqueId val="{00000009-5D01-4430-8A6B-B253845AB292}"/>
            </c:ext>
          </c:extLst>
        </c:ser>
        <c:dLbls>
          <c:dLblPos val="outEnd"/>
          <c:showLegendKey val="0"/>
          <c:showVal val="1"/>
          <c:showCatName val="0"/>
          <c:showSerName val="0"/>
          <c:showPercent val="0"/>
          <c:showBubbleSize val="0"/>
        </c:dLbls>
        <c:gapWidth val="4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0"/>
        </c:scaling>
        <c:delete val="0"/>
        <c:axPos val="l"/>
        <c:majorGridlines>
          <c:spPr>
            <a:ln w="9525">
              <a:solidFill>
                <a:srgbClr val="DDDDDD"/>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171717"/>
                </a:solidFill>
                <a:latin typeface="Malgun Gothic"/>
                <a:ea typeface="Malgun Gothic"/>
                <a:cs typeface="Malgun Gothic"/>
              </a:defRPr>
            </a:pPr>
            <a:endParaRPr lang="ko-KR"/>
          </a:p>
        </c:txPr>
        <c:crossAx val="48650112"/>
        <c:crosses val="autoZero"/>
        <c:crossBetween val="between"/>
        <c:majorUnit val="5"/>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장에서는 분할 정복의 기본을 먼저 보고</a:t>
            </a:r>
            <a:r>
              <a:rPr lang="en-US" altLang="ko-KR"/>
              <a:t>, </a:t>
            </a:r>
            <a:r>
              <a:rPr lang="ko-KR" altLang="en-US"/>
              <a:t>머지 소트와 퀵 소트를 이어서 배웁니다</a:t>
            </a:r>
            <a:r>
              <a:rPr lang="en-US" altLang="ko-KR"/>
              <a:t>. </a:t>
            </a:r>
            <a:r>
              <a:rPr lang="ko-KR" altLang="en-US"/>
              <a:t>머지 소트는 반으로 나누고 정렬한 결과를 합칩니다</a:t>
            </a:r>
            <a:r>
              <a:rPr lang="en-US" altLang="ko-KR"/>
              <a:t>. </a:t>
            </a:r>
            <a:r>
              <a:rPr lang="ko-KR" altLang="en-US"/>
              <a:t>퀵 소트는 피벗을 기준으로 값을 나눕니다</a:t>
            </a:r>
            <a:r>
              <a:rPr lang="en-US" altLang="ko-KR"/>
              <a:t>. </a:t>
            </a:r>
            <a:r>
              <a:rPr lang="ko-KR" altLang="en-US"/>
              <a:t>두 정렬의 차이를 익힌 다음에는 최대 구간 합과 최근접 쌍</a:t>
            </a:r>
            <a:r>
              <a:rPr lang="en-US" altLang="ko-KR"/>
              <a:t>, </a:t>
            </a:r>
            <a:r>
              <a:rPr lang="ko-KR" altLang="en-US"/>
              <a:t>쿼드 트리 같은 응용을 보겠습니다</a:t>
            </a:r>
            <a:r>
              <a:rPr lang="en-US" altLang="ko-KR"/>
              <a:t>. </a:t>
            </a:r>
            <a:r>
              <a:rPr lang="ko-KR" altLang="en-US"/>
              <a:t>마스터 정리로 시간 복잡도를 정리하고</a:t>
            </a:r>
            <a:r>
              <a:rPr lang="en-US" altLang="ko-KR"/>
              <a:t>, </a:t>
            </a:r>
            <a:r>
              <a:rPr lang="ko-KR" altLang="en-US"/>
              <a:t>카라츠바와 스트라센의 아이디어도 살펴봅니다</a:t>
            </a:r>
            <a:r>
              <a:rPr lang="en-US" altLang="ko-KR"/>
              <a:t>. </a:t>
            </a:r>
            <a:r>
              <a:rPr lang="ko-KR" altLang="en-US"/>
              <a:t>마지막에는 색종이 만들기와 빠른 거듭제곱 예제를 풀어보겠습니다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r>
              <a:t/>
            </a: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r>
              <a:t/>
            </a: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r>
              <a:t/>
            </a: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나누는 단계입니다. 맨 위의 여덟 개를 가운데에서 자르면 왼쪽에 8, 3, 6, 2가 있고 오른쪽에 7, 1, 5, 4가 있습니다. 여기서 왼쪽에 작은 값만 모인 것은 아니죠. 왼쪽에 가장 큰 8이 있고, 오른쪽에 가장 작은 1이 있습니다. 병합 정렬은 이 단계에서 값의 크기를 보고 나누지 않습니다. 배열에서 놓인 위치를 기준으로 구간을 반씩 나눕니다.</a:t>
            </a:r>
          </a:p>
          <a:p>
            <a:r>
              <a:t/>
            </a:r>
          </a:p>
          <a:p>
            <a:r>
              <a:t>왼쪽 네 개도 다시 가운데에서 나눕니다. 그러면 8, 3과 6, 2가 됩니다. 오른쪽 네 개를 나누면 7, 1과 5, 4가 되고요. 화면의 맨 아래가 이 두 개짜리 구간들입니다. 아직 8이 3보다 앞에 있으니 정렬된 상태는 아닙니다.</a:t>
            </a:r>
          </a:p>
          <a:p>
            <a:r>
              <a:t/>
            </a:r>
          </a:p>
          <a:p>
            <a:r>
              <a:t>이제 두 개짜리 구간도 하나씩 나눈다고 생각해 보세요. 8 하나, 3 하나, 6 하나, 2 하나가 남습니다. 오른쪽도 7 하나, 1 하나, 5 하나, 4 하나가 남습니다. 여기까지는 원래 배열의 값 순서를 바꾸지 않았습니다. 큰 배열을 작은 구간으로 잘라서 바라본 것입니다.</a:t>
            </a:r>
          </a:p>
          <a:p>
            <a:r>
              <a:t/>
            </a:r>
          </a:p>
          <a:p>
            <a:r>
              <a:t>왜 하나까지 나눌까요? 한 개짜리 배열은 더 비교할 것이 없어서 정렬이 끝난 것으로 볼 수 있기 때문입니다. 코드에서는 이것이 재귀를 멈추는 조건이 됩니다. 지금은 여덟 개가 정확히 반으로 나뉘지만, 개수가 홀수이면 양쪽 크기가 하나 차이 나도 괜찮습니다. 두 구간이 원소를 빠짐없이 나눠 가지면 됩니다. 다음에는 이 한 개짜리 결과부터 합쳐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077893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하나씩 나누는 작업이 끝났다고 생각하고, 이번에는 아래에서 위로 합쳐 올라가겠습니다. 처음에는 8과 3을 비교합니다. 작은 3을 먼저 놓고 8을 뒤에 놓으면 3, 8이 됩니다. 6과 2는 2, 6이 됩니다. 화면 가운데의 왼쪽 두 묶음이 이렇게 만들어졌습니다.</a:t>
            </a:r>
          </a:p>
          <a:p>
            <a:r>
              <a:t/>
            </a:r>
          </a:p>
          <a:p>
            <a:r>
              <a:t>그다음에는 3, 8과 2, 6을 합칩니다. 두 배열은 각각 이미 정렬되어 있습니다. 맨 앞의 3과 2 중 작은 2를 먼저 넣습니다. 오른쪽의 다음 값 6과 왼쪽에 남은 3을 비교하면 이번에는 3을 넣습니다. 다음은 8과 6을 비교해서 6을 넣고, 마지막으로 8을 붙입니다. 그러면 2, 3, 6, 8이 됩니다.</a:t>
            </a:r>
          </a:p>
          <a:p>
            <a:r>
              <a:t/>
            </a:r>
          </a:p>
          <a:p>
            <a:r>
              <a:t>오른쪽도 같은 순서입니다. 7과 1에서 1, 7을 만들고, 5와 4에서 4, 5를 만듭니다. 이 두 결과를 합치면 1, 4, 5, 7이 됩니다. 화면 맨 아래의 네 개짜리 결과 두 개를 확인하세요. 왼쪽 안에서는 오름차순이고, 오른쪽 안에서도 오름차순입니다.</a:t>
            </a:r>
          </a:p>
          <a:p>
            <a:r>
              <a:t/>
            </a:r>
          </a:p>
          <a:p>
            <a:r>
              <a:t>여기서 병합 함수가 받는 입력은 아무렇게나 섞인 배열 두 개가 아닙니다. 더 작은 문제를 풀어서 얻은 정렬된 결과 두 개입니다. 그래서 각 배열의 맨 앞만 비교할 수 있습니다. 맨 앞보다 작은 값이 그 뒤에 숨겨져 있지 않으니까요. 이제 마지막 두 배열을 합치는 과정을 확대해서, 어느 값을 넣고 어느 포인터를 움직이는지 살펴보겠습니다.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78186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r>
              <a:t/>
            </a: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r>
              <a:t/>
            </a: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r>
              <a:t/>
            </a: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r>
              <a:t/>
            </a: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r>
              <a:t/>
            </a: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r>
              <a:t/>
            </a: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r>
              <a:t/>
            </a: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r>
              <a:t/>
            </a: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r>
              <a:t/>
            </a: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r>
              <a:t/>
            </a: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r>
              <a:t/>
            </a: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r>
              <a:t/>
            </a: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r>
              <a:t/>
            </a: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r>
              <a:t/>
            </a: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r>
              <a:t/>
            </a: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r>
              <a:t/>
            </a: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r>
              <a:t/>
            </a: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r>
              <a:t/>
            </a: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r>
              <a:t/>
            </a: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r>
              <a:t/>
            </a: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r>
              <a:t/>
            </a: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r>
              <a:t/>
            </a: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r>
              <a:t/>
            </a: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r>
              <a:t/>
            </a: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r>
              <a:t/>
            </a: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r>
              <a:t/>
            </a: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r>
              <a:t/>
            </a: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r>
              <a:t/>
            </a: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r>
              <a:t/>
            </a: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r>
              <a:t/>
            </a: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r>
              <a:t/>
            </a: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r>
              <a:t/>
            </a: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r>
              <a:t/>
            </a: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r>
              <a:t/>
            </a: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r>
              <a:t/>
            </a: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r>
              <a:t/>
            </a: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r>
              <a:t/>
            </a: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r>
              <a:t/>
            </a: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r>
              <a:t/>
            </a: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r>
              <a:t/>
            </a: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r>
              <a:t/>
            </a: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r>
              <a:t/>
            </a: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r>
              <a:t/>
            </a: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r>
              <a:t/>
            </a: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r>
              <a:t/>
            </a: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r>
              <a:t/>
            </a: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r>
              <a:t/>
            </a: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r>
              <a:t/>
            </a: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r>
              <a:t/>
            </a: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r>
              <a:t/>
            </a: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r>
              <a:t/>
            </a: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r>
              <a:t/>
            </a: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r>
              <a:t/>
            </a: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r>
              <a:t/>
            </a: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r>
              <a:t/>
            </a:r>
          </a:p>
          <a:p>
            <a:r>
              <a:t>현재 코드에서는 입력이 이미 정렬되어 있어도 같은 방식으로 나누고 병합합니다. 그래서 최선, 평균, 최악 모두 n 로그 n에 비례합니다. 화면의 세타 기호는 이 증가 규모를 나타냅니다.</a:t>
            </a:r>
          </a:p>
          <a:p>
            <a:r>
              <a:t/>
            </a: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r>
              <a:t/>
            </a: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r>
              <a:t/>
            </a:r>
          </a:p>
          <a:p>
            <a:r>
              <a:t>3이 더 작으니 오른쪽의 3을 넣습니다. 오른쪽의 다음 값은 7입니다. 이제 5와 7을 비교해서 5를 넣습니다. 결과는 1, 2, 3, 5가 되고, 왼쪽의 두 원소를 모두 사용한 상태가 됩니다.</a:t>
            </a:r>
          </a:p>
          <a:p>
            <a:r>
              <a:t/>
            </a: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r>
              <a:t/>
            </a: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정렬에서는 배열의 위치를 기준으로 반씩 나눴습니다. 이번에 배우는 퀵 정렬은 기준값을 하나 고르고, 그 값보다 작은 쪽과 큰 쪽으로 원소들을 나눕니다. 이 기준값을 피벗이라고 부릅니다. 피벗은 별도의 특별한 숫자가 아니라, 현재 정렬할 구간 안에서 고른 원소의 값입니다.</a:t>
            </a:r>
          </a:p>
          <a:p>
            <a:r>
              <a:t/>
            </a:r>
          </a:p>
          <a:p>
            <a:r>
              <a:t>화면의 배열은 8, 4, 6, 3, 7, 1입니다. 이번에는 가운데 인덱스의 값 6을 피벗으로 고르겠습니다. 인덱스는 0부터 5까지이고, 0과 5를 더해 2로 나눈 몫은 2입니다. 인덱스 2에 있는 값이 6이므로 피벗이 6입니다. 가운데 위치의 값을 고른 것이지, 크기순으로 가운데인 값을 미리 찾은 것은 아닙니다.</a:t>
            </a:r>
          </a:p>
          <a:p>
            <a:r>
              <a:t/>
            </a:r>
          </a:p>
          <a:p>
            <a:r>
              <a:t>이제 6을 기준으로 왼쪽에는 6 이하의 값들을, 오른쪽에는 6보다 큰 값들을 모으겠습니다. 같은 값이 있을 때 어느 쪽에 둘지도 구현마다 정해야 하는데, 지금 코드는 같은 값을 왼쪽에 두는 규칙입니다. 파란 화살표 L은 왼쪽에서 오른쪽으로, 초록 화살표 R은 오른쪽에서 왼쪽으로 움직입니다. 두 화살표는 자기 쪽에 잘못 놓인 값을 찾아 교환하는 역할을 합니다.</a:t>
            </a:r>
          </a:p>
          <a:p>
            <a:r>
              <a:t/>
            </a:r>
          </a:p>
          <a:p>
            <a:r>
              <a:t>이 작업이 끝나면 피벗 6을 왼쪽 묶음과 오른쪽 묶음 사이에 놓습니다. 그러면 6의 자리는 정해집니다. 하지만 왼쪽 값들끼리, 오른쪽 값들끼리는 아직 순서가 섞여 있을 수 있습니다. 그래서 양쪽 구간에 다시 같은 정렬을 적용해야 합니다.</a:t>
            </a:r>
          </a:p>
          <a:p>
            <a:r>
              <a:t/>
            </a:r>
          </a:p>
          <a:p>
            <a:r>
              <a:t>한 번의 분할이 전체 정렬을 끝내는 것은 아니라는 점을 먼저 기억하세요. 다음 화면부터 피벗을 옮기고, 두 포인터를 이동하고, 값을 교환하는 과정을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603012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처음 배열은 8, 4, 6, 3, 7, 1이었습니다. 가운데에서 고른 피벗 6을 마지막 값 1과 바꿔서, 지금은 8, 4, 1, 3, 7, 6이 되었습니다. 맨 끝의 주황색 6이 피벗입니다. 값 하나를 없앤 것이 아니라 6과 1의 자리를 교환한 것입니다.</a:t>
            </a:r>
          </a:p>
          <a:p>
            <a:r>
              <a:t/>
            </a:r>
          </a:p>
          <a:p>
            <a:r>
              <a:t>피벗을 끝으로 옮기는 이유는 나머지 값들을 나누는 동안 기준값의 자리를 따로 확보하기 위해서입니다. 피벗 자체는 두 포인터로 검사하는 구간에서 제외합니다. 그래서 L은 첫 칸인 인덱스 0에서 시작하고, R은 피벗 바로 앞인 인덱스 4에서 시작합니다. 마지막 인덱스 5에는 피벗을 그대로 두겠습니다.</a:t>
            </a:r>
          </a:p>
          <a:p>
            <a:r>
              <a:t/>
            </a:r>
          </a:p>
          <a:p>
            <a:r>
              <a:t>먼저 L이 가리키는 8을 봅니다. 왼쪽에 둘 값의 조건은 피벗 6 이하입니다. 그런데 8은 6보다 크므로 왼쪽에 있으면 안 됩니다. 그래서 L은 지금 움직이지 않고 이 위치에서 멈춥니다. 왼쪽부터 지나갈 수 있는 작은 값을 찾는 것이 아니라, 왼쪽에 잘못 놓인 큰 값을 찾으면 멈추는 것입니다.</a:t>
            </a:r>
          </a:p>
          <a:p>
            <a:r>
              <a:t/>
            </a:r>
          </a:p>
          <a:p>
            <a:r>
              <a:t>이번에는 반대쪽 R을 움직여서 왼쪽으로 보내야 할 작은 값을 찾겠습니다. 지금 R이 가리키는 것은 7입니다. 7은 피벗보다 크니까 오른쪽에 그대로 있어도 되는 값입니다. 다음 화면에서 R이 이 칸을 지나 왼쪽으로 이동하는 것을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90243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r>
              <a:t/>
            </a: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r>
              <a:t/>
            </a: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r>
              <a:t/>
            </a: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r>
              <a:t/>
            </a: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r>
              <a:t/>
            </a: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r>
              <a:t/>
            </a: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r>
              <a:t/>
            </a: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r>
              <a:t/>
            </a: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r>
              <a:t/>
            </a: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r>
              <a:t/>
            </a: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r>
              <a:t/>
            </a: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r>
              <a:t/>
            </a: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r>
              <a:t/>
            </a: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r>
              <a:t/>
            </a: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r>
              <a:t/>
            </a: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r>
              <a:t/>
            </a: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r>
              <a:t/>
            </a: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r>
              <a:t/>
            </a: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마지막으로 L이 있는 인덱스 3의 8과, 맨 끝 인덱스 5의 피벗 6을 교환했습니다. 배열은 3, 4, 1, 6, 7, 8이 되었습니다. 주황색 피벗 6이 이제 인덱스 3에 있습니다.</a:t>
            </a:r>
          </a:p>
          <a:p>
            <a:r>
              <a:t/>
            </a:r>
          </a:p>
          <a:p>
            <a:r>
              <a:t>피벗의 왼쪽을 보세요. 3, 4, 1은 모두 6 이하입니다. 오른쪽의 7, 8은 모두 6보다 큽니다. 작은 쪽 원소가 세 개 있으므로 이 예에서 6은 그 세 원소 뒤의 자리, 인덱스 3에 놓입니다. 나중에 왼쪽과 오른쪽 내부를 정렬해도 6을 다른 구간으로 옮길 필요가 없습니다.</a:t>
            </a:r>
          </a:p>
          <a:p>
            <a:r>
              <a:t/>
            </a:r>
          </a:p>
          <a:p>
            <a:r>
              <a:t>하지만 전체가 정렬된 것은 아닙니다. 왼쪽에는 아직 3, 4, 1이 있어서 1이 뒤에 놓여 있습니다. 한 번의 partition이 끝났다는 말은 피벗을 기준으로 두 묶음을 나누고 피벗 자리를 정했다는 뜻입니다. 양쪽 내부의 크기순 순서까지 보장하는 말이 아닙니다.</a:t>
            </a:r>
          </a:p>
          <a:p>
            <a:r>
              <a:t/>
            </a:r>
          </a:p>
          <a:p>
            <a:r>
              <a:t>partition 함수는 이 피벗 위치 3을 반환합니다. 정렬 함수는 그 숫자를 받아 왼쪽 인덱스 0부터 2까지와 오른쪽 인덱스 4부터 5까지를 다시 정렬합니다. 이미 자리가 정해진 인덱스 3의 피벗은 두 재귀 호출에서 제외합니다. 다음 화면에서는 왼쪽 묶음도 같은 방법으로 정렬하는 모습을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108802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분할 결과는 3, 4, 1, 6, 7, 8입니다. 가운데 피벗 6의 자리는 정해졌지만, 왼쪽 3, 4, 1은 아직 정렬되지 않았습니다. 그래서 왼쪽 구간에 다시 퀵 정렬을 적용합니다. 새로운 호출은 전체 배열이 아니라 인덱스 0부터 2까지를 대상으로 합니다.</a:t>
            </a:r>
          </a:p>
          <a:p>
            <a:r>
              <a:t/>
            </a:r>
          </a:p>
          <a:p>
            <a:r>
              <a:t>이 구간의 가운데 인덱스는 1이고 값은 4입니다. 4를 이번 피벗으로 골라 구간의 끝에 있는 1과 바꾸면, 왼쪽 구간은 3, 1, 4가 됩니다. 피벗을 제외한 3과 1은 모두 4 이하입니다. L이 두 값을 지나간 뒤 피벗 4의 위치가 이 구간의 마지막 칸으로 정해집니다.</a:t>
            </a:r>
          </a:p>
          <a:p>
            <a:r>
              <a:t/>
            </a:r>
          </a:p>
          <a:p>
            <a:r>
              <a:t>그러면 아직 남은 작은 문제는 3, 1 두 개를 정렬하는 일입니다. 이 구간에서도 피벗을 정해 분할하면 1, 3이 됩니다. 결국 왼쪽 전체는 1, 3, 4가 됩니다. 처음부터 왼쪽 전체를 다른 정렬로 처리하는 것이 아니라, 같은 분할 방법을 더 작은 구간에 반복해서 적용한 것입니다.</a:t>
            </a:r>
          </a:p>
          <a:p>
            <a:r>
              <a:t/>
            </a:r>
          </a:p>
          <a:p>
            <a:r>
              <a:t>처음 피벗 6의 오른쪽 구간은 인덱스 4부터 5까지의 7, 8입니다. 이것도 같은 함수로 정렬합니다. 이미 순서가 맞아 있더라도 현재 코드는 종료 조건에 도달할 때까지 구간을 처리합니다. 양쪽 정렬이 끝나면 전체는 1, 3, 4, 6, 7, 8이 됩니다.</a:t>
            </a:r>
          </a:p>
          <a:p>
            <a:r>
              <a:t/>
            </a:r>
          </a:p>
          <a:p>
            <a:r>
              <a:t>화면 위의 호출 범위도 확인하세요. 피벗 위치를 p라고 하면 왼쪽은 lo부터 p 마이너스 1까지이고, 오른쪽은 p 플러스 1부터 hi까지입니다. p 자체는 다시 포함하지 않습니다. 구간에 원소가 하나 이하이면 더 정렬하지 않고 끝냅니다. 병합 정렬과 달리 양쪽 결과를 마지막에 다시 병합하는 단계는 없습니다. 분할하면서 이미 작은 쪽, 피벗, 큰 쪽의 위치 관계가 정해졌기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521671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r>
              <a:t/>
            </a: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r>
              <a:t/>
            </a:r>
          </a:p>
          <a:p>
            <a:r>
              <a:t>L은 lo, R은 hi 마이너스 1로 시작합니다. 예제에서는 L이 0이고 R이 4입니다. 왜 R을 hi부터 시작하지 않을까요? hi 위치에는 피벗을 따로 뒀기 때문에, 두 포인터는 그 앞의 값들만 검사해야 합니다.</a:t>
            </a:r>
          </a:p>
          <a:p>
            <a:r>
              <a:t/>
            </a: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r>
              <a:t/>
            </a: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r>
              <a:t/>
            </a: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r>
              <a:t/>
            </a: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r>
              <a:t/>
            </a: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r>
              <a:t/>
            </a: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r>
              <a:t/>
            </a: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r>
              <a:t/>
            </a: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r>
              <a:t/>
            </a: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r>
              <a:t/>
            </a: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r>
              <a:t/>
            </a: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r>
              <a:t/>
            </a: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r>
              <a:t/>
            </a: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r>
              <a:t/>
            </a: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r>
              <a:t/>
            </a: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r>
              <a:t/>
            </a: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r>
              <a:t/>
            </a: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r>
              <a:t/>
            </a: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r>
              <a:t/>
            </a: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r>
              <a:t/>
            </a: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r>
              <a:t/>
            </a: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r>
              <a:t/>
            </a: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r>
              <a:t/>
            </a: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r>
              <a:t/>
            </a: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r>
              <a:t/>
            </a: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r>
              <a:t/>
            </a: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r>
              <a:t/>
            </a: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r>
              <a:t/>
            </a: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r>
              <a:t/>
            </a: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r>
              <a:t/>
            </a: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r>
              <a:t/>
            </a: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r>
              <a:t/>
            </a: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r>
              <a:t/>
            </a: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r>
              <a:t/>
            </a: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r>
              <a:t/>
            </a: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값이 삼, 마이너스 오, 십이, 마이너스 이, 칠, 마이너스 구로 주어졌습니다. 전체 합은 육이지만 십이부터 칠까지의 연속 구간을 선택하면 십칠이 됩니다. 중간의 마이너스 이를 포함해도 양옆의 이득이 더 크죠. 주가 예시에서는 각 값이 가격 자체가 아니라 기간별 변동분입니다. 해당 변동이 시작되기 전에 사서 구간 마지막 변동 이후에 판다고 해석하면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시작점과 끝점을 모두 바꿔가며 후보 구간을 만들면 경우의 수는 엔 제곱에 비례합니다. 각 구간 합을 처음부터 다시 더하면 엔 세제곱까지 걸릴 수 있어요. 누적합을 미리 만들거나 끝점을 늘리면서 합을 갱신해야 엔 제곱에 계산할 수 있습니다. 입력이 십만 개면 후보가 수십억 개이므로 부담스럽습니다. 이제 이 후보들을 하나씩 나열하지 않고 답을 구해보겠습니다.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가운데를 기준으로 최적 구간의 위치를 분류해보세요. 왼쪽에만 있거나, 오른쪽에만 있거나, 경계를 넘어 양쪽에 걸쳐 있습니다. 이 세 경우가 모든 가능성을 포함합니다. 왼쪽과 오른쪽 문제는 원래 문제와 같은 형태이므로 재귀 호출하면 됩니다. 남은 것은 경계를 걸친 최대 합을 계산하는 일입니다. 마지막에 세 값의 최댓값을 선택하면 어느 위치에 답이 있어도 놓치지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 구간은 왼쪽의 마지막 원소 미드와 오른쪽의 첫 원소 미드 더하기 일을 모두 포함해야 합니다. 그래서 미드에서 왼쪽으로 합을 늘려가며 가장 큰 값을 찾고, 미드 더하기 일에서 오른쪽으로 같은 작업을 합니다. 각각 왼쪽의 최대 접미 구간과 오른쪽의 최대 접두 구간이에요. 둘을 연결하면 끊김 없이 경계를 걸친 구간이 되고, 두 합을 더한 값이 이 경우의 최댓값입니다.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함수의 종료 조건은 로우와 하이가 같은 경우입니다. 원소 하나를 반드시 선택하는 문제이므로 그 원소 값을 반환합니다. 나머지는 중간을 계산하고 왼쪽, 오른쪽, 경계를 걸친 경우를 각각 구해요. 마지막 맥스가 세 후보를 비교합니다. 입력 배열은 비어 있지 않다고 가정합니다. 빈 배열을 허용하려면 무엇을 반환할지 먼저 정의하고 별도의 처리를 추가해야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합의 최댓값을 음의 무한대로 시작하는 이유를 보겠습니다. 전부 음수인 배열에서 영으로 시작하면 아무 원소도 고르지 않은 값을 답으로 내놓게 됩니다. 하지만 이 문제는 적어도 한 원소를 선택해야 해요. 현재 합은 영에서 시작해 원소를 더하고, 최댓값은 음의 무한대에서 갱신합니다. 오른쪽도 동일하게 처리한 뒤 두 최댓값을 더합니다. 양쪽 반복을 합쳐 구간 길이만큼만 읽습니다.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파이썬의 레인지는 끝 값을 포함하지 않습니다. 그래서 미드에서 로우까지 내려가려면 끝을 로우 마이너스 일로 써야 해요. 오른쪽은 하이를 포함하려고 하이 더하기 일을 사용했습니다. 커런트 섬은 현재까지 이어 붙인 합이고, 레프트 섬과 라이트 섬은 그 과정에서 만난 최댓값입니다. 두 변수를 혼동하면 마지막 구간의 합만 반환하게 됩니다. 반복 방향과 최댓값 갱신을 함께 확인하세요.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메인 코드에서도 두 재귀 호출과 경계를 걸친 합을 구하는 호출이 구분됩니다. 예제 배열에서는 십이, 마이너스 이, 칠을 합한 십칠이 정답입니다. 함수는 합만 반환하므로 구간의 시작과 끝도 필요하면 인덱스를 함께 저장해야 해요. 전부 음수인 입력에서도 가장 덜 작은 음수를 반환하는지 확인하면 종료 조건과 초기값이 올바른지 점검할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인덱스로 가운데를 정하는 비용은 상수 시간입니다. 두 절반을 재귀적으로 풀고, 경계를 걸친 합을 계산할 때 구간을 한 번 훑습니다. 따라서 합병 정렬과 같은 점화식이 나옵니다. 전체 시간은 엔 로그 엔이에요. 이 문제에는 카데인 알고리즘이라는 선형 시간 풀이도 있습니다. 지금은 가장 빠른 풀이를 외우기보다 세 경우로 나누어 빠짐없이 결합하는 사고를 익히는 데 집중하겠습니다.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표를 볼 때 최종 시간만 외우지 말고 재귀 호출 수와 결합 비용을 먼저 읽어보세요. 같은 크기로 나누더라도 호출을 한 번 하느냐 두 번 하느냐에 따라 결과가 달라집니다. 최근접 쌍의 엔 로그 엔 결과는 와이 정렬을 유지하는 구현에 해당합니다. 다음 두 알고리즘은 덧셈을 조금 늘리는 대신 비싼 곱셈 재귀 호출을 줄입니다. 점화식의 에이를 줄였을 때 지수가 어떻게 달라지는지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카라츠바는 큰 정수의 곱셈을 빠르게 하는 방법입니다. 두 수를 앞부분과 뒷부분으로 나누면 보통 네 번의 작은 곱셈이 필요합니다. 그런데 전개식을 조금 바꾸면 세 번만 곱하고도 같은 결과를 얻을 수 있어요. 이번에는 입력 크기 엔이 정수의 값이 아니라 자릿수라는 점을 기억해주세요.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천이백삼십사는 십이 곱하기 백 더하기 삼십사로 나눌 수 있습니다. 같은 방법으로 두 수를 나누고 곱을 전개하면 앞끼리, 뒤끼리, 서로 교차하는 두 곱이 나옵니다. 절반 크기 곱셈을 네 번 하므로 점화식은 사 티 엔 나누기 이 더하기 오 엔입니다. 이대로는 엔 제곱 시간이어서 일반적인 자릿수 곱셈과 차수가 같습니다. 나누는 것만으로는 개선되지 않는 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앞부분의 곱을 에이, 뒷부분의 곱을 비라고 하겠습니다. 두 수의 앞뒤를 각각 더한 뒤 곱하면 에이와 비, 그리고 필요한 두 교차항의 합이 한꺼번에 나옵니다. 여기서 이미 구한 에이와 비를 빼면 교차항만 남아요. 그래서 앞끼리 한 번, 뒤끼리 한 번, 합끼리 한 번, 총 세 번 곱하면 됩니다. 절약한 곱셈 대신 덧셈과 뺄셈이 늘어나는 구조입니다.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의사코드에서는 먼저 자릿수가 작으면 직접 곱합니다. 그렇지 않으면 앞과 뒤를 나누고 재귀 호출을 세 번 수행해요. 제트 원 로에서 제트 투와 제트 영을 빼 중간 계수를 만들고, 마지막에 십의 거듭제곱을 곱해 자리 위치를 맞춥니다. 분할 자릿수는 정수로 정해야 합니다. 실제 구현에서는 아주 작은 수까지 재귀 호출하기보다 적당한 크기에서 기본 곱셈으로 전환하며, 전환 기준은 환경에 따라 달라집니다.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파이썬에서 십의 엠 승으로 나눈 몫은 앞부분, 나머지는 뒷부분입니다. 에이와 비, 섬 프로드가 세 재귀 호출의 결과예요. 미드는 섬 프로드에서 에이와 비를 뺀 값이고, 마지막 식이 자릿수를 맞춰 결과를 합칩니다. 예제의 두 큰 정수를 곱한 값은 일반 곱셈과 같아야 합니다. 이 코드는 원리를 보여주는 비음수 정수용 예제입니다. 파이썬 내장 곱셈보다 항상 빠르다고 해석하지는 마세요.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카라츠바의 에이는 삼이고 비는 이입니다. 기준값은 엔의 로그 투 삼 승으로, 지수가 약 일 점 오팔오입니다. 자릿수 덧셈 비용인 엔보다 기준값이 다항식 차이로 크므로 첫 번째 경우를 적용합니다. 화면의 자릿수 비교는 성장률의 차이를 보여주는 계산입니다. 상수와 구현 비용을 생략했으므로 실제 실행 시간이 그 배수로 빨라진다는 측정 결과는 아닙니다. 큰 입력에서 지수 차이가 커진다는 점을 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스트라센은 같은 발상을 행렬 곱셈에 적용합니다. 행렬을 네 블록으로 나누면 표준 방식은 여덟 번의 작은 행렬 곱셈을 합니다. 스트라센은 이를 일곱 번으로 줄여요. 여기서는 엔이 행렬 한 변의 길이이고, 행렬 덧셈 비용이 엔 제곱이라는 점이 앞의 정수 곱셈과 다릅니다.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결과의 각 블록은 두 블록 곱의 합입니다. 예를 들어 씨 일일은 에이 일일 곱하기 비 일일에 에이 일이 곱하기 비 이일을 더합니다. 결과 블록이 네 개이고 각각 두 번 곱하므로 재귀 곱셈은 여덟 번입니다. 덧셈에는 엔 제곱 시간이 듭니다. 마스터 정리의 기준값이 엔 세제곱이므로 기존의 세 겹 반복문과 같은 차수입니다. 단순히 블록으로 나누는 것만으로는 빨라지지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화면에는 일곱 개의 중간 곱과 결과를 조립하는 식이 있습니다. 지금은 일곱 식을 통째로 외우기보다 각각을 전개했을 때 불필요한 항이 서로 지워진다는 원리를 보겠습니다. 예를 들어 씨 일이에 엠 삼과 엠 오를 더하면 중간의 반대 부호 항이 사라지고 필요한 두 곱만 남습니다. 행렬 곱은 순서를 바꿀 수 없으므로 식의 좌우 순서를 그대로 지켜야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재귀 호출이 일곱 번이므로 기준값의 지수는 로그 투 칠, 약 이 점 팔영칠입니다. 덧셈 비용 엔 제곱보다 크기 때문에 전체는 엔의 이 점 팔영칠 승 차수입니다. 카라츠바와 마찬가지로 비싼 재귀 곱셈을 덧셈으로 대체했습니다. 다만 작은 행렬에서는 추가 덧셈과 메모리 비용 때문에 느릴 수 있고, 실수 계산에서는 오차도 고려해야 합니다. 차수 개선과 실제 성능 판단을 구분하세요.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장의 공통 구조를 다시 보겠습니다. 하위 문제들을 풀고 나서 결합이 모든 경우를 포함해야 합니다. 최대 구간 합과 최근접 쌍은 경계를 걸친 경우가 핵심이었고, 쿼드 트리는 영역 표현을 합쳤습니다. 마스터 정리는 조건에 맞는 점화식을 정리하는 도구입니다. 카라츠바와 스트라센은 재귀 호출 수를 줄여 지수를 낮췄습니다. 코드와 복잡도를 연결할 때는 복사와 정렬처럼 숨어 있는 비용도 꼭 포함하세요.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직사각형 40">
            <a:extLst>
              <a:ext uri="{FF2B5EF4-FFF2-40B4-BE49-F238E27FC236}">
                <a16:creationId xmlns:a16="http://schemas.microsoft.com/office/drawing/2014/main" id="{BDBCEF49-BD0F-496D-9A85-37995F2EE8A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2" name="직사각형 1">
            <a:extLst>
              <a:ext uri="{FF2B5EF4-FFF2-40B4-BE49-F238E27FC236}">
                <a16:creationId xmlns:a16="http://schemas.microsoft.com/office/drawing/2014/main" id="{E2A341B3-1A72-4C93-B2E1-14A2F19A4D3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직사각형 2">
            <a:extLst>
              <a:ext uri="{FF2B5EF4-FFF2-40B4-BE49-F238E27FC236}">
                <a16:creationId xmlns:a16="http://schemas.microsoft.com/office/drawing/2014/main" id="{BCBAFF07-5EBF-43F8-A2E0-2831B58BB4F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이번 장에서 배울 내용</a:t>
            </a:r>
          </a:p>
        </p:txBody>
      </p:sp>
      <p:sp>
        <p:nvSpPr>
          <p:cNvPr id="4" name="직사각형 3">
            <a:extLst>
              <a:ext uri="{FF2B5EF4-FFF2-40B4-BE49-F238E27FC236}">
                <a16:creationId xmlns:a16="http://schemas.microsoft.com/office/drawing/2014/main" id="{7B46D186-B386-45D0-8BF2-8C8B8822ED4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9DE3F90A-F584-4C18-AB98-532574AE2E35}"/>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14656CA3-EA7B-486E-9825-0AE3BA3D81E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B5CF2F2C-F158-406B-A424-1FF551437F3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02</a:t>
            </a:r>
            <a:endParaRPr sz="1050" b="1" i="0">
              <a:solidFill>
                <a:srgbClr val="171717"/>
              </a:solidFill>
              <a:latin typeface="Consolas"/>
              <a:ea typeface="Consolas"/>
              <a:cs typeface="Consolas"/>
            </a:endParaRPr>
          </a:p>
        </p:txBody>
      </p:sp>
      <p:sp>
        <p:nvSpPr>
          <p:cNvPr id="42" name="TextBox 41">
            <a:extLst>
              <a:ext uri="{FF2B5EF4-FFF2-40B4-BE49-F238E27FC236}">
                <a16:creationId xmlns:a16="http://schemas.microsoft.com/office/drawing/2014/main" id="{86690E00-D86F-766A-8277-BE4C235F9C67}"/>
              </a:ext>
            </a:extLst>
          </p:cNvPr>
          <p:cNvSpPr txBox="1"/>
          <p:nvPr/>
        </p:nvSpPr>
        <p:spPr>
          <a:xfrm>
            <a:off x="609600" y="1714500"/>
            <a:ext cx="5207000" cy="369332"/>
          </a:xfrm>
          <a:prstGeom prst="rect">
            <a:avLst/>
          </a:prstGeom>
          <a:noFill/>
        </p:spPr>
        <p:txBody>
          <a:bodyPr vert="horz" rtlCol="0">
            <a:spAutoFit/>
          </a:bodyPr>
          <a:lstStyle/>
          <a:p>
            <a:r>
              <a:rPr lang="en-US" altLang="ko-KR">
                <a:latin typeface="Malgun Gothic" panose="020B0503020000020004" pitchFamily="50" charset="-127"/>
              </a:rPr>
              <a:t>4.1   </a:t>
            </a:r>
            <a:r>
              <a:rPr lang="ko-KR" altLang="en-US">
                <a:latin typeface="Malgun Gothic" panose="020B0503020000020004" pitchFamily="50" charset="-127"/>
              </a:rPr>
              <a:t>분할 정복의 기본</a:t>
            </a:r>
          </a:p>
        </p:txBody>
      </p:sp>
      <p:sp>
        <p:nvSpPr>
          <p:cNvPr id="43" name="TextBox 42">
            <a:extLst>
              <a:ext uri="{FF2B5EF4-FFF2-40B4-BE49-F238E27FC236}">
                <a16:creationId xmlns:a16="http://schemas.microsoft.com/office/drawing/2014/main" id="{8D76C907-144C-845D-9938-8A40651A0818}"/>
              </a:ext>
            </a:extLst>
          </p:cNvPr>
          <p:cNvSpPr txBox="1"/>
          <p:nvPr/>
        </p:nvSpPr>
        <p:spPr>
          <a:xfrm>
            <a:off x="609600" y="2565400"/>
            <a:ext cx="5207000" cy="369332"/>
          </a:xfrm>
          <a:prstGeom prst="rect">
            <a:avLst/>
          </a:prstGeom>
          <a:noFill/>
        </p:spPr>
        <p:txBody>
          <a:bodyPr vert="horz" rtlCol="0">
            <a:spAutoFit/>
          </a:bodyPr>
          <a:lstStyle/>
          <a:p>
            <a:r>
              <a:rPr lang="en-US" altLang="ko-KR">
                <a:latin typeface="Malgun Gothic" panose="020B0503020000020004" pitchFamily="50" charset="-127"/>
              </a:rPr>
              <a:t>4.2   </a:t>
            </a:r>
            <a:r>
              <a:rPr lang="ko-KR" altLang="en-US">
                <a:latin typeface="Malgun Gothic" panose="020B0503020000020004" pitchFamily="50" charset="-127"/>
              </a:rPr>
              <a:t>병합 정렬 </a:t>
            </a:r>
            <a:r>
              <a:rPr lang="en-US" altLang="ko-KR">
                <a:latin typeface="Malgun Gothic" panose="020B0503020000020004" pitchFamily="50" charset="-127"/>
              </a:rPr>
              <a:t>(Merge Sort)</a:t>
            </a:r>
            <a:endParaRPr lang="ko-KR" altLang="en-US">
              <a:latin typeface="Malgun Gothic" panose="020B0503020000020004" pitchFamily="50" charset="-127"/>
            </a:endParaRPr>
          </a:p>
        </p:txBody>
      </p:sp>
      <p:sp>
        <p:nvSpPr>
          <p:cNvPr id="44" name="TextBox 43">
            <a:extLst>
              <a:ext uri="{FF2B5EF4-FFF2-40B4-BE49-F238E27FC236}">
                <a16:creationId xmlns:a16="http://schemas.microsoft.com/office/drawing/2014/main" id="{044EFE4A-4828-C2CE-B5DD-8C37DA08ADEB}"/>
              </a:ext>
            </a:extLst>
          </p:cNvPr>
          <p:cNvSpPr txBox="1"/>
          <p:nvPr/>
        </p:nvSpPr>
        <p:spPr>
          <a:xfrm>
            <a:off x="609600" y="3416300"/>
            <a:ext cx="5207000" cy="369332"/>
          </a:xfrm>
          <a:prstGeom prst="rect">
            <a:avLst/>
          </a:prstGeom>
          <a:noFill/>
        </p:spPr>
        <p:txBody>
          <a:bodyPr vert="horz" rtlCol="0">
            <a:spAutoFit/>
          </a:bodyPr>
          <a:lstStyle/>
          <a:p>
            <a:r>
              <a:rPr lang="en-US" altLang="ko-KR">
                <a:latin typeface="Malgun Gothic" panose="020B0503020000020004" pitchFamily="50" charset="-127"/>
              </a:rPr>
              <a:t>4.3   </a:t>
            </a:r>
            <a:r>
              <a:rPr lang="ko-KR" altLang="en-US">
                <a:latin typeface="Malgun Gothic" panose="020B0503020000020004" pitchFamily="50" charset="-127"/>
              </a:rPr>
              <a:t>퀵 정렬 </a:t>
            </a:r>
            <a:r>
              <a:rPr lang="en-US" altLang="ko-KR">
                <a:latin typeface="Malgun Gothic" panose="020B0503020000020004" pitchFamily="50" charset="-127"/>
              </a:rPr>
              <a:t>(Quick Sort)</a:t>
            </a:r>
            <a:endParaRPr lang="ko-KR" altLang="en-US">
              <a:latin typeface="Malgun Gothic" panose="020B0503020000020004" pitchFamily="50" charset="-127"/>
            </a:endParaRPr>
          </a:p>
        </p:txBody>
      </p:sp>
      <p:sp>
        <p:nvSpPr>
          <p:cNvPr id="45" name="TextBox 44">
            <a:extLst>
              <a:ext uri="{FF2B5EF4-FFF2-40B4-BE49-F238E27FC236}">
                <a16:creationId xmlns:a16="http://schemas.microsoft.com/office/drawing/2014/main" id="{BE4370E7-F519-B19F-0D61-B1E23AB3CE40}"/>
              </a:ext>
            </a:extLst>
          </p:cNvPr>
          <p:cNvSpPr txBox="1"/>
          <p:nvPr/>
        </p:nvSpPr>
        <p:spPr>
          <a:xfrm>
            <a:off x="609600" y="4267200"/>
            <a:ext cx="5207000" cy="369332"/>
          </a:xfrm>
          <a:prstGeom prst="rect">
            <a:avLst/>
          </a:prstGeom>
          <a:noFill/>
        </p:spPr>
        <p:txBody>
          <a:bodyPr vert="horz" rtlCol="0">
            <a:spAutoFit/>
          </a:bodyPr>
          <a:lstStyle/>
          <a:p>
            <a:r>
              <a:rPr lang="en-US" altLang="ko-KR">
                <a:latin typeface="Malgun Gothic" panose="020B0503020000020004" pitchFamily="50" charset="-127"/>
              </a:rPr>
              <a:t>4.4   </a:t>
            </a:r>
            <a:r>
              <a:rPr lang="ko-KR" altLang="en-US">
                <a:latin typeface="Malgun Gothic" panose="020B0503020000020004" pitchFamily="50" charset="-127"/>
              </a:rPr>
              <a:t>최대 구간 합</a:t>
            </a:r>
          </a:p>
        </p:txBody>
      </p:sp>
      <p:sp>
        <p:nvSpPr>
          <p:cNvPr id="46" name="TextBox 45">
            <a:extLst>
              <a:ext uri="{FF2B5EF4-FFF2-40B4-BE49-F238E27FC236}">
                <a16:creationId xmlns:a16="http://schemas.microsoft.com/office/drawing/2014/main" id="{A68C3D7E-0A8A-2A81-0CD6-B00FF61928C2}"/>
              </a:ext>
            </a:extLst>
          </p:cNvPr>
          <p:cNvSpPr txBox="1"/>
          <p:nvPr/>
        </p:nvSpPr>
        <p:spPr>
          <a:xfrm>
            <a:off x="609600" y="5118100"/>
            <a:ext cx="5207000" cy="369332"/>
          </a:xfrm>
          <a:prstGeom prst="rect">
            <a:avLst/>
          </a:prstGeom>
          <a:noFill/>
        </p:spPr>
        <p:txBody>
          <a:bodyPr vert="horz" rtlCol="0">
            <a:spAutoFit/>
          </a:bodyPr>
          <a:lstStyle/>
          <a:p>
            <a:r>
              <a:rPr lang="en-US" altLang="ko-KR">
                <a:latin typeface="Malgun Gothic" panose="020B0503020000020004" pitchFamily="50" charset="-127"/>
              </a:rPr>
              <a:t>4.5   </a:t>
            </a:r>
            <a:r>
              <a:rPr lang="ko-KR" altLang="en-US">
                <a:latin typeface="Malgun Gothic" panose="020B0503020000020004" pitchFamily="50" charset="-127"/>
              </a:rPr>
              <a:t>최근접 쌍</a:t>
            </a:r>
          </a:p>
        </p:txBody>
      </p:sp>
      <p:sp>
        <p:nvSpPr>
          <p:cNvPr id="47" name="TextBox 46">
            <a:extLst>
              <a:ext uri="{FF2B5EF4-FFF2-40B4-BE49-F238E27FC236}">
                <a16:creationId xmlns:a16="http://schemas.microsoft.com/office/drawing/2014/main" id="{996BB1C0-F25E-2786-E638-06E78D951611}"/>
              </a:ext>
            </a:extLst>
          </p:cNvPr>
          <p:cNvSpPr txBox="1"/>
          <p:nvPr/>
        </p:nvSpPr>
        <p:spPr>
          <a:xfrm>
            <a:off x="6248400" y="1714500"/>
            <a:ext cx="5207000" cy="369332"/>
          </a:xfrm>
          <a:prstGeom prst="rect">
            <a:avLst/>
          </a:prstGeom>
          <a:noFill/>
        </p:spPr>
        <p:txBody>
          <a:bodyPr vert="horz" rtlCol="0">
            <a:spAutoFit/>
          </a:bodyPr>
          <a:lstStyle/>
          <a:p>
            <a:r>
              <a:rPr lang="en-US" altLang="ko-KR">
                <a:latin typeface="Malgun Gothic" panose="020B0503020000020004" pitchFamily="50" charset="-127"/>
              </a:rPr>
              <a:t>4.6   </a:t>
            </a:r>
            <a:r>
              <a:rPr lang="ko-KR" altLang="en-US">
                <a:latin typeface="Malgun Gothic" panose="020B0503020000020004" pitchFamily="50" charset="-127"/>
              </a:rPr>
              <a:t>쿼드 트리</a:t>
            </a:r>
          </a:p>
        </p:txBody>
      </p:sp>
      <p:sp>
        <p:nvSpPr>
          <p:cNvPr id="48" name="TextBox 47">
            <a:extLst>
              <a:ext uri="{FF2B5EF4-FFF2-40B4-BE49-F238E27FC236}">
                <a16:creationId xmlns:a16="http://schemas.microsoft.com/office/drawing/2014/main" id="{DEEB98D6-A10F-2E95-9830-013A8B4E8DED}"/>
              </a:ext>
            </a:extLst>
          </p:cNvPr>
          <p:cNvSpPr txBox="1"/>
          <p:nvPr/>
        </p:nvSpPr>
        <p:spPr>
          <a:xfrm>
            <a:off x="6248400" y="2565400"/>
            <a:ext cx="5207000" cy="369332"/>
          </a:xfrm>
          <a:prstGeom prst="rect">
            <a:avLst/>
          </a:prstGeom>
          <a:noFill/>
        </p:spPr>
        <p:txBody>
          <a:bodyPr vert="horz" rtlCol="0">
            <a:spAutoFit/>
          </a:bodyPr>
          <a:lstStyle/>
          <a:p>
            <a:r>
              <a:rPr lang="en-US" altLang="ko-KR">
                <a:latin typeface="Malgun Gothic" panose="020B0503020000020004" pitchFamily="50" charset="-127"/>
              </a:rPr>
              <a:t>4.7   </a:t>
            </a:r>
            <a:r>
              <a:rPr lang="ko-KR" altLang="en-US">
                <a:latin typeface="Malgun Gothic" panose="020B0503020000020004" pitchFamily="50" charset="-127"/>
              </a:rPr>
              <a:t>마스터 정리</a:t>
            </a:r>
          </a:p>
        </p:txBody>
      </p:sp>
      <p:sp>
        <p:nvSpPr>
          <p:cNvPr id="49" name="TextBox 48">
            <a:extLst>
              <a:ext uri="{FF2B5EF4-FFF2-40B4-BE49-F238E27FC236}">
                <a16:creationId xmlns:a16="http://schemas.microsoft.com/office/drawing/2014/main" id="{8F4A288D-50AD-C1D3-2AF3-91AD50C95D8F}"/>
              </a:ext>
            </a:extLst>
          </p:cNvPr>
          <p:cNvSpPr txBox="1"/>
          <p:nvPr/>
        </p:nvSpPr>
        <p:spPr>
          <a:xfrm>
            <a:off x="6248400" y="3416300"/>
            <a:ext cx="5207000" cy="369332"/>
          </a:xfrm>
          <a:prstGeom prst="rect">
            <a:avLst/>
          </a:prstGeom>
          <a:noFill/>
        </p:spPr>
        <p:txBody>
          <a:bodyPr vert="horz" rtlCol="0">
            <a:spAutoFit/>
          </a:bodyPr>
          <a:lstStyle/>
          <a:p>
            <a:r>
              <a:rPr lang="en-US" altLang="ko-KR">
                <a:latin typeface="Malgun Gothic" panose="020B0503020000020004" pitchFamily="50" charset="-127"/>
              </a:rPr>
              <a:t>4.8   </a:t>
            </a:r>
            <a:r>
              <a:rPr lang="ko-KR" altLang="en-US">
                <a:latin typeface="Malgun Gothic" panose="020B0503020000020004" pitchFamily="50" charset="-127"/>
              </a:rPr>
              <a:t>카라츠바 알고리즘</a:t>
            </a:r>
          </a:p>
        </p:txBody>
      </p:sp>
      <p:sp>
        <p:nvSpPr>
          <p:cNvPr id="50" name="TextBox 49">
            <a:extLst>
              <a:ext uri="{FF2B5EF4-FFF2-40B4-BE49-F238E27FC236}">
                <a16:creationId xmlns:a16="http://schemas.microsoft.com/office/drawing/2014/main" id="{4DB78F2C-1E56-3087-5966-316E0C05D2D1}"/>
              </a:ext>
            </a:extLst>
          </p:cNvPr>
          <p:cNvSpPr txBox="1"/>
          <p:nvPr/>
        </p:nvSpPr>
        <p:spPr>
          <a:xfrm>
            <a:off x="6248400" y="4267200"/>
            <a:ext cx="5207000" cy="369332"/>
          </a:xfrm>
          <a:prstGeom prst="rect">
            <a:avLst/>
          </a:prstGeom>
          <a:noFill/>
        </p:spPr>
        <p:txBody>
          <a:bodyPr vert="horz" rtlCol="0">
            <a:spAutoFit/>
          </a:bodyPr>
          <a:lstStyle/>
          <a:p>
            <a:r>
              <a:rPr lang="en-US" altLang="ko-KR">
                <a:latin typeface="Malgun Gothic" panose="020B0503020000020004" pitchFamily="50" charset="-127"/>
              </a:rPr>
              <a:t>4.9   </a:t>
            </a:r>
            <a:r>
              <a:rPr lang="ko-KR" altLang="en-US">
                <a:latin typeface="Malgun Gothic" panose="020B0503020000020004" pitchFamily="50" charset="-127"/>
              </a:rPr>
              <a:t>스트라센 알고리즘</a:t>
            </a:r>
          </a:p>
        </p:txBody>
      </p:sp>
      <p:sp>
        <p:nvSpPr>
          <p:cNvPr id="51" name="TextBox 50">
            <a:extLst>
              <a:ext uri="{FF2B5EF4-FFF2-40B4-BE49-F238E27FC236}">
                <a16:creationId xmlns:a16="http://schemas.microsoft.com/office/drawing/2014/main" id="{A1F418B5-1302-921C-E1D9-1D38247C053E}"/>
              </a:ext>
            </a:extLst>
          </p:cNvPr>
          <p:cNvSpPr txBox="1"/>
          <p:nvPr/>
        </p:nvSpPr>
        <p:spPr>
          <a:xfrm>
            <a:off x="6248400" y="5118100"/>
            <a:ext cx="5207000" cy="369332"/>
          </a:xfrm>
          <a:prstGeom prst="rect">
            <a:avLst/>
          </a:prstGeom>
          <a:noFill/>
        </p:spPr>
        <p:txBody>
          <a:bodyPr vert="horz" rtlCol="0">
            <a:spAutoFit/>
          </a:bodyPr>
          <a:lstStyle/>
          <a:p>
            <a:r>
              <a:rPr lang="en-US" altLang="ko-KR">
                <a:latin typeface="Malgun Gothic" panose="020B0503020000020004" pitchFamily="50" charset="-127"/>
              </a:rPr>
              <a:t>4.10   </a:t>
            </a:r>
            <a:r>
              <a:rPr lang="ko-KR" altLang="en-US">
                <a:latin typeface="Malgun Gothic" panose="020B0503020000020004" pitchFamily="50" charset="-127"/>
              </a:rPr>
              <a:t>코딩 테스트 예제</a:t>
            </a:r>
          </a:p>
        </p:txBody>
      </p:sp>
    </p:spTree>
    <p:extLst>
      <p:ext uri="{BB962C8B-B14F-4D97-AF65-F5344CB8AC3E}">
        <p14:creationId xmlns:p14="http://schemas.microsoft.com/office/powerpoint/2010/main" val="67800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03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06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126AC955-7CDC-418F-A998-B55FCC56041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6D978514-A300-4C1B-BD29-73DFF0DF3B2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05414AF-461F-40BD-8B3C-549A8DC873E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나누는 동안 값의 순서는 그대로</a:t>
            </a:r>
          </a:p>
        </p:txBody>
      </p:sp>
      <p:sp>
        <p:nvSpPr>
          <p:cNvPr id="4" name="직사각형 3">
            <a:extLst>
              <a:ext uri="{FF2B5EF4-FFF2-40B4-BE49-F238E27FC236}">
                <a16:creationId xmlns:a16="http://schemas.microsoft.com/office/drawing/2014/main" id="{A7965D3E-83BF-4BA2-8FC1-6E8EC17659A7}"/>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나누기는 인덱스 가운데에서 자르는 작업이다.</a:t>
            </a:r>
          </a:p>
          <a:p>
            <a:pPr>
              <a:defRPr sz="2025" b="0">
                <a:solidFill>
                  <a:srgbClr val="151515"/>
                </a:solidFill>
              </a:defRPr>
            </a:pPr>
            <a:r>
              <a:rPr sz="2025" b="0">
                <a:solidFill>
                  <a:srgbClr val="151515"/>
                </a:solidFill>
                <a:latin typeface="Malgun Gothic" panose="020B0503020000020004" pitchFamily="50" charset="-127"/>
              </a:rPr>
              <a:t>이 단계에서는 크기를 비교하거나 위치를 교환하지 않는다.</a:t>
            </a:r>
          </a:p>
        </p:txBody>
      </p:sp>
      <p:sp>
        <p:nvSpPr>
          <p:cNvPr id="5" name="직사각형 4">
            <a:extLst>
              <a:ext uri="{FF2B5EF4-FFF2-40B4-BE49-F238E27FC236}">
                <a16:creationId xmlns:a16="http://schemas.microsoft.com/office/drawing/2014/main" id="{0798DA67-2ABD-4A64-87F9-51183C23EAD3}"/>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8개</a:t>
            </a:r>
          </a:p>
        </p:txBody>
      </p:sp>
      <p:graphicFrame>
        <p:nvGraphicFramePr>
          <p:cNvPr id="6" name="표 5">
            <a:extLst>
              <a:ext uri="{FF2B5EF4-FFF2-40B4-BE49-F238E27FC236}">
                <a16:creationId xmlns:a16="http://schemas.microsoft.com/office/drawing/2014/main" id="{9AA253A0-CAA8-4754-9D18-E0B55D2697B1}"/>
              </a:ext>
            </a:extLst>
          </p:cNvPr>
          <p:cNvGraphicFramePr/>
          <p:nvPr>
            <p:extLst>
              <p:ext uri="{D42A27DB-BD31-4B8C-83A1-F6EECF244321}">
                <p14:modId xmlns:p14="http://schemas.microsoft.com/office/powerpoint/2010/main" val="34528520"/>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3614005-2652-4E5C-BF98-64E8B748769E}"/>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4개씩</a:t>
            </a:r>
          </a:p>
        </p:txBody>
      </p:sp>
      <p:graphicFrame>
        <p:nvGraphicFramePr>
          <p:cNvPr id="8" name="표 7">
            <a:extLst>
              <a:ext uri="{FF2B5EF4-FFF2-40B4-BE49-F238E27FC236}">
                <a16:creationId xmlns:a16="http://schemas.microsoft.com/office/drawing/2014/main" id="{DF05A8D7-766B-4CE7-AA9B-DD35BEF94D81}"/>
              </a:ext>
            </a:extLst>
          </p:cNvPr>
          <p:cNvGraphicFramePr/>
          <p:nvPr>
            <p:extLst>
              <p:ext uri="{D42A27DB-BD31-4B8C-83A1-F6EECF244321}">
                <p14:modId xmlns:p14="http://schemas.microsoft.com/office/powerpoint/2010/main" val="2329998823"/>
              </p:ext>
            </p:extLst>
          </p:nvPr>
        </p:nvGraphicFramePr>
        <p:xfrm>
          <a:off x="609600" y="427672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8  3  6  2</a:t>
                      </a:r>
                    </a:p>
                  </a:txBody>
                  <a:tcPr>
                    <a:solidFill>
                      <a:srgbClr val="F6F6F6"/>
                    </a:solidFill>
                  </a:tcPr>
                </a:tc>
                <a:tc>
                  <a:txBody>
                    <a:bodyPr/>
                    <a:lstStyle/>
                    <a:p>
                      <a:pPr algn="ctr"/>
                      <a:r>
                        <a:rPr sz="2025" b="1">
                          <a:solidFill>
                            <a:srgbClr val="151515"/>
                          </a:solidFill>
                          <a:latin typeface="Malgun Gothic" panose="020B0503020000020004" pitchFamily="50" charset="-127"/>
                        </a:rPr>
                        <a:t>7  1  5  4</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F0D7BB1-999C-4C61-B335-29F7AF0171E8}"/>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2개씩</a:t>
            </a:r>
          </a:p>
        </p:txBody>
      </p:sp>
      <p:graphicFrame>
        <p:nvGraphicFramePr>
          <p:cNvPr id="10" name="표 9">
            <a:extLst>
              <a:ext uri="{FF2B5EF4-FFF2-40B4-BE49-F238E27FC236}">
                <a16:creationId xmlns:a16="http://schemas.microsoft.com/office/drawing/2014/main" id="{E8144212-6732-4F2A-9B6E-E75D0FCF8A13}"/>
              </a:ext>
            </a:extLst>
          </p:cNvPr>
          <p:cNvGraphicFramePr/>
          <p:nvPr>
            <p:extLst>
              <p:ext uri="{D42A27DB-BD31-4B8C-83A1-F6EECF244321}">
                <p14:modId xmlns:p14="http://schemas.microsoft.com/office/powerpoint/2010/main" val="2213374372"/>
              </p:ext>
            </p:extLst>
          </p:nvPr>
        </p:nvGraphicFramePr>
        <p:xfrm>
          <a:off x="609600" y="517207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8  3</a:t>
                      </a:r>
                    </a:p>
                  </a:txBody>
                  <a:tcPr>
                    <a:solidFill>
                      <a:srgbClr val="F6F6F6"/>
                    </a:solidFill>
                  </a:tcPr>
                </a:tc>
                <a:tc>
                  <a:txBody>
                    <a:bodyPr/>
                    <a:lstStyle/>
                    <a:p>
                      <a:pPr algn="ctr"/>
                      <a:r>
                        <a:rPr sz="2550" b="1">
                          <a:solidFill>
                            <a:srgbClr val="151515"/>
                          </a:solidFill>
                          <a:latin typeface="Malgun Gothic" panose="020B0503020000020004" pitchFamily="50" charset="-127"/>
                        </a:rPr>
                        <a:t>6  2</a:t>
                      </a:r>
                    </a:p>
                  </a:txBody>
                  <a:tcPr>
                    <a:solidFill>
                      <a:srgbClr val="F6F6F6"/>
                    </a:solidFill>
                  </a:tcPr>
                </a:tc>
                <a:tc>
                  <a:txBody>
                    <a:bodyPr/>
                    <a:lstStyle/>
                    <a:p>
                      <a:pPr algn="ctr"/>
                      <a:r>
                        <a:rPr sz="2550" b="1">
                          <a:solidFill>
                            <a:srgbClr val="151515"/>
                          </a:solidFill>
                          <a:latin typeface="Malgun Gothic" panose="020B0503020000020004" pitchFamily="50" charset="-127"/>
                        </a:rPr>
                        <a:t>7  1</a:t>
                      </a:r>
                    </a:p>
                  </a:txBody>
                  <a:tcPr>
                    <a:solidFill>
                      <a:srgbClr val="F6F6F6"/>
                    </a:solidFill>
                  </a:tcPr>
                </a:tc>
                <a:tc>
                  <a:txBody>
                    <a:bodyPr/>
                    <a:lstStyle/>
                    <a:p>
                      <a:pPr algn="ctr"/>
                      <a:r>
                        <a:rPr sz="2550" b="1">
                          <a:solidFill>
                            <a:srgbClr val="151515"/>
                          </a:solidFill>
                          <a:latin typeface="Malgun Gothic" panose="020B0503020000020004" pitchFamily="50" charset="-127"/>
                        </a:rPr>
                        <a:t>5  4</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39DFC4AF-14EB-4A98-84B8-B991825D76D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43C283D7-4B0A-4D21-9317-7690C353765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08</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5F20F2ED-30CA-1D43-07FD-B305D7C0C07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036911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직사각형 12">
            <a:extLst>
              <a:ext uri="{FF2B5EF4-FFF2-40B4-BE49-F238E27FC236}">
                <a16:creationId xmlns:a16="http://schemas.microsoft.com/office/drawing/2014/main" id="{5E7BE352-315B-4991-A314-FAEE344B4A9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CB444EC-68A1-4C21-AEA6-A2E36BCB063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6940D9-B277-4910-A3A2-652776C0560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합칠 때 작은 값부터 정렬된다</a:t>
            </a:r>
          </a:p>
        </p:txBody>
      </p:sp>
      <p:sp>
        <p:nvSpPr>
          <p:cNvPr id="4" name="직사각형 3">
            <a:extLst>
              <a:ext uri="{FF2B5EF4-FFF2-40B4-BE49-F238E27FC236}">
                <a16:creationId xmlns:a16="http://schemas.microsoft.com/office/drawing/2014/main" id="{4AF40F02-26D1-416C-B891-2CD50FCE512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원소 배열끼리 합치고, 그 결과를 다시 합친다.</a:t>
            </a:r>
          </a:p>
          <a:p>
            <a:pPr>
              <a:defRPr sz="2025" b="0">
                <a:solidFill>
                  <a:srgbClr val="151515"/>
                </a:solidFill>
              </a:defRPr>
            </a:pPr>
            <a:r>
              <a:rPr sz="2025" b="0">
                <a:solidFill>
                  <a:srgbClr val="151515"/>
                </a:solidFill>
                <a:latin typeface="Malgun Gothic" panose="020B0503020000020004" pitchFamily="50" charset="-127"/>
              </a:rPr>
              <a:t>병합에 들어오는 두 배열은 각각 정렬되어 있어야 한다.</a:t>
            </a:r>
          </a:p>
        </p:txBody>
      </p:sp>
      <p:sp>
        <p:nvSpPr>
          <p:cNvPr id="5" name="직사각형 4">
            <a:extLst>
              <a:ext uri="{FF2B5EF4-FFF2-40B4-BE49-F238E27FC236}">
                <a16:creationId xmlns:a16="http://schemas.microsoft.com/office/drawing/2014/main" id="{DF112220-A50B-416F-B2E8-168DC1772E1E}"/>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원소씩</a:t>
            </a:r>
          </a:p>
        </p:txBody>
      </p:sp>
      <p:graphicFrame>
        <p:nvGraphicFramePr>
          <p:cNvPr id="6" name="표 5">
            <a:extLst>
              <a:ext uri="{FF2B5EF4-FFF2-40B4-BE49-F238E27FC236}">
                <a16:creationId xmlns:a16="http://schemas.microsoft.com/office/drawing/2014/main" id="{B0FE9930-AC78-4DFC-9697-79932E3ECC25}"/>
              </a:ext>
            </a:extLst>
          </p:cNvPr>
          <p:cNvGraphicFramePr/>
          <p:nvPr>
            <p:extLst>
              <p:ext uri="{D42A27DB-BD31-4B8C-83A1-F6EECF244321}">
                <p14:modId xmlns:p14="http://schemas.microsoft.com/office/powerpoint/2010/main" val="3762173376"/>
              </p:ext>
            </p:extLst>
          </p:nvPr>
        </p:nvGraphicFramePr>
        <p:xfrm>
          <a:off x="609600" y="3381375"/>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C7210D9-004A-40D9-B911-AA8C1330798F}"/>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두 개 병합</a:t>
            </a:r>
          </a:p>
        </p:txBody>
      </p:sp>
      <p:graphicFrame>
        <p:nvGraphicFramePr>
          <p:cNvPr id="8" name="표 7">
            <a:extLst>
              <a:ext uri="{FF2B5EF4-FFF2-40B4-BE49-F238E27FC236}">
                <a16:creationId xmlns:a16="http://schemas.microsoft.com/office/drawing/2014/main" id="{499F7103-A90F-49DD-BF1F-3C2634264F1D}"/>
              </a:ext>
            </a:extLst>
          </p:cNvPr>
          <p:cNvGraphicFramePr/>
          <p:nvPr>
            <p:extLst>
              <p:ext uri="{D42A27DB-BD31-4B8C-83A1-F6EECF244321}">
                <p14:modId xmlns:p14="http://schemas.microsoft.com/office/powerpoint/2010/main" val="2987891849"/>
              </p:ext>
            </p:extLst>
          </p:nvPr>
        </p:nvGraphicFramePr>
        <p:xfrm>
          <a:off x="609600" y="4276725"/>
          <a:ext cx="10972800" cy="552450"/>
        </p:xfrm>
        <a:graphic>
          <a:graphicData uri="http://schemas.openxmlformats.org/drawingml/2006/table">
            <a:tbl>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52450">
                <a:tc>
                  <a:txBody>
                    <a:bodyPr/>
                    <a:lstStyle/>
                    <a:p>
                      <a:pPr algn="ctr"/>
                      <a:r>
                        <a:rPr sz="2550" b="1">
                          <a:solidFill>
                            <a:srgbClr val="151515"/>
                          </a:solidFill>
                          <a:latin typeface="Malgun Gothic" panose="020B0503020000020004" pitchFamily="50" charset="-127"/>
                        </a:rPr>
                        <a:t>3  8</a:t>
                      </a:r>
                    </a:p>
                  </a:txBody>
                  <a:tcPr>
                    <a:solidFill>
                      <a:srgbClr val="F6F6F6"/>
                    </a:solidFill>
                  </a:tcPr>
                </a:tc>
                <a:tc>
                  <a:txBody>
                    <a:bodyPr/>
                    <a:lstStyle/>
                    <a:p>
                      <a:pPr algn="ctr"/>
                      <a:r>
                        <a:rPr sz="2550" b="1">
                          <a:solidFill>
                            <a:srgbClr val="151515"/>
                          </a:solidFill>
                          <a:latin typeface="Malgun Gothic" panose="020B0503020000020004" pitchFamily="50" charset="-127"/>
                        </a:rPr>
                        <a:t>2  6</a:t>
                      </a:r>
                    </a:p>
                  </a:txBody>
                  <a:tcPr>
                    <a:solidFill>
                      <a:srgbClr val="F6F6F6"/>
                    </a:solidFill>
                  </a:tcPr>
                </a:tc>
                <a:tc>
                  <a:txBody>
                    <a:bodyPr/>
                    <a:lstStyle/>
                    <a:p>
                      <a:pPr algn="ctr"/>
                      <a:r>
                        <a:rPr sz="2550" b="1">
                          <a:solidFill>
                            <a:srgbClr val="151515"/>
                          </a:solidFill>
                          <a:latin typeface="Malgun Gothic" panose="020B0503020000020004" pitchFamily="50" charset="-127"/>
                        </a:rPr>
                        <a:t>1  7</a:t>
                      </a:r>
                    </a:p>
                  </a:txBody>
                  <a:tcPr>
                    <a:solidFill>
                      <a:srgbClr val="F6F6F6"/>
                    </a:solidFill>
                  </a:tcPr>
                </a:tc>
                <a:tc>
                  <a:txBody>
                    <a:bodyPr/>
                    <a:lstStyle/>
                    <a:p>
                      <a:pPr algn="ctr"/>
                      <a:r>
                        <a:rPr sz="2550" b="1">
                          <a:solidFill>
                            <a:srgbClr val="151515"/>
                          </a:solidFill>
                          <a:latin typeface="Malgun Gothic" panose="020B0503020000020004" pitchFamily="50" charset="-127"/>
                        </a:rPr>
                        <a:t>4  5</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4FC4969-646B-4A17-A507-577F0E5876C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네 개 병합</a:t>
            </a:r>
          </a:p>
        </p:txBody>
      </p:sp>
      <p:graphicFrame>
        <p:nvGraphicFramePr>
          <p:cNvPr id="10" name="표 9">
            <a:extLst>
              <a:ext uri="{FF2B5EF4-FFF2-40B4-BE49-F238E27FC236}">
                <a16:creationId xmlns:a16="http://schemas.microsoft.com/office/drawing/2014/main" id="{7359CCEB-F777-4763-A7CD-677AF4E426D0}"/>
              </a:ext>
            </a:extLst>
          </p:cNvPr>
          <p:cNvGraphicFramePr/>
          <p:nvPr>
            <p:extLst>
              <p:ext uri="{D42A27DB-BD31-4B8C-83A1-F6EECF244321}">
                <p14:modId xmlns:p14="http://schemas.microsoft.com/office/powerpoint/2010/main" val="3840955463"/>
              </p:ext>
            </p:extLst>
          </p:nvPr>
        </p:nvGraphicFramePr>
        <p:xfrm>
          <a:off x="609600" y="5172075"/>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2  3  6  8</a:t>
                      </a:r>
                    </a:p>
                  </a:txBody>
                  <a:tcPr>
                    <a:solidFill>
                      <a:srgbClr val="F6F6F6"/>
                    </a:solidFill>
                  </a:tcPr>
                </a:tc>
                <a:tc>
                  <a:txBody>
                    <a:bodyPr/>
                    <a:lstStyle/>
                    <a:p>
                      <a:pPr algn="ctr"/>
                      <a:r>
                        <a:rPr sz="2025" b="1">
                          <a:solidFill>
                            <a:srgbClr val="151515"/>
                          </a:solidFill>
                          <a:latin typeface="Malgun Gothic" panose="020B0503020000020004" pitchFamily="50" charset="-127"/>
                        </a:rPr>
                        <a:t>1  4  5  7</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B0D3A8F-4061-464C-BF8E-41DECF5781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2" name="직사각형 11">
            <a:extLst>
              <a:ext uri="{FF2B5EF4-FFF2-40B4-BE49-F238E27FC236}">
                <a16:creationId xmlns:a16="http://schemas.microsoft.com/office/drawing/2014/main" id="{BFA7CE9D-5A60-4648-A764-F3401E2BB79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09</a:t>
            </a:r>
            <a:endParaRPr sz="1050" b="0">
              <a:solidFill>
                <a:srgbClr val="151515"/>
              </a:solidFill>
              <a:latin typeface="Consolas" panose="020B0609020204030204" pitchFamily="49" charset="0"/>
            </a:endParaRPr>
          </a:p>
        </p:txBody>
      </p:sp>
      <p:cxnSp>
        <p:nvCxnSpPr>
          <p:cNvPr id="14" name="직선 연결선 13">
            <a:extLst>
              <a:ext uri="{FF2B5EF4-FFF2-40B4-BE49-F238E27FC236}">
                <a16:creationId xmlns:a16="http://schemas.microsoft.com/office/drawing/2014/main" id="{86C84FF1-A0E7-B93C-4799-A4509C36DC2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84018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xmlns:a="http://schemas.openxmlformats.org/drawingml/2006/main" wrap="none" lIns="0" tIns="0" rIns="0" bIns="0" anchor="t">
            <a:noAutofit/>
          </a:bodyPr>
          <a:lstStyle xmlns:a="http://schemas.openxmlformats.org/drawingml/2006/main">
            <a:defPPr>
              <a:defRPr sz="1800">
                <a:solidFill>
                  <a:srgbClr val="151515"/>
                </a:solidFill>
                <a:latin typeface="Consolas"/>
                <a:ea typeface="Consolas"/>
                <a:cs typeface="Consolas"/>
              </a:defRPr>
            </a:defPPr>
          </a:lstStyle>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xmlns:a="http://schemas.openxmlformats.org/drawingml/2006/main">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19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22</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23</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24</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A47D9535-5CBC-4E03-B333-BE0EE5F687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17708F7A-026E-49C3-8810-45A8340DD6AE}"/>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4004D0-3845-4AEC-BB71-3812A2DEFB7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퀵 정렬 (Quick Sort)</a:t>
            </a:r>
          </a:p>
        </p:txBody>
      </p:sp>
      <p:sp>
        <p:nvSpPr>
          <p:cNvPr id="4" name="직사각형 3">
            <a:extLst>
              <a:ext uri="{FF2B5EF4-FFF2-40B4-BE49-F238E27FC236}">
                <a16:creationId xmlns:a16="http://schemas.microsoft.com/office/drawing/2014/main" id="{BE86CA96-504B-40A3-8995-DC5268E64E9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피벗을 기준으로 작은 값과 큰 값을 나눈다.</a:t>
            </a:r>
          </a:p>
          <a:p>
            <a:pPr>
              <a:defRPr sz="2025" b="0">
                <a:solidFill>
                  <a:srgbClr val="151515"/>
                </a:solidFill>
              </a:defRPr>
            </a:pPr>
            <a:r>
              <a:rPr sz="2025" b="0">
                <a:solidFill>
                  <a:srgbClr val="151515"/>
                </a:solidFill>
                <a:latin typeface="Malgun Gothic" panose="020B0503020000020004" pitchFamily="50" charset="-127"/>
              </a:rPr>
              <a:t>피벗의 위치를 확정한 뒤 양쪽 구간을 재귀 정렬한다.</a:t>
            </a:r>
          </a:p>
        </p:txBody>
      </p:sp>
      <p:sp>
        <p:nvSpPr>
          <p:cNvPr id="5" name="직사각형 4">
            <a:extLst>
              <a:ext uri="{FF2B5EF4-FFF2-40B4-BE49-F238E27FC236}">
                <a16:creationId xmlns:a16="http://schemas.microsoft.com/office/drawing/2014/main" id="{F77F170F-4F13-4F11-B38D-30156742605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예제</a:t>
            </a:r>
          </a:p>
        </p:txBody>
      </p:sp>
      <p:graphicFrame>
        <p:nvGraphicFramePr>
          <p:cNvPr id="6" name="표 5">
            <a:extLst>
              <a:ext uri="{FF2B5EF4-FFF2-40B4-BE49-F238E27FC236}">
                <a16:creationId xmlns:a16="http://schemas.microsoft.com/office/drawing/2014/main" id="{AD0E63EC-5915-4E03-B66C-992E9CBB6A08}"/>
              </a:ext>
            </a:extLst>
          </p:cNvPr>
          <p:cNvGraphicFramePr/>
          <p:nvPr>
            <p:extLst>
              <p:ext uri="{D42A27DB-BD31-4B8C-83A1-F6EECF244321}">
                <p14:modId xmlns:p14="http://schemas.microsoft.com/office/powerpoint/2010/main" val="626380538"/>
              </p:ext>
            </p:extLst>
          </p:nvPr>
        </p:nvGraphicFramePr>
        <p:xfrm>
          <a:off x="609600" y="3619500"/>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45917C5-B94A-4495-92EB-321A60AFE9D2}"/>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이번 피벗</a:t>
            </a:r>
          </a:p>
        </p:txBody>
      </p:sp>
      <p:graphicFrame>
        <p:nvGraphicFramePr>
          <p:cNvPr id="8" name="표 7">
            <a:extLst>
              <a:ext uri="{FF2B5EF4-FFF2-40B4-BE49-F238E27FC236}">
                <a16:creationId xmlns:a16="http://schemas.microsoft.com/office/drawing/2014/main" id="{E3407FD5-8B43-4882-A331-E126B27F81BA}"/>
              </a:ext>
            </a:extLst>
          </p:cNvPr>
          <p:cNvGraphicFramePr/>
          <p:nvPr>
            <p:extLst>
              <p:ext uri="{D42A27DB-BD31-4B8C-83A1-F6EECF244321}">
                <p14:modId xmlns:p14="http://schemas.microsoft.com/office/powerpoint/2010/main" val="2234505267"/>
              </p:ext>
            </p:extLst>
          </p:nvPr>
        </p:nvGraphicFramePr>
        <p:xfrm>
          <a:off x="609600" y="4705350"/>
          <a:ext cx="10972800" cy="552450"/>
        </p:xfrm>
        <a:graphic>
          <a:graphicData uri="http://schemas.openxmlformats.org/drawingml/2006/table">
            <a:tbl>
              <a:tblPr/>
              <a:tblGrid>
                <a:gridCol w="10972800">
                  <a:extLst>
                    <a:ext uri="{9D8B030D-6E8A-4147-A177-3AD203B41FA5}">
                      <a16:colId xmlns:a16="http://schemas.microsoft.com/office/drawing/2014/main" val="20000"/>
                    </a:ext>
                  </a:extLst>
                </a:gridCol>
              </a:tblGrid>
              <a:tr h="552450">
                <a:tc>
                  <a:txBody>
                    <a:bodyPr/>
                    <a:lstStyle/>
                    <a:p>
                      <a:pPr algn="ctr"/>
                      <a:r>
                        <a:rPr sz="2025"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AF22BCAC-158F-4C2D-A5C1-8D6F567A3391}"/>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8FDA9D89-9B03-44FE-87B4-AFFC3AA717A4}"/>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DBFEFC2A-C394-4293-AACE-3D009353F0E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25</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ABF2868B-64BD-0935-E816-E13D37B917E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74257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D55ACE7D-58F3-4D9C-89CF-239F470C321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C02B097-5037-49DF-97D1-CE50DEFDC6F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30F320F-529A-4847-87AA-41C018FB8D9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① 피벗 6을 끝으로 옮긴 상태</a:t>
            </a:r>
          </a:p>
        </p:txBody>
      </p:sp>
      <p:sp>
        <p:nvSpPr>
          <p:cNvPr id="4" name="직사각형 3">
            <a:extLst>
              <a:ext uri="{FF2B5EF4-FFF2-40B4-BE49-F238E27FC236}">
                <a16:creationId xmlns:a16="http://schemas.microsoft.com/office/drawing/2014/main" id="{4ECD32D6-B553-43C4-A812-16C2CE78DC9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4에서 시작합니다. 피벗은 인덱스 5에 따로 둡니다.</a:t>
            </a:r>
          </a:p>
          <a:p>
            <a:pPr>
              <a:defRPr sz="2025" b="0">
                <a:solidFill>
                  <a:srgbClr val="151515"/>
                </a:solidFill>
              </a:defRPr>
            </a:pPr>
            <a:r>
              <a:rPr sz="2025" b="0">
                <a:solidFill>
                  <a:srgbClr val="151515"/>
                </a:solidFill>
                <a:latin typeface="Malgun Gothic" panose="020B0503020000020004" pitchFamily="50" charset="-127"/>
              </a:rPr>
              <a:t>L의 8 &gt; 6이므로 L은 움직이지 않습니다.</a:t>
            </a:r>
          </a:p>
        </p:txBody>
      </p:sp>
      <p:sp>
        <p:nvSpPr>
          <p:cNvPr id="5" name="직사각형 4">
            <a:extLst>
              <a:ext uri="{FF2B5EF4-FFF2-40B4-BE49-F238E27FC236}">
                <a16:creationId xmlns:a16="http://schemas.microsoft.com/office/drawing/2014/main" id="{5974D930-947F-439E-BA89-33D282A67BC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91A06182-0554-4366-B158-B15BAA3F8F2D}"/>
              </a:ext>
            </a:extLst>
          </p:cNvPr>
          <p:cNvGraphicFramePr/>
          <p:nvPr>
            <p:extLst>
              <p:ext uri="{D42A27DB-BD31-4B8C-83A1-F6EECF244321}">
                <p14:modId xmlns:p14="http://schemas.microsoft.com/office/powerpoint/2010/main" val="76629404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1165C35-C225-4D24-8581-6FDA1AB5BE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F7726F22-92DB-40AA-AB6B-7ED5DE76E75F}"/>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D24B37B0-5844-42D3-97D9-C2707A03DF22}"/>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C6343976-689F-482E-9B56-86836FF7C84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82DFB5BB-53AB-4320-90A1-B8E3CE13F85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681E843-15B0-4F03-BA4D-B87B21493CFB}"/>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493C349C-8BED-45E7-9685-D5A95B342226}"/>
              </a:ext>
            </a:extLst>
          </p:cNvPr>
          <p:cNvSpPr>
            <a:spLocks noGrp="1"/>
          </p:cNvSpPr>
          <p:nvPr/>
        </p:nvSpPr>
        <p:spPr>
          <a:xfrm>
            <a:off x="60769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4" name="직사각형 13">
            <a:extLst>
              <a:ext uri="{FF2B5EF4-FFF2-40B4-BE49-F238E27FC236}">
                <a16:creationId xmlns:a16="http://schemas.microsoft.com/office/drawing/2014/main" id="{86D07600-9EF6-4F78-9158-77871E845837}"/>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121E395-3B6C-4237-BAC4-D636D977339A}"/>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5F6747EC-70C7-462D-99A4-5DF5642FAB8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F6146E05-2E10-48E8-BB75-970EB8F4B7D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6B7EF86B-D6A1-4E96-9DFF-E9CF11E2B7F5}"/>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33483F-FCC8-6E80-8A78-48C0CFBC408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3117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29</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30</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31</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직사각형 16">
            <a:extLst>
              <a:ext uri="{FF2B5EF4-FFF2-40B4-BE49-F238E27FC236}">
                <a16:creationId xmlns:a16="http://schemas.microsoft.com/office/drawing/2014/main" id="{C560391E-3356-4F71-B3DF-C1556FD066B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F0BC96C-C94F-42AA-9D19-D40688EC2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0D8DBA5-A55D-4FE1-A66C-3AA959D09C7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⑧ 피벗과 a[L]을 교환</a:t>
            </a:r>
          </a:p>
        </p:txBody>
      </p:sp>
      <p:sp>
        <p:nvSpPr>
          <p:cNvPr id="4" name="직사각형 3">
            <a:extLst>
              <a:ext uri="{FF2B5EF4-FFF2-40B4-BE49-F238E27FC236}">
                <a16:creationId xmlns:a16="http://schemas.microsoft.com/office/drawing/2014/main" id="{2EFDD999-37DF-48F1-BE32-3E5B773A24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인덱스 3의 8과 인덱스 5의 피벗 6을 바꿉니다.</a:t>
            </a:r>
          </a:p>
          <a:p>
            <a:pPr>
              <a:defRPr sz="2025" b="0">
                <a:solidFill>
                  <a:srgbClr val="151515"/>
                </a:solidFill>
              </a:defRPr>
            </a:pPr>
            <a:r>
              <a:rPr sz="2025" b="0">
                <a:solidFill>
                  <a:srgbClr val="151515"/>
                </a:solidFill>
                <a:latin typeface="Malgun Gothic" panose="020B0503020000020004" pitchFamily="50" charset="-127"/>
              </a:rPr>
              <a:t>피벗 6의 최종 위치는 3입니다. 왼쪽 3, 4, 1은 아직 정렬 전입니다.</a:t>
            </a:r>
          </a:p>
        </p:txBody>
      </p:sp>
      <p:sp>
        <p:nvSpPr>
          <p:cNvPr id="5" name="직사각형 4">
            <a:extLst>
              <a:ext uri="{FF2B5EF4-FFF2-40B4-BE49-F238E27FC236}">
                <a16:creationId xmlns:a16="http://schemas.microsoft.com/office/drawing/2014/main" id="{734559B4-6EC6-4C7E-8286-C98D2FA63F26}"/>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완료</a:t>
            </a:r>
          </a:p>
        </p:txBody>
      </p:sp>
      <p:graphicFrame>
        <p:nvGraphicFramePr>
          <p:cNvPr id="6" name="표 5">
            <a:extLst>
              <a:ext uri="{FF2B5EF4-FFF2-40B4-BE49-F238E27FC236}">
                <a16:creationId xmlns:a16="http://schemas.microsoft.com/office/drawing/2014/main" id="{EB46BB44-4B50-49F2-812E-EE70D9A7A56E}"/>
              </a:ext>
            </a:extLst>
          </p:cNvPr>
          <p:cNvGraphicFramePr/>
          <p:nvPr>
            <p:extLst>
              <p:ext uri="{D42A27DB-BD31-4B8C-83A1-F6EECF244321}">
                <p14:modId xmlns:p14="http://schemas.microsoft.com/office/powerpoint/2010/main" val="227665204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71AABE6-26FF-487A-B5EB-9E2BB257613E}"/>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B13F44E-D52A-4766-8D1E-A76CE530230D}"/>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BFA8F37A-2ECA-4731-A490-3830C37BA90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9B015E5E-AA9C-4D9A-931D-70F52345F61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65EDE4EA-8AE8-4EEE-ADDF-D9181A44C849}"/>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2" name="직사각형 11">
            <a:extLst>
              <a:ext uri="{FF2B5EF4-FFF2-40B4-BE49-F238E27FC236}">
                <a16:creationId xmlns:a16="http://schemas.microsoft.com/office/drawing/2014/main" id="{FEC64F74-6020-4361-A649-2D741C1FF184}"/>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363F450-D285-4648-97BF-9EDCD74A4DDA}"/>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7F116120-114B-4D02-B127-F2136361507D}"/>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5" name="직사각형 14">
            <a:extLst>
              <a:ext uri="{FF2B5EF4-FFF2-40B4-BE49-F238E27FC236}">
                <a16:creationId xmlns:a16="http://schemas.microsoft.com/office/drawing/2014/main" id="{2AAD578F-83A8-4EF1-8B75-BD2B04BE23F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6" name="직사각형 15">
            <a:extLst>
              <a:ext uri="{FF2B5EF4-FFF2-40B4-BE49-F238E27FC236}">
                <a16:creationId xmlns:a16="http://schemas.microsoft.com/office/drawing/2014/main" id="{D7184E17-5986-4F1D-9D4E-86734E124B1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33</a:t>
            </a:r>
            <a:endParaRPr sz="1050" b="0">
              <a:solidFill>
                <a:srgbClr val="151515"/>
              </a:solidFill>
              <a:latin typeface="Consolas" panose="020B0609020204030204" pitchFamily="49" charset="0"/>
            </a:endParaRPr>
          </a:p>
        </p:txBody>
      </p:sp>
      <p:cxnSp>
        <p:nvCxnSpPr>
          <p:cNvPr id="18" name="직선 연결선 17">
            <a:extLst>
              <a:ext uri="{FF2B5EF4-FFF2-40B4-BE49-F238E27FC236}">
                <a16:creationId xmlns:a16="http://schemas.microsoft.com/office/drawing/2014/main" id="{5C0ACEA5-5323-F6C1-A95A-184EC488361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14068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직사각형 13">
            <a:extLst>
              <a:ext uri="{FF2B5EF4-FFF2-40B4-BE49-F238E27FC236}">
                <a16:creationId xmlns:a16="http://schemas.microsoft.com/office/drawing/2014/main" id="{5C26C354-7B87-47C0-9CFC-6A62345AD4D9}"/>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0CD5C62-DE91-4448-9F7D-6A3010D3C53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1136AEB4-6B05-4E47-A608-D6BFE7A2646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양쪽 구간도 같은 방식으로 정렬</a:t>
            </a:r>
          </a:p>
        </p:txBody>
      </p:sp>
      <p:sp>
        <p:nvSpPr>
          <p:cNvPr id="4" name="직사각형 3">
            <a:extLst>
              <a:ext uri="{FF2B5EF4-FFF2-40B4-BE49-F238E27FC236}">
                <a16:creationId xmlns:a16="http://schemas.microsoft.com/office/drawing/2014/main" id="{DA5E3017-AA8B-4CA8-ACA2-385DC6A5E9F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다음 호출: [lo, p − 1]과 [p + 1, hi]</a:t>
            </a:r>
          </a:p>
          <a:p>
            <a:pPr>
              <a:defRPr sz="2025" b="0">
                <a:solidFill>
                  <a:srgbClr val="151515"/>
                </a:solidFill>
              </a:defRPr>
            </a:pPr>
            <a:r>
              <a:rPr sz="2025" b="0">
                <a:solidFill>
                  <a:srgbClr val="151515"/>
                </a:solidFill>
                <a:latin typeface="Malgun Gothic" panose="020B0503020000020004" pitchFamily="50" charset="-127"/>
              </a:rPr>
              <a:t>왼쪽 [3, 4, 1]은 아직 정렬해야 한다.</a:t>
            </a:r>
          </a:p>
          <a:p>
            <a:pPr>
              <a:defRPr sz="2025" b="0">
                <a:solidFill>
                  <a:srgbClr val="151515"/>
                </a:solidFill>
              </a:defRPr>
            </a:pPr>
            <a:r>
              <a:rPr sz="2025" b="0">
                <a:solidFill>
                  <a:srgbClr val="151515"/>
                </a:solidFill>
                <a:latin typeface="Malgun Gothic" panose="020B0503020000020004" pitchFamily="50" charset="-127"/>
              </a:rPr>
              <a:t>구간에 원소가 하나 이하이면 종료한다.</a:t>
            </a:r>
          </a:p>
        </p:txBody>
      </p:sp>
      <p:sp>
        <p:nvSpPr>
          <p:cNvPr id="5" name="직사각형 4">
            <a:extLst>
              <a:ext uri="{FF2B5EF4-FFF2-40B4-BE49-F238E27FC236}">
                <a16:creationId xmlns:a16="http://schemas.microsoft.com/office/drawing/2014/main" id="{6AADDEE6-FCAE-426D-89CF-BC623E2E3DF9}"/>
              </a:ext>
            </a:extLst>
          </p:cNvPr>
          <p:cNvSpPr>
            <a:spLocks noGrp="1"/>
          </p:cNvSpPr>
          <p:nvPr/>
        </p:nvSpPr>
        <p:spPr>
          <a:xfrm>
            <a:off x="609600" y="31146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직후</a:t>
            </a:r>
          </a:p>
        </p:txBody>
      </p:sp>
      <p:graphicFrame>
        <p:nvGraphicFramePr>
          <p:cNvPr id="6" name="표 5">
            <a:extLst>
              <a:ext uri="{FF2B5EF4-FFF2-40B4-BE49-F238E27FC236}">
                <a16:creationId xmlns:a16="http://schemas.microsoft.com/office/drawing/2014/main" id="{4B549A1E-9438-48F7-BE14-63C0E874E4E1}"/>
              </a:ext>
            </a:extLst>
          </p:cNvPr>
          <p:cNvGraphicFramePr/>
          <p:nvPr>
            <p:extLst>
              <p:ext uri="{D42A27DB-BD31-4B8C-83A1-F6EECF244321}">
                <p14:modId xmlns:p14="http://schemas.microsoft.com/office/powerpoint/2010/main" val="1639373270"/>
              </p:ext>
            </p:extLst>
          </p:nvPr>
        </p:nvGraphicFramePr>
        <p:xfrm>
          <a:off x="609600" y="338137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3  4  1</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9ED65CC-CDDA-4C37-AD56-9638678F4694}"/>
              </a:ext>
            </a:extLst>
          </p:cNvPr>
          <p:cNvSpPr>
            <a:spLocks noGrp="1"/>
          </p:cNvSpPr>
          <p:nvPr/>
        </p:nvSpPr>
        <p:spPr>
          <a:xfrm>
            <a:off x="609600" y="401002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왼쪽도 정렬</a:t>
            </a:r>
          </a:p>
        </p:txBody>
      </p:sp>
      <p:graphicFrame>
        <p:nvGraphicFramePr>
          <p:cNvPr id="8" name="표 7">
            <a:extLst>
              <a:ext uri="{FF2B5EF4-FFF2-40B4-BE49-F238E27FC236}">
                <a16:creationId xmlns:a16="http://schemas.microsoft.com/office/drawing/2014/main" id="{EE650A33-77B4-4F07-8970-810C51361C81}"/>
              </a:ext>
            </a:extLst>
          </p:cNvPr>
          <p:cNvGraphicFramePr/>
          <p:nvPr>
            <p:extLst>
              <p:ext uri="{D42A27DB-BD31-4B8C-83A1-F6EECF244321}">
                <p14:modId xmlns:p14="http://schemas.microsoft.com/office/powerpoint/2010/main" val="2890879000"/>
              </p:ext>
            </p:extLst>
          </p:nvPr>
        </p:nvGraphicFramePr>
        <p:xfrm>
          <a:off x="609600" y="4276725"/>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1  3  4</a:t>
                      </a:r>
                    </a:p>
                  </a:txBody>
                  <a:tcPr>
                    <a:solidFill>
                      <a:srgbClr val="F6F6F6"/>
                    </a:solidFill>
                  </a:tcPr>
                </a:tc>
                <a:tc>
                  <a:txBody>
                    <a:bodyPr/>
                    <a:lstStyle/>
                    <a:p>
                      <a:pPr algn="ctr"/>
                      <a:r>
                        <a:rPr sz="2025" b="1">
                          <a:solidFill>
                            <a:srgbClr val="151515"/>
                          </a:solidFill>
                          <a:latin typeface="Malgun Gothic" panose="020B0503020000020004" pitchFamily="50" charset="-127"/>
                        </a:rPr>
                        <a:t>6</a:t>
                      </a:r>
                    </a:p>
                  </a:txBody>
                  <a:tcPr>
                    <a:solidFill>
                      <a:srgbClr val="FDE5BB"/>
                    </a:solidFill>
                  </a:tcPr>
                </a:tc>
                <a:tc>
                  <a:txBody>
                    <a:bodyPr/>
                    <a:lstStyle/>
                    <a:p>
                      <a:pPr algn="ctr"/>
                      <a:r>
                        <a:rPr sz="2025" b="1">
                          <a:solidFill>
                            <a:srgbClr val="151515"/>
                          </a:solidFill>
                          <a:latin typeface="Malgun Gothic" panose="020B0503020000020004" pitchFamily="50" charset="-127"/>
                        </a:rPr>
                        <a:t>7  8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3B20EBF2-F74D-4154-9D35-B5847EE4A8D2}"/>
              </a:ext>
            </a:extLst>
          </p:cNvPr>
          <p:cNvSpPr>
            <a:spLocks noGrp="1"/>
          </p:cNvSpPr>
          <p:nvPr/>
        </p:nvSpPr>
        <p:spPr>
          <a:xfrm>
            <a:off x="609600" y="4905375"/>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완성</a:t>
            </a:r>
          </a:p>
        </p:txBody>
      </p:sp>
      <p:graphicFrame>
        <p:nvGraphicFramePr>
          <p:cNvPr id="10" name="표 9">
            <a:extLst>
              <a:ext uri="{FF2B5EF4-FFF2-40B4-BE49-F238E27FC236}">
                <a16:creationId xmlns:a16="http://schemas.microsoft.com/office/drawing/2014/main" id="{3F623FB4-51D6-40F7-A1D3-5648DC3863F4}"/>
              </a:ext>
            </a:extLst>
          </p:cNvPr>
          <p:cNvGraphicFramePr/>
          <p:nvPr>
            <p:extLst>
              <p:ext uri="{D42A27DB-BD31-4B8C-83A1-F6EECF244321}">
                <p14:modId xmlns:p14="http://schemas.microsoft.com/office/powerpoint/2010/main" val="1612730112"/>
              </p:ext>
            </p:extLst>
          </p:nvPr>
        </p:nvGraphicFramePr>
        <p:xfrm>
          <a:off x="609600" y="5172075"/>
          <a:ext cx="10972800" cy="55245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11" name="직사각형 10">
            <a:extLst>
              <a:ext uri="{FF2B5EF4-FFF2-40B4-BE49-F238E27FC236}">
                <a16:creationId xmlns:a16="http://schemas.microsoft.com/office/drawing/2014/main" id="{1E1FECB1-23C6-4B96-A237-B898FC5CB994}"/>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2" name="직사각형 11">
            <a:extLst>
              <a:ext uri="{FF2B5EF4-FFF2-40B4-BE49-F238E27FC236}">
                <a16:creationId xmlns:a16="http://schemas.microsoft.com/office/drawing/2014/main" id="{6A3DA5FE-1C73-4FBB-8E1F-BD608D7CE9A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3" name="직사각형 12">
            <a:extLst>
              <a:ext uri="{FF2B5EF4-FFF2-40B4-BE49-F238E27FC236}">
                <a16:creationId xmlns:a16="http://schemas.microsoft.com/office/drawing/2014/main" id="{643C025E-7A3A-4D15-B116-FAC84E019E2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15" name="직선 연결선 14">
            <a:extLst>
              <a:ext uri="{FF2B5EF4-FFF2-40B4-BE49-F238E27FC236}">
                <a16:creationId xmlns:a16="http://schemas.microsoft.com/office/drawing/2014/main" id="{FFC660BF-CD4C-EFD2-0E60-1306C3DA40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586111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42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A57F658-8EBF-4BC5-808E-C2448983DE34}"/>
              </a:ext>
            </a:extLst>
          </p:cNvPr>
          <p:cNvSpPr>
            <a:spLocks noGrp="1"/>
          </p:cNvSpPr>
          <p:nvPr/>
        </p:nvSpPr>
        <p:spPr>
          <a:xfrm>
            <a:off x="658368" y="1737360"/>
            <a:ext cx="5120640" cy="7315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A 회사의 지난 며칠간의 주가 등락폭(변동분) 데이터가 주어졌다. 목표는 가장 큰 이익을 낼 수 있는 연속된 구간을 찾는 것이다.</a:t>
            </a:r>
            <a:endParaRPr sz="1300"/>
          </a:p>
        </p:txBody>
      </p:sp>
      <p:sp>
        <p:nvSpPr>
          <p:cNvPr id="7" name="Shape 4">
            <a:extLst>
              <a:ext uri="{FF2B5EF4-FFF2-40B4-BE49-F238E27FC236}">
                <a16:creationId xmlns:a16="http://schemas.microsoft.com/office/drawing/2014/main" id="{F936956F-BC27-4A93-B863-6A4ABADE4686}"/>
              </a:ext>
            </a:extLst>
          </p:cNvPr>
          <p:cNvSpPr>
            <a:spLocks noGrp="1"/>
          </p:cNvSpPr>
          <p:nvPr/>
        </p:nvSpPr>
        <p:spPr>
          <a:xfrm>
            <a:off x="658368" y="2560320"/>
            <a:ext cx="713232" cy="603504"/>
          </a:xfrm>
          <a:prstGeom prst="roundRect">
            <a:avLst>
              <a:gd name="adj" fmla="val 13636"/>
            </a:avLst>
          </a:prstGeom>
          <a:solidFill>
            <a:srgbClr val="E9E9E9"/>
          </a:solidFill>
          <a:ln w="5715">
            <a:solidFill>
              <a:srgbClr val="D4D4D4"/>
            </a:solidFill>
          </a:ln>
        </p:spPr>
      </p:sp>
      <p:sp>
        <p:nvSpPr>
          <p:cNvPr id="8" name="Text 5">
            <a:extLst>
              <a:ext uri="{FF2B5EF4-FFF2-40B4-BE49-F238E27FC236}">
                <a16:creationId xmlns:a16="http://schemas.microsoft.com/office/drawing/2014/main" id="{0B41A4E1-5360-41EE-9644-18D4FD833B12}"/>
              </a:ext>
            </a:extLst>
          </p:cNvPr>
          <p:cNvSpPr>
            <a:spLocks noGrp="1"/>
          </p:cNvSpPr>
          <p:nvPr/>
        </p:nvSpPr>
        <p:spPr>
          <a:xfrm>
            <a:off x="6583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3</a:t>
            </a:r>
            <a:endParaRPr sz="1400"/>
          </a:p>
        </p:txBody>
      </p:sp>
      <p:sp>
        <p:nvSpPr>
          <p:cNvPr id="9" name="Text 6">
            <a:extLst>
              <a:ext uri="{FF2B5EF4-FFF2-40B4-BE49-F238E27FC236}">
                <a16:creationId xmlns:a16="http://schemas.microsoft.com/office/drawing/2014/main" id="{056BFA46-876F-4A82-AC84-1930BE8C9E88}"/>
              </a:ext>
            </a:extLst>
          </p:cNvPr>
          <p:cNvSpPr>
            <a:spLocks noGrp="1"/>
          </p:cNvSpPr>
          <p:nvPr/>
        </p:nvSpPr>
        <p:spPr>
          <a:xfrm>
            <a:off x="6583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1일</a:t>
            </a:r>
            <a:endParaRPr sz="900"/>
          </a:p>
        </p:txBody>
      </p:sp>
      <p:sp>
        <p:nvSpPr>
          <p:cNvPr id="10" name="Shape 7">
            <a:extLst>
              <a:ext uri="{FF2B5EF4-FFF2-40B4-BE49-F238E27FC236}">
                <a16:creationId xmlns:a16="http://schemas.microsoft.com/office/drawing/2014/main" id="{EBFA9C01-102A-4D37-9FE6-2CFE9BE888B9}"/>
              </a:ext>
            </a:extLst>
          </p:cNvPr>
          <p:cNvSpPr>
            <a:spLocks noGrp="1"/>
          </p:cNvSpPr>
          <p:nvPr/>
        </p:nvSpPr>
        <p:spPr>
          <a:xfrm>
            <a:off x="1481328" y="2560320"/>
            <a:ext cx="713232" cy="603504"/>
          </a:xfrm>
          <a:prstGeom prst="roundRect">
            <a:avLst>
              <a:gd name="adj" fmla="val 13636"/>
            </a:avLst>
          </a:prstGeom>
          <a:solidFill>
            <a:srgbClr val="E9E9E9"/>
          </a:solidFill>
          <a:ln w="5715">
            <a:solidFill>
              <a:srgbClr val="D4D4D4"/>
            </a:solidFill>
          </a:ln>
        </p:spPr>
      </p:sp>
      <p:sp>
        <p:nvSpPr>
          <p:cNvPr id="11" name="Text 8">
            <a:extLst>
              <a:ext uri="{FF2B5EF4-FFF2-40B4-BE49-F238E27FC236}">
                <a16:creationId xmlns:a16="http://schemas.microsoft.com/office/drawing/2014/main" id="{38F623CE-A409-49CD-A277-D588207EB7F2}"/>
              </a:ext>
            </a:extLst>
          </p:cNvPr>
          <p:cNvSpPr>
            <a:spLocks noGrp="1"/>
          </p:cNvSpPr>
          <p:nvPr/>
        </p:nvSpPr>
        <p:spPr>
          <a:xfrm>
            <a:off x="148132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-5</a:t>
            </a:r>
            <a:endParaRPr sz="1400"/>
          </a:p>
        </p:txBody>
      </p:sp>
      <p:sp>
        <p:nvSpPr>
          <p:cNvPr id="12" name="Text 9">
            <a:extLst>
              <a:ext uri="{FF2B5EF4-FFF2-40B4-BE49-F238E27FC236}">
                <a16:creationId xmlns:a16="http://schemas.microsoft.com/office/drawing/2014/main" id="{EA1AF2DB-DF32-42ED-B813-711B545BB03C}"/>
              </a:ext>
            </a:extLst>
          </p:cNvPr>
          <p:cNvSpPr>
            <a:spLocks noGrp="1"/>
          </p:cNvSpPr>
          <p:nvPr/>
        </p:nvSpPr>
        <p:spPr>
          <a:xfrm>
            <a:off x="148132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2일</a:t>
            </a:r>
            <a:endParaRPr sz="900"/>
          </a:p>
        </p:txBody>
      </p:sp>
      <p:sp>
        <p:nvSpPr>
          <p:cNvPr id="13" name="Shape 10">
            <a:extLst>
              <a:ext uri="{FF2B5EF4-FFF2-40B4-BE49-F238E27FC236}">
                <a16:creationId xmlns:a16="http://schemas.microsoft.com/office/drawing/2014/main" id="{6682C7E6-339D-4807-AC87-2FCB01132C33}"/>
              </a:ext>
            </a:extLst>
          </p:cNvPr>
          <p:cNvSpPr>
            <a:spLocks noGrp="1"/>
          </p:cNvSpPr>
          <p:nvPr/>
        </p:nvSpPr>
        <p:spPr>
          <a:xfrm>
            <a:off x="2304288" y="2560320"/>
            <a:ext cx="713232" cy="603504"/>
          </a:xfrm>
          <a:prstGeom prst="roundRect">
            <a:avLst>
              <a:gd name="adj" fmla="val 13636"/>
            </a:avLst>
          </a:prstGeom>
          <a:solidFill>
            <a:srgbClr val="E9E9E9"/>
          </a:solidFill>
          <a:ln w="5715">
            <a:solidFill>
              <a:srgbClr val="D4D4D4"/>
            </a:solidFill>
          </a:ln>
        </p:spPr>
      </p:sp>
      <p:sp>
        <p:nvSpPr>
          <p:cNvPr id="14" name="Text 11">
            <a:extLst>
              <a:ext uri="{FF2B5EF4-FFF2-40B4-BE49-F238E27FC236}">
                <a16:creationId xmlns:a16="http://schemas.microsoft.com/office/drawing/2014/main" id="{9431576A-4488-43F2-81D4-C11D64817759}"/>
              </a:ext>
            </a:extLst>
          </p:cNvPr>
          <p:cNvSpPr>
            <a:spLocks noGrp="1"/>
          </p:cNvSpPr>
          <p:nvPr/>
        </p:nvSpPr>
        <p:spPr>
          <a:xfrm>
            <a:off x="230428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12</a:t>
            </a:r>
            <a:endParaRPr sz="1400"/>
          </a:p>
        </p:txBody>
      </p:sp>
      <p:sp>
        <p:nvSpPr>
          <p:cNvPr id="15" name="Text 12">
            <a:extLst>
              <a:ext uri="{FF2B5EF4-FFF2-40B4-BE49-F238E27FC236}">
                <a16:creationId xmlns:a16="http://schemas.microsoft.com/office/drawing/2014/main" id="{F65A70CF-8955-4E7C-8773-A5A95199A417}"/>
              </a:ext>
            </a:extLst>
          </p:cNvPr>
          <p:cNvSpPr>
            <a:spLocks noGrp="1"/>
          </p:cNvSpPr>
          <p:nvPr/>
        </p:nvSpPr>
        <p:spPr>
          <a:xfrm>
            <a:off x="230428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3일</a:t>
            </a:r>
            <a:endParaRPr sz="900"/>
          </a:p>
        </p:txBody>
      </p:sp>
      <p:sp>
        <p:nvSpPr>
          <p:cNvPr id="16" name="Shape 13">
            <a:extLst>
              <a:ext uri="{FF2B5EF4-FFF2-40B4-BE49-F238E27FC236}">
                <a16:creationId xmlns:a16="http://schemas.microsoft.com/office/drawing/2014/main" id="{93292094-A34D-4CB1-8B79-CC83A7575D6F}"/>
              </a:ext>
            </a:extLst>
          </p:cNvPr>
          <p:cNvSpPr>
            <a:spLocks noGrp="1"/>
          </p:cNvSpPr>
          <p:nvPr/>
        </p:nvSpPr>
        <p:spPr>
          <a:xfrm>
            <a:off x="3127248" y="2560320"/>
            <a:ext cx="713232" cy="603504"/>
          </a:xfrm>
          <a:prstGeom prst="roundRect">
            <a:avLst>
              <a:gd name="adj" fmla="val 13636"/>
            </a:avLst>
          </a:prstGeom>
          <a:solidFill>
            <a:srgbClr val="E9E9E9"/>
          </a:solidFill>
          <a:ln w="5715">
            <a:solidFill>
              <a:srgbClr val="D4D4D4"/>
            </a:solidFill>
          </a:ln>
        </p:spPr>
      </p:sp>
      <p:sp>
        <p:nvSpPr>
          <p:cNvPr id="17" name="Text 14">
            <a:extLst>
              <a:ext uri="{FF2B5EF4-FFF2-40B4-BE49-F238E27FC236}">
                <a16:creationId xmlns:a16="http://schemas.microsoft.com/office/drawing/2014/main" id="{D63394F1-2017-4AA5-8ADA-158272F19090}"/>
              </a:ext>
            </a:extLst>
          </p:cNvPr>
          <p:cNvSpPr>
            <a:spLocks noGrp="1"/>
          </p:cNvSpPr>
          <p:nvPr/>
        </p:nvSpPr>
        <p:spPr>
          <a:xfrm>
            <a:off x="312724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-2</a:t>
            </a:r>
            <a:endParaRPr sz="1400"/>
          </a:p>
        </p:txBody>
      </p:sp>
      <p:sp>
        <p:nvSpPr>
          <p:cNvPr id="18" name="Text 15">
            <a:extLst>
              <a:ext uri="{FF2B5EF4-FFF2-40B4-BE49-F238E27FC236}">
                <a16:creationId xmlns:a16="http://schemas.microsoft.com/office/drawing/2014/main" id="{9379583C-A066-42EA-A674-DE75011B4C10}"/>
              </a:ext>
            </a:extLst>
          </p:cNvPr>
          <p:cNvSpPr>
            <a:spLocks noGrp="1"/>
          </p:cNvSpPr>
          <p:nvPr/>
        </p:nvSpPr>
        <p:spPr>
          <a:xfrm>
            <a:off x="312724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4일</a:t>
            </a:r>
            <a:endParaRPr sz="900"/>
          </a:p>
        </p:txBody>
      </p:sp>
      <p:sp>
        <p:nvSpPr>
          <p:cNvPr id="19" name="Shape 16">
            <a:extLst>
              <a:ext uri="{FF2B5EF4-FFF2-40B4-BE49-F238E27FC236}">
                <a16:creationId xmlns:a16="http://schemas.microsoft.com/office/drawing/2014/main" id="{5FD19B53-42C3-4658-8416-6BC3B4A923BA}"/>
              </a:ext>
            </a:extLst>
          </p:cNvPr>
          <p:cNvSpPr>
            <a:spLocks noGrp="1"/>
          </p:cNvSpPr>
          <p:nvPr/>
        </p:nvSpPr>
        <p:spPr>
          <a:xfrm>
            <a:off x="3950208" y="2560320"/>
            <a:ext cx="713232" cy="603504"/>
          </a:xfrm>
          <a:prstGeom prst="roundRect">
            <a:avLst>
              <a:gd name="adj" fmla="val 13636"/>
            </a:avLst>
          </a:prstGeom>
          <a:solidFill>
            <a:srgbClr val="E9E9E9"/>
          </a:solidFill>
          <a:ln w="5715">
            <a:solidFill>
              <a:srgbClr val="D4D4D4"/>
            </a:solidFill>
          </a:ln>
        </p:spPr>
      </p:sp>
      <p:sp>
        <p:nvSpPr>
          <p:cNvPr id="20" name="Text 17">
            <a:extLst>
              <a:ext uri="{FF2B5EF4-FFF2-40B4-BE49-F238E27FC236}">
                <a16:creationId xmlns:a16="http://schemas.microsoft.com/office/drawing/2014/main" id="{6B90FDC7-F6C3-4E80-857F-96F6D4F1894B}"/>
              </a:ext>
            </a:extLst>
          </p:cNvPr>
          <p:cNvSpPr>
            <a:spLocks noGrp="1"/>
          </p:cNvSpPr>
          <p:nvPr/>
        </p:nvSpPr>
        <p:spPr>
          <a:xfrm>
            <a:off x="395020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7</a:t>
            </a:r>
            <a:endParaRPr sz="1400"/>
          </a:p>
        </p:txBody>
      </p:sp>
      <p:sp>
        <p:nvSpPr>
          <p:cNvPr id="21" name="Text 18">
            <a:extLst>
              <a:ext uri="{FF2B5EF4-FFF2-40B4-BE49-F238E27FC236}">
                <a16:creationId xmlns:a16="http://schemas.microsoft.com/office/drawing/2014/main" id="{DC1147E0-CE60-4BFD-9701-C22CBADC77B7}"/>
              </a:ext>
            </a:extLst>
          </p:cNvPr>
          <p:cNvSpPr>
            <a:spLocks noGrp="1"/>
          </p:cNvSpPr>
          <p:nvPr/>
        </p:nvSpPr>
        <p:spPr>
          <a:xfrm>
            <a:off x="395020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5일</a:t>
            </a:r>
            <a:endParaRPr sz="900"/>
          </a:p>
        </p:txBody>
      </p:sp>
      <p:sp>
        <p:nvSpPr>
          <p:cNvPr id="22" name="Shape 19">
            <a:extLst>
              <a:ext uri="{FF2B5EF4-FFF2-40B4-BE49-F238E27FC236}">
                <a16:creationId xmlns:a16="http://schemas.microsoft.com/office/drawing/2014/main" id="{E95AD2C2-9BE2-4737-B81D-4DF49BD699CB}"/>
              </a:ext>
            </a:extLst>
          </p:cNvPr>
          <p:cNvSpPr>
            <a:spLocks noGrp="1"/>
          </p:cNvSpPr>
          <p:nvPr/>
        </p:nvSpPr>
        <p:spPr>
          <a:xfrm>
            <a:off x="4773168" y="2560320"/>
            <a:ext cx="713232" cy="603504"/>
          </a:xfrm>
          <a:prstGeom prst="roundRect">
            <a:avLst>
              <a:gd name="adj" fmla="val 13636"/>
            </a:avLst>
          </a:prstGeom>
          <a:solidFill>
            <a:srgbClr val="E9E9E9"/>
          </a:solidFill>
          <a:ln w="5715">
            <a:solidFill>
              <a:srgbClr val="D4D4D4"/>
            </a:solidFill>
          </a:ln>
        </p:spPr>
      </p:sp>
      <p:sp>
        <p:nvSpPr>
          <p:cNvPr id="23" name="Text 20">
            <a:extLst>
              <a:ext uri="{FF2B5EF4-FFF2-40B4-BE49-F238E27FC236}">
                <a16:creationId xmlns:a16="http://schemas.microsoft.com/office/drawing/2014/main" id="{8A016E59-091E-43F1-964D-8B083AA58148}"/>
              </a:ext>
            </a:extLst>
          </p:cNvPr>
          <p:cNvSpPr>
            <a:spLocks noGrp="1"/>
          </p:cNvSpPr>
          <p:nvPr/>
        </p:nvSpPr>
        <p:spPr>
          <a:xfrm>
            <a:off x="4773168" y="2560320"/>
            <a:ext cx="713232" cy="603504"/>
          </a:xfrm>
          <a:prstGeom prst="rect">
            <a:avLst/>
          </a:prstGeom>
          <a:noFill/>
          <a:ln w="0">
            <a:noFill/>
          </a:ln>
        </p:spPr>
        <p:txBody>
          <a:bodyPr wrap="square" lIns="0" tIns="0" rIns="0" bIns="0" anchor="ctr">
            <a:noAutofit/>
          </a:bodyPr>
          <a:lstStyle/>
          <a:p>
            <a:pPr marL="0" indent="0" algn="ctr">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-9</a:t>
            </a:r>
            <a:endParaRPr sz="1400"/>
          </a:p>
        </p:txBody>
      </p:sp>
      <p:sp>
        <p:nvSpPr>
          <p:cNvPr id="24" name="Text 21">
            <a:extLst>
              <a:ext uri="{FF2B5EF4-FFF2-40B4-BE49-F238E27FC236}">
                <a16:creationId xmlns:a16="http://schemas.microsoft.com/office/drawing/2014/main" id="{652B97AD-7357-4947-AB65-584C546B815C}"/>
              </a:ext>
            </a:extLst>
          </p:cNvPr>
          <p:cNvSpPr>
            <a:spLocks noGrp="1"/>
          </p:cNvSpPr>
          <p:nvPr/>
        </p:nvSpPr>
        <p:spPr>
          <a:xfrm>
            <a:off x="4773168" y="3182112"/>
            <a:ext cx="713232" cy="256032"/>
          </a:xfrm>
          <a:prstGeom prst="rect">
            <a:avLst/>
          </a:prstGeom>
          <a:noFill/>
          <a:ln w="0">
            <a:noFill/>
          </a:ln>
        </p:spPr>
        <p:txBody>
          <a:bodyPr wrap="square" lIns="0" tIns="0" rIns="0" bIns="0" anchor="ctr">
            <a:noAutofit/>
          </a:bodyPr>
          <a:lstStyle/>
          <a:p>
            <a:pPr marL="0" indent="0" algn="ctr">
              <a:buNone/>
              <a:defRPr sz="900" i="0">
                <a:solidFill>
                  <a:srgbClr val="171717"/>
                </a:solidFill>
                <a:latin typeface="Malgun Gothic"/>
                <a:ea typeface="Malgun Gothic"/>
                <a:cs typeface="Malgun Gothic"/>
              </a:defRPr>
            </a:pPr>
            <a:r>
              <a:rPr sz="900" i="0">
                <a:solidFill>
                  <a:srgbClr val="171717"/>
                </a:solidFill>
                <a:latin typeface="Malgun Gothic"/>
                <a:ea typeface="Malgun Gothic"/>
                <a:cs typeface="Malgun Gothic"/>
              </a:rPr>
              <a:t>6일</a:t>
            </a:r>
            <a:endParaRPr sz="900"/>
          </a:p>
        </p:txBody>
      </p:sp>
      <p:sp>
        <p:nvSpPr>
          <p:cNvPr id="28" name="Text 24">
            <a:extLst>
              <a:ext uri="{FF2B5EF4-FFF2-40B4-BE49-F238E27FC236}">
                <a16:creationId xmlns:a16="http://schemas.microsoft.com/office/drawing/2014/main" id="{4AADAE5A-5CBB-4895-BF10-76488FF33A47}"/>
              </a:ext>
            </a:extLst>
          </p:cNvPr>
          <p:cNvSpPr>
            <a:spLocks noGrp="1"/>
          </p:cNvSpPr>
          <p:nvPr/>
        </p:nvSpPr>
        <p:spPr>
          <a:xfrm>
            <a:off x="1517904" y="3767328"/>
            <a:ext cx="4005072" cy="78638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처음부터 끝까지 들고 있었다면?  3 − 5 + 12 − 2 + 7 − 9 = 6</a:t>
            </a:r>
            <a:endParaRPr sz="1250"/>
          </a:p>
        </p:txBody>
      </p:sp>
      <p:sp>
        <p:nvSpPr>
          <p:cNvPr id="32" name="Text 27">
            <a:extLst>
              <a:ext uri="{FF2B5EF4-FFF2-40B4-BE49-F238E27FC236}">
                <a16:creationId xmlns:a16="http://schemas.microsoft.com/office/drawing/2014/main" id="{41B205AD-7075-4D55-A8B1-A106B28AC056}"/>
              </a:ext>
            </a:extLst>
          </p:cNvPr>
          <p:cNvSpPr>
            <a:spLocks noGrp="1"/>
          </p:cNvSpPr>
          <p:nvPr/>
        </p:nvSpPr>
        <p:spPr>
          <a:xfrm>
            <a:off x="1517904" y="5010912"/>
            <a:ext cx="4005072" cy="896112"/>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3~5일 차 변동분을 합하면?  12 + (−2) + 7 = 17  ← 최대!</a:t>
            </a:r>
            <a:endParaRPr sz="1250"/>
          </a:p>
        </p:txBody>
      </p:sp>
      <p:sp>
        <p:nvSpPr>
          <p:cNvPr id="40" name="직사각형 39">
            <a:extLst>
              <a:ext uri="{FF2B5EF4-FFF2-40B4-BE49-F238E27FC236}">
                <a16:creationId xmlns:a16="http://schemas.microsoft.com/office/drawing/2014/main" id="{9C7E1893-B5B2-43B0-9127-B924A4791C05}"/>
              </a:ext>
            </a:extLst>
          </p:cNvPr>
          <p:cNvSpPr>
            <a:spLocks noGrp="1"/>
          </p:cNvSpPr>
          <p:nvPr/>
        </p:nvSpPr>
        <p:spPr>
          <a:xfrm>
            <a:off x="658368" y="3602736"/>
            <a:ext cx="512064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9A592C4B-8250-4255-873E-D6019B0C3FC3}"/>
              </a:ext>
            </a:extLst>
          </p:cNvPr>
          <p:cNvSpPr>
            <a:spLocks noGrp="1"/>
          </p:cNvSpPr>
          <p:nvPr/>
        </p:nvSpPr>
        <p:spPr>
          <a:xfrm>
            <a:off x="658368" y="4846320"/>
            <a:ext cx="512064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990B98A-2966-474A-B915-8B4060C16145}"/>
              </a:ext>
            </a:extLst>
          </p:cNvPr>
          <p:cNvSpPr>
            <a:spLocks noGrp="1"/>
          </p:cNvSpPr>
          <p:nvPr/>
        </p:nvSpPr>
        <p:spPr>
          <a:xfrm>
            <a:off x="6126480" y="1737360"/>
            <a:ext cx="540410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90A1FAD5-5612-4975-9922-F1C6A7204BBE}"/>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4B8FEC28-DC0D-4681-99E6-45AFB8C0104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5" name="직사각형 44">
            <a:extLst>
              <a:ext uri="{FF2B5EF4-FFF2-40B4-BE49-F238E27FC236}">
                <a16:creationId xmlns:a16="http://schemas.microsoft.com/office/drawing/2014/main" id="{9C897387-82DB-4CC6-A06F-A21BF80EB73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가장 큰 이익을 내는 구간은?</a:t>
            </a:r>
          </a:p>
        </p:txBody>
      </p:sp>
      <p:sp>
        <p:nvSpPr>
          <p:cNvPr id="46" name="직사각형 45">
            <a:extLst>
              <a:ext uri="{FF2B5EF4-FFF2-40B4-BE49-F238E27FC236}">
                <a16:creationId xmlns:a16="http://schemas.microsoft.com/office/drawing/2014/main" id="{F5207DAF-7452-468B-8FB4-7DF5B006B22C}"/>
              </a:ext>
            </a:extLst>
          </p:cNvPr>
          <p:cNvSpPr>
            <a:spLocks noGrp="1"/>
          </p:cNvSpPr>
          <p:nvPr/>
        </p:nvSpPr>
        <p:spPr>
          <a:xfrm>
            <a:off x="609600" y="1381125"/>
            <a:ext cx="10972800" cy="19050"/>
          </a:xfrm>
          <a:prstGeom prst="rect">
            <a:avLst/>
          </a:prstGeom>
          <a:solidFill>
            <a:srgbClr val="171717"/>
          </a:solidFill>
          <a:ln w="0">
            <a:noFill/>
          </a:ln>
        </p:spPr>
      </p:sp>
      <p:sp>
        <p:nvSpPr>
          <p:cNvPr id="47" name="직사각형 46">
            <a:extLst>
              <a:ext uri="{FF2B5EF4-FFF2-40B4-BE49-F238E27FC236}">
                <a16:creationId xmlns:a16="http://schemas.microsoft.com/office/drawing/2014/main" id="{1B3F1404-6958-44F0-8CE2-6F09476AAC32}"/>
              </a:ext>
            </a:extLst>
          </p:cNvPr>
          <p:cNvSpPr>
            <a:spLocks noGrp="1"/>
          </p:cNvSpPr>
          <p:nvPr/>
        </p:nvSpPr>
        <p:spPr>
          <a:xfrm>
            <a:off x="609600" y="6438900"/>
            <a:ext cx="10972800" cy="9525"/>
          </a:xfrm>
          <a:prstGeom prst="rect">
            <a:avLst/>
          </a:prstGeom>
          <a:solidFill>
            <a:srgbClr val="D4D4D4"/>
          </a:solidFill>
          <a:ln w="0">
            <a:noFill/>
          </a:ln>
        </p:spPr>
      </p:sp>
      <p:sp>
        <p:nvSpPr>
          <p:cNvPr id="48" name="직사각형 47">
            <a:extLst>
              <a:ext uri="{FF2B5EF4-FFF2-40B4-BE49-F238E27FC236}">
                <a16:creationId xmlns:a16="http://schemas.microsoft.com/office/drawing/2014/main" id="{CC57FA98-294E-44CC-8237-D2FE35A93F1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9" name="직사각형 48">
            <a:extLst>
              <a:ext uri="{FF2B5EF4-FFF2-40B4-BE49-F238E27FC236}">
                <a16:creationId xmlns:a16="http://schemas.microsoft.com/office/drawing/2014/main" id="{F8BB6713-380B-4870-97CC-8F0DC3F9E6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43</a:t>
            </a:r>
            <a:endParaRPr sz="1050" b="1" i="0">
              <a:solidFill>
                <a:srgbClr val="171717"/>
              </a:solidFill>
              <a:latin typeface="Consolas"/>
              <a:ea typeface="Consolas"/>
              <a:cs typeface="Consolas"/>
            </a:endParaRPr>
          </a:p>
        </p:txBody>
      </p:sp>
      <p:graphicFrame>
        <p:nvGraphicFramePr>
          <p:cNvPr id="85" name="Chart"/>
          <p:cNvGraphicFramePr/>
          <p:nvPr/>
        </p:nvGraphicFramePr>
        <p:xfrm>
          <a:off x="6105525" y="2352675"/>
          <a:ext cx="5381625" cy="3171825"/>
        </p:xfrm>
        <a:graphic>
          <a:graphicData uri="http://schemas.openxmlformats.org/drawingml/2006/chart">
            <c:chart xmlns:c="http://schemas.openxmlformats.org/drawingml/2006/chart" xmlns:r="http://schemas.openxmlformats.org/officeDocument/2006/relationships" r:id="rId3"/>
          </a:graphicData>
        </a:graphic>
      </p:graphicFrame>
      <p:sp>
        <p:nvSpPr>
          <p:cNvPr id="51" name="직사각형 50">
            <a:extLst>
              <a:ext uri="{FF2B5EF4-FFF2-40B4-BE49-F238E27FC236}">
                <a16:creationId xmlns:a16="http://schemas.microsoft.com/office/drawing/2014/main" id="{84B33900-D492-4F83-AD41-4C6BAAFBA4DC}"/>
              </a:ext>
            </a:extLst>
          </p:cNvPr>
          <p:cNvSpPr>
            <a:spLocks noGrp="1"/>
          </p:cNvSpPr>
          <p:nvPr/>
        </p:nvSpPr>
        <p:spPr>
          <a:xfrm>
            <a:off x="6286500" y="1990725"/>
            <a:ext cx="5200650" cy="333375"/>
          </a:xfrm>
          <a:prstGeom prst="rect">
            <a:avLst/>
          </a:prstGeom>
          <a:noFill/>
          <a:ln w="0">
            <a:noFill/>
          </a:ln>
        </p:spPr>
        <p:txBody>
          <a:bodyPr>
            <a:noAutofit/>
          </a:bodyPr>
          <a:lstStyle/>
          <a:p>
            <a:pPr>
              <a:defRPr sz="1425">
                <a:solidFill>
                  <a:srgbClr val="606060"/>
                </a:solidFill>
                <a:latin typeface="Malgun Gothic"/>
                <a:ea typeface="Malgun Gothic"/>
                <a:cs typeface="Malgun Gothic"/>
              </a:defRPr>
            </a:pPr>
            <a:r>
              <a:rPr sz="1425">
                <a:solidFill>
                  <a:srgbClr val="606060"/>
                </a:solidFill>
                <a:latin typeface="Malgun Gothic"/>
                <a:ea typeface="Malgun Gothic"/>
                <a:cs typeface="Malgun Gothic"/>
              </a:rPr>
              <a:t>일별 손익 변화</a:t>
            </a:r>
          </a:p>
        </p:txBody>
      </p:sp>
      <p:sp>
        <p:nvSpPr>
          <p:cNvPr id="52" name="직사각형 51">
            <a:extLst>
              <a:ext uri="{FF2B5EF4-FFF2-40B4-BE49-F238E27FC236}">
                <a16:creationId xmlns:a16="http://schemas.microsoft.com/office/drawing/2014/main" id="{42D497F8-2FF3-43E6-9176-DED0F9365BF4}"/>
              </a:ext>
            </a:extLst>
          </p:cNvPr>
          <p:cNvSpPr>
            <a:spLocks noGrp="1"/>
          </p:cNvSpPr>
          <p:nvPr/>
        </p:nvSpPr>
        <p:spPr>
          <a:xfrm>
            <a:off x="6477000" y="5591175"/>
            <a:ext cx="4953000" cy="409575"/>
          </a:xfrm>
          <a:prstGeom prst="rect">
            <a:avLst/>
          </a:prstGeom>
          <a:noFill/>
          <a:ln w="0">
            <a:noFill/>
          </a:ln>
        </p:spPr>
        <p:txBody>
          <a:bodyPr>
            <a:noAutofit/>
          </a:bodyPr>
          <a:lstStyle/>
          <a:p>
            <a:pPr>
              <a:defRPr sz="1875" b="1">
                <a:solidFill>
                  <a:srgbClr val="171717"/>
                </a:solidFill>
                <a:latin typeface="Malgun Gothic"/>
                <a:ea typeface="Malgun Gothic"/>
                <a:cs typeface="Malgun Gothic"/>
              </a:defRPr>
            </a:pPr>
            <a:r>
              <a:rPr sz="1875" b="1">
                <a:solidFill>
                  <a:srgbClr val="171717"/>
                </a:solidFill>
                <a:latin typeface="Malgun Gothic"/>
                <a:ea typeface="Malgun Gothic"/>
                <a:cs typeface="Malgun Gothic"/>
              </a:rPr>
              <a:t>3~5일: 12 − 2 + 7 = 17</a:t>
            </a:r>
          </a:p>
        </p:txBody>
      </p:sp>
      <p:pic>
        <p:nvPicPr>
          <p:cNvPr id="88" name="그림 87"/>
          <p:cNvPicPr>
            <a:picLocks noChangeAspect="1"/>
          </p:cNvPicPr>
          <p:nvPr/>
        </p:nvPicPr>
        <p:blipFill>
          <a:blip r:embed="rId4"/>
          <a:stretch/>
        </p:blipFill>
        <p:spPr>
          <a:xfrm>
            <a:off x="685800" y="3990975"/>
            <a:ext cx="704850" cy="704850"/>
          </a:xfrm>
          <a:prstGeom prst="rect">
            <a:avLst/>
          </a:prstGeom>
        </p:spPr>
      </p:pic>
    </p:spTree>
    <p:extLst>
      <p:ext uri="{BB962C8B-B14F-4D97-AF65-F5344CB8AC3E}">
        <p14:creationId xmlns:p14="http://schemas.microsoft.com/office/powerpoint/2010/main" val="6693472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204DF36C-87C7-49FB-A6F1-064590EDD40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D3927C97-75BB-488B-AE25-10F616C94F7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5FAE6CEB-5E75-446F-9C3B-5C8C78F4A8A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직관적인 접근의 한계</a:t>
            </a:r>
          </a:p>
        </p:txBody>
      </p:sp>
      <p:sp>
        <p:nvSpPr>
          <p:cNvPr id="39" name="직사각형 38">
            <a:extLst>
              <a:ext uri="{FF2B5EF4-FFF2-40B4-BE49-F238E27FC236}">
                <a16:creationId xmlns:a16="http://schemas.microsoft.com/office/drawing/2014/main" id="{EA80965C-18C2-4DFE-B3E2-2D4B3BBE8AB2}"/>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564B9E9D-032C-48CE-9A03-4347748FC3BA}"/>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AA3AACB1-1B55-4D5D-BFB0-37DA1A3E4B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CC141146-44AA-4800-9C21-7D73181050E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44</a:t>
            </a:r>
            <a:endParaRPr sz="1050" b="1" i="0">
              <a:solidFill>
                <a:srgbClr val="171717"/>
              </a:solidFill>
              <a:latin typeface="Consolas"/>
              <a:ea typeface="Consolas"/>
              <a:cs typeface="Consolas"/>
            </a:endParaRPr>
          </a:p>
        </p:txBody>
      </p:sp>
      <p:sp>
        <p:nvSpPr>
          <p:cNvPr id="43" name="직사각형 42">
            <a:extLst>
              <a:ext uri="{FF2B5EF4-FFF2-40B4-BE49-F238E27FC236}">
                <a16:creationId xmlns:a16="http://schemas.microsoft.com/office/drawing/2014/main" id="{8F136F04-7463-4109-8319-0FF65A945AC0}"/>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완전 탐색은 가능한 모든 시작점과 끝점을 확인한다. 비어 있지 않은 연속 구간의 개수는 n(n + 1)/2이다.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 → 5,050개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 → 500,500개</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100,000 → 5,000,050,000개</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시작점을 고정하고 끝점을 늘리며 합을 갱신하면 O(n²)에 모든 구간을 조사할 수 있다.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매 구간의 합을 처음부터 다시 계산하면 O(n³)까지 늘어난다.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구간 수 자체가 많으므로 더 빠른 방법이 필요하다.</a:t>
            </a:r>
          </a:p>
        </p:txBody>
      </p:sp>
      <p:pic>
        <p:nvPicPr>
          <p:cNvPr id="53" name="그림 52"/>
          <p:cNvPicPr>
            <a:picLocks noChangeAspect="1"/>
          </p:cNvPicPr>
          <p:nvPr/>
        </p:nvPicPr>
        <p:blipFill>
          <a:blip r:embed="rId3"/>
          <a:stretch/>
        </p:blipFill>
        <p:spPr>
          <a:xfrm>
            <a:off x="7315200" y="2164049"/>
            <a:ext cx="4171950" cy="3196651"/>
          </a:xfrm>
          <a:prstGeom prst="rect">
            <a:avLst/>
          </a:prstGeom>
        </p:spPr>
      </p:pic>
    </p:spTree>
    <p:extLst>
      <p:ext uri="{BB962C8B-B14F-4D97-AF65-F5344CB8AC3E}">
        <p14:creationId xmlns:p14="http://schemas.microsoft.com/office/powerpoint/2010/main" val="18218199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직사각형 28">
            <a:extLst>
              <a:ext uri="{FF2B5EF4-FFF2-40B4-BE49-F238E27FC236}">
                <a16:creationId xmlns:a16="http://schemas.microsoft.com/office/drawing/2014/main" id="{D1A13B5F-F5C2-4877-BAE2-1E5F7A651CF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85CEB7B2-18C5-421F-AFFB-A051ACA41E2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E8AF46F-E22F-4BEA-8A0B-4C37E8C45CA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셋 중 하나에는 반드시 있다!</a:t>
            </a:r>
          </a:p>
        </p:txBody>
      </p:sp>
      <p:sp>
        <p:nvSpPr>
          <p:cNvPr id="32" name="직사각형 31">
            <a:extLst>
              <a:ext uri="{FF2B5EF4-FFF2-40B4-BE49-F238E27FC236}">
                <a16:creationId xmlns:a16="http://schemas.microsoft.com/office/drawing/2014/main" id="{E2F20191-3D01-453D-B8EC-EF90ADA56F91}"/>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60FB652E-060E-4D37-B493-1F5CECF5CA2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42E214C-6CE3-4FB4-9010-58E232D795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5F12C696-5E82-4696-B0AE-FC6B6095BC9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45</a:t>
            </a:r>
            <a:endParaRPr sz="1050" b="1" i="0">
              <a:solidFill>
                <a:srgbClr val="171717"/>
              </a:solidFill>
              <a:latin typeface="Consolas"/>
              <a:ea typeface="Consolas"/>
              <a:cs typeface="Consolas"/>
            </a:endParaRPr>
          </a:p>
        </p:txBody>
      </p:sp>
      <p:sp>
        <p:nvSpPr>
          <p:cNvPr id="36" name="직사각형 35">
            <a:extLst>
              <a:ext uri="{FF2B5EF4-FFF2-40B4-BE49-F238E27FC236}">
                <a16:creationId xmlns:a16="http://schemas.microsoft.com/office/drawing/2014/main" id="{37AD1750-5AD1-43C1-9601-308608A515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배열을 절반으로 나누면 최대 구간은 다음 세 경우 중 하나에 속한다.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왼쪽에만 존재 → 왼쪽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오른쪽에만 존재 → 오른쪽 절반을 재귀적으로 해결</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경계를 가로지름 → 왼쪽 최대 접미 합과 오른쪽 최대 접두 합을 더한다.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정답 = max(leftMax, rightMax, crossMax)</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세 경우를 모두 비교하므로 최대 구간을 놓치지 않는다.</a:t>
            </a:r>
          </a:p>
        </p:txBody>
      </p:sp>
      <p:pic>
        <p:nvPicPr>
          <p:cNvPr id="46" name="그림 45"/>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97281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4A188B-FDA0-4AAF-9AAB-0EBC2D14F4A1}"/>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걸친 구간을 처리하는 부분이 분할 정복 알고리즘에서 가장 까다롭다. 핵심은 "걸친 구간은 반드시 중앙(mid)을 포함해야 한다"는 것이다. 우리가 찾는 것은 왼쪽 동네와 오른쪽 동네를 연결하는 다리 같은 구간이다.</a:t>
            </a:r>
            <a:endParaRPr sz="1300"/>
          </a:p>
        </p:txBody>
      </p:sp>
      <p:sp>
        <p:nvSpPr>
          <p:cNvPr id="12" name="Text 7">
            <a:extLst>
              <a:ext uri="{FF2B5EF4-FFF2-40B4-BE49-F238E27FC236}">
                <a16:creationId xmlns:a16="http://schemas.microsoft.com/office/drawing/2014/main" id="{DB0341F7-5DA4-4343-B7AC-100A2D02AF27}"/>
              </a:ext>
            </a:extLst>
          </p:cNvPr>
          <p:cNvSpPr>
            <a:spLocks noGrp="1"/>
          </p:cNvSpPr>
          <p:nvPr/>
        </p:nvSpPr>
        <p:spPr>
          <a:xfrm>
            <a:off x="1517904" y="5669280"/>
            <a:ext cx="9756648" cy="384048"/>
          </a:xfrm>
          <a:prstGeom prst="rect">
            <a:avLst/>
          </a:prstGeom>
          <a:noFill/>
          <a:ln w="0">
            <a:noFill/>
          </a:ln>
        </p:spPr>
        <p:txBody>
          <a:bodyPr wrap="square" lIns="0" tIns="0" rIns="0" bIns="0" anchor="ctr">
            <a:noAutofit/>
          </a:bodyPr>
          <a:lstStyle/>
          <a:p>
            <a:pPr marL="0" indent="0" algn="l">
              <a:lnSpc>
                <a:spcPct val="134000"/>
              </a:lnSpc>
              <a:buNone/>
              <a:defRPr sz="1230" i="0">
                <a:solidFill>
                  <a:srgbClr val="606060"/>
                </a:solidFill>
                <a:latin typeface="Malgun Gothic"/>
                <a:ea typeface="Malgun Gothic"/>
                <a:cs typeface="Malgun Gothic"/>
              </a:defRPr>
            </a:pPr>
            <a:r>
              <a:rPr sz="1230" i="0">
                <a:solidFill>
                  <a:srgbClr val="606060"/>
                </a:solidFill>
                <a:latin typeface="Malgun Gothic"/>
                <a:ea typeface="Malgun Gothic"/>
                <a:cs typeface="Malgun Gothic"/>
              </a:rPr>
              <a:t>mid에서 왼쪽으로 훑으며 최대 합(leftSum), mid+1에서 오른쪽으로 훑으며 최대 합(rightSum). 둘을 더하면 걸친 구간의 최대 합이다.</a:t>
            </a:r>
            <a:endParaRPr sz="1230"/>
          </a:p>
        </p:txBody>
      </p:sp>
      <p:sp>
        <p:nvSpPr>
          <p:cNvPr id="16" name="직사각형 15">
            <a:extLst>
              <a:ext uri="{FF2B5EF4-FFF2-40B4-BE49-F238E27FC236}">
                <a16:creationId xmlns:a16="http://schemas.microsoft.com/office/drawing/2014/main" id="{ECF1DBC9-0F5A-4182-AEC2-EFDC315A2C70}"/>
              </a:ext>
            </a:extLst>
          </p:cNvPr>
          <p:cNvSpPr>
            <a:spLocks noGrp="1"/>
          </p:cNvSpPr>
          <p:nvPr/>
        </p:nvSpPr>
        <p:spPr>
          <a:xfrm>
            <a:off x="658368" y="5504688"/>
            <a:ext cx="10872216" cy="9525"/>
          </a:xfrm>
          <a:prstGeom prst="rect">
            <a:avLst/>
          </a:prstGeom>
          <a:solidFill>
            <a:srgbClr val="D4D4D4"/>
          </a:solidFill>
          <a:ln w="0">
            <a:noFill/>
          </a:ln>
        </p:spPr>
      </p:sp>
      <p:sp>
        <p:nvSpPr>
          <p:cNvPr id="17" name="직사각형 16">
            <a:extLst>
              <a:ext uri="{FF2B5EF4-FFF2-40B4-BE49-F238E27FC236}">
                <a16:creationId xmlns:a16="http://schemas.microsoft.com/office/drawing/2014/main" id="{9CEB29E3-A288-4924-B793-69E6667A712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18" name="직사각형 17">
            <a:extLst>
              <a:ext uri="{FF2B5EF4-FFF2-40B4-BE49-F238E27FC236}">
                <a16:creationId xmlns:a16="http://schemas.microsoft.com/office/drawing/2014/main" id="{03E7AA60-2205-461D-AB91-204A179D995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9" name="직사각형 18">
            <a:extLst>
              <a:ext uri="{FF2B5EF4-FFF2-40B4-BE49-F238E27FC236}">
                <a16:creationId xmlns:a16="http://schemas.microsoft.com/office/drawing/2014/main" id="{EB0BE622-9090-4D58-B149-928857A6E95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'걸친 구간' 처리하기</a:t>
            </a:r>
          </a:p>
        </p:txBody>
      </p:sp>
      <p:sp>
        <p:nvSpPr>
          <p:cNvPr id="20" name="직사각형 19">
            <a:extLst>
              <a:ext uri="{FF2B5EF4-FFF2-40B4-BE49-F238E27FC236}">
                <a16:creationId xmlns:a16="http://schemas.microsoft.com/office/drawing/2014/main" id="{FE1EF1BA-40D1-40DC-94E9-6A6725906CFE}"/>
              </a:ext>
            </a:extLst>
          </p:cNvPr>
          <p:cNvSpPr>
            <a:spLocks noGrp="1"/>
          </p:cNvSpPr>
          <p:nvPr/>
        </p:nvSpPr>
        <p:spPr>
          <a:xfrm>
            <a:off x="609600" y="1381125"/>
            <a:ext cx="10972800" cy="19050"/>
          </a:xfrm>
          <a:prstGeom prst="rect">
            <a:avLst/>
          </a:prstGeom>
          <a:solidFill>
            <a:srgbClr val="171717"/>
          </a:solidFill>
          <a:ln w="0">
            <a:noFill/>
          </a:ln>
        </p:spPr>
      </p:sp>
      <p:sp>
        <p:nvSpPr>
          <p:cNvPr id="21" name="직사각형 20">
            <a:extLst>
              <a:ext uri="{FF2B5EF4-FFF2-40B4-BE49-F238E27FC236}">
                <a16:creationId xmlns:a16="http://schemas.microsoft.com/office/drawing/2014/main" id="{9BC940B0-2249-4EBC-996E-1C0F01390448}"/>
              </a:ext>
            </a:extLst>
          </p:cNvPr>
          <p:cNvSpPr>
            <a:spLocks noGrp="1"/>
          </p:cNvSpPr>
          <p:nvPr/>
        </p:nvSpPr>
        <p:spPr>
          <a:xfrm>
            <a:off x="609600" y="6438900"/>
            <a:ext cx="10972800"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0ED2B516-8F96-47F8-885A-CB9BAA6A043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3" name="직사각형 22">
            <a:extLst>
              <a:ext uri="{FF2B5EF4-FFF2-40B4-BE49-F238E27FC236}">
                <a16:creationId xmlns:a16="http://schemas.microsoft.com/office/drawing/2014/main" id="{D7FB1687-2348-443B-8668-37D7940E928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46</a:t>
            </a:r>
            <a:endParaRPr sz="1050" b="1" i="0">
              <a:solidFill>
                <a:srgbClr val="171717"/>
              </a:solidFill>
              <a:latin typeface="Consolas"/>
              <a:ea typeface="Consolas"/>
              <a:cs typeface="Consolas"/>
            </a:endParaRPr>
          </a:p>
        </p:txBody>
      </p:sp>
      <p:pic>
        <p:nvPicPr>
          <p:cNvPr id="35" name="그림 34"/>
          <p:cNvPicPr>
            <a:picLocks noChangeAspect="1"/>
          </p:cNvPicPr>
          <p:nvPr/>
        </p:nvPicPr>
        <p:blipFill>
          <a:blip r:embed="rId3"/>
          <a:stretch/>
        </p:blipFill>
        <p:spPr>
          <a:xfrm>
            <a:off x="3601736" y="2523744"/>
            <a:ext cx="4985384" cy="2724912"/>
          </a:xfrm>
          <a:prstGeom prst="rect">
            <a:avLst/>
          </a:prstGeom>
        </p:spPr>
      </p:pic>
    </p:spTree>
    <p:extLst>
      <p:ext uri="{BB962C8B-B14F-4D97-AF65-F5344CB8AC3E}">
        <p14:creationId xmlns:p14="http://schemas.microsoft.com/office/powerpoint/2010/main" val="12001524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85F22F59-915D-406E-8AC7-FF2507F37316}"/>
              </a:ext>
            </a:extLst>
          </p:cNvPr>
          <p:cNvSpPr>
            <a:spLocks noGrp="1"/>
          </p:cNvSpPr>
          <p:nvPr/>
        </p:nvSpPr>
        <p:spPr>
          <a:xfrm>
            <a:off x="859536" y="1801368"/>
            <a:ext cx="64008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max_subarray.pseudo</a:t>
            </a:r>
            <a:endParaRPr sz="900"/>
          </a:p>
        </p:txBody>
      </p:sp>
      <p:sp>
        <p:nvSpPr>
          <p:cNvPr id="17" name="Text 13">
            <a:extLst>
              <a:ext uri="{FF2B5EF4-FFF2-40B4-BE49-F238E27FC236}">
                <a16:creationId xmlns:a16="http://schemas.microsoft.com/office/drawing/2014/main" id="{29A50C1D-9CD5-4EC1-B9A0-0606A160B98D}"/>
              </a:ext>
            </a:extLst>
          </p:cNvPr>
          <p:cNvSpPr>
            <a:spLocks noGrp="1"/>
          </p:cNvSpPr>
          <p:nvPr/>
        </p:nvSpPr>
        <p:spPr>
          <a:xfrm>
            <a:off x="8229600" y="183794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기저 사례</a:t>
            </a:r>
            <a:endParaRPr sz="1150"/>
          </a:p>
        </p:txBody>
      </p:sp>
      <p:sp>
        <p:nvSpPr>
          <p:cNvPr id="18" name="Text 14">
            <a:extLst>
              <a:ext uri="{FF2B5EF4-FFF2-40B4-BE49-F238E27FC236}">
                <a16:creationId xmlns:a16="http://schemas.microsoft.com/office/drawing/2014/main" id="{9F233074-B814-41E3-A593-8B315471DCC1}"/>
              </a:ext>
            </a:extLst>
          </p:cNvPr>
          <p:cNvSpPr>
            <a:spLocks noGrp="1"/>
          </p:cNvSpPr>
          <p:nvPr/>
        </p:nvSpPr>
        <p:spPr>
          <a:xfrm>
            <a:off x="8229600" y="207568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low == high 이면 원소가 하나뿐이므로 그 값이 곧 최대 구간 합이다.</a:t>
            </a:r>
            <a:endParaRPr sz="1010"/>
          </a:p>
        </p:txBody>
      </p:sp>
      <p:sp>
        <p:nvSpPr>
          <p:cNvPr id="22" name="Text 17">
            <a:extLst>
              <a:ext uri="{FF2B5EF4-FFF2-40B4-BE49-F238E27FC236}">
                <a16:creationId xmlns:a16="http://schemas.microsoft.com/office/drawing/2014/main" id="{5D61AB5C-774B-4903-8992-92358E2DEDCB}"/>
              </a:ext>
            </a:extLst>
          </p:cNvPr>
          <p:cNvSpPr>
            <a:spLocks noGrp="1"/>
          </p:cNvSpPr>
          <p:nvPr/>
        </p:nvSpPr>
        <p:spPr>
          <a:xfrm>
            <a:off x="8229600" y="270662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분할</a:t>
            </a:r>
            <a:endParaRPr sz="1150"/>
          </a:p>
        </p:txBody>
      </p:sp>
      <p:sp>
        <p:nvSpPr>
          <p:cNvPr id="23" name="Text 18">
            <a:extLst>
              <a:ext uri="{FF2B5EF4-FFF2-40B4-BE49-F238E27FC236}">
                <a16:creationId xmlns:a16="http://schemas.microsoft.com/office/drawing/2014/main" id="{3ABBAACD-FA23-4085-AA4E-947BE4086A10}"/>
              </a:ext>
            </a:extLst>
          </p:cNvPr>
          <p:cNvSpPr>
            <a:spLocks noGrp="1"/>
          </p:cNvSpPr>
          <p:nvPr/>
        </p:nvSpPr>
        <p:spPr>
          <a:xfrm>
            <a:off x="8229600" y="294436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mid를 기준으로 왼쪽·오른쪽 두 개의 절반 문제로 나눈다.</a:t>
            </a:r>
            <a:endParaRPr sz="1010"/>
          </a:p>
        </p:txBody>
      </p:sp>
      <p:sp>
        <p:nvSpPr>
          <p:cNvPr id="27" name="Text 21">
            <a:extLst>
              <a:ext uri="{FF2B5EF4-FFF2-40B4-BE49-F238E27FC236}">
                <a16:creationId xmlns:a16="http://schemas.microsoft.com/office/drawing/2014/main" id="{067CD356-B81E-4C92-A275-239FAE7640A6}"/>
              </a:ext>
            </a:extLst>
          </p:cNvPr>
          <p:cNvSpPr>
            <a:spLocks noGrp="1"/>
          </p:cNvSpPr>
          <p:nvPr/>
        </p:nvSpPr>
        <p:spPr>
          <a:xfrm>
            <a:off x="8229600" y="357530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정복</a:t>
            </a:r>
            <a:endParaRPr sz="1150"/>
          </a:p>
        </p:txBody>
      </p:sp>
      <p:sp>
        <p:nvSpPr>
          <p:cNvPr id="28" name="Text 22">
            <a:extLst>
              <a:ext uri="{FF2B5EF4-FFF2-40B4-BE49-F238E27FC236}">
                <a16:creationId xmlns:a16="http://schemas.microsoft.com/office/drawing/2014/main" id="{A5CF09E0-A2E5-4B50-B5B4-97DD980F7D41}"/>
              </a:ext>
            </a:extLst>
          </p:cNvPr>
          <p:cNvSpPr>
            <a:spLocks noGrp="1"/>
          </p:cNvSpPr>
          <p:nvPr/>
        </p:nvSpPr>
        <p:spPr>
          <a:xfrm>
            <a:off x="8229600" y="381304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두 절반을 재귀 호출로 해결한다. 문제 크기는 매번 절반이 된다.</a:t>
            </a:r>
            <a:endParaRPr sz="1010"/>
          </a:p>
        </p:txBody>
      </p:sp>
      <p:sp>
        <p:nvSpPr>
          <p:cNvPr id="32" name="Text 25">
            <a:extLst>
              <a:ext uri="{FF2B5EF4-FFF2-40B4-BE49-F238E27FC236}">
                <a16:creationId xmlns:a16="http://schemas.microsoft.com/office/drawing/2014/main" id="{0364A5C6-8108-4250-8EA4-1FCA11F362CC}"/>
              </a:ext>
            </a:extLst>
          </p:cNvPr>
          <p:cNvSpPr>
            <a:spLocks noGrp="1"/>
          </p:cNvSpPr>
          <p:nvPr/>
        </p:nvSpPr>
        <p:spPr>
          <a:xfrm>
            <a:off x="8229600" y="4443984"/>
            <a:ext cx="3108960" cy="237744"/>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결합</a:t>
            </a:r>
            <a:endParaRPr sz="1150"/>
          </a:p>
        </p:txBody>
      </p:sp>
      <p:sp>
        <p:nvSpPr>
          <p:cNvPr id="33" name="Text 26">
            <a:extLst>
              <a:ext uri="{FF2B5EF4-FFF2-40B4-BE49-F238E27FC236}">
                <a16:creationId xmlns:a16="http://schemas.microsoft.com/office/drawing/2014/main" id="{E2D6256D-BFBA-483A-8EC2-B45677CABB04}"/>
              </a:ext>
            </a:extLst>
          </p:cNvPr>
          <p:cNvSpPr>
            <a:spLocks noGrp="1"/>
          </p:cNvSpPr>
          <p:nvPr/>
        </p:nvSpPr>
        <p:spPr>
          <a:xfrm>
            <a:off x="8229600" y="4681728"/>
            <a:ext cx="3108960" cy="384048"/>
          </a:xfrm>
          <a:prstGeom prst="rect">
            <a:avLst/>
          </a:prstGeom>
          <a:noFill/>
          <a:ln w="0">
            <a:noFill/>
          </a:ln>
        </p:spPr>
        <p:txBody>
          <a:bodyPr wrap="square" lIns="0" tIns="0" rIns="0" bIns="0" anchor="t">
            <a:noAutofit/>
          </a:bodyPr>
          <a:lstStyle/>
          <a:p>
            <a:pPr marL="0" indent="0" algn="l">
              <a:lnSpc>
                <a:spcPct val="114000"/>
              </a:lnSpc>
              <a:buNone/>
              <a:defRPr sz="1010" i="0">
                <a:solidFill>
                  <a:srgbClr val="171717"/>
                </a:solidFill>
                <a:latin typeface="Malgun Gothic"/>
                <a:ea typeface="Malgun Gothic"/>
                <a:cs typeface="Malgun Gothic"/>
              </a:defRPr>
            </a:pPr>
            <a:r>
              <a:rPr sz="1010" i="0">
                <a:solidFill>
                  <a:srgbClr val="171717"/>
                </a:solidFill>
                <a:latin typeface="Malgun Gothic"/>
                <a:ea typeface="Malgun Gothic"/>
                <a:cs typeface="Malgun Gothic"/>
              </a:rPr>
              <a:t>걸친 구간을 계산하고, 세 후보 중 최댓값을 돌려준다.</a:t>
            </a:r>
            <a:endParaRPr sz="1010"/>
          </a:p>
        </p:txBody>
      </p:sp>
      <p:sp>
        <p:nvSpPr>
          <p:cNvPr id="35" name="Text 28">
            <a:extLst>
              <a:ext uri="{FF2B5EF4-FFF2-40B4-BE49-F238E27FC236}">
                <a16:creationId xmlns:a16="http://schemas.microsoft.com/office/drawing/2014/main" id="{4061A13B-FED0-4C0F-85B8-6B5CA4D3F2D1}"/>
              </a:ext>
            </a:extLst>
          </p:cNvPr>
          <p:cNvSpPr>
            <a:spLocks noGrp="1"/>
          </p:cNvSpPr>
          <p:nvPr/>
        </p:nvSpPr>
        <p:spPr>
          <a:xfrm>
            <a:off x="795528" y="5321808"/>
            <a:ext cx="10597896" cy="749808"/>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2T(n/2) + O(n)</a:t>
            </a:r>
            <a:endParaRPr sz="1800"/>
          </a:p>
        </p:txBody>
      </p:sp>
      <p:sp>
        <p:nvSpPr>
          <p:cNvPr id="37" name="직사각형 36">
            <a:extLst>
              <a:ext uri="{FF2B5EF4-FFF2-40B4-BE49-F238E27FC236}">
                <a16:creationId xmlns:a16="http://schemas.microsoft.com/office/drawing/2014/main" id="{3DF83E61-1CC9-4DCF-B791-2CD7D9B0A769}"/>
              </a:ext>
            </a:extLst>
          </p:cNvPr>
          <p:cNvSpPr>
            <a:spLocks noGrp="1"/>
          </p:cNvSpPr>
          <p:nvPr/>
        </p:nvSpPr>
        <p:spPr>
          <a:xfrm>
            <a:off x="7607808" y="1783080"/>
            <a:ext cx="392277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E76E2CC6-E952-4E32-A162-63141D23714F}"/>
              </a:ext>
            </a:extLst>
          </p:cNvPr>
          <p:cNvSpPr>
            <a:spLocks noGrp="1"/>
          </p:cNvSpPr>
          <p:nvPr/>
        </p:nvSpPr>
        <p:spPr>
          <a:xfrm>
            <a:off x="698373" y="2090928"/>
            <a:ext cx="6741414" cy="29977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MaxSubarraySum(A,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 then    // 기저 사례: 원소가 하나</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&lt;- floor((low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leftMax  &lt;- MaxSubarraySum(A,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rightMax &lt;- MaxSubarraySum(A,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crossMax &lt;- 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max(leftMax, rightMax, crossMax)</a:t>
            </a:r>
          </a:p>
        </p:txBody>
      </p:sp>
      <p:sp>
        <p:nvSpPr>
          <p:cNvPr id="39" name="직사각형 38">
            <a:extLst>
              <a:ext uri="{FF2B5EF4-FFF2-40B4-BE49-F238E27FC236}">
                <a16:creationId xmlns:a16="http://schemas.microsoft.com/office/drawing/2014/main" id="{37F7417E-0EFD-4A76-AB09-B12DB6160A0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BEAD41D2-B6B8-48A4-8409-6D83D3B9A57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7956F4C1-ABF0-400E-B19C-430695F1C2B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(메인)</a:t>
            </a:r>
          </a:p>
        </p:txBody>
      </p:sp>
      <p:sp>
        <p:nvSpPr>
          <p:cNvPr id="42" name="직사각형 41">
            <a:extLst>
              <a:ext uri="{FF2B5EF4-FFF2-40B4-BE49-F238E27FC236}">
                <a16:creationId xmlns:a16="http://schemas.microsoft.com/office/drawing/2014/main" id="{835BD58C-2422-460D-BA54-C7E3CBA4895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187A862D-3FC8-4699-AF83-A207F2113F28}"/>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74657DB9-BE22-4B43-B2EB-F4A840CD913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6ACA8B73-6F64-4198-A4CD-A3B1ECF3430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9688631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29F31B-7361-4766-B6D2-C40AACC29C2C}"/>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max_crossing.pseudo</a:t>
            </a:r>
            <a:endParaRPr sz="900"/>
          </a:p>
        </p:txBody>
      </p:sp>
      <p:sp>
        <p:nvSpPr>
          <p:cNvPr id="17" name="Text 13">
            <a:extLst>
              <a:ext uri="{FF2B5EF4-FFF2-40B4-BE49-F238E27FC236}">
                <a16:creationId xmlns:a16="http://schemas.microsoft.com/office/drawing/2014/main" id="{17C139C8-5113-4AB1-AD7F-8A9AE9735540}"/>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왜 −∞ 로 초기화하는가?</a:t>
            </a:r>
            <a:endParaRPr sz="1250"/>
          </a:p>
        </p:txBody>
      </p:sp>
      <p:sp>
        <p:nvSpPr>
          <p:cNvPr id="18" name="Text 14">
            <a:extLst>
              <a:ext uri="{FF2B5EF4-FFF2-40B4-BE49-F238E27FC236}">
                <a16:creationId xmlns:a16="http://schemas.microsoft.com/office/drawing/2014/main" id="{BDB50999-B29C-491A-AB41-4141C57E7BF7}"/>
              </a:ext>
            </a:extLst>
          </p:cNvPr>
          <p:cNvSpPr>
            <a:spLocks noGrp="1"/>
          </p:cNvSpPr>
          <p:nvPr/>
        </p:nvSpPr>
        <p:spPr>
          <a:xfrm>
            <a:off x="8604504" y="2313432"/>
            <a:ext cx="2670048" cy="786384"/>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모든 원소가 음수인 배열에서도 올바른 최댓값을 찾기 위해서다. 0으로 초기화하면 "아무것도 안 고르는 것"이 최선이 되어 버린다.</a:t>
            </a:r>
            <a:endParaRPr sz="1100"/>
          </a:p>
        </p:txBody>
      </p:sp>
      <p:sp>
        <p:nvSpPr>
          <p:cNvPr id="22" name="Text 17">
            <a:extLst>
              <a:ext uri="{FF2B5EF4-FFF2-40B4-BE49-F238E27FC236}">
                <a16:creationId xmlns:a16="http://schemas.microsoft.com/office/drawing/2014/main" id="{25835E87-C639-47B5-B251-E0C979B847F7}"/>
              </a:ext>
            </a:extLst>
          </p:cNvPr>
          <p:cNvSpPr>
            <a:spLocks noGrp="1"/>
          </p:cNvSpPr>
          <p:nvPr/>
        </p:nvSpPr>
        <p:spPr>
          <a:xfrm>
            <a:off x="8604504" y="3621024"/>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mid를 반드시 포함한다</a:t>
            </a:r>
            <a:endParaRPr sz="1250"/>
          </a:p>
        </p:txBody>
      </p:sp>
      <p:sp>
        <p:nvSpPr>
          <p:cNvPr id="23" name="Text 18">
            <a:extLst>
              <a:ext uri="{FF2B5EF4-FFF2-40B4-BE49-F238E27FC236}">
                <a16:creationId xmlns:a16="http://schemas.microsoft.com/office/drawing/2014/main" id="{8097490A-2F01-4CF1-ADC6-455A8C8810CB}"/>
              </a:ext>
            </a:extLst>
          </p:cNvPr>
          <p:cNvSpPr>
            <a:spLocks noGrp="1"/>
          </p:cNvSpPr>
          <p:nvPr/>
        </p:nvSpPr>
        <p:spPr>
          <a:xfrm>
            <a:off x="8604504" y="3968496"/>
            <a:ext cx="2670048"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스캔은 mid에서 출발하고 오른쪽 스캔은 mid+1에서 출발하므로, 두 구간은 항상 경계선을 가로지른다.</a:t>
            </a:r>
            <a:endParaRPr sz="1100"/>
          </a:p>
        </p:txBody>
      </p:sp>
      <p:sp>
        <p:nvSpPr>
          <p:cNvPr id="25" name="Text 20">
            <a:extLst>
              <a:ext uri="{FF2B5EF4-FFF2-40B4-BE49-F238E27FC236}">
                <a16:creationId xmlns:a16="http://schemas.microsoft.com/office/drawing/2014/main" id="{6B946887-0EC2-4E87-9228-E0ADE64B7FA7}"/>
              </a:ext>
            </a:extLst>
          </p:cNvPr>
          <p:cNvSpPr>
            <a:spLocks noGrp="1"/>
          </p:cNvSpPr>
          <p:nvPr/>
        </p:nvSpPr>
        <p:spPr>
          <a:xfrm>
            <a:off x="7882128" y="4956048"/>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비용: O(n)</a:t>
            </a:r>
            <a:endParaRPr sz="1600"/>
          </a:p>
        </p:txBody>
      </p:sp>
      <p:sp>
        <p:nvSpPr>
          <p:cNvPr id="27" name="직사각형 26">
            <a:extLst>
              <a:ext uri="{FF2B5EF4-FFF2-40B4-BE49-F238E27FC236}">
                <a16:creationId xmlns:a16="http://schemas.microsoft.com/office/drawing/2014/main" id="{D19743F3-D9B5-4C2F-9A9C-AEBAFFB1AD19}"/>
              </a:ext>
            </a:extLst>
          </p:cNvPr>
          <p:cNvSpPr>
            <a:spLocks noGrp="1"/>
          </p:cNvSpPr>
          <p:nvPr/>
        </p:nvSpPr>
        <p:spPr>
          <a:xfrm>
            <a:off x="7744968" y="1783080"/>
            <a:ext cx="3785616"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9E1D910-BE70-4308-87C5-99DE44A0822F}"/>
              </a:ext>
            </a:extLst>
          </p:cNvPr>
          <p:cNvSpPr>
            <a:spLocks noGrp="1"/>
          </p:cNvSpPr>
          <p:nvPr/>
        </p:nvSpPr>
        <p:spPr>
          <a:xfrm>
            <a:off x="698373" y="2090928"/>
            <a:ext cx="6878574" cy="3637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MaxCrossingSum(A,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mid downto low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A[i]</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leftSum then leftSum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rightSum &lt;- -INF</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mid + 1 to high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sum &lt;- sum + A[j]</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sum &gt; rightSum then rightSum &lt;- sum</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leftSum + rightSum</a:t>
            </a:r>
          </a:p>
        </p:txBody>
      </p:sp>
      <p:sp>
        <p:nvSpPr>
          <p:cNvPr id="29" name="직사각형 28">
            <a:extLst>
              <a:ext uri="{FF2B5EF4-FFF2-40B4-BE49-F238E27FC236}">
                <a16:creationId xmlns:a16="http://schemas.microsoft.com/office/drawing/2014/main" id="{D360D68A-1A0D-4E08-9E29-92420A49786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AF0F6064-E940-4B0A-9910-C22211787C9F}"/>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9501E52F-7C00-4A99-A1AA-6FC8E01B8F5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최대 구간 합 알고리즘 (걸친 구간)</a:t>
            </a:r>
          </a:p>
        </p:txBody>
      </p:sp>
      <p:sp>
        <p:nvSpPr>
          <p:cNvPr id="32" name="직사각형 31">
            <a:extLst>
              <a:ext uri="{FF2B5EF4-FFF2-40B4-BE49-F238E27FC236}">
                <a16:creationId xmlns:a16="http://schemas.microsoft.com/office/drawing/2014/main" id="{C0AE94CE-C66A-4CA9-A2FC-A183D0E1DF55}"/>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4535C265-0841-4004-9FEA-3CE902BA432A}"/>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3BD4624-56DD-4EEB-8284-E10304A2E2A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0C01E632-F4BD-46C2-83D9-25A97745B35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8762443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EFABF8F-933F-4E3B-8560-FA92F2E4C541}"/>
              </a:ext>
            </a:extLst>
          </p:cNvPr>
          <p:cNvSpPr>
            <a:spLocks noGrp="1"/>
          </p:cNvSpPr>
          <p:nvPr/>
        </p:nvSpPr>
        <p:spPr>
          <a:xfrm>
            <a:off x="859536" y="1801368"/>
            <a:ext cx="71323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max_crossing_sum.py</a:t>
            </a:r>
            <a:endParaRPr sz="900"/>
          </a:p>
        </p:txBody>
      </p:sp>
      <p:sp>
        <p:nvSpPr>
          <p:cNvPr id="17" name="Text 13">
            <a:extLst>
              <a:ext uri="{FF2B5EF4-FFF2-40B4-BE49-F238E27FC236}">
                <a16:creationId xmlns:a16="http://schemas.microsoft.com/office/drawing/2014/main" id="{0235F74B-FD9D-40E3-8C61-338883D9AF87}"/>
              </a:ext>
            </a:extLst>
          </p:cNvPr>
          <p:cNvSpPr>
            <a:spLocks noGrp="1"/>
          </p:cNvSpPr>
          <p:nvPr/>
        </p:nvSpPr>
        <p:spPr>
          <a:xfrm>
            <a:off x="9198864" y="196596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range의 끝은 포함되지 않는다</a:t>
            </a:r>
            <a:endParaRPr sz="1200"/>
          </a:p>
        </p:txBody>
      </p:sp>
      <p:sp>
        <p:nvSpPr>
          <p:cNvPr id="18" name="Text 14">
            <a:extLst>
              <a:ext uri="{FF2B5EF4-FFF2-40B4-BE49-F238E27FC236}">
                <a16:creationId xmlns:a16="http://schemas.microsoft.com/office/drawing/2014/main" id="{7E95B23A-2D6A-4310-806C-D75BA0B7D19A}"/>
              </a:ext>
            </a:extLst>
          </p:cNvPr>
          <p:cNvSpPr>
            <a:spLocks noGrp="1"/>
          </p:cNvSpPr>
          <p:nvPr/>
        </p:nvSpPr>
        <p:spPr>
          <a:xfrm>
            <a:off x="9198864" y="2313432"/>
            <a:ext cx="2075688" cy="114300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mid부터 low까지 거꾸로 돌려면 range(mid, low − 1, −1)로 써야 low가 포함된다.</a:t>
            </a:r>
            <a:endParaRPr sz="1080"/>
          </a:p>
        </p:txBody>
      </p:sp>
      <p:sp>
        <p:nvSpPr>
          <p:cNvPr id="22" name="Text 17">
            <a:extLst>
              <a:ext uri="{FF2B5EF4-FFF2-40B4-BE49-F238E27FC236}">
                <a16:creationId xmlns:a16="http://schemas.microsoft.com/office/drawing/2014/main" id="{23BE23EE-53CF-4E0D-B86A-589F5ED79E88}"/>
              </a:ext>
            </a:extLst>
          </p:cNvPr>
          <p:cNvSpPr>
            <a:spLocks noGrp="1"/>
          </p:cNvSpPr>
          <p:nvPr/>
        </p:nvSpPr>
        <p:spPr>
          <a:xfrm>
            <a:off x="9198864" y="3977640"/>
            <a:ext cx="2075688"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한 번의 선형 스캔</a:t>
            </a:r>
            <a:endParaRPr sz="1200"/>
          </a:p>
        </p:txBody>
      </p:sp>
      <p:sp>
        <p:nvSpPr>
          <p:cNvPr id="23" name="Text 18">
            <a:extLst>
              <a:ext uri="{FF2B5EF4-FFF2-40B4-BE49-F238E27FC236}">
                <a16:creationId xmlns:a16="http://schemas.microsoft.com/office/drawing/2014/main" id="{7D58712E-7228-481F-A184-C316B48A16F6}"/>
              </a:ext>
            </a:extLst>
          </p:cNvPr>
          <p:cNvSpPr>
            <a:spLocks noGrp="1"/>
          </p:cNvSpPr>
          <p:nvPr/>
        </p:nvSpPr>
        <p:spPr>
          <a:xfrm>
            <a:off x="9198864" y="4325112"/>
            <a:ext cx="2075688" cy="1371600"/>
          </a:xfrm>
          <a:prstGeom prst="rect">
            <a:avLst/>
          </a:prstGeom>
          <a:noFill/>
          <a:ln w="0">
            <a:noFill/>
          </a:ln>
        </p:spPr>
        <p:txBody>
          <a:bodyPr wrap="square" lIns="0" tIns="0" rIns="0" bIns="0" anchor="t">
            <a:noAutofit/>
          </a:bodyPr>
          <a:lstStyle/>
          <a:p>
            <a:pPr marL="0" indent="0" algn="l">
              <a:lnSpc>
                <a:spcPct val="132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왼쪽 스캔과 오른쪽 스캔 모두 각 원소를 한 번씩만 훑는다. 따라서 이 함수의 비용은 구간 길이에 비례하는 O(n)이다.</a:t>
            </a:r>
            <a:endParaRPr sz="1080"/>
          </a:p>
        </p:txBody>
      </p:sp>
      <p:sp>
        <p:nvSpPr>
          <p:cNvPr id="25" name="직사각형 24">
            <a:extLst>
              <a:ext uri="{FF2B5EF4-FFF2-40B4-BE49-F238E27FC236}">
                <a16:creationId xmlns:a16="http://schemas.microsoft.com/office/drawing/2014/main" id="{B4E1626C-2F70-4422-A023-417036C51B06}"/>
              </a:ext>
            </a:extLst>
          </p:cNvPr>
          <p:cNvSpPr>
            <a:spLocks noGrp="1"/>
          </p:cNvSpPr>
          <p:nvPr/>
        </p:nvSpPr>
        <p:spPr>
          <a:xfrm>
            <a:off x="8339328" y="1783080"/>
            <a:ext cx="3191256"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48C2580C-AE2B-4786-8DAF-D84A53426332}"/>
              </a:ext>
            </a:extLst>
          </p:cNvPr>
          <p:cNvSpPr>
            <a:spLocks noGrp="1"/>
          </p:cNvSpPr>
          <p:nvPr/>
        </p:nvSpPr>
        <p:spPr>
          <a:xfrm>
            <a:off x="8339328" y="3794760"/>
            <a:ext cx="3191256"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C7128CB5-81F5-4198-89CD-26A431F10A4C}"/>
              </a:ext>
            </a:extLst>
          </p:cNvPr>
          <p:cNvSpPr>
            <a:spLocks noGrp="1"/>
          </p:cNvSpPr>
          <p:nvPr/>
        </p:nvSpPr>
        <p:spPr>
          <a:xfrm>
            <a:off x="698373" y="2090928"/>
            <a:ext cx="747293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def max_crossing_sum(arr, low, mid, high):</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low - 1,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left_sum: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left_sum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float('-inf')</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0</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for i in range(mid + 1, high + 1):</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current_sum += arr[i]</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if current_sum &gt; right_sum: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right_sum = current_sum</a:t>
            </a:r>
          </a:p>
          <a:p>
            <a:pPr algn="l">
              <a:lnSpc>
                <a:spcPct val="103000"/>
              </a:lnSpc>
              <a:buNone/>
              <a:defRPr sz="1425" b="0" i="0">
                <a:solidFill>
                  <a:srgbClr val="FFFFFF"/>
                </a:solidFill>
                <a:latin typeface="Consolas"/>
                <a:ea typeface="Consolas"/>
                <a:cs typeface="Consolas"/>
              </a:defRPr>
            </a:pPr>
            <a:r>
              <a:rPr sz="1425" b="0" i="0">
                <a:solidFill>
                  <a:srgbClr val="FFFFFF"/>
                </a:solidFill>
                <a:latin typeface="Consolas"/>
                <a:ea typeface="Consolas"/>
                <a:cs typeface="Consolas"/>
              </a:rPr>
              <a:t>    return left_sum + right_sum</a:t>
            </a:r>
          </a:p>
        </p:txBody>
      </p:sp>
      <p:sp>
        <p:nvSpPr>
          <p:cNvPr id="28" name="직사각형 27">
            <a:extLst>
              <a:ext uri="{FF2B5EF4-FFF2-40B4-BE49-F238E27FC236}">
                <a16:creationId xmlns:a16="http://schemas.microsoft.com/office/drawing/2014/main" id="{1003254D-DA76-4FF6-B669-5FE82F08DF5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6262A71E-4B9D-495A-A82F-2E1354FD007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DE463BFD-83CD-4F34-834C-27D5CED29AF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걸친 구간 (combine)</a:t>
            </a:r>
          </a:p>
        </p:txBody>
      </p:sp>
      <p:sp>
        <p:nvSpPr>
          <p:cNvPr id="31" name="직사각형 30">
            <a:extLst>
              <a:ext uri="{FF2B5EF4-FFF2-40B4-BE49-F238E27FC236}">
                <a16:creationId xmlns:a16="http://schemas.microsoft.com/office/drawing/2014/main" id="{B3E7D7F4-8034-434C-944F-58BF3F0AAC2A}"/>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3B3E9446-3DEF-4334-A48C-5541723514DB}"/>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DDFBFC64-6683-4A35-8733-5D8BADDF427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E809C184-224B-42BC-B5E0-EBED5438911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749773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16694097-DF91-43F6-85B0-2D9D15533034}"/>
              </a:ext>
            </a:extLst>
          </p:cNvPr>
          <p:cNvSpPr>
            <a:spLocks noGrp="1"/>
          </p:cNvSpPr>
          <p:nvPr/>
        </p:nvSpPr>
        <p:spPr>
          <a:xfrm>
            <a:off x="859536" y="1801368"/>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max_subarray_sum.py</a:t>
            </a:r>
            <a:endParaRPr sz="900"/>
          </a:p>
        </p:txBody>
      </p:sp>
      <p:sp>
        <p:nvSpPr>
          <p:cNvPr id="20" name="Text 17">
            <a:extLst>
              <a:ext uri="{FF2B5EF4-FFF2-40B4-BE49-F238E27FC236}">
                <a16:creationId xmlns:a16="http://schemas.microsoft.com/office/drawing/2014/main" id="{015E184B-6612-4C13-86AB-283701B821E0}"/>
              </a:ext>
            </a:extLst>
          </p:cNvPr>
          <p:cNvSpPr>
            <a:spLocks noGrp="1"/>
          </p:cNvSpPr>
          <p:nvPr/>
        </p:nvSpPr>
        <p:spPr>
          <a:xfrm>
            <a:off x="859536" y="5029200"/>
            <a:ext cx="65379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C3EDFC22-4C07-4FF5-A424-B3534AB074D7}"/>
              </a:ext>
            </a:extLst>
          </p:cNvPr>
          <p:cNvSpPr>
            <a:spLocks noGrp="1"/>
          </p:cNvSpPr>
          <p:nvPr/>
        </p:nvSpPr>
        <p:spPr>
          <a:xfrm>
            <a:off x="8604504" y="1965960"/>
            <a:ext cx="2670048"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세 개의 후보</a:t>
            </a:r>
            <a:endParaRPr sz="1250"/>
          </a:p>
        </p:txBody>
      </p:sp>
      <p:sp>
        <p:nvSpPr>
          <p:cNvPr id="26" name="Text 22">
            <a:extLst>
              <a:ext uri="{FF2B5EF4-FFF2-40B4-BE49-F238E27FC236}">
                <a16:creationId xmlns:a16="http://schemas.microsoft.com/office/drawing/2014/main" id="{38633C52-421F-4EBB-9A57-B883A6EC1756}"/>
              </a:ext>
            </a:extLst>
          </p:cNvPr>
          <p:cNvSpPr>
            <a:spLocks noGrp="1"/>
          </p:cNvSpPr>
          <p:nvPr/>
        </p:nvSpPr>
        <p:spPr>
          <a:xfrm>
            <a:off x="8604504" y="2313432"/>
            <a:ext cx="2670048" cy="841248"/>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왼쪽 절반의 최대, 오른쪽 절반의 최대, 그리고 중앙을 걸친 최대. 파이썬 내장 max()로 셋 중 가장 큰 값을 고른다.</a:t>
            </a:r>
            <a:endParaRPr sz="1100"/>
          </a:p>
        </p:txBody>
      </p:sp>
      <p:sp>
        <p:nvSpPr>
          <p:cNvPr id="28" name="Text 24">
            <a:extLst>
              <a:ext uri="{FF2B5EF4-FFF2-40B4-BE49-F238E27FC236}">
                <a16:creationId xmlns:a16="http://schemas.microsoft.com/office/drawing/2014/main" id="{A5ACA81C-DB28-4CE9-A451-A7206D2910BC}"/>
              </a:ext>
            </a:extLst>
          </p:cNvPr>
          <p:cNvSpPr>
            <a:spLocks noGrp="1"/>
          </p:cNvSpPr>
          <p:nvPr/>
        </p:nvSpPr>
        <p:spPr>
          <a:xfrm>
            <a:off x="7927848" y="3611880"/>
            <a:ext cx="3419856"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28AA1030-8C4D-47E5-8A6F-5EEB7EB393D5}"/>
              </a:ext>
            </a:extLst>
          </p:cNvPr>
          <p:cNvSpPr>
            <a:spLocks noGrp="1"/>
          </p:cNvSpPr>
          <p:nvPr/>
        </p:nvSpPr>
        <p:spPr>
          <a:xfrm>
            <a:off x="7927848" y="3950208"/>
            <a:ext cx="3419856" cy="91440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주가 데이터: [3, -5, 12, -2, 7, -9, 5, 1]</a:t>
            </a:r>
            <a:endParaRPr sz="10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최대 구간 합(최대 이익): 17</a:t>
            </a:r>
            <a:endParaRPr sz="1000"/>
          </a:p>
        </p:txBody>
      </p:sp>
      <p:sp>
        <p:nvSpPr>
          <p:cNvPr id="31" name="Text 27">
            <a:extLst>
              <a:ext uri="{FF2B5EF4-FFF2-40B4-BE49-F238E27FC236}">
                <a16:creationId xmlns:a16="http://schemas.microsoft.com/office/drawing/2014/main" id="{3071CCC7-865C-4B13-A4F7-4B149C92ED91}"/>
              </a:ext>
            </a:extLst>
          </p:cNvPr>
          <p:cNvSpPr>
            <a:spLocks noGrp="1"/>
          </p:cNvSpPr>
          <p:nvPr/>
        </p:nvSpPr>
        <p:spPr>
          <a:xfrm>
            <a:off x="7882128" y="5175504"/>
            <a:ext cx="3511296" cy="658368"/>
          </a:xfrm>
          <a:prstGeom prst="rect">
            <a:avLst/>
          </a:prstGeom>
          <a:noFill/>
          <a:ln w="0">
            <a:noFill/>
          </a:ln>
        </p:spPr>
        <p:txBody>
          <a:bodyPr wrap="square" lIns="0" tIns="0" rIns="0" bIns="0" anchor="ctr">
            <a:noAutofit/>
          </a:bodyPr>
          <a:lstStyle/>
          <a:p>
            <a:pPr marL="0" indent="0" algn="ctr">
              <a:buNone/>
              <a:defRPr sz="1600" i="0">
                <a:solidFill>
                  <a:srgbClr val="171717"/>
                </a:solidFill>
                <a:latin typeface="Malgun Gothic"/>
                <a:ea typeface="Malgun Gothic"/>
                <a:cs typeface="Malgun Gothic"/>
              </a:defRPr>
            </a:pPr>
            <a:r>
              <a:rPr sz="1600" b="1" i="0">
                <a:solidFill>
                  <a:srgbClr val="171717"/>
                </a:solidFill>
                <a:latin typeface="Malgun Gothic"/>
                <a:ea typeface="Malgun Gothic"/>
                <a:cs typeface="Malgun Gothic"/>
              </a:rPr>
              <a:t>T(n) = O(n log n)</a:t>
            </a:r>
            <a:endParaRPr sz="1600"/>
          </a:p>
        </p:txBody>
      </p:sp>
      <p:sp>
        <p:nvSpPr>
          <p:cNvPr id="33" name="직사각형 32">
            <a:extLst>
              <a:ext uri="{FF2B5EF4-FFF2-40B4-BE49-F238E27FC236}">
                <a16:creationId xmlns:a16="http://schemas.microsoft.com/office/drawing/2014/main" id="{D875A23D-6CD1-4EE5-8DF6-F04D4756A5C1}"/>
              </a:ext>
            </a:extLst>
          </p:cNvPr>
          <p:cNvSpPr>
            <a:spLocks noGrp="1"/>
          </p:cNvSpPr>
          <p:nvPr/>
        </p:nvSpPr>
        <p:spPr>
          <a:xfrm>
            <a:off x="7744968" y="1783080"/>
            <a:ext cx="378561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B71DFD00-1FF0-4DBE-8571-9104CC2F3622}"/>
              </a:ext>
            </a:extLst>
          </p:cNvPr>
          <p:cNvSpPr>
            <a:spLocks noGrp="1"/>
          </p:cNvSpPr>
          <p:nvPr/>
        </p:nvSpPr>
        <p:spPr>
          <a:xfrm>
            <a:off x="698373" y="2090928"/>
            <a:ext cx="6878574" cy="281482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max_subarray_sum(arr, low,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low ==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arr[low]</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mid = (low + high) // 2</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left_max  = max_subarray_sum(arr, low, mid)</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right_max = max_subarray_sum(arr, mid + 1,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cross_max = max_crossing_sum(arr, low, mid, high)</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max(left_max, right_max, cross_max)</a:t>
            </a:r>
          </a:p>
        </p:txBody>
      </p:sp>
      <p:sp>
        <p:nvSpPr>
          <p:cNvPr id="35" name="직사각형 34">
            <a:extLst>
              <a:ext uri="{FF2B5EF4-FFF2-40B4-BE49-F238E27FC236}">
                <a16:creationId xmlns:a16="http://schemas.microsoft.com/office/drawing/2014/main" id="{7847117D-7D52-414A-99DF-3D3734C46407}"/>
              </a:ext>
            </a:extLst>
          </p:cNvPr>
          <p:cNvSpPr>
            <a:spLocks noGrp="1"/>
          </p:cNvSpPr>
          <p:nvPr/>
        </p:nvSpPr>
        <p:spPr>
          <a:xfrm>
            <a:off x="698373" y="5318760"/>
            <a:ext cx="6878574" cy="867156"/>
          </a:xfrm>
          <a:prstGeom prst="rect">
            <a:avLst/>
          </a:prstGeom>
          <a:solidFill>
            <a:srgbClr val="171717"/>
          </a:solidFill>
          <a:ln w="0">
            <a:noFill/>
          </a:ln>
        </p:spPr>
        <p:txBody>
          <a:bodyPr wrap="none" lIns="142875" tIns="76200" rIns="142875" bIns="76200" anchor="t">
            <a:noAutofit/>
          </a:bodyPr>
          <a:lstStyle/>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stock_prices = [3, -5, 12, -2, 7, -9, 5,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n = len(stock_prices)</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max_profit = max_subarray_sum(stock_prices, 0, n - 1)</a:t>
            </a:r>
          </a:p>
          <a:p>
            <a:pPr algn="l">
              <a:lnSpc>
                <a:spcPct val="103000"/>
              </a:lnSpc>
              <a:buNone/>
              <a:defRPr sz="975" b="0" i="0">
                <a:solidFill>
                  <a:srgbClr val="FFFFFF"/>
                </a:solidFill>
                <a:latin typeface="Consolas"/>
                <a:ea typeface="Consolas"/>
                <a:cs typeface="Consolas"/>
              </a:defRPr>
            </a:pPr>
            <a:r>
              <a:rPr sz="975" b="0" i="0">
                <a:solidFill>
                  <a:srgbClr val="FFFFFF"/>
                </a:solidFill>
                <a:latin typeface="Consolas"/>
                <a:ea typeface="Consolas"/>
                <a:cs typeface="Consolas"/>
              </a:rPr>
              <a:t>print(f"최대 구간 합(최대 이익): {max_profit}")</a:t>
            </a:r>
          </a:p>
        </p:txBody>
      </p:sp>
      <p:sp>
        <p:nvSpPr>
          <p:cNvPr id="36" name="직사각형 35">
            <a:extLst>
              <a:ext uri="{FF2B5EF4-FFF2-40B4-BE49-F238E27FC236}">
                <a16:creationId xmlns:a16="http://schemas.microsoft.com/office/drawing/2014/main" id="{9C2E04A8-302B-4AD6-89E7-6E99E25FE98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3DE34F45-5481-4274-8CAA-7D548311BAC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E489CF31-67C8-4385-B603-1F7B098CE66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메인</a:t>
            </a:r>
          </a:p>
        </p:txBody>
      </p:sp>
      <p:sp>
        <p:nvSpPr>
          <p:cNvPr id="39" name="직사각형 38">
            <a:extLst>
              <a:ext uri="{FF2B5EF4-FFF2-40B4-BE49-F238E27FC236}">
                <a16:creationId xmlns:a16="http://schemas.microsoft.com/office/drawing/2014/main" id="{FC76D691-AE44-4824-BA07-F008FA7B0FEE}"/>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EE63D6F8-70E9-4DC1-82CE-D7546FFC4E03}"/>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853F260F-BF81-49C9-85A7-A32BA91AC7E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01896AE6-B2AC-42E3-AE1B-7A31148832A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3044088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CBEA2B7-28E7-4007-AA37-998C50639B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4.4  </a:t>
            </a:r>
            <a:r>
              <a:rPr lang="ko-KR" altLang="en-US" sz="1050" b="1" i="0">
                <a:solidFill>
                  <a:srgbClr val="606060"/>
                </a:solidFill>
                <a:latin typeface="Malgun Gothic"/>
                <a:ea typeface="Malgun Gothic"/>
                <a:cs typeface="Malgun Gothic"/>
              </a:rPr>
              <a:t>최대 구간 합</a:t>
            </a:r>
            <a:endParaRPr sz="1050" b="1" i="0">
              <a:solidFill>
                <a:srgbClr val="606060"/>
              </a:solidFill>
              <a:latin typeface="Malgun Gothic"/>
              <a:ea typeface="Malgun Gothic"/>
              <a:cs typeface="Malgun Gothic"/>
            </a:endParaRPr>
          </a:p>
        </p:txBody>
      </p:sp>
      <p:sp>
        <p:nvSpPr>
          <p:cNvPr id="33" name="직사각형 32">
            <a:extLst>
              <a:ext uri="{FF2B5EF4-FFF2-40B4-BE49-F238E27FC236}">
                <a16:creationId xmlns:a16="http://schemas.microsoft.com/office/drawing/2014/main" id="{1AD47630-52AD-4FB9-BB6F-D27E25CC4E9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276E967F-5653-47B9-A82B-E0919632ADC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시간 복잡도 분석</a:t>
            </a:r>
          </a:p>
        </p:txBody>
      </p:sp>
      <p:sp>
        <p:nvSpPr>
          <p:cNvPr id="35" name="직사각형 34">
            <a:extLst>
              <a:ext uri="{FF2B5EF4-FFF2-40B4-BE49-F238E27FC236}">
                <a16:creationId xmlns:a16="http://schemas.microsoft.com/office/drawing/2014/main" id="{0F36152E-462F-4644-9A85-62796292E255}"/>
              </a:ext>
            </a:extLst>
          </p:cNvPr>
          <p:cNvSpPr>
            <a:spLocks noGrp="1"/>
          </p:cNvSpPr>
          <p:nvPr/>
        </p:nvSpPr>
        <p:spPr>
          <a:xfrm>
            <a:off x="609600" y="1381125"/>
            <a:ext cx="10972800" cy="19050"/>
          </a:xfrm>
          <a:prstGeom prst="rect">
            <a:avLst/>
          </a:prstGeom>
          <a:solidFill>
            <a:srgbClr val="171717"/>
          </a:solidFill>
          <a:ln w="0">
            <a:noFill/>
          </a:ln>
        </p:spPr>
      </p:sp>
      <p:sp>
        <p:nvSpPr>
          <p:cNvPr id="36" name="직사각형 35">
            <a:extLst>
              <a:ext uri="{FF2B5EF4-FFF2-40B4-BE49-F238E27FC236}">
                <a16:creationId xmlns:a16="http://schemas.microsoft.com/office/drawing/2014/main" id="{02A676A7-6DAA-4E3C-91D5-88DA43DDBC40}"/>
              </a:ext>
            </a:extLst>
          </p:cNvPr>
          <p:cNvSpPr>
            <a:spLocks noGrp="1"/>
          </p:cNvSpPr>
          <p:nvPr/>
        </p:nvSpPr>
        <p:spPr>
          <a:xfrm>
            <a:off x="609600" y="6438900"/>
            <a:ext cx="1097280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DB955BD-4D75-4F19-B2E3-1E3BD7FF960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751EE579-87C5-4137-9493-86E2C213F278}"/>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51</a:t>
            </a:r>
            <a:endParaRPr sz="1050" b="1" i="0">
              <a:solidFill>
                <a:srgbClr val="171717"/>
              </a:solidFill>
              <a:latin typeface="Consolas"/>
              <a:ea typeface="Consolas"/>
              <a:cs typeface="Consolas"/>
            </a:endParaRPr>
          </a:p>
        </p:txBody>
      </p:sp>
      <p:sp>
        <p:nvSpPr>
          <p:cNvPr id="39" name="직사각형 38">
            <a:extLst>
              <a:ext uri="{FF2B5EF4-FFF2-40B4-BE49-F238E27FC236}">
                <a16:creationId xmlns:a16="http://schemas.microsoft.com/office/drawing/2014/main" id="{43FD8BA3-A1A1-4593-A7D7-EA4ABC9112C8}"/>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 중간 인덱스를 계산한다. O(1)</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정복 — 절반 크기의 두 문제를 푼다. 2T(n/2)</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 — 중앙에서 양쪽으로 훑어 경계를 가로지르는 최대 합을 구한다.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2T(n/2)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따라서 T(n) = O(n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병합</a:t>
            </a:r>
            <a:r>
              <a:rPr sz="1650">
                <a:solidFill>
                  <a:srgbClr val="171717"/>
                </a:solidFill>
                <a:latin typeface="Malgun Gothic"/>
                <a:ea typeface="Malgun Gothic"/>
                <a:cs typeface="Malgun Gothic"/>
              </a:rPr>
              <a:t> 정렬과 같은 형태의 점화식이다.</a:t>
            </a:r>
          </a:p>
        </p:txBody>
      </p:sp>
      <p:pic>
        <p:nvPicPr>
          <p:cNvPr id="49" name="그림 48"/>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12242109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52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53</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54</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55</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56</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57</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61</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62</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65</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66</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67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68</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69</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081E8C2-2B11-4F6C-B045-EEC943663534}"/>
              </a:ext>
            </a:extLst>
          </p:cNvPr>
          <p:cNvSpPr>
            <a:spLocks noGrp="1"/>
          </p:cNvSpPr>
          <p:nvPr/>
        </p:nvSpPr>
        <p:spPr>
          <a:xfrm>
            <a:off x="658368" y="1737360"/>
            <a:ext cx="10872216" cy="365760"/>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지금까지 만난 분할 정복 알고리즘들의 점화식을 마스터 정리로 정리하면 다음과 같다.</a:t>
            </a:r>
            <a:endParaRPr sz="1300"/>
          </a:p>
        </p:txBody>
      </p:sp>
      <p:graphicFrame>
        <p:nvGraphicFramePr>
          <p:cNvPr id="25" name="Table 0"/>
          <p:cNvGraphicFramePr/>
          <p:nvPr/>
        </p:nvGraphicFramePr>
        <p:xfrm>
          <a:off x="658368" y="2286000"/>
          <a:ext cx="10872216" cy="3072384"/>
        </p:xfrm>
        <a:graphic>
          <a:graphicData uri="http://schemas.openxmlformats.org/drawingml/2006/table">
            <a:tbl>
              <a:tblPr/>
              <a:tblGrid>
                <a:gridCol w="214884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59436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2459736">
                  <a:extLst>
                    <a:ext uri="{9D8B030D-6E8A-4147-A177-3AD203B41FA5}">
                      <a16:colId xmlns:a16="http://schemas.microsoft.com/office/drawing/2014/main" val="20006"/>
                    </a:ext>
                  </a:extLst>
                </a:gridCol>
              </a:tblGrid>
              <a:tr h="438912">
                <a:tc>
                  <a:txBody>
                    <a:bodyPr/>
                    <a:lstStyle/>
                    <a:p>
                      <a:pPr marL="0" indent="0" algn="ctr">
                        <a:buNone/>
                      </a:pPr>
                      <a:r>
                        <a:rPr sz="1100" b="1">
                          <a:solidFill>
                            <a:srgbClr val="FFFFFF"/>
                          </a:solidFill>
                          <a:latin typeface="Malgun Gothic"/>
                          <a:ea typeface="Malgun Gothic"/>
                          <a:cs typeface="Malgun Gothic"/>
                        </a:rPr>
                        <a:t>알고리즘</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점화식</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a</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b</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f(n)</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경우</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00" b="1">
                          <a:solidFill>
                            <a:srgbClr val="FFFFFF"/>
                          </a:solidFill>
                          <a:latin typeface="Malgun Gothic"/>
                          <a:ea typeface="Malgun Gothic"/>
                          <a:cs typeface="Malgun Gothic"/>
                        </a:rPr>
                        <a:t>시간 복잡도</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438912">
                <a:tc>
                  <a:txBody>
                    <a:bodyPr/>
                    <a:lstStyle/>
                    <a:p>
                      <a:pPr marL="0" indent="0" algn="l">
                        <a:buNone/>
                      </a:pPr>
                      <a:r>
                        <a:rPr sz="1100" b="0">
                          <a:solidFill>
                            <a:srgbClr val="171717"/>
                          </a:solidFill>
                          <a:latin typeface="Malgun Gothic"/>
                          <a:ea typeface="Malgun Gothic"/>
                          <a:cs typeface="Malgun Gothic"/>
                        </a:rPr>
                        <a:t>이진 탐색</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T(n/2) + 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O(1)</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sz="1100" b="0">
                          <a:solidFill>
                            <a:srgbClr val="171717"/>
                          </a:solidFill>
                          <a:latin typeface="Malgun Gothic"/>
                          <a:ea typeface="Malgun Gothic"/>
                          <a:cs typeface="Malgun Gothic"/>
                        </a:rPr>
                        <a:t>합병 정렬</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438912">
                <a:tc>
                  <a:txBody>
                    <a:bodyPr/>
                    <a:lstStyle/>
                    <a:p>
                      <a:pPr marL="0" indent="0" algn="l">
                        <a:buNone/>
                      </a:pPr>
                      <a:r>
                        <a:rPr sz="1100" b="0">
                          <a:solidFill>
                            <a:srgbClr val="171717"/>
                          </a:solidFill>
                          <a:latin typeface="Malgun Gothic"/>
                          <a:ea typeface="Malgun Gothic"/>
                          <a:cs typeface="Malgun Gothic"/>
                        </a:rPr>
                        <a:t>최대 구간 합</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sz="1100" b="0">
                          <a:solidFill>
                            <a:srgbClr val="171717"/>
                          </a:solidFill>
                          <a:latin typeface="Malgun Gothic"/>
                          <a:ea typeface="Malgun Gothic"/>
                          <a:cs typeface="Malgun Gothic"/>
                        </a:rPr>
                        <a:t>최근접 쌍</a:t>
                      </a:r>
                      <a:endParaRPr sz="1100">
                        <a:latin typeface="Malgun Gothic"/>
                        <a:ea typeface="Malgun Gothic"/>
                        <a:cs typeface="Malgun Gothic"/>
                      </a:endParaRPr>
                    </a:p>
                    <a:p>
                      <a:pPr marL="0" indent="0" algn="l">
                        <a:buNone/>
                      </a:pPr>
                      <a:r>
                        <a:rPr sz="1100" b="0">
                          <a:solidFill>
                            <a:srgbClr val="171717"/>
                          </a:solidFill>
                          <a:latin typeface="Malgun Gothic"/>
                          <a:ea typeface="Malgun Gothic"/>
                          <a:cs typeface="Malgun Gothic"/>
                        </a:rPr>
                        <a:t>(y 정렬 유지)</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2T(n/2)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2</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 log 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438912">
                <a:tc>
                  <a:txBody>
                    <a:bodyPr/>
                    <a:lstStyle/>
                    <a:p>
                      <a:pPr marL="0" indent="0" algn="l">
                        <a:buNone/>
                      </a:pPr>
                      <a:r>
                        <a:rPr sz="1100" b="0">
                          <a:solidFill>
                            <a:srgbClr val="171717"/>
                          </a:solidFill>
                          <a:latin typeface="Malgun Gothic"/>
                          <a:ea typeface="Malgun Gothic"/>
                          <a:cs typeface="Malgun Gothic"/>
                        </a:rPr>
                        <a:t>카라츠바 (§4.7)</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l">
                        <a:buNone/>
                      </a:pPr>
                      <a:r>
                        <a:rPr sz="1100" b="0">
                          <a:solidFill>
                            <a:srgbClr val="171717"/>
                          </a:solidFill>
                          <a:latin typeface="Malgun Gothic"/>
                          <a:ea typeface="Malgun Gothic"/>
                          <a:cs typeface="Malgun Gothic"/>
                        </a:rPr>
                        <a:t>T(n) = 3T(n/2) + 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3</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00" b="0">
                          <a:solidFill>
                            <a:srgbClr val="171717"/>
                          </a:solidFill>
                          <a:latin typeface="Malgun Gothic"/>
                          <a:ea typeface="Malgun Gothic"/>
                          <a:cs typeface="Malgun Gothic"/>
                        </a:rPr>
                        <a:t>O(n^1.585)</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sz="1100" b="0">
                          <a:solidFill>
                            <a:srgbClr val="171717"/>
                          </a:solidFill>
                          <a:latin typeface="Malgun Gothic"/>
                          <a:ea typeface="Malgun Gothic"/>
                          <a:cs typeface="Malgun Gothic"/>
                        </a:rPr>
                        <a:t>스트라센 (§4.8)</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l">
                        <a:buNone/>
                      </a:pPr>
                      <a:r>
                        <a:rPr sz="1100" b="0">
                          <a:solidFill>
                            <a:srgbClr val="171717"/>
                          </a:solidFill>
                          <a:latin typeface="Malgun Gothic"/>
                          <a:ea typeface="Malgun Gothic"/>
                          <a:cs typeface="Malgun Gothic"/>
                        </a:rPr>
                        <a:t>T(n) = 7T(n/2) + 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2</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O(n²)</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Case 1</a:t>
                      </a:r>
                      <a:endParaRPr sz="110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00" b="0">
                          <a:solidFill>
                            <a:srgbClr val="171717"/>
                          </a:solidFill>
                          <a:latin typeface="Malgun Gothic"/>
                          <a:ea typeface="Malgun Gothic"/>
                          <a:cs typeface="Malgun Gothic"/>
                        </a:rPr>
                        <a:t>O(n^2.807)</a:t>
                      </a:r>
                      <a:endParaRPr sz="1100">
                        <a:latin typeface="Consolas"/>
                        <a:ea typeface="Consolas"/>
                        <a:cs typeface="Consolas"/>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1" name="Text 6">
            <a:extLst>
              <a:ext uri="{FF2B5EF4-FFF2-40B4-BE49-F238E27FC236}">
                <a16:creationId xmlns:a16="http://schemas.microsoft.com/office/drawing/2014/main" id="{E90CC6FF-41A0-4C0E-9A4F-AC08BFEA6767}"/>
              </a:ext>
            </a:extLst>
          </p:cNvPr>
          <p:cNvSpPr>
            <a:spLocks noGrp="1"/>
          </p:cNvSpPr>
          <p:nvPr/>
        </p:nvSpPr>
        <p:spPr>
          <a:xfrm>
            <a:off x="1517904" y="5669280"/>
            <a:ext cx="9756648" cy="32918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재귀 호출 횟수 a를 줄이는 것이 가장 강력한 최적화다 — 다음 두 절의 주제다.</a:t>
            </a:r>
            <a:endParaRPr sz="1250"/>
          </a:p>
        </p:txBody>
      </p:sp>
      <p:sp>
        <p:nvSpPr>
          <p:cNvPr id="15" name="직사각형 14">
            <a:extLst>
              <a:ext uri="{FF2B5EF4-FFF2-40B4-BE49-F238E27FC236}">
                <a16:creationId xmlns:a16="http://schemas.microsoft.com/office/drawing/2014/main" id="{0BB678FE-851C-482D-A427-FDA6EF0AC240}"/>
              </a:ext>
            </a:extLst>
          </p:cNvPr>
          <p:cNvSpPr>
            <a:spLocks noGrp="1"/>
          </p:cNvSpPr>
          <p:nvPr/>
        </p:nvSpPr>
        <p:spPr>
          <a:xfrm>
            <a:off x="658368" y="5504688"/>
            <a:ext cx="10872216" cy="9525"/>
          </a:xfrm>
          <a:prstGeom prst="rect">
            <a:avLst/>
          </a:prstGeom>
          <a:solidFill>
            <a:srgbClr val="D4D4D4"/>
          </a:solidFill>
          <a:ln w="0">
            <a:noFill/>
          </a:ln>
        </p:spPr>
      </p:sp>
      <p:sp>
        <p:nvSpPr>
          <p:cNvPr id="16" name="직사각형 15">
            <a:extLst>
              <a:ext uri="{FF2B5EF4-FFF2-40B4-BE49-F238E27FC236}">
                <a16:creationId xmlns:a16="http://schemas.microsoft.com/office/drawing/2014/main" id="{0A5E924D-BD23-4F02-9AE5-1923C594D5B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4263B057-D6BB-4351-BE1E-E3E9979E50B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E6E499A2-ACA6-44F4-AE14-6B96BD8A1A1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한눈에 보는 점화식 정리</a:t>
            </a:r>
          </a:p>
        </p:txBody>
      </p:sp>
      <p:sp>
        <p:nvSpPr>
          <p:cNvPr id="19" name="직사각형 18">
            <a:extLst>
              <a:ext uri="{FF2B5EF4-FFF2-40B4-BE49-F238E27FC236}">
                <a16:creationId xmlns:a16="http://schemas.microsoft.com/office/drawing/2014/main" id="{915DC30A-B664-41EF-91B0-AB7528CA9060}"/>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2974D0E8-97D4-47A1-B6AF-91CB8AD1CDF1}"/>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5059B5C8-A498-493F-8071-A0D7DD90DC5D}"/>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1486F770-A88D-44FA-BCAB-B0B80ADEC99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81415990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4DE3CEB-A345-4278-8B7C-AE7489542CF1}"/>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3B5FCFCA-2FBC-47F6-B590-9D3095546899}"/>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77F1CB0-463E-4924-9411-42F53ABF0E89}"/>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BF12BBDE-50C6-49D5-83D2-BAC0A6DBED76}"/>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카라츠바 알고리즘</a:t>
            </a:r>
          </a:p>
        </p:txBody>
      </p:sp>
      <p:sp>
        <p:nvSpPr>
          <p:cNvPr id="5" name="직사각형 4">
            <a:extLst>
              <a:ext uri="{FF2B5EF4-FFF2-40B4-BE49-F238E27FC236}">
                <a16:creationId xmlns:a16="http://schemas.microsoft.com/office/drawing/2014/main" id="{DB153735-D41E-4E42-A48C-4E2DA97FF4D0}"/>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Karatsuba Algorithm (1960)</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정수 곱셈의 재귀 호출을 4번에서 3번으로</a:t>
            </a:r>
          </a:p>
        </p:txBody>
      </p:sp>
      <p:sp>
        <p:nvSpPr>
          <p:cNvPr id="6" name="직사각형 5">
            <a:extLst>
              <a:ext uri="{FF2B5EF4-FFF2-40B4-BE49-F238E27FC236}">
                <a16:creationId xmlns:a16="http://schemas.microsoft.com/office/drawing/2014/main" id="{D8AF451A-CE5D-4458-975E-F9844C1AEB11}"/>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25F55E45-1083-407A-835F-5E959B6E501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D4205A3-3F64-4F21-99E6-79330F219FF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391824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직사각형 23">
            <a:extLst>
              <a:ext uri="{FF2B5EF4-FFF2-40B4-BE49-F238E27FC236}">
                <a16:creationId xmlns:a16="http://schemas.microsoft.com/office/drawing/2014/main" id="{1F12C157-FF91-4FAA-A063-B74B0D43469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25" name="직사각형 24">
            <a:extLst>
              <a:ext uri="{FF2B5EF4-FFF2-40B4-BE49-F238E27FC236}">
                <a16:creationId xmlns:a16="http://schemas.microsoft.com/office/drawing/2014/main" id="{8E183873-5AC6-4787-A7C6-CA6B72E163E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6" name="직사각형 25">
            <a:extLst>
              <a:ext uri="{FF2B5EF4-FFF2-40B4-BE49-F238E27FC236}">
                <a16:creationId xmlns:a16="http://schemas.microsoft.com/office/drawing/2014/main" id="{23A503D6-6D09-4E8A-9726-A140785C68E2}"/>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문제의 분할 (divide)</a:t>
            </a:r>
          </a:p>
        </p:txBody>
      </p:sp>
      <p:sp>
        <p:nvSpPr>
          <p:cNvPr id="27" name="직사각형 26">
            <a:extLst>
              <a:ext uri="{FF2B5EF4-FFF2-40B4-BE49-F238E27FC236}">
                <a16:creationId xmlns:a16="http://schemas.microsoft.com/office/drawing/2014/main" id="{B108E93A-3390-46D2-9E1A-F903D638A850}"/>
              </a:ext>
            </a:extLst>
          </p:cNvPr>
          <p:cNvSpPr>
            <a:spLocks noGrp="1"/>
          </p:cNvSpPr>
          <p:nvPr/>
        </p:nvSpPr>
        <p:spPr>
          <a:xfrm>
            <a:off x="609600" y="1381125"/>
            <a:ext cx="10972800" cy="19050"/>
          </a:xfrm>
          <a:prstGeom prst="rect">
            <a:avLst/>
          </a:prstGeom>
          <a:solidFill>
            <a:srgbClr val="171717"/>
          </a:solidFill>
          <a:ln w="0">
            <a:noFill/>
          </a:ln>
        </p:spPr>
      </p:sp>
      <p:sp>
        <p:nvSpPr>
          <p:cNvPr id="28" name="직사각형 27">
            <a:extLst>
              <a:ext uri="{FF2B5EF4-FFF2-40B4-BE49-F238E27FC236}">
                <a16:creationId xmlns:a16="http://schemas.microsoft.com/office/drawing/2014/main" id="{530B5F4D-BD6B-44AE-BD1A-E7AD442A6E5E}"/>
              </a:ext>
            </a:extLst>
          </p:cNvPr>
          <p:cNvSpPr>
            <a:spLocks noGrp="1"/>
          </p:cNvSpPr>
          <p:nvPr/>
        </p:nvSpPr>
        <p:spPr>
          <a:xfrm>
            <a:off x="609600" y="6438900"/>
            <a:ext cx="10972800"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BB43423D-E24E-431D-B164-82D74F8E0DF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0" name="직사각형 29">
            <a:extLst>
              <a:ext uri="{FF2B5EF4-FFF2-40B4-BE49-F238E27FC236}">
                <a16:creationId xmlns:a16="http://schemas.microsoft.com/office/drawing/2014/main" id="{B6CD3DBE-C597-4C4A-9FD8-FF456D9BB53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74</a:t>
            </a:r>
            <a:endParaRPr sz="1050" b="1" i="0">
              <a:solidFill>
                <a:srgbClr val="171717"/>
              </a:solidFill>
              <a:latin typeface="Consolas"/>
              <a:ea typeface="Consolas"/>
              <a:cs typeface="Consolas"/>
            </a:endParaRPr>
          </a:p>
        </p:txBody>
      </p:sp>
      <p:sp>
        <p:nvSpPr>
          <p:cNvPr id="31" name="직사각형 30">
            <a:extLst>
              <a:ext uri="{FF2B5EF4-FFF2-40B4-BE49-F238E27FC236}">
                <a16:creationId xmlns:a16="http://schemas.microsoft.com/office/drawing/2014/main" id="{42231B48-D880-4743-BAD4-761859FEE5CA}"/>
              </a:ext>
            </a:extLst>
          </p:cNvPr>
          <p:cNvSpPr>
            <a:spLocks noGrp="1"/>
          </p:cNvSpPr>
          <p:nvPr/>
        </p:nvSpPr>
        <p:spPr>
          <a:xfrm>
            <a:off x="609601" y="1685925"/>
            <a:ext cx="5695950"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m은</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자릿수입니다</a:t>
            </a:r>
            <a:r>
              <a:rPr sz="1650" dirty="0">
                <a:solidFill>
                  <a:srgbClr val="171717"/>
                </a:solidFill>
                <a:latin typeface="Malgun Gothic"/>
                <a:ea typeface="Malgun Gothic"/>
                <a:cs typeface="Malgun Gothic"/>
              </a:rPr>
              <a:t>. 큰 </a:t>
            </a:r>
            <a:r>
              <a:rPr sz="1650" dirty="0" err="1">
                <a:solidFill>
                  <a:srgbClr val="171717"/>
                </a:solidFill>
                <a:latin typeface="Malgun Gothic"/>
                <a:ea typeface="Malgun Gothic"/>
                <a:cs typeface="Malgun Gothic"/>
              </a:rPr>
              <a:t>수를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앞부분과</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뒷부분으로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나눕니다</a:t>
            </a:r>
            <a:r>
              <a:rPr sz="1650" dirty="0">
                <a:solidFill>
                  <a:srgbClr val="171717"/>
                </a:solidFill>
                <a:latin typeface="Malgun Gothic"/>
                <a:ea typeface="Malgun Gothic"/>
                <a:cs typeface="Malgun Gothic"/>
              </a:rPr>
              <a:t>.</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 = x₁ · 10^m + x₀</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Y = y₁ · 10^m + y₀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예: 1234 = 12 · 10² + 34</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X·Y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₁ · 10^(2m)</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       + (</a:t>
            </a:r>
            <a:r>
              <a:rPr sz="1650" dirty="0" err="1">
                <a:solidFill>
                  <a:srgbClr val="171717"/>
                </a:solidFill>
                <a:latin typeface="Malgun Gothic"/>
                <a:ea typeface="Malgun Gothic"/>
                <a:cs typeface="Malgun Gothic"/>
              </a:rPr>
              <a:t>x₁y</a:t>
            </a:r>
            <a:r>
              <a:rPr sz="1650" dirty="0">
                <a:solidFill>
                  <a:srgbClr val="171717"/>
                </a:solidFill>
                <a:latin typeface="Malgun Gothic"/>
                <a:ea typeface="Malgun Gothic"/>
                <a:cs typeface="Malgun Gothic"/>
              </a:rPr>
              <a:t>₀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₁) · 10^m + </a:t>
            </a:r>
            <a:r>
              <a:rPr sz="1650" dirty="0" err="1">
                <a:solidFill>
                  <a:srgbClr val="171717"/>
                </a:solidFill>
                <a:latin typeface="Malgun Gothic"/>
                <a:ea typeface="Malgun Gothic"/>
                <a:cs typeface="Malgun Gothic"/>
              </a:rPr>
              <a:t>x₀y</a:t>
            </a:r>
            <a:r>
              <a:rPr sz="1650" dirty="0">
                <a:solidFill>
                  <a:srgbClr val="171717"/>
                </a:solidFill>
                <a:latin typeface="Malgun Gothic"/>
                <a:ea typeface="Malgun Gothic"/>
                <a:cs typeface="Malgun Gothic"/>
              </a:rPr>
              <a:t>₀</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절반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크기의</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곱셈이</a:t>
            </a:r>
            <a:r>
              <a:rPr sz="1650" dirty="0">
                <a:solidFill>
                  <a:srgbClr val="171717"/>
                </a:solidFill>
                <a:latin typeface="Malgun Gothic"/>
                <a:ea typeface="Malgun Gothic"/>
                <a:cs typeface="Malgun Gothic"/>
              </a:rPr>
              <a:t> 네 번 </a:t>
            </a:r>
            <a:r>
              <a:rPr sz="1650" dirty="0" err="1">
                <a:solidFill>
                  <a:srgbClr val="171717"/>
                </a:solidFill>
                <a:latin typeface="Malgun Gothic"/>
                <a:ea typeface="Malgun Gothic"/>
                <a:cs typeface="Malgun Gothic"/>
              </a:rPr>
              <a:t>필요합니다</a:t>
            </a:r>
            <a:r>
              <a:rPr sz="1650" dirty="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sz="1650" dirty="0">
                <a:solidFill>
                  <a:srgbClr val="171717"/>
                </a:solidFill>
                <a:latin typeface="Malgun Gothic"/>
                <a:ea typeface="Malgun Gothic"/>
                <a:cs typeface="Malgun Gothic"/>
              </a:rPr>
              <a:t>T(n) = 4T(n/2) + O(n) = O(n²)</a:t>
            </a:r>
          </a:p>
          <a:p>
            <a:endParaRPr sz="1650" dirty="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dirty="0" err="1">
                <a:solidFill>
                  <a:srgbClr val="171717"/>
                </a:solidFill>
                <a:latin typeface="Malgun Gothic"/>
                <a:ea typeface="Malgun Gothic"/>
                <a:cs typeface="Malgun Gothic"/>
              </a:rPr>
              <a:t>다음에는</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곱셈</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횟수를</a:t>
            </a:r>
            <a:r>
              <a:rPr sz="1650" dirty="0">
                <a:solidFill>
                  <a:srgbClr val="171717"/>
                </a:solidFill>
                <a:latin typeface="Malgun Gothic"/>
                <a:ea typeface="Malgun Gothic"/>
                <a:cs typeface="Malgun Gothic"/>
              </a:rPr>
              <a:t> 세 </a:t>
            </a:r>
            <a:r>
              <a:rPr sz="1650" dirty="0" err="1">
                <a:solidFill>
                  <a:srgbClr val="171717"/>
                </a:solidFill>
                <a:latin typeface="Malgun Gothic"/>
                <a:ea typeface="Malgun Gothic"/>
                <a:cs typeface="Malgun Gothic"/>
              </a:rPr>
              <a:t>번으로</a:t>
            </a:r>
            <a:r>
              <a:rPr sz="1650" dirty="0">
                <a:solidFill>
                  <a:srgbClr val="171717"/>
                </a:solidFill>
                <a:latin typeface="Malgun Gothic"/>
                <a:ea typeface="Malgun Gothic"/>
                <a:cs typeface="Malgun Gothic"/>
              </a:rPr>
              <a:t> </a:t>
            </a:r>
            <a:r>
              <a:rPr sz="1650" dirty="0" err="1">
                <a:solidFill>
                  <a:srgbClr val="171717"/>
                </a:solidFill>
                <a:latin typeface="Malgun Gothic"/>
                <a:ea typeface="Malgun Gothic"/>
                <a:cs typeface="Malgun Gothic"/>
              </a:rPr>
              <a:t>줄입니다</a:t>
            </a:r>
            <a:r>
              <a:rPr sz="1650" dirty="0">
                <a:solidFill>
                  <a:srgbClr val="171717"/>
                </a:solidFill>
                <a:latin typeface="Malgun Gothic"/>
                <a:ea typeface="Malgun Gothic"/>
                <a:cs typeface="Malgun Gothic"/>
              </a:rPr>
              <a:t>.</a:t>
            </a:r>
          </a:p>
        </p:txBody>
      </p:sp>
      <p:pic>
        <p:nvPicPr>
          <p:cNvPr id="41" name="그림 40"/>
          <p:cNvPicPr>
            <a:picLocks noChangeAspect="1"/>
          </p:cNvPicPr>
          <p:nvPr/>
        </p:nvPicPr>
        <p:blipFill>
          <a:blip r:embed="rId3"/>
          <a:stretch/>
        </p:blipFill>
        <p:spPr>
          <a:xfrm>
            <a:off x="7400925" y="2095500"/>
            <a:ext cx="4000500" cy="3333750"/>
          </a:xfrm>
          <a:prstGeom prst="rect">
            <a:avLst/>
          </a:prstGeom>
        </p:spPr>
      </p:pic>
    </p:spTree>
    <p:extLst>
      <p:ext uri="{BB962C8B-B14F-4D97-AF65-F5344CB8AC3E}">
        <p14:creationId xmlns:p14="http://schemas.microsoft.com/office/powerpoint/2010/main" val="1043127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E345729-01D7-4B1A-84B3-1A63540C593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50861AE8-A573-4CA4-B35D-D3903DD85D3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C6B059D1-2617-4623-B4EC-0AB6936C8D5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카라츠바의 마법 — 대수적 트릭 (conquer)</a:t>
            </a:r>
          </a:p>
        </p:txBody>
      </p:sp>
      <p:sp>
        <p:nvSpPr>
          <p:cNvPr id="40" name="직사각형 39">
            <a:extLst>
              <a:ext uri="{FF2B5EF4-FFF2-40B4-BE49-F238E27FC236}">
                <a16:creationId xmlns:a16="http://schemas.microsoft.com/office/drawing/2014/main" id="{EF731251-0616-4F0E-BF68-E15F9807FA42}"/>
              </a:ext>
            </a:extLst>
          </p:cNvPr>
          <p:cNvSpPr>
            <a:spLocks noGrp="1"/>
          </p:cNvSpPr>
          <p:nvPr/>
        </p:nvSpPr>
        <p:spPr>
          <a:xfrm>
            <a:off x="609600" y="1381125"/>
            <a:ext cx="10972800" cy="19050"/>
          </a:xfrm>
          <a:prstGeom prst="rect">
            <a:avLst/>
          </a:prstGeom>
          <a:solidFill>
            <a:srgbClr val="171717"/>
          </a:solidFill>
          <a:ln w="0">
            <a:noFill/>
          </a:ln>
        </p:spPr>
      </p:sp>
      <p:sp>
        <p:nvSpPr>
          <p:cNvPr id="41" name="직사각형 40">
            <a:extLst>
              <a:ext uri="{FF2B5EF4-FFF2-40B4-BE49-F238E27FC236}">
                <a16:creationId xmlns:a16="http://schemas.microsoft.com/office/drawing/2014/main" id="{9E208B67-396F-4B1A-B46E-D9EF68A8A7A7}"/>
              </a:ext>
            </a:extLst>
          </p:cNvPr>
          <p:cNvSpPr>
            <a:spLocks noGrp="1"/>
          </p:cNvSpPr>
          <p:nvPr/>
        </p:nvSpPr>
        <p:spPr>
          <a:xfrm>
            <a:off x="609600" y="6438900"/>
            <a:ext cx="10972800" cy="9525"/>
          </a:xfrm>
          <a:prstGeom prst="rect">
            <a:avLst/>
          </a:prstGeom>
          <a:solidFill>
            <a:srgbClr val="D4D4D4"/>
          </a:solidFill>
          <a:ln w="0">
            <a:noFill/>
          </a:ln>
        </p:spPr>
      </p:sp>
      <p:sp>
        <p:nvSpPr>
          <p:cNvPr id="42" name="직사각형 41">
            <a:extLst>
              <a:ext uri="{FF2B5EF4-FFF2-40B4-BE49-F238E27FC236}">
                <a16:creationId xmlns:a16="http://schemas.microsoft.com/office/drawing/2014/main" id="{00D4284E-B4C7-4D8B-B90D-0A78322CAAD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755798B5-8719-4DA1-9E73-6DDEB931A1E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75</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D7BAA56F-51E6-4FDF-9ADB-EF5043A81724}"/>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절반 크기의 곱셈을 세 번만 수행한다.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M₁ = x₁y₁</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M₂ = x₀y₀</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M₃ = (x₁ + x₀)(y₁ + y₀)</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교차항은 덧셈과 뺄셈으로 복원한다.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C = x₁y₀ + x₀y₁ = M₃ − M₁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결합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X·Y = M₁·10^(2m) + C·10^m + M₂</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네 번의 곱셈을 세 번으로 줄이는 것이 카라츠바의 핵심이다.</a:t>
            </a:r>
          </a:p>
        </p:txBody>
      </p:sp>
      <p:pic>
        <p:nvPicPr>
          <p:cNvPr id="54" name="그림 53"/>
          <p:cNvPicPr>
            <a:picLocks noChangeAspect="1"/>
          </p:cNvPicPr>
          <p:nvPr/>
        </p:nvPicPr>
        <p:blipFill>
          <a:blip r:embed="rId3"/>
          <a:stretch/>
        </p:blipFill>
        <p:spPr>
          <a:xfrm>
            <a:off x="7315200" y="2152610"/>
            <a:ext cx="4171950" cy="3219530"/>
          </a:xfrm>
          <a:prstGeom prst="rect">
            <a:avLst/>
          </a:prstGeom>
        </p:spPr>
      </p:pic>
    </p:spTree>
    <p:extLst>
      <p:ext uri="{BB962C8B-B14F-4D97-AF65-F5344CB8AC3E}">
        <p14:creationId xmlns:p14="http://schemas.microsoft.com/office/powerpoint/2010/main" val="957032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7C202A0-3621-4316-91E3-228C612A29A4}"/>
              </a:ext>
            </a:extLst>
          </p:cNvPr>
          <p:cNvSpPr>
            <a:spLocks noGrp="1"/>
          </p:cNvSpPr>
          <p:nvPr/>
        </p:nvSpPr>
        <p:spPr>
          <a:xfrm>
            <a:off x="859536" y="1801368"/>
            <a:ext cx="676656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karatsuba.pseudo</a:t>
            </a:r>
            <a:endParaRPr sz="900"/>
          </a:p>
        </p:txBody>
      </p:sp>
      <p:sp>
        <p:nvSpPr>
          <p:cNvPr id="17" name="Text 13">
            <a:extLst>
              <a:ext uri="{FF2B5EF4-FFF2-40B4-BE49-F238E27FC236}">
                <a16:creationId xmlns:a16="http://schemas.microsoft.com/office/drawing/2014/main" id="{175E33B7-5A54-40F2-BAE3-9B7CDE6C4CA5}"/>
              </a:ext>
            </a:extLst>
          </p:cNvPr>
          <p:cNvSpPr>
            <a:spLocks noGrp="1"/>
          </p:cNvSpPr>
          <p:nvPr/>
        </p:nvSpPr>
        <p:spPr>
          <a:xfrm>
            <a:off x="8814816" y="1965960"/>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호출이 3번뿐</a:t>
            </a:r>
            <a:endParaRPr sz="1250"/>
          </a:p>
        </p:txBody>
      </p:sp>
      <p:sp>
        <p:nvSpPr>
          <p:cNvPr id="18" name="Text 14">
            <a:extLst>
              <a:ext uri="{FF2B5EF4-FFF2-40B4-BE49-F238E27FC236}">
                <a16:creationId xmlns:a16="http://schemas.microsoft.com/office/drawing/2014/main" id="{D00357F3-4639-41AB-B35D-B5F74746500C}"/>
              </a:ext>
            </a:extLst>
          </p:cNvPr>
          <p:cNvSpPr>
            <a:spLocks noGrp="1"/>
          </p:cNvSpPr>
          <p:nvPr/>
        </p:nvSpPr>
        <p:spPr>
          <a:xfrm>
            <a:off x="8814816" y="2313432"/>
            <a:ext cx="2459736" cy="96012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4번이 아니라 3번. 덧셈과 뺄셈이 몇 번 늘어나지만, 이들은 O(n)에 불과하다.</a:t>
            </a:r>
            <a:endParaRPr sz="1100"/>
          </a:p>
        </p:txBody>
      </p:sp>
      <p:sp>
        <p:nvSpPr>
          <p:cNvPr id="22" name="Text 17">
            <a:extLst>
              <a:ext uri="{FF2B5EF4-FFF2-40B4-BE49-F238E27FC236}">
                <a16:creationId xmlns:a16="http://schemas.microsoft.com/office/drawing/2014/main" id="{AEE7F7F4-BEF4-4695-B397-9673D18E1CAB}"/>
              </a:ext>
            </a:extLst>
          </p:cNvPr>
          <p:cNvSpPr>
            <a:spLocks noGrp="1"/>
          </p:cNvSpPr>
          <p:nvPr/>
        </p:nvSpPr>
        <p:spPr>
          <a:xfrm>
            <a:off x="8814816" y="3803904"/>
            <a:ext cx="245973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실무에서의 임계값</a:t>
            </a:r>
            <a:endParaRPr sz="1250"/>
          </a:p>
        </p:txBody>
      </p:sp>
      <p:sp>
        <p:nvSpPr>
          <p:cNvPr id="23" name="Text 18">
            <a:extLst>
              <a:ext uri="{FF2B5EF4-FFF2-40B4-BE49-F238E27FC236}">
                <a16:creationId xmlns:a16="http://schemas.microsoft.com/office/drawing/2014/main" id="{F0B5C79C-F2B4-48B6-AAA5-6805A8BBAC75}"/>
              </a:ext>
            </a:extLst>
          </p:cNvPr>
          <p:cNvSpPr>
            <a:spLocks noGrp="1"/>
          </p:cNvSpPr>
          <p:nvPr/>
        </p:nvSpPr>
        <p:spPr>
          <a:xfrm>
            <a:off x="8814816" y="4151376"/>
            <a:ext cx="2459736" cy="82296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작은 수에서는 재귀 비용이 더 클 수 있습니다. 기본 곱셈으로 전환할 크기는 구현과 환경에 따라 정합니다.</a:t>
            </a:r>
            <a:endParaRPr sz="1100"/>
          </a:p>
        </p:txBody>
      </p:sp>
      <p:sp>
        <p:nvSpPr>
          <p:cNvPr id="25" name="Text 20">
            <a:extLst>
              <a:ext uri="{FF2B5EF4-FFF2-40B4-BE49-F238E27FC236}">
                <a16:creationId xmlns:a16="http://schemas.microsoft.com/office/drawing/2014/main" id="{42A3B668-0EEA-4063-B015-8293EAEEDCA3}"/>
              </a:ext>
            </a:extLst>
          </p:cNvPr>
          <p:cNvSpPr>
            <a:spLocks noGrp="1"/>
          </p:cNvSpPr>
          <p:nvPr/>
        </p:nvSpPr>
        <p:spPr>
          <a:xfrm>
            <a:off x="8092440" y="5321808"/>
            <a:ext cx="3300984" cy="84124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T(n) = 3T(n/2) + O(n)</a:t>
            </a:r>
            <a:endParaRPr sz="1500"/>
          </a:p>
        </p:txBody>
      </p:sp>
      <p:sp>
        <p:nvSpPr>
          <p:cNvPr id="27" name="직사각형 26">
            <a:extLst>
              <a:ext uri="{FF2B5EF4-FFF2-40B4-BE49-F238E27FC236}">
                <a16:creationId xmlns:a16="http://schemas.microsoft.com/office/drawing/2014/main" id="{AF232752-A5AF-4C10-80B9-751D58A642F4}"/>
              </a:ext>
            </a:extLst>
          </p:cNvPr>
          <p:cNvSpPr>
            <a:spLocks noGrp="1"/>
          </p:cNvSpPr>
          <p:nvPr/>
        </p:nvSpPr>
        <p:spPr>
          <a:xfrm>
            <a:off x="7955280" y="1783080"/>
            <a:ext cx="3575304" cy="9525"/>
          </a:xfrm>
          <a:prstGeom prst="rect">
            <a:avLst/>
          </a:prstGeom>
          <a:solidFill>
            <a:srgbClr val="D4D4D4"/>
          </a:solidFill>
          <a:ln w="0">
            <a:noFill/>
          </a:ln>
        </p:spPr>
      </p:sp>
      <p:sp>
        <p:nvSpPr>
          <p:cNvPr id="28" name="직사각형 27">
            <a:extLst>
              <a:ext uri="{FF2B5EF4-FFF2-40B4-BE49-F238E27FC236}">
                <a16:creationId xmlns:a16="http://schemas.microsoft.com/office/drawing/2014/main" id="{480FD16A-F05A-4E91-8DE5-EB91970854F3}"/>
              </a:ext>
            </a:extLst>
          </p:cNvPr>
          <p:cNvSpPr>
            <a:spLocks noGrp="1"/>
          </p:cNvSpPr>
          <p:nvPr/>
        </p:nvSpPr>
        <p:spPr>
          <a:xfrm>
            <a:off x="7955280" y="3621024"/>
            <a:ext cx="3575304"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FC15BB37-434A-4A17-9DD4-938D5E0E48D8}"/>
              </a:ext>
            </a:extLst>
          </p:cNvPr>
          <p:cNvSpPr>
            <a:spLocks noGrp="1"/>
          </p:cNvSpPr>
          <p:nvPr/>
        </p:nvSpPr>
        <p:spPr>
          <a:xfrm>
            <a:off x="698373" y="2090928"/>
            <a:ext cx="7107174" cy="3774948"/>
          </a:xfrm>
          <a:prstGeom prst="rect">
            <a:avLst/>
          </a:prstGeom>
          <a:solidFill>
            <a:srgbClr val="171717"/>
          </a:solidFill>
          <a:ln w="0">
            <a:noFill/>
          </a:ln>
        </p:spPr>
        <p:txBody>
          <a:bodyPr wrap="none" lIns="142875" tIns="76200" rIns="142875" bIns="76200" anchor="t">
            <a:noAutofit/>
          </a:bodyPr>
          <a:lstStyle/>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KaratsubaMultiply(X,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n &lt;- max(length of X, length of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n &lt; 2 then</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X * Y</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m &lt;- floor(n / 2)</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x_high, x_low &lt;- Split(X,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y_high, y_low &lt;- Split(Y, m)</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z2 &lt;- KaratsubaMultiply(x_high, y_high)</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z0 &lt;- KaratsubaMultiply(x_low,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z1_raw &lt;- KaratsubaMultiply(x_high + x_low, y_high + y_low)</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z1 &lt;- z1_raw - z2 - z0</a:t>
            </a:r>
          </a:p>
          <a:p>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z2 * 10^(2m) + z1 * 10^m + z0</a:t>
            </a:r>
          </a:p>
        </p:txBody>
      </p:sp>
      <p:sp>
        <p:nvSpPr>
          <p:cNvPr id="30" name="직사각형 29">
            <a:extLst>
              <a:ext uri="{FF2B5EF4-FFF2-40B4-BE49-F238E27FC236}">
                <a16:creationId xmlns:a16="http://schemas.microsoft.com/office/drawing/2014/main" id="{F415AAB9-9719-4D72-BB25-B35DFD872F66}"/>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FACA6C0E-972E-44E1-92CC-A3D60B878FB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A7EDA901-5F6E-487F-9AAB-69FDBC1E16C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카라츠바 알고리즘 (의사코드)</a:t>
            </a:r>
          </a:p>
        </p:txBody>
      </p:sp>
      <p:sp>
        <p:nvSpPr>
          <p:cNvPr id="33" name="직사각형 32">
            <a:extLst>
              <a:ext uri="{FF2B5EF4-FFF2-40B4-BE49-F238E27FC236}">
                <a16:creationId xmlns:a16="http://schemas.microsoft.com/office/drawing/2014/main" id="{B01A9CC8-8E0A-4932-A47F-536AF82FA9FC}"/>
              </a:ext>
            </a:extLst>
          </p:cNvPr>
          <p:cNvSpPr>
            <a:spLocks noGrp="1"/>
          </p:cNvSpPr>
          <p:nvPr/>
        </p:nvSpPr>
        <p:spPr>
          <a:xfrm>
            <a:off x="609600" y="1381125"/>
            <a:ext cx="10972800" cy="19050"/>
          </a:xfrm>
          <a:prstGeom prst="rect">
            <a:avLst/>
          </a:prstGeom>
          <a:solidFill>
            <a:srgbClr val="171717"/>
          </a:solidFill>
          <a:ln w="0">
            <a:noFill/>
          </a:ln>
        </p:spPr>
      </p:sp>
      <p:sp>
        <p:nvSpPr>
          <p:cNvPr id="34" name="직사각형 33">
            <a:extLst>
              <a:ext uri="{FF2B5EF4-FFF2-40B4-BE49-F238E27FC236}">
                <a16:creationId xmlns:a16="http://schemas.microsoft.com/office/drawing/2014/main" id="{2684E238-F5A0-49EE-9446-3C81CCF6EBDB}"/>
              </a:ext>
            </a:extLst>
          </p:cNvPr>
          <p:cNvSpPr>
            <a:spLocks noGrp="1"/>
          </p:cNvSpPr>
          <p:nvPr/>
        </p:nvSpPr>
        <p:spPr>
          <a:xfrm>
            <a:off x="609600" y="6438900"/>
            <a:ext cx="10972800"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4AA350FA-EFBF-4BF4-8713-BE64C06DAA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29A03787-4D37-4D31-A130-783ED283E69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4575403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EF807136-631E-4F92-BC8B-5859F0033FA6}"/>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karatsuba.py</a:t>
            </a:r>
            <a:endParaRPr sz="900"/>
          </a:p>
        </p:txBody>
      </p:sp>
      <p:sp>
        <p:nvSpPr>
          <p:cNvPr id="20" name="Text 17">
            <a:extLst>
              <a:ext uri="{FF2B5EF4-FFF2-40B4-BE49-F238E27FC236}">
                <a16:creationId xmlns:a16="http://schemas.microsoft.com/office/drawing/2014/main" id="{B7AA217C-F4AA-48FE-9385-5C6CFDBFEA7E}"/>
              </a:ext>
            </a:extLst>
          </p:cNvPr>
          <p:cNvSpPr>
            <a:spLocks noGrp="1"/>
          </p:cNvSpPr>
          <p:nvPr/>
        </p:nvSpPr>
        <p:spPr>
          <a:xfrm>
            <a:off x="859536" y="5230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5" name="Text 21">
            <a:extLst>
              <a:ext uri="{FF2B5EF4-FFF2-40B4-BE49-F238E27FC236}">
                <a16:creationId xmlns:a16="http://schemas.microsoft.com/office/drawing/2014/main" id="{7C352D26-8753-4C1E-93F2-251792D8C9BF}"/>
              </a:ext>
            </a:extLst>
          </p:cNvPr>
          <p:cNvSpPr>
            <a:spLocks noGrp="1"/>
          </p:cNvSpPr>
          <p:nvPr/>
        </p:nvSpPr>
        <p:spPr>
          <a:xfrm>
            <a:off x="8631936" y="1965960"/>
            <a:ext cx="2642616"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10 ** m 으로 자르기</a:t>
            </a:r>
            <a:endParaRPr sz="1250"/>
          </a:p>
        </p:txBody>
      </p:sp>
      <p:sp>
        <p:nvSpPr>
          <p:cNvPr id="26" name="Text 22">
            <a:extLst>
              <a:ext uri="{FF2B5EF4-FFF2-40B4-BE49-F238E27FC236}">
                <a16:creationId xmlns:a16="http://schemas.microsoft.com/office/drawing/2014/main" id="{026674BA-735D-4BCB-85B5-A9148CBCEFB0}"/>
              </a:ext>
            </a:extLst>
          </p:cNvPr>
          <p:cNvSpPr>
            <a:spLocks noGrp="1"/>
          </p:cNvSpPr>
          <p:nvPr/>
        </p:nvSpPr>
        <p:spPr>
          <a:xfrm>
            <a:off x="8631936" y="2313432"/>
            <a:ext cx="2642616" cy="640080"/>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몫(//)이 앞부분, 나머지(%)가 뒷부분이 된다.</a:t>
            </a:r>
            <a:endParaRPr sz="1100"/>
          </a:p>
        </p:txBody>
      </p:sp>
      <p:sp>
        <p:nvSpPr>
          <p:cNvPr id="28" name="Text 24">
            <a:extLst>
              <a:ext uri="{FF2B5EF4-FFF2-40B4-BE49-F238E27FC236}">
                <a16:creationId xmlns:a16="http://schemas.microsoft.com/office/drawing/2014/main" id="{ABF9B7B1-7789-45A5-9686-98859429FE2F}"/>
              </a:ext>
            </a:extLst>
          </p:cNvPr>
          <p:cNvSpPr>
            <a:spLocks noGrp="1"/>
          </p:cNvSpPr>
          <p:nvPr/>
        </p:nvSpPr>
        <p:spPr>
          <a:xfrm>
            <a:off x="7973568" y="3419856"/>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9" name="Text 25">
            <a:extLst>
              <a:ext uri="{FF2B5EF4-FFF2-40B4-BE49-F238E27FC236}">
                <a16:creationId xmlns:a16="http://schemas.microsoft.com/office/drawing/2014/main" id="{5246F52E-87E1-411E-9C8D-2B277DE85A76}"/>
              </a:ext>
            </a:extLst>
          </p:cNvPr>
          <p:cNvSpPr>
            <a:spLocks noGrp="1"/>
          </p:cNvSpPr>
          <p:nvPr/>
        </p:nvSpPr>
        <p:spPr>
          <a:xfrm>
            <a:off x="7973568" y="3749040"/>
            <a:ext cx="3383280" cy="82296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1219326311370217952</a:t>
            </a:r>
            <a:endParaRPr sz="1000"/>
          </a:p>
          <a:p>
            <a:pPr marL="0" indent="0" algn="l">
              <a:lnSpc>
                <a:spcPct val="130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237463801111263526900</a:t>
            </a:r>
            <a:endParaRPr sz="1000"/>
          </a:p>
        </p:txBody>
      </p:sp>
      <p:sp>
        <p:nvSpPr>
          <p:cNvPr id="30" name="Text 26">
            <a:extLst>
              <a:ext uri="{FF2B5EF4-FFF2-40B4-BE49-F238E27FC236}">
                <a16:creationId xmlns:a16="http://schemas.microsoft.com/office/drawing/2014/main" id="{7A2A84CF-F716-46E7-9B87-BEA0126D8726}"/>
              </a:ext>
            </a:extLst>
          </p:cNvPr>
          <p:cNvSpPr>
            <a:spLocks noGrp="1"/>
          </p:cNvSpPr>
          <p:nvPr/>
        </p:nvSpPr>
        <p:spPr>
          <a:xfrm>
            <a:off x="7973568" y="4535424"/>
            <a:ext cx="3383280" cy="310896"/>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일반 곱셈 결과와 정확히 일치</a:t>
            </a:r>
            <a:endParaRPr sz="1000"/>
          </a:p>
        </p:txBody>
      </p:sp>
      <p:sp>
        <p:nvSpPr>
          <p:cNvPr id="34" name="Text 29">
            <a:extLst>
              <a:ext uri="{FF2B5EF4-FFF2-40B4-BE49-F238E27FC236}">
                <a16:creationId xmlns:a16="http://schemas.microsoft.com/office/drawing/2014/main" id="{19836D29-DACE-4FE0-B36A-BE74D2B37ABE}"/>
              </a:ext>
            </a:extLst>
          </p:cNvPr>
          <p:cNvSpPr>
            <a:spLocks noGrp="1"/>
          </p:cNvSpPr>
          <p:nvPr/>
        </p:nvSpPr>
        <p:spPr>
          <a:xfrm>
            <a:off x="8631936" y="5285232"/>
            <a:ext cx="26426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큰 정수 연산에 활용</a:t>
            </a:r>
            <a:endParaRPr sz="1200"/>
          </a:p>
        </p:txBody>
      </p:sp>
      <p:sp>
        <p:nvSpPr>
          <p:cNvPr id="35" name="Text 30">
            <a:extLst>
              <a:ext uri="{FF2B5EF4-FFF2-40B4-BE49-F238E27FC236}">
                <a16:creationId xmlns:a16="http://schemas.microsoft.com/office/drawing/2014/main" id="{0B3D3320-A706-405C-8302-FE4A85142311}"/>
              </a:ext>
            </a:extLst>
          </p:cNvPr>
          <p:cNvSpPr>
            <a:spLocks noGrp="1"/>
          </p:cNvSpPr>
          <p:nvPr/>
        </p:nvSpPr>
        <p:spPr>
          <a:xfrm>
            <a:off x="8631936" y="5632704"/>
            <a:ext cx="2642616" cy="329184"/>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큰 정수 곱셈의 계산량을 줄이는 기본 기법입니다.</a:t>
            </a:r>
            <a:endParaRPr sz="1080"/>
          </a:p>
        </p:txBody>
      </p:sp>
      <p:sp>
        <p:nvSpPr>
          <p:cNvPr id="37" name="직사각형 36">
            <a:extLst>
              <a:ext uri="{FF2B5EF4-FFF2-40B4-BE49-F238E27FC236}">
                <a16:creationId xmlns:a16="http://schemas.microsoft.com/office/drawing/2014/main" id="{4A091712-E3CD-4EC7-A3A2-CE5E5DFE47D7}"/>
              </a:ext>
            </a:extLst>
          </p:cNvPr>
          <p:cNvSpPr>
            <a:spLocks noGrp="1"/>
          </p:cNvSpPr>
          <p:nvPr/>
        </p:nvSpPr>
        <p:spPr>
          <a:xfrm>
            <a:off x="7772400" y="1783080"/>
            <a:ext cx="3758184"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C2BAED-AF3F-4DDE-B086-2E78A732C410}"/>
              </a:ext>
            </a:extLst>
          </p:cNvPr>
          <p:cNvSpPr>
            <a:spLocks noGrp="1"/>
          </p:cNvSpPr>
          <p:nvPr/>
        </p:nvSpPr>
        <p:spPr>
          <a:xfrm>
            <a:off x="7772400" y="3310128"/>
            <a:ext cx="3758184"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34067B67-E4CF-4C09-A1A7-A36D0F9DE141}"/>
              </a:ext>
            </a:extLst>
          </p:cNvPr>
          <p:cNvSpPr>
            <a:spLocks noGrp="1"/>
          </p:cNvSpPr>
          <p:nvPr/>
        </p:nvSpPr>
        <p:spPr>
          <a:xfrm>
            <a:off x="7772400" y="5102352"/>
            <a:ext cx="3758184"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4594E406-AF42-48DE-8BE7-03FEDAF5E5CE}"/>
              </a:ext>
            </a:extLst>
          </p:cNvPr>
          <p:cNvSpPr>
            <a:spLocks noGrp="1"/>
          </p:cNvSpPr>
          <p:nvPr/>
        </p:nvSpPr>
        <p:spPr>
          <a:xfrm>
            <a:off x="698373" y="2090928"/>
            <a:ext cx="6924294" cy="3006852"/>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karatsuba(x,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x &lt; 10 or y &lt; 10:</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x * 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n = max(len(str(x)), len(str(y)))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 = n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x_high, x_low = x // (10 ** m), x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y_high, y_low = y // (10 ** m), y % (10 ** m)</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a = karatsuba(x_high, y_high)</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b = karatsuba(x_low,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sum_prod = karatsuba(x_high + x_low, y_high + y_low)</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sum_prod - a - b</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a * (10 ** (2 * m)) + mid * (10 ** m) + b</a:t>
            </a:r>
          </a:p>
        </p:txBody>
      </p:sp>
      <p:sp>
        <p:nvSpPr>
          <p:cNvPr id="41" name="직사각형 40">
            <a:extLst>
              <a:ext uri="{FF2B5EF4-FFF2-40B4-BE49-F238E27FC236}">
                <a16:creationId xmlns:a16="http://schemas.microsoft.com/office/drawing/2014/main" id="{62E37B02-8D15-4C10-8019-9EA5A23468B4}"/>
              </a:ext>
            </a:extLst>
          </p:cNvPr>
          <p:cNvSpPr>
            <a:spLocks noGrp="1"/>
          </p:cNvSpPr>
          <p:nvPr/>
        </p:nvSpPr>
        <p:spPr>
          <a:xfrm>
            <a:off x="698373" y="5519928"/>
            <a:ext cx="6924294" cy="611124"/>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num1 = 12345678901234567890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num2 = 98765432109876543210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print(karatsuba(num1, num2))</a:t>
            </a:r>
          </a:p>
        </p:txBody>
      </p:sp>
      <p:sp>
        <p:nvSpPr>
          <p:cNvPr id="42" name="직사각형 41">
            <a:extLst>
              <a:ext uri="{FF2B5EF4-FFF2-40B4-BE49-F238E27FC236}">
                <a16:creationId xmlns:a16="http://schemas.microsoft.com/office/drawing/2014/main" id="{04F8806A-8720-4DF9-91DA-49C22308C94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43" name="직사각형 42">
            <a:extLst>
              <a:ext uri="{FF2B5EF4-FFF2-40B4-BE49-F238E27FC236}">
                <a16:creationId xmlns:a16="http://schemas.microsoft.com/office/drawing/2014/main" id="{A0FA5302-700D-46CF-ACD1-BCDE8E3049D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4" name="직사각형 43">
            <a:extLst>
              <a:ext uri="{FF2B5EF4-FFF2-40B4-BE49-F238E27FC236}">
                <a16:creationId xmlns:a16="http://schemas.microsoft.com/office/drawing/2014/main" id="{B7563A37-6781-46E4-B1A0-E1334F067CE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a:t>
            </a:r>
          </a:p>
        </p:txBody>
      </p:sp>
      <p:sp>
        <p:nvSpPr>
          <p:cNvPr id="45" name="직사각형 44">
            <a:extLst>
              <a:ext uri="{FF2B5EF4-FFF2-40B4-BE49-F238E27FC236}">
                <a16:creationId xmlns:a16="http://schemas.microsoft.com/office/drawing/2014/main" id="{800E3EE2-A5F9-4740-BCD8-A0EDD513C8CB}"/>
              </a:ext>
            </a:extLst>
          </p:cNvPr>
          <p:cNvSpPr>
            <a:spLocks noGrp="1"/>
          </p:cNvSpPr>
          <p:nvPr/>
        </p:nvSpPr>
        <p:spPr>
          <a:xfrm>
            <a:off x="609600" y="1381125"/>
            <a:ext cx="10972800" cy="19050"/>
          </a:xfrm>
          <a:prstGeom prst="rect">
            <a:avLst/>
          </a:prstGeom>
          <a:solidFill>
            <a:srgbClr val="171717"/>
          </a:solidFill>
          <a:ln w="0">
            <a:noFill/>
          </a:ln>
        </p:spPr>
      </p:sp>
      <p:sp>
        <p:nvSpPr>
          <p:cNvPr id="46" name="직사각형 45">
            <a:extLst>
              <a:ext uri="{FF2B5EF4-FFF2-40B4-BE49-F238E27FC236}">
                <a16:creationId xmlns:a16="http://schemas.microsoft.com/office/drawing/2014/main" id="{657F82FC-7042-4776-8BF3-96B78C4919BE}"/>
              </a:ext>
            </a:extLst>
          </p:cNvPr>
          <p:cNvSpPr>
            <a:spLocks noGrp="1"/>
          </p:cNvSpPr>
          <p:nvPr/>
        </p:nvSpPr>
        <p:spPr>
          <a:xfrm>
            <a:off x="609600" y="6438900"/>
            <a:ext cx="10972800"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DE0C3B51-D325-43EB-B200-370C1C0F56E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8" name="직사각형 47">
            <a:extLst>
              <a:ext uri="{FF2B5EF4-FFF2-40B4-BE49-F238E27FC236}">
                <a16:creationId xmlns:a16="http://schemas.microsoft.com/office/drawing/2014/main" id="{8969A649-5913-43C9-B139-F5E8045F7E1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637716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1" name="직사각형 50">
            <a:extLst>
              <a:ext uri="{FF2B5EF4-FFF2-40B4-BE49-F238E27FC236}">
                <a16:creationId xmlns:a16="http://schemas.microsoft.com/office/drawing/2014/main" id="{08F126D5-F2CE-4ED6-9FB5-EB866C2F806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4.8  </a:t>
            </a:r>
            <a:r>
              <a:rPr lang="ko-KR" altLang="en-US" sz="1050" b="1" i="0">
                <a:solidFill>
                  <a:srgbClr val="606060"/>
                </a:solidFill>
                <a:latin typeface="Malgun Gothic"/>
                <a:ea typeface="Malgun Gothic"/>
                <a:cs typeface="Malgun Gothic"/>
              </a:rPr>
              <a:t>카라츠바 알고리즘</a:t>
            </a:r>
            <a:endParaRPr sz="1050" b="1" i="0">
              <a:solidFill>
                <a:srgbClr val="606060"/>
              </a:solidFill>
              <a:latin typeface="Malgun Gothic"/>
              <a:ea typeface="Malgun Gothic"/>
              <a:cs typeface="Malgun Gothic"/>
            </a:endParaRPr>
          </a:p>
        </p:txBody>
      </p:sp>
      <p:sp>
        <p:nvSpPr>
          <p:cNvPr id="52" name="직사각형 51">
            <a:extLst>
              <a:ext uri="{FF2B5EF4-FFF2-40B4-BE49-F238E27FC236}">
                <a16:creationId xmlns:a16="http://schemas.microsoft.com/office/drawing/2014/main" id="{ED23003E-2A30-4DB7-A409-75314F5E72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53" name="직사각형 52">
            <a:extLst>
              <a:ext uri="{FF2B5EF4-FFF2-40B4-BE49-F238E27FC236}">
                <a16:creationId xmlns:a16="http://schemas.microsoft.com/office/drawing/2014/main" id="{9FE36D45-41C6-41CE-8974-447AD8DA733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 — 마스터 정리 적용</a:t>
            </a:r>
          </a:p>
        </p:txBody>
      </p:sp>
      <p:sp>
        <p:nvSpPr>
          <p:cNvPr id="54" name="직사각형 53">
            <a:extLst>
              <a:ext uri="{FF2B5EF4-FFF2-40B4-BE49-F238E27FC236}">
                <a16:creationId xmlns:a16="http://schemas.microsoft.com/office/drawing/2014/main" id="{218275E5-0150-4BCD-A396-6602E42E7BDB}"/>
              </a:ext>
            </a:extLst>
          </p:cNvPr>
          <p:cNvSpPr>
            <a:spLocks noGrp="1"/>
          </p:cNvSpPr>
          <p:nvPr/>
        </p:nvSpPr>
        <p:spPr>
          <a:xfrm>
            <a:off x="609600" y="1381125"/>
            <a:ext cx="10972800" cy="19050"/>
          </a:xfrm>
          <a:prstGeom prst="rect">
            <a:avLst/>
          </a:prstGeom>
          <a:solidFill>
            <a:srgbClr val="171717"/>
          </a:solidFill>
          <a:ln w="0">
            <a:noFill/>
          </a:ln>
        </p:spPr>
      </p:sp>
      <p:sp>
        <p:nvSpPr>
          <p:cNvPr id="55" name="직사각형 54">
            <a:extLst>
              <a:ext uri="{FF2B5EF4-FFF2-40B4-BE49-F238E27FC236}">
                <a16:creationId xmlns:a16="http://schemas.microsoft.com/office/drawing/2014/main" id="{BD787C72-6CA1-45B4-9AAC-C0376B6468F6}"/>
              </a:ext>
            </a:extLst>
          </p:cNvPr>
          <p:cNvSpPr>
            <a:spLocks noGrp="1"/>
          </p:cNvSpPr>
          <p:nvPr/>
        </p:nvSpPr>
        <p:spPr>
          <a:xfrm>
            <a:off x="609600" y="6438900"/>
            <a:ext cx="10972800" cy="9525"/>
          </a:xfrm>
          <a:prstGeom prst="rect">
            <a:avLst/>
          </a:prstGeom>
          <a:solidFill>
            <a:srgbClr val="D4D4D4"/>
          </a:solidFill>
          <a:ln w="0">
            <a:noFill/>
          </a:ln>
        </p:spPr>
      </p:sp>
      <p:sp>
        <p:nvSpPr>
          <p:cNvPr id="56" name="직사각형 55">
            <a:extLst>
              <a:ext uri="{FF2B5EF4-FFF2-40B4-BE49-F238E27FC236}">
                <a16:creationId xmlns:a16="http://schemas.microsoft.com/office/drawing/2014/main" id="{EDC41C42-C3AB-44EC-89EE-2A485C57524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7" name="직사각형 56">
            <a:extLst>
              <a:ext uri="{FF2B5EF4-FFF2-40B4-BE49-F238E27FC236}">
                <a16:creationId xmlns:a16="http://schemas.microsoft.com/office/drawing/2014/main" id="{328951A5-0509-4715-8892-D0302BD6E20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78</a:t>
            </a:r>
            <a:endParaRPr sz="1050" b="1" i="0">
              <a:solidFill>
                <a:srgbClr val="171717"/>
              </a:solidFill>
              <a:latin typeface="Consolas"/>
              <a:ea typeface="Consolas"/>
              <a:cs typeface="Consolas"/>
            </a:endParaRPr>
          </a:p>
        </p:txBody>
      </p:sp>
      <p:sp>
        <p:nvSpPr>
          <p:cNvPr id="58" name="직사각형 57">
            <a:extLst>
              <a:ext uri="{FF2B5EF4-FFF2-40B4-BE49-F238E27FC236}">
                <a16:creationId xmlns:a16="http://schemas.microsoft.com/office/drawing/2014/main" id="{5BC4BAAA-79DB-4606-A510-24B5331BE9CB}"/>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문제 크기는 절반: b = 2</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재귀 곱셈은 세 번: a = 3</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덧셈·뺄셈·자리 이동: O(n)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3T(n/2) + O(n)</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 Θ(n^(log₂ 3)) ≈ Θ(n^1.585)</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 = 10,000일 때 성장률 비교</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기본 곱셈 n²: 1억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카라츠바 n^(log₂ 3): 약 219만</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비율은 약 46배이다. 상수항과 구현 비용을 생략한 성장률 비교이며 실측 속도는 아니다.</a:t>
            </a:r>
          </a:p>
        </p:txBody>
      </p:sp>
      <p:pic>
        <p:nvPicPr>
          <p:cNvPr id="68" name="그림 67"/>
          <p:cNvPicPr>
            <a:picLocks noChangeAspect="1"/>
          </p:cNvPicPr>
          <p:nvPr/>
        </p:nvPicPr>
        <p:blipFill>
          <a:blip r:embed="rId3"/>
          <a:stretch/>
        </p:blipFill>
        <p:spPr>
          <a:xfrm>
            <a:off x="7315200" y="2157779"/>
            <a:ext cx="4171950" cy="3209192"/>
          </a:xfrm>
          <a:prstGeom prst="rect">
            <a:avLst/>
          </a:prstGeom>
        </p:spPr>
      </p:pic>
    </p:spTree>
    <p:extLst>
      <p:ext uri="{BB962C8B-B14F-4D97-AF65-F5344CB8AC3E}">
        <p14:creationId xmlns:p14="http://schemas.microsoft.com/office/powerpoint/2010/main" val="50074536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20BABF1-C200-4403-9F79-BE0B897E2DD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5C0C7E6-ED49-46C0-B887-8BC29306FD00}"/>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4.9</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48619C23-5603-44F3-97BB-43FC1928DEB4}"/>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5321404-E74C-4778-ACF1-B5BC3920590E}"/>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스트라센 알고리즘</a:t>
            </a:r>
          </a:p>
        </p:txBody>
      </p:sp>
      <p:sp>
        <p:nvSpPr>
          <p:cNvPr id="5" name="직사각형 4">
            <a:extLst>
              <a:ext uri="{FF2B5EF4-FFF2-40B4-BE49-F238E27FC236}">
                <a16:creationId xmlns:a16="http://schemas.microsoft.com/office/drawing/2014/main" id="{98894DC1-18F5-41FE-A411-11F58198625B}"/>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Strassen Algorithm (1969)</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행렬 곱셈에서 곱셈 8번을 7번으로</a:t>
            </a:r>
          </a:p>
        </p:txBody>
      </p:sp>
      <p:sp>
        <p:nvSpPr>
          <p:cNvPr id="6" name="직사각형 5">
            <a:extLst>
              <a:ext uri="{FF2B5EF4-FFF2-40B4-BE49-F238E27FC236}">
                <a16:creationId xmlns:a16="http://schemas.microsoft.com/office/drawing/2014/main" id="{F21BB0B7-3A14-4131-8129-1B1E5714C38A}"/>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08C610D-73A6-42B4-9902-1D6939A72F2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8872A52F-040A-4307-98D0-468370864B3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79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61931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2321B5AE-62C0-4C9B-B9EA-069343FD63AB}"/>
              </a:ext>
            </a:extLst>
          </p:cNvPr>
          <p:cNvSpPr>
            <a:spLocks noGrp="1"/>
          </p:cNvSpPr>
          <p:nvPr/>
        </p:nvSpPr>
        <p:spPr>
          <a:xfrm>
            <a:off x="658368" y="1737360"/>
            <a:ext cx="10872216"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두 개의 n × n 행렬을 곱하는 표준 알고리즘은 세 겹의 반복문으로 O(n³)이 걸린다. 카라츠바 알고리즘에서 숫자를 절반으로 쪼갰듯이, 행렬도 4등분하여 블록 행렬(block matrix) 형태로 생각해보자.</a:t>
            </a:r>
            <a:endParaRPr sz="1300"/>
          </a:p>
        </p:txBody>
      </p:sp>
      <p:sp>
        <p:nvSpPr>
          <p:cNvPr id="7" name="Shape 4">
            <a:extLst>
              <a:ext uri="{FF2B5EF4-FFF2-40B4-BE49-F238E27FC236}">
                <a16:creationId xmlns:a16="http://schemas.microsoft.com/office/drawing/2014/main" id="{9E4ADAC1-72AB-4E56-A1DD-D94A962A9351}"/>
              </a:ext>
            </a:extLst>
          </p:cNvPr>
          <p:cNvSpPr>
            <a:spLocks noGrp="1"/>
          </p:cNvSpPr>
          <p:nvPr/>
        </p:nvSpPr>
        <p:spPr>
          <a:xfrm>
            <a:off x="3150108" y="2468880"/>
            <a:ext cx="749808" cy="512064"/>
          </a:xfrm>
          <a:prstGeom prst="roundRect">
            <a:avLst>
              <a:gd name="adj" fmla="val 12500"/>
            </a:avLst>
          </a:prstGeom>
          <a:solidFill>
            <a:srgbClr val="E9E9E9"/>
          </a:solidFill>
          <a:ln w="5715">
            <a:solidFill>
              <a:srgbClr val="D4D4D4"/>
            </a:solidFill>
          </a:ln>
        </p:spPr>
      </p:sp>
      <p:sp>
        <p:nvSpPr>
          <p:cNvPr id="8" name="Text 5">
            <a:extLst>
              <a:ext uri="{FF2B5EF4-FFF2-40B4-BE49-F238E27FC236}">
                <a16:creationId xmlns:a16="http://schemas.microsoft.com/office/drawing/2014/main" id="{67E3C1C4-F302-4606-B4AF-B66CF0B55E68}"/>
              </a:ext>
            </a:extLst>
          </p:cNvPr>
          <p:cNvSpPr>
            <a:spLocks noGrp="1"/>
          </p:cNvSpPr>
          <p:nvPr/>
        </p:nvSpPr>
        <p:spPr>
          <a:xfrm>
            <a:off x="3150108"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a:t>
            </a:r>
            <a:endParaRPr sz="1400"/>
          </a:p>
        </p:txBody>
      </p:sp>
      <p:sp>
        <p:nvSpPr>
          <p:cNvPr id="9" name="Shape 6">
            <a:extLst>
              <a:ext uri="{FF2B5EF4-FFF2-40B4-BE49-F238E27FC236}">
                <a16:creationId xmlns:a16="http://schemas.microsoft.com/office/drawing/2014/main" id="{C6C2CEA3-5098-424E-B218-BD2623188F68}"/>
              </a:ext>
            </a:extLst>
          </p:cNvPr>
          <p:cNvSpPr>
            <a:spLocks noGrp="1"/>
          </p:cNvSpPr>
          <p:nvPr/>
        </p:nvSpPr>
        <p:spPr>
          <a:xfrm>
            <a:off x="3936492" y="2468880"/>
            <a:ext cx="749808" cy="512064"/>
          </a:xfrm>
          <a:prstGeom prst="roundRect">
            <a:avLst>
              <a:gd name="adj" fmla="val 12500"/>
            </a:avLst>
          </a:prstGeom>
          <a:solidFill>
            <a:srgbClr val="E9E9E9"/>
          </a:solidFill>
          <a:ln w="5715">
            <a:solidFill>
              <a:srgbClr val="D4D4D4"/>
            </a:solidFill>
          </a:ln>
        </p:spPr>
      </p:sp>
      <p:sp>
        <p:nvSpPr>
          <p:cNvPr id="10" name="Text 7">
            <a:extLst>
              <a:ext uri="{FF2B5EF4-FFF2-40B4-BE49-F238E27FC236}">
                <a16:creationId xmlns:a16="http://schemas.microsoft.com/office/drawing/2014/main" id="{5C668C04-5329-4967-92AB-723AA3E293F7}"/>
              </a:ext>
            </a:extLst>
          </p:cNvPr>
          <p:cNvSpPr>
            <a:spLocks noGrp="1"/>
          </p:cNvSpPr>
          <p:nvPr/>
        </p:nvSpPr>
        <p:spPr>
          <a:xfrm>
            <a:off x="393649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a:t>
            </a:r>
            <a:endParaRPr sz="1400"/>
          </a:p>
        </p:txBody>
      </p:sp>
      <p:sp>
        <p:nvSpPr>
          <p:cNvPr id="11" name="Shape 8">
            <a:extLst>
              <a:ext uri="{FF2B5EF4-FFF2-40B4-BE49-F238E27FC236}">
                <a16:creationId xmlns:a16="http://schemas.microsoft.com/office/drawing/2014/main" id="{3B23ED4B-7BDC-4E84-A4CA-6ED89430D9D3}"/>
              </a:ext>
            </a:extLst>
          </p:cNvPr>
          <p:cNvSpPr>
            <a:spLocks noGrp="1"/>
          </p:cNvSpPr>
          <p:nvPr/>
        </p:nvSpPr>
        <p:spPr>
          <a:xfrm>
            <a:off x="3150108" y="3017520"/>
            <a:ext cx="749808" cy="512064"/>
          </a:xfrm>
          <a:prstGeom prst="roundRect">
            <a:avLst>
              <a:gd name="adj" fmla="val 12500"/>
            </a:avLst>
          </a:prstGeom>
          <a:solidFill>
            <a:srgbClr val="E9E9E9"/>
          </a:solidFill>
          <a:ln w="5715">
            <a:solidFill>
              <a:srgbClr val="D4D4D4"/>
            </a:solidFill>
          </a:ln>
        </p:spPr>
      </p:sp>
      <p:sp>
        <p:nvSpPr>
          <p:cNvPr id="12" name="Text 9">
            <a:extLst>
              <a:ext uri="{FF2B5EF4-FFF2-40B4-BE49-F238E27FC236}">
                <a16:creationId xmlns:a16="http://schemas.microsoft.com/office/drawing/2014/main" id="{830ECB8A-0472-4517-8B8F-024FAAB0F579}"/>
              </a:ext>
            </a:extLst>
          </p:cNvPr>
          <p:cNvSpPr>
            <a:spLocks noGrp="1"/>
          </p:cNvSpPr>
          <p:nvPr/>
        </p:nvSpPr>
        <p:spPr>
          <a:xfrm>
            <a:off x="3150108"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a:t>
            </a:r>
            <a:endParaRPr sz="1400"/>
          </a:p>
        </p:txBody>
      </p:sp>
      <p:sp>
        <p:nvSpPr>
          <p:cNvPr id="13" name="Shape 10">
            <a:extLst>
              <a:ext uri="{FF2B5EF4-FFF2-40B4-BE49-F238E27FC236}">
                <a16:creationId xmlns:a16="http://schemas.microsoft.com/office/drawing/2014/main" id="{78216C34-73D5-4D71-8214-3E9982516737}"/>
              </a:ext>
            </a:extLst>
          </p:cNvPr>
          <p:cNvSpPr>
            <a:spLocks noGrp="1"/>
          </p:cNvSpPr>
          <p:nvPr/>
        </p:nvSpPr>
        <p:spPr>
          <a:xfrm>
            <a:off x="3936492" y="3017520"/>
            <a:ext cx="749808" cy="512064"/>
          </a:xfrm>
          <a:prstGeom prst="roundRect">
            <a:avLst>
              <a:gd name="adj" fmla="val 12500"/>
            </a:avLst>
          </a:prstGeom>
          <a:solidFill>
            <a:srgbClr val="E9E9E9"/>
          </a:solidFill>
          <a:ln w="5715">
            <a:solidFill>
              <a:srgbClr val="D4D4D4"/>
            </a:solidFill>
          </a:ln>
        </p:spPr>
      </p:sp>
      <p:sp>
        <p:nvSpPr>
          <p:cNvPr id="14" name="Text 11">
            <a:extLst>
              <a:ext uri="{FF2B5EF4-FFF2-40B4-BE49-F238E27FC236}">
                <a16:creationId xmlns:a16="http://schemas.microsoft.com/office/drawing/2014/main" id="{2F35A7A3-3DCD-4C9C-860D-E91194CECD70}"/>
              </a:ext>
            </a:extLst>
          </p:cNvPr>
          <p:cNvSpPr>
            <a:spLocks noGrp="1"/>
          </p:cNvSpPr>
          <p:nvPr/>
        </p:nvSpPr>
        <p:spPr>
          <a:xfrm>
            <a:off x="393649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a:t>
            </a:r>
            <a:endParaRPr sz="1400"/>
          </a:p>
        </p:txBody>
      </p:sp>
      <p:sp>
        <p:nvSpPr>
          <p:cNvPr id="15" name="Text 12">
            <a:extLst>
              <a:ext uri="{FF2B5EF4-FFF2-40B4-BE49-F238E27FC236}">
                <a16:creationId xmlns:a16="http://schemas.microsoft.com/office/drawing/2014/main" id="{0A1EAC72-C1BB-41B0-9D8B-26F6C7017FBC}"/>
              </a:ext>
            </a:extLst>
          </p:cNvPr>
          <p:cNvSpPr>
            <a:spLocks noGrp="1"/>
          </p:cNvSpPr>
          <p:nvPr/>
        </p:nvSpPr>
        <p:spPr>
          <a:xfrm>
            <a:off x="4686300"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16" name="Shape 13">
            <a:extLst>
              <a:ext uri="{FF2B5EF4-FFF2-40B4-BE49-F238E27FC236}">
                <a16:creationId xmlns:a16="http://schemas.microsoft.com/office/drawing/2014/main" id="{F6E59704-DDBB-47DB-940E-03ED0ED929D7}"/>
              </a:ext>
            </a:extLst>
          </p:cNvPr>
          <p:cNvSpPr>
            <a:spLocks noGrp="1"/>
          </p:cNvSpPr>
          <p:nvPr/>
        </p:nvSpPr>
        <p:spPr>
          <a:xfrm>
            <a:off x="5326380" y="2468880"/>
            <a:ext cx="749808" cy="512064"/>
          </a:xfrm>
          <a:prstGeom prst="roundRect">
            <a:avLst>
              <a:gd name="adj" fmla="val 12500"/>
            </a:avLst>
          </a:prstGeom>
          <a:solidFill>
            <a:srgbClr val="E9E9E9"/>
          </a:solidFill>
          <a:ln w="5715">
            <a:solidFill>
              <a:srgbClr val="D4D4D4"/>
            </a:solidFill>
          </a:ln>
        </p:spPr>
      </p:sp>
      <p:sp>
        <p:nvSpPr>
          <p:cNvPr id="17" name="Text 14">
            <a:extLst>
              <a:ext uri="{FF2B5EF4-FFF2-40B4-BE49-F238E27FC236}">
                <a16:creationId xmlns:a16="http://schemas.microsoft.com/office/drawing/2014/main" id="{9C16BDFE-F131-4841-A68F-FDA21677652A}"/>
              </a:ext>
            </a:extLst>
          </p:cNvPr>
          <p:cNvSpPr>
            <a:spLocks noGrp="1"/>
          </p:cNvSpPr>
          <p:nvPr/>
        </p:nvSpPr>
        <p:spPr>
          <a:xfrm>
            <a:off x="5326380"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A_11</a:t>
            </a:r>
            <a:endParaRPr sz="1400"/>
          </a:p>
        </p:txBody>
      </p:sp>
      <p:sp>
        <p:nvSpPr>
          <p:cNvPr id="18" name="Shape 15">
            <a:extLst>
              <a:ext uri="{FF2B5EF4-FFF2-40B4-BE49-F238E27FC236}">
                <a16:creationId xmlns:a16="http://schemas.microsoft.com/office/drawing/2014/main" id="{0F19265A-8CB9-4413-B65B-8A369D9E7782}"/>
              </a:ext>
            </a:extLst>
          </p:cNvPr>
          <p:cNvSpPr>
            <a:spLocks noGrp="1"/>
          </p:cNvSpPr>
          <p:nvPr/>
        </p:nvSpPr>
        <p:spPr>
          <a:xfrm>
            <a:off x="6112764" y="2468880"/>
            <a:ext cx="749808" cy="512064"/>
          </a:xfrm>
          <a:prstGeom prst="roundRect">
            <a:avLst>
              <a:gd name="adj" fmla="val 12500"/>
            </a:avLst>
          </a:prstGeom>
          <a:solidFill>
            <a:srgbClr val="E9E9E9"/>
          </a:solidFill>
          <a:ln w="5715">
            <a:solidFill>
              <a:srgbClr val="D4D4D4"/>
            </a:solidFill>
          </a:ln>
        </p:spPr>
      </p:sp>
      <p:sp>
        <p:nvSpPr>
          <p:cNvPr id="19" name="Text 16">
            <a:extLst>
              <a:ext uri="{FF2B5EF4-FFF2-40B4-BE49-F238E27FC236}">
                <a16:creationId xmlns:a16="http://schemas.microsoft.com/office/drawing/2014/main" id="{B6219512-B144-441E-BFB4-6F11CD0773A5}"/>
              </a:ext>
            </a:extLst>
          </p:cNvPr>
          <p:cNvSpPr>
            <a:spLocks noGrp="1"/>
          </p:cNvSpPr>
          <p:nvPr/>
        </p:nvSpPr>
        <p:spPr>
          <a:xfrm>
            <a:off x="6112764"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A_12</a:t>
            </a:r>
            <a:endParaRPr sz="1400"/>
          </a:p>
        </p:txBody>
      </p:sp>
      <p:sp>
        <p:nvSpPr>
          <p:cNvPr id="20" name="Shape 17">
            <a:extLst>
              <a:ext uri="{FF2B5EF4-FFF2-40B4-BE49-F238E27FC236}">
                <a16:creationId xmlns:a16="http://schemas.microsoft.com/office/drawing/2014/main" id="{65922CE3-779F-41E3-B0F9-C2CCEBCC9681}"/>
              </a:ext>
            </a:extLst>
          </p:cNvPr>
          <p:cNvSpPr>
            <a:spLocks noGrp="1"/>
          </p:cNvSpPr>
          <p:nvPr/>
        </p:nvSpPr>
        <p:spPr>
          <a:xfrm>
            <a:off x="5326380" y="3017520"/>
            <a:ext cx="749808" cy="512064"/>
          </a:xfrm>
          <a:prstGeom prst="roundRect">
            <a:avLst>
              <a:gd name="adj" fmla="val 12500"/>
            </a:avLst>
          </a:prstGeom>
          <a:solidFill>
            <a:srgbClr val="E9E9E9"/>
          </a:solidFill>
          <a:ln w="5715">
            <a:solidFill>
              <a:srgbClr val="D4D4D4"/>
            </a:solidFill>
          </a:ln>
        </p:spPr>
      </p:sp>
      <p:sp>
        <p:nvSpPr>
          <p:cNvPr id="21" name="Text 18">
            <a:extLst>
              <a:ext uri="{FF2B5EF4-FFF2-40B4-BE49-F238E27FC236}">
                <a16:creationId xmlns:a16="http://schemas.microsoft.com/office/drawing/2014/main" id="{CD440917-24BC-4F63-B1A6-3507D1D53598}"/>
              </a:ext>
            </a:extLst>
          </p:cNvPr>
          <p:cNvSpPr>
            <a:spLocks noGrp="1"/>
          </p:cNvSpPr>
          <p:nvPr/>
        </p:nvSpPr>
        <p:spPr>
          <a:xfrm>
            <a:off x="5326380"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A_21</a:t>
            </a:r>
            <a:endParaRPr sz="1400"/>
          </a:p>
        </p:txBody>
      </p:sp>
      <p:sp>
        <p:nvSpPr>
          <p:cNvPr id="22" name="Shape 19">
            <a:extLst>
              <a:ext uri="{FF2B5EF4-FFF2-40B4-BE49-F238E27FC236}">
                <a16:creationId xmlns:a16="http://schemas.microsoft.com/office/drawing/2014/main" id="{99F13EEF-59E2-443D-B758-8A0F9D9422CE}"/>
              </a:ext>
            </a:extLst>
          </p:cNvPr>
          <p:cNvSpPr>
            <a:spLocks noGrp="1"/>
          </p:cNvSpPr>
          <p:nvPr/>
        </p:nvSpPr>
        <p:spPr>
          <a:xfrm>
            <a:off x="6112764" y="3017520"/>
            <a:ext cx="749808" cy="512064"/>
          </a:xfrm>
          <a:prstGeom prst="roundRect">
            <a:avLst>
              <a:gd name="adj" fmla="val 12500"/>
            </a:avLst>
          </a:prstGeom>
          <a:solidFill>
            <a:srgbClr val="E9E9E9"/>
          </a:solidFill>
          <a:ln w="5715">
            <a:solidFill>
              <a:srgbClr val="D4D4D4"/>
            </a:solidFill>
          </a:ln>
        </p:spPr>
      </p:sp>
      <p:sp>
        <p:nvSpPr>
          <p:cNvPr id="23" name="Text 20">
            <a:extLst>
              <a:ext uri="{FF2B5EF4-FFF2-40B4-BE49-F238E27FC236}">
                <a16:creationId xmlns:a16="http://schemas.microsoft.com/office/drawing/2014/main" id="{12C36DC9-4CC0-42EB-9663-23F6B8257462}"/>
              </a:ext>
            </a:extLst>
          </p:cNvPr>
          <p:cNvSpPr>
            <a:spLocks noGrp="1"/>
          </p:cNvSpPr>
          <p:nvPr/>
        </p:nvSpPr>
        <p:spPr>
          <a:xfrm>
            <a:off x="6112764"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A_22</a:t>
            </a:r>
            <a:endParaRPr sz="1400"/>
          </a:p>
        </p:txBody>
      </p:sp>
      <p:sp>
        <p:nvSpPr>
          <p:cNvPr id="24" name="Text 21">
            <a:extLst>
              <a:ext uri="{FF2B5EF4-FFF2-40B4-BE49-F238E27FC236}">
                <a16:creationId xmlns:a16="http://schemas.microsoft.com/office/drawing/2014/main" id="{38C3E687-6D41-468F-99CD-AFB4A75FD302}"/>
              </a:ext>
            </a:extLst>
          </p:cNvPr>
          <p:cNvSpPr>
            <a:spLocks noGrp="1"/>
          </p:cNvSpPr>
          <p:nvPr/>
        </p:nvSpPr>
        <p:spPr>
          <a:xfrm>
            <a:off x="6862572" y="2468880"/>
            <a:ext cx="640080" cy="1060704"/>
          </a:xfrm>
          <a:prstGeom prst="rect">
            <a:avLst/>
          </a:prstGeom>
          <a:noFill/>
          <a:ln w="0">
            <a:noFill/>
          </a:ln>
        </p:spPr>
        <p:txBody>
          <a:bodyPr wrap="square" lIns="0" tIns="0" rIns="0" bIns="0" anchor="ctr">
            <a:noAutofit/>
          </a:bodyPr>
          <a:lstStyle/>
          <a:p>
            <a:pPr marL="0" indent="0" algn="ctr">
              <a:buNone/>
              <a:defRPr sz="2200" i="0">
                <a:solidFill>
                  <a:srgbClr val="171717"/>
                </a:solidFill>
                <a:latin typeface="Malgun Gothic"/>
                <a:ea typeface="Malgun Gothic"/>
                <a:cs typeface="Malgun Gothic"/>
              </a:defRPr>
            </a:pPr>
            <a:r>
              <a:rPr sz="2200" b="1" i="0">
                <a:solidFill>
                  <a:srgbClr val="171717"/>
                </a:solidFill>
                <a:latin typeface="Malgun Gothic"/>
                <a:ea typeface="Malgun Gothic"/>
                <a:cs typeface="Malgun Gothic"/>
              </a:rPr>
              <a:t>×</a:t>
            </a:r>
            <a:endParaRPr sz="2200"/>
          </a:p>
        </p:txBody>
      </p:sp>
      <p:sp>
        <p:nvSpPr>
          <p:cNvPr id="25" name="Shape 22">
            <a:extLst>
              <a:ext uri="{FF2B5EF4-FFF2-40B4-BE49-F238E27FC236}">
                <a16:creationId xmlns:a16="http://schemas.microsoft.com/office/drawing/2014/main" id="{871862CF-2138-4226-A3B1-E0A6F4BDA3A6}"/>
              </a:ext>
            </a:extLst>
          </p:cNvPr>
          <p:cNvSpPr>
            <a:spLocks noGrp="1"/>
          </p:cNvSpPr>
          <p:nvPr/>
        </p:nvSpPr>
        <p:spPr>
          <a:xfrm>
            <a:off x="7502652" y="2468880"/>
            <a:ext cx="749808" cy="512064"/>
          </a:xfrm>
          <a:prstGeom prst="roundRect">
            <a:avLst>
              <a:gd name="adj" fmla="val 12500"/>
            </a:avLst>
          </a:prstGeom>
          <a:solidFill>
            <a:srgbClr val="E9E9E9"/>
          </a:solidFill>
          <a:ln w="5715">
            <a:solidFill>
              <a:srgbClr val="D4D4D4"/>
            </a:solidFill>
          </a:ln>
        </p:spPr>
      </p:sp>
      <p:sp>
        <p:nvSpPr>
          <p:cNvPr id="26" name="Text 23">
            <a:extLst>
              <a:ext uri="{FF2B5EF4-FFF2-40B4-BE49-F238E27FC236}">
                <a16:creationId xmlns:a16="http://schemas.microsoft.com/office/drawing/2014/main" id="{312069C4-D261-4553-938B-96516FE32375}"/>
              </a:ext>
            </a:extLst>
          </p:cNvPr>
          <p:cNvSpPr>
            <a:spLocks noGrp="1"/>
          </p:cNvSpPr>
          <p:nvPr/>
        </p:nvSpPr>
        <p:spPr>
          <a:xfrm>
            <a:off x="7502652"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B_11</a:t>
            </a:r>
            <a:endParaRPr sz="1400"/>
          </a:p>
        </p:txBody>
      </p:sp>
      <p:sp>
        <p:nvSpPr>
          <p:cNvPr id="27" name="Shape 24">
            <a:extLst>
              <a:ext uri="{FF2B5EF4-FFF2-40B4-BE49-F238E27FC236}">
                <a16:creationId xmlns:a16="http://schemas.microsoft.com/office/drawing/2014/main" id="{4F71C6FC-FB0B-4D5F-98E5-3DC88F7DCA0D}"/>
              </a:ext>
            </a:extLst>
          </p:cNvPr>
          <p:cNvSpPr>
            <a:spLocks noGrp="1"/>
          </p:cNvSpPr>
          <p:nvPr/>
        </p:nvSpPr>
        <p:spPr>
          <a:xfrm>
            <a:off x="8289036" y="2468880"/>
            <a:ext cx="749808" cy="512064"/>
          </a:xfrm>
          <a:prstGeom prst="roundRect">
            <a:avLst>
              <a:gd name="adj" fmla="val 12500"/>
            </a:avLst>
          </a:prstGeom>
          <a:solidFill>
            <a:srgbClr val="E9E9E9"/>
          </a:solidFill>
          <a:ln w="5715">
            <a:solidFill>
              <a:srgbClr val="D4D4D4"/>
            </a:solidFill>
          </a:ln>
        </p:spPr>
      </p:sp>
      <p:sp>
        <p:nvSpPr>
          <p:cNvPr id="28" name="Text 25">
            <a:extLst>
              <a:ext uri="{FF2B5EF4-FFF2-40B4-BE49-F238E27FC236}">
                <a16:creationId xmlns:a16="http://schemas.microsoft.com/office/drawing/2014/main" id="{FF0977C4-E8A1-43C0-BCAC-710BDE8C8C59}"/>
              </a:ext>
            </a:extLst>
          </p:cNvPr>
          <p:cNvSpPr>
            <a:spLocks noGrp="1"/>
          </p:cNvSpPr>
          <p:nvPr/>
        </p:nvSpPr>
        <p:spPr>
          <a:xfrm>
            <a:off x="8289036" y="246888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B_12</a:t>
            </a:r>
            <a:endParaRPr sz="1400"/>
          </a:p>
        </p:txBody>
      </p:sp>
      <p:sp>
        <p:nvSpPr>
          <p:cNvPr id="29" name="Shape 26">
            <a:extLst>
              <a:ext uri="{FF2B5EF4-FFF2-40B4-BE49-F238E27FC236}">
                <a16:creationId xmlns:a16="http://schemas.microsoft.com/office/drawing/2014/main" id="{EF0ED150-5E86-4345-A085-CA28916541FD}"/>
              </a:ext>
            </a:extLst>
          </p:cNvPr>
          <p:cNvSpPr>
            <a:spLocks noGrp="1"/>
          </p:cNvSpPr>
          <p:nvPr/>
        </p:nvSpPr>
        <p:spPr>
          <a:xfrm>
            <a:off x="7502652" y="3017520"/>
            <a:ext cx="749808" cy="512064"/>
          </a:xfrm>
          <a:prstGeom prst="roundRect">
            <a:avLst>
              <a:gd name="adj" fmla="val 12500"/>
            </a:avLst>
          </a:prstGeom>
          <a:solidFill>
            <a:srgbClr val="E9E9E9"/>
          </a:solidFill>
          <a:ln w="5715">
            <a:solidFill>
              <a:srgbClr val="D4D4D4"/>
            </a:solidFill>
          </a:ln>
        </p:spPr>
      </p:sp>
      <p:sp>
        <p:nvSpPr>
          <p:cNvPr id="30" name="Text 27">
            <a:extLst>
              <a:ext uri="{FF2B5EF4-FFF2-40B4-BE49-F238E27FC236}">
                <a16:creationId xmlns:a16="http://schemas.microsoft.com/office/drawing/2014/main" id="{10B0C6C9-48D2-4716-8FC2-F23C8351F131}"/>
              </a:ext>
            </a:extLst>
          </p:cNvPr>
          <p:cNvSpPr>
            <a:spLocks noGrp="1"/>
          </p:cNvSpPr>
          <p:nvPr/>
        </p:nvSpPr>
        <p:spPr>
          <a:xfrm>
            <a:off x="7502652"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B_21</a:t>
            </a:r>
            <a:endParaRPr sz="1400"/>
          </a:p>
        </p:txBody>
      </p:sp>
      <p:sp>
        <p:nvSpPr>
          <p:cNvPr id="31" name="Shape 28">
            <a:extLst>
              <a:ext uri="{FF2B5EF4-FFF2-40B4-BE49-F238E27FC236}">
                <a16:creationId xmlns:a16="http://schemas.microsoft.com/office/drawing/2014/main" id="{81D9BDCA-1E23-44CA-AB67-0944488438FB}"/>
              </a:ext>
            </a:extLst>
          </p:cNvPr>
          <p:cNvSpPr>
            <a:spLocks noGrp="1"/>
          </p:cNvSpPr>
          <p:nvPr/>
        </p:nvSpPr>
        <p:spPr>
          <a:xfrm>
            <a:off x="8289036" y="3017520"/>
            <a:ext cx="749808" cy="512064"/>
          </a:xfrm>
          <a:prstGeom prst="roundRect">
            <a:avLst>
              <a:gd name="adj" fmla="val 12500"/>
            </a:avLst>
          </a:prstGeom>
          <a:solidFill>
            <a:srgbClr val="E9E9E9"/>
          </a:solidFill>
          <a:ln w="5715">
            <a:solidFill>
              <a:srgbClr val="D4D4D4"/>
            </a:solidFill>
          </a:ln>
        </p:spPr>
      </p:sp>
      <p:sp>
        <p:nvSpPr>
          <p:cNvPr id="32" name="Text 29">
            <a:extLst>
              <a:ext uri="{FF2B5EF4-FFF2-40B4-BE49-F238E27FC236}">
                <a16:creationId xmlns:a16="http://schemas.microsoft.com/office/drawing/2014/main" id="{CB34D296-7854-405C-91D7-FD6FED0ADD48}"/>
              </a:ext>
            </a:extLst>
          </p:cNvPr>
          <p:cNvSpPr>
            <a:spLocks noGrp="1"/>
          </p:cNvSpPr>
          <p:nvPr/>
        </p:nvSpPr>
        <p:spPr>
          <a:xfrm>
            <a:off x="8289036" y="3017520"/>
            <a:ext cx="749808" cy="512064"/>
          </a:xfrm>
          <a:prstGeom prst="rect">
            <a:avLst/>
          </a:prstGeom>
          <a:noFill/>
          <a:ln w="0">
            <a:noFill/>
          </a:ln>
        </p:spPr>
        <p:txBody>
          <a:bodyPr wrap="square" lIns="0" tIns="0" rIns="0" bIns="0" anchor="ctr">
            <a:noAutofit/>
          </a:bodyPr>
          <a:lstStyle/>
          <a:p>
            <a:pPr marL="0" indent="0" algn="ctr">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B_22</a:t>
            </a:r>
            <a:endParaRPr sz="1400"/>
          </a:p>
        </p:txBody>
      </p:sp>
      <p:sp>
        <p:nvSpPr>
          <p:cNvPr id="34" name="Text 31">
            <a:extLst>
              <a:ext uri="{FF2B5EF4-FFF2-40B4-BE49-F238E27FC236}">
                <a16:creationId xmlns:a16="http://schemas.microsoft.com/office/drawing/2014/main" id="{8029A869-1D82-4429-99FC-1A8D960E5EB2}"/>
              </a:ext>
            </a:extLst>
          </p:cNvPr>
          <p:cNvSpPr>
            <a:spLocks noGrp="1"/>
          </p:cNvSpPr>
          <p:nvPr/>
        </p:nvSpPr>
        <p:spPr>
          <a:xfrm>
            <a:off x="932688" y="3931920"/>
            <a:ext cx="10323576"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각 결과 블록은 두 번의 블록 곱셈을 필요로 한다 — 모두 합쳐 8번</a:t>
            </a:r>
            <a:endParaRPr sz="1100"/>
          </a:p>
        </p:txBody>
      </p:sp>
      <p:sp>
        <p:nvSpPr>
          <p:cNvPr id="35" name="Text 32">
            <a:extLst>
              <a:ext uri="{FF2B5EF4-FFF2-40B4-BE49-F238E27FC236}">
                <a16:creationId xmlns:a16="http://schemas.microsoft.com/office/drawing/2014/main" id="{FC5B938C-00D8-4C86-94F6-5892EB0AA7BF}"/>
              </a:ext>
            </a:extLst>
          </p:cNvPr>
          <p:cNvSpPr>
            <a:spLocks noGrp="1"/>
          </p:cNvSpPr>
          <p:nvPr/>
        </p:nvSpPr>
        <p:spPr>
          <a:xfrm>
            <a:off x="93268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C_11 = A_11B_11 + A_12B_21</a:t>
            </a:r>
            <a:endParaRPr sz="1400"/>
          </a:p>
        </p:txBody>
      </p:sp>
      <p:sp>
        <p:nvSpPr>
          <p:cNvPr id="36" name="Text 33">
            <a:extLst>
              <a:ext uri="{FF2B5EF4-FFF2-40B4-BE49-F238E27FC236}">
                <a16:creationId xmlns:a16="http://schemas.microsoft.com/office/drawing/2014/main" id="{0F7F7C71-14E2-4351-AB61-883BE446CAA2}"/>
              </a:ext>
            </a:extLst>
          </p:cNvPr>
          <p:cNvSpPr>
            <a:spLocks noGrp="1"/>
          </p:cNvSpPr>
          <p:nvPr/>
        </p:nvSpPr>
        <p:spPr>
          <a:xfrm>
            <a:off x="6144768" y="4261104"/>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C_12 = A_11B_12 + A_12B_22</a:t>
            </a:r>
            <a:endParaRPr sz="1400"/>
          </a:p>
        </p:txBody>
      </p:sp>
      <p:sp>
        <p:nvSpPr>
          <p:cNvPr id="37" name="Text 34">
            <a:extLst>
              <a:ext uri="{FF2B5EF4-FFF2-40B4-BE49-F238E27FC236}">
                <a16:creationId xmlns:a16="http://schemas.microsoft.com/office/drawing/2014/main" id="{D1B4E335-DB2A-4303-82FE-528503FB48C0}"/>
              </a:ext>
            </a:extLst>
          </p:cNvPr>
          <p:cNvSpPr>
            <a:spLocks noGrp="1"/>
          </p:cNvSpPr>
          <p:nvPr/>
        </p:nvSpPr>
        <p:spPr>
          <a:xfrm>
            <a:off x="93268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C_21 = A_21B_11 + A_22B_21</a:t>
            </a:r>
            <a:endParaRPr sz="1400"/>
          </a:p>
        </p:txBody>
      </p:sp>
      <p:sp>
        <p:nvSpPr>
          <p:cNvPr id="38" name="Text 35">
            <a:extLst>
              <a:ext uri="{FF2B5EF4-FFF2-40B4-BE49-F238E27FC236}">
                <a16:creationId xmlns:a16="http://schemas.microsoft.com/office/drawing/2014/main" id="{A20B58D8-5A59-401B-8E4D-BB2E0246672D}"/>
              </a:ext>
            </a:extLst>
          </p:cNvPr>
          <p:cNvSpPr>
            <a:spLocks noGrp="1"/>
          </p:cNvSpPr>
          <p:nvPr/>
        </p:nvSpPr>
        <p:spPr>
          <a:xfrm>
            <a:off x="6144768" y="4663440"/>
            <a:ext cx="5029200" cy="365760"/>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C_22 = A_21B_12 + A_22B_22</a:t>
            </a:r>
            <a:endParaRPr sz="1400"/>
          </a:p>
        </p:txBody>
      </p:sp>
      <p:sp>
        <p:nvSpPr>
          <p:cNvPr id="42" name="Text 38">
            <a:extLst>
              <a:ext uri="{FF2B5EF4-FFF2-40B4-BE49-F238E27FC236}">
                <a16:creationId xmlns:a16="http://schemas.microsoft.com/office/drawing/2014/main" id="{BF207015-E5C9-47DD-8AAA-86EBE03224FB}"/>
              </a:ext>
            </a:extLst>
          </p:cNvPr>
          <p:cNvSpPr>
            <a:spLocks noGrp="1"/>
          </p:cNvSpPr>
          <p:nvPr/>
        </p:nvSpPr>
        <p:spPr>
          <a:xfrm>
            <a:off x="1517904" y="5468112"/>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아무런 개선이 없다 — T(n) = 8T(n/2) + O(n²) ⇒ Θ(n³)</a:t>
            </a:r>
            <a:endParaRPr sz="1320"/>
          </a:p>
        </p:txBody>
      </p:sp>
      <p:sp>
        <p:nvSpPr>
          <p:cNvPr id="43" name="Text 39">
            <a:extLst>
              <a:ext uri="{FF2B5EF4-FFF2-40B4-BE49-F238E27FC236}">
                <a16:creationId xmlns:a16="http://schemas.microsoft.com/office/drawing/2014/main" id="{0E610C2A-574F-49B9-A992-3DA068D54575}"/>
              </a:ext>
            </a:extLst>
          </p:cNvPr>
          <p:cNvSpPr>
            <a:spLocks noGrp="1"/>
          </p:cNvSpPr>
          <p:nvPr/>
        </p:nvSpPr>
        <p:spPr>
          <a:xfrm>
            <a:off x="1517904" y="5815584"/>
            <a:ext cx="9756648" cy="146304"/>
          </a:xfrm>
          <a:prstGeom prst="rect">
            <a:avLst/>
          </a:prstGeom>
          <a:noFill/>
          <a:ln w="0">
            <a:noFill/>
          </a:ln>
        </p:spPr>
        <p:txBody>
          <a:bodyPr wrap="square" lIns="0" tIns="0" rIns="0" bIns="0" anchor="t">
            <a:noAutofit/>
          </a:bodyPr>
          <a:lstStyle/>
          <a:p>
            <a:pPr marL="0" indent="0" algn="l">
              <a:lnSpc>
                <a:spcPct val="132000"/>
              </a:lnSpc>
              <a:buNone/>
              <a:defRPr sz="1180" i="0">
                <a:solidFill>
                  <a:srgbClr val="606060"/>
                </a:solidFill>
                <a:latin typeface="Malgun Gothic"/>
                <a:ea typeface="Malgun Gothic"/>
                <a:cs typeface="Malgun Gothic"/>
              </a:defRPr>
            </a:pPr>
            <a:r>
              <a:rPr sz="1180" i="0">
                <a:solidFill>
                  <a:srgbClr val="606060"/>
                </a:solidFill>
                <a:latin typeface="Malgun Gothic"/>
                <a:ea typeface="Malgun Gothic"/>
                <a:cs typeface="Malgun Gothic"/>
              </a:rPr>
              <a:t>블록 곱셈이 8번, 블록 덧셈이 O(n²). 마스터 정리 Case 1에 의해 n^log₂8 = n³ — 원래 알고리즘과 똑같다.</a:t>
            </a:r>
            <a:endParaRPr sz="1180"/>
          </a:p>
        </p:txBody>
      </p:sp>
      <p:sp>
        <p:nvSpPr>
          <p:cNvPr id="45" name="직사각형 44">
            <a:extLst>
              <a:ext uri="{FF2B5EF4-FFF2-40B4-BE49-F238E27FC236}">
                <a16:creationId xmlns:a16="http://schemas.microsoft.com/office/drawing/2014/main" id="{8E0BDC29-FCA8-4D09-AC64-F186564211BC}"/>
              </a:ext>
            </a:extLst>
          </p:cNvPr>
          <p:cNvSpPr>
            <a:spLocks noGrp="1"/>
          </p:cNvSpPr>
          <p:nvPr/>
        </p:nvSpPr>
        <p:spPr>
          <a:xfrm>
            <a:off x="658368" y="3840480"/>
            <a:ext cx="10872216"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52CCEA22-7769-441A-922C-BADEB9E21178}"/>
              </a:ext>
            </a:extLst>
          </p:cNvPr>
          <p:cNvSpPr>
            <a:spLocks noGrp="1"/>
          </p:cNvSpPr>
          <p:nvPr/>
        </p:nvSpPr>
        <p:spPr>
          <a:xfrm>
            <a:off x="658368" y="5285232"/>
            <a:ext cx="10872216" cy="9525"/>
          </a:xfrm>
          <a:prstGeom prst="rect">
            <a:avLst/>
          </a:prstGeom>
          <a:solidFill>
            <a:srgbClr val="D4D4D4"/>
          </a:solidFill>
          <a:ln w="0">
            <a:noFill/>
          </a:ln>
        </p:spPr>
      </p:sp>
      <p:sp>
        <p:nvSpPr>
          <p:cNvPr id="47" name="직사각형 46">
            <a:extLst>
              <a:ext uri="{FF2B5EF4-FFF2-40B4-BE49-F238E27FC236}">
                <a16:creationId xmlns:a16="http://schemas.microsoft.com/office/drawing/2014/main" id="{AF26AB26-246E-4E50-A66B-FE152E4095F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48" name="직사각형 47">
            <a:extLst>
              <a:ext uri="{FF2B5EF4-FFF2-40B4-BE49-F238E27FC236}">
                <a16:creationId xmlns:a16="http://schemas.microsoft.com/office/drawing/2014/main" id="{65202F47-95B6-4AB7-9127-7430B7E8558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9" name="직사각형 48">
            <a:extLst>
              <a:ext uri="{FF2B5EF4-FFF2-40B4-BE49-F238E27FC236}">
                <a16:creationId xmlns:a16="http://schemas.microsoft.com/office/drawing/2014/main" id="{EDCD138B-ACC6-4738-A3AE-CC32C3045F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시도 — 블록 행렬</a:t>
            </a:r>
          </a:p>
        </p:txBody>
      </p:sp>
      <p:sp>
        <p:nvSpPr>
          <p:cNvPr id="50" name="직사각형 49">
            <a:extLst>
              <a:ext uri="{FF2B5EF4-FFF2-40B4-BE49-F238E27FC236}">
                <a16:creationId xmlns:a16="http://schemas.microsoft.com/office/drawing/2014/main" id="{3E38EB8A-196E-4527-8D50-399F97F58879}"/>
              </a:ext>
            </a:extLst>
          </p:cNvPr>
          <p:cNvSpPr>
            <a:spLocks noGrp="1"/>
          </p:cNvSpPr>
          <p:nvPr/>
        </p:nvSpPr>
        <p:spPr>
          <a:xfrm>
            <a:off x="609600" y="1381125"/>
            <a:ext cx="10972800" cy="19050"/>
          </a:xfrm>
          <a:prstGeom prst="rect">
            <a:avLst/>
          </a:prstGeom>
          <a:solidFill>
            <a:srgbClr val="171717"/>
          </a:solidFill>
          <a:ln w="0">
            <a:noFill/>
          </a:ln>
        </p:spPr>
      </p:sp>
      <p:sp>
        <p:nvSpPr>
          <p:cNvPr id="51" name="직사각형 50">
            <a:extLst>
              <a:ext uri="{FF2B5EF4-FFF2-40B4-BE49-F238E27FC236}">
                <a16:creationId xmlns:a16="http://schemas.microsoft.com/office/drawing/2014/main" id="{42556D03-98AC-4EA1-860A-E1C5885EEBF0}"/>
              </a:ext>
            </a:extLst>
          </p:cNvPr>
          <p:cNvSpPr>
            <a:spLocks noGrp="1"/>
          </p:cNvSpPr>
          <p:nvPr/>
        </p:nvSpPr>
        <p:spPr>
          <a:xfrm>
            <a:off x="609600" y="6438900"/>
            <a:ext cx="10972800" cy="9525"/>
          </a:xfrm>
          <a:prstGeom prst="rect">
            <a:avLst/>
          </a:prstGeom>
          <a:solidFill>
            <a:srgbClr val="D4D4D4"/>
          </a:solidFill>
          <a:ln w="0">
            <a:noFill/>
          </a:ln>
        </p:spPr>
      </p:sp>
      <p:sp>
        <p:nvSpPr>
          <p:cNvPr id="52" name="직사각형 51">
            <a:extLst>
              <a:ext uri="{FF2B5EF4-FFF2-40B4-BE49-F238E27FC236}">
                <a16:creationId xmlns:a16="http://schemas.microsoft.com/office/drawing/2014/main" id="{7055F8FE-1FA8-4492-9141-FD1857D84C9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3" name="직사각형 52">
            <a:extLst>
              <a:ext uri="{FF2B5EF4-FFF2-40B4-BE49-F238E27FC236}">
                <a16:creationId xmlns:a16="http://schemas.microsoft.com/office/drawing/2014/main" id="{FC087588-16AC-42D7-97E1-67562199A8E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07488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3BD8184-AB5B-4C56-B2E3-7D6F4599BF9A}"/>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1969년, 독일의 수학자 폴커 스트라센(Volker Strassen)은 이 견고해 보이는 벽을 허무는 방법을 찾아냈다. 카라츠바가 그랬던 것처럼, 행렬의 덧셈과 뺄셈을 조금 복잡하게 조합하면 곱셈 횟수를 8번에서 7번으로 줄일 수 있음을 발견했다.</a:t>
            </a:r>
            <a:endParaRPr sz="1300"/>
          </a:p>
        </p:txBody>
      </p:sp>
      <p:sp>
        <p:nvSpPr>
          <p:cNvPr id="8" name="Text 5">
            <a:extLst>
              <a:ext uri="{FF2B5EF4-FFF2-40B4-BE49-F238E27FC236}">
                <a16:creationId xmlns:a16="http://schemas.microsoft.com/office/drawing/2014/main" id="{C28FB8A7-BF3F-4099-AFE5-F86D023673E8}"/>
              </a:ext>
            </a:extLst>
          </p:cNvPr>
          <p:cNvSpPr>
            <a:spLocks noGrp="1"/>
          </p:cNvSpPr>
          <p:nvPr/>
        </p:nvSpPr>
        <p:spPr>
          <a:xfrm>
            <a:off x="914400" y="2523744"/>
            <a:ext cx="521208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7번의 블록 곱셈</a:t>
            </a:r>
            <a:endParaRPr sz="1300"/>
          </a:p>
        </p:txBody>
      </p:sp>
      <p:sp>
        <p:nvSpPr>
          <p:cNvPr id="9" name="Text 6">
            <a:extLst>
              <a:ext uri="{FF2B5EF4-FFF2-40B4-BE49-F238E27FC236}">
                <a16:creationId xmlns:a16="http://schemas.microsoft.com/office/drawing/2014/main" id="{5AE92130-AFB9-45FD-9AC2-2FEAD885F3E1}"/>
              </a:ext>
            </a:extLst>
          </p:cNvPr>
          <p:cNvSpPr>
            <a:spLocks noGrp="1"/>
          </p:cNvSpPr>
          <p:nvPr/>
        </p:nvSpPr>
        <p:spPr>
          <a:xfrm>
            <a:off x="914400" y="292608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M_1 = (A_11 + A_22)(B_11 + B_22)</a:t>
            </a:r>
            <a:endParaRPr sz="1300"/>
          </a:p>
        </p:txBody>
      </p:sp>
      <p:sp>
        <p:nvSpPr>
          <p:cNvPr id="10" name="Text 7">
            <a:extLst>
              <a:ext uri="{FF2B5EF4-FFF2-40B4-BE49-F238E27FC236}">
                <a16:creationId xmlns:a16="http://schemas.microsoft.com/office/drawing/2014/main" id="{244DFAE0-9A24-4BC6-BE2B-10F6B0657E76}"/>
              </a:ext>
            </a:extLst>
          </p:cNvPr>
          <p:cNvSpPr>
            <a:spLocks noGrp="1"/>
          </p:cNvSpPr>
          <p:nvPr/>
        </p:nvSpPr>
        <p:spPr>
          <a:xfrm>
            <a:off x="914400" y="335584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M_2 = (A_21 + A_22) B_11</a:t>
            </a:r>
            <a:endParaRPr sz="1300"/>
          </a:p>
        </p:txBody>
      </p:sp>
      <p:sp>
        <p:nvSpPr>
          <p:cNvPr id="11" name="Text 8">
            <a:extLst>
              <a:ext uri="{FF2B5EF4-FFF2-40B4-BE49-F238E27FC236}">
                <a16:creationId xmlns:a16="http://schemas.microsoft.com/office/drawing/2014/main" id="{F0066409-46A3-4C40-9F40-705B8CC27DDC}"/>
              </a:ext>
            </a:extLst>
          </p:cNvPr>
          <p:cNvSpPr>
            <a:spLocks noGrp="1"/>
          </p:cNvSpPr>
          <p:nvPr/>
        </p:nvSpPr>
        <p:spPr>
          <a:xfrm>
            <a:off x="914400" y="3785616"/>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M_3 = A_11(B_12 − B_22)</a:t>
            </a:r>
            <a:endParaRPr sz="1300"/>
          </a:p>
        </p:txBody>
      </p:sp>
      <p:sp>
        <p:nvSpPr>
          <p:cNvPr id="12" name="Text 9">
            <a:extLst>
              <a:ext uri="{FF2B5EF4-FFF2-40B4-BE49-F238E27FC236}">
                <a16:creationId xmlns:a16="http://schemas.microsoft.com/office/drawing/2014/main" id="{DFEE4518-6566-4CA2-83A5-38349BEC3A70}"/>
              </a:ext>
            </a:extLst>
          </p:cNvPr>
          <p:cNvSpPr>
            <a:spLocks noGrp="1"/>
          </p:cNvSpPr>
          <p:nvPr/>
        </p:nvSpPr>
        <p:spPr>
          <a:xfrm>
            <a:off x="914400" y="4215384"/>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M_4 = A_22(B_21 − B_11)</a:t>
            </a:r>
            <a:endParaRPr sz="1300"/>
          </a:p>
        </p:txBody>
      </p:sp>
      <p:sp>
        <p:nvSpPr>
          <p:cNvPr id="13" name="Text 10">
            <a:extLst>
              <a:ext uri="{FF2B5EF4-FFF2-40B4-BE49-F238E27FC236}">
                <a16:creationId xmlns:a16="http://schemas.microsoft.com/office/drawing/2014/main" id="{1389857C-81E2-4FED-8BCD-77D6A5393DE7}"/>
              </a:ext>
            </a:extLst>
          </p:cNvPr>
          <p:cNvSpPr>
            <a:spLocks noGrp="1"/>
          </p:cNvSpPr>
          <p:nvPr/>
        </p:nvSpPr>
        <p:spPr>
          <a:xfrm>
            <a:off x="914400" y="4645152"/>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M_5 = (A_11 + A_12) B_22</a:t>
            </a:r>
            <a:endParaRPr sz="1300"/>
          </a:p>
        </p:txBody>
      </p:sp>
      <p:sp>
        <p:nvSpPr>
          <p:cNvPr id="14" name="Text 11">
            <a:extLst>
              <a:ext uri="{FF2B5EF4-FFF2-40B4-BE49-F238E27FC236}">
                <a16:creationId xmlns:a16="http://schemas.microsoft.com/office/drawing/2014/main" id="{6EA29B58-1282-4B03-A3AD-D485FD3C70C3}"/>
              </a:ext>
            </a:extLst>
          </p:cNvPr>
          <p:cNvSpPr>
            <a:spLocks noGrp="1"/>
          </p:cNvSpPr>
          <p:nvPr/>
        </p:nvSpPr>
        <p:spPr>
          <a:xfrm>
            <a:off x="914400" y="5074920"/>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M_6 = (A_21 − A_11)(B_11 + B_12)</a:t>
            </a:r>
            <a:endParaRPr sz="1300"/>
          </a:p>
        </p:txBody>
      </p:sp>
      <p:sp>
        <p:nvSpPr>
          <p:cNvPr id="15" name="Text 12">
            <a:extLst>
              <a:ext uri="{FF2B5EF4-FFF2-40B4-BE49-F238E27FC236}">
                <a16:creationId xmlns:a16="http://schemas.microsoft.com/office/drawing/2014/main" id="{EF63D745-F7DC-4908-B299-623FFF284FE0}"/>
              </a:ext>
            </a:extLst>
          </p:cNvPr>
          <p:cNvSpPr>
            <a:spLocks noGrp="1"/>
          </p:cNvSpPr>
          <p:nvPr/>
        </p:nvSpPr>
        <p:spPr>
          <a:xfrm>
            <a:off x="914400" y="5504688"/>
            <a:ext cx="5303520"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M_7 = (A_12 − A_22)(B_21 + B_22)</a:t>
            </a:r>
            <a:endParaRPr sz="1300"/>
          </a:p>
        </p:txBody>
      </p:sp>
      <p:sp>
        <p:nvSpPr>
          <p:cNvPr id="17" name="Text 14">
            <a:extLst>
              <a:ext uri="{FF2B5EF4-FFF2-40B4-BE49-F238E27FC236}">
                <a16:creationId xmlns:a16="http://schemas.microsoft.com/office/drawing/2014/main" id="{9D1F4B01-7DAA-4A5E-9AE6-08447208E524}"/>
              </a:ext>
            </a:extLst>
          </p:cNvPr>
          <p:cNvSpPr>
            <a:spLocks noGrp="1"/>
          </p:cNvSpPr>
          <p:nvPr/>
        </p:nvSpPr>
        <p:spPr>
          <a:xfrm>
            <a:off x="7004304" y="2505456"/>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결과 블록 조립 (combine)</a:t>
            </a:r>
            <a:endParaRPr sz="1150"/>
          </a:p>
        </p:txBody>
      </p:sp>
      <p:sp>
        <p:nvSpPr>
          <p:cNvPr id="18" name="Text 15">
            <a:extLst>
              <a:ext uri="{FF2B5EF4-FFF2-40B4-BE49-F238E27FC236}">
                <a16:creationId xmlns:a16="http://schemas.microsoft.com/office/drawing/2014/main" id="{4D9569B1-A19A-4968-9718-F50E08F6004C}"/>
              </a:ext>
            </a:extLst>
          </p:cNvPr>
          <p:cNvSpPr>
            <a:spLocks noGrp="1"/>
          </p:cNvSpPr>
          <p:nvPr/>
        </p:nvSpPr>
        <p:spPr>
          <a:xfrm>
            <a:off x="6967728" y="2834640"/>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C_11 = M_1 + M_4 − M_5 + M_7</a:t>
            </a:r>
            <a:endParaRPr sz="1300"/>
          </a:p>
        </p:txBody>
      </p:sp>
      <p:sp>
        <p:nvSpPr>
          <p:cNvPr id="19" name="Text 16">
            <a:extLst>
              <a:ext uri="{FF2B5EF4-FFF2-40B4-BE49-F238E27FC236}">
                <a16:creationId xmlns:a16="http://schemas.microsoft.com/office/drawing/2014/main" id="{BE498E6B-D0C0-42F2-A2E1-30531BBEE192}"/>
              </a:ext>
            </a:extLst>
          </p:cNvPr>
          <p:cNvSpPr>
            <a:spLocks noGrp="1"/>
          </p:cNvSpPr>
          <p:nvPr/>
        </p:nvSpPr>
        <p:spPr>
          <a:xfrm>
            <a:off x="6967728" y="3255264"/>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C_12 = M_3 + M_5</a:t>
            </a:r>
            <a:endParaRPr sz="1300"/>
          </a:p>
        </p:txBody>
      </p:sp>
      <p:sp>
        <p:nvSpPr>
          <p:cNvPr id="20" name="Text 17">
            <a:extLst>
              <a:ext uri="{FF2B5EF4-FFF2-40B4-BE49-F238E27FC236}">
                <a16:creationId xmlns:a16="http://schemas.microsoft.com/office/drawing/2014/main" id="{723A5BF7-3C9B-4B4A-8DC8-FDEC09AA095C}"/>
              </a:ext>
            </a:extLst>
          </p:cNvPr>
          <p:cNvSpPr>
            <a:spLocks noGrp="1"/>
          </p:cNvSpPr>
          <p:nvPr/>
        </p:nvSpPr>
        <p:spPr>
          <a:xfrm>
            <a:off x="6967728" y="3675888"/>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C_21 = M_2 + M_4</a:t>
            </a:r>
            <a:endParaRPr sz="1300"/>
          </a:p>
        </p:txBody>
      </p:sp>
      <p:sp>
        <p:nvSpPr>
          <p:cNvPr id="21" name="Text 18">
            <a:extLst>
              <a:ext uri="{FF2B5EF4-FFF2-40B4-BE49-F238E27FC236}">
                <a16:creationId xmlns:a16="http://schemas.microsoft.com/office/drawing/2014/main" id="{8F7128FD-835A-4FB1-B017-27BE8CC79A0A}"/>
              </a:ext>
            </a:extLst>
          </p:cNvPr>
          <p:cNvSpPr>
            <a:spLocks noGrp="1"/>
          </p:cNvSpPr>
          <p:nvPr/>
        </p:nvSpPr>
        <p:spPr>
          <a:xfrm>
            <a:off x="6967728" y="4096512"/>
            <a:ext cx="4379976" cy="3840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C_22 = M_1 − M_2 + M_3 + M_6</a:t>
            </a:r>
            <a:endParaRPr sz="1300"/>
          </a:p>
        </p:txBody>
      </p:sp>
      <p:sp>
        <p:nvSpPr>
          <p:cNvPr id="25" name="Text 21">
            <a:extLst>
              <a:ext uri="{FF2B5EF4-FFF2-40B4-BE49-F238E27FC236}">
                <a16:creationId xmlns:a16="http://schemas.microsoft.com/office/drawing/2014/main" id="{0C651907-4459-449A-B592-9FEA10DEAB9A}"/>
              </a:ext>
            </a:extLst>
          </p:cNvPr>
          <p:cNvSpPr>
            <a:spLocks noGrp="1"/>
          </p:cNvSpPr>
          <p:nvPr/>
        </p:nvSpPr>
        <p:spPr>
          <a:xfrm>
            <a:off x="7644384" y="4882896"/>
            <a:ext cx="3630168" cy="292608"/>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곱셈 1번을 덧셈 여러 번과 맞바꾼다</a:t>
            </a:r>
            <a:endParaRPr sz="1280"/>
          </a:p>
        </p:txBody>
      </p:sp>
      <p:sp>
        <p:nvSpPr>
          <p:cNvPr id="26" name="Text 22">
            <a:extLst>
              <a:ext uri="{FF2B5EF4-FFF2-40B4-BE49-F238E27FC236}">
                <a16:creationId xmlns:a16="http://schemas.microsoft.com/office/drawing/2014/main" id="{7F446843-53B6-42E5-8A32-88B5E89F0058}"/>
              </a:ext>
            </a:extLst>
          </p:cNvPr>
          <p:cNvSpPr>
            <a:spLocks noGrp="1"/>
          </p:cNvSpPr>
          <p:nvPr/>
        </p:nvSpPr>
        <p:spPr>
          <a:xfrm>
            <a:off x="7644384" y="5230368"/>
            <a:ext cx="3630168" cy="73152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덧셈·뺄셈은 O(n²)에 불과하지만, 곱셈은 재귀 호출이다. 재귀 호출 횟수 a를 줄이는 것이 압도적으로 이득이다.</a:t>
            </a:r>
            <a:endParaRPr sz="1150"/>
          </a:p>
        </p:txBody>
      </p:sp>
      <p:sp>
        <p:nvSpPr>
          <p:cNvPr id="28" name="직사각형 27">
            <a:extLst>
              <a:ext uri="{FF2B5EF4-FFF2-40B4-BE49-F238E27FC236}">
                <a16:creationId xmlns:a16="http://schemas.microsoft.com/office/drawing/2014/main" id="{BC567392-71F5-46B7-BDCA-9A1B2D55831B}"/>
              </a:ext>
            </a:extLst>
          </p:cNvPr>
          <p:cNvSpPr>
            <a:spLocks noGrp="1"/>
          </p:cNvSpPr>
          <p:nvPr/>
        </p:nvSpPr>
        <p:spPr>
          <a:xfrm>
            <a:off x="6784848" y="4700016"/>
            <a:ext cx="4745736" cy="9525"/>
          </a:xfrm>
          <a:prstGeom prst="rect">
            <a:avLst/>
          </a:prstGeom>
          <a:solidFill>
            <a:srgbClr val="D4D4D4"/>
          </a:solidFill>
          <a:ln w="0">
            <a:noFill/>
          </a:ln>
        </p:spPr>
      </p:sp>
      <p:sp>
        <p:nvSpPr>
          <p:cNvPr id="29" name="직사각형 28">
            <a:extLst>
              <a:ext uri="{FF2B5EF4-FFF2-40B4-BE49-F238E27FC236}">
                <a16:creationId xmlns:a16="http://schemas.microsoft.com/office/drawing/2014/main" id="{46D11529-C837-4C23-9319-41B4B6F8CA2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30" name="직사각형 29">
            <a:extLst>
              <a:ext uri="{FF2B5EF4-FFF2-40B4-BE49-F238E27FC236}">
                <a16:creationId xmlns:a16="http://schemas.microsoft.com/office/drawing/2014/main" id="{CBAB3D3C-B9E9-4C76-AD62-9D6DA7937B5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1" name="직사각형 30">
            <a:extLst>
              <a:ext uri="{FF2B5EF4-FFF2-40B4-BE49-F238E27FC236}">
                <a16:creationId xmlns:a16="http://schemas.microsoft.com/office/drawing/2014/main" id="{81309B74-E143-46DE-8BEE-7BD02546EB2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스트라센의 발견 — "8번이 아니라 7번이면 된다"</a:t>
            </a:r>
          </a:p>
        </p:txBody>
      </p:sp>
      <p:sp>
        <p:nvSpPr>
          <p:cNvPr id="32" name="직사각형 31">
            <a:extLst>
              <a:ext uri="{FF2B5EF4-FFF2-40B4-BE49-F238E27FC236}">
                <a16:creationId xmlns:a16="http://schemas.microsoft.com/office/drawing/2014/main" id="{41A77CA2-95C3-4CBE-860F-844964FF920E}"/>
              </a:ext>
            </a:extLst>
          </p:cNvPr>
          <p:cNvSpPr>
            <a:spLocks noGrp="1"/>
          </p:cNvSpPr>
          <p:nvPr/>
        </p:nvSpPr>
        <p:spPr>
          <a:xfrm>
            <a:off x="609600" y="1381125"/>
            <a:ext cx="10972800" cy="19050"/>
          </a:xfrm>
          <a:prstGeom prst="rect">
            <a:avLst/>
          </a:prstGeom>
          <a:solidFill>
            <a:srgbClr val="171717"/>
          </a:solidFill>
          <a:ln w="0">
            <a:noFill/>
          </a:ln>
        </p:spPr>
      </p:sp>
      <p:sp>
        <p:nvSpPr>
          <p:cNvPr id="33" name="직사각형 32">
            <a:extLst>
              <a:ext uri="{FF2B5EF4-FFF2-40B4-BE49-F238E27FC236}">
                <a16:creationId xmlns:a16="http://schemas.microsoft.com/office/drawing/2014/main" id="{A1EBFDB4-87D9-474B-8DAB-FF58A4D80371}"/>
              </a:ext>
            </a:extLst>
          </p:cNvPr>
          <p:cNvSpPr>
            <a:spLocks noGrp="1"/>
          </p:cNvSpPr>
          <p:nvPr/>
        </p:nvSpPr>
        <p:spPr>
          <a:xfrm>
            <a:off x="609600" y="6438900"/>
            <a:ext cx="1097280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FFECBC2-3A23-4042-BC44-2A4766BFE2A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5" name="직사각형 34">
            <a:extLst>
              <a:ext uri="{FF2B5EF4-FFF2-40B4-BE49-F238E27FC236}">
                <a16:creationId xmlns:a16="http://schemas.microsoft.com/office/drawing/2014/main" id="{835D979A-BF0C-4026-A66F-72510E08C8F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389245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4ABCD033-0C60-49E9-A402-2AC83CB2EF2A}"/>
              </a:ext>
            </a:extLst>
          </p:cNvPr>
          <p:cNvSpPr>
            <a:spLocks noGrp="1"/>
          </p:cNvSpPr>
          <p:nvPr/>
        </p:nvSpPr>
        <p:spPr>
          <a:xfrm>
            <a:off x="932688" y="1783080"/>
            <a:ext cx="10323576" cy="1005840"/>
          </a:xfrm>
          <a:prstGeom prst="rect">
            <a:avLst/>
          </a:prstGeom>
          <a:noFill/>
          <a:ln w="0">
            <a:noFill/>
          </a:ln>
        </p:spPr>
        <p:txBody>
          <a:bodyPr wrap="square" lIns="0" tIns="0" rIns="0" bIns="0" anchor="ctr">
            <a:noAutofit/>
          </a:bodyPr>
          <a:lstStyle/>
          <a:p>
            <a:pPr marL="0" indent="0" algn="ctr">
              <a:buNone/>
              <a:defRPr sz="2300" i="0">
                <a:solidFill>
                  <a:srgbClr val="171717"/>
                </a:solidFill>
                <a:latin typeface="Malgun Gothic"/>
                <a:ea typeface="Malgun Gothic"/>
                <a:cs typeface="Malgun Gothic"/>
              </a:defRPr>
            </a:pPr>
            <a:r>
              <a:rPr sz="2300" b="1" i="0">
                <a:solidFill>
                  <a:srgbClr val="171717"/>
                </a:solidFill>
                <a:latin typeface="Malgun Gothic"/>
                <a:ea typeface="Malgun Gothic"/>
                <a:cs typeface="Malgun Gothic"/>
              </a:rPr>
              <a:t>T(n) = 7T(n/2) + O(n^(2))     ⇒     Θ(n^(log₂ 7)) ≈ Θ(n^(2.807))</a:t>
            </a:r>
            <a:endParaRPr sz="2300"/>
          </a:p>
        </p:txBody>
      </p:sp>
      <p:graphicFrame>
        <p:nvGraphicFramePr>
          <p:cNvPr id="25" name="Table 0"/>
          <p:cNvGraphicFramePr/>
          <p:nvPr/>
        </p:nvGraphicFramePr>
        <p:xfrm>
          <a:off x="658368" y="2926080"/>
          <a:ext cx="10872216" cy="2560320"/>
        </p:xfrm>
        <a:graphic>
          <a:graphicData uri="http://schemas.openxmlformats.org/drawingml/2006/table">
            <a:tbl>
              <a:tblPr/>
              <a:tblGrid>
                <a:gridCol w="2331720">
                  <a:extLst>
                    <a:ext uri="{9D8B030D-6E8A-4147-A177-3AD203B41FA5}">
                      <a16:colId xmlns:a16="http://schemas.microsoft.com/office/drawing/2014/main" val="20000"/>
                    </a:ext>
                  </a:extLst>
                </a:gridCol>
                <a:gridCol w="4270248">
                  <a:extLst>
                    <a:ext uri="{9D8B030D-6E8A-4147-A177-3AD203B41FA5}">
                      <a16:colId xmlns:a16="http://schemas.microsoft.com/office/drawing/2014/main" val="20001"/>
                    </a:ext>
                  </a:extLst>
                </a:gridCol>
                <a:gridCol w="4270248">
                  <a:extLst>
                    <a:ext uri="{9D8B030D-6E8A-4147-A177-3AD203B41FA5}">
                      <a16:colId xmlns:a16="http://schemas.microsoft.com/office/drawing/2014/main" val="20002"/>
                    </a:ext>
                  </a:extLst>
                </a:gridCol>
              </a:tblGrid>
              <a:tr h="365760">
                <a:tc>
                  <a:txBody>
                    <a:bodyPr/>
                    <a:lstStyle/>
                    <a:p>
                      <a:pPr marL="0" indent="0" algn="ctr">
                        <a:buNone/>
                      </a:pP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카라츠바 (§4.7)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tc>
                  <a:txBody>
                    <a:bodyPr/>
                    <a:lstStyle/>
                    <a:p>
                      <a:pPr marL="0" indent="0" algn="ctr">
                        <a:buNone/>
                      </a:pPr>
                      <a:r>
                        <a:rPr sz="1150" b="1">
                          <a:solidFill>
                            <a:srgbClr val="FFFFFF"/>
                          </a:solidFill>
                          <a:latin typeface="Malgun Gothic"/>
                          <a:ea typeface="Malgun Gothic"/>
                          <a:cs typeface="Malgun Gothic"/>
                        </a:rPr>
                        <a:t>스트라센 (§4.8)</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171717"/>
                    </a:solidFill>
                  </a:tcPr>
                </a:tc>
                <a:extLst>
                  <a:ext uri="{0D108BD9-81ED-4DB2-BD59-A6C34878D82A}">
                    <a16:rowId xmlns:a16="http://schemas.microsoft.com/office/drawing/2014/main" val="10000"/>
                  </a:ext>
                </a:extLst>
              </a:tr>
              <a:tr h="365760">
                <a:tc>
                  <a:txBody>
                    <a:bodyPr/>
                    <a:lstStyle/>
                    <a:p>
                      <a:pPr marL="0" indent="0" algn="l">
                        <a:buNone/>
                      </a:pPr>
                      <a:r>
                        <a:rPr sz="1150" b="0">
                          <a:solidFill>
                            <a:srgbClr val="171717"/>
                          </a:solidFill>
                          <a:latin typeface="Malgun Gothic"/>
                          <a:ea typeface="Malgun Gothic"/>
                          <a:cs typeface="Malgun Gothic"/>
                        </a:rPr>
                        <a:t>대상</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큰 정수의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n × n 행렬의 곱셈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sz="1150" b="0">
                          <a:solidFill>
                            <a:srgbClr val="171717"/>
                          </a:solidFill>
                          <a:latin typeface="Malgun Gothic"/>
                          <a:ea typeface="Malgun Gothic"/>
                          <a:cs typeface="Malgun Gothic"/>
                        </a:rPr>
                        <a:t>소박한 분할</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곱셈 4번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블록 곱셈 8번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2"/>
                  </a:ext>
                </a:extLst>
              </a:tr>
              <a:tr h="365760">
                <a:tc>
                  <a:txBody>
                    <a:bodyPr/>
                    <a:lstStyle/>
                    <a:p>
                      <a:pPr marL="0" indent="0" algn="l">
                        <a:buNone/>
                      </a:pPr>
                      <a:r>
                        <a:rPr sz="1150" b="0">
                          <a:solidFill>
                            <a:srgbClr val="171717"/>
                          </a:solidFill>
                          <a:latin typeface="Malgun Gothic"/>
                          <a:ea typeface="Malgun Gothic"/>
                          <a:cs typeface="Malgun Gothic"/>
                        </a:rPr>
                        <a:t>개선 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곱셈 3번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블록 곱셈 7번</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sz="1150" b="0">
                          <a:solidFill>
                            <a:srgbClr val="171717"/>
                          </a:solidFill>
                          <a:latin typeface="Malgun Gothic"/>
                          <a:ea typeface="Malgun Gothic"/>
                          <a:cs typeface="Malgun Gothic"/>
                        </a:rPr>
                        <a:t>점화식</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3T(n/2) + O(n)</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T(n) = 7T(n/2) + 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4"/>
                  </a:ext>
                </a:extLst>
              </a:tr>
              <a:tr h="365760">
                <a:tc>
                  <a:txBody>
                    <a:bodyPr/>
                    <a:lstStyle/>
                    <a:p>
                      <a:pPr marL="0" indent="0" algn="l">
                        <a:buNone/>
                      </a:pPr>
                      <a:r>
                        <a:rPr sz="1150" b="0">
                          <a:solidFill>
                            <a:srgbClr val="171717"/>
                          </a:solidFill>
                          <a:latin typeface="Malgun Gothic"/>
                          <a:ea typeface="Malgun Gothic"/>
                          <a:cs typeface="Malgun Gothic"/>
                        </a:rPr>
                        <a:t>시간 복잡도</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O(n^1.585)</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tc>
                  <a:txBody>
                    <a:bodyPr/>
                    <a:lstStyle/>
                    <a:p>
                      <a:pPr marL="0" indent="0" algn="ctr">
                        <a:buNone/>
                      </a:pPr>
                      <a:r>
                        <a:rPr sz="1150" b="0">
                          <a:solidFill>
                            <a:srgbClr val="171717"/>
                          </a:solidFill>
                          <a:latin typeface="Malgun Gothic"/>
                          <a:ea typeface="Malgun Gothic"/>
                          <a:cs typeface="Malgun Gothic"/>
                        </a:rPr>
                        <a:t>O(n^2.807)</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sz="1150" b="0">
                          <a:solidFill>
                            <a:srgbClr val="171717"/>
                          </a:solidFill>
                          <a:latin typeface="Malgun Gothic"/>
                          <a:ea typeface="Malgun Gothic"/>
                          <a:cs typeface="Malgun Gothic"/>
                        </a:rPr>
                        <a:t>기존 방법</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O(n²)</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tc>
                  <a:txBody>
                    <a:bodyPr/>
                    <a:lstStyle/>
                    <a:p>
                      <a:pPr marL="0" indent="0" algn="ctr">
                        <a:buNone/>
                      </a:pPr>
                      <a:r>
                        <a:rPr sz="1150" b="0">
                          <a:solidFill>
                            <a:srgbClr val="171717"/>
                          </a:solidFill>
                          <a:latin typeface="Malgun Gothic"/>
                          <a:ea typeface="Malgun Gothic"/>
                          <a:cs typeface="Malgun Gothic"/>
                        </a:rPr>
                        <a:t>O(n³)</a:t>
                      </a:r>
                      <a:endParaRPr sz="1150">
                        <a:latin typeface="Malgun Gothic"/>
                        <a:ea typeface="Malgun Gothic"/>
                        <a:cs typeface="Malgun Gothic"/>
                      </a:endParaRPr>
                    </a:p>
                  </a:txBody>
                  <a:tcPr marL="101600" marR="101600" marT="50800" marB="50800" anchor="ctr">
                    <a:lnL w="12700" cmpd="sng">
                      <a:solidFill>
                        <a:srgbClr val="E5E5F0"/>
                      </a:solidFill>
                      <a:prstDash val="solid"/>
                    </a:lnL>
                    <a:lnR w="12700" cmpd="sng">
                      <a:solidFill>
                        <a:srgbClr val="E5E5F0"/>
                      </a:solidFill>
                      <a:prstDash val="solid"/>
                    </a:lnR>
                    <a:lnT w="12700" cmpd="sng">
                      <a:solidFill>
                        <a:srgbClr val="E5E5F0"/>
                      </a:solidFill>
                      <a:prstDash val="solid"/>
                    </a:lnT>
                    <a:lnB w="12700" cmpd="sng">
                      <a:solidFill>
                        <a:srgbClr val="E5E5F0"/>
                      </a:solidFill>
                      <a:prstDash val="solid"/>
                    </a:lnB>
                    <a:solidFill>
                      <a:srgbClr val="F3F3F3"/>
                    </a:solidFill>
                  </a:tcPr>
                </a:tc>
                <a:extLst>
                  <a:ext uri="{0D108BD9-81ED-4DB2-BD59-A6C34878D82A}">
                    <a16:rowId xmlns:a16="http://schemas.microsoft.com/office/drawing/2014/main" val="10006"/>
                  </a:ext>
                </a:extLst>
              </a:tr>
            </a:tbl>
          </a:graphicData>
        </a:graphic>
      </p:graphicFrame>
      <p:sp>
        <p:nvSpPr>
          <p:cNvPr id="12" name="Text 7">
            <a:extLst>
              <a:ext uri="{FF2B5EF4-FFF2-40B4-BE49-F238E27FC236}">
                <a16:creationId xmlns:a16="http://schemas.microsoft.com/office/drawing/2014/main" id="{0147ABC6-DCE9-4A46-8E9D-1BD9FE9989A3}"/>
              </a:ext>
            </a:extLst>
          </p:cNvPr>
          <p:cNvSpPr>
            <a:spLocks noGrp="1"/>
          </p:cNvSpPr>
          <p:nvPr/>
        </p:nvSpPr>
        <p:spPr>
          <a:xfrm>
            <a:off x="1517904" y="5760720"/>
            <a:ext cx="9756648" cy="237744"/>
          </a:xfrm>
          <a:prstGeom prst="rect">
            <a:avLst/>
          </a:prstGeom>
          <a:noFill/>
          <a:ln w="0">
            <a:noFill/>
          </a:ln>
        </p:spPr>
        <p:txBody>
          <a:bodyPr wrap="square" lIns="0" tIns="0" rIns="0" bIns="0" anchor="ctr">
            <a:noAutofit/>
          </a:bodyPr>
          <a:lstStyle/>
          <a:p>
            <a:pPr marL="0" indent="0" algn="l">
              <a:lnSpc>
                <a:spcPct val="134000"/>
              </a:lnSpc>
              <a:buNone/>
              <a:defRPr sz="1250" i="0">
                <a:solidFill>
                  <a:srgbClr val="171717"/>
                </a:solidFill>
                <a:latin typeface="Malgun Gothic"/>
                <a:ea typeface="Malgun Gothic"/>
                <a:cs typeface="Malgun Gothic"/>
              </a:defRPr>
            </a:pPr>
            <a:r>
              <a:rPr sz="1250" i="0">
                <a:solidFill>
                  <a:srgbClr val="171717"/>
                </a:solidFill>
                <a:latin typeface="Malgun Gothic"/>
                <a:ea typeface="Malgun Gothic"/>
                <a:cs typeface="Malgun Gothic"/>
              </a:rPr>
              <a:t>두 알고리즘의 공통 교훈 — 값싼 덧셈을 늘려서라도 비싼 재귀 호출 횟수 a 를 줄여라.</a:t>
            </a:r>
            <a:endParaRPr sz="1250"/>
          </a:p>
        </p:txBody>
      </p:sp>
      <p:sp>
        <p:nvSpPr>
          <p:cNvPr id="16" name="직사각형 15">
            <a:extLst>
              <a:ext uri="{FF2B5EF4-FFF2-40B4-BE49-F238E27FC236}">
                <a16:creationId xmlns:a16="http://schemas.microsoft.com/office/drawing/2014/main" id="{83F5AFD3-8D61-4C71-B1CC-F8C1D8C3026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4.9  </a:t>
            </a:r>
            <a:r>
              <a:rPr lang="ko-KR" altLang="en-US" sz="1050" b="1" i="0">
                <a:solidFill>
                  <a:srgbClr val="606060"/>
                </a:solidFill>
                <a:latin typeface="Malgun Gothic"/>
                <a:ea typeface="Malgun Gothic"/>
                <a:cs typeface="Malgun Gothic"/>
              </a:rPr>
              <a:t>스트라센 알고리즘</a:t>
            </a:r>
            <a:endParaRPr sz="1050" b="1" i="0">
              <a:solidFill>
                <a:srgbClr val="606060"/>
              </a:solidFill>
              <a:latin typeface="Malgun Gothic"/>
              <a:ea typeface="Malgun Gothic"/>
              <a:cs typeface="Malgun Gothic"/>
            </a:endParaRPr>
          </a:p>
        </p:txBody>
      </p:sp>
      <p:sp>
        <p:nvSpPr>
          <p:cNvPr id="17" name="직사각형 16">
            <a:extLst>
              <a:ext uri="{FF2B5EF4-FFF2-40B4-BE49-F238E27FC236}">
                <a16:creationId xmlns:a16="http://schemas.microsoft.com/office/drawing/2014/main" id="{2FDE12BE-45E4-4AF7-B107-A879090BAE4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18" name="직사각형 17">
            <a:extLst>
              <a:ext uri="{FF2B5EF4-FFF2-40B4-BE49-F238E27FC236}">
                <a16:creationId xmlns:a16="http://schemas.microsoft.com/office/drawing/2014/main" id="{3BD3FB1A-B540-4A85-A9C1-65725962D76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복잡도 분석과 두 알고리즘의 공통점</a:t>
            </a:r>
          </a:p>
        </p:txBody>
      </p:sp>
      <p:sp>
        <p:nvSpPr>
          <p:cNvPr id="19" name="직사각형 18">
            <a:extLst>
              <a:ext uri="{FF2B5EF4-FFF2-40B4-BE49-F238E27FC236}">
                <a16:creationId xmlns:a16="http://schemas.microsoft.com/office/drawing/2014/main" id="{6C92FCDB-EA9F-4023-9FCB-D74EB4270497}"/>
              </a:ext>
            </a:extLst>
          </p:cNvPr>
          <p:cNvSpPr>
            <a:spLocks noGrp="1"/>
          </p:cNvSpPr>
          <p:nvPr/>
        </p:nvSpPr>
        <p:spPr>
          <a:xfrm>
            <a:off x="609600" y="1381125"/>
            <a:ext cx="10972800" cy="19050"/>
          </a:xfrm>
          <a:prstGeom prst="rect">
            <a:avLst/>
          </a:prstGeom>
          <a:solidFill>
            <a:srgbClr val="171717"/>
          </a:solidFill>
          <a:ln w="0">
            <a:noFill/>
          </a:ln>
        </p:spPr>
      </p:sp>
      <p:sp>
        <p:nvSpPr>
          <p:cNvPr id="20" name="직사각형 19">
            <a:extLst>
              <a:ext uri="{FF2B5EF4-FFF2-40B4-BE49-F238E27FC236}">
                <a16:creationId xmlns:a16="http://schemas.microsoft.com/office/drawing/2014/main" id="{8EF24FA7-E678-43E3-AE8F-36FC7EBC52AA}"/>
              </a:ext>
            </a:extLst>
          </p:cNvPr>
          <p:cNvSpPr>
            <a:spLocks noGrp="1"/>
          </p:cNvSpPr>
          <p:nvPr/>
        </p:nvSpPr>
        <p:spPr>
          <a:xfrm>
            <a:off x="609600" y="6438900"/>
            <a:ext cx="10972800" cy="9525"/>
          </a:xfrm>
          <a:prstGeom prst="rect">
            <a:avLst/>
          </a:prstGeom>
          <a:solidFill>
            <a:srgbClr val="D4D4D4"/>
          </a:solidFill>
          <a:ln w="0">
            <a:noFill/>
          </a:ln>
        </p:spPr>
      </p:sp>
      <p:sp>
        <p:nvSpPr>
          <p:cNvPr id="21" name="직사각형 20">
            <a:extLst>
              <a:ext uri="{FF2B5EF4-FFF2-40B4-BE49-F238E27FC236}">
                <a16:creationId xmlns:a16="http://schemas.microsoft.com/office/drawing/2014/main" id="{4BF69BA8-AE71-4A40-AC0A-C782BE85FDF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2" name="직사각형 21">
            <a:extLst>
              <a:ext uri="{FF2B5EF4-FFF2-40B4-BE49-F238E27FC236}">
                <a16:creationId xmlns:a16="http://schemas.microsoft.com/office/drawing/2014/main" id="{C8A83022-6FB0-45DD-AA6D-CBCE102DB71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4273601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4.10</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84</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재귀 호출 횟수 a를 줄여라</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카라츠바(4→3)와 스트라센(8→7)은 값싼 덧셈으로 비싼 곱셈을 대체했다.</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88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89</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16639</Words>
  <Application>Microsoft Office PowerPoint</Application>
  <DocSecurity>0</DocSecurity>
  <PresentationFormat>와이드스크린</PresentationFormat>
  <Paragraphs>2115</Paragraphs>
  <Slides>89</Slides>
  <Notes>89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89</vt:i4>
      </vt:variant>
    </vt:vector>
  </HeadingPairs>
  <TitlesOfParts>
    <vt:vector size="9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5</cp:revision>
  <dcterms:created xsi:type="dcterms:W3CDTF">2026-09-19T13:48:20Z</dcterms:created>
  <dcterms:modified xsi:type="dcterms:W3CDTF">2026-10-11T08:44:42Z</dcterms:modified>
</cp:coreProperties>
</file>