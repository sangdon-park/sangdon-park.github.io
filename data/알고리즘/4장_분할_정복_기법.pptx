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charts/chart1.xml" ContentType="application/vnd.openxmlformats-officedocument.drawingml.chart+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5"/>
  </p:notesMasterIdLst>
  <p:sldIdLst>
    <p:sldId id="256" r:id="rId2"/>
    <p:sldId id="257" r:id="rId3"/>
    <p:sldId id="258" r:id="rId4"/>
    <p:sldId id="259" r:id="rId5"/>
    <p:sldId id="260" r:id="rId6"/>
    <p:sldId id="261" r:id="rId7"/>
    <p:sldId id="320" r:id="rId8"/>
    <p:sldId id="345" r:id="rId9"/>
    <p:sldId id="346" r:id="rId10"/>
    <p:sldId id="347" r:id="rId11"/>
    <p:sldId id="348" r:id="rId12"/>
    <p:sldId id="349" r:id="rId13"/>
    <p:sldId id="350" r:id="rId14"/>
    <p:sldId id="351" r:id="rId15"/>
    <p:sldId id="352" r:id="rId16"/>
    <p:sldId id="353" r:id="rId17"/>
    <p:sldId id="354" r:id="rId18"/>
    <p:sldId id="355" r:id="rId19"/>
    <p:sldId id="356" r:id="rId20"/>
    <p:sldId id="357" r:id="rId21"/>
    <p:sldId id="358" r:id="rId22"/>
    <p:sldId id="359" r:id="rId23"/>
    <p:sldId id="360" r:id="rId24"/>
    <p:sldId id="361" r:id="rId25"/>
    <p:sldId id="362" r:id="rId26"/>
    <p:sldId id="363" r:id="rId27"/>
    <p:sldId id="364" r:id="rId28"/>
    <p:sldId id="365" r:id="rId29"/>
    <p:sldId id="366" r:id="rId30"/>
    <p:sldId id="367" r:id="rId31"/>
    <p:sldId id="368" r:id="rId32"/>
    <p:sldId id="369" r:id="rId33"/>
    <p:sldId id="370" r:id="rId34"/>
    <p:sldId id="323" r:id="rId35"/>
    <p:sldId id="324" r:id="rId36"/>
    <p:sldId id="325" r:id="rId37"/>
    <p:sldId id="262" r:id="rId38"/>
    <p:sldId id="263" r:id="rId39"/>
    <p:sldId id="264" r:id="rId40"/>
    <p:sldId id="265" r:id="rId41"/>
    <p:sldId id="266" r:id="rId42"/>
    <p:sldId id="267" r:id="rId43"/>
    <p:sldId id="268" r:id="rId44"/>
    <p:sldId id="269" r:id="rId45"/>
    <p:sldId id="270" r:id="rId46"/>
    <p:sldId id="271" r:id="rId47"/>
    <p:sldId id="326" r:id="rId48"/>
    <p:sldId id="327" r:id="rId49"/>
    <p:sldId id="328" r:id="rId50"/>
    <p:sldId id="329" r:id="rId51"/>
    <p:sldId id="330" r:id="rId52"/>
    <p:sldId id="331" r:id="rId53"/>
    <p:sldId id="332" r:id="rId54"/>
    <p:sldId id="333" r:id="rId55"/>
    <p:sldId id="334" r:id="rId56"/>
    <p:sldId id="335" r:id="rId57"/>
    <p:sldId id="336" r:id="rId58"/>
    <p:sldId id="337" r:id="rId59"/>
    <p:sldId id="338" r:id="rId60"/>
    <p:sldId id="339" r:id="rId61"/>
    <p:sldId id="340" r:id="rId62"/>
    <p:sldId id="341" r:id="rId63"/>
    <p:sldId id="342" r:id="rId64"/>
    <p:sldId id="343" r:id="rId65"/>
    <p:sldId id="344" r:id="rId66"/>
    <p:sldId id="272" r:id="rId67"/>
    <p:sldId id="273" r:id="rId68"/>
    <p:sldId id="274" r:id="rId69"/>
    <p:sldId id="275" r:id="rId70"/>
    <p:sldId id="276" r:id="rId71"/>
    <p:sldId id="277" r:id="rId72"/>
    <p:sldId id="278" r:id="rId73"/>
    <p:sldId id="279" r:id="rId74"/>
    <p:sldId id="280" r:id="rId75"/>
    <p:sldId id="281" r:id="rId76"/>
    <p:sldId id="282" r:id="rId77"/>
    <p:sldId id="283" r:id="rId78"/>
    <p:sldId id="284" r:id="rId79"/>
    <p:sldId id="285" r:id="rId80"/>
    <p:sldId id="286" r:id="rId81"/>
    <p:sldId id="287" r:id="rId82"/>
    <p:sldId id="288" r:id="rId83"/>
    <p:sldId id="289" r:id="rId84"/>
    <p:sldId id="290" r:id="rId85"/>
    <p:sldId id="291" r:id="rId86"/>
    <p:sldId id="292" r:id="rId87"/>
    <p:sldId id="293" r:id="rId88"/>
    <p:sldId id="294" r:id="rId89"/>
    <p:sldId id="295" r:id="rId90"/>
    <p:sldId id="296" r:id="rId91"/>
    <p:sldId id="297" r:id="rId92"/>
    <p:sldId id="298" r:id="rId93"/>
    <p:sldId id="299" r:id="rId94"/>
    <p:sldId id="300" r:id="rId95"/>
    <p:sldId id="301" r:id="rId96"/>
    <p:sldId id="302" r:id="rId97"/>
    <p:sldId id="303" r:id="rId98"/>
    <p:sldId id="304" r:id="rId99"/>
    <p:sldId id="305" r:id="rId100"/>
    <p:sldId id="306" r:id="rId101"/>
    <p:sldId id="307" r:id="rId102"/>
    <p:sldId id="308" r:id="rId103"/>
    <p:sldId id="309" r:id="rId104"/>
    <p:sldId id="310" r:id="rId105"/>
    <p:sldId id="311" r:id="rId106"/>
    <p:sldId id="312" r:id="rId107"/>
    <p:sldId id="313" r:id="rId108"/>
    <p:sldId id="314" r:id="rId109"/>
    <p:sldId id="315" r:id="rId110"/>
    <p:sldId id="316" r:id="rId111"/>
    <p:sldId id="317" r:id="rId112"/>
    <p:sldId id="318" r:id="rId113"/>
    <p:sldId id="319" r:id="rId114"/>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viewProps" Target="view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변화</c:v>
          </c:tx>
          <c:spPr>
            <a:solidFill>
              <a:srgbClr val="7A9FA9"/>
            </a:solidFill>
          </c:spPr>
          <c:invertIfNegative val="0"/>
          <c:dPt>
            <c:idx val="2"/>
            <c:invertIfNegative val="0"/>
            <c:bubble3D val="0"/>
            <c:spPr>
              <a:solidFill>
                <a:srgbClr val="EA8D47"/>
              </a:solidFill>
            </c:spPr>
            <c:extLst>
              <c:ext xmlns:c16="http://schemas.microsoft.com/office/drawing/2014/chart" uri="{C3380CC4-5D6E-409C-BE32-E72D297353CC}">
                <c16:uniqueId val="{00000001-5D01-4430-8A6B-B253845AB292}"/>
              </c:ext>
            </c:extLst>
          </c:dPt>
          <c:dPt>
            <c:idx val="3"/>
            <c:invertIfNegative val="0"/>
            <c:bubble3D val="0"/>
            <c:spPr>
              <a:solidFill>
                <a:srgbClr val="EA8D47"/>
              </a:solidFill>
            </c:spPr>
            <c:extLst>
              <c:ext xmlns:c16="http://schemas.microsoft.com/office/drawing/2014/chart" uri="{C3380CC4-5D6E-409C-BE32-E72D297353CC}">
                <c16:uniqueId val="{00000003-5D01-4430-8A6B-B253845AB292}"/>
              </c:ext>
            </c:extLst>
          </c:dPt>
          <c:dPt>
            <c:idx val="4"/>
            <c:invertIfNegative val="0"/>
            <c:bubble3D val="0"/>
            <c:spPr>
              <a:solidFill>
                <a:srgbClr val="EA8D47"/>
              </a:solidFill>
            </c:spPr>
            <c:extLst>
              <c:ext xmlns:c16="http://schemas.microsoft.com/office/drawing/2014/chart" uri="{C3380CC4-5D6E-409C-BE32-E72D297353CC}">
                <c16:uniqueId val="{00000005-5D01-4430-8A6B-B253845AB292}"/>
              </c:ext>
            </c:extLst>
          </c:dPt>
          <c:dLbls>
            <c:dLbl>
              <c:idx val="0"/>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D01-4430-8A6B-B253845AB292}"/>
                </c:ext>
              </c:extLst>
            </c:dLbl>
            <c:dLbl>
              <c:idx val="1"/>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D01-4430-8A6B-B253845AB292}"/>
                </c:ext>
              </c:extLst>
            </c:dLbl>
            <c:dLbl>
              <c:idx val="2"/>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01-4430-8A6B-B253845AB292}"/>
                </c:ext>
              </c:extLst>
            </c:dLbl>
            <c:dLbl>
              <c:idx val="3"/>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D01-4430-8A6B-B253845AB292}"/>
                </c:ext>
              </c:extLst>
            </c:dLbl>
            <c:dLbl>
              <c:idx val="4"/>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D01-4430-8A6B-B253845AB292}"/>
                </c:ext>
              </c:extLst>
            </c:dLbl>
            <c:dLbl>
              <c:idx val="5"/>
              <c:spPr/>
              <c:txPr>
                <a:bodyPr anchorCtr="1"/>
                <a:lstStyle/>
                <a:p>
                  <a:pPr>
                    <a:defRPr sz="1350" b="1">
                      <a:solidFill>
                        <a:srgbClr val="FFFFFF"/>
                      </a:solidFill>
                      <a:latin typeface="Malgun Gothic"/>
                      <a:ea typeface="Malgun Gothic"/>
                      <a:cs typeface="Malgun Gothic"/>
                    </a:defRPr>
                  </a:pPr>
                  <a:endParaRPr lang="ko-KR"/>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D01-4430-8A6B-B253845AB2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1일</c:v>
                </c:pt>
                <c:pt idx="1">
                  <c:v>2일</c:v>
                </c:pt>
                <c:pt idx="2">
                  <c:v>3일</c:v>
                </c:pt>
                <c:pt idx="3">
                  <c:v>4일</c:v>
                </c:pt>
                <c:pt idx="4">
                  <c:v>5일</c:v>
                </c:pt>
                <c:pt idx="5">
                  <c:v>6일</c:v>
                </c:pt>
              </c:strCache>
            </c:strRef>
          </c:cat>
          <c:val>
            <c:numRef>
              <c:f>'Chart Data'!$B$2:$B$7</c:f>
              <c:numCache>
                <c:formatCode>General</c:formatCode>
                <c:ptCount val="6"/>
                <c:pt idx="0">
                  <c:v>3</c:v>
                </c:pt>
                <c:pt idx="1">
                  <c:v>-5</c:v>
                </c:pt>
                <c:pt idx="2">
                  <c:v>12</c:v>
                </c:pt>
                <c:pt idx="3">
                  <c:v>-2</c:v>
                </c:pt>
                <c:pt idx="4">
                  <c:v>7</c:v>
                </c:pt>
                <c:pt idx="5">
                  <c:v>-9</c:v>
                </c:pt>
              </c:numCache>
            </c:numRef>
          </c:val>
          <c:extLst>
            <c:ext xmlns:c16="http://schemas.microsoft.com/office/drawing/2014/chart" uri="{C3380CC4-5D6E-409C-BE32-E72D297353CC}">
              <c16:uniqueId val="{00000009-5D01-4430-8A6B-B253845AB292}"/>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0"/>
        </c:scaling>
        <c:delete val="0"/>
        <c:axPos val="l"/>
        <c:majorGridlines>
          <c:spPr>
            <a:ln w="9525">
              <a:solidFill>
                <a:srgbClr val="DDDDDD"/>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50112"/>
        <c:crosses val="autoZero"/>
        <c:crossBetween val="between"/>
        <c:majorUnit val="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장에서는 분할 정복의 기본을 먼저 보고</a:t>
            </a:r>
            <a:r>
              <a:rPr lang="en-US" altLang="ko-KR"/>
              <a:t>, </a:t>
            </a:r>
            <a:r>
              <a:rPr lang="ko-KR" altLang="en-US"/>
              <a:t>머지 소트와 퀵 소트를 이어서 배웁니다</a:t>
            </a:r>
            <a:r>
              <a:rPr lang="en-US" altLang="ko-KR"/>
              <a:t>. </a:t>
            </a:r>
            <a:r>
              <a:rPr lang="ko-KR" altLang="en-US"/>
              <a:t>머지 소트는 반으로 나누고 정렬한 결과를 합칩니다</a:t>
            </a:r>
            <a:r>
              <a:rPr lang="en-US" altLang="ko-KR"/>
              <a:t>. </a:t>
            </a:r>
            <a:r>
              <a:rPr lang="ko-KR" altLang="en-US"/>
              <a:t>퀵 소트는 피벗을 기준으로 값을 나눕니다</a:t>
            </a:r>
            <a:r>
              <a:rPr lang="en-US" altLang="ko-KR"/>
              <a:t>. </a:t>
            </a:r>
            <a:r>
              <a:rPr lang="ko-KR" altLang="en-US"/>
              <a:t>두 정렬의 차이를 익힌 다음에는 최대 구간 합과 최근접 쌍</a:t>
            </a:r>
            <a:r>
              <a:rPr lang="en-US" altLang="ko-KR"/>
              <a:t>, </a:t>
            </a:r>
            <a:r>
              <a:rPr lang="ko-KR" altLang="en-US"/>
              <a:t>쿼드 트리 같은 응용을 보겠습니다</a:t>
            </a:r>
            <a:r>
              <a:rPr lang="en-US" altLang="ko-KR"/>
              <a:t>. </a:t>
            </a:r>
            <a:r>
              <a:rPr lang="ko-KR" altLang="en-US"/>
              <a:t>마스터 정리로 시간 복잡도를 정리하고</a:t>
            </a:r>
            <a:r>
              <a:rPr lang="en-US" altLang="ko-KR"/>
              <a:t>, </a:t>
            </a:r>
            <a:r>
              <a:rPr lang="ko-KR" altLang="en-US"/>
              <a:t>카라츠바와 스트라센의 아이디어도 살펴봅니다</a:t>
            </a:r>
            <a:r>
              <a:rPr lang="en-US" altLang="ko-KR"/>
              <a:t>. </a:t>
            </a:r>
            <a:r>
              <a:rPr lang="ko-KR" altLang="en-US"/>
              <a:t>마지막에는 색종이 만들기와 빠른 거듭제곱 예제를 풀어보겠습니다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endParaRP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endParaRP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endParaRP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나누는 단계부터 빠짐없이 보겠습니다. 맨 위에는 8, 3, 6, 2, 7, 1, 5, 4가 있습니다. 여덟 개의 가운데를 기준으로 왼쪽 네 개와 오른쪽 네 개를 나눕니다. 왼쪽은 8, 3, 6, 2이고 오른쪽은 7, 1, 5, 4입니다. 화면의 선은 어느 묶음이 어느 묶음으로 나뉘었는지 보여줍니다.</a:t>
            </a:r>
          </a:p>
          <a:p>
            <a:endParaRPr/>
          </a:p>
          <a:p>
            <a:r>
              <a:t>여기서 숫자의 크기는 아직 비교하지 않습니다. 가장 큰 8이 왼쪽에 있고 가장 작은 1이 오른쪽에 그대로 있죠. 작은 수를 왼쪽으로 옮기는 작업이 아닙니다. 현재 놓인 순서를 유지하면서 가운데 위치에서 구간만 자르는 것입니다. 그래서 나누기 직후의 두 배열은 아직 정렬되지 않았습니다.</a:t>
            </a:r>
          </a:p>
          <a:p>
            <a:endParaRPr/>
          </a:p>
          <a:p>
            <a:r>
              <a:t>코드에서는 원소 수의 절반을 mid로 잡고, 그 앞을 왼쪽 입력으로, 그 뒤를 오른쪽 입력으로 넘깁니다. Python에서는 왼쪽을 정렬하는 재귀 호출이 먼저 실행됩니다. 왼쪽 네 개도 아직 크므로 더 나눠야 합니다. 오른쪽 네 개의 호출은 왼쪽 호출이 끝나서 돌아온 다음에 실행됩니다.</a:t>
            </a:r>
          </a:p>
          <a:p>
            <a:endParaRPr/>
          </a:p>
          <a:p>
            <a:r>
              <a:t>지금 그림은 어떤 구간으로 나눌지 보여주는 전체 구조입니다. 두 가지를 구분해 주세요. 나누는 기준은 값의 크기가 아니라 가운데 위치이고, 두 재귀 호출의 실행은 동시에 일어나는 것이 아니라 왼쪽부터 차례대로 일어납니다. 다음 화면에서는 네 개짜리 구간 안쪽을 더 나눠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928843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네 개짜리 구간을 다시 반씩 나눕니다. 왼쪽의 8, 3, 6, 2는 8, 3과 6, 2가 됩니다. 오른쪽의 7, 1, 5, 4는 7, 1과 5, 4가 됩니다. 화면 아래에 두 개짜리 묶음이 네 개 생겼습니다. 위에서 내려오는 선을 따라가면 각 묶음이 어느 구간에서 나왔는지 알 수 있습니다.</a:t>
            </a:r>
          </a:p>
          <a:p>
            <a:endParaRPr/>
          </a:p>
          <a:p>
            <a:r>
              <a:t>여전히 값의 순서는 바꾸지 않았습니다. 8, 3을 나눠 얻었다고 해서 3, 8로 정렬한 것은 아니죠. 6, 2도 6이 먼저 있고, 7, 1과 5, 4도 원래 순서입니다. 병합 정렬에서 나누는 단계는 문제의 크기를 줄이는 단계입니다. 정렬은 뒤에서 두 결과를 합칠 때 일어납니다.</a:t>
            </a:r>
          </a:p>
          <a:p>
            <a:endParaRPr/>
          </a:p>
          <a:p>
            <a:r>
              <a:t>실제 호출은 맨 왼쪽의 8, 3부터 내려갑니다. 그 호출을 끝내고 나서 같은 부모 안의 6, 2를 처리합니다. 두 결과를 받은 뒤에는 왼쪽 네 개를 합칠 수 있습니다. 그때까지 오른쪽 네 개는 기다립니다. 지금 네 묶음이 같은 줄에 있다고 해서 컴퓨터가 네 묶음을 한꺼번에 처리한다고 생각하면 안 됩니다.</a:t>
            </a:r>
          </a:p>
          <a:p>
            <a:endParaRPr/>
          </a:p>
          <a:p>
            <a:r>
              <a:t>두 개짜리 구간도 아직 원소가 둘이니까 한 번 더 나눕니다. 다음 화면에서 원소 하나만 남을 때까지 내려가겠습니다. 그 뒤에는 이번에 만든 구간들이 정렬된 결과를 받아 위로 돌아오는 모습을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85918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마지막 나누기입니다. 8, 3을 8 하나와 3 하나로 나누고, 6, 2를 6 하나와 2 하나로 나눕니다. 오른쪽에서도 7 하나, 1 하나, 5 하나, 4 하나가 됩니다. 아래 줄에 한 원소짜리 배열이 여덟 개 보입니다. 처음 배열의 값이 빠지거나 새로 생긴 것은 아닙니다. 같은 여덟 값을 작은 구간으로 나눠 바라보고 있습니다.</a:t>
            </a:r>
          </a:p>
          <a:p>
            <a:endParaRPr/>
          </a:p>
          <a:p>
            <a:r>
              <a:t>원소 하나인 배열은 이미 정렬되어 있다고 봅니다. 예를 들어 8 하나만 있는 배열에는 다른 값이 없어서 앞뒤 순서를 바꿀 일이 없죠. 이것이 재귀를 멈추는 이유입니다. 코드의 길이가 1 이하이면 바로 반환한다는 조건이 이 부분에 해당합니다. 빈 배열도 정렬할 값이 없으므로 같은 조건으로 끝냅니다.</a:t>
            </a:r>
          </a:p>
          <a:p>
            <a:endParaRPr/>
          </a:p>
          <a:p>
            <a:r>
              <a:t>처음의 8, 3을 정렬하는 호출은 왼쪽에서 8 하나를 돌려받고, 오른쪽에서 3 하나를 돌려받습니다. 두 입력이 각각 정렬되어 있으니 이제 merge를 호출할 수 있습니다. 작은 3을 먼저 놓고 8을 뒤에 놓으면 두 원소가 정렬됩니다. 이 두 개짜리 결과가 다시 위쪽 호출로 돌아갑니다.</a:t>
            </a:r>
          </a:p>
          <a:p>
            <a:endParaRPr/>
          </a:p>
          <a:p>
            <a:r>
              <a:t>한 원소를 반환하는 것은 정렬된 작은 문제의 답을 만드는 과정입니다. 그 답 두 개를 받아 더 큰 답을 만드는 것이 병합이고요. 다음 화면에서 실제 병합 순서를 먼저 확인한 뒤, 첫 번째 병합부터 마지막까지 모든 값의 비교와 화살표 이동을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91507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병합은 총 일곱 번 일어납니다. 아래에는 방금 나눈 한 원소짜리 배열이 있고, 위에는 병합해서 돌아올 결과가 있습니다. 그림을 아래에서 위로 읽어 주세요. 숫자에 붙인 동그라미 1번부터 7번은 실제 Python 재귀 코드가 병합을 실행하는 순서입니다.</a:t>
            </a:r>
          </a:p>
          <a:p>
            <a:endParaRPr/>
          </a:p>
          <a:p>
            <a:r>
              <a:t>먼저 왼쪽 네 개를 끝냅니다. 1번에서 8 하나와 3 하나를 합쳐 3, 8을 만듭니다. 2번에서는 6 하나와 2 하나를 합쳐 2, 6을 만듭니다. 이제 두 결과를 다 받았으니 3번에서 3, 8과 2, 6을 합쳐 2, 3, 6, 8을 만듭니다. 왼쪽 네 개의 정렬이 여기서 끝납니다.</a:t>
            </a:r>
          </a:p>
          <a:p>
            <a:endParaRPr/>
          </a:p>
          <a:p>
            <a:r>
              <a:t>그다음 오른쪽 네 개를 처리합니다. 4번에서 7과 1을 합쳐 1, 7을 만들고, 5번에서 5와 4를 합쳐 4, 5를 만듭니다. 6번에서 이 두 결과를 합치면 1, 4, 5, 7입니다. 마지막 7번은 왼쪽 네 개의 결과와 오른쪽 네 개의 결과를 받아 전체 여덟 개를 정렬합니다.</a:t>
            </a:r>
          </a:p>
          <a:p>
            <a:endParaRPr/>
          </a:p>
          <a:p>
            <a:r>
              <a:t>아래의 병합 네 개를 전부 먼저 끝내고 위로 올라가는 순서와는 차이가 있습니다. 실제 재귀 코드는 왼쪽 호출을 끝낸 뒤 오른쪽 호출을 실행하므로, 1번과 2번 다음에 곧바로 3번이 나옵니다. 그 뒤에야 4번을 시작합니다. 그림에서 같은 줄에 있는 묶음이 동시에 실행되는 것은 아닙니다.</a:t>
            </a:r>
          </a:p>
          <a:p>
            <a:endParaRPr/>
          </a:p>
          <a:p>
            <a:r>
              <a:t>지금은 결과를 한눈에 보여주는 지도입니다. 다음부터는 이 지도에 나온 병합을 한 번도 건너뛰지 않고 차례대로 보겠습니다. 한 값이 결과에 들어갈 때마다 어느 화살표가 움직이고, 그 정렬 결과가 다음 병합의 어느 입력이 되는지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739756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병합입니다. 왼쪽 네 개 중 앞쪽의 8, 3을 한 원소씩 나눴습니다. 두 호출이 8 하나와 3 하나를 반환했으므로, 이 두 정렬된 결과를 합칠 차례입니다.</a:t>
            </a:r>
          </a:p>
          <a:p>
            <a:endParaRPr/>
          </a:p>
          <a:p>
            <a:r>
              <a:t>왼쪽 입력은 8이고 오른쪽 입력은 3입니다.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8과 오른쪽 맨 앞의 3입니다. 더 작은 3을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앞쪽 두 개입니다. 이 정렬 결과는 세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325824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3입니다. 3이 더 작으므로 오른쪽의 값을 결과 뒤에 넣었습니다. 아래 결과는 3입니다.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5333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3, 8이고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0661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병합에서 3, 8을 만들었습니다. 하지만 이것을 아직 정렬되지 않은 6, 2와 바로 합치면 안 됩니다. 왼쪽 네 개의 나머지 두 원소도 먼저 정렬해야 합니다. 6, 2를 한 원소씩 나누고, 6 하나와 2 하나를 돌려받았습니다. 이제 두 번째 병합입니다.</a:t>
            </a:r>
          </a:p>
          <a:p>
            <a:endParaRPr/>
          </a:p>
          <a:p>
            <a:r>
              <a:t>왼쪽 입력은 6이고 오른쪽 입력은 2입니다.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6과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뒤쪽 두 개입니다. 이 정렬 결과는 세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227746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6과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6이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4546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6을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2, 6이고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67754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입력은 원래의 8, 3과 6, 2가 아닙니다. 첫 번째 병합이 만든 3, 8과 두 번째 병합이 만든 2, 6입니다. 더 작은 두 문제의 정렬 결과가 이번 merge의 입력이 된 것입니다. 이 두 배열을 합치면 원래 왼쪽 네 원소 전체의 정렬이 끝납니다.</a:t>
            </a:r>
          </a:p>
          <a:p>
            <a:endParaRPr/>
          </a:p>
          <a:p>
            <a:r>
              <a:t>왼쪽 입력은 3, 8이고 오른쪽 입력은 2, 6입니다.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3과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왼쪽 4개 전체입니다. 이 병합이 끝나면 왼쪽 네 개가 완성되고, 그다음 오른쪽 네 개를 정렬합니다.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70938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3과 오른쪽 6입니다. 이 둘 중 더 작은 3을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5784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6입니다. 3이 더 작으므로 왼쪽의 값을 결과 뒤에 넣었습니다. 아래 결과는 2, 3입니다.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8과 오른쪽 6입니다. 이 둘 중 더 작은 6을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50611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6입니다. 6이 더 작으므로 오른쪽의 값을 결과 뒤에 넣었습니다. 아래 결과는 2, 3, 6입니다.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3294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2, 3, 6, 8이고 작은 값부터 정렬되어 있습니다. 새 결과를 반환하면 이번 호출이 끝납니다. 왼쪽 네 개를 정렬하는 호출이 여기서 끝나고, 처음 함수로 돌아가 오른쪽 네 개의 호출을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61599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네 개를 정렬해서 2, 3, 6, 8을 반환했습니다. 이제 처음 함수의 다음 줄로 넘어가 오른쪽 네 개를 정렬합니다. 오른쪽의 7, 1, 5, 4도 같은 방식으로 나누며, 먼저 7 하나와 1 하나의 결과를 받습니다. 이것이 네 번째 병합입니다.</a:t>
            </a:r>
          </a:p>
          <a:p>
            <a:endParaRPr/>
          </a:p>
          <a:p>
            <a:r>
              <a:t>왼쪽 입력은 7이고 오른쪽 입력은 1입니다.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7과 오른쪽 맨 앞의 1입니다.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앞쪽 두 개입니다. 이 정렬 결과는 여섯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125120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1입니다. 1이 더 작으므로 오른쪽의 값을 결과 뒤에 넣었습니다. 아래 결과는 1입니다.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65444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1, 7이고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27553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오른쪽의 앞쪽 두 원소는 네 번째 병합에서 1, 7이 되었습니다. 이제 뒤쪽의 5, 4를 처리합니다. 한 원소씩 나눠 5 하나와 4 하나를 돌려받았으므로, 이 둘을 정렬된 두 원소로 합칠 수 있습니다. 오른쪽 네 개를 합치기 전에 반드시 이 결과도 준비해야 합니다.</a:t>
            </a:r>
          </a:p>
          <a:p>
            <a:endParaRPr/>
          </a:p>
          <a:p>
            <a:r>
              <a:t>왼쪽 입력은 5이고 오른쪽 입력은 4입니다.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5과 오른쪽 맨 앞의 4입니다. 더 작은 4을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뒤쪽 두 개입니다. 이 정렬 결과는 여섯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45429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5과 오른쪽의 4입니다. 4이 더 작으므로 오른쪽의 값을 결과 뒤에 넣었습니다. 아래 결과는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5이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36344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5을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4, 5이고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15895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네 개 안의 두 작은 문제가 모두 끝났습니다. 네 번째 병합에서 1, 7을 받았고, 다섯 번째 병합에서 4, 5를 받았습니다. 따라서 지금 비교할 두 배열은 1, 7과 4, 5입니다. 원래 순서인 7, 1과 5, 4를 그대로 쓰는 것이 아닙니다. 이 병합이 끝나면 오른쪽 네 개도 정렬된 결과를 반환합니다.</a:t>
            </a:r>
          </a:p>
          <a:p>
            <a:endParaRPr/>
          </a:p>
          <a:p>
            <a:r>
              <a:t>왼쪽 입력은 1, 7이고 오른쪽 입력은 4, 5입니다.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1과 오른쪽 맨 앞의 4입니다.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오른쪽 4개 전체입니다. 이 병합이 끝나면 오른쪽 네 개가 완성되고, 마지막 전체 병합의 입력으로 넘깁니다.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857973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1과 오른쪽의 4입니다. 1이 더 작으므로 왼쪽의 값을 결과 뒤에 넣었습니다. 아래 결과는 1입니다.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4입니다. 이 둘 중 더 작은 4을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434565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4입니다. 4이 더 작으므로 오른쪽의 값을 결과 뒤에 넣었습니다. 아래 결과는 1,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5입니다. 이 둘 중 더 작은 5을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09012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5입니다. 5이 더 작으므로 오른쪽의 값을 결과 뒤에 넣었습니다. 아래 결과는 1, 4, 5입니다.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13050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1, 4, 5, 7이고 작은 값부터 정렬되어 있습니다. 새 결과를 반환하면 이번 호출이 끝납니다. 오른쪽 네 개의 정렬도 끝났습니다. 처음 함수는 앞에서 받은 왼쪽 2, 3, 6, 8과 지금 받은 오른쪽 1, 4, 5, 7을 마지막 병합에 넘깁니다.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50426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endParaRP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endParaRP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endParaRP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endParaRP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endParaRP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endParaRP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endParaRP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endParaRP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endParaRP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endParaRP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endParaRP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endParaRP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endParaRP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endParaRP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endParaRP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endParaRP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endParaRP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endParaRP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endParaRP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endParaRP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endParaRP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endParaRP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endParaRP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endParaRP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endParaRP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endParaRP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endParaRP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endParaRP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endParaRP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endParaRP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endParaRP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endParaRP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endParaRPr/>
          </a:p>
          <a:p>
            <a:r>
              <a:t>오른쪽의 마지막 7을 사용하면 제이는 4가 됩니다. 오른쪽 길이도 4이므로 맨 위 while의 조건이 거짓이 되어 비교를 멈춥니다. 하지만 왼쪽에는 8이 남아 있죠. 그래서 아래에 두 번째 while이 있습니다. 아이가 왼쪽 길이보다 작은 동안, left[i]를 append로 결과 뒤에 하나 붙이고 아이를 1 늘립니다. 지금 아이는 3이므로 왼쪽의 마지막 8을 붙인 다음 4가 됩니다. 다시 조건을 확인하면 4는 길이 4보다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endParaRPr/>
          </a:p>
          <a:p>
            <a:r>
              <a:t>세 번째 while은 오른쪽에 남은 값을 붙이는 부분입니다. 이번 예에서는 제이가 이미 4이므로 처음부터 조건이 거짓이고 한 번도 실행하지 않습니다. 반대로 왼쪽이 먼저 끝나는 입력이라면 두 번째 while을 건너뛰고 이 세 번째 while에서 오른쪽 값을 하나씩 붙입니다. 예를 들어 왼쪽이 1, 2이고 오른쪽이 3, 4이면, 위의 비교에서 1과 2를 먼저 넣고 아래의 오른쪽 while에서 3과 4를 넣는 것입니다. 처음부터 한쪽이 빈 리스트여도 이 구조로 처리할 수 있습니다. 세 while의 역할을 정리하면, 첫 번째는 양쪽 값을 비교해서 작은 값을 넣고, 두 번째는 남은 왼쪽 값을 넣고, 세 번째는 남은 오른쪽 값을 넣습니다. 마지막 return은 완성된 결과를 호출한 곳으로 돌려줍니다. 원래 left와 right는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endParaRP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endParaRP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endParaRP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endParaRP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endParaRP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endParaRP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endParaRP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endParaRP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endParaRP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endParaRP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endParaRP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endParaRP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endParaRP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endParaRP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endParaRP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endParaRP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endParaRP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정렬이 왜 n 로그 n 시간이 걸리는지, 화면의 여덟 개짜리 예로 생각해 보겠습니다. 여기서 n은 원소 수이고, 시간 복잡도는 원소 수가 늘어날 때 처리량이 어떤 속도로 늘어나는지 표현하는 것입니다. 실제로 몇 초 걸린다는 뜻은 아닙니다.</a:t>
            </a:r>
          </a:p>
          <a:p>
            <a:endParaRPr/>
          </a:p>
          <a:p>
            <a:r>
              <a:t>한 개짜리 배열 둘을 합치면 두 개짜리 결과가 됩니다. 이런 병합이 네 번 있으니, 그 단계에서 결과로 옮기는 원소는 두 개씩 네 번, 총 여덟 개입니다. 다음에는 두 개짜리 배열 둘을 합쳐 네 개짜리 결과를 만듭니다. 이것이 두 번이므로 네 개씩 두 번, 역시 여덟 개입니다. 마지막에는 네 개짜리 배열 둘을 합치며 여덟 개를 한 번 처리합니다.</a:t>
            </a:r>
          </a:p>
          <a:p>
            <a:endParaRPr/>
          </a:p>
          <a:p>
            <a:r>
              <a:t>각 단계의 전체 처리량이 모두 여덟 개라는 점을 보세요. 병합 하나만 보면 크기가 달라도, 같은 단계의 병합들을 모두 합치면 전체 원소를 한 번씩 처리합니다. 그래서 n개라면 단계 하나의 처리량이 n에 비례합니다. C의 결과 복사처럼 원소를 한 번 더 옮기는 작업이 있어도, 처리량이 n에 비례한다는 사실은 같습니다.</a:t>
            </a:r>
          </a:p>
          <a:p>
            <a:endParaRPr/>
          </a:p>
          <a:p>
            <a:r>
              <a:t>그런 단계는 몇 번 있을까요? 여덟 개에서는 2개짜리, 4개짜리, 8개짜리를 만드는 세 단계입니다. 여덟은 2를 세 번 곱한 수죠. 일반적으로 두 배씩 커져 n개가 될 때까지의 단계 수가 로그 n에 비례합니다. 따라서 단계당 n만큼의 작업을 로그 n단계 하므로 전체는 n 로그 n입니다.</a:t>
            </a:r>
          </a:p>
          <a:p>
            <a:endParaRPr/>
          </a:p>
          <a:p>
            <a:r>
              <a:t>현재 코드에서는 입력이 이미 정렬되어 있어도 같은 방식으로 나누고 병합합니다. 그래서 최선, 평균, 최악 모두 n 로그 n에 비례합니다. 화면의 세타 기호는 이 증가 규모를 나타냅니다.</a:t>
            </a:r>
          </a:p>
          <a:p>
            <a:endParaRPr/>
          </a:p>
          <a:p>
            <a:r>
              <a:t>마지막 줄의 안정 정렬도 확인하겠습니다. 같은 점수인 두 학생의 기록을 점수만 보고 정렬한다고 생각해 보세요. 점수가 같을 때 원래 먼저 있던 기록을 계속 먼저 둔다면 안정적이라고 합니다. 앞의 병합 코드가 같은 값에서 왼쪽을 먼저 선택하는 이유가 이것입니다. 숫자만 보면 같아 보이지만, 숫자에 붙어 있는 다른 기록의 순서를 보존하는 의미가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endParaRP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endParaRPr/>
          </a:p>
          <a:p>
            <a:r>
              <a:t>3이 더 작으니 오른쪽의 3을 넣습니다. 오른쪽의 다음 값은 7입니다. 이제 5와 7을 비교해서 5를 넣습니다. 결과는 1, 2, 3, 5가 되고, 왼쪽의 두 원소를 모두 사용한 상태가 됩니다.</a:t>
            </a:r>
          </a:p>
          <a:p>
            <a:endParaRP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endParaRP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정렬에서는 배열의 위치를 기준으로 반씩 나눴습니다. 이번에 배우는 퀵 정렬은 기준값을 하나 고르고, 그 값보다 작은 쪽과 큰 쪽으로 원소들을 나눕니다. 이 기준값을 피벗이라고 부릅니다. 피벗은 별도의 특별한 숫자가 아니라, 현재 정렬할 구간 안에서 고른 원소의 값입니다.</a:t>
            </a:r>
          </a:p>
          <a:p>
            <a:endParaRPr/>
          </a:p>
          <a:p>
            <a:r>
              <a:t>화면의 배열은 8, 4, 6, 3, 7, 1입니다. 이번에는 가운데 인덱스의 값 6을 피벗으로 고르겠습니다. 인덱스는 0부터 5까지이고, 0과 5를 더해 2로 나눈 몫은 2입니다. 인덱스 2에 있는 값이 6이므로 피벗이 6입니다. 가운데 위치의 값을 고른 것이지, 크기순으로 가운데인 값을 미리 찾은 것은 아닙니다.</a:t>
            </a:r>
          </a:p>
          <a:p>
            <a:endParaRPr/>
          </a:p>
          <a:p>
            <a:r>
              <a:t>이제 6을 기준으로 왼쪽에는 6 이하의 값들을, 오른쪽에는 6보다 큰 값들을 모으겠습니다. 같은 값이 있을 때 어느 쪽에 둘지도 구현마다 정해야 하는데, 지금 코드는 같은 값을 왼쪽에 두는 규칙입니다. 파란 화살표 L은 왼쪽에서 오른쪽으로, 초록 화살표 R은 오른쪽에서 왼쪽으로 움직입니다. 두 화살표는 자기 쪽에 잘못 놓인 값을 찾아 교환하는 역할을 합니다.</a:t>
            </a:r>
          </a:p>
          <a:p>
            <a:endParaRPr/>
          </a:p>
          <a:p>
            <a:r>
              <a:t>이 작업이 끝나면 피벗 6을 왼쪽 묶음과 오른쪽 묶음 사이에 놓습니다. 그러면 6의 자리는 정해집니다. 하지만 왼쪽 값들끼리, 오른쪽 값들끼리는 아직 순서가 섞여 있을 수 있습니다. 그래서 양쪽 구간에 다시 같은 정렬을 적용해야 합니다.</a:t>
            </a:r>
          </a:p>
          <a:p>
            <a:endParaRPr/>
          </a:p>
          <a:p>
            <a:r>
              <a:t>한 번의 분할이 전체 정렬을 끝내는 것은 아니라는 점을 먼저 기억하세요. 다음 화면부터 피벗을 옮기고, 두 포인터를 이동하고, 값을 교환하는 과정을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603012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처음 배열은 8, 4, 6, 3, 7, 1이었습니다. 가운데에서 고른 피벗 6을 마지막 값 1과 바꿔서, 지금은 8, 4, 1, 3, 7, 6이 되었습니다. 맨 끝의 주황색 6이 피벗입니다. 값 하나를 없앤 것이 아니라 6과 1의 자리를 교환한 것입니다.</a:t>
            </a:r>
          </a:p>
          <a:p>
            <a:endParaRPr/>
          </a:p>
          <a:p>
            <a:r>
              <a:t>피벗을 끝으로 옮기는 이유는 나머지 값들을 나누는 동안 기준값의 자리를 따로 확보하기 위해서입니다. 피벗 자체는 두 포인터로 검사하는 구간에서 제외합니다. 그래서 L은 첫 칸인 인덱스 0에서 시작하고, R은 피벗 바로 앞인 인덱스 4에서 시작합니다. 마지막 인덱스 5에는 피벗을 그대로 두겠습니다.</a:t>
            </a:r>
          </a:p>
          <a:p>
            <a:endParaRPr/>
          </a:p>
          <a:p>
            <a:r>
              <a:t>먼저 L이 가리키는 8을 봅니다. 왼쪽에 둘 값의 조건은 피벗 6 이하입니다. 그런데 8은 6보다 크므로 왼쪽에 있으면 안 됩니다. 그래서 L은 지금 움직이지 않고 이 위치에서 멈춥니다. 왼쪽부터 지나갈 수 있는 작은 값을 찾는 것이 아니라, 왼쪽에 잘못 놓인 큰 값을 찾으면 멈추는 것입니다.</a:t>
            </a:r>
          </a:p>
          <a:p>
            <a:endParaRPr/>
          </a:p>
          <a:p>
            <a:r>
              <a:t>이번에는 반대쪽 R을 움직여서 왼쪽으로 보내야 할 작은 값을 찾겠습니다. 지금 R이 가리키는 것은 7입니다. 7은 피벗보다 크니까 오른쪽에 그대로 있어도 되는 값입니다. 다음 화면에서 R이 이 칸을 지나 왼쪽으로 이동하는 것을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902434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endParaRP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endParaRP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endParaRP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endParaRP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endParaRP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endParaRP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endParaRP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endParaRP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endParaRP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endParaRP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endParaRP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endParaRP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endParaRP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endParaRP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endParaRP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endParaRP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endParaRP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endParaRP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마지막으로 L이 있는 인덱스 3의 8과, 맨 끝 인덱스 5의 피벗 6을 교환했습니다. 배열은 3, 4, 1, 6, 7, 8이 되었습니다. 주황색 피벗 6이 이제 인덱스 3에 있습니다.</a:t>
            </a:r>
          </a:p>
          <a:p>
            <a:endParaRPr/>
          </a:p>
          <a:p>
            <a:r>
              <a:t>피벗의 왼쪽을 보세요. 3, 4, 1은 모두 6 이하입니다. 오른쪽의 7, 8은 모두 6보다 큽니다. 작은 쪽 원소가 세 개 있으므로 이 예에서 6은 그 세 원소 뒤의 자리, 인덱스 3에 놓입니다. 나중에 왼쪽과 오른쪽 내부를 정렬해도 6을 다른 구간으로 옮길 필요가 없습니다.</a:t>
            </a:r>
          </a:p>
          <a:p>
            <a:endParaRPr/>
          </a:p>
          <a:p>
            <a:r>
              <a:t>하지만 전체가 정렬된 것은 아닙니다. 왼쪽에는 아직 3, 4, 1이 있어서 1이 뒤에 놓여 있습니다. 한 번의 partition이 끝났다는 말은 피벗을 기준으로 두 묶음을 나누고 피벗 자리를 정했다는 뜻입니다. 양쪽 내부의 크기순 순서까지 보장하는 말이 아닙니다.</a:t>
            </a:r>
          </a:p>
          <a:p>
            <a:endParaRPr/>
          </a:p>
          <a:p>
            <a:r>
              <a:t>partition 함수는 이 피벗 위치 3을 반환합니다. 정렬 함수는 그 숫자를 받아 왼쪽 인덱스 0부터 2까지와 오른쪽 인덱스 4부터 5까지를 다시 정렬합니다. 이미 자리가 정해진 인덱스 3의 피벗은 두 재귀 호출에서 제외합니다. 다음 화면에서는 왼쪽 묶음도 같은 방법으로 정렬하는 모습을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108802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분할 결과는 3, 4, 1, 6, 7, 8입니다. 가운데 피벗 6의 자리는 정해졌지만, 왼쪽 3, 4, 1은 아직 정렬되지 않았습니다. 그래서 왼쪽 구간에 다시 퀵 정렬을 적용합니다. 새로운 호출은 전체 배열이 아니라 인덱스 0부터 2까지를 대상으로 합니다.</a:t>
            </a:r>
          </a:p>
          <a:p>
            <a:endParaRPr/>
          </a:p>
          <a:p>
            <a:r>
              <a:t>이 구간의 가운데 인덱스는 1이고 값은 4입니다. 4를 이번 피벗으로 골라 구간의 끝에 있는 1과 바꾸면, 왼쪽 구간은 3, 1, 4가 됩니다. 피벗을 제외한 3과 1은 모두 4 이하입니다. L이 두 값을 지나간 뒤 피벗 4의 위치가 이 구간의 마지막 칸으로 정해집니다.</a:t>
            </a:r>
          </a:p>
          <a:p>
            <a:endParaRPr/>
          </a:p>
          <a:p>
            <a:r>
              <a:t>그러면 아직 남은 작은 문제는 3, 1 두 개를 정렬하는 일입니다. 이 구간에서도 피벗을 정해 분할하면 1, 3이 됩니다. 결국 왼쪽 전체는 1, 3, 4가 됩니다. 처음부터 왼쪽 전체를 다른 정렬로 처리하는 것이 아니라, 같은 분할 방법을 더 작은 구간에 반복해서 적용한 것입니다.</a:t>
            </a:r>
          </a:p>
          <a:p>
            <a:endParaRPr/>
          </a:p>
          <a:p>
            <a:r>
              <a:t>처음 피벗 6의 오른쪽 구간은 인덱스 4부터 5까지의 7, 8입니다. 이것도 같은 함수로 정렬합니다. 이미 순서가 맞아 있더라도 현재 코드는 종료 조건에 도달할 때까지 구간을 처리합니다. 양쪽 정렬이 끝나면 전체는 1, 3, 4, 6, 7, 8이 됩니다.</a:t>
            </a:r>
          </a:p>
          <a:p>
            <a:endParaRPr/>
          </a:p>
          <a:p>
            <a:r>
              <a:t>화면 위의 호출 범위도 확인하세요. 피벗 위치를 p라고 하면 왼쪽은 lo부터 p 마이너스 1까지이고, 오른쪽은 p 플러스 1부터 hi까지입니다. p 자체는 다시 포함하지 않습니다. 구간에 원소가 하나 이하이면 더 정렬하지 않고 끝냅니다. 병합 정렬과 달리 양쪽 결과를 마지막에 다시 병합하는 단계는 없습니다. 분할하면서 이미 작은 쪽, 피벗, 큰 쪽의 위치 관계가 정해졌기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52167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endParaRP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endParaRPr/>
          </a:p>
          <a:p>
            <a:r>
              <a:t>L은 lo, R은 hi 마이너스 1로 시작합니다. 예제에서는 L이 0이고 R이 4입니다. 왜 R을 hi부터 시작하지 않을까요? hi 위치에는 피벗을 따로 뒀기 때문에, 두 포인터는 그 앞의 값들만 검사해야 합니다.</a:t>
            </a:r>
          </a:p>
          <a:p>
            <a:endParaRP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endParaRP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endParaRP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endParaRP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endParaRP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endParaRP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endParaRP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endParaRP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endParaRP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endParaRP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endParaRP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endParaRP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endParaRP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endParaRP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endParaRP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endParaRP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endParaRP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endParaRP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endParaRP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endParaRP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endParaRP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endParaRP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endParaRP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endParaRP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endParaRP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endParaRP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endParaRP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endParaRP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endParaRP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endParaRP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endParaRP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endParaRP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endParaRP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endParaRP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endParaRP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값이 삼, 마이너스 오, 십이, 마이너스 이, 칠, 마이너스 구로 주어졌습니다. 전체 합은 육이지만 십이부터 칠까지의 연속 구간을 선택하면 십칠이 됩니다. 중간의 마이너스 이를 포함해도 양옆의 이득이 더 크죠. 주가 예시에서는 각 값이 가격 자체가 아니라 기간별 변동분입니다. 해당 변동이 시작되기 전에 사서 구간 마지막 변동 이후에 판다고 해석하면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시작점과 끝점을 모두 바꿔가며 후보 구간을 만들면 경우의 수는 엔 제곱에 비례합니다. 각 구간 합을 처음부터 다시 더하면 엔 세제곱까지 걸릴 수 있어요. 누적합을 미리 만들거나 끝점을 늘리면서 합을 갱신해야 엔 제곱에 계산할 수 있습니다. 입력이 십만 개면 후보가 수십억 개이므로 부담스럽습니다. 이제 이 후보들을 하나씩 나열하지 않고 답을 구해보겠습니다.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기준으로 최적 구간의 위치를 분류해보세요. 왼쪽에만 있거나, 오른쪽에만 있거나, 경계를 넘어 양쪽에 걸쳐 있습니다. 이 세 경우가 모든 가능성을 포함합니다. 왼쪽과 오른쪽 문제는 원래 문제와 같은 형태이므로 재귀 호출하면 됩니다. 남은 것은 경계를 걸친 최대 합을 계산하는 일입니다. 마지막에 세 값의 최댓값을 선택하면 어느 위치에 답이 있어도 놓치지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 구간은 왼쪽의 마지막 원소 미드와 오른쪽의 첫 원소 미드 더하기 일을 모두 포함해야 합니다. 그래서 미드에서 왼쪽으로 합을 늘려가며 가장 큰 값을 찾고, 미드 더하기 일에서 오른쪽으로 같은 작업을 합니다. 각각 왼쪽의 최대 접미 구간과 오른쪽의 최대 접두 구간이에요. 둘을 연결하면 끊김 없이 경계를 걸친 구간이 되고, 두 합을 더한 값이 이 경우의 최댓값입니다.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함수의 종료 조건은 로우와 하이가 같은 경우입니다. 원소 하나를 반드시 선택하는 문제이므로 그 원소 값을 반환합니다. 나머지는 중간을 계산하고 왼쪽, 오른쪽, 경계를 걸친 경우를 각각 구해요. 마지막 맥스가 세 후보를 비교합니다. 입력 배열은 비어 있지 않다고 가정합니다. 빈 배열을 허용하려면 무엇을 반환할지 먼저 정의하고 별도의 처리를 추가해야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합의 최댓값을 음의 무한대로 시작하는 이유를 보겠습니다. 전부 음수인 배열에서 영으로 시작하면 아무 원소도 고르지 않은 값을 답으로 내놓게 됩니다. 하지만 이 문제는 적어도 한 원소를 선택해야 해요. 현재 합은 영에서 시작해 원소를 더하고, 최댓값은 음의 무한대에서 갱신합니다. 오른쪽도 동일하게 처리한 뒤 두 최댓값을 더합니다. 양쪽 반복을 합쳐 구간 길이만큼만 읽습니다.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파이썬의 레인지는 끝 값을 포함하지 않습니다. 그래서 미드에서 로우까지 내려가려면 끝을 로우 마이너스 일로 써야 해요. 오른쪽은 하이를 포함하려고 하이 더하기 일을 사용했습니다. 커런트 섬은 현재까지 이어 붙인 합이고, 레프트 섬과 라이트 섬은 그 과정에서 만난 최댓값입니다. 두 변수를 혼동하면 마지막 구간의 합만 반환하게 됩니다. 반복 방향과 최댓값 갱신을 함께 확인하세요.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코드에서도 두 재귀 호출과 경계를 걸친 합을 구하는 호출이 구분됩니다. 예제 배열에서는 십이, 마이너스 이, 칠을 합한 십칠이 정답입니다. 함수는 합만 반환하므로 구간의 시작과 끝도 필요하면 인덱스를 함께 저장해야 해요. 전부 음수인 입력에서도 가장 덜 작은 음수를 반환하는지 확인하면 종료 조건과 초기값이 올바른지 점검할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인덱스로 가운데를 정하는 비용은 상수 시간입니다. 두 절반을 재귀적으로 풀고, 경계를 걸친 합을 계산할 때 구간을 한 번 훑습니다. 따라서 합병 정렬과 같은 점화식이 나옵니다. 전체 시간은 엔 로그 엔이에요. 이 문제에는 카데인 알고리즘이라는 선형 시간 풀이도 있습니다. 지금은 가장 빠른 풀이를 외우기보다 세 경우로 나누어 빠짐없이 결합하는 사고를 익히는 데 집중하겠습니다.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표를 볼 때 최종 시간만 외우지 말고 재귀 호출 수와 결합 비용을 먼저 읽어보세요. 같은 크기로 나누더라도 호출을 한 번 하느냐 두 번 하느냐에 따라 결과가 달라집니다. 최근접 쌍의 엔 로그 엔 결과는 와이 정렬을 유지하는 구현에 해당합니다. 다음 두 알고리즘은 덧셈을 조금 늘리는 대신 비싼 곱셈 재귀 호출을 줄입니다. 점화식의 에이를 줄였을 때 지수가 어떻게 달라지는지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카라츠바는 큰 정수의 곱셈을 빠르게 하는 방법입니다. 두 수를 앞부분과 뒷부분으로 나누면 보통 네 번의 작은 곱셈이 필요합니다. 그런데 전개식을 조금 바꾸면 세 번만 곱하고도 같은 결과를 얻을 수 있어요. 이번에는 입력 크기 엔이 정수의 값이 아니라 자릿수라는 점을 기억해주세요.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천이백삼십사는 십이 곱하기 백 더하기 삼십사로 나눌 수 있습니다. 같은 방법으로 두 수를 나누고 곱을 전개하면 앞끼리, 뒤끼리, 서로 교차하는 두 곱이 나옵니다. 절반 크기 곱셈을 네 번 하므로 점화식은 사 티 엔 나누기 이 더하기 오 엔입니다. 이대로는 엔 제곱 시간이어서 일반적인 자릿수 곱셈과 차수가 같습니다. 나누는 것만으로는 개선되지 않는 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앞부분의 곱을 에이, 뒷부분의 곱을 비라고 하겠습니다. 두 수의 앞뒤를 각각 더한 뒤 곱하면 에이와 비, 그리고 필요한 두 교차항의 합이 한꺼번에 나옵니다. 여기서 이미 구한 에이와 비를 빼면 교차항만 남아요. 그래서 앞끼리 한 번, 뒤끼리 한 번, 합끼리 한 번, 총 세 번 곱하면 됩니다. 절약한 곱셈 대신 덧셈과 뺄셈이 늘어나는 구조입니다.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의사코드에서는 먼저 자릿수가 작으면 직접 곱합니다. 그렇지 않으면 앞과 뒤를 나누고 재귀 호출을 세 번 수행해요. 제트 원 로에서 제트 투와 제트 영을 빼 중간 계수를 만들고, 마지막에 십의 거듭제곱을 곱해 자리 위치를 맞춥니다. 분할 자릿수는 정수로 정해야 합니다. 실제 구현에서는 아주 작은 수까지 재귀 호출하기보다 적당한 크기에서 기본 곱셈으로 전환하며, 전환 기준은 환경에 따라 달라집니다.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파이썬에서 십의 엠 승으로 나눈 몫은 앞부분, 나머지는 뒷부분입니다. 에이와 비, 섬 프로드가 세 재귀 호출의 결과예요. 미드는 섬 프로드에서 에이와 비를 뺀 값이고, 마지막 식이 자릿수를 맞춰 결과를 합칩니다. 예제의 두 큰 정수를 곱한 값은 일반 곱셈과 같아야 합니다. 이 코드는 원리를 보여주는 비음수 정수용 예제입니다. 파이썬 내장 곱셈보다 항상 빠르다고 해석하지는 마세요.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카라츠바의 에이는 삼이고 비는 이입니다. 기준값은 엔의 로그 투 삼 승으로, 지수가 약 일 점 오팔오입니다. 자릿수 덧셈 비용인 엔보다 기준값이 다항식 차이로 크므로 첫 번째 경우를 적용합니다. 화면의 자릿수 비교는 성장률의 차이를 보여주는 계산입니다. 상수와 구현 비용을 생략했으므로 실제 실행 시간이 그 배수로 빨라진다는 측정 결과는 아닙니다. 큰 입력에서 지수 차이가 커진다는 점을 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스트라센은 같은 발상을 행렬 곱셈에 적용합니다. 행렬을 네 블록으로 나누면 표준 방식은 여덟 번의 작은 행렬 곱셈을 합니다. 스트라센은 이를 일곱 번으로 줄여요. 여기서는 엔이 행렬 한 변의 길이이고, 행렬 덧셈 비용이 엔 제곱이라는 점이 앞의 정수 곱셈과 다릅니다.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결과의 각 블록은 두 블록 곱의 합입니다. 예를 들어 씨 일일은 에이 일일 곱하기 비 일일에 에이 일이 곱하기 비 이일을 더합니다. 결과 블록이 네 개이고 각각 두 번 곱하므로 재귀 곱셈은 여덟 번입니다. 덧셈에는 엔 제곱 시간이 듭니다. 마스터 정리의 기준값이 엔 세제곱이므로 기존의 세 겹 반복문과 같은 차수입니다. 단순히 블록으로 나누는 것만으로는 빨라지지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화면에는 일곱 개의 중간 곱과 결과를 조립하는 식이 있습니다. 지금은 일곱 식을 통째로 외우기보다 각각을 전개했을 때 불필요한 항이 서로 지워진다는 원리를 보겠습니다. 예를 들어 씨 일이에 엠 삼과 엠 오를 더하면 중간의 반대 부호 항이 사라지고 필요한 두 곱만 남습니다. 행렬 곱은 순서를 바꿀 수 없으므로 식의 좌우 순서를 그대로 지켜야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재귀 호출이 일곱 번이므로 기준값의 지수는 로그 투 칠, 약 이 점 팔영칠입니다. 덧셈 비용 엔 제곱보다 크기 때문에 전체는 엔의 이 점 팔영칠 승 차수입니다. 카라츠바와 마찬가지로 비싼 재귀 곱셈을 덧셈으로 대체했습니다. 다만 작은 행렬에서는 추가 덧셈과 메모리 비용 때문에 느릴 수 있고, 실수 계산에서는 오차도 고려해야 합니다. 차수 개선과 실제 성능 판단을 구분하세요.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장의 공통 구조를 다시 보겠습니다. 하위 문제들을 풀고 나서 결합이 모든 경우를 포함해야 합니다. 최대 구간 합과 최근접 쌍은 경계를 걸친 경우가 핵심이었고, 쿼드 트리는 영역 표현을 합쳤습니다. 마스터 정리는 조건에 맞는 점화식을 정리하는 도구입니다. 카라츠바와 스트라센은 재귀 호출 수를 줄여 지수를 낮췄습니다. 코드와 복잡도를 연결할 때는 복사와 정렬처럼 숨어 있는 비용도 꼭 포함하세요.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7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직사각형 40">
            <a:extLst>
              <a:ext uri="{FF2B5EF4-FFF2-40B4-BE49-F238E27FC236}">
                <a16:creationId xmlns:a16="http://schemas.microsoft.com/office/drawing/2014/main" id="{BDBCEF49-BD0F-496D-9A85-37995F2EE8A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2" name="직사각형 1">
            <a:extLst>
              <a:ext uri="{FF2B5EF4-FFF2-40B4-BE49-F238E27FC236}">
                <a16:creationId xmlns:a16="http://schemas.microsoft.com/office/drawing/2014/main" id="{E2A341B3-1A72-4C93-B2E1-14A2F19A4D3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직사각형 2">
            <a:extLst>
              <a:ext uri="{FF2B5EF4-FFF2-40B4-BE49-F238E27FC236}">
                <a16:creationId xmlns:a16="http://schemas.microsoft.com/office/drawing/2014/main" id="{BCBAFF07-5EBF-43F8-A2E0-2831B58BB4F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이번 장에서 배울 내용</a:t>
            </a:r>
          </a:p>
        </p:txBody>
      </p:sp>
      <p:sp>
        <p:nvSpPr>
          <p:cNvPr id="4" name="직사각형 3">
            <a:extLst>
              <a:ext uri="{FF2B5EF4-FFF2-40B4-BE49-F238E27FC236}">
                <a16:creationId xmlns:a16="http://schemas.microsoft.com/office/drawing/2014/main" id="{7B46D186-B386-45D0-8BF2-8C8B8822ED4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9DE3F90A-F584-4C18-AB98-532574AE2E35}"/>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14656CA3-EA7B-486E-9825-0AE3BA3D81E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B5CF2F2C-F158-406B-A424-1FF551437F3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a:t>
            </a:r>
            <a:endParaRPr sz="1050" b="1" i="0">
              <a:solidFill>
                <a:srgbClr val="171717"/>
              </a:solidFill>
              <a:latin typeface="Consolas"/>
              <a:ea typeface="Consolas"/>
              <a:cs typeface="Consolas"/>
            </a:endParaRPr>
          </a:p>
        </p:txBody>
      </p:sp>
      <p:sp>
        <p:nvSpPr>
          <p:cNvPr id="42" name="TextBox 41">
            <a:extLst>
              <a:ext uri="{FF2B5EF4-FFF2-40B4-BE49-F238E27FC236}">
                <a16:creationId xmlns:a16="http://schemas.microsoft.com/office/drawing/2014/main" id="{86690E00-D86F-766A-8277-BE4C235F9C67}"/>
              </a:ext>
            </a:extLst>
          </p:cNvPr>
          <p:cNvSpPr txBox="1"/>
          <p:nvPr/>
        </p:nvSpPr>
        <p:spPr>
          <a:xfrm>
            <a:off x="609600" y="1714500"/>
            <a:ext cx="5207000" cy="369332"/>
          </a:xfrm>
          <a:prstGeom prst="rect">
            <a:avLst/>
          </a:prstGeom>
          <a:noFill/>
        </p:spPr>
        <p:txBody>
          <a:bodyPr vert="horz" rtlCol="0">
            <a:spAutoFit/>
          </a:bodyPr>
          <a:lstStyle/>
          <a:p>
            <a:r>
              <a:rPr lang="en-US" altLang="ko-KR">
                <a:latin typeface="Malgun Gothic" panose="020B0503020000020004" pitchFamily="50" charset="-127"/>
              </a:rPr>
              <a:t>4.1   </a:t>
            </a:r>
            <a:r>
              <a:rPr lang="ko-KR" altLang="en-US">
                <a:latin typeface="Malgun Gothic" panose="020B0503020000020004" pitchFamily="50" charset="-127"/>
              </a:rPr>
              <a:t>분할 정복의 기본</a:t>
            </a:r>
          </a:p>
        </p:txBody>
      </p:sp>
      <p:sp>
        <p:nvSpPr>
          <p:cNvPr id="43" name="TextBox 42">
            <a:extLst>
              <a:ext uri="{FF2B5EF4-FFF2-40B4-BE49-F238E27FC236}">
                <a16:creationId xmlns:a16="http://schemas.microsoft.com/office/drawing/2014/main" id="{8D76C907-144C-845D-9938-8A40651A0818}"/>
              </a:ext>
            </a:extLst>
          </p:cNvPr>
          <p:cNvSpPr txBox="1"/>
          <p:nvPr/>
        </p:nvSpPr>
        <p:spPr>
          <a:xfrm>
            <a:off x="609600" y="2565400"/>
            <a:ext cx="5207000" cy="369332"/>
          </a:xfrm>
          <a:prstGeom prst="rect">
            <a:avLst/>
          </a:prstGeom>
          <a:noFill/>
        </p:spPr>
        <p:txBody>
          <a:bodyPr vert="horz" rtlCol="0">
            <a:spAutoFit/>
          </a:bodyPr>
          <a:lstStyle/>
          <a:p>
            <a:r>
              <a:rPr lang="en-US" altLang="ko-KR">
                <a:latin typeface="Malgun Gothic" panose="020B0503020000020004" pitchFamily="50" charset="-127"/>
              </a:rPr>
              <a:t>4.2   </a:t>
            </a:r>
            <a:r>
              <a:rPr lang="ko-KR" altLang="en-US">
                <a:latin typeface="Malgun Gothic" panose="020B0503020000020004" pitchFamily="50" charset="-127"/>
              </a:rPr>
              <a:t>병합 정렬 </a:t>
            </a:r>
            <a:r>
              <a:rPr lang="en-US" altLang="ko-KR">
                <a:latin typeface="Malgun Gothic" panose="020B0503020000020004" pitchFamily="50" charset="-127"/>
              </a:rPr>
              <a:t>(Merge Sort)</a:t>
            </a:r>
            <a:endParaRPr lang="ko-KR" altLang="en-US">
              <a:latin typeface="Malgun Gothic" panose="020B0503020000020004" pitchFamily="50" charset="-127"/>
            </a:endParaRPr>
          </a:p>
        </p:txBody>
      </p:sp>
      <p:sp>
        <p:nvSpPr>
          <p:cNvPr id="44" name="TextBox 43">
            <a:extLst>
              <a:ext uri="{FF2B5EF4-FFF2-40B4-BE49-F238E27FC236}">
                <a16:creationId xmlns:a16="http://schemas.microsoft.com/office/drawing/2014/main" id="{044EFE4A-4828-C2CE-B5DD-8C37DA08ADEB}"/>
              </a:ext>
            </a:extLst>
          </p:cNvPr>
          <p:cNvSpPr txBox="1"/>
          <p:nvPr/>
        </p:nvSpPr>
        <p:spPr>
          <a:xfrm>
            <a:off x="609600" y="3416300"/>
            <a:ext cx="5207000" cy="369332"/>
          </a:xfrm>
          <a:prstGeom prst="rect">
            <a:avLst/>
          </a:prstGeom>
          <a:noFill/>
        </p:spPr>
        <p:txBody>
          <a:bodyPr vert="horz" rtlCol="0">
            <a:spAutoFit/>
          </a:bodyPr>
          <a:lstStyle/>
          <a:p>
            <a:r>
              <a:rPr lang="en-US" altLang="ko-KR">
                <a:latin typeface="Malgun Gothic" panose="020B0503020000020004" pitchFamily="50" charset="-127"/>
              </a:rPr>
              <a:t>4.3   </a:t>
            </a:r>
            <a:r>
              <a:rPr lang="ko-KR" altLang="en-US">
                <a:latin typeface="Malgun Gothic" panose="020B0503020000020004" pitchFamily="50" charset="-127"/>
              </a:rPr>
              <a:t>퀵 정렬 </a:t>
            </a:r>
            <a:r>
              <a:rPr lang="en-US" altLang="ko-KR">
                <a:latin typeface="Malgun Gothic" panose="020B0503020000020004" pitchFamily="50" charset="-127"/>
              </a:rPr>
              <a:t>(Quick Sort)</a:t>
            </a:r>
            <a:endParaRPr lang="ko-KR" altLang="en-US">
              <a:latin typeface="Malgun Gothic" panose="020B0503020000020004" pitchFamily="50" charset="-127"/>
            </a:endParaRPr>
          </a:p>
        </p:txBody>
      </p:sp>
      <p:sp>
        <p:nvSpPr>
          <p:cNvPr id="45" name="TextBox 44">
            <a:extLst>
              <a:ext uri="{FF2B5EF4-FFF2-40B4-BE49-F238E27FC236}">
                <a16:creationId xmlns:a16="http://schemas.microsoft.com/office/drawing/2014/main" id="{BE4370E7-F519-B19F-0D61-B1E23AB3CE40}"/>
              </a:ext>
            </a:extLst>
          </p:cNvPr>
          <p:cNvSpPr txBox="1"/>
          <p:nvPr/>
        </p:nvSpPr>
        <p:spPr>
          <a:xfrm>
            <a:off x="609600" y="4267200"/>
            <a:ext cx="5207000" cy="369332"/>
          </a:xfrm>
          <a:prstGeom prst="rect">
            <a:avLst/>
          </a:prstGeom>
          <a:noFill/>
        </p:spPr>
        <p:txBody>
          <a:bodyPr vert="horz" rtlCol="0">
            <a:spAutoFit/>
          </a:bodyPr>
          <a:lstStyle/>
          <a:p>
            <a:r>
              <a:rPr lang="en-US" altLang="ko-KR">
                <a:latin typeface="Malgun Gothic" panose="020B0503020000020004" pitchFamily="50" charset="-127"/>
              </a:rPr>
              <a:t>4.4   </a:t>
            </a:r>
            <a:r>
              <a:rPr lang="ko-KR" altLang="en-US">
                <a:latin typeface="Malgun Gothic" panose="020B0503020000020004" pitchFamily="50" charset="-127"/>
              </a:rPr>
              <a:t>최대 구간 합</a:t>
            </a:r>
          </a:p>
        </p:txBody>
      </p:sp>
      <p:sp>
        <p:nvSpPr>
          <p:cNvPr id="46" name="TextBox 45">
            <a:extLst>
              <a:ext uri="{FF2B5EF4-FFF2-40B4-BE49-F238E27FC236}">
                <a16:creationId xmlns:a16="http://schemas.microsoft.com/office/drawing/2014/main" id="{A68C3D7E-0A8A-2A81-0CD6-B00FF61928C2}"/>
              </a:ext>
            </a:extLst>
          </p:cNvPr>
          <p:cNvSpPr txBox="1"/>
          <p:nvPr/>
        </p:nvSpPr>
        <p:spPr>
          <a:xfrm>
            <a:off x="609600" y="5118100"/>
            <a:ext cx="5207000" cy="369332"/>
          </a:xfrm>
          <a:prstGeom prst="rect">
            <a:avLst/>
          </a:prstGeom>
          <a:noFill/>
        </p:spPr>
        <p:txBody>
          <a:bodyPr vert="horz" rtlCol="0">
            <a:spAutoFit/>
          </a:bodyPr>
          <a:lstStyle/>
          <a:p>
            <a:r>
              <a:rPr lang="en-US" altLang="ko-KR">
                <a:latin typeface="Malgun Gothic" panose="020B0503020000020004" pitchFamily="50" charset="-127"/>
              </a:rPr>
              <a:t>4.5   </a:t>
            </a:r>
            <a:r>
              <a:rPr lang="ko-KR" altLang="en-US">
                <a:latin typeface="Malgun Gothic" panose="020B0503020000020004" pitchFamily="50" charset="-127"/>
              </a:rPr>
              <a:t>최근접 쌍</a:t>
            </a:r>
          </a:p>
        </p:txBody>
      </p:sp>
      <p:sp>
        <p:nvSpPr>
          <p:cNvPr id="47" name="TextBox 46">
            <a:extLst>
              <a:ext uri="{FF2B5EF4-FFF2-40B4-BE49-F238E27FC236}">
                <a16:creationId xmlns:a16="http://schemas.microsoft.com/office/drawing/2014/main" id="{996BB1C0-F25E-2786-E638-06E78D951611}"/>
              </a:ext>
            </a:extLst>
          </p:cNvPr>
          <p:cNvSpPr txBox="1"/>
          <p:nvPr/>
        </p:nvSpPr>
        <p:spPr>
          <a:xfrm>
            <a:off x="6248400" y="1714500"/>
            <a:ext cx="5207000" cy="369332"/>
          </a:xfrm>
          <a:prstGeom prst="rect">
            <a:avLst/>
          </a:prstGeom>
          <a:noFill/>
        </p:spPr>
        <p:txBody>
          <a:bodyPr vert="horz" rtlCol="0">
            <a:spAutoFit/>
          </a:bodyPr>
          <a:lstStyle/>
          <a:p>
            <a:r>
              <a:rPr lang="en-US" altLang="ko-KR">
                <a:latin typeface="Malgun Gothic" panose="020B0503020000020004" pitchFamily="50" charset="-127"/>
              </a:rPr>
              <a:t>4.6   </a:t>
            </a:r>
            <a:r>
              <a:rPr lang="ko-KR" altLang="en-US">
                <a:latin typeface="Malgun Gothic" panose="020B0503020000020004" pitchFamily="50" charset="-127"/>
              </a:rPr>
              <a:t>쿼드 트리</a:t>
            </a:r>
          </a:p>
        </p:txBody>
      </p:sp>
      <p:sp>
        <p:nvSpPr>
          <p:cNvPr id="48" name="TextBox 47">
            <a:extLst>
              <a:ext uri="{FF2B5EF4-FFF2-40B4-BE49-F238E27FC236}">
                <a16:creationId xmlns:a16="http://schemas.microsoft.com/office/drawing/2014/main" id="{DEEB98D6-A10F-2E95-9830-013A8B4E8DED}"/>
              </a:ext>
            </a:extLst>
          </p:cNvPr>
          <p:cNvSpPr txBox="1"/>
          <p:nvPr/>
        </p:nvSpPr>
        <p:spPr>
          <a:xfrm>
            <a:off x="6248400" y="2565400"/>
            <a:ext cx="5207000" cy="369332"/>
          </a:xfrm>
          <a:prstGeom prst="rect">
            <a:avLst/>
          </a:prstGeom>
          <a:noFill/>
        </p:spPr>
        <p:txBody>
          <a:bodyPr vert="horz" rtlCol="0">
            <a:spAutoFit/>
          </a:bodyPr>
          <a:lstStyle/>
          <a:p>
            <a:r>
              <a:rPr lang="en-US" altLang="ko-KR">
                <a:latin typeface="Malgun Gothic" panose="020B0503020000020004" pitchFamily="50" charset="-127"/>
              </a:rPr>
              <a:t>4.7   </a:t>
            </a:r>
            <a:r>
              <a:rPr lang="ko-KR" altLang="en-US">
                <a:latin typeface="Malgun Gothic" panose="020B0503020000020004" pitchFamily="50" charset="-127"/>
              </a:rPr>
              <a:t>마스터 정리</a:t>
            </a:r>
          </a:p>
        </p:txBody>
      </p:sp>
      <p:sp>
        <p:nvSpPr>
          <p:cNvPr id="49" name="TextBox 48">
            <a:extLst>
              <a:ext uri="{FF2B5EF4-FFF2-40B4-BE49-F238E27FC236}">
                <a16:creationId xmlns:a16="http://schemas.microsoft.com/office/drawing/2014/main" id="{8F4A288D-50AD-C1D3-2AF3-91AD50C95D8F}"/>
              </a:ext>
            </a:extLst>
          </p:cNvPr>
          <p:cNvSpPr txBox="1"/>
          <p:nvPr/>
        </p:nvSpPr>
        <p:spPr>
          <a:xfrm>
            <a:off x="6248400" y="3416300"/>
            <a:ext cx="5207000" cy="369332"/>
          </a:xfrm>
          <a:prstGeom prst="rect">
            <a:avLst/>
          </a:prstGeom>
          <a:noFill/>
        </p:spPr>
        <p:txBody>
          <a:bodyPr vert="horz" rtlCol="0">
            <a:spAutoFit/>
          </a:bodyPr>
          <a:lstStyle/>
          <a:p>
            <a:r>
              <a:rPr lang="en-US" altLang="ko-KR">
                <a:latin typeface="Malgun Gothic" panose="020B0503020000020004" pitchFamily="50" charset="-127"/>
              </a:rPr>
              <a:t>4.8   </a:t>
            </a:r>
            <a:r>
              <a:rPr lang="ko-KR" altLang="en-US">
                <a:latin typeface="Malgun Gothic" panose="020B0503020000020004" pitchFamily="50" charset="-127"/>
              </a:rPr>
              <a:t>카라츠바 알고리즘</a:t>
            </a:r>
          </a:p>
        </p:txBody>
      </p:sp>
      <p:sp>
        <p:nvSpPr>
          <p:cNvPr id="50" name="TextBox 49">
            <a:extLst>
              <a:ext uri="{FF2B5EF4-FFF2-40B4-BE49-F238E27FC236}">
                <a16:creationId xmlns:a16="http://schemas.microsoft.com/office/drawing/2014/main" id="{4DB78F2C-1E56-3087-5966-316E0C05D2D1}"/>
              </a:ext>
            </a:extLst>
          </p:cNvPr>
          <p:cNvSpPr txBox="1"/>
          <p:nvPr/>
        </p:nvSpPr>
        <p:spPr>
          <a:xfrm>
            <a:off x="6248400" y="4267200"/>
            <a:ext cx="5207000" cy="369332"/>
          </a:xfrm>
          <a:prstGeom prst="rect">
            <a:avLst/>
          </a:prstGeom>
          <a:noFill/>
        </p:spPr>
        <p:txBody>
          <a:bodyPr vert="horz" rtlCol="0">
            <a:spAutoFit/>
          </a:bodyPr>
          <a:lstStyle/>
          <a:p>
            <a:r>
              <a:rPr lang="en-US" altLang="ko-KR">
                <a:latin typeface="Malgun Gothic" panose="020B0503020000020004" pitchFamily="50" charset="-127"/>
              </a:rPr>
              <a:t>4.9   </a:t>
            </a:r>
            <a:r>
              <a:rPr lang="ko-KR" altLang="en-US">
                <a:latin typeface="Malgun Gothic" panose="020B0503020000020004" pitchFamily="50" charset="-127"/>
              </a:rPr>
              <a:t>스트라센 알고리즘</a:t>
            </a:r>
          </a:p>
        </p:txBody>
      </p:sp>
      <p:sp>
        <p:nvSpPr>
          <p:cNvPr id="51" name="TextBox 50">
            <a:extLst>
              <a:ext uri="{FF2B5EF4-FFF2-40B4-BE49-F238E27FC236}">
                <a16:creationId xmlns:a16="http://schemas.microsoft.com/office/drawing/2014/main" id="{A1F418B5-1302-921C-E1D9-1D38247C053E}"/>
              </a:ext>
            </a:extLst>
          </p:cNvPr>
          <p:cNvSpPr txBox="1"/>
          <p:nvPr/>
        </p:nvSpPr>
        <p:spPr>
          <a:xfrm>
            <a:off x="6248400" y="5118100"/>
            <a:ext cx="5207000" cy="369332"/>
          </a:xfrm>
          <a:prstGeom prst="rect">
            <a:avLst/>
          </a:prstGeom>
          <a:noFill/>
        </p:spPr>
        <p:txBody>
          <a:bodyPr vert="horz" rtlCol="0">
            <a:spAutoFit/>
          </a:bodyPr>
          <a:lstStyle/>
          <a:p>
            <a:r>
              <a:rPr lang="en-US" altLang="ko-KR">
                <a:latin typeface="Malgun Gothic" panose="020B0503020000020004" pitchFamily="50" charset="-127"/>
              </a:rPr>
              <a:t>4.10   </a:t>
            </a:r>
            <a:r>
              <a:rPr lang="ko-KR" altLang="en-US">
                <a:latin typeface="Malgun Gothic" panose="020B0503020000020004" pitchFamily="50" charset="-127"/>
              </a:rPr>
              <a:t>코딩 테스트 예제</a:t>
            </a:r>
          </a:p>
        </p:txBody>
      </p:sp>
    </p:spTree>
    <p:extLst>
      <p:ext uri="{BB962C8B-B14F-4D97-AF65-F5344CB8AC3E}">
        <p14:creationId xmlns:p14="http://schemas.microsoft.com/office/powerpoint/2010/main" val="67800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5C341608-D0E0-484D-AE11-281C302EC1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1CACC0-BA67-4A6E-A6E7-AC62CFFDBA2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3D1EC5-1F24-4462-9172-14E5133144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① · 8개를 4개씩</a:t>
            </a:r>
          </a:p>
        </p:txBody>
      </p:sp>
      <p:sp>
        <p:nvSpPr>
          <p:cNvPr id="4" name="직사각형 3">
            <a:extLst>
              <a:ext uri="{FF2B5EF4-FFF2-40B4-BE49-F238E27FC236}">
                <a16:creationId xmlns:a16="http://schemas.microsoft.com/office/drawing/2014/main" id="{B5B38B9E-D04C-4EF3-B825-25A62315F179}"/>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CFC5494B-457B-4ED3-84CF-56F6305D3BCC}"/>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위치에서 나눕니다. 숫자의 크기는 아직 비교하지 않습니다.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[8,3,6,2], 오른쪽 [7,1,5,4]의 원래 순서를 유지합니다.</a:t>
            </a:r>
          </a:p>
        </p:txBody>
      </p:sp>
      <p:sp>
        <p:nvSpPr>
          <p:cNvPr id="6" name="footer">
            <a:extLst>
              <a:ext uri="{FF2B5EF4-FFF2-40B4-BE49-F238E27FC236}">
                <a16:creationId xmlns:a16="http://schemas.microsoft.com/office/drawing/2014/main" id="{C3F8AE1E-AF6E-44AE-BA54-AB15D29C0C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E3A422A-A9C7-42F2-8198-51E33DA9D37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6B787700-2EF9-4747-9E71-E13664D17365}"/>
              </a:ext>
            </a:extLst>
          </p:cNvPr>
          <p:cNvSpPr>
            <a:spLocks noGrp="1"/>
          </p:cNvSpPr>
          <p:nvPr/>
        </p:nvSpPr>
        <p:spPr>
          <a:xfrm>
            <a:off x="6086475" y="2971800"/>
            <a:ext cx="19050" cy="257175"/>
          </a:xfrm>
          <a:prstGeom prst="rect">
            <a:avLst/>
          </a:prstGeom>
          <a:solidFill>
            <a:srgbClr val="AAAAAA"/>
          </a:solidFill>
          <a:ln w="0">
            <a:noFill/>
          </a:ln>
        </p:spPr>
      </p:sp>
      <p:sp>
        <p:nvSpPr>
          <p:cNvPr id="9" name="직사각형 8">
            <a:extLst>
              <a:ext uri="{FF2B5EF4-FFF2-40B4-BE49-F238E27FC236}">
                <a16:creationId xmlns:a16="http://schemas.microsoft.com/office/drawing/2014/main" id="{3AE6ED49-8F4A-428A-9408-86CE2D1CB692}"/>
              </a:ext>
            </a:extLst>
          </p:cNvPr>
          <p:cNvSpPr>
            <a:spLocks noGrp="1"/>
          </p:cNvSpPr>
          <p:nvPr/>
        </p:nvSpPr>
        <p:spPr>
          <a:xfrm>
            <a:off x="3352800" y="3228975"/>
            <a:ext cx="5486400" cy="19050"/>
          </a:xfrm>
          <a:prstGeom prst="rect">
            <a:avLst/>
          </a:prstGeom>
          <a:solidFill>
            <a:srgbClr val="AAAAAA"/>
          </a:solidFill>
          <a:ln w="0">
            <a:noFill/>
          </a:ln>
        </p:spPr>
      </p:sp>
      <p:sp>
        <p:nvSpPr>
          <p:cNvPr id="10" name="직사각형 9">
            <a:extLst>
              <a:ext uri="{FF2B5EF4-FFF2-40B4-BE49-F238E27FC236}">
                <a16:creationId xmlns:a16="http://schemas.microsoft.com/office/drawing/2014/main" id="{3372F96A-D143-4E34-8422-78D3DC7CD122}"/>
              </a:ext>
            </a:extLst>
          </p:cNvPr>
          <p:cNvSpPr>
            <a:spLocks noGrp="1"/>
          </p:cNvSpPr>
          <p:nvPr/>
        </p:nvSpPr>
        <p:spPr>
          <a:xfrm>
            <a:off x="3343275" y="3228975"/>
            <a:ext cx="19050" cy="295275"/>
          </a:xfrm>
          <a:prstGeom prst="rect">
            <a:avLst/>
          </a:prstGeom>
          <a:solidFill>
            <a:srgbClr val="AAAAAA"/>
          </a:solidFill>
          <a:ln w="0">
            <a:noFill/>
          </a:ln>
        </p:spPr>
      </p:sp>
      <p:sp>
        <p:nvSpPr>
          <p:cNvPr id="11" name="직사각형 10">
            <a:extLst>
              <a:ext uri="{FF2B5EF4-FFF2-40B4-BE49-F238E27FC236}">
                <a16:creationId xmlns:a16="http://schemas.microsoft.com/office/drawing/2014/main" id="{ABCD580F-8312-416B-A207-788C1B7EFA63}"/>
              </a:ext>
            </a:extLst>
          </p:cNvPr>
          <p:cNvSpPr>
            <a:spLocks noGrp="1"/>
          </p:cNvSpPr>
          <p:nvPr/>
        </p:nvSpPr>
        <p:spPr>
          <a:xfrm>
            <a:off x="8829675" y="3228975"/>
            <a:ext cx="19050" cy="295275"/>
          </a:xfrm>
          <a:prstGeom prst="rect">
            <a:avLst/>
          </a:prstGeom>
          <a:solidFill>
            <a:srgbClr val="AAAAAA"/>
          </a:solidFill>
          <a:ln w="0">
            <a:noFill/>
          </a:ln>
        </p:spPr>
      </p:sp>
      <p:graphicFrame>
        <p:nvGraphicFramePr>
          <p:cNvPr id="12" name="표 11">
            <a:extLst>
              <a:ext uri="{FF2B5EF4-FFF2-40B4-BE49-F238E27FC236}">
                <a16:creationId xmlns:a16="http://schemas.microsoft.com/office/drawing/2014/main" id="{1781B5A3-1697-4BF4-A68F-F00E8C069F33}"/>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13" name="표 12">
            <a:extLst>
              <a:ext uri="{FF2B5EF4-FFF2-40B4-BE49-F238E27FC236}">
                <a16:creationId xmlns:a16="http://schemas.microsoft.com/office/drawing/2014/main" id="{75E08AC7-9A04-4BFD-B07E-EF6EF2932EB0}"/>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6</a:t>
                      </a:r>
                    </a:p>
                  </a:txBody>
                  <a:tcPr anchor="ctr">
                    <a:solidFill>
                      <a:srgbClr val="DCECFB"/>
                    </a:solidFill>
                  </a:tcPr>
                </a:tc>
                <a:tc>
                  <a:txBody>
                    <a:bodyPr/>
                    <a:lstStyle/>
                    <a:p>
                      <a:pPr algn="ctr"/>
                      <a:r>
                        <a:rPr sz="2250"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4" name="표 13">
            <a:extLst>
              <a:ext uri="{FF2B5EF4-FFF2-40B4-BE49-F238E27FC236}">
                <a16:creationId xmlns:a16="http://schemas.microsoft.com/office/drawing/2014/main" id="{2CE87EE2-A411-4DAF-A552-682078A1F603}"/>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DEFE6"/>
                    </a:solidFill>
                  </a:tcPr>
                </a:tc>
                <a:tc>
                  <a:txBody>
                    <a:bodyPr/>
                    <a:lstStyle/>
                    <a:p>
                      <a:pPr algn="ctr"/>
                      <a:r>
                        <a:rPr sz="2250" b="1">
                          <a:solidFill>
                            <a:srgbClr val="151515"/>
                          </a:solidFill>
                          <a:latin typeface="Consolas"/>
                          <a:ea typeface="Consolas"/>
                          <a:cs typeface="Consolas"/>
                        </a:rPr>
                        <a:t>1</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next">
            <a:extLst>
              <a:ext uri="{FF2B5EF4-FFF2-40B4-BE49-F238E27FC236}">
                <a16:creationId xmlns:a16="http://schemas.microsoft.com/office/drawing/2014/main" id="{F74E9B3A-1FA3-4588-8FFE-7847D233DA62}"/>
              </a:ext>
            </a:extLst>
          </p:cNvPr>
          <p:cNvSpPr>
            <a:spLocks noGrp="1"/>
          </p:cNvSpPr>
          <p:nvPr/>
        </p:nvSpPr>
        <p:spPr>
          <a:xfrm>
            <a:off x="1143000" y="5019675"/>
            <a:ext cx="9906000" cy="476250"/>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06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다음: 네 개짜리 구간도 더 작은 문제로 나눕니다.</a:t>
            </a:r>
          </a:p>
        </p:txBody>
      </p:sp>
    </p:spTree>
    <p:extLst>
      <p:ext uri="{BB962C8B-B14F-4D97-AF65-F5344CB8AC3E}">
        <p14:creationId xmlns:p14="http://schemas.microsoft.com/office/powerpoint/2010/main" val="367094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BEC96228-65E6-431A-9D22-698A7EA3464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0728B11-FCB0-4FD6-9A37-0637675479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85D214D-BBA6-4E78-85DC-608C443C9C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② · 4개를 2개씩</a:t>
            </a:r>
          </a:p>
        </p:txBody>
      </p:sp>
      <p:sp>
        <p:nvSpPr>
          <p:cNvPr id="4" name="직사각형 3">
            <a:extLst>
              <a:ext uri="{FF2B5EF4-FFF2-40B4-BE49-F238E27FC236}">
                <a16:creationId xmlns:a16="http://schemas.microsoft.com/office/drawing/2014/main" id="{8789F09C-C6FB-46DA-B89D-0CBAEBA7802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ACFDD9E4-B2A2-4370-A0D0-04D4091DA04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네 개짜리 구간도 각각 가운데에서 나눕니다.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개짜리 네 묶음이 생겼지만, 아직 정렬된 결과는 아닙니다.</a:t>
            </a:r>
          </a:p>
        </p:txBody>
      </p:sp>
      <p:sp>
        <p:nvSpPr>
          <p:cNvPr id="6" name="footer">
            <a:extLst>
              <a:ext uri="{FF2B5EF4-FFF2-40B4-BE49-F238E27FC236}">
                <a16:creationId xmlns:a16="http://schemas.microsoft.com/office/drawing/2014/main" id="{3187B693-927C-4F38-8424-C1A909772BC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A5994B2-C3C9-45AB-A975-16BFE4477F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1CC1F265-F9B9-461E-97D1-5C14601D62B6}"/>
              </a:ext>
            </a:extLst>
          </p:cNvPr>
          <p:cNvSpPr>
            <a:spLocks noGrp="1"/>
          </p:cNvSpPr>
          <p:nvPr/>
        </p:nvSpPr>
        <p:spPr>
          <a:xfrm>
            <a:off x="6086475" y="2971800"/>
            <a:ext cx="19050" cy="257175"/>
          </a:xfrm>
          <a:prstGeom prst="rect">
            <a:avLst/>
          </a:prstGeom>
          <a:solidFill>
            <a:srgbClr val="AAAAAA"/>
          </a:solidFill>
          <a:ln w="0">
            <a:noFill/>
          </a:ln>
        </p:spPr>
      </p:sp>
      <p:sp>
        <p:nvSpPr>
          <p:cNvPr id="9" name="직사각형 8">
            <a:extLst>
              <a:ext uri="{FF2B5EF4-FFF2-40B4-BE49-F238E27FC236}">
                <a16:creationId xmlns:a16="http://schemas.microsoft.com/office/drawing/2014/main" id="{93348592-3432-4044-84E0-DE98C0D71B0A}"/>
              </a:ext>
            </a:extLst>
          </p:cNvPr>
          <p:cNvSpPr>
            <a:spLocks noGrp="1"/>
          </p:cNvSpPr>
          <p:nvPr/>
        </p:nvSpPr>
        <p:spPr>
          <a:xfrm>
            <a:off x="3352800" y="3228975"/>
            <a:ext cx="5486400" cy="19050"/>
          </a:xfrm>
          <a:prstGeom prst="rect">
            <a:avLst/>
          </a:prstGeom>
          <a:solidFill>
            <a:srgbClr val="AAAAAA"/>
          </a:solidFill>
          <a:ln w="0">
            <a:noFill/>
          </a:ln>
        </p:spPr>
      </p:sp>
      <p:sp>
        <p:nvSpPr>
          <p:cNvPr id="10" name="직사각형 9">
            <a:extLst>
              <a:ext uri="{FF2B5EF4-FFF2-40B4-BE49-F238E27FC236}">
                <a16:creationId xmlns:a16="http://schemas.microsoft.com/office/drawing/2014/main" id="{0572469F-2908-4256-87B4-D45DB9A95254}"/>
              </a:ext>
            </a:extLst>
          </p:cNvPr>
          <p:cNvSpPr>
            <a:spLocks noGrp="1"/>
          </p:cNvSpPr>
          <p:nvPr/>
        </p:nvSpPr>
        <p:spPr>
          <a:xfrm>
            <a:off x="3343275" y="3228975"/>
            <a:ext cx="19050" cy="295275"/>
          </a:xfrm>
          <a:prstGeom prst="rect">
            <a:avLst/>
          </a:prstGeom>
          <a:solidFill>
            <a:srgbClr val="AAAAAA"/>
          </a:solidFill>
          <a:ln w="0">
            <a:noFill/>
          </a:ln>
        </p:spPr>
      </p:sp>
      <p:sp>
        <p:nvSpPr>
          <p:cNvPr id="11" name="직사각형 10">
            <a:extLst>
              <a:ext uri="{FF2B5EF4-FFF2-40B4-BE49-F238E27FC236}">
                <a16:creationId xmlns:a16="http://schemas.microsoft.com/office/drawing/2014/main" id="{F191EB16-5EC9-40B8-A389-CFADF30C6562}"/>
              </a:ext>
            </a:extLst>
          </p:cNvPr>
          <p:cNvSpPr>
            <a:spLocks noGrp="1"/>
          </p:cNvSpPr>
          <p:nvPr/>
        </p:nvSpPr>
        <p:spPr>
          <a:xfrm>
            <a:off x="8829675" y="3228975"/>
            <a:ext cx="19050" cy="295275"/>
          </a:xfrm>
          <a:prstGeom prst="rect">
            <a:avLst/>
          </a:prstGeom>
          <a:solidFill>
            <a:srgbClr val="AAAAAA"/>
          </a:solidFill>
          <a:ln w="0">
            <a:noFill/>
          </a:ln>
        </p:spPr>
      </p:sp>
      <p:graphicFrame>
        <p:nvGraphicFramePr>
          <p:cNvPr id="12" name="표 11">
            <a:extLst>
              <a:ext uri="{FF2B5EF4-FFF2-40B4-BE49-F238E27FC236}">
                <a16:creationId xmlns:a16="http://schemas.microsoft.com/office/drawing/2014/main" id="{3351E50C-54F4-4ED7-9FA8-88B125F2BBD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35B346A-B2FA-4023-8C5A-CB55F5FA01B6}"/>
              </a:ext>
            </a:extLst>
          </p:cNvPr>
          <p:cNvSpPr>
            <a:spLocks noGrp="1"/>
          </p:cNvSpPr>
          <p:nvPr/>
        </p:nvSpPr>
        <p:spPr>
          <a:xfrm>
            <a:off x="3343275" y="4019550"/>
            <a:ext cx="19050" cy="257175"/>
          </a:xfrm>
          <a:prstGeom prst="rect">
            <a:avLst/>
          </a:prstGeom>
          <a:solidFill>
            <a:srgbClr val="AAAAAA"/>
          </a:solidFill>
          <a:ln w="0">
            <a:noFill/>
          </a:ln>
        </p:spPr>
      </p:sp>
      <p:sp>
        <p:nvSpPr>
          <p:cNvPr id="14" name="직사각형 13">
            <a:extLst>
              <a:ext uri="{FF2B5EF4-FFF2-40B4-BE49-F238E27FC236}">
                <a16:creationId xmlns:a16="http://schemas.microsoft.com/office/drawing/2014/main" id="{C682CBCB-7221-40C4-A200-16BC77902014}"/>
              </a:ext>
            </a:extLst>
          </p:cNvPr>
          <p:cNvSpPr>
            <a:spLocks noGrp="1"/>
          </p:cNvSpPr>
          <p:nvPr/>
        </p:nvSpPr>
        <p:spPr>
          <a:xfrm>
            <a:off x="1981200" y="4276725"/>
            <a:ext cx="2743200" cy="19050"/>
          </a:xfrm>
          <a:prstGeom prst="rect">
            <a:avLst/>
          </a:prstGeom>
          <a:solidFill>
            <a:srgbClr val="AAAAAA"/>
          </a:solidFill>
          <a:ln w="0">
            <a:noFill/>
          </a:ln>
        </p:spPr>
      </p:sp>
      <p:sp>
        <p:nvSpPr>
          <p:cNvPr id="15" name="직사각형 14">
            <a:extLst>
              <a:ext uri="{FF2B5EF4-FFF2-40B4-BE49-F238E27FC236}">
                <a16:creationId xmlns:a16="http://schemas.microsoft.com/office/drawing/2014/main" id="{4472047A-A1A4-4990-BEEE-4B541769813A}"/>
              </a:ext>
            </a:extLst>
          </p:cNvPr>
          <p:cNvSpPr>
            <a:spLocks noGrp="1"/>
          </p:cNvSpPr>
          <p:nvPr/>
        </p:nvSpPr>
        <p:spPr>
          <a:xfrm>
            <a:off x="1971675" y="4276725"/>
            <a:ext cx="19050" cy="295275"/>
          </a:xfrm>
          <a:prstGeom prst="rect">
            <a:avLst/>
          </a:prstGeom>
          <a:solidFill>
            <a:srgbClr val="AAAAAA"/>
          </a:solidFill>
          <a:ln w="0">
            <a:noFill/>
          </a:ln>
        </p:spPr>
      </p:sp>
      <p:sp>
        <p:nvSpPr>
          <p:cNvPr id="16" name="직사각형 15">
            <a:extLst>
              <a:ext uri="{FF2B5EF4-FFF2-40B4-BE49-F238E27FC236}">
                <a16:creationId xmlns:a16="http://schemas.microsoft.com/office/drawing/2014/main" id="{A4451E41-4E0B-4AAB-815D-B3E09B5E6677}"/>
              </a:ext>
            </a:extLst>
          </p:cNvPr>
          <p:cNvSpPr>
            <a:spLocks noGrp="1"/>
          </p:cNvSpPr>
          <p:nvPr/>
        </p:nvSpPr>
        <p:spPr>
          <a:xfrm>
            <a:off x="4714875" y="4276725"/>
            <a:ext cx="19050" cy="295275"/>
          </a:xfrm>
          <a:prstGeom prst="rect">
            <a:avLst/>
          </a:prstGeom>
          <a:solidFill>
            <a:srgbClr val="AAAAAA"/>
          </a:solidFill>
          <a:ln w="0">
            <a:noFill/>
          </a:ln>
        </p:spPr>
      </p:sp>
      <p:sp>
        <p:nvSpPr>
          <p:cNvPr id="17" name="직사각형 16">
            <a:extLst>
              <a:ext uri="{FF2B5EF4-FFF2-40B4-BE49-F238E27FC236}">
                <a16:creationId xmlns:a16="http://schemas.microsoft.com/office/drawing/2014/main" id="{4120BEEA-5C50-48BF-8B95-5D08F0EE0060}"/>
              </a:ext>
            </a:extLst>
          </p:cNvPr>
          <p:cNvSpPr>
            <a:spLocks noGrp="1"/>
          </p:cNvSpPr>
          <p:nvPr/>
        </p:nvSpPr>
        <p:spPr>
          <a:xfrm>
            <a:off x="8829675" y="4019550"/>
            <a:ext cx="19050" cy="257175"/>
          </a:xfrm>
          <a:prstGeom prst="rect">
            <a:avLst/>
          </a:prstGeom>
          <a:solidFill>
            <a:srgbClr val="AAAAAA"/>
          </a:solidFill>
          <a:ln w="0">
            <a:noFill/>
          </a:ln>
        </p:spPr>
      </p:sp>
      <p:sp>
        <p:nvSpPr>
          <p:cNvPr id="18" name="직사각형 17">
            <a:extLst>
              <a:ext uri="{FF2B5EF4-FFF2-40B4-BE49-F238E27FC236}">
                <a16:creationId xmlns:a16="http://schemas.microsoft.com/office/drawing/2014/main" id="{99F429BF-15E1-4A65-A1CB-CC55BE4B1D67}"/>
              </a:ext>
            </a:extLst>
          </p:cNvPr>
          <p:cNvSpPr>
            <a:spLocks noGrp="1"/>
          </p:cNvSpPr>
          <p:nvPr/>
        </p:nvSpPr>
        <p:spPr>
          <a:xfrm>
            <a:off x="7467600" y="4276725"/>
            <a:ext cx="2743200" cy="19050"/>
          </a:xfrm>
          <a:prstGeom prst="rect">
            <a:avLst/>
          </a:prstGeom>
          <a:solidFill>
            <a:srgbClr val="AAAAAA"/>
          </a:solidFill>
          <a:ln w="0">
            <a:noFill/>
          </a:ln>
        </p:spPr>
      </p:sp>
      <p:sp>
        <p:nvSpPr>
          <p:cNvPr id="19" name="직사각형 18">
            <a:extLst>
              <a:ext uri="{FF2B5EF4-FFF2-40B4-BE49-F238E27FC236}">
                <a16:creationId xmlns:a16="http://schemas.microsoft.com/office/drawing/2014/main" id="{E8A29EF9-ECFB-4FF3-8891-A46B506E9106}"/>
              </a:ext>
            </a:extLst>
          </p:cNvPr>
          <p:cNvSpPr>
            <a:spLocks noGrp="1"/>
          </p:cNvSpPr>
          <p:nvPr/>
        </p:nvSpPr>
        <p:spPr>
          <a:xfrm>
            <a:off x="7458075" y="4276725"/>
            <a:ext cx="19050" cy="295275"/>
          </a:xfrm>
          <a:prstGeom prst="rect">
            <a:avLst/>
          </a:prstGeom>
          <a:solidFill>
            <a:srgbClr val="AAAAAA"/>
          </a:solidFill>
          <a:ln w="0">
            <a:noFill/>
          </a:ln>
        </p:spPr>
      </p:sp>
      <p:sp>
        <p:nvSpPr>
          <p:cNvPr id="20" name="직사각형 19">
            <a:extLst>
              <a:ext uri="{FF2B5EF4-FFF2-40B4-BE49-F238E27FC236}">
                <a16:creationId xmlns:a16="http://schemas.microsoft.com/office/drawing/2014/main" id="{D4CBFB01-5E30-462A-8330-83264E326553}"/>
              </a:ext>
            </a:extLst>
          </p:cNvPr>
          <p:cNvSpPr>
            <a:spLocks noGrp="1"/>
          </p:cNvSpPr>
          <p:nvPr/>
        </p:nvSpPr>
        <p:spPr>
          <a:xfrm>
            <a:off x="10201275" y="4276725"/>
            <a:ext cx="19050" cy="295275"/>
          </a:xfrm>
          <a:prstGeom prst="rect">
            <a:avLst/>
          </a:prstGeom>
          <a:solidFill>
            <a:srgbClr val="AAAAAA"/>
          </a:solidFill>
          <a:ln w="0">
            <a:noFill/>
          </a:ln>
        </p:spPr>
      </p:sp>
      <p:graphicFrame>
        <p:nvGraphicFramePr>
          <p:cNvPr id="21" name="표 20">
            <a:extLst>
              <a:ext uri="{FF2B5EF4-FFF2-40B4-BE49-F238E27FC236}">
                <a16:creationId xmlns:a16="http://schemas.microsoft.com/office/drawing/2014/main" id="{C2FBF41A-04B7-493B-BD79-7A740A3DE8D4}"/>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BA74306C-3F9E-44EF-BE18-5C8A6C2D1D96}"/>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3" name="표 22">
            <a:extLst>
              <a:ext uri="{FF2B5EF4-FFF2-40B4-BE49-F238E27FC236}">
                <a16:creationId xmlns:a16="http://schemas.microsoft.com/office/drawing/2014/main" id="{F3B87C7B-1EED-4E86-B999-9BBF4DAB1192}"/>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4" name="표 23">
            <a:extLst>
              <a:ext uri="{FF2B5EF4-FFF2-40B4-BE49-F238E27FC236}">
                <a16:creationId xmlns:a16="http://schemas.microsoft.com/office/drawing/2014/main" id="{E72E64B7-AA1E-4CA6-ACFD-36D6747C6461}"/>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DEFE6"/>
                    </a:solidFill>
                  </a:tcPr>
                </a:tc>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25" name="표 24">
            <a:extLst>
              <a:ext uri="{FF2B5EF4-FFF2-40B4-BE49-F238E27FC236}">
                <a16:creationId xmlns:a16="http://schemas.microsoft.com/office/drawing/2014/main" id="{4346B2F5-469F-44A0-B32F-B81ADFF6DB38}"/>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tc>
                  <a:txBody>
                    <a:bodyPr/>
                    <a:lstStyle/>
                    <a:p>
                      <a:pPr algn="ctr"/>
                      <a:r>
                        <a:rPr sz="2250"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6" name="표 25">
            <a:extLst>
              <a:ext uri="{FF2B5EF4-FFF2-40B4-BE49-F238E27FC236}">
                <a16:creationId xmlns:a16="http://schemas.microsoft.com/office/drawing/2014/main" id="{C35F797B-F18E-4722-96B1-A754C8AB018B}"/>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next">
            <a:extLst>
              <a:ext uri="{FF2B5EF4-FFF2-40B4-BE49-F238E27FC236}">
                <a16:creationId xmlns:a16="http://schemas.microsoft.com/office/drawing/2014/main" id="{EC808234-5DC3-4751-81FC-918C11C5BC0D}"/>
              </a:ext>
            </a:extLst>
          </p:cNvPr>
          <p:cNvSpPr>
            <a:spLocks noGrp="1"/>
          </p:cNvSpPr>
          <p:nvPr/>
        </p:nvSpPr>
        <p:spPr>
          <a:xfrm>
            <a:off x="1143000" y="5829300"/>
            <a:ext cx="99060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다음: 두 개짜리 구간을 원소 하나씩 나눕니다.</a:t>
            </a:r>
          </a:p>
        </p:txBody>
      </p:sp>
    </p:spTree>
    <p:extLst>
      <p:ext uri="{BB962C8B-B14F-4D97-AF65-F5344CB8AC3E}">
        <p14:creationId xmlns:p14="http://schemas.microsoft.com/office/powerpoint/2010/main" val="23036366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a:extLst>
              <a:ext uri="{FF2B5EF4-FFF2-40B4-BE49-F238E27FC236}">
                <a16:creationId xmlns:a16="http://schemas.microsoft.com/office/drawing/2014/main" id="{C2C6DDD3-AE24-4C47-A326-12C6BA0F00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D8929B6-93CB-45EC-8C21-FC3BCAF8990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A90E107-185B-470B-8501-5705CBF484A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③ · 2개를 1개씩</a:t>
            </a:r>
          </a:p>
        </p:txBody>
      </p:sp>
      <p:sp>
        <p:nvSpPr>
          <p:cNvPr id="4" name="직사각형 3">
            <a:extLst>
              <a:ext uri="{FF2B5EF4-FFF2-40B4-BE49-F238E27FC236}">
                <a16:creationId xmlns:a16="http://schemas.microsoft.com/office/drawing/2014/main" id="{C5504C76-C644-4ABE-9181-E223E7FF96E4}"/>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D431491F-5B14-413B-94F4-76BB430AD83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원소가 하나이면 더 정렬할 것이 없습니다. 여기서 재귀 호출을 멈춥니다.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한 원소짜리 결과 두 개를 받아 병합을 시작합니다.</a:t>
            </a:r>
          </a:p>
        </p:txBody>
      </p:sp>
      <p:sp>
        <p:nvSpPr>
          <p:cNvPr id="6" name="footer">
            <a:extLst>
              <a:ext uri="{FF2B5EF4-FFF2-40B4-BE49-F238E27FC236}">
                <a16:creationId xmlns:a16="http://schemas.microsoft.com/office/drawing/2014/main" id="{21D84FF9-C92F-405F-A35B-135BB70062C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A916708-AEE2-40FF-B2D9-48D7DDC6E29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48B9D429-5037-4214-9809-EF635FCD1DF3}"/>
              </a:ext>
            </a:extLst>
          </p:cNvPr>
          <p:cNvSpPr>
            <a:spLocks noGrp="1"/>
          </p:cNvSpPr>
          <p:nvPr/>
        </p:nvSpPr>
        <p:spPr>
          <a:xfrm>
            <a:off x="6086475" y="2971800"/>
            <a:ext cx="19050" cy="257175"/>
          </a:xfrm>
          <a:prstGeom prst="rect">
            <a:avLst/>
          </a:prstGeom>
          <a:solidFill>
            <a:srgbClr val="AAAAAA"/>
          </a:solidFill>
          <a:ln w="0">
            <a:noFill/>
          </a:ln>
        </p:spPr>
      </p:sp>
      <p:sp>
        <p:nvSpPr>
          <p:cNvPr id="9" name="직사각형 8">
            <a:extLst>
              <a:ext uri="{FF2B5EF4-FFF2-40B4-BE49-F238E27FC236}">
                <a16:creationId xmlns:a16="http://schemas.microsoft.com/office/drawing/2014/main" id="{B8A6111D-6A1B-4318-9DE9-877AAFC7D6FA}"/>
              </a:ext>
            </a:extLst>
          </p:cNvPr>
          <p:cNvSpPr>
            <a:spLocks noGrp="1"/>
          </p:cNvSpPr>
          <p:nvPr/>
        </p:nvSpPr>
        <p:spPr>
          <a:xfrm>
            <a:off x="3352800" y="3228975"/>
            <a:ext cx="5486400" cy="19050"/>
          </a:xfrm>
          <a:prstGeom prst="rect">
            <a:avLst/>
          </a:prstGeom>
          <a:solidFill>
            <a:srgbClr val="AAAAAA"/>
          </a:solidFill>
          <a:ln w="0">
            <a:noFill/>
          </a:ln>
        </p:spPr>
      </p:sp>
      <p:sp>
        <p:nvSpPr>
          <p:cNvPr id="10" name="직사각형 9">
            <a:extLst>
              <a:ext uri="{FF2B5EF4-FFF2-40B4-BE49-F238E27FC236}">
                <a16:creationId xmlns:a16="http://schemas.microsoft.com/office/drawing/2014/main" id="{325C7193-3CC1-4517-B58B-3143F79B4C35}"/>
              </a:ext>
            </a:extLst>
          </p:cNvPr>
          <p:cNvSpPr>
            <a:spLocks noGrp="1"/>
          </p:cNvSpPr>
          <p:nvPr/>
        </p:nvSpPr>
        <p:spPr>
          <a:xfrm>
            <a:off x="3343275" y="3228975"/>
            <a:ext cx="19050" cy="295275"/>
          </a:xfrm>
          <a:prstGeom prst="rect">
            <a:avLst/>
          </a:prstGeom>
          <a:solidFill>
            <a:srgbClr val="AAAAAA"/>
          </a:solidFill>
          <a:ln w="0">
            <a:noFill/>
          </a:ln>
        </p:spPr>
      </p:sp>
      <p:sp>
        <p:nvSpPr>
          <p:cNvPr id="11" name="직사각형 10">
            <a:extLst>
              <a:ext uri="{FF2B5EF4-FFF2-40B4-BE49-F238E27FC236}">
                <a16:creationId xmlns:a16="http://schemas.microsoft.com/office/drawing/2014/main" id="{BA591D12-AB41-4F42-96B6-450B909F464E}"/>
              </a:ext>
            </a:extLst>
          </p:cNvPr>
          <p:cNvSpPr>
            <a:spLocks noGrp="1"/>
          </p:cNvSpPr>
          <p:nvPr/>
        </p:nvSpPr>
        <p:spPr>
          <a:xfrm>
            <a:off x="8829675" y="3228975"/>
            <a:ext cx="19050" cy="295275"/>
          </a:xfrm>
          <a:prstGeom prst="rect">
            <a:avLst/>
          </a:prstGeom>
          <a:solidFill>
            <a:srgbClr val="AAAAAA"/>
          </a:solidFill>
          <a:ln w="0">
            <a:noFill/>
          </a:ln>
        </p:spPr>
      </p:sp>
      <p:graphicFrame>
        <p:nvGraphicFramePr>
          <p:cNvPr id="12" name="표 11">
            <a:extLst>
              <a:ext uri="{FF2B5EF4-FFF2-40B4-BE49-F238E27FC236}">
                <a16:creationId xmlns:a16="http://schemas.microsoft.com/office/drawing/2014/main" id="{DF5E61AC-CB46-4B3A-9405-C8EFFDE4140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0DA38BA-46E4-46DD-A87C-917959426287}"/>
              </a:ext>
            </a:extLst>
          </p:cNvPr>
          <p:cNvSpPr>
            <a:spLocks noGrp="1"/>
          </p:cNvSpPr>
          <p:nvPr/>
        </p:nvSpPr>
        <p:spPr>
          <a:xfrm>
            <a:off x="3343275" y="4019550"/>
            <a:ext cx="19050" cy="257175"/>
          </a:xfrm>
          <a:prstGeom prst="rect">
            <a:avLst/>
          </a:prstGeom>
          <a:solidFill>
            <a:srgbClr val="AAAAAA"/>
          </a:solidFill>
          <a:ln w="0">
            <a:noFill/>
          </a:ln>
        </p:spPr>
      </p:sp>
      <p:sp>
        <p:nvSpPr>
          <p:cNvPr id="14" name="직사각형 13">
            <a:extLst>
              <a:ext uri="{FF2B5EF4-FFF2-40B4-BE49-F238E27FC236}">
                <a16:creationId xmlns:a16="http://schemas.microsoft.com/office/drawing/2014/main" id="{E4567F0B-8EA4-4F1A-8346-F377F9A9CF8A}"/>
              </a:ext>
            </a:extLst>
          </p:cNvPr>
          <p:cNvSpPr>
            <a:spLocks noGrp="1"/>
          </p:cNvSpPr>
          <p:nvPr/>
        </p:nvSpPr>
        <p:spPr>
          <a:xfrm>
            <a:off x="1981200" y="4276725"/>
            <a:ext cx="2743200" cy="19050"/>
          </a:xfrm>
          <a:prstGeom prst="rect">
            <a:avLst/>
          </a:prstGeom>
          <a:solidFill>
            <a:srgbClr val="AAAAAA"/>
          </a:solidFill>
          <a:ln w="0">
            <a:noFill/>
          </a:ln>
        </p:spPr>
      </p:sp>
      <p:sp>
        <p:nvSpPr>
          <p:cNvPr id="15" name="직사각형 14">
            <a:extLst>
              <a:ext uri="{FF2B5EF4-FFF2-40B4-BE49-F238E27FC236}">
                <a16:creationId xmlns:a16="http://schemas.microsoft.com/office/drawing/2014/main" id="{E1B62485-A578-419A-A64E-008BAE1E0B9B}"/>
              </a:ext>
            </a:extLst>
          </p:cNvPr>
          <p:cNvSpPr>
            <a:spLocks noGrp="1"/>
          </p:cNvSpPr>
          <p:nvPr/>
        </p:nvSpPr>
        <p:spPr>
          <a:xfrm>
            <a:off x="1971675" y="4276725"/>
            <a:ext cx="19050" cy="295275"/>
          </a:xfrm>
          <a:prstGeom prst="rect">
            <a:avLst/>
          </a:prstGeom>
          <a:solidFill>
            <a:srgbClr val="AAAAAA"/>
          </a:solidFill>
          <a:ln w="0">
            <a:noFill/>
          </a:ln>
        </p:spPr>
      </p:sp>
      <p:sp>
        <p:nvSpPr>
          <p:cNvPr id="16" name="직사각형 15">
            <a:extLst>
              <a:ext uri="{FF2B5EF4-FFF2-40B4-BE49-F238E27FC236}">
                <a16:creationId xmlns:a16="http://schemas.microsoft.com/office/drawing/2014/main" id="{8245637B-1FB4-4C1A-A99B-AE8046057616}"/>
              </a:ext>
            </a:extLst>
          </p:cNvPr>
          <p:cNvSpPr>
            <a:spLocks noGrp="1"/>
          </p:cNvSpPr>
          <p:nvPr/>
        </p:nvSpPr>
        <p:spPr>
          <a:xfrm>
            <a:off x="4714875" y="4276725"/>
            <a:ext cx="19050" cy="295275"/>
          </a:xfrm>
          <a:prstGeom prst="rect">
            <a:avLst/>
          </a:prstGeom>
          <a:solidFill>
            <a:srgbClr val="AAAAAA"/>
          </a:solidFill>
          <a:ln w="0">
            <a:noFill/>
          </a:ln>
        </p:spPr>
      </p:sp>
      <p:sp>
        <p:nvSpPr>
          <p:cNvPr id="17" name="직사각형 16">
            <a:extLst>
              <a:ext uri="{FF2B5EF4-FFF2-40B4-BE49-F238E27FC236}">
                <a16:creationId xmlns:a16="http://schemas.microsoft.com/office/drawing/2014/main" id="{7290D1F0-C992-4F05-9AE5-C917A0DC0503}"/>
              </a:ext>
            </a:extLst>
          </p:cNvPr>
          <p:cNvSpPr>
            <a:spLocks noGrp="1"/>
          </p:cNvSpPr>
          <p:nvPr/>
        </p:nvSpPr>
        <p:spPr>
          <a:xfrm>
            <a:off x="8829675" y="4019550"/>
            <a:ext cx="19050" cy="257175"/>
          </a:xfrm>
          <a:prstGeom prst="rect">
            <a:avLst/>
          </a:prstGeom>
          <a:solidFill>
            <a:srgbClr val="AAAAAA"/>
          </a:solidFill>
          <a:ln w="0">
            <a:noFill/>
          </a:ln>
        </p:spPr>
      </p:sp>
      <p:sp>
        <p:nvSpPr>
          <p:cNvPr id="18" name="직사각형 17">
            <a:extLst>
              <a:ext uri="{FF2B5EF4-FFF2-40B4-BE49-F238E27FC236}">
                <a16:creationId xmlns:a16="http://schemas.microsoft.com/office/drawing/2014/main" id="{25047E3C-E05A-4DDF-9ACA-4191144D780F}"/>
              </a:ext>
            </a:extLst>
          </p:cNvPr>
          <p:cNvSpPr>
            <a:spLocks noGrp="1"/>
          </p:cNvSpPr>
          <p:nvPr/>
        </p:nvSpPr>
        <p:spPr>
          <a:xfrm>
            <a:off x="7467600" y="4276725"/>
            <a:ext cx="2743200" cy="19050"/>
          </a:xfrm>
          <a:prstGeom prst="rect">
            <a:avLst/>
          </a:prstGeom>
          <a:solidFill>
            <a:srgbClr val="AAAAAA"/>
          </a:solidFill>
          <a:ln w="0">
            <a:noFill/>
          </a:ln>
        </p:spPr>
      </p:sp>
      <p:sp>
        <p:nvSpPr>
          <p:cNvPr id="19" name="직사각형 18">
            <a:extLst>
              <a:ext uri="{FF2B5EF4-FFF2-40B4-BE49-F238E27FC236}">
                <a16:creationId xmlns:a16="http://schemas.microsoft.com/office/drawing/2014/main" id="{E20065E5-875F-405D-8EED-9688E36C840D}"/>
              </a:ext>
            </a:extLst>
          </p:cNvPr>
          <p:cNvSpPr>
            <a:spLocks noGrp="1"/>
          </p:cNvSpPr>
          <p:nvPr/>
        </p:nvSpPr>
        <p:spPr>
          <a:xfrm>
            <a:off x="7458075" y="4276725"/>
            <a:ext cx="19050" cy="295275"/>
          </a:xfrm>
          <a:prstGeom prst="rect">
            <a:avLst/>
          </a:prstGeom>
          <a:solidFill>
            <a:srgbClr val="AAAAAA"/>
          </a:solidFill>
          <a:ln w="0">
            <a:noFill/>
          </a:ln>
        </p:spPr>
      </p:sp>
      <p:sp>
        <p:nvSpPr>
          <p:cNvPr id="20" name="직사각형 19">
            <a:extLst>
              <a:ext uri="{FF2B5EF4-FFF2-40B4-BE49-F238E27FC236}">
                <a16:creationId xmlns:a16="http://schemas.microsoft.com/office/drawing/2014/main" id="{0A7C0173-F296-42D5-946F-0D1C4AF8BBF9}"/>
              </a:ext>
            </a:extLst>
          </p:cNvPr>
          <p:cNvSpPr>
            <a:spLocks noGrp="1"/>
          </p:cNvSpPr>
          <p:nvPr/>
        </p:nvSpPr>
        <p:spPr>
          <a:xfrm>
            <a:off x="10201275" y="4276725"/>
            <a:ext cx="19050" cy="295275"/>
          </a:xfrm>
          <a:prstGeom prst="rect">
            <a:avLst/>
          </a:prstGeom>
          <a:solidFill>
            <a:srgbClr val="AAAAAA"/>
          </a:solidFill>
          <a:ln w="0">
            <a:noFill/>
          </a:ln>
        </p:spPr>
      </p:sp>
      <p:graphicFrame>
        <p:nvGraphicFramePr>
          <p:cNvPr id="21" name="표 20">
            <a:extLst>
              <a:ext uri="{FF2B5EF4-FFF2-40B4-BE49-F238E27FC236}">
                <a16:creationId xmlns:a16="http://schemas.microsoft.com/office/drawing/2014/main" id="{741D8334-67B4-45B0-8CDC-DD2136BC2406}"/>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2CFEB954-66BC-4FD6-A8B3-8C3D1BF2AF5A}"/>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3" name="직사각형 22">
            <a:extLst>
              <a:ext uri="{FF2B5EF4-FFF2-40B4-BE49-F238E27FC236}">
                <a16:creationId xmlns:a16="http://schemas.microsoft.com/office/drawing/2014/main" id="{DFB4F1FF-A615-4264-A0A9-B9CB62BEBA87}"/>
              </a:ext>
            </a:extLst>
          </p:cNvPr>
          <p:cNvSpPr>
            <a:spLocks noGrp="1"/>
          </p:cNvSpPr>
          <p:nvPr/>
        </p:nvSpPr>
        <p:spPr>
          <a:xfrm>
            <a:off x="1971675" y="5067300"/>
            <a:ext cx="19050" cy="257175"/>
          </a:xfrm>
          <a:prstGeom prst="rect">
            <a:avLst/>
          </a:prstGeom>
          <a:solidFill>
            <a:srgbClr val="AAAAAA"/>
          </a:solidFill>
          <a:ln w="0">
            <a:noFill/>
          </a:ln>
        </p:spPr>
      </p:sp>
      <p:sp>
        <p:nvSpPr>
          <p:cNvPr id="24" name="직사각형 23">
            <a:extLst>
              <a:ext uri="{FF2B5EF4-FFF2-40B4-BE49-F238E27FC236}">
                <a16:creationId xmlns:a16="http://schemas.microsoft.com/office/drawing/2014/main" id="{7A152A80-D800-4CB7-B18D-0AC061C86ECC}"/>
              </a:ext>
            </a:extLst>
          </p:cNvPr>
          <p:cNvSpPr>
            <a:spLocks noGrp="1"/>
          </p:cNvSpPr>
          <p:nvPr/>
        </p:nvSpPr>
        <p:spPr>
          <a:xfrm>
            <a:off x="1295400" y="5324475"/>
            <a:ext cx="1371600" cy="19050"/>
          </a:xfrm>
          <a:prstGeom prst="rect">
            <a:avLst/>
          </a:prstGeom>
          <a:solidFill>
            <a:srgbClr val="AAAAAA"/>
          </a:solidFill>
          <a:ln w="0">
            <a:noFill/>
          </a:ln>
        </p:spPr>
      </p:sp>
      <p:sp>
        <p:nvSpPr>
          <p:cNvPr id="25" name="직사각형 24">
            <a:extLst>
              <a:ext uri="{FF2B5EF4-FFF2-40B4-BE49-F238E27FC236}">
                <a16:creationId xmlns:a16="http://schemas.microsoft.com/office/drawing/2014/main" id="{5B68F6EC-04AC-4D80-8A95-D7C0924BC210}"/>
              </a:ext>
            </a:extLst>
          </p:cNvPr>
          <p:cNvSpPr>
            <a:spLocks noGrp="1"/>
          </p:cNvSpPr>
          <p:nvPr/>
        </p:nvSpPr>
        <p:spPr>
          <a:xfrm>
            <a:off x="1285875" y="5324475"/>
            <a:ext cx="19050" cy="295275"/>
          </a:xfrm>
          <a:prstGeom prst="rect">
            <a:avLst/>
          </a:prstGeom>
          <a:solidFill>
            <a:srgbClr val="AAAAAA"/>
          </a:solidFill>
          <a:ln w="0">
            <a:noFill/>
          </a:ln>
        </p:spPr>
      </p:sp>
      <p:sp>
        <p:nvSpPr>
          <p:cNvPr id="26" name="직사각형 25">
            <a:extLst>
              <a:ext uri="{FF2B5EF4-FFF2-40B4-BE49-F238E27FC236}">
                <a16:creationId xmlns:a16="http://schemas.microsoft.com/office/drawing/2014/main" id="{4C9672DF-3FA0-4A1D-9FE6-A0374833D27F}"/>
              </a:ext>
            </a:extLst>
          </p:cNvPr>
          <p:cNvSpPr>
            <a:spLocks noGrp="1"/>
          </p:cNvSpPr>
          <p:nvPr/>
        </p:nvSpPr>
        <p:spPr>
          <a:xfrm>
            <a:off x="2657475" y="5324475"/>
            <a:ext cx="19050" cy="295275"/>
          </a:xfrm>
          <a:prstGeom prst="rect">
            <a:avLst/>
          </a:prstGeom>
          <a:solidFill>
            <a:srgbClr val="AAAAAA"/>
          </a:solidFill>
          <a:ln w="0">
            <a:noFill/>
          </a:ln>
        </p:spPr>
      </p:sp>
      <p:sp>
        <p:nvSpPr>
          <p:cNvPr id="27" name="직사각형 26">
            <a:extLst>
              <a:ext uri="{FF2B5EF4-FFF2-40B4-BE49-F238E27FC236}">
                <a16:creationId xmlns:a16="http://schemas.microsoft.com/office/drawing/2014/main" id="{76BC1CD8-1E08-4CBC-B0AF-E77062162AFB}"/>
              </a:ext>
            </a:extLst>
          </p:cNvPr>
          <p:cNvSpPr>
            <a:spLocks noGrp="1"/>
          </p:cNvSpPr>
          <p:nvPr/>
        </p:nvSpPr>
        <p:spPr>
          <a:xfrm>
            <a:off x="4714875" y="5067300"/>
            <a:ext cx="19050" cy="257175"/>
          </a:xfrm>
          <a:prstGeom prst="rect">
            <a:avLst/>
          </a:prstGeom>
          <a:solidFill>
            <a:srgbClr val="AAAAAA"/>
          </a:solidFill>
          <a:ln w="0">
            <a:noFill/>
          </a:ln>
        </p:spPr>
      </p:sp>
      <p:sp>
        <p:nvSpPr>
          <p:cNvPr id="28" name="직사각형 27">
            <a:extLst>
              <a:ext uri="{FF2B5EF4-FFF2-40B4-BE49-F238E27FC236}">
                <a16:creationId xmlns:a16="http://schemas.microsoft.com/office/drawing/2014/main" id="{51AF680A-179E-45D1-A318-AF83CE0AE053}"/>
              </a:ext>
            </a:extLst>
          </p:cNvPr>
          <p:cNvSpPr>
            <a:spLocks noGrp="1"/>
          </p:cNvSpPr>
          <p:nvPr/>
        </p:nvSpPr>
        <p:spPr>
          <a:xfrm>
            <a:off x="4038600" y="5324475"/>
            <a:ext cx="1371600" cy="19050"/>
          </a:xfrm>
          <a:prstGeom prst="rect">
            <a:avLst/>
          </a:prstGeom>
          <a:solidFill>
            <a:srgbClr val="AAAAAA"/>
          </a:solidFill>
          <a:ln w="0">
            <a:noFill/>
          </a:ln>
        </p:spPr>
      </p:sp>
      <p:sp>
        <p:nvSpPr>
          <p:cNvPr id="29" name="직사각형 28">
            <a:extLst>
              <a:ext uri="{FF2B5EF4-FFF2-40B4-BE49-F238E27FC236}">
                <a16:creationId xmlns:a16="http://schemas.microsoft.com/office/drawing/2014/main" id="{0DF89B62-D5DD-464F-8C74-E36C51ADF18B}"/>
              </a:ext>
            </a:extLst>
          </p:cNvPr>
          <p:cNvSpPr>
            <a:spLocks noGrp="1"/>
          </p:cNvSpPr>
          <p:nvPr/>
        </p:nvSpPr>
        <p:spPr>
          <a:xfrm>
            <a:off x="4029075" y="5324475"/>
            <a:ext cx="19050" cy="295275"/>
          </a:xfrm>
          <a:prstGeom prst="rect">
            <a:avLst/>
          </a:prstGeom>
          <a:solidFill>
            <a:srgbClr val="AAAAAA"/>
          </a:solidFill>
          <a:ln w="0">
            <a:noFill/>
          </a:ln>
        </p:spPr>
      </p:sp>
      <p:sp>
        <p:nvSpPr>
          <p:cNvPr id="30" name="직사각형 29">
            <a:extLst>
              <a:ext uri="{FF2B5EF4-FFF2-40B4-BE49-F238E27FC236}">
                <a16:creationId xmlns:a16="http://schemas.microsoft.com/office/drawing/2014/main" id="{D3B6A350-AFD4-4293-9C5C-23240EA7BEFC}"/>
              </a:ext>
            </a:extLst>
          </p:cNvPr>
          <p:cNvSpPr>
            <a:spLocks noGrp="1"/>
          </p:cNvSpPr>
          <p:nvPr/>
        </p:nvSpPr>
        <p:spPr>
          <a:xfrm>
            <a:off x="5400675" y="5324475"/>
            <a:ext cx="19050" cy="295275"/>
          </a:xfrm>
          <a:prstGeom prst="rect">
            <a:avLst/>
          </a:prstGeom>
          <a:solidFill>
            <a:srgbClr val="AAAAAA"/>
          </a:solidFill>
          <a:ln w="0">
            <a:noFill/>
          </a:ln>
        </p:spPr>
      </p:sp>
      <p:sp>
        <p:nvSpPr>
          <p:cNvPr id="31" name="직사각형 30">
            <a:extLst>
              <a:ext uri="{FF2B5EF4-FFF2-40B4-BE49-F238E27FC236}">
                <a16:creationId xmlns:a16="http://schemas.microsoft.com/office/drawing/2014/main" id="{5E72037C-8BBC-4DD4-8AA5-0BC13FAFE23C}"/>
              </a:ext>
            </a:extLst>
          </p:cNvPr>
          <p:cNvSpPr>
            <a:spLocks noGrp="1"/>
          </p:cNvSpPr>
          <p:nvPr/>
        </p:nvSpPr>
        <p:spPr>
          <a:xfrm>
            <a:off x="7458075" y="5067300"/>
            <a:ext cx="19050" cy="257175"/>
          </a:xfrm>
          <a:prstGeom prst="rect">
            <a:avLst/>
          </a:prstGeom>
          <a:solidFill>
            <a:srgbClr val="AAAAAA"/>
          </a:solidFill>
          <a:ln w="0">
            <a:noFill/>
          </a:ln>
        </p:spPr>
      </p:sp>
      <p:sp>
        <p:nvSpPr>
          <p:cNvPr id="32" name="직사각형 31">
            <a:extLst>
              <a:ext uri="{FF2B5EF4-FFF2-40B4-BE49-F238E27FC236}">
                <a16:creationId xmlns:a16="http://schemas.microsoft.com/office/drawing/2014/main" id="{89D891DB-9494-4F88-949A-0F339CAA2816}"/>
              </a:ext>
            </a:extLst>
          </p:cNvPr>
          <p:cNvSpPr>
            <a:spLocks noGrp="1"/>
          </p:cNvSpPr>
          <p:nvPr/>
        </p:nvSpPr>
        <p:spPr>
          <a:xfrm>
            <a:off x="6781800" y="5324475"/>
            <a:ext cx="1371600" cy="19050"/>
          </a:xfrm>
          <a:prstGeom prst="rect">
            <a:avLst/>
          </a:prstGeom>
          <a:solidFill>
            <a:srgbClr val="AAAAAA"/>
          </a:solidFill>
          <a:ln w="0">
            <a:noFill/>
          </a:ln>
        </p:spPr>
      </p:sp>
      <p:sp>
        <p:nvSpPr>
          <p:cNvPr id="33" name="직사각형 32">
            <a:extLst>
              <a:ext uri="{FF2B5EF4-FFF2-40B4-BE49-F238E27FC236}">
                <a16:creationId xmlns:a16="http://schemas.microsoft.com/office/drawing/2014/main" id="{F1BB8CB8-CE79-4CDF-BC81-21F1D4F916E5}"/>
              </a:ext>
            </a:extLst>
          </p:cNvPr>
          <p:cNvSpPr>
            <a:spLocks noGrp="1"/>
          </p:cNvSpPr>
          <p:nvPr/>
        </p:nvSpPr>
        <p:spPr>
          <a:xfrm>
            <a:off x="6772275" y="5324475"/>
            <a:ext cx="19050" cy="295275"/>
          </a:xfrm>
          <a:prstGeom prst="rect">
            <a:avLst/>
          </a:prstGeom>
          <a:solidFill>
            <a:srgbClr val="AAAAAA"/>
          </a:solidFill>
          <a:ln w="0">
            <a:noFill/>
          </a:ln>
        </p:spPr>
      </p:sp>
      <p:sp>
        <p:nvSpPr>
          <p:cNvPr id="34" name="직사각형 33">
            <a:extLst>
              <a:ext uri="{FF2B5EF4-FFF2-40B4-BE49-F238E27FC236}">
                <a16:creationId xmlns:a16="http://schemas.microsoft.com/office/drawing/2014/main" id="{BC561234-6CFD-4C92-8EB5-FA38185132EF}"/>
              </a:ext>
            </a:extLst>
          </p:cNvPr>
          <p:cNvSpPr>
            <a:spLocks noGrp="1"/>
          </p:cNvSpPr>
          <p:nvPr/>
        </p:nvSpPr>
        <p:spPr>
          <a:xfrm>
            <a:off x="8143875" y="5324475"/>
            <a:ext cx="19050" cy="295275"/>
          </a:xfrm>
          <a:prstGeom prst="rect">
            <a:avLst/>
          </a:prstGeom>
          <a:solidFill>
            <a:srgbClr val="AAAAAA"/>
          </a:solidFill>
          <a:ln w="0">
            <a:noFill/>
          </a:ln>
        </p:spPr>
      </p:sp>
      <p:sp>
        <p:nvSpPr>
          <p:cNvPr id="35" name="직사각형 34">
            <a:extLst>
              <a:ext uri="{FF2B5EF4-FFF2-40B4-BE49-F238E27FC236}">
                <a16:creationId xmlns:a16="http://schemas.microsoft.com/office/drawing/2014/main" id="{639FBB0D-5D70-4DFC-A7B6-417F433935C2}"/>
              </a:ext>
            </a:extLst>
          </p:cNvPr>
          <p:cNvSpPr>
            <a:spLocks noGrp="1"/>
          </p:cNvSpPr>
          <p:nvPr/>
        </p:nvSpPr>
        <p:spPr>
          <a:xfrm>
            <a:off x="10201275" y="5067300"/>
            <a:ext cx="19050" cy="257175"/>
          </a:xfrm>
          <a:prstGeom prst="rect">
            <a:avLst/>
          </a:prstGeom>
          <a:solidFill>
            <a:srgbClr val="AAAAAA"/>
          </a:solidFill>
          <a:ln w="0">
            <a:noFill/>
          </a:ln>
        </p:spPr>
      </p:sp>
      <p:sp>
        <p:nvSpPr>
          <p:cNvPr id="36" name="직사각형 35">
            <a:extLst>
              <a:ext uri="{FF2B5EF4-FFF2-40B4-BE49-F238E27FC236}">
                <a16:creationId xmlns:a16="http://schemas.microsoft.com/office/drawing/2014/main" id="{EFFAF92E-0F65-4A92-88CB-03608D1AD0E0}"/>
              </a:ext>
            </a:extLst>
          </p:cNvPr>
          <p:cNvSpPr>
            <a:spLocks noGrp="1"/>
          </p:cNvSpPr>
          <p:nvPr/>
        </p:nvSpPr>
        <p:spPr>
          <a:xfrm>
            <a:off x="9525000" y="5324475"/>
            <a:ext cx="1371600" cy="19050"/>
          </a:xfrm>
          <a:prstGeom prst="rect">
            <a:avLst/>
          </a:prstGeom>
          <a:solidFill>
            <a:srgbClr val="AAAAAA"/>
          </a:solidFill>
          <a:ln w="0">
            <a:noFill/>
          </a:ln>
        </p:spPr>
      </p:sp>
      <p:sp>
        <p:nvSpPr>
          <p:cNvPr id="37" name="직사각형 36">
            <a:extLst>
              <a:ext uri="{FF2B5EF4-FFF2-40B4-BE49-F238E27FC236}">
                <a16:creationId xmlns:a16="http://schemas.microsoft.com/office/drawing/2014/main" id="{BFD312EC-D170-447D-A1AB-B875995A2DCD}"/>
              </a:ext>
            </a:extLst>
          </p:cNvPr>
          <p:cNvSpPr>
            <a:spLocks noGrp="1"/>
          </p:cNvSpPr>
          <p:nvPr/>
        </p:nvSpPr>
        <p:spPr>
          <a:xfrm>
            <a:off x="9515475" y="5324475"/>
            <a:ext cx="19050" cy="295275"/>
          </a:xfrm>
          <a:prstGeom prst="rect">
            <a:avLst/>
          </a:prstGeom>
          <a:solidFill>
            <a:srgbClr val="AAAAAA"/>
          </a:solidFill>
          <a:ln w="0">
            <a:noFill/>
          </a:ln>
        </p:spPr>
      </p:sp>
      <p:sp>
        <p:nvSpPr>
          <p:cNvPr id="38" name="직사각형 37">
            <a:extLst>
              <a:ext uri="{FF2B5EF4-FFF2-40B4-BE49-F238E27FC236}">
                <a16:creationId xmlns:a16="http://schemas.microsoft.com/office/drawing/2014/main" id="{1B3FDA89-7053-4F50-ABC5-0CADF3F13341}"/>
              </a:ext>
            </a:extLst>
          </p:cNvPr>
          <p:cNvSpPr>
            <a:spLocks noGrp="1"/>
          </p:cNvSpPr>
          <p:nvPr/>
        </p:nvSpPr>
        <p:spPr>
          <a:xfrm>
            <a:off x="10887075" y="5324475"/>
            <a:ext cx="19050" cy="295275"/>
          </a:xfrm>
          <a:prstGeom prst="rect">
            <a:avLst/>
          </a:prstGeom>
          <a:solidFill>
            <a:srgbClr val="AAAAAA"/>
          </a:solidFill>
          <a:ln w="0">
            <a:noFill/>
          </a:ln>
        </p:spPr>
      </p:sp>
      <p:graphicFrame>
        <p:nvGraphicFramePr>
          <p:cNvPr id="39" name="표 38">
            <a:extLst>
              <a:ext uri="{FF2B5EF4-FFF2-40B4-BE49-F238E27FC236}">
                <a16:creationId xmlns:a16="http://schemas.microsoft.com/office/drawing/2014/main" id="{C3A68F19-35EE-4F31-87B6-7D556678FF13}"/>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0" name="표 39">
            <a:extLst>
              <a:ext uri="{FF2B5EF4-FFF2-40B4-BE49-F238E27FC236}">
                <a16:creationId xmlns:a16="http://schemas.microsoft.com/office/drawing/2014/main" id="{08776C10-934E-4108-9C4C-C38101E69637}"/>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1" name="표 40">
            <a:extLst>
              <a:ext uri="{FF2B5EF4-FFF2-40B4-BE49-F238E27FC236}">
                <a16:creationId xmlns:a16="http://schemas.microsoft.com/office/drawing/2014/main" id="{2DE40EBA-9D21-4ED9-8EB2-EBAA7546F2DC}"/>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2" name="표 41">
            <a:extLst>
              <a:ext uri="{FF2B5EF4-FFF2-40B4-BE49-F238E27FC236}">
                <a16:creationId xmlns:a16="http://schemas.microsoft.com/office/drawing/2014/main" id="{10A5A052-33FD-4CF6-8028-DE960E686135}"/>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3" name="표 42">
            <a:extLst>
              <a:ext uri="{FF2B5EF4-FFF2-40B4-BE49-F238E27FC236}">
                <a16:creationId xmlns:a16="http://schemas.microsoft.com/office/drawing/2014/main" id="{C4CD2744-3456-48E5-A0F0-46C74CB9C25D}"/>
              </a:ext>
            </a:extLst>
          </p:cNvPr>
          <p:cNvGraphicFramePr/>
          <p:nvPr/>
        </p:nvGraphicFramePr>
        <p:xfrm>
          <a:off x="914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4" name="표 43">
            <a:extLst>
              <a:ext uri="{FF2B5EF4-FFF2-40B4-BE49-F238E27FC236}">
                <a16:creationId xmlns:a16="http://schemas.microsoft.com/office/drawing/2014/main" id="{7837098A-3E36-4354-8339-E4413D062009}"/>
              </a:ext>
            </a:extLst>
          </p:cNvPr>
          <p:cNvGraphicFramePr/>
          <p:nvPr/>
        </p:nvGraphicFramePr>
        <p:xfrm>
          <a:off x="2286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5" name="표 44">
            <a:extLst>
              <a:ext uri="{FF2B5EF4-FFF2-40B4-BE49-F238E27FC236}">
                <a16:creationId xmlns:a16="http://schemas.microsoft.com/office/drawing/2014/main" id="{EF5D8E68-A9B6-41DD-AC38-D2CD73C8F41D}"/>
              </a:ext>
            </a:extLst>
          </p:cNvPr>
          <p:cNvGraphicFramePr/>
          <p:nvPr/>
        </p:nvGraphicFramePr>
        <p:xfrm>
          <a:off x="3657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6" name="표 45">
            <a:extLst>
              <a:ext uri="{FF2B5EF4-FFF2-40B4-BE49-F238E27FC236}">
                <a16:creationId xmlns:a16="http://schemas.microsoft.com/office/drawing/2014/main" id="{029605BF-D463-4961-8225-5BDE668E8578}"/>
              </a:ext>
            </a:extLst>
          </p:cNvPr>
          <p:cNvGraphicFramePr/>
          <p:nvPr/>
        </p:nvGraphicFramePr>
        <p:xfrm>
          <a:off x="50292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7" name="표 46">
            <a:extLst>
              <a:ext uri="{FF2B5EF4-FFF2-40B4-BE49-F238E27FC236}">
                <a16:creationId xmlns:a16="http://schemas.microsoft.com/office/drawing/2014/main" id="{CF9952A1-10A0-45F9-B89D-2A86985FE340}"/>
              </a:ext>
            </a:extLst>
          </p:cNvPr>
          <p:cNvGraphicFramePr/>
          <p:nvPr/>
        </p:nvGraphicFramePr>
        <p:xfrm>
          <a:off x="64008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8" name="표 47">
            <a:extLst>
              <a:ext uri="{FF2B5EF4-FFF2-40B4-BE49-F238E27FC236}">
                <a16:creationId xmlns:a16="http://schemas.microsoft.com/office/drawing/2014/main" id="{3630119E-9679-4970-98BA-21BD7E420AE5}"/>
              </a:ext>
            </a:extLst>
          </p:cNvPr>
          <p:cNvGraphicFramePr/>
          <p:nvPr/>
        </p:nvGraphicFramePr>
        <p:xfrm>
          <a:off x="7772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9" name="표 48">
            <a:extLst>
              <a:ext uri="{FF2B5EF4-FFF2-40B4-BE49-F238E27FC236}">
                <a16:creationId xmlns:a16="http://schemas.microsoft.com/office/drawing/2014/main" id="{13E7D5BC-EFA8-4234-8D03-3131A45C2BA7}"/>
              </a:ext>
            </a:extLst>
          </p:cNvPr>
          <p:cNvGraphicFramePr/>
          <p:nvPr/>
        </p:nvGraphicFramePr>
        <p:xfrm>
          <a:off x="9144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A85046C2-5AD4-41C3-9F01-6754E09BDCDB}"/>
              </a:ext>
            </a:extLst>
          </p:cNvPr>
          <p:cNvGraphicFramePr/>
          <p:nvPr/>
        </p:nvGraphicFramePr>
        <p:xfrm>
          <a:off x="10515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1" name="base">
            <a:extLst>
              <a:ext uri="{FF2B5EF4-FFF2-40B4-BE49-F238E27FC236}">
                <a16:creationId xmlns:a16="http://schemas.microsoft.com/office/drawing/2014/main" id="{51A1B54E-33A0-4E72-88DF-8FD8A7E932D7}"/>
              </a:ext>
            </a:extLst>
          </p:cNvPr>
          <p:cNvSpPr>
            <a:spLocks noGrp="1"/>
          </p:cNvSpPr>
          <p:nvPr/>
        </p:nvSpPr>
        <p:spPr>
          <a:xfrm>
            <a:off x="1143000" y="6315075"/>
            <a:ext cx="9906000" cy="238125"/>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한 원소 = 이미 정렬됨 → 반환 → 두 결과를 병합</a:t>
            </a:r>
          </a:p>
        </p:txBody>
      </p:sp>
    </p:spTree>
    <p:extLst>
      <p:ext uri="{BB962C8B-B14F-4D97-AF65-F5344CB8AC3E}">
        <p14:creationId xmlns:p14="http://schemas.microsoft.com/office/powerpoint/2010/main" val="38877344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section">
            <a:extLst>
              <a:ext uri="{FF2B5EF4-FFF2-40B4-BE49-F238E27FC236}">
                <a16:creationId xmlns:a16="http://schemas.microsoft.com/office/drawing/2014/main" id="{A9280351-6432-4322-9071-45307EA49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D260031-89B3-44F8-9576-9169B560D0A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418F9F-8503-4A58-BBEA-A7853D6C49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병합 순서 · 왼쪽부터 끝낸다</a:t>
            </a:r>
          </a:p>
        </p:txBody>
      </p:sp>
      <p:sp>
        <p:nvSpPr>
          <p:cNvPr id="4" name="직사각형 3">
            <a:extLst>
              <a:ext uri="{FF2B5EF4-FFF2-40B4-BE49-F238E27FC236}">
                <a16:creationId xmlns:a16="http://schemas.microsoft.com/office/drawing/2014/main" id="{1A605FD3-68B4-4A11-8186-A12CB99D99B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990DC924-5C8B-4738-BD22-AFC0562A667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① → ② → ③: 왼쪽 4개 완료     ④ → ⑤ → ⑥: 오른쪽 4개 완료</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⑦: 두 결과를 합쳐 전체 8개 정렬</a:t>
            </a:r>
          </a:p>
        </p:txBody>
      </p:sp>
      <p:sp>
        <p:nvSpPr>
          <p:cNvPr id="6" name="footer">
            <a:extLst>
              <a:ext uri="{FF2B5EF4-FFF2-40B4-BE49-F238E27FC236}">
                <a16:creationId xmlns:a16="http://schemas.microsoft.com/office/drawing/2014/main" id="{072D28AA-C8CB-406A-8E8E-CFD02C7624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66B8030-5DD7-4810-A9B4-58D2E6951B2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7445BDD0-3D7E-4325-A816-70A11526F812}"/>
              </a:ext>
            </a:extLst>
          </p:cNvPr>
          <p:cNvSpPr>
            <a:spLocks noGrp="1"/>
          </p:cNvSpPr>
          <p:nvPr/>
        </p:nvSpPr>
        <p:spPr>
          <a:xfrm>
            <a:off x="6086475" y="3143250"/>
            <a:ext cx="19050" cy="257175"/>
          </a:xfrm>
          <a:prstGeom prst="rect">
            <a:avLst/>
          </a:prstGeom>
          <a:solidFill>
            <a:srgbClr val="AAAAAA"/>
          </a:solidFill>
          <a:ln w="0">
            <a:noFill/>
          </a:ln>
        </p:spPr>
      </p:sp>
      <p:sp>
        <p:nvSpPr>
          <p:cNvPr id="9" name="직사각형 8">
            <a:extLst>
              <a:ext uri="{FF2B5EF4-FFF2-40B4-BE49-F238E27FC236}">
                <a16:creationId xmlns:a16="http://schemas.microsoft.com/office/drawing/2014/main" id="{5F415256-9158-4359-A832-720783EA625C}"/>
              </a:ext>
            </a:extLst>
          </p:cNvPr>
          <p:cNvSpPr>
            <a:spLocks noGrp="1"/>
          </p:cNvSpPr>
          <p:nvPr/>
        </p:nvSpPr>
        <p:spPr>
          <a:xfrm>
            <a:off x="3352800" y="3400425"/>
            <a:ext cx="5486400" cy="19050"/>
          </a:xfrm>
          <a:prstGeom prst="rect">
            <a:avLst/>
          </a:prstGeom>
          <a:solidFill>
            <a:srgbClr val="AAAAAA"/>
          </a:solidFill>
          <a:ln w="0">
            <a:noFill/>
          </a:ln>
        </p:spPr>
      </p:sp>
      <p:sp>
        <p:nvSpPr>
          <p:cNvPr id="10" name="직사각형 9">
            <a:extLst>
              <a:ext uri="{FF2B5EF4-FFF2-40B4-BE49-F238E27FC236}">
                <a16:creationId xmlns:a16="http://schemas.microsoft.com/office/drawing/2014/main" id="{25CA24A3-F70D-4C15-80EC-0233FC9B4690}"/>
              </a:ext>
            </a:extLst>
          </p:cNvPr>
          <p:cNvSpPr>
            <a:spLocks noGrp="1"/>
          </p:cNvSpPr>
          <p:nvPr/>
        </p:nvSpPr>
        <p:spPr>
          <a:xfrm>
            <a:off x="3343275" y="3400425"/>
            <a:ext cx="19050" cy="247650"/>
          </a:xfrm>
          <a:prstGeom prst="rect">
            <a:avLst/>
          </a:prstGeom>
          <a:solidFill>
            <a:srgbClr val="AAAAAA"/>
          </a:solidFill>
          <a:ln w="0">
            <a:noFill/>
          </a:ln>
        </p:spPr>
      </p:sp>
      <p:sp>
        <p:nvSpPr>
          <p:cNvPr id="11" name="직사각형 10">
            <a:extLst>
              <a:ext uri="{FF2B5EF4-FFF2-40B4-BE49-F238E27FC236}">
                <a16:creationId xmlns:a16="http://schemas.microsoft.com/office/drawing/2014/main" id="{F25423F8-101F-4605-89C7-094183A34C8E}"/>
              </a:ext>
            </a:extLst>
          </p:cNvPr>
          <p:cNvSpPr>
            <a:spLocks noGrp="1"/>
          </p:cNvSpPr>
          <p:nvPr/>
        </p:nvSpPr>
        <p:spPr>
          <a:xfrm>
            <a:off x="8829675" y="3400425"/>
            <a:ext cx="19050" cy="247650"/>
          </a:xfrm>
          <a:prstGeom prst="rect">
            <a:avLst/>
          </a:prstGeom>
          <a:solidFill>
            <a:srgbClr val="AAAAAA"/>
          </a:solidFill>
          <a:ln w="0">
            <a:noFill/>
          </a:ln>
        </p:spPr>
      </p:sp>
      <p:sp>
        <p:nvSpPr>
          <p:cNvPr id="12" name="order-label-0-0">
            <a:extLst>
              <a:ext uri="{FF2B5EF4-FFF2-40B4-BE49-F238E27FC236}">
                <a16:creationId xmlns:a16="http://schemas.microsoft.com/office/drawing/2014/main" id="{39BAA391-BB60-4397-8D22-A495E6B9C4EE}"/>
              </a:ext>
            </a:extLst>
          </p:cNvPr>
          <p:cNvSpPr>
            <a:spLocks noGrp="1"/>
          </p:cNvSpPr>
          <p:nvPr/>
        </p:nvSpPr>
        <p:spPr>
          <a:xfrm>
            <a:off x="1676400" y="2400300"/>
            <a:ext cx="88392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⑦ 전체 병합</a:t>
            </a:r>
          </a:p>
        </p:txBody>
      </p:sp>
      <p:graphicFrame>
        <p:nvGraphicFramePr>
          <p:cNvPr id="13" name="표 12">
            <a:extLst>
              <a:ext uri="{FF2B5EF4-FFF2-40B4-BE49-F238E27FC236}">
                <a16:creationId xmlns:a16="http://schemas.microsoft.com/office/drawing/2014/main" id="{4A099375-F9C7-44CB-A5DD-BFE08EF88FB9}"/>
              </a:ext>
            </a:extLst>
          </p:cNvPr>
          <p:cNvGraphicFramePr/>
          <p:nvPr/>
        </p:nvGraphicFramePr>
        <p:xfrm>
          <a:off x="1676400" y="264795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175" b="1">
                          <a:solidFill>
                            <a:srgbClr val="151515"/>
                          </a:solidFill>
                          <a:latin typeface="Consolas"/>
                          <a:ea typeface="Consolas"/>
                          <a:cs typeface="Consolas"/>
                        </a:rPr>
                        <a:t>1</a:t>
                      </a:r>
                    </a:p>
                  </a:txBody>
                  <a:tcPr anchor="ctr">
                    <a:solidFill>
                      <a:srgbClr val="E7E7E7"/>
                    </a:solidFill>
                  </a:tcPr>
                </a:tc>
                <a:tc>
                  <a:txBody>
                    <a:bodyPr/>
                    <a:lstStyle/>
                    <a:p>
                      <a:pPr algn="ctr"/>
                      <a:r>
                        <a:rPr sz="2175" b="1">
                          <a:solidFill>
                            <a:srgbClr val="151515"/>
                          </a:solidFill>
                          <a:latin typeface="Consolas"/>
                          <a:ea typeface="Consolas"/>
                          <a:cs typeface="Consolas"/>
                        </a:rPr>
                        <a:t>2</a:t>
                      </a:r>
                    </a:p>
                  </a:txBody>
                  <a:tcPr anchor="ctr">
                    <a:solidFill>
                      <a:srgbClr val="E7E7E7"/>
                    </a:solidFill>
                  </a:tcPr>
                </a:tc>
                <a:tc>
                  <a:txBody>
                    <a:bodyPr/>
                    <a:lstStyle/>
                    <a:p>
                      <a:pPr algn="ctr"/>
                      <a:r>
                        <a:rPr sz="2175" b="1">
                          <a:solidFill>
                            <a:srgbClr val="151515"/>
                          </a:solidFill>
                          <a:latin typeface="Consolas"/>
                          <a:ea typeface="Consolas"/>
                          <a:cs typeface="Consolas"/>
                        </a:rPr>
                        <a:t>3</a:t>
                      </a:r>
                    </a:p>
                  </a:txBody>
                  <a:tcPr anchor="ctr">
                    <a:solidFill>
                      <a:srgbClr val="E7E7E7"/>
                    </a:solidFill>
                  </a:tcPr>
                </a:tc>
                <a:tc>
                  <a:txBody>
                    <a:bodyPr/>
                    <a:lstStyle/>
                    <a:p>
                      <a:pPr algn="ctr"/>
                      <a:r>
                        <a:rPr sz="2175" b="1">
                          <a:solidFill>
                            <a:srgbClr val="151515"/>
                          </a:solidFill>
                          <a:latin typeface="Consolas"/>
                          <a:ea typeface="Consolas"/>
                          <a:cs typeface="Consolas"/>
                        </a:rPr>
                        <a:t>4</a:t>
                      </a:r>
                    </a:p>
                  </a:txBody>
                  <a:tcPr anchor="ctr">
                    <a:solidFill>
                      <a:srgbClr val="E7E7E7"/>
                    </a:solidFill>
                  </a:tcPr>
                </a:tc>
                <a:tc>
                  <a:txBody>
                    <a:bodyPr/>
                    <a:lstStyle/>
                    <a:p>
                      <a:pPr algn="ctr"/>
                      <a:r>
                        <a:rPr sz="2175" b="1">
                          <a:solidFill>
                            <a:srgbClr val="151515"/>
                          </a:solidFill>
                          <a:latin typeface="Consolas"/>
                          <a:ea typeface="Consolas"/>
                          <a:cs typeface="Consolas"/>
                        </a:rPr>
                        <a:t>5</a:t>
                      </a:r>
                    </a:p>
                  </a:txBody>
                  <a:tcPr anchor="ctr">
                    <a:solidFill>
                      <a:srgbClr val="E7E7E7"/>
                    </a:solidFill>
                  </a:tcPr>
                </a:tc>
                <a:tc>
                  <a:txBody>
                    <a:bodyPr/>
                    <a:lstStyle/>
                    <a:p>
                      <a:pPr algn="ctr"/>
                      <a:r>
                        <a:rPr sz="2175" b="1">
                          <a:solidFill>
                            <a:srgbClr val="151515"/>
                          </a:solidFill>
                          <a:latin typeface="Consolas"/>
                          <a:ea typeface="Consolas"/>
                          <a:cs typeface="Consolas"/>
                        </a:rPr>
                        <a:t>6</a:t>
                      </a:r>
                    </a:p>
                  </a:txBody>
                  <a:tcPr anchor="ctr">
                    <a:solidFill>
                      <a:srgbClr val="E7E7E7"/>
                    </a:solidFill>
                  </a:tcPr>
                </a:tc>
                <a:tc>
                  <a:txBody>
                    <a:bodyPr/>
                    <a:lstStyle/>
                    <a:p>
                      <a:pPr algn="ctr"/>
                      <a:r>
                        <a:rPr sz="2175" b="1">
                          <a:solidFill>
                            <a:srgbClr val="151515"/>
                          </a:solidFill>
                          <a:latin typeface="Consolas"/>
                          <a:ea typeface="Consolas"/>
                          <a:cs typeface="Consolas"/>
                        </a:rPr>
                        <a:t>7</a:t>
                      </a:r>
                    </a:p>
                  </a:txBody>
                  <a:tcPr anchor="ctr">
                    <a:solidFill>
                      <a:srgbClr val="E7E7E7"/>
                    </a:solidFill>
                  </a:tcPr>
                </a:tc>
                <a:tc>
                  <a:txBody>
                    <a:bodyPr/>
                    <a:lstStyle/>
                    <a:p>
                      <a:pPr algn="ctr"/>
                      <a:r>
                        <a:rPr sz="21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CFC1A61-301C-44CB-8266-5981A180180D}"/>
              </a:ext>
            </a:extLst>
          </p:cNvPr>
          <p:cNvSpPr>
            <a:spLocks noGrp="1"/>
          </p:cNvSpPr>
          <p:nvPr/>
        </p:nvSpPr>
        <p:spPr>
          <a:xfrm>
            <a:off x="3343275" y="4143375"/>
            <a:ext cx="19050" cy="257175"/>
          </a:xfrm>
          <a:prstGeom prst="rect">
            <a:avLst/>
          </a:prstGeom>
          <a:solidFill>
            <a:srgbClr val="AAAAAA"/>
          </a:solidFill>
          <a:ln w="0">
            <a:noFill/>
          </a:ln>
        </p:spPr>
      </p:sp>
      <p:sp>
        <p:nvSpPr>
          <p:cNvPr id="15" name="직사각형 14">
            <a:extLst>
              <a:ext uri="{FF2B5EF4-FFF2-40B4-BE49-F238E27FC236}">
                <a16:creationId xmlns:a16="http://schemas.microsoft.com/office/drawing/2014/main" id="{938AA0F3-3B36-47C6-B0B1-D1E9493F6B68}"/>
              </a:ext>
            </a:extLst>
          </p:cNvPr>
          <p:cNvSpPr>
            <a:spLocks noGrp="1"/>
          </p:cNvSpPr>
          <p:nvPr/>
        </p:nvSpPr>
        <p:spPr>
          <a:xfrm>
            <a:off x="1981200" y="4400550"/>
            <a:ext cx="2743200" cy="19050"/>
          </a:xfrm>
          <a:prstGeom prst="rect">
            <a:avLst/>
          </a:prstGeom>
          <a:solidFill>
            <a:srgbClr val="AAAAAA"/>
          </a:solidFill>
          <a:ln w="0">
            <a:noFill/>
          </a:ln>
        </p:spPr>
      </p:sp>
      <p:sp>
        <p:nvSpPr>
          <p:cNvPr id="16" name="직사각형 15">
            <a:extLst>
              <a:ext uri="{FF2B5EF4-FFF2-40B4-BE49-F238E27FC236}">
                <a16:creationId xmlns:a16="http://schemas.microsoft.com/office/drawing/2014/main" id="{39AE5541-F6B6-4C09-A538-BFC479A3C99F}"/>
              </a:ext>
            </a:extLst>
          </p:cNvPr>
          <p:cNvSpPr>
            <a:spLocks noGrp="1"/>
          </p:cNvSpPr>
          <p:nvPr/>
        </p:nvSpPr>
        <p:spPr>
          <a:xfrm>
            <a:off x="1971675" y="4400550"/>
            <a:ext cx="19050" cy="247650"/>
          </a:xfrm>
          <a:prstGeom prst="rect">
            <a:avLst/>
          </a:prstGeom>
          <a:solidFill>
            <a:srgbClr val="AAAAAA"/>
          </a:solidFill>
          <a:ln w="0">
            <a:noFill/>
          </a:ln>
        </p:spPr>
      </p:sp>
      <p:sp>
        <p:nvSpPr>
          <p:cNvPr id="17" name="직사각형 16">
            <a:extLst>
              <a:ext uri="{FF2B5EF4-FFF2-40B4-BE49-F238E27FC236}">
                <a16:creationId xmlns:a16="http://schemas.microsoft.com/office/drawing/2014/main" id="{68C65B0A-7298-4EB9-B367-EE1EBE19508D}"/>
              </a:ext>
            </a:extLst>
          </p:cNvPr>
          <p:cNvSpPr>
            <a:spLocks noGrp="1"/>
          </p:cNvSpPr>
          <p:nvPr/>
        </p:nvSpPr>
        <p:spPr>
          <a:xfrm>
            <a:off x="4714875" y="4400550"/>
            <a:ext cx="19050" cy="247650"/>
          </a:xfrm>
          <a:prstGeom prst="rect">
            <a:avLst/>
          </a:prstGeom>
          <a:solidFill>
            <a:srgbClr val="AAAAAA"/>
          </a:solidFill>
          <a:ln w="0">
            <a:noFill/>
          </a:ln>
        </p:spPr>
      </p:sp>
      <p:sp>
        <p:nvSpPr>
          <p:cNvPr id="18" name="직사각형 17">
            <a:extLst>
              <a:ext uri="{FF2B5EF4-FFF2-40B4-BE49-F238E27FC236}">
                <a16:creationId xmlns:a16="http://schemas.microsoft.com/office/drawing/2014/main" id="{5581DB1D-BA58-4043-919A-AED14EFB92BD}"/>
              </a:ext>
            </a:extLst>
          </p:cNvPr>
          <p:cNvSpPr>
            <a:spLocks noGrp="1"/>
          </p:cNvSpPr>
          <p:nvPr/>
        </p:nvSpPr>
        <p:spPr>
          <a:xfrm>
            <a:off x="8829675" y="4143375"/>
            <a:ext cx="19050" cy="257175"/>
          </a:xfrm>
          <a:prstGeom prst="rect">
            <a:avLst/>
          </a:prstGeom>
          <a:solidFill>
            <a:srgbClr val="AAAAAA"/>
          </a:solidFill>
          <a:ln w="0">
            <a:noFill/>
          </a:ln>
        </p:spPr>
      </p:sp>
      <p:sp>
        <p:nvSpPr>
          <p:cNvPr id="19" name="직사각형 18">
            <a:extLst>
              <a:ext uri="{FF2B5EF4-FFF2-40B4-BE49-F238E27FC236}">
                <a16:creationId xmlns:a16="http://schemas.microsoft.com/office/drawing/2014/main" id="{A7BF4496-11A2-48E8-A782-A20D2AEAF5AC}"/>
              </a:ext>
            </a:extLst>
          </p:cNvPr>
          <p:cNvSpPr>
            <a:spLocks noGrp="1"/>
          </p:cNvSpPr>
          <p:nvPr/>
        </p:nvSpPr>
        <p:spPr>
          <a:xfrm>
            <a:off x="7467600" y="4400550"/>
            <a:ext cx="2743200" cy="19050"/>
          </a:xfrm>
          <a:prstGeom prst="rect">
            <a:avLst/>
          </a:prstGeom>
          <a:solidFill>
            <a:srgbClr val="AAAAAA"/>
          </a:solidFill>
          <a:ln w="0">
            <a:noFill/>
          </a:ln>
        </p:spPr>
      </p:sp>
      <p:sp>
        <p:nvSpPr>
          <p:cNvPr id="20" name="직사각형 19">
            <a:extLst>
              <a:ext uri="{FF2B5EF4-FFF2-40B4-BE49-F238E27FC236}">
                <a16:creationId xmlns:a16="http://schemas.microsoft.com/office/drawing/2014/main" id="{7B0BC02E-A0F9-4B1C-90CC-CB3C773C3583}"/>
              </a:ext>
            </a:extLst>
          </p:cNvPr>
          <p:cNvSpPr>
            <a:spLocks noGrp="1"/>
          </p:cNvSpPr>
          <p:nvPr/>
        </p:nvSpPr>
        <p:spPr>
          <a:xfrm>
            <a:off x="7458075" y="4400550"/>
            <a:ext cx="19050" cy="247650"/>
          </a:xfrm>
          <a:prstGeom prst="rect">
            <a:avLst/>
          </a:prstGeom>
          <a:solidFill>
            <a:srgbClr val="AAAAAA"/>
          </a:solidFill>
          <a:ln w="0">
            <a:noFill/>
          </a:ln>
        </p:spPr>
      </p:sp>
      <p:sp>
        <p:nvSpPr>
          <p:cNvPr id="21" name="직사각형 20">
            <a:extLst>
              <a:ext uri="{FF2B5EF4-FFF2-40B4-BE49-F238E27FC236}">
                <a16:creationId xmlns:a16="http://schemas.microsoft.com/office/drawing/2014/main" id="{FF803C05-97CE-4FF8-9870-A9FCE90C2600}"/>
              </a:ext>
            </a:extLst>
          </p:cNvPr>
          <p:cNvSpPr>
            <a:spLocks noGrp="1"/>
          </p:cNvSpPr>
          <p:nvPr/>
        </p:nvSpPr>
        <p:spPr>
          <a:xfrm>
            <a:off x="10201275" y="4400550"/>
            <a:ext cx="19050" cy="247650"/>
          </a:xfrm>
          <a:prstGeom prst="rect">
            <a:avLst/>
          </a:prstGeom>
          <a:solidFill>
            <a:srgbClr val="AAAAAA"/>
          </a:solidFill>
          <a:ln w="0">
            <a:noFill/>
          </a:ln>
        </p:spPr>
      </p:sp>
      <p:sp>
        <p:nvSpPr>
          <p:cNvPr id="22" name="order-label-1-0">
            <a:extLst>
              <a:ext uri="{FF2B5EF4-FFF2-40B4-BE49-F238E27FC236}">
                <a16:creationId xmlns:a16="http://schemas.microsoft.com/office/drawing/2014/main" id="{386DE4B9-80CB-4E0A-9D6F-2B6E4EFC9FAE}"/>
              </a:ext>
            </a:extLst>
          </p:cNvPr>
          <p:cNvSpPr>
            <a:spLocks noGrp="1"/>
          </p:cNvSpPr>
          <p:nvPr/>
        </p:nvSpPr>
        <p:spPr>
          <a:xfrm>
            <a:off x="11430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③ 왼쪽 4개</a:t>
            </a:r>
          </a:p>
        </p:txBody>
      </p:sp>
      <p:graphicFrame>
        <p:nvGraphicFramePr>
          <p:cNvPr id="23" name="표 22">
            <a:extLst>
              <a:ext uri="{FF2B5EF4-FFF2-40B4-BE49-F238E27FC236}">
                <a16:creationId xmlns:a16="http://schemas.microsoft.com/office/drawing/2014/main" id="{897B0B50-B552-4ECE-8EBB-0C92377E00AB}"/>
              </a:ext>
            </a:extLst>
          </p:cNvPr>
          <p:cNvGraphicFramePr/>
          <p:nvPr/>
        </p:nvGraphicFramePr>
        <p:xfrm>
          <a:off x="11430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CECFB"/>
                    </a:solidFill>
                  </a:tcPr>
                </a:tc>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6</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24" name="order-label-1-1">
            <a:extLst>
              <a:ext uri="{FF2B5EF4-FFF2-40B4-BE49-F238E27FC236}">
                <a16:creationId xmlns:a16="http://schemas.microsoft.com/office/drawing/2014/main" id="{AD0BF5D2-7DD8-4A8E-8B7E-C899B3160715}"/>
              </a:ext>
            </a:extLst>
          </p:cNvPr>
          <p:cNvSpPr>
            <a:spLocks noGrp="1"/>
          </p:cNvSpPr>
          <p:nvPr/>
        </p:nvSpPr>
        <p:spPr>
          <a:xfrm>
            <a:off x="66294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⑥ 오른쪽 4개</a:t>
            </a:r>
          </a:p>
        </p:txBody>
      </p:sp>
      <p:graphicFrame>
        <p:nvGraphicFramePr>
          <p:cNvPr id="25" name="표 24">
            <a:extLst>
              <a:ext uri="{FF2B5EF4-FFF2-40B4-BE49-F238E27FC236}">
                <a16:creationId xmlns:a16="http://schemas.microsoft.com/office/drawing/2014/main" id="{551CCDA5-BDCC-43A5-81BD-257490F0F4C6}"/>
              </a:ext>
            </a:extLst>
          </p:cNvPr>
          <p:cNvGraphicFramePr/>
          <p:nvPr/>
        </p:nvGraphicFramePr>
        <p:xfrm>
          <a:off x="66294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DEFE6"/>
                    </a:solidFill>
                  </a:tcPr>
                </a:tc>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tc>
                  <a:txBody>
                    <a:bodyPr/>
                    <a:lstStyle/>
                    <a:p>
                      <a:pPr algn="ctr"/>
                      <a:r>
                        <a:rPr sz="21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6" name="직사각형 25">
            <a:extLst>
              <a:ext uri="{FF2B5EF4-FFF2-40B4-BE49-F238E27FC236}">
                <a16:creationId xmlns:a16="http://schemas.microsoft.com/office/drawing/2014/main" id="{BFF40A75-37A6-449F-8ECC-D17D3BA5E467}"/>
              </a:ext>
            </a:extLst>
          </p:cNvPr>
          <p:cNvSpPr>
            <a:spLocks noGrp="1"/>
          </p:cNvSpPr>
          <p:nvPr/>
        </p:nvSpPr>
        <p:spPr>
          <a:xfrm>
            <a:off x="1971675" y="5143500"/>
            <a:ext cx="19050" cy="257175"/>
          </a:xfrm>
          <a:prstGeom prst="rect">
            <a:avLst/>
          </a:prstGeom>
          <a:solidFill>
            <a:srgbClr val="AAAAAA"/>
          </a:solidFill>
          <a:ln w="0">
            <a:noFill/>
          </a:ln>
        </p:spPr>
      </p:sp>
      <p:sp>
        <p:nvSpPr>
          <p:cNvPr id="27" name="직사각형 26">
            <a:extLst>
              <a:ext uri="{FF2B5EF4-FFF2-40B4-BE49-F238E27FC236}">
                <a16:creationId xmlns:a16="http://schemas.microsoft.com/office/drawing/2014/main" id="{671D6D72-479D-4A25-BB27-7BB0B47097C3}"/>
              </a:ext>
            </a:extLst>
          </p:cNvPr>
          <p:cNvSpPr>
            <a:spLocks noGrp="1"/>
          </p:cNvSpPr>
          <p:nvPr/>
        </p:nvSpPr>
        <p:spPr>
          <a:xfrm>
            <a:off x="1295400" y="5400675"/>
            <a:ext cx="1371600" cy="19050"/>
          </a:xfrm>
          <a:prstGeom prst="rect">
            <a:avLst/>
          </a:prstGeom>
          <a:solidFill>
            <a:srgbClr val="AAAAAA"/>
          </a:solidFill>
          <a:ln w="0">
            <a:noFill/>
          </a:ln>
        </p:spPr>
      </p:sp>
      <p:sp>
        <p:nvSpPr>
          <p:cNvPr id="28" name="직사각형 27">
            <a:extLst>
              <a:ext uri="{FF2B5EF4-FFF2-40B4-BE49-F238E27FC236}">
                <a16:creationId xmlns:a16="http://schemas.microsoft.com/office/drawing/2014/main" id="{BC83EEC2-8799-4983-9D2E-13770589DC78}"/>
              </a:ext>
            </a:extLst>
          </p:cNvPr>
          <p:cNvSpPr>
            <a:spLocks noGrp="1"/>
          </p:cNvSpPr>
          <p:nvPr/>
        </p:nvSpPr>
        <p:spPr>
          <a:xfrm>
            <a:off x="1285875" y="5400675"/>
            <a:ext cx="19050" cy="247650"/>
          </a:xfrm>
          <a:prstGeom prst="rect">
            <a:avLst/>
          </a:prstGeom>
          <a:solidFill>
            <a:srgbClr val="AAAAAA"/>
          </a:solidFill>
          <a:ln w="0">
            <a:noFill/>
          </a:ln>
        </p:spPr>
      </p:sp>
      <p:sp>
        <p:nvSpPr>
          <p:cNvPr id="29" name="직사각형 28">
            <a:extLst>
              <a:ext uri="{FF2B5EF4-FFF2-40B4-BE49-F238E27FC236}">
                <a16:creationId xmlns:a16="http://schemas.microsoft.com/office/drawing/2014/main" id="{08DDB521-1F73-4C7B-A61C-1EFB9F1448E7}"/>
              </a:ext>
            </a:extLst>
          </p:cNvPr>
          <p:cNvSpPr>
            <a:spLocks noGrp="1"/>
          </p:cNvSpPr>
          <p:nvPr/>
        </p:nvSpPr>
        <p:spPr>
          <a:xfrm>
            <a:off x="2657475" y="5400675"/>
            <a:ext cx="19050" cy="247650"/>
          </a:xfrm>
          <a:prstGeom prst="rect">
            <a:avLst/>
          </a:prstGeom>
          <a:solidFill>
            <a:srgbClr val="AAAAAA"/>
          </a:solidFill>
          <a:ln w="0">
            <a:noFill/>
          </a:ln>
        </p:spPr>
      </p:sp>
      <p:sp>
        <p:nvSpPr>
          <p:cNvPr id="30" name="직사각형 29">
            <a:extLst>
              <a:ext uri="{FF2B5EF4-FFF2-40B4-BE49-F238E27FC236}">
                <a16:creationId xmlns:a16="http://schemas.microsoft.com/office/drawing/2014/main" id="{BE9EBECE-508C-47F0-B849-BB735B2F5705}"/>
              </a:ext>
            </a:extLst>
          </p:cNvPr>
          <p:cNvSpPr>
            <a:spLocks noGrp="1"/>
          </p:cNvSpPr>
          <p:nvPr/>
        </p:nvSpPr>
        <p:spPr>
          <a:xfrm>
            <a:off x="4714875" y="5143500"/>
            <a:ext cx="19050" cy="257175"/>
          </a:xfrm>
          <a:prstGeom prst="rect">
            <a:avLst/>
          </a:prstGeom>
          <a:solidFill>
            <a:srgbClr val="AAAAAA"/>
          </a:solidFill>
          <a:ln w="0">
            <a:noFill/>
          </a:ln>
        </p:spPr>
      </p:sp>
      <p:sp>
        <p:nvSpPr>
          <p:cNvPr id="31" name="직사각형 30">
            <a:extLst>
              <a:ext uri="{FF2B5EF4-FFF2-40B4-BE49-F238E27FC236}">
                <a16:creationId xmlns:a16="http://schemas.microsoft.com/office/drawing/2014/main" id="{4F5A3895-778F-4274-BF7A-DF5B6774D9B3}"/>
              </a:ext>
            </a:extLst>
          </p:cNvPr>
          <p:cNvSpPr>
            <a:spLocks noGrp="1"/>
          </p:cNvSpPr>
          <p:nvPr/>
        </p:nvSpPr>
        <p:spPr>
          <a:xfrm>
            <a:off x="4038600" y="5400675"/>
            <a:ext cx="1371600" cy="19050"/>
          </a:xfrm>
          <a:prstGeom prst="rect">
            <a:avLst/>
          </a:prstGeom>
          <a:solidFill>
            <a:srgbClr val="AAAAAA"/>
          </a:solidFill>
          <a:ln w="0">
            <a:noFill/>
          </a:ln>
        </p:spPr>
      </p:sp>
      <p:sp>
        <p:nvSpPr>
          <p:cNvPr id="32" name="직사각형 31">
            <a:extLst>
              <a:ext uri="{FF2B5EF4-FFF2-40B4-BE49-F238E27FC236}">
                <a16:creationId xmlns:a16="http://schemas.microsoft.com/office/drawing/2014/main" id="{41CD864E-7571-4F52-BF5C-2E619037B1B1}"/>
              </a:ext>
            </a:extLst>
          </p:cNvPr>
          <p:cNvSpPr>
            <a:spLocks noGrp="1"/>
          </p:cNvSpPr>
          <p:nvPr/>
        </p:nvSpPr>
        <p:spPr>
          <a:xfrm>
            <a:off x="4029075" y="5400675"/>
            <a:ext cx="19050" cy="247650"/>
          </a:xfrm>
          <a:prstGeom prst="rect">
            <a:avLst/>
          </a:prstGeom>
          <a:solidFill>
            <a:srgbClr val="AAAAAA"/>
          </a:solidFill>
          <a:ln w="0">
            <a:noFill/>
          </a:ln>
        </p:spPr>
      </p:sp>
      <p:sp>
        <p:nvSpPr>
          <p:cNvPr id="33" name="직사각형 32">
            <a:extLst>
              <a:ext uri="{FF2B5EF4-FFF2-40B4-BE49-F238E27FC236}">
                <a16:creationId xmlns:a16="http://schemas.microsoft.com/office/drawing/2014/main" id="{344295EF-9A68-469F-AF4B-CDD1F4DC6A5B}"/>
              </a:ext>
            </a:extLst>
          </p:cNvPr>
          <p:cNvSpPr>
            <a:spLocks noGrp="1"/>
          </p:cNvSpPr>
          <p:nvPr/>
        </p:nvSpPr>
        <p:spPr>
          <a:xfrm>
            <a:off x="5400675" y="5400675"/>
            <a:ext cx="19050" cy="247650"/>
          </a:xfrm>
          <a:prstGeom prst="rect">
            <a:avLst/>
          </a:prstGeom>
          <a:solidFill>
            <a:srgbClr val="AAAAAA"/>
          </a:solidFill>
          <a:ln w="0">
            <a:noFill/>
          </a:ln>
        </p:spPr>
      </p:sp>
      <p:sp>
        <p:nvSpPr>
          <p:cNvPr id="34" name="직사각형 33">
            <a:extLst>
              <a:ext uri="{FF2B5EF4-FFF2-40B4-BE49-F238E27FC236}">
                <a16:creationId xmlns:a16="http://schemas.microsoft.com/office/drawing/2014/main" id="{F7435295-E42F-44AB-B806-372C5C0A7A63}"/>
              </a:ext>
            </a:extLst>
          </p:cNvPr>
          <p:cNvSpPr>
            <a:spLocks noGrp="1"/>
          </p:cNvSpPr>
          <p:nvPr/>
        </p:nvSpPr>
        <p:spPr>
          <a:xfrm>
            <a:off x="7458075" y="5143500"/>
            <a:ext cx="19050" cy="257175"/>
          </a:xfrm>
          <a:prstGeom prst="rect">
            <a:avLst/>
          </a:prstGeom>
          <a:solidFill>
            <a:srgbClr val="AAAAAA"/>
          </a:solidFill>
          <a:ln w="0">
            <a:noFill/>
          </a:ln>
        </p:spPr>
      </p:sp>
      <p:sp>
        <p:nvSpPr>
          <p:cNvPr id="35" name="직사각형 34">
            <a:extLst>
              <a:ext uri="{FF2B5EF4-FFF2-40B4-BE49-F238E27FC236}">
                <a16:creationId xmlns:a16="http://schemas.microsoft.com/office/drawing/2014/main" id="{4963F448-1D96-46D3-AAE9-13A2E2A81DA0}"/>
              </a:ext>
            </a:extLst>
          </p:cNvPr>
          <p:cNvSpPr>
            <a:spLocks noGrp="1"/>
          </p:cNvSpPr>
          <p:nvPr/>
        </p:nvSpPr>
        <p:spPr>
          <a:xfrm>
            <a:off x="6781800" y="5400675"/>
            <a:ext cx="1371600" cy="19050"/>
          </a:xfrm>
          <a:prstGeom prst="rect">
            <a:avLst/>
          </a:prstGeom>
          <a:solidFill>
            <a:srgbClr val="AAAAAA"/>
          </a:solidFill>
          <a:ln w="0">
            <a:noFill/>
          </a:ln>
        </p:spPr>
      </p:sp>
      <p:sp>
        <p:nvSpPr>
          <p:cNvPr id="36" name="직사각형 35">
            <a:extLst>
              <a:ext uri="{FF2B5EF4-FFF2-40B4-BE49-F238E27FC236}">
                <a16:creationId xmlns:a16="http://schemas.microsoft.com/office/drawing/2014/main" id="{2B88AF48-C16A-4CE1-AE02-D1D61DC2BBB4}"/>
              </a:ext>
            </a:extLst>
          </p:cNvPr>
          <p:cNvSpPr>
            <a:spLocks noGrp="1"/>
          </p:cNvSpPr>
          <p:nvPr/>
        </p:nvSpPr>
        <p:spPr>
          <a:xfrm>
            <a:off x="6772275" y="5400675"/>
            <a:ext cx="19050" cy="247650"/>
          </a:xfrm>
          <a:prstGeom prst="rect">
            <a:avLst/>
          </a:prstGeom>
          <a:solidFill>
            <a:srgbClr val="AAAAAA"/>
          </a:solidFill>
          <a:ln w="0">
            <a:noFill/>
          </a:ln>
        </p:spPr>
      </p:sp>
      <p:sp>
        <p:nvSpPr>
          <p:cNvPr id="37" name="직사각형 36">
            <a:extLst>
              <a:ext uri="{FF2B5EF4-FFF2-40B4-BE49-F238E27FC236}">
                <a16:creationId xmlns:a16="http://schemas.microsoft.com/office/drawing/2014/main" id="{887FF17B-9352-4ADE-B2F7-9CEF4BE72930}"/>
              </a:ext>
            </a:extLst>
          </p:cNvPr>
          <p:cNvSpPr>
            <a:spLocks noGrp="1"/>
          </p:cNvSpPr>
          <p:nvPr/>
        </p:nvSpPr>
        <p:spPr>
          <a:xfrm>
            <a:off x="8143875" y="5400675"/>
            <a:ext cx="19050" cy="247650"/>
          </a:xfrm>
          <a:prstGeom prst="rect">
            <a:avLst/>
          </a:prstGeom>
          <a:solidFill>
            <a:srgbClr val="AAAAAA"/>
          </a:solidFill>
          <a:ln w="0">
            <a:noFill/>
          </a:ln>
        </p:spPr>
      </p:sp>
      <p:sp>
        <p:nvSpPr>
          <p:cNvPr id="38" name="직사각형 37">
            <a:extLst>
              <a:ext uri="{FF2B5EF4-FFF2-40B4-BE49-F238E27FC236}">
                <a16:creationId xmlns:a16="http://schemas.microsoft.com/office/drawing/2014/main" id="{0DF16999-D3FB-439D-B106-170749381C34}"/>
              </a:ext>
            </a:extLst>
          </p:cNvPr>
          <p:cNvSpPr>
            <a:spLocks noGrp="1"/>
          </p:cNvSpPr>
          <p:nvPr/>
        </p:nvSpPr>
        <p:spPr>
          <a:xfrm>
            <a:off x="10201275" y="5143500"/>
            <a:ext cx="19050" cy="257175"/>
          </a:xfrm>
          <a:prstGeom prst="rect">
            <a:avLst/>
          </a:prstGeom>
          <a:solidFill>
            <a:srgbClr val="AAAAAA"/>
          </a:solidFill>
          <a:ln w="0">
            <a:noFill/>
          </a:ln>
        </p:spPr>
      </p:sp>
      <p:sp>
        <p:nvSpPr>
          <p:cNvPr id="39" name="직사각형 38">
            <a:extLst>
              <a:ext uri="{FF2B5EF4-FFF2-40B4-BE49-F238E27FC236}">
                <a16:creationId xmlns:a16="http://schemas.microsoft.com/office/drawing/2014/main" id="{CEA6DD83-A3C4-40B0-9173-0AB13AF2B95B}"/>
              </a:ext>
            </a:extLst>
          </p:cNvPr>
          <p:cNvSpPr>
            <a:spLocks noGrp="1"/>
          </p:cNvSpPr>
          <p:nvPr/>
        </p:nvSpPr>
        <p:spPr>
          <a:xfrm>
            <a:off x="9525000" y="5400675"/>
            <a:ext cx="1371600" cy="19050"/>
          </a:xfrm>
          <a:prstGeom prst="rect">
            <a:avLst/>
          </a:prstGeom>
          <a:solidFill>
            <a:srgbClr val="AAAAAA"/>
          </a:solidFill>
          <a:ln w="0">
            <a:noFill/>
          </a:ln>
        </p:spPr>
      </p:sp>
      <p:sp>
        <p:nvSpPr>
          <p:cNvPr id="40" name="직사각형 39">
            <a:extLst>
              <a:ext uri="{FF2B5EF4-FFF2-40B4-BE49-F238E27FC236}">
                <a16:creationId xmlns:a16="http://schemas.microsoft.com/office/drawing/2014/main" id="{411885E4-F65B-4DFA-8FAE-4CE4A02E2A60}"/>
              </a:ext>
            </a:extLst>
          </p:cNvPr>
          <p:cNvSpPr>
            <a:spLocks noGrp="1"/>
          </p:cNvSpPr>
          <p:nvPr/>
        </p:nvSpPr>
        <p:spPr>
          <a:xfrm>
            <a:off x="9515475" y="5400675"/>
            <a:ext cx="19050" cy="247650"/>
          </a:xfrm>
          <a:prstGeom prst="rect">
            <a:avLst/>
          </a:prstGeom>
          <a:solidFill>
            <a:srgbClr val="AAAAAA"/>
          </a:solidFill>
          <a:ln w="0">
            <a:noFill/>
          </a:ln>
        </p:spPr>
      </p:sp>
      <p:sp>
        <p:nvSpPr>
          <p:cNvPr id="41" name="직사각형 40">
            <a:extLst>
              <a:ext uri="{FF2B5EF4-FFF2-40B4-BE49-F238E27FC236}">
                <a16:creationId xmlns:a16="http://schemas.microsoft.com/office/drawing/2014/main" id="{3D85A672-7526-4FF0-BEFB-A215770B2186}"/>
              </a:ext>
            </a:extLst>
          </p:cNvPr>
          <p:cNvSpPr>
            <a:spLocks noGrp="1"/>
          </p:cNvSpPr>
          <p:nvPr/>
        </p:nvSpPr>
        <p:spPr>
          <a:xfrm>
            <a:off x="10887075" y="5400675"/>
            <a:ext cx="19050" cy="247650"/>
          </a:xfrm>
          <a:prstGeom prst="rect">
            <a:avLst/>
          </a:prstGeom>
          <a:solidFill>
            <a:srgbClr val="AAAAAA"/>
          </a:solidFill>
          <a:ln w="0">
            <a:noFill/>
          </a:ln>
        </p:spPr>
      </p:sp>
      <p:sp>
        <p:nvSpPr>
          <p:cNvPr id="42" name="order-label-2-0">
            <a:extLst>
              <a:ext uri="{FF2B5EF4-FFF2-40B4-BE49-F238E27FC236}">
                <a16:creationId xmlns:a16="http://schemas.microsoft.com/office/drawing/2014/main" id="{1A6FB4EC-B93F-498E-AFEA-D018E439124B}"/>
              </a:ext>
            </a:extLst>
          </p:cNvPr>
          <p:cNvSpPr>
            <a:spLocks noGrp="1"/>
          </p:cNvSpPr>
          <p:nvPr/>
        </p:nvSpPr>
        <p:spPr>
          <a:xfrm>
            <a:off x="8763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① 병합</a:t>
            </a:r>
          </a:p>
        </p:txBody>
      </p:sp>
      <p:graphicFrame>
        <p:nvGraphicFramePr>
          <p:cNvPr id="43" name="표 42">
            <a:extLst>
              <a:ext uri="{FF2B5EF4-FFF2-40B4-BE49-F238E27FC236}">
                <a16:creationId xmlns:a16="http://schemas.microsoft.com/office/drawing/2014/main" id="{D8DFC10D-AA65-4597-A609-5379100CE2BF}"/>
              </a:ext>
            </a:extLst>
          </p:cNvPr>
          <p:cNvGraphicFramePr/>
          <p:nvPr/>
        </p:nvGraphicFramePr>
        <p:xfrm>
          <a:off x="8763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order-label-2-1">
            <a:extLst>
              <a:ext uri="{FF2B5EF4-FFF2-40B4-BE49-F238E27FC236}">
                <a16:creationId xmlns:a16="http://schemas.microsoft.com/office/drawing/2014/main" id="{B5DB57CC-40F1-49C4-91CC-D96B91D64BD6}"/>
              </a:ext>
            </a:extLst>
          </p:cNvPr>
          <p:cNvSpPr>
            <a:spLocks noGrp="1"/>
          </p:cNvSpPr>
          <p:nvPr/>
        </p:nvSpPr>
        <p:spPr>
          <a:xfrm>
            <a:off x="36195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② 병합</a:t>
            </a:r>
          </a:p>
        </p:txBody>
      </p:sp>
      <p:graphicFrame>
        <p:nvGraphicFramePr>
          <p:cNvPr id="45" name="표 44">
            <a:extLst>
              <a:ext uri="{FF2B5EF4-FFF2-40B4-BE49-F238E27FC236}">
                <a16:creationId xmlns:a16="http://schemas.microsoft.com/office/drawing/2014/main" id="{76860921-DCC1-4B79-9175-5C5C77195230}"/>
              </a:ext>
            </a:extLst>
          </p:cNvPr>
          <p:cNvGraphicFramePr/>
          <p:nvPr/>
        </p:nvGraphicFramePr>
        <p:xfrm>
          <a:off x="36195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DEFE6"/>
                    </a:solidFill>
                  </a:tcPr>
                </a:tc>
                <a:tc>
                  <a:txBody>
                    <a:bodyPr/>
                    <a:lstStyle/>
                    <a:p>
                      <a:pPr algn="ctr"/>
                      <a:r>
                        <a:rPr sz="2175"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6" name="order-label-2-2">
            <a:extLst>
              <a:ext uri="{FF2B5EF4-FFF2-40B4-BE49-F238E27FC236}">
                <a16:creationId xmlns:a16="http://schemas.microsoft.com/office/drawing/2014/main" id="{7895F06E-031C-4ACB-9E58-ADAA41B3843C}"/>
              </a:ext>
            </a:extLst>
          </p:cNvPr>
          <p:cNvSpPr>
            <a:spLocks noGrp="1"/>
          </p:cNvSpPr>
          <p:nvPr/>
        </p:nvSpPr>
        <p:spPr>
          <a:xfrm>
            <a:off x="63627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④ 병합</a:t>
            </a:r>
          </a:p>
        </p:txBody>
      </p:sp>
      <p:graphicFrame>
        <p:nvGraphicFramePr>
          <p:cNvPr id="47" name="표 46">
            <a:extLst>
              <a:ext uri="{FF2B5EF4-FFF2-40B4-BE49-F238E27FC236}">
                <a16:creationId xmlns:a16="http://schemas.microsoft.com/office/drawing/2014/main" id="{1D92885C-5A75-4BF9-9D0F-E861FD4B1511}"/>
              </a:ext>
            </a:extLst>
          </p:cNvPr>
          <p:cNvGraphicFramePr/>
          <p:nvPr/>
        </p:nvGraphicFramePr>
        <p:xfrm>
          <a:off x="63627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CECFB"/>
                    </a:solidFill>
                  </a:tcPr>
                </a:tc>
                <a:tc>
                  <a:txBody>
                    <a:bodyPr/>
                    <a:lstStyle/>
                    <a:p>
                      <a:pPr algn="ctr"/>
                      <a:r>
                        <a:rPr sz="2175"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8" name="order-label-2-3">
            <a:extLst>
              <a:ext uri="{FF2B5EF4-FFF2-40B4-BE49-F238E27FC236}">
                <a16:creationId xmlns:a16="http://schemas.microsoft.com/office/drawing/2014/main" id="{3D03F84F-6126-4528-8342-F45332222A8C}"/>
              </a:ext>
            </a:extLst>
          </p:cNvPr>
          <p:cNvSpPr>
            <a:spLocks noGrp="1"/>
          </p:cNvSpPr>
          <p:nvPr/>
        </p:nvSpPr>
        <p:spPr>
          <a:xfrm>
            <a:off x="91059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⑤ 병합</a:t>
            </a:r>
          </a:p>
        </p:txBody>
      </p:sp>
      <p:graphicFrame>
        <p:nvGraphicFramePr>
          <p:cNvPr id="49" name="표 48">
            <a:extLst>
              <a:ext uri="{FF2B5EF4-FFF2-40B4-BE49-F238E27FC236}">
                <a16:creationId xmlns:a16="http://schemas.microsoft.com/office/drawing/2014/main" id="{AE9DE415-3C52-4FFC-97CC-69AC4FA342E0}"/>
              </a:ext>
            </a:extLst>
          </p:cNvPr>
          <p:cNvGraphicFramePr/>
          <p:nvPr/>
        </p:nvGraphicFramePr>
        <p:xfrm>
          <a:off x="91059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34CAF166-102D-4132-B0DF-E487D242AC94}"/>
              </a:ext>
            </a:extLst>
          </p:cNvPr>
          <p:cNvGraphicFramePr/>
          <p:nvPr/>
        </p:nvGraphicFramePr>
        <p:xfrm>
          <a:off x="914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1" name="표 50">
            <a:extLst>
              <a:ext uri="{FF2B5EF4-FFF2-40B4-BE49-F238E27FC236}">
                <a16:creationId xmlns:a16="http://schemas.microsoft.com/office/drawing/2014/main" id="{7074D80D-F902-4CFE-8D3D-0947F248B9BC}"/>
              </a:ext>
            </a:extLst>
          </p:cNvPr>
          <p:cNvGraphicFramePr/>
          <p:nvPr/>
        </p:nvGraphicFramePr>
        <p:xfrm>
          <a:off x="2286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2" name="표 51">
            <a:extLst>
              <a:ext uri="{FF2B5EF4-FFF2-40B4-BE49-F238E27FC236}">
                <a16:creationId xmlns:a16="http://schemas.microsoft.com/office/drawing/2014/main" id="{4228601C-A8C3-4398-A058-CDEDAB4DBE59}"/>
              </a:ext>
            </a:extLst>
          </p:cNvPr>
          <p:cNvGraphicFramePr/>
          <p:nvPr/>
        </p:nvGraphicFramePr>
        <p:xfrm>
          <a:off x="3657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3" name="표 52">
            <a:extLst>
              <a:ext uri="{FF2B5EF4-FFF2-40B4-BE49-F238E27FC236}">
                <a16:creationId xmlns:a16="http://schemas.microsoft.com/office/drawing/2014/main" id="{AE1420DF-8EF9-4490-B23A-645A098DC478}"/>
              </a:ext>
            </a:extLst>
          </p:cNvPr>
          <p:cNvGraphicFramePr/>
          <p:nvPr/>
        </p:nvGraphicFramePr>
        <p:xfrm>
          <a:off x="50292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4" name="표 53">
            <a:extLst>
              <a:ext uri="{FF2B5EF4-FFF2-40B4-BE49-F238E27FC236}">
                <a16:creationId xmlns:a16="http://schemas.microsoft.com/office/drawing/2014/main" id="{9306F685-7D7A-48CF-B1FC-2372C5779E94}"/>
              </a:ext>
            </a:extLst>
          </p:cNvPr>
          <p:cNvGraphicFramePr/>
          <p:nvPr/>
        </p:nvGraphicFramePr>
        <p:xfrm>
          <a:off x="64008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5" name="표 54">
            <a:extLst>
              <a:ext uri="{FF2B5EF4-FFF2-40B4-BE49-F238E27FC236}">
                <a16:creationId xmlns:a16="http://schemas.microsoft.com/office/drawing/2014/main" id="{8C025A25-60F5-4891-B4F9-51B50C79D83D}"/>
              </a:ext>
            </a:extLst>
          </p:cNvPr>
          <p:cNvGraphicFramePr/>
          <p:nvPr/>
        </p:nvGraphicFramePr>
        <p:xfrm>
          <a:off x="7772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6" name="표 55">
            <a:extLst>
              <a:ext uri="{FF2B5EF4-FFF2-40B4-BE49-F238E27FC236}">
                <a16:creationId xmlns:a16="http://schemas.microsoft.com/office/drawing/2014/main" id="{A085EC4B-5DE5-4B7D-92CC-76B2B72CD3C1}"/>
              </a:ext>
            </a:extLst>
          </p:cNvPr>
          <p:cNvGraphicFramePr/>
          <p:nvPr/>
        </p:nvGraphicFramePr>
        <p:xfrm>
          <a:off x="9144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7" name="표 56">
            <a:extLst>
              <a:ext uri="{FF2B5EF4-FFF2-40B4-BE49-F238E27FC236}">
                <a16:creationId xmlns:a16="http://schemas.microsoft.com/office/drawing/2014/main" id="{2B5E12C0-5095-4090-9E0E-AE22D50078CE}"/>
              </a:ext>
            </a:extLst>
          </p:cNvPr>
          <p:cNvGraphicFramePr/>
          <p:nvPr/>
        </p:nvGraphicFramePr>
        <p:xfrm>
          <a:off x="10515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113412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632F56A4-5B0B-4570-823C-E1F58F7300F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EA946D2-B70D-4362-936A-22B27BEC9AA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5F3A2DE-108F-47CB-B5AB-35E7B2E120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[8]과 [3] 병합 · 시작</a:t>
            </a:r>
          </a:p>
        </p:txBody>
      </p:sp>
      <p:sp>
        <p:nvSpPr>
          <p:cNvPr id="4" name="직사각형 3">
            <a:extLst>
              <a:ext uri="{FF2B5EF4-FFF2-40B4-BE49-F238E27FC236}">
                <a16:creationId xmlns:a16="http://schemas.microsoft.com/office/drawing/2014/main" id="{141A7B97-4AB2-4A06-8D5F-A98980A5EB57}"/>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D20F7FE3-8169-4B3C-96E5-72A98F693A5F}"/>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8과 오른쪽 3을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042AEDC5-C398-4501-B44A-F609BA7EF33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BE0B240-EC26-48AE-B14B-2EDA4F7D0B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A90C723-68B5-4C52-BFA8-C0B8BB71E26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82067CF4-FE5D-4CFC-A54E-A63499D59535}"/>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CB760A5-57FC-477F-A9F3-5A1031866CD0}"/>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58A85DD-35D1-43E0-9A6E-05998507968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0628C73-0576-4920-8A7A-800ECDEC6DF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3A41101-8975-4E1E-97CB-855BB7D41BF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B022E0D-582E-4BF8-A769-C4CE052B217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B605CCFE-3FFC-4055-A3A7-2C77F337A61A}"/>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DBE13C36-AFE5-4CEE-BB2E-5552D05E1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CD83C1A-A7B2-4AA0-A7F6-BBAD7551B8FA}"/>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2B72F7E-58ED-4EB1-92D5-D82C02C754DC}"/>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C5E2791-1930-4CA0-8A7E-9C795B6A35A7}"/>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B8067DE1-1315-41A2-9BE8-0EB3D870DAF8}"/>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AF13CDD3-22E3-47FA-BC7F-A0407CBB08E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67757F12-607E-49ED-812F-FA5717A4D24F}"/>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3FB50AA5-2910-4885-BCD0-F4C59A126A26}"/>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15766DE6-54BA-4A16-9484-C7E0147AAF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DF400C1D-A77D-493E-BC6E-FE2F8DCC9D5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0AD0CA67-D3D3-4DFA-A456-3E489783FEA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9623148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C4CA368-E8FC-42C8-908B-E3FA31EFDC0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F6E643F-5139-4EBA-AE81-E5E7F31CBD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DCF0F26-0F4D-41F0-8952-7A5174DF9E6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1번째 값 3 추가</a:t>
            </a:r>
          </a:p>
        </p:txBody>
      </p:sp>
      <p:sp>
        <p:nvSpPr>
          <p:cNvPr id="4" name="직사각형 3">
            <a:extLst>
              <a:ext uri="{FF2B5EF4-FFF2-40B4-BE49-F238E27FC236}">
                <a16:creationId xmlns:a16="http://schemas.microsoft.com/office/drawing/2014/main" id="{E99B935A-7E1F-469F-BD25-FAA3F394F188}"/>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A88EF225-0191-4918-ABE8-FFD5270ED201}"/>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3 → 오른쪽의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EF95010A-D138-489C-B479-BE975137A6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102D8D1-F9CF-4F2B-BB69-7B9E3C0C72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4854E4A5-007B-4D5A-92DE-AB5337C98D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CE5DAAB-43F8-4E56-9522-9894422579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C6DBC45-89AC-462D-8444-06EB9AAAF976}"/>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3DA9C5C5-FA59-4543-85A7-B69F05568F55}"/>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1FBC8B5-418C-4EA0-8872-69FE007ADCE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17DC0492-550E-4530-A8CD-E8E5242B92AC}"/>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CAB59BF-64DC-4C04-965A-381CDAFF36B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7A819CE-D0A6-417C-8B8C-57D0C6D12E69}"/>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AE9816E-6334-4777-88AE-8FD505647A9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D315772-49CC-4247-9E7E-42CD68D4207E}"/>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0FC22ED-4D94-418B-ABC3-D553B4A0AC9B}"/>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5C6850B-EE3A-40E0-A9C1-0A7CF1157EB5}"/>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57D10354-A0EF-45AF-B30D-ABC2FF2C6B7E}"/>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350778D5-523E-4B27-8F40-3AB91ADDC123}"/>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7070C809-D621-4352-A0EB-79B80E8537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936C30D-E496-4476-A75F-6A6429966D7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4ABA2DFD-22BF-489D-A302-15423D2BAE83}"/>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7E7AB54E-D00C-447B-92B8-28BA0EADE354}"/>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8E5E4E5-0765-4958-985D-E24E1838226A}"/>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918726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53F7C5EA-EA54-4527-8B6A-EDC41B54E5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B9E8669-D84E-4FA7-8527-EC5DEFC25A9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FF6156-6682-452E-9527-EAC01914645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2번째 값 8 추가</a:t>
            </a:r>
          </a:p>
        </p:txBody>
      </p:sp>
      <p:sp>
        <p:nvSpPr>
          <p:cNvPr id="4" name="직사각형 3">
            <a:extLst>
              <a:ext uri="{FF2B5EF4-FFF2-40B4-BE49-F238E27FC236}">
                <a16:creationId xmlns:a16="http://schemas.microsoft.com/office/drawing/2014/main" id="{FA43D893-733F-4821-856B-46FF3AED2F0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045680B2-9E1A-47E1-A5C0-7CBF880C4B1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1AE6312D-26D5-4CC0-BDEE-6543E416E2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B5804A-5C0F-4AFF-B275-6C365C784BC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2BCBE20-6B7F-42A3-88FA-DCCACEAF5D5D}"/>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D72934CA-4A26-416D-82A5-56F842221822}"/>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EAA8C8F-9D99-4353-9A1F-32F01027807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D565999E-B50A-4623-BF8A-E8D23CD026E8}"/>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EA17E0B8-26F5-4DAE-9CF6-430E7ED59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2448FE28-8C6E-4D4D-A6A5-42740FC22C6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52E18281-ADEB-45D2-92B3-7F249DD70A8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46BAD0DA-0529-4753-A91C-9B0499E3DC8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565126D-4074-45F0-9BD8-72D920EAB71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EB240BD-64E7-4796-91E1-70159E51C41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CBF962E-003D-403C-98D4-A5B90B4B1EA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BDFEB98-541C-4AC1-8872-0DEC2A2C88B8}"/>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A734AA5F-17BA-45A9-AA24-7E83A6652461}"/>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77A825F3-0F01-475E-9137-E17F3D2898A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09FAFF43-743F-4794-A78F-6678637E088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B720EF70-155C-4F64-80BA-DDF96658EC9C}"/>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result-caption">
            <a:extLst>
              <a:ext uri="{FF2B5EF4-FFF2-40B4-BE49-F238E27FC236}">
                <a16:creationId xmlns:a16="http://schemas.microsoft.com/office/drawing/2014/main" id="{94AACD3D-6988-48BC-B049-C7A9D4672540}"/>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569D83D8-D9CB-4F0A-B327-38414821CA2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[3, 8]</a:t>
            </a:r>
          </a:p>
        </p:txBody>
      </p:sp>
      <p:sp>
        <p:nvSpPr>
          <p:cNvPr id="26" name="next-merge">
            <a:extLst>
              <a:ext uri="{FF2B5EF4-FFF2-40B4-BE49-F238E27FC236}">
                <a16:creationId xmlns:a16="http://schemas.microsoft.com/office/drawing/2014/main" id="{B71D0A0F-EAFD-4786-BF6F-2C0B03DE6517}"/>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왼쪽 입력으로 사용</a:t>
            </a:r>
          </a:p>
        </p:txBody>
      </p:sp>
      <p:sp>
        <p:nvSpPr>
          <p:cNvPr id="27" name="trace-rule">
            <a:extLst>
              <a:ext uri="{FF2B5EF4-FFF2-40B4-BE49-F238E27FC236}">
                <a16:creationId xmlns:a16="http://schemas.microsoft.com/office/drawing/2014/main" id="{BA88F5D6-EE78-4468-AFBE-690B24219F56}"/>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7217118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8B95781-7282-4D73-B8A2-78EEC95A4D8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82C8DFC-2923-4CEC-A589-1F67C37D8F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B758036-6A0C-43B4-9E81-698732D24B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[6]과 [2] 병합 · 시작</a:t>
            </a:r>
          </a:p>
        </p:txBody>
      </p:sp>
      <p:sp>
        <p:nvSpPr>
          <p:cNvPr id="4" name="직사각형 3">
            <a:extLst>
              <a:ext uri="{FF2B5EF4-FFF2-40B4-BE49-F238E27FC236}">
                <a16:creationId xmlns:a16="http://schemas.microsoft.com/office/drawing/2014/main" id="{5FF29A5E-5E2D-4C52-9DD7-574DA6E95BEC}"/>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FBDA3F15-7B94-47E4-BA6A-13009BF4AEB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6과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98B9DC0-249A-4DB4-96BE-2ABC9C240A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B844CD-9383-424F-B7CD-24D6B806B7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625400E-F57B-4966-8733-45F2FB66F91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B1A9A52-12DC-4DFC-87E3-47406FE437A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3CA7C5-555C-42B2-AA53-4F86CF4CD1F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CDEE04C-6620-4EBF-8BA4-75CCDF137E4D}"/>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541BF2F2-F8DA-4F60-9769-AE9B9BE902B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3212E911-3CD2-4F3D-88BB-536814B1E44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B11E0A96-3B9E-440A-9456-21FDABB605A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B27F213-D09C-4915-BC6E-456B97DD63C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8460E6D8-A1BF-4F53-9428-1ED46C4AB5C0}"/>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6024886-8F8B-4050-87D3-3A1ECA6E8FB0}"/>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E0FF42C-D09F-4CE5-AFB8-806ECC9AE3CE}"/>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197FCAC-60FA-45EB-BCC4-66CD8273C47F}"/>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05EC3334-66EC-4598-A048-98E898F803E8}"/>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EC34CB7B-48D1-467E-84EB-ABBCA980DF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A3B939F4-F0FC-480B-8CE8-78E17B4A968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97CB8871-468E-4A83-BE30-FF988B558B5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5ECB2B4D-5C32-4D5B-AA80-FFF799C9ABDA}"/>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2D949FF4-E6C9-4138-AFA7-3F1B2B8C8C20}"/>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B67E6E57-2C7B-4634-B166-36B2E28AD64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7632909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2B6F84D1-700E-4358-9F5C-16D5C0720E8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5A6751C-45AF-4679-93F6-03493E5EEC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5BEC4B-B594-4320-82CD-32E70137F5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1번째 값 2 추가</a:t>
            </a:r>
          </a:p>
        </p:txBody>
      </p:sp>
      <p:sp>
        <p:nvSpPr>
          <p:cNvPr id="4" name="직사각형 3">
            <a:extLst>
              <a:ext uri="{FF2B5EF4-FFF2-40B4-BE49-F238E27FC236}">
                <a16:creationId xmlns:a16="http://schemas.microsoft.com/office/drawing/2014/main" id="{B569B989-F55F-41DD-A884-743D6EF4F683}"/>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0D97AF69-38B4-4E15-9500-A142B21F9902}"/>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6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1B0CCD64-D179-4C5B-BECB-B03047DF53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2865540-FA8D-49CA-B3FC-024D428E18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FF0506A-8F1E-478A-B82A-6484BA266C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94BC5B6-8F99-445E-840B-98563CC531A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9E48443D-C12B-40CD-9259-1E06CC581B58}"/>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88D9089D-7D63-4B9A-97C9-3A184E279414}"/>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D6471ED-8B23-4AC5-B779-0128C114A04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B3A32347-1E6A-474A-864C-6000545C1BCD}"/>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A3F2F5F9-8EBC-474B-ACA0-D1A8D921521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2542437-3955-450F-8D12-E2523A1BF44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069E3D7E-E899-442F-AD6D-F7A5791CE6B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65A7B8B-8E18-4AE3-8B01-223E0BAC5D49}"/>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266C24-0960-4D7A-9E96-11CEF46B024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4170C895-6B8F-4046-A3AF-8DA1B3AF30A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7AD4D47-E13B-47BF-B7BE-4D2C0C975F2D}"/>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13EFCB3A-0651-4F55-B83B-2A24D38408B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F29E56E2-2E8B-440B-A3F7-6AB127F82AE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27AFBBA-BAF8-4726-80B9-9E5B4C386F4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EF3361CF-655D-43D6-A91B-1A0DA4D9784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F7922BFE-94FC-4A47-AFEC-467F91D3045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32BBB0D-9C33-4F20-AF73-CC1DDE673597}"/>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94252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7B6DEBC0-A23F-4BCA-8E50-87CB00FA7C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1A157C8-B7C1-474A-AFA2-D73B52FD9B4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524D7B-171A-4489-A7EE-9EC711D0EB4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2번째 값 6 추가</a:t>
            </a:r>
          </a:p>
        </p:txBody>
      </p:sp>
      <p:sp>
        <p:nvSpPr>
          <p:cNvPr id="4" name="직사각형 3">
            <a:extLst>
              <a:ext uri="{FF2B5EF4-FFF2-40B4-BE49-F238E27FC236}">
                <a16:creationId xmlns:a16="http://schemas.microsoft.com/office/drawing/2014/main" id="{7417467E-0700-4DF1-B4D1-1AFEFBA71A82}"/>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EA3E495B-9109-4099-8910-18D6C0B9817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D617DD0-C365-4CDF-9F47-056E7B76F9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45A9677-C093-4E3F-99AD-8C12AA54148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4230609-D1C3-44B2-AF39-374F0FAC7C4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24B39CF-0630-47BE-8DB5-FB8C7E825E1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C411338-151B-4AA0-8B71-A7B8FE6C15F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2AF3460B-E797-41E7-8111-D36DB59D3C62}"/>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AD0091FB-EBDD-416B-8AD3-0DF2B940D77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4D0C94FD-0B32-4B0C-88D8-9A5E73BA68D8}"/>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8B03FA60-7BC8-4FF9-8BC1-911698E9109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3256061-0963-4F17-B5D6-3778790CA435}"/>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CEF1AFB7-E970-4673-8D25-94BFB08C9F9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DE1A671-1235-4106-8138-C8EB89DCCE56}"/>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0D17FAC1-C66B-49F4-A8B6-8900423FFBA5}"/>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1E60AE0C-0DF4-49A4-AB43-D13294D293A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967C0C1B-9F89-41FE-A896-74B73C87AF8F}"/>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B4F337E9-B09A-4E85-B81E-AC04E1DFA0DA}"/>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3AA0C16C-9344-45FC-B2C8-C265C51AC42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EFE780C-A074-438E-92F0-59619ACAF61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result-caption">
            <a:extLst>
              <a:ext uri="{FF2B5EF4-FFF2-40B4-BE49-F238E27FC236}">
                <a16:creationId xmlns:a16="http://schemas.microsoft.com/office/drawing/2014/main" id="{873FFB34-DD3C-4E91-8B38-EF2CF4E1F986}"/>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AF557634-5466-48EE-A7A3-895E4E5F8A4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6]</a:t>
            </a:r>
          </a:p>
        </p:txBody>
      </p:sp>
      <p:sp>
        <p:nvSpPr>
          <p:cNvPr id="26" name="next-merge">
            <a:extLst>
              <a:ext uri="{FF2B5EF4-FFF2-40B4-BE49-F238E27FC236}">
                <a16:creationId xmlns:a16="http://schemas.microsoft.com/office/drawing/2014/main" id="{8FFF5C4F-E5AD-4EAE-B14C-579C69D660C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오른쪽 입력으로 사용</a:t>
            </a:r>
          </a:p>
        </p:txBody>
      </p:sp>
      <p:sp>
        <p:nvSpPr>
          <p:cNvPr id="27" name="trace-rule">
            <a:extLst>
              <a:ext uri="{FF2B5EF4-FFF2-40B4-BE49-F238E27FC236}">
                <a16:creationId xmlns:a16="http://schemas.microsoft.com/office/drawing/2014/main" id="{74236777-E82D-4396-9F66-1482C90D2B1E}"/>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042743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83459D1-F95D-4D3A-9B76-0A327C1ED6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819E01AF-EB18-4AD3-BCEC-2DD792A8AF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3186A95-1AB6-41F3-9F1E-0B5C6028E2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[3, 8]과 [2, 6] 병합 · 시작</a:t>
            </a:r>
          </a:p>
        </p:txBody>
      </p:sp>
      <p:sp>
        <p:nvSpPr>
          <p:cNvPr id="4" name="직사각형 3">
            <a:extLst>
              <a:ext uri="{FF2B5EF4-FFF2-40B4-BE49-F238E27FC236}">
                <a16:creationId xmlns:a16="http://schemas.microsoft.com/office/drawing/2014/main" id="{66E4477E-0D96-4058-989C-270AC906B3F5}"/>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83D390C3-ED29-4561-BB8B-44AF5BBD947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3과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C2583165-EBAA-4228-A0A2-53340AC03A4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EEEFCD2-9B28-4525-8D51-EDD4A524DA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78E8B84-D3D6-4983-A277-EA03A76134C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11D6AF9-C2B7-4D5F-8861-2C8B49834E7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FCEF33D-AC3D-42B6-87BF-43CDFBE5CD4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5D4184-3C5C-4C6A-91E0-F7B92C31EBF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E07957D1-E20D-4BFA-BDA6-8D7126D6E01E}"/>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62932112-2563-4119-AB29-7A6DA9BC8E0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251B42C6-5D6C-4609-A037-2094CCE0D2D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AD9EFB5-415A-48EC-BF17-7DE519E5A15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285ADC29-7449-426F-96CE-B8E92BADBECB}"/>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84240E7-2BA3-408D-99D1-75D2F4D46C46}"/>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852045C-97DC-41C2-A7B8-387B34825947}"/>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9418C61-5E67-411F-B6DE-BBD2EC407204}"/>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7999C86-1A72-445E-A8D1-D770869A763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B2E1B07-B71E-4C74-8D7B-FD633CB87A20}"/>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7DD443AE-B132-40DB-B643-E273BD5E6BEF}"/>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B557BF08-5D9D-4E8D-8CB8-884BD6448C9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0432AAFC-9CEB-4DC9-88D8-69488099B3CD}"/>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73A20682-037A-445A-8BCC-D2E32F8F782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159C2D9-B680-4CBF-8E83-D1B6D7CDBEA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67F1A7C-5B5E-4ACF-BF90-7AFB16CDB2C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A05D41EF-3AB1-4651-A688-3746086D2BE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AAEF86A8-2241-4E7C-85EA-7F27032ACF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C5115BBA-B705-4355-9413-7822A56B83D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93602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64FD57F-E322-4633-A893-9E42384A31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D640107-7D6C-4266-A596-A5B3853A10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154CF-1DCB-4374-B2D6-18D7ACAFF1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1번째 값 2 추가</a:t>
            </a:r>
          </a:p>
        </p:txBody>
      </p:sp>
      <p:sp>
        <p:nvSpPr>
          <p:cNvPr id="4" name="직사각형 3">
            <a:extLst>
              <a:ext uri="{FF2B5EF4-FFF2-40B4-BE49-F238E27FC236}">
                <a16:creationId xmlns:a16="http://schemas.microsoft.com/office/drawing/2014/main" id="{962D81A8-A7BD-4D6D-8219-76D1653CD625}"/>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8FBC2F6D-AC65-4ECD-B197-ADE2775FDDC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70DC40A6-1769-4840-845E-8DFF623C6DC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DED4B1E-CFA4-423F-9415-A1AF1B66BC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CEE9201-375A-4450-9043-153AC0FBAC5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4E0C13B6-8ABC-4CE3-A506-05C54E899349}"/>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1BFCAB7-852A-4D7B-AE61-49B2141FD0E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2BC1F9C-A87E-4ED7-816C-172642C0DF42}"/>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116B6241-C998-44BC-A800-4A871E7DCB7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7BA8CB6-6D84-4B4D-AFB9-C9FD4D9DDAF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032418B9-0F6B-4058-9F74-F499F100846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54C01DE-8343-474E-B5CF-024B675F5CB3}"/>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754E2026-5280-4095-957C-332D2E08D0A1}"/>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94A3972F-37D1-46EF-A347-ABC50DD6037C}"/>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1A6EE975-58F0-4432-B492-F70757ABF54B}"/>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1A3B884-2D9E-42C3-8856-2F6D91C3947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130C2CE-B775-4C22-9CCC-12CFDF560C2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75A0C16A-6C0C-4530-B9DC-8DD340E2A9E6}"/>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C0713070-8D63-4390-99CF-16629ECF851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CE1E3820-D5A9-49DE-BAD0-5BE725A8FA8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67BDCDE7-B35B-45B8-B2E0-DFB313B53995}"/>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B08C6D2A-739F-46CF-A965-F072D1C9E83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0B8D90B1-2600-4F4E-9607-CE1D459D92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29FF490-D555-46F3-B014-3F0F1A096A45}"/>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E0D05BC7-82CA-408E-9DAD-AE041ACF90FC}"/>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62D62DDE-E3C3-471C-9F17-1F76F7EA54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194911CE-82AE-4CAA-99BE-4BB54188788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3797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6AB9ABC-6645-451D-A674-351D5D849D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E929435-64F9-4C7F-903D-D2D8FA73132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A28D3B8-6789-4937-8F41-055F55ED92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2번째 값 3 추가</a:t>
            </a:r>
          </a:p>
        </p:txBody>
      </p:sp>
      <p:sp>
        <p:nvSpPr>
          <p:cNvPr id="4" name="직사각형 3">
            <a:extLst>
              <a:ext uri="{FF2B5EF4-FFF2-40B4-BE49-F238E27FC236}">
                <a16:creationId xmlns:a16="http://schemas.microsoft.com/office/drawing/2014/main" id="{390B8BFF-8D31-4CE1-A9EF-5E3A35DEF45C}"/>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0DB82FF8-4E9B-40FF-9BC0-D81E6F8641D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 오른쪽 6 → 왼쪽의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05CDB8BC-C333-4B25-BBFB-888DCB8ADC8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DC3C72-53F2-4FDF-AC6A-635C50B4B1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C31F2E3-2561-40D9-B271-D2196C0AB50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724E896-C7C2-412C-B1F7-C62C32FBA1F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C63EE53C-6D4D-4E8E-BB1C-3FA910DDA3B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2213E2E-DA7A-44EC-8ADB-F0B54DB80CA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81514B82-737B-4957-B4E1-0AA5CE6064A4}"/>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79086FC0-384F-4571-86A2-44A65A8B54B0}"/>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43418D97-51BF-4AB5-B0B8-57239C0F7C04}"/>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6E4A61B-219A-45CD-B155-18B8A28F4BA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6359FE63-2852-418A-AF8E-992E2302D337}"/>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004DA21-D4F4-44E6-B445-47A92715C038}"/>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A3547579-D2BD-49C4-AC01-55D75EFABD2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F456C871-0647-4554-A83A-BA630D8031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3665A768-367F-40E1-8154-1AC1D4CFCDD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2918D69C-3141-4826-B14D-178B6457174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B1604E4-DF58-4713-A86F-D6371E16A406}"/>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30AF04E-9E50-4D4D-8D33-0ACAFB4C4B5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6A40776-3D6E-4AC4-971C-7D69741CAC16}"/>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D01E5668-05FA-4FF3-A233-2653888CB019}"/>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7E5AC5C1-F8CA-4173-87D4-A9391FB0A52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79517D9-3643-42BF-B91E-8970875F5C2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797AC807-C9AB-4BA4-AC15-79263D11B0A9}"/>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5AF5EDFE-99C0-4754-8567-D26DD0FCDA3E}"/>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9E3A6B40-D05E-4202-9359-D7974D977AEF}"/>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5169435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9FC12CB9-D975-405E-A783-91D8A736CB9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C581EAE8-F83F-4E8D-B5A0-39DE95A0C6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1023F35-19DB-46C5-B0D5-6DA834FA14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3번째 값 6 추가</a:t>
            </a:r>
          </a:p>
        </p:txBody>
      </p:sp>
      <p:sp>
        <p:nvSpPr>
          <p:cNvPr id="4" name="직사각형 3">
            <a:extLst>
              <a:ext uri="{FF2B5EF4-FFF2-40B4-BE49-F238E27FC236}">
                <a16:creationId xmlns:a16="http://schemas.microsoft.com/office/drawing/2014/main" id="{29118B18-0E0E-482F-B7F9-03BBECFE0E25}"/>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ED2A776D-11BD-47C1-888D-E29012ECF8FB}"/>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6 → 오른쪽의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7DD4996-50A4-4811-A554-3AD59290F4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482B879-CE9F-4DDB-89A3-CA601DC8C7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97EFF15-01EE-4635-B717-6376DB7A0970}"/>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7655BB2-AE2A-4DD4-996F-9966C66959F2}"/>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CAF26F1-5941-472B-8B2C-81C9F876571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D50FD97-D355-462E-ACC4-A4E624D1A7A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84A106C-C2C8-4455-9E83-63CA107DBC9F}"/>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9C2C6F8B-361B-41D0-8533-00BD00BED81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7C7136BC-CF48-4076-9743-86845B4593F6}"/>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6A91DFDC-8EA4-437B-841E-642F2E7E26E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BBD84EA-55E8-4BFD-AA30-CFF8910243B9}"/>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A5034111-078D-4147-9EAC-B7617F93EDCD}"/>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6A27B223-A572-4BC9-852B-C05BA030F429}"/>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DAAE5E38-43BB-41C3-93B9-C4CB13915C19}"/>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28EB458-37EB-4B5D-B53F-FB60F989C75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320C54B2-A01D-48C9-BE10-EE950772101C}"/>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98C8A220-7FE1-4D38-AA2E-A984A45850F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AC5D487-AD45-40FF-8BE2-61E3C5A0553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81D32869-55DD-4A5C-BA10-81365546B5C2}"/>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AC197D0F-29DC-4965-8FF2-C1BC115B16B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2A5624A-7EFE-411A-8BE6-A8C4BE6DDD2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A1707934-FD93-4718-AAA4-AB9B191E89A4}"/>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064C87B1-D7CD-4BD4-9CD4-B44E326655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B0688422-DCBA-483E-982F-1AF314D5DB9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81565BA4-775C-44C8-8DA0-1C27A4398A0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62906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C816414A-A54A-4EE1-A9E3-0AE186C923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C66DF17-770F-4CAA-94AB-23152A3FF78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A7DF9A-C437-43B3-A427-579812DBD4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4번째 값 8 추가</a:t>
            </a:r>
          </a:p>
        </p:txBody>
      </p:sp>
      <p:sp>
        <p:nvSpPr>
          <p:cNvPr id="4" name="직사각형 3">
            <a:extLst>
              <a:ext uri="{FF2B5EF4-FFF2-40B4-BE49-F238E27FC236}">
                <a16:creationId xmlns:a16="http://schemas.microsoft.com/office/drawing/2014/main" id="{E276D071-298F-4BD7-85AF-8A0CFBE6B17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A2104B55-5C2C-4402-A5AF-DCE9EA96BE5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40EBBDD-506E-4ABA-ACCF-330AA2A78F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25F5AD-B804-4370-B512-1CBCA6CB456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0AFFD00E-FFC1-4F0B-9352-CF7702A8CA2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1F3A6474-1DB9-4685-8D9E-F0D0F12525C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5864832-2AA2-49A8-A837-922BA225537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8F3CA47C-CA8C-486C-96BC-B9791CC7C701}"/>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55086580-E8B4-4BC0-BD2B-7F6FD92ADFD9}"/>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ED8E82F1-934A-4966-A648-0A1412FECA3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231C0DF-77AD-4C7B-929E-E2B100CEEB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F1FCAF3B-9996-4EFE-B5AB-0F6B2EB9245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9DB07519-6148-415A-B9B5-1208F57AEBEC}"/>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8A08147C-592A-488B-8C75-9FFB21394C7C}"/>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40802871-7803-4EF1-B416-41B729D5CA7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AC2F950B-97A7-43DF-AEEE-31AE7E0672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14CCFCD5-B97D-4E7E-8A2E-8D828E47E0D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BDCA26C6-45A3-42E0-ADBD-0CB48DF3ABC4}"/>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59B7EB68-5DD2-432E-8544-3C404471F0A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4AC0BDB1-B364-4071-BC47-156DE234071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02A017A-BB89-4470-AB8A-8C11938BB18E}"/>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A2DDB5A0-4777-4C76-A71B-220584180CD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DF2578D-F5FC-47DF-BAF0-24494FA9EEC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B6FD86AB-9463-4C99-A024-AE4923E461AB}"/>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result-caption">
            <a:extLst>
              <a:ext uri="{FF2B5EF4-FFF2-40B4-BE49-F238E27FC236}">
                <a16:creationId xmlns:a16="http://schemas.microsoft.com/office/drawing/2014/main" id="{FE33CE60-8475-4A96-8030-87A200D9CF57}"/>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9DABE6BD-2440-43AA-8923-EBF5C085908F}"/>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3, 6, 8]</a:t>
            </a:r>
          </a:p>
        </p:txBody>
      </p:sp>
      <p:sp>
        <p:nvSpPr>
          <p:cNvPr id="30" name="next-merge">
            <a:extLst>
              <a:ext uri="{FF2B5EF4-FFF2-40B4-BE49-F238E27FC236}">
                <a16:creationId xmlns:a16="http://schemas.microsoft.com/office/drawing/2014/main" id="{3D327505-E52A-4BC0-97FE-86085436BBB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왼쪽 4개 완료 → 오른쪽으로</a:t>
            </a:r>
          </a:p>
        </p:txBody>
      </p:sp>
      <p:sp>
        <p:nvSpPr>
          <p:cNvPr id="31" name="trace-rule">
            <a:extLst>
              <a:ext uri="{FF2B5EF4-FFF2-40B4-BE49-F238E27FC236}">
                <a16:creationId xmlns:a16="http://schemas.microsoft.com/office/drawing/2014/main" id="{F7680F7D-0472-4CC9-9535-4360AF83C6FC}"/>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001876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7E26A71-D0E3-42A6-905C-2CDB1BDA7A3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2E2B231-B8C0-42E6-A658-EF13BAA7C50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53EDF2A-98BD-4768-B6AF-69C9BE1E489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[7]과 [1] 병합 · 시작</a:t>
            </a:r>
          </a:p>
        </p:txBody>
      </p:sp>
      <p:sp>
        <p:nvSpPr>
          <p:cNvPr id="4" name="직사각형 3">
            <a:extLst>
              <a:ext uri="{FF2B5EF4-FFF2-40B4-BE49-F238E27FC236}">
                <a16:creationId xmlns:a16="http://schemas.microsoft.com/office/drawing/2014/main" id="{15002E08-1AA7-4615-AC95-7267401F8E13}"/>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6DFA1C07-B362-4F6B-8A85-970E351722F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7과 오른쪽 1을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C2E96C1-729A-4882-9F18-50CD83B9916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8EF7CD8-7B59-4A3F-B40B-011ADA96F6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C51ADD12-DA71-48B1-AFB6-5C3A88D6DE2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DA5505E-4BDD-474F-8E02-AF9650F30DE7}"/>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95DF350-AA47-4BBC-BDCE-EB976CCE5A6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8F6CE18-469B-4233-B942-6065E9C5078A}"/>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33EDE7ED-3189-47CC-8C4C-12EF96D3BAE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018C1962-DC9D-4331-8BCD-1B2B47DE40B0}"/>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E96F8974-B2FE-49BF-9FF6-D0EFDBD883C9}"/>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701346AC-6F1C-4AE9-9EFA-4B65AD904600}"/>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2FB4CA15-C74A-4453-87C2-74FFA9148FA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AACF2687-8D2A-46FC-8DC8-4EC6F065C5A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E2C5372-6F68-41BF-9FB3-7753308B9678}"/>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9B2CD58-E20A-4C24-93F7-B235498A4909}"/>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347B82C5-5614-49A0-B76A-11A180727BB5}"/>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FD77B499-628E-43A2-BAC5-C1EA8CF05C0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9BEEE1E1-0DA5-445C-BA5E-98AA3B06B9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F914B42-FE2F-4B35-80B5-CE992A3B748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78AAB731-7BFC-46BF-8956-61E911A37B6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E690CDC4-2F80-4152-8F83-4778898A7DC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DA83347-A8F3-41A4-9676-C10F857A79A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3132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36164E5-7BA8-451D-8904-6E3724BA32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AE16C58-678D-4C1D-8EC8-E6BBC2BD40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052F8-F69A-4BCB-961E-40BB9920EC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1번째 값 1 추가</a:t>
            </a:r>
          </a:p>
        </p:txBody>
      </p:sp>
      <p:sp>
        <p:nvSpPr>
          <p:cNvPr id="4" name="직사각형 3">
            <a:extLst>
              <a:ext uri="{FF2B5EF4-FFF2-40B4-BE49-F238E27FC236}">
                <a16:creationId xmlns:a16="http://schemas.microsoft.com/office/drawing/2014/main" id="{58A84CFC-97C2-42CD-9363-B1F387439D0C}"/>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2C7DB09F-7BC1-4571-82C2-71A3F876979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1 → 오른쪽의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CC37B6AA-6A05-4DDE-AA85-CCEEB2CD82D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C11EE15-4859-4EDD-B4FB-7C6718B982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578ED01F-14B1-4362-A775-67E36D25DBF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06C4D50-078A-4844-86A8-B3652A857CE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77F8504D-8717-4592-A8E7-D9B42E34783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37365B2-2187-4449-B0C8-0A5FB51AE81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D3AEF89C-35FC-4ED6-AD50-A76B8BA57044}"/>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4741238-9FF5-45B2-9CDA-1AFA1272DEE2}"/>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4D25E9A2-004F-4361-8F2C-D3EF51006B2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6A8BAA41-6BE0-4DF8-91EE-3B3C3820D2D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720F6E46-412F-4C0A-9B74-0004309CEAF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8A71872-0A15-4EB5-A3B6-927ED84C208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F61C8F5-3A79-4857-AD47-CAA826D0146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1D92736-ABA0-458F-B45A-4266EF474D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F8522B52-93F9-41FF-A1A0-CE1DD7746E8D}"/>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AEEDC456-CCFB-4A6F-84EC-5387D31CC1B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ECDA088-0DAA-4AD3-B00E-B8A53234B741}"/>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52A3577-FA5F-4208-971C-38C605A31DA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D7BF1FFF-36AF-4CC6-944A-C1BBB456602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03EAFC54-41E4-42B8-86B5-0AA156F6E1F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BF7D6EF-4083-4E0D-91E8-D7C1679B2F9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8668748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F6D92D76-B3C5-4717-B88F-5310E043FB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03067CE-DA49-4F98-A678-1FC743EDAE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ED1BCD-EA35-48A9-9A28-14FD19A32B6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2번째 값 7 추가</a:t>
            </a:r>
          </a:p>
        </p:txBody>
      </p:sp>
      <p:sp>
        <p:nvSpPr>
          <p:cNvPr id="4" name="직사각형 3">
            <a:extLst>
              <a:ext uri="{FF2B5EF4-FFF2-40B4-BE49-F238E27FC236}">
                <a16:creationId xmlns:a16="http://schemas.microsoft.com/office/drawing/2014/main" id="{3F50C1EE-DCF6-43E4-96B0-D23D3B42794E}"/>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D7FBBB87-AB03-4896-B316-4636E6F77474}"/>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A3ABF14-75FC-466F-9292-DF4E33EEAB4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FAA4B2F-F117-4C3F-8C01-75C203BAF9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BEE182D-0701-4EA8-9CE4-689FF323180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63B946F-514E-419D-9FCD-72742815E8D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EFCDCB5-B581-4D3E-A6BE-4B3EF384D5F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E0BD3F1F-242F-49E2-A25C-1E288DD78A5B}"/>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9FF02D06-A452-4375-A48C-AD5D3226ECA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4104B6D-E6F4-409D-9ACF-0E4D0670613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26C316C2-0954-41A8-B028-7EBF7A7F2130}"/>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D25AFA1-72A3-4419-808B-D71BA222F3B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246FD770-C239-4CEB-A715-446B493A64D5}"/>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B102FE7-9C5E-4898-ABE4-B62C6FB07AB3}"/>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BAF4C1F-D7F9-4737-94A5-77B50853D4E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8AE647D-BB7C-4E65-85F1-3FCB6ADDD5D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1645B9CB-1EBC-4440-95D7-E160E0FCFD1C}"/>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5EE8C521-1A71-492D-9186-3E03F7F0779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8ECEFD63-739C-42EF-B5AF-44F77648CA4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851543C-5145-491D-B3C4-8FAB9E33151E}"/>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result-caption">
            <a:extLst>
              <a:ext uri="{FF2B5EF4-FFF2-40B4-BE49-F238E27FC236}">
                <a16:creationId xmlns:a16="http://schemas.microsoft.com/office/drawing/2014/main" id="{AF43D90F-3560-4832-8C73-80804343BC1E}"/>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7F1AEECE-9C47-4A52-A281-4A2E61E56DBB}"/>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7]</a:t>
            </a:r>
          </a:p>
        </p:txBody>
      </p:sp>
      <p:sp>
        <p:nvSpPr>
          <p:cNvPr id="26" name="next-merge">
            <a:extLst>
              <a:ext uri="{FF2B5EF4-FFF2-40B4-BE49-F238E27FC236}">
                <a16:creationId xmlns:a16="http://schemas.microsoft.com/office/drawing/2014/main" id="{5E32DC1E-4859-4DE3-836E-242795B601F4}"/>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왼쪽 입력으로 사용</a:t>
            </a:r>
          </a:p>
        </p:txBody>
      </p:sp>
      <p:sp>
        <p:nvSpPr>
          <p:cNvPr id="27" name="trace-rule">
            <a:extLst>
              <a:ext uri="{FF2B5EF4-FFF2-40B4-BE49-F238E27FC236}">
                <a16:creationId xmlns:a16="http://schemas.microsoft.com/office/drawing/2014/main" id="{7356A885-08FB-44E4-A815-37053644C4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6312588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C2D6E03A-02B3-4134-857A-7A6392117E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F05EBAF-E733-4735-838D-67223F76E97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AA9026-DD01-4431-9D49-BFD44CAD52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[5]과 [4] 병합 · 시작</a:t>
            </a:r>
          </a:p>
        </p:txBody>
      </p:sp>
      <p:sp>
        <p:nvSpPr>
          <p:cNvPr id="4" name="직사각형 3">
            <a:extLst>
              <a:ext uri="{FF2B5EF4-FFF2-40B4-BE49-F238E27FC236}">
                <a16:creationId xmlns:a16="http://schemas.microsoft.com/office/drawing/2014/main" id="{B25A19A3-CBCB-412F-AABE-1F254E7676C4}"/>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2B3407EA-60BD-4478-BD66-EA3D02737DA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5과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052BA16-3A25-40C4-B768-29F185C217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2C6C86F-5327-4435-9C22-B4A3965BF61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13BCDC3-9661-4415-B4B7-2208DCDD6775}"/>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F4904A0-BBFC-4C27-BD5C-F4BAE10624E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AB02EF82-4404-4E57-8413-8BA38FC28E0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7E6D9048-7729-4A0D-AD97-8614C0FA297C}"/>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6BC55651-EF8F-4D6A-B42D-89405A285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BFD3C92-53E2-456A-ABBA-F01F5A8D7B7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CBDAE6AF-B96C-4D54-94B1-BD43E12FEDA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408CE64-E5EE-4B85-8743-0B70FF2834C2}"/>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3C36DD61-27C8-40BF-8007-1DD6F121AD0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B99AA5EE-E1CC-4FF4-B1C0-B6CA258EE7E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F501CF5-B7C4-4140-90A1-0A2F93FBA1B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4F06D39-5637-4C6F-967A-A753411E594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CDECFB23-0BBC-4C8C-A7D4-9FAA6195EBAD}"/>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689EB7C9-C5ED-4CF0-8758-BE3BCBA030DE}"/>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D2F918ED-0CA0-47AE-A476-0EC100DC3543}"/>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916B816-1CB8-428A-9644-173B6F8216A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2CE60C60-48D5-4709-8647-5B6F4E274A7F}"/>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1A9A316B-A174-4770-91DE-6DABF472E956}"/>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F3025066-74E8-46BE-8E3E-55E9EA5DC1F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684453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5D2C18D-D8DE-4DA6-AE84-B2E0DAA2F7E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702E657-78DA-437D-8C72-DCA73E368E7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D0C322-7C58-4C1C-B04E-605A4F9D78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1번째 값 4 추가</a:t>
            </a:r>
          </a:p>
        </p:txBody>
      </p:sp>
      <p:sp>
        <p:nvSpPr>
          <p:cNvPr id="4" name="직사각형 3">
            <a:extLst>
              <a:ext uri="{FF2B5EF4-FFF2-40B4-BE49-F238E27FC236}">
                <a16:creationId xmlns:a16="http://schemas.microsoft.com/office/drawing/2014/main" id="{D7724C43-1668-4D7E-9125-3775480146AD}"/>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68679FDE-5875-472A-9529-FE5F104CE4A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5CF0D773-7C33-4490-89C5-C19C22FF511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6506CC-1085-41D8-9B8B-1A1B4F4AFC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2286052-E45E-4BDF-9F44-8A10686DE6F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F4C60119-E7AA-4A20-B73C-2CA9479CDA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50C867-996A-46BF-BEF4-FB0E49AF2C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534981EE-BEEE-4FF0-96FB-4D2258D9674B}"/>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07B3BA5-AC40-4DFF-9652-0ECBC3601972}"/>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E07227AA-906D-4341-88CA-7DA7D9BA63EA}"/>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24B794E-A189-4079-9025-604CB49F2AB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B672B7EA-5199-409D-9C53-F83ADA079197}"/>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AFB4E757-235E-40FC-ACF2-30A4F70D9D4E}"/>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1D94F857-54F2-4972-91D3-E2E41CFF770B}"/>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24FF192-390F-4C78-929A-E528D645F5F3}"/>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A30E0E1-14D8-408C-BEBD-8CE94F2CC442}"/>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86E21260-1E24-40D1-BA3D-ECD9C8CCED95}"/>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5B529318-F240-4997-87A8-11C65068868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BDDA1513-22D3-49DC-AB2D-F25F3C75B452}"/>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E832C0D-F66F-469A-8CF4-BA2B426E94F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C2C1CF2D-922D-465B-AFD1-3AE90F038AAD}"/>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33752F31-AEAD-4CDE-9E99-39CA808474C5}"/>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7DDF391C-27A9-488D-9752-20321493B96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1325482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6B6C6787-5072-4B5A-8042-D8029FE1BCB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7AC04E9-A4AC-4AA7-8B4B-A0F6C28853B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DD50C57-619E-4610-BD31-1035982BFE0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2번째 값 5 추가</a:t>
            </a:r>
          </a:p>
        </p:txBody>
      </p:sp>
      <p:sp>
        <p:nvSpPr>
          <p:cNvPr id="4" name="직사각형 3">
            <a:extLst>
              <a:ext uri="{FF2B5EF4-FFF2-40B4-BE49-F238E27FC236}">
                <a16:creationId xmlns:a16="http://schemas.microsoft.com/office/drawing/2014/main" id="{5ACE0E16-669D-4AF5-BA0C-01793819D9F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6B363E4A-EB34-4F99-9329-404BE3BE9E4E}"/>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0FF0D1F5-F65F-4D2B-949A-E45F45028DC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B0BB51A-38FD-4521-8145-15745F277B0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B53ABC4B-0251-453A-B0F7-5A9E024A661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A54C345B-9B06-405F-817F-2CA8EA0C1E0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3570472-028D-4699-A574-7208AFCAF5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F9AF23FC-6B4D-4ABF-B299-41382278EE91}"/>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500C5DE1-20DF-46F6-9496-01826AB4890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59624182-911B-4D39-9E23-172764E59BA1}"/>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1EA6E99-98F0-4204-9A23-D91EEC2A2896}"/>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E63048FB-A528-4FA4-97C2-F2358A4F267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5C86775B-FA07-48CF-B6A3-AF492527916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F8AD6619-4CD6-4FA2-9602-2CF7CCD76677}"/>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9AE4B5-BCF4-41F7-AF85-E38E56D09F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6D3C3F68-B416-46A4-8020-37D26D7078D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118FCB9-5198-4245-903F-A076E22F3ED1}"/>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ECF6CA41-7EBE-4A47-8E6C-638B8C3787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9F6A041-81E8-493E-A1E5-EDF1F75CBF8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7DA7550-275A-42B1-B696-6AA8B2C84A1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result-caption">
            <a:extLst>
              <a:ext uri="{FF2B5EF4-FFF2-40B4-BE49-F238E27FC236}">
                <a16:creationId xmlns:a16="http://schemas.microsoft.com/office/drawing/2014/main" id="{72647C61-3F25-4E20-BD18-A45C33EAFB1C}"/>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0C74D252-7679-4CAF-A4F4-6CD65E88BA5E}"/>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[4, 5]</a:t>
            </a:r>
          </a:p>
        </p:txBody>
      </p:sp>
      <p:sp>
        <p:nvSpPr>
          <p:cNvPr id="26" name="next-merge">
            <a:extLst>
              <a:ext uri="{FF2B5EF4-FFF2-40B4-BE49-F238E27FC236}">
                <a16:creationId xmlns:a16="http://schemas.microsoft.com/office/drawing/2014/main" id="{6C935331-D63D-4B63-BAAE-28F34D38D442}"/>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오른쪽 입력으로 사용</a:t>
            </a:r>
          </a:p>
        </p:txBody>
      </p:sp>
      <p:sp>
        <p:nvSpPr>
          <p:cNvPr id="27" name="trace-rule">
            <a:extLst>
              <a:ext uri="{FF2B5EF4-FFF2-40B4-BE49-F238E27FC236}">
                <a16:creationId xmlns:a16="http://schemas.microsoft.com/office/drawing/2014/main" id="{D82B449E-4933-4688-9743-90CEB402A5E4}"/>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869275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86DFCDA0-9DB3-4811-8402-635AD236FE0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A57F9F9-BF01-4DC5-92F6-ED1A2399BD7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DB9FDB-8FBD-475B-A491-E505EEB7C27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[1, 7]과 [4, 5] 병합 · 시작</a:t>
            </a:r>
          </a:p>
        </p:txBody>
      </p:sp>
      <p:sp>
        <p:nvSpPr>
          <p:cNvPr id="4" name="직사각형 3">
            <a:extLst>
              <a:ext uri="{FF2B5EF4-FFF2-40B4-BE49-F238E27FC236}">
                <a16:creationId xmlns:a16="http://schemas.microsoft.com/office/drawing/2014/main" id="{A0384589-2731-48E4-A52C-A1D43A3A8AED}"/>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DBF4A852-CBC5-41C4-8064-F471029CD20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1과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AACCF8C4-091C-4E26-82D8-0F12F32D6F9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FF70DD7-707C-4E1E-98FB-9B2C3E8C66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6734A3D-8218-4A3F-8A57-4EAED05B801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D0A8C63-2B5E-4CFF-A6F3-B1985AAE346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CECFB"/>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52204A8-5FCC-4614-9695-E0FF85D5FB1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C00AEF-2268-48EA-8687-726A5081D0E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A80A09E5-DFC9-47FE-A1A3-809B25E5E7F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BA371990-F1B7-4DFC-B06D-C282BDE4003A}"/>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1AB0DEB3-EA50-4E5D-BFC6-790FA210E50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2B2F3C6D-64EA-4EB8-9483-CED0A68CADE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D4893B3-CE11-47FD-9437-AFB7E5D02E36}"/>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78D676E-D84D-408F-999E-40C3CA5FC67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29FF6040-B72D-4287-8A00-D182E57FDC0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0C5C7A6A-8F3D-49A8-A5D5-17C3D8B37FC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650C0783-B459-48CA-B53A-60595A9360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AFA1F798-E266-49B5-AF61-3716DE30114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6EDD3318-3AD2-4523-84E0-8ECAA76B2B4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583CF3A-F71A-49DE-A5C4-954DFA080992}"/>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8A56D1E-86BC-4A51-AF84-C1589EADA960}"/>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91CF82F0-45CA-4C0C-9C25-C3AE7C572F54}"/>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0D616DA-BCE8-4C6A-A9E3-0E0DA20599D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4B41B871-449B-44D1-BB67-30E826BBDBB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D3DF76FC-31A9-4974-A872-2653A3F848D1}"/>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CC84361-8FED-466D-93E5-3DE51A17C88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8649A52-558C-40E0-BD7E-15AC09B3C2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5372733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AEEB2FD9-1548-4BE4-8AB2-CA24F762B63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AB8982F-5E0C-41EA-B894-58800AB2AE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FFEE693-4973-42C7-909A-C101FDE53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1번째 값 1 추가</a:t>
            </a:r>
          </a:p>
        </p:txBody>
      </p:sp>
      <p:sp>
        <p:nvSpPr>
          <p:cNvPr id="4" name="직사각형 3">
            <a:extLst>
              <a:ext uri="{FF2B5EF4-FFF2-40B4-BE49-F238E27FC236}">
                <a16:creationId xmlns:a16="http://schemas.microsoft.com/office/drawing/2014/main" id="{5535139A-9468-446C-8149-905AAA720572}"/>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75D66003-3BEF-4E49-BAD3-62A4DFBF91E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 ≤ 오른쪽 4 → 왼쪽의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46F3A911-1C9D-4233-8674-521F75D0F1F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D1C37A-8032-4C99-9307-C3CD4BC49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845F3D7-F6BA-4257-9009-7EEEA7C435A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2F6E5F7-E182-4E92-94A1-A1EC233657CC}"/>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E5020E9F-A0C8-49F4-9700-A8E8D1D6678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5A3A256-9358-4312-9DC0-A14B059B6FCD}"/>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5121522-BC2B-43BB-AA91-B0D98115FA21}"/>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0019928-85F1-4040-BB03-31FF0A73F8A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CEE6DE06-DFB0-459C-8E5C-03401E9BF1A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735503D-D233-48FC-A22F-C8D3F4135DB2}"/>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CF645BA6-89F0-4EFA-B162-CA907727BDDD}"/>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ECE5A6E-400B-4DFA-828D-2FA259FD58B5}"/>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FF73AC35-F09E-44B7-8673-65ABCA0EAA3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910A84C1-FB19-4151-BE72-54CC97F15535}"/>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3807F81-4D78-4661-BA79-B325C98CA3C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870E9A8-0480-4DBE-AB11-E40EBCE1DAC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D6B06E8-4264-43C2-900C-9C9885824580}"/>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087DC92-6805-441B-B438-801D45EB1C2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787AF9E6-93C6-4BE1-9EFD-7AB69907B1C9}"/>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E4A21A71-5021-4125-938E-858383FD2B7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5F818DE3-E23A-4B55-88DF-0C234C4E293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082E874-8FD3-44CF-905C-5CE3ABFC554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2704DBC7-9638-4306-8DB4-D0EB584950EE}"/>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5E7243A7-4301-4E30-8BAE-0C9B4E2E447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50596FCC-3C53-4F5E-8B60-69EC59A2FD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95928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DB52AC4-79E2-4B54-8120-E1186729AC9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FCA5C830-1ECA-4BE5-9A27-F524D96036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03A411-3BD6-4023-BAA7-D6BF71908AB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2번째 값 4 추가</a:t>
            </a:r>
          </a:p>
        </p:txBody>
      </p:sp>
      <p:sp>
        <p:nvSpPr>
          <p:cNvPr id="4" name="직사각형 3">
            <a:extLst>
              <a:ext uri="{FF2B5EF4-FFF2-40B4-BE49-F238E27FC236}">
                <a16:creationId xmlns:a16="http://schemas.microsoft.com/office/drawing/2014/main" id="{F0FE3998-5766-43BA-BE60-FE02C00D6A1D}"/>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F35AF93D-414E-4239-8C43-27E0B8C4B4F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425B2A7A-E6DB-4263-9E0A-F5F8AE4558B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2F86B04-5687-40E6-8E58-334ADD6ECC6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EDD7326-0951-48D8-8657-3E8C27F63FE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B77EBD23-343C-47EE-9C3A-D1EF2F9F6DF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B902893-7172-42DF-9409-751EC8A2A7B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3431210C-1B54-4BDE-A39F-81C4408DB2D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26E704EF-0B13-477F-894E-27D4E6C7F0DB}"/>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DDBA79E-A6F8-403D-BE03-5614D5CCBBD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B74EEC15-1A66-41A5-8AE5-2C706D93F5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31461FD-D595-49A5-91E5-20DC579516E7}"/>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E0EFC03A-8309-4933-AB57-87CCC9C2B593}"/>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78BAC04F-353A-42B2-A95D-9D2BCE49CAE9}"/>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DE3652E-8266-4B92-873A-95E6DFFDD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A9FA57-5778-4FFA-9DA9-B30FEA49F797}"/>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4F7681B0-CD0B-4EC4-A577-00A1AC68860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FFA79538-8656-48C7-B2E3-2C4E21B3F87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2572D384-C307-429C-B355-97AB4CF93B95}"/>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8B6AA9E4-2841-4159-9940-995ADEC45A9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5665921-6BA0-4516-91D5-1EDAD6F9D106}"/>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2093584A-D4E8-4B69-8DF7-0CCAE676B35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0C6100E-8454-4414-8715-2B44BBE61EA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2EAF0E58-65C9-4803-8BEC-1EBC2C6E3D7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CC38D942-21DD-42CB-94A4-94C46817A01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A2818BF-4F3D-411D-8772-10C7D6CF5CB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BC96511-BE67-45D2-8729-88AAF3500BA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405558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1B7EFD15-D6E0-4732-9104-B710B1CB5B5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5A2B5F6-BEE8-4B84-ACAA-4BCF65CDE3C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FADD38-3AE1-4037-A9D7-C5BA145DCAB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3번째 값 5 추가</a:t>
            </a:r>
          </a:p>
        </p:txBody>
      </p:sp>
      <p:sp>
        <p:nvSpPr>
          <p:cNvPr id="4" name="직사각형 3">
            <a:extLst>
              <a:ext uri="{FF2B5EF4-FFF2-40B4-BE49-F238E27FC236}">
                <a16:creationId xmlns:a16="http://schemas.microsoft.com/office/drawing/2014/main" id="{8C6DFC1A-909B-4F0C-BFFE-2AC16C2B1569}"/>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3756F040-3019-49CB-B32B-E525F3EBE88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5 → 오른쪽의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A3FB668-BCD5-4628-9E2F-A8DFD355552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0C8C918-3D47-48D9-BAF4-07454FD6E3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0E31848-F371-4F8B-9EB8-5A1FE6E0FCC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F09837-01E6-4C03-8257-3E543B15B72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958058A-72F4-4545-A879-485F643B9B9F}"/>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B610A28-F01B-452B-91EA-E1387BDDCC68}"/>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E3271CC-7FEA-4F78-8CC6-DB59CFBADA75}"/>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E3C4ED4-70FB-4E6C-8F14-E098F9B16C0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4A5C1C0-5E1B-4D95-80C9-B36B0F0D5DF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B712EFE-80F1-45E5-9F99-767B98FFFE5D}"/>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66B7D67-7880-4E19-B515-D8F9D8FD9BA8}"/>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B0C1B51E-67FF-4CAB-85ED-841D9F0C53A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3CA9241-1905-4344-9A55-08178E651AA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1351234D-34D7-47AE-993E-2B408CEFE053}"/>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827913A8-E6EF-4EE2-BFB4-7C4864813F2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E069BB35-B6CD-44F3-A8B3-951D2938D35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8E234267-8CA2-459A-9A04-254BBBAA4394}"/>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F7255A0-C061-41FD-A13F-1815E73935D1}"/>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DEBAAE68-C4F3-46BF-81FD-F0B373616010}"/>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4C06F13D-480B-4B5C-8A5E-9900896B46D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4BEF8CA-E3F1-48FE-8EC8-5FC8DC0BE588}"/>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309E2DA-3316-46A8-8367-28A45E9B870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431FCF6D-D117-4DD0-ABE8-13F557B524BB}"/>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6735E81-F369-4752-B617-DE475BB8596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E89FC78A-6754-4D53-B8AF-3DC4BBD0EF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516897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265F5F2B-356F-498E-8E2F-E2BF338B652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9CFAE54-1579-49A2-A998-9C87CB139F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F7F375-A3E7-4B4F-9AC7-F707CB604C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4번째 값 7 추가</a:t>
            </a:r>
          </a:p>
        </p:txBody>
      </p:sp>
      <p:sp>
        <p:nvSpPr>
          <p:cNvPr id="4" name="직사각형 3">
            <a:extLst>
              <a:ext uri="{FF2B5EF4-FFF2-40B4-BE49-F238E27FC236}">
                <a16:creationId xmlns:a16="http://schemas.microsoft.com/office/drawing/2014/main" id="{E3DE12AD-610B-4DAC-91CD-25D113E1F227}"/>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BF66EF53-87F6-4BA4-9AED-54DC5163928A}"/>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ABBAF31-B578-4851-93B6-E35CAC9D99D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9228EA1-03FC-4E92-A1DB-817331A4A7D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2AB0144B-8A4E-4E39-9F22-D2439A06E6D9}"/>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238D7D-1762-4877-9C56-250CE941DAC4}"/>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A584EAA-6B99-4C47-AEC2-5D27626B9E1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903F2301-DB3C-4EC9-AB2B-C1CEED765E4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75054A10-E7BC-4510-AD1A-8D7BE2C89B5D}"/>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639DD68E-4B48-4439-9B03-C0962F40650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A72E3DC6-7AC8-4C53-9C5A-F6A1D4079AE9}"/>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7BBE3F83-86FD-4A6E-AD88-723C6F7B653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18FB935-A612-447C-9114-D8779E911E05}"/>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0861DC40-76A0-4FE1-9F4E-8932836862B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D83834D-F3A7-4E88-B91B-B102DE4135D2}"/>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E31849-39E6-4BAA-BE20-91957E1F1C3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948439AD-99EC-4D33-9BA8-DCF4ABE715C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99A4DE0D-3023-4772-96EE-80959B5006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03AB1B57-671C-42AA-8325-742239D78CE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5471324-64BE-4481-8338-9334EA2DF94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26B0158B-2575-456C-A8A4-4B44FE1E515F}"/>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EB82AC81-CD5E-4735-A95E-7C2E20206D70}"/>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8AC4A6FE-974B-478C-A98A-C8F77989732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536A31A-5974-4A86-A94E-17CA913932C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result-caption">
            <a:extLst>
              <a:ext uri="{FF2B5EF4-FFF2-40B4-BE49-F238E27FC236}">
                <a16:creationId xmlns:a16="http://schemas.microsoft.com/office/drawing/2014/main" id="{7A9B6847-CFCB-4050-ABE8-98CC417D4972}"/>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EABF3B47-7137-42EA-A3B4-8CCBD96D6EE9}"/>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4, 5, 7]</a:t>
            </a:r>
          </a:p>
        </p:txBody>
      </p:sp>
      <p:sp>
        <p:nvSpPr>
          <p:cNvPr id="30" name="next-merge">
            <a:extLst>
              <a:ext uri="{FF2B5EF4-FFF2-40B4-BE49-F238E27FC236}">
                <a16:creationId xmlns:a16="http://schemas.microsoft.com/office/drawing/2014/main" id="{5989C4B9-540D-40DD-A4AD-65F789FBF4BB}"/>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⑦에서 오른쪽 입력으로 사용</a:t>
            </a:r>
          </a:p>
        </p:txBody>
      </p:sp>
      <p:sp>
        <p:nvSpPr>
          <p:cNvPr id="31" name="trace-rule">
            <a:extLst>
              <a:ext uri="{FF2B5EF4-FFF2-40B4-BE49-F238E27FC236}">
                <a16:creationId xmlns:a16="http://schemas.microsoft.com/office/drawing/2014/main" id="{B5C7AE53-88C6-455B-8B85-2F8E5732521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5855871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36</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wrap="none" lIns="0" tIns="0" rIns="0" bIns="0" anchor="t">
            <a:noAutofit/>
          </a:bodyPr>
          <a:lstStyle>
            <a:defPPr>
              <a:defRPr sz="1800">
                <a:solidFill>
                  <a:srgbClr val="151515"/>
                </a:solidFill>
                <a:latin typeface="Consolas"/>
                <a:ea typeface="Consolas"/>
                <a:cs typeface="Consolas"/>
              </a:defRPr>
            </a:defPPr>
          </a:lstStyle>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44</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47</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A47D9535-5CBC-4E03-B333-BE0EE5F687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17708F7A-026E-49C3-8810-45A8340DD6AE}"/>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4004D0-3845-4AEC-BB71-3812A2DEFB7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퀵 정렬 (Quick Sort)</a:t>
            </a:r>
          </a:p>
        </p:txBody>
      </p:sp>
      <p:sp>
        <p:nvSpPr>
          <p:cNvPr id="4" name="직사각형 3">
            <a:extLst>
              <a:ext uri="{FF2B5EF4-FFF2-40B4-BE49-F238E27FC236}">
                <a16:creationId xmlns:a16="http://schemas.microsoft.com/office/drawing/2014/main" id="{BE86CA96-504B-40A3-8995-DC5268E64E9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피벗을 기준으로 작은 값과 큰 값을 나눈다.</a:t>
            </a:r>
          </a:p>
          <a:p>
            <a:pPr>
              <a:defRPr sz="2025" b="0">
                <a:solidFill>
                  <a:srgbClr val="151515"/>
                </a:solidFill>
              </a:defRPr>
            </a:pPr>
            <a:r>
              <a:rPr sz="2025" b="0">
                <a:solidFill>
                  <a:srgbClr val="151515"/>
                </a:solidFill>
                <a:latin typeface="Malgun Gothic" panose="020B0503020000020004" pitchFamily="50" charset="-127"/>
              </a:rPr>
              <a:t>피벗의 위치를 확정한 뒤 양쪽 구간을 재귀 정렬한다.</a:t>
            </a:r>
          </a:p>
        </p:txBody>
      </p:sp>
      <p:sp>
        <p:nvSpPr>
          <p:cNvPr id="5" name="직사각형 4">
            <a:extLst>
              <a:ext uri="{FF2B5EF4-FFF2-40B4-BE49-F238E27FC236}">
                <a16:creationId xmlns:a16="http://schemas.microsoft.com/office/drawing/2014/main" id="{F77F170F-4F13-4F11-B38D-30156742605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예제</a:t>
            </a:r>
          </a:p>
        </p:txBody>
      </p:sp>
      <p:graphicFrame>
        <p:nvGraphicFramePr>
          <p:cNvPr id="6" name="표 5">
            <a:extLst>
              <a:ext uri="{FF2B5EF4-FFF2-40B4-BE49-F238E27FC236}">
                <a16:creationId xmlns:a16="http://schemas.microsoft.com/office/drawing/2014/main" id="{AD0E63EC-5915-4E03-B66C-992E9CBB6A08}"/>
              </a:ext>
            </a:extLst>
          </p:cNvPr>
          <p:cNvGraphicFramePr/>
          <p:nvPr>
            <p:extLst>
              <p:ext uri="{D42A27DB-BD31-4B8C-83A1-F6EECF244321}">
                <p14:modId xmlns:p14="http://schemas.microsoft.com/office/powerpoint/2010/main" val="626380538"/>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45917C5-B94A-4495-92EB-321A60AFE9D2}"/>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이번 피벗</a:t>
            </a:r>
          </a:p>
        </p:txBody>
      </p:sp>
      <p:graphicFrame>
        <p:nvGraphicFramePr>
          <p:cNvPr id="8" name="표 7">
            <a:extLst>
              <a:ext uri="{FF2B5EF4-FFF2-40B4-BE49-F238E27FC236}">
                <a16:creationId xmlns:a16="http://schemas.microsoft.com/office/drawing/2014/main" id="{E3407FD5-8B43-4882-A331-E126B27F81BA}"/>
              </a:ext>
            </a:extLst>
          </p:cNvPr>
          <p:cNvGraphicFramePr/>
          <p:nvPr>
            <p:extLst>
              <p:ext uri="{D42A27DB-BD31-4B8C-83A1-F6EECF244321}">
                <p14:modId xmlns:p14="http://schemas.microsoft.com/office/powerpoint/2010/main" val="2234505267"/>
              </p:ext>
            </p:extLst>
          </p:nvPr>
        </p:nvGraphicFramePr>
        <p:xfrm>
          <a:off x="609600" y="4705350"/>
          <a:ext cx="10972800" cy="552450"/>
        </p:xfrm>
        <a:graphic>
          <a:graphicData uri="http://schemas.openxmlformats.org/drawingml/2006/table">
            <a:tbl>
              <a:tblPr/>
              <a:tblGrid>
                <a:gridCol w="10972800">
                  <a:extLst>
                    <a:ext uri="{9D8B030D-6E8A-4147-A177-3AD203B41FA5}">
                      <a16:colId xmlns:a16="http://schemas.microsoft.com/office/drawing/2014/main" val="20000"/>
                    </a:ext>
                  </a:extLst>
                </a:gridCol>
              </a:tblGrid>
              <a:tr h="552450">
                <a:tc>
                  <a:txBody>
                    <a:bodyPr/>
                    <a:lstStyle/>
                    <a:p>
                      <a:pPr algn="ctr"/>
                      <a:r>
                        <a:rPr sz="2025"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AF22BCAC-158F-4C2D-A5C1-8D6F567A3391}"/>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8FDA9D89-9B03-44FE-87B4-AFFC3AA717A4}"/>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DBFEFC2A-C394-4293-AACE-3D009353F0E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49</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ABF2868B-64BD-0935-E816-E13D37B917E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74257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D55ACE7D-58F3-4D9C-89CF-239F470C321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C02B097-5037-49DF-97D1-CE50DEFDC6F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30F320F-529A-4847-87AA-41C018FB8D9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① 피벗 6을 끝으로 옮긴 상태</a:t>
            </a:r>
          </a:p>
        </p:txBody>
      </p:sp>
      <p:sp>
        <p:nvSpPr>
          <p:cNvPr id="4" name="직사각형 3">
            <a:extLst>
              <a:ext uri="{FF2B5EF4-FFF2-40B4-BE49-F238E27FC236}">
                <a16:creationId xmlns:a16="http://schemas.microsoft.com/office/drawing/2014/main" id="{4ECD32D6-B553-43C4-A812-16C2CE78DC9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4에서 시작합니다. 피벗은 인덱스 5에 따로 둡니다.</a:t>
            </a:r>
          </a:p>
          <a:p>
            <a:pPr>
              <a:defRPr sz="2025" b="0">
                <a:solidFill>
                  <a:srgbClr val="151515"/>
                </a:solidFill>
              </a:defRPr>
            </a:pPr>
            <a:r>
              <a:rPr sz="2025" b="0">
                <a:solidFill>
                  <a:srgbClr val="151515"/>
                </a:solidFill>
                <a:latin typeface="Malgun Gothic" panose="020B0503020000020004" pitchFamily="50" charset="-127"/>
              </a:rPr>
              <a:t>L의 8 &gt; 6이므로 L은 움직이지 않습니다.</a:t>
            </a:r>
          </a:p>
        </p:txBody>
      </p:sp>
      <p:sp>
        <p:nvSpPr>
          <p:cNvPr id="5" name="직사각형 4">
            <a:extLst>
              <a:ext uri="{FF2B5EF4-FFF2-40B4-BE49-F238E27FC236}">
                <a16:creationId xmlns:a16="http://schemas.microsoft.com/office/drawing/2014/main" id="{5974D930-947F-439E-BA89-33D282A67BC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91A06182-0554-4366-B158-B15BAA3F8F2D}"/>
              </a:ext>
            </a:extLst>
          </p:cNvPr>
          <p:cNvGraphicFramePr/>
          <p:nvPr>
            <p:extLst>
              <p:ext uri="{D42A27DB-BD31-4B8C-83A1-F6EECF244321}">
                <p14:modId xmlns:p14="http://schemas.microsoft.com/office/powerpoint/2010/main" val="76629404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1165C35-C225-4D24-8581-6FDA1AB5BE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F7726F22-92DB-40AA-AB6B-7ED5DE76E75F}"/>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D24B37B0-5844-42D3-97D9-C2707A03DF22}"/>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C6343976-689F-482E-9B56-86836FF7C84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82DFB5BB-53AB-4320-90A1-B8E3CE13F85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681E843-15B0-4F03-BA4D-B87B21493CFB}"/>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493C349C-8BED-45E7-9685-D5A95B342226}"/>
              </a:ext>
            </a:extLst>
          </p:cNvPr>
          <p:cNvSpPr>
            <a:spLocks noGrp="1"/>
          </p:cNvSpPr>
          <p:nvPr/>
        </p:nvSpPr>
        <p:spPr>
          <a:xfrm>
            <a:off x="60769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4" name="직사각형 13">
            <a:extLst>
              <a:ext uri="{FF2B5EF4-FFF2-40B4-BE49-F238E27FC236}">
                <a16:creationId xmlns:a16="http://schemas.microsoft.com/office/drawing/2014/main" id="{86D07600-9EF6-4F78-9158-77871E845837}"/>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121E395-3B6C-4237-BAC4-D636D977339A}"/>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5F6747EC-70C7-462D-99A4-5DF5642FAB8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F6146E05-2E10-48E8-BB75-970EB8F4B7D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6B7EF86B-D6A1-4E96-9DFF-E9CF11E2B7F5}"/>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50</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33483F-FCC8-6E80-8A78-48C0CFBC408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3117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51</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53</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54</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55</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직사각형 16">
            <a:extLst>
              <a:ext uri="{FF2B5EF4-FFF2-40B4-BE49-F238E27FC236}">
                <a16:creationId xmlns:a16="http://schemas.microsoft.com/office/drawing/2014/main" id="{C560391E-3356-4F71-B3DF-C1556FD066B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F0BC96C-C94F-42AA-9D19-D40688EC2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0D8DBA5-A55D-4FE1-A66C-3AA959D09C7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⑧ 피벗과 a[L]을 교환</a:t>
            </a:r>
          </a:p>
        </p:txBody>
      </p:sp>
      <p:sp>
        <p:nvSpPr>
          <p:cNvPr id="4" name="직사각형 3">
            <a:extLst>
              <a:ext uri="{FF2B5EF4-FFF2-40B4-BE49-F238E27FC236}">
                <a16:creationId xmlns:a16="http://schemas.microsoft.com/office/drawing/2014/main" id="{2EFDD999-37DF-48F1-BE32-3E5B773A24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인덱스 3의 8과 인덱스 5의 피벗 6을 바꿉니다.</a:t>
            </a:r>
          </a:p>
          <a:p>
            <a:pPr>
              <a:defRPr sz="2025" b="0">
                <a:solidFill>
                  <a:srgbClr val="151515"/>
                </a:solidFill>
              </a:defRPr>
            </a:pPr>
            <a:r>
              <a:rPr sz="2025" b="0">
                <a:solidFill>
                  <a:srgbClr val="151515"/>
                </a:solidFill>
                <a:latin typeface="Malgun Gothic" panose="020B0503020000020004" pitchFamily="50" charset="-127"/>
              </a:rPr>
              <a:t>피벗 6의 최종 위치는 3입니다. 왼쪽 3, 4, 1은 아직 정렬 전입니다.</a:t>
            </a:r>
          </a:p>
        </p:txBody>
      </p:sp>
      <p:sp>
        <p:nvSpPr>
          <p:cNvPr id="5" name="직사각형 4">
            <a:extLst>
              <a:ext uri="{FF2B5EF4-FFF2-40B4-BE49-F238E27FC236}">
                <a16:creationId xmlns:a16="http://schemas.microsoft.com/office/drawing/2014/main" id="{734559B4-6EC6-4C7E-8286-C98D2FA63F2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완료</a:t>
            </a:r>
          </a:p>
        </p:txBody>
      </p:sp>
      <p:graphicFrame>
        <p:nvGraphicFramePr>
          <p:cNvPr id="6" name="표 5">
            <a:extLst>
              <a:ext uri="{FF2B5EF4-FFF2-40B4-BE49-F238E27FC236}">
                <a16:creationId xmlns:a16="http://schemas.microsoft.com/office/drawing/2014/main" id="{EB46BB44-4B50-49F2-812E-EE70D9A7A56E}"/>
              </a:ext>
            </a:extLst>
          </p:cNvPr>
          <p:cNvGraphicFramePr/>
          <p:nvPr>
            <p:extLst>
              <p:ext uri="{D42A27DB-BD31-4B8C-83A1-F6EECF244321}">
                <p14:modId xmlns:p14="http://schemas.microsoft.com/office/powerpoint/2010/main" val="227665204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71AABE6-26FF-487A-B5EB-9E2BB257613E}"/>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B13F44E-D52A-4766-8D1E-A76CE530230D}"/>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BFA8F37A-2ECA-4731-A490-3830C37BA90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9B015E5E-AA9C-4D9A-931D-70F52345F61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65EDE4EA-8AE8-4EEE-ADDF-D9181A44C849}"/>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2" name="직사각형 11">
            <a:extLst>
              <a:ext uri="{FF2B5EF4-FFF2-40B4-BE49-F238E27FC236}">
                <a16:creationId xmlns:a16="http://schemas.microsoft.com/office/drawing/2014/main" id="{FEC64F74-6020-4361-A649-2D741C1FF184}"/>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363F450-D285-4648-97BF-9EDCD74A4DDA}"/>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7F116120-114B-4D02-B127-F2136361507D}"/>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5" name="직사각형 14">
            <a:extLst>
              <a:ext uri="{FF2B5EF4-FFF2-40B4-BE49-F238E27FC236}">
                <a16:creationId xmlns:a16="http://schemas.microsoft.com/office/drawing/2014/main" id="{2AAD578F-83A8-4EF1-8B75-BD2B04BE23F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6" name="직사각형 15">
            <a:extLst>
              <a:ext uri="{FF2B5EF4-FFF2-40B4-BE49-F238E27FC236}">
                <a16:creationId xmlns:a16="http://schemas.microsoft.com/office/drawing/2014/main" id="{D7184E17-5986-4F1D-9D4E-86734E124B1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57</a:t>
            </a:r>
            <a:endParaRPr sz="1050" b="0">
              <a:solidFill>
                <a:srgbClr val="151515"/>
              </a:solidFill>
              <a:latin typeface="Consolas" panose="020B0609020204030204" pitchFamily="49" charset="0"/>
            </a:endParaRPr>
          </a:p>
        </p:txBody>
      </p:sp>
      <p:cxnSp>
        <p:nvCxnSpPr>
          <p:cNvPr id="18" name="직선 연결선 17">
            <a:extLst>
              <a:ext uri="{FF2B5EF4-FFF2-40B4-BE49-F238E27FC236}">
                <a16:creationId xmlns:a16="http://schemas.microsoft.com/office/drawing/2014/main" id="{5C0ACEA5-5323-F6C1-A95A-184EC488361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14068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5C26C354-7B87-47C0-9CFC-6A62345AD4D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0CD5C62-DE91-4448-9F7D-6A3010D3C53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136AEB4-6B05-4E47-A608-D6BFE7A2646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양쪽 구간도 같은 방식으로 정렬</a:t>
            </a:r>
          </a:p>
        </p:txBody>
      </p:sp>
      <p:sp>
        <p:nvSpPr>
          <p:cNvPr id="4" name="직사각형 3">
            <a:extLst>
              <a:ext uri="{FF2B5EF4-FFF2-40B4-BE49-F238E27FC236}">
                <a16:creationId xmlns:a16="http://schemas.microsoft.com/office/drawing/2014/main" id="{DA5E3017-AA8B-4CA8-ACA2-385DC6A5E9F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다음 호출: [lo, p − 1]과 [p + 1, hi]</a:t>
            </a:r>
          </a:p>
          <a:p>
            <a:pPr>
              <a:defRPr sz="2025" b="0">
                <a:solidFill>
                  <a:srgbClr val="151515"/>
                </a:solidFill>
              </a:defRPr>
            </a:pPr>
            <a:r>
              <a:rPr sz="2025" b="0">
                <a:solidFill>
                  <a:srgbClr val="151515"/>
                </a:solidFill>
                <a:latin typeface="Malgun Gothic" panose="020B0503020000020004" pitchFamily="50" charset="-127"/>
              </a:rPr>
              <a:t>왼쪽 [3, 4, 1]은 아직 정렬해야 한다.</a:t>
            </a:r>
          </a:p>
          <a:p>
            <a:pPr>
              <a:defRPr sz="2025" b="0">
                <a:solidFill>
                  <a:srgbClr val="151515"/>
                </a:solidFill>
              </a:defRPr>
            </a:pPr>
            <a:r>
              <a:rPr sz="2025" b="0">
                <a:solidFill>
                  <a:srgbClr val="151515"/>
                </a:solidFill>
                <a:latin typeface="Malgun Gothic" panose="020B0503020000020004" pitchFamily="50" charset="-127"/>
              </a:rPr>
              <a:t>구간에 원소가 하나 이하이면 종료한다.</a:t>
            </a:r>
          </a:p>
        </p:txBody>
      </p:sp>
      <p:sp>
        <p:nvSpPr>
          <p:cNvPr id="5" name="직사각형 4">
            <a:extLst>
              <a:ext uri="{FF2B5EF4-FFF2-40B4-BE49-F238E27FC236}">
                <a16:creationId xmlns:a16="http://schemas.microsoft.com/office/drawing/2014/main" id="{6AADDEE6-FCAE-426D-89CF-BC623E2E3DF9}"/>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직후</a:t>
            </a:r>
          </a:p>
        </p:txBody>
      </p:sp>
      <p:graphicFrame>
        <p:nvGraphicFramePr>
          <p:cNvPr id="6" name="표 5">
            <a:extLst>
              <a:ext uri="{FF2B5EF4-FFF2-40B4-BE49-F238E27FC236}">
                <a16:creationId xmlns:a16="http://schemas.microsoft.com/office/drawing/2014/main" id="{4B549A1E-9438-48F7-BE14-63C0E874E4E1}"/>
              </a:ext>
            </a:extLst>
          </p:cNvPr>
          <p:cNvGraphicFramePr/>
          <p:nvPr>
            <p:extLst>
              <p:ext uri="{D42A27DB-BD31-4B8C-83A1-F6EECF244321}">
                <p14:modId xmlns:p14="http://schemas.microsoft.com/office/powerpoint/2010/main" val="1639373270"/>
              </p:ext>
            </p:extLst>
          </p:nvPr>
        </p:nvGraphicFramePr>
        <p:xfrm>
          <a:off x="609600" y="338137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3  4  1</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9ED65CC-CDDA-4C37-AD56-9638678F4694}"/>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왼쪽도 정렬</a:t>
            </a:r>
          </a:p>
        </p:txBody>
      </p:sp>
      <p:graphicFrame>
        <p:nvGraphicFramePr>
          <p:cNvPr id="8" name="표 7">
            <a:extLst>
              <a:ext uri="{FF2B5EF4-FFF2-40B4-BE49-F238E27FC236}">
                <a16:creationId xmlns:a16="http://schemas.microsoft.com/office/drawing/2014/main" id="{EE650A33-77B4-4F07-8970-810C51361C81}"/>
              </a:ext>
            </a:extLst>
          </p:cNvPr>
          <p:cNvGraphicFramePr/>
          <p:nvPr>
            <p:extLst>
              <p:ext uri="{D42A27DB-BD31-4B8C-83A1-F6EECF244321}">
                <p14:modId xmlns:p14="http://schemas.microsoft.com/office/powerpoint/2010/main" val="2890879000"/>
              </p:ext>
            </p:extLst>
          </p:nvPr>
        </p:nvGraphicFramePr>
        <p:xfrm>
          <a:off x="609600" y="427672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1  3  4</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B20EBF2-F74D-4154-9D35-B5847EE4A8D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완성</a:t>
            </a:r>
          </a:p>
        </p:txBody>
      </p:sp>
      <p:graphicFrame>
        <p:nvGraphicFramePr>
          <p:cNvPr id="10" name="표 9">
            <a:extLst>
              <a:ext uri="{FF2B5EF4-FFF2-40B4-BE49-F238E27FC236}">
                <a16:creationId xmlns:a16="http://schemas.microsoft.com/office/drawing/2014/main" id="{3F623FB4-51D6-40F7-A1D3-5648DC3863F4}"/>
              </a:ext>
            </a:extLst>
          </p:cNvPr>
          <p:cNvGraphicFramePr/>
          <p:nvPr>
            <p:extLst>
              <p:ext uri="{D42A27DB-BD31-4B8C-83A1-F6EECF244321}">
                <p14:modId xmlns:p14="http://schemas.microsoft.com/office/powerpoint/2010/main" val="1612730112"/>
              </p:ext>
            </p:extLst>
          </p:nvPr>
        </p:nvGraphicFramePr>
        <p:xfrm>
          <a:off x="609600" y="5172075"/>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E1FECB1-23C6-4B96-A237-B898FC5CB994}"/>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2" name="직사각형 11">
            <a:extLst>
              <a:ext uri="{FF2B5EF4-FFF2-40B4-BE49-F238E27FC236}">
                <a16:creationId xmlns:a16="http://schemas.microsoft.com/office/drawing/2014/main" id="{6A3DA5FE-1C73-4FBB-8E1F-BD608D7CE9A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643C025E-7A3A-4D15-B116-FAC84E019E2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58</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FFC660BF-CD4C-EFD2-0E60-1306C3DA40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86111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62</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63</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64</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66</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A57F658-8EBF-4BC5-808E-C2448983DE34}"/>
              </a:ext>
            </a:extLst>
          </p:cNvPr>
          <p:cNvSpPr>
            <a:spLocks noGrp="1"/>
          </p:cNvSpPr>
          <p:nvPr/>
        </p:nvSpPr>
        <p:spPr>
          <a:xfrm>
            <a:off x="658368" y="1737360"/>
            <a:ext cx="5120640" cy="7315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A 회사의 지난 며칠간의 주가 등락폭(변동분) 데이터가 주어졌다. 목표는 가장 큰 이익을 낼 수 있는 연속된 구간을 찾는 것이다.</a:t>
            </a:r>
            <a:endParaRPr sz="1300"/>
          </a:p>
        </p:txBody>
      </p:sp>
      <p:sp>
        <p:nvSpPr>
          <p:cNvPr id="7" name="Shape 4">
            <a:extLst>
              <a:ext uri="{FF2B5EF4-FFF2-40B4-BE49-F238E27FC236}">
                <a16:creationId xmlns:a16="http://schemas.microsoft.com/office/drawing/2014/main" id="{F936956F-BC27-4A93-B863-6A4ABADE4686}"/>
              </a:ext>
            </a:extLst>
          </p:cNvPr>
          <p:cNvSpPr>
            <a:spLocks noGrp="1"/>
          </p:cNvSpPr>
          <p:nvPr/>
        </p:nvSpPr>
        <p:spPr>
          <a:xfrm>
            <a:off x="658368" y="2560320"/>
            <a:ext cx="713232" cy="603504"/>
          </a:xfrm>
          <a:prstGeom prst="roundRect">
            <a:avLst>
              <a:gd name="adj" fmla="val 13636"/>
            </a:avLst>
          </a:prstGeom>
          <a:solidFill>
            <a:srgbClr val="E9E9E9"/>
          </a:solidFill>
          <a:ln w="5715">
            <a:solidFill>
              <a:srgbClr val="D4D4D4"/>
            </a:solidFill>
          </a:ln>
        </p:spPr>
      </p:sp>
      <p:sp>
        <p:nvSpPr>
          <p:cNvPr id="8" name="Text 5">
            <a:extLst>
              <a:ext uri="{FF2B5EF4-FFF2-40B4-BE49-F238E27FC236}">
                <a16:creationId xmlns:a16="http://schemas.microsoft.com/office/drawing/2014/main" id="{0B41A4E1-5360-41EE-9644-18D4FD833B12}"/>
              </a:ext>
            </a:extLst>
          </p:cNvPr>
          <p:cNvSpPr>
            <a:spLocks noGrp="1"/>
          </p:cNvSpPr>
          <p:nvPr/>
        </p:nvSpPr>
        <p:spPr>
          <a:xfrm>
            <a:off x="6583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3</a:t>
            </a:r>
            <a:endParaRPr sz="1400"/>
          </a:p>
        </p:txBody>
      </p:sp>
      <p:sp>
        <p:nvSpPr>
          <p:cNvPr id="9" name="Text 6">
            <a:extLst>
              <a:ext uri="{FF2B5EF4-FFF2-40B4-BE49-F238E27FC236}">
                <a16:creationId xmlns:a16="http://schemas.microsoft.com/office/drawing/2014/main" id="{056BFA46-876F-4A82-AC84-1930BE8C9E88}"/>
              </a:ext>
            </a:extLst>
          </p:cNvPr>
          <p:cNvSpPr>
            <a:spLocks noGrp="1"/>
          </p:cNvSpPr>
          <p:nvPr/>
        </p:nvSpPr>
        <p:spPr>
          <a:xfrm>
            <a:off x="6583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1일</a:t>
            </a:r>
            <a:endParaRPr sz="900"/>
          </a:p>
        </p:txBody>
      </p:sp>
      <p:sp>
        <p:nvSpPr>
          <p:cNvPr id="10" name="Shape 7">
            <a:extLst>
              <a:ext uri="{FF2B5EF4-FFF2-40B4-BE49-F238E27FC236}">
                <a16:creationId xmlns:a16="http://schemas.microsoft.com/office/drawing/2014/main" id="{EBFA9C01-102A-4D37-9FE6-2CFE9BE888B9}"/>
              </a:ext>
            </a:extLst>
          </p:cNvPr>
          <p:cNvSpPr>
            <a:spLocks noGrp="1"/>
          </p:cNvSpPr>
          <p:nvPr/>
        </p:nvSpPr>
        <p:spPr>
          <a:xfrm>
            <a:off x="1481328" y="2560320"/>
            <a:ext cx="713232" cy="603504"/>
          </a:xfrm>
          <a:prstGeom prst="roundRect">
            <a:avLst>
              <a:gd name="adj" fmla="val 13636"/>
            </a:avLst>
          </a:prstGeom>
          <a:solidFill>
            <a:srgbClr val="E9E9E9"/>
          </a:solidFill>
          <a:ln w="5715">
            <a:solidFill>
              <a:srgbClr val="D4D4D4"/>
            </a:solidFill>
          </a:ln>
        </p:spPr>
      </p:sp>
      <p:sp>
        <p:nvSpPr>
          <p:cNvPr id="11" name="Text 8">
            <a:extLst>
              <a:ext uri="{FF2B5EF4-FFF2-40B4-BE49-F238E27FC236}">
                <a16:creationId xmlns:a16="http://schemas.microsoft.com/office/drawing/2014/main" id="{38F623CE-A409-49CD-A277-D588207EB7F2}"/>
              </a:ext>
            </a:extLst>
          </p:cNvPr>
          <p:cNvSpPr>
            <a:spLocks noGrp="1"/>
          </p:cNvSpPr>
          <p:nvPr/>
        </p:nvSpPr>
        <p:spPr>
          <a:xfrm>
            <a:off x="148132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-5</a:t>
            </a:r>
            <a:endParaRPr sz="1400"/>
          </a:p>
        </p:txBody>
      </p:sp>
      <p:sp>
        <p:nvSpPr>
          <p:cNvPr id="12" name="Text 9">
            <a:extLst>
              <a:ext uri="{FF2B5EF4-FFF2-40B4-BE49-F238E27FC236}">
                <a16:creationId xmlns:a16="http://schemas.microsoft.com/office/drawing/2014/main" id="{EA1AF2DB-DF32-42ED-B813-711B545BB03C}"/>
              </a:ext>
            </a:extLst>
          </p:cNvPr>
          <p:cNvSpPr>
            <a:spLocks noGrp="1"/>
          </p:cNvSpPr>
          <p:nvPr/>
        </p:nvSpPr>
        <p:spPr>
          <a:xfrm>
            <a:off x="148132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2일</a:t>
            </a:r>
            <a:endParaRPr sz="900"/>
          </a:p>
        </p:txBody>
      </p:sp>
      <p:sp>
        <p:nvSpPr>
          <p:cNvPr id="13" name="Shape 10">
            <a:extLst>
              <a:ext uri="{FF2B5EF4-FFF2-40B4-BE49-F238E27FC236}">
                <a16:creationId xmlns:a16="http://schemas.microsoft.com/office/drawing/2014/main" id="{6682C7E6-339D-4807-AC87-2FCB01132C33}"/>
              </a:ext>
            </a:extLst>
          </p:cNvPr>
          <p:cNvSpPr>
            <a:spLocks noGrp="1"/>
          </p:cNvSpPr>
          <p:nvPr/>
        </p:nvSpPr>
        <p:spPr>
          <a:xfrm>
            <a:off x="2304288" y="2560320"/>
            <a:ext cx="713232" cy="603504"/>
          </a:xfrm>
          <a:prstGeom prst="roundRect">
            <a:avLst>
              <a:gd name="adj" fmla="val 13636"/>
            </a:avLst>
          </a:prstGeom>
          <a:solidFill>
            <a:srgbClr val="E9E9E9"/>
          </a:solidFill>
          <a:ln w="5715">
            <a:solidFill>
              <a:srgbClr val="D4D4D4"/>
            </a:solidFill>
          </a:ln>
        </p:spPr>
      </p:sp>
      <p:sp>
        <p:nvSpPr>
          <p:cNvPr id="14" name="Text 11">
            <a:extLst>
              <a:ext uri="{FF2B5EF4-FFF2-40B4-BE49-F238E27FC236}">
                <a16:creationId xmlns:a16="http://schemas.microsoft.com/office/drawing/2014/main" id="{9431576A-4488-43F2-81D4-C11D64817759}"/>
              </a:ext>
            </a:extLst>
          </p:cNvPr>
          <p:cNvSpPr>
            <a:spLocks noGrp="1"/>
          </p:cNvSpPr>
          <p:nvPr/>
        </p:nvSpPr>
        <p:spPr>
          <a:xfrm>
            <a:off x="230428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12</a:t>
            </a:r>
            <a:endParaRPr sz="1400"/>
          </a:p>
        </p:txBody>
      </p:sp>
      <p:sp>
        <p:nvSpPr>
          <p:cNvPr id="15" name="Text 12">
            <a:extLst>
              <a:ext uri="{FF2B5EF4-FFF2-40B4-BE49-F238E27FC236}">
                <a16:creationId xmlns:a16="http://schemas.microsoft.com/office/drawing/2014/main" id="{F65A70CF-8955-4E7C-8773-A5A95199A417}"/>
              </a:ext>
            </a:extLst>
          </p:cNvPr>
          <p:cNvSpPr>
            <a:spLocks noGrp="1"/>
          </p:cNvSpPr>
          <p:nvPr/>
        </p:nvSpPr>
        <p:spPr>
          <a:xfrm>
            <a:off x="230428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3일</a:t>
            </a:r>
            <a:endParaRPr sz="900"/>
          </a:p>
        </p:txBody>
      </p:sp>
      <p:sp>
        <p:nvSpPr>
          <p:cNvPr id="16" name="Shape 13">
            <a:extLst>
              <a:ext uri="{FF2B5EF4-FFF2-40B4-BE49-F238E27FC236}">
                <a16:creationId xmlns:a16="http://schemas.microsoft.com/office/drawing/2014/main" id="{93292094-A34D-4CB1-8B79-CC83A7575D6F}"/>
              </a:ext>
            </a:extLst>
          </p:cNvPr>
          <p:cNvSpPr>
            <a:spLocks noGrp="1"/>
          </p:cNvSpPr>
          <p:nvPr/>
        </p:nvSpPr>
        <p:spPr>
          <a:xfrm>
            <a:off x="3127248" y="2560320"/>
            <a:ext cx="713232" cy="603504"/>
          </a:xfrm>
          <a:prstGeom prst="roundRect">
            <a:avLst>
              <a:gd name="adj" fmla="val 13636"/>
            </a:avLst>
          </a:prstGeom>
          <a:solidFill>
            <a:srgbClr val="E9E9E9"/>
          </a:solidFill>
          <a:ln w="5715">
            <a:solidFill>
              <a:srgbClr val="D4D4D4"/>
            </a:solidFill>
          </a:ln>
        </p:spPr>
      </p:sp>
      <p:sp>
        <p:nvSpPr>
          <p:cNvPr id="17" name="Text 14">
            <a:extLst>
              <a:ext uri="{FF2B5EF4-FFF2-40B4-BE49-F238E27FC236}">
                <a16:creationId xmlns:a16="http://schemas.microsoft.com/office/drawing/2014/main" id="{D63394F1-2017-4AA5-8ADA-158272F19090}"/>
              </a:ext>
            </a:extLst>
          </p:cNvPr>
          <p:cNvSpPr>
            <a:spLocks noGrp="1"/>
          </p:cNvSpPr>
          <p:nvPr/>
        </p:nvSpPr>
        <p:spPr>
          <a:xfrm>
            <a:off x="312724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-2</a:t>
            </a:r>
            <a:endParaRPr sz="1400"/>
          </a:p>
        </p:txBody>
      </p:sp>
      <p:sp>
        <p:nvSpPr>
          <p:cNvPr id="18" name="Text 15">
            <a:extLst>
              <a:ext uri="{FF2B5EF4-FFF2-40B4-BE49-F238E27FC236}">
                <a16:creationId xmlns:a16="http://schemas.microsoft.com/office/drawing/2014/main" id="{9379583C-A066-42EA-A674-DE75011B4C10}"/>
              </a:ext>
            </a:extLst>
          </p:cNvPr>
          <p:cNvSpPr>
            <a:spLocks noGrp="1"/>
          </p:cNvSpPr>
          <p:nvPr/>
        </p:nvSpPr>
        <p:spPr>
          <a:xfrm>
            <a:off x="312724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4일</a:t>
            </a:r>
            <a:endParaRPr sz="900"/>
          </a:p>
        </p:txBody>
      </p:sp>
      <p:sp>
        <p:nvSpPr>
          <p:cNvPr id="19" name="Shape 16">
            <a:extLst>
              <a:ext uri="{FF2B5EF4-FFF2-40B4-BE49-F238E27FC236}">
                <a16:creationId xmlns:a16="http://schemas.microsoft.com/office/drawing/2014/main" id="{5FD19B53-42C3-4658-8416-6BC3B4A923BA}"/>
              </a:ext>
            </a:extLst>
          </p:cNvPr>
          <p:cNvSpPr>
            <a:spLocks noGrp="1"/>
          </p:cNvSpPr>
          <p:nvPr/>
        </p:nvSpPr>
        <p:spPr>
          <a:xfrm>
            <a:off x="3950208" y="2560320"/>
            <a:ext cx="713232" cy="603504"/>
          </a:xfrm>
          <a:prstGeom prst="roundRect">
            <a:avLst>
              <a:gd name="adj" fmla="val 13636"/>
            </a:avLst>
          </a:prstGeom>
          <a:solidFill>
            <a:srgbClr val="E9E9E9"/>
          </a:solidFill>
          <a:ln w="5715">
            <a:solidFill>
              <a:srgbClr val="D4D4D4"/>
            </a:solidFill>
          </a:ln>
        </p:spPr>
      </p:sp>
      <p:sp>
        <p:nvSpPr>
          <p:cNvPr id="20" name="Text 17">
            <a:extLst>
              <a:ext uri="{FF2B5EF4-FFF2-40B4-BE49-F238E27FC236}">
                <a16:creationId xmlns:a16="http://schemas.microsoft.com/office/drawing/2014/main" id="{6B90FDC7-F6C3-4E80-857F-96F6D4F1894B}"/>
              </a:ext>
            </a:extLst>
          </p:cNvPr>
          <p:cNvSpPr>
            <a:spLocks noGrp="1"/>
          </p:cNvSpPr>
          <p:nvPr/>
        </p:nvSpPr>
        <p:spPr>
          <a:xfrm>
            <a:off x="395020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7</a:t>
            </a:r>
            <a:endParaRPr sz="1400"/>
          </a:p>
        </p:txBody>
      </p:sp>
      <p:sp>
        <p:nvSpPr>
          <p:cNvPr id="21" name="Text 18">
            <a:extLst>
              <a:ext uri="{FF2B5EF4-FFF2-40B4-BE49-F238E27FC236}">
                <a16:creationId xmlns:a16="http://schemas.microsoft.com/office/drawing/2014/main" id="{DC1147E0-CE60-4BFD-9701-C22CBADC77B7}"/>
              </a:ext>
            </a:extLst>
          </p:cNvPr>
          <p:cNvSpPr>
            <a:spLocks noGrp="1"/>
          </p:cNvSpPr>
          <p:nvPr/>
        </p:nvSpPr>
        <p:spPr>
          <a:xfrm>
            <a:off x="395020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5일</a:t>
            </a:r>
            <a:endParaRPr sz="900"/>
          </a:p>
        </p:txBody>
      </p:sp>
      <p:sp>
        <p:nvSpPr>
          <p:cNvPr id="22" name="Shape 19">
            <a:extLst>
              <a:ext uri="{FF2B5EF4-FFF2-40B4-BE49-F238E27FC236}">
                <a16:creationId xmlns:a16="http://schemas.microsoft.com/office/drawing/2014/main" id="{E95AD2C2-9BE2-4737-B81D-4DF49BD699CB}"/>
              </a:ext>
            </a:extLst>
          </p:cNvPr>
          <p:cNvSpPr>
            <a:spLocks noGrp="1"/>
          </p:cNvSpPr>
          <p:nvPr/>
        </p:nvSpPr>
        <p:spPr>
          <a:xfrm>
            <a:off x="4773168" y="2560320"/>
            <a:ext cx="713232" cy="603504"/>
          </a:xfrm>
          <a:prstGeom prst="roundRect">
            <a:avLst>
              <a:gd name="adj" fmla="val 13636"/>
            </a:avLst>
          </a:prstGeom>
          <a:solidFill>
            <a:srgbClr val="E9E9E9"/>
          </a:solidFill>
          <a:ln w="5715">
            <a:solidFill>
              <a:srgbClr val="D4D4D4"/>
            </a:solidFill>
          </a:ln>
        </p:spPr>
      </p:sp>
      <p:sp>
        <p:nvSpPr>
          <p:cNvPr id="23" name="Text 20">
            <a:extLst>
              <a:ext uri="{FF2B5EF4-FFF2-40B4-BE49-F238E27FC236}">
                <a16:creationId xmlns:a16="http://schemas.microsoft.com/office/drawing/2014/main" id="{8A016E59-091E-43F1-964D-8B083AA58148}"/>
              </a:ext>
            </a:extLst>
          </p:cNvPr>
          <p:cNvSpPr>
            <a:spLocks noGrp="1"/>
          </p:cNvSpPr>
          <p:nvPr/>
        </p:nvSpPr>
        <p:spPr>
          <a:xfrm>
            <a:off x="47731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-9</a:t>
            </a:r>
            <a:endParaRPr sz="1400"/>
          </a:p>
        </p:txBody>
      </p:sp>
      <p:sp>
        <p:nvSpPr>
          <p:cNvPr id="24" name="Text 21">
            <a:extLst>
              <a:ext uri="{FF2B5EF4-FFF2-40B4-BE49-F238E27FC236}">
                <a16:creationId xmlns:a16="http://schemas.microsoft.com/office/drawing/2014/main" id="{652B97AD-7357-4947-AB65-584C546B815C}"/>
              </a:ext>
            </a:extLst>
          </p:cNvPr>
          <p:cNvSpPr>
            <a:spLocks noGrp="1"/>
          </p:cNvSpPr>
          <p:nvPr/>
        </p:nvSpPr>
        <p:spPr>
          <a:xfrm>
            <a:off x="47731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6일</a:t>
            </a:r>
            <a:endParaRPr sz="900"/>
          </a:p>
        </p:txBody>
      </p:sp>
      <p:sp>
        <p:nvSpPr>
          <p:cNvPr id="28" name="Text 24">
            <a:extLst>
              <a:ext uri="{FF2B5EF4-FFF2-40B4-BE49-F238E27FC236}">
                <a16:creationId xmlns:a16="http://schemas.microsoft.com/office/drawing/2014/main" id="{4AADAE5A-5CBB-4895-BF10-76488FF33A47}"/>
              </a:ext>
            </a:extLst>
          </p:cNvPr>
          <p:cNvSpPr>
            <a:spLocks noGrp="1"/>
          </p:cNvSpPr>
          <p:nvPr/>
        </p:nvSpPr>
        <p:spPr>
          <a:xfrm>
            <a:off x="1517904" y="3767328"/>
            <a:ext cx="4005072" cy="78638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처음부터 끝까지 들고 있었다면?  3 − 5 + 12 − 2 + 7 − 9 = 6</a:t>
            </a:r>
            <a:endParaRPr sz="1250"/>
          </a:p>
        </p:txBody>
      </p:sp>
      <p:sp>
        <p:nvSpPr>
          <p:cNvPr id="32" name="Text 27">
            <a:extLst>
              <a:ext uri="{FF2B5EF4-FFF2-40B4-BE49-F238E27FC236}">
                <a16:creationId xmlns:a16="http://schemas.microsoft.com/office/drawing/2014/main" id="{41B205AD-7075-4D55-A8B1-A106B28AC056}"/>
              </a:ext>
            </a:extLst>
          </p:cNvPr>
          <p:cNvSpPr>
            <a:spLocks noGrp="1"/>
          </p:cNvSpPr>
          <p:nvPr/>
        </p:nvSpPr>
        <p:spPr>
          <a:xfrm>
            <a:off x="1517904" y="5010912"/>
            <a:ext cx="4005072" cy="896112"/>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3~5일 차 변동분을 합하면?  12 + (−2) + 7 = 17  ← 최대!</a:t>
            </a:r>
            <a:endParaRPr sz="1250"/>
          </a:p>
        </p:txBody>
      </p:sp>
      <p:sp>
        <p:nvSpPr>
          <p:cNvPr id="40" name="직사각형 39">
            <a:extLst>
              <a:ext uri="{FF2B5EF4-FFF2-40B4-BE49-F238E27FC236}">
                <a16:creationId xmlns:a16="http://schemas.microsoft.com/office/drawing/2014/main" id="{9C7E1893-B5B2-43B0-9127-B924A4791C05}"/>
              </a:ext>
            </a:extLst>
          </p:cNvPr>
          <p:cNvSpPr>
            <a:spLocks noGrp="1"/>
          </p:cNvSpPr>
          <p:nvPr/>
        </p:nvSpPr>
        <p:spPr>
          <a:xfrm>
            <a:off x="658368" y="3602736"/>
            <a:ext cx="512064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9A592C4B-8250-4255-873E-D6019B0C3FC3}"/>
              </a:ext>
            </a:extLst>
          </p:cNvPr>
          <p:cNvSpPr>
            <a:spLocks noGrp="1"/>
          </p:cNvSpPr>
          <p:nvPr/>
        </p:nvSpPr>
        <p:spPr>
          <a:xfrm>
            <a:off x="658368" y="4846320"/>
            <a:ext cx="512064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990B98A-2966-474A-B915-8B4060C16145}"/>
              </a:ext>
            </a:extLst>
          </p:cNvPr>
          <p:cNvSpPr>
            <a:spLocks noGrp="1"/>
          </p:cNvSpPr>
          <p:nvPr/>
        </p:nvSpPr>
        <p:spPr>
          <a:xfrm>
            <a:off x="6126480" y="1737360"/>
            <a:ext cx="540410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90A1FAD5-5612-4975-9922-F1C6A7204BB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4B8FEC28-DC0D-4681-99E6-45AFB8C0104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5" name="직사각형 44">
            <a:extLst>
              <a:ext uri="{FF2B5EF4-FFF2-40B4-BE49-F238E27FC236}">
                <a16:creationId xmlns:a16="http://schemas.microsoft.com/office/drawing/2014/main" id="{9C897387-82DB-4CC6-A06F-A21BF80EB73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가장 큰 이익을 내는 구간은?</a:t>
            </a:r>
          </a:p>
        </p:txBody>
      </p:sp>
      <p:sp>
        <p:nvSpPr>
          <p:cNvPr id="46" name="직사각형 45">
            <a:extLst>
              <a:ext uri="{FF2B5EF4-FFF2-40B4-BE49-F238E27FC236}">
                <a16:creationId xmlns:a16="http://schemas.microsoft.com/office/drawing/2014/main" id="{F5207DAF-7452-468B-8FB4-7DF5B006B22C}"/>
              </a:ext>
            </a:extLst>
          </p:cNvPr>
          <p:cNvSpPr>
            <a:spLocks noGrp="1"/>
          </p:cNvSpPr>
          <p:nvPr/>
        </p:nvSpPr>
        <p:spPr>
          <a:xfrm>
            <a:off x="609600" y="1381125"/>
            <a:ext cx="10972800" cy="19050"/>
          </a:xfrm>
          <a:prstGeom prst="rect">
            <a:avLst/>
          </a:prstGeom>
          <a:solidFill>
            <a:srgbClr val="171717"/>
          </a:solidFill>
          <a:ln w="0">
            <a:noFill/>
          </a:ln>
        </p:spPr>
      </p:sp>
      <p:sp>
        <p:nvSpPr>
          <p:cNvPr id="47" name="직사각형 46">
            <a:extLst>
              <a:ext uri="{FF2B5EF4-FFF2-40B4-BE49-F238E27FC236}">
                <a16:creationId xmlns:a16="http://schemas.microsoft.com/office/drawing/2014/main" id="{1B3F1404-6958-44F0-8CE2-6F09476AAC32}"/>
              </a:ext>
            </a:extLst>
          </p:cNvPr>
          <p:cNvSpPr>
            <a:spLocks noGrp="1"/>
          </p:cNvSpPr>
          <p:nvPr/>
        </p:nvSpPr>
        <p:spPr>
          <a:xfrm>
            <a:off x="609600" y="6438900"/>
            <a:ext cx="10972800" cy="9525"/>
          </a:xfrm>
          <a:prstGeom prst="rect">
            <a:avLst/>
          </a:prstGeom>
          <a:solidFill>
            <a:srgbClr val="D4D4D4"/>
          </a:solidFill>
          <a:ln w="0">
            <a:noFill/>
          </a:ln>
        </p:spPr>
      </p:sp>
      <p:sp>
        <p:nvSpPr>
          <p:cNvPr id="48" name="직사각형 47">
            <a:extLst>
              <a:ext uri="{FF2B5EF4-FFF2-40B4-BE49-F238E27FC236}">
                <a16:creationId xmlns:a16="http://schemas.microsoft.com/office/drawing/2014/main" id="{CC57FA98-294E-44CC-8237-D2FE35A93F1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9" name="직사각형 48">
            <a:extLst>
              <a:ext uri="{FF2B5EF4-FFF2-40B4-BE49-F238E27FC236}">
                <a16:creationId xmlns:a16="http://schemas.microsoft.com/office/drawing/2014/main" id="{F8BB6713-380B-4870-97CC-8F0DC3F9E6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67</a:t>
            </a:r>
            <a:endParaRPr sz="1050" b="1" i="0">
              <a:solidFill>
                <a:srgbClr val="171717"/>
              </a:solidFill>
              <a:latin typeface="Consolas"/>
              <a:ea typeface="Consolas"/>
              <a:cs typeface="Consolas"/>
            </a:endParaRPr>
          </a:p>
        </p:txBody>
      </p:sp>
      <p:graphicFrame>
        <p:nvGraphicFramePr>
          <p:cNvPr id="85" name="Chart"/>
          <p:cNvGraphicFramePr/>
          <p:nvPr/>
        </p:nvGraphicFramePr>
        <p:xfrm>
          <a:off x="6105525" y="2352675"/>
          <a:ext cx="538162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 name="직사각형 50">
            <a:extLst>
              <a:ext uri="{FF2B5EF4-FFF2-40B4-BE49-F238E27FC236}">
                <a16:creationId xmlns:a16="http://schemas.microsoft.com/office/drawing/2014/main" id="{84B33900-D492-4F83-AD41-4C6BAAFBA4DC}"/>
              </a:ext>
            </a:extLst>
          </p:cNvPr>
          <p:cNvSpPr>
            <a:spLocks noGrp="1"/>
          </p:cNvSpPr>
          <p:nvPr/>
        </p:nvSpPr>
        <p:spPr>
          <a:xfrm>
            <a:off x="6286500" y="1990725"/>
            <a:ext cx="5200650" cy="333375"/>
          </a:xfrm>
          <a:prstGeom prst="rect">
            <a:avLst/>
          </a:prstGeom>
          <a:noFill/>
          <a:ln w="0">
            <a:noFill/>
          </a:ln>
        </p:spPr>
        <p:txBody>
          <a:bodyPr>
            <a:noAutofit/>
          </a:bodyPr>
          <a:lstStyle/>
          <a:p>
            <a:pPr>
              <a:defRPr sz="1425">
                <a:solidFill>
                  <a:srgbClr val="606060"/>
                </a:solidFill>
                <a:latin typeface="Malgun Gothic"/>
                <a:ea typeface="Malgun Gothic"/>
                <a:cs typeface="Malgun Gothic"/>
              </a:defRPr>
            </a:pPr>
            <a:r>
              <a:rPr sz="1425">
                <a:solidFill>
                  <a:srgbClr val="606060"/>
                </a:solidFill>
                <a:latin typeface="Malgun Gothic"/>
                <a:ea typeface="Malgun Gothic"/>
                <a:cs typeface="Malgun Gothic"/>
              </a:rPr>
              <a:t>일별 손익 변화</a:t>
            </a:r>
          </a:p>
        </p:txBody>
      </p:sp>
      <p:sp>
        <p:nvSpPr>
          <p:cNvPr id="52" name="직사각형 51">
            <a:extLst>
              <a:ext uri="{FF2B5EF4-FFF2-40B4-BE49-F238E27FC236}">
                <a16:creationId xmlns:a16="http://schemas.microsoft.com/office/drawing/2014/main" id="{42D497F8-2FF3-43E6-9176-DED0F9365BF4}"/>
              </a:ext>
            </a:extLst>
          </p:cNvPr>
          <p:cNvSpPr>
            <a:spLocks noGrp="1"/>
          </p:cNvSpPr>
          <p:nvPr/>
        </p:nvSpPr>
        <p:spPr>
          <a:xfrm>
            <a:off x="6477000" y="5591175"/>
            <a:ext cx="4953000" cy="409575"/>
          </a:xfrm>
          <a:prstGeom prst="rect">
            <a:avLst/>
          </a:prstGeom>
          <a:noFill/>
          <a:ln w="0">
            <a:noFill/>
          </a:ln>
        </p:spPr>
        <p:txBody>
          <a:bodyPr>
            <a:noAutofit/>
          </a:bodyPr>
          <a:lstStyle/>
          <a:p>
            <a:pPr>
              <a:defRPr sz="1875" b="1">
                <a:solidFill>
                  <a:srgbClr val="171717"/>
                </a:solidFill>
                <a:latin typeface="Malgun Gothic"/>
                <a:ea typeface="Malgun Gothic"/>
                <a:cs typeface="Malgun Gothic"/>
              </a:defRPr>
            </a:pPr>
            <a:r>
              <a:rPr sz="1875" b="1">
                <a:solidFill>
                  <a:srgbClr val="171717"/>
                </a:solidFill>
                <a:latin typeface="Malgun Gothic"/>
                <a:ea typeface="Malgun Gothic"/>
                <a:cs typeface="Malgun Gothic"/>
              </a:rPr>
              <a:t>3~5일: 12 − 2 + 7 = 17</a:t>
            </a:r>
          </a:p>
        </p:txBody>
      </p:sp>
      <p:pic>
        <p:nvPicPr>
          <p:cNvPr id="88" name="그림 87"/>
          <p:cNvPicPr>
            <a:picLocks noChangeAspect="1"/>
          </p:cNvPicPr>
          <p:nvPr/>
        </p:nvPicPr>
        <p:blipFill>
          <a:blip r:embed="rId4"/>
          <a:stretch/>
        </p:blipFill>
        <p:spPr>
          <a:xfrm>
            <a:off x="685800" y="3990975"/>
            <a:ext cx="704850" cy="704850"/>
          </a:xfrm>
          <a:prstGeom prst="rect">
            <a:avLst/>
          </a:prstGeom>
        </p:spPr>
      </p:pic>
    </p:spTree>
    <p:extLst>
      <p:ext uri="{BB962C8B-B14F-4D97-AF65-F5344CB8AC3E}">
        <p14:creationId xmlns:p14="http://schemas.microsoft.com/office/powerpoint/2010/main" val="66934721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204DF36C-87C7-49FB-A6F1-064590EDD40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D3927C97-75BB-488B-AE25-10F616C94F7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5FAE6CEB-5E75-446F-9C3B-5C8C78F4A8A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직관적인 접근의 한계</a:t>
            </a:r>
          </a:p>
        </p:txBody>
      </p:sp>
      <p:sp>
        <p:nvSpPr>
          <p:cNvPr id="39" name="직사각형 38">
            <a:extLst>
              <a:ext uri="{FF2B5EF4-FFF2-40B4-BE49-F238E27FC236}">
                <a16:creationId xmlns:a16="http://schemas.microsoft.com/office/drawing/2014/main" id="{EA80965C-18C2-4DFE-B3E2-2D4B3BBE8AB2}"/>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564B9E9D-032C-48CE-9A03-4347748FC3BA}"/>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AA3AACB1-1B55-4D5D-BFB0-37DA1A3E4B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CC141146-44AA-4800-9C21-7D73181050E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68</a:t>
            </a:r>
            <a:endParaRPr sz="1050" b="1" i="0">
              <a:solidFill>
                <a:srgbClr val="171717"/>
              </a:solidFill>
              <a:latin typeface="Consolas"/>
              <a:ea typeface="Consolas"/>
              <a:cs typeface="Consolas"/>
            </a:endParaRPr>
          </a:p>
        </p:txBody>
      </p:sp>
      <p:sp>
        <p:nvSpPr>
          <p:cNvPr id="43" name="직사각형 42">
            <a:extLst>
              <a:ext uri="{FF2B5EF4-FFF2-40B4-BE49-F238E27FC236}">
                <a16:creationId xmlns:a16="http://schemas.microsoft.com/office/drawing/2014/main" id="{8F136F04-7463-4109-8319-0FF65A945AC0}"/>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완전 탐색은 가능한 모든 시작점과 끝점을 확인한다. 비어 있지 않은 연속 구간의 개수는 n(n + 1)/2이다.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 → 5,050개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 → 500,500개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100,000 → 5,000,050,000개</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시작점을 고정하고 끝점을 늘리며 합을 갱신하면 O(n²)에 모든 구간을 조사할 수 있다.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매 구간의 합을 처음부터 다시 계산하면 O(n³)까지 늘어난다.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구간 수 자체가 많으므로 더 빠른 방법이 필요하다.</a:t>
            </a:r>
          </a:p>
        </p:txBody>
      </p:sp>
      <p:pic>
        <p:nvPicPr>
          <p:cNvPr id="53" name="그림 52"/>
          <p:cNvPicPr>
            <a:picLocks noChangeAspect="1"/>
          </p:cNvPicPr>
          <p:nvPr/>
        </p:nvPicPr>
        <p:blipFill>
          <a:blip r:embed="rId3"/>
          <a:stretch/>
        </p:blipFill>
        <p:spPr>
          <a:xfrm>
            <a:off x="7315200" y="2164049"/>
            <a:ext cx="4171950" cy="3196651"/>
          </a:xfrm>
          <a:prstGeom prst="rect">
            <a:avLst/>
          </a:prstGeom>
        </p:spPr>
      </p:pic>
    </p:spTree>
    <p:extLst>
      <p:ext uri="{BB962C8B-B14F-4D97-AF65-F5344CB8AC3E}">
        <p14:creationId xmlns:p14="http://schemas.microsoft.com/office/powerpoint/2010/main" val="18218199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직사각형 28">
            <a:extLst>
              <a:ext uri="{FF2B5EF4-FFF2-40B4-BE49-F238E27FC236}">
                <a16:creationId xmlns:a16="http://schemas.microsoft.com/office/drawing/2014/main" id="{D1A13B5F-F5C2-4877-BAE2-1E5F7A651CF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85CEB7B2-18C5-421F-AFFB-A051ACA41E2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E8AF46F-E22F-4BEA-8A0B-4C37E8C45CA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셋 중 하나에는 반드시 있다!</a:t>
            </a:r>
          </a:p>
        </p:txBody>
      </p:sp>
      <p:sp>
        <p:nvSpPr>
          <p:cNvPr id="32" name="직사각형 31">
            <a:extLst>
              <a:ext uri="{FF2B5EF4-FFF2-40B4-BE49-F238E27FC236}">
                <a16:creationId xmlns:a16="http://schemas.microsoft.com/office/drawing/2014/main" id="{E2F20191-3D01-453D-B8EC-EF90ADA56F91}"/>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60FB652E-060E-4D37-B493-1F5CECF5CA2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42E214C-6CE3-4FB4-9010-58E232D795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5F12C696-5E82-4696-B0AE-FC6B6095BC9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69</a:t>
            </a:r>
            <a:endParaRPr sz="1050" b="1" i="0">
              <a:solidFill>
                <a:srgbClr val="171717"/>
              </a:solidFill>
              <a:latin typeface="Consolas"/>
              <a:ea typeface="Consolas"/>
              <a:cs typeface="Consolas"/>
            </a:endParaRPr>
          </a:p>
        </p:txBody>
      </p:sp>
      <p:sp>
        <p:nvSpPr>
          <p:cNvPr id="36" name="직사각형 35">
            <a:extLst>
              <a:ext uri="{FF2B5EF4-FFF2-40B4-BE49-F238E27FC236}">
                <a16:creationId xmlns:a16="http://schemas.microsoft.com/office/drawing/2014/main" id="{37AD1750-5AD1-43C1-9601-308608A515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배열을 절반으로 나누면 최대 구간은 다음 세 경우 중 하나에 속한다.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왼쪽에만 존재 → 왼쪽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오른쪽에만 존재 → 오른쪽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경계를 가로지름 → 왼쪽 최대 접미 합과 오른쪽 최대 접두 합을 더한다.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정답 = max(leftMax, rightMax, crossMax)</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세 경우를 모두 비교하므로 최대 구간을 놓치지 않는다.</a:t>
            </a:r>
          </a:p>
        </p:txBody>
      </p:sp>
      <p:pic>
        <p:nvPicPr>
          <p:cNvPr id="46" name="그림 45"/>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972811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4A188B-FDA0-4AAF-9AAB-0EBC2D14F4A1}"/>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걸친 구간을 처리하는 부분이 분할 정복 알고리즘에서 가장 까다롭다. 핵심은 "걸친 구간은 반드시 중앙(mid)을 포함해야 한다"는 것이다. 우리가 찾는 것은 왼쪽 동네와 오른쪽 동네를 연결하는 다리 같은 구간이다.</a:t>
            </a:r>
            <a:endParaRPr sz="1300"/>
          </a:p>
        </p:txBody>
      </p:sp>
      <p:sp>
        <p:nvSpPr>
          <p:cNvPr id="12" name="Text 7">
            <a:extLst>
              <a:ext uri="{FF2B5EF4-FFF2-40B4-BE49-F238E27FC236}">
                <a16:creationId xmlns:a16="http://schemas.microsoft.com/office/drawing/2014/main" id="{DB0341F7-5DA4-4343-B7AC-100A2D02AF27}"/>
              </a:ext>
            </a:extLst>
          </p:cNvPr>
          <p:cNvSpPr>
            <a:spLocks noGrp="1"/>
          </p:cNvSpPr>
          <p:nvPr/>
        </p:nvSpPr>
        <p:spPr>
          <a:xfrm>
            <a:off x="1517904" y="5669280"/>
            <a:ext cx="9756648" cy="384048"/>
          </a:xfrm>
          <a:prstGeom prst="rect">
            <a:avLst/>
          </a:prstGeom>
          <a:noFill/>
          <a:ln w="0">
            <a:noFill/>
          </a:ln>
        </p:spPr>
        <p:txBody>
          <a:bodyPr wrap="square" lIns="0" tIns="0" rIns="0" bIns="0" anchor="ctr">
            <a:noAutofit/>
          </a:bodyPr>
          <a:lstStyle/>
          <a:p>
            <a:pPr marL="0" indent="0" algn="l">
              <a:lnSpc>
                <a:spcPct val="134000"/>
              </a:lnSpc>
              <a:buNone/>
              <a:defRPr sz="1230" i="0">
                <a:solidFill>
                  <a:srgbClr val="606060"/>
                </a:solidFill>
                <a:latin typeface="Malgun Gothic"/>
                <a:ea typeface="Malgun Gothic"/>
                <a:cs typeface="Malgun Gothic"/>
              </a:defRPr>
            </a:pPr>
            <a:r>
              <a:rPr sz="1230" i="0">
                <a:solidFill>
                  <a:srgbClr val="606060"/>
                </a:solidFill>
                <a:latin typeface="Malgun Gothic"/>
                <a:ea typeface="Malgun Gothic"/>
                <a:cs typeface="Malgun Gothic"/>
              </a:rPr>
              <a:t>mid에서 왼쪽으로 훑으며 최대 합(leftSum), mid+1에서 오른쪽으로 훑으며 최대 합(rightSum). 둘을 더하면 걸친 구간의 최대 합이다.</a:t>
            </a:r>
            <a:endParaRPr sz="1230"/>
          </a:p>
        </p:txBody>
      </p:sp>
      <p:sp>
        <p:nvSpPr>
          <p:cNvPr id="16" name="직사각형 15">
            <a:extLst>
              <a:ext uri="{FF2B5EF4-FFF2-40B4-BE49-F238E27FC236}">
                <a16:creationId xmlns:a16="http://schemas.microsoft.com/office/drawing/2014/main" id="{ECF1DBC9-0F5A-4182-AEC2-EFDC315A2C70}"/>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9CEB29E3-A288-4924-B793-69E6667A712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18" name="직사각형 17">
            <a:extLst>
              <a:ext uri="{FF2B5EF4-FFF2-40B4-BE49-F238E27FC236}">
                <a16:creationId xmlns:a16="http://schemas.microsoft.com/office/drawing/2014/main" id="{03E7AA60-2205-461D-AB91-204A179D995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EB0BE622-9090-4D58-B149-928857A6E95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'걸친 구간' 처리하기</a:t>
            </a:r>
          </a:p>
        </p:txBody>
      </p:sp>
      <p:sp>
        <p:nvSpPr>
          <p:cNvPr id="20" name="직사각형 19">
            <a:extLst>
              <a:ext uri="{FF2B5EF4-FFF2-40B4-BE49-F238E27FC236}">
                <a16:creationId xmlns:a16="http://schemas.microsoft.com/office/drawing/2014/main" id="{FE1EF1BA-40D1-40DC-94E9-6A6725906CFE}"/>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9BC940B0-2249-4EBC-996E-1C0F01390448}"/>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0ED2B516-8F96-47F8-885A-CB9BAA6A043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D7FB1687-2348-443B-8668-37D7940E928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70</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3601736" y="2523744"/>
            <a:ext cx="4985384" cy="2724912"/>
          </a:xfrm>
          <a:prstGeom prst="rect">
            <a:avLst/>
          </a:prstGeom>
        </p:spPr>
      </p:pic>
    </p:spTree>
    <p:extLst>
      <p:ext uri="{BB962C8B-B14F-4D97-AF65-F5344CB8AC3E}">
        <p14:creationId xmlns:p14="http://schemas.microsoft.com/office/powerpoint/2010/main" val="12001524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85F22F59-915D-406E-8AC7-FF2507F37316}"/>
              </a:ext>
            </a:extLst>
          </p:cNvPr>
          <p:cNvSpPr>
            <a:spLocks noGrp="1"/>
          </p:cNvSpPr>
          <p:nvPr/>
        </p:nvSpPr>
        <p:spPr>
          <a:xfrm>
            <a:off x="859536" y="1801368"/>
            <a:ext cx="64008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max_subarray.pseudo</a:t>
            </a:r>
            <a:endParaRPr sz="900"/>
          </a:p>
        </p:txBody>
      </p:sp>
      <p:sp>
        <p:nvSpPr>
          <p:cNvPr id="17" name="Text 13">
            <a:extLst>
              <a:ext uri="{FF2B5EF4-FFF2-40B4-BE49-F238E27FC236}">
                <a16:creationId xmlns:a16="http://schemas.microsoft.com/office/drawing/2014/main" id="{29A50C1D-9CD5-4EC1-B9A0-0606A160B98D}"/>
              </a:ext>
            </a:extLst>
          </p:cNvPr>
          <p:cNvSpPr>
            <a:spLocks noGrp="1"/>
          </p:cNvSpPr>
          <p:nvPr/>
        </p:nvSpPr>
        <p:spPr>
          <a:xfrm>
            <a:off x="8229600" y="183794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기저 사례</a:t>
            </a:r>
            <a:endParaRPr sz="1150"/>
          </a:p>
        </p:txBody>
      </p:sp>
      <p:sp>
        <p:nvSpPr>
          <p:cNvPr id="18" name="Text 14">
            <a:extLst>
              <a:ext uri="{FF2B5EF4-FFF2-40B4-BE49-F238E27FC236}">
                <a16:creationId xmlns:a16="http://schemas.microsoft.com/office/drawing/2014/main" id="{9F233074-B814-41E3-A593-8B315471DCC1}"/>
              </a:ext>
            </a:extLst>
          </p:cNvPr>
          <p:cNvSpPr>
            <a:spLocks noGrp="1"/>
          </p:cNvSpPr>
          <p:nvPr/>
        </p:nvSpPr>
        <p:spPr>
          <a:xfrm>
            <a:off x="8229600" y="207568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low == high 이면 원소가 하나뿐이므로 그 값이 곧 최대 구간 합이다.</a:t>
            </a:r>
            <a:endParaRPr sz="1010"/>
          </a:p>
        </p:txBody>
      </p:sp>
      <p:sp>
        <p:nvSpPr>
          <p:cNvPr id="22" name="Text 17">
            <a:extLst>
              <a:ext uri="{FF2B5EF4-FFF2-40B4-BE49-F238E27FC236}">
                <a16:creationId xmlns:a16="http://schemas.microsoft.com/office/drawing/2014/main" id="{5D61AB5C-774B-4903-8992-92358E2DEDCB}"/>
              </a:ext>
            </a:extLst>
          </p:cNvPr>
          <p:cNvSpPr>
            <a:spLocks noGrp="1"/>
          </p:cNvSpPr>
          <p:nvPr/>
        </p:nvSpPr>
        <p:spPr>
          <a:xfrm>
            <a:off x="8229600" y="270662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분할</a:t>
            </a:r>
            <a:endParaRPr sz="1150"/>
          </a:p>
        </p:txBody>
      </p:sp>
      <p:sp>
        <p:nvSpPr>
          <p:cNvPr id="23" name="Text 18">
            <a:extLst>
              <a:ext uri="{FF2B5EF4-FFF2-40B4-BE49-F238E27FC236}">
                <a16:creationId xmlns:a16="http://schemas.microsoft.com/office/drawing/2014/main" id="{3ABBAACD-FA23-4085-AA4E-947BE4086A10}"/>
              </a:ext>
            </a:extLst>
          </p:cNvPr>
          <p:cNvSpPr>
            <a:spLocks noGrp="1"/>
          </p:cNvSpPr>
          <p:nvPr/>
        </p:nvSpPr>
        <p:spPr>
          <a:xfrm>
            <a:off x="8229600" y="294436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mid를 기준으로 왼쪽·오른쪽 두 개의 절반 문제로 나눈다.</a:t>
            </a:r>
            <a:endParaRPr sz="1010"/>
          </a:p>
        </p:txBody>
      </p:sp>
      <p:sp>
        <p:nvSpPr>
          <p:cNvPr id="27" name="Text 21">
            <a:extLst>
              <a:ext uri="{FF2B5EF4-FFF2-40B4-BE49-F238E27FC236}">
                <a16:creationId xmlns:a16="http://schemas.microsoft.com/office/drawing/2014/main" id="{067CD356-B81E-4C92-A275-239FAE7640A6}"/>
              </a:ext>
            </a:extLst>
          </p:cNvPr>
          <p:cNvSpPr>
            <a:spLocks noGrp="1"/>
          </p:cNvSpPr>
          <p:nvPr/>
        </p:nvSpPr>
        <p:spPr>
          <a:xfrm>
            <a:off x="8229600" y="357530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정복</a:t>
            </a:r>
            <a:endParaRPr sz="1150"/>
          </a:p>
        </p:txBody>
      </p:sp>
      <p:sp>
        <p:nvSpPr>
          <p:cNvPr id="28" name="Text 22">
            <a:extLst>
              <a:ext uri="{FF2B5EF4-FFF2-40B4-BE49-F238E27FC236}">
                <a16:creationId xmlns:a16="http://schemas.microsoft.com/office/drawing/2014/main" id="{A5CF09E0-A2E5-4B50-B5B4-97DD980F7D41}"/>
              </a:ext>
            </a:extLst>
          </p:cNvPr>
          <p:cNvSpPr>
            <a:spLocks noGrp="1"/>
          </p:cNvSpPr>
          <p:nvPr/>
        </p:nvSpPr>
        <p:spPr>
          <a:xfrm>
            <a:off x="8229600" y="381304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두 절반을 재귀 호출로 해결한다. 문제 크기는 매번 절반이 된다.</a:t>
            </a:r>
            <a:endParaRPr sz="1010"/>
          </a:p>
        </p:txBody>
      </p:sp>
      <p:sp>
        <p:nvSpPr>
          <p:cNvPr id="32" name="Text 25">
            <a:extLst>
              <a:ext uri="{FF2B5EF4-FFF2-40B4-BE49-F238E27FC236}">
                <a16:creationId xmlns:a16="http://schemas.microsoft.com/office/drawing/2014/main" id="{0364A5C6-8108-4250-8EA4-1FCA11F362CC}"/>
              </a:ext>
            </a:extLst>
          </p:cNvPr>
          <p:cNvSpPr>
            <a:spLocks noGrp="1"/>
          </p:cNvSpPr>
          <p:nvPr/>
        </p:nvSpPr>
        <p:spPr>
          <a:xfrm>
            <a:off x="8229600" y="444398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결합</a:t>
            </a:r>
            <a:endParaRPr sz="1150"/>
          </a:p>
        </p:txBody>
      </p:sp>
      <p:sp>
        <p:nvSpPr>
          <p:cNvPr id="33" name="Text 26">
            <a:extLst>
              <a:ext uri="{FF2B5EF4-FFF2-40B4-BE49-F238E27FC236}">
                <a16:creationId xmlns:a16="http://schemas.microsoft.com/office/drawing/2014/main" id="{E2D6256D-BFBA-483A-8EC2-B45677CABB04}"/>
              </a:ext>
            </a:extLst>
          </p:cNvPr>
          <p:cNvSpPr>
            <a:spLocks noGrp="1"/>
          </p:cNvSpPr>
          <p:nvPr/>
        </p:nvSpPr>
        <p:spPr>
          <a:xfrm>
            <a:off x="8229600" y="468172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걸친 구간을 계산하고, 세 후보 중 최댓값을 돌려준다.</a:t>
            </a:r>
            <a:endParaRPr sz="1010"/>
          </a:p>
        </p:txBody>
      </p:sp>
      <p:sp>
        <p:nvSpPr>
          <p:cNvPr id="35" name="Text 28">
            <a:extLst>
              <a:ext uri="{FF2B5EF4-FFF2-40B4-BE49-F238E27FC236}">
                <a16:creationId xmlns:a16="http://schemas.microsoft.com/office/drawing/2014/main" id="{4061A13B-FED0-4C0F-85B8-6B5CA4D3F2D1}"/>
              </a:ext>
            </a:extLst>
          </p:cNvPr>
          <p:cNvSpPr>
            <a:spLocks noGrp="1"/>
          </p:cNvSpPr>
          <p:nvPr/>
        </p:nvSpPr>
        <p:spPr>
          <a:xfrm>
            <a:off x="795528" y="5321808"/>
            <a:ext cx="10597896" cy="749808"/>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2T(n/2) + O(n)</a:t>
            </a:r>
            <a:endParaRPr sz="1800"/>
          </a:p>
        </p:txBody>
      </p:sp>
      <p:sp>
        <p:nvSpPr>
          <p:cNvPr id="37" name="직사각형 36">
            <a:extLst>
              <a:ext uri="{FF2B5EF4-FFF2-40B4-BE49-F238E27FC236}">
                <a16:creationId xmlns:a16="http://schemas.microsoft.com/office/drawing/2014/main" id="{3DF83E61-1CC9-4DCF-B791-2CD7D9B0A769}"/>
              </a:ext>
            </a:extLst>
          </p:cNvPr>
          <p:cNvSpPr>
            <a:spLocks noGrp="1"/>
          </p:cNvSpPr>
          <p:nvPr/>
        </p:nvSpPr>
        <p:spPr>
          <a:xfrm>
            <a:off x="7607808" y="1783080"/>
            <a:ext cx="392277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E76E2CC6-E952-4E32-A162-63141D23714F}"/>
              </a:ext>
            </a:extLst>
          </p:cNvPr>
          <p:cNvSpPr>
            <a:spLocks noGrp="1"/>
          </p:cNvSpPr>
          <p:nvPr/>
        </p:nvSpPr>
        <p:spPr>
          <a:xfrm>
            <a:off x="698373" y="2090928"/>
            <a:ext cx="6741414" cy="29977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MaxSubarraySum(A,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 then    // 기저 사례: 원소가 하나</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leftMax  &lt;- MaxSubarraySum(A,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rightMax &lt;- MaxSubarraySum(A,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crossMax &lt;- 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max(leftMax, rightMax, crossMax)</a:t>
            </a:r>
          </a:p>
        </p:txBody>
      </p:sp>
      <p:sp>
        <p:nvSpPr>
          <p:cNvPr id="39" name="직사각형 38">
            <a:extLst>
              <a:ext uri="{FF2B5EF4-FFF2-40B4-BE49-F238E27FC236}">
                <a16:creationId xmlns:a16="http://schemas.microsoft.com/office/drawing/2014/main" id="{37F7417E-0EFD-4A76-AB09-B12DB6160A0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BEAD41D2-B6B8-48A4-8409-6D83D3B9A57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7956F4C1-ABF0-400E-B19C-430695F1C2B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(메인)</a:t>
            </a:r>
          </a:p>
        </p:txBody>
      </p:sp>
      <p:sp>
        <p:nvSpPr>
          <p:cNvPr id="42" name="직사각형 41">
            <a:extLst>
              <a:ext uri="{FF2B5EF4-FFF2-40B4-BE49-F238E27FC236}">
                <a16:creationId xmlns:a16="http://schemas.microsoft.com/office/drawing/2014/main" id="{835BD58C-2422-460D-BA54-C7E3CBA4895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187A862D-3FC8-4699-AF83-A207F2113F28}"/>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74657DB9-BE22-4B43-B2EB-F4A840CD913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6ACA8B73-6F64-4198-A4CD-A3B1ECF3430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968863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29F31B-7361-4766-B6D2-C40AACC29C2C}"/>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max_crossing.pseudo</a:t>
            </a:r>
            <a:endParaRPr sz="900"/>
          </a:p>
        </p:txBody>
      </p:sp>
      <p:sp>
        <p:nvSpPr>
          <p:cNvPr id="17" name="Text 13">
            <a:extLst>
              <a:ext uri="{FF2B5EF4-FFF2-40B4-BE49-F238E27FC236}">
                <a16:creationId xmlns:a16="http://schemas.microsoft.com/office/drawing/2014/main" id="{17C139C8-5113-4AB1-AD7F-8A9AE9735540}"/>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왜 −∞ 로 초기화하는가?</a:t>
            </a:r>
            <a:endParaRPr sz="1250"/>
          </a:p>
        </p:txBody>
      </p:sp>
      <p:sp>
        <p:nvSpPr>
          <p:cNvPr id="18" name="Text 14">
            <a:extLst>
              <a:ext uri="{FF2B5EF4-FFF2-40B4-BE49-F238E27FC236}">
                <a16:creationId xmlns:a16="http://schemas.microsoft.com/office/drawing/2014/main" id="{BDB50999-B29C-491A-AB41-4141C57E7BF7}"/>
              </a:ext>
            </a:extLst>
          </p:cNvPr>
          <p:cNvSpPr>
            <a:spLocks noGrp="1"/>
          </p:cNvSpPr>
          <p:nvPr/>
        </p:nvSpPr>
        <p:spPr>
          <a:xfrm>
            <a:off x="8604504" y="2313432"/>
            <a:ext cx="2670048" cy="786384"/>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모든 원소가 음수인 배열에서도 올바른 최댓값을 찾기 위해서다. 0으로 초기화하면 "아무것도 안 고르는 것"이 최선이 되어 버린다.</a:t>
            </a:r>
            <a:endParaRPr sz="1100"/>
          </a:p>
        </p:txBody>
      </p:sp>
      <p:sp>
        <p:nvSpPr>
          <p:cNvPr id="22" name="Text 17">
            <a:extLst>
              <a:ext uri="{FF2B5EF4-FFF2-40B4-BE49-F238E27FC236}">
                <a16:creationId xmlns:a16="http://schemas.microsoft.com/office/drawing/2014/main" id="{25835E87-C639-47B5-B251-E0C979B847F7}"/>
              </a:ext>
            </a:extLst>
          </p:cNvPr>
          <p:cNvSpPr>
            <a:spLocks noGrp="1"/>
          </p:cNvSpPr>
          <p:nvPr/>
        </p:nvSpPr>
        <p:spPr>
          <a:xfrm>
            <a:off x="8604504" y="3621024"/>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mid를 반드시 포함한다</a:t>
            </a:r>
            <a:endParaRPr sz="1250"/>
          </a:p>
        </p:txBody>
      </p:sp>
      <p:sp>
        <p:nvSpPr>
          <p:cNvPr id="23" name="Text 18">
            <a:extLst>
              <a:ext uri="{FF2B5EF4-FFF2-40B4-BE49-F238E27FC236}">
                <a16:creationId xmlns:a16="http://schemas.microsoft.com/office/drawing/2014/main" id="{8097490A-2F01-4CF1-ADC6-455A8C8810CB}"/>
              </a:ext>
            </a:extLst>
          </p:cNvPr>
          <p:cNvSpPr>
            <a:spLocks noGrp="1"/>
          </p:cNvSpPr>
          <p:nvPr/>
        </p:nvSpPr>
        <p:spPr>
          <a:xfrm>
            <a:off x="8604504" y="3968496"/>
            <a:ext cx="2670048"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스캔은 mid에서 출발하고 오른쪽 스캔은 mid+1에서 출발하므로, 두 구간은 항상 경계선을 가로지른다.</a:t>
            </a:r>
            <a:endParaRPr sz="1100"/>
          </a:p>
        </p:txBody>
      </p:sp>
      <p:sp>
        <p:nvSpPr>
          <p:cNvPr id="25" name="Text 20">
            <a:extLst>
              <a:ext uri="{FF2B5EF4-FFF2-40B4-BE49-F238E27FC236}">
                <a16:creationId xmlns:a16="http://schemas.microsoft.com/office/drawing/2014/main" id="{6B946887-0EC2-4E87-9228-E0ADE64B7FA7}"/>
              </a:ext>
            </a:extLst>
          </p:cNvPr>
          <p:cNvSpPr>
            <a:spLocks noGrp="1"/>
          </p:cNvSpPr>
          <p:nvPr/>
        </p:nvSpPr>
        <p:spPr>
          <a:xfrm>
            <a:off x="7882128" y="4956048"/>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비용: O(n)</a:t>
            </a:r>
            <a:endParaRPr sz="1600"/>
          </a:p>
        </p:txBody>
      </p:sp>
      <p:sp>
        <p:nvSpPr>
          <p:cNvPr id="27" name="직사각형 26">
            <a:extLst>
              <a:ext uri="{FF2B5EF4-FFF2-40B4-BE49-F238E27FC236}">
                <a16:creationId xmlns:a16="http://schemas.microsoft.com/office/drawing/2014/main" id="{D19743F3-D9B5-4C2F-9A9C-AEBAFFB1AD19}"/>
              </a:ext>
            </a:extLst>
          </p:cNvPr>
          <p:cNvSpPr>
            <a:spLocks noGrp="1"/>
          </p:cNvSpPr>
          <p:nvPr/>
        </p:nvSpPr>
        <p:spPr>
          <a:xfrm>
            <a:off x="7744968" y="1783080"/>
            <a:ext cx="3785616"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9E1D910-BE70-4308-87C5-99DE44A0822F}"/>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mid downto low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leftSum then leftSum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mid + 1 to high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rightSum then rightSum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leftSum + rightSum</a:t>
            </a:r>
          </a:p>
        </p:txBody>
      </p:sp>
      <p:sp>
        <p:nvSpPr>
          <p:cNvPr id="29" name="직사각형 28">
            <a:extLst>
              <a:ext uri="{FF2B5EF4-FFF2-40B4-BE49-F238E27FC236}">
                <a16:creationId xmlns:a16="http://schemas.microsoft.com/office/drawing/2014/main" id="{D360D68A-1A0D-4E08-9E29-92420A49786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AF0F6064-E940-4B0A-9910-C22211787C9F}"/>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9501E52F-7C00-4A99-A1AA-6FC8E01B8F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(걸친 구간)</a:t>
            </a:r>
          </a:p>
        </p:txBody>
      </p:sp>
      <p:sp>
        <p:nvSpPr>
          <p:cNvPr id="32" name="직사각형 31">
            <a:extLst>
              <a:ext uri="{FF2B5EF4-FFF2-40B4-BE49-F238E27FC236}">
                <a16:creationId xmlns:a16="http://schemas.microsoft.com/office/drawing/2014/main" id="{C0AE94CE-C66A-4CA9-A2FC-A183D0E1DF55}"/>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4535C265-0841-4004-9FEA-3CE902BA432A}"/>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3BD4624-56DD-4EEB-8284-E10304A2E2A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0C01E632-F4BD-46C2-83D9-25A97745B35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87624431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EFABF8F-933F-4E3B-8560-FA92F2E4C541}"/>
              </a:ext>
            </a:extLst>
          </p:cNvPr>
          <p:cNvSpPr>
            <a:spLocks noGrp="1"/>
          </p:cNvSpPr>
          <p:nvPr/>
        </p:nvSpPr>
        <p:spPr>
          <a:xfrm>
            <a:off x="859536" y="1801368"/>
            <a:ext cx="71323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max_crossing_sum.py</a:t>
            </a:r>
            <a:endParaRPr sz="900"/>
          </a:p>
        </p:txBody>
      </p:sp>
      <p:sp>
        <p:nvSpPr>
          <p:cNvPr id="17" name="Text 13">
            <a:extLst>
              <a:ext uri="{FF2B5EF4-FFF2-40B4-BE49-F238E27FC236}">
                <a16:creationId xmlns:a16="http://schemas.microsoft.com/office/drawing/2014/main" id="{0235F74B-FD9D-40E3-8C61-338883D9AF87}"/>
              </a:ext>
            </a:extLst>
          </p:cNvPr>
          <p:cNvSpPr>
            <a:spLocks noGrp="1"/>
          </p:cNvSpPr>
          <p:nvPr/>
        </p:nvSpPr>
        <p:spPr>
          <a:xfrm>
            <a:off x="9198864" y="196596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range의 끝은 포함되지 않는다</a:t>
            </a:r>
            <a:endParaRPr sz="1200"/>
          </a:p>
        </p:txBody>
      </p:sp>
      <p:sp>
        <p:nvSpPr>
          <p:cNvPr id="18" name="Text 14">
            <a:extLst>
              <a:ext uri="{FF2B5EF4-FFF2-40B4-BE49-F238E27FC236}">
                <a16:creationId xmlns:a16="http://schemas.microsoft.com/office/drawing/2014/main" id="{7E95B23A-2D6A-4310-806C-D75BA0B7D19A}"/>
              </a:ext>
            </a:extLst>
          </p:cNvPr>
          <p:cNvSpPr>
            <a:spLocks noGrp="1"/>
          </p:cNvSpPr>
          <p:nvPr/>
        </p:nvSpPr>
        <p:spPr>
          <a:xfrm>
            <a:off x="9198864" y="2313432"/>
            <a:ext cx="2075688" cy="114300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mid부터 low까지 거꾸로 돌려면 range(mid, low − 1, −1)로 써야 low가 포함된다.</a:t>
            </a:r>
            <a:endParaRPr sz="1080"/>
          </a:p>
        </p:txBody>
      </p:sp>
      <p:sp>
        <p:nvSpPr>
          <p:cNvPr id="22" name="Text 17">
            <a:extLst>
              <a:ext uri="{FF2B5EF4-FFF2-40B4-BE49-F238E27FC236}">
                <a16:creationId xmlns:a16="http://schemas.microsoft.com/office/drawing/2014/main" id="{23BE23EE-53CF-4E0D-B86A-589F5ED79E88}"/>
              </a:ext>
            </a:extLst>
          </p:cNvPr>
          <p:cNvSpPr>
            <a:spLocks noGrp="1"/>
          </p:cNvSpPr>
          <p:nvPr/>
        </p:nvSpPr>
        <p:spPr>
          <a:xfrm>
            <a:off x="9198864" y="397764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한 번의 선형 스캔</a:t>
            </a:r>
            <a:endParaRPr sz="1200"/>
          </a:p>
        </p:txBody>
      </p:sp>
      <p:sp>
        <p:nvSpPr>
          <p:cNvPr id="23" name="Text 18">
            <a:extLst>
              <a:ext uri="{FF2B5EF4-FFF2-40B4-BE49-F238E27FC236}">
                <a16:creationId xmlns:a16="http://schemas.microsoft.com/office/drawing/2014/main" id="{7D58712E-7228-481F-A184-C316B48A16F6}"/>
              </a:ext>
            </a:extLst>
          </p:cNvPr>
          <p:cNvSpPr>
            <a:spLocks noGrp="1"/>
          </p:cNvSpPr>
          <p:nvPr/>
        </p:nvSpPr>
        <p:spPr>
          <a:xfrm>
            <a:off x="9198864" y="4325112"/>
            <a:ext cx="2075688" cy="1371600"/>
          </a:xfrm>
          <a:prstGeom prst="rect">
            <a:avLst/>
          </a:prstGeom>
          <a:noFill/>
          <a:ln w="0">
            <a:noFill/>
          </a:ln>
        </p:spPr>
        <p:txBody>
          <a:bodyPr wrap="square" lIns="0" tIns="0" rIns="0" bIns="0" anchor="t">
            <a:noAutofit/>
          </a:bodyPr>
          <a:lstStyle/>
          <a:p>
            <a:pPr marL="0" indent="0" algn="l">
              <a:lnSpc>
                <a:spcPct val="132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왼쪽 스캔과 오른쪽 스캔 모두 각 원소를 한 번씩만 훑는다. 따라서 이 함수의 비용은 구간 길이에 비례하는 O(n)이다.</a:t>
            </a:r>
            <a:endParaRPr sz="1080"/>
          </a:p>
        </p:txBody>
      </p:sp>
      <p:sp>
        <p:nvSpPr>
          <p:cNvPr id="25" name="직사각형 24">
            <a:extLst>
              <a:ext uri="{FF2B5EF4-FFF2-40B4-BE49-F238E27FC236}">
                <a16:creationId xmlns:a16="http://schemas.microsoft.com/office/drawing/2014/main" id="{B4E1626C-2F70-4422-A023-417036C51B06}"/>
              </a:ext>
            </a:extLst>
          </p:cNvPr>
          <p:cNvSpPr>
            <a:spLocks noGrp="1"/>
          </p:cNvSpPr>
          <p:nvPr/>
        </p:nvSpPr>
        <p:spPr>
          <a:xfrm>
            <a:off x="8339328" y="1783080"/>
            <a:ext cx="3191256"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48C2580C-AE2B-4786-8DAF-D84A53426332}"/>
              </a:ext>
            </a:extLst>
          </p:cNvPr>
          <p:cNvSpPr>
            <a:spLocks noGrp="1"/>
          </p:cNvSpPr>
          <p:nvPr/>
        </p:nvSpPr>
        <p:spPr>
          <a:xfrm>
            <a:off x="8339328" y="3794760"/>
            <a:ext cx="3191256"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C7128CB5-81F5-4198-89CD-26A431F10A4C}"/>
              </a:ext>
            </a:extLst>
          </p:cNvPr>
          <p:cNvSpPr>
            <a:spLocks noGrp="1"/>
          </p:cNvSpPr>
          <p:nvPr/>
        </p:nvSpPr>
        <p:spPr>
          <a:xfrm>
            <a:off x="698373" y="2090928"/>
            <a:ext cx="747293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def max_crossing_sum(arr, low, mid, high):</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low - 1,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left_sum: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+ 1, high + 1):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right_sum: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return left_sum + right_sum</a:t>
            </a:r>
          </a:p>
        </p:txBody>
      </p:sp>
      <p:sp>
        <p:nvSpPr>
          <p:cNvPr id="28" name="직사각형 27">
            <a:extLst>
              <a:ext uri="{FF2B5EF4-FFF2-40B4-BE49-F238E27FC236}">
                <a16:creationId xmlns:a16="http://schemas.microsoft.com/office/drawing/2014/main" id="{1003254D-DA76-4FF6-B669-5FE82F08DF5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6262A71E-4B9D-495A-A82F-2E1354FD007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DE463BFD-83CD-4F34-834C-27D5CED29AF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걸친 구간 (combine)</a:t>
            </a:r>
          </a:p>
        </p:txBody>
      </p:sp>
      <p:sp>
        <p:nvSpPr>
          <p:cNvPr id="31" name="직사각형 30">
            <a:extLst>
              <a:ext uri="{FF2B5EF4-FFF2-40B4-BE49-F238E27FC236}">
                <a16:creationId xmlns:a16="http://schemas.microsoft.com/office/drawing/2014/main" id="{B3E7D7F4-8034-434C-944F-58BF3F0AAC2A}"/>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3B3E9446-3DEF-4334-A48C-5541723514DB}"/>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DDFBFC64-6683-4A35-8733-5D8BADDF427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E809C184-224B-42BC-B5E0-EBED5438911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7497731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6694097-DF91-43F6-85B0-2D9D15533034}"/>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max_subarray_sum.py</a:t>
            </a:r>
            <a:endParaRPr sz="900"/>
          </a:p>
        </p:txBody>
      </p:sp>
      <p:sp>
        <p:nvSpPr>
          <p:cNvPr id="20" name="Text 17">
            <a:extLst>
              <a:ext uri="{FF2B5EF4-FFF2-40B4-BE49-F238E27FC236}">
                <a16:creationId xmlns:a16="http://schemas.microsoft.com/office/drawing/2014/main" id="{015E184B-6612-4C13-86AB-283701B821E0}"/>
              </a:ext>
            </a:extLst>
          </p:cNvPr>
          <p:cNvSpPr>
            <a:spLocks noGrp="1"/>
          </p:cNvSpPr>
          <p:nvPr/>
        </p:nvSpPr>
        <p:spPr>
          <a:xfrm>
            <a:off x="859536" y="5029200"/>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C3EDFC22-4C07-4FF5-A424-B3534AB074D7}"/>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세 개의 후보</a:t>
            </a:r>
            <a:endParaRPr sz="1250"/>
          </a:p>
        </p:txBody>
      </p:sp>
      <p:sp>
        <p:nvSpPr>
          <p:cNvPr id="26" name="Text 22">
            <a:extLst>
              <a:ext uri="{FF2B5EF4-FFF2-40B4-BE49-F238E27FC236}">
                <a16:creationId xmlns:a16="http://schemas.microsoft.com/office/drawing/2014/main" id="{38633C52-421F-4EBB-9A57-B883A6EC1756}"/>
              </a:ext>
            </a:extLst>
          </p:cNvPr>
          <p:cNvSpPr>
            <a:spLocks noGrp="1"/>
          </p:cNvSpPr>
          <p:nvPr/>
        </p:nvSpPr>
        <p:spPr>
          <a:xfrm>
            <a:off x="8604504" y="2313432"/>
            <a:ext cx="2670048" cy="841248"/>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절반의 최대, 오른쪽 절반의 최대, 그리고 중앙을 걸친 최대. 파이썬 내장 max()로 셋 중 가장 큰 값을 고른다.</a:t>
            </a:r>
            <a:endParaRPr sz="1100"/>
          </a:p>
        </p:txBody>
      </p:sp>
      <p:sp>
        <p:nvSpPr>
          <p:cNvPr id="28" name="Text 24">
            <a:extLst>
              <a:ext uri="{FF2B5EF4-FFF2-40B4-BE49-F238E27FC236}">
                <a16:creationId xmlns:a16="http://schemas.microsoft.com/office/drawing/2014/main" id="{A5ACA81C-DB28-4CE9-A451-A7206D2910BC}"/>
              </a:ext>
            </a:extLst>
          </p:cNvPr>
          <p:cNvSpPr>
            <a:spLocks noGrp="1"/>
          </p:cNvSpPr>
          <p:nvPr/>
        </p:nvSpPr>
        <p:spPr>
          <a:xfrm>
            <a:off x="7927848" y="3611880"/>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28AA1030-8C4D-47E5-8A6F-5EEB7EB393D5}"/>
              </a:ext>
            </a:extLst>
          </p:cNvPr>
          <p:cNvSpPr>
            <a:spLocks noGrp="1"/>
          </p:cNvSpPr>
          <p:nvPr/>
        </p:nvSpPr>
        <p:spPr>
          <a:xfrm>
            <a:off x="7927848" y="3950208"/>
            <a:ext cx="3419856" cy="91440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주가 데이터: [3, -5, 12, -2, 7, -9, 5, 1]</a:t>
            </a:r>
            <a:endParaRPr sz="10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최대 구간 합(최대 이익): 17</a:t>
            </a:r>
            <a:endParaRPr sz="1000"/>
          </a:p>
        </p:txBody>
      </p:sp>
      <p:sp>
        <p:nvSpPr>
          <p:cNvPr id="31" name="Text 27">
            <a:extLst>
              <a:ext uri="{FF2B5EF4-FFF2-40B4-BE49-F238E27FC236}">
                <a16:creationId xmlns:a16="http://schemas.microsoft.com/office/drawing/2014/main" id="{3071CCC7-865C-4B13-A4F7-4B149C92ED91}"/>
              </a:ext>
            </a:extLst>
          </p:cNvPr>
          <p:cNvSpPr>
            <a:spLocks noGrp="1"/>
          </p:cNvSpPr>
          <p:nvPr/>
        </p:nvSpPr>
        <p:spPr>
          <a:xfrm>
            <a:off x="7882128" y="5175504"/>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T(n) = O(n log n)</a:t>
            </a:r>
            <a:endParaRPr sz="1600"/>
          </a:p>
        </p:txBody>
      </p:sp>
      <p:sp>
        <p:nvSpPr>
          <p:cNvPr id="33" name="직사각형 32">
            <a:extLst>
              <a:ext uri="{FF2B5EF4-FFF2-40B4-BE49-F238E27FC236}">
                <a16:creationId xmlns:a16="http://schemas.microsoft.com/office/drawing/2014/main" id="{D875A23D-6CD1-4EE5-8DF6-F04D4756A5C1}"/>
              </a:ext>
            </a:extLst>
          </p:cNvPr>
          <p:cNvSpPr>
            <a:spLocks noGrp="1"/>
          </p:cNvSpPr>
          <p:nvPr/>
        </p:nvSpPr>
        <p:spPr>
          <a:xfrm>
            <a:off x="7744968" y="1783080"/>
            <a:ext cx="378561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B71DFD00-1FF0-4DBE-8571-9104CC2F3622}"/>
              </a:ext>
            </a:extLst>
          </p:cNvPr>
          <p:cNvSpPr>
            <a:spLocks noGrp="1"/>
          </p:cNvSpPr>
          <p:nvPr/>
        </p:nvSpPr>
        <p:spPr>
          <a:xfrm>
            <a:off x="698373" y="2090928"/>
            <a:ext cx="6878574" cy="28148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max_subarray_sum(arr,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left_max  = max_subarray_sum(arr,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right_max = max_subarray_sum(arr,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cross_max = max_crossing_sum(arr,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max(left_max, right_max, cross_max)</a:t>
            </a:r>
          </a:p>
        </p:txBody>
      </p:sp>
      <p:sp>
        <p:nvSpPr>
          <p:cNvPr id="35" name="직사각형 34">
            <a:extLst>
              <a:ext uri="{FF2B5EF4-FFF2-40B4-BE49-F238E27FC236}">
                <a16:creationId xmlns:a16="http://schemas.microsoft.com/office/drawing/2014/main" id="{7847117D-7D52-414A-99DF-3D3734C46407}"/>
              </a:ext>
            </a:extLst>
          </p:cNvPr>
          <p:cNvSpPr>
            <a:spLocks noGrp="1"/>
          </p:cNvSpPr>
          <p:nvPr/>
        </p:nvSpPr>
        <p:spPr>
          <a:xfrm>
            <a:off x="698373" y="5318760"/>
            <a:ext cx="6878574" cy="867156"/>
          </a:xfrm>
          <a:prstGeom prst="rect">
            <a:avLst/>
          </a:prstGeom>
          <a:solidFill>
            <a:srgbClr val="171717"/>
          </a:solidFill>
          <a:ln w="0">
            <a:noFill/>
          </a:ln>
        </p:spPr>
        <p:txBody>
          <a:bodyPr wrap="none" lIns="142875" tIns="76200" rIns="142875" bIns="76200" anchor="t">
            <a:noAutofit/>
          </a:bodyPr>
          <a:lstStyle/>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stock_prices = [3, -5, 12, -2, 7, -9, 5,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n = len(stock_prices)</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max_profit = max_subarray_sum(stock_prices, 0, n - 1)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print(f"최대 구간 합(최대 이익): {max_profit}")</a:t>
            </a:r>
          </a:p>
        </p:txBody>
      </p:sp>
      <p:sp>
        <p:nvSpPr>
          <p:cNvPr id="36" name="직사각형 35">
            <a:extLst>
              <a:ext uri="{FF2B5EF4-FFF2-40B4-BE49-F238E27FC236}">
                <a16:creationId xmlns:a16="http://schemas.microsoft.com/office/drawing/2014/main" id="{9C2E04A8-302B-4AD6-89E7-6E99E25FE98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3DE34F45-5481-4274-8CAA-7D548311BAC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E489CF31-67C8-4385-B603-1F7B098CE66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메인</a:t>
            </a:r>
          </a:p>
        </p:txBody>
      </p:sp>
      <p:sp>
        <p:nvSpPr>
          <p:cNvPr id="39" name="직사각형 38">
            <a:extLst>
              <a:ext uri="{FF2B5EF4-FFF2-40B4-BE49-F238E27FC236}">
                <a16:creationId xmlns:a16="http://schemas.microsoft.com/office/drawing/2014/main" id="{FC76D691-AE44-4824-BA07-F008FA7B0FEE}"/>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EE63D6F8-70E9-4DC1-82CE-D7546FFC4E03}"/>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853F260F-BF81-49C9-85A7-A32BA91AC7E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01896AE6-B2AC-42E3-AE1B-7A31148832A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30440883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CBEA2B7-28E7-4007-AA37-998C50639B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3" name="직사각형 32">
            <a:extLst>
              <a:ext uri="{FF2B5EF4-FFF2-40B4-BE49-F238E27FC236}">
                <a16:creationId xmlns:a16="http://schemas.microsoft.com/office/drawing/2014/main" id="{1AD47630-52AD-4FB9-BB6F-D27E25CC4E9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276E967F-5653-47B9-A82B-E0919632ADC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시간 복잡도 분석</a:t>
            </a:r>
          </a:p>
        </p:txBody>
      </p:sp>
      <p:sp>
        <p:nvSpPr>
          <p:cNvPr id="35" name="직사각형 34">
            <a:extLst>
              <a:ext uri="{FF2B5EF4-FFF2-40B4-BE49-F238E27FC236}">
                <a16:creationId xmlns:a16="http://schemas.microsoft.com/office/drawing/2014/main" id="{0F36152E-462F-4644-9A85-62796292E255}"/>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02A676A7-6DAA-4E3C-91D5-88DA43DDBC40}"/>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DB955BD-4D75-4F19-B2E3-1E3BD7FF960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751EE579-87C5-4137-9493-86E2C213F27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75</a:t>
            </a:r>
            <a:endParaRPr sz="1050" b="1" i="0">
              <a:solidFill>
                <a:srgbClr val="171717"/>
              </a:solidFill>
              <a:latin typeface="Consolas"/>
              <a:ea typeface="Consolas"/>
              <a:cs typeface="Consolas"/>
            </a:endParaRPr>
          </a:p>
        </p:txBody>
      </p:sp>
      <p:sp>
        <p:nvSpPr>
          <p:cNvPr id="39" name="직사각형 38">
            <a:extLst>
              <a:ext uri="{FF2B5EF4-FFF2-40B4-BE49-F238E27FC236}">
                <a16:creationId xmlns:a16="http://schemas.microsoft.com/office/drawing/2014/main" id="{43FD8BA3-A1A1-4593-A7D7-EA4ABC9112C8}"/>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 중간 인덱스를 계산한다. O(1)</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정복 — 절반 크기의 두 문제를 푼다. 2T(n/2)</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 — 중앙에서 양쪽으로 훑어 경계를 가로지르는 최대 합을 구한다.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2T(n/2)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따라서 T(n) = O(n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병합</a:t>
            </a:r>
            <a:r>
              <a:rPr sz="1650">
                <a:solidFill>
                  <a:srgbClr val="171717"/>
                </a:solidFill>
                <a:latin typeface="Malgun Gothic"/>
                <a:ea typeface="Malgun Gothic"/>
                <a:cs typeface="Malgun Gothic"/>
              </a:rPr>
              <a:t> 정렬과 같은 형태의 점화식이다.</a:t>
            </a:r>
          </a:p>
        </p:txBody>
      </p:sp>
      <p:pic>
        <p:nvPicPr>
          <p:cNvPr id="49" name="그림 48"/>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22421094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76</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77</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78</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79</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80</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81</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84</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85</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86</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89</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90</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92</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93</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081E8C2-2B11-4F6C-B045-EEC943663534}"/>
              </a:ext>
            </a:extLst>
          </p:cNvPr>
          <p:cNvSpPr>
            <a:spLocks noGrp="1"/>
          </p:cNvSpPr>
          <p:nvPr/>
        </p:nvSpPr>
        <p:spPr>
          <a:xfrm>
            <a:off x="658368" y="1737360"/>
            <a:ext cx="10872216" cy="365760"/>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지금까지 만난 분할 정복 알고리즘들의 점화식을 마스터 정리로 정리하면 다음과 같다.</a:t>
            </a:r>
            <a:endParaRPr sz="1300"/>
          </a:p>
        </p:txBody>
      </p:sp>
      <p:graphicFrame>
        <p:nvGraphicFramePr>
          <p:cNvPr id="25" name="Table 0"/>
          <p:cNvGraphicFramePr/>
          <p:nvPr/>
        </p:nvGraphicFramePr>
        <p:xfrm>
          <a:off x="658368" y="2286000"/>
          <a:ext cx="10872216"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2459736">
                  <a:extLst>
                    <a:ext uri="{9D8B030D-6E8A-4147-A177-3AD203B41FA5}">
                      <a16:colId xmlns:a16="http://schemas.microsoft.com/office/drawing/2014/main" val="20006"/>
                    </a:ext>
                  </a:extLst>
                </a:gridCol>
              </a:tblGrid>
              <a:tr h="438912">
                <a:tc>
                  <a:txBody>
                    <a:bodyPr/>
                    <a:lstStyle/>
                    <a:p>
                      <a:pPr marL="0" indent="0" algn="ctr">
                        <a:buNone/>
                      </a:pPr>
                      <a:r>
                        <a:rPr sz="1100" b="1">
                          <a:solidFill>
                            <a:srgbClr val="FFFFFF"/>
                          </a:solidFill>
                          <a:latin typeface="Malgun Gothic"/>
                          <a:ea typeface="Malgun Gothic"/>
                          <a:cs typeface="Malgun Gothic"/>
                        </a:rPr>
                        <a:t>알고리즘</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점화식</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a</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b</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f(n)</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경우</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시간 복잡도</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438912">
                <a:tc>
                  <a:txBody>
                    <a:bodyPr/>
                    <a:lstStyle/>
                    <a:p>
                      <a:pPr marL="0" indent="0" algn="l">
                        <a:buNone/>
                      </a:pPr>
                      <a:r>
                        <a:rPr sz="1100" b="0">
                          <a:solidFill>
                            <a:srgbClr val="171717"/>
                          </a:solidFill>
                          <a:latin typeface="Malgun Gothic"/>
                          <a:ea typeface="Malgun Gothic"/>
                          <a:cs typeface="Malgun Gothic"/>
                        </a:rPr>
                        <a:t>이진 탐색</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T(n/2) + 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sz="1100" b="0">
                          <a:solidFill>
                            <a:srgbClr val="171717"/>
                          </a:solidFill>
                          <a:latin typeface="Malgun Gothic"/>
                          <a:ea typeface="Malgun Gothic"/>
                          <a:cs typeface="Malgun Gothic"/>
                        </a:rPr>
                        <a:t>합병 정렬</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438912">
                <a:tc>
                  <a:txBody>
                    <a:bodyPr/>
                    <a:lstStyle/>
                    <a:p>
                      <a:pPr marL="0" indent="0" algn="l">
                        <a:buNone/>
                      </a:pPr>
                      <a:r>
                        <a:rPr sz="1100" b="0">
                          <a:solidFill>
                            <a:srgbClr val="171717"/>
                          </a:solidFill>
                          <a:latin typeface="Malgun Gothic"/>
                          <a:ea typeface="Malgun Gothic"/>
                          <a:cs typeface="Malgun Gothic"/>
                        </a:rPr>
                        <a:t>최대 구간 합</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sz="1100" b="0">
                          <a:solidFill>
                            <a:srgbClr val="171717"/>
                          </a:solidFill>
                          <a:latin typeface="Malgun Gothic"/>
                          <a:ea typeface="Malgun Gothic"/>
                          <a:cs typeface="Malgun Gothic"/>
                        </a:rPr>
                        <a:t>최근접 쌍</a:t>
                      </a:r>
                      <a:endParaRPr sz="1100">
                        <a:latin typeface="Malgun Gothic"/>
                        <a:ea typeface="Malgun Gothic"/>
                        <a:cs typeface="Malgun Gothic"/>
                      </a:endParaRPr>
                    </a:p>
                    <a:p>
                      <a:pPr marL="0" indent="0" algn="l">
                        <a:buNone/>
                      </a:pPr>
                      <a:r>
                        <a:rPr sz="1100" b="0">
                          <a:solidFill>
                            <a:srgbClr val="171717"/>
                          </a:solidFill>
                          <a:latin typeface="Malgun Gothic"/>
                          <a:ea typeface="Malgun Gothic"/>
                          <a:cs typeface="Malgun Gothic"/>
                        </a:rPr>
                        <a:t>(y 정렬 유지)</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438912">
                <a:tc>
                  <a:txBody>
                    <a:bodyPr/>
                    <a:lstStyle/>
                    <a:p>
                      <a:pPr marL="0" indent="0" algn="l">
                        <a:buNone/>
                      </a:pPr>
                      <a:r>
                        <a:rPr sz="1100" b="0">
                          <a:solidFill>
                            <a:srgbClr val="171717"/>
                          </a:solidFill>
                          <a:latin typeface="Malgun Gothic"/>
                          <a:ea typeface="Malgun Gothic"/>
                          <a:cs typeface="Malgun Gothic"/>
                        </a:rPr>
                        <a:t>카라츠바 (§4.7)</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3T(n/2)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3</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O(n^1.585)</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sz="1100" b="0">
                          <a:solidFill>
                            <a:srgbClr val="171717"/>
                          </a:solidFill>
                          <a:latin typeface="Malgun Gothic"/>
                          <a:ea typeface="Malgun Gothic"/>
                          <a:cs typeface="Malgun Gothic"/>
                        </a:rPr>
                        <a:t>스트라센 (§4.8)</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7T(n/2) + 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O(n^2.807)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1" name="Text 6">
            <a:extLst>
              <a:ext uri="{FF2B5EF4-FFF2-40B4-BE49-F238E27FC236}">
                <a16:creationId xmlns:a16="http://schemas.microsoft.com/office/drawing/2014/main" id="{E90CC6FF-41A0-4C0E-9A4F-AC08BFEA6767}"/>
              </a:ext>
            </a:extLst>
          </p:cNvPr>
          <p:cNvSpPr>
            <a:spLocks noGrp="1"/>
          </p:cNvSpPr>
          <p:nvPr/>
        </p:nvSpPr>
        <p:spPr>
          <a:xfrm>
            <a:off x="1517904" y="5669280"/>
            <a:ext cx="9756648" cy="32918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재귀 호출 횟수 a를 줄이는 것이 가장 강력한 최적화다 — 다음 두 절의 주제다.</a:t>
            </a:r>
            <a:endParaRPr sz="1250"/>
          </a:p>
        </p:txBody>
      </p:sp>
      <p:sp>
        <p:nvSpPr>
          <p:cNvPr id="15" name="직사각형 14">
            <a:extLst>
              <a:ext uri="{FF2B5EF4-FFF2-40B4-BE49-F238E27FC236}">
                <a16:creationId xmlns:a16="http://schemas.microsoft.com/office/drawing/2014/main" id="{0BB678FE-851C-482D-A427-FDA6EF0AC240}"/>
              </a:ext>
            </a:extLst>
          </p:cNvPr>
          <p:cNvSpPr>
            <a:spLocks noGrp="1"/>
          </p:cNvSpPr>
          <p:nvPr/>
        </p:nvSpPr>
        <p:spPr>
          <a:xfrm>
            <a:off x="658368" y="5504688"/>
            <a:ext cx="10872216" cy="9525"/>
          </a:xfrm>
          <a:prstGeom prst="rect">
            <a:avLst/>
          </a:prstGeom>
          <a:solidFill>
            <a:srgbClr val="D4D4D4"/>
          </a:solidFill>
          <a:ln w="0">
            <a:noFill/>
          </a:ln>
        </p:spPr>
      </p:sp>
      <p:sp>
        <p:nvSpPr>
          <p:cNvPr id="16" name="직사각형 15">
            <a:extLst>
              <a:ext uri="{FF2B5EF4-FFF2-40B4-BE49-F238E27FC236}">
                <a16:creationId xmlns:a16="http://schemas.microsoft.com/office/drawing/2014/main" id="{0A5E924D-BD23-4F02-9AE5-1923C594D5B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4263B057-D6BB-4351-BE1E-E3E9979E50B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E6E499A2-ACA6-44F4-AE14-6B96BD8A1A1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한눈에 보는 점화식 정리</a:t>
            </a:r>
          </a:p>
        </p:txBody>
      </p:sp>
      <p:sp>
        <p:nvSpPr>
          <p:cNvPr id="19" name="직사각형 18">
            <a:extLst>
              <a:ext uri="{FF2B5EF4-FFF2-40B4-BE49-F238E27FC236}">
                <a16:creationId xmlns:a16="http://schemas.microsoft.com/office/drawing/2014/main" id="{915DC30A-B664-41EF-91B0-AB7528CA9060}"/>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2974D0E8-97D4-47A1-B6AF-91CB8AD1CDF1}"/>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5059B5C8-A498-493F-8071-A0D7DD90DC5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1486F770-A88D-44FA-BCAB-B0B80ADEC99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81415990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4DE3CEB-A345-4278-8B7C-AE7489542CF1}"/>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3B5FCFCA-2FBC-47F6-B590-9D3095546899}"/>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77F1CB0-463E-4924-9411-42F53ABF0E89}"/>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F12BBDE-50C6-49D5-83D2-BAC0A6DBED76}"/>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카라츠바 알고리즘</a:t>
            </a:r>
          </a:p>
        </p:txBody>
      </p:sp>
      <p:sp>
        <p:nvSpPr>
          <p:cNvPr id="5" name="직사각형 4">
            <a:extLst>
              <a:ext uri="{FF2B5EF4-FFF2-40B4-BE49-F238E27FC236}">
                <a16:creationId xmlns:a16="http://schemas.microsoft.com/office/drawing/2014/main" id="{DB153735-D41E-4E42-A48C-4E2DA97FF4D0}"/>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Karatsuba Algorithm (1960)</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정수 곱셈의 재귀 호출을 4번에서 3번으로</a:t>
            </a:r>
          </a:p>
        </p:txBody>
      </p:sp>
      <p:sp>
        <p:nvSpPr>
          <p:cNvPr id="6" name="직사각형 5">
            <a:extLst>
              <a:ext uri="{FF2B5EF4-FFF2-40B4-BE49-F238E27FC236}">
                <a16:creationId xmlns:a16="http://schemas.microsoft.com/office/drawing/2014/main" id="{D8AF451A-CE5D-4458-975E-F9844C1AEB11}"/>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5F55E45-1083-407A-835F-5E959B6E501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D4205A3-3F64-4F21-99E6-79330F219FF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3918240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직사각형 23">
            <a:extLst>
              <a:ext uri="{FF2B5EF4-FFF2-40B4-BE49-F238E27FC236}">
                <a16:creationId xmlns:a16="http://schemas.microsoft.com/office/drawing/2014/main" id="{1F12C157-FF91-4FAA-A063-B74B0D43469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25" name="직사각형 24">
            <a:extLst>
              <a:ext uri="{FF2B5EF4-FFF2-40B4-BE49-F238E27FC236}">
                <a16:creationId xmlns:a16="http://schemas.microsoft.com/office/drawing/2014/main" id="{8E183873-5AC6-4787-A7C6-CA6B72E163E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6" name="직사각형 25">
            <a:extLst>
              <a:ext uri="{FF2B5EF4-FFF2-40B4-BE49-F238E27FC236}">
                <a16:creationId xmlns:a16="http://schemas.microsoft.com/office/drawing/2014/main" id="{23A503D6-6D09-4E8A-9726-A140785C68E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문제의 분할 (divide)</a:t>
            </a:r>
          </a:p>
        </p:txBody>
      </p:sp>
      <p:sp>
        <p:nvSpPr>
          <p:cNvPr id="27" name="직사각형 26">
            <a:extLst>
              <a:ext uri="{FF2B5EF4-FFF2-40B4-BE49-F238E27FC236}">
                <a16:creationId xmlns:a16="http://schemas.microsoft.com/office/drawing/2014/main" id="{B108E93A-3390-46D2-9E1A-F903D638A850}"/>
              </a:ext>
            </a:extLst>
          </p:cNvPr>
          <p:cNvSpPr>
            <a:spLocks noGrp="1"/>
          </p:cNvSpPr>
          <p:nvPr/>
        </p:nvSpPr>
        <p:spPr>
          <a:xfrm>
            <a:off x="609600" y="1381125"/>
            <a:ext cx="10972800" cy="19050"/>
          </a:xfrm>
          <a:prstGeom prst="rect">
            <a:avLst/>
          </a:prstGeom>
          <a:solidFill>
            <a:srgbClr val="171717"/>
          </a:solidFill>
          <a:ln w="0">
            <a:noFill/>
          </a:ln>
        </p:spPr>
      </p:sp>
      <p:sp>
        <p:nvSpPr>
          <p:cNvPr id="28" name="직사각형 27">
            <a:extLst>
              <a:ext uri="{FF2B5EF4-FFF2-40B4-BE49-F238E27FC236}">
                <a16:creationId xmlns:a16="http://schemas.microsoft.com/office/drawing/2014/main" id="{530B5F4D-BD6B-44AE-BD1A-E7AD442A6E5E}"/>
              </a:ext>
            </a:extLst>
          </p:cNvPr>
          <p:cNvSpPr>
            <a:spLocks noGrp="1"/>
          </p:cNvSpPr>
          <p:nvPr/>
        </p:nvSpPr>
        <p:spPr>
          <a:xfrm>
            <a:off x="609600" y="6438900"/>
            <a:ext cx="10972800"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BB43423D-E24E-431D-B164-82D74F8E0DF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0" name="직사각형 29">
            <a:extLst>
              <a:ext uri="{FF2B5EF4-FFF2-40B4-BE49-F238E27FC236}">
                <a16:creationId xmlns:a16="http://schemas.microsoft.com/office/drawing/2014/main" id="{B6CD3DBE-C597-4C4A-9FD8-FF456D9BB53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98</a:t>
            </a:r>
            <a:endParaRPr sz="1050" b="1" i="0">
              <a:solidFill>
                <a:srgbClr val="171717"/>
              </a:solidFill>
              <a:latin typeface="Consolas"/>
              <a:ea typeface="Consolas"/>
              <a:cs typeface="Consolas"/>
            </a:endParaRPr>
          </a:p>
        </p:txBody>
      </p:sp>
      <p:sp>
        <p:nvSpPr>
          <p:cNvPr id="31" name="직사각형 30">
            <a:extLst>
              <a:ext uri="{FF2B5EF4-FFF2-40B4-BE49-F238E27FC236}">
                <a16:creationId xmlns:a16="http://schemas.microsoft.com/office/drawing/2014/main" id="{42231B48-D880-4743-BAD4-761859FEE5CA}"/>
              </a:ext>
            </a:extLst>
          </p:cNvPr>
          <p:cNvSpPr>
            <a:spLocks noGrp="1"/>
          </p:cNvSpPr>
          <p:nvPr/>
        </p:nvSpPr>
        <p:spPr>
          <a:xfrm>
            <a:off x="609601" y="1685925"/>
            <a:ext cx="5695950"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m은</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자릿수입니다</a:t>
            </a:r>
            <a:r>
              <a:rPr sz="1650" dirty="0">
                <a:solidFill>
                  <a:srgbClr val="171717"/>
                </a:solidFill>
                <a:latin typeface="Malgun Gothic"/>
                <a:ea typeface="Malgun Gothic"/>
                <a:cs typeface="Malgun Gothic"/>
              </a:rPr>
              <a:t>. 큰 </a:t>
            </a:r>
            <a:r>
              <a:rPr sz="1650" dirty="0" err="1">
                <a:solidFill>
                  <a:srgbClr val="171717"/>
                </a:solidFill>
                <a:latin typeface="Malgun Gothic"/>
                <a:ea typeface="Malgun Gothic"/>
                <a:cs typeface="Malgun Gothic"/>
              </a:rPr>
              <a:t>수를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앞부분과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나눕니다</a:t>
            </a:r>
            <a:r>
              <a:rPr sz="1650" dirty="0">
                <a:solidFill>
                  <a:srgbClr val="171717"/>
                </a:solidFill>
                <a:latin typeface="Malgun Gothic"/>
                <a:ea typeface="Malgun Gothic"/>
                <a:cs typeface="Malgun Gothic"/>
              </a:rPr>
              <a:t>.</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 = x₁ · 10^m + x₀</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Y = y₁ · 10^m + y₀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예: 1234 = 12 · 10² + 34</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X·Y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₁ · 10^(2m)</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₀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₁) · 10^m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절반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크기의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곱셈이</a:t>
            </a:r>
            <a:r>
              <a:rPr sz="1650" dirty="0">
                <a:solidFill>
                  <a:srgbClr val="171717"/>
                </a:solidFill>
                <a:latin typeface="Malgun Gothic"/>
                <a:ea typeface="Malgun Gothic"/>
                <a:cs typeface="Malgun Gothic"/>
              </a:rPr>
              <a:t> 네 번 </a:t>
            </a:r>
            <a:r>
              <a:rPr sz="1650" dirty="0" err="1">
                <a:solidFill>
                  <a:srgbClr val="171717"/>
                </a:solidFill>
                <a:latin typeface="Malgun Gothic"/>
                <a:ea typeface="Malgun Gothic"/>
                <a:cs typeface="Malgun Gothic"/>
              </a:rPr>
              <a:t>필요합니다</a:t>
            </a:r>
            <a:r>
              <a:rPr sz="1650" dirty="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T(n) = 4T(n/2) + O(n) = O(n²)</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다음에는</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횟수를</a:t>
            </a:r>
            <a:r>
              <a:rPr sz="1650" dirty="0">
                <a:solidFill>
                  <a:srgbClr val="171717"/>
                </a:solidFill>
                <a:latin typeface="Malgun Gothic"/>
                <a:ea typeface="Malgun Gothic"/>
                <a:cs typeface="Malgun Gothic"/>
              </a:rPr>
              <a:t> 세 </a:t>
            </a:r>
            <a:r>
              <a:rPr sz="1650" dirty="0" err="1">
                <a:solidFill>
                  <a:srgbClr val="171717"/>
                </a:solidFill>
                <a:latin typeface="Malgun Gothic"/>
                <a:ea typeface="Malgun Gothic"/>
                <a:cs typeface="Malgun Gothic"/>
              </a:rPr>
              <a:t>번으로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줄입니다</a:t>
            </a:r>
            <a:r>
              <a:rPr sz="1650" dirty="0">
                <a:solidFill>
                  <a:srgbClr val="171717"/>
                </a:solidFill>
                <a:latin typeface="Malgun Gothic"/>
                <a:ea typeface="Malgun Gothic"/>
                <a:cs typeface="Malgun Gothic"/>
              </a:rPr>
              <a:t>.</a:t>
            </a:r>
          </a:p>
        </p:txBody>
      </p:sp>
      <p:pic>
        <p:nvPicPr>
          <p:cNvPr id="41" name="그림 40"/>
          <p:cNvPicPr>
            <a:picLocks noChangeAspect="1"/>
          </p:cNvPicPr>
          <p:nvPr/>
        </p:nvPicPr>
        <p:blipFill>
          <a:blip r:embed="rId3"/>
          <a:stretch/>
        </p:blipFill>
        <p:spPr>
          <a:xfrm>
            <a:off x="7400925" y="2095500"/>
            <a:ext cx="4000500" cy="3333750"/>
          </a:xfrm>
          <a:prstGeom prst="rect">
            <a:avLst/>
          </a:prstGeom>
        </p:spPr>
      </p:pic>
    </p:spTree>
    <p:extLst>
      <p:ext uri="{BB962C8B-B14F-4D97-AF65-F5344CB8AC3E}">
        <p14:creationId xmlns:p14="http://schemas.microsoft.com/office/powerpoint/2010/main" val="10431275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E345729-01D7-4B1A-84B3-1A63540C593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50861AE8-A573-4CA4-B35D-D3903DD85D3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C6B059D1-2617-4623-B4EC-0AB6936C8D5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카라츠바의 마법 — 대수적 트릭 (conquer)</a:t>
            </a:r>
          </a:p>
        </p:txBody>
      </p:sp>
      <p:sp>
        <p:nvSpPr>
          <p:cNvPr id="40" name="직사각형 39">
            <a:extLst>
              <a:ext uri="{FF2B5EF4-FFF2-40B4-BE49-F238E27FC236}">
                <a16:creationId xmlns:a16="http://schemas.microsoft.com/office/drawing/2014/main" id="{EF731251-0616-4F0E-BF68-E15F9807FA4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9E208B67-396F-4B1A-B46E-D9EF68A8A7A7}"/>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00D4284E-B4C7-4D8B-B90D-0A78322CAAD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755798B5-8719-4DA1-9E73-6DDEB931A1E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99</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D7BAA56F-51E6-4FDF-9ADB-EF5043A81724}"/>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절반 크기의 곱셈을 세 번만 수행한다.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M₁ = x₁y₁</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M₂ = x₀y₀</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M₃ = (x₁ + x₀)(y₁ + y₀)</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교차항은 덧셈과 뺄셈으로 복원한다.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C = x₁y₀ + x₀y₁ = M₃ − M₁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X·Y = M₁·10^(2m) + C·10^m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네 번의 곱셈을 세 번으로 줄이는 것이 카라츠바의 핵심이다.</a:t>
            </a:r>
          </a:p>
        </p:txBody>
      </p:sp>
      <p:pic>
        <p:nvPicPr>
          <p:cNvPr id="54" name="그림 53"/>
          <p:cNvPicPr>
            <a:picLocks noChangeAspect="1"/>
          </p:cNvPicPr>
          <p:nvPr/>
        </p:nvPicPr>
        <p:blipFill>
          <a:blip r:embed="rId3"/>
          <a:stretch/>
        </p:blipFill>
        <p:spPr>
          <a:xfrm>
            <a:off x="7315200" y="2152610"/>
            <a:ext cx="4171950" cy="3219530"/>
          </a:xfrm>
          <a:prstGeom prst="rect">
            <a:avLst/>
          </a:prstGeom>
        </p:spPr>
      </p:pic>
    </p:spTree>
    <p:extLst>
      <p:ext uri="{BB962C8B-B14F-4D97-AF65-F5344CB8AC3E}">
        <p14:creationId xmlns:p14="http://schemas.microsoft.com/office/powerpoint/2010/main" val="95703298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7C202A0-3621-4316-91E3-228C612A29A4}"/>
              </a:ext>
            </a:extLst>
          </p:cNvPr>
          <p:cNvSpPr>
            <a:spLocks noGrp="1"/>
          </p:cNvSpPr>
          <p:nvPr/>
        </p:nvSpPr>
        <p:spPr>
          <a:xfrm>
            <a:off x="859536" y="1801368"/>
            <a:ext cx="67665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karatsuba.pseudo</a:t>
            </a:r>
            <a:endParaRPr sz="900"/>
          </a:p>
        </p:txBody>
      </p:sp>
      <p:sp>
        <p:nvSpPr>
          <p:cNvPr id="17" name="Text 13">
            <a:extLst>
              <a:ext uri="{FF2B5EF4-FFF2-40B4-BE49-F238E27FC236}">
                <a16:creationId xmlns:a16="http://schemas.microsoft.com/office/drawing/2014/main" id="{175E33B7-5A54-40F2-BAE3-9B7CDE6C4CA5}"/>
              </a:ext>
            </a:extLst>
          </p:cNvPr>
          <p:cNvSpPr>
            <a:spLocks noGrp="1"/>
          </p:cNvSpPr>
          <p:nvPr/>
        </p:nvSpPr>
        <p:spPr>
          <a:xfrm>
            <a:off x="8814816" y="1965960"/>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호출이 3번뿐</a:t>
            </a:r>
            <a:endParaRPr sz="1250"/>
          </a:p>
        </p:txBody>
      </p:sp>
      <p:sp>
        <p:nvSpPr>
          <p:cNvPr id="18" name="Text 14">
            <a:extLst>
              <a:ext uri="{FF2B5EF4-FFF2-40B4-BE49-F238E27FC236}">
                <a16:creationId xmlns:a16="http://schemas.microsoft.com/office/drawing/2014/main" id="{D00357F3-4639-41AB-B35D-B5F74746500C}"/>
              </a:ext>
            </a:extLst>
          </p:cNvPr>
          <p:cNvSpPr>
            <a:spLocks noGrp="1"/>
          </p:cNvSpPr>
          <p:nvPr/>
        </p:nvSpPr>
        <p:spPr>
          <a:xfrm>
            <a:off x="8814816" y="2313432"/>
            <a:ext cx="2459736" cy="96012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4번이 아니라 3번. 덧셈과 뺄셈이 몇 번 늘어나지만, 이들은 O(n)에 불과하다.</a:t>
            </a:r>
            <a:endParaRPr sz="1100"/>
          </a:p>
        </p:txBody>
      </p:sp>
      <p:sp>
        <p:nvSpPr>
          <p:cNvPr id="22" name="Text 17">
            <a:extLst>
              <a:ext uri="{FF2B5EF4-FFF2-40B4-BE49-F238E27FC236}">
                <a16:creationId xmlns:a16="http://schemas.microsoft.com/office/drawing/2014/main" id="{AEE7F7F4-BEF4-4695-B397-9673D18E1CAB}"/>
              </a:ext>
            </a:extLst>
          </p:cNvPr>
          <p:cNvSpPr>
            <a:spLocks noGrp="1"/>
          </p:cNvSpPr>
          <p:nvPr/>
        </p:nvSpPr>
        <p:spPr>
          <a:xfrm>
            <a:off x="8814816" y="3803904"/>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실무에서의 임계값</a:t>
            </a:r>
            <a:endParaRPr sz="1250"/>
          </a:p>
        </p:txBody>
      </p:sp>
      <p:sp>
        <p:nvSpPr>
          <p:cNvPr id="23" name="Text 18">
            <a:extLst>
              <a:ext uri="{FF2B5EF4-FFF2-40B4-BE49-F238E27FC236}">
                <a16:creationId xmlns:a16="http://schemas.microsoft.com/office/drawing/2014/main" id="{F0B5C79C-F2B4-48B6-AAA5-6805A8BBAC75}"/>
              </a:ext>
            </a:extLst>
          </p:cNvPr>
          <p:cNvSpPr>
            <a:spLocks noGrp="1"/>
          </p:cNvSpPr>
          <p:nvPr/>
        </p:nvSpPr>
        <p:spPr>
          <a:xfrm>
            <a:off x="8814816" y="4151376"/>
            <a:ext cx="2459736" cy="82296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작은 수에서는 재귀 비용이 더 클 수 있습니다. 기본 곱셈으로 전환할 크기는 구현과 환경에 따라 정합니다.</a:t>
            </a:r>
            <a:endParaRPr sz="1100"/>
          </a:p>
        </p:txBody>
      </p:sp>
      <p:sp>
        <p:nvSpPr>
          <p:cNvPr id="25" name="Text 20">
            <a:extLst>
              <a:ext uri="{FF2B5EF4-FFF2-40B4-BE49-F238E27FC236}">
                <a16:creationId xmlns:a16="http://schemas.microsoft.com/office/drawing/2014/main" id="{42A3B668-0EEA-4063-B015-8293EAEEDCA3}"/>
              </a:ext>
            </a:extLst>
          </p:cNvPr>
          <p:cNvSpPr>
            <a:spLocks noGrp="1"/>
          </p:cNvSpPr>
          <p:nvPr/>
        </p:nvSpPr>
        <p:spPr>
          <a:xfrm>
            <a:off x="8092440" y="5321808"/>
            <a:ext cx="3300984" cy="84124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T(n) = 3T(n/2) + O(n)</a:t>
            </a:r>
            <a:endParaRPr sz="1500"/>
          </a:p>
        </p:txBody>
      </p:sp>
      <p:sp>
        <p:nvSpPr>
          <p:cNvPr id="27" name="직사각형 26">
            <a:extLst>
              <a:ext uri="{FF2B5EF4-FFF2-40B4-BE49-F238E27FC236}">
                <a16:creationId xmlns:a16="http://schemas.microsoft.com/office/drawing/2014/main" id="{AF232752-A5AF-4C10-80B9-751D58A642F4}"/>
              </a:ext>
            </a:extLst>
          </p:cNvPr>
          <p:cNvSpPr>
            <a:spLocks noGrp="1"/>
          </p:cNvSpPr>
          <p:nvPr/>
        </p:nvSpPr>
        <p:spPr>
          <a:xfrm>
            <a:off x="7955280" y="1783080"/>
            <a:ext cx="357530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80FD16A-F05A-4E91-8DE5-EB91970854F3}"/>
              </a:ext>
            </a:extLst>
          </p:cNvPr>
          <p:cNvSpPr>
            <a:spLocks noGrp="1"/>
          </p:cNvSpPr>
          <p:nvPr/>
        </p:nvSpPr>
        <p:spPr>
          <a:xfrm>
            <a:off x="7955280" y="3621024"/>
            <a:ext cx="357530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FC15BB37-434A-4A17-9DD4-938D5E0E48D8}"/>
              </a:ext>
            </a:extLst>
          </p:cNvPr>
          <p:cNvSpPr>
            <a:spLocks noGrp="1"/>
          </p:cNvSpPr>
          <p:nvPr/>
        </p:nvSpPr>
        <p:spPr>
          <a:xfrm>
            <a:off x="698373" y="2090928"/>
            <a:ext cx="710717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KaratsubaMultiply(X,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n &lt;- max(length of X, length of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n &lt; 2 then</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X *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m &lt;- floor(n / 2)</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x_high, x_low &lt;- Split(X,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y_high, y_low &lt;- Split(Y,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z2 &lt;- KaratsubaMultiply(x_high, y_high)</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z0 &lt;- KaratsubaMultiply(x_low,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z1_raw &lt;- KaratsubaMultiply(x_high + x_low, y_high +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 &lt;- z1_raw - z2 - z0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z2 * 10^(2m) + z1 * 10^m + z0</a:t>
            </a:r>
          </a:p>
        </p:txBody>
      </p:sp>
      <p:sp>
        <p:nvSpPr>
          <p:cNvPr id="30" name="직사각형 29">
            <a:extLst>
              <a:ext uri="{FF2B5EF4-FFF2-40B4-BE49-F238E27FC236}">
                <a16:creationId xmlns:a16="http://schemas.microsoft.com/office/drawing/2014/main" id="{F415AAB9-9719-4D72-BB25-B35DFD872F66}"/>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FACA6C0E-972E-44E1-92CC-A3D60B878FB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A7EDA901-5F6E-487F-9AAB-69FDBC1E16C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 알고리즘 (의사코드)</a:t>
            </a:r>
          </a:p>
        </p:txBody>
      </p:sp>
      <p:sp>
        <p:nvSpPr>
          <p:cNvPr id="33" name="직사각형 32">
            <a:extLst>
              <a:ext uri="{FF2B5EF4-FFF2-40B4-BE49-F238E27FC236}">
                <a16:creationId xmlns:a16="http://schemas.microsoft.com/office/drawing/2014/main" id="{B01A9CC8-8E0A-4932-A47F-536AF82FA9FC}"/>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2684E238-F5A0-49EE-9446-3C81CCF6EBDB}"/>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4AA350FA-EFBF-4BF4-8713-BE64C06DAA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29A03787-4D37-4D31-A130-783ED283E69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4575403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EF807136-631E-4F92-BC8B-5859F0033FA6}"/>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karatsuba.py</a:t>
            </a:r>
            <a:endParaRPr sz="900"/>
          </a:p>
        </p:txBody>
      </p:sp>
      <p:sp>
        <p:nvSpPr>
          <p:cNvPr id="20" name="Text 17">
            <a:extLst>
              <a:ext uri="{FF2B5EF4-FFF2-40B4-BE49-F238E27FC236}">
                <a16:creationId xmlns:a16="http://schemas.microsoft.com/office/drawing/2014/main" id="{B7AA217C-F4AA-48FE-9385-5C6CFDBFEA7E}"/>
              </a:ext>
            </a:extLst>
          </p:cNvPr>
          <p:cNvSpPr>
            <a:spLocks noGrp="1"/>
          </p:cNvSpPr>
          <p:nvPr/>
        </p:nvSpPr>
        <p:spPr>
          <a:xfrm>
            <a:off x="859536" y="5230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7C352D26-8753-4C1E-93F2-251792D8C9BF}"/>
              </a:ext>
            </a:extLst>
          </p:cNvPr>
          <p:cNvSpPr>
            <a:spLocks noGrp="1"/>
          </p:cNvSpPr>
          <p:nvPr/>
        </p:nvSpPr>
        <p:spPr>
          <a:xfrm>
            <a:off x="8631936" y="1965960"/>
            <a:ext cx="264261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10 ** m 으로 자르기</a:t>
            </a:r>
            <a:endParaRPr sz="1250"/>
          </a:p>
        </p:txBody>
      </p:sp>
      <p:sp>
        <p:nvSpPr>
          <p:cNvPr id="26" name="Text 22">
            <a:extLst>
              <a:ext uri="{FF2B5EF4-FFF2-40B4-BE49-F238E27FC236}">
                <a16:creationId xmlns:a16="http://schemas.microsoft.com/office/drawing/2014/main" id="{026674BA-735D-4BCB-85B5-A9148CBCEFB0}"/>
              </a:ext>
            </a:extLst>
          </p:cNvPr>
          <p:cNvSpPr>
            <a:spLocks noGrp="1"/>
          </p:cNvSpPr>
          <p:nvPr/>
        </p:nvSpPr>
        <p:spPr>
          <a:xfrm>
            <a:off x="8631936" y="2313432"/>
            <a:ext cx="2642616"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몫(//)이 앞부분, 나머지(%)가 뒷부분이 된다.</a:t>
            </a:r>
            <a:endParaRPr sz="1100"/>
          </a:p>
        </p:txBody>
      </p:sp>
      <p:sp>
        <p:nvSpPr>
          <p:cNvPr id="28" name="Text 24">
            <a:extLst>
              <a:ext uri="{FF2B5EF4-FFF2-40B4-BE49-F238E27FC236}">
                <a16:creationId xmlns:a16="http://schemas.microsoft.com/office/drawing/2014/main" id="{ABF9B7B1-7789-45A5-9686-98859429FE2F}"/>
              </a:ext>
            </a:extLst>
          </p:cNvPr>
          <p:cNvSpPr>
            <a:spLocks noGrp="1"/>
          </p:cNvSpPr>
          <p:nvPr/>
        </p:nvSpPr>
        <p:spPr>
          <a:xfrm>
            <a:off x="7973568" y="3419856"/>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5246F52E-87E1-411E-9C8D-2B277DE85A76}"/>
              </a:ext>
            </a:extLst>
          </p:cNvPr>
          <p:cNvSpPr>
            <a:spLocks noGrp="1"/>
          </p:cNvSpPr>
          <p:nvPr/>
        </p:nvSpPr>
        <p:spPr>
          <a:xfrm>
            <a:off x="7973568" y="3749040"/>
            <a:ext cx="3383280" cy="82296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1219326311370217952</a:t>
            </a:r>
            <a:endParaRPr sz="1000"/>
          </a:p>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237463801111263526900</a:t>
            </a:r>
            <a:endParaRPr sz="1000"/>
          </a:p>
        </p:txBody>
      </p:sp>
      <p:sp>
        <p:nvSpPr>
          <p:cNvPr id="30" name="Text 26">
            <a:extLst>
              <a:ext uri="{FF2B5EF4-FFF2-40B4-BE49-F238E27FC236}">
                <a16:creationId xmlns:a16="http://schemas.microsoft.com/office/drawing/2014/main" id="{7A2A84CF-F716-46E7-9B87-BEA0126D8726}"/>
              </a:ext>
            </a:extLst>
          </p:cNvPr>
          <p:cNvSpPr>
            <a:spLocks noGrp="1"/>
          </p:cNvSpPr>
          <p:nvPr/>
        </p:nvSpPr>
        <p:spPr>
          <a:xfrm>
            <a:off x="7973568" y="4535424"/>
            <a:ext cx="3383280" cy="310896"/>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일반 곱셈 결과와 정확히 일치</a:t>
            </a:r>
            <a:endParaRPr sz="1000"/>
          </a:p>
        </p:txBody>
      </p:sp>
      <p:sp>
        <p:nvSpPr>
          <p:cNvPr id="34" name="Text 29">
            <a:extLst>
              <a:ext uri="{FF2B5EF4-FFF2-40B4-BE49-F238E27FC236}">
                <a16:creationId xmlns:a16="http://schemas.microsoft.com/office/drawing/2014/main" id="{19836D29-DACE-4FE0-B36A-BE74D2B37ABE}"/>
              </a:ext>
            </a:extLst>
          </p:cNvPr>
          <p:cNvSpPr>
            <a:spLocks noGrp="1"/>
          </p:cNvSpPr>
          <p:nvPr/>
        </p:nvSpPr>
        <p:spPr>
          <a:xfrm>
            <a:off x="8631936" y="5285232"/>
            <a:ext cx="26426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큰 정수 연산에 활용</a:t>
            </a:r>
            <a:endParaRPr sz="1200"/>
          </a:p>
        </p:txBody>
      </p:sp>
      <p:sp>
        <p:nvSpPr>
          <p:cNvPr id="35" name="Text 30">
            <a:extLst>
              <a:ext uri="{FF2B5EF4-FFF2-40B4-BE49-F238E27FC236}">
                <a16:creationId xmlns:a16="http://schemas.microsoft.com/office/drawing/2014/main" id="{0B3D3320-A706-405C-8302-FE4A85142311}"/>
              </a:ext>
            </a:extLst>
          </p:cNvPr>
          <p:cNvSpPr>
            <a:spLocks noGrp="1"/>
          </p:cNvSpPr>
          <p:nvPr/>
        </p:nvSpPr>
        <p:spPr>
          <a:xfrm>
            <a:off x="8631936" y="5632704"/>
            <a:ext cx="2642616" cy="329184"/>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큰 정수 곱셈의 계산량을 줄이는 기본 기법입니다.</a:t>
            </a:r>
            <a:endParaRPr sz="1080"/>
          </a:p>
        </p:txBody>
      </p:sp>
      <p:sp>
        <p:nvSpPr>
          <p:cNvPr id="37" name="직사각형 36">
            <a:extLst>
              <a:ext uri="{FF2B5EF4-FFF2-40B4-BE49-F238E27FC236}">
                <a16:creationId xmlns:a16="http://schemas.microsoft.com/office/drawing/2014/main" id="{4A091712-E3CD-4EC7-A3A2-CE5E5DFE47D7}"/>
              </a:ext>
            </a:extLst>
          </p:cNvPr>
          <p:cNvSpPr>
            <a:spLocks noGrp="1"/>
          </p:cNvSpPr>
          <p:nvPr/>
        </p:nvSpPr>
        <p:spPr>
          <a:xfrm>
            <a:off x="7772400" y="1783080"/>
            <a:ext cx="375818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C2BAED-AF3F-4DDE-B086-2E78A732C410}"/>
              </a:ext>
            </a:extLst>
          </p:cNvPr>
          <p:cNvSpPr>
            <a:spLocks noGrp="1"/>
          </p:cNvSpPr>
          <p:nvPr/>
        </p:nvSpPr>
        <p:spPr>
          <a:xfrm>
            <a:off x="7772400" y="3310128"/>
            <a:ext cx="375818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34067B67-E4CF-4C09-A1A7-A36D0F9DE141}"/>
              </a:ext>
            </a:extLst>
          </p:cNvPr>
          <p:cNvSpPr>
            <a:spLocks noGrp="1"/>
          </p:cNvSpPr>
          <p:nvPr/>
        </p:nvSpPr>
        <p:spPr>
          <a:xfrm>
            <a:off x="7772400" y="5102352"/>
            <a:ext cx="3758184"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4594E406-AF42-48DE-8BE7-03FEDAF5E5CE}"/>
              </a:ext>
            </a:extLst>
          </p:cNvPr>
          <p:cNvSpPr>
            <a:spLocks noGrp="1"/>
          </p:cNvSpPr>
          <p:nvPr/>
        </p:nvSpPr>
        <p:spPr>
          <a:xfrm>
            <a:off x="698373" y="2090928"/>
            <a:ext cx="6924294" cy="3006852"/>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karatsuba(x,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x &lt; 10 or y &lt; 10:</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x *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n = max(len(str(x)), len(str(y)))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 = n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x_high, x_low = x // (10 ** m), x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y_high, y_low = y // (10 ** m), y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a = karatsuba(x_high, y_high)</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b = karatsuba(x_low,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sum_prod = karatsuba(x_high + x_low, y_high +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sum_prod - a - b</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a * (10 ** (2 * m)) + mid * (10 ** m) + b</a:t>
            </a:r>
          </a:p>
        </p:txBody>
      </p:sp>
      <p:sp>
        <p:nvSpPr>
          <p:cNvPr id="41" name="직사각형 40">
            <a:extLst>
              <a:ext uri="{FF2B5EF4-FFF2-40B4-BE49-F238E27FC236}">
                <a16:creationId xmlns:a16="http://schemas.microsoft.com/office/drawing/2014/main" id="{62E37B02-8D15-4C10-8019-9EA5A23468B4}"/>
              </a:ext>
            </a:extLst>
          </p:cNvPr>
          <p:cNvSpPr>
            <a:spLocks noGrp="1"/>
          </p:cNvSpPr>
          <p:nvPr/>
        </p:nvSpPr>
        <p:spPr>
          <a:xfrm>
            <a:off x="698373" y="5519928"/>
            <a:ext cx="6924294" cy="611124"/>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num1 = 12345678901234567890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num2 = 98765432109876543210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print(karatsuba(num1, num2))</a:t>
            </a:r>
          </a:p>
        </p:txBody>
      </p:sp>
      <p:sp>
        <p:nvSpPr>
          <p:cNvPr id="42" name="직사각형 41">
            <a:extLst>
              <a:ext uri="{FF2B5EF4-FFF2-40B4-BE49-F238E27FC236}">
                <a16:creationId xmlns:a16="http://schemas.microsoft.com/office/drawing/2014/main" id="{04F8806A-8720-4DF9-91DA-49C22308C94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43" name="직사각형 42">
            <a:extLst>
              <a:ext uri="{FF2B5EF4-FFF2-40B4-BE49-F238E27FC236}">
                <a16:creationId xmlns:a16="http://schemas.microsoft.com/office/drawing/2014/main" id="{A0FA5302-700D-46CF-ACD1-BCDE8E3049D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4" name="직사각형 43">
            <a:extLst>
              <a:ext uri="{FF2B5EF4-FFF2-40B4-BE49-F238E27FC236}">
                <a16:creationId xmlns:a16="http://schemas.microsoft.com/office/drawing/2014/main" id="{B7563A37-6781-46E4-B1A0-E1334F067CE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a:t>
            </a:r>
          </a:p>
        </p:txBody>
      </p:sp>
      <p:sp>
        <p:nvSpPr>
          <p:cNvPr id="45" name="직사각형 44">
            <a:extLst>
              <a:ext uri="{FF2B5EF4-FFF2-40B4-BE49-F238E27FC236}">
                <a16:creationId xmlns:a16="http://schemas.microsoft.com/office/drawing/2014/main" id="{800E3EE2-A5F9-4740-BCD8-A0EDD513C8CB}"/>
              </a:ext>
            </a:extLst>
          </p:cNvPr>
          <p:cNvSpPr>
            <a:spLocks noGrp="1"/>
          </p:cNvSpPr>
          <p:nvPr/>
        </p:nvSpPr>
        <p:spPr>
          <a:xfrm>
            <a:off x="609600" y="1381125"/>
            <a:ext cx="10972800" cy="19050"/>
          </a:xfrm>
          <a:prstGeom prst="rect">
            <a:avLst/>
          </a:prstGeom>
          <a:solidFill>
            <a:srgbClr val="171717"/>
          </a:solidFill>
          <a:ln w="0">
            <a:noFill/>
          </a:ln>
        </p:spPr>
      </p:sp>
      <p:sp>
        <p:nvSpPr>
          <p:cNvPr id="46" name="직사각형 45">
            <a:extLst>
              <a:ext uri="{FF2B5EF4-FFF2-40B4-BE49-F238E27FC236}">
                <a16:creationId xmlns:a16="http://schemas.microsoft.com/office/drawing/2014/main" id="{657F82FC-7042-4776-8BF3-96B78C4919BE}"/>
              </a:ext>
            </a:extLst>
          </p:cNvPr>
          <p:cNvSpPr>
            <a:spLocks noGrp="1"/>
          </p:cNvSpPr>
          <p:nvPr/>
        </p:nvSpPr>
        <p:spPr>
          <a:xfrm>
            <a:off x="609600" y="6438900"/>
            <a:ext cx="10972800"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DE0C3B51-D325-43EB-B200-370C1C0F56E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8" name="직사각형 47">
            <a:extLst>
              <a:ext uri="{FF2B5EF4-FFF2-40B4-BE49-F238E27FC236}">
                <a16:creationId xmlns:a16="http://schemas.microsoft.com/office/drawing/2014/main" id="{8969A649-5913-43C9-B139-F5E8045F7E1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637716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직사각형 50">
            <a:extLst>
              <a:ext uri="{FF2B5EF4-FFF2-40B4-BE49-F238E27FC236}">
                <a16:creationId xmlns:a16="http://schemas.microsoft.com/office/drawing/2014/main" id="{08F126D5-F2CE-4ED6-9FB5-EB866C2F806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52" name="직사각형 51">
            <a:extLst>
              <a:ext uri="{FF2B5EF4-FFF2-40B4-BE49-F238E27FC236}">
                <a16:creationId xmlns:a16="http://schemas.microsoft.com/office/drawing/2014/main" id="{ED23003E-2A30-4DB7-A409-75314F5E72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53" name="직사각형 52">
            <a:extLst>
              <a:ext uri="{FF2B5EF4-FFF2-40B4-BE49-F238E27FC236}">
                <a16:creationId xmlns:a16="http://schemas.microsoft.com/office/drawing/2014/main" id="{9FE36D45-41C6-41CE-8974-447AD8DA733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 — 마스터 정리 적용</a:t>
            </a:r>
          </a:p>
        </p:txBody>
      </p:sp>
      <p:sp>
        <p:nvSpPr>
          <p:cNvPr id="54" name="직사각형 53">
            <a:extLst>
              <a:ext uri="{FF2B5EF4-FFF2-40B4-BE49-F238E27FC236}">
                <a16:creationId xmlns:a16="http://schemas.microsoft.com/office/drawing/2014/main" id="{218275E5-0150-4BCD-A396-6602E42E7BDB}"/>
              </a:ext>
            </a:extLst>
          </p:cNvPr>
          <p:cNvSpPr>
            <a:spLocks noGrp="1"/>
          </p:cNvSpPr>
          <p:nvPr/>
        </p:nvSpPr>
        <p:spPr>
          <a:xfrm>
            <a:off x="609600" y="1381125"/>
            <a:ext cx="10972800" cy="19050"/>
          </a:xfrm>
          <a:prstGeom prst="rect">
            <a:avLst/>
          </a:prstGeom>
          <a:solidFill>
            <a:srgbClr val="171717"/>
          </a:solidFill>
          <a:ln w="0">
            <a:noFill/>
          </a:ln>
        </p:spPr>
      </p:sp>
      <p:sp>
        <p:nvSpPr>
          <p:cNvPr id="55" name="직사각형 54">
            <a:extLst>
              <a:ext uri="{FF2B5EF4-FFF2-40B4-BE49-F238E27FC236}">
                <a16:creationId xmlns:a16="http://schemas.microsoft.com/office/drawing/2014/main" id="{BD787C72-6CA1-45B4-9AAC-C0376B6468F6}"/>
              </a:ext>
            </a:extLst>
          </p:cNvPr>
          <p:cNvSpPr>
            <a:spLocks noGrp="1"/>
          </p:cNvSpPr>
          <p:nvPr/>
        </p:nvSpPr>
        <p:spPr>
          <a:xfrm>
            <a:off x="609600" y="6438900"/>
            <a:ext cx="10972800" cy="9525"/>
          </a:xfrm>
          <a:prstGeom prst="rect">
            <a:avLst/>
          </a:prstGeom>
          <a:solidFill>
            <a:srgbClr val="D4D4D4"/>
          </a:solidFill>
          <a:ln w="0">
            <a:noFill/>
          </a:ln>
        </p:spPr>
      </p:sp>
      <p:sp>
        <p:nvSpPr>
          <p:cNvPr id="56" name="직사각형 55">
            <a:extLst>
              <a:ext uri="{FF2B5EF4-FFF2-40B4-BE49-F238E27FC236}">
                <a16:creationId xmlns:a16="http://schemas.microsoft.com/office/drawing/2014/main" id="{EDC41C42-C3AB-44EC-89EE-2A485C57524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7" name="직사각형 56">
            <a:extLst>
              <a:ext uri="{FF2B5EF4-FFF2-40B4-BE49-F238E27FC236}">
                <a16:creationId xmlns:a16="http://schemas.microsoft.com/office/drawing/2014/main" id="{328951A5-0509-4715-8892-D0302BD6E20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102</a:t>
            </a:r>
            <a:endParaRPr sz="1050" b="1" i="0">
              <a:solidFill>
                <a:srgbClr val="171717"/>
              </a:solidFill>
              <a:latin typeface="Consolas"/>
              <a:ea typeface="Consolas"/>
              <a:cs typeface="Consolas"/>
            </a:endParaRPr>
          </a:p>
        </p:txBody>
      </p:sp>
      <p:sp>
        <p:nvSpPr>
          <p:cNvPr id="58" name="직사각형 57">
            <a:extLst>
              <a:ext uri="{FF2B5EF4-FFF2-40B4-BE49-F238E27FC236}">
                <a16:creationId xmlns:a16="http://schemas.microsoft.com/office/drawing/2014/main" id="{5BC4BAAA-79DB-4606-A510-24B5331BE9CB}"/>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문제 크기는 절반: b = 2</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재귀 곱셈은 세 번: a = 3</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덧셈·뺄셈·자리 이동: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3T(n/2)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 Θ(n^(log₂ 3)) ≈ Θ(n^1.585)</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10,000일 때 성장률 비교</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기본 곱셈 n²: 1억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카라츠바 n^(log₂ 3): 약 219만</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비율은 약 46배이다. 상수항과 구현 비용을 생략한 성장률 비교이며 실측 속도는 아니다.</a:t>
            </a:r>
          </a:p>
        </p:txBody>
      </p:sp>
      <p:pic>
        <p:nvPicPr>
          <p:cNvPr id="68" name="그림 67"/>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50074536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20BABF1-C200-4403-9F79-BE0B897E2DD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5C0C7E6-ED49-46C0-B887-8BC29306FD00}"/>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4.9</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8619C23-5603-44F3-97BB-43FC1928DEB4}"/>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5321404-E74C-4778-ACF1-B5BC3920590E}"/>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스트라센 알고리즘</a:t>
            </a:r>
          </a:p>
        </p:txBody>
      </p:sp>
      <p:sp>
        <p:nvSpPr>
          <p:cNvPr id="5" name="직사각형 4">
            <a:extLst>
              <a:ext uri="{FF2B5EF4-FFF2-40B4-BE49-F238E27FC236}">
                <a16:creationId xmlns:a16="http://schemas.microsoft.com/office/drawing/2014/main" id="{98894DC1-18F5-41FE-A411-11F58198625B}"/>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Strassen Algorithm (1969)</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행렬 곱셈에서 곱셈 8번을 7번으로</a:t>
            </a:r>
          </a:p>
        </p:txBody>
      </p:sp>
      <p:sp>
        <p:nvSpPr>
          <p:cNvPr id="6" name="직사각형 5">
            <a:extLst>
              <a:ext uri="{FF2B5EF4-FFF2-40B4-BE49-F238E27FC236}">
                <a16:creationId xmlns:a16="http://schemas.microsoft.com/office/drawing/2014/main" id="{F21BB0B7-3A14-4131-8129-1B1E5714C38A}"/>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08C610D-73A6-42B4-9902-1D6939A72F2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8872A52F-040A-4307-98D0-468370864B3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103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619318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2321B5AE-62C0-4C9B-B9EA-069343FD63AB}"/>
              </a:ext>
            </a:extLst>
          </p:cNvPr>
          <p:cNvSpPr>
            <a:spLocks noGrp="1"/>
          </p:cNvSpPr>
          <p:nvPr/>
        </p:nvSpPr>
        <p:spPr>
          <a:xfrm>
            <a:off x="658368" y="1737360"/>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두 개의 n × n 행렬을 곱하는 표준 알고리즘은 세 겹의 반복문으로 O(n³)이 걸린다. 카라츠바 알고리즘에서 숫자를 절반으로 쪼갰듯이, 행렬도 4등분하여 블록 행렬(block matrix) 형태로 생각해보자.</a:t>
            </a:r>
            <a:endParaRPr sz="1300"/>
          </a:p>
        </p:txBody>
      </p:sp>
      <p:sp>
        <p:nvSpPr>
          <p:cNvPr id="7" name="Shape 4">
            <a:extLst>
              <a:ext uri="{FF2B5EF4-FFF2-40B4-BE49-F238E27FC236}">
                <a16:creationId xmlns:a16="http://schemas.microsoft.com/office/drawing/2014/main" id="{9E4ADAC1-72AB-4E56-A1DD-D94A962A9351}"/>
              </a:ext>
            </a:extLst>
          </p:cNvPr>
          <p:cNvSpPr>
            <a:spLocks noGrp="1"/>
          </p:cNvSpPr>
          <p:nvPr/>
        </p:nvSpPr>
        <p:spPr>
          <a:xfrm>
            <a:off x="3150108" y="2468880"/>
            <a:ext cx="749808" cy="512064"/>
          </a:xfrm>
          <a:prstGeom prst="roundRect">
            <a:avLst>
              <a:gd name="adj" fmla="val 12500"/>
            </a:avLst>
          </a:prstGeom>
          <a:solidFill>
            <a:srgbClr val="E9E9E9"/>
          </a:solidFill>
          <a:ln w="5715">
            <a:solidFill>
              <a:srgbClr val="D4D4D4"/>
            </a:solidFill>
          </a:ln>
        </p:spPr>
      </p:sp>
      <p:sp>
        <p:nvSpPr>
          <p:cNvPr id="8" name="Text 5">
            <a:extLst>
              <a:ext uri="{FF2B5EF4-FFF2-40B4-BE49-F238E27FC236}">
                <a16:creationId xmlns:a16="http://schemas.microsoft.com/office/drawing/2014/main" id="{67E3C1C4-F302-4606-B4AF-B66CF0B55E68}"/>
              </a:ext>
            </a:extLst>
          </p:cNvPr>
          <p:cNvSpPr>
            <a:spLocks noGrp="1"/>
          </p:cNvSpPr>
          <p:nvPr/>
        </p:nvSpPr>
        <p:spPr>
          <a:xfrm>
            <a:off x="3150108"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a:t>
            </a:r>
            <a:endParaRPr sz="1400"/>
          </a:p>
        </p:txBody>
      </p:sp>
      <p:sp>
        <p:nvSpPr>
          <p:cNvPr id="9" name="Shape 6">
            <a:extLst>
              <a:ext uri="{FF2B5EF4-FFF2-40B4-BE49-F238E27FC236}">
                <a16:creationId xmlns:a16="http://schemas.microsoft.com/office/drawing/2014/main" id="{C6C2CEA3-5098-424E-B218-BD2623188F68}"/>
              </a:ext>
            </a:extLst>
          </p:cNvPr>
          <p:cNvSpPr>
            <a:spLocks noGrp="1"/>
          </p:cNvSpPr>
          <p:nvPr/>
        </p:nvSpPr>
        <p:spPr>
          <a:xfrm>
            <a:off x="3936492" y="2468880"/>
            <a:ext cx="749808" cy="512064"/>
          </a:xfrm>
          <a:prstGeom prst="roundRect">
            <a:avLst>
              <a:gd name="adj" fmla="val 12500"/>
            </a:avLst>
          </a:prstGeom>
          <a:solidFill>
            <a:srgbClr val="E9E9E9"/>
          </a:solidFill>
          <a:ln w="5715">
            <a:solidFill>
              <a:srgbClr val="D4D4D4"/>
            </a:solidFill>
          </a:ln>
        </p:spPr>
      </p:sp>
      <p:sp>
        <p:nvSpPr>
          <p:cNvPr id="10" name="Text 7">
            <a:extLst>
              <a:ext uri="{FF2B5EF4-FFF2-40B4-BE49-F238E27FC236}">
                <a16:creationId xmlns:a16="http://schemas.microsoft.com/office/drawing/2014/main" id="{5C668C04-5329-4967-92AB-723AA3E293F7}"/>
              </a:ext>
            </a:extLst>
          </p:cNvPr>
          <p:cNvSpPr>
            <a:spLocks noGrp="1"/>
          </p:cNvSpPr>
          <p:nvPr/>
        </p:nvSpPr>
        <p:spPr>
          <a:xfrm>
            <a:off x="393649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a:t>
            </a:r>
            <a:endParaRPr sz="1400"/>
          </a:p>
        </p:txBody>
      </p:sp>
      <p:sp>
        <p:nvSpPr>
          <p:cNvPr id="11" name="Shape 8">
            <a:extLst>
              <a:ext uri="{FF2B5EF4-FFF2-40B4-BE49-F238E27FC236}">
                <a16:creationId xmlns:a16="http://schemas.microsoft.com/office/drawing/2014/main" id="{3B23ED4B-7BDC-4E84-A4CA-6ED89430D9D3}"/>
              </a:ext>
            </a:extLst>
          </p:cNvPr>
          <p:cNvSpPr>
            <a:spLocks noGrp="1"/>
          </p:cNvSpPr>
          <p:nvPr/>
        </p:nvSpPr>
        <p:spPr>
          <a:xfrm>
            <a:off x="3150108" y="3017520"/>
            <a:ext cx="749808" cy="512064"/>
          </a:xfrm>
          <a:prstGeom prst="roundRect">
            <a:avLst>
              <a:gd name="adj" fmla="val 12500"/>
            </a:avLst>
          </a:prstGeom>
          <a:solidFill>
            <a:srgbClr val="E9E9E9"/>
          </a:solidFill>
          <a:ln w="5715">
            <a:solidFill>
              <a:srgbClr val="D4D4D4"/>
            </a:solidFill>
          </a:ln>
        </p:spPr>
      </p:sp>
      <p:sp>
        <p:nvSpPr>
          <p:cNvPr id="12" name="Text 9">
            <a:extLst>
              <a:ext uri="{FF2B5EF4-FFF2-40B4-BE49-F238E27FC236}">
                <a16:creationId xmlns:a16="http://schemas.microsoft.com/office/drawing/2014/main" id="{830ECB8A-0472-4517-8B8F-024FAAB0F579}"/>
              </a:ext>
            </a:extLst>
          </p:cNvPr>
          <p:cNvSpPr>
            <a:spLocks noGrp="1"/>
          </p:cNvSpPr>
          <p:nvPr/>
        </p:nvSpPr>
        <p:spPr>
          <a:xfrm>
            <a:off x="3150108"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a:t>
            </a:r>
            <a:endParaRPr sz="1400"/>
          </a:p>
        </p:txBody>
      </p:sp>
      <p:sp>
        <p:nvSpPr>
          <p:cNvPr id="13" name="Shape 10">
            <a:extLst>
              <a:ext uri="{FF2B5EF4-FFF2-40B4-BE49-F238E27FC236}">
                <a16:creationId xmlns:a16="http://schemas.microsoft.com/office/drawing/2014/main" id="{78216C34-73D5-4D71-8214-3E9982516737}"/>
              </a:ext>
            </a:extLst>
          </p:cNvPr>
          <p:cNvSpPr>
            <a:spLocks noGrp="1"/>
          </p:cNvSpPr>
          <p:nvPr/>
        </p:nvSpPr>
        <p:spPr>
          <a:xfrm>
            <a:off x="3936492" y="3017520"/>
            <a:ext cx="749808" cy="512064"/>
          </a:xfrm>
          <a:prstGeom prst="roundRect">
            <a:avLst>
              <a:gd name="adj" fmla="val 12500"/>
            </a:avLst>
          </a:prstGeom>
          <a:solidFill>
            <a:srgbClr val="E9E9E9"/>
          </a:solidFill>
          <a:ln w="5715">
            <a:solidFill>
              <a:srgbClr val="D4D4D4"/>
            </a:solidFill>
          </a:ln>
        </p:spPr>
      </p:sp>
      <p:sp>
        <p:nvSpPr>
          <p:cNvPr id="14" name="Text 11">
            <a:extLst>
              <a:ext uri="{FF2B5EF4-FFF2-40B4-BE49-F238E27FC236}">
                <a16:creationId xmlns:a16="http://schemas.microsoft.com/office/drawing/2014/main" id="{2F35A7A3-3DCD-4C9C-860D-E91194CECD70}"/>
              </a:ext>
            </a:extLst>
          </p:cNvPr>
          <p:cNvSpPr>
            <a:spLocks noGrp="1"/>
          </p:cNvSpPr>
          <p:nvPr/>
        </p:nvSpPr>
        <p:spPr>
          <a:xfrm>
            <a:off x="393649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a:t>
            </a:r>
            <a:endParaRPr sz="1400"/>
          </a:p>
        </p:txBody>
      </p:sp>
      <p:sp>
        <p:nvSpPr>
          <p:cNvPr id="15" name="Text 12">
            <a:extLst>
              <a:ext uri="{FF2B5EF4-FFF2-40B4-BE49-F238E27FC236}">
                <a16:creationId xmlns:a16="http://schemas.microsoft.com/office/drawing/2014/main" id="{0A1EAC72-C1BB-41B0-9D8B-26F6C7017FBC}"/>
              </a:ext>
            </a:extLst>
          </p:cNvPr>
          <p:cNvSpPr>
            <a:spLocks noGrp="1"/>
          </p:cNvSpPr>
          <p:nvPr/>
        </p:nvSpPr>
        <p:spPr>
          <a:xfrm>
            <a:off x="4686300"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16" name="Shape 13">
            <a:extLst>
              <a:ext uri="{FF2B5EF4-FFF2-40B4-BE49-F238E27FC236}">
                <a16:creationId xmlns:a16="http://schemas.microsoft.com/office/drawing/2014/main" id="{F6E59704-DDBB-47DB-940E-03ED0ED929D7}"/>
              </a:ext>
            </a:extLst>
          </p:cNvPr>
          <p:cNvSpPr>
            <a:spLocks noGrp="1"/>
          </p:cNvSpPr>
          <p:nvPr/>
        </p:nvSpPr>
        <p:spPr>
          <a:xfrm>
            <a:off x="5326380" y="2468880"/>
            <a:ext cx="749808" cy="512064"/>
          </a:xfrm>
          <a:prstGeom prst="roundRect">
            <a:avLst>
              <a:gd name="adj" fmla="val 12500"/>
            </a:avLst>
          </a:prstGeom>
          <a:solidFill>
            <a:srgbClr val="E9E9E9"/>
          </a:solidFill>
          <a:ln w="5715">
            <a:solidFill>
              <a:srgbClr val="D4D4D4"/>
            </a:solidFill>
          </a:ln>
        </p:spPr>
      </p:sp>
      <p:sp>
        <p:nvSpPr>
          <p:cNvPr id="17" name="Text 14">
            <a:extLst>
              <a:ext uri="{FF2B5EF4-FFF2-40B4-BE49-F238E27FC236}">
                <a16:creationId xmlns:a16="http://schemas.microsoft.com/office/drawing/2014/main" id="{9C16BDFE-F131-4841-A68F-FDA21677652A}"/>
              </a:ext>
            </a:extLst>
          </p:cNvPr>
          <p:cNvSpPr>
            <a:spLocks noGrp="1"/>
          </p:cNvSpPr>
          <p:nvPr/>
        </p:nvSpPr>
        <p:spPr>
          <a:xfrm>
            <a:off x="5326380"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A_11</a:t>
            </a:r>
            <a:endParaRPr sz="1400"/>
          </a:p>
        </p:txBody>
      </p:sp>
      <p:sp>
        <p:nvSpPr>
          <p:cNvPr id="18" name="Shape 15">
            <a:extLst>
              <a:ext uri="{FF2B5EF4-FFF2-40B4-BE49-F238E27FC236}">
                <a16:creationId xmlns:a16="http://schemas.microsoft.com/office/drawing/2014/main" id="{0F19265A-8CB9-4413-B65B-8A369D9E7782}"/>
              </a:ext>
            </a:extLst>
          </p:cNvPr>
          <p:cNvSpPr>
            <a:spLocks noGrp="1"/>
          </p:cNvSpPr>
          <p:nvPr/>
        </p:nvSpPr>
        <p:spPr>
          <a:xfrm>
            <a:off x="6112764" y="2468880"/>
            <a:ext cx="749808" cy="512064"/>
          </a:xfrm>
          <a:prstGeom prst="roundRect">
            <a:avLst>
              <a:gd name="adj" fmla="val 12500"/>
            </a:avLst>
          </a:prstGeom>
          <a:solidFill>
            <a:srgbClr val="E9E9E9"/>
          </a:solidFill>
          <a:ln w="5715">
            <a:solidFill>
              <a:srgbClr val="D4D4D4"/>
            </a:solidFill>
          </a:ln>
        </p:spPr>
      </p:sp>
      <p:sp>
        <p:nvSpPr>
          <p:cNvPr id="19" name="Text 16">
            <a:extLst>
              <a:ext uri="{FF2B5EF4-FFF2-40B4-BE49-F238E27FC236}">
                <a16:creationId xmlns:a16="http://schemas.microsoft.com/office/drawing/2014/main" id="{B6219512-B144-441E-BFB4-6F11CD0773A5}"/>
              </a:ext>
            </a:extLst>
          </p:cNvPr>
          <p:cNvSpPr>
            <a:spLocks noGrp="1"/>
          </p:cNvSpPr>
          <p:nvPr/>
        </p:nvSpPr>
        <p:spPr>
          <a:xfrm>
            <a:off x="6112764"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A_12</a:t>
            </a:r>
            <a:endParaRPr sz="1400"/>
          </a:p>
        </p:txBody>
      </p:sp>
      <p:sp>
        <p:nvSpPr>
          <p:cNvPr id="20" name="Shape 17">
            <a:extLst>
              <a:ext uri="{FF2B5EF4-FFF2-40B4-BE49-F238E27FC236}">
                <a16:creationId xmlns:a16="http://schemas.microsoft.com/office/drawing/2014/main" id="{65922CE3-779F-41E3-B0F9-C2CCEBCC9681}"/>
              </a:ext>
            </a:extLst>
          </p:cNvPr>
          <p:cNvSpPr>
            <a:spLocks noGrp="1"/>
          </p:cNvSpPr>
          <p:nvPr/>
        </p:nvSpPr>
        <p:spPr>
          <a:xfrm>
            <a:off x="5326380" y="3017520"/>
            <a:ext cx="749808" cy="512064"/>
          </a:xfrm>
          <a:prstGeom prst="roundRect">
            <a:avLst>
              <a:gd name="adj" fmla="val 12500"/>
            </a:avLst>
          </a:prstGeom>
          <a:solidFill>
            <a:srgbClr val="E9E9E9"/>
          </a:solidFill>
          <a:ln w="5715">
            <a:solidFill>
              <a:srgbClr val="D4D4D4"/>
            </a:solidFill>
          </a:ln>
        </p:spPr>
      </p:sp>
      <p:sp>
        <p:nvSpPr>
          <p:cNvPr id="21" name="Text 18">
            <a:extLst>
              <a:ext uri="{FF2B5EF4-FFF2-40B4-BE49-F238E27FC236}">
                <a16:creationId xmlns:a16="http://schemas.microsoft.com/office/drawing/2014/main" id="{CD440917-24BC-4F63-B1A6-3507D1D53598}"/>
              </a:ext>
            </a:extLst>
          </p:cNvPr>
          <p:cNvSpPr>
            <a:spLocks noGrp="1"/>
          </p:cNvSpPr>
          <p:nvPr/>
        </p:nvSpPr>
        <p:spPr>
          <a:xfrm>
            <a:off x="5326380"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A_21</a:t>
            </a:r>
            <a:endParaRPr sz="1400"/>
          </a:p>
        </p:txBody>
      </p:sp>
      <p:sp>
        <p:nvSpPr>
          <p:cNvPr id="22" name="Shape 19">
            <a:extLst>
              <a:ext uri="{FF2B5EF4-FFF2-40B4-BE49-F238E27FC236}">
                <a16:creationId xmlns:a16="http://schemas.microsoft.com/office/drawing/2014/main" id="{99F13EEF-59E2-443D-B758-8A0F9D9422CE}"/>
              </a:ext>
            </a:extLst>
          </p:cNvPr>
          <p:cNvSpPr>
            <a:spLocks noGrp="1"/>
          </p:cNvSpPr>
          <p:nvPr/>
        </p:nvSpPr>
        <p:spPr>
          <a:xfrm>
            <a:off x="6112764" y="3017520"/>
            <a:ext cx="749808" cy="512064"/>
          </a:xfrm>
          <a:prstGeom prst="roundRect">
            <a:avLst>
              <a:gd name="adj" fmla="val 12500"/>
            </a:avLst>
          </a:prstGeom>
          <a:solidFill>
            <a:srgbClr val="E9E9E9"/>
          </a:solidFill>
          <a:ln w="5715">
            <a:solidFill>
              <a:srgbClr val="D4D4D4"/>
            </a:solidFill>
          </a:ln>
        </p:spPr>
      </p:sp>
      <p:sp>
        <p:nvSpPr>
          <p:cNvPr id="23" name="Text 20">
            <a:extLst>
              <a:ext uri="{FF2B5EF4-FFF2-40B4-BE49-F238E27FC236}">
                <a16:creationId xmlns:a16="http://schemas.microsoft.com/office/drawing/2014/main" id="{12C36DC9-4CC0-42EB-9663-23F6B8257462}"/>
              </a:ext>
            </a:extLst>
          </p:cNvPr>
          <p:cNvSpPr>
            <a:spLocks noGrp="1"/>
          </p:cNvSpPr>
          <p:nvPr/>
        </p:nvSpPr>
        <p:spPr>
          <a:xfrm>
            <a:off x="6112764"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A_22</a:t>
            </a:r>
            <a:endParaRPr sz="1400"/>
          </a:p>
        </p:txBody>
      </p:sp>
      <p:sp>
        <p:nvSpPr>
          <p:cNvPr id="24" name="Text 21">
            <a:extLst>
              <a:ext uri="{FF2B5EF4-FFF2-40B4-BE49-F238E27FC236}">
                <a16:creationId xmlns:a16="http://schemas.microsoft.com/office/drawing/2014/main" id="{38C3E687-6D41-468F-99CD-AFB4A75FD302}"/>
              </a:ext>
            </a:extLst>
          </p:cNvPr>
          <p:cNvSpPr>
            <a:spLocks noGrp="1"/>
          </p:cNvSpPr>
          <p:nvPr/>
        </p:nvSpPr>
        <p:spPr>
          <a:xfrm>
            <a:off x="6862572"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25" name="Shape 22">
            <a:extLst>
              <a:ext uri="{FF2B5EF4-FFF2-40B4-BE49-F238E27FC236}">
                <a16:creationId xmlns:a16="http://schemas.microsoft.com/office/drawing/2014/main" id="{871862CF-2138-4226-A3B1-E0A6F4BDA3A6}"/>
              </a:ext>
            </a:extLst>
          </p:cNvPr>
          <p:cNvSpPr>
            <a:spLocks noGrp="1"/>
          </p:cNvSpPr>
          <p:nvPr/>
        </p:nvSpPr>
        <p:spPr>
          <a:xfrm>
            <a:off x="7502652" y="2468880"/>
            <a:ext cx="749808" cy="512064"/>
          </a:xfrm>
          <a:prstGeom prst="roundRect">
            <a:avLst>
              <a:gd name="adj" fmla="val 12500"/>
            </a:avLst>
          </a:prstGeom>
          <a:solidFill>
            <a:srgbClr val="E9E9E9"/>
          </a:solidFill>
          <a:ln w="5715">
            <a:solidFill>
              <a:srgbClr val="D4D4D4"/>
            </a:solidFill>
          </a:ln>
        </p:spPr>
      </p:sp>
      <p:sp>
        <p:nvSpPr>
          <p:cNvPr id="26" name="Text 23">
            <a:extLst>
              <a:ext uri="{FF2B5EF4-FFF2-40B4-BE49-F238E27FC236}">
                <a16:creationId xmlns:a16="http://schemas.microsoft.com/office/drawing/2014/main" id="{312069C4-D261-4553-938B-96516FE32375}"/>
              </a:ext>
            </a:extLst>
          </p:cNvPr>
          <p:cNvSpPr>
            <a:spLocks noGrp="1"/>
          </p:cNvSpPr>
          <p:nvPr/>
        </p:nvSpPr>
        <p:spPr>
          <a:xfrm>
            <a:off x="750265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B_11</a:t>
            </a:r>
            <a:endParaRPr sz="1400"/>
          </a:p>
        </p:txBody>
      </p:sp>
      <p:sp>
        <p:nvSpPr>
          <p:cNvPr id="27" name="Shape 24">
            <a:extLst>
              <a:ext uri="{FF2B5EF4-FFF2-40B4-BE49-F238E27FC236}">
                <a16:creationId xmlns:a16="http://schemas.microsoft.com/office/drawing/2014/main" id="{4F71C6FC-FB0B-4D5F-98E5-3DC88F7DCA0D}"/>
              </a:ext>
            </a:extLst>
          </p:cNvPr>
          <p:cNvSpPr>
            <a:spLocks noGrp="1"/>
          </p:cNvSpPr>
          <p:nvPr/>
        </p:nvSpPr>
        <p:spPr>
          <a:xfrm>
            <a:off x="8289036" y="2468880"/>
            <a:ext cx="749808" cy="512064"/>
          </a:xfrm>
          <a:prstGeom prst="roundRect">
            <a:avLst>
              <a:gd name="adj" fmla="val 12500"/>
            </a:avLst>
          </a:prstGeom>
          <a:solidFill>
            <a:srgbClr val="E9E9E9"/>
          </a:solidFill>
          <a:ln w="5715">
            <a:solidFill>
              <a:srgbClr val="D4D4D4"/>
            </a:solidFill>
          </a:ln>
        </p:spPr>
      </p:sp>
      <p:sp>
        <p:nvSpPr>
          <p:cNvPr id="28" name="Text 25">
            <a:extLst>
              <a:ext uri="{FF2B5EF4-FFF2-40B4-BE49-F238E27FC236}">
                <a16:creationId xmlns:a16="http://schemas.microsoft.com/office/drawing/2014/main" id="{FF0977C4-E8A1-43C0-BCAC-710BDE8C8C59}"/>
              </a:ext>
            </a:extLst>
          </p:cNvPr>
          <p:cNvSpPr>
            <a:spLocks noGrp="1"/>
          </p:cNvSpPr>
          <p:nvPr/>
        </p:nvSpPr>
        <p:spPr>
          <a:xfrm>
            <a:off x="8289036"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B_12</a:t>
            </a:r>
            <a:endParaRPr sz="1400"/>
          </a:p>
        </p:txBody>
      </p:sp>
      <p:sp>
        <p:nvSpPr>
          <p:cNvPr id="29" name="Shape 26">
            <a:extLst>
              <a:ext uri="{FF2B5EF4-FFF2-40B4-BE49-F238E27FC236}">
                <a16:creationId xmlns:a16="http://schemas.microsoft.com/office/drawing/2014/main" id="{EF0ED150-5E86-4345-A085-CA28916541FD}"/>
              </a:ext>
            </a:extLst>
          </p:cNvPr>
          <p:cNvSpPr>
            <a:spLocks noGrp="1"/>
          </p:cNvSpPr>
          <p:nvPr/>
        </p:nvSpPr>
        <p:spPr>
          <a:xfrm>
            <a:off x="7502652" y="3017520"/>
            <a:ext cx="749808" cy="512064"/>
          </a:xfrm>
          <a:prstGeom prst="roundRect">
            <a:avLst>
              <a:gd name="adj" fmla="val 12500"/>
            </a:avLst>
          </a:prstGeom>
          <a:solidFill>
            <a:srgbClr val="E9E9E9"/>
          </a:solidFill>
          <a:ln w="5715">
            <a:solidFill>
              <a:srgbClr val="D4D4D4"/>
            </a:solidFill>
          </a:ln>
        </p:spPr>
      </p:sp>
      <p:sp>
        <p:nvSpPr>
          <p:cNvPr id="30" name="Text 27">
            <a:extLst>
              <a:ext uri="{FF2B5EF4-FFF2-40B4-BE49-F238E27FC236}">
                <a16:creationId xmlns:a16="http://schemas.microsoft.com/office/drawing/2014/main" id="{10B0C6C9-48D2-4716-8FC2-F23C8351F131}"/>
              </a:ext>
            </a:extLst>
          </p:cNvPr>
          <p:cNvSpPr>
            <a:spLocks noGrp="1"/>
          </p:cNvSpPr>
          <p:nvPr/>
        </p:nvSpPr>
        <p:spPr>
          <a:xfrm>
            <a:off x="750265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B_21</a:t>
            </a:r>
            <a:endParaRPr sz="1400"/>
          </a:p>
        </p:txBody>
      </p:sp>
      <p:sp>
        <p:nvSpPr>
          <p:cNvPr id="31" name="Shape 28">
            <a:extLst>
              <a:ext uri="{FF2B5EF4-FFF2-40B4-BE49-F238E27FC236}">
                <a16:creationId xmlns:a16="http://schemas.microsoft.com/office/drawing/2014/main" id="{81D9BDCA-1E23-44CA-AB67-0944488438FB}"/>
              </a:ext>
            </a:extLst>
          </p:cNvPr>
          <p:cNvSpPr>
            <a:spLocks noGrp="1"/>
          </p:cNvSpPr>
          <p:nvPr/>
        </p:nvSpPr>
        <p:spPr>
          <a:xfrm>
            <a:off x="8289036" y="3017520"/>
            <a:ext cx="749808" cy="512064"/>
          </a:xfrm>
          <a:prstGeom prst="roundRect">
            <a:avLst>
              <a:gd name="adj" fmla="val 12500"/>
            </a:avLst>
          </a:prstGeom>
          <a:solidFill>
            <a:srgbClr val="E9E9E9"/>
          </a:solidFill>
          <a:ln w="5715">
            <a:solidFill>
              <a:srgbClr val="D4D4D4"/>
            </a:solidFill>
          </a:ln>
        </p:spPr>
      </p:sp>
      <p:sp>
        <p:nvSpPr>
          <p:cNvPr id="32" name="Text 29">
            <a:extLst>
              <a:ext uri="{FF2B5EF4-FFF2-40B4-BE49-F238E27FC236}">
                <a16:creationId xmlns:a16="http://schemas.microsoft.com/office/drawing/2014/main" id="{CB34D296-7854-405C-91D7-FD6FED0ADD48}"/>
              </a:ext>
            </a:extLst>
          </p:cNvPr>
          <p:cNvSpPr>
            <a:spLocks noGrp="1"/>
          </p:cNvSpPr>
          <p:nvPr/>
        </p:nvSpPr>
        <p:spPr>
          <a:xfrm>
            <a:off x="8289036"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B_22</a:t>
            </a:r>
            <a:endParaRPr sz="1400"/>
          </a:p>
        </p:txBody>
      </p:sp>
      <p:sp>
        <p:nvSpPr>
          <p:cNvPr id="34" name="Text 31">
            <a:extLst>
              <a:ext uri="{FF2B5EF4-FFF2-40B4-BE49-F238E27FC236}">
                <a16:creationId xmlns:a16="http://schemas.microsoft.com/office/drawing/2014/main" id="{8029A869-1D82-4429-99FC-1A8D960E5EB2}"/>
              </a:ext>
            </a:extLst>
          </p:cNvPr>
          <p:cNvSpPr>
            <a:spLocks noGrp="1"/>
          </p:cNvSpPr>
          <p:nvPr/>
        </p:nvSpPr>
        <p:spPr>
          <a:xfrm>
            <a:off x="932688" y="3931920"/>
            <a:ext cx="10323576"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각 결과 블록은 두 번의 블록 곱셈을 필요로 한다 — 모두 합쳐 8번</a:t>
            </a:r>
            <a:endParaRPr sz="1100"/>
          </a:p>
        </p:txBody>
      </p:sp>
      <p:sp>
        <p:nvSpPr>
          <p:cNvPr id="35" name="Text 32">
            <a:extLst>
              <a:ext uri="{FF2B5EF4-FFF2-40B4-BE49-F238E27FC236}">
                <a16:creationId xmlns:a16="http://schemas.microsoft.com/office/drawing/2014/main" id="{FC5B938C-00D8-4C86-94F6-5892EB0AA7BF}"/>
              </a:ext>
            </a:extLst>
          </p:cNvPr>
          <p:cNvSpPr>
            <a:spLocks noGrp="1"/>
          </p:cNvSpPr>
          <p:nvPr/>
        </p:nvSpPr>
        <p:spPr>
          <a:xfrm>
            <a:off x="93268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 = A_11B_11 + A_12B_21</a:t>
            </a:r>
            <a:endParaRPr sz="1400"/>
          </a:p>
        </p:txBody>
      </p:sp>
      <p:sp>
        <p:nvSpPr>
          <p:cNvPr id="36" name="Text 33">
            <a:extLst>
              <a:ext uri="{FF2B5EF4-FFF2-40B4-BE49-F238E27FC236}">
                <a16:creationId xmlns:a16="http://schemas.microsoft.com/office/drawing/2014/main" id="{0F7F7C71-14E2-4351-AB61-883BE446CAA2}"/>
              </a:ext>
            </a:extLst>
          </p:cNvPr>
          <p:cNvSpPr>
            <a:spLocks noGrp="1"/>
          </p:cNvSpPr>
          <p:nvPr/>
        </p:nvSpPr>
        <p:spPr>
          <a:xfrm>
            <a:off x="614476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 = A_11B_12 + A_12B_22</a:t>
            </a:r>
            <a:endParaRPr sz="1400"/>
          </a:p>
        </p:txBody>
      </p:sp>
      <p:sp>
        <p:nvSpPr>
          <p:cNvPr id="37" name="Text 34">
            <a:extLst>
              <a:ext uri="{FF2B5EF4-FFF2-40B4-BE49-F238E27FC236}">
                <a16:creationId xmlns:a16="http://schemas.microsoft.com/office/drawing/2014/main" id="{D1B4E335-DB2A-4303-82FE-528503FB48C0}"/>
              </a:ext>
            </a:extLst>
          </p:cNvPr>
          <p:cNvSpPr>
            <a:spLocks noGrp="1"/>
          </p:cNvSpPr>
          <p:nvPr/>
        </p:nvSpPr>
        <p:spPr>
          <a:xfrm>
            <a:off x="93268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 = A_21B_11 + A_22B_21</a:t>
            </a:r>
            <a:endParaRPr sz="1400"/>
          </a:p>
        </p:txBody>
      </p:sp>
      <p:sp>
        <p:nvSpPr>
          <p:cNvPr id="38" name="Text 35">
            <a:extLst>
              <a:ext uri="{FF2B5EF4-FFF2-40B4-BE49-F238E27FC236}">
                <a16:creationId xmlns:a16="http://schemas.microsoft.com/office/drawing/2014/main" id="{A20B58D8-5A59-401B-8E4D-BB2E0246672D}"/>
              </a:ext>
            </a:extLst>
          </p:cNvPr>
          <p:cNvSpPr>
            <a:spLocks noGrp="1"/>
          </p:cNvSpPr>
          <p:nvPr/>
        </p:nvSpPr>
        <p:spPr>
          <a:xfrm>
            <a:off x="614476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 = A_21B_12 + A_22B_22</a:t>
            </a:r>
            <a:endParaRPr sz="1400"/>
          </a:p>
        </p:txBody>
      </p:sp>
      <p:sp>
        <p:nvSpPr>
          <p:cNvPr id="42" name="Text 38">
            <a:extLst>
              <a:ext uri="{FF2B5EF4-FFF2-40B4-BE49-F238E27FC236}">
                <a16:creationId xmlns:a16="http://schemas.microsoft.com/office/drawing/2014/main" id="{BF207015-E5C9-47DD-8AAA-86EBE03224FB}"/>
              </a:ext>
            </a:extLst>
          </p:cNvPr>
          <p:cNvSpPr>
            <a:spLocks noGrp="1"/>
          </p:cNvSpPr>
          <p:nvPr/>
        </p:nvSpPr>
        <p:spPr>
          <a:xfrm>
            <a:off x="1517904" y="5468112"/>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아무런 개선이 없다 — T(n) = 8T(n/2) + O(n²) ⇒ Θ(n³)</a:t>
            </a:r>
            <a:endParaRPr sz="1320"/>
          </a:p>
        </p:txBody>
      </p:sp>
      <p:sp>
        <p:nvSpPr>
          <p:cNvPr id="43" name="Text 39">
            <a:extLst>
              <a:ext uri="{FF2B5EF4-FFF2-40B4-BE49-F238E27FC236}">
                <a16:creationId xmlns:a16="http://schemas.microsoft.com/office/drawing/2014/main" id="{0E610C2A-574F-49B9-A992-3DA068D54575}"/>
              </a:ext>
            </a:extLst>
          </p:cNvPr>
          <p:cNvSpPr>
            <a:spLocks noGrp="1"/>
          </p:cNvSpPr>
          <p:nvPr/>
        </p:nvSpPr>
        <p:spPr>
          <a:xfrm>
            <a:off x="1517904" y="5815584"/>
            <a:ext cx="9756648" cy="146304"/>
          </a:xfrm>
          <a:prstGeom prst="rect">
            <a:avLst/>
          </a:prstGeom>
          <a:noFill/>
          <a:ln w="0">
            <a:noFill/>
          </a:ln>
        </p:spPr>
        <p:txBody>
          <a:bodyPr wrap="square" lIns="0" tIns="0" rIns="0" bIns="0" anchor="t">
            <a:noAutofit/>
          </a:bodyPr>
          <a:lstStyle/>
          <a:p>
            <a:pPr marL="0" indent="0" algn="l">
              <a:lnSpc>
                <a:spcPct val="132000"/>
              </a:lnSpc>
              <a:buNone/>
              <a:defRPr sz="1180" i="0">
                <a:solidFill>
                  <a:srgbClr val="606060"/>
                </a:solidFill>
                <a:latin typeface="Malgun Gothic"/>
                <a:ea typeface="Malgun Gothic"/>
                <a:cs typeface="Malgun Gothic"/>
              </a:defRPr>
            </a:pPr>
            <a:r>
              <a:rPr sz="1180" i="0">
                <a:solidFill>
                  <a:srgbClr val="606060"/>
                </a:solidFill>
                <a:latin typeface="Malgun Gothic"/>
                <a:ea typeface="Malgun Gothic"/>
                <a:cs typeface="Malgun Gothic"/>
              </a:rPr>
              <a:t>블록 곱셈이 8번, 블록 덧셈이 O(n²). 마스터 정리 Case 1에 의해 n^log₂8 = n³ — 원래 알고리즘과 똑같다.</a:t>
            </a:r>
            <a:endParaRPr sz="1180"/>
          </a:p>
        </p:txBody>
      </p:sp>
      <p:sp>
        <p:nvSpPr>
          <p:cNvPr id="45" name="직사각형 44">
            <a:extLst>
              <a:ext uri="{FF2B5EF4-FFF2-40B4-BE49-F238E27FC236}">
                <a16:creationId xmlns:a16="http://schemas.microsoft.com/office/drawing/2014/main" id="{8E0BDC29-FCA8-4D09-AC64-F186564211BC}"/>
              </a:ext>
            </a:extLst>
          </p:cNvPr>
          <p:cNvSpPr>
            <a:spLocks noGrp="1"/>
          </p:cNvSpPr>
          <p:nvPr/>
        </p:nvSpPr>
        <p:spPr>
          <a:xfrm>
            <a:off x="658368" y="3840480"/>
            <a:ext cx="10872216"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52CCEA22-7769-441A-922C-BADEB9E21178}"/>
              </a:ext>
            </a:extLst>
          </p:cNvPr>
          <p:cNvSpPr>
            <a:spLocks noGrp="1"/>
          </p:cNvSpPr>
          <p:nvPr/>
        </p:nvSpPr>
        <p:spPr>
          <a:xfrm>
            <a:off x="658368" y="5285232"/>
            <a:ext cx="10872216"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AF26AB26-246E-4E50-A66B-FE152E4095F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65202F47-95B6-4AB7-9127-7430B7E8558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9" name="직사각형 48">
            <a:extLst>
              <a:ext uri="{FF2B5EF4-FFF2-40B4-BE49-F238E27FC236}">
                <a16:creationId xmlns:a16="http://schemas.microsoft.com/office/drawing/2014/main" id="{EDCD138B-ACC6-4738-A3AE-CC32C3045F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시도 — 블록 행렬</a:t>
            </a:r>
          </a:p>
        </p:txBody>
      </p:sp>
      <p:sp>
        <p:nvSpPr>
          <p:cNvPr id="50" name="직사각형 49">
            <a:extLst>
              <a:ext uri="{FF2B5EF4-FFF2-40B4-BE49-F238E27FC236}">
                <a16:creationId xmlns:a16="http://schemas.microsoft.com/office/drawing/2014/main" id="{3E38EB8A-196E-4527-8D50-399F97F58879}"/>
              </a:ext>
            </a:extLst>
          </p:cNvPr>
          <p:cNvSpPr>
            <a:spLocks noGrp="1"/>
          </p:cNvSpPr>
          <p:nvPr/>
        </p:nvSpPr>
        <p:spPr>
          <a:xfrm>
            <a:off x="609600" y="1381125"/>
            <a:ext cx="10972800" cy="19050"/>
          </a:xfrm>
          <a:prstGeom prst="rect">
            <a:avLst/>
          </a:prstGeom>
          <a:solidFill>
            <a:srgbClr val="171717"/>
          </a:solidFill>
          <a:ln w="0">
            <a:noFill/>
          </a:ln>
        </p:spPr>
      </p:sp>
      <p:sp>
        <p:nvSpPr>
          <p:cNvPr id="51" name="직사각형 50">
            <a:extLst>
              <a:ext uri="{FF2B5EF4-FFF2-40B4-BE49-F238E27FC236}">
                <a16:creationId xmlns:a16="http://schemas.microsoft.com/office/drawing/2014/main" id="{42556D03-98AC-4EA1-860A-E1C5885EEBF0}"/>
              </a:ext>
            </a:extLst>
          </p:cNvPr>
          <p:cNvSpPr>
            <a:spLocks noGrp="1"/>
          </p:cNvSpPr>
          <p:nvPr/>
        </p:nvSpPr>
        <p:spPr>
          <a:xfrm>
            <a:off x="609600" y="6438900"/>
            <a:ext cx="10972800" cy="9525"/>
          </a:xfrm>
          <a:prstGeom prst="rect">
            <a:avLst/>
          </a:prstGeom>
          <a:solidFill>
            <a:srgbClr val="D4D4D4"/>
          </a:solidFill>
          <a:ln w="0">
            <a:noFill/>
          </a:ln>
        </p:spPr>
      </p:sp>
      <p:sp>
        <p:nvSpPr>
          <p:cNvPr id="52" name="직사각형 51">
            <a:extLst>
              <a:ext uri="{FF2B5EF4-FFF2-40B4-BE49-F238E27FC236}">
                <a16:creationId xmlns:a16="http://schemas.microsoft.com/office/drawing/2014/main" id="{7055F8FE-1FA8-4492-9141-FD1857D84C9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3" name="직사각형 52">
            <a:extLst>
              <a:ext uri="{FF2B5EF4-FFF2-40B4-BE49-F238E27FC236}">
                <a16:creationId xmlns:a16="http://schemas.microsoft.com/office/drawing/2014/main" id="{FC087588-16AC-42D7-97E1-67562199A8E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074882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3BD8184-AB5B-4C56-B2E3-7D6F4599BF9A}"/>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1969년, 독일의 수학자 폴커 스트라센(Volker Strassen)은 이 견고해 보이는 벽을 허무는 방법을 찾아냈다. 카라츠바가 그랬던 것처럼, 행렬의 덧셈과 뺄셈을 조금 복잡하게 조합하면 곱셈 횟수를 8번에서 7번으로 줄일 수 있음을 발견했다.</a:t>
            </a:r>
            <a:endParaRPr sz="1300"/>
          </a:p>
        </p:txBody>
      </p:sp>
      <p:sp>
        <p:nvSpPr>
          <p:cNvPr id="8" name="Text 5">
            <a:extLst>
              <a:ext uri="{FF2B5EF4-FFF2-40B4-BE49-F238E27FC236}">
                <a16:creationId xmlns:a16="http://schemas.microsoft.com/office/drawing/2014/main" id="{C28FB8A7-BF3F-4099-AFE5-F86D023673E8}"/>
              </a:ext>
            </a:extLst>
          </p:cNvPr>
          <p:cNvSpPr>
            <a:spLocks noGrp="1"/>
          </p:cNvSpPr>
          <p:nvPr/>
        </p:nvSpPr>
        <p:spPr>
          <a:xfrm>
            <a:off x="914400" y="2523744"/>
            <a:ext cx="521208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7번의 블록 곱셈</a:t>
            </a:r>
            <a:endParaRPr sz="1300"/>
          </a:p>
        </p:txBody>
      </p:sp>
      <p:sp>
        <p:nvSpPr>
          <p:cNvPr id="9" name="Text 6">
            <a:extLst>
              <a:ext uri="{FF2B5EF4-FFF2-40B4-BE49-F238E27FC236}">
                <a16:creationId xmlns:a16="http://schemas.microsoft.com/office/drawing/2014/main" id="{5AE92130-AFB9-45FD-9AC2-2FEAD885F3E1}"/>
              </a:ext>
            </a:extLst>
          </p:cNvPr>
          <p:cNvSpPr>
            <a:spLocks noGrp="1"/>
          </p:cNvSpPr>
          <p:nvPr/>
        </p:nvSpPr>
        <p:spPr>
          <a:xfrm>
            <a:off x="914400" y="292608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M_1 = (A_11 + A_22)(B_11 + B_22)</a:t>
            </a:r>
            <a:endParaRPr sz="1300"/>
          </a:p>
        </p:txBody>
      </p:sp>
      <p:sp>
        <p:nvSpPr>
          <p:cNvPr id="10" name="Text 7">
            <a:extLst>
              <a:ext uri="{FF2B5EF4-FFF2-40B4-BE49-F238E27FC236}">
                <a16:creationId xmlns:a16="http://schemas.microsoft.com/office/drawing/2014/main" id="{244DFAE0-9A24-4BC6-BE2B-10F6B0657E76}"/>
              </a:ext>
            </a:extLst>
          </p:cNvPr>
          <p:cNvSpPr>
            <a:spLocks noGrp="1"/>
          </p:cNvSpPr>
          <p:nvPr/>
        </p:nvSpPr>
        <p:spPr>
          <a:xfrm>
            <a:off x="914400" y="335584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M_2 = (A_21 + A_22) B_11</a:t>
            </a:r>
            <a:endParaRPr sz="1300"/>
          </a:p>
        </p:txBody>
      </p:sp>
      <p:sp>
        <p:nvSpPr>
          <p:cNvPr id="11" name="Text 8">
            <a:extLst>
              <a:ext uri="{FF2B5EF4-FFF2-40B4-BE49-F238E27FC236}">
                <a16:creationId xmlns:a16="http://schemas.microsoft.com/office/drawing/2014/main" id="{F0066409-46A3-4C40-9F40-705B8CC27DDC}"/>
              </a:ext>
            </a:extLst>
          </p:cNvPr>
          <p:cNvSpPr>
            <a:spLocks noGrp="1"/>
          </p:cNvSpPr>
          <p:nvPr/>
        </p:nvSpPr>
        <p:spPr>
          <a:xfrm>
            <a:off x="914400" y="3785616"/>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M_3 = A_11(B_12 − B_22)</a:t>
            </a:r>
            <a:endParaRPr sz="1300"/>
          </a:p>
        </p:txBody>
      </p:sp>
      <p:sp>
        <p:nvSpPr>
          <p:cNvPr id="12" name="Text 9">
            <a:extLst>
              <a:ext uri="{FF2B5EF4-FFF2-40B4-BE49-F238E27FC236}">
                <a16:creationId xmlns:a16="http://schemas.microsoft.com/office/drawing/2014/main" id="{DFEE4518-6566-4CA2-83A5-38349BEC3A70}"/>
              </a:ext>
            </a:extLst>
          </p:cNvPr>
          <p:cNvSpPr>
            <a:spLocks noGrp="1"/>
          </p:cNvSpPr>
          <p:nvPr/>
        </p:nvSpPr>
        <p:spPr>
          <a:xfrm>
            <a:off x="914400" y="4215384"/>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M_4 = A_22(B_21 − B_11)</a:t>
            </a:r>
            <a:endParaRPr sz="1300"/>
          </a:p>
        </p:txBody>
      </p:sp>
      <p:sp>
        <p:nvSpPr>
          <p:cNvPr id="13" name="Text 10">
            <a:extLst>
              <a:ext uri="{FF2B5EF4-FFF2-40B4-BE49-F238E27FC236}">
                <a16:creationId xmlns:a16="http://schemas.microsoft.com/office/drawing/2014/main" id="{1389857C-81E2-4FED-8BCD-77D6A5393DE7}"/>
              </a:ext>
            </a:extLst>
          </p:cNvPr>
          <p:cNvSpPr>
            <a:spLocks noGrp="1"/>
          </p:cNvSpPr>
          <p:nvPr/>
        </p:nvSpPr>
        <p:spPr>
          <a:xfrm>
            <a:off x="914400" y="4645152"/>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M_5 = (A_11 + A_12) B_22</a:t>
            </a:r>
            <a:endParaRPr sz="1300"/>
          </a:p>
        </p:txBody>
      </p:sp>
      <p:sp>
        <p:nvSpPr>
          <p:cNvPr id="14" name="Text 11">
            <a:extLst>
              <a:ext uri="{FF2B5EF4-FFF2-40B4-BE49-F238E27FC236}">
                <a16:creationId xmlns:a16="http://schemas.microsoft.com/office/drawing/2014/main" id="{6EA29B58-1282-4B03-A3AD-D485FD3C70C3}"/>
              </a:ext>
            </a:extLst>
          </p:cNvPr>
          <p:cNvSpPr>
            <a:spLocks noGrp="1"/>
          </p:cNvSpPr>
          <p:nvPr/>
        </p:nvSpPr>
        <p:spPr>
          <a:xfrm>
            <a:off x="914400" y="507492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M_6 = (A_21 − A_11)(B_11 + B_12)</a:t>
            </a:r>
            <a:endParaRPr sz="1300"/>
          </a:p>
        </p:txBody>
      </p:sp>
      <p:sp>
        <p:nvSpPr>
          <p:cNvPr id="15" name="Text 12">
            <a:extLst>
              <a:ext uri="{FF2B5EF4-FFF2-40B4-BE49-F238E27FC236}">
                <a16:creationId xmlns:a16="http://schemas.microsoft.com/office/drawing/2014/main" id="{EF63D745-F7DC-4908-B299-623FFF284FE0}"/>
              </a:ext>
            </a:extLst>
          </p:cNvPr>
          <p:cNvSpPr>
            <a:spLocks noGrp="1"/>
          </p:cNvSpPr>
          <p:nvPr/>
        </p:nvSpPr>
        <p:spPr>
          <a:xfrm>
            <a:off x="914400" y="550468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M_7 = (A_12 − A_22)(B_21 + B_22)</a:t>
            </a:r>
            <a:endParaRPr sz="1300"/>
          </a:p>
        </p:txBody>
      </p:sp>
      <p:sp>
        <p:nvSpPr>
          <p:cNvPr id="17" name="Text 14">
            <a:extLst>
              <a:ext uri="{FF2B5EF4-FFF2-40B4-BE49-F238E27FC236}">
                <a16:creationId xmlns:a16="http://schemas.microsoft.com/office/drawing/2014/main" id="{9D1F4B01-7DAA-4A5E-9AE6-08447208E524}"/>
              </a:ext>
            </a:extLst>
          </p:cNvPr>
          <p:cNvSpPr>
            <a:spLocks noGrp="1"/>
          </p:cNvSpPr>
          <p:nvPr/>
        </p:nvSpPr>
        <p:spPr>
          <a:xfrm>
            <a:off x="7004304" y="2505456"/>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결과 블록 조립 (combine)</a:t>
            </a:r>
            <a:endParaRPr sz="1150"/>
          </a:p>
        </p:txBody>
      </p:sp>
      <p:sp>
        <p:nvSpPr>
          <p:cNvPr id="18" name="Text 15">
            <a:extLst>
              <a:ext uri="{FF2B5EF4-FFF2-40B4-BE49-F238E27FC236}">
                <a16:creationId xmlns:a16="http://schemas.microsoft.com/office/drawing/2014/main" id="{4D9569B1-A19A-4968-9718-F50E08F6004C}"/>
              </a:ext>
            </a:extLst>
          </p:cNvPr>
          <p:cNvSpPr>
            <a:spLocks noGrp="1"/>
          </p:cNvSpPr>
          <p:nvPr/>
        </p:nvSpPr>
        <p:spPr>
          <a:xfrm>
            <a:off x="6967728" y="2834640"/>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C_11 = M_1 + M_4 − M_5 + M_7</a:t>
            </a:r>
            <a:endParaRPr sz="1300"/>
          </a:p>
        </p:txBody>
      </p:sp>
      <p:sp>
        <p:nvSpPr>
          <p:cNvPr id="19" name="Text 16">
            <a:extLst>
              <a:ext uri="{FF2B5EF4-FFF2-40B4-BE49-F238E27FC236}">
                <a16:creationId xmlns:a16="http://schemas.microsoft.com/office/drawing/2014/main" id="{BE498E6B-D0C0-42F2-A2E1-30531BBEE192}"/>
              </a:ext>
            </a:extLst>
          </p:cNvPr>
          <p:cNvSpPr>
            <a:spLocks noGrp="1"/>
          </p:cNvSpPr>
          <p:nvPr/>
        </p:nvSpPr>
        <p:spPr>
          <a:xfrm>
            <a:off x="6967728" y="3255264"/>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C_12 = M_3 + M_5</a:t>
            </a:r>
            <a:endParaRPr sz="1300"/>
          </a:p>
        </p:txBody>
      </p:sp>
      <p:sp>
        <p:nvSpPr>
          <p:cNvPr id="20" name="Text 17">
            <a:extLst>
              <a:ext uri="{FF2B5EF4-FFF2-40B4-BE49-F238E27FC236}">
                <a16:creationId xmlns:a16="http://schemas.microsoft.com/office/drawing/2014/main" id="{723A5BF7-3C9B-4B4A-8DC8-FDEC09AA095C}"/>
              </a:ext>
            </a:extLst>
          </p:cNvPr>
          <p:cNvSpPr>
            <a:spLocks noGrp="1"/>
          </p:cNvSpPr>
          <p:nvPr/>
        </p:nvSpPr>
        <p:spPr>
          <a:xfrm>
            <a:off x="6967728" y="3675888"/>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C_21 = M_2 + M_4</a:t>
            </a:r>
            <a:endParaRPr sz="1300"/>
          </a:p>
        </p:txBody>
      </p:sp>
      <p:sp>
        <p:nvSpPr>
          <p:cNvPr id="21" name="Text 18">
            <a:extLst>
              <a:ext uri="{FF2B5EF4-FFF2-40B4-BE49-F238E27FC236}">
                <a16:creationId xmlns:a16="http://schemas.microsoft.com/office/drawing/2014/main" id="{8F7128FD-835A-4FB1-B017-27BE8CC79A0A}"/>
              </a:ext>
            </a:extLst>
          </p:cNvPr>
          <p:cNvSpPr>
            <a:spLocks noGrp="1"/>
          </p:cNvSpPr>
          <p:nvPr/>
        </p:nvSpPr>
        <p:spPr>
          <a:xfrm>
            <a:off x="6967728" y="4096512"/>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C_22 = M_1 − M_2 + M_3 + M_6</a:t>
            </a:r>
            <a:endParaRPr sz="1300"/>
          </a:p>
        </p:txBody>
      </p:sp>
      <p:sp>
        <p:nvSpPr>
          <p:cNvPr id="25" name="Text 21">
            <a:extLst>
              <a:ext uri="{FF2B5EF4-FFF2-40B4-BE49-F238E27FC236}">
                <a16:creationId xmlns:a16="http://schemas.microsoft.com/office/drawing/2014/main" id="{0C651907-4459-449A-B592-9FEA10DEAB9A}"/>
              </a:ext>
            </a:extLst>
          </p:cNvPr>
          <p:cNvSpPr>
            <a:spLocks noGrp="1"/>
          </p:cNvSpPr>
          <p:nvPr/>
        </p:nvSpPr>
        <p:spPr>
          <a:xfrm>
            <a:off x="7644384" y="4882896"/>
            <a:ext cx="3630168" cy="292608"/>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곱셈 1번을 덧셈 여러 번과 맞바꾼다</a:t>
            </a:r>
            <a:endParaRPr sz="1280"/>
          </a:p>
        </p:txBody>
      </p:sp>
      <p:sp>
        <p:nvSpPr>
          <p:cNvPr id="26" name="Text 22">
            <a:extLst>
              <a:ext uri="{FF2B5EF4-FFF2-40B4-BE49-F238E27FC236}">
                <a16:creationId xmlns:a16="http://schemas.microsoft.com/office/drawing/2014/main" id="{7F446843-53B6-42E5-8A32-88B5E89F0058}"/>
              </a:ext>
            </a:extLst>
          </p:cNvPr>
          <p:cNvSpPr>
            <a:spLocks noGrp="1"/>
          </p:cNvSpPr>
          <p:nvPr/>
        </p:nvSpPr>
        <p:spPr>
          <a:xfrm>
            <a:off x="7644384" y="5230368"/>
            <a:ext cx="3630168" cy="73152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덧셈·뺄셈은 O(n²)에 불과하지만, 곱셈은 재귀 호출이다. 재귀 호출 횟수 a를 줄이는 것이 압도적으로 이득이다.</a:t>
            </a:r>
            <a:endParaRPr sz="1150"/>
          </a:p>
        </p:txBody>
      </p:sp>
      <p:sp>
        <p:nvSpPr>
          <p:cNvPr id="28" name="직사각형 27">
            <a:extLst>
              <a:ext uri="{FF2B5EF4-FFF2-40B4-BE49-F238E27FC236}">
                <a16:creationId xmlns:a16="http://schemas.microsoft.com/office/drawing/2014/main" id="{BC567392-71F5-46B7-BDCA-9A1B2D55831B}"/>
              </a:ext>
            </a:extLst>
          </p:cNvPr>
          <p:cNvSpPr>
            <a:spLocks noGrp="1"/>
          </p:cNvSpPr>
          <p:nvPr/>
        </p:nvSpPr>
        <p:spPr>
          <a:xfrm>
            <a:off x="6784848" y="4700016"/>
            <a:ext cx="4745736"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46D11529-C837-4C23-9319-41B4B6F8CA2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CBAB3D3C-B9E9-4C76-AD62-9D6DA7937B5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1309B74-E143-46DE-8BEE-7BD02546EB2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스트라센의 발견 — "8번이 아니라 7번이면 된다"</a:t>
            </a:r>
          </a:p>
        </p:txBody>
      </p:sp>
      <p:sp>
        <p:nvSpPr>
          <p:cNvPr id="32" name="직사각형 31">
            <a:extLst>
              <a:ext uri="{FF2B5EF4-FFF2-40B4-BE49-F238E27FC236}">
                <a16:creationId xmlns:a16="http://schemas.microsoft.com/office/drawing/2014/main" id="{41A77CA2-95C3-4CBE-860F-844964FF920E}"/>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A1EBFDB4-87D9-474B-8DAB-FF58A4D8037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FFECBC2-3A23-4042-BC44-2A4766BFE2A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835D979A-BF0C-4026-A66F-72510E08C8F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3892450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4ABCD033-0C60-49E9-A402-2AC83CB2EF2A}"/>
              </a:ext>
            </a:extLst>
          </p:cNvPr>
          <p:cNvSpPr>
            <a:spLocks noGrp="1"/>
          </p:cNvSpPr>
          <p:nvPr/>
        </p:nvSpPr>
        <p:spPr>
          <a:xfrm>
            <a:off x="932688" y="1783080"/>
            <a:ext cx="10323576" cy="1005840"/>
          </a:xfrm>
          <a:prstGeom prst="rect">
            <a:avLst/>
          </a:prstGeom>
          <a:noFill/>
          <a:ln w="0">
            <a:noFill/>
          </a:ln>
        </p:spPr>
        <p:txBody>
          <a:bodyPr wrap="square" lIns="0" tIns="0" rIns="0" bIns="0" anchor="ctr">
            <a:noAutofit/>
          </a:bodyPr>
          <a:lstStyle/>
          <a:p>
            <a:pPr marL="0" indent="0" algn="ctr">
              <a:buNone/>
              <a:defRPr sz="2300" i="0">
                <a:solidFill>
                  <a:srgbClr val="171717"/>
                </a:solidFill>
                <a:latin typeface="Malgun Gothic"/>
                <a:ea typeface="Malgun Gothic"/>
                <a:cs typeface="Malgun Gothic"/>
              </a:defRPr>
            </a:pPr>
            <a:r>
              <a:rPr sz="2300" b="1" i="0">
                <a:solidFill>
                  <a:srgbClr val="171717"/>
                </a:solidFill>
                <a:latin typeface="Malgun Gothic"/>
                <a:ea typeface="Malgun Gothic"/>
                <a:cs typeface="Malgun Gothic"/>
              </a:rPr>
              <a:t>T(n) = 7T(n/2) + O(n^(2))     ⇒     Θ(n^(log₂ 7)) ≈ Θ(n^(2.807))</a:t>
            </a:r>
            <a:endParaRPr sz="2300"/>
          </a:p>
        </p:txBody>
      </p:sp>
      <p:graphicFrame>
        <p:nvGraphicFramePr>
          <p:cNvPr id="25" name="Table 0"/>
          <p:cNvGraphicFramePr/>
          <p:nvPr/>
        </p:nvGraphicFramePr>
        <p:xfrm>
          <a:off x="658368" y="2926080"/>
          <a:ext cx="10872216" cy="2560320"/>
        </p:xfrm>
        <a:graphic>
          <a:graphicData uri="http://schemas.openxmlformats.org/drawingml/2006/table">
            <a:tbl>
              <a:tblPr/>
              <a:tblGrid>
                <a:gridCol w="2331720">
                  <a:extLst>
                    <a:ext uri="{9D8B030D-6E8A-4147-A177-3AD203B41FA5}">
                      <a16:colId xmlns:a16="http://schemas.microsoft.com/office/drawing/2014/main" val="20000"/>
                    </a:ext>
                  </a:extLst>
                </a:gridCol>
                <a:gridCol w="4270248">
                  <a:extLst>
                    <a:ext uri="{9D8B030D-6E8A-4147-A177-3AD203B41FA5}">
                      <a16:colId xmlns:a16="http://schemas.microsoft.com/office/drawing/2014/main" val="20001"/>
                    </a:ext>
                  </a:extLst>
                </a:gridCol>
                <a:gridCol w="4270248">
                  <a:extLst>
                    <a:ext uri="{9D8B030D-6E8A-4147-A177-3AD203B41FA5}">
                      <a16:colId xmlns:a16="http://schemas.microsoft.com/office/drawing/2014/main" val="20002"/>
                    </a:ext>
                  </a:extLst>
                </a:gridCol>
              </a:tblGrid>
              <a:tr h="365760">
                <a:tc>
                  <a:txBody>
                    <a:bodyPr/>
                    <a:lstStyle/>
                    <a:p>
                      <a:pPr marL="0" indent="0" algn="ctr">
                        <a:buNone/>
                      </a:pP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카라츠바 (§4.7)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스트라센 (§4.8)</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365760">
                <a:tc>
                  <a:txBody>
                    <a:bodyPr/>
                    <a:lstStyle/>
                    <a:p>
                      <a:pPr marL="0" indent="0" algn="l">
                        <a:buNone/>
                      </a:pPr>
                      <a:r>
                        <a:rPr sz="1150" b="0">
                          <a:solidFill>
                            <a:srgbClr val="171717"/>
                          </a:solidFill>
                          <a:latin typeface="Malgun Gothic"/>
                          <a:ea typeface="Malgun Gothic"/>
                          <a:cs typeface="Malgun Gothic"/>
                        </a:rPr>
                        <a:t>대상</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큰 정수의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n × n 행렬의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sz="1150" b="0">
                          <a:solidFill>
                            <a:srgbClr val="171717"/>
                          </a:solidFill>
                          <a:latin typeface="Malgun Gothic"/>
                          <a:ea typeface="Malgun Gothic"/>
                          <a:cs typeface="Malgun Gothic"/>
                        </a:rPr>
                        <a:t>소박한 분할</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곱셈 4번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블록 곱셈 8번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365760">
                <a:tc>
                  <a:txBody>
                    <a:bodyPr/>
                    <a:lstStyle/>
                    <a:p>
                      <a:pPr marL="0" indent="0" algn="l">
                        <a:buNone/>
                      </a:pPr>
                      <a:r>
                        <a:rPr sz="1150" b="0">
                          <a:solidFill>
                            <a:srgbClr val="171717"/>
                          </a:solidFill>
                          <a:latin typeface="Malgun Gothic"/>
                          <a:ea typeface="Malgun Gothic"/>
                          <a:cs typeface="Malgun Gothic"/>
                        </a:rPr>
                        <a:t>개선 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곱셈 3번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블록 곱셈 7번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sz="1150" b="0">
                          <a:solidFill>
                            <a:srgbClr val="171717"/>
                          </a:solidFill>
                          <a:latin typeface="Malgun Gothic"/>
                          <a:ea typeface="Malgun Gothic"/>
                          <a:cs typeface="Malgun Gothic"/>
                        </a:rPr>
                        <a:t>점화식</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3T(n/2) + O(n)</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7T(n/2) + 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365760">
                <a:tc>
                  <a:txBody>
                    <a:bodyPr/>
                    <a:lstStyle/>
                    <a:p>
                      <a:pPr marL="0" indent="0" algn="l">
                        <a:buNone/>
                      </a:pPr>
                      <a:r>
                        <a:rPr sz="1150" b="0">
                          <a:solidFill>
                            <a:srgbClr val="171717"/>
                          </a:solidFill>
                          <a:latin typeface="Malgun Gothic"/>
                          <a:ea typeface="Malgun Gothic"/>
                          <a:cs typeface="Malgun Gothic"/>
                        </a:rPr>
                        <a:t>시간 복잡도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O(n^1.585)</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O(n^2.807)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sz="1150" b="0">
                          <a:solidFill>
                            <a:srgbClr val="171717"/>
                          </a:solidFill>
                          <a:latin typeface="Malgun Gothic"/>
                          <a:ea typeface="Malgun Gothic"/>
                          <a:cs typeface="Malgun Gothic"/>
                        </a:rPr>
                        <a:t>기존 방법</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O(n³)</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2" name="Text 7">
            <a:extLst>
              <a:ext uri="{FF2B5EF4-FFF2-40B4-BE49-F238E27FC236}">
                <a16:creationId xmlns:a16="http://schemas.microsoft.com/office/drawing/2014/main" id="{0147ABC6-DCE9-4A46-8E9D-1BD9FE9989A3}"/>
              </a:ext>
            </a:extLst>
          </p:cNvPr>
          <p:cNvSpPr>
            <a:spLocks noGrp="1"/>
          </p:cNvSpPr>
          <p:nvPr/>
        </p:nvSpPr>
        <p:spPr>
          <a:xfrm>
            <a:off x="1517904" y="5760720"/>
            <a:ext cx="9756648" cy="23774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두 알고리즘의 공통 교훈 — 값싼 덧셈을 늘려서라도 비싼 재귀 호출 횟수 a 를 줄여라.</a:t>
            </a:r>
            <a:endParaRPr sz="1250"/>
          </a:p>
        </p:txBody>
      </p:sp>
      <p:sp>
        <p:nvSpPr>
          <p:cNvPr id="16" name="직사각형 15">
            <a:extLst>
              <a:ext uri="{FF2B5EF4-FFF2-40B4-BE49-F238E27FC236}">
                <a16:creationId xmlns:a16="http://schemas.microsoft.com/office/drawing/2014/main" id="{83F5AFD3-8D61-4C71-B1CC-F8C1D8C3026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2FDE12BE-45E4-4AF7-B107-A879090BAE4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3BD3FB1A-B540-4A85-A9C1-65725962D76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분석과 두 알고리즘의 공통점</a:t>
            </a:r>
          </a:p>
        </p:txBody>
      </p:sp>
      <p:sp>
        <p:nvSpPr>
          <p:cNvPr id="19" name="직사각형 18">
            <a:extLst>
              <a:ext uri="{FF2B5EF4-FFF2-40B4-BE49-F238E27FC236}">
                <a16:creationId xmlns:a16="http://schemas.microsoft.com/office/drawing/2014/main" id="{6C92FCDB-EA9F-4023-9FCB-D74EB4270497}"/>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8EF24FA7-E678-43E3-AE8F-36FC7EBC52AA}"/>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4BF69BA8-AE71-4A40-AC0A-C782BE85FDF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C8A83022-6FB0-45DD-AA6D-CBCE102DB71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4273601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4.10</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107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108</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재귀 호출 횟수 a를 줄여라</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카라츠바(4→3)와 스트라센(8→7)은 값싼 덧셈으로 비싼 곱셈을 대체했다.</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113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29769</Words>
  <Application>Microsoft Office PowerPoint</Application>
  <DocSecurity>0</DocSecurity>
  <PresentationFormat>와이드스크린</PresentationFormat>
  <Paragraphs>3350</Paragraphs>
  <Slides>113</Slides>
  <Notes>113</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113</vt:i4>
      </vt:variant>
    </vt:vector>
  </HeadingPairs>
  <TitlesOfParts>
    <vt:vector size="118"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6</cp:revision>
  <dcterms:created xsi:type="dcterms:W3CDTF">2026-09-19T13:48:20Z</dcterms:created>
  <dcterms:modified xsi:type="dcterms:W3CDTF">2026-10-11T10:51:48Z</dcterms:modified>
</cp:coreProperties>
</file>