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9"/>
  </p:notesMasterIdLst>
  <p:sldIdLst>
    <p:sldId id="256" r:id="rId2"/>
    <p:sldId id="394" r:id="rId3"/>
    <p:sldId id="258" r:id="rId4"/>
    <p:sldId id="259" r:id="rId5"/>
    <p:sldId id="260" r:id="rId6"/>
    <p:sldId id="261" r:id="rId7"/>
    <p:sldId id="320" r:id="rId8"/>
    <p:sldId id="345" r:id="rId9"/>
    <p:sldId id="346" r:id="rId10"/>
    <p:sldId id="347" r:id="rId11"/>
    <p:sldId id="348" r:id="rId12"/>
    <p:sldId id="349" r:id="rId13"/>
    <p:sldId id="350" r:id="rId14"/>
    <p:sldId id="351" r:id="rId15"/>
    <p:sldId id="352" r:id="rId16"/>
    <p:sldId id="353" r:id="rId17"/>
    <p:sldId id="354" r:id="rId18"/>
    <p:sldId id="355" r:id="rId19"/>
    <p:sldId id="356" r:id="rId20"/>
    <p:sldId id="357" r:id="rId21"/>
    <p:sldId id="358" r:id="rId22"/>
    <p:sldId id="359" r:id="rId23"/>
    <p:sldId id="360" r:id="rId24"/>
    <p:sldId id="361" r:id="rId25"/>
    <p:sldId id="362" r:id="rId26"/>
    <p:sldId id="363" r:id="rId27"/>
    <p:sldId id="364" r:id="rId28"/>
    <p:sldId id="365" r:id="rId29"/>
    <p:sldId id="366" r:id="rId30"/>
    <p:sldId id="367" r:id="rId31"/>
    <p:sldId id="368" r:id="rId32"/>
    <p:sldId id="369" r:id="rId33"/>
    <p:sldId id="370" r:id="rId34"/>
    <p:sldId id="323" r:id="rId35"/>
    <p:sldId id="324" r:id="rId36"/>
    <p:sldId id="325" r:id="rId37"/>
    <p:sldId id="262" r:id="rId38"/>
    <p:sldId id="263" r:id="rId39"/>
    <p:sldId id="264" r:id="rId40"/>
    <p:sldId id="265" r:id="rId41"/>
    <p:sldId id="266" r:id="rId42"/>
    <p:sldId id="267" r:id="rId43"/>
    <p:sldId id="268" r:id="rId44"/>
    <p:sldId id="269" r:id="rId45"/>
    <p:sldId id="270" r:id="rId46"/>
    <p:sldId id="271" r:id="rId47"/>
    <p:sldId id="326" r:id="rId48"/>
    <p:sldId id="327" r:id="rId49"/>
    <p:sldId id="372" r:id="rId50"/>
    <p:sldId id="373" r:id="rId51"/>
    <p:sldId id="374" r:id="rId52"/>
    <p:sldId id="375" r:id="rId53"/>
    <p:sldId id="330" r:id="rId54"/>
    <p:sldId id="331" r:id="rId55"/>
    <p:sldId id="332" r:id="rId56"/>
    <p:sldId id="333" r:id="rId57"/>
    <p:sldId id="334" r:id="rId58"/>
    <p:sldId id="335" r:id="rId59"/>
    <p:sldId id="371" r:id="rId60"/>
    <p:sldId id="376" r:id="rId61"/>
    <p:sldId id="377" r:id="rId62"/>
    <p:sldId id="378" r:id="rId63"/>
    <p:sldId id="379" r:id="rId64"/>
    <p:sldId id="380" r:id="rId65"/>
    <p:sldId id="381" r:id="rId66"/>
    <p:sldId id="382" r:id="rId67"/>
    <p:sldId id="383" r:id="rId68"/>
    <p:sldId id="384" r:id="rId69"/>
    <p:sldId id="385" r:id="rId70"/>
    <p:sldId id="386" r:id="rId71"/>
    <p:sldId id="387" r:id="rId72"/>
    <p:sldId id="388" r:id="rId73"/>
    <p:sldId id="389" r:id="rId74"/>
    <p:sldId id="390" r:id="rId75"/>
    <p:sldId id="391" r:id="rId76"/>
    <p:sldId id="392" r:id="rId77"/>
    <p:sldId id="338" r:id="rId78"/>
    <p:sldId id="339" r:id="rId79"/>
    <p:sldId id="340" r:id="rId80"/>
    <p:sldId id="341" r:id="rId81"/>
    <p:sldId id="342" r:id="rId82"/>
    <p:sldId id="343" r:id="rId83"/>
    <p:sldId id="344" r:id="rId84"/>
    <p:sldId id="272" r:id="rId85"/>
    <p:sldId id="395" r:id="rId86"/>
    <p:sldId id="257" r:id="rId87"/>
    <p:sldId id="396" r:id="rId88"/>
    <p:sldId id="397" r:id="rId89"/>
    <p:sldId id="398" r:id="rId90"/>
    <p:sldId id="399" r:id="rId91"/>
    <p:sldId id="400" r:id="rId92"/>
    <p:sldId id="401" r:id="rId93"/>
    <p:sldId id="402" r:id="rId94"/>
    <p:sldId id="403" r:id="rId95"/>
    <p:sldId id="404" r:id="rId96"/>
    <p:sldId id="405" r:id="rId97"/>
    <p:sldId id="406" r:id="rId98"/>
    <p:sldId id="407" r:id="rId99"/>
    <p:sldId id="408" r:id="rId100"/>
    <p:sldId id="409" r:id="rId101"/>
    <p:sldId id="410" r:id="rId102"/>
    <p:sldId id="273" r:id="rId103"/>
    <p:sldId id="274" r:id="rId104"/>
    <p:sldId id="275" r:id="rId105"/>
    <p:sldId id="276" r:id="rId106"/>
    <p:sldId id="277" r:id="rId107"/>
    <p:sldId id="278" r:id="rId108"/>
    <p:sldId id="279" r:id="rId109"/>
    <p:sldId id="280" r:id="rId110"/>
    <p:sldId id="281" r:id="rId111"/>
    <p:sldId id="411" r:id="rId112"/>
    <p:sldId id="412" r:id="rId113"/>
    <p:sldId id="413" r:id="rId114"/>
    <p:sldId id="414" r:id="rId115"/>
    <p:sldId id="415" r:id="rId116"/>
    <p:sldId id="416" r:id="rId117"/>
    <p:sldId id="417" r:id="rId118"/>
    <p:sldId id="418" r:id="rId119"/>
    <p:sldId id="419" r:id="rId120"/>
    <p:sldId id="420" r:id="rId121"/>
    <p:sldId id="421" r:id="rId122"/>
    <p:sldId id="422" r:id="rId123"/>
    <p:sldId id="423" r:id="rId124"/>
    <p:sldId id="424" r:id="rId125"/>
    <p:sldId id="425" r:id="rId126"/>
    <p:sldId id="426" r:id="rId127"/>
    <p:sldId id="427" r:id="rId128"/>
    <p:sldId id="428" r:id="rId129"/>
    <p:sldId id="429" r:id="rId130"/>
    <p:sldId id="430" r:id="rId131"/>
    <p:sldId id="302" r:id="rId132"/>
    <p:sldId id="303" r:id="rId133"/>
    <p:sldId id="304" r:id="rId134"/>
    <p:sldId id="305" r:id="rId135"/>
    <p:sldId id="306" r:id="rId136"/>
    <p:sldId id="307" r:id="rId137"/>
    <p:sldId id="308" r:id="rId138"/>
    <p:sldId id="309" r:id="rId139"/>
    <p:sldId id="310" r:id="rId140"/>
    <p:sldId id="311" r:id="rId141"/>
    <p:sldId id="312" r:id="rId142"/>
    <p:sldId id="431" r:id="rId143"/>
    <p:sldId id="432" r:id="rId144"/>
    <p:sldId id="433" r:id="rId145"/>
    <p:sldId id="434" r:id="rId146"/>
    <p:sldId id="435" r:id="rId147"/>
    <p:sldId id="436" r:id="rId148"/>
    <p:sldId id="437" r:id="rId149"/>
    <p:sldId id="438" r:id="rId150"/>
    <p:sldId id="321" r:id="rId151"/>
    <p:sldId id="322" r:id="rId152"/>
    <p:sldId id="439" r:id="rId153"/>
    <p:sldId id="440" r:id="rId154"/>
    <p:sldId id="441" r:id="rId155"/>
    <p:sldId id="442" r:id="rId156"/>
    <p:sldId id="443" r:id="rId157"/>
    <p:sldId id="328" r:id="rId158"/>
    <p:sldId id="329" r:id="rId159"/>
    <p:sldId id="444" r:id="rId160"/>
    <p:sldId id="282" r:id="rId161"/>
    <p:sldId id="283" r:id="rId162"/>
    <p:sldId id="284" r:id="rId163"/>
    <p:sldId id="285" r:id="rId164"/>
    <p:sldId id="286" r:id="rId165"/>
    <p:sldId id="287" r:id="rId166"/>
    <p:sldId id="288" r:id="rId167"/>
    <p:sldId id="289" r:id="rId168"/>
    <p:sldId id="290" r:id="rId169"/>
    <p:sldId id="291" r:id="rId170"/>
    <p:sldId id="292" r:id="rId171"/>
    <p:sldId id="293" r:id="rId172"/>
    <p:sldId id="294" r:id="rId173"/>
    <p:sldId id="295" r:id="rId174"/>
    <p:sldId id="296" r:id="rId175"/>
    <p:sldId id="297" r:id="rId176"/>
    <p:sldId id="298" r:id="rId177"/>
    <p:sldId id="299" r:id="rId178"/>
    <p:sldId id="300" r:id="rId179"/>
    <p:sldId id="301" r:id="rId180"/>
    <p:sldId id="393" r:id="rId181"/>
    <p:sldId id="313" r:id="rId182"/>
    <p:sldId id="314" r:id="rId183"/>
    <p:sldId id="315" r:id="rId184"/>
    <p:sldId id="316" r:id="rId185"/>
    <p:sldId id="317" r:id="rId186"/>
    <p:sldId id="318" r:id="rId187"/>
    <p:sldId id="319" r:id="rId188"/>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tableStyles" Target="tableStyle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분할 정복으로 문제를 푸는 방법을 배웁니다. 먼저 문제를 작은 부분으로 나누고, 각 부분을 풀고, 결과를 합치는 세 단계를 보겠습니다. 이 구조를 가장 먼저 확인할 예가 병합 정렬과 퀵 정렬이에요. 병합 정렬은 둘로 나눈 배열을 각각 정렬한 뒤 작은 값부터 합칩니다. 퀵 정렬은 피벗을 기준으로 값을 나누고, 피벗을 제외한 두 구간을 다시 정렬합니다. 두 정렬은 배열이 끝까지 정렬되는 과정을 직접 따라가겠습니다. 이어서 최대 구간 합과 최근접 쌍, 쿼드 트리 같은 응용을 보고, 마스터 정리로 시간 복잡도를 정리합니다. 마지막에는 색종이 만들기와 빠른 거듭제곱 예제를 풀어보겠습니다.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6555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3, 마이너스 5, 12, 마이너스 2, 7, 마이너스 9, 5, 1입니다. 뒤의 코드에서도 똑같은 여덟 값을 사용할게요. 화면 아래의 작은 숫자는 값이 아니라 인덱스이고, 첫 칸은 인덱스 0입니다.</a:t>
            </a:r>
          </a:p>
          <a:p>
            <a:endParaRPr/>
          </a:p>
          <a:p>
            <a:r>
              <a:t>구간이라는 말은 배열에서 이어 붙은 칸들을 뜻합니다. 시작 칸 하나와 끝 칸 하나를 정하면 그 사이에 있는 값은 하나도 빼놓을 수 없습니다. 값 12와 7만 골라 더하는 것은 안 됩니다. 그 사이의 마이너스 2도 반드시 포함해야 해요. 또 아무 원소도 고르지 않는 빈 구간은 허용하지 않습니다.</a:t>
            </a:r>
          </a:p>
          <a:p>
            <a:endParaRPr/>
          </a:p>
          <a:p>
            <a:r>
              <a:t>지금 주황색으로 표시한 구간은 인덱스 2부터 4까지입니다. 12에서 2를 빼면 10이고, 거기에 7을 더하면 17입니다. 배열 전체를 더하면 12이므로, 전체를 선택하는 것보다 이 세 칸만 선택한 합이 더 큽니다. 음수가 있다고 무조건 그 칸에서 끊는 것도 아닙니다. 마이너스 2를 포함해도 양쪽의 큰 양수를 함께 가져올 수 있죠.</a:t>
            </a:r>
          </a:p>
          <a:p>
            <a:endParaRPr/>
          </a:p>
          <a:p>
            <a:r>
              <a:t>이제 답이 17이라는 사실을 코드에 넣고 출발하는 것이 아닙니다. 배열을 작은 구간으로 나누어 원소 하나에서 시작하고, 작은 답을 합쳐서 코드가 스스로 17을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low, 끝을 high라고 부릅니다. 이번 전체 호출에서는 low가 0이고 high가 7입니다. mid는 0과 7을 더한 뒤 2로 나눈 정수 몫이므로 3입니다. 따라서 왼쪽은 인덱스 0부터 3까지, 오른쪽은 4부터 7까지예요. 화면의 세로선이 그 경계입니다.</a:t>
            </a:r>
          </a:p>
          <a:p>
            <a:endParaRPr/>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endParaRPr/>
          </a:p>
          <a:p>
            <a:r>
              <a:t>left_max는 왼쪽 안에서 가장 큰 구간 합입니다. 왼쪽 네 칸 가운데 어디서 시작하고 어디서 끝내도 됩니다. right_max도 오른쪽 안에서 똑같이 구합니다. 두 값은 각 절반에 같은 함수를 다시 호출해서 받아올 거예요. 여기서는 아직 그 값들을 알고 있다고 가정하지 않겠습니다.</a:t>
            </a:r>
          </a:p>
          <a:p>
            <a:endParaRPr/>
          </a:p>
          <a:p>
            <a:r>
              <a:t>cross_max는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3의 마이너스 2이고, 바로 오른쪽은 인덱스 4의 7입니다. 왼쪽과 오른쪽을 모두 선택한 연속 구간이라면 이 두 칸을 반드시 지나가야 합니다. 한쪽 칸을 빼면 구간이 중간에서 끊어지니까요.</a:t>
            </a:r>
          </a:p>
          <a:p>
            <a:endParaRPr/>
          </a:p>
          <a:p>
            <a:r>
              <a:t>그래서 경계를 걸치는 답을 구할 때는 왼쪽의 끝을 mid에 고정합니다. 시작 칸만 mid, mid 마이너스 1, 그 전 칸으로 바꿔 봅니다. 실제 탐색에서는 mid의 값을 먼저 더하고, 포인터 i를 한 칸씩 왼쪽으로 옮기며 구간을 늘릴 거예요. 왼쪽 어디에서 끝나도 되는 left_max와는 조건이 다릅니다.</a:t>
            </a:r>
          </a:p>
          <a:p>
            <a:endParaRPr/>
          </a:p>
          <a:p>
            <a:r>
              <a:t>오른쪽은 시작 칸을 mid 플러스 1에 고정합니다. 끝 칸을 한 칸씩 오른쪽으로 늘려 봅니다. 이쪽 포인터 j는 4, 5, 6, 7 순서로 이동합니다. 양쪽에서 각각 가장 좋은 구간을 저장해 두면, 두 구간이 경계에서 바로 붙습니다. 중간에 빠진 칸도 없고, 같은 칸을 두 번 더하지도 않아요.</a:t>
            </a:r>
          </a:p>
          <a:p>
            <a:endParaRPr/>
          </a:p>
          <a:p>
            <a:r>
              <a:t>왼쪽에서 저장할 이름은 left_sum이고 오른쪽은 right_sum입니다. 재귀 호출에서 받는 left_max와 right_max와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12이고 오른쪽 최대값은 7이라는 답을 받습니다. 그러면 둘을 더해서 19라고 하면 되지 않을까요? 위의 줄에서 선택한 칸을 보세요. 12와 7 사이에 있는 마이너스 2를 빠뜨렸습니다. 그래서 두 칸을 더한 19는 연속 구간의 합이 아닙니다.</a:t>
            </a:r>
          </a:p>
          <a:p>
            <a:endParaRPr/>
          </a:p>
          <a:p>
            <a:r>
              <a:t>left_max는 왼쪽 전체에서 아무 구간이나 고를 수 있습니다. 값 12 한 칸에서 끝내도 되기 때문에 12가 답이 되는 것이죠. 하지만 경계를 걸치는 왼쪽 부분은 반드시 인덱스 3에서 끝나야 합니다. 값 12를 가져오려면 다음 칸인 마이너스 2도 같이 가져와야 해서 합이 10이 됩니다.</a:t>
            </a:r>
          </a:p>
          <a:p>
            <a:endParaRPr/>
          </a:p>
          <a:p>
            <a:r>
              <a:t>오른쪽 부분은 반드시 인덱스 4에서 시작해야 합니다. 이 예제에서는 7 한 칸이 가장 좋습니다. 따라서 경계에 붙은 왼쪽 합 10과 오른쪽 합 7을 더한 17이 실제로 가능한 걸친 구간입니다. 아래 주황색 칸은 12, 마이너스 2, 7이 모두 붙어 있어요.</a:t>
            </a:r>
          </a:p>
          <a:p>
            <a:endParaRPr/>
          </a:p>
          <a:p>
            <a:r>
              <a:t>여기서 12, 7, 10을 암기하지 않아도 됩니다. 뒤의 모든 화면에서 재귀 호출과 포인터 이동으로 각각 계산할 겁니다. 지금은 left_max와 left_sum이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current_sum은 지금 실제로 늘려 가는 구간의 합입니다. 처음에는 0에서 시작하고, 첫 칸을 읽은 다음 그 값을 더합니다. 다음 칸을 읽으면 이전 current_sum에 그 값을 계속 더해요. 탐색 중에 합이 작아졌다고 마음대로 0으로 바꾸지 않습니다. 경계에서 이어진 구간을 확인해야 하기 때문입니다.</a:t>
            </a:r>
          </a:p>
          <a:p>
            <a:endParaRPr/>
          </a:p>
          <a:p>
            <a:r>
              <a:t>left_sum은 왼쪽 후보들 가운데 지금까지 가장 큰 합을 저장합니다. 오른쪽을 훑을 때는 같은 역할을 right_sum이 합니다. 현재 합이 저장한 최댓값보다 크면 기록을 갱신하고, 그렇지 않으면 기록은 그대로 둡니다. 현재 구간과 최선으로 저장한 구간이 서로 다를 수도 있어요.</a:t>
            </a:r>
          </a:p>
          <a:p>
            <a:endParaRPr/>
          </a:p>
          <a:p>
            <a:r>
              <a:t>예를 들어 경계의 마이너스 2에서 시작해서 12를 더하면 현재 합은 10입니다. 그다음 마이너스 5를 더하면 현재 합은 5가 됩니다. 다음 칸을 더할 때는 10이 아니라 5에 더해야 합니다. 저장한 기록 10은 좋은 답을 잊지 않기 위한 값이지, 현재 합을 계산하는 출발점이 아닙니다.</a:t>
            </a:r>
          </a:p>
          <a:p>
            <a:endParaRPr/>
          </a:p>
          <a:p>
            <a:r>
              <a:t>최댓값 기록은 처음에 마이너스 무한대로 둡니다. 어떤 실제 합보다도 작다고 생각하면 돼요. 그러면 첫 원소가 음수여도 그 음수가 기록됩니다. 기록을 0으로 시작하면 음수만 있는 배열에서 허용하지 않은 빈 구간을 답으로 고르는 오류가 생깁니다. 아래 예에서는 첫 원소 마이너스 2를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0부터 7까지 여덟 칸입니다. 이것을 왼쪽 네 칸과 오른쪽 네 칸으로 나눕니다. 네 칸짜리 호출은 다시 두 칸씩 나누고, 두 칸짜리 호출은 원소 하나씩 나눕니다. 맨 아래의 원소 하나에서 함수가 멈춥니다.</a:t>
            </a:r>
          </a:p>
          <a:p>
            <a:endParaRPr/>
          </a:p>
          <a:p>
            <a:r>
              <a:t>원소 하나만 있는 구간에서는 고를 수 있는 비어 있지 않은 구간도 그 한 칸뿐입니다. 그래서 그 칸의 값을 바로 반환합니다. 양수는 물론 음수도 그대로 반환해요. 가장 왼쪽의 호출은 3을 돌려주고, 그 옆의 호출은 마이너스 5를 돌려줍니다. 두 값을 받은 두 칸짜리 부모 호출은 경계를 걸치는 합도 계산해서 세 후보를 비교합니다.</a:t>
            </a:r>
          </a:p>
          <a:p>
            <a:endParaRPr/>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endParaRPr/>
          </a:p>
          <a:p>
            <a:r>
              <a:t>또 left_max라는 이름은 호출마다 따로 있습니다. 두 칸짜리 호출이 받은 left_max와 전체 여덟 칸짜리 호출이 기다리는 left_max는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7까지입니다. 이번 구간의 원소는 3, 마이너스 5, 12, 마이너스 2,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7를 2로 나누어 소수 부분을 버리면 3입니다. 왼쪽 호출에는 0부터 3까지를 넘기고, 오른쪽 호출에는 4부터 7까지를 넘깁니다. mid는 왼쪽에만 포함되므로 같은 칸을 두 번 처리하지 않습니다.</a:t>
            </a:r>
          </a:p>
          <a:p>
            <a:endParaRPr/>
          </a:p>
          <a:p>
            <a:r>
              <a:t>코드는 left_max를 구하는 줄부터 실행합니다. 그래서 다음에는 왼쪽 [0~3] 호출 안으로 들어갑니다. 이 호출이 답을 돌려주기 전에는 right_max를 구하는 다음 줄로 넘어가지 않습니다. 지금은 전체 여덟 칸의 답을 구하는 호출입니다.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3까지입니다. 이번 구간의 원소는 3, 마이너스 5,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3를 2로 나누어 소수 부분을 버리면 1입니다. 왼쪽 호출에는 0부터 1까지를 넘기고, 오른쪽 호출에는 2부터 3까지를 넘깁니다. mid는 왼쪽에만 포함되므로 같은 칸을 두 번 처리하지 않습니다.</a:t>
            </a:r>
          </a:p>
          <a:p>
            <a:endParaRPr/>
          </a:p>
          <a:p>
            <a:r>
              <a:t>코드는 left_max를 구하는 줄부터 실행합니다. 그래서 다음에는 왼쪽 [0~1] 호출 안으로 들어갑니다. 이 호출이 답을 돌려주기 전에는 right_max를 구하는 다음 줄로 넘어가지 않습니다. [0~7]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1까지입니다. 이번 구간의 원소는 3, 마이너스 5입니다.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1를 2로 나누어 소수 부분을 버리면 0입니다. 왼쪽 호출에는 0부터 0까지를 넘기고, 오른쪽 호출에는 1부터 1까지를 넘깁니다. mid는 왼쪽에만 포함되므로 같은 칸을 두 번 처리하지 않습니다.</a:t>
            </a:r>
          </a:p>
          <a:p>
            <a:endParaRPr/>
          </a:p>
          <a:p>
            <a:r>
              <a:t>코드는 left_max를 구하는 줄부터 실행합니다. 그래서 다음에는 왼쪽 [0~0] 호출 안으로 들어갑니다. 이 호출이 답을 돌려주기 전에는 right_max를 구하는 다음 줄로 넘어가지 않습니다. [0~3]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0부터 0까지입니다.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3 하나입니다. 빈 구간을 고르지 않는 문제이므로 선택할 수 있는 구간은 이 한 칸밖에 없습니다. 이 값을 더 작은 호출로 나눌 필요는 없습니다. 따라서 종료 조건 low와 high가 같다는 조건을 만족하고, a[low]의 값 3을 바로 반환합니다.</a:t>
            </a:r>
          </a:p>
          <a:p>
            <a:endParaRPr/>
          </a:p>
          <a:p>
            <a:r>
              <a:t>이 반환값은 부모 [0~1]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1부터 1까지입니다.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5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5을 바로 반환합니다.</a:t>
            </a:r>
          </a:p>
          <a:p>
            <a:endParaRPr/>
          </a:p>
          <a:p>
            <a:r>
              <a:t>이 반환값은 부모 [0~1]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왼쪽 스캔입니다. 현재 mid는 0입니다. 포인터 i가 가리킨 인덱스는 0이고, 그 칸의 값은 3입니다. 왼쪽 구간은 항상 0에서 끝나며, 시작 칸을 왼쪽으로 늘리고 있습니다.</a:t>
            </a:r>
          </a:p>
          <a:p>
            <a:endParaRPr/>
          </a:p>
          <a:p>
            <a:r>
              <a:t>바로 전 현재 합은 0이었습니다. 여기에 이번 칸의 3을 더하면 3입니다. 첫 줄에서 색칠한 구간은 인덱스 0부터 0까지이고, 이 칸들을 모두 더한 값이 current_sum 3입니다. 지금은 첫 칸을 읽었으므로 초기 0에 이 한 값을 더했습니다.</a:t>
            </a:r>
          </a:p>
          <a:p>
            <a:endParaRPr/>
          </a:p>
          <a:p>
            <a:r>
              <a:t>이제 기록 left_sum과 비교합니다. 기록은 아직 마이너스 무한대이므로 실제 합 3을 첫 기록으로 저장합니다. 아래 줄이 저장한 최선의 구간입니다. </a:t>
            </a:r>
          </a:p>
          <a:p>
            <a:endParaRPr/>
          </a:p>
          <a:p>
            <a:r>
              <a:t>현재 구간의 처음 low인 0까지 읽었습니다. 다음 인덱스 -1는 이 호출 범위 밖이므로 읽지 않고 왼쪽 반복문을 끝냅니다. left_sum 3을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오른쪽 스캔입니다. 현재 mid는 0입니다. 포인터 j가 가리킨 인덱스는 1이고, 그 칸의 값은 마이너스 5입니다. 오른쪽 구간은 항상 1에서 시작하며, 끝 칸을 오른쪽으로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right_sum과 비교합니다. 기록은 아직 마이너스 무한대이므로 실제 합 마이너스 5을 첫 기록으로 저장합니다. 아래 줄이 저장한 최선의 구간입니다. 왼쪽에서 끝낸 기록 3은 이 오른쪽 계산 동안 따로 보관하고 있습니다.</a:t>
            </a:r>
          </a:p>
          <a:p>
            <a:endParaRPr/>
          </a:p>
          <a:p>
            <a:r>
              <a:t>현재 구간의 끝 high인 1까지 읽었습니다. 다음 인덱스 2는 범위 밖이므로 읽지 않고 오른쪽 반복문을 끝냅니다. right_sum 마이너스 5을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[0~1] 호출에서 필요한 후보 세 개를 모두 구했습니다. 왼쪽 안에서 가장 큰 합은 3이고, 오른쪽 안에서 가장 큰 합은 마이너스 5입니다. 경계를 걸친 합은 왼쪽 기록 3과 오른쪽 기록 마이너스 5을 더한 마이너스 2입니다. 화면의 각 줄은 그 값에 해당하는 실제 구간입니다.</a:t>
            </a:r>
          </a:p>
          <a:p>
            <a:endParaRPr/>
          </a:p>
          <a:p>
            <a:r>
              <a:t>이제 세 값 중 가장 큰 것을 고릅니다. 3, 마이너스 5, 마이너스 2 중 가장 큰 값은 3입니다. 왼쪽 안에만 있는 구간이 이 호출의 답입니다. 선택한 인덱스는 0부터 0까지입니다. 경계를 걸치는 계산을 했더라도 그 값이 반드시 답이 되는 것은 아니라는 점을 확인해 주세요.</a:t>
            </a:r>
          </a:p>
          <a:p>
            <a:endParaRPr/>
          </a:p>
          <a:p>
            <a:r>
              <a:t>이제 [0~1] 호출이 끝나고 부모 [0~3] 호출로 돌아갑니다. 부모는 이 3을 자신의 left_max에 저장합니다. 우리가 방금 비교한 left_max, right_max는 현재 [0~1]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[0~3] 호출로 돌아왔습니다. 방금 반환받은 값은 3입니다. 왼쪽 [0~1] 안에서 합이 가장 큰 구간은 인덱스 0부터 0까지였고, 그 합이 3이었죠. 부모인 현재 호출은 이 결과를 자신의 left_max에 저장합니다.</a:t>
            </a:r>
          </a:p>
          <a:p>
            <a:endParaRPr/>
          </a:p>
          <a:p>
            <a:r>
              <a:t>여기서 left_max는 현재 [0~3] 호출의 왼쪽 전체에서 가장 큰 합을 뜻합니다. 화면의 파란 칸이 그 구간입니다. 경계의 mid까지 꼭 이어져야 하는 값은 아닙니다. 지금 파란 구간은 0에서 끝나므로, 현재 mid인 1까지 이어져 있지 않습니다. 나중에 경계를 걸치는 계산은 따로 할 거예요.</a:t>
            </a:r>
          </a:p>
          <a:p>
            <a:endParaRPr/>
          </a:p>
          <a:p>
            <a:r>
              <a:t>코드는 이제 다음 줄로 넘어갑니다. 오른쪽 [2~3] 호출을 시작하고, 그 답을 right_max에 받습니다. 아래 초록색 범위는 다음에 처리할 오른쪽 범위 전체입니다. 아직 오른쪽 답의 구간을 찾은 것이 아닙니다. 왼쪽 답 3은 저장해 둔 채로 오른쪽 호출이 끝나기를 기다립니다.</a:t>
            </a:r>
          </a:p>
          <a:p>
            <a:endParaRPr/>
          </a:p>
          <a:p>
            <a:r>
              <a:t>[0~7] 부모는 left_max의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2부터 3까지입니다. 이번 구간의 원소는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2 더하기 3를 2로 나누어 소수 부분을 버리면 2입니다. 왼쪽 호출에는 2부터 2까지를 넘기고, 오른쪽 호출에는 3부터 3까지를 넘깁니다. mid는 왼쪽에만 포함되므로 같은 칸을 두 번 처리하지 않습니다.</a:t>
            </a:r>
          </a:p>
          <a:p>
            <a:endParaRPr/>
          </a:p>
          <a:p>
            <a:r>
              <a:t>코드는 left_max를 구하는 줄부터 실행합니다. 그래서 다음에는 왼쪽 [2~2] 호출 안으로 들어갑니다. 이 호출이 답을 돌려주기 전에는 right_max를 구하는 다음 줄로 넘어가지 않습니다. [0~3]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2부터 2까지입니다.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12 하나입니다. 빈 구간을 고르지 않는 문제이므로 선택할 수 있는 구간은 이 한 칸밖에 없습니다. 이 값을 더 작은 호출로 나눌 필요는 없습니다. 따라서 종료 조건 low와 high가 같다는 조건을 만족하고, a[low]의 값 12을 바로 반환합니다.</a:t>
            </a:r>
          </a:p>
          <a:p>
            <a:endParaRPr/>
          </a:p>
          <a:p>
            <a:r>
              <a:t>이 반환값은 부모 [2~3]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3부터 3까지입니다.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2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2을 바로 반환합니다.</a:t>
            </a:r>
          </a:p>
          <a:p>
            <a:endParaRPr/>
          </a:p>
          <a:p>
            <a:r>
              <a:t>이 반환값은 부모 [2~3]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왼쪽 스캔입니다. 현재 mid는 2입니다. 포인터 i가 가리킨 인덱스는 2이고, 그 칸의 값은 12입니다. 왼쪽 구간은 항상 2에서 끝나며, 시작 칸을 왼쪽으로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left_sum과 비교합니다. 기록은 아직 마이너스 무한대이므로 실제 합 12을 첫 기록으로 저장합니다. 아래 줄이 저장한 최선의 구간입니다. </a:t>
            </a:r>
          </a:p>
          <a:p>
            <a:endParaRPr/>
          </a:p>
          <a:p>
            <a:r>
              <a:t>현재 구간의 처음 low인 2까지 읽었습니다. 다음 인덱스 1는 이 호출 범위 밖이므로 읽지 않고 왼쪽 반복문을 끝냅니다. left_sum 12을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오른쪽 스캔입니다. 현재 mid는 2입니다. 포인터 j가 가리킨 인덱스는 3이고, 그 칸의 값은 마이너스 2입니다. 오른쪽 구간은 항상 3에서 시작하며, 끝 칸을 오른쪽으로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right_sum과 비교합니다. 기록은 아직 마이너스 무한대이므로 실제 합 마이너스 2을 첫 기록으로 저장합니다. 아래 줄이 저장한 최선의 구간입니다. 왼쪽에서 끝낸 기록 12은 이 오른쪽 계산 동안 따로 보관하고 있습니다.</a:t>
            </a:r>
          </a:p>
          <a:p>
            <a:endParaRPr/>
          </a:p>
          <a:p>
            <a:r>
              <a:t>현재 구간의 끝 high인 3까지 읽었습니다. 다음 인덱스 4는 범위 밖이므로 읽지 않고 오른쪽 반복문을 끝냅니다. right_sum 마이너스 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[2~3] 호출에서 필요한 후보 세 개를 모두 구했습니다. 왼쪽 안에서 가장 큰 합은 12이고, 오른쪽 안에서 가장 큰 합은 마이너스 2입니다. 경계를 걸친 합은 왼쪽 기록 12과 오른쪽 기록 마이너스 2을 더한 10입니다. 화면의 각 줄은 그 값에 해당하는 실제 구간입니다.</a:t>
            </a:r>
          </a:p>
          <a:p>
            <a:endParaRPr/>
          </a:p>
          <a:p>
            <a:r>
              <a:t>이제 세 값 중 가장 큰 것을 고릅니다. 12, 마이너스 2, 10 중 가장 큰 값은 12입니다. 왼쪽 안에만 있는 구간이 이 호출의 답입니다. 선택한 인덱스는 2부터 2까지입니다. 경계를 걸치는 계산을 했더라도 그 값이 반드시 답이 되는 것은 아니라는 점을 확인해 주세요.</a:t>
            </a:r>
          </a:p>
          <a:p>
            <a:endParaRPr/>
          </a:p>
          <a:p>
            <a:r>
              <a:t>이제 [2~3] 호출이 끝나고 부모 [0~3] 호출로 돌아갑니다. 부모는 이 12을 자신의 right_max에 저장합니다. 우리가 방금 비교한 left_max, right_max는 현재 [2~3]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[2~3]의 답은 12이고, 인덱스 2부터 2까지를 선택한 합입니다. 이 값을 현재 [0~3] 호출의 right_max에 저장합니다. 이전에 저장한 left_max 3도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1이므로 왼쪽 부분은 인덱스 1에서 끝나야 하고, 오른쪽 부분은 2에서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3과 오른쪽 답 12을 이미 받았습니다. 이제 그 값들은 잠시 저장해 두고, 경계를 걸치는 답을 구하는 max_crossing_sum을 실행합니다. 현재 구간은 [0~3]이고 가운데 인덱스는 1입니다. 다른 작은 호출에서 썼던 mid가 아니라 지금 구간의 mid를 사용합니다.</a:t>
            </a:r>
          </a:p>
          <a:p>
            <a:endParaRPr/>
          </a:p>
          <a:p>
            <a:r>
              <a:t>왼쪽 스캔은 경계 바로 왼쪽 칸 a[1]에서 시작합니다. 이 칸의 값은 마이너스 5입니다. 그다음 0부터 0까지 인덱스를 하나씩 줄입니다. 이렇게 하면 왼쪽 구간의 끝은 항상 1에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1이고, 그 칸의 값은 마이너스 5입니다. 왼쪽 구간은 항상 1에서 끝나며, 시작 칸을 왼쪽으로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left_sum과 비교합니다. 기록은 아직 마이너스 무한대이므로 실제 합 마이너스 5을 첫 기록으로 저장합니다. 아래 줄이 저장한 최선의 구간입니다. </a:t>
            </a:r>
          </a:p>
          <a:p>
            <a:endParaRPr/>
          </a:p>
          <a:p>
            <a:r>
              <a:t>이제 i를 0로 줄입니다. 다음 칸에서는 지금 current_sum 마이너스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0이고, 그 칸의 값은 3입니다. 왼쪽 구간은 항상 1에서 끝나며, 시작 칸을 왼쪽으로 늘리고 있습니다.</a:t>
            </a:r>
          </a:p>
          <a:p>
            <a:endParaRPr/>
          </a:p>
          <a:p>
            <a:r>
              <a:t>바로 전 현재 합은 마이너스 5이었습니다. 여기에 이번 칸의 3을 더하면 마이너스 2입니다. 첫 줄에서 색칠한 구간은 인덱스 0부터 1까지이고, 이 칸들을 모두 더한 값이 current_sum 마이너스 2입니다. 이전 최댓값 기록 −5에 더한 것이 아니라 이전 current_sum 마이너스 5에 더했습니다.</a:t>
            </a:r>
          </a:p>
          <a:p>
            <a:endParaRPr/>
          </a:p>
          <a:p>
            <a:r>
              <a:t>이제 기록 left_sum과 비교합니다. 현재 합 마이너스 2이 기존 기록 마이너스 5보다 큽니다. 그래서 기록을 마이너스 2으로 갱신하고, 지금 검사한 구간을 가장 좋은 구간으로 저장합니다. 아래 줄이 저장한 최선의 구간입니다. </a:t>
            </a:r>
          </a:p>
          <a:p>
            <a:endParaRPr/>
          </a:p>
          <a:p>
            <a:r>
              <a:t>현재 구간의 처음 low인 0까지 읽었습니다. 다음 인덱스 -1는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1에 붙어 있는 가장 좋은 구간은 인덱스 0부터 1까지이고,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2입니다. 왼쪽이 1에서 끝났으므로 오른쪽은 그 바로 다음 칸에서 시작해야 합니다. 오른쪽은 2부터 3까지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2이고, 그 칸의 값은 12입니다. 오른쪽 구간은 항상 2에서 시작하며, 끝 칸을 오른쪽으로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right_sum과 비교합니다. 기록은 아직 마이너스 무한대이므로 실제 합 12을 첫 기록으로 저장합니다. 아래 줄이 저장한 최선의 구간입니다. 왼쪽에서 끝낸 기록 마이너스 2은 이 오른쪽 계산 동안 따로 보관하고 있습니다.</a:t>
            </a:r>
          </a:p>
          <a:p>
            <a:endParaRPr/>
          </a:p>
          <a:p>
            <a:r>
              <a:t>이제 j를 3로 늘립니다. 다음 칸에서는 지금 current_sum 12에 a[3]를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3이고, 그 칸의 값은 마이너스 2입니다. 오른쪽 구간은 항상 2에서 시작하며, 끝 칸을 오른쪽으로 늘리고 있습니다.</a:t>
            </a:r>
          </a:p>
          <a:p>
            <a:endParaRPr/>
          </a:p>
          <a:p>
            <a:r>
              <a:t>바로 전 현재 합은 12이었습니다. 여기에 이번 칸의 마이너스 2을 더하면 10입니다. 첫 줄에서 색칠한 구간은 인덱스 2부터 3까지이고, 이 칸들을 모두 더한 값이 current_sum 10입니다. 이전 최댓값 기록 12에 더한 것이 아니라 이전 current_sum 12에 더했습니다.</a:t>
            </a:r>
          </a:p>
          <a:p>
            <a:endParaRPr/>
          </a:p>
          <a:p>
            <a:r>
              <a:t>이제 기록 right_sum과 비교합니다. 현재 합 10은 기존 기록 12보다 크지 않습니다. 따라서 기록은 12을 유지하고, 기록한 구간도 인덱스 2부터 2까지로 그대로 둡니다. 현재 합이 줄어도 이전에 찾은 좋은 답을 잊으면 안 됩니다. 아래 줄이 저장한 최선의 구간입니다. 왼쪽에서 끝낸 기록 마이너스 2은 이 오른쪽 계산 동안 따로 보관하고 있습니다.</a:t>
            </a:r>
          </a:p>
          <a:p>
            <a:endParaRPr/>
          </a:p>
          <a:p>
            <a:r>
              <a:t>현재 구간의 끝 high인 3까지 읽었습니다. 다음 인덱스 4는 범위 밖이므로 읽지 않고 오른쪽 반복문을 끝냅니다. right_sum 12을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0부터 1까지의 합 마이너스 2입니다. 오른쪽 기록은 인덱스 2부터 2까지의 합 12입니다. 첫 줄과 둘째 줄에서 색칠한 칸을 확인해 보세요.</a:t>
            </a:r>
          </a:p>
          <a:p>
            <a:endParaRPr/>
          </a:p>
          <a:p>
            <a:r>
              <a:t>왼쪽 기록의 끝은 반드시 mid인 1이고, 오른쪽 기록의 시작은 반드시 mid 플러스 1인 2입니다. 따라서 두 구간을 붙이면 인덱스 0부터 2까지의 연속 구간 하나가 됩니다. 빠진 중간 칸도 없고, 양쪽에서 겹쳐 더한 칸도 없습니다.</a:t>
            </a:r>
          </a:p>
          <a:p>
            <a:endParaRPr/>
          </a:p>
          <a:p>
            <a:r>
              <a:t>두 기록을 더하면 마이너스 2 더하기 12이므로 10입니다. 이 값이 현재 [0~3]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3, right_max 12, 지금 구한 cross_max 10을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[0~3] 호출에서 필요한 후보 세 개를 모두 구했습니다. 왼쪽 안에서 가장 큰 합은 3이고, 오른쪽 안에서 가장 큰 합은 12입니다. 경계를 걸친 합은 왼쪽 기록 마이너스 2과 오른쪽 기록 12을 더한 10입니다. 화면의 각 줄은 그 값에 해당하는 실제 구간입니다.</a:t>
            </a:r>
          </a:p>
          <a:p>
            <a:endParaRPr/>
          </a:p>
          <a:p>
            <a:r>
              <a:t>이제 세 값 중 가장 큰 것을 고릅니다. 3, 12, 10 중 가장 큰 값은 12입니다. 오른쪽 안에만 있는 구간이 이 호출의 답입니다. 선택한 인덱스는 2부터 2까지입니다. 경계를 걸치는 계산을 했더라도 그 값이 반드시 답이 되는 것은 아니라는 점을 확인해 주세요.</a:t>
            </a:r>
          </a:p>
          <a:p>
            <a:endParaRPr/>
          </a:p>
          <a:p>
            <a:r>
              <a:t>이제 [0~3] 호출이 끝나고 부모 [0~7] 호출로 돌아갑니다. 부모는 이 12을 자신의 left_max에 저장합니다. 우리가 방금 비교한 left_max, right_max는 현재 [0~3]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[0~7] 호출로 돌아왔습니다. 방금 반환받은 값은 12입니다. 왼쪽 [0~3] 안에서 합이 가장 큰 구간은 인덱스 2부터 2까지였고, 그 합이 12이었죠. 부모인 현재 호출은 이 결과를 자신의 left_max에 저장합니다.</a:t>
            </a:r>
          </a:p>
          <a:p>
            <a:endParaRPr/>
          </a:p>
          <a:p>
            <a:r>
              <a:t>여기서 left_max는 현재 [0~7] 호출의 왼쪽 전체에서 가장 큰 합을 뜻합니다. 화면의 파란 칸이 그 구간입니다. 경계의 mid까지 꼭 이어져야 하는 값은 아닙니다. 지금 파란 구간은 2에서 끝나므로, 현재 mid인 3까지 이어져 있지 않습니다. 나중에 경계를 걸치는 계산은 따로 할 거예요.</a:t>
            </a:r>
          </a:p>
          <a:p>
            <a:endParaRPr/>
          </a:p>
          <a:p>
            <a:r>
              <a:t>코드는 이제 다음 줄로 넘어갑니다. 오른쪽 [4~7] 호출을 시작하고, 그 답을 right_max에 받습니다. 아래 초록색 범위는 다음에 처리할 오른쪽 범위 전체입니다. 아직 오른쪽 답의 구간을 찾은 것이 아닙니다. 왼쪽 답 12은 저장해 둔 채로 오른쪽 호출이 끝나기를 기다립니다.</a:t>
            </a:r>
          </a:p>
          <a:p>
            <a:endParaRPr/>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7까지입니다. 이번 구간의 원소는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7를 2로 나누어 소수 부분을 버리면 5입니다. 왼쪽 호출에는 4부터 5까지를 넘기고, 오른쪽 호출에는 6부터 7까지를 넘깁니다. mid는 왼쪽에만 포함되므로 같은 칸을 두 번 처리하지 않습니다.</a:t>
            </a:r>
          </a:p>
          <a:p>
            <a:endParaRPr/>
          </a:p>
          <a:p>
            <a:r>
              <a:t>코드는 left_max를 구하는 줄부터 실행합니다. 그래서 다음에는 왼쪽 [4~5] 호출 안으로 들어갑니다. 이 호출이 답을 돌려주기 전에는 right_max를 구하는 다음 줄로 넘어가지 않습니다. [0~7]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5까지입니다. 이번 구간의 원소는 7, 마이너스 9입니다.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5를 2로 나누어 소수 부분을 버리면 4입니다. 왼쪽 호출에는 4부터 4까지를 넘기고, 오른쪽 호출에는 5부터 5까지를 넘깁니다. mid는 왼쪽에만 포함되므로 같은 칸을 두 번 처리하지 않습니다.</a:t>
            </a:r>
          </a:p>
          <a:p>
            <a:endParaRPr/>
          </a:p>
          <a:p>
            <a:r>
              <a:t>코드는 left_max를 구하는 줄부터 실행합니다. 그래서 다음에는 왼쪽 [4~4] 호출 안으로 들어갑니다. 이 호출이 답을 돌려주기 전에는 right_max를 구하는 다음 줄로 넘어가지 않습니다. [4~7]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4부터 4까지입니다.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7 하나입니다. 빈 구간을 고르지 않는 문제이므로 선택할 수 있는 구간은 이 한 칸밖에 없습니다. 이 값을 더 작은 호출로 나눌 필요는 없습니다. 따라서 종료 조건 low와 high가 같다는 조건을 만족하고, a[low]의 값 7을 바로 반환합니다.</a:t>
            </a:r>
          </a:p>
          <a:p>
            <a:endParaRPr/>
          </a:p>
          <a:p>
            <a:r>
              <a:t>이 반환값은 부모 [4~5]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5부터 5까지입니다.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9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9을 바로 반환합니다.</a:t>
            </a:r>
          </a:p>
          <a:p>
            <a:endParaRPr/>
          </a:p>
          <a:p>
            <a:r>
              <a:t>이 반환값은 부모 [4~5]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왼쪽 스캔입니다. 현재 mid는 4입니다. 포인터 i가 가리킨 인덱스는 4이고, 그 칸의 값은 7입니다. 왼쪽 구간은 항상 4에서 끝나며, 시작 칸을 왼쪽으로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left_sum과 비교합니다. 기록은 아직 마이너스 무한대이므로 실제 합 7을 첫 기록으로 저장합니다. 아래 줄이 저장한 최선의 구간입니다. </a:t>
            </a:r>
          </a:p>
          <a:p>
            <a:endParaRPr/>
          </a:p>
          <a:p>
            <a:r>
              <a:t>현재 구간의 처음 low인 4까지 읽었습니다. 다음 인덱스 3는 이 호출 범위 밖이므로 읽지 않고 왼쪽 반복문을 끝냅니다. left_sum 7을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오른쪽 스캔입니다. 현재 mid는 4입니다. 포인터 j가 가리킨 인덱스는 5이고, 그 칸의 값은 마이너스 9입니다. 오른쪽 구간은 항상 5에서 시작하며, 끝 칸을 오른쪽으로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right_sum과 비교합니다. 기록은 아직 마이너스 무한대이므로 실제 합 마이너스 9을 첫 기록으로 저장합니다. 아래 줄이 저장한 최선의 구간입니다. 왼쪽에서 끝낸 기록 7은 이 오른쪽 계산 동안 따로 보관하고 있습니다.</a:t>
            </a:r>
          </a:p>
          <a:p>
            <a:endParaRPr/>
          </a:p>
          <a:p>
            <a:r>
              <a:t>현재 구간의 끝 high인 5까지 읽었습니다. 다음 인덱스 6는 범위 밖이므로 읽지 않고 오른쪽 반복문을 끝냅니다. right_sum 마이너스 9을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[4~5] 호출에서 필요한 후보 세 개를 모두 구했습니다. 왼쪽 안에서 가장 큰 합은 7이고, 오른쪽 안에서 가장 큰 합은 마이너스 9입니다. 경계를 걸친 합은 왼쪽 기록 7과 오른쪽 기록 마이너스 9을 더한 마이너스 2입니다. 화면의 각 줄은 그 값에 해당하는 실제 구간입니다.</a:t>
            </a:r>
          </a:p>
          <a:p>
            <a:endParaRPr/>
          </a:p>
          <a:p>
            <a:r>
              <a:t>이제 세 값 중 가장 큰 것을 고릅니다. 7, 마이너스 9, 마이너스 2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[4~5] 호출이 끝나고 부모 [4~7] 호출로 돌아갑니다. 부모는 이 7을 자신의 left_max에 저장합니다. 우리가 방금 비교한 left_max, right_max는 현재 [4~5]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[4~7] 호출로 돌아왔습니다. 방금 반환받은 값은 7입니다. 왼쪽 [4~5] 안에서 합이 가장 큰 구간은 인덱스 4부터 4까지였고, 그 합이 7이었죠. 부모인 현재 호출은 이 결과를 자신의 left_max에 저장합니다.</a:t>
            </a:r>
          </a:p>
          <a:p>
            <a:endParaRPr/>
          </a:p>
          <a:p>
            <a:r>
              <a:t>여기서 left_max는 현재 [4~7] 호출의 왼쪽 전체에서 가장 큰 합을 뜻합니다. 화면의 파란 칸이 그 구간입니다. 경계의 mid까지 꼭 이어져야 하는 값은 아닙니다. 지금 파란 구간은 4에서 끝나므로, 현재 mid인 5까지 이어져 있지 않습니다. 나중에 경계를 걸치는 계산은 따로 할 거예요.</a:t>
            </a:r>
          </a:p>
          <a:p>
            <a:endParaRPr/>
          </a:p>
          <a:p>
            <a:r>
              <a:t>코드는 이제 다음 줄로 넘어갑니다. 오른쪽 [6~7] 호출을 시작하고, 그 답을 right_max에 받습니다. 아래 초록색 범위는 다음에 처리할 오른쪽 범위 전체입니다. 아직 오른쪽 답의 구간을 찾은 것이 아닙니다. 왼쪽 답 7은 저장해 둔 채로 오른쪽 호출이 끝나기를 기다립니다.</a:t>
            </a:r>
          </a:p>
          <a:p>
            <a:endParaRPr/>
          </a:p>
          <a:p>
            <a:r>
              <a:t>[0~7] 부모는 right_max의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6부터 7까지입니다. 이번 구간의 원소는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6 더하기 7를 2로 나누어 소수 부분을 버리면 6입니다. 왼쪽 호출에는 6부터 6까지를 넘기고, 오른쪽 호출에는 7부터 7까지를 넘깁니다. mid는 왼쪽에만 포함되므로 같은 칸을 두 번 처리하지 않습니다.</a:t>
            </a:r>
          </a:p>
          <a:p>
            <a:endParaRPr/>
          </a:p>
          <a:p>
            <a:r>
              <a:t>코드는 left_max를 구하는 줄부터 실행합니다. 그래서 다음에는 왼쪽 [6~6] 호출 안으로 들어갑니다. 이 호출이 답을 돌려주기 전에는 right_max를 구하는 다음 줄로 넘어가지 않습니다. [4~7]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6부터 6까지입니다.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5 하나입니다. 빈 구간을 고르지 않는 문제이므로 선택할 수 있는 구간은 이 한 칸밖에 없습니다. 이 값을 더 작은 호출로 나눌 필요는 없습니다. 따라서 종료 조건 low와 high가 같다는 조건을 만족하고, a[low]의 값 5을 바로 반환합니다.</a:t>
            </a:r>
          </a:p>
          <a:p>
            <a:endParaRPr/>
          </a:p>
          <a:p>
            <a:r>
              <a:t>이 반환값은 부모 [6~7]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7부터 7까지입니다.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 하나입니다. 빈 구간을 고르지 않는 문제이므로 선택할 수 있는 구간은 이 한 칸밖에 없습니다. 이 값을 더 작은 호출로 나눌 필요는 없습니다. 따라서 종료 조건 low와 high가 같다는 조건을 만족하고, a[low]의 값 1을 바로 반환합니다.</a:t>
            </a:r>
          </a:p>
          <a:p>
            <a:endParaRPr/>
          </a:p>
          <a:p>
            <a:r>
              <a:t>이 반환값은 부모 [6~7]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왼쪽 스캔입니다. 현재 mid는 6입니다. 포인터 i가 가리킨 인덱스는 6이고, 그 칸의 값은 5입니다. 왼쪽 구간은 항상 6에서 끝나며, 시작 칸을 왼쪽으로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left_sum과 비교합니다. 기록은 아직 마이너스 무한대이므로 실제 합 5을 첫 기록으로 저장합니다. 아래 줄이 저장한 최선의 구간입니다. </a:t>
            </a:r>
          </a:p>
          <a:p>
            <a:endParaRPr/>
          </a:p>
          <a:p>
            <a:r>
              <a:t>현재 구간의 처음 low인 6까지 읽었습니다. 다음 인덱스 5는 이 호출 범위 밖이므로 읽지 않고 왼쪽 반복문을 끝냅니다. left_sum 5을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오른쪽 스캔입니다. 현재 mid는 6입니다. 포인터 j가 가리킨 인덱스는 7이고, 그 칸의 값은 1입니다. 오른쪽 구간은 항상 7에서 시작하며, 끝 칸을 오른쪽으로 늘리고 있습니다.</a:t>
            </a:r>
          </a:p>
          <a:p>
            <a:endParaRPr/>
          </a:p>
          <a:p>
            <a:r>
              <a:t>바로 전 현재 합은 0이었습니다. 여기에 이번 칸의 1을 더하면 1입니다. 첫 줄에서 색칠한 구간은 인덱스 7부터 7까지이고, 이 칸들을 모두 더한 값이 current_sum 1입니다. 지금은 첫 칸을 읽었으므로 초기 0에 이 한 값을 더했습니다.</a:t>
            </a:r>
          </a:p>
          <a:p>
            <a:endParaRPr/>
          </a:p>
          <a:p>
            <a:r>
              <a:t>이제 기록 right_sum과 비교합니다. 기록은 아직 마이너스 무한대이므로 실제 합 1을 첫 기록으로 저장합니다. 아래 줄이 저장한 최선의 구간입니다. 왼쪽에서 끝낸 기록 5은 이 오른쪽 계산 동안 따로 보관하고 있습니다.</a:t>
            </a:r>
          </a:p>
          <a:p>
            <a:endParaRPr/>
          </a:p>
          <a:p>
            <a:r>
              <a:t>현재 구간의 끝 high인 7까지 읽었습니다. 다음 인덱스 8는 범위 밖이므로 읽지 않고 오른쪽 반복문을 끝냅니다. right_sum 1을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[6~7] 호출에서 필요한 후보 세 개를 모두 구했습니다. 왼쪽 안에서 가장 큰 합은 5이고, 오른쪽 안에서 가장 큰 합은 1입니다. 경계를 걸친 합은 왼쪽 기록 5과 오른쪽 기록 1을 더한 6입니다. 화면의 각 줄은 그 값에 해당하는 실제 구간입니다.</a:t>
            </a:r>
          </a:p>
          <a:p>
            <a:endParaRPr/>
          </a:p>
          <a:p>
            <a:r>
              <a:t>이제 세 값 중 가장 큰 것을 고릅니다. 5, 1, 6 중 가장 큰 값은 6입니다. 경계를 걸치는 구간이 이 호출의 답입니다. 선택한 인덱스는 6부터 7까지입니다. 이번에는 두 절반 안의 답보다 경계를 이어 붙인 답이 더 큽니다.</a:t>
            </a:r>
          </a:p>
          <a:p>
            <a:endParaRPr/>
          </a:p>
          <a:p>
            <a:r>
              <a:t>이제 [6~7] 호출이 끝나고 부모 [4~7] 호출로 돌아갑니다. 부모는 이 6을 자신의 right_max에 저장합니다. 우리가 방금 비교한 left_max, right_max는 현재 [6~7]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[6~7]의 답은 6이고, 인덱스 6부터 7까지를 선택한 합입니다. 이 값을 현재 [4~7] 호출의 right_max에 저장합니다. 이전에 저장한 left_max 7도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5이므로 왼쪽 부분은 인덱스 5에서 끝나야 하고, 오른쪽 부분은 6에서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7과 오른쪽 답 6을 이미 받았습니다. 이제 그 값들은 잠시 저장해 두고, 경계를 걸치는 답을 구하는 max_crossing_sum을 실행합니다. 현재 구간은 [4~7]이고 가운데 인덱스는 5입니다. 다른 작은 호출에서 썼던 mid가 아니라 지금 구간의 mid를 사용합니다.</a:t>
            </a:r>
          </a:p>
          <a:p>
            <a:endParaRPr/>
          </a:p>
          <a:p>
            <a:r>
              <a:t>왼쪽 스캔은 경계 바로 왼쪽 칸 a[5]에서 시작합니다. 이 칸의 값은 마이너스 9입니다. 그다음 4부터 4까지 인덱스를 하나씩 줄입니다. 이렇게 하면 왼쪽 구간의 끝은 항상 5에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5이고, 그 칸의 값은 마이너스 9입니다. 왼쪽 구간은 항상 5에서 끝나며, 시작 칸을 왼쪽으로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left_sum과 비교합니다. 기록은 아직 마이너스 무한대이므로 실제 합 마이너스 9을 첫 기록으로 저장합니다. 아래 줄이 저장한 최선의 구간입니다. </a:t>
            </a:r>
          </a:p>
          <a:p>
            <a:endParaRPr/>
          </a:p>
          <a:p>
            <a:r>
              <a:t>이제 i를 4로 줄입니다. 다음 칸에서는 지금 current_sum 마이너스 9에 a[4]를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4이고, 그 칸의 값은 7입니다. 왼쪽 구간은 항상 5에서 끝나며, 시작 칸을 왼쪽으로 늘리고 있습니다.</a:t>
            </a:r>
          </a:p>
          <a:p>
            <a:endParaRPr/>
          </a:p>
          <a:p>
            <a:r>
              <a:t>바로 전 현재 합은 마이너스 9이었습니다. 여기에 이번 칸의 7을 더하면 마이너스 2입니다. 첫 줄에서 색칠한 구간은 인덱스 4부터 5까지이고, 이 칸들을 모두 더한 값이 current_sum 마이너스 2입니다. 이전 최댓값 기록 −9에 더한 것이 아니라 이전 current_sum 마이너스 9에 더했습니다.</a:t>
            </a:r>
          </a:p>
          <a:p>
            <a:endParaRPr/>
          </a:p>
          <a:p>
            <a:r>
              <a:t>이제 기록 left_sum과 비교합니다. 현재 합 마이너스 2이 기존 기록 마이너스 9보다 큽니다. 그래서 기록을 마이너스 2으로 갱신하고, 지금 검사한 구간을 가장 좋은 구간으로 저장합니다. 아래 줄이 저장한 최선의 구간입니다. </a:t>
            </a:r>
          </a:p>
          <a:p>
            <a:endParaRPr/>
          </a:p>
          <a:p>
            <a:r>
              <a:t>현재 구간의 처음 low인 4까지 읽었습니다. 다음 인덱스 3는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5에 붙어 있는 가장 좋은 구간은 인덱스 4부터 5까지이고,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6입니다. 왼쪽이 5에서 끝났으므로 오른쪽은 그 바로 다음 칸에서 시작해야 합니다. 오른쪽은 6부터 7까지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6이고, 그 칸의 값은 5입니다. 오른쪽 구간은 항상 6에서 시작하며, 끝 칸을 오른쪽으로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right_sum과 비교합니다. 기록은 아직 마이너스 무한대이므로 실제 합 5을 첫 기록으로 저장합니다. 아래 줄이 저장한 최선의 구간입니다. 왼쪽에서 끝낸 기록 마이너스 2은 이 오른쪽 계산 동안 따로 보관하고 있습니다.</a:t>
            </a:r>
          </a:p>
          <a:p>
            <a:endParaRPr/>
          </a:p>
          <a:p>
            <a:r>
              <a:t>이제 j를 7로 늘립니다. 다음 칸에서는 지금 current_sum 5에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7이고, 그 칸의 값은 1입니다. 오른쪽 구간은 항상 6에서 시작하며, 끝 칸을 오른쪽으로 늘리고 있습니다.</a:t>
            </a:r>
          </a:p>
          <a:p>
            <a:endParaRPr/>
          </a:p>
          <a:p>
            <a:r>
              <a:t>바로 전 현재 합은 5이었습니다. 여기에 이번 칸의 1을 더하면 6입니다. 첫 줄에서 색칠한 구간은 인덱스 6부터 7까지이고, 이 칸들을 모두 더한 값이 current_sum 6입니다. 이전 최댓값 기록 5에 더한 것이 아니라 이전 current_sum 5에 더했습니다.</a:t>
            </a:r>
          </a:p>
          <a:p>
            <a:endParaRPr/>
          </a:p>
          <a:p>
            <a:r>
              <a:t>이제 기록 right_sum과 비교합니다. 현재 합 6이 기존 기록 5보다 큽니다. 그래서 기록을 6으로 갱신하고, 지금 검사한 구간을 가장 좋은 구간으로 저장합니다. 아래 줄이 저장한 최선의 구간입니다. 왼쪽에서 끝낸 기록 마이너스 2은 이 오른쪽 계산 동안 따로 보관하고 있습니다.</a:t>
            </a:r>
          </a:p>
          <a:p>
            <a:endParaRPr/>
          </a:p>
          <a:p>
            <a:r>
              <a:t>현재 구간의 끝 high인 7까지 읽었습니다. 다음 인덱스 8는 범위 밖이므로 읽지 않고 오른쪽 반복문을 끝냅니다. right_sum 6을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4부터 5까지의 합 마이너스 2입니다. 오른쪽 기록은 인덱스 6부터 7까지의 합 6입니다. 첫 줄과 둘째 줄에서 색칠한 칸을 확인해 보세요.</a:t>
            </a:r>
          </a:p>
          <a:p>
            <a:endParaRPr/>
          </a:p>
          <a:p>
            <a:r>
              <a:t>왼쪽 기록의 끝은 반드시 mid인 5이고, 오른쪽 기록의 시작은 반드시 mid 플러스 1인 6입니다. 따라서 두 구간을 붙이면 인덱스 4부터 7까지의 연속 구간 하나가 됩니다. 빠진 중간 칸도 없고, 양쪽에서 겹쳐 더한 칸도 없습니다.</a:t>
            </a:r>
          </a:p>
          <a:p>
            <a:endParaRPr/>
          </a:p>
          <a:p>
            <a:r>
              <a:t>두 기록을 더하면 마이너스 2 더하기 6이므로 4입니다. 이 값이 현재 [4~7]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7, right_max 6, 지금 구한 cross_max 4을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[4~7] 호출에서 필요한 후보 세 개를 모두 구했습니다. 왼쪽 안에서 가장 큰 합은 7이고, 오른쪽 안에서 가장 큰 합은 6입니다. 경계를 걸친 합은 왼쪽 기록 마이너스 2과 오른쪽 기록 6을 더한 4입니다. 화면의 각 줄은 그 값에 해당하는 실제 구간입니다.</a:t>
            </a:r>
          </a:p>
          <a:p>
            <a:endParaRPr/>
          </a:p>
          <a:p>
            <a:r>
              <a:t>이제 세 값 중 가장 큰 것을 고릅니다. 7, 6, 4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[4~7] 호출이 끝나고 부모 [0~7] 호출로 돌아갑니다. 부모는 이 7을 자신의 right_max에 저장합니다. 우리가 방금 비교한 left_max, right_max는 현재 [4~7]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[4~7]의 답은 7이고, 인덱스 4부터 4까지를 선택한 합입니다. 이 값을 현재 [0~7] 호출의 right_max에 저장합니다. 이전에 저장한 left_max 12도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3이므로 왼쪽 부분은 인덱스 3에서 끝나야 하고, 오른쪽 부분은 4에서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12과 오른쪽 답 7을 이미 받았습니다. 이제 그 값들은 잠시 저장해 두고, 경계를 걸치는 답을 구하는 max_crossing_sum을 실행합니다. 현재 구간은 [0~7]이고 가운데 인덱스는 3입니다. 다른 작은 호출에서 썼던 mid가 아니라 지금 구간의 mid를 사용합니다.</a:t>
            </a:r>
          </a:p>
          <a:p>
            <a:endParaRPr/>
          </a:p>
          <a:p>
            <a:r>
              <a:t>왼쪽 스캔은 경계 바로 왼쪽 칸 a[3]에서 시작합니다. 이 칸의 값은 마이너스 2입니다. 그다음 2부터 0까지 인덱스를 하나씩 줄입니다. 이렇게 하면 왼쪽 구간의 끝은 항상 3에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3이고, 그 칸의 값은 마이너스 2입니다. 왼쪽 구간은 항상 3에서 끝나며, 시작 칸을 왼쪽으로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left_sum과 비교합니다. 기록은 아직 마이너스 무한대이므로 실제 합 마이너스 2을 첫 기록으로 저장합니다. 아래 줄이 저장한 최선의 구간입니다. </a:t>
            </a:r>
          </a:p>
          <a:p>
            <a:endParaRPr/>
          </a:p>
          <a:p>
            <a:r>
              <a:t>이제 i를 2로 줄입니다. 다음 칸에서는 지금 current_sum 마이너스 2에 a[2]를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2이고, 그 칸의 값은 12입니다. 왼쪽 구간은 항상 3에서 끝나며, 시작 칸을 왼쪽으로 늘리고 있습니다.</a:t>
            </a:r>
          </a:p>
          <a:p>
            <a:endParaRPr/>
          </a:p>
          <a:p>
            <a:r>
              <a:t>바로 전 현재 합은 마이너스 2이었습니다. 여기에 이번 칸의 12을 더하면 10입니다. 첫 줄에서 색칠한 구간은 인덱스 2부터 3까지이고, 이 칸들을 모두 더한 값이 current_sum 10입니다. 이전 최댓값 기록 −2에 더한 것이 아니라 이전 current_sum 마이너스 2에 더했습니다.</a:t>
            </a:r>
          </a:p>
          <a:p>
            <a:endParaRPr/>
          </a:p>
          <a:p>
            <a:r>
              <a:t>이제 기록 left_sum과 비교합니다. 현재 합 10이 기존 기록 마이너스 2보다 큽니다. 그래서 기록을 10으로 갱신하고, 지금 검사한 구간을 가장 좋은 구간으로 저장합니다. 아래 줄이 저장한 최선의 구간입니다. </a:t>
            </a:r>
          </a:p>
          <a:p>
            <a:endParaRPr/>
          </a:p>
          <a:p>
            <a:r>
              <a:t>이제 i를 1로 줄입니다. 다음 칸에서는 지금 current_sum 10에 a[1]를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1이고, 그 칸의 값은 마이너스 5입니다. 왼쪽 구간은 항상 3에서 끝나며, 시작 칸을 왼쪽으로 늘리고 있습니다.</a:t>
            </a:r>
          </a:p>
          <a:p>
            <a:endParaRPr/>
          </a:p>
          <a:p>
            <a:r>
              <a:t>바로 전 현재 합은 10이었습니다. 여기에 이번 칸의 마이너스 5을 더하면 5입니다. 첫 줄에서 색칠한 구간은 인덱스 1부터 3까지이고, 이 칸들을 모두 더한 값이 current_sum 5입니다. 이전 최댓값 기록 10에 더한 것이 아니라 이전 current_sum 10에 더했습니다.</a:t>
            </a:r>
          </a:p>
          <a:p>
            <a:endParaRPr/>
          </a:p>
          <a:p>
            <a:r>
              <a:t>이제 기록 left_sum과 비교합니다. 현재 합 5은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이제 i를 0로 줄입니다. 다음 칸에서는 지금 current_sum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0이고, 그 칸의 값은 3입니다. 왼쪽 구간은 항상 3에서 끝나며, 시작 칸을 왼쪽으로 늘리고 있습니다.</a:t>
            </a:r>
          </a:p>
          <a:p>
            <a:endParaRPr/>
          </a:p>
          <a:p>
            <a:r>
              <a:t>바로 전 현재 합은 5이었습니다. 여기에 이번 칸의 3을 더하면 8입니다. 첫 줄에서 색칠한 구간은 인덱스 0부터 3까지이고, 이 칸들을 모두 더한 값이 current_sum 8입니다. 이전 최댓값 기록 10에 더한 것이 아니라 이전 current_sum 5에 더했습니다.</a:t>
            </a:r>
          </a:p>
          <a:p>
            <a:endParaRPr/>
          </a:p>
          <a:p>
            <a:r>
              <a:t>이제 기록 left_sum과 비교합니다. 현재 합 8은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현재 구간의 처음 low인 0까지 읽었습니다. 다음 인덱스 -1는 이 호출 범위 밖이므로 읽지 않고 왼쪽 반복문을 끝냅니다. left_sum 10을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3에 붙어 있는 가장 좋은 구간은 인덱스 2부터 3까지이고, 그 합은 10입니다. 이 값을 left_sum에 보관합니다. 화면의 파란 칸이 기록한 구간입니다. 왼쪽 스캔의 마지막 current_sum 8과 left_sum 10을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4입니다. 왼쪽이 3에서 끝났으므로 오른쪽은 그 바로 다음 칸에서 시작해야 합니다. 오른쪽은 4부터 7까지 인덱스를 늘리며 읽습니다.</a:t>
            </a:r>
          </a:p>
          <a:p>
            <a:endParaRPr/>
          </a:p>
          <a:p>
            <a:r>
              <a:t>다음 화면부터는 오른쪽 현재 합을 계산하고 right_sum을 갱신합니다. 왼쪽 기록 10은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4이고, 그 칸의 값은 7입니다. 오른쪽 구간은 항상 4에서 시작하며, 끝 칸을 오른쪽으로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right_sum과 비교합니다. 기록은 아직 마이너스 무한대이므로 실제 합 7을 첫 기록으로 저장합니다. 아래 줄이 저장한 최선의 구간입니다. 왼쪽에서 끝낸 기록 10은 이 오른쪽 계산 동안 따로 보관하고 있습니다.</a:t>
            </a:r>
          </a:p>
          <a:p>
            <a:endParaRPr/>
          </a:p>
          <a:p>
            <a:r>
              <a:t>이제 j를 5로 늘립니다. 다음 칸에서는 지금 current_sum 7에 a[5]를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5이고, 그 칸의 값은 마이너스 9입니다. 오른쪽 구간은 항상 4에서 시작하며, 끝 칸을 오른쪽으로 늘리고 있습니다.</a:t>
            </a:r>
          </a:p>
          <a:p>
            <a:endParaRPr/>
          </a:p>
          <a:p>
            <a:r>
              <a:t>바로 전 현재 합은 7이었습니다. 여기에 이번 칸의 마이너스 9을 더하면 마이너스 2입니다. 첫 줄에서 색칠한 구간은 인덱스 4부터 5까지이고, 이 칸들을 모두 더한 값이 current_sum 마이너스 2입니다. 이전 최댓값 기록 7에 더한 것이 아니라 이전 current_sum 7에 더했습니다.</a:t>
            </a:r>
          </a:p>
          <a:p>
            <a:endParaRPr/>
          </a:p>
          <a:p>
            <a:r>
              <a:t>이제 기록 right_sum과 비교합니다. 현재 합 마이너스 2은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6로 늘립니다. 다음 칸에서는 지금 current_sum 마이너스 2에 a[6]를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6이고, 그 칸의 값은 5입니다. 오른쪽 구간은 항상 4에서 시작하며, 끝 칸을 오른쪽으로 늘리고 있습니다.</a:t>
            </a:r>
          </a:p>
          <a:p>
            <a:endParaRPr/>
          </a:p>
          <a:p>
            <a:r>
              <a:t>바로 전 현재 합은 마이너스 2이었습니다. 여기에 이번 칸의 5을 더하면 3입니다. 첫 줄에서 색칠한 구간은 인덱스 4부터 6까지이고, 이 칸들을 모두 더한 값이 current_sum 3입니다. 이전 최댓값 기록 7에 더한 것이 아니라 이전 current_sum 마이너스 2에 더했습니다.</a:t>
            </a:r>
          </a:p>
          <a:p>
            <a:endParaRPr/>
          </a:p>
          <a:p>
            <a:r>
              <a:t>이제 기록 right_sum과 비교합니다. 현재 합 3은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7로 늘립니다. 다음 칸에서는 지금 current_sum 3에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7이고, 그 칸의 값은 1입니다. 오른쪽 구간은 항상 4에서 시작하며, 끝 칸을 오른쪽으로 늘리고 있습니다.</a:t>
            </a:r>
          </a:p>
          <a:p>
            <a:endParaRPr/>
          </a:p>
          <a:p>
            <a:r>
              <a:t>바로 전 현재 합은 3이었습니다. 여기에 이번 칸의 1을 더하면 4입니다. 첫 줄에서 색칠한 구간은 인덱스 4부터 7까지이고, 이 칸들을 모두 더한 값이 current_sum 4입니다. 이전 최댓값 기록 7에 더한 것이 아니라 이전 current_sum 3에 더했습니다.</a:t>
            </a:r>
          </a:p>
          <a:p>
            <a:endParaRPr/>
          </a:p>
          <a:p>
            <a:r>
              <a:t>이제 기록 right_sum과 비교합니다. 현재 합 4은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현재 구간의 끝 high인 7까지 읽었습니다. 다음 인덱스 8는 범위 밖이므로 읽지 않고 오른쪽 반복문을 끝냅니다. right_sum 7을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2부터 3까지의 합 10입니다. 오른쪽 기록은 인덱스 4부터 4까지의 합 7입니다. 첫 줄과 둘째 줄에서 색칠한 칸을 확인해 보세요.</a:t>
            </a:r>
          </a:p>
          <a:p>
            <a:endParaRPr/>
          </a:p>
          <a:p>
            <a:r>
              <a:t>왼쪽 기록의 끝은 반드시 mid인 3이고, 오른쪽 기록의 시작은 반드시 mid 플러스 1인 4입니다. 따라서 두 구간을 붙이면 인덱스 2부터 4까지의 연속 구간 하나가 됩니다. 빠진 중간 칸도 없고, 양쪽에서 겹쳐 더한 칸도 없습니다.</a:t>
            </a:r>
          </a:p>
          <a:p>
            <a:endParaRPr/>
          </a:p>
          <a:p>
            <a:r>
              <a:t>두 기록을 더하면 10 더하기 7이므로 17입니다. 이 값이 현재 [0~7]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12, right_max 7, 지금 구한 cross_max 17을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[0~7] 호출에서 필요한 후보 세 개를 모두 구했습니다. 왼쪽 안에서 가장 큰 합은 12이고, 오른쪽 안에서 가장 큰 합은 7입니다. 경계를 걸친 합은 왼쪽 기록 10과 오른쪽 기록 7을 더한 17입니다. 화면의 각 줄은 그 값에 해당하는 실제 구간입니다.</a:t>
            </a:r>
          </a:p>
          <a:p>
            <a:endParaRPr/>
          </a:p>
          <a:p>
            <a:r>
              <a:t>이제 세 값 중 가장 큰 것을 고릅니다. 12, 7, 17 중 가장 큰 값은 17입니다. 경계를 걸치는 구간이 이 호출의 답입니다. 선택한 인덱스는 2부터 4까지입니다. 이번에는 두 절반 안의 답보다 경계를 이어 붙인 답이 더 큽니다.</a:t>
            </a:r>
          </a:p>
          <a:p>
            <a:endParaRPr/>
          </a:p>
          <a:p>
            <a:r>
              <a:t>이제 전체 여덟 칸의 계산이 끝났습니다. 반환하는 값은 17이고, 그 값에 해당하는 구간은 12 − 2 + 7입니다. 답을 코드에 미리 넣지 않고 작은 호출의 반환과 경계 스캔을 거쳐 찾았습니다.</a:t>
            </a:r>
          </a:p>
          <a:p>
            <a:endParaRPr/>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a, 시작 인덱스 low, 끝 인덱스 high입니다. low와 high는 둘 다 포함합니다. 전체 배열에서 시작할 때는 0과 len(a) 마이너스 1을 넘기므로 이 예제에서는 0과 7입니다.</a:t>
            </a:r>
          </a:p>
          <a:p>
            <a:endParaRPr/>
          </a:p>
          <a:p>
            <a:r>
              <a:t>첫 조건은 low와 high가 같은지 확인합니다. 같으면 원소 하나만 남은 것이어서 a[low]를 반환합니다. 화면에서 3, 마이너스 5, 12, 마이너스 2 같은 값들이 각각 위로 돌아왔던 부분이 이 줄입니다. 이 조건이 없으면 같은 한 칸을 계속 나누어 호출할 수 있어요.</a:t>
            </a:r>
          </a:p>
          <a:p>
            <a:endParaRPr/>
          </a:p>
          <a:p>
            <a:r>
              <a:t>두 칸 이상이면 mid를 계산합니다. 왼쪽 호출은 low부터 mid까지, 오른쪽 호출은 mid 플러스 1부터 high까지입니다. left_max를 받는 줄은 왼쪽 함수가 반환할 때까지 기다리고, 그 다음에 right_max를 받는 줄이 실행됩니다. 각 작은 호출도 이 코드의 처음부터 똑같이 시작한다는 점을 기억해 주세요.</a:t>
            </a:r>
          </a:p>
          <a:p>
            <a:endParaRPr/>
          </a:p>
          <a:p>
            <a:r>
              <a:t>양쪽 답을 받은 다음 max_crossing_sum을 호출합니다. 여기서 두 반복문으로 경계에 붙은 가장 좋은 합을 구합니다. 마지막 max는 세 값 중 가장 큰 값을 고르는 함수입니다. 전체 호출에서는 left_max가 12, right_max가 7, cross_max가 17이므로 17을 반환했습니다. 코드에는 정답 17이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left_sum에는 가장 큰 왼쪽 후보의 합을 저장합니다. 시작값 float의 마이너스 inf는 마이너스 무한대라는 뜻입니다. 실제로 나온 어떤 합보다도 작게 두어 첫 후보를 반드시 저장하려는 장치예요. current_sum은 아직 읽은 칸이 없어서 0으로 시작합니다.</a:t>
            </a:r>
          </a:p>
          <a:p>
            <a:endParaRPr/>
          </a:p>
          <a:p>
            <a:r>
              <a:t>반복문의 range는 mid에서 시작하고, 인덱스를 마이너스 1씩 줄입니다. 파이썬의 range는 두 번째 인수에 적힌 값을 포함하지 않기 때문에 멈춤값을 low가 아니라 low 마이너스 1로 적었습니다. 전체 호출에서는 range의 인수가 3, 마이너스 1, 마이너스 1입니다. 실제로 읽는 인덱스는 3, 2, 1, 0입니다. 인덱스 마이너스 1의 값은 읽지 않습니다.</a:t>
            </a:r>
          </a:p>
          <a:p>
            <a:endParaRPr/>
          </a:p>
          <a:p>
            <a:r>
              <a:t>current_sum 더하기 a[i]를 수행하면 mid부터 현재 i까지 이어진 모든 칸의 합이 됩니다. 화면에서 마이너스 2, 10, 5, 8로 바뀌었던 값이 이 변수입니다. 그다음 조건에서 현재 합이 left_sum보다 큰지 확인합니다. 클 때만 left_sum을 바꿉니다. 그래서 기록은 마이너스 2에서 10으로 갱신된 뒤 10을 유지했습니다.</a:t>
            </a:r>
          </a:p>
          <a:p>
            <a:endParaRPr/>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right_sum은 오른쪽 후보의 최댓값 기록이므로 마이너스 무한대로 시작합니다. current_sum은 오른쪽 부분만 더하기 위해 0으로 새로 설정합니다. 앞에서 구한 left_sum은 이 코드에서 바꾸지 않아요.</a:t>
            </a:r>
          </a:p>
          <a:p>
            <a:endParaRPr/>
          </a:p>
          <a:p>
            <a:r>
              <a:t>오른쪽 반복문은 mid 플러스 1에서 시작합니다. 왼쪽에 mid가 들어 있었으므로 바로 다음 칸부터 읽는 것입니다. 이번에는 인덱스를 오른쪽으로 늘리며 high까지 포함합니다. range의 멈춤값이 포함되지 않으므로 high 플러스 1을 적었습니다. 전체 호출에서 실제 인덱스는 4, 5, 6, 7이고, 8번 칸을 읽지는 않습니다.</a:t>
            </a:r>
          </a:p>
          <a:p>
            <a:endParaRPr/>
          </a:p>
          <a:p>
            <a:r>
              <a:t>각 칸의 값을 current_sum에 더한 뒤 right_sum과 비교합니다. 전체 호출의 현재 합은 7, 마이너스 2, 3, 4 순서였습니다. 첫 값 7이 가장 컸으므로 right_sum은 끝까지 7을 유지했습니다. 마지막에 나온 current_sum 4를 답으로 쓰지 않는 이유가 여기 있습니다. 마지막 후보와 가장 좋은 후보는 다를 수 있어요.</a:t>
            </a:r>
          </a:p>
          <a:p>
            <a:endParaRPr/>
          </a:p>
          <a:p>
            <a:r>
              <a:t>마지막 줄은 left_sum과 right_sum을 더해 반환합니다. 두 구간은 각각 mid에서 끝나고 mid 플러스 1에서 시작하므로 빈틈 없이 붙습니다. 전체 호출의 기록은 10과 7이었고 합은 17입니다. 이 값이 부모 함수에서 받는 cross_max가 됩니다. 이제 부모의 마지막 max가 left_max, right_max, cross_max를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0부터 7까지이고 mid는 3입니다. 왼쪽을 읽는 순서는 3, 2, 1, 0입니다. 화면의 파란 칸을 오른쪽 끝에서 왼쪽 끝으로 읽습니다. 오른쪽은 4, 5, 6, 7 순서이고 초록 칸을 왼쪽 끝에서 오른쪽 끝으로 읽어요.</a:t>
            </a:r>
          </a:p>
          <a:p>
            <a:endParaRPr/>
          </a:p>
          <a:p>
            <a:r>
              <a:t>range의 두 번째 인수는 실제로 방문하지 않는 멈춤값입니다. 왼쪽은 마지막으로 0번 칸을 읽어야 해서 멈춤값을 마이너스 1로 적었습니다. step이 마이너스 1이므로 인덱스를 계속 줄이다가 그 직전에 멈춥니다. 오른쪽은 마지막으로 7번 칸을 읽어야 해서 멈춤값을 8로 적었습니다.</a:t>
            </a:r>
          </a:p>
          <a:p>
            <a:endParaRPr/>
          </a:p>
          <a:p>
            <a:r>
              <a:t>파이썬에서는 배열의 마이너스 인덱스를 사용하면 뒤쪽 값을 읽을 수 있지만, 지금 왼쪽 반복문에서는 마이너스 1을 실제로 읽지 않습니다. 또한 a[8]에 접근하는 것도 아닙니다. range가 만들어 주는 인덱스 목록에 이 두 값은 포함되어 있지 않아요. 화면의 이동 순서를 그대로 목록으로 생각하면 쉽습니다.</a:t>
            </a:r>
          </a:p>
          <a:p>
            <a:endParaRPr/>
          </a:p>
          <a:p>
            <a:r>
              <a:t>더 작은 호출에서도 원리는 같습니다. 예를 들어 low가 4, mid가 5인 왼쪽 스캔은 5, 4만 읽고 멈춥니다. 배열 전체의 0까지 내려가면 안 됩니다. 반복문의 low와 high는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4, 마이너스 2, 마이너스 5, 마이너스 1입니다. 빈 구간은 허용하지 않으므로 답을 0으로 정하면 안 됩니다. 네 값 중 가장 덜 작은 값인 마이너스 1 한 칸이 전체 답입니다.</a:t>
            </a:r>
          </a:p>
          <a:p>
            <a:endParaRPr/>
          </a:p>
          <a:p>
            <a:r>
              <a:t>왼쪽 두 칸의 재귀 답은 마이너스 2이고 오른쪽 두 칸의 재귀 답은 마이너스 1입니다. 원소 하나에서도 음수를 그대로 반환하고, 두 칸에서도 음수 후보를 비교했기 때문에 이 답을 받을 수 있습니다. 음수를 0으로 바꾸는 코드는 이 문제의 조건과 다릅니다.</a:t>
            </a:r>
          </a:p>
          <a:p>
            <a:endParaRPr/>
          </a:p>
          <a:p>
            <a:r>
              <a:t>가운데 경계의 mid는 1입니다. 왼쪽 스캔은 마이너스 2에서 시작하고 마이너스 4를 더해서 현재 합이 마이너스 6이 됩니다. 기록은 더 큰 마이너스 2를 유지합니다. 오른쪽은 마이너스 5에서 시작하고 마이너스 1을 더해 마이너스 6이 됩니다. 기록은 마이너스 5를 유지합니다. 따라서 걸친 합은 마이너스 2와 마이너스 5를 더한 마이너스 7입니다.</a:t>
            </a:r>
          </a:p>
          <a:p>
            <a:endParaRPr/>
          </a:p>
          <a:p>
            <a:r>
              <a:t>세 후보 마이너스 2, 마이너스 1, 마이너스 7을 비교하면 마이너스 1이 가장 큽니다. 음수에서는 절댓값이 크다고 값도 큰 것이 아닙니다. 이 결과가 나오려면 최댓값 기록을 0이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17이 최종 답이었습니다. 하지만 항상 cross_max가 이기는 것은 아닙니다. 이번 네 값은 8, 마이너스 10, 마이너스 2, 마이너스 3입니다. 왼쪽 두 칸 안에서는 8 한 칸을 고른 합이 가장 크고, 오른쪽 안에서는 마이너스 2 한 칸이 가장 큽니다.</a:t>
            </a:r>
          </a:p>
          <a:p>
            <a:endParaRPr/>
          </a:p>
          <a:p>
            <a:r>
              <a:t>mid는 인덱스 1이어서 왼쪽 경계 칸이 마이너스 10입니다. 왼쪽 스캔의 첫 합은 마이너스 10이고, 그다음 8을 더하면 마이너스 2입니다. 둘 중 큰 기록은 마이너스 2입니다. 경계를 걸치는 왼쪽 부분에서는 값 8만 고를 수 없어요. 경계 칸 마이너스 10도 포함해야 하니까요.</a:t>
            </a:r>
          </a:p>
          <a:p>
            <a:endParaRPr/>
          </a:p>
          <a:p>
            <a:r>
              <a:t>오른쪽은 인덱스 2의 마이너스 2에서 시작하고, 마이너스 3을 더하면 합이 마이너스 5입니다. 오른쪽 기록은 마이너스 2를 유지합니다. 두 기록 마이너스 2와 마이너스 2를 더하면 cross_max는 마이너스 4입니다. 아래 줄에서 8, 마이너스 10, 마이너스 2가 모두 붙어 있는 것을 확인해 주세요.</a:t>
            </a:r>
          </a:p>
          <a:p>
            <a:endParaRPr/>
          </a:p>
          <a:p>
            <a:r>
              <a:t>마지막 비교는 8, 마이너스 2, 마이너스 4 중 가장 큰 8을 고릅니다. 경계를 걸친 구간을 정확히 계산해도, 그 구간이 더 불리하면 왼쪽 답을 그대로 반환해야 합니다. 그래서 마지막 줄은 left_sum 더하기 right_sum을 곧장 최종 답으로 내는 코드가 아니라, left_max, right_max, cross_max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계산 비용도 방금 본 그림으로 확인해 보겠습니다. 경계를 걸치는 합을 구할 때 왼쪽 칸을 한 번씩 읽고 오른쪽 칸을 한 번씩 읽었습니다. 현재 구간의 크기가 n개라면 두 반복문을 합쳐 총 n칸을 읽으므로 이 결합 단계의 비용은 O(n)입니다.</a:t>
            </a:r>
          </a:p>
          <a:p>
            <a:endParaRPr/>
          </a:p>
          <a:p>
            <a:r>
              <a:t>전체 여덟 칸 예제에는 두 칸짜리 호출이 네 개 있습니다. 각각 경계 계산에서 두 칸을 읽으므로 합치면 8번입니다. 네 칸짜리 호출은 두 개 있고 각각 네 칸을 읽어서 역시 합치면 8번입니다. 마지막 전체 여덟 칸 호출에서도 여덟 칸을 읽습니다. 그래서 경계 스캔에서 원소를 읽은 횟수는 8 더하기 8 더하기 8, 총 24번입니다. 이 수는 모든 명령의 실행 횟수가 아니라 결합 반복문에서 배열 칸을 읽은 횟수예요.</a:t>
            </a:r>
          </a:p>
          <a:p>
            <a:endParaRPr/>
          </a:p>
          <a:p>
            <a:r>
              <a:t>한 층에서 구간들이 나뉘어 있어도 전체 원소 수의 합은 n으로 같습니다. 반으로 나누어 원소 하나까지 내려가면 결합할 층의 수는 로그 n에 비례합니다. 지금은 8에서 4, 2, 1로 줄었으므로 결합 층이 세 개였습니다. 따라서 각 층의 n번 비용을 로그 n개의 층에서 수행해서 전체 시간은 O(n log n)입니다.</a:t>
            </a:r>
          </a:p>
          <a:p>
            <a:endParaRPr/>
          </a:p>
          <a:p>
            <a:r>
              <a:t>점화식으로 쓰면 T(n)은 크기 절반의 호출 두 번과 O(n)의 결합 비용을 더한 값입니다. 이 식이 외워야 하는 갑작스러운 공식이 아니라, 우리가 왼쪽과 오른쪽을 호출한 뒤 두 스캔을 실행한 코드의 구조라는 점을 연결해 주세요. 원소 하나의 호출에서는 경계 반복문을 실행하지 않고 바로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2962273"/>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3, 12, 7, 6을 반환했습니다. 특히 마지막 두 칸 5와 1은 경계를 이어 붙인 합 6이 더 좋았죠.</a:t>
            </a:r>
          </a:p>
          <a:p>
            <a:endParaRPr/>
          </a:p>
          <a:p>
            <a:r>
              <a:t>왼쪽 네 칸짜리 호출은 3, 12, 걸친 합 10을 비교해서 12를 반환했습니다. 오른쪽 네 칸짜리 호출은 7, 6, 걸친 합 4를 비교해서 7을 반환했습니다. 그래서 전체 호출이 받은 left_max는 12이고 right_max는 7이었습니다. 재귀 답을 갑자기 주어진 숫자로 생각하지 말고, 아래에서 실제로 계산해 올린 결과라고 보세요.</a:t>
            </a:r>
          </a:p>
          <a:p>
            <a:endParaRPr/>
          </a:p>
          <a:p>
            <a:r>
              <a:t>전체 경계는 인덱스 3과 4 사이였습니다. 왼쪽 스캔의 현재 합은 마이너스 2, 10, 5, 8이었고 저장한 최댓값은 10이었습니다. 오른쪽 현재 합은 7, 마이너스 2, 3, 4였고 저장한 최댓값은 7이었습니다. 두 기록을 더해서 cross_max 17을 만들었습니다. 그때 선택된 구간은 인덱스 2부터 4까지의 12, 마이너스 2, 7입니다.</a:t>
            </a:r>
          </a:p>
          <a:p>
            <a:endParaRPr/>
          </a:p>
          <a:p>
            <a:r>
              <a:t>마지막으로 12, 7, 17 중 가장 큰 17을 반환합니다. 기억할 것은 세 가지입니다. 재귀의 left_max와 right_max는 각 절반 내부의 답이고, 경계 스캔의 left_sum과 right_sum은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배열 대신 평면에 있는 점들을 다룹니다. 점 전체에서 가장 가까운 두 점의 거리를 찾는 문제예요. 각 절반 안에서 답을 구하는 것은 재귀 호출로 맡길 수 있습니다. 어려운 부분은 왼쪽 점 하나와 오른쪽 점 하나가 더 가까울 가능성을 처리하는 일입니다. 앞의 최대 구간 합과 같은 결합 문제가 다른 모습으로 등장합니다.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최근접 쌍은 전체 점 중에서 두 점을 고르는 문제입니다. 특정 위치에서 가장 가까운 시설 하나를 찾는 최근접 이웃 문제와는 입력과 목표가 조금 달라요. 여기서는 평면의 유클리드 거리를 사용하겠습니다. 실제 항공 충돌 예측에는 고도와 속도, 이동 방향도 필요하지만, 이 예제는 위치 사이의 거리 계산에 집중합니다. 두 점의 좌표 차이로 거리를 구하는 것부터 시작하겠습니다.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아이보다 큰 제이만 비교하므로 같은 점끼리 비교하지 않고, 같은 쌍을 두 번 세지도 않습니다. 쌍의 개수는 엔 곱하기 엔 마이너스 일 나누기 이입니다. 디스턴스 함수의 하이폿은 가로와 세로 차이로 직선거리를 계산합니다. 최솟값은 양의 무한대로 초기화해요. 점이 두 개보다 적으면 이 코드는 무한대를 반환합니다. 완전 탐색은 작은 입력에서 정답을 검증하는 기준으로도 유용합니다.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엑스 좌표로 정렬하고 점의 개수가 비슷하도록 양쪽을 나눕니다. 각 절반의 최소 거리 중 작은 값을 디라고 하겠습니다. 전체 정답이 디보다 작으려면 두 점이 서로 다른 절반에 있어야 합니다. 각 절반 안의 더 가까운 쌍은 이미 재귀 호출이 찾았기 때문이죠. 이제 경계를 넘어서는 쌍 중에서 디보다 가까운 것만 추가로 찾으면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경계에서 수평으로 디 이상 떨어진 점은 반대편 점과 디보다 가까워질 수 없습니다. 그래서 폭이 이 디인 띠 안으로 후보를 줄입니다. 다음에는 와이 좌표로 정렬해 위아래 거리도 디보다 작은 후보만 비교합니다. 엑스 방향과 와이 방향에서 각각 불가능한 쌍을 제거하는 셈이에요. 다만 띠에 점이 많을 수 있으므로, 이것만으로 선형 시간이라고 결론 내리면 안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절반 안에서는 이미 최소 거리가 디 이상이라는 사실을 이용합니다. 경계의 양쪽에 있는 디 곱하기 디 영역을 작은 정사각형으로 나누면, 같은 절반의 작은 칸 안에 두 점이 들어갈 수 없습니다. 그 칸의 대각선이 디보다 짧기 때문입니다. 이 배치 조건으로 현재 점 다음의 최대 일곱 점만 비교해도 충분하다는 상수 개수 제한이 나옵니다. 단순히 띠에 점이 적다고 가정한 결과가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코드는 점이 세 개 이하면 완전 탐색을 사용합니다. 그보다 크면 엑스 순서의 리스트를 반으로 나누고 양쪽 최소 거리를 구해요. 띠를 만든 뒤 와이 좌표로 정렬하고 다음 일곱 점까지 비교합니다. 레인지의 끝은 제외되므로 아이 더하기 팔을 써야 일곱 개가 포함됩니다. 이 간단한 구현은 재귀 호출마다 띠를 다시 정렬합니다. 따라서 전체 시간은 오 엔 로그 제곱 엔입니다. 와이 정렬 순서를 선형 시간에 전달하면 오 엔 로그 엔으로 개선할 수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예제에서 이, 삼인 점과 삼, 사인 점의 거리는 루트 이입니다. 코드의 출력인 약 일 점 사일사가 그 값이에요. 시간 분석에서는 화면의 구현이 매 단계 스트립을 정렬한다는 점을 포함해야 합니다. 결합 비용은 최악에 엔 로그 엔이고, 전체는 엔 로그 제곱 엔입니다. 이론적인 엔 로그 엔 알고리즘은 처음에 와이 순서도 준비하고 재귀마다 그 순서를 유지해야 합니다. 비교 횟수가 상수라는 사실만으로 정렬 비용까지 사라지지는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표의 마지막 열부터 외우기보다는 각 행의 점화식을 먼저 읽어보겠습니다. 이진 탐색은 절반 크기의 문제를 하나만 남깁니다. 그래서 에이는 일, 비는 이이고, 한 단계에서 가운데 값과 비교하는 일은 상수 시간입니다. 병합 정렬은 절반 크기 두 부분을 모두 정렬하므로 에이가 이입니다. 두 정렬 결과를 병합할 때 전체 원소를 한 번씩 보니 결합 비용은 엔에 비례합니다. 절반으로 나누는 깊이는 로그 엔이고 각 깊이의 전체 병합 비용은 엔이므로 엔 로그 엔 시간이 됩니다. 최대 구간 합도 두 절반의 결과와 경계를 가로지르는 합을 결합합니다. 최근접 쌍의 엔 로그 엔 결과는 와이 좌표의 정렬 순서를 재귀 과정에서 유지하는 구현일 때 해당합니다. 점화식을 쓸 때는 실제 코드가 수행하는 일과 결합 비용이 일치하는지 확인해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83535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먼저 문제를 작은 부분으로 나누고</a:t>
            </a:r>
            <a:r>
              <a:rPr lang="en-US" altLang="ko-KR"/>
              <a:t>, </a:t>
            </a:r>
            <a:r>
              <a:rPr lang="ko-KR" altLang="en-US"/>
              <a:t>각 부분을 재귀적으로 푼 뒤 원래 문제의 답을 구성합니다</a:t>
            </a:r>
            <a:r>
              <a:rPr lang="en-US" altLang="ko-KR"/>
              <a:t>. </a:t>
            </a:r>
            <a:r>
              <a:rPr lang="ko-KR" altLang="en-US"/>
              <a:t>병합 정렬은 정렬된 두 부분에서 작은 값부터 꺼내 합쳤습니다</a:t>
            </a:r>
            <a:r>
              <a:rPr lang="en-US" altLang="ko-KR"/>
              <a:t>. </a:t>
            </a:r>
            <a:r>
              <a:rPr lang="ko-KR" altLang="en-US"/>
              <a:t>퀵 정렬은 피벗을 제자리에 놓고 그 왼쪽과 오른쪽을 각각 정렬했습니다</a:t>
            </a:r>
            <a:r>
              <a:rPr lang="en-US" altLang="ko-KR"/>
              <a:t>. </a:t>
            </a:r>
            <a:r>
              <a:rPr lang="ko-KR" altLang="en-US"/>
              <a:t>피벗 하나를 정했다고 전체 정렬이 끝난 것은 아니라는 점도 확인했어요</a:t>
            </a:r>
            <a:r>
              <a:rPr lang="en-US" altLang="ko-KR"/>
              <a:t>. </a:t>
            </a:r>
            <a:r>
              <a:rPr lang="ko-KR" altLang="en-US"/>
              <a:t>최대 구간 합과 최근접 쌍은 두 부분의 경계를 걸치는 경우를 빠뜨리지 않는 것이 핵심입니다</a:t>
            </a:r>
            <a:r>
              <a:rPr lang="en-US" altLang="ko-KR"/>
              <a:t>. </a:t>
            </a:r>
            <a:r>
              <a:rPr lang="ko-KR" altLang="en-US"/>
              <a:t>쿼드 트리는 균일하지 않은 영역을 네 부분으로 나눴습니다</a:t>
            </a:r>
            <a:r>
              <a:rPr lang="en-US" altLang="ko-KR"/>
              <a:t>. </a:t>
            </a:r>
            <a:r>
              <a:rPr lang="ko-KR" altLang="en-US"/>
              <a:t>시간 복잡도를 정리할 때는 실제 코드의 재귀 호출 수와 결합 비용을 점화식에 넣어야 합니다</a:t>
            </a:r>
            <a:r>
              <a:rPr lang="en-US" altLang="ko-KR"/>
              <a:t>. </a:t>
            </a:r>
            <a:r>
              <a:rPr lang="ko-KR" altLang="en-US"/>
              <a:t>마지막으로 종료 조건을 확인해 주세요</a:t>
            </a:r>
            <a:r>
              <a:rPr lang="en-US" altLang="ko-KR"/>
              <a:t>. </a:t>
            </a:r>
            <a:r>
              <a:rPr lang="ko-KR" altLang="en-US"/>
              <a:t>빈 구간과 원소 한 개에서는 더 나누지 않고</a:t>
            </a:r>
            <a:r>
              <a:rPr lang="en-US" altLang="ko-KR"/>
              <a:t>, </a:t>
            </a:r>
            <a:r>
              <a:rPr lang="ko-KR" altLang="en-US"/>
              <a:t>퀵 정렬의 재귀 호출에는 확정된 피벗을 다시 넣지 않습니다</a:t>
            </a:r>
            <a:r>
              <a:rPr lang="en-US" altLang="ko-KR"/>
              <a:t>. </a:t>
            </a:r>
            <a:r>
              <a:rPr lang="ko-KR" altLang="en-US"/>
              <a:t>이제 직접 실행하며 배열이 끝까지 정렬되는지 확인해 보겠습니다</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6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9.xml"/><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98B6D93F-C23E-4C15-ACBE-9F87874C554E}"/>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A198CCF9-CAA5-4497-9ABE-CED63DCAB6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466115-E3DF-47AD-ADC0-D7487EC3A686}"/>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footer">
            <a:extLst>
              <a:ext uri="{FF2B5EF4-FFF2-40B4-BE49-F238E27FC236}">
                <a16:creationId xmlns:a16="http://schemas.microsoft.com/office/drawing/2014/main" id="{B3985CEB-4816-4220-921F-7D18C972370A}"/>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8C6B5F76-55E8-417C-9E96-DFFC939A5C2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B30B5CCA-3EE5-4CE7-95D8-953675F88173}"/>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E3FDEE96-8E99-41F0-A3AD-73B50CAF2DB5}"/>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topic-0">
            <a:extLst>
              <a:ext uri="{FF2B5EF4-FFF2-40B4-BE49-F238E27FC236}">
                <a16:creationId xmlns:a16="http://schemas.microsoft.com/office/drawing/2014/main" id="{96A2700C-56F8-4349-B1FA-7D3FF81CA448}"/>
              </a:ext>
            </a:extLst>
          </p:cNvPr>
          <p:cNvSpPr>
            <a:spLocks noGrp="1"/>
          </p:cNvSpPr>
          <p:nvPr/>
        </p:nvSpPr>
        <p:spPr>
          <a:xfrm>
            <a:off x="7048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9" name="topic-1">
            <a:extLst>
              <a:ext uri="{FF2B5EF4-FFF2-40B4-BE49-F238E27FC236}">
                <a16:creationId xmlns:a16="http://schemas.microsoft.com/office/drawing/2014/main" id="{FC4855C5-09FC-4DB0-BD6E-D842443E11E0}"/>
              </a:ext>
            </a:extLst>
          </p:cNvPr>
          <p:cNvSpPr>
            <a:spLocks noGrp="1"/>
          </p:cNvSpPr>
          <p:nvPr/>
        </p:nvSpPr>
        <p:spPr>
          <a:xfrm>
            <a:off x="7048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10" name="topic-2">
            <a:extLst>
              <a:ext uri="{FF2B5EF4-FFF2-40B4-BE49-F238E27FC236}">
                <a16:creationId xmlns:a16="http://schemas.microsoft.com/office/drawing/2014/main" id="{9B5C6549-021F-4861-8040-F8B230394895}"/>
              </a:ext>
            </a:extLst>
          </p:cNvPr>
          <p:cNvSpPr>
            <a:spLocks noGrp="1"/>
          </p:cNvSpPr>
          <p:nvPr/>
        </p:nvSpPr>
        <p:spPr>
          <a:xfrm>
            <a:off x="7048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1" name="topic-3">
            <a:extLst>
              <a:ext uri="{FF2B5EF4-FFF2-40B4-BE49-F238E27FC236}">
                <a16:creationId xmlns:a16="http://schemas.microsoft.com/office/drawing/2014/main" id="{37F42A6E-0F8B-4B0A-A28B-F5A3D7EA2D6F}"/>
              </a:ext>
            </a:extLst>
          </p:cNvPr>
          <p:cNvSpPr>
            <a:spLocks noGrp="1"/>
          </p:cNvSpPr>
          <p:nvPr/>
        </p:nvSpPr>
        <p:spPr>
          <a:xfrm>
            <a:off x="7048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2" name="topic-4">
            <a:extLst>
              <a:ext uri="{FF2B5EF4-FFF2-40B4-BE49-F238E27FC236}">
                <a16:creationId xmlns:a16="http://schemas.microsoft.com/office/drawing/2014/main" id="{D9308D94-00A3-4C2F-A0F3-8CF35DB62BC6}"/>
              </a:ext>
            </a:extLst>
          </p:cNvPr>
          <p:cNvSpPr>
            <a:spLocks noGrp="1"/>
          </p:cNvSpPr>
          <p:nvPr/>
        </p:nvSpPr>
        <p:spPr>
          <a:xfrm>
            <a:off x="6343650" y="18288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최근접 쌍</a:t>
            </a:r>
          </a:p>
        </p:txBody>
      </p:sp>
      <p:sp>
        <p:nvSpPr>
          <p:cNvPr id="13" name="topic-5">
            <a:extLst>
              <a:ext uri="{FF2B5EF4-FFF2-40B4-BE49-F238E27FC236}">
                <a16:creationId xmlns:a16="http://schemas.microsoft.com/office/drawing/2014/main" id="{79FE052E-0151-4B92-A0ED-A4E15F0FC3C4}"/>
              </a:ext>
            </a:extLst>
          </p:cNvPr>
          <p:cNvSpPr>
            <a:spLocks noGrp="1"/>
          </p:cNvSpPr>
          <p:nvPr/>
        </p:nvSpPr>
        <p:spPr>
          <a:xfrm>
            <a:off x="6343650" y="28575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쿼드 트리</a:t>
            </a:r>
          </a:p>
        </p:txBody>
      </p:sp>
      <p:sp>
        <p:nvSpPr>
          <p:cNvPr id="14" name="topic-6">
            <a:extLst>
              <a:ext uri="{FF2B5EF4-FFF2-40B4-BE49-F238E27FC236}">
                <a16:creationId xmlns:a16="http://schemas.microsoft.com/office/drawing/2014/main" id="{3CB847C4-D524-4643-B55B-EC78E380E1D5}"/>
              </a:ext>
            </a:extLst>
          </p:cNvPr>
          <p:cNvSpPr>
            <a:spLocks noGrp="1"/>
          </p:cNvSpPr>
          <p:nvPr/>
        </p:nvSpPr>
        <p:spPr>
          <a:xfrm>
            <a:off x="6343650" y="38862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마스터 정리</a:t>
            </a:r>
          </a:p>
        </p:txBody>
      </p:sp>
      <p:sp>
        <p:nvSpPr>
          <p:cNvPr id="15" name="topic-7">
            <a:extLst>
              <a:ext uri="{FF2B5EF4-FFF2-40B4-BE49-F238E27FC236}">
                <a16:creationId xmlns:a16="http://schemas.microsoft.com/office/drawing/2014/main" id="{A1B4CE61-63D7-48EE-B287-6B640B8553CA}"/>
              </a:ext>
            </a:extLst>
          </p:cNvPr>
          <p:cNvSpPr>
            <a:spLocks noGrp="1"/>
          </p:cNvSpPr>
          <p:nvPr/>
        </p:nvSpPr>
        <p:spPr>
          <a:xfrm>
            <a:off x="6343650" y="4914900"/>
            <a:ext cx="5219700" cy="4191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0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4.8   코딩 테스트 예제</a:t>
            </a:r>
          </a:p>
        </p:txBody>
      </p:sp>
    </p:spTree>
    <p:extLst>
      <p:ext uri="{BB962C8B-B14F-4D97-AF65-F5344CB8AC3E}">
        <p14:creationId xmlns:p14="http://schemas.microsoft.com/office/powerpoint/2010/main" val="2277238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36</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49</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50</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56</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57</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58</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59</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79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80</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81</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82</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83</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84</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85</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86</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87</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88</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89</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90</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91</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92</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93</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94</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95</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97</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98</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C6B54F9A-DCA2-49F0-A50F-5274BFD0E3F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D6A8729-B4E9-40A0-A55A-335ADD05AC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01E1513-F854-4FA0-9D9E-3D5AE8CB0A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각 높이에서 읽는 칸 수는 n개</a:t>
            </a:r>
          </a:p>
        </p:txBody>
      </p:sp>
      <p:sp>
        <p:nvSpPr>
          <p:cNvPr id="4" name="diagram-line-295">
            <a:extLst>
              <a:ext uri="{FF2B5EF4-FFF2-40B4-BE49-F238E27FC236}">
                <a16:creationId xmlns:a16="http://schemas.microsoft.com/office/drawing/2014/main" id="{D295AA66-282D-46F5-9CF2-A9B63AAD15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6996F95-7D87-4690-BAFA-5E900748028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 계산은 현재 구간의 각 원소를 한 번씩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8개 예제에서는 8 + 8 + 8 = 24회 읽고, 세 층의 결합을 마칩니다.</a:t>
            </a:r>
          </a:p>
        </p:txBody>
      </p:sp>
      <p:sp>
        <p:nvSpPr>
          <p:cNvPr id="6" name="footer">
            <a:extLst>
              <a:ext uri="{FF2B5EF4-FFF2-40B4-BE49-F238E27FC236}">
                <a16:creationId xmlns:a16="http://schemas.microsoft.com/office/drawing/2014/main" id="{CF3D6977-450E-4F7F-8685-D43557F4CD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16D17B0-6D9D-4B59-9421-BCFC4C399D7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cost-label-0">
            <a:extLst>
              <a:ext uri="{FF2B5EF4-FFF2-40B4-BE49-F238E27FC236}">
                <a16:creationId xmlns:a16="http://schemas.microsoft.com/office/drawing/2014/main" id="{64A615A8-2E7B-47C5-81F0-B0EA2900EAE6}"/>
              </a:ext>
            </a:extLst>
          </p:cNvPr>
          <p:cNvSpPr>
            <a:spLocks noGrp="1"/>
          </p:cNvSpPr>
          <p:nvPr/>
        </p:nvSpPr>
        <p:spPr>
          <a:xfrm>
            <a:off x="609600" y="28194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칸짜리 4호출</a:t>
            </a:r>
          </a:p>
        </p:txBody>
      </p:sp>
      <p:graphicFrame>
        <p:nvGraphicFramePr>
          <p:cNvPr id="9" name="표 8">
            <a:extLst>
              <a:ext uri="{FF2B5EF4-FFF2-40B4-BE49-F238E27FC236}">
                <a16:creationId xmlns:a16="http://schemas.microsoft.com/office/drawing/2014/main" id="{79F60DFE-3BEF-4EF8-A5D1-FEA82CD1F0CD}"/>
              </a:ext>
            </a:extLst>
          </p:cNvPr>
          <p:cNvGraphicFramePr/>
          <p:nvPr/>
        </p:nvGraphicFramePr>
        <p:xfrm>
          <a:off x="3448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0" name="표 9">
            <a:extLst>
              <a:ext uri="{FF2B5EF4-FFF2-40B4-BE49-F238E27FC236}">
                <a16:creationId xmlns:a16="http://schemas.microsoft.com/office/drawing/2014/main" id="{93F80D0C-1728-4064-8FC6-F1D4C0529ACF}"/>
              </a:ext>
            </a:extLst>
          </p:cNvPr>
          <p:cNvGraphicFramePr/>
          <p:nvPr/>
        </p:nvGraphicFramePr>
        <p:xfrm>
          <a:off x="4781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1" name="표 10">
            <a:extLst>
              <a:ext uri="{FF2B5EF4-FFF2-40B4-BE49-F238E27FC236}">
                <a16:creationId xmlns:a16="http://schemas.microsoft.com/office/drawing/2014/main" id="{4F7FE0FA-87A9-437C-AF22-7A7BE6C8B953}"/>
              </a:ext>
            </a:extLst>
          </p:cNvPr>
          <p:cNvGraphicFramePr/>
          <p:nvPr/>
        </p:nvGraphicFramePr>
        <p:xfrm>
          <a:off x="6115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CECFB"/>
                    </a:solidFill>
                  </a:tcPr>
                </a:tc>
                <a:tc>
                  <a:txBody>
                    <a:bodyPr/>
                    <a:lstStyle/>
                    <a:p>
                      <a:pPr algn="ctr"/>
                      <a:r>
                        <a:rPr sz="1875" b="1">
                          <a:solidFill>
                            <a:srgbClr val="151515"/>
                          </a:solidFill>
                          <a:latin typeface="Consolas"/>
                          <a:ea typeface="Consolas"/>
                          <a:cs typeface="Consolas"/>
                        </a:rPr>
                        <a:t>-9</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2" name="표 11">
            <a:extLst>
              <a:ext uri="{FF2B5EF4-FFF2-40B4-BE49-F238E27FC236}">
                <a16:creationId xmlns:a16="http://schemas.microsoft.com/office/drawing/2014/main" id="{B7141951-783F-45C2-A20B-79685B8CA342}"/>
              </a:ext>
            </a:extLst>
          </p:cNvPr>
          <p:cNvGraphicFramePr/>
          <p:nvPr/>
        </p:nvGraphicFramePr>
        <p:xfrm>
          <a:off x="7448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3" name="cost-equation-0">
            <a:extLst>
              <a:ext uri="{FF2B5EF4-FFF2-40B4-BE49-F238E27FC236}">
                <a16:creationId xmlns:a16="http://schemas.microsoft.com/office/drawing/2014/main" id="{33877E39-4107-43EA-86E1-AE2FC4471903}"/>
              </a:ext>
            </a:extLst>
          </p:cNvPr>
          <p:cNvSpPr>
            <a:spLocks noGrp="1"/>
          </p:cNvSpPr>
          <p:nvPr/>
        </p:nvSpPr>
        <p:spPr>
          <a:xfrm>
            <a:off x="9620250" y="28194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4 × 2 = 8</a:t>
            </a:r>
          </a:p>
        </p:txBody>
      </p:sp>
      <p:sp>
        <p:nvSpPr>
          <p:cNvPr id="14" name="cost-label-1">
            <a:extLst>
              <a:ext uri="{FF2B5EF4-FFF2-40B4-BE49-F238E27FC236}">
                <a16:creationId xmlns:a16="http://schemas.microsoft.com/office/drawing/2014/main" id="{0A9F58DE-4D9D-4BB4-B2C7-A2BAD1C1E1CE}"/>
              </a:ext>
            </a:extLst>
          </p:cNvPr>
          <p:cNvSpPr>
            <a:spLocks noGrp="1"/>
          </p:cNvSpPr>
          <p:nvPr/>
        </p:nvSpPr>
        <p:spPr>
          <a:xfrm>
            <a:off x="609600" y="38862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네 칸짜리 2호출</a:t>
            </a:r>
          </a:p>
        </p:txBody>
      </p:sp>
      <p:graphicFrame>
        <p:nvGraphicFramePr>
          <p:cNvPr id="15" name="표 14">
            <a:extLst>
              <a:ext uri="{FF2B5EF4-FFF2-40B4-BE49-F238E27FC236}">
                <a16:creationId xmlns:a16="http://schemas.microsoft.com/office/drawing/2014/main" id="{9CE8C597-8848-43E8-8184-184D786A2BDE}"/>
              </a:ext>
            </a:extLst>
          </p:cNvPr>
          <p:cNvGraphicFramePr/>
          <p:nvPr/>
        </p:nvGraphicFramePr>
        <p:xfrm>
          <a:off x="344805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12</a:t>
                      </a:r>
                    </a:p>
                  </a:txBody>
                  <a:tcPr anchor="ctr">
                    <a:solidFill>
                      <a:srgbClr val="DDEFE6"/>
                    </a:solidFill>
                  </a:tcPr>
                </a:tc>
                <a:tc>
                  <a:txBody>
                    <a:bodyPr/>
                    <a:lstStyle/>
                    <a:p>
                      <a:pPr algn="ctr"/>
                      <a:r>
                        <a:rPr sz="1875"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16" name="표 15">
            <a:extLst>
              <a:ext uri="{FF2B5EF4-FFF2-40B4-BE49-F238E27FC236}">
                <a16:creationId xmlns:a16="http://schemas.microsoft.com/office/drawing/2014/main" id="{F42183D5-4F5F-4582-93C1-EDDE0EF913B1}"/>
              </a:ext>
            </a:extLst>
          </p:cNvPr>
          <p:cNvGraphicFramePr/>
          <p:nvPr/>
        </p:nvGraphicFramePr>
        <p:xfrm>
          <a:off x="598170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cost-equation-1">
            <a:extLst>
              <a:ext uri="{FF2B5EF4-FFF2-40B4-BE49-F238E27FC236}">
                <a16:creationId xmlns:a16="http://schemas.microsoft.com/office/drawing/2014/main" id="{A35D1207-A7CE-4A48-B9CF-81E2ABFDE50A}"/>
              </a:ext>
            </a:extLst>
          </p:cNvPr>
          <p:cNvSpPr>
            <a:spLocks noGrp="1"/>
          </p:cNvSpPr>
          <p:nvPr/>
        </p:nvSpPr>
        <p:spPr>
          <a:xfrm>
            <a:off x="9620250" y="38862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2 × 4 = 8</a:t>
            </a:r>
          </a:p>
        </p:txBody>
      </p:sp>
      <p:sp>
        <p:nvSpPr>
          <p:cNvPr id="18" name="cost-label-2">
            <a:extLst>
              <a:ext uri="{FF2B5EF4-FFF2-40B4-BE49-F238E27FC236}">
                <a16:creationId xmlns:a16="http://schemas.microsoft.com/office/drawing/2014/main" id="{403302C3-904D-4649-8729-E144E35170D6}"/>
              </a:ext>
            </a:extLst>
          </p:cNvPr>
          <p:cNvSpPr>
            <a:spLocks noGrp="1"/>
          </p:cNvSpPr>
          <p:nvPr/>
        </p:nvSpPr>
        <p:spPr>
          <a:xfrm>
            <a:off x="609600" y="49530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여덟 칸짜리 1호출</a:t>
            </a:r>
          </a:p>
        </p:txBody>
      </p:sp>
      <p:graphicFrame>
        <p:nvGraphicFramePr>
          <p:cNvPr id="19" name="표 18">
            <a:extLst>
              <a:ext uri="{FF2B5EF4-FFF2-40B4-BE49-F238E27FC236}">
                <a16:creationId xmlns:a16="http://schemas.microsoft.com/office/drawing/2014/main" id="{311D4A62-D3D9-4155-995F-EAFB93B1602D}"/>
              </a:ext>
            </a:extLst>
          </p:cNvPr>
          <p:cNvGraphicFramePr/>
          <p:nvPr/>
        </p:nvGraphicFramePr>
        <p:xfrm>
          <a:off x="3448050" y="4857750"/>
          <a:ext cx="48006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gridCol w="600075">
                  <a:extLst>
                    <a:ext uri="{9D8B030D-6E8A-4147-A177-3AD203B41FA5}">
                      <a16:colId xmlns:a16="http://schemas.microsoft.com/office/drawing/2014/main" val="20004"/>
                    </a:ext>
                  </a:extLst>
                </a:gridCol>
                <a:gridCol w="600075">
                  <a:extLst>
                    <a:ext uri="{9D8B030D-6E8A-4147-A177-3AD203B41FA5}">
                      <a16:colId xmlns:a16="http://schemas.microsoft.com/office/drawing/2014/main" val="20005"/>
                    </a:ext>
                  </a:extLst>
                </a:gridCol>
                <a:gridCol w="600075">
                  <a:extLst>
                    <a:ext uri="{9D8B030D-6E8A-4147-A177-3AD203B41FA5}">
                      <a16:colId xmlns:a16="http://schemas.microsoft.com/office/drawing/2014/main" val="20006"/>
                    </a:ext>
                  </a:extLst>
                </a:gridCol>
                <a:gridCol w="600075">
                  <a:extLst>
                    <a:ext uri="{9D8B030D-6E8A-4147-A177-3AD203B41FA5}">
                      <a16:colId xmlns:a16="http://schemas.microsoft.com/office/drawing/2014/main" val="20007"/>
                    </a:ext>
                  </a:extLst>
                </a:gridCol>
              </a:tblGrid>
              <a:tr h="5143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0" name="cost-equation-2">
            <a:extLst>
              <a:ext uri="{FF2B5EF4-FFF2-40B4-BE49-F238E27FC236}">
                <a16:creationId xmlns:a16="http://schemas.microsoft.com/office/drawing/2014/main" id="{FE447638-5B01-4E44-871B-CD07484BEBB9}"/>
              </a:ext>
            </a:extLst>
          </p:cNvPr>
          <p:cNvSpPr>
            <a:spLocks noGrp="1"/>
          </p:cNvSpPr>
          <p:nvPr/>
        </p:nvSpPr>
        <p:spPr>
          <a:xfrm>
            <a:off x="9620250" y="49530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1 × 8 = 8</a:t>
            </a:r>
          </a:p>
        </p:txBody>
      </p:sp>
      <p:sp>
        <p:nvSpPr>
          <p:cNvPr id="21" name="caption">
            <a:extLst>
              <a:ext uri="{FF2B5EF4-FFF2-40B4-BE49-F238E27FC236}">
                <a16:creationId xmlns:a16="http://schemas.microsoft.com/office/drawing/2014/main" id="{A798F2F1-858D-4E00-8B30-D8CA699B9F1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T(n) = 2T(n/2) + O(n)  →  O(n log n). 두 자식 호출과 경계 스캔의 비용입니다.</a:t>
            </a:r>
          </a:p>
        </p:txBody>
      </p:sp>
    </p:spTree>
    <p:extLst>
      <p:ext uri="{BB962C8B-B14F-4D97-AF65-F5344CB8AC3E}">
        <p14:creationId xmlns:p14="http://schemas.microsoft.com/office/powerpoint/2010/main" val="392191701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1340B226-1A33-4724-A00E-9C6B164CA58A}"/>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9A9E1D7-CFCF-4EAC-8CE3-D6F7CC057E96}"/>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59F7C8F0-8078-438F-8D98-EB8F31AB2918}"/>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4B5E087F-4DD7-4443-9721-81B32107772A}"/>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최근접 쌍 문제</a:t>
            </a:r>
          </a:p>
        </p:txBody>
      </p:sp>
      <p:sp>
        <p:nvSpPr>
          <p:cNvPr id="5" name="직사각형 4">
            <a:extLst>
              <a:ext uri="{FF2B5EF4-FFF2-40B4-BE49-F238E27FC236}">
                <a16:creationId xmlns:a16="http://schemas.microsoft.com/office/drawing/2014/main" id="{CCCE8936-6C0C-41BE-8107-478915507961}"/>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Closest Pair of Points</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평면 위 n개의 점 중 가장 가까운 두 점을 찾아라</a:t>
            </a:r>
          </a:p>
        </p:txBody>
      </p:sp>
      <p:sp>
        <p:nvSpPr>
          <p:cNvPr id="6" name="직사각형 5">
            <a:extLst>
              <a:ext uri="{FF2B5EF4-FFF2-40B4-BE49-F238E27FC236}">
                <a16:creationId xmlns:a16="http://schemas.microsoft.com/office/drawing/2014/main" id="{44E85B9A-9930-4D54-981C-F152AD553E3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A5DF2758-23E7-4174-B4D8-0B86C50D8FB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12EB60D2-0B36-428A-8297-AF845C6BE96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160</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02635186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75E2193-3858-4D54-A250-BCB2D4AAB826}"/>
              </a:ext>
            </a:extLst>
          </p:cNvPr>
          <p:cNvSpPr>
            <a:spLocks noGrp="1"/>
          </p:cNvSpPr>
          <p:nvPr/>
        </p:nvSpPr>
        <p:spPr>
          <a:xfrm>
            <a:off x="658368" y="1737360"/>
            <a:ext cx="5349240" cy="137160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2차원 평면의 n개 점 중 유클리드 거리가 가장 작은 두 점을 찾습니다. 전체 점에서 두 점을 고르는 문제로, 특정 지점의 최근접 이웃을 찾는 문제와 구분합니다.</a:t>
            </a:r>
            <a:endParaRPr sz="1350"/>
          </a:p>
        </p:txBody>
      </p:sp>
      <p:sp>
        <p:nvSpPr>
          <p:cNvPr id="14" name="Text 8">
            <a:extLst>
              <a:ext uri="{FF2B5EF4-FFF2-40B4-BE49-F238E27FC236}">
                <a16:creationId xmlns:a16="http://schemas.microsoft.com/office/drawing/2014/main" id="{57B36C2F-B1D9-4101-AED4-4E0353ED5518}"/>
              </a:ext>
            </a:extLst>
          </p:cNvPr>
          <p:cNvSpPr>
            <a:spLocks noGrp="1"/>
          </p:cNvSpPr>
          <p:nvPr/>
        </p:nvSpPr>
        <p:spPr>
          <a:xfrm>
            <a:off x="7168896" y="5010912"/>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항공 관제 — 1초가 생명</a:t>
            </a:r>
            <a:endParaRPr sz="1300"/>
          </a:p>
        </p:txBody>
      </p:sp>
      <p:sp>
        <p:nvSpPr>
          <p:cNvPr id="15" name="Text 9">
            <a:extLst>
              <a:ext uri="{FF2B5EF4-FFF2-40B4-BE49-F238E27FC236}">
                <a16:creationId xmlns:a16="http://schemas.microsoft.com/office/drawing/2014/main" id="{9A4339BF-8948-40B9-A527-16C49777C4C2}"/>
              </a:ext>
            </a:extLst>
          </p:cNvPr>
          <p:cNvSpPr>
            <a:spLocks noGrp="1"/>
          </p:cNvSpPr>
          <p:nvPr/>
        </p:nvSpPr>
        <p:spPr>
          <a:xfrm>
            <a:off x="7168896" y="5358384"/>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레이더에 수백 대의 항공기가 잡힌다. 가장 가까운 두 대를 실시간으로 찾아내야 충돌을 막을 수 있다.</a:t>
            </a:r>
            <a:endParaRPr sz="1180"/>
          </a:p>
        </p:txBody>
      </p:sp>
      <p:sp>
        <p:nvSpPr>
          <p:cNvPr id="20" name="직사각형 19">
            <a:extLst>
              <a:ext uri="{FF2B5EF4-FFF2-40B4-BE49-F238E27FC236}">
                <a16:creationId xmlns:a16="http://schemas.microsoft.com/office/drawing/2014/main" id="{2038112F-374A-4597-A88B-D946558B4CD4}"/>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1" name="직사각형 20">
            <a:extLst>
              <a:ext uri="{FF2B5EF4-FFF2-40B4-BE49-F238E27FC236}">
                <a16:creationId xmlns:a16="http://schemas.microsoft.com/office/drawing/2014/main" id="{FC044E0F-21A1-4C40-B1E4-1C416FE40EA8}"/>
              </a:ext>
            </a:extLst>
          </p:cNvPr>
          <p:cNvSpPr>
            <a:spLocks noGrp="1"/>
          </p:cNvSpPr>
          <p:nvPr/>
        </p:nvSpPr>
        <p:spPr>
          <a:xfrm>
            <a:off x="6309360" y="4828032"/>
            <a:ext cx="5221224" cy="9525"/>
          </a:xfrm>
          <a:prstGeom prst="rect">
            <a:avLst/>
          </a:prstGeom>
          <a:solidFill>
            <a:srgbClr val="D4D4D4"/>
          </a:solidFill>
          <a:ln w="0">
            <a:noFill/>
          </a:ln>
        </p:spPr>
        <p:txBody>
          <a:bodyPr/>
          <a:lstStyle/>
          <a:p>
            <a:endParaRPr lang="ko-KR" altLang="en-US"/>
          </a:p>
        </p:txBody>
      </p:sp>
      <p:sp>
        <p:nvSpPr>
          <p:cNvPr id="22" name="직사각형 21">
            <a:extLst>
              <a:ext uri="{FF2B5EF4-FFF2-40B4-BE49-F238E27FC236}">
                <a16:creationId xmlns:a16="http://schemas.microsoft.com/office/drawing/2014/main" id="{17E3D95C-A4FA-4ED7-889C-AE1C792F2EC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3" name="직사각형 22">
            <a:extLst>
              <a:ext uri="{FF2B5EF4-FFF2-40B4-BE49-F238E27FC236}">
                <a16:creationId xmlns:a16="http://schemas.microsoft.com/office/drawing/2014/main" id="{DCC5AF9A-DFC9-4AEE-B913-359074274FA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4" name="직사각형 23">
            <a:extLst>
              <a:ext uri="{FF2B5EF4-FFF2-40B4-BE49-F238E27FC236}">
                <a16:creationId xmlns:a16="http://schemas.microsoft.com/office/drawing/2014/main" id="{9A0B2036-0E93-4B1B-A9A7-DD17CB9F00C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 평면 위 가장 가까운 두 점</a:t>
            </a:r>
          </a:p>
        </p:txBody>
      </p:sp>
      <p:sp>
        <p:nvSpPr>
          <p:cNvPr id="25" name="직사각형 24">
            <a:extLst>
              <a:ext uri="{FF2B5EF4-FFF2-40B4-BE49-F238E27FC236}">
                <a16:creationId xmlns:a16="http://schemas.microsoft.com/office/drawing/2014/main" id="{9890EC24-9FE3-4B78-86FE-0BDA7A13DCE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6" name="직사각형 25">
            <a:extLst>
              <a:ext uri="{FF2B5EF4-FFF2-40B4-BE49-F238E27FC236}">
                <a16:creationId xmlns:a16="http://schemas.microsoft.com/office/drawing/2014/main" id="{90194842-6CDB-4AA9-A543-241C549F6D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84001A77-941A-480C-9C1C-5A87A363812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8" name="직사각형 27">
            <a:extLst>
              <a:ext uri="{FF2B5EF4-FFF2-40B4-BE49-F238E27FC236}">
                <a16:creationId xmlns:a16="http://schemas.microsoft.com/office/drawing/2014/main" id="{79CFFA61-7F3B-48EB-8F6A-D799986DE94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161</a:t>
            </a:r>
            <a:endParaRPr sz="1050" b="1" i="0">
              <a:solidFill>
                <a:srgbClr val="171717"/>
              </a:solidFill>
              <a:latin typeface="Consolas"/>
              <a:ea typeface="Consolas"/>
              <a:cs typeface="Consolas"/>
            </a:endParaRPr>
          </a:p>
        </p:txBody>
      </p:sp>
      <p:pic>
        <p:nvPicPr>
          <p:cNvPr id="45" name="그림 44"/>
          <p:cNvPicPr>
            <a:picLocks noChangeAspect="1"/>
          </p:cNvPicPr>
          <p:nvPr/>
        </p:nvPicPr>
        <p:blipFill>
          <a:blip r:embed="rId3"/>
          <a:stretch/>
        </p:blipFill>
        <p:spPr>
          <a:xfrm>
            <a:off x="1276933" y="3346704"/>
            <a:ext cx="4112111" cy="2542032"/>
          </a:xfrm>
          <a:prstGeom prst="rect">
            <a:avLst/>
          </a:prstGeom>
        </p:spPr>
      </p:pic>
      <p:pic>
        <p:nvPicPr>
          <p:cNvPr id="46" name="그림 45"/>
          <p:cNvPicPr>
            <a:picLocks noChangeAspect="1"/>
          </p:cNvPicPr>
          <p:nvPr/>
        </p:nvPicPr>
        <p:blipFill>
          <a:blip r:embed="rId4"/>
          <a:stretch/>
        </p:blipFill>
        <p:spPr>
          <a:xfrm>
            <a:off x="6529716" y="1883664"/>
            <a:ext cx="4780416" cy="2633472"/>
          </a:xfrm>
          <a:prstGeom prst="rect">
            <a:avLst/>
          </a:prstGeom>
        </p:spPr>
      </p:pic>
    </p:spTree>
    <p:extLst>
      <p:ext uri="{BB962C8B-B14F-4D97-AF65-F5344CB8AC3E}">
        <p14:creationId xmlns:p14="http://schemas.microsoft.com/office/powerpoint/2010/main" val="155239471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8F342E55-18D9-459C-8D08-4EB4AD9D292A}"/>
              </a:ext>
            </a:extLst>
          </p:cNvPr>
          <p:cNvSpPr>
            <a:spLocks noGrp="1"/>
          </p:cNvSpPr>
          <p:nvPr/>
        </p:nvSpPr>
        <p:spPr>
          <a:xfrm>
            <a:off x="658368" y="1737360"/>
            <a:ext cx="5669280" cy="8229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가장 단순한 방법은 모든 점의 쌍에 대해 거리를 계산하고 최솟값을 고르는 것이다. 첫 번째 점은 나머지 (n−1)개와, 두 번째 점은 (n−2)개와 비교해야 한다.</a:t>
            </a:r>
            <a:endParaRPr sz="1300"/>
          </a:p>
        </p:txBody>
      </p:sp>
      <p:sp>
        <p:nvSpPr>
          <p:cNvPr id="8" name="Text 5">
            <a:extLst>
              <a:ext uri="{FF2B5EF4-FFF2-40B4-BE49-F238E27FC236}">
                <a16:creationId xmlns:a16="http://schemas.microsoft.com/office/drawing/2014/main" id="{A0B2C881-68A4-4A37-BA8B-F8C444631B86}"/>
              </a:ext>
            </a:extLst>
          </p:cNvPr>
          <p:cNvSpPr>
            <a:spLocks noGrp="1"/>
          </p:cNvSpPr>
          <p:nvPr/>
        </p:nvSpPr>
        <p:spPr>
          <a:xfrm>
            <a:off x="795528" y="2670048"/>
            <a:ext cx="5394960" cy="7772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(n − 1) + (n − 2) + ⋯ + 1  =  n(n − 1) / 2  =  O(n^(2))</a:t>
            </a:r>
            <a:endParaRPr sz="1700"/>
          </a:p>
        </p:txBody>
      </p:sp>
      <p:sp>
        <p:nvSpPr>
          <p:cNvPr id="15" name="Text 12">
            <a:extLst>
              <a:ext uri="{FF2B5EF4-FFF2-40B4-BE49-F238E27FC236}">
                <a16:creationId xmlns:a16="http://schemas.microsoft.com/office/drawing/2014/main" id="{CE7141BB-B377-4153-8201-AD778E5D31CA}"/>
              </a:ext>
            </a:extLst>
          </p:cNvPr>
          <p:cNvSpPr>
            <a:spLocks noGrp="1"/>
          </p:cNvSpPr>
          <p:nvPr/>
        </p:nvSpPr>
        <p:spPr>
          <a:xfrm>
            <a:off x="859536" y="3584448"/>
            <a:ext cx="530352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brute_force.py</a:t>
            </a:r>
            <a:endParaRPr sz="900"/>
          </a:p>
        </p:txBody>
      </p:sp>
      <p:sp>
        <p:nvSpPr>
          <p:cNvPr id="20" name="Text 16">
            <a:extLst>
              <a:ext uri="{FF2B5EF4-FFF2-40B4-BE49-F238E27FC236}">
                <a16:creationId xmlns:a16="http://schemas.microsoft.com/office/drawing/2014/main" id="{2C675E29-A693-45DE-A17B-DC1534FA8B7D}"/>
              </a:ext>
            </a:extLst>
          </p:cNvPr>
          <p:cNvSpPr>
            <a:spLocks noGrp="1"/>
          </p:cNvSpPr>
          <p:nvPr/>
        </p:nvSpPr>
        <p:spPr>
          <a:xfrm>
            <a:off x="6903720" y="4882896"/>
            <a:ext cx="438912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점이 10만 개라면?</a:t>
            </a:r>
            <a:endParaRPr sz="1300"/>
          </a:p>
        </p:txBody>
      </p:sp>
      <p:sp>
        <p:nvSpPr>
          <p:cNvPr id="21" name="Text 17">
            <a:extLst>
              <a:ext uri="{FF2B5EF4-FFF2-40B4-BE49-F238E27FC236}">
                <a16:creationId xmlns:a16="http://schemas.microsoft.com/office/drawing/2014/main" id="{B1CB2C5E-9FEA-4D56-B5E6-ADB83D516A94}"/>
              </a:ext>
            </a:extLst>
          </p:cNvPr>
          <p:cNvSpPr>
            <a:spLocks noGrp="1"/>
          </p:cNvSpPr>
          <p:nvPr/>
        </p:nvSpPr>
        <p:spPr>
          <a:xfrm>
            <a:off x="6903720" y="5230368"/>
            <a:ext cx="4389120" cy="731520"/>
          </a:xfrm>
          <a:prstGeom prst="rect">
            <a:avLst/>
          </a:prstGeom>
          <a:noFill/>
          <a:ln w="0">
            <a:noFill/>
          </a:ln>
        </p:spPr>
        <p:txBody>
          <a:bodyPr wrap="square" lIns="0" tIns="0" rIns="0" bIns="0" anchor="t">
            <a:noAutofit/>
          </a:bodyPr>
          <a:lstStyle/>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50억 번의 거리 계산이 필요하다.</a:t>
            </a:r>
            <a:endParaRPr sz="1150"/>
          </a:p>
          <a:p>
            <a:pPr marL="0" indent="0" algn="l">
              <a:lnSpc>
                <a:spcPct val="130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매 프레임마다 이 계산을 반복할 수는 없다.</a:t>
            </a:r>
            <a:endParaRPr sz="1150"/>
          </a:p>
        </p:txBody>
      </p:sp>
      <p:sp>
        <p:nvSpPr>
          <p:cNvPr id="25" name="직사각형 24">
            <a:extLst>
              <a:ext uri="{FF2B5EF4-FFF2-40B4-BE49-F238E27FC236}">
                <a16:creationId xmlns:a16="http://schemas.microsoft.com/office/drawing/2014/main" id="{B9EF238D-B362-4A32-BB57-3846BFACCEDA}"/>
              </a:ext>
            </a:extLst>
          </p:cNvPr>
          <p:cNvSpPr>
            <a:spLocks noGrp="1"/>
          </p:cNvSpPr>
          <p:nvPr/>
        </p:nvSpPr>
        <p:spPr>
          <a:xfrm>
            <a:off x="6656832" y="1737360"/>
            <a:ext cx="4873752" cy="9525"/>
          </a:xfrm>
          <a:prstGeom prst="rect">
            <a:avLst/>
          </a:prstGeom>
          <a:solidFill>
            <a:srgbClr val="D4D4D4"/>
          </a:solidFill>
          <a:ln w="0">
            <a:noFill/>
          </a:ln>
        </p:spPr>
        <p:txBody>
          <a:bodyPr/>
          <a:lstStyle/>
          <a:p>
            <a:endParaRPr lang="ko-KR" altLang="en-US"/>
          </a:p>
        </p:txBody>
      </p:sp>
      <p:sp>
        <p:nvSpPr>
          <p:cNvPr id="26" name="직사각형 25">
            <a:extLst>
              <a:ext uri="{FF2B5EF4-FFF2-40B4-BE49-F238E27FC236}">
                <a16:creationId xmlns:a16="http://schemas.microsoft.com/office/drawing/2014/main" id="{0C591F87-7794-4C93-B138-EC866ECA71AE}"/>
              </a:ext>
            </a:extLst>
          </p:cNvPr>
          <p:cNvSpPr>
            <a:spLocks noGrp="1"/>
          </p:cNvSpPr>
          <p:nvPr/>
        </p:nvSpPr>
        <p:spPr>
          <a:xfrm>
            <a:off x="6656832" y="4736592"/>
            <a:ext cx="4873752" cy="9525"/>
          </a:xfrm>
          <a:prstGeom prst="rect">
            <a:avLst/>
          </a:prstGeom>
          <a:solidFill>
            <a:srgbClr val="D4D4D4"/>
          </a:solidFill>
          <a:ln w="0">
            <a:noFill/>
          </a:ln>
        </p:spPr>
        <p:txBody>
          <a:bodyPr/>
          <a:lstStyle/>
          <a:p>
            <a:endParaRPr lang="ko-KR" altLang="en-US"/>
          </a:p>
        </p:txBody>
      </p:sp>
      <p:sp>
        <p:nvSpPr>
          <p:cNvPr id="27" name="직사각형 26">
            <a:extLst>
              <a:ext uri="{FF2B5EF4-FFF2-40B4-BE49-F238E27FC236}">
                <a16:creationId xmlns:a16="http://schemas.microsoft.com/office/drawing/2014/main" id="{59D51733-EDE3-4B25-8553-12AE10D25C9D}"/>
              </a:ext>
            </a:extLst>
          </p:cNvPr>
          <p:cNvSpPr>
            <a:spLocks noGrp="1"/>
          </p:cNvSpPr>
          <p:nvPr/>
        </p:nvSpPr>
        <p:spPr>
          <a:xfrm>
            <a:off x="698373" y="3874008"/>
            <a:ext cx="5644134" cy="2275332"/>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import math</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class Point: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def __init__(self, x,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self.x = x</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self.y = 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distance(p1, p2):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math.hypot(p1.x - p2.x, p1.y - p2.y)</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def ClosestPairBruteForce(P):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float('inf')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i in range(len(P)):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for j in range(i + 1, len(P)):</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min_dist = min(min_dist, distance(P[i], P[j]))</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min_dist</a:t>
            </a:r>
          </a:p>
        </p:txBody>
      </p:sp>
      <p:sp>
        <p:nvSpPr>
          <p:cNvPr id="28" name="직사각형 27">
            <a:extLst>
              <a:ext uri="{FF2B5EF4-FFF2-40B4-BE49-F238E27FC236}">
                <a16:creationId xmlns:a16="http://schemas.microsoft.com/office/drawing/2014/main" id="{2DEC7328-D568-4CB3-A05F-BEAD99BB7A83}"/>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29" name="직사각형 28">
            <a:extLst>
              <a:ext uri="{FF2B5EF4-FFF2-40B4-BE49-F238E27FC236}">
                <a16:creationId xmlns:a16="http://schemas.microsoft.com/office/drawing/2014/main" id="{B86A9CB1-2311-4AF9-8564-5E21AD73D99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0" name="직사각형 29">
            <a:extLst>
              <a:ext uri="{FF2B5EF4-FFF2-40B4-BE49-F238E27FC236}">
                <a16:creationId xmlns:a16="http://schemas.microsoft.com/office/drawing/2014/main" id="{144363CD-D125-45CC-9DF2-0984A875982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무식한 접근 — 모든 쌍을 다 재본다</a:t>
            </a:r>
          </a:p>
        </p:txBody>
      </p:sp>
      <p:sp>
        <p:nvSpPr>
          <p:cNvPr id="31" name="직사각형 30">
            <a:extLst>
              <a:ext uri="{FF2B5EF4-FFF2-40B4-BE49-F238E27FC236}">
                <a16:creationId xmlns:a16="http://schemas.microsoft.com/office/drawing/2014/main" id="{4713188B-5814-49E1-8C31-78E94F61742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2" name="직사각형 31">
            <a:extLst>
              <a:ext uri="{FF2B5EF4-FFF2-40B4-BE49-F238E27FC236}">
                <a16:creationId xmlns:a16="http://schemas.microsoft.com/office/drawing/2014/main" id="{7710358D-7C3A-4B5D-B496-9A0B6D7D3E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12F90D1-CEC3-4AB7-96C1-9573FEED2A1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4" name="직사각형 33">
            <a:extLst>
              <a:ext uri="{FF2B5EF4-FFF2-40B4-BE49-F238E27FC236}">
                <a16:creationId xmlns:a16="http://schemas.microsoft.com/office/drawing/2014/main" id="{0F30AE25-293E-4DBD-9810-4594DCDFBD9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162</a:t>
            </a:r>
            <a:endParaRPr sz="1050" b="1" i="0">
              <a:solidFill>
                <a:srgbClr val="171717"/>
              </a:solidFill>
              <a:latin typeface="Consolas"/>
              <a:ea typeface="Consolas"/>
              <a:cs typeface="Consolas"/>
            </a:endParaRPr>
          </a:p>
        </p:txBody>
      </p:sp>
      <p:pic>
        <p:nvPicPr>
          <p:cNvPr id="51" name="그림 50"/>
          <p:cNvPicPr>
            <a:picLocks noChangeAspect="1"/>
          </p:cNvPicPr>
          <p:nvPr/>
        </p:nvPicPr>
        <p:blipFill>
          <a:blip r:embed="rId3"/>
          <a:stretch/>
        </p:blipFill>
        <p:spPr>
          <a:xfrm>
            <a:off x="7037653" y="1883664"/>
            <a:ext cx="4112111" cy="2542032"/>
          </a:xfrm>
          <a:prstGeom prst="rect">
            <a:avLst/>
          </a:prstGeom>
        </p:spPr>
      </p:pic>
    </p:spTree>
    <p:extLst>
      <p:ext uri="{BB962C8B-B14F-4D97-AF65-F5344CB8AC3E}">
        <p14:creationId xmlns:p14="http://schemas.microsoft.com/office/powerpoint/2010/main" val="78323074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5EAF9C1-ED4B-4FF9-B2C4-675C95223F95}"/>
              </a:ext>
            </a:extLst>
          </p:cNvPr>
          <p:cNvSpPr>
            <a:spLocks noGrp="1"/>
          </p:cNvSpPr>
          <p:nvPr/>
        </p:nvSpPr>
        <p:spPr>
          <a:xfrm>
            <a:off x="658368" y="1700784"/>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x좌표를 기준으로 점들을 정렬한 뒤, 정확히 절반이 되는 지점에 수직선을 긋는다. 그러면 최근접 쌍은 다음 세 경우 중 하나에 속한다.</a:t>
            </a:r>
            <a:endParaRPr sz="1300"/>
          </a:p>
        </p:txBody>
      </p:sp>
      <p:sp>
        <p:nvSpPr>
          <p:cNvPr id="8" name="Shape 5">
            <a:extLst>
              <a:ext uri="{FF2B5EF4-FFF2-40B4-BE49-F238E27FC236}">
                <a16:creationId xmlns:a16="http://schemas.microsoft.com/office/drawing/2014/main" id="{1DBD0AB8-5737-4101-AA2A-DF04AEE5C9F1}"/>
              </a:ext>
            </a:extLst>
          </p:cNvPr>
          <p:cNvSpPr>
            <a:spLocks noGrp="1"/>
          </p:cNvSpPr>
          <p:nvPr/>
        </p:nvSpPr>
        <p:spPr>
          <a:xfrm>
            <a:off x="896112" y="2670048"/>
            <a:ext cx="548640" cy="548640"/>
          </a:xfrm>
          <a:prstGeom prst="ellipse">
            <a:avLst/>
          </a:prstGeom>
          <a:solidFill>
            <a:srgbClr val="E9E9E9"/>
          </a:solidFill>
          <a:ln w="5715">
            <a:solidFill>
              <a:srgbClr val="D4D4D4"/>
            </a:solidFill>
          </a:ln>
        </p:spPr>
        <p:txBody>
          <a:bodyPr/>
          <a:lstStyle/>
          <a:p>
            <a:endParaRPr lang="ko-KR" altLang="en-US"/>
          </a:p>
        </p:txBody>
      </p:sp>
      <p:sp>
        <p:nvSpPr>
          <p:cNvPr id="9" name="Text 6">
            <a:extLst>
              <a:ext uri="{FF2B5EF4-FFF2-40B4-BE49-F238E27FC236}">
                <a16:creationId xmlns:a16="http://schemas.microsoft.com/office/drawing/2014/main" id="{D01D1192-B3E1-429B-9AB0-367FB8EFDA40}"/>
              </a:ext>
            </a:extLst>
          </p:cNvPr>
          <p:cNvSpPr>
            <a:spLocks noGrp="1"/>
          </p:cNvSpPr>
          <p:nvPr/>
        </p:nvSpPr>
        <p:spPr>
          <a:xfrm>
            <a:off x="896112" y="267004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1</a:t>
            </a:r>
            <a:endParaRPr sz="1440"/>
          </a:p>
        </p:txBody>
      </p:sp>
      <p:sp>
        <p:nvSpPr>
          <p:cNvPr id="10" name="Text 7">
            <a:extLst>
              <a:ext uri="{FF2B5EF4-FFF2-40B4-BE49-F238E27FC236}">
                <a16:creationId xmlns:a16="http://schemas.microsoft.com/office/drawing/2014/main" id="{83B792C0-53BB-4818-8754-158D53E0035D}"/>
              </a:ext>
            </a:extLst>
          </p:cNvPr>
          <p:cNvSpPr>
            <a:spLocks noGrp="1"/>
          </p:cNvSpPr>
          <p:nvPr/>
        </p:nvSpPr>
        <p:spPr>
          <a:xfrm>
            <a:off x="1591056" y="256032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왼쪽에</a:t>
            </a:r>
            <a:endParaRPr sz="1400"/>
          </a:p>
        </p:txBody>
      </p:sp>
      <p:sp>
        <p:nvSpPr>
          <p:cNvPr id="11" name="Text 8">
            <a:extLst>
              <a:ext uri="{FF2B5EF4-FFF2-40B4-BE49-F238E27FC236}">
                <a16:creationId xmlns:a16="http://schemas.microsoft.com/office/drawing/2014/main" id="{03B63997-B0E7-4324-A92B-ED6FF880AC34}"/>
              </a:ext>
            </a:extLst>
          </p:cNvPr>
          <p:cNvSpPr>
            <a:spLocks noGrp="1"/>
          </p:cNvSpPr>
          <p:nvPr/>
        </p:nvSpPr>
        <p:spPr>
          <a:xfrm>
            <a:off x="1591056" y="294436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왼쪽 절반의 최소 거리 dL을 구한다.</a:t>
            </a:r>
            <a:endParaRPr sz="1180"/>
          </a:p>
        </p:txBody>
      </p:sp>
      <p:sp>
        <p:nvSpPr>
          <p:cNvPr id="13" name="Shape 10">
            <a:extLst>
              <a:ext uri="{FF2B5EF4-FFF2-40B4-BE49-F238E27FC236}">
                <a16:creationId xmlns:a16="http://schemas.microsoft.com/office/drawing/2014/main" id="{471E8FCC-46FC-48AF-9782-A3C3701023B4}"/>
              </a:ext>
            </a:extLst>
          </p:cNvPr>
          <p:cNvSpPr>
            <a:spLocks noGrp="1"/>
          </p:cNvSpPr>
          <p:nvPr/>
        </p:nvSpPr>
        <p:spPr>
          <a:xfrm>
            <a:off x="896112" y="3950208"/>
            <a:ext cx="548640" cy="548640"/>
          </a:xfrm>
          <a:prstGeom prst="ellipse">
            <a:avLst/>
          </a:prstGeom>
          <a:solidFill>
            <a:srgbClr val="E9E9E9"/>
          </a:solidFill>
          <a:ln w="5715">
            <a:solidFill>
              <a:srgbClr val="D4D4D4"/>
            </a:solidFill>
          </a:ln>
        </p:spPr>
        <p:txBody>
          <a:bodyPr/>
          <a:lstStyle/>
          <a:p>
            <a:endParaRPr lang="ko-KR" altLang="en-US"/>
          </a:p>
        </p:txBody>
      </p:sp>
      <p:sp>
        <p:nvSpPr>
          <p:cNvPr id="14" name="Text 11">
            <a:extLst>
              <a:ext uri="{FF2B5EF4-FFF2-40B4-BE49-F238E27FC236}">
                <a16:creationId xmlns:a16="http://schemas.microsoft.com/office/drawing/2014/main" id="{44B87799-2260-447A-9090-AFA508F31A1F}"/>
              </a:ext>
            </a:extLst>
          </p:cNvPr>
          <p:cNvSpPr>
            <a:spLocks noGrp="1"/>
          </p:cNvSpPr>
          <p:nvPr/>
        </p:nvSpPr>
        <p:spPr>
          <a:xfrm>
            <a:off x="896112" y="395020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2</a:t>
            </a:r>
            <a:endParaRPr sz="1440"/>
          </a:p>
        </p:txBody>
      </p:sp>
      <p:sp>
        <p:nvSpPr>
          <p:cNvPr id="15" name="Text 12">
            <a:extLst>
              <a:ext uri="{FF2B5EF4-FFF2-40B4-BE49-F238E27FC236}">
                <a16:creationId xmlns:a16="http://schemas.microsoft.com/office/drawing/2014/main" id="{992E9705-528F-4F56-BC49-25B3F88E065C}"/>
              </a:ext>
            </a:extLst>
          </p:cNvPr>
          <p:cNvSpPr>
            <a:spLocks noGrp="1"/>
          </p:cNvSpPr>
          <p:nvPr/>
        </p:nvSpPr>
        <p:spPr>
          <a:xfrm>
            <a:off x="1591056" y="384048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두 점 모두 오른쪽에</a:t>
            </a:r>
            <a:endParaRPr sz="1400"/>
          </a:p>
        </p:txBody>
      </p:sp>
      <p:sp>
        <p:nvSpPr>
          <p:cNvPr id="16" name="Text 13">
            <a:extLst>
              <a:ext uri="{FF2B5EF4-FFF2-40B4-BE49-F238E27FC236}">
                <a16:creationId xmlns:a16="http://schemas.microsoft.com/office/drawing/2014/main" id="{BDF8E887-1628-4822-90B6-9FBB2B936B29}"/>
              </a:ext>
            </a:extLst>
          </p:cNvPr>
          <p:cNvSpPr>
            <a:spLocks noGrp="1"/>
          </p:cNvSpPr>
          <p:nvPr/>
        </p:nvSpPr>
        <p:spPr>
          <a:xfrm>
            <a:off x="1591056" y="422452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재귀 호출로 오른쪽 절반의 최소 거리 dR을 구한다.</a:t>
            </a:r>
            <a:endParaRPr sz="1180"/>
          </a:p>
        </p:txBody>
      </p:sp>
      <p:sp>
        <p:nvSpPr>
          <p:cNvPr id="18" name="Shape 15">
            <a:extLst>
              <a:ext uri="{FF2B5EF4-FFF2-40B4-BE49-F238E27FC236}">
                <a16:creationId xmlns:a16="http://schemas.microsoft.com/office/drawing/2014/main" id="{06255C04-B4E3-42D5-849B-3E49ABAF4AC4}"/>
              </a:ext>
            </a:extLst>
          </p:cNvPr>
          <p:cNvSpPr>
            <a:spLocks noGrp="1"/>
          </p:cNvSpPr>
          <p:nvPr/>
        </p:nvSpPr>
        <p:spPr>
          <a:xfrm>
            <a:off x="896112" y="5230368"/>
            <a:ext cx="548640" cy="548640"/>
          </a:xfrm>
          <a:prstGeom prst="ellipse">
            <a:avLst/>
          </a:prstGeom>
          <a:solidFill>
            <a:srgbClr val="E9E9E9"/>
          </a:solidFill>
          <a:ln w="5715">
            <a:solidFill>
              <a:srgbClr val="D4D4D4"/>
            </a:solidFill>
          </a:ln>
        </p:spPr>
        <p:txBody>
          <a:bodyPr/>
          <a:lstStyle/>
          <a:p>
            <a:endParaRPr lang="ko-KR" altLang="en-US"/>
          </a:p>
        </p:txBody>
      </p:sp>
      <p:sp>
        <p:nvSpPr>
          <p:cNvPr id="19" name="Text 16">
            <a:extLst>
              <a:ext uri="{FF2B5EF4-FFF2-40B4-BE49-F238E27FC236}">
                <a16:creationId xmlns:a16="http://schemas.microsoft.com/office/drawing/2014/main" id="{C4BD215E-9AD2-45B5-A09A-3707D8F74551}"/>
              </a:ext>
            </a:extLst>
          </p:cNvPr>
          <p:cNvSpPr>
            <a:spLocks noGrp="1"/>
          </p:cNvSpPr>
          <p:nvPr/>
        </p:nvSpPr>
        <p:spPr>
          <a:xfrm>
            <a:off x="896112" y="5230368"/>
            <a:ext cx="548640" cy="548640"/>
          </a:xfrm>
          <a:prstGeom prst="rect">
            <a:avLst/>
          </a:prstGeom>
          <a:noFill/>
          <a:ln w="0">
            <a:noFill/>
          </a:ln>
        </p:spPr>
        <p:txBody>
          <a:bodyPr wrap="square" lIns="0" tIns="0" rIns="0" bIns="0" anchor="ctr">
            <a:noAutofit/>
          </a:bodyPr>
          <a:lstStyle/>
          <a:p>
            <a:pPr marL="0" indent="0" algn="ctr">
              <a:buNone/>
              <a:defRPr sz="1440" i="0">
                <a:solidFill>
                  <a:srgbClr val="171717"/>
                </a:solidFill>
                <a:latin typeface="Malgun Gothic"/>
                <a:ea typeface="Malgun Gothic"/>
                <a:cs typeface="Malgun Gothic"/>
              </a:defRPr>
            </a:pPr>
            <a:r>
              <a:rPr sz="1440" b="1" i="0">
                <a:solidFill>
                  <a:srgbClr val="171717"/>
                </a:solidFill>
                <a:latin typeface="Malgun Gothic"/>
                <a:ea typeface="Malgun Gothic"/>
                <a:cs typeface="Malgun Gothic"/>
              </a:rPr>
              <a:t>3</a:t>
            </a:r>
            <a:endParaRPr sz="1440"/>
          </a:p>
        </p:txBody>
      </p:sp>
      <p:sp>
        <p:nvSpPr>
          <p:cNvPr id="20" name="Text 17">
            <a:extLst>
              <a:ext uri="{FF2B5EF4-FFF2-40B4-BE49-F238E27FC236}">
                <a16:creationId xmlns:a16="http://schemas.microsoft.com/office/drawing/2014/main" id="{15BACAD4-1437-447C-8495-32AF893A18E9}"/>
              </a:ext>
            </a:extLst>
          </p:cNvPr>
          <p:cNvSpPr>
            <a:spLocks noGrp="1"/>
          </p:cNvSpPr>
          <p:nvPr/>
        </p:nvSpPr>
        <p:spPr>
          <a:xfrm>
            <a:off x="1591056" y="5120640"/>
            <a:ext cx="46634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경계선을 사이에 두고</a:t>
            </a:r>
            <a:endParaRPr sz="1400"/>
          </a:p>
        </p:txBody>
      </p:sp>
      <p:sp>
        <p:nvSpPr>
          <p:cNvPr id="21" name="Text 18">
            <a:extLst>
              <a:ext uri="{FF2B5EF4-FFF2-40B4-BE49-F238E27FC236}">
                <a16:creationId xmlns:a16="http://schemas.microsoft.com/office/drawing/2014/main" id="{9941F180-B854-4BDF-AE4F-EF6B5DF540F7}"/>
              </a:ext>
            </a:extLst>
          </p:cNvPr>
          <p:cNvSpPr>
            <a:spLocks noGrp="1"/>
          </p:cNvSpPr>
          <p:nvPr/>
        </p:nvSpPr>
        <p:spPr>
          <a:xfrm>
            <a:off x="1591056" y="5504688"/>
            <a:ext cx="4663440" cy="457200"/>
          </a:xfrm>
          <a:prstGeom prst="rect">
            <a:avLst/>
          </a:prstGeom>
          <a:noFill/>
          <a:ln w="0">
            <a:noFill/>
          </a:ln>
        </p:spPr>
        <p:txBody>
          <a:bodyPr wrap="square" lIns="0" tIns="0" rIns="0" bIns="0" anchor="t">
            <a:noAutofit/>
          </a:bodyPr>
          <a:lstStyle/>
          <a:p>
            <a:pPr marL="0" indent="0" algn="l">
              <a:lnSpc>
                <a:spcPct val="124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한 점은 왼쪽, 다른 점은 오른쪽. 별도로 처리해야 한다.</a:t>
            </a:r>
            <a:endParaRPr sz="1180"/>
          </a:p>
        </p:txBody>
      </p:sp>
      <p:sp>
        <p:nvSpPr>
          <p:cNvPr id="27" name="Text 22">
            <a:extLst>
              <a:ext uri="{FF2B5EF4-FFF2-40B4-BE49-F238E27FC236}">
                <a16:creationId xmlns:a16="http://schemas.microsoft.com/office/drawing/2014/main" id="{E6D0DFF0-3FF4-4D3C-A3D6-5CAECC843589}"/>
              </a:ext>
            </a:extLst>
          </p:cNvPr>
          <p:cNvSpPr>
            <a:spLocks noGrp="1"/>
          </p:cNvSpPr>
          <p:nvPr/>
        </p:nvSpPr>
        <p:spPr>
          <a:xfrm>
            <a:off x="7644384" y="5303520"/>
            <a:ext cx="3630168" cy="69494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d = min(dL, dR)을 먼저 구한 뒤, 경계선 근처만 추가로 살펴본다.</a:t>
            </a:r>
            <a:endParaRPr sz="1250"/>
          </a:p>
        </p:txBody>
      </p:sp>
      <p:sp>
        <p:nvSpPr>
          <p:cNvPr id="31" name="직사각형 30">
            <a:extLst>
              <a:ext uri="{FF2B5EF4-FFF2-40B4-BE49-F238E27FC236}">
                <a16:creationId xmlns:a16="http://schemas.microsoft.com/office/drawing/2014/main" id="{C3E212D6-B01D-4BA4-91C5-47273F2ECB6A}"/>
              </a:ext>
            </a:extLst>
          </p:cNvPr>
          <p:cNvSpPr>
            <a:spLocks noGrp="1"/>
          </p:cNvSpPr>
          <p:nvPr/>
        </p:nvSpPr>
        <p:spPr>
          <a:xfrm>
            <a:off x="658368" y="3657600"/>
            <a:ext cx="5806440"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E0BB38A-FC2C-47BA-804E-15F3917151A0}"/>
              </a:ext>
            </a:extLst>
          </p:cNvPr>
          <p:cNvSpPr>
            <a:spLocks noGrp="1"/>
          </p:cNvSpPr>
          <p:nvPr/>
        </p:nvSpPr>
        <p:spPr>
          <a:xfrm>
            <a:off x="658368" y="4937760"/>
            <a:ext cx="5806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C71A8A85-3814-476C-80F6-E0633D2784DF}"/>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3A8A0B1D-7DFB-428B-8702-3895EF381BAE}"/>
              </a:ext>
            </a:extLst>
          </p:cNvPr>
          <p:cNvSpPr>
            <a:spLocks noGrp="1"/>
          </p:cNvSpPr>
          <p:nvPr/>
        </p:nvSpPr>
        <p:spPr>
          <a:xfrm>
            <a:off x="6784848" y="5138928"/>
            <a:ext cx="474573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FD046D1-1DD2-44E3-BBA8-F9204FBE410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89C1F771-1021-4543-9440-F5482580794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1DE09A84-0EB6-4A04-9E47-DDCD0FCA3AF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 전략 — 평면을 반으로 가른다</a:t>
            </a:r>
          </a:p>
        </p:txBody>
      </p:sp>
      <p:sp>
        <p:nvSpPr>
          <p:cNvPr id="38" name="직사각형 37">
            <a:extLst>
              <a:ext uri="{FF2B5EF4-FFF2-40B4-BE49-F238E27FC236}">
                <a16:creationId xmlns:a16="http://schemas.microsoft.com/office/drawing/2014/main" id="{8DBBA728-D3DB-4895-B18A-778B092EAFD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BD0C3B82-B2CA-4C7B-95F1-F596F949F56E}"/>
              </a:ext>
            </a:extLst>
          </p:cNvPr>
          <p:cNvSpPr>
            <a:spLocks noGrp="1"/>
          </p:cNvSpPr>
          <p:nvPr/>
        </p:nvSpPr>
        <p:spPr>
          <a:xfrm>
            <a:off x="8105775" y="2695575"/>
            <a:ext cx="409575" cy="238125"/>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dL</a:t>
            </a:r>
          </a:p>
        </p:txBody>
      </p:sp>
      <p:sp>
        <p:nvSpPr>
          <p:cNvPr id="40" name="직사각형 39">
            <a:extLst>
              <a:ext uri="{FF2B5EF4-FFF2-40B4-BE49-F238E27FC236}">
                <a16:creationId xmlns:a16="http://schemas.microsoft.com/office/drawing/2014/main" id="{046B6480-C895-4034-A771-B7339EA3BCFC}"/>
              </a:ext>
            </a:extLst>
          </p:cNvPr>
          <p:cNvSpPr>
            <a:spLocks noGrp="1"/>
          </p:cNvSpPr>
          <p:nvPr/>
        </p:nvSpPr>
        <p:spPr>
          <a:xfrm>
            <a:off x="10420350" y="2867025"/>
            <a:ext cx="371475" cy="247650"/>
          </a:xfrm>
          <a:prstGeom prst="rect">
            <a:avLst/>
          </a:prstGeom>
          <a:solidFill>
            <a:srgbClr val="ECECEC"/>
          </a:solidFill>
          <a:ln w="0">
            <a:noFill/>
          </a:ln>
        </p:spPr>
        <p:txBody>
          <a:bodyPr wrap="square" lIns="0" tIns="0" rIns="0" bIns="0" anchor="t">
            <a:noAutofit/>
          </a:bodyPr>
          <a:lstStyle/>
          <a:p>
            <a:pPr algn="l">
              <a:lnSpc>
                <a:spcPct val="104000"/>
              </a:lnSpc>
              <a:buNone/>
              <a:defRPr sz="1275" b="0" i="0">
                <a:solidFill>
                  <a:srgbClr val="171717"/>
                </a:solidFill>
                <a:latin typeface="Consolas"/>
                <a:ea typeface="Consolas"/>
                <a:cs typeface="Consolas"/>
              </a:defRPr>
            </a:pPr>
            <a:r>
              <a:rPr sz="1275" b="0" i="0">
                <a:solidFill>
                  <a:srgbClr val="171717"/>
                </a:solidFill>
                <a:latin typeface="Consolas"/>
                <a:ea typeface="Consolas"/>
                <a:cs typeface="Consolas"/>
              </a:rPr>
              <a:t>dR</a:t>
            </a:r>
          </a:p>
        </p:txBody>
      </p:sp>
      <p:sp>
        <p:nvSpPr>
          <p:cNvPr id="41" name="직사각형 40">
            <a:extLst>
              <a:ext uri="{FF2B5EF4-FFF2-40B4-BE49-F238E27FC236}">
                <a16:creationId xmlns:a16="http://schemas.microsoft.com/office/drawing/2014/main" id="{34F3B5AD-B7B9-4FD9-94A8-4F6F9A92D059}"/>
              </a:ext>
            </a:extLst>
          </p:cNvPr>
          <p:cNvSpPr>
            <a:spLocks noGrp="1"/>
          </p:cNvSpPr>
          <p:nvPr/>
        </p:nvSpPr>
        <p:spPr>
          <a:xfrm>
            <a:off x="8143875" y="4543425"/>
            <a:ext cx="2143125" cy="400050"/>
          </a:xfrm>
          <a:prstGeom prst="rect">
            <a:avLst/>
          </a:prstGeom>
          <a:solidFill>
            <a:srgbClr val="FFFFFF"/>
          </a:solidFill>
          <a:ln w="0">
            <a:noFill/>
          </a:ln>
        </p:spPr>
        <p:txBody>
          <a:bodyPr wrap="square" lIns="0" tIns="0" rIns="0" bIns="0" anchor="t">
            <a:noAutofit/>
          </a:bodyPr>
          <a:lstStyle/>
          <a:p>
            <a:pPr algn="ctr">
              <a:lnSpc>
                <a:spcPct val="104000"/>
              </a:lnSpc>
              <a:buNone/>
              <a:defRPr sz="1350" b="0" i="0">
                <a:solidFill>
                  <a:srgbClr val="171717"/>
                </a:solidFill>
                <a:latin typeface="Malgun Gothic"/>
                <a:ea typeface="Malgun Gothic"/>
                <a:cs typeface="Malgun Gothic"/>
              </a:defRPr>
            </a:pPr>
            <a:r>
              <a:rPr sz="1350" b="0" i="0">
                <a:solidFill>
                  <a:srgbClr val="171717"/>
                </a:solidFill>
                <a:latin typeface="Malgun Gothic"/>
                <a:ea typeface="Malgun Gothic"/>
                <a:cs typeface="Malgun Gothic"/>
              </a:rPr>
              <a:t>분할 경계</a:t>
            </a:r>
          </a:p>
        </p:txBody>
      </p:sp>
      <p:sp>
        <p:nvSpPr>
          <p:cNvPr id="42" name="직사각형 41">
            <a:extLst>
              <a:ext uri="{FF2B5EF4-FFF2-40B4-BE49-F238E27FC236}">
                <a16:creationId xmlns:a16="http://schemas.microsoft.com/office/drawing/2014/main" id="{D3C50EDC-CC42-4008-9127-D4993415405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3A6F46A7-D242-4825-B18A-2153D264990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4" name="직사각형 43">
            <a:extLst>
              <a:ext uri="{FF2B5EF4-FFF2-40B4-BE49-F238E27FC236}">
                <a16:creationId xmlns:a16="http://schemas.microsoft.com/office/drawing/2014/main" id="{6C6BC4EC-7840-407E-A066-5E3EF8564E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163</a:t>
            </a:r>
            <a:endParaRPr sz="1050" b="1" i="0">
              <a:solidFill>
                <a:srgbClr val="171717"/>
              </a:solidFill>
              <a:latin typeface="Consolas"/>
              <a:ea typeface="Consolas"/>
              <a:cs typeface="Consolas"/>
            </a:endParaRPr>
          </a:p>
        </p:txBody>
      </p:sp>
      <p:pic>
        <p:nvPicPr>
          <p:cNvPr id="74" name="그림 73"/>
          <p:cNvPicPr>
            <a:picLocks noChangeAspect="1"/>
          </p:cNvPicPr>
          <p:nvPr/>
        </p:nvPicPr>
        <p:blipFill>
          <a:blip r:embed="rId3"/>
          <a:stretch/>
        </p:blipFill>
        <p:spPr>
          <a:xfrm>
            <a:off x="7191878" y="1883664"/>
            <a:ext cx="3931676" cy="2953512"/>
          </a:xfrm>
          <a:prstGeom prst="rect">
            <a:avLst/>
          </a:prstGeom>
        </p:spPr>
      </p:pic>
    </p:spTree>
    <p:extLst>
      <p:ext uri="{BB962C8B-B14F-4D97-AF65-F5344CB8AC3E}">
        <p14:creationId xmlns:p14="http://schemas.microsoft.com/office/powerpoint/2010/main" val="185289605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A5A9640-0629-49E3-8FA5-3E097F108CFD}"/>
              </a:ext>
            </a:extLst>
          </p:cNvPr>
          <p:cNvSpPr>
            <a:spLocks noGrp="1"/>
          </p:cNvSpPr>
          <p:nvPr/>
        </p:nvSpPr>
        <p:spPr>
          <a:xfrm>
            <a:off x="658368" y="1700784"/>
            <a:ext cx="5349240" cy="10058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경계선을 걸친 쌍을 모두 검사하면 다시 O(n²)이다. 하지만 이미 d = min(dL, dR)을 알고 있다. d보다 가까운 쌍만 찾으면 되므로, 경계선에서 좌우로 d 이내에 있는 점들만 후보가 된다.</a:t>
            </a:r>
            <a:endParaRPr sz="1300"/>
          </a:p>
        </p:txBody>
      </p:sp>
      <p:sp>
        <p:nvSpPr>
          <p:cNvPr id="12" name="Text 7">
            <a:extLst>
              <a:ext uri="{FF2B5EF4-FFF2-40B4-BE49-F238E27FC236}">
                <a16:creationId xmlns:a16="http://schemas.microsoft.com/office/drawing/2014/main" id="{2408899E-54D5-4B22-A686-8FCA580EE765}"/>
              </a:ext>
            </a:extLst>
          </p:cNvPr>
          <p:cNvSpPr>
            <a:spLocks noGrp="1"/>
          </p:cNvSpPr>
          <p:nvPr/>
        </p:nvSpPr>
        <p:spPr>
          <a:xfrm>
            <a:off x="7168896" y="1920240"/>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후보를 띠 안으로 좁힌다</a:t>
            </a:r>
            <a:endParaRPr sz="1300"/>
          </a:p>
        </p:txBody>
      </p:sp>
      <p:sp>
        <p:nvSpPr>
          <p:cNvPr id="13" name="Text 8">
            <a:extLst>
              <a:ext uri="{FF2B5EF4-FFF2-40B4-BE49-F238E27FC236}">
                <a16:creationId xmlns:a16="http://schemas.microsoft.com/office/drawing/2014/main" id="{FFFBEB69-10E2-452E-9714-FFE2C3C1AC86}"/>
              </a:ext>
            </a:extLst>
          </p:cNvPr>
          <p:cNvSpPr>
            <a:spLocks noGrp="1"/>
          </p:cNvSpPr>
          <p:nvPr/>
        </p:nvSpPr>
        <p:spPr>
          <a:xfrm>
            <a:off x="7168896" y="2267712"/>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경계선에서 수평 거리가 d 이상 떨어진 점은, 어떤 짝을 만나도 거리가 d를 넘는다. 검사할 필요조차 없다.</a:t>
            </a:r>
            <a:endParaRPr sz="1180"/>
          </a:p>
        </p:txBody>
      </p:sp>
      <p:sp>
        <p:nvSpPr>
          <p:cNvPr id="17" name="Text 11">
            <a:extLst>
              <a:ext uri="{FF2B5EF4-FFF2-40B4-BE49-F238E27FC236}">
                <a16:creationId xmlns:a16="http://schemas.microsoft.com/office/drawing/2014/main" id="{1F10434C-E6C2-4B7C-A3EC-4EB8B18A8BAC}"/>
              </a:ext>
            </a:extLst>
          </p:cNvPr>
          <p:cNvSpPr>
            <a:spLocks noGrp="1"/>
          </p:cNvSpPr>
          <p:nvPr/>
        </p:nvSpPr>
        <p:spPr>
          <a:xfrm>
            <a:off x="7168896" y="352958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띠 안의 점을 y좌표로 정렬</a:t>
            </a:r>
            <a:endParaRPr sz="1300"/>
          </a:p>
        </p:txBody>
      </p:sp>
      <p:sp>
        <p:nvSpPr>
          <p:cNvPr id="18" name="Text 12">
            <a:extLst>
              <a:ext uri="{FF2B5EF4-FFF2-40B4-BE49-F238E27FC236}">
                <a16:creationId xmlns:a16="http://schemas.microsoft.com/office/drawing/2014/main" id="{20CCD344-8E7B-40D6-856E-D6D34338D986}"/>
              </a:ext>
            </a:extLst>
          </p:cNvPr>
          <p:cNvSpPr>
            <a:spLocks noGrp="1"/>
          </p:cNvSpPr>
          <p:nvPr/>
        </p:nvSpPr>
        <p:spPr>
          <a:xfrm>
            <a:off x="7168896" y="3877056"/>
            <a:ext cx="4105656" cy="731520"/>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안의 점들을 y좌표 순으로 세우면, 자기보다 y가 d 이상 큰 점은 더 볼 필요가 없다.</a:t>
            </a:r>
            <a:endParaRPr sz="1180"/>
          </a:p>
        </p:txBody>
      </p:sp>
      <p:sp>
        <p:nvSpPr>
          <p:cNvPr id="22" name="Text 15">
            <a:extLst>
              <a:ext uri="{FF2B5EF4-FFF2-40B4-BE49-F238E27FC236}">
                <a16:creationId xmlns:a16="http://schemas.microsoft.com/office/drawing/2014/main" id="{1B307446-4FF0-445C-951D-1504E1FC0CAE}"/>
              </a:ext>
            </a:extLst>
          </p:cNvPr>
          <p:cNvSpPr>
            <a:spLocks noGrp="1"/>
          </p:cNvSpPr>
          <p:nvPr/>
        </p:nvSpPr>
        <p:spPr>
          <a:xfrm>
            <a:off x="7168896" y="5138928"/>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그래도 걱정된다</a:t>
            </a:r>
            <a:endParaRPr sz="1300"/>
          </a:p>
        </p:txBody>
      </p:sp>
      <p:sp>
        <p:nvSpPr>
          <p:cNvPr id="23" name="Text 16">
            <a:extLst>
              <a:ext uri="{FF2B5EF4-FFF2-40B4-BE49-F238E27FC236}">
                <a16:creationId xmlns:a16="http://schemas.microsoft.com/office/drawing/2014/main" id="{BC09162A-418A-44EC-A821-739926B8C398}"/>
              </a:ext>
            </a:extLst>
          </p:cNvPr>
          <p:cNvSpPr>
            <a:spLocks noGrp="1"/>
          </p:cNvSpPr>
          <p:nvPr/>
        </p:nvSpPr>
        <p:spPr>
          <a:xfrm>
            <a:off x="7168896" y="5486400"/>
            <a:ext cx="4105656" cy="475488"/>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띠 안에 점이 아주 많이 몰려 있으면? 여전히 O(n²)이 아닐까?</a:t>
            </a:r>
            <a:endParaRPr sz="1180"/>
          </a:p>
        </p:txBody>
      </p:sp>
      <p:sp>
        <p:nvSpPr>
          <p:cNvPr id="27" name="직사각형 26">
            <a:extLst>
              <a:ext uri="{FF2B5EF4-FFF2-40B4-BE49-F238E27FC236}">
                <a16:creationId xmlns:a16="http://schemas.microsoft.com/office/drawing/2014/main" id="{290F0002-63F3-4891-80CA-A74A0451F67F}"/>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28" name="직사각형 27">
            <a:extLst>
              <a:ext uri="{FF2B5EF4-FFF2-40B4-BE49-F238E27FC236}">
                <a16:creationId xmlns:a16="http://schemas.microsoft.com/office/drawing/2014/main" id="{41F8108D-28F1-450A-A405-FD93F9004519}"/>
              </a:ext>
            </a:extLst>
          </p:cNvPr>
          <p:cNvSpPr>
            <a:spLocks noGrp="1"/>
          </p:cNvSpPr>
          <p:nvPr/>
        </p:nvSpPr>
        <p:spPr>
          <a:xfrm>
            <a:off x="6309360" y="3346704"/>
            <a:ext cx="5221224" cy="9525"/>
          </a:xfrm>
          <a:prstGeom prst="rect">
            <a:avLst/>
          </a:prstGeom>
          <a:solidFill>
            <a:srgbClr val="D4D4D4"/>
          </a:solidFill>
          <a:ln w="0">
            <a:noFill/>
          </a:ln>
        </p:spPr>
        <p:txBody>
          <a:bodyPr/>
          <a:lstStyle/>
          <a:p>
            <a:endParaRPr lang="ko-KR" altLang="en-US"/>
          </a:p>
        </p:txBody>
      </p:sp>
      <p:sp>
        <p:nvSpPr>
          <p:cNvPr id="29" name="직사각형 28">
            <a:extLst>
              <a:ext uri="{FF2B5EF4-FFF2-40B4-BE49-F238E27FC236}">
                <a16:creationId xmlns:a16="http://schemas.microsoft.com/office/drawing/2014/main" id="{2A9FF610-4C35-4356-808A-CCF2C225C39E}"/>
              </a:ext>
            </a:extLst>
          </p:cNvPr>
          <p:cNvSpPr>
            <a:spLocks noGrp="1"/>
          </p:cNvSpPr>
          <p:nvPr/>
        </p:nvSpPr>
        <p:spPr>
          <a:xfrm>
            <a:off x="6309360" y="4956048"/>
            <a:ext cx="5221224" cy="9525"/>
          </a:xfrm>
          <a:prstGeom prst="rect">
            <a:avLst/>
          </a:prstGeom>
          <a:solidFill>
            <a:srgbClr val="D4D4D4"/>
          </a:solidFill>
          <a:ln w="0">
            <a:noFill/>
          </a:ln>
        </p:spPr>
        <p:txBody>
          <a:bodyPr/>
          <a:lstStyle/>
          <a:p>
            <a:endParaRPr lang="ko-KR" altLang="en-US"/>
          </a:p>
        </p:txBody>
      </p:sp>
      <p:sp>
        <p:nvSpPr>
          <p:cNvPr id="30" name="직사각형 29">
            <a:extLst>
              <a:ext uri="{FF2B5EF4-FFF2-40B4-BE49-F238E27FC236}">
                <a16:creationId xmlns:a16="http://schemas.microsoft.com/office/drawing/2014/main" id="{A8446501-1AD4-4328-918A-34F42BE16A2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1" name="직사각형 30">
            <a:extLst>
              <a:ext uri="{FF2B5EF4-FFF2-40B4-BE49-F238E27FC236}">
                <a16:creationId xmlns:a16="http://schemas.microsoft.com/office/drawing/2014/main" id="{E921A36D-AF8E-4713-8145-A4ED842920D0}"/>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2" name="직사각형 31">
            <a:extLst>
              <a:ext uri="{FF2B5EF4-FFF2-40B4-BE49-F238E27FC236}">
                <a16:creationId xmlns:a16="http://schemas.microsoft.com/office/drawing/2014/main" id="{9602F972-358D-4FE2-B2F2-324564DF3CC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경계선의 함정 — '띠(strip)'만 살펴보면 된다</a:t>
            </a:r>
          </a:p>
        </p:txBody>
      </p:sp>
      <p:sp>
        <p:nvSpPr>
          <p:cNvPr id="33" name="직사각형 32">
            <a:extLst>
              <a:ext uri="{FF2B5EF4-FFF2-40B4-BE49-F238E27FC236}">
                <a16:creationId xmlns:a16="http://schemas.microsoft.com/office/drawing/2014/main" id="{E05E8AE4-CB95-412E-87E0-0275FC59D11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4" name="직사각형 33">
            <a:extLst>
              <a:ext uri="{FF2B5EF4-FFF2-40B4-BE49-F238E27FC236}">
                <a16:creationId xmlns:a16="http://schemas.microsoft.com/office/drawing/2014/main" id="{80001BF1-9535-4623-A727-E2FA2B8D760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4684F07-6B1D-493B-A6FD-04763410DF90}"/>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6" name="직사각형 35">
            <a:extLst>
              <a:ext uri="{FF2B5EF4-FFF2-40B4-BE49-F238E27FC236}">
                <a16:creationId xmlns:a16="http://schemas.microsoft.com/office/drawing/2014/main" id="{3CFAAF84-88BA-4ECD-B958-5BC163BB1DA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164</a:t>
            </a:r>
            <a:endParaRPr sz="1050" b="1" i="0">
              <a:solidFill>
                <a:srgbClr val="171717"/>
              </a:solidFill>
              <a:latin typeface="Consolas"/>
              <a:ea typeface="Consolas"/>
              <a:cs typeface="Consolas"/>
            </a:endParaRPr>
          </a:p>
        </p:txBody>
      </p:sp>
      <p:pic>
        <p:nvPicPr>
          <p:cNvPr id="55" name="그림 54"/>
          <p:cNvPicPr>
            <a:picLocks noChangeAspect="1"/>
          </p:cNvPicPr>
          <p:nvPr/>
        </p:nvPicPr>
        <p:blipFill>
          <a:blip r:embed="rId3"/>
          <a:stretch/>
        </p:blipFill>
        <p:spPr>
          <a:xfrm>
            <a:off x="1305211" y="2981128"/>
            <a:ext cx="4055554" cy="2815983"/>
          </a:xfrm>
          <a:prstGeom prst="rect">
            <a:avLst/>
          </a:prstGeom>
        </p:spPr>
      </p:pic>
    </p:spTree>
    <p:extLst>
      <p:ext uri="{BB962C8B-B14F-4D97-AF65-F5344CB8AC3E}">
        <p14:creationId xmlns:p14="http://schemas.microsoft.com/office/powerpoint/2010/main" val="19222747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ext 6">
            <a:extLst>
              <a:ext uri="{FF2B5EF4-FFF2-40B4-BE49-F238E27FC236}">
                <a16:creationId xmlns:a16="http://schemas.microsoft.com/office/drawing/2014/main" id="{24A0477A-0FA9-4568-9C11-0F33756ACFCF}"/>
              </a:ext>
            </a:extLst>
          </p:cNvPr>
          <p:cNvSpPr>
            <a:spLocks noGrp="1"/>
          </p:cNvSpPr>
          <p:nvPr/>
        </p:nvSpPr>
        <p:spPr>
          <a:xfrm>
            <a:off x="7022592" y="1865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2d × d 직사각형</a:t>
            </a:r>
            <a:endParaRPr sz="1230"/>
          </a:p>
        </p:txBody>
      </p:sp>
      <p:sp>
        <p:nvSpPr>
          <p:cNvPr id="12" name="Text 7">
            <a:extLst>
              <a:ext uri="{FF2B5EF4-FFF2-40B4-BE49-F238E27FC236}">
                <a16:creationId xmlns:a16="http://schemas.microsoft.com/office/drawing/2014/main" id="{F096CCBA-53A8-4722-BF7F-149A3B56EBB3}"/>
              </a:ext>
            </a:extLst>
          </p:cNvPr>
          <p:cNvSpPr>
            <a:spLocks noGrp="1"/>
          </p:cNvSpPr>
          <p:nvPr/>
        </p:nvSpPr>
        <p:spPr>
          <a:xfrm>
            <a:off x="7022592" y="2139696"/>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띠 안의 한 점 p에서 y 방향으로 d 이내의 영역은 가로 2d, 세로 d인 직사각형이다.</a:t>
            </a:r>
            <a:endParaRPr sz="1040"/>
          </a:p>
        </p:txBody>
      </p:sp>
      <p:sp>
        <p:nvSpPr>
          <p:cNvPr id="16" name="Text 10">
            <a:extLst>
              <a:ext uri="{FF2B5EF4-FFF2-40B4-BE49-F238E27FC236}">
                <a16:creationId xmlns:a16="http://schemas.microsoft.com/office/drawing/2014/main" id="{DDFBEC51-A28B-4BFD-9AE6-2430754ADAEC}"/>
              </a:ext>
            </a:extLst>
          </p:cNvPr>
          <p:cNvSpPr>
            <a:spLocks noGrp="1"/>
          </p:cNvSpPr>
          <p:nvPr/>
        </p:nvSpPr>
        <p:spPr>
          <a:xfrm>
            <a:off x="7022592" y="2980944"/>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8개의 정사각형 칸</a:t>
            </a:r>
            <a:endParaRPr sz="1230"/>
          </a:p>
        </p:txBody>
      </p:sp>
      <p:sp>
        <p:nvSpPr>
          <p:cNvPr id="17" name="Text 11">
            <a:extLst>
              <a:ext uri="{FF2B5EF4-FFF2-40B4-BE49-F238E27FC236}">
                <a16:creationId xmlns:a16="http://schemas.microsoft.com/office/drawing/2014/main" id="{0EFEC4A4-0EC8-42C4-B580-B5D2FEAC9B08}"/>
              </a:ext>
            </a:extLst>
          </p:cNvPr>
          <p:cNvSpPr>
            <a:spLocks noGrp="1"/>
          </p:cNvSpPr>
          <p:nvPr/>
        </p:nvSpPr>
        <p:spPr>
          <a:xfrm>
            <a:off x="7022592" y="3255264"/>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이 직사각형을 (d/2) × (d/2) 크기의 칸 8개로 나눈다.</a:t>
            </a:r>
            <a:endParaRPr sz="1040"/>
          </a:p>
        </p:txBody>
      </p:sp>
      <p:sp>
        <p:nvSpPr>
          <p:cNvPr id="21" name="Text 14">
            <a:extLst>
              <a:ext uri="{FF2B5EF4-FFF2-40B4-BE49-F238E27FC236}">
                <a16:creationId xmlns:a16="http://schemas.microsoft.com/office/drawing/2014/main" id="{29A8C4E8-A88B-4BBF-8BF0-816E38D511BF}"/>
              </a:ext>
            </a:extLst>
          </p:cNvPr>
          <p:cNvSpPr>
            <a:spLocks noGrp="1"/>
          </p:cNvSpPr>
          <p:nvPr/>
        </p:nvSpPr>
        <p:spPr>
          <a:xfrm>
            <a:off x="7022592" y="409651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한 칸에 점은 최대 1개</a:t>
            </a:r>
            <a:endParaRPr sz="1230"/>
          </a:p>
        </p:txBody>
      </p:sp>
      <p:sp>
        <p:nvSpPr>
          <p:cNvPr id="22" name="Text 15">
            <a:extLst>
              <a:ext uri="{FF2B5EF4-FFF2-40B4-BE49-F238E27FC236}">
                <a16:creationId xmlns:a16="http://schemas.microsoft.com/office/drawing/2014/main" id="{346A2C45-F574-4F8A-B4AC-E5C20F463683}"/>
              </a:ext>
            </a:extLst>
          </p:cNvPr>
          <p:cNvSpPr>
            <a:spLocks noGrp="1"/>
          </p:cNvSpPr>
          <p:nvPr/>
        </p:nvSpPr>
        <p:spPr>
          <a:xfrm>
            <a:off x="7022592" y="4370832"/>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606060"/>
                </a:solidFill>
                <a:latin typeface="Malgun Gothic"/>
                <a:ea typeface="Malgun Gothic"/>
                <a:cs typeface="Malgun Gothic"/>
              </a:defRPr>
            </a:pPr>
            <a:r>
              <a:rPr sz="1040" i="0">
                <a:solidFill>
                  <a:srgbClr val="606060"/>
                </a:solidFill>
                <a:latin typeface="Malgun Gothic"/>
                <a:ea typeface="Malgun Gothic"/>
                <a:cs typeface="Malgun Gothic"/>
              </a:rPr>
              <a:t>한 칸의 대각선 길이는 약 0.707d &lt; d. 같은 칸에 두 점이 있으면 이미 d보다 가까운 쌍이 존재해 모순이다.</a:t>
            </a:r>
            <a:endParaRPr sz="1040"/>
          </a:p>
        </p:txBody>
      </p:sp>
      <p:sp>
        <p:nvSpPr>
          <p:cNvPr id="26" name="Text 18">
            <a:extLst>
              <a:ext uri="{FF2B5EF4-FFF2-40B4-BE49-F238E27FC236}">
                <a16:creationId xmlns:a16="http://schemas.microsoft.com/office/drawing/2014/main" id="{AE8574A6-95EE-43C8-8A1F-6F7532E10540}"/>
              </a:ext>
            </a:extLst>
          </p:cNvPr>
          <p:cNvSpPr>
            <a:spLocks noGrp="1"/>
          </p:cNvSpPr>
          <p:nvPr/>
        </p:nvSpPr>
        <p:spPr>
          <a:xfrm>
            <a:off x="7022592"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따라서 최대 7번 비교</a:t>
            </a:r>
            <a:endParaRPr sz="1230"/>
          </a:p>
        </p:txBody>
      </p:sp>
      <p:sp>
        <p:nvSpPr>
          <p:cNvPr id="27" name="Text 19">
            <a:extLst>
              <a:ext uri="{FF2B5EF4-FFF2-40B4-BE49-F238E27FC236}">
                <a16:creationId xmlns:a16="http://schemas.microsoft.com/office/drawing/2014/main" id="{B2404289-3305-4D8D-903A-9BDE9CFDFB50}"/>
              </a:ext>
            </a:extLst>
          </p:cNvPr>
          <p:cNvSpPr>
            <a:spLocks noGrp="1"/>
          </p:cNvSpPr>
          <p:nvPr/>
        </p:nvSpPr>
        <p:spPr>
          <a:xfrm>
            <a:off x="7022592" y="5486400"/>
            <a:ext cx="4297680" cy="493776"/>
          </a:xfrm>
          <a:prstGeom prst="rect">
            <a:avLst/>
          </a:prstGeom>
          <a:noFill/>
          <a:ln w="0">
            <a:noFill/>
          </a:ln>
        </p:spPr>
        <p:txBody>
          <a:bodyPr wrap="square" lIns="0" tIns="0" rIns="0" bIns="0" anchor="t">
            <a:noAutofit/>
          </a:bodyPr>
          <a:lstStyle/>
          <a:p>
            <a:pPr marL="0" indent="0" algn="l">
              <a:lnSpc>
                <a:spcPct val="116000"/>
              </a:lnSpc>
              <a:buNone/>
              <a:defRPr sz="1040" i="0">
                <a:solidFill>
                  <a:srgbClr val="171717"/>
                </a:solidFill>
                <a:latin typeface="Malgun Gothic"/>
                <a:ea typeface="Malgun Gothic"/>
                <a:cs typeface="Malgun Gothic"/>
              </a:defRPr>
            </a:pPr>
            <a:r>
              <a:rPr sz="1040" i="0">
                <a:solidFill>
                  <a:srgbClr val="171717"/>
                </a:solidFill>
                <a:latin typeface="Malgun Gothic"/>
                <a:ea typeface="Malgun Gothic"/>
                <a:cs typeface="Malgun Gothic"/>
              </a:rPr>
              <a:t>직사각형 안의 점은 자기 자신 포함 최대 8개. 즉 한 점당 최대 7번만 비교하면 충분하다.</a:t>
            </a:r>
            <a:endParaRPr sz="1040"/>
          </a:p>
        </p:txBody>
      </p:sp>
      <p:sp>
        <p:nvSpPr>
          <p:cNvPr id="29" name="Text 21">
            <a:extLst>
              <a:ext uri="{FF2B5EF4-FFF2-40B4-BE49-F238E27FC236}">
                <a16:creationId xmlns:a16="http://schemas.microsoft.com/office/drawing/2014/main" id="{3390A5BC-3D4D-454C-8E52-E0C704467131}"/>
              </a:ext>
            </a:extLst>
          </p:cNvPr>
          <p:cNvSpPr>
            <a:spLocks noGrp="1"/>
          </p:cNvSpPr>
          <p:nvPr/>
        </p:nvSpPr>
        <p:spPr>
          <a:xfrm>
            <a:off x="795528" y="5230368"/>
            <a:ext cx="4983480" cy="822960"/>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띠 안 점 검사 비용  =  O(n) × 7  =  O(n)</a:t>
            </a:r>
            <a:endParaRPr sz="1500"/>
          </a:p>
        </p:txBody>
      </p:sp>
      <p:sp>
        <p:nvSpPr>
          <p:cNvPr id="33" name="직사각형 32">
            <a:extLst>
              <a:ext uri="{FF2B5EF4-FFF2-40B4-BE49-F238E27FC236}">
                <a16:creationId xmlns:a16="http://schemas.microsoft.com/office/drawing/2014/main" id="{8985949E-9272-4328-9B9F-6D36B0FD7D9B}"/>
              </a:ext>
            </a:extLst>
          </p:cNvPr>
          <p:cNvSpPr>
            <a:spLocks noGrp="1"/>
          </p:cNvSpPr>
          <p:nvPr/>
        </p:nvSpPr>
        <p:spPr>
          <a:xfrm>
            <a:off x="658368" y="1755648"/>
            <a:ext cx="525780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9CFC2C56-16DB-48C7-A555-FBF8F1AA8C9F}"/>
              </a:ext>
            </a:extLst>
          </p:cNvPr>
          <p:cNvSpPr>
            <a:spLocks noGrp="1"/>
          </p:cNvSpPr>
          <p:nvPr/>
        </p:nvSpPr>
        <p:spPr>
          <a:xfrm>
            <a:off x="6291072" y="1755648"/>
            <a:ext cx="523951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D152C886-8878-4E39-8999-B0C6461D46EA}"/>
              </a:ext>
            </a:extLst>
          </p:cNvPr>
          <p:cNvSpPr>
            <a:spLocks noGrp="1"/>
          </p:cNvSpPr>
          <p:nvPr/>
        </p:nvSpPr>
        <p:spPr>
          <a:xfrm>
            <a:off x="6291072" y="2871216"/>
            <a:ext cx="523951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00EFC08-37D5-4D9E-A0A7-55DE37633A27}"/>
              </a:ext>
            </a:extLst>
          </p:cNvPr>
          <p:cNvSpPr>
            <a:spLocks noGrp="1"/>
          </p:cNvSpPr>
          <p:nvPr/>
        </p:nvSpPr>
        <p:spPr>
          <a:xfrm>
            <a:off x="6291072" y="3986784"/>
            <a:ext cx="5239512"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6309D394-51AC-4BD0-B186-66924D03C7F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D9E25D54-BEF9-40E4-AED3-949F885E9A2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B7E2C38-FC4D-4EB5-B8A4-EAADEFD372A3}"/>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증명 — 한 점당 최대 7개만 비교하면 된다</a:t>
            </a:r>
          </a:p>
        </p:txBody>
      </p:sp>
      <p:sp>
        <p:nvSpPr>
          <p:cNvPr id="40" name="직사각형 39">
            <a:extLst>
              <a:ext uri="{FF2B5EF4-FFF2-40B4-BE49-F238E27FC236}">
                <a16:creationId xmlns:a16="http://schemas.microsoft.com/office/drawing/2014/main" id="{A1DCAA42-EFD3-4C23-8203-07B96BD32932}"/>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419BFDCA-37E3-4780-B274-8422C8DDC2D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3E96F268-9FDC-4A90-8F8F-757FC9857677}"/>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A65AD374-505C-4AB1-B98B-38C6843FCA2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165</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3FA9654D-756A-46F3-8A89-A5CAF5587282}"/>
              </a:ext>
            </a:extLst>
          </p:cNvPr>
          <p:cNvSpPr>
            <a:spLocks noGrp="1"/>
          </p:cNvSpPr>
          <p:nvPr/>
        </p:nvSpPr>
        <p:spPr>
          <a:xfrm>
            <a:off x="1311636" y="2374514"/>
            <a:ext cx="942938" cy="942938"/>
          </a:xfrm>
          <a:prstGeom prst="rect">
            <a:avLst/>
          </a:prstGeom>
          <a:solidFill>
            <a:srgbClr val="DAEBED"/>
          </a:solidFill>
          <a:ln w="9525">
            <a:solidFill>
              <a:srgbClr val="788C91"/>
            </a:solidFill>
          </a:ln>
        </p:spPr>
        <p:txBody>
          <a:bodyPr/>
          <a:lstStyle/>
          <a:p>
            <a:endParaRPr lang="ko-KR" altLang="en-US"/>
          </a:p>
        </p:txBody>
      </p:sp>
      <p:sp>
        <p:nvSpPr>
          <p:cNvPr id="45" name="직사각형 44">
            <a:extLst>
              <a:ext uri="{FF2B5EF4-FFF2-40B4-BE49-F238E27FC236}">
                <a16:creationId xmlns:a16="http://schemas.microsoft.com/office/drawing/2014/main" id="{8658BEE9-5E0C-4F06-A79C-620D442D5E24}"/>
              </a:ext>
            </a:extLst>
          </p:cNvPr>
          <p:cNvSpPr>
            <a:spLocks noGrp="1"/>
          </p:cNvSpPr>
          <p:nvPr/>
        </p:nvSpPr>
        <p:spPr>
          <a:xfrm>
            <a:off x="1311636"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6" name="직사각형 45">
            <a:extLst>
              <a:ext uri="{FF2B5EF4-FFF2-40B4-BE49-F238E27FC236}">
                <a16:creationId xmlns:a16="http://schemas.microsoft.com/office/drawing/2014/main" id="{2375F81D-90BB-4CFB-AA82-A2B1CDD71E69}"/>
              </a:ext>
            </a:extLst>
          </p:cNvPr>
          <p:cNvSpPr>
            <a:spLocks noGrp="1"/>
          </p:cNvSpPr>
          <p:nvPr/>
        </p:nvSpPr>
        <p:spPr>
          <a:xfrm>
            <a:off x="2254574" y="2374514"/>
            <a:ext cx="942938" cy="942938"/>
          </a:xfrm>
          <a:prstGeom prst="rect">
            <a:avLst/>
          </a:prstGeom>
          <a:solidFill>
            <a:srgbClr val="DAEBED"/>
          </a:solidFill>
          <a:ln w="9525">
            <a:solidFill>
              <a:srgbClr val="788C91"/>
            </a:solidFill>
          </a:ln>
        </p:spPr>
        <p:txBody>
          <a:bodyPr/>
          <a:lstStyle/>
          <a:p>
            <a:endParaRPr lang="ko-KR" altLang="en-US"/>
          </a:p>
        </p:txBody>
      </p:sp>
      <p:sp>
        <p:nvSpPr>
          <p:cNvPr id="47" name="직사각형 46">
            <a:extLst>
              <a:ext uri="{FF2B5EF4-FFF2-40B4-BE49-F238E27FC236}">
                <a16:creationId xmlns:a16="http://schemas.microsoft.com/office/drawing/2014/main" id="{A8C3BD84-EE96-4ED6-8401-EC3686DA20EC}"/>
              </a:ext>
            </a:extLst>
          </p:cNvPr>
          <p:cNvSpPr>
            <a:spLocks noGrp="1"/>
          </p:cNvSpPr>
          <p:nvPr/>
        </p:nvSpPr>
        <p:spPr>
          <a:xfrm>
            <a:off x="2254574"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48" name="직사각형 47">
            <a:extLst>
              <a:ext uri="{FF2B5EF4-FFF2-40B4-BE49-F238E27FC236}">
                <a16:creationId xmlns:a16="http://schemas.microsoft.com/office/drawing/2014/main" id="{A5EC93A6-6E79-4067-AE9D-694852FF6483}"/>
              </a:ext>
            </a:extLst>
          </p:cNvPr>
          <p:cNvSpPr>
            <a:spLocks noGrp="1"/>
          </p:cNvSpPr>
          <p:nvPr/>
        </p:nvSpPr>
        <p:spPr>
          <a:xfrm>
            <a:off x="3197512" y="2374514"/>
            <a:ext cx="942938" cy="942938"/>
          </a:xfrm>
          <a:prstGeom prst="rect">
            <a:avLst/>
          </a:prstGeom>
          <a:solidFill>
            <a:srgbClr val="F4E3C7"/>
          </a:solidFill>
          <a:ln w="9525">
            <a:solidFill>
              <a:srgbClr val="788C91"/>
            </a:solidFill>
          </a:ln>
        </p:spPr>
        <p:txBody>
          <a:bodyPr/>
          <a:lstStyle/>
          <a:p>
            <a:endParaRPr lang="ko-KR" altLang="en-US"/>
          </a:p>
        </p:txBody>
      </p:sp>
      <p:sp>
        <p:nvSpPr>
          <p:cNvPr id="49" name="직사각형 48">
            <a:extLst>
              <a:ext uri="{FF2B5EF4-FFF2-40B4-BE49-F238E27FC236}">
                <a16:creationId xmlns:a16="http://schemas.microsoft.com/office/drawing/2014/main" id="{9CE85521-AB87-423D-8D84-7D5934D4ECA2}"/>
              </a:ext>
            </a:extLst>
          </p:cNvPr>
          <p:cNvSpPr>
            <a:spLocks noGrp="1"/>
          </p:cNvSpPr>
          <p:nvPr/>
        </p:nvSpPr>
        <p:spPr>
          <a:xfrm>
            <a:off x="3197512"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0" name="직사각형 49">
            <a:extLst>
              <a:ext uri="{FF2B5EF4-FFF2-40B4-BE49-F238E27FC236}">
                <a16:creationId xmlns:a16="http://schemas.microsoft.com/office/drawing/2014/main" id="{5B4EA3DE-1741-41D8-87F0-97CC064229B7}"/>
              </a:ext>
            </a:extLst>
          </p:cNvPr>
          <p:cNvSpPr>
            <a:spLocks noGrp="1"/>
          </p:cNvSpPr>
          <p:nvPr/>
        </p:nvSpPr>
        <p:spPr>
          <a:xfrm>
            <a:off x="4140450" y="2374514"/>
            <a:ext cx="942938" cy="942938"/>
          </a:xfrm>
          <a:prstGeom prst="rect">
            <a:avLst/>
          </a:prstGeom>
          <a:solidFill>
            <a:srgbClr val="F4E3C7"/>
          </a:solidFill>
          <a:ln w="9525">
            <a:solidFill>
              <a:srgbClr val="788C91"/>
            </a:solidFill>
          </a:ln>
        </p:spPr>
        <p:txBody>
          <a:bodyPr/>
          <a:lstStyle/>
          <a:p>
            <a:endParaRPr lang="ko-KR" altLang="en-US"/>
          </a:p>
        </p:txBody>
      </p:sp>
      <p:sp>
        <p:nvSpPr>
          <p:cNvPr id="51" name="직사각형 50">
            <a:extLst>
              <a:ext uri="{FF2B5EF4-FFF2-40B4-BE49-F238E27FC236}">
                <a16:creationId xmlns:a16="http://schemas.microsoft.com/office/drawing/2014/main" id="{2BDDCD56-5371-4786-86D8-6D9ED324A5FB}"/>
              </a:ext>
            </a:extLst>
          </p:cNvPr>
          <p:cNvSpPr>
            <a:spLocks noGrp="1"/>
          </p:cNvSpPr>
          <p:nvPr/>
        </p:nvSpPr>
        <p:spPr>
          <a:xfrm>
            <a:off x="4140450" y="2374514"/>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2" name="직사각형 51">
            <a:extLst>
              <a:ext uri="{FF2B5EF4-FFF2-40B4-BE49-F238E27FC236}">
                <a16:creationId xmlns:a16="http://schemas.microsoft.com/office/drawing/2014/main" id="{09229D92-974C-4C12-911E-7FE014067CAE}"/>
              </a:ext>
            </a:extLst>
          </p:cNvPr>
          <p:cNvSpPr>
            <a:spLocks noGrp="1"/>
          </p:cNvSpPr>
          <p:nvPr/>
        </p:nvSpPr>
        <p:spPr>
          <a:xfrm>
            <a:off x="1311636" y="3317452"/>
            <a:ext cx="942938" cy="942938"/>
          </a:xfrm>
          <a:prstGeom prst="rect">
            <a:avLst/>
          </a:prstGeom>
          <a:solidFill>
            <a:srgbClr val="DAEBED"/>
          </a:solidFill>
          <a:ln w="9525">
            <a:solidFill>
              <a:srgbClr val="788C91"/>
            </a:solidFill>
          </a:ln>
        </p:spPr>
        <p:txBody>
          <a:bodyPr/>
          <a:lstStyle/>
          <a:p>
            <a:endParaRPr lang="ko-KR" altLang="en-US"/>
          </a:p>
        </p:txBody>
      </p:sp>
      <p:sp>
        <p:nvSpPr>
          <p:cNvPr id="53" name="직사각형 52">
            <a:extLst>
              <a:ext uri="{FF2B5EF4-FFF2-40B4-BE49-F238E27FC236}">
                <a16:creationId xmlns:a16="http://schemas.microsoft.com/office/drawing/2014/main" id="{77ECF831-D85A-44F1-BC3A-A38176575503}"/>
              </a:ext>
            </a:extLst>
          </p:cNvPr>
          <p:cNvSpPr>
            <a:spLocks noGrp="1"/>
          </p:cNvSpPr>
          <p:nvPr/>
        </p:nvSpPr>
        <p:spPr>
          <a:xfrm>
            <a:off x="1311636"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4" name="직사각형 53">
            <a:extLst>
              <a:ext uri="{FF2B5EF4-FFF2-40B4-BE49-F238E27FC236}">
                <a16:creationId xmlns:a16="http://schemas.microsoft.com/office/drawing/2014/main" id="{EBF169EE-2E7B-4985-A7A4-55E1046C5DDB}"/>
              </a:ext>
            </a:extLst>
          </p:cNvPr>
          <p:cNvSpPr>
            <a:spLocks noGrp="1"/>
          </p:cNvSpPr>
          <p:nvPr/>
        </p:nvSpPr>
        <p:spPr>
          <a:xfrm>
            <a:off x="2254574" y="3317452"/>
            <a:ext cx="942938" cy="942938"/>
          </a:xfrm>
          <a:prstGeom prst="rect">
            <a:avLst/>
          </a:prstGeom>
          <a:solidFill>
            <a:srgbClr val="DAEBED"/>
          </a:solidFill>
          <a:ln w="9525">
            <a:solidFill>
              <a:srgbClr val="788C91"/>
            </a:solidFill>
          </a:ln>
        </p:spPr>
        <p:txBody>
          <a:bodyPr/>
          <a:lstStyle/>
          <a:p>
            <a:endParaRPr lang="ko-KR" altLang="en-US"/>
          </a:p>
        </p:txBody>
      </p:sp>
      <p:sp>
        <p:nvSpPr>
          <p:cNvPr id="55" name="직사각형 54">
            <a:extLst>
              <a:ext uri="{FF2B5EF4-FFF2-40B4-BE49-F238E27FC236}">
                <a16:creationId xmlns:a16="http://schemas.microsoft.com/office/drawing/2014/main" id="{49348012-E55E-45AC-A157-DC285A211EDC}"/>
              </a:ext>
            </a:extLst>
          </p:cNvPr>
          <p:cNvSpPr>
            <a:spLocks noGrp="1"/>
          </p:cNvSpPr>
          <p:nvPr/>
        </p:nvSpPr>
        <p:spPr>
          <a:xfrm>
            <a:off x="2254574"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6" name="직사각형 55">
            <a:extLst>
              <a:ext uri="{FF2B5EF4-FFF2-40B4-BE49-F238E27FC236}">
                <a16:creationId xmlns:a16="http://schemas.microsoft.com/office/drawing/2014/main" id="{BB540793-BECE-4914-9959-7A5F84F8BBF5}"/>
              </a:ext>
            </a:extLst>
          </p:cNvPr>
          <p:cNvSpPr>
            <a:spLocks noGrp="1"/>
          </p:cNvSpPr>
          <p:nvPr/>
        </p:nvSpPr>
        <p:spPr>
          <a:xfrm>
            <a:off x="3197512" y="3317452"/>
            <a:ext cx="942938" cy="942938"/>
          </a:xfrm>
          <a:prstGeom prst="rect">
            <a:avLst/>
          </a:prstGeom>
          <a:solidFill>
            <a:srgbClr val="F4E3C7"/>
          </a:solidFill>
          <a:ln w="9525">
            <a:solidFill>
              <a:srgbClr val="788C91"/>
            </a:solidFill>
          </a:ln>
        </p:spPr>
        <p:txBody>
          <a:bodyPr/>
          <a:lstStyle/>
          <a:p>
            <a:endParaRPr lang="ko-KR" altLang="en-US"/>
          </a:p>
        </p:txBody>
      </p:sp>
      <p:sp>
        <p:nvSpPr>
          <p:cNvPr id="57" name="직사각형 56">
            <a:extLst>
              <a:ext uri="{FF2B5EF4-FFF2-40B4-BE49-F238E27FC236}">
                <a16:creationId xmlns:a16="http://schemas.microsoft.com/office/drawing/2014/main" id="{C89C385D-0B23-4210-9112-87D2612C18DA}"/>
              </a:ext>
            </a:extLst>
          </p:cNvPr>
          <p:cNvSpPr>
            <a:spLocks noGrp="1"/>
          </p:cNvSpPr>
          <p:nvPr/>
        </p:nvSpPr>
        <p:spPr>
          <a:xfrm>
            <a:off x="3197512"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58" name="직사각형 57">
            <a:extLst>
              <a:ext uri="{FF2B5EF4-FFF2-40B4-BE49-F238E27FC236}">
                <a16:creationId xmlns:a16="http://schemas.microsoft.com/office/drawing/2014/main" id="{1AA20AA4-047F-4ED9-91D7-DA81660E1218}"/>
              </a:ext>
            </a:extLst>
          </p:cNvPr>
          <p:cNvSpPr>
            <a:spLocks noGrp="1"/>
          </p:cNvSpPr>
          <p:nvPr/>
        </p:nvSpPr>
        <p:spPr>
          <a:xfrm>
            <a:off x="4140450" y="3317452"/>
            <a:ext cx="942938" cy="942938"/>
          </a:xfrm>
          <a:prstGeom prst="rect">
            <a:avLst/>
          </a:prstGeom>
          <a:solidFill>
            <a:srgbClr val="F4E3C7"/>
          </a:solidFill>
          <a:ln w="9525">
            <a:solidFill>
              <a:srgbClr val="788C91"/>
            </a:solidFill>
          </a:ln>
        </p:spPr>
        <p:txBody>
          <a:bodyPr/>
          <a:lstStyle/>
          <a:p>
            <a:endParaRPr lang="ko-KR" altLang="en-US"/>
          </a:p>
        </p:txBody>
      </p:sp>
      <p:sp>
        <p:nvSpPr>
          <p:cNvPr id="59" name="직사각형 58">
            <a:extLst>
              <a:ext uri="{FF2B5EF4-FFF2-40B4-BE49-F238E27FC236}">
                <a16:creationId xmlns:a16="http://schemas.microsoft.com/office/drawing/2014/main" id="{3668828E-602B-4FA4-AD33-4BB79108DCFF}"/>
              </a:ext>
            </a:extLst>
          </p:cNvPr>
          <p:cNvSpPr>
            <a:spLocks noGrp="1"/>
          </p:cNvSpPr>
          <p:nvPr/>
        </p:nvSpPr>
        <p:spPr>
          <a:xfrm>
            <a:off x="4140450" y="3317452"/>
            <a:ext cx="942938" cy="942938"/>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 1</a:t>
            </a:r>
          </a:p>
        </p:txBody>
      </p:sp>
      <p:sp>
        <p:nvSpPr>
          <p:cNvPr id="60" name="직사각형 59">
            <a:extLst>
              <a:ext uri="{FF2B5EF4-FFF2-40B4-BE49-F238E27FC236}">
                <a16:creationId xmlns:a16="http://schemas.microsoft.com/office/drawing/2014/main" id="{016FAC75-0074-4861-950C-18C30F441AAD}"/>
              </a:ext>
            </a:extLst>
          </p:cNvPr>
          <p:cNvSpPr>
            <a:spLocks noGrp="1"/>
          </p:cNvSpPr>
          <p:nvPr/>
        </p:nvSpPr>
        <p:spPr>
          <a:xfrm>
            <a:off x="1940262" y="1901952"/>
            <a:ext cx="2694108" cy="354421"/>
          </a:xfrm>
          <a:prstGeom prst="rect">
            <a:avLst/>
          </a:prstGeom>
          <a:noFill/>
          <a:ln w="9525">
            <a:noFill/>
          </a:ln>
        </p:spPr>
        <p:txBody>
          <a:bodyPr wrap="none" lIns="0" tIns="0" rIns="0" bIns="0" anchor="ctr">
            <a:noAutofit/>
          </a:bodyPr>
          <a:lstStyle/>
          <a:p>
            <a:pPr algn="ctr">
              <a:defRPr sz="1500">
                <a:solidFill>
                  <a:srgbClr val="171717"/>
                </a:solidFill>
                <a:latin typeface="Malgun Gothic"/>
                <a:ea typeface="Malgun Gothic"/>
                <a:cs typeface="Malgun Gothic"/>
              </a:defRPr>
            </a:pPr>
            <a:r>
              <a:rPr sz="1500">
                <a:solidFill>
                  <a:srgbClr val="171717"/>
                </a:solidFill>
                <a:latin typeface="Malgun Gothic"/>
                <a:ea typeface="Malgun Gothic"/>
                <a:cs typeface="Malgun Gothic"/>
              </a:rPr>
              <a:t>가로 2d</a:t>
            </a:r>
          </a:p>
        </p:txBody>
      </p:sp>
      <p:sp>
        <p:nvSpPr>
          <p:cNvPr id="61" name="직사각형 60">
            <a:extLst>
              <a:ext uri="{FF2B5EF4-FFF2-40B4-BE49-F238E27FC236}">
                <a16:creationId xmlns:a16="http://schemas.microsoft.com/office/drawing/2014/main" id="{233E5139-1E3F-41D2-8F04-AABED2486899}"/>
              </a:ext>
            </a:extLst>
          </p:cNvPr>
          <p:cNvSpPr>
            <a:spLocks noGrp="1"/>
          </p:cNvSpPr>
          <p:nvPr/>
        </p:nvSpPr>
        <p:spPr>
          <a:xfrm>
            <a:off x="1266735" y="4378530"/>
            <a:ext cx="4041162"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각 칸 d/2 × d/2</a:t>
            </a:r>
          </a:p>
        </p:txBody>
      </p:sp>
      <p:sp>
        <p:nvSpPr>
          <p:cNvPr id="62" name="직사각형 61">
            <a:extLst>
              <a:ext uri="{FF2B5EF4-FFF2-40B4-BE49-F238E27FC236}">
                <a16:creationId xmlns:a16="http://schemas.microsoft.com/office/drawing/2014/main" id="{A7189019-37F1-41E4-8FD5-5F3D8AEF6CF5}"/>
              </a:ext>
            </a:extLst>
          </p:cNvPr>
          <p:cNvSpPr>
            <a:spLocks noGrp="1"/>
          </p:cNvSpPr>
          <p:nvPr/>
        </p:nvSpPr>
        <p:spPr>
          <a:xfrm>
            <a:off x="1042226" y="4851092"/>
            <a:ext cx="4490180" cy="354421"/>
          </a:xfrm>
          <a:prstGeom prst="rect">
            <a:avLst/>
          </a:prstGeom>
          <a:noFill/>
          <a:ln w="9525">
            <a:noFill/>
          </a:ln>
        </p:spPr>
        <p:txBody>
          <a:bodyPr wrap="none" lIns="0" tIns="0" rIns="0" bIns="0" anchor="ctr">
            <a:noAutofit/>
          </a:bodyPr>
          <a:lstStyle/>
          <a:p>
            <a:pPr algn="ctr">
              <a:defRPr sz="1425">
                <a:solidFill>
                  <a:srgbClr val="171717"/>
                </a:solidFill>
                <a:latin typeface="Malgun Gothic"/>
                <a:ea typeface="Malgun Gothic"/>
                <a:cs typeface="Malgun Gothic"/>
              </a:defRPr>
            </a:pPr>
            <a:r>
              <a:rPr sz="1425">
                <a:solidFill>
                  <a:srgbClr val="171717"/>
                </a:solidFill>
                <a:latin typeface="Malgun Gothic"/>
                <a:ea typeface="Malgun Gothic"/>
                <a:cs typeface="Malgun Gothic"/>
              </a:rPr>
              <a:t>8칸: 현재 점을 제외하면 최대 7개</a:t>
            </a:r>
          </a:p>
        </p:txBody>
      </p:sp>
    </p:spTree>
    <p:extLst>
      <p:ext uri="{BB962C8B-B14F-4D97-AF65-F5344CB8AC3E}">
        <p14:creationId xmlns:p14="http://schemas.microsoft.com/office/powerpoint/2010/main" val="282943467"/>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C8B6019-CB92-4661-AD2C-68EF5CE09634}"/>
              </a:ext>
            </a:extLst>
          </p:cNvPr>
          <p:cNvSpPr>
            <a:spLocks noGrp="1"/>
          </p:cNvSpPr>
          <p:nvPr/>
        </p:nvSpPr>
        <p:spPr>
          <a:xfrm>
            <a:off x="859536" y="1801368"/>
            <a:ext cx="68122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closest_pair.py</a:t>
            </a:r>
            <a:endParaRPr sz="900"/>
          </a:p>
        </p:txBody>
      </p:sp>
      <p:sp>
        <p:nvSpPr>
          <p:cNvPr id="17" name="Text 13">
            <a:extLst>
              <a:ext uri="{FF2B5EF4-FFF2-40B4-BE49-F238E27FC236}">
                <a16:creationId xmlns:a16="http://schemas.microsoft.com/office/drawing/2014/main" id="{57EB34D0-FE81-4A64-9FCA-D2B537F6F9FE}"/>
              </a:ext>
            </a:extLst>
          </p:cNvPr>
          <p:cNvSpPr>
            <a:spLocks noGrp="1"/>
          </p:cNvSpPr>
          <p:nvPr/>
        </p:nvSpPr>
        <p:spPr>
          <a:xfrm>
            <a:off x="8860536" y="1965960"/>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기저 사례: 점 3개 이하</a:t>
            </a:r>
            <a:endParaRPr sz="1200"/>
          </a:p>
        </p:txBody>
      </p:sp>
      <p:sp>
        <p:nvSpPr>
          <p:cNvPr id="18" name="Text 14">
            <a:extLst>
              <a:ext uri="{FF2B5EF4-FFF2-40B4-BE49-F238E27FC236}">
                <a16:creationId xmlns:a16="http://schemas.microsoft.com/office/drawing/2014/main" id="{8020A5F8-4780-4601-872A-9763E5401038}"/>
              </a:ext>
            </a:extLst>
          </p:cNvPr>
          <p:cNvSpPr>
            <a:spLocks noGrp="1"/>
          </p:cNvSpPr>
          <p:nvPr/>
        </p:nvSpPr>
        <p:spPr>
          <a:xfrm>
            <a:off x="8860536" y="2313432"/>
            <a:ext cx="2414016" cy="86868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점이 3개 이하면 나누는 비용이 오히려 크다. 그냥 완전 탐색으로 푼다.</a:t>
            </a:r>
            <a:endParaRPr sz="1080"/>
          </a:p>
        </p:txBody>
      </p:sp>
      <p:sp>
        <p:nvSpPr>
          <p:cNvPr id="22" name="Text 17">
            <a:extLst>
              <a:ext uri="{FF2B5EF4-FFF2-40B4-BE49-F238E27FC236}">
                <a16:creationId xmlns:a16="http://schemas.microsoft.com/office/drawing/2014/main" id="{1D1E514B-F7A3-4BE5-BA11-A520E2DE3234}"/>
              </a:ext>
            </a:extLst>
          </p:cNvPr>
          <p:cNvSpPr>
            <a:spLocks noGrp="1"/>
          </p:cNvSpPr>
          <p:nvPr/>
        </p:nvSpPr>
        <p:spPr>
          <a:xfrm>
            <a:off x="8860536" y="3712464"/>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strip 추출</a:t>
            </a:r>
            <a:endParaRPr sz="1200"/>
          </a:p>
        </p:txBody>
      </p:sp>
      <p:sp>
        <p:nvSpPr>
          <p:cNvPr id="23" name="Text 18">
            <a:extLst>
              <a:ext uri="{FF2B5EF4-FFF2-40B4-BE49-F238E27FC236}">
                <a16:creationId xmlns:a16="http://schemas.microsoft.com/office/drawing/2014/main" id="{E30E643D-2CAB-4C64-89E0-B75A49A05F28}"/>
              </a:ext>
            </a:extLst>
          </p:cNvPr>
          <p:cNvSpPr>
            <a:spLocks noGrp="1"/>
          </p:cNvSpPr>
          <p:nvPr/>
        </p:nvSpPr>
        <p:spPr>
          <a:xfrm>
            <a:off x="8860536" y="4059936"/>
            <a:ext cx="2414016" cy="548640"/>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리스트 컴프리헨션 한 줄로 후보를 골라낸다.</a:t>
            </a:r>
            <a:endParaRPr sz="1080"/>
          </a:p>
        </p:txBody>
      </p:sp>
      <p:sp>
        <p:nvSpPr>
          <p:cNvPr id="27" name="Text 21">
            <a:extLst>
              <a:ext uri="{FF2B5EF4-FFF2-40B4-BE49-F238E27FC236}">
                <a16:creationId xmlns:a16="http://schemas.microsoft.com/office/drawing/2014/main" id="{93E2B891-C85D-4E61-B5A5-8CBA5879DD22}"/>
              </a:ext>
            </a:extLst>
          </p:cNvPr>
          <p:cNvSpPr>
            <a:spLocks noGrp="1"/>
          </p:cNvSpPr>
          <p:nvPr/>
        </p:nvSpPr>
        <p:spPr>
          <a:xfrm>
            <a:off x="8860536" y="5138928"/>
            <a:ext cx="2414016"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min(i + 8, len)</a:t>
            </a:r>
            <a:endParaRPr sz="1200"/>
          </a:p>
        </p:txBody>
      </p:sp>
      <p:sp>
        <p:nvSpPr>
          <p:cNvPr id="28" name="Text 22">
            <a:extLst>
              <a:ext uri="{FF2B5EF4-FFF2-40B4-BE49-F238E27FC236}">
                <a16:creationId xmlns:a16="http://schemas.microsoft.com/office/drawing/2014/main" id="{A37E20E6-B703-4509-94D0-24C4D6DD6A26}"/>
              </a:ext>
            </a:extLst>
          </p:cNvPr>
          <p:cNvSpPr>
            <a:spLocks noGrp="1"/>
          </p:cNvSpPr>
          <p:nvPr/>
        </p:nvSpPr>
        <p:spPr>
          <a:xfrm>
            <a:off x="8860536" y="5486400"/>
            <a:ext cx="2414016" cy="475488"/>
          </a:xfrm>
          <a:prstGeom prst="rect">
            <a:avLst/>
          </a:prstGeom>
          <a:noFill/>
          <a:ln w="0">
            <a:noFill/>
          </a:ln>
        </p:spPr>
        <p:txBody>
          <a:bodyPr wrap="square" lIns="0" tIns="0" rIns="0" bIns="0" anchor="t">
            <a:noAutofit/>
          </a:bodyPr>
          <a:lstStyle/>
          <a:p>
            <a:pPr marL="0" indent="0" algn="l">
              <a:lnSpc>
                <a:spcPct val="132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증명 덕분에 안쪽 반복은 상수 횟수로 끝난다.</a:t>
            </a:r>
            <a:endParaRPr sz="1080"/>
          </a:p>
        </p:txBody>
      </p:sp>
      <p:sp>
        <p:nvSpPr>
          <p:cNvPr id="30" name="직사각형 29">
            <a:extLst>
              <a:ext uri="{FF2B5EF4-FFF2-40B4-BE49-F238E27FC236}">
                <a16:creationId xmlns:a16="http://schemas.microsoft.com/office/drawing/2014/main" id="{139FC754-C4B4-408F-91D0-AACD31E44A56}"/>
              </a:ext>
            </a:extLst>
          </p:cNvPr>
          <p:cNvSpPr>
            <a:spLocks noGrp="1"/>
          </p:cNvSpPr>
          <p:nvPr/>
        </p:nvSpPr>
        <p:spPr>
          <a:xfrm>
            <a:off x="8001000" y="1783080"/>
            <a:ext cx="3529584"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C1AEBA7F-4F2F-49E0-B51C-B0791B244599}"/>
              </a:ext>
            </a:extLst>
          </p:cNvPr>
          <p:cNvSpPr>
            <a:spLocks noGrp="1"/>
          </p:cNvSpPr>
          <p:nvPr/>
        </p:nvSpPr>
        <p:spPr>
          <a:xfrm>
            <a:off x="8001000" y="3529584"/>
            <a:ext cx="35295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0D30068D-904E-4AA0-BDFD-461A51EDDAA7}"/>
              </a:ext>
            </a:extLst>
          </p:cNvPr>
          <p:cNvSpPr>
            <a:spLocks noGrp="1"/>
          </p:cNvSpPr>
          <p:nvPr/>
        </p:nvSpPr>
        <p:spPr>
          <a:xfrm>
            <a:off x="8001000" y="4956048"/>
            <a:ext cx="3529584"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61F3B303-56B4-4ED9-85AD-271459510375}"/>
              </a:ext>
            </a:extLst>
          </p:cNvPr>
          <p:cNvSpPr>
            <a:spLocks noGrp="1"/>
          </p:cNvSpPr>
          <p:nvPr/>
        </p:nvSpPr>
        <p:spPr>
          <a:xfrm>
            <a:off x="698373" y="2090928"/>
            <a:ext cx="71528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def ClosestPair(P):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len(P) &lt;= 3:</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ClosestPairBruteForce(P)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 = len(P) // 2</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Q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 = P[mid:]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d_left  = ClosestPair(Q)</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d_right = ClosestPair(R)</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min(d_left, d_right)</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mid_x = P[mid].x</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 = [p for p in P if abs(p.x - mid_x)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strip.sort(key=lambda p: p.y)</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i in range(len(strip)):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for j in range(i + 1, min(i + 8, len(strip))):</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if distance(strip[i], strip[j]) &lt; d:</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d = distance(strip[i], strip[j])</a:t>
            </a:r>
          </a:p>
          <a:p>
            <a:pPr algn="l">
              <a:lnSpc>
                <a:spcPct val="103000"/>
              </a:lnSpc>
              <a:buNone/>
              <a:defRPr sz="1275" b="0" i="0">
                <a:solidFill>
                  <a:srgbClr val="FFFFFF"/>
                </a:solidFill>
                <a:latin typeface="Consolas"/>
                <a:ea typeface="Consolas"/>
                <a:cs typeface="Consolas"/>
              </a:defRPr>
            </a:pPr>
            <a:r>
              <a:rPr sz="1275" b="0" i="0">
                <a:solidFill>
                  <a:srgbClr val="FFFFFF"/>
                </a:solidFill>
                <a:latin typeface="Consolas"/>
                <a:ea typeface="Consolas"/>
                <a:cs typeface="Consolas"/>
              </a:rPr>
              <a:t>    return d</a:t>
            </a:r>
          </a:p>
        </p:txBody>
      </p:sp>
      <p:sp>
        <p:nvSpPr>
          <p:cNvPr id="34" name="직사각형 33">
            <a:extLst>
              <a:ext uri="{FF2B5EF4-FFF2-40B4-BE49-F238E27FC236}">
                <a16:creationId xmlns:a16="http://schemas.microsoft.com/office/drawing/2014/main" id="{055F0052-780F-4F9E-88ED-0FD36DBABC8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46586C7C-32D2-4D64-B99B-AB1E5EBCBB57}"/>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B3C752BA-69C4-4D2C-A267-CA05846F20E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분할 정복 본체</a:t>
            </a:r>
          </a:p>
        </p:txBody>
      </p:sp>
      <p:sp>
        <p:nvSpPr>
          <p:cNvPr id="37" name="직사각형 36">
            <a:extLst>
              <a:ext uri="{FF2B5EF4-FFF2-40B4-BE49-F238E27FC236}">
                <a16:creationId xmlns:a16="http://schemas.microsoft.com/office/drawing/2014/main" id="{3206930D-544D-4780-BCF0-5491AEC33D6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A359A2C1-20A5-44B0-AE4C-FB974A0B2D1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E8667E0-42DC-44EB-A631-E933DC08375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52FDFE35-2551-4E3D-8001-B52AD2E80DD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73287689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A5D01C4E-0069-4FC4-B554-FF06B65DBDB9}"/>
              </a:ext>
            </a:extLst>
          </p:cNvPr>
          <p:cNvSpPr>
            <a:spLocks noGrp="1"/>
          </p:cNvSpPr>
          <p:nvPr/>
        </p:nvSpPr>
        <p:spPr>
          <a:xfrm>
            <a:off x="859536" y="1801368"/>
            <a:ext cx="594360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15" name="Text 12">
            <a:extLst>
              <a:ext uri="{FF2B5EF4-FFF2-40B4-BE49-F238E27FC236}">
                <a16:creationId xmlns:a16="http://schemas.microsoft.com/office/drawing/2014/main" id="{B838829E-4C73-4DC4-8688-BAAF3BFFFC94}"/>
              </a:ext>
            </a:extLst>
          </p:cNvPr>
          <p:cNvSpPr>
            <a:spLocks noGrp="1"/>
          </p:cNvSpPr>
          <p:nvPr/>
        </p:nvSpPr>
        <p:spPr>
          <a:xfrm>
            <a:off x="877824" y="4224528"/>
            <a:ext cx="274320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16" name="Text 13">
            <a:extLst>
              <a:ext uri="{FF2B5EF4-FFF2-40B4-BE49-F238E27FC236}">
                <a16:creationId xmlns:a16="http://schemas.microsoft.com/office/drawing/2014/main" id="{2CEA1EF1-479B-4EAB-89BA-3F602C26858A}"/>
              </a:ext>
            </a:extLst>
          </p:cNvPr>
          <p:cNvSpPr>
            <a:spLocks noGrp="1"/>
          </p:cNvSpPr>
          <p:nvPr/>
        </p:nvSpPr>
        <p:spPr>
          <a:xfrm>
            <a:off x="877824" y="4535424"/>
            <a:ext cx="5852160" cy="548640"/>
          </a:xfrm>
          <a:prstGeom prst="rect">
            <a:avLst/>
          </a:prstGeom>
          <a:noFill/>
          <a:ln w="0">
            <a:noFill/>
          </a:ln>
        </p:spPr>
        <p:txBody>
          <a:bodyPr wrap="square" lIns="0" tIns="0" rIns="0" bIns="0" anchor="t">
            <a:noAutofit/>
          </a:bodyPr>
          <a:lstStyle/>
          <a:p>
            <a:pPr marL="0" indent="0" algn="l">
              <a:buNone/>
              <a:defRPr sz="1500" i="0">
                <a:solidFill>
                  <a:srgbClr val="171717"/>
                </a:solidFill>
                <a:latin typeface="Consolas"/>
                <a:ea typeface="Consolas"/>
                <a:cs typeface="Consolas"/>
              </a:defRPr>
            </a:pPr>
            <a:r>
              <a:rPr sz="1500" i="0">
                <a:solidFill>
                  <a:srgbClr val="171717"/>
                </a:solidFill>
                <a:latin typeface="Consolas"/>
                <a:ea typeface="Consolas"/>
                <a:cs typeface="Consolas"/>
              </a:rPr>
              <a:t>가장 가까운 두 점 사이의 거리: 1.4142135623730951</a:t>
            </a:r>
            <a:endParaRPr sz="1000"/>
          </a:p>
        </p:txBody>
      </p:sp>
      <p:sp>
        <p:nvSpPr>
          <p:cNvPr id="20" name="Text 16">
            <a:extLst>
              <a:ext uri="{FF2B5EF4-FFF2-40B4-BE49-F238E27FC236}">
                <a16:creationId xmlns:a16="http://schemas.microsoft.com/office/drawing/2014/main" id="{949FD166-88F6-4569-9E5C-A6C7304F7E64}"/>
              </a:ext>
            </a:extLst>
          </p:cNvPr>
          <p:cNvSpPr>
            <a:spLocks noGrp="1"/>
          </p:cNvSpPr>
          <p:nvPr/>
        </p:nvSpPr>
        <p:spPr>
          <a:xfrm>
            <a:off x="1517904" y="5632704"/>
            <a:ext cx="5193792" cy="365760"/>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(2, 3)과 (3, 4) 사이의 거리 √2 ≈ 1.414 가 정답이다.</a:t>
            </a:r>
            <a:endParaRPr sz="1200"/>
          </a:p>
        </p:txBody>
      </p:sp>
      <p:sp>
        <p:nvSpPr>
          <p:cNvPr id="24" name="Text 19">
            <a:extLst>
              <a:ext uri="{FF2B5EF4-FFF2-40B4-BE49-F238E27FC236}">
                <a16:creationId xmlns:a16="http://schemas.microsoft.com/office/drawing/2014/main" id="{36AC1859-EB43-46A7-94FF-15CA060BB80D}"/>
              </a:ext>
            </a:extLst>
          </p:cNvPr>
          <p:cNvSpPr>
            <a:spLocks noGrp="1"/>
          </p:cNvSpPr>
          <p:nvPr/>
        </p:nvSpPr>
        <p:spPr>
          <a:xfrm>
            <a:off x="7461504" y="178308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분할</a:t>
            </a:r>
            <a:endParaRPr sz="1250"/>
          </a:p>
        </p:txBody>
      </p:sp>
      <p:sp>
        <p:nvSpPr>
          <p:cNvPr id="25" name="Text 20">
            <a:extLst>
              <a:ext uri="{FF2B5EF4-FFF2-40B4-BE49-F238E27FC236}">
                <a16:creationId xmlns:a16="http://schemas.microsoft.com/office/drawing/2014/main" id="{88A12D14-A190-4203-B7B8-33C5C9BBC010}"/>
              </a:ext>
            </a:extLst>
          </p:cNvPr>
          <p:cNvSpPr>
            <a:spLocks noGrp="1"/>
          </p:cNvSpPr>
          <p:nvPr/>
        </p:nvSpPr>
        <p:spPr>
          <a:xfrm>
            <a:off x="8138160" y="178308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x좌표 기준으로 절반</a:t>
            </a:r>
            <a:endParaRPr sz="1050"/>
          </a:p>
        </p:txBody>
      </p:sp>
      <p:sp>
        <p:nvSpPr>
          <p:cNvPr id="26" name="Text 21">
            <a:extLst>
              <a:ext uri="{FF2B5EF4-FFF2-40B4-BE49-F238E27FC236}">
                <a16:creationId xmlns:a16="http://schemas.microsoft.com/office/drawing/2014/main" id="{012A0570-3568-497A-93C4-09CB7FF7BDC5}"/>
              </a:ext>
            </a:extLst>
          </p:cNvPr>
          <p:cNvSpPr>
            <a:spLocks noGrp="1"/>
          </p:cNvSpPr>
          <p:nvPr/>
        </p:nvSpPr>
        <p:spPr>
          <a:xfrm>
            <a:off x="10287000" y="178308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a:t>
            </a:r>
            <a:endParaRPr sz="1100"/>
          </a:p>
        </p:txBody>
      </p:sp>
      <p:sp>
        <p:nvSpPr>
          <p:cNvPr id="30" name="Text 24">
            <a:extLst>
              <a:ext uri="{FF2B5EF4-FFF2-40B4-BE49-F238E27FC236}">
                <a16:creationId xmlns:a16="http://schemas.microsoft.com/office/drawing/2014/main" id="{E60C767F-5944-40EC-98ED-DFC621F7FE3A}"/>
              </a:ext>
            </a:extLst>
          </p:cNvPr>
          <p:cNvSpPr>
            <a:spLocks noGrp="1"/>
          </p:cNvSpPr>
          <p:nvPr/>
        </p:nvSpPr>
        <p:spPr>
          <a:xfrm>
            <a:off x="7461504" y="260604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정복</a:t>
            </a:r>
            <a:endParaRPr sz="1250"/>
          </a:p>
        </p:txBody>
      </p:sp>
      <p:sp>
        <p:nvSpPr>
          <p:cNvPr id="31" name="Text 25">
            <a:extLst>
              <a:ext uri="{FF2B5EF4-FFF2-40B4-BE49-F238E27FC236}">
                <a16:creationId xmlns:a16="http://schemas.microsoft.com/office/drawing/2014/main" id="{D85BED6D-86CD-4B5D-92DF-3CF28DD0E3AA}"/>
              </a:ext>
            </a:extLst>
          </p:cNvPr>
          <p:cNvSpPr>
            <a:spLocks noGrp="1"/>
          </p:cNvSpPr>
          <p:nvPr/>
        </p:nvSpPr>
        <p:spPr>
          <a:xfrm>
            <a:off x="8138160" y="260604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두 개의 절반 문제 재귀</a:t>
            </a:r>
            <a:endParaRPr sz="1050"/>
          </a:p>
        </p:txBody>
      </p:sp>
      <p:sp>
        <p:nvSpPr>
          <p:cNvPr id="32" name="Text 26">
            <a:extLst>
              <a:ext uri="{FF2B5EF4-FFF2-40B4-BE49-F238E27FC236}">
                <a16:creationId xmlns:a16="http://schemas.microsoft.com/office/drawing/2014/main" id="{DE953FB0-6826-4166-AE84-8B802701B472}"/>
              </a:ext>
            </a:extLst>
          </p:cNvPr>
          <p:cNvSpPr>
            <a:spLocks noGrp="1"/>
          </p:cNvSpPr>
          <p:nvPr/>
        </p:nvSpPr>
        <p:spPr>
          <a:xfrm>
            <a:off x="10287000" y="260604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2T(n/2)</a:t>
            </a:r>
            <a:endParaRPr sz="1100"/>
          </a:p>
        </p:txBody>
      </p:sp>
      <p:sp>
        <p:nvSpPr>
          <p:cNvPr id="36" name="Text 29">
            <a:extLst>
              <a:ext uri="{FF2B5EF4-FFF2-40B4-BE49-F238E27FC236}">
                <a16:creationId xmlns:a16="http://schemas.microsoft.com/office/drawing/2014/main" id="{212F6845-AC12-4E10-905B-F83D424DC855}"/>
              </a:ext>
            </a:extLst>
          </p:cNvPr>
          <p:cNvSpPr>
            <a:spLocks noGrp="1"/>
          </p:cNvSpPr>
          <p:nvPr/>
        </p:nvSpPr>
        <p:spPr>
          <a:xfrm>
            <a:off x="7461504" y="3429000"/>
            <a:ext cx="685800" cy="694944"/>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결합</a:t>
            </a:r>
            <a:endParaRPr sz="1250"/>
          </a:p>
        </p:txBody>
      </p:sp>
      <p:sp>
        <p:nvSpPr>
          <p:cNvPr id="37" name="Text 30">
            <a:extLst>
              <a:ext uri="{FF2B5EF4-FFF2-40B4-BE49-F238E27FC236}">
                <a16:creationId xmlns:a16="http://schemas.microsoft.com/office/drawing/2014/main" id="{8778BAC9-612C-47EA-A940-ED7067294C37}"/>
              </a:ext>
            </a:extLst>
          </p:cNvPr>
          <p:cNvSpPr>
            <a:spLocks noGrp="1"/>
          </p:cNvSpPr>
          <p:nvPr/>
        </p:nvSpPr>
        <p:spPr>
          <a:xfrm>
            <a:off x="8138160" y="3429000"/>
            <a:ext cx="2148840" cy="694944"/>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strip 정렬 + 상수 회 비교</a:t>
            </a:r>
            <a:endParaRPr sz="1050"/>
          </a:p>
        </p:txBody>
      </p:sp>
      <p:sp>
        <p:nvSpPr>
          <p:cNvPr id="38" name="Text 31">
            <a:extLst>
              <a:ext uri="{FF2B5EF4-FFF2-40B4-BE49-F238E27FC236}">
                <a16:creationId xmlns:a16="http://schemas.microsoft.com/office/drawing/2014/main" id="{7448E372-B42D-4128-A388-4553948B9095}"/>
              </a:ext>
            </a:extLst>
          </p:cNvPr>
          <p:cNvSpPr>
            <a:spLocks noGrp="1"/>
          </p:cNvSpPr>
          <p:nvPr/>
        </p:nvSpPr>
        <p:spPr>
          <a:xfrm>
            <a:off x="10287000" y="3429000"/>
            <a:ext cx="1097280" cy="694944"/>
          </a:xfrm>
          <a:prstGeom prst="rect">
            <a:avLst/>
          </a:prstGeom>
          <a:noFill/>
          <a:ln w="0">
            <a:noFill/>
          </a:ln>
        </p:spPr>
        <p:txBody>
          <a:bodyPr wrap="square" lIns="0" tIns="0" rIns="0" bIns="0" anchor="ctr">
            <a:noAutofit/>
          </a:bodyPr>
          <a:lstStyle/>
          <a:p>
            <a:pPr marL="0" indent="0" algn="r">
              <a:buNone/>
              <a:defRPr sz="1100" i="0">
                <a:solidFill>
                  <a:srgbClr val="171717"/>
                </a:solidFill>
                <a:latin typeface="Consolas"/>
                <a:ea typeface="Consolas"/>
                <a:cs typeface="Consolas"/>
              </a:defRPr>
            </a:pPr>
            <a:r>
              <a:rPr sz="1100" b="1" i="0">
                <a:solidFill>
                  <a:srgbClr val="171717"/>
                </a:solidFill>
                <a:latin typeface="Consolas"/>
                <a:ea typeface="Consolas"/>
                <a:cs typeface="Consolas"/>
              </a:rPr>
              <a:t>O(n log n)</a:t>
            </a:r>
            <a:endParaRPr sz="1100"/>
          </a:p>
        </p:txBody>
      </p:sp>
      <p:sp>
        <p:nvSpPr>
          <p:cNvPr id="40" name="Text 33">
            <a:extLst>
              <a:ext uri="{FF2B5EF4-FFF2-40B4-BE49-F238E27FC236}">
                <a16:creationId xmlns:a16="http://schemas.microsoft.com/office/drawing/2014/main" id="{D3ADBF62-25CD-4BC4-95FD-55CD50EC66A6}"/>
              </a:ext>
            </a:extLst>
          </p:cNvPr>
          <p:cNvSpPr>
            <a:spLocks noGrp="1"/>
          </p:cNvSpPr>
          <p:nvPr/>
        </p:nvSpPr>
        <p:spPr>
          <a:xfrm>
            <a:off x="6967728" y="4526280"/>
            <a:ext cx="4379976" cy="548640"/>
          </a:xfrm>
          <a:prstGeom prst="rect">
            <a:avLst/>
          </a:prstGeom>
          <a:noFill/>
          <a:ln w="0">
            <a:noFill/>
          </a:ln>
        </p:spPr>
        <p:txBody>
          <a:bodyPr wrap="square" lIns="0" tIns="0" rIns="0" bIns="0" anchor="ctr">
            <a:noAutofit/>
          </a:bodyPr>
          <a:lstStyle/>
          <a:p>
            <a:pPr marL="0" indent="0" algn="ctr">
              <a:buNone/>
              <a:defRPr sz="1700" i="0">
                <a:solidFill>
                  <a:srgbClr val="171717"/>
                </a:solidFill>
                <a:latin typeface="Malgun Gothic"/>
                <a:ea typeface="Malgun Gothic"/>
                <a:cs typeface="Malgun Gothic"/>
              </a:defRPr>
            </a:pPr>
            <a:r>
              <a:rPr sz="1700" b="1" i="0">
                <a:solidFill>
                  <a:srgbClr val="171717"/>
                </a:solidFill>
                <a:latin typeface="Malgun Gothic"/>
                <a:ea typeface="Malgun Gothic"/>
                <a:cs typeface="Malgun Gothic"/>
              </a:rPr>
              <a:t>현재 코드: T(n) = 2T(n/2) + O(n log n)</a:t>
            </a:r>
            <a:endParaRPr sz="1700"/>
          </a:p>
        </p:txBody>
      </p:sp>
      <p:sp>
        <p:nvSpPr>
          <p:cNvPr id="41" name="Shape 34">
            <a:extLst>
              <a:ext uri="{FF2B5EF4-FFF2-40B4-BE49-F238E27FC236}">
                <a16:creationId xmlns:a16="http://schemas.microsoft.com/office/drawing/2014/main" id="{2FE052DD-D734-43C8-852E-2DA3D5BE8B8B}"/>
              </a:ext>
            </a:extLst>
          </p:cNvPr>
          <p:cNvSpPr>
            <a:spLocks noGrp="1"/>
          </p:cNvSpPr>
          <p:nvPr/>
        </p:nvSpPr>
        <p:spPr>
          <a:xfrm>
            <a:off x="8979408" y="5175504"/>
            <a:ext cx="365760" cy="237744"/>
          </a:xfrm>
          <a:prstGeom prst="rightArrow">
            <a:avLst/>
          </a:prstGeom>
          <a:solidFill>
            <a:srgbClr val="E9E9E9"/>
          </a:solidFill>
          <a:ln w="5715">
            <a:solidFill>
              <a:srgbClr val="D4D4D4"/>
            </a:solidFill>
          </a:ln>
        </p:spPr>
        <p:txBody>
          <a:bodyPr/>
          <a:lstStyle/>
          <a:p>
            <a:endParaRPr lang="ko-KR" altLang="en-US"/>
          </a:p>
        </p:txBody>
      </p:sp>
      <p:sp>
        <p:nvSpPr>
          <p:cNvPr id="42" name="Text 35">
            <a:extLst>
              <a:ext uri="{FF2B5EF4-FFF2-40B4-BE49-F238E27FC236}">
                <a16:creationId xmlns:a16="http://schemas.microsoft.com/office/drawing/2014/main" id="{FA4B5BC4-DEFB-4145-A6F6-B072A811C4BE}"/>
              </a:ext>
            </a:extLst>
          </p:cNvPr>
          <p:cNvSpPr>
            <a:spLocks noGrp="1"/>
          </p:cNvSpPr>
          <p:nvPr/>
        </p:nvSpPr>
        <p:spPr>
          <a:xfrm>
            <a:off x="6967728" y="5468112"/>
            <a:ext cx="4379976" cy="566928"/>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O(n log² n)</a:t>
            </a:r>
            <a:endParaRPr sz="2400"/>
          </a:p>
        </p:txBody>
      </p:sp>
      <p:sp>
        <p:nvSpPr>
          <p:cNvPr id="44" name="직사각형 43">
            <a:extLst>
              <a:ext uri="{FF2B5EF4-FFF2-40B4-BE49-F238E27FC236}">
                <a16:creationId xmlns:a16="http://schemas.microsoft.com/office/drawing/2014/main" id="{8B684191-950E-4EF5-938B-057242115D21}"/>
              </a:ext>
            </a:extLst>
          </p:cNvPr>
          <p:cNvSpPr>
            <a:spLocks noGrp="1"/>
          </p:cNvSpPr>
          <p:nvPr/>
        </p:nvSpPr>
        <p:spPr>
          <a:xfrm>
            <a:off x="658368" y="5468112"/>
            <a:ext cx="6309360" cy="9525"/>
          </a:xfrm>
          <a:prstGeom prst="rect">
            <a:avLst/>
          </a:prstGeom>
          <a:solidFill>
            <a:srgbClr val="D4D4D4"/>
          </a:solidFill>
          <a:ln w="0">
            <a:noFill/>
          </a:ln>
        </p:spPr>
        <p:txBody>
          <a:bodyPr/>
          <a:lstStyle/>
          <a:p>
            <a:endParaRPr lang="ko-KR" altLang="en-US"/>
          </a:p>
        </p:txBody>
      </p:sp>
      <p:sp>
        <p:nvSpPr>
          <p:cNvPr id="45" name="직사각형 44">
            <a:extLst>
              <a:ext uri="{FF2B5EF4-FFF2-40B4-BE49-F238E27FC236}">
                <a16:creationId xmlns:a16="http://schemas.microsoft.com/office/drawing/2014/main" id="{BB1D226F-F259-4BAA-AEF1-37A348B70093}"/>
              </a:ext>
            </a:extLst>
          </p:cNvPr>
          <p:cNvSpPr>
            <a:spLocks noGrp="1"/>
          </p:cNvSpPr>
          <p:nvPr/>
        </p:nvSpPr>
        <p:spPr>
          <a:xfrm>
            <a:off x="698373" y="2090928"/>
            <a:ext cx="6284214" cy="1808988"/>
          </a:xfrm>
          <a:prstGeom prst="rect">
            <a:avLst/>
          </a:prstGeom>
          <a:solidFill>
            <a:srgbClr val="171717"/>
          </a:solidFill>
          <a:ln w="0">
            <a:noFill/>
          </a:ln>
        </p:spPr>
        <p:txBody>
          <a:bodyPr wrap="none" lIns="142875" tIns="76200" rIns="142875" bIns="76200" anchor="t">
            <a:noAutofit/>
          </a:bodyPr>
          <a:lstStyle/>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points = [</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Point(2, 3), Point(3, 4), Point(5, 1),</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    Point(12, 10), Point(12, 30), Point(40, 50)</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 = sorted(points, key=lambda p: </a:t>
            </a:r>
            <a:r>
              <a:rPr sz="1275" b="0" i="0" dirty="0" err="1">
                <a:solidFill>
                  <a:srgbClr val="FFFFFF"/>
                </a:solidFill>
                <a:latin typeface="Consolas"/>
                <a:ea typeface="Consolas"/>
                <a:cs typeface="Consolas"/>
              </a:rPr>
              <a:t>p.x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result = </a:t>
            </a:r>
            <a:r>
              <a:rPr sz="1275" b="0" i="0" dirty="0" err="1">
                <a:solidFill>
                  <a:srgbClr val="FFFFFF"/>
                </a:solidFill>
                <a:latin typeface="Consolas"/>
                <a:ea typeface="Consolas"/>
                <a:cs typeface="Consolas"/>
              </a:rPr>
              <a:t>ClosestPair</a:t>
            </a:r>
            <a:r>
              <a:rPr sz="1275" b="0" i="0" dirty="0">
                <a:solidFill>
                  <a:srgbClr val="FFFFFF"/>
                </a:solidFill>
                <a:latin typeface="Consolas"/>
                <a:ea typeface="Consolas"/>
                <a:cs typeface="Consolas"/>
              </a:rPr>
              <a:t>(</a:t>
            </a:r>
            <a:r>
              <a:rPr sz="1275" b="0" i="0" dirty="0" err="1">
                <a:solidFill>
                  <a:srgbClr val="FFFFFF"/>
                </a:solidFill>
                <a:latin typeface="Consolas"/>
                <a:ea typeface="Consolas"/>
                <a:cs typeface="Consolas"/>
              </a:rPr>
              <a:t>points_sorted_by_x</a:t>
            </a:r>
            <a:r>
              <a:rPr sz="1275" b="0" i="0" dirty="0">
                <a:solidFill>
                  <a:srgbClr val="FFFFFF"/>
                </a:solidFill>
                <a:latin typeface="Consolas"/>
                <a:ea typeface="Consolas"/>
                <a:cs typeface="Consolas"/>
              </a:rPr>
              <a:t>)</a:t>
            </a:r>
          </a:p>
          <a:p>
            <a:pPr algn="l">
              <a:lnSpc>
                <a:spcPct val="103000"/>
              </a:lnSpc>
              <a:buNone/>
              <a:defRPr sz="1275" b="0" i="0">
                <a:solidFill>
                  <a:srgbClr val="FFFFFF"/>
                </a:solidFill>
                <a:latin typeface="Consolas"/>
                <a:ea typeface="Consolas"/>
                <a:cs typeface="Consolas"/>
              </a:defRPr>
            </a:pPr>
            <a:r>
              <a:rPr sz="1275" b="0" i="0" dirty="0">
                <a:solidFill>
                  <a:srgbClr val="FFFFFF"/>
                </a:solidFill>
                <a:latin typeface="Consolas"/>
                <a:ea typeface="Consolas"/>
                <a:cs typeface="Consolas"/>
              </a:rPr>
              <a:t>print("</a:t>
            </a:r>
            <a:r>
              <a:rPr sz="1275" b="0" i="0" dirty="0" err="1">
                <a:solidFill>
                  <a:srgbClr val="FFFFFF"/>
                </a:solidFill>
                <a:latin typeface="Consolas"/>
                <a:ea typeface="Consolas"/>
                <a:cs typeface="Consolas"/>
              </a:rPr>
              <a:t>가장</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가까운</a:t>
            </a:r>
            <a:r>
              <a:rPr sz="1275" b="0" i="0" dirty="0">
                <a:solidFill>
                  <a:srgbClr val="FFFFFF"/>
                </a:solidFill>
                <a:latin typeface="Consolas"/>
                <a:ea typeface="Consolas"/>
                <a:cs typeface="Consolas"/>
              </a:rPr>
              <a:t> 두 점 </a:t>
            </a:r>
            <a:r>
              <a:rPr sz="1275" b="0" i="0" dirty="0" err="1">
                <a:solidFill>
                  <a:srgbClr val="FFFFFF"/>
                </a:solidFill>
                <a:latin typeface="Consolas"/>
                <a:ea typeface="Consolas"/>
                <a:cs typeface="Consolas"/>
              </a:rPr>
              <a:t>사이의</a:t>
            </a:r>
            <a:r>
              <a:rPr sz="1275" b="0" i="0" dirty="0">
                <a:solidFill>
                  <a:srgbClr val="FFFFFF"/>
                </a:solidFill>
                <a:latin typeface="Consolas"/>
                <a:ea typeface="Consolas"/>
                <a:cs typeface="Consolas"/>
              </a:rPr>
              <a:t> </a:t>
            </a:r>
            <a:r>
              <a:rPr sz="1275" b="0" i="0" dirty="0" err="1">
                <a:solidFill>
                  <a:srgbClr val="FFFFFF"/>
                </a:solidFill>
                <a:latin typeface="Consolas"/>
                <a:ea typeface="Consolas"/>
                <a:cs typeface="Consolas"/>
              </a:rPr>
              <a:t>거리</a:t>
            </a:r>
            <a:r>
              <a:rPr sz="1275" b="0" i="0" dirty="0">
                <a:solidFill>
                  <a:srgbClr val="FFFFFF"/>
                </a:solidFill>
                <a:latin typeface="Consolas"/>
                <a:ea typeface="Consolas"/>
                <a:cs typeface="Consolas"/>
              </a:rPr>
              <a:t>:", result)</a:t>
            </a:r>
          </a:p>
        </p:txBody>
      </p:sp>
      <p:sp>
        <p:nvSpPr>
          <p:cNvPr id="46" name="직사각형 45">
            <a:extLst>
              <a:ext uri="{FF2B5EF4-FFF2-40B4-BE49-F238E27FC236}">
                <a16:creationId xmlns:a16="http://schemas.microsoft.com/office/drawing/2014/main" id="{CA235A2B-A28E-4F59-8999-D9353718EC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최근접 쌍 문제</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5E8532CD-B3A5-4E9C-B416-945AA30DDB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3C9AE5B7-C77A-464E-A5BA-6471A4CAB93D}"/>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실행 결과와 시간 복잡도</a:t>
            </a:r>
          </a:p>
        </p:txBody>
      </p:sp>
      <p:sp>
        <p:nvSpPr>
          <p:cNvPr id="49" name="직사각형 48">
            <a:extLst>
              <a:ext uri="{FF2B5EF4-FFF2-40B4-BE49-F238E27FC236}">
                <a16:creationId xmlns:a16="http://schemas.microsoft.com/office/drawing/2014/main" id="{E1744152-EB9C-47B1-AD0A-30DB8F7E6A87}"/>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477387B5-D207-41D0-90DB-A8AB26BC8B14}"/>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E15DAA9F-E947-42ED-8DA7-C4D245CBD56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8773774B-4417-42D7-A645-50F2415C914C}"/>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1652764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쿼드 트리</a:t>
            </a: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2차원 공간을 재귀적으로 4등분하는 자료 구조</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이미지 압축부터 게임 충돌 감지까지</a:t>
            </a: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168</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a:t>
            </a:r>
            <a:r>
              <a:rPr sz="1500" i="0" dirty="0">
                <a:solidFill>
                  <a:srgbClr val="606060"/>
                </a:solidFill>
                <a:latin typeface="Malgun Gothic"/>
                <a:ea typeface="Malgun Gothic"/>
                <a:cs typeface="Malgun Gothic"/>
              </a:rPr>
              <a:t>(quadtree)는 2차원 </a:t>
            </a:r>
            <a:r>
              <a:rPr sz="1500" i="0" dirty="0" err="1">
                <a:solidFill>
                  <a:srgbClr val="606060"/>
                </a:solidFill>
                <a:latin typeface="Malgun Gothic"/>
                <a:ea typeface="Malgun Gothic"/>
                <a:cs typeface="Malgun Gothic"/>
              </a:rPr>
              <a:t>공간을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재귀적으로</a:t>
            </a:r>
            <a:r>
              <a:rPr sz="1500" i="0" dirty="0">
                <a:solidFill>
                  <a:srgbClr val="606060"/>
                </a:solidFill>
                <a:latin typeface="Malgun Gothic"/>
                <a:ea typeface="Malgun Gothic"/>
                <a:cs typeface="Malgun Gothic"/>
              </a:rPr>
              <a:t> 4개의 </a:t>
            </a:r>
            <a:r>
              <a:rPr sz="1500" i="0" dirty="0" err="1">
                <a:solidFill>
                  <a:srgbClr val="606060"/>
                </a:solidFill>
                <a:latin typeface="Malgun Gothic"/>
                <a:ea typeface="Malgun Gothic"/>
                <a:cs typeface="Malgun Gothic"/>
              </a:rPr>
              <a:t>구역</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사분면</a:t>
            </a:r>
            <a:r>
              <a:rPr sz="1500" i="0" dirty="0">
                <a:solidFill>
                  <a:srgbClr val="606060"/>
                </a:solidFill>
                <a:latin typeface="Malgun Gothic"/>
                <a:ea typeface="Malgun Gothic"/>
                <a:cs typeface="Malgun Gothic"/>
              </a:rPr>
              <a:t>)</a:t>
            </a:r>
            <a:r>
              <a:rPr sz="1500" i="0" dirty="0" err="1">
                <a:solidFill>
                  <a:srgbClr val="606060"/>
                </a:solidFill>
                <a:latin typeface="Malgun Gothic"/>
                <a:ea typeface="Malgun Gothic"/>
                <a:cs typeface="Malgun Gothic"/>
              </a:rPr>
              <a:t>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분할하여</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데이터를</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효율적으로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표현하는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자료</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구조다</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이진</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탐색</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범위를</a:t>
            </a:r>
            <a:r>
              <a:rPr sz="1500" i="0" dirty="0">
                <a:solidFill>
                  <a:srgbClr val="606060"/>
                </a:solidFill>
                <a:latin typeface="Malgun Gothic"/>
                <a:ea typeface="Malgun Gothic"/>
                <a:cs typeface="Malgun Gothic"/>
              </a:rPr>
              <a:t> 1/2씩 </a:t>
            </a:r>
            <a:r>
              <a:rPr sz="1500" i="0" dirty="0" err="1">
                <a:solidFill>
                  <a:srgbClr val="606060"/>
                </a:solidFill>
                <a:latin typeface="Malgun Gothic"/>
                <a:ea typeface="Malgun Gothic"/>
                <a:cs typeface="Malgun Gothic"/>
              </a:rPr>
              <a:t>줄여나갔다면</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쿼드</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트리는</a:t>
            </a:r>
            <a:r>
              <a:rPr sz="1500" i="0" dirty="0">
                <a:solidFill>
                  <a:srgbClr val="606060"/>
                </a:solidFill>
                <a:latin typeface="Malgun Gothic"/>
                <a:ea typeface="Malgun Gothic"/>
                <a:cs typeface="Malgun Gothic"/>
              </a:rPr>
              <a:t> </a:t>
            </a:r>
            <a:r>
              <a:rPr sz="1500" i="0" dirty="0" err="1">
                <a:solidFill>
                  <a:srgbClr val="606060"/>
                </a:solidFill>
                <a:latin typeface="Malgun Gothic"/>
                <a:ea typeface="Malgun Gothic"/>
                <a:cs typeface="Malgun Gothic"/>
              </a:rPr>
              <a:t>평면을</a:t>
            </a:r>
            <a:r>
              <a:rPr sz="1500" i="0" dirty="0">
                <a:solidFill>
                  <a:srgbClr val="606060"/>
                </a:solidFill>
                <a:latin typeface="Malgun Gothic"/>
                <a:ea typeface="Malgun Gothic"/>
                <a:cs typeface="Malgun Gothic"/>
              </a:rPr>
              <a:t> 1/4씩 </a:t>
            </a:r>
            <a:r>
              <a:rPr sz="1500" i="0" dirty="0" err="1">
                <a:solidFill>
                  <a:srgbClr val="606060"/>
                </a:solidFill>
                <a:latin typeface="Malgun Gothic"/>
                <a:ea typeface="Malgun Gothic"/>
                <a:cs typeface="Malgun Gothic"/>
              </a:rPr>
              <a:t>줄여나간다</a:t>
            </a:r>
            <a:r>
              <a:rPr sz="1500" i="0" dirty="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dirty="0">
                <a:solidFill>
                  <a:srgbClr val="171717"/>
                </a:solidFill>
                <a:latin typeface="Malgun Gothic"/>
                <a:ea typeface="Malgun Gothic"/>
                <a:cs typeface="Malgun Gothic"/>
              </a:rPr>
              <a:t>① </a:t>
            </a:r>
            <a:r>
              <a:rPr sz="1230" b="1" i="0" dirty="0" err="1">
                <a:solidFill>
                  <a:srgbClr val="171717"/>
                </a:solidFill>
                <a:latin typeface="Malgun Gothic"/>
                <a:ea typeface="Malgun Gothic"/>
                <a:cs typeface="Malgun Gothic"/>
              </a:rPr>
              <a:t>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sz="1500" i="0" dirty="0" err="1">
                <a:solidFill>
                  <a:srgbClr val="171717"/>
                </a:solidFill>
                <a:latin typeface="Malgun Gothic"/>
                <a:ea typeface="Malgun Gothic"/>
                <a:cs typeface="Malgun Gothic"/>
              </a:rPr>
              <a:t>전체</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영역을</a:t>
            </a:r>
            <a:r>
              <a:rPr sz="1500" i="0" dirty="0">
                <a:solidFill>
                  <a:srgbClr val="171717"/>
                </a:solidFill>
                <a:latin typeface="Malgun Gothic"/>
                <a:ea typeface="Malgun Gothic"/>
                <a:cs typeface="Malgun Gothic"/>
              </a:rPr>
              <a:t> </a:t>
            </a:r>
            <a:r>
              <a:rPr sz="1500" i="0" dirty="0" err="1">
                <a:solidFill>
                  <a:srgbClr val="171717"/>
                </a:solidFill>
                <a:latin typeface="Malgun Gothic"/>
                <a:ea typeface="Malgun Gothic"/>
                <a:cs typeface="Malgun Gothic"/>
              </a:rPr>
              <a:t>확인한다</a:t>
            </a:r>
            <a:r>
              <a:rPr sz="1500" i="0" dirty="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데이터가 '단일 속성'(모두 같은 색이거나 텅 비어 있음)이면 더 이상 나누지 않고 하나의 노드로 표현한다.</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'섞여 있다면' 영역을 정확히 4등분(좌상, 우상, 좌하, 우하)하여 각 부분에 대해 ①을 다시 수행한다.</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게임의 물리 엔진(충돌 처리), 포토샵 같은 이미지 소프트웨어(압축)의 핵심 원리다.</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트리의 기본 아이디어</a:t>
            </a: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169</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① 흑백 이미지 압축</a:t>
            </a: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170</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0과 1로 이루어진 영상에서 균일한 영역은 픽셀마다 저장할 필요가 없다.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검사: 현재 정사각형이 모두 같은 값인지 확인한다.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기저 사례: 모두 0이면 0, 모두 1이면 1을 기록하고 끝낸다.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분할: 값이 섞여 있으면 네 영역으로 나눈다.</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좌상 → 우상 → 좌하 → 우하 순서로 재귀 호출하고 결과를 괄호로 묶는다.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균일한 영역이 클수록 짧게 표현된다. 색이 복잡하게 섞이면 압축 효과는 줄어든다.</a:t>
            </a: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sz="1150" i="0">
                <a:solidFill>
                  <a:srgbClr val="606060"/>
                </a:solidFill>
                <a:latin typeface="Malgun Gothic"/>
                <a:ea typeface="Malgun Gothic"/>
                <a:cs typeface="Malgun Gothic"/>
              </a:rPr>
              <a:t>리프 노드는 균일한 영역을, 내부 노드는 4개의 자식으로 쪼개진 영역을 뜻한다. 트리의 깊이는 최대 log₂(size)이다.</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트리 깊이 ≤ 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CreateLeafNode(initialValue)</a:t>
            </a: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return root</a:t>
            </a: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쿼드 트리 알고리즘 (의사코드)</a:t>
            </a: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171</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sz="1150" i="0">
                <a:solidFill>
                  <a:srgbClr val="171717"/>
                </a:solidFill>
                <a:latin typeface="Malgun Gothic"/>
                <a:ea typeface="Malgun Gothic"/>
                <a:cs typeface="Malgun Gothic"/>
              </a:rPr>
              <a:t>픽셀 64개 → 문자 16개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result</a:t>
            </a: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print(quadtree_compress(0, 0, 8, example_image))</a:t>
            </a: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파이썬 구현 — 8×8 이미지 압축</a:t>
            </a: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172</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화면 속에는 수십 명의 캐릭터, 수백 발의 총알, 수천 개의 지형지물이 움직인다. 게임 엔진은 이 객체들이 서로 부딪혔는지 판별하는 충돌 감지(collision detection)를 매 프레임(약 0.016초)마다 수행해야 한다.</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무식한 접근 — 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i="0">
                <a:solidFill>
                  <a:srgbClr val="171717"/>
                </a:solidFill>
                <a:latin typeface="Malgun Gothic"/>
                <a:ea typeface="Malgun Gothic"/>
                <a:cs typeface="Malgun Gothic"/>
              </a:rPr>
              <a:t>객체 1,000개 → 매 프레임 약 50만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전체 맵을 4개의 사분면으로 나눈다. 한 구역에 오브젝트가 너무 많으면 그 구역을 다시 4개로 쪼갠다.</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모든 오브젝트는 자신의 위치에 따라 트리의 특정 노드(구역)에 등록된다.</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sz="920" i="0">
                <a:solidFill>
                  <a:srgbClr val="171717"/>
                </a:solidFill>
                <a:latin typeface="Malgun Gothic"/>
                <a:ea typeface="Malgun Gothic"/>
                <a:cs typeface="Malgun Gothic"/>
              </a:rPr>
              <a:t>현재 객체와 겹칠 수 있는 영역만 조회한다. 경계를 걸친 객체와 이웃 영역도 포함해 충돌 후보를 빠짐없이 검사한다.</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"서로 멀리 떨어져 있는 물체끼리는 충돌 검사를 할 필요가 없다"</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응용 ② 게임 개발과 충돌 감지</a:t>
            </a: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173</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쿼드 트리는 지형의 LOD(Level of Detail)를 관리하는 데 활용할 수 있다. 가까운 영역은 작은 격자로, 먼 영역은 큰 격자로 표현한다. 화면에 필요한 세밀함을 판단하는 로직과 함께 사용한다.</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성능의 혁신과 LOD (Level of Detail)</a:t>
            </a: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174</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sz="1200">
                <a:solidFill>
                  <a:srgbClr val="171717"/>
                </a:solidFill>
                <a:latin typeface="Malgun Gothic"/>
                <a:ea typeface="Malgun Gothic"/>
                <a:cs typeface="Malgun Gothic"/>
              </a:rPr>
              <a:t>점이 밀집된 영역을 더 세밀하게 분할</a:t>
            </a:r>
          </a:p>
        </p:txBody>
      </p:sp>
    </p:spTree>
    <p:extLst>
      <p:ext uri="{BB962C8B-B14F-4D97-AF65-F5344CB8AC3E}">
        <p14:creationId xmlns:p14="http://schemas.microsoft.com/office/powerpoint/2010/main" val="72880699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마스터 정리</a:t>
            </a: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 점화식을 재귀 트리 없이 즉시 푸는 강력한 도구</a:t>
            </a: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175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일정한 형태의 점화식을 푸는 정리</a:t>
            </a: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마스터 정리는 다음 형태의 점화식을 분석한다.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T(n) = a · T(n/b) + 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a: 재귀 호출의 개수</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독립적으로 풀어야 하는 하위 문제의 수이다.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n/b: 각 하위 문제의 크기</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한 단계마다 원래 크기의 1/b로 줄어든다.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f(n): 재귀 호출 밖에서 드는 비용</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분할, 결합 등 현재 단계의 추가 작업이다.</a:t>
            </a: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마스터 정리의 세 가지 경우</a:t>
            </a: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기준 지수 p = log_b a, ε &gt; 0으로 두고 비교한다.</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하위 문제의 비용이 지배 → T(n) = Θ(n^p)</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각 층의 비용이 비슷 → T(n) = Θ(n^p log 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현재 단계의 비용이 지배 → T(n) = Θ(f(n))</a:t>
            </a:r>
          </a:p>
          <a:p>
            <a:endParaRP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sz="1650">
                <a:solidFill>
                  <a:srgbClr val="171717"/>
                </a:solidFill>
                <a:latin typeface="Malgun Gothic"/>
                <a:ea typeface="Malgun Gothic"/>
                <a:cs typeface="Malgun Gothic"/>
              </a:rPr>
              <a:t>③은 a·f(n/b) ≤ c·f(n), c &lt; 1인 정규성 조건도 필요하다. 조건에 맞지 않으면 다른 분석을 사용한다.</a:t>
            </a: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이진 탐색은 한 번 호출할 때마다 문제의 크기가 절반이 되고, 절반 지점(mid)을 계산하는 나눗셈 1번이 필요하다.</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재귀 호출 1회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mid 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① 이진 탐색</a:t>
            </a: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a:t>
            </a:r>
            <a:r>
              <a:rPr sz="1300" i="0">
                <a:solidFill>
                  <a:srgbClr val="606060"/>
                </a:solidFill>
                <a:latin typeface="Malgun Gothic"/>
                <a:ea typeface="Malgun Gothic"/>
                <a:cs typeface="Malgun Gothic"/>
              </a:rPr>
              <a:t> 정렬은 문제를 2개의 부분 문제로 나누고, 각 부분 문제의 크기는 원본의 1/2이다. 나누고 합치는 데 걸리는 비용은 입력 크기 n에 비례한다.</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각 부분 문제 크기는 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병합 비용은 n에 비례 (c는 상수)</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f(n)과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f(n) = Θ(n)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sz="1350" b="1" i="0">
                <a:solidFill>
                  <a:srgbClr val="171717"/>
                </a:solidFill>
                <a:latin typeface="Malgun Gothic"/>
                <a:ea typeface="Malgun Gothic"/>
                <a:cs typeface="Malgun Gothic"/>
              </a:rPr>
              <a:t>Case 2 (둘이 같은 정도)</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4.7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적용 ② </a:t>
            </a:r>
            <a:r>
              <a:rPr lang="ko-KR" altLang="en-US" sz="3000" b="1" i="0">
                <a:solidFill>
                  <a:srgbClr val="171717"/>
                </a:solidFill>
                <a:latin typeface="Malgun Gothic"/>
                <a:ea typeface="Malgun Gothic"/>
                <a:cs typeface="Malgun Gothic"/>
              </a:rPr>
              <a:t>병합</a:t>
            </a:r>
            <a:r>
              <a:rPr sz="3000" b="1" i="0">
                <a:solidFill>
                  <a:srgbClr val="171717"/>
                </a:solidFill>
                <a:latin typeface="Malgun Gothic"/>
                <a:ea typeface="Malgun Gothic"/>
                <a:cs typeface="Malgun Gothic"/>
              </a:rPr>
              <a:t> 정렬</a:t>
            </a: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455352B-7A93-4170-A705-9281A1F08107}"/>
              </a:ext>
            </a:extLst>
          </p:cNvPr>
          <p:cNvSpPr>
            <a:spLocks noGrp="1"/>
          </p:cNvSpPr>
          <p:nvPr/>
        </p:nvSpPr>
        <p:spPr>
          <a:xfrm>
            <a:off x="609600" y="266700"/>
            <a:ext cx="8096250" cy="266700"/>
          </a:xfrm>
          <a:prstGeom prst="rect">
            <a:avLst/>
          </a:prstGeom>
          <a:noFill/>
          <a:ln w="0">
            <a:noFill/>
          </a:ln>
        </p:spPr>
        <p:txBody>
          <a:bodyPr wrap="none" lIns="0" tIns="0" rIns="0" bIns="0" anchor="t">
            <a:noAutofit/>
          </a:bodyPr>
          <a:lstStyle>
            <a:defPPr algn="l">
              <a:defRPr sz="1050" b="0">
                <a:solidFill>
                  <a:srgbClr val="555555"/>
                </a:solidFill>
                <a:latin typeface="Malgun Gothic"/>
                <a:ea typeface="Malgun Gothic"/>
                <a:cs typeface="Malgun Gothic"/>
              </a:defRPr>
            </a:defPPr>
          </a:lstStyle>
          <a:p>
            <a:pPr algn="l">
              <a:lnSpc>
                <a:spcPct val="110000"/>
              </a:lnSpc>
              <a:buNone/>
              <a:defRPr sz="1050" b="0">
                <a:solidFill>
                  <a:srgbClr val="555555"/>
                </a:solidFill>
                <a:latin typeface="Malgun Gothic"/>
                <a:ea typeface="Malgun Gothic"/>
                <a:cs typeface="Malgun Gothic"/>
              </a:defRPr>
            </a:pPr>
            <a:r>
              <a:rPr sz="1050" b="0">
                <a:solidFill>
                  <a:srgbClr val="555555"/>
                </a:solidFill>
                <a:latin typeface="Malgun Gothic"/>
                <a:ea typeface="Malgun Gothic"/>
                <a:cs typeface="Malgun Gothic"/>
              </a:rPr>
              <a:t>4.7  마스터 정리</a:t>
            </a:r>
          </a:p>
        </p:txBody>
      </p:sp>
      <p:sp>
        <p:nvSpPr>
          <p:cNvPr id="2" name="brand">
            <a:extLst>
              <a:ext uri="{FF2B5EF4-FFF2-40B4-BE49-F238E27FC236}">
                <a16:creationId xmlns:a16="http://schemas.microsoft.com/office/drawing/2014/main" id="{BFE893D5-AA4A-4219-802C-507256679A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555555"/>
                </a:solidFill>
                <a:latin typeface="Malgun Gothic"/>
                <a:ea typeface="Malgun Gothic"/>
                <a:cs typeface="Malgun Gothic"/>
              </a:defRPr>
            </a:defPPr>
          </a:lstStyle>
          <a:p>
            <a:pPr algn="l">
              <a:lnSpc>
                <a:spcPct val="110000"/>
              </a:lnSpc>
              <a:buNone/>
              <a:defRPr sz="900" b="0">
                <a:solidFill>
                  <a:srgbClr val="555555"/>
                </a:solidFill>
                <a:latin typeface="Malgun Gothic"/>
                <a:ea typeface="Malgun Gothic"/>
                <a:cs typeface="Malgun Gothic"/>
              </a:defRPr>
            </a:pPr>
            <a:r>
              <a:rPr sz="900" b="0">
                <a:solidFill>
                  <a:srgbClr val="55555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EA9B0E8-4911-4261-8200-1655A54F1A7F}"/>
              </a:ext>
            </a:extLst>
          </p:cNvPr>
          <p:cNvSpPr>
            <a:spLocks noGrp="1"/>
          </p:cNvSpPr>
          <p:nvPr/>
        </p:nvSpPr>
        <p:spPr>
          <a:xfrm>
            <a:off x="609600" y="685800"/>
            <a:ext cx="10972800" cy="685800"/>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0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한눈에 보는 점화식 정리</a:t>
            </a:r>
          </a:p>
        </p:txBody>
      </p:sp>
      <p:sp>
        <p:nvSpPr>
          <p:cNvPr id="4" name="footer">
            <a:extLst>
              <a:ext uri="{FF2B5EF4-FFF2-40B4-BE49-F238E27FC236}">
                <a16:creationId xmlns:a16="http://schemas.microsoft.com/office/drawing/2014/main" id="{1E16A389-F3E7-4ACD-BFFF-D692B421268C}"/>
              </a:ext>
            </a:extLst>
          </p:cNvPr>
          <p:cNvSpPr>
            <a:spLocks noGrp="1"/>
          </p:cNvSpPr>
          <p:nvPr/>
        </p:nvSpPr>
        <p:spPr>
          <a:xfrm>
            <a:off x="609600" y="6591300"/>
            <a:ext cx="9715500" cy="190500"/>
          </a:xfrm>
          <a:prstGeom prst="rect">
            <a:avLst/>
          </a:prstGeom>
          <a:noFill/>
          <a:ln w="0">
            <a:noFill/>
          </a:ln>
        </p:spPr>
        <p:txBody>
          <a:bodyPr wrap="none" lIns="0" tIns="0" rIns="0" bIns="0" anchor="t">
            <a:noAutofit/>
          </a:bodyPr>
          <a:lstStyle>
            <a:defPPr algn="l">
              <a:defRPr sz="900" b="0">
                <a:solidFill>
                  <a:srgbClr val="555555"/>
                </a:solidFill>
                <a:latin typeface="Consolas"/>
                <a:ea typeface="Consolas"/>
                <a:cs typeface="Consolas"/>
              </a:defRPr>
            </a:defPPr>
          </a:lstStyle>
          <a:p>
            <a:pPr algn="l">
              <a:lnSpc>
                <a:spcPct val="110000"/>
              </a:lnSpc>
              <a:buNone/>
              <a:defRPr sz="900" b="0">
                <a:solidFill>
                  <a:srgbClr val="555555"/>
                </a:solidFill>
                <a:latin typeface="Consolas"/>
                <a:ea typeface="Consolas"/>
                <a:cs typeface="Consolas"/>
              </a:defRPr>
            </a:pPr>
            <a:r>
              <a:rPr sz="900" b="0">
                <a:solidFill>
                  <a:srgbClr val="555555"/>
                </a:solidFill>
                <a:latin typeface="Consolas"/>
                <a:ea typeface="Consolas"/>
                <a:cs typeface="Consolas"/>
              </a:rPr>
              <a:t>04 / DIVIDE AND CONQUER</a:t>
            </a:r>
          </a:p>
        </p:txBody>
      </p:sp>
      <p:sp>
        <p:nvSpPr>
          <p:cNvPr id="5" name="page">
            <a:extLst>
              <a:ext uri="{FF2B5EF4-FFF2-40B4-BE49-F238E27FC236}">
                <a16:creationId xmlns:a16="http://schemas.microsoft.com/office/drawing/2014/main" id="{0EE50A65-4997-4BDF-8C9D-BA077308CC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0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180</a:t>
            </a:r>
            <a:endParaRPr sz="1050" b="0">
              <a:solidFill>
                <a:srgbClr val="151515"/>
              </a:solidFill>
              <a:latin typeface="Consolas"/>
              <a:ea typeface="Consolas"/>
              <a:cs typeface="Consolas"/>
            </a:endParaRPr>
          </a:p>
        </p:txBody>
      </p:sp>
      <p:sp>
        <p:nvSpPr>
          <p:cNvPr id="6" name="직사각형 5">
            <a:extLst>
              <a:ext uri="{FF2B5EF4-FFF2-40B4-BE49-F238E27FC236}">
                <a16:creationId xmlns:a16="http://schemas.microsoft.com/office/drawing/2014/main" id="{9EF53153-1A33-4566-8AA7-787E5BFDFE40}"/>
              </a:ext>
            </a:extLst>
          </p:cNvPr>
          <p:cNvSpPr>
            <a:spLocks noGrp="1"/>
          </p:cNvSpPr>
          <p:nvPr/>
        </p:nvSpPr>
        <p:spPr>
          <a:xfrm>
            <a:off x="609600" y="6438900"/>
            <a:ext cx="10972800" cy="9525"/>
          </a:xfrm>
          <a:prstGeom prst="rect">
            <a:avLst/>
          </a:prstGeom>
          <a:solidFill>
            <a:srgbClr val="CCCCCC"/>
          </a:solidFill>
          <a:ln w="0">
            <a:noFill/>
          </a:ln>
        </p:spPr>
        <p:txBody>
          <a:bodyPr/>
          <a:lstStyle/>
          <a:p>
            <a:endParaRPr lang="ko-KR" altLang="en-US"/>
          </a:p>
        </p:txBody>
      </p:sp>
      <p:sp>
        <p:nvSpPr>
          <p:cNvPr id="7" name="직사각형 6">
            <a:extLst>
              <a:ext uri="{FF2B5EF4-FFF2-40B4-BE49-F238E27FC236}">
                <a16:creationId xmlns:a16="http://schemas.microsoft.com/office/drawing/2014/main" id="{7355568C-10CB-495C-9D8C-083D19C90599}"/>
              </a:ext>
            </a:extLst>
          </p:cNvPr>
          <p:cNvSpPr>
            <a:spLocks noGrp="1"/>
          </p:cNvSpPr>
          <p:nvPr/>
        </p:nvSpPr>
        <p:spPr>
          <a:xfrm>
            <a:off x="609600" y="1381125"/>
            <a:ext cx="10972800" cy="19050"/>
          </a:xfrm>
          <a:prstGeom prst="rect">
            <a:avLst/>
          </a:prstGeom>
          <a:solidFill>
            <a:srgbClr val="151515"/>
          </a:solidFill>
          <a:ln w="0">
            <a:noFill/>
          </a:ln>
        </p:spPr>
        <p:txBody>
          <a:bodyPr/>
          <a:lstStyle/>
          <a:p>
            <a:endParaRPr lang="ko-KR" altLang="en-US"/>
          </a:p>
        </p:txBody>
      </p:sp>
      <p:sp>
        <p:nvSpPr>
          <p:cNvPr id="8" name="lead">
            <a:extLst>
              <a:ext uri="{FF2B5EF4-FFF2-40B4-BE49-F238E27FC236}">
                <a16:creationId xmlns:a16="http://schemas.microsoft.com/office/drawing/2014/main" id="{7CECDE99-3392-4469-9A88-D3AFBBBA5D37}"/>
              </a:ext>
            </a:extLst>
          </p:cNvPr>
          <p:cNvSpPr>
            <a:spLocks noGrp="1"/>
          </p:cNvSpPr>
          <p:nvPr/>
        </p:nvSpPr>
        <p:spPr>
          <a:xfrm>
            <a:off x="609600" y="1790700"/>
            <a:ext cx="10972800" cy="3429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재귀 호출 수, 부분 문제의 크기, 결합 비용을 함께 확인합니다.</a:t>
            </a:r>
          </a:p>
        </p:txBody>
      </p:sp>
      <p:graphicFrame>
        <p:nvGraphicFramePr>
          <p:cNvPr id="9" name="표 8">
            <a:extLst>
              <a:ext uri="{FF2B5EF4-FFF2-40B4-BE49-F238E27FC236}">
                <a16:creationId xmlns:a16="http://schemas.microsoft.com/office/drawing/2014/main" id="{F3FF71B1-809E-4C15-B66D-F581C67C22EC}"/>
              </a:ext>
            </a:extLst>
          </p:cNvPr>
          <p:cNvGraphicFramePr/>
          <p:nvPr/>
        </p:nvGraphicFramePr>
        <p:xfrm>
          <a:off x="609600" y="2381250"/>
          <a:ext cx="10972800" cy="2857500"/>
        </p:xfrm>
        <a:graphic>
          <a:graphicData uri="http://schemas.openxmlformats.org/drawingml/2006/table">
            <a:tbl>
              <a:tblPr/>
              <a:tblGrid>
                <a:gridCol w="217170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476250">
                  <a:extLst>
                    <a:ext uri="{9D8B030D-6E8A-4147-A177-3AD203B41FA5}">
                      <a16:colId xmlns:a16="http://schemas.microsoft.com/office/drawing/2014/main" val="20002"/>
                    </a:ext>
                  </a:extLst>
                </a:gridCol>
                <a:gridCol w="476250">
                  <a:extLst>
                    <a:ext uri="{9D8B030D-6E8A-4147-A177-3AD203B41FA5}">
                      <a16:colId xmlns:a16="http://schemas.microsoft.com/office/drawing/2014/main" val="20003"/>
                    </a:ext>
                  </a:extLst>
                </a:gridCol>
                <a:gridCol w="1238250">
                  <a:extLst>
                    <a:ext uri="{9D8B030D-6E8A-4147-A177-3AD203B41FA5}">
                      <a16:colId xmlns:a16="http://schemas.microsoft.com/office/drawing/2014/main" val="20004"/>
                    </a:ext>
                  </a:extLst>
                </a:gridCol>
                <a:gridCol w="1238250">
                  <a:extLst>
                    <a:ext uri="{9D8B030D-6E8A-4147-A177-3AD203B41FA5}">
                      <a16:colId xmlns:a16="http://schemas.microsoft.com/office/drawing/2014/main" val="20005"/>
                    </a:ext>
                  </a:extLst>
                </a:gridCol>
                <a:gridCol w="2228850">
                  <a:extLst>
                    <a:ext uri="{9D8B030D-6E8A-4147-A177-3AD203B41FA5}">
                      <a16:colId xmlns:a16="http://schemas.microsoft.com/office/drawing/2014/main" val="20006"/>
                    </a:ext>
                  </a:extLst>
                </a:gridCol>
              </a:tblGrid>
              <a:tr h="571500">
                <a:tc>
                  <a:txBody>
                    <a:bodyPr/>
                    <a:lstStyle/>
                    <a:p>
                      <a:pPr algn="l"/>
                      <a:r>
                        <a:rPr sz="1425" b="1">
                          <a:solidFill>
                            <a:srgbClr val="FFFFFF"/>
                          </a:solidFill>
                          <a:latin typeface="Malgun Gothic"/>
                          <a:ea typeface="Malgun Gothic"/>
                          <a:cs typeface="Malgun Gothic"/>
                        </a:rPr>
                        <a:t>알고리즘</a:t>
                      </a:r>
                    </a:p>
                  </a:txBody>
                  <a:tcPr anchor="ctr">
                    <a:solidFill>
                      <a:srgbClr val="151515"/>
                    </a:solidFill>
                  </a:tcPr>
                </a:tc>
                <a:tc>
                  <a:txBody>
                    <a:bodyPr/>
                    <a:lstStyle/>
                    <a:p>
                      <a:pPr algn="l"/>
                      <a:r>
                        <a:rPr sz="1425" b="1">
                          <a:solidFill>
                            <a:srgbClr val="FFFFFF"/>
                          </a:solidFill>
                          <a:latin typeface="Malgun Gothic"/>
                          <a:ea typeface="Malgun Gothic"/>
                          <a:cs typeface="Malgun Gothic"/>
                        </a:rPr>
                        <a:t>점화식</a:t>
                      </a:r>
                    </a:p>
                  </a:txBody>
                  <a:tcPr anchor="ctr">
                    <a:solidFill>
                      <a:srgbClr val="151515"/>
                    </a:solidFill>
                  </a:tcPr>
                </a:tc>
                <a:tc>
                  <a:txBody>
                    <a:bodyPr/>
                    <a:lstStyle/>
                    <a:p>
                      <a:pPr algn="ctr"/>
                      <a:r>
                        <a:rPr sz="1425" b="1">
                          <a:solidFill>
                            <a:srgbClr val="FFFFFF"/>
                          </a:solidFill>
                          <a:latin typeface="Malgun Gothic"/>
                          <a:ea typeface="Malgun Gothic"/>
                          <a:cs typeface="Malgun Gothic"/>
                        </a:rPr>
                        <a:t>a</a:t>
                      </a:r>
                    </a:p>
                  </a:txBody>
                  <a:tcPr anchor="ctr">
                    <a:solidFill>
                      <a:srgbClr val="151515"/>
                    </a:solidFill>
                  </a:tcPr>
                </a:tc>
                <a:tc>
                  <a:txBody>
                    <a:bodyPr/>
                    <a:lstStyle/>
                    <a:p>
                      <a:pPr algn="ctr"/>
                      <a:r>
                        <a:rPr sz="1425" b="1">
                          <a:solidFill>
                            <a:srgbClr val="FFFFFF"/>
                          </a:solidFill>
                          <a:latin typeface="Malgun Gothic"/>
                          <a:ea typeface="Malgun Gothic"/>
                          <a:cs typeface="Malgun Gothic"/>
                        </a:rPr>
                        <a:t>b</a:t>
                      </a:r>
                    </a:p>
                  </a:txBody>
                  <a:tcPr anchor="ctr">
                    <a:solidFill>
                      <a:srgbClr val="151515"/>
                    </a:solidFill>
                  </a:tcPr>
                </a:tc>
                <a:tc>
                  <a:txBody>
                    <a:bodyPr/>
                    <a:lstStyle/>
                    <a:p>
                      <a:pPr algn="ctr"/>
                      <a:r>
                        <a:rPr sz="1425" b="1">
                          <a:solidFill>
                            <a:srgbClr val="FFFFFF"/>
                          </a:solidFill>
                          <a:latin typeface="Malgun Gothic"/>
                          <a:ea typeface="Malgun Gothic"/>
                          <a:cs typeface="Malgun Gothic"/>
                        </a:rPr>
                        <a:t>f(n)</a:t>
                      </a:r>
                    </a:p>
                  </a:txBody>
                  <a:tcPr anchor="ctr">
                    <a:solidFill>
                      <a:srgbClr val="151515"/>
                    </a:solidFill>
                  </a:tcPr>
                </a:tc>
                <a:tc>
                  <a:txBody>
                    <a:bodyPr/>
                    <a:lstStyle/>
                    <a:p>
                      <a:pPr algn="ctr"/>
                      <a:r>
                        <a:rPr sz="1425" b="1">
                          <a:solidFill>
                            <a:srgbClr val="FFFFFF"/>
                          </a:solidFill>
                          <a:latin typeface="Malgun Gothic"/>
                          <a:ea typeface="Malgun Gothic"/>
                          <a:cs typeface="Malgun Gothic"/>
                        </a:rPr>
                        <a:t>경우</a:t>
                      </a:r>
                    </a:p>
                  </a:txBody>
                  <a:tcPr anchor="ctr">
                    <a:solidFill>
                      <a:srgbClr val="151515"/>
                    </a:solidFill>
                  </a:tcPr>
                </a:tc>
                <a:tc>
                  <a:txBody>
                    <a:bodyPr/>
                    <a:lstStyle/>
                    <a:p>
                      <a:pPr algn="ctr"/>
                      <a:r>
                        <a:rPr sz="1425" b="1">
                          <a:solidFill>
                            <a:srgbClr val="FFFFFF"/>
                          </a:solidFill>
                          <a:latin typeface="Malgun Gothic"/>
                          <a:ea typeface="Malgun Gothic"/>
                          <a:cs typeface="Malgun Gothic"/>
                        </a:rPr>
                        <a:t>시간 복잡도</a:t>
                      </a:r>
                    </a:p>
                  </a:txBody>
                  <a:tcPr anchor="ctr">
                    <a:solidFill>
                      <a:srgbClr val="151515"/>
                    </a:solidFill>
                  </a:tcPr>
                </a:tc>
                <a:extLst>
                  <a:ext uri="{0D108BD9-81ED-4DB2-BD59-A6C34878D82A}">
                    <a16:rowId xmlns:a16="http://schemas.microsoft.com/office/drawing/2014/main" val="10000"/>
                  </a:ext>
                </a:extLst>
              </a:tr>
              <a:tr h="571500">
                <a:tc>
                  <a:txBody>
                    <a:bodyPr/>
                    <a:lstStyle/>
                    <a:p>
                      <a:pPr algn="l"/>
                      <a:r>
                        <a:rPr sz="1350" b="0">
                          <a:solidFill>
                            <a:srgbClr val="151515"/>
                          </a:solidFill>
                          <a:latin typeface="Malgun Gothic"/>
                          <a:ea typeface="Malgun Gothic"/>
                          <a:cs typeface="Malgun Gothic"/>
                        </a:rPr>
                        <a:t>이진 탐색</a:t>
                      </a:r>
                    </a:p>
                  </a:txBody>
                  <a:tcPr anchor="ctr">
                    <a:solidFill>
                      <a:srgbClr val="FFFFFF"/>
                    </a:solidFill>
                  </a:tcPr>
                </a:tc>
                <a:tc>
                  <a:txBody>
                    <a:bodyPr/>
                    <a:lstStyle/>
                    <a:p>
                      <a:pPr algn="l"/>
                      <a:r>
                        <a:rPr sz="1350" b="0">
                          <a:solidFill>
                            <a:srgbClr val="151515"/>
                          </a:solidFill>
                          <a:latin typeface="Malgun Gothic"/>
                          <a:ea typeface="Malgun Gothic"/>
                          <a:cs typeface="Malgun Gothic"/>
                        </a:rPr>
                        <a:t>T(n)=T(n/2)+O(1)</a:t>
                      </a:r>
                    </a:p>
                  </a:txBody>
                  <a:tcPr anchor="ctr">
                    <a:solidFill>
                      <a:srgbClr val="FFFFFF"/>
                    </a:solidFill>
                  </a:tcPr>
                </a:tc>
                <a:tc>
                  <a:txBody>
                    <a:bodyPr/>
                    <a:lstStyle/>
                    <a:p>
                      <a:pPr algn="ctr"/>
                      <a:r>
                        <a:rPr sz="1350" b="0">
                          <a:solidFill>
                            <a:srgbClr val="151515"/>
                          </a:solidFill>
                          <a:latin typeface="Malgun Gothic"/>
                          <a:ea typeface="Malgun Gothic"/>
                          <a:cs typeface="Malgun Gothic"/>
                        </a:rPr>
                        <a:t>1</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O(1)</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571500">
                <a:tc>
                  <a:txBody>
                    <a:bodyPr/>
                    <a:lstStyle/>
                    <a:p>
                      <a:pPr algn="l"/>
                      <a:r>
                        <a:rPr sz="1350" b="0">
                          <a:solidFill>
                            <a:srgbClr val="151515"/>
                          </a:solidFill>
                          <a:latin typeface="Malgun Gothic"/>
                          <a:ea typeface="Malgun Gothic"/>
                          <a:cs typeface="Malgun Gothic"/>
                        </a:rPr>
                        <a:t>병합 정렬</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2"/>
                  </a:ext>
                </a:extLst>
              </a:tr>
              <a:tr h="571500">
                <a:tc>
                  <a:txBody>
                    <a:bodyPr/>
                    <a:lstStyle/>
                    <a:p>
                      <a:pPr algn="l"/>
                      <a:r>
                        <a:rPr sz="1350" b="0">
                          <a:solidFill>
                            <a:srgbClr val="151515"/>
                          </a:solidFill>
                          <a:latin typeface="Malgun Gothic"/>
                          <a:ea typeface="Malgun Gothic"/>
                          <a:cs typeface="Malgun Gothic"/>
                        </a:rPr>
                        <a:t>최대 구간 합</a:t>
                      </a:r>
                    </a:p>
                  </a:txBody>
                  <a:tcPr anchor="ctr">
                    <a:solidFill>
                      <a:srgbClr val="FFFFFF"/>
                    </a:solidFill>
                  </a:tcPr>
                </a:tc>
                <a:tc>
                  <a:txBody>
                    <a:bodyPr/>
                    <a:lstStyle/>
                    <a:p>
                      <a:pPr algn="l"/>
                      <a:r>
                        <a:rPr sz="1350" b="0">
                          <a:solidFill>
                            <a:srgbClr val="151515"/>
                          </a:solidFill>
                          <a:latin typeface="Malgun Gothic"/>
                          <a:ea typeface="Malgun Gothic"/>
                          <a:cs typeface="Malgun Gothic"/>
                        </a:rPr>
                        <a:t>T(n)=2T(n/2)+O(n)</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a:t>
                      </a:r>
                    </a:p>
                  </a:txBody>
                  <a:tcPr anchor="ctr">
                    <a:solidFill>
                      <a:srgbClr val="FFFFFF"/>
                    </a:solidFill>
                  </a:tcPr>
                </a:tc>
                <a:tc>
                  <a:txBody>
                    <a:bodyPr/>
                    <a:lstStyle/>
                    <a:p>
                      <a:pPr algn="ctr"/>
                      <a:r>
                        <a:rPr sz="1350" b="0">
                          <a:solidFill>
                            <a:srgbClr val="151515"/>
                          </a:solidFill>
                          <a:latin typeface="Malgun Gothic"/>
                          <a:ea typeface="Malgun Gothic"/>
                          <a:cs typeface="Malgun Gothic"/>
                        </a:rPr>
                        <a:t>Case 2</a:t>
                      </a:r>
                    </a:p>
                  </a:txBody>
                  <a:tcPr anchor="ctr">
                    <a:solidFill>
                      <a:srgbClr val="FFFFFF"/>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571500">
                <a:tc>
                  <a:txBody>
                    <a:bodyPr/>
                    <a:lstStyle/>
                    <a:p>
                      <a:pPr algn="l"/>
                      <a:r>
                        <a:rPr sz="1350" b="0">
                          <a:solidFill>
                            <a:srgbClr val="151515"/>
                          </a:solidFill>
                          <a:latin typeface="Malgun Gothic"/>
                          <a:ea typeface="Malgun Gothic"/>
                          <a:cs typeface="Malgun Gothic"/>
                        </a:rPr>
                        <a:t>최근접 쌍</a:t>
                      </a:r>
                    </a:p>
                    <a:p>
                      <a:pPr algn="l"/>
                      <a:r>
                        <a:rPr sz="1350" b="0">
                          <a:solidFill>
                            <a:srgbClr val="151515"/>
                          </a:solidFill>
                          <a:latin typeface="Malgun Gothic"/>
                          <a:ea typeface="Malgun Gothic"/>
                          <a:cs typeface="Malgun Gothic"/>
                        </a:rPr>
                        <a:t>(y 정렬 유지)</a:t>
                      </a:r>
                    </a:p>
                  </a:txBody>
                  <a:tcPr anchor="ctr">
                    <a:solidFill>
                      <a:srgbClr val="F2F2F2"/>
                    </a:solidFill>
                  </a:tcPr>
                </a:tc>
                <a:tc>
                  <a:txBody>
                    <a:bodyPr/>
                    <a:lstStyle/>
                    <a:p>
                      <a:pPr algn="l"/>
                      <a:r>
                        <a:rPr sz="1350" b="0">
                          <a:solidFill>
                            <a:srgbClr val="151515"/>
                          </a:solidFill>
                          <a:latin typeface="Malgun Gothic"/>
                          <a:ea typeface="Malgun Gothic"/>
                          <a:cs typeface="Malgun Gothic"/>
                        </a:rPr>
                        <a:t>T(n)=2T(n/2)+O(n)</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a:t>
                      </a:r>
                    </a:p>
                  </a:txBody>
                  <a:tcPr anchor="ctr">
                    <a:solidFill>
                      <a:srgbClr val="F2F2F2"/>
                    </a:solidFill>
                  </a:tcPr>
                </a:tc>
                <a:tc>
                  <a:txBody>
                    <a:bodyPr/>
                    <a:lstStyle/>
                    <a:p>
                      <a:pPr algn="ctr"/>
                      <a:r>
                        <a:rPr sz="1350" b="0">
                          <a:solidFill>
                            <a:srgbClr val="151515"/>
                          </a:solidFill>
                          <a:latin typeface="Malgun Gothic"/>
                          <a:ea typeface="Malgun Gothic"/>
                          <a:cs typeface="Malgun Gothic"/>
                        </a:rPr>
                        <a:t>Case 2</a:t>
                      </a:r>
                    </a:p>
                  </a:txBody>
                  <a:tcPr anchor="ctr">
                    <a:solidFill>
                      <a:srgbClr val="F2F2F2"/>
                    </a:solidFill>
                  </a:tcPr>
                </a:tc>
                <a:tc>
                  <a:txBody>
                    <a:bodyPr/>
                    <a:lstStyle/>
                    <a:p>
                      <a:pPr algn="ctr"/>
                      <a:r>
                        <a:rPr sz="1350" b="0">
                          <a:solidFill>
                            <a:srgbClr val="151515"/>
                          </a:solidFill>
                          <a:latin typeface="Malgun Gothic"/>
                          <a:ea typeface="Malgun Gothic"/>
                          <a:cs typeface="Malgun Gothic"/>
                        </a:rPr>
                        <a:t>O(n log n)</a:t>
                      </a:r>
                    </a:p>
                  </a:txBody>
                  <a:tcPr anchor="ctr">
                    <a:solidFill>
                      <a:srgbClr val="F2F2F2"/>
                    </a:solidFill>
                  </a:tcPr>
                </a:tc>
                <a:extLst>
                  <a:ext uri="{0D108BD9-81ED-4DB2-BD59-A6C34878D82A}">
                    <a16:rowId xmlns:a16="http://schemas.microsoft.com/office/drawing/2014/main" val="10004"/>
                  </a:ext>
                </a:extLst>
              </a:tr>
            </a:tbl>
          </a:graphicData>
        </a:graphic>
      </p:graphicFrame>
      <p:sp>
        <p:nvSpPr>
          <p:cNvPr id="10" name="caption">
            <a:extLst>
              <a:ext uri="{FF2B5EF4-FFF2-40B4-BE49-F238E27FC236}">
                <a16:creationId xmlns:a16="http://schemas.microsoft.com/office/drawing/2014/main" id="{6A5CB9A9-A499-488F-9BFE-795B21CF7487}"/>
              </a:ext>
            </a:extLst>
          </p:cNvPr>
          <p:cNvSpPr>
            <a:spLocks noGrp="1"/>
          </p:cNvSpPr>
          <p:nvPr/>
        </p:nvSpPr>
        <p:spPr>
          <a:xfrm>
            <a:off x="609600" y="5638800"/>
            <a:ext cx="10972800" cy="62865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10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병합 정렬은 한 단계의 병합에 O(n), 재귀 깊이에 O(log n)이 듭니다.</a:t>
            </a:r>
          </a:p>
        </p:txBody>
      </p:sp>
    </p:spTree>
    <p:extLst>
      <p:ext uri="{BB962C8B-B14F-4D97-AF65-F5344CB8AC3E}">
        <p14:creationId xmlns:p14="http://schemas.microsoft.com/office/powerpoint/2010/main" val="3212425406"/>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4.8</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코딩 테스트</a:t>
            </a: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분할 정복으로 실전 문제 두 개를 직접 풀어본다</a:t>
            </a: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sz="1300" i="0">
                <a:solidFill>
                  <a:srgbClr val="606060"/>
                </a:solidFill>
                <a:latin typeface="Malgun Gothic"/>
                <a:ea typeface="Malgun Gothic"/>
                <a:cs typeface="Malgun Gothic"/>
              </a:rPr>
              <a:t>여러 개의 정사각형 칸(N × N)으로 이루어진 종이가 있다. 각 칸은 하얀색 아니면 파란색이다. 전체 종이가 모두 같은 색이 아니면, 가로와 세로의 중앙을 잘라 똑같은 크기의 네 개의 N/2 × N/2 색종이로 나눈다. 이 과정을 잘라진 종이가 모두 같은 색이 되거나 한 칸이 될 때까지 반복한다.</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최종적으로 하얀색 색종이와 파란색 색종이가 각각 몇 장인지 구하라.</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검사(check) → 균일하면 카운트, 아니면 4등분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한 칸(n = 1)은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입력 (N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sz="1150" b="1" i="0">
                <a:solidFill>
                  <a:srgbClr val="171717"/>
                </a:solidFill>
                <a:latin typeface="Consolas"/>
                <a:ea typeface="Consolas"/>
                <a:cs typeface="Consolas"/>
              </a:rPr>
              <a:t>하얀색 9장, 파란색 7장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색종이 만들기</a:t>
            </a: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182</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하얀색 색종이: 9</a:t>
            </a:r>
            <a:endParaRPr sz="1100"/>
          </a:p>
          <a:p>
            <a:pPr marL="0" indent="0" algn="l">
              <a:lnSpc>
                <a:spcPct val="135000"/>
              </a:lnSpc>
              <a:buNone/>
              <a:defRPr sz="1500" i="0">
                <a:solidFill>
                  <a:srgbClr val="171717"/>
                </a:solidFill>
                <a:latin typeface="Consolas"/>
                <a:ea typeface="Consolas"/>
                <a:cs typeface="Consolas"/>
              </a:defRPr>
            </a:pPr>
            <a:r>
              <a:rPr sz="1500" i="0">
                <a:solidFill>
                  <a:srgbClr val="171717"/>
                </a:solidFill>
                <a:latin typeface="Consolas"/>
                <a:ea typeface="Consolas"/>
                <a:cs typeface="Consolas"/>
              </a:rPr>
              <a:t>파란색 색종이: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return 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sz="1100" i="0">
                <a:solidFill>
                  <a:srgbClr val="606060"/>
                </a:solidFill>
                <a:latin typeface="Malgun Gothic"/>
                <a:ea typeface="Malgun Gothic"/>
                <a:cs typeface="Malgun Gothic"/>
              </a:rPr>
              <a:t>다른 색을 만나는 즉시 4등분 후 return 해야 한다. 그러지 않으면 아래의 카운트 코드까지 실행되어 잘못된 답이 나온다.</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blue_cnt += 1</a:t>
            </a: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print(f"하얀색 색종이: {white_cnt}")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print(f"파란색 색종이: {blue_cnt}")</a:t>
            </a: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4.1  색종이 만들기</a:t>
            </a: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재귀적으로 4등분하며 세기</a:t>
            </a: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183</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세 개의 자연수 A, B, C가 주어진다. A를 B번 곱한 수, 즉 A^B를 C로 나눈 나머지를 구하라. 문제는 A와 B가 최대 2,147,483,647(약 21억)에 달하는 매우 큰 수라는 점이다. 단순한 반복으로는 21억 번의 곱셈이 필요하다.</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절반만 계산하면 나머지 절반은 공짜다.</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B가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sz="1080" i="0">
                <a:solidFill>
                  <a:srgbClr val="171717"/>
                </a:solidFill>
                <a:latin typeface="Malgun Gothic"/>
                <a:ea typeface="Malgun Gothic"/>
                <a:cs typeface="Malgun Gothic"/>
              </a:rPr>
              <a:t>A^B = A^(B/2) × A^(B/2) × A. 남는 A 하나를 곱해준다.</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sz="1080" i="0">
                <a:solidFill>
                  <a:srgbClr val="606060"/>
                </a:solidFill>
                <a:latin typeface="Malgun Gothic"/>
                <a:ea typeface="Malgun Gothic"/>
                <a:cs typeface="Malgun Gothic"/>
              </a:rPr>
              <a:t>(a × b) mod c = ((a mod c) × (b mod c)) mod c. 매 단계 나머지를 취해 수가 커지지 않게 한다.</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21억 번의 곱셈이</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약 31단계로 줄어든다.</a:t>
            </a:r>
            <a:endParaRPr sz="1150"/>
          </a:p>
          <a:p>
            <a:pPr marL="0" indent="0" algn="l">
              <a:lnSpc>
                <a:spcPct val="135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곱셈 — A^B mod C 를 눈 깜짝할 사이에</a:t>
            </a: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11 (홀수)</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5 (홀수)</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2 (짝수)</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b = 1 (홀수)</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sz="1230" b="1" i="0">
                <a:solidFill>
                  <a:srgbClr val="171717"/>
                </a:solidFill>
                <a:latin typeface="Malgun Gothic"/>
                <a:ea typeface="Malgun Gothic"/>
                <a:cs typeface="Malgun Gothic"/>
              </a:rPr>
              <a:t>깊이는 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sz="1100" i="0">
                <a:solidFill>
                  <a:srgbClr val="171717"/>
                </a:solidFill>
                <a:latin typeface="Malgun Gothic"/>
                <a:ea typeface="Malgun Gothic"/>
                <a:cs typeface="Malgun Gothic"/>
              </a:rPr>
              <a:t>B = 21억이어도 재귀 깊이는 31에 불과하다.</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sz="900" b="0" i="0">
                <a:solidFill>
                  <a:srgbClr val="FFFFFF"/>
                </a:solidFill>
                <a:latin typeface="Consolas"/>
                <a:ea typeface="Consolas"/>
                <a:cs typeface="Consolas"/>
              </a:rPr>
              <a:t>print(power(A, B, C))</a:t>
            </a: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CT 4.2  거듭제곱 나머지</a:t>
            </a: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풀이 — 분할 정복 거듭제곱 (fast power)</a:t>
            </a: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185</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분할 정복의 3단계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분할(divide) → 정복(conquer) → 결합(combine). 기저 사례에 도달할 때까지 재귀적으로 나눈다.</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a:t>
            </a:r>
            <a:r>
              <a:rPr sz="1140" i="0">
                <a:solidFill>
                  <a:srgbClr val="171717"/>
                </a:solidFill>
                <a:latin typeface="Malgun Gothic"/>
                <a:ea typeface="Malgun Gothic"/>
                <a:cs typeface="Malgun Gothic"/>
              </a:rPr>
              <a:t> 정렬은 나누기가 쉽고 합치기가 어렵다. 반대로 퀵 정렬은 나누기가 어렵고 합치기가 쉽다.</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기하 문제에도 통한다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sz="1140" i="0">
                <a:solidFill>
                  <a:srgbClr val="171717"/>
                </a:solidFill>
                <a:latin typeface="Malgun Gothic"/>
                <a:ea typeface="Malgun Gothic"/>
                <a:cs typeface="Malgun Gothic"/>
              </a:rPr>
              <a:t>최대 구간 합과 최근접 쌍 모두 "경계를 걸친 경우"만 따로 처리하면 O(n log n)이 된다.</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쿼드 트리는 평면을 1/4씩 재귀 분할한다. 이미지 압축, 충돌 감지, LOD의 기반이다.</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sz="1140" i="0">
                <a:solidFill>
                  <a:srgbClr val="606060"/>
                </a:solidFill>
                <a:latin typeface="Malgun Gothic"/>
                <a:ea typeface="Malgun Gothic"/>
                <a:cs typeface="Malgun Gothic"/>
              </a:rPr>
              <a:t>T(n) = aT(n/b) + f(n) 형태와 각 경우의 적용 조건을 확인한 뒤 비용의 크기를 비교합니다.</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CHAPTER 04</a:t>
            </a: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4장 정리</a:t>
            </a: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sz="7200" b="1" i="0">
                <a:solidFill>
                  <a:srgbClr val="FFFFFF"/>
                </a:solidFill>
                <a:latin typeface="Consolas"/>
                <a:ea typeface="Consolas"/>
                <a:cs typeface="Consolas"/>
              </a:rPr>
              <a:t>Q &amp; A</a:t>
            </a: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질문을 나누어 봅시다.</a:t>
            </a:r>
          </a:p>
          <a:p>
            <a:pPr algn="l">
              <a:lnSpc>
                <a:spcPct val="104000"/>
              </a:lnSpc>
              <a:buNone/>
              <a:defRPr sz="1950" b="0" i="0">
                <a:solidFill>
                  <a:srgbClr val="BBBBBB"/>
                </a:solidFill>
                <a:latin typeface="Malgun Gothic"/>
                <a:ea typeface="Malgun Gothic"/>
                <a:cs typeface="Malgun Gothic"/>
              </a:defRPr>
            </a:pPr>
            <a:r>
              <a:rPr sz="1950" b="0" i="0">
                <a:solidFill>
                  <a:srgbClr val="BBBBBB"/>
                </a:solidFill>
                <a:latin typeface="Malgun Gothic"/>
                <a:ea typeface="Malgun Gothic"/>
                <a:cs typeface="Malgun Gothic"/>
              </a:rPr>
              <a:t>큰 질문도 작게 쪼개면 답할 수 있습니다.</a:t>
            </a: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187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56209</Words>
  <Application>Microsoft Office PowerPoint</Application>
  <DocSecurity>0</DocSecurity>
  <PresentationFormat>와이드스크린</PresentationFormat>
  <Paragraphs>7228</Paragraphs>
  <Slides>187</Slides>
  <Notes>187</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187</vt:i4>
      </vt:variant>
    </vt:vector>
  </HeadingPairs>
  <TitlesOfParts>
    <vt:vector size="192"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10</cp:revision>
  <dcterms:created xsi:type="dcterms:W3CDTF">2026-09-19T13:48:20Z</dcterms:created>
  <dcterms:modified xsi:type="dcterms:W3CDTF">2026-10-11T12:33:26Z</dcterms:modified>
</cp:coreProperties>
</file>