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1"/>
  </p:notesMasterIdLst>
  <p:sldIdLst>
    <p:sldId id="256" r:id="rId2"/>
    <p:sldId id="257" r:id="rId3"/>
    <p:sldId id="258" r:id="rId4"/>
    <p:sldId id="259" r:id="rId5"/>
    <p:sldId id="260" r:id="rId6"/>
    <p:sldId id="261" r:id="rId7"/>
    <p:sldId id="320" r:id="rId8"/>
    <p:sldId id="321" r:id="rId9"/>
    <p:sldId id="322" r:id="rId10"/>
    <p:sldId id="323" r:id="rId11"/>
    <p:sldId id="324" r:id="rId12"/>
    <p:sldId id="325" r:id="rId13"/>
    <p:sldId id="262" r:id="rId14"/>
    <p:sldId id="263" r:id="rId15"/>
    <p:sldId id="264" r:id="rId16"/>
    <p:sldId id="265" r:id="rId17"/>
    <p:sldId id="266" r:id="rId18"/>
    <p:sldId id="267" r:id="rId19"/>
    <p:sldId id="268" r:id="rId20"/>
    <p:sldId id="269" r:id="rId21"/>
    <p:sldId id="270" r:id="rId22"/>
    <p:sldId id="271"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 id="307" r:id="rId78"/>
    <p:sldId id="308" r:id="rId79"/>
    <p:sldId id="309" r:id="rId80"/>
    <p:sldId id="310" r:id="rId81"/>
    <p:sldId id="311" r:id="rId82"/>
    <p:sldId id="312" r:id="rId83"/>
    <p:sldId id="313" r:id="rId84"/>
    <p:sldId id="314" r:id="rId85"/>
    <p:sldId id="315" r:id="rId86"/>
    <p:sldId id="316" r:id="rId87"/>
    <p:sldId id="317" r:id="rId88"/>
    <p:sldId id="318" r:id="rId89"/>
    <p:sldId id="319" r:id="rId9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머지 소트, 우리말로 병합 정렬입니다. 기존 자료의 합병 정렬과 같은 말입니다. 먼저 반으로 계속 나눕니다. 원소가 하나 남으면 더 정렬할 필요가 없죠. 그다음 두 정렬된 배열을 작은 값부터 합칩니다. 이 두 동작을 오늘 같은 배열로 끝까지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여덟 개를 네 개씩 나눕니다. 왼쪽은 8, 3, 6, 2이고 오른쪽은 7, 1, 5, 4입니다. 다시 두 개씩, 마지막으로 하나씩 나눕니다. 나눈다고 해서 작은 수가 왼쪽으로 가는 것은 아닙니다. 현재 순서를 그대로 두고 구간만 잘라낸다는 점을 봐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07789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나누기가 끝나면 반대 방향으로 올라옵니다. 8과 3을 합치면 3, 8이고, 6과 2를 합치면 2, 6입니다. 이 두 결과를 합치면 2, 3, 6, 8이 됩니다. 오른쪽도 같은 방법으로 1, 4, 5, 7이 됩니다. 이렇게 아래쪽의 정렬 결과가 위쪽 병합의 입력이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7818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i = 0, j = 0입니다. 왼쪽 2와 오른쪽 1을 비교합니다. 결과 배열은 아직 비어 있습니다.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2 &gt; 오른쪽 1. 오른쪽 값을 결과 끝에 붙입니다. j를 0에서 1로 옮깁니다. i = 0는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2 ≤ 오른쪽 4. 왼쪽 값을 결과 끝에 붙입니다. i를 0에서 1로 옮깁니다. j = 1는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3 ≤ 오른쪽 4. 왼쪽 값을 결과 끝에 붙입니다. i를 1에서 2로 옮깁니다. j = 1는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&gt; 오른쪽 4. 오른쪽 값을 결과 끝에 붙입니다. j를 1에서 2로 옮깁니다. i = 2는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&gt; 오른쪽 5. 오른쪽 값을 결과 끝에 붙입니다. j를 2에서 3로 옮깁니다. i = 2는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6 ≤ 오른쪽 7. 왼쪽 값을 결과 끝에 붙입니다. i를 2에서 3로 옮깁니다. j = 3는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왼쪽 8 &gt; 오른쪽 7. 오른쪽 값을 결과 끝에 붙입니다. j를 3에서 4로 옮깁니다. i = 3는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오른쪽을 다 사용했습니다. 왼쪽의 8을 결과 끝에 붙입니다.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함수의 두 입력은 이미 정렬되어 있다고 가정합니다. while에서 양쪽 모두 원소가 남았는지 먼저 확인합니다. 작은 값을 넣고 그쪽 인덱스만 늘립니다. 같은 값에서는 왼쪽을 먼저 넣으려고 이하 비교를 사용했습니다. 반복이 끝나면 한쪽만 남아 있고, extend가 그 나머지를 붙입니다. 빈 나머지를 붙여도 문제는 없어서 양쪽 모두 extend를 써도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코드가 이해하기 어려운 이유는 두 재귀 호출이 동시에 진행된다고 생각하기 쉽기 때문입니다. 실제로는 왼쪽 호출이 끝나고 돌아와야 그다음 줄의 오른쪽 호출을 시작합니다. 예를 들어 왼쪽 8, 3, 6, 2를 정렬해서 2, 3, 6, 8을 받은 뒤 오른쪽을 정렬합니다. 마지막 줄은 그 두 정렬 결과를 병합합니다. 이 Python 코드는 새 정렬 배열을 반환하므로 반환값을 사용해야 합니다. 앞 슬라이드의 merge와 함께 실행하세요.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C에서는 왼쪽 배열과 오른쪽 배열을 새로 잘라내는 대신 원래 배열의 구간으로 표현합니다. lo부터 mid가 왼쪽, mid 플러스 1부터 hi가 오른쪽입니다. i와 j로 읽고 임시 배열의 k 위치에 씁니다. 남은 원소를 붙인 뒤 tmp의 병합 결과를 a의 같은 구간으로 복사합니다. 여기서는 양 끝 인덱스를 모두 포함합니다. 이 함수는 새 배열을 반환하는 Python과 달리 원래 배열을 바꿉니다.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재귀 범위도 직접 보겠습니다. lo부터 mid까지 정렬하고, mid 플러스 1부터 hi까지 정렬한 뒤에 병합합니다. 두 재귀 호출이 끝나기 전에는 merge를 하지 않습니다. tmp는 a의 원소 개수 이상으로 준비하고 모든 호출에서 함께 사용합니다. 아래 세 줄은 main 안에 넣는 실행 예입니다. 정렬이 끝나면 a 자체가 바뀌어 있습니다. 코드를 작성할 때는 재귀 종료 조건과 병합하는 위치를 꼭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복잡도를 보겠습니다. 여덟 개 배열이라면 두 개씩 합치는 단계, 네 개씩 합치는 단계, 여덟 개를 합치는 단계가 있습니다. 각 단계에서 처리하는 원소 수를 모두 더하면 여덟 개입니다. n개에서도 단계당 n개이고 단계 수는 로그 n이라 전체는 n 로그 n입니다. 또 같은 숫자가 여러 개일 때 왼쪽 값을 먼저 선택하면 원래 먼저 있던 원소를 앞에 유지합니다. 이것이 안정 정렬입니다.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직접 손으로 풀어보겠습니다. 첫 번째 값은 1이고 오른쪽 포인터만 움직입니다. 다음은 2, 3, 5입니다. 왼쪽을 다 사용하면 오른쪽에 남은 7을 붙입니다. 결과는 1, 2, 3, 5, 7입니다. 세 번째 질문의 답은 병합의 입력 두 구간이 먼저 정렬되어 있어야 하기 때문입니다. 단순히 재귀 함수니까라는 답보다는, 정렬된 두 결과를 받아서 합친다고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정렬은 머지 정렬과 달리 값을 기준으로 나눕니다. 기준값을 피벗이라고 부릅니다. 오늘은 양쪽 포인터가 안쪽으로 이동하는 방식으로 통일하겠습니다. 설명 그림과 Python, C가 모두 같은 방식을 사용합니다. 이 예제에서는 현재 구간의 가운데 인덱스에 있는 값을 피벗으로 선택합니다.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0301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L = 0, R = 4에서 시작합니다. 피벗은 인덱스 5에 따로 둡니다. L의 8 &gt; 6이므로 L은 움직이지 않습니다.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0243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a[4] = 7 &gt; 6이므로 R을 왼쪽으로 한 칸 옮깁니다. a[3] = 3 ≤ 6이므로 여기서 멈춥니다. L은 0에 그대로 있습니다.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L = 0, R = 3이고 아직 L ≤ R입니다. a[0]과 a[3]을 교환합니다. 포인터 위치는 그대로입니다.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a[0] = 3 ≤ 6이므로 L을 오른쪽으로 한 칸 옮깁니다. R은 인덱스 3에 그대로 있습니다.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a[1] = 4 ≤ 6이므로 L을 다시 한 칸 옮깁니다. 지금 L이 가리키는 값은 a[2] = 1입니다.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a[2] = 1 ≤ 6이므로 L을 한 칸 옮깁니다. a[3] = 8 &gt; 6이므로 L의 이동은 여기서 끝납니다.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a[3] = 8 &gt; 6이므로 R을 왼쪽으로 한 칸 옮깁니다. L = 3 &gt; R = 2가 되었으므로 두 값의 교환을 끝냅니다.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화면의 화살표 끝이 실제로 비교하는 칸입니다. 인덱스 3의 8과 인덱스 5의 피벗 6을 바꿉니다. 피벗 6의 최종 위치는 3입니다. 왼쪽 3, 4, 1은 아직 정렬 전입니다. 다음 페이지로 넘어가면서 이동 전후의 화살표 위치와 배열을 비교해 주세요. 한 번에 한 동작만 진행합니다.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088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분할이 끝났어도 왼쪽의 3, 4, 1은 아직 정렬되지 않았습니다. 가운데 값 4를 피벗으로 같은 작업을 하면 3, 1, 4가 됩니다. 남은 3, 1을 정렬하면 1, 3, 4가 되죠. 오른쪽 7, 8도 같은 재귀 함수를 거치면 됩니다. 길이가 하나 이하인 구간은 더 비교할 필요가 없어서 종료합니다. 피벗 위치를 양쪽 호출에 다시 포함하지 않는 것이 중요합니다.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진행한 순서를 그대로 구현했습니다. 가운데 값을 마지막으로 옮기고 L과 R을 잡습니다. 왼쪽은 이하, 오른쪽은 초과 조건으로 이동합니다. and는 앞 조건이 거짓이면 뒤의 배열 접근을 하지 않으므로 L이 범위를 넘었을 때도 안전합니다. 포인터가 교차하면 끝내고, 그렇지 않으면 서로 바꿉니다. 교환 후 다음 반복에서 두 값은 자기 쪽 조건을 만족하므로 포인터가 앞으로 나갑니다. 마지막으로 피벗을 L에 놓고 그 인덱스를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partition과 함께 실행합니다. lo가 hi 이상이면 빈 구간이나 한 원소 구간이라 바로 끝납니다. 분할한 뒤 피벗 위치 p를 제외하고 양쪽을 재귀 호출합니다. 머지의 Python 코드는 새 배열을 반환했지만, 이 퀵 코드는 원래 배열 a를 바꿉니다. 그래서 quick_sort의 반환값 대신 a를 출력합니다. 그림과 같은 입력이 같은 결과를 내는지도 확인해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C도 같은 가운데 피벗과 두 포인터를 씁니다. m을 lo 플러스 hi의 차이 절반으로 계산해서 덧셈이 커질 위험을 줄였습니다. swap에는 배열 원소의 주소를 전달합니다. 두 while의 범위 검사 L 이하 R을 배열 접근보다 먼저 써야 합니다. C의 논리곱도 앞 조건이 거짓이면 뒤를 실행하지 않기 때문입니다. 마지막 피벗 교환과 반환 위치가 그림의 L과 정확히 같습니다.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swap과 partition을 같은 파일에 먼저 넣습니다. 정렬할 구간의 양 끝을 포함한다는 규칙은 Python과 같습니다. 배열의 크기가 n이면 처음 호출은 0부터 n 마이너스 1입니다. 재귀 호출할 때 p를 제외하므로 구간이 줄어듭니다. 아래 예제는 main 안에 넣어서 실행합니다. 반환값을 받는 것이 아니라 원래 배열의 변화로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살펴본 배열은 값이 모두 달랐지만, 같은 값이 여러 개 있는 경우도 생각해야 합니다. 우리는 같은 값을 왼쪽에 보내기로 명확히 정했습니다. 예를 들어 세 개가 모두 2이면 L이 끝까지 이동해서 반복문이 종료됩니다. 무한 반복은 생기지 않지만 피벗이 끝에 놓이므로 매번 한쪽만 줄어들어서 느려집니다. 또 빈 배열이면 hi가 마이너스 1인데, 종료 조건을 먼저 확인하므로 partition을 부르지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번의 분할에서는 양쪽 포인터가 구간을 지나가므로 n에 비례합니다. 피벗이 잘 나눠주면 각 단계의 전체 작업이 n이고 단계 수가 로그 n이라 n 로그 n입니다. 반대로 계속 가장 작은 값이나 가장 큰 값을 고르면 한쪽에 n 마이너스 1개가 남습니다. n, n 마이너스 1처럼 더하면 n 제곱이 됩니다. 가운데 위치의 값을 고른다는 것은 가운데 크기의 값을 고른다는 뜻이 아닙니다. 무작위 피벗은 서로 다른 값에서 나쁜 분할이 계속될 위험을 낮추지만, 중복이 많은 입력은 별도 처리가 필요합니다.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방식의 가장 큰 차이는 나누는 기준입니다. 머지는 배열의 위치로 반씩 나누고 합칠 때 정렬합니다. 퀵은 피벗의 값을 기준으로 나누면서 피벗 자리를 확정합니다. 첫 분할만 끝났다고 전체가 정렬된 것은 아닙니다. 아까 왼쪽 3, 4, 1이 남아 있었죠. 재귀로 양쪽을 정렬해야 끝납니다. 안정성은 같은 값을 가진 원소들의 원래 순서를 유지하는 성질입니다. 현재 머지는 같은 값에서 왼쪽을 먼저 골라 유지하고, 퀵은 멀리 떨어진 값도 교환해서 보장하지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26AC955-7CDC-418F-A998-B55FCC56041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6D978514-A300-4C1B-BD29-73DFF0DF3B2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05414AF-461F-40BD-8B3C-549A8DC873E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나누는 동안 값의 순서는 그대로</a:t>
            </a:r>
          </a:p>
        </p:txBody>
      </p:sp>
      <p:sp>
        <p:nvSpPr>
          <p:cNvPr id="4" name="직사각형 3">
            <a:extLst>
              <a:ext uri="{FF2B5EF4-FFF2-40B4-BE49-F238E27FC236}">
                <a16:creationId xmlns:a16="http://schemas.microsoft.com/office/drawing/2014/main" id="{A7965D3E-83BF-4BA2-8FC1-6E8EC17659A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나누기는 인덱스 가운데에서 자르는 작업이다.</a:t>
            </a:r>
          </a:p>
          <a:p>
            <a:pPr>
              <a:defRPr sz="2025" b="0">
                <a:solidFill>
                  <a:srgbClr val="151515"/>
                </a:solidFill>
              </a:defRPr>
            </a:pPr>
            <a:r>
              <a:rPr sz="2025" b="0">
                <a:solidFill>
                  <a:srgbClr val="151515"/>
                </a:solidFill>
                <a:latin typeface="Malgun Gothic" panose="020B0503020000020004" pitchFamily="50" charset="-127"/>
              </a:rPr>
              <a:t>이 단계에서는 크기를 비교하거나 위치를 교환하지 않는다.</a:t>
            </a:r>
          </a:p>
        </p:txBody>
      </p:sp>
      <p:sp>
        <p:nvSpPr>
          <p:cNvPr id="5" name="직사각형 4">
            <a:extLst>
              <a:ext uri="{FF2B5EF4-FFF2-40B4-BE49-F238E27FC236}">
                <a16:creationId xmlns:a16="http://schemas.microsoft.com/office/drawing/2014/main" id="{0798DA67-2ABD-4A64-87F9-51183C23EAD3}"/>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8개</a:t>
            </a:r>
          </a:p>
        </p:txBody>
      </p:sp>
      <p:graphicFrame>
        <p:nvGraphicFramePr>
          <p:cNvPr id="6" name="표 5">
            <a:extLst>
              <a:ext uri="{FF2B5EF4-FFF2-40B4-BE49-F238E27FC236}">
                <a16:creationId xmlns:a16="http://schemas.microsoft.com/office/drawing/2014/main" id="{9AA253A0-CAA8-4754-9D18-E0B55D2697B1}"/>
              </a:ext>
            </a:extLst>
          </p:cNvPr>
          <p:cNvGraphicFramePr/>
          <p:nvPr>
            <p:extLst>
              <p:ext uri="{D42A27DB-BD31-4B8C-83A1-F6EECF244321}">
                <p14:modId xmlns:p14="http://schemas.microsoft.com/office/powerpoint/2010/main" val="34528520"/>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3614005-2652-4E5C-BF98-64E8B748769E}"/>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4개씩</a:t>
            </a:r>
          </a:p>
        </p:txBody>
      </p:sp>
      <p:graphicFrame>
        <p:nvGraphicFramePr>
          <p:cNvPr id="8" name="표 7">
            <a:extLst>
              <a:ext uri="{FF2B5EF4-FFF2-40B4-BE49-F238E27FC236}">
                <a16:creationId xmlns:a16="http://schemas.microsoft.com/office/drawing/2014/main" id="{DF05A8D7-766B-4CE7-AA9B-DD35BEF94D81}"/>
              </a:ext>
            </a:extLst>
          </p:cNvPr>
          <p:cNvGraphicFramePr/>
          <p:nvPr>
            <p:extLst>
              <p:ext uri="{D42A27DB-BD31-4B8C-83A1-F6EECF244321}">
                <p14:modId xmlns:p14="http://schemas.microsoft.com/office/powerpoint/2010/main" val="2329998823"/>
              </p:ext>
            </p:extLst>
          </p:nvPr>
        </p:nvGraphicFramePr>
        <p:xfrm>
          <a:off x="609600" y="427672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8  3  6  2</a:t>
                      </a:r>
                    </a:p>
                  </a:txBody>
                  <a:tcPr>
                    <a:solidFill>
                      <a:srgbClr val="F6F6F6"/>
                    </a:solidFill>
                  </a:tcPr>
                </a:tc>
                <a:tc>
                  <a:txBody>
                    <a:bodyPr/>
                    <a:lstStyle/>
                    <a:p>
                      <a:pPr algn="ctr"/>
                      <a:r>
                        <a:rPr sz="2025" b="1">
                          <a:solidFill>
                            <a:srgbClr val="151515"/>
                          </a:solidFill>
                          <a:latin typeface="Malgun Gothic" panose="020B0503020000020004" pitchFamily="50" charset="-127"/>
                        </a:rPr>
                        <a:t>7  1  5  4</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F0D7BB1-999C-4C61-B335-29F7AF0171E8}"/>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2개씩</a:t>
            </a:r>
          </a:p>
        </p:txBody>
      </p:sp>
      <p:graphicFrame>
        <p:nvGraphicFramePr>
          <p:cNvPr id="10" name="표 9">
            <a:extLst>
              <a:ext uri="{FF2B5EF4-FFF2-40B4-BE49-F238E27FC236}">
                <a16:creationId xmlns:a16="http://schemas.microsoft.com/office/drawing/2014/main" id="{E8144212-6732-4F2A-9B6E-E75D0FCF8A13}"/>
              </a:ext>
            </a:extLst>
          </p:cNvPr>
          <p:cNvGraphicFramePr/>
          <p:nvPr>
            <p:extLst>
              <p:ext uri="{D42A27DB-BD31-4B8C-83A1-F6EECF244321}">
                <p14:modId xmlns:p14="http://schemas.microsoft.com/office/powerpoint/2010/main" val="2213374372"/>
              </p:ext>
            </p:extLst>
          </p:nvPr>
        </p:nvGraphicFramePr>
        <p:xfrm>
          <a:off x="609600" y="51720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8  3</a:t>
                      </a:r>
                    </a:p>
                  </a:txBody>
                  <a:tcPr>
                    <a:solidFill>
                      <a:srgbClr val="F6F6F6"/>
                    </a:solidFill>
                  </a:tcPr>
                </a:tc>
                <a:tc>
                  <a:txBody>
                    <a:bodyPr/>
                    <a:lstStyle/>
                    <a:p>
                      <a:pPr algn="ctr"/>
                      <a:r>
                        <a:rPr sz="2550" b="1">
                          <a:solidFill>
                            <a:srgbClr val="151515"/>
                          </a:solidFill>
                          <a:latin typeface="Malgun Gothic" panose="020B0503020000020004" pitchFamily="50" charset="-127"/>
                        </a:rPr>
                        <a:t>6  2</a:t>
                      </a:r>
                    </a:p>
                  </a:txBody>
                  <a:tcPr>
                    <a:solidFill>
                      <a:srgbClr val="F6F6F6"/>
                    </a:solidFill>
                  </a:tcPr>
                </a:tc>
                <a:tc>
                  <a:txBody>
                    <a:bodyPr/>
                    <a:lstStyle/>
                    <a:p>
                      <a:pPr algn="ctr"/>
                      <a:r>
                        <a:rPr sz="2550" b="1">
                          <a:solidFill>
                            <a:srgbClr val="151515"/>
                          </a:solidFill>
                          <a:latin typeface="Malgun Gothic" panose="020B0503020000020004" pitchFamily="50" charset="-127"/>
                        </a:rPr>
                        <a:t>7  1</a:t>
                      </a:r>
                    </a:p>
                  </a:txBody>
                  <a:tcPr>
                    <a:solidFill>
                      <a:srgbClr val="F6F6F6"/>
                    </a:solidFill>
                  </a:tcPr>
                </a:tc>
                <a:tc>
                  <a:txBody>
                    <a:bodyPr/>
                    <a:lstStyle/>
                    <a:p>
                      <a:pPr algn="ctr"/>
                      <a:r>
                        <a:rPr sz="2550" b="1">
                          <a:solidFill>
                            <a:srgbClr val="151515"/>
                          </a:solidFill>
                          <a:latin typeface="Malgun Gothic" panose="020B0503020000020004" pitchFamily="50" charset="-127"/>
                        </a:rPr>
                        <a:t>5  4</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9DFC4AF-14EB-4A98-84B8-B991825D76D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43C283D7-4B0A-4D21-9317-7690C353765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08</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5F20F2ED-30CA-1D43-07FD-B305D7C0C07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369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5E7BE352-315B-4991-A314-FAEE344B4A9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CB444EC-68A1-4C21-AEA6-A2E36BCB063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6940D9-B277-4910-A3A2-652776C0560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합칠 때 작은 값부터 정렬된다</a:t>
            </a:r>
          </a:p>
        </p:txBody>
      </p:sp>
      <p:sp>
        <p:nvSpPr>
          <p:cNvPr id="4" name="직사각형 3">
            <a:extLst>
              <a:ext uri="{FF2B5EF4-FFF2-40B4-BE49-F238E27FC236}">
                <a16:creationId xmlns:a16="http://schemas.microsoft.com/office/drawing/2014/main" id="{4AF40F02-26D1-416C-B891-2CD50FCE512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원소 배열끼리 합치고, 그 결과를 다시 합친다.</a:t>
            </a:r>
          </a:p>
          <a:p>
            <a:pPr>
              <a:defRPr sz="2025" b="0">
                <a:solidFill>
                  <a:srgbClr val="151515"/>
                </a:solidFill>
              </a:defRPr>
            </a:pPr>
            <a:r>
              <a:rPr sz="2025" b="0">
                <a:solidFill>
                  <a:srgbClr val="151515"/>
                </a:solidFill>
                <a:latin typeface="Malgun Gothic" panose="020B0503020000020004" pitchFamily="50" charset="-127"/>
              </a:rPr>
              <a:t>병합에 들어오는 두 배열은 각각 정렬되어 있어야 한다.</a:t>
            </a:r>
          </a:p>
        </p:txBody>
      </p:sp>
      <p:sp>
        <p:nvSpPr>
          <p:cNvPr id="5" name="직사각형 4">
            <a:extLst>
              <a:ext uri="{FF2B5EF4-FFF2-40B4-BE49-F238E27FC236}">
                <a16:creationId xmlns:a16="http://schemas.microsoft.com/office/drawing/2014/main" id="{DF112220-A50B-416F-B2E8-168DC1772E1E}"/>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원소씩</a:t>
            </a:r>
          </a:p>
        </p:txBody>
      </p:sp>
      <p:graphicFrame>
        <p:nvGraphicFramePr>
          <p:cNvPr id="6" name="표 5">
            <a:extLst>
              <a:ext uri="{FF2B5EF4-FFF2-40B4-BE49-F238E27FC236}">
                <a16:creationId xmlns:a16="http://schemas.microsoft.com/office/drawing/2014/main" id="{B0FE9930-AC78-4DFC-9697-79932E3ECC25}"/>
              </a:ext>
            </a:extLst>
          </p:cNvPr>
          <p:cNvGraphicFramePr/>
          <p:nvPr>
            <p:extLst>
              <p:ext uri="{D42A27DB-BD31-4B8C-83A1-F6EECF244321}">
                <p14:modId xmlns:p14="http://schemas.microsoft.com/office/powerpoint/2010/main" val="3762173376"/>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C7210D9-004A-40D9-B911-AA8C1330798F}"/>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두 개 병합</a:t>
            </a:r>
          </a:p>
        </p:txBody>
      </p:sp>
      <p:graphicFrame>
        <p:nvGraphicFramePr>
          <p:cNvPr id="8" name="표 7">
            <a:extLst>
              <a:ext uri="{FF2B5EF4-FFF2-40B4-BE49-F238E27FC236}">
                <a16:creationId xmlns:a16="http://schemas.microsoft.com/office/drawing/2014/main" id="{499F7103-A90F-49DD-BF1F-3C2634264F1D}"/>
              </a:ext>
            </a:extLst>
          </p:cNvPr>
          <p:cNvGraphicFramePr/>
          <p:nvPr>
            <p:extLst>
              <p:ext uri="{D42A27DB-BD31-4B8C-83A1-F6EECF244321}">
                <p14:modId xmlns:p14="http://schemas.microsoft.com/office/powerpoint/2010/main" val="2987891849"/>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3  8</a:t>
                      </a:r>
                    </a:p>
                  </a:txBody>
                  <a:tcPr>
                    <a:solidFill>
                      <a:srgbClr val="F6F6F6"/>
                    </a:solidFill>
                  </a:tcPr>
                </a:tc>
                <a:tc>
                  <a:txBody>
                    <a:bodyPr/>
                    <a:lstStyle/>
                    <a:p>
                      <a:pPr algn="ctr"/>
                      <a:r>
                        <a:rPr sz="2550" b="1">
                          <a:solidFill>
                            <a:srgbClr val="151515"/>
                          </a:solidFill>
                          <a:latin typeface="Malgun Gothic" panose="020B0503020000020004" pitchFamily="50" charset="-127"/>
                        </a:rPr>
                        <a:t>2  6</a:t>
                      </a:r>
                    </a:p>
                  </a:txBody>
                  <a:tcPr>
                    <a:solidFill>
                      <a:srgbClr val="F6F6F6"/>
                    </a:solidFill>
                  </a:tcPr>
                </a:tc>
                <a:tc>
                  <a:txBody>
                    <a:bodyPr/>
                    <a:lstStyle/>
                    <a:p>
                      <a:pPr algn="ctr"/>
                      <a:r>
                        <a:rPr sz="2550" b="1">
                          <a:solidFill>
                            <a:srgbClr val="151515"/>
                          </a:solidFill>
                          <a:latin typeface="Malgun Gothic" panose="020B0503020000020004" pitchFamily="50" charset="-127"/>
                        </a:rPr>
                        <a:t>1  7</a:t>
                      </a:r>
                    </a:p>
                  </a:txBody>
                  <a:tcPr>
                    <a:solidFill>
                      <a:srgbClr val="F6F6F6"/>
                    </a:solidFill>
                  </a:tcPr>
                </a:tc>
                <a:tc>
                  <a:txBody>
                    <a:bodyPr/>
                    <a:lstStyle/>
                    <a:p>
                      <a:pPr algn="ctr"/>
                      <a:r>
                        <a:rPr sz="2550" b="1">
                          <a:solidFill>
                            <a:srgbClr val="151515"/>
                          </a:solidFill>
                          <a:latin typeface="Malgun Gothic" panose="020B0503020000020004" pitchFamily="50" charset="-127"/>
                        </a:rPr>
                        <a:t>4  5</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4FC4969-646B-4A17-A507-577F0E5876C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네 개 병합</a:t>
            </a:r>
          </a:p>
        </p:txBody>
      </p:sp>
      <p:graphicFrame>
        <p:nvGraphicFramePr>
          <p:cNvPr id="10" name="표 9">
            <a:extLst>
              <a:ext uri="{FF2B5EF4-FFF2-40B4-BE49-F238E27FC236}">
                <a16:creationId xmlns:a16="http://schemas.microsoft.com/office/drawing/2014/main" id="{7359CCEB-F777-4763-A7CD-677AF4E426D0}"/>
              </a:ext>
            </a:extLst>
          </p:cNvPr>
          <p:cNvGraphicFramePr/>
          <p:nvPr>
            <p:extLst>
              <p:ext uri="{D42A27DB-BD31-4B8C-83A1-F6EECF244321}">
                <p14:modId xmlns:p14="http://schemas.microsoft.com/office/powerpoint/2010/main" val="3840955463"/>
              </p:ext>
            </p:extLst>
          </p:nvPr>
        </p:nvGraphicFramePr>
        <p:xfrm>
          <a:off x="609600" y="517207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2  3  6  8</a:t>
                      </a:r>
                    </a:p>
                  </a:txBody>
                  <a:tcPr>
                    <a:solidFill>
                      <a:srgbClr val="F6F6F6"/>
                    </a:solidFill>
                  </a:tcPr>
                </a:tc>
                <a:tc>
                  <a:txBody>
                    <a:bodyPr/>
                    <a:lstStyle/>
                    <a:p>
                      <a:pPr algn="ctr"/>
                      <a:r>
                        <a:rPr sz="2025" b="1">
                          <a:solidFill>
                            <a:srgbClr val="151515"/>
                          </a:solidFill>
                          <a:latin typeface="Malgun Gothic" panose="020B0503020000020004" pitchFamily="50" charset="-127"/>
                        </a:rPr>
                        <a:t>1  4  5  7</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B0D3A8F-4061-464C-BF8E-41DECF5781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BFA7CE9D-5A60-4648-A764-F3401E2BB79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09</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86C84FF1-A0E7-B93C-4799-A4509C36DC2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401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merge(left, right):</a:t>
            </a:r>
          </a:p>
          <a:p>
            <a:pPr>
              <a:defRPr sz="2100" b="0">
                <a:solidFill>
                  <a:srgbClr val="151515"/>
                </a:solidFill>
              </a:defRPr>
            </a:pPr>
            <a:r>
              <a:rPr sz="2100" b="0">
                <a:solidFill>
                  <a:srgbClr val="151515"/>
                </a:solidFill>
                <a:latin typeface="Consolas" panose="020B0609020204030204" pitchFamily="49" charset="0"/>
              </a:rPr>
              <a:t>    out = []</a:t>
            </a:r>
          </a:p>
          <a:p>
            <a:pPr>
              <a:defRPr sz="2100" b="0">
                <a:solidFill>
                  <a:srgbClr val="151515"/>
                </a:solidFill>
              </a:defRPr>
            </a:pPr>
            <a:r>
              <a:rPr sz="2100" b="0">
                <a:solidFill>
                  <a:srgbClr val="151515"/>
                </a:solidFill>
                <a:latin typeface="Consolas" panose="020B0609020204030204" pitchFamily="49" charset="0"/>
              </a:rPr>
              <a:t>    i = j = 0</a:t>
            </a:r>
          </a:p>
          <a:p>
            <a:pPr>
              <a:defRPr sz="2100" b="0">
                <a:solidFill>
                  <a:srgbClr val="151515"/>
                </a:solidFill>
              </a:defRPr>
            </a:pPr>
            <a:r>
              <a:rPr sz="2100" b="0">
                <a:solidFill>
                  <a:srgbClr val="151515"/>
                </a:solidFill>
                <a:latin typeface="Consolas" panose="020B0609020204030204" pitchFamily="49" charset="0"/>
              </a:rPr>
              <a:t>    while i &lt; len(left) and j &lt; len(right):</a:t>
            </a:r>
          </a:p>
          <a:p>
            <a:pPr>
              <a:defRPr sz="2100" b="0">
                <a:solidFill>
                  <a:srgbClr val="151515"/>
                </a:solidFill>
              </a:defRPr>
            </a:pPr>
            <a:r>
              <a:rPr sz="2100" b="0">
                <a:solidFill>
                  <a:srgbClr val="151515"/>
                </a:solidFill>
                <a:latin typeface="Consolas" panose="020B0609020204030204" pitchFamily="49" charset="0"/>
              </a:rPr>
              <a:t>        if left[i] &lt;= right[j]:</a:t>
            </a:r>
          </a:p>
          <a:p>
            <a:pPr>
              <a:defRPr sz="2100" b="0">
                <a:solidFill>
                  <a:srgbClr val="151515"/>
                </a:solidFill>
              </a:defRPr>
            </a:pPr>
            <a:r>
              <a:rPr sz="2100" b="0">
                <a:solidFill>
                  <a:srgbClr val="151515"/>
                </a:solidFill>
                <a:latin typeface="Consolas" panose="020B0609020204030204" pitchFamily="49" charset="0"/>
              </a:rPr>
              <a:t>            out.append(left[i])</a:t>
            </a:r>
          </a:p>
          <a:p>
            <a:pPr>
              <a:defRPr sz="2100" b="0">
                <a:solidFill>
                  <a:srgbClr val="151515"/>
                </a:solidFill>
              </a:defRPr>
            </a:pPr>
            <a:r>
              <a:rPr sz="2100" b="0">
                <a:solidFill>
                  <a:srgbClr val="151515"/>
                </a:solidFill>
                <a:latin typeface="Consolas" panose="020B0609020204030204" pitchFamily="49" charset="0"/>
              </a:rPr>
              <a:t>            i += 1</a:t>
            </a:r>
          </a:p>
          <a:p>
            <a:pPr>
              <a:defRPr sz="2100" b="0">
                <a:solidFill>
                  <a:srgbClr val="151515"/>
                </a:solidFill>
              </a:defRPr>
            </a:pPr>
            <a:r>
              <a:rPr sz="2100" b="0">
                <a:solidFill>
                  <a:srgbClr val="151515"/>
                </a:solidFill>
                <a:latin typeface="Consolas" panose="020B0609020204030204" pitchFamily="49" charset="0"/>
              </a:rPr>
              <a:t>        else:</a:t>
            </a:r>
          </a:p>
          <a:p>
            <a:pPr>
              <a:defRPr sz="2100" b="0">
                <a:solidFill>
                  <a:srgbClr val="151515"/>
                </a:solidFill>
              </a:defRPr>
            </a:pPr>
            <a:r>
              <a:rPr sz="2100" b="0">
                <a:solidFill>
                  <a:srgbClr val="151515"/>
                </a:solidFill>
                <a:latin typeface="Consolas" panose="020B0609020204030204" pitchFamily="49" charset="0"/>
              </a:rPr>
              <a:t>            out.append(right[j])</a:t>
            </a:r>
          </a:p>
          <a:p>
            <a:pPr>
              <a:defRPr sz="2100" b="0">
                <a:solidFill>
                  <a:srgbClr val="151515"/>
                </a:solidFill>
              </a:defRPr>
            </a:pPr>
            <a:r>
              <a:rPr sz="2100" b="0">
                <a:solidFill>
                  <a:srgbClr val="151515"/>
                </a:solidFill>
                <a:latin typeface="Consolas" panose="020B0609020204030204" pitchFamily="49" charset="0"/>
              </a:rPr>
              <a:t>            j += 1</a:t>
            </a:r>
          </a:p>
          <a:p>
            <a:pPr>
              <a:defRPr sz="2100" b="0">
                <a:solidFill>
                  <a:srgbClr val="151515"/>
                </a:solidFill>
              </a:defRPr>
            </a:pPr>
            <a:r>
              <a:rPr sz="2100" b="0">
                <a:solidFill>
                  <a:srgbClr val="151515"/>
                </a:solidFill>
                <a:latin typeface="Consolas" panose="020B0609020204030204" pitchFamily="49" charset="0"/>
              </a:rPr>
              <a:t>    out.extend(left[i:])</a:t>
            </a:r>
          </a:p>
          <a:p>
            <a:pPr>
              <a:defRPr sz="2100" b="0">
                <a:solidFill>
                  <a:srgbClr val="151515"/>
                </a:solidFill>
              </a:defRPr>
            </a:pPr>
            <a:r>
              <a:rPr sz="2100" b="0">
                <a:solidFill>
                  <a:srgbClr val="151515"/>
                </a:solidFill>
                <a:latin typeface="Consolas" panose="020B0609020204030204" pitchFamily="49" charset="0"/>
              </a:rPr>
              <a:t>    out.extend(right[j:])</a:t>
            </a:r>
          </a:p>
          <a:p>
            <a:pPr>
              <a:defRPr sz="2100" b="0">
                <a:solidFill>
                  <a:srgbClr val="151515"/>
                </a:solidFill>
              </a:defRPr>
            </a:pPr>
            <a:r>
              <a:rPr sz="2100" b="0">
                <a:solidFill>
                  <a:srgbClr val="151515"/>
                </a:solidFill>
                <a:latin typeface="Consolas" panose="020B0609020204030204" pitchFamily="49" charset="0"/>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47D9535-5CBC-4E03-B333-BE0EE5F687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17708F7A-026E-49C3-8810-45A8340DD6A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4004D0-3845-4AEC-BB71-3812A2DEFB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E86CA96-504B-40A3-8995-DC5268E64E9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F77F170F-4F13-4F11-B38D-30156742605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D0E63EC-5915-4E03-B66C-992E9CBB6A08}"/>
              </a:ext>
            </a:extLst>
          </p:cNvPr>
          <p:cNvGraphicFramePr/>
          <p:nvPr>
            <p:extLst>
              <p:ext uri="{D42A27DB-BD31-4B8C-83A1-F6EECF244321}">
                <p14:modId xmlns:p14="http://schemas.microsoft.com/office/powerpoint/2010/main" val="62638053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45917C5-B94A-4495-92EB-321A60AFE9D2}"/>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E3407FD5-8B43-4882-A331-E126B27F81BA}"/>
              </a:ext>
            </a:extLst>
          </p:cNvPr>
          <p:cNvGraphicFramePr/>
          <p:nvPr>
            <p:extLst>
              <p:ext uri="{D42A27DB-BD31-4B8C-83A1-F6EECF244321}">
                <p14:modId xmlns:p14="http://schemas.microsoft.com/office/powerpoint/2010/main" val="2234505267"/>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AF22BCAC-158F-4C2D-A5C1-8D6F567A3391}"/>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8FDA9D89-9B03-44FE-87B4-AFFC3AA717A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DBFEFC2A-C394-4293-AACE-3D009353F0E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ABF2868B-64BD-0935-E816-E13D37B917E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4257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D55ACE7D-58F3-4D9C-89CF-239F470C321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C02B097-5037-49DF-97D1-CE50DEFDC6F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30F320F-529A-4847-87AA-41C018FB8D9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① 피벗 6을 끝으로 옮긴 상태</a:t>
            </a:r>
          </a:p>
        </p:txBody>
      </p:sp>
      <p:sp>
        <p:nvSpPr>
          <p:cNvPr id="4" name="직사각형 3">
            <a:extLst>
              <a:ext uri="{FF2B5EF4-FFF2-40B4-BE49-F238E27FC236}">
                <a16:creationId xmlns:a16="http://schemas.microsoft.com/office/drawing/2014/main" id="{4ECD32D6-B553-43C4-A812-16C2CE78DC9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4에서 시작합니다. 피벗은 인덱스 5에 따로 둡니다.</a:t>
            </a:r>
          </a:p>
          <a:p>
            <a:pPr>
              <a:defRPr sz="2025" b="0">
                <a:solidFill>
                  <a:srgbClr val="151515"/>
                </a:solidFill>
              </a:defRPr>
            </a:pPr>
            <a:r>
              <a:rPr sz="2025" b="0">
                <a:solidFill>
                  <a:srgbClr val="151515"/>
                </a:solidFill>
                <a:latin typeface="Malgun Gothic" panose="020B0503020000020004" pitchFamily="50" charset="-127"/>
              </a:rPr>
              <a:t>L의 8 &gt; 6이므로 L은 움직이지 않습니다.</a:t>
            </a:r>
          </a:p>
        </p:txBody>
      </p:sp>
      <p:sp>
        <p:nvSpPr>
          <p:cNvPr id="5" name="직사각형 4">
            <a:extLst>
              <a:ext uri="{FF2B5EF4-FFF2-40B4-BE49-F238E27FC236}">
                <a16:creationId xmlns:a16="http://schemas.microsoft.com/office/drawing/2014/main" id="{5974D930-947F-439E-BA89-33D282A67BC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91A06182-0554-4366-B158-B15BAA3F8F2D}"/>
              </a:ext>
            </a:extLst>
          </p:cNvPr>
          <p:cNvGraphicFramePr/>
          <p:nvPr>
            <p:extLst>
              <p:ext uri="{D42A27DB-BD31-4B8C-83A1-F6EECF244321}">
                <p14:modId xmlns:p14="http://schemas.microsoft.com/office/powerpoint/2010/main" val="76629404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1165C35-C225-4D24-8581-6FDA1AB5BE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F7726F22-92DB-40AA-AB6B-7ED5DE76E75F}"/>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D24B37B0-5844-42D3-97D9-C2707A03DF22}"/>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C6343976-689F-482E-9B56-86836FF7C84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82DFB5BB-53AB-4320-90A1-B8E3CE13F85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681E843-15B0-4F03-BA4D-B87B21493CFB}"/>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493C349C-8BED-45E7-9685-D5A95B342226}"/>
              </a:ext>
            </a:extLst>
          </p:cNvPr>
          <p:cNvSpPr>
            <a:spLocks noGrp="1"/>
          </p:cNvSpPr>
          <p:nvPr/>
        </p:nvSpPr>
        <p:spPr>
          <a:xfrm>
            <a:off x="60769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4" name="직사각형 13">
            <a:extLst>
              <a:ext uri="{FF2B5EF4-FFF2-40B4-BE49-F238E27FC236}">
                <a16:creationId xmlns:a16="http://schemas.microsoft.com/office/drawing/2014/main" id="{86D07600-9EF6-4F78-9158-77871E845837}"/>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121E395-3B6C-4237-BAC4-D636D977339A}"/>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5F6747EC-70C7-462D-99A4-5DF5642FAB8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F6146E05-2E10-48E8-BB75-970EB8F4B7D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6B7EF86B-D6A1-4E96-9DFF-E9CF11E2B7F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33483F-FCC8-6E80-8A78-48C0CFBC408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311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C560391E-3356-4F71-B3DF-C1556FD066B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F0BC96C-C94F-42AA-9D19-D40688EC2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D8DBA5-A55D-4FE1-A66C-3AA959D09C7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⑧ 피벗과 a[L]을 교환</a:t>
            </a:r>
          </a:p>
        </p:txBody>
      </p:sp>
      <p:sp>
        <p:nvSpPr>
          <p:cNvPr id="4" name="직사각형 3">
            <a:extLst>
              <a:ext uri="{FF2B5EF4-FFF2-40B4-BE49-F238E27FC236}">
                <a16:creationId xmlns:a16="http://schemas.microsoft.com/office/drawing/2014/main" id="{2EFDD999-37DF-48F1-BE32-3E5B773A24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인덱스 3의 8과 인덱스 5의 피벗 6을 바꿉니다.</a:t>
            </a:r>
          </a:p>
          <a:p>
            <a:pPr>
              <a:defRPr sz="2025" b="0">
                <a:solidFill>
                  <a:srgbClr val="151515"/>
                </a:solidFill>
              </a:defRPr>
            </a:pPr>
            <a:r>
              <a:rPr sz="2025" b="0">
                <a:solidFill>
                  <a:srgbClr val="151515"/>
                </a:solidFill>
                <a:latin typeface="Malgun Gothic" panose="020B0503020000020004" pitchFamily="50" charset="-127"/>
              </a:rPr>
              <a:t>피벗 6의 최종 위치는 3입니다. 왼쪽 3, 4, 1은 아직 정렬 전입니다.</a:t>
            </a:r>
          </a:p>
        </p:txBody>
      </p:sp>
      <p:sp>
        <p:nvSpPr>
          <p:cNvPr id="5" name="직사각형 4">
            <a:extLst>
              <a:ext uri="{FF2B5EF4-FFF2-40B4-BE49-F238E27FC236}">
                <a16:creationId xmlns:a16="http://schemas.microsoft.com/office/drawing/2014/main" id="{734559B4-6EC6-4C7E-8286-C98D2FA63F2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6" name="표 5">
            <a:extLst>
              <a:ext uri="{FF2B5EF4-FFF2-40B4-BE49-F238E27FC236}">
                <a16:creationId xmlns:a16="http://schemas.microsoft.com/office/drawing/2014/main" id="{EB46BB44-4B50-49F2-812E-EE70D9A7A56E}"/>
              </a:ext>
            </a:extLst>
          </p:cNvPr>
          <p:cNvGraphicFramePr/>
          <p:nvPr>
            <p:extLst>
              <p:ext uri="{D42A27DB-BD31-4B8C-83A1-F6EECF244321}">
                <p14:modId xmlns:p14="http://schemas.microsoft.com/office/powerpoint/2010/main" val="227665204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71AABE6-26FF-487A-B5EB-9E2BB257613E}"/>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B13F44E-D52A-4766-8D1E-A76CE530230D}"/>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BFA8F37A-2ECA-4731-A490-3830C37BA90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9B015E5E-AA9C-4D9A-931D-70F52345F61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65EDE4EA-8AE8-4EEE-ADDF-D9181A44C849}"/>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2" name="직사각형 11">
            <a:extLst>
              <a:ext uri="{FF2B5EF4-FFF2-40B4-BE49-F238E27FC236}">
                <a16:creationId xmlns:a16="http://schemas.microsoft.com/office/drawing/2014/main" id="{FEC64F74-6020-4361-A649-2D741C1FF184}"/>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363F450-D285-4648-97BF-9EDCD74A4DDA}"/>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7F116120-114B-4D02-B127-F2136361507D}"/>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5" name="직사각형 14">
            <a:extLst>
              <a:ext uri="{FF2B5EF4-FFF2-40B4-BE49-F238E27FC236}">
                <a16:creationId xmlns:a16="http://schemas.microsoft.com/office/drawing/2014/main" id="{2AAD578F-83A8-4EF1-8B75-BD2B04BE23F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6" name="직사각형 15">
            <a:extLst>
              <a:ext uri="{FF2B5EF4-FFF2-40B4-BE49-F238E27FC236}">
                <a16:creationId xmlns:a16="http://schemas.microsoft.com/office/drawing/2014/main" id="{D7184E17-5986-4F1D-9D4E-86734E124B1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33</a:t>
            </a:r>
            <a:endParaRPr sz="1050" b="0">
              <a:solidFill>
                <a:srgbClr val="151515"/>
              </a:solidFill>
              <a:latin typeface="Consolas" panose="020B0609020204030204" pitchFamily="49" charset="0"/>
            </a:endParaRPr>
          </a:p>
        </p:txBody>
      </p:sp>
      <p:cxnSp>
        <p:nvCxnSpPr>
          <p:cNvPr id="18" name="직선 연결선 17">
            <a:extLst>
              <a:ext uri="{FF2B5EF4-FFF2-40B4-BE49-F238E27FC236}">
                <a16:creationId xmlns:a16="http://schemas.microsoft.com/office/drawing/2014/main" id="{5C0ACEA5-5323-F6C1-A95A-184EC488361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4068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43</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51</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54</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84</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16639</Words>
  <Application>Microsoft Office PowerPoint</Application>
  <DocSecurity>0</DocSecurity>
  <PresentationFormat>와이드스크린</PresentationFormat>
  <Paragraphs>2115</Paragraphs>
  <Slides>89</Slides>
  <Notes>89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89</vt:i4>
      </vt:variant>
    </vt:vector>
  </HeadingPairs>
  <TitlesOfParts>
    <vt:vector size="9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5</cp:revision>
  <dcterms:created xsi:type="dcterms:W3CDTF">2026-09-19T13:48:20Z</dcterms:created>
  <dcterms:modified xsi:type="dcterms:W3CDTF">2026-10-11T08:44:42Z</dcterms:modified>
</cp:coreProperties>
</file>